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33"/>
  </p:notesMasterIdLst>
  <p:sldIdLst>
    <p:sldId id="256" r:id="rId2"/>
    <p:sldId id="271" r:id="rId3"/>
    <p:sldId id="257" r:id="rId4"/>
    <p:sldId id="284" r:id="rId5"/>
    <p:sldId id="269" r:id="rId6"/>
    <p:sldId id="270" r:id="rId7"/>
    <p:sldId id="272" r:id="rId8"/>
    <p:sldId id="283" r:id="rId9"/>
    <p:sldId id="265" r:id="rId10"/>
    <p:sldId id="260" r:id="rId11"/>
    <p:sldId id="261" r:id="rId12"/>
    <p:sldId id="262" r:id="rId13"/>
    <p:sldId id="263" r:id="rId14"/>
    <p:sldId id="264" r:id="rId15"/>
    <p:sldId id="266" r:id="rId16"/>
    <p:sldId id="267" r:id="rId17"/>
    <p:sldId id="268" r:id="rId18"/>
    <p:sldId id="278" r:id="rId19"/>
    <p:sldId id="274" r:id="rId20"/>
    <p:sldId id="273" r:id="rId21"/>
    <p:sldId id="275" r:id="rId22"/>
    <p:sldId id="276" r:id="rId23"/>
    <p:sldId id="277" r:id="rId24"/>
    <p:sldId id="279" r:id="rId25"/>
    <p:sldId id="280" r:id="rId26"/>
    <p:sldId id="281" r:id="rId27"/>
    <p:sldId id="282" r:id="rId28"/>
    <p:sldId id="285" r:id="rId29"/>
    <p:sldId id="288" r:id="rId30"/>
    <p:sldId id="286" r:id="rId31"/>
    <p:sldId id="287" r:id="rId32"/>
  </p:sldIdLst>
  <p:sldSz cx="12192000" cy="6858000"/>
  <p:notesSz cx="6858000" cy="9144000"/>
  <p:defaultText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ndarmaa581@gmail.com" initials="" lastIdx="1" clrIdx="0">
    <p:extLst>
      <p:ext uri="{19B8F6BF-5375-455C-9EA6-DF929625EA0E}">
        <p15:presenceInfo xmlns:p15="http://schemas.microsoft.com/office/powerpoint/2012/main" userId="2e6f2e16084452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84"/>
    <p:restoredTop sz="94625"/>
  </p:normalViewPr>
  <p:slideViewPr>
    <p:cSldViewPr snapToGrid="0">
      <p:cViewPr varScale="1">
        <p:scale>
          <a:sx n="116" d="100"/>
          <a:sy n="116" d="100"/>
        </p:scale>
        <p:origin x="440" y="184"/>
      </p:cViewPr>
      <p:guideLst/>
    </p:cSldViewPr>
  </p:slideViewPr>
  <p:outlineViewPr>
    <p:cViewPr>
      <p:scale>
        <a:sx n="33" d="100"/>
        <a:sy n="33" d="100"/>
      </p:scale>
      <p:origin x="0" y="-14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25T20:25:12.602" idx="1">
    <p:pos x="10" y="10"/>
    <p:text/>
    <p:extLst>
      <p:ext uri="{C676402C-5697-4E1C-873F-D02D1690AC5C}">
        <p15:threadingInfo xmlns:p15="http://schemas.microsoft.com/office/powerpoint/2012/main" timeZoneBias="-5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3A8D3-39B6-4047-9EAA-4F4C30A589C2}" type="datetimeFigureOut">
              <a:rPr lang="en-JP" smtClean="0"/>
              <a:t>2025/05/25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1F159-79E2-E24F-9993-34E52B426EB4}" type="slidenum">
              <a:rPr lang="en-JP" smtClean="0"/>
              <a:t>‹#›</a:t>
            </a:fld>
            <a:endParaRPr lang="en-JP"/>
          </a:p>
        </p:txBody>
      </p:sp>
    </p:spTree>
    <p:extLst>
      <p:ext uri="{BB962C8B-B14F-4D97-AF65-F5344CB8AC3E}">
        <p14:creationId xmlns:p14="http://schemas.microsoft.com/office/powerpoint/2010/main" val="1343570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a:t>
            </a:fld>
            <a:endParaRPr lang="en-JP"/>
          </a:p>
        </p:txBody>
      </p:sp>
    </p:spTree>
    <p:extLst>
      <p:ext uri="{BB962C8B-B14F-4D97-AF65-F5344CB8AC3E}">
        <p14:creationId xmlns:p14="http://schemas.microsoft.com/office/powerpoint/2010/main" val="2896478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Blocked List (BL)</a:t>
            </a:r>
            <a:r>
              <a:rPr lang="ja-JP" altLang="en-US">
                <a:effectLst/>
              </a:rPr>
              <a:t>通信を許可されない悪意のある</a:t>
            </a:r>
            <a:r>
              <a:rPr lang="en-US" dirty="0">
                <a:effectLst/>
              </a:rPr>
              <a:t>IP</a:t>
            </a:r>
            <a:r>
              <a:rPr lang="ja-JP" altLang="en-US">
                <a:effectLst/>
              </a:rPr>
              <a:t>アドレスのリスト。パケットを</a:t>
            </a:r>
            <a:r>
              <a:rPr lang="ja-JP" altLang="en-US" b="1">
                <a:effectLst/>
              </a:rPr>
              <a:t>即時破棄</a:t>
            </a:r>
            <a:endParaRPr lang="en-US" altLang="ja-JP" b="1" dirty="0">
              <a:effectLst/>
            </a:endParaRPr>
          </a:p>
          <a:p>
            <a:r>
              <a:rPr lang="en-US" b="1" dirty="0">
                <a:effectLst/>
              </a:rPr>
              <a:t>Suspicious List (SL)</a:t>
            </a:r>
            <a:r>
              <a:rPr lang="ja-JP" altLang="en-US">
                <a:effectLst/>
              </a:rPr>
              <a:t>攻撃（</a:t>
            </a:r>
            <a:r>
              <a:rPr lang="en-US" dirty="0">
                <a:effectLst/>
              </a:rPr>
              <a:t>DoS</a:t>
            </a:r>
            <a:r>
              <a:rPr lang="ja-JP" altLang="en-US">
                <a:effectLst/>
              </a:rPr>
              <a:t>など）の可能性がある</a:t>
            </a:r>
            <a:r>
              <a:rPr lang="en-US" dirty="0">
                <a:effectLst/>
              </a:rPr>
              <a:t>IP</a:t>
            </a:r>
            <a:r>
              <a:rPr lang="ja-JP" altLang="en-US">
                <a:effectLst/>
              </a:rPr>
              <a:t>アドレスのリスト。パケットを</a:t>
            </a:r>
            <a:r>
              <a:rPr lang="ja-JP" altLang="en-US" b="1">
                <a:effectLst/>
              </a:rPr>
              <a:t>監視・検証</a:t>
            </a:r>
            <a:endParaRPr lang="en-US" altLang="ja-JP" b="1" dirty="0">
              <a:effectLst/>
            </a:endParaRPr>
          </a:p>
          <a:p>
            <a:r>
              <a:rPr lang="en-US" b="1" dirty="0">
                <a:effectLst/>
              </a:rPr>
              <a:t>Trusted List (TL)</a:t>
            </a:r>
            <a:r>
              <a:rPr lang="ja-JP" altLang="en-US">
                <a:effectLst/>
              </a:rPr>
              <a:t>信頼できる安全な</a:t>
            </a:r>
            <a:r>
              <a:rPr lang="en-US" dirty="0">
                <a:effectLst/>
              </a:rPr>
              <a:t>IP</a:t>
            </a:r>
            <a:r>
              <a:rPr lang="ja-JP" altLang="en-US">
                <a:effectLst/>
              </a:rPr>
              <a:t>アドレスのリスト。パケットを</a:t>
            </a:r>
            <a:r>
              <a:rPr lang="ja-JP" altLang="en-US" b="1">
                <a:effectLst/>
              </a:rPr>
              <a:t>許可</a:t>
            </a:r>
            <a:endParaRPr lang="en-US" altLang="ja-JP"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i="0">
                <a:solidFill>
                  <a:srgbClr val="404040"/>
                </a:solidFill>
                <a:effectLst/>
                <a:latin typeface="quote-cjk-patch"/>
              </a:rPr>
              <a:t>攻撃（</a:t>
            </a:r>
            <a:r>
              <a:rPr lang="en-US" b="0" i="0" dirty="0">
                <a:solidFill>
                  <a:srgbClr val="404040"/>
                </a:solidFill>
                <a:effectLst/>
                <a:latin typeface="quote-cjk-patch"/>
              </a:rPr>
              <a:t>DoS</a:t>
            </a:r>
            <a:r>
              <a:rPr lang="ja-JP" altLang="en-US" b="0" i="0">
                <a:solidFill>
                  <a:srgbClr val="404040"/>
                </a:solidFill>
                <a:effectLst/>
                <a:latin typeface="quote-cjk-patch"/>
              </a:rPr>
              <a:t>など）の可能性がある</a:t>
            </a:r>
            <a:r>
              <a:rPr lang="en-US" b="0" i="0" dirty="0">
                <a:solidFill>
                  <a:srgbClr val="404040"/>
                </a:solidFill>
                <a:effectLst/>
                <a:latin typeface="quote-cjk-patch"/>
              </a:rPr>
              <a:t>IP</a:t>
            </a:r>
            <a:r>
              <a:rPr lang="ja-JP" altLang="en-US" b="0" i="0">
                <a:solidFill>
                  <a:srgbClr val="404040"/>
                </a:solidFill>
                <a:effectLst/>
                <a:latin typeface="quote-cjk-patch"/>
              </a:rPr>
              <a:t>アドレスのリスト</a:t>
            </a:r>
            <a:r>
              <a:rPr lang="en-US" altLang="ja-JP" b="0" i="0" dirty="0">
                <a:solidFill>
                  <a:srgbClr val="404040"/>
                </a:solidFill>
                <a:effectLst/>
                <a:latin typeface="quote-cjk-patch"/>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0" i="0" dirty="0">
                <a:solidFill>
                  <a:srgbClr val="404040"/>
                </a:solidFill>
                <a:effectLst/>
                <a:latin typeface="quote-cjk-patch"/>
              </a:rPr>
              <a:t>(</a:t>
            </a:r>
            <a:r>
              <a:rPr lang="ja-JP" altLang="en-US" sz="1200" b="0" i="0">
                <a:solidFill>
                  <a:srgbClr val="404040"/>
                </a:solidFill>
                <a:effectLst/>
                <a:latin typeface="quote-cjk-patch"/>
              </a:rPr>
              <a:t>クライアントが</a:t>
            </a:r>
            <a:r>
              <a:rPr lang="en-US" sz="1200" b="0" i="0" dirty="0">
                <a:solidFill>
                  <a:srgbClr val="404040"/>
                </a:solidFill>
                <a:effectLst/>
                <a:latin typeface="quote-cjk-patch"/>
              </a:rPr>
              <a:t>DTLS</a:t>
            </a:r>
            <a:r>
              <a:rPr lang="ja-JP" altLang="en-US" sz="1200" b="0" i="0">
                <a:solidFill>
                  <a:srgbClr val="404040"/>
                </a:solidFill>
                <a:effectLst/>
                <a:latin typeface="quote-cjk-patch"/>
              </a:rPr>
              <a:t>通信を開始する際、</a:t>
            </a:r>
            <a:r>
              <a:rPr lang="ja-JP" altLang="en-US" sz="1200" b="1" i="0">
                <a:solidFill>
                  <a:srgbClr val="404040"/>
                </a:solidFill>
                <a:effectLst/>
                <a:latin typeface="quote-cjk-patch"/>
              </a:rPr>
              <a:t>認証要求（</a:t>
            </a:r>
            <a:r>
              <a:rPr lang="en-US" sz="1200" b="1" i="0" dirty="0">
                <a:solidFill>
                  <a:srgbClr val="404040"/>
                </a:solidFill>
                <a:effectLst/>
                <a:latin typeface="quote-cjk-patch"/>
              </a:rPr>
              <a:t>AuthREQ）</a:t>
            </a:r>
            <a:r>
              <a:rPr lang="ja-JP" altLang="en-US" sz="1200" b="0" i="0">
                <a:solidFill>
                  <a:srgbClr val="404040"/>
                </a:solidFill>
                <a:effectLst/>
                <a:latin typeface="quote-cjk-patch"/>
              </a:rPr>
              <a:t>を</a:t>
            </a:r>
            <a:r>
              <a:rPr lang="en-US" sz="1200" b="0" i="0" dirty="0">
                <a:solidFill>
                  <a:srgbClr val="404040"/>
                </a:solidFill>
                <a:effectLst/>
                <a:latin typeface="quote-cjk-patch"/>
              </a:rPr>
              <a:t>Trusted Party（TP）</a:t>
            </a:r>
            <a:r>
              <a:rPr lang="ja-JP" altLang="en-US" sz="1200" b="0" i="0">
                <a:solidFill>
                  <a:srgbClr val="404040"/>
                </a:solidFill>
                <a:effectLst/>
                <a:latin typeface="quote-cjk-patch"/>
              </a:rPr>
              <a:t>に送信</a:t>
            </a:r>
            <a:r>
              <a:rPr lang="en-US" altLang="ja-JP" sz="1200" b="0" i="0" dirty="0">
                <a:solidFill>
                  <a:srgbClr val="404040"/>
                </a:solidFill>
                <a:effectLst/>
                <a:latin typeface="quote-cjk-patch"/>
              </a:rPr>
              <a:t> )</a:t>
            </a:r>
            <a:endParaRPr lang="ja-JP" altLang="en-US" sz="1200" i="0" kern="1200">
              <a:solidFill>
                <a:srgbClr val="404040"/>
              </a:solidFill>
              <a:effectLst/>
              <a:latin typeface="+mj-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16</a:t>
            </a:fld>
            <a:endParaRPr lang="en-JP"/>
          </a:p>
        </p:txBody>
      </p:sp>
    </p:spTree>
    <p:extLst>
      <p:ext uri="{BB962C8B-B14F-4D97-AF65-F5344CB8AC3E}">
        <p14:creationId xmlns:p14="http://schemas.microsoft.com/office/powerpoint/2010/main" val="318241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dirty="0"/>
              <a:t>TP は、以前の接続からの IP ヘッダーとメタデータに基づいて決定を下します。</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17</a:t>
            </a:fld>
            <a:endParaRPr lang="en-JP"/>
          </a:p>
        </p:txBody>
      </p:sp>
    </p:spTree>
    <p:extLst>
      <p:ext uri="{BB962C8B-B14F-4D97-AF65-F5344CB8AC3E}">
        <p14:creationId xmlns:p14="http://schemas.microsoft.com/office/powerpoint/2010/main" val="3414873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パケットの送信元</a:t>
            </a:r>
            <a:r>
              <a:rPr lang="en-US" dirty="0"/>
              <a:t>IP</a:t>
            </a:r>
            <a:r>
              <a:rPr lang="ja-JP" altLang="en-US"/>
              <a:t>アドレスとペイロードサイズに基づいて、</a:t>
            </a:r>
            <a:r>
              <a:rPr lang="en-US" dirty="0"/>
              <a:t>DoS（</a:t>
            </a:r>
            <a:r>
              <a:rPr lang="ja-JP" altLang="en-US"/>
              <a:t>サービス拒否攻撃）および</a:t>
            </a:r>
            <a:r>
              <a:rPr lang="en-US" dirty="0"/>
              <a:t>DDoS（</a:t>
            </a:r>
            <a:r>
              <a:rPr lang="ja-JP" altLang="en-US"/>
              <a:t>分散型</a:t>
            </a:r>
            <a:r>
              <a:rPr lang="en-US" dirty="0"/>
              <a:t>DoS</a:t>
            </a:r>
            <a:r>
              <a:rPr lang="ja-JP" altLang="en-US"/>
              <a:t>攻撃）を検出・防御します。</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18</a:t>
            </a:fld>
            <a:endParaRPr lang="en-JP"/>
          </a:p>
        </p:txBody>
      </p:sp>
    </p:spTree>
    <p:extLst>
      <p:ext uri="{BB962C8B-B14F-4D97-AF65-F5344CB8AC3E}">
        <p14:creationId xmlns:p14="http://schemas.microsoft.com/office/powerpoint/2010/main" val="100715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プロトコルにおける</a:t>
            </a:r>
            <a:r>
              <a:rPr lang="en-US" altLang="ja-JP" dirty="0"/>
              <a:t>3</a:t>
            </a:r>
            <a:r>
              <a:rPr lang="ja-JP" altLang="en-US"/>
              <a:t>つの</a:t>
            </a:r>
            <a:r>
              <a:rPr lang="en-US" dirty="0"/>
              <a:t>IP</a:t>
            </a:r>
            <a:r>
              <a:rPr lang="ja-JP" altLang="en-US"/>
              <a:t>アドレスリスト（信頼済み、疑わしい、ブロックされた）および信頼できる第三者としてのサーバーを導入しています。</a:t>
            </a:r>
            <a:r>
              <a:rPr lang="en-US" dirty="0"/>
              <a:t>Simulink</a:t>
            </a:r>
            <a:r>
              <a:rPr lang="ja-JP" altLang="en-US"/>
              <a:t>上で以下のようなモデルを構築しました</a:t>
            </a:r>
            <a:endParaRPr lang="en-JP" dirty="0"/>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24</a:t>
            </a:fld>
            <a:endParaRPr lang="en-JP"/>
          </a:p>
        </p:txBody>
      </p:sp>
    </p:spTree>
    <p:extLst>
      <p:ext uri="{BB962C8B-B14F-4D97-AF65-F5344CB8AC3E}">
        <p14:creationId xmlns:p14="http://schemas.microsoft.com/office/powerpoint/2010/main" val="144190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6873-C030-A3F2-23DD-62A363B89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JP"/>
          </a:p>
        </p:txBody>
      </p:sp>
      <p:sp>
        <p:nvSpPr>
          <p:cNvPr id="3" name="Subtitle 2">
            <a:extLst>
              <a:ext uri="{FF2B5EF4-FFF2-40B4-BE49-F238E27FC236}">
                <a16:creationId xmlns:a16="http://schemas.microsoft.com/office/drawing/2014/main" id="{BD54D277-A002-BA13-64CA-8DE40B460C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953310A1-B9CE-69E1-5D7E-77B38ECEBA5F}"/>
              </a:ext>
            </a:extLst>
          </p:cNvPr>
          <p:cNvSpPr>
            <a:spLocks noGrp="1"/>
          </p:cNvSpPr>
          <p:nvPr>
            <p:ph type="dt" sz="half" idx="10"/>
          </p:nvPr>
        </p:nvSpPr>
        <p:spPr/>
        <p:txBody>
          <a:bodyPr/>
          <a:lstStyle/>
          <a:p>
            <a:fld id="{BC0A6C53-FB85-1D45-9D33-E32754893A06}" type="datetime1">
              <a:rPr lang="en-US" smtClean="0"/>
              <a:t>5/28/25</a:t>
            </a:fld>
            <a:endParaRPr lang="en-JP"/>
          </a:p>
        </p:txBody>
      </p:sp>
      <p:sp>
        <p:nvSpPr>
          <p:cNvPr id="5" name="Footer Placeholder 4">
            <a:extLst>
              <a:ext uri="{FF2B5EF4-FFF2-40B4-BE49-F238E27FC236}">
                <a16:creationId xmlns:a16="http://schemas.microsoft.com/office/drawing/2014/main" id="{E1D1C24E-341D-24D5-E85A-52066EAE23A3}"/>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44A9A4A-98D6-160C-041C-DA198BA9FAE5}"/>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69647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C43E-161D-8C95-88F7-02F73F0CD939}"/>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9D6374AC-2508-00DC-99A2-6AA9154170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9748DD10-128F-4E88-AD17-4F4916055E10}"/>
              </a:ext>
            </a:extLst>
          </p:cNvPr>
          <p:cNvSpPr>
            <a:spLocks noGrp="1"/>
          </p:cNvSpPr>
          <p:nvPr>
            <p:ph type="dt" sz="half" idx="10"/>
          </p:nvPr>
        </p:nvSpPr>
        <p:spPr/>
        <p:txBody>
          <a:bodyPr/>
          <a:lstStyle/>
          <a:p>
            <a:fld id="{D0119877-6CD4-2F46-B05C-A9BC1D41712B}" type="datetime1">
              <a:rPr lang="en-US" smtClean="0"/>
              <a:t>5/28/25</a:t>
            </a:fld>
            <a:endParaRPr lang="en-JP"/>
          </a:p>
        </p:txBody>
      </p:sp>
      <p:sp>
        <p:nvSpPr>
          <p:cNvPr id="5" name="Footer Placeholder 4">
            <a:extLst>
              <a:ext uri="{FF2B5EF4-FFF2-40B4-BE49-F238E27FC236}">
                <a16:creationId xmlns:a16="http://schemas.microsoft.com/office/drawing/2014/main" id="{A15FA84B-8A38-A7DA-156C-6D44005AD13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CC37E65-0D58-9E05-6552-9517D9707EB4}"/>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989143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39B0-0F0F-C916-03D2-661573D253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8C21C2C4-C207-A87B-ED9C-940E26CBEB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28238-F1D0-1F8A-B8D3-D5EF2BF570D2}"/>
              </a:ext>
            </a:extLst>
          </p:cNvPr>
          <p:cNvSpPr>
            <a:spLocks noGrp="1"/>
          </p:cNvSpPr>
          <p:nvPr>
            <p:ph type="dt" sz="half" idx="10"/>
          </p:nvPr>
        </p:nvSpPr>
        <p:spPr/>
        <p:txBody>
          <a:bodyPr/>
          <a:lstStyle/>
          <a:p>
            <a:fld id="{7C406AF9-48AE-FD4B-BFCC-2767CA35504E}" type="datetime1">
              <a:rPr lang="en-US" smtClean="0"/>
              <a:t>5/28/25</a:t>
            </a:fld>
            <a:endParaRPr lang="en-JP"/>
          </a:p>
        </p:txBody>
      </p:sp>
      <p:sp>
        <p:nvSpPr>
          <p:cNvPr id="5" name="Footer Placeholder 4">
            <a:extLst>
              <a:ext uri="{FF2B5EF4-FFF2-40B4-BE49-F238E27FC236}">
                <a16:creationId xmlns:a16="http://schemas.microsoft.com/office/drawing/2014/main" id="{6275B86E-4019-C7FD-537E-580D16E1D098}"/>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9EDB7B88-F54B-17AA-2430-FE2A7BD7DF87}"/>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330681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F251-8542-965E-9836-95D5066616ED}"/>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F0A9ECFD-ABE7-88A2-D740-06AC461D63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2F0DE720-5F7B-A74B-C0B1-11421EA210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FC3864E5-275E-AC47-182E-00D3A1BAE7E5}"/>
              </a:ext>
            </a:extLst>
          </p:cNvPr>
          <p:cNvSpPr>
            <a:spLocks noGrp="1"/>
          </p:cNvSpPr>
          <p:nvPr>
            <p:ph type="dt" sz="half" idx="10"/>
          </p:nvPr>
        </p:nvSpPr>
        <p:spPr/>
        <p:txBody>
          <a:bodyPr/>
          <a:lstStyle/>
          <a:p>
            <a:fld id="{25C6D53F-4224-534A-8B18-0D78D074F617}" type="datetime1">
              <a:rPr lang="en-US" smtClean="0"/>
              <a:t>5/28/25</a:t>
            </a:fld>
            <a:endParaRPr lang="en-JP"/>
          </a:p>
        </p:txBody>
      </p:sp>
      <p:sp>
        <p:nvSpPr>
          <p:cNvPr id="6" name="Footer Placeholder 5">
            <a:extLst>
              <a:ext uri="{FF2B5EF4-FFF2-40B4-BE49-F238E27FC236}">
                <a16:creationId xmlns:a16="http://schemas.microsoft.com/office/drawing/2014/main" id="{259A76D2-514B-4D1B-03A0-DE75E8D944E9}"/>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EA285A57-9626-FE75-E7EE-3F5507480328}"/>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186763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45A96-671E-901D-E847-7C9DF96B1B94}"/>
              </a:ext>
            </a:extLst>
          </p:cNvPr>
          <p:cNvSpPr>
            <a:spLocks noGrp="1"/>
          </p:cNvSpPr>
          <p:nvPr>
            <p:ph type="title"/>
          </p:nvPr>
        </p:nvSpPr>
        <p:spPr>
          <a:xfrm>
            <a:off x="839788" y="365125"/>
            <a:ext cx="10515600" cy="1325563"/>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DC18CBB9-C5BF-0414-E8F4-3FC8E0BB9A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03F1B5-A7FA-9F34-0587-469A971ADD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DA9F8D10-7353-8589-75C4-033B3B122C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2EC0F0-24AA-DC14-04FC-4E53776525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8EF43623-2C2D-5738-7400-395A32AB2283}"/>
              </a:ext>
            </a:extLst>
          </p:cNvPr>
          <p:cNvSpPr>
            <a:spLocks noGrp="1"/>
          </p:cNvSpPr>
          <p:nvPr>
            <p:ph type="dt" sz="half" idx="10"/>
          </p:nvPr>
        </p:nvSpPr>
        <p:spPr/>
        <p:txBody>
          <a:bodyPr/>
          <a:lstStyle/>
          <a:p>
            <a:fld id="{4F3356DB-B69A-014A-BFF0-1F52AE9ED7F3}" type="datetime1">
              <a:rPr lang="en-US" smtClean="0"/>
              <a:t>5/28/25</a:t>
            </a:fld>
            <a:endParaRPr lang="en-JP"/>
          </a:p>
        </p:txBody>
      </p:sp>
      <p:sp>
        <p:nvSpPr>
          <p:cNvPr id="8" name="Footer Placeholder 7">
            <a:extLst>
              <a:ext uri="{FF2B5EF4-FFF2-40B4-BE49-F238E27FC236}">
                <a16:creationId xmlns:a16="http://schemas.microsoft.com/office/drawing/2014/main" id="{47209891-68D1-2E36-12B3-56D2B44D1E3D}"/>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1DB02D18-D5EE-6B71-3BD8-769BB440433E}"/>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285609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DC57-A8E4-6593-AB3F-C7A10C01F7B9}"/>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D5CC417E-3DE4-129F-FB9E-3E2A21A645FA}"/>
              </a:ext>
            </a:extLst>
          </p:cNvPr>
          <p:cNvSpPr>
            <a:spLocks noGrp="1"/>
          </p:cNvSpPr>
          <p:nvPr>
            <p:ph type="dt" sz="half" idx="10"/>
          </p:nvPr>
        </p:nvSpPr>
        <p:spPr/>
        <p:txBody>
          <a:bodyPr/>
          <a:lstStyle/>
          <a:p>
            <a:fld id="{CD874716-8211-E048-AF92-5ACBCC120694}" type="datetime1">
              <a:rPr lang="en-US" smtClean="0"/>
              <a:t>5/28/25</a:t>
            </a:fld>
            <a:endParaRPr lang="en-JP"/>
          </a:p>
        </p:txBody>
      </p:sp>
      <p:sp>
        <p:nvSpPr>
          <p:cNvPr id="4" name="Footer Placeholder 3">
            <a:extLst>
              <a:ext uri="{FF2B5EF4-FFF2-40B4-BE49-F238E27FC236}">
                <a16:creationId xmlns:a16="http://schemas.microsoft.com/office/drawing/2014/main" id="{0757C8E6-E194-6FBA-17A2-E058F6DF0CAD}"/>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60A70BB2-6A13-8432-E355-BE0A5B59971D}"/>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1776688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A3AE22-A83A-8930-BE6B-62E087DDB97F}"/>
              </a:ext>
            </a:extLst>
          </p:cNvPr>
          <p:cNvSpPr>
            <a:spLocks noGrp="1"/>
          </p:cNvSpPr>
          <p:nvPr>
            <p:ph type="dt" sz="half" idx="10"/>
          </p:nvPr>
        </p:nvSpPr>
        <p:spPr/>
        <p:txBody>
          <a:bodyPr/>
          <a:lstStyle/>
          <a:p>
            <a:fld id="{5D58CF20-F591-0641-A886-FC8ACE46787E}" type="datetime1">
              <a:rPr lang="en-US" smtClean="0"/>
              <a:t>5/28/25</a:t>
            </a:fld>
            <a:endParaRPr lang="en-JP"/>
          </a:p>
        </p:txBody>
      </p:sp>
      <p:sp>
        <p:nvSpPr>
          <p:cNvPr id="3" name="Footer Placeholder 2">
            <a:extLst>
              <a:ext uri="{FF2B5EF4-FFF2-40B4-BE49-F238E27FC236}">
                <a16:creationId xmlns:a16="http://schemas.microsoft.com/office/drawing/2014/main" id="{865C1B6A-1899-9228-3E1F-C04FDD02CE1A}"/>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FD57B7F6-FBC7-5B4C-8C2A-B31289DCC74C}"/>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00969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377F2-9918-6EC9-B8DF-45CA9F468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33D3B954-4A85-9A1B-3060-43EDD1C4D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0B5DE13C-8BC1-0429-1AFC-40DA26117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81F53F-A843-A532-71CA-CE4DDFB09299}"/>
              </a:ext>
            </a:extLst>
          </p:cNvPr>
          <p:cNvSpPr>
            <a:spLocks noGrp="1"/>
          </p:cNvSpPr>
          <p:nvPr>
            <p:ph type="dt" sz="half" idx="10"/>
          </p:nvPr>
        </p:nvSpPr>
        <p:spPr/>
        <p:txBody>
          <a:bodyPr/>
          <a:lstStyle/>
          <a:p>
            <a:fld id="{D0C0DCCF-43C4-1244-999F-9DD8E9B9B9B8}" type="datetime1">
              <a:rPr lang="en-US" smtClean="0"/>
              <a:t>5/28/25</a:t>
            </a:fld>
            <a:endParaRPr lang="en-JP"/>
          </a:p>
        </p:txBody>
      </p:sp>
      <p:sp>
        <p:nvSpPr>
          <p:cNvPr id="6" name="Footer Placeholder 5">
            <a:extLst>
              <a:ext uri="{FF2B5EF4-FFF2-40B4-BE49-F238E27FC236}">
                <a16:creationId xmlns:a16="http://schemas.microsoft.com/office/drawing/2014/main" id="{C88CFA5E-18E8-4CA6-8F55-15368F9A5FA8}"/>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AC8FCFC-C9A2-3DAD-82A7-F29612B1A0AF}"/>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154694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9CD31-CF0D-E874-2671-7479E1F141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DEE7DF44-388E-8FDE-91B3-CE37C8ACB5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JP"/>
          </a:p>
        </p:txBody>
      </p:sp>
      <p:sp>
        <p:nvSpPr>
          <p:cNvPr id="4" name="Text Placeholder 3">
            <a:extLst>
              <a:ext uri="{FF2B5EF4-FFF2-40B4-BE49-F238E27FC236}">
                <a16:creationId xmlns:a16="http://schemas.microsoft.com/office/drawing/2014/main" id="{5744B5AA-1F04-DB14-34A1-C7C931B57A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83689-F228-4E62-5D83-416C8B1354E6}"/>
              </a:ext>
            </a:extLst>
          </p:cNvPr>
          <p:cNvSpPr>
            <a:spLocks noGrp="1"/>
          </p:cNvSpPr>
          <p:nvPr>
            <p:ph type="dt" sz="half" idx="10"/>
          </p:nvPr>
        </p:nvSpPr>
        <p:spPr/>
        <p:txBody>
          <a:bodyPr/>
          <a:lstStyle/>
          <a:p>
            <a:fld id="{3CA77DCA-93AF-B44F-B6D0-088A6BA12752}" type="datetime1">
              <a:rPr lang="en-US" smtClean="0"/>
              <a:t>5/28/25</a:t>
            </a:fld>
            <a:endParaRPr lang="en-JP"/>
          </a:p>
        </p:txBody>
      </p:sp>
      <p:sp>
        <p:nvSpPr>
          <p:cNvPr id="6" name="Footer Placeholder 5">
            <a:extLst>
              <a:ext uri="{FF2B5EF4-FFF2-40B4-BE49-F238E27FC236}">
                <a16:creationId xmlns:a16="http://schemas.microsoft.com/office/drawing/2014/main" id="{B637B65E-4DEC-9DB0-5D47-5198FF83BC99}"/>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362B584F-6761-CE5E-0479-051C2F37F437}"/>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93270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4C0B-8CDA-5F22-881C-455CABAE1753}"/>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D87B96E9-2A38-E593-DB73-73B3FC744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4897EE86-1C09-02CB-4DF1-307DC95AB438}"/>
              </a:ext>
            </a:extLst>
          </p:cNvPr>
          <p:cNvSpPr>
            <a:spLocks noGrp="1"/>
          </p:cNvSpPr>
          <p:nvPr>
            <p:ph type="dt" sz="half" idx="10"/>
          </p:nvPr>
        </p:nvSpPr>
        <p:spPr/>
        <p:txBody>
          <a:bodyPr/>
          <a:lstStyle/>
          <a:p>
            <a:fld id="{C0071891-CCAA-8B47-A48D-E31C6399C0CF}" type="datetime1">
              <a:rPr lang="en-US" smtClean="0"/>
              <a:t>5/28/25</a:t>
            </a:fld>
            <a:endParaRPr lang="en-JP"/>
          </a:p>
        </p:txBody>
      </p:sp>
      <p:sp>
        <p:nvSpPr>
          <p:cNvPr id="5" name="Footer Placeholder 4">
            <a:extLst>
              <a:ext uri="{FF2B5EF4-FFF2-40B4-BE49-F238E27FC236}">
                <a16:creationId xmlns:a16="http://schemas.microsoft.com/office/drawing/2014/main" id="{91690A64-A6E2-7E1E-B6E0-2529F58E6FDB}"/>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E4D2AB2-E3C3-B1F6-D880-BB0F378C0F03}"/>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39027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E14332-D896-32BD-FDC8-22BA5C382D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F8E529B0-A807-FAB2-78B2-4B332DDFAC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98FECDA1-870C-4C54-0C60-3AF3D55195EE}"/>
              </a:ext>
            </a:extLst>
          </p:cNvPr>
          <p:cNvSpPr>
            <a:spLocks noGrp="1"/>
          </p:cNvSpPr>
          <p:nvPr>
            <p:ph type="dt" sz="half" idx="10"/>
          </p:nvPr>
        </p:nvSpPr>
        <p:spPr/>
        <p:txBody>
          <a:bodyPr/>
          <a:lstStyle/>
          <a:p>
            <a:fld id="{5A47478A-C16B-2945-9A46-E92B72CA62D6}" type="datetime1">
              <a:rPr lang="en-US" smtClean="0"/>
              <a:t>5/28/25</a:t>
            </a:fld>
            <a:endParaRPr lang="en-JP"/>
          </a:p>
        </p:txBody>
      </p:sp>
      <p:sp>
        <p:nvSpPr>
          <p:cNvPr id="5" name="Footer Placeholder 4">
            <a:extLst>
              <a:ext uri="{FF2B5EF4-FFF2-40B4-BE49-F238E27FC236}">
                <a16:creationId xmlns:a16="http://schemas.microsoft.com/office/drawing/2014/main" id="{6EA0806A-334A-A5E5-E9AC-58E47832BAA3}"/>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E144238-430E-C0F7-406F-DB6B293FC299}"/>
              </a:ext>
            </a:extLst>
          </p:cNvPr>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354774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2749A-0097-3F2B-D01A-EEDF3628B3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261E4B46-FF7C-AFCA-E95E-22CF79F87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BDCC3311-0B7E-1633-F6E8-25802FC9FB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9690B5-F0A7-6442-8899-E7417EF85D58}" type="datetime1">
              <a:rPr lang="en-US" smtClean="0"/>
              <a:t>5/28/25</a:t>
            </a:fld>
            <a:endParaRPr lang="en-JP"/>
          </a:p>
        </p:txBody>
      </p:sp>
      <p:sp>
        <p:nvSpPr>
          <p:cNvPr id="5" name="Footer Placeholder 4">
            <a:extLst>
              <a:ext uri="{FF2B5EF4-FFF2-40B4-BE49-F238E27FC236}">
                <a16:creationId xmlns:a16="http://schemas.microsoft.com/office/drawing/2014/main" id="{1FCFBF33-EE36-7792-B29C-B3CCC69A52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A688A88D-D824-C5BA-7715-6B839465A9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44241B-2579-694C-B40C-A1E3D5F0E4EC}" type="slidenum">
              <a:rPr lang="en-JP" smtClean="0"/>
              <a:t>‹#›</a:t>
            </a:fld>
            <a:endParaRPr lang="en-JP"/>
          </a:p>
        </p:txBody>
      </p:sp>
    </p:spTree>
    <p:extLst>
      <p:ext uri="{BB962C8B-B14F-4D97-AF65-F5344CB8AC3E}">
        <p14:creationId xmlns:p14="http://schemas.microsoft.com/office/powerpoint/2010/main" val="2187094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microsoft.com/office/2017/06/relationships/model3d" Target="../media/model3d2.glb"/><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17/06/relationships/model3d" Target="../media/model3d1.glb"/><Relationship Id="rId10" Type="http://schemas.openxmlformats.org/officeDocument/2006/relationships/image" Target="../media/image13.png"/><Relationship Id="rId4" Type="http://schemas.openxmlformats.org/officeDocument/2006/relationships/image" Target="../media/image10.png"/><Relationship Id="rId9" Type="http://schemas.microsoft.com/office/2017/06/relationships/model3d" Target="../media/model3d3.glb"/></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17/06/relationships/model3d" Target="../media/model3d3.glb"/><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6CD778-B5F1-E14A-411B-8E0AE18D20A3}"/>
              </a:ext>
            </a:extLst>
          </p:cNvPr>
          <p:cNvSpPr txBox="1"/>
          <p:nvPr/>
        </p:nvSpPr>
        <p:spPr>
          <a:xfrm>
            <a:off x="4477216" y="648415"/>
            <a:ext cx="6099716" cy="400110"/>
          </a:xfrm>
          <a:prstGeom prst="rect">
            <a:avLst/>
          </a:prstGeom>
          <a:noFill/>
        </p:spPr>
        <p:txBody>
          <a:bodyPr wrap="square">
            <a:spAutoFit/>
          </a:bodyPr>
          <a:lstStyle/>
          <a:p>
            <a:r>
              <a:rPr lang="ja-JP" altLang="en-US" sz="2000"/>
              <a:t>談話会発表</a:t>
            </a:r>
          </a:p>
        </p:txBody>
      </p:sp>
      <p:sp>
        <p:nvSpPr>
          <p:cNvPr id="9" name="TextBox 8">
            <a:extLst>
              <a:ext uri="{FF2B5EF4-FFF2-40B4-BE49-F238E27FC236}">
                <a16:creationId xmlns:a16="http://schemas.microsoft.com/office/drawing/2014/main" id="{2B109025-35DE-BC47-916D-50FA479740D9}"/>
              </a:ext>
            </a:extLst>
          </p:cNvPr>
          <p:cNvSpPr txBox="1"/>
          <p:nvPr/>
        </p:nvSpPr>
        <p:spPr>
          <a:xfrm>
            <a:off x="2414240" y="1305763"/>
            <a:ext cx="6099716" cy="1569660"/>
          </a:xfrm>
          <a:prstGeom prst="rect">
            <a:avLst/>
          </a:prstGeom>
          <a:noFill/>
        </p:spPr>
        <p:txBody>
          <a:bodyPr wrap="square">
            <a:spAutoFit/>
          </a:bodyPr>
          <a:lstStyle/>
          <a:p>
            <a:pPr algn="ctr"/>
            <a:endParaRPr lang="mn-MN" sz="3200" b="0" i="0" u="none" strike="noStrike" dirty="0">
              <a:solidFill>
                <a:srgbClr val="434343"/>
              </a:solidFill>
              <a:effectLst/>
              <a:latin typeface="Times New Roman" panose="02020603050405020304" pitchFamily="18" charset="0"/>
              <a:cs typeface="Times New Roman" panose="02020603050405020304" pitchFamily="18" charset="0"/>
            </a:endParaRPr>
          </a:p>
          <a:p>
            <a:pPr algn="ctr"/>
            <a:r>
              <a:rPr lang="en-US" sz="3200" dirty="0">
                <a:latin typeface="Times New Roman" panose="02020603050405020304" pitchFamily="18" charset="0"/>
                <a:cs typeface="Times New Roman" panose="02020603050405020304" pitchFamily="18" charset="0"/>
              </a:rPr>
              <a:t>DTLS</a:t>
            </a:r>
            <a:r>
              <a:rPr lang="ja-JP" altLang="en-US" sz="3200">
                <a:latin typeface="Times New Roman" panose="02020603050405020304" pitchFamily="18" charset="0"/>
                <a:cs typeface="Times New Roman" panose="02020603050405020304" pitchFamily="18" charset="0"/>
              </a:rPr>
              <a:t>を用いた</a:t>
            </a:r>
            <a:r>
              <a:rPr lang="en-US" sz="3200" dirty="0">
                <a:latin typeface="Times New Roman" panose="02020603050405020304" pitchFamily="18" charset="0"/>
                <a:cs typeface="Times New Roman" panose="02020603050405020304" pitchFamily="18" charset="0"/>
              </a:rPr>
              <a:t>CoAP</a:t>
            </a:r>
            <a:r>
              <a:rPr lang="ja-JP" altLang="en-US" sz="3200">
                <a:latin typeface="Times New Roman" panose="02020603050405020304" pitchFamily="18" charset="0"/>
                <a:cs typeface="Times New Roman" panose="02020603050405020304" pitchFamily="18" charset="0"/>
              </a:rPr>
              <a:t>のセキュリティ強化に関する研究</a:t>
            </a:r>
            <a:endParaRPr lang="en-JP" sz="32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C84762F-7835-874D-3F51-43B9F8C1F934}"/>
              </a:ext>
            </a:extLst>
          </p:cNvPr>
          <p:cNvSpPr txBox="1"/>
          <p:nvPr/>
        </p:nvSpPr>
        <p:spPr>
          <a:xfrm>
            <a:off x="2570357" y="3559225"/>
            <a:ext cx="7538224" cy="2308324"/>
          </a:xfrm>
          <a:prstGeom prst="rect">
            <a:avLst/>
          </a:prstGeom>
          <a:noFill/>
        </p:spPr>
        <p:txBody>
          <a:bodyPr wrap="square">
            <a:spAutoFit/>
          </a:bodyPr>
          <a:lstStyle/>
          <a:p>
            <a:pPr marL="0" lvl="0" indent="0">
              <a:spcBef>
                <a:spcPts val="0"/>
              </a:spcBef>
            </a:pPr>
            <a:r>
              <a:rPr lang="ja-JP" altLang="en-US" sz="2400"/>
              <a:t>所属　　： 情報基盤システム学研究室</a:t>
            </a:r>
            <a:endParaRPr lang="en-US" altLang="ja-JP" sz="2400" dirty="0"/>
          </a:p>
          <a:p>
            <a:pPr marL="0" indent="0">
              <a:spcBef>
                <a:spcPts val="0"/>
              </a:spcBef>
            </a:pPr>
            <a:r>
              <a:rPr lang="ja-JP" altLang="en-US" sz="2400"/>
              <a:t>発表者　：</a:t>
            </a:r>
            <a:r>
              <a:rPr lang="en-US" altLang="ja-JP" sz="2400" dirty="0"/>
              <a:t>DAVAAKHUU   UNDARMAA</a:t>
            </a:r>
          </a:p>
          <a:p>
            <a:pPr marL="0" indent="0">
              <a:spcBef>
                <a:spcPts val="0"/>
              </a:spcBef>
            </a:pPr>
            <a:r>
              <a:rPr lang="ja-JP" altLang="en-US" sz="2400"/>
              <a:t>指導教員： 池部 実 講師</a:t>
            </a:r>
            <a:endParaRPr lang="en-US" altLang="ja-JP" sz="2400" dirty="0"/>
          </a:p>
          <a:p>
            <a:pPr marL="0" lvl="0" indent="0">
              <a:spcBef>
                <a:spcPts val="0"/>
              </a:spcBef>
            </a:pPr>
            <a:r>
              <a:rPr lang="ja-JP" altLang="en-US" sz="2400"/>
              <a:t>　　　　　 吉崎 弘一 教授</a:t>
            </a:r>
            <a:endParaRPr lang="en-US" altLang="ja-JP" sz="2400" dirty="0"/>
          </a:p>
          <a:p>
            <a:pPr marL="0" lvl="0" indent="0">
              <a:spcBef>
                <a:spcPts val="0"/>
              </a:spcBef>
            </a:pPr>
            <a:r>
              <a:rPr lang="ja-JP" altLang="en-US" sz="2400"/>
              <a:t>発表日　： </a:t>
            </a:r>
            <a:r>
              <a:rPr lang="en-US" altLang="ja-JP" sz="2400" dirty="0"/>
              <a:t>2025</a:t>
            </a:r>
            <a:r>
              <a:rPr lang="ja-JP" altLang="en-US" sz="2400"/>
              <a:t>年</a:t>
            </a:r>
            <a:r>
              <a:rPr lang="en-US" altLang="ja-JP" sz="2400" dirty="0"/>
              <a:t>5</a:t>
            </a:r>
            <a:r>
              <a:rPr lang="ja-JP" altLang="en-US" sz="2400"/>
              <a:t>月</a:t>
            </a:r>
            <a:r>
              <a:rPr lang="en-US" altLang="ja-JP" sz="2400" dirty="0"/>
              <a:t>28</a:t>
            </a:r>
            <a:r>
              <a:rPr lang="ja-JP" altLang="en-US" sz="2400"/>
              <a:t>日</a:t>
            </a:r>
            <a:endParaRPr lang="en-US" altLang="ja-JP" sz="2400" dirty="0"/>
          </a:p>
          <a:p>
            <a:pPr marL="0" lvl="0" indent="0">
              <a:spcBef>
                <a:spcPts val="0"/>
              </a:spcBef>
            </a:pPr>
            <a:r>
              <a:rPr lang="ja-JP" altLang="en-US" sz="2400"/>
              <a:t>会場　　： セミナー</a:t>
            </a:r>
            <a:r>
              <a:rPr lang="en-US" altLang="ja-JP" sz="2400" dirty="0"/>
              <a:t>1(</a:t>
            </a:r>
            <a:r>
              <a:rPr lang="ja-JP" altLang="en-US" sz="2400"/>
              <a:t>第三講義棟</a:t>
            </a:r>
            <a:r>
              <a:rPr lang="en-US" altLang="ja-JP" sz="2400" dirty="0"/>
              <a:t>)</a:t>
            </a:r>
          </a:p>
        </p:txBody>
      </p:sp>
      <p:pic>
        <p:nvPicPr>
          <p:cNvPr id="12" name="Picture 11">
            <a:extLst>
              <a:ext uri="{FF2B5EF4-FFF2-40B4-BE49-F238E27FC236}">
                <a16:creationId xmlns:a16="http://schemas.microsoft.com/office/drawing/2014/main" id="{2B6D9B32-409B-605E-B4F2-9FB921D2280B}"/>
              </a:ext>
            </a:extLst>
          </p:cNvPr>
          <p:cNvPicPr>
            <a:picLocks noChangeAspect="1"/>
          </p:cNvPicPr>
          <p:nvPr/>
        </p:nvPicPr>
        <p:blipFill>
          <a:blip r:embed="rId2"/>
          <a:stretch>
            <a:fillRect/>
          </a:stretch>
        </p:blipFill>
        <p:spPr>
          <a:xfrm>
            <a:off x="11050859" y="342333"/>
            <a:ext cx="837116" cy="893280"/>
          </a:xfrm>
          <a:prstGeom prst="rect">
            <a:avLst/>
          </a:prstGeom>
        </p:spPr>
      </p:pic>
    </p:spTree>
    <p:extLst>
      <p:ext uri="{BB962C8B-B14F-4D97-AF65-F5344CB8AC3E}">
        <p14:creationId xmlns:p14="http://schemas.microsoft.com/office/powerpoint/2010/main" val="2649573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19C888-8ACD-BE2F-2723-88F947B40530}"/>
              </a:ext>
            </a:extLst>
          </p:cNvPr>
          <p:cNvSpPr txBox="1"/>
          <p:nvPr/>
        </p:nvSpPr>
        <p:spPr>
          <a:xfrm>
            <a:off x="3752385" y="1002938"/>
            <a:ext cx="6099716" cy="523220"/>
          </a:xfrm>
          <a:prstGeom prst="rect">
            <a:avLst/>
          </a:prstGeom>
          <a:noFill/>
        </p:spPr>
        <p:txBody>
          <a:bodyPr wrap="square">
            <a:spAutoFit/>
          </a:bodyPr>
          <a:lstStyle/>
          <a:p>
            <a:r>
              <a:rPr lang="ja-JP" altLang="en-US" sz="2800" b="0" i="0" u="none" strike="noStrike">
                <a:effectLst/>
                <a:latin typeface="YuMincho +36p Kana Medium" panose="02020500000000000000" pitchFamily="18" charset="-128"/>
                <a:ea typeface="YuMincho +36p Kana Medium" panose="02020500000000000000" pitchFamily="18" charset="-128"/>
              </a:rPr>
              <a:t>発表する論文</a:t>
            </a:r>
            <a:endParaRPr lang="en-JP" sz="2800" dirty="0"/>
          </a:p>
        </p:txBody>
      </p:sp>
      <p:sp>
        <p:nvSpPr>
          <p:cNvPr id="7" name="TextBox 6">
            <a:extLst>
              <a:ext uri="{FF2B5EF4-FFF2-40B4-BE49-F238E27FC236}">
                <a16:creationId xmlns:a16="http://schemas.microsoft.com/office/drawing/2014/main" id="{DB676798-17EC-5E14-F43C-0B067AC5EBA2}"/>
              </a:ext>
            </a:extLst>
          </p:cNvPr>
          <p:cNvSpPr txBox="1"/>
          <p:nvPr/>
        </p:nvSpPr>
        <p:spPr>
          <a:xfrm>
            <a:off x="2291576" y="2240725"/>
            <a:ext cx="6099716" cy="954107"/>
          </a:xfrm>
          <a:prstGeom prst="rect">
            <a:avLst/>
          </a:prstGeom>
          <a:noFill/>
        </p:spPr>
        <p:txBody>
          <a:bodyPr wrap="square">
            <a:spAutoFit/>
          </a:bodyPr>
          <a:lstStyle/>
          <a:p>
            <a:pPr algn="ctr"/>
            <a:r>
              <a:rPr lang="en-US" sz="2800" b="0" i="0" u="none" strike="noStrike" dirty="0">
                <a:solidFill>
                  <a:srgbClr val="434343"/>
                </a:solidFill>
                <a:effectLst/>
                <a:latin typeface="Times New Roman" panose="02020603050405020304" pitchFamily="18" charset="0"/>
                <a:cs typeface="Times New Roman" panose="02020603050405020304" pitchFamily="18" charset="0"/>
              </a:rPr>
              <a:t>Data Protection in IoT using CoAP based on Enhanced </a:t>
            </a:r>
            <a:r>
              <a:rPr lang="mn-MN" sz="2800" b="0" i="0" u="none" strike="noStrike" dirty="0">
                <a:solidFill>
                  <a:srgbClr val="434343"/>
                </a:solidFill>
                <a:effectLst/>
                <a:latin typeface="Times New Roman" panose="02020603050405020304" pitchFamily="18" charset="0"/>
                <a:cs typeface="Times New Roman" panose="02020603050405020304" pitchFamily="18" charset="0"/>
              </a:rPr>
              <a:t>  </a:t>
            </a:r>
            <a:r>
              <a:rPr lang="en-US" sz="2800" b="0" i="0" u="none" strike="noStrike" dirty="0">
                <a:solidFill>
                  <a:srgbClr val="434343"/>
                </a:solidFill>
                <a:effectLst/>
                <a:latin typeface="Times New Roman" panose="02020603050405020304" pitchFamily="18" charset="0"/>
                <a:cs typeface="Times New Roman" panose="02020603050405020304" pitchFamily="18" charset="0"/>
              </a:rPr>
              <a:t>DTLS</a:t>
            </a:r>
            <a:endParaRPr lang="mn-MN" sz="2800" b="0" i="0" u="none" strike="noStrike" dirty="0">
              <a:solidFill>
                <a:srgbClr val="434343"/>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3971679-2BA4-3BE6-51C7-010DBD5F7166}"/>
              </a:ext>
            </a:extLst>
          </p:cNvPr>
          <p:cNvSpPr txBox="1"/>
          <p:nvPr/>
        </p:nvSpPr>
        <p:spPr>
          <a:xfrm>
            <a:off x="2531124" y="3909399"/>
            <a:ext cx="6789145" cy="1631216"/>
          </a:xfrm>
          <a:prstGeom prst="rect">
            <a:avLst/>
          </a:prstGeom>
          <a:noFill/>
        </p:spPr>
        <p:txBody>
          <a:bodyPr wrap="square">
            <a:spAutoFit/>
          </a:bodyPr>
          <a:lstStyle/>
          <a:p>
            <a:pPr rtl="0">
              <a:spcBef>
                <a:spcPts val="0"/>
              </a:spcBef>
              <a:spcAft>
                <a:spcPts val="0"/>
              </a:spcAft>
            </a:pPr>
            <a:r>
              <a:rPr lang="ja-JP" altLang="en-US" sz="2000"/>
              <a:t>発行年：</a:t>
            </a:r>
            <a:r>
              <a:rPr lang="mn-MN" altLang="ja-JP" sz="2000" dirty="0"/>
              <a:t> </a:t>
            </a:r>
            <a:r>
              <a:rPr lang="en-US" sz="2000" dirty="0"/>
              <a:t>August 06, 2023</a:t>
            </a:r>
            <a:br>
              <a:rPr lang="ja-JP" altLang="en-US" sz="2000"/>
            </a:br>
            <a:r>
              <a:rPr lang="ja-JP" altLang="en-US" sz="2000"/>
              <a:t>著者：</a:t>
            </a:r>
            <a:r>
              <a:rPr lang="en-US" sz="2000" dirty="0"/>
              <a:t>Sara Alayda</a:t>
            </a:r>
            <a:r>
              <a:rPr lang="mn-MN" sz="2000" dirty="0"/>
              <a:t>  , </a:t>
            </a:r>
            <a:r>
              <a:rPr lang="en-US" sz="2000" dirty="0"/>
              <a:t>Randa Ahmed – Assistant Professor Jouf University, College of Computer and Information Sciences</a:t>
            </a:r>
            <a:endParaRPr lang="en-US" sz="2000" dirty="0">
              <a:effectLst/>
            </a:endParaRPr>
          </a:p>
          <a:p>
            <a:br>
              <a:rPr lang="en-US" sz="2000" dirty="0"/>
            </a:br>
            <a:endParaRPr lang="en-JP" sz="2000" dirty="0"/>
          </a:p>
        </p:txBody>
      </p:sp>
      <p:pic>
        <p:nvPicPr>
          <p:cNvPr id="10" name="Picture 9">
            <a:extLst>
              <a:ext uri="{FF2B5EF4-FFF2-40B4-BE49-F238E27FC236}">
                <a16:creationId xmlns:a16="http://schemas.microsoft.com/office/drawing/2014/main" id="{D2A4288B-D7E1-0353-0E4E-F70D0A6ED787}"/>
              </a:ext>
            </a:extLst>
          </p:cNvPr>
          <p:cNvPicPr>
            <a:picLocks noChangeAspect="1"/>
          </p:cNvPicPr>
          <p:nvPr/>
        </p:nvPicPr>
        <p:blipFill>
          <a:blip r:embed="rId2"/>
          <a:stretch>
            <a:fillRect/>
          </a:stretch>
        </p:blipFill>
        <p:spPr>
          <a:xfrm>
            <a:off x="11289173" y="64399"/>
            <a:ext cx="744308" cy="794245"/>
          </a:xfrm>
          <a:prstGeom prst="rect">
            <a:avLst/>
          </a:prstGeom>
        </p:spPr>
      </p:pic>
      <p:sp>
        <p:nvSpPr>
          <p:cNvPr id="11" name="Slide Number Placeholder 10">
            <a:extLst>
              <a:ext uri="{FF2B5EF4-FFF2-40B4-BE49-F238E27FC236}">
                <a16:creationId xmlns:a16="http://schemas.microsoft.com/office/drawing/2014/main" id="{00C26233-83A2-44BD-CD45-149E7BD54D19}"/>
              </a:ext>
            </a:extLst>
          </p:cNvPr>
          <p:cNvSpPr>
            <a:spLocks noGrp="1"/>
          </p:cNvSpPr>
          <p:nvPr>
            <p:ph type="sldNum" sz="quarter" idx="12"/>
          </p:nvPr>
        </p:nvSpPr>
        <p:spPr/>
        <p:txBody>
          <a:bodyPr/>
          <a:lstStyle/>
          <a:p>
            <a:fld id="{BB44241B-2579-694C-B40C-A1E3D5F0E4EC}" type="slidenum">
              <a:rPr lang="en-JP" smtClean="0"/>
              <a:t>1</a:t>
            </a:fld>
            <a:endParaRPr lang="en-JP"/>
          </a:p>
        </p:txBody>
      </p:sp>
    </p:spTree>
    <p:extLst>
      <p:ext uri="{BB962C8B-B14F-4D97-AF65-F5344CB8AC3E}">
        <p14:creationId xmlns:p14="http://schemas.microsoft.com/office/powerpoint/2010/main" val="304663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a:latin typeface="+mj-ea"/>
              </a:rPr>
              <a:t>目次</a:t>
            </a:r>
            <a:endParaRPr lang="en-JP" dirty="0">
              <a:latin typeface="+mj-ea"/>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p:txBody>
          <a:bodyPr/>
          <a:lstStyle/>
          <a:p>
            <a:pPr marL="635000" indent="-457200">
              <a:lnSpc>
                <a:spcPct val="150000"/>
              </a:lnSpc>
              <a:spcBef>
                <a:spcPts val="0"/>
              </a:spcBef>
              <a:buSzPts val="2800"/>
              <a:buFont typeface="Wingdings" pitchFamily="2" charset="2"/>
              <a:buChar char="§"/>
            </a:pPr>
            <a:r>
              <a:rPr lang="ja-JP" altLang="en-US">
                <a:solidFill>
                  <a:srgbClr val="C00000"/>
                </a:solidFill>
                <a:latin typeface="+mj-ea"/>
                <a:ea typeface="+mj-ea"/>
              </a:rPr>
              <a:t>研究背景・目的</a:t>
            </a:r>
            <a:endParaRPr lang="en-US" altLang="ja-JP" dirty="0">
              <a:solidFill>
                <a:srgbClr val="C00000"/>
              </a:solidFill>
              <a:latin typeface="+mj-ea"/>
              <a:ea typeface="+mj-ea"/>
            </a:endParaRPr>
          </a:p>
          <a:p>
            <a:pPr marL="635000" indent="-457200">
              <a:lnSpc>
                <a:spcPct val="150000"/>
              </a:lnSpc>
              <a:spcBef>
                <a:spcPts val="0"/>
              </a:spcBef>
              <a:buSzPts val="2800"/>
              <a:buFont typeface="Wingdings" pitchFamily="2" charset="2"/>
              <a:buChar char="§"/>
            </a:pPr>
            <a:r>
              <a:rPr lang="en-US" dirty="0">
                <a:latin typeface="+mj-ea"/>
                <a:ea typeface="+mj-ea"/>
              </a:rPr>
              <a:t>CoAP</a:t>
            </a:r>
            <a:r>
              <a:rPr lang="ja-JP" altLang="en-US">
                <a:latin typeface="+mj-ea"/>
                <a:ea typeface="+mj-ea"/>
              </a:rPr>
              <a:t>と</a:t>
            </a:r>
            <a:r>
              <a:rPr lang="en-US" dirty="0">
                <a:latin typeface="+mj-ea"/>
                <a:ea typeface="+mj-ea"/>
              </a:rPr>
              <a:t>DTLS</a:t>
            </a:r>
            <a:r>
              <a:rPr lang="ja-JP" altLang="en-US">
                <a:latin typeface="+mj-ea"/>
                <a:ea typeface="+mj-ea"/>
              </a:rPr>
              <a:t>の基礎</a:t>
            </a:r>
            <a:endParaRPr lang="mn-MN" altLang="ja-JP" dirty="0">
              <a:latin typeface="+mj-ea"/>
              <a:ea typeface="+mj-ea"/>
            </a:endParaRPr>
          </a:p>
          <a:p>
            <a:pPr marL="635000" indent="-457200">
              <a:lnSpc>
                <a:spcPct val="150000"/>
              </a:lnSpc>
              <a:spcBef>
                <a:spcPts val="0"/>
              </a:spcBef>
              <a:buSzPts val="2800"/>
              <a:buFont typeface="Wingdings" pitchFamily="2" charset="2"/>
              <a:buChar char="§"/>
            </a:pPr>
            <a:r>
              <a:rPr lang="en-US" b="0" i="0" dirty="0">
                <a:solidFill>
                  <a:srgbClr val="252525"/>
                </a:solidFill>
                <a:effectLst/>
                <a:latin typeface="+mj-ea"/>
                <a:ea typeface="+mj-ea"/>
              </a:rPr>
              <a:t>Enhanced DTLS</a:t>
            </a:r>
            <a:r>
              <a:rPr lang="ja-JP" altLang="en-US" b="0" i="0">
                <a:solidFill>
                  <a:srgbClr val="252525"/>
                </a:solidFill>
                <a:effectLst/>
                <a:latin typeface="+mj-ea"/>
                <a:ea typeface="+mj-ea"/>
              </a:rPr>
              <a:t>の特徴と提案手法</a:t>
            </a:r>
            <a:endParaRPr lang="mn-MN" altLang="ja-JP" b="0" i="0" dirty="0">
              <a:solidFill>
                <a:srgbClr val="252525"/>
              </a:solidFill>
              <a:effectLst/>
              <a:latin typeface="+mj-ea"/>
              <a:ea typeface="+mj-ea"/>
            </a:endParaRPr>
          </a:p>
          <a:p>
            <a:pPr marL="635000" indent="-457200">
              <a:lnSpc>
                <a:spcPct val="150000"/>
              </a:lnSpc>
              <a:spcBef>
                <a:spcPts val="0"/>
              </a:spcBef>
              <a:buSzPts val="2800"/>
              <a:buFont typeface="Wingdings" pitchFamily="2" charset="2"/>
              <a:buChar char="§"/>
            </a:pPr>
            <a:r>
              <a:rPr lang="ja-JP" altLang="en-US">
                <a:latin typeface="+mj-ea"/>
                <a:ea typeface="+mj-ea"/>
              </a:rPr>
              <a:t>実験方法と評価</a:t>
            </a:r>
            <a:endParaRPr lang="mn-MN" altLang="ja-JP" dirty="0">
              <a:solidFill>
                <a:srgbClr val="252525"/>
              </a:solidFill>
              <a:latin typeface="+mj-ea"/>
              <a:ea typeface="+mj-ea"/>
            </a:endParaRPr>
          </a:p>
          <a:p>
            <a:pPr marL="635000" indent="-457200">
              <a:lnSpc>
                <a:spcPct val="150000"/>
              </a:lnSpc>
              <a:spcBef>
                <a:spcPts val="0"/>
              </a:spcBef>
              <a:buSzPts val="2800"/>
              <a:buFont typeface="Wingdings" pitchFamily="2" charset="2"/>
              <a:buChar char="§"/>
            </a:pPr>
            <a:r>
              <a:rPr lang="ja-JP" altLang="en-US">
                <a:latin typeface="+mj-ea"/>
                <a:ea typeface="+mj-ea"/>
              </a:rPr>
              <a:t>まとめ・今後の</a:t>
            </a:r>
            <a:r>
              <a:rPr kumimoji="1" lang="ja-JP" altLang="en-US">
                <a:latin typeface="+mj-ea"/>
                <a:ea typeface="+mj-ea"/>
              </a:rPr>
              <a:t>課題</a:t>
            </a:r>
            <a:endParaRPr kumimoji="1" lang="en-US" altLang="ja-JP" dirty="0">
              <a:latin typeface="+mj-ea"/>
              <a:ea typeface="+mj-ea"/>
            </a:endParaRPr>
          </a:p>
          <a:p>
            <a:pPr marL="635000" indent="-457200">
              <a:lnSpc>
                <a:spcPct val="150000"/>
              </a:lnSpc>
              <a:spcBef>
                <a:spcPts val="0"/>
              </a:spcBef>
              <a:buSzPts val="2800"/>
              <a:buFont typeface="Wingdings" pitchFamily="2" charset="2"/>
              <a:buChar char="§"/>
            </a:pPr>
            <a:endParaRPr lang="en-US" altLang="ja-JP" dirty="0"/>
          </a:p>
          <a:p>
            <a:endParaRPr lang="en-JP" dirty="0"/>
          </a:p>
        </p:txBody>
      </p:sp>
      <p:pic>
        <p:nvPicPr>
          <p:cNvPr id="5" name="Picture 4">
            <a:extLst>
              <a:ext uri="{FF2B5EF4-FFF2-40B4-BE49-F238E27FC236}">
                <a16:creationId xmlns:a16="http://schemas.microsoft.com/office/drawing/2014/main" id="{77CBAF54-9447-E98E-DFDB-BA7AB71F884C}"/>
              </a:ext>
            </a:extLst>
          </p:cNvPr>
          <p:cNvPicPr>
            <a:picLocks noChangeAspect="1"/>
          </p:cNvPicPr>
          <p:nvPr/>
        </p:nvPicPr>
        <p:blipFill>
          <a:blip r:embed="rId3"/>
          <a:stretch>
            <a:fillRect/>
          </a:stretch>
        </p:blipFill>
        <p:spPr>
          <a:xfrm>
            <a:off x="11289173" y="64399"/>
            <a:ext cx="744308" cy="794245"/>
          </a:xfrm>
          <a:prstGeom prst="rect">
            <a:avLst/>
          </a:prstGeom>
        </p:spPr>
      </p:pic>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t>2</a:t>
            </a:fld>
            <a:endParaRPr lang="en-JP"/>
          </a:p>
        </p:txBody>
      </p:sp>
    </p:spTree>
    <p:extLst>
      <p:ext uri="{BB962C8B-B14F-4D97-AF65-F5344CB8AC3E}">
        <p14:creationId xmlns:p14="http://schemas.microsoft.com/office/powerpoint/2010/main" val="321607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E13FFC-3975-9080-3718-72F0EBE26673}"/>
              </a:ext>
            </a:extLst>
          </p:cNvPr>
          <p:cNvPicPr>
            <a:picLocks noChangeAspect="1"/>
          </p:cNvPicPr>
          <p:nvPr/>
        </p:nvPicPr>
        <p:blipFill>
          <a:blip r:embed="rId2"/>
          <a:stretch>
            <a:fillRect/>
          </a:stretch>
        </p:blipFill>
        <p:spPr>
          <a:xfrm>
            <a:off x="0" y="0"/>
            <a:ext cx="12192000" cy="6973678"/>
          </a:xfrm>
          <a:prstGeom prst="rect">
            <a:avLst/>
          </a:prstGeom>
        </p:spPr>
      </p:pic>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BB44241B-2579-694C-B40C-A1E3D5F0E4EC}" type="slidenum">
              <a:rPr lang="en-JP" smtClean="0"/>
              <a:t>3</a:t>
            </a:fld>
            <a:endParaRPr lang="en-JP"/>
          </a:p>
        </p:txBody>
      </p:sp>
      <p:sp>
        <p:nvSpPr>
          <p:cNvPr id="9" name="角丸四角形吹き出し 83">
            <a:extLst>
              <a:ext uri="{FF2B5EF4-FFF2-40B4-BE49-F238E27FC236}">
                <a16:creationId xmlns:a16="http://schemas.microsoft.com/office/drawing/2014/main" id="{A6273C69-7695-B3CA-6D42-4959C0BFC298}"/>
              </a:ext>
            </a:extLst>
          </p:cNvPr>
          <p:cNvSpPr/>
          <p:nvPr/>
        </p:nvSpPr>
        <p:spPr>
          <a:xfrm>
            <a:off x="1099429" y="1299991"/>
            <a:ext cx="4364937" cy="3029638"/>
          </a:xfrm>
          <a:prstGeom prst="wedgeRoundRectCallout">
            <a:avLst>
              <a:gd name="adj1" fmla="val 34812"/>
              <a:gd name="adj2" fmla="val 65708"/>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rPr>
              <a:t>近年、</a:t>
            </a:r>
            <a:r>
              <a:rPr lang="en-US" sz="1600" dirty="0">
                <a:solidFill>
                  <a:schemeClr val="tx1"/>
                </a:solidFill>
              </a:rPr>
              <a:t>IoT</a:t>
            </a:r>
            <a:r>
              <a:rPr lang="ja-JP" altLang="en-US" sz="1600">
                <a:solidFill>
                  <a:schemeClr val="tx1"/>
                </a:solidFill>
              </a:rPr>
              <a:t>デバイスに対するサイバー攻撃が増加しており、特に</a:t>
            </a:r>
            <a:r>
              <a:rPr lang="en-US" sz="1600" dirty="0">
                <a:solidFill>
                  <a:schemeClr val="tx1"/>
                </a:solidFill>
              </a:rPr>
              <a:t>Mirai</a:t>
            </a:r>
            <a:r>
              <a:rPr lang="ja-JP" altLang="en-US" sz="1600">
                <a:solidFill>
                  <a:schemeClr val="tx1"/>
                </a:solidFill>
              </a:rPr>
              <a:t>ボットネットのようなマルウェアが多数のデバイスを感染させ、</a:t>
            </a:r>
            <a:r>
              <a:rPr lang="en-US" sz="1600" dirty="0">
                <a:solidFill>
                  <a:schemeClr val="tx1"/>
                </a:solidFill>
              </a:rPr>
              <a:t>DDoS</a:t>
            </a:r>
            <a:r>
              <a:rPr lang="ja-JP" altLang="en-US" sz="1600">
                <a:solidFill>
                  <a:schemeClr val="tx1"/>
                </a:solidFill>
              </a:rPr>
              <a:t>攻撃などに悪用されています。</a:t>
            </a:r>
            <a:br>
              <a:rPr lang="ja-JP" altLang="en-US" sz="1600">
                <a:solidFill>
                  <a:schemeClr val="tx1"/>
                </a:solidFill>
              </a:rPr>
            </a:br>
            <a:r>
              <a:rPr lang="ja-JP" altLang="en-US" sz="1600">
                <a:solidFill>
                  <a:schemeClr val="tx1"/>
                </a:solidFill>
              </a:rPr>
              <a:t>また、スマートホームや医療用</a:t>
            </a:r>
            <a:r>
              <a:rPr lang="en-US" sz="1600" dirty="0">
                <a:solidFill>
                  <a:schemeClr val="tx1"/>
                </a:solidFill>
              </a:rPr>
              <a:t>IoT</a:t>
            </a:r>
            <a:r>
              <a:rPr lang="ja-JP" altLang="en-US" sz="1600">
                <a:solidFill>
                  <a:schemeClr val="tx1"/>
                </a:solidFill>
              </a:rPr>
              <a:t>機器に対するハッキング被害も報告されており、</a:t>
            </a:r>
            <a:r>
              <a:rPr lang="en-US" sz="1600" dirty="0">
                <a:solidFill>
                  <a:schemeClr val="tx1"/>
                </a:solidFill>
              </a:rPr>
              <a:t>IoT</a:t>
            </a:r>
            <a:r>
              <a:rPr lang="ja-JP" altLang="en-US" sz="1600">
                <a:solidFill>
                  <a:schemeClr val="tx1"/>
                </a:solidFill>
              </a:rPr>
              <a:t>セキュリティの強化は世界的な課題となっています。</a:t>
            </a:r>
            <a:endParaRPr lang="en-JP" sz="1600" dirty="0">
              <a:solidFill>
                <a:schemeClr val="tx1"/>
              </a:solidFill>
            </a:endParaRPr>
          </a:p>
        </p:txBody>
      </p:sp>
    </p:spTree>
    <p:extLst>
      <p:ext uri="{BB962C8B-B14F-4D97-AF65-F5344CB8AC3E}">
        <p14:creationId xmlns:p14="http://schemas.microsoft.com/office/powerpoint/2010/main" val="2943554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9386EB-6614-863F-6202-DCD4C2A6937F}"/>
              </a:ext>
            </a:extLst>
          </p:cNvPr>
          <p:cNvSpPr txBox="1"/>
          <p:nvPr/>
        </p:nvSpPr>
        <p:spPr>
          <a:xfrm>
            <a:off x="713678" y="724158"/>
            <a:ext cx="6099716" cy="523220"/>
          </a:xfrm>
          <a:prstGeom prst="rect">
            <a:avLst/>
          </a:prstGeom>
          <a:noFill/>
        </p:spPr>
        <p:txBody>
          <a:bodyPr wrap="square">
            <a:spAutoFit/>
          </a:bodyPr>
          <a:lstStyle/>
          <a:p>
            <a:r>
              <a:rPr lang="ja-JP" altLang="en-US" sz="2800"/>
              <a:t>研究背景・</a:t>
            </a:r>
            <a:r>
              <a:rPr lang="ja-JP" altLang="en-US" sz="2800">
                <a:solidFill>
                  <a:srgbClr val="C00000"/>
                </a:solidFill>
              </a:rPr>
              <a:t>目的</a:t>
            </a:r>
            <a:endParaRPr lang="en-JP" sz="2800" dirty="0">
              <a:solidFill>
                <a:srgbClr val="C00000"/>
              </a:solidFill>
            </a:endParaRPr>
          </a:p>
        </p:txBody>
      </p:sp>
      <p:sp>
        <p:nvSpPr>
          <p:cNvPr id="7" name="TextBox 6">
            <a:extLst>
              <a:ext uri="{FF2B5EF4-FFF2-40B4-BE49-F238E27FC236}">
                <a16:creationId xmlns:a16="http://schemas.microsoft.com/office/drawing/2014/main" id="{2B6223CD-8078-D718-782C-E6D80FA82692}"/>
              </a:ext>
            </a:extLst>
          </p:cNvPr>
          <p:cNvSpPr txBox="1"/>
          <p:nvPr/>
        </p:nvSpPr>
        <p:spPr>
          <a:xfrm>
            <a:off x="2430966" y="1848855"/>
            <a:ext cx="7554951" cy="3539430"/>
          </a:xfrm>
          <a:prstGeom prst="rect">
            <a:avLst/>
          </a:prstGeom>
          <a:noFill/>
        </p:spPr>
        <p:txBody>
          <a:bodyPr wrap="square">
            <a:spAutoFit/>
          </a:bodyPr>
          <a:lstStyle/>
          <a:p>
            <a:r>
              <a:rPr lang="en-US" sz="2800" dirty="0"/>
              <a:t>IoT</a:t>
            </a:r>
            <a:r>
              <a:rPr lang="ja-JP" altLang="en-US" sz="2800"/>
              <a:t>環境におけるデータ通信の安全性を確保するために、</a:t>
            </a:r>
            <a:r>
              <a:rPr lang="en-US" sz="2800" dirty="0"/>
              <a:t>CoAP</a:t>
            </a:r>
            <a:r>
              <a:rPr lang="ja-JP" altLang="en-US" sz="2800"/>
              <a:t>プロトコルに適用される</a:t>
            </a:r>
            <a:r>
              <a:rPr lang="en-US" sz="2800" dirty="0"/>
              <a:t>DTLS</a:t>
            </a:r>
            <a:r>
              <a:rPr lang="ja-JP" altLang="en-US" sz="2800"/>
              <a:t>の強化手法を検討することである。</a:t>
            </a:r>
            <a:endParaRPr lang="mn-MN" altLang="ja-JP" sz="2800" dirty="0"/>
          </a:p>
          <a:p>
            <a:endParaRPr lang="mn-MN" altLang="ja-JP" sz="2800" dirty="0"/>
          </a:p>
          <a:p>
            <a:r>
              <a:rPr lang="ja-JP" altLang="en-US" sz="2800"/>
              <a:t>特に、現行の</a:t>
            </a:r>
            <a:r>
              <a:rPr lang="en-US" sz="2800" dirty="0"/>
              <a:t>DTLS</a:t>
            </a:r>
            <a:r>
              <a:rPr lang="ja-JP" altLang="en-US" sz="2800"/>
              <a:t>が持つパフォーマンスやリソース消費の課題に対して、軽量かつ高効率なセキュリティ強化策を提案・評価することを目指す。</a:t>
            </a:r>
            <a:endParaRPr lang="en-JP" sz="2800" dirty="0"/>
          </a:p>
        </p:txBody>
      </p:sp>
      <p:pic>
        <p:nvPicPr>
          <p:cNvPr id="8" name="Picture 7">
            <a:extLst>
              <a:ext uri="{FF2B5EF4-FFF2-40B4-BE49-F238E27FC236}">
                <a16:creationId xmlns:a16="http://schemas.microsoft.com/office/drawing/2014/main" id="{474C750D-0A30-55D0-8237-851227A12DF9}"/>
              </a:ext>
            </a:extLst>
          </p:cNvPr>
          <p:cNvPicPr>
            <a:picLocks noChangeAspect="1"/>
          </p:cNvPicPr>
          <p:nvPr/>
        </p:nvPicPr>
        <p:blipFill>
          <a:blip r:embed="rId2"/>
          <a:stretch>
            <a:fillRect/>
          </a:stretch>
        </p:blipFill>
        <p:spPr>
          <a:xfrm>
            <a:off x="11289173" y="64399"/>
            <a:ext cx="744308" cy="794245"/>
          </a:xfrm>
          <a:prstGeom prst="rect">
            <a:avLst/>
          </a:prstGeom>
        </p:spPr>
      </p:pic>
      <p:sp>
        <p:nvSpPr>
          <p:cNvPr id="9" name="Slide Number Placeholder 8">
            <a:extLst>
              <a:ext uri="{FF2B5EF4-FFF2-40B4-BE49-F238E27FC236}">
                <a16:creationId xmlns:a16="http://schemas.microsoft.com/office/drawing/2014/main" id="{409B4659-58AA-315E-A21C-D94865F29607}"/>
              </a:ext>
            </a:extLst>
          </p:cNvPr>
          <p:cNvSpPr>
            <a:spLocks noGrp="1"/>
          </p:cNvSpPr>
          <p:nvPr>
            <p:ph type="sldNum" sz="quarter" idx="12"/>
          </p:nvPr>
        </p:nvSpPr>
        <p:spPr/>
        <p:txBody>
          <a:bodyPr/>
          <a:lstStyle/>
          <a:p>
            <a:fld id="{BB44241B-2579-694C-B40C-A1E3D5F0E4EC}" type="slidenum">
              <a:rPr lang="en-JP" smtClean="0"/>
              <a:t>4</a:t>
            </a:fld>
            <a:endParaRPr lang="en-JP"/>
          </a:p>
        </p:txBody>
      </p:sp>
    </p:spTree>
    <p:extLst>
      <p:ext uri="{BB962C8B-B14F-4D97-AF65-F5344CB8AC3E}">
        <p14:creationId xmlns:p14="http://schemas.microsoft.com/office/powerpoint/2010/main" val="2439393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24F540-B24D-0976-41C3-AFA67046912B}"/>
              </a:ext>
            </a:extLst>
          </p:cNvPr>
          <p:cNvSpPr txBox="1"/>
          <p:nvPr/>
        </p:nvSpPr>
        <p:spPr>
          <a:xfrm>
            <a:off x="975732" y="857973"/>
            <a:ext cx="6099716" cy="523220"/>
          </a:xfrm>
          <a:prstGeom prst="rect">
            <a:avLst/>
          </a:prstGeom>
          <a:noFill/>
        </p:spPr>
        <p:txBody>
          <a:bodyPr wrap="square">
            <a:spAutoFit/>
          </a:bodyPr>
          <a:lstStyle/>
          <a:p>
            <a:r>
              <a:rPr lang="ja-JP" altLang="en-US" sz="2800"/>
              <a:t>研究背景・目的</a:t>
            </a:r>
            <a:endParaRPr lang="en-JP" sz="2800" dirty="0"/>
          </a:p>
        </p:txBody>
      </p:sp>
      <p:pic>
        <p:nvPicPr>
          <p:cNvPr id="7" name="Picture 6">
            <a:extLst>
              <a:ext uri="{FF2B5EF4-FFF2-40B4-BE49-F238E27FC236}">
                <a16:creationId xmlns:a16="http://schemas.microsoft.com/office/drawing/2014/main" id="{BB09531C-B687-702B-97C4-E1F8E6149110}"/>
              </a:ext>
            </a:extLst>
          </p:cNvPr>
          <p:cNvPicPr>
            <a:picLocks noChangeAspect="1"/>
          </p:cNvPicPr>
          <p:nvPr/>
        </p:nvPicPr>
        <p:blipFill>
          <a:blip r:embed="rId2"/>
          <a:stretch>
            <a:fillRect/>
          </a:stretch>
        </p:blipFill>
        <p:spPr>
          <a:xfrm>
            <a:off x="1148576" y="1592683"/>
            <a:ext cx="9969190" cy="3672633"/>
          </a:xfrm>
          <a:prstGeom prst="rect">
            <a:avLst/>
          </a:prstGeom>
        </p:spPr>
      </p:pic>
      <p:pic>
        <p:nvPicPr>
          <p:cNvPr id="8" name="Picture 7">
            <a:extLst>
              <a:ext uri="{FF2B5EF4-FFF2-40B4-BE49-F238E27FC236}">
                <a16:creationId xmlns:a16="http://schemas.microsoft.com/office/drawing/2014/main" id="{ECDA1954-5136-708C-0137-F79688A31234}"/>
              </a:ext>
            </a:extLst>
          </p:cNvPr>
          <p:cNvPicPr>
            <a:picLocks noChangeAspect="1"/>
          </p:cNvPicPr>
          <p:nvPr/>
        </p:nvPicPr>
        <p:blipFill>
          <a:blip r:embed="rId3"/>
          <a:stretch>
            <a:fillRect/>
          </a:stretch>
        </p:blipFill>
        <p:spPr>
          <a:xfrm>
            <a:off x="11289173" y="64399"/>
            <a:ext cx="744308" cy="794245"/>
          </a:xfrm>
          <a:prstGeom prst="rect">
            <a:avLst/>
          </a:prstGeom>
        </p:spPr>
      </p:pic>
      <p:sp>
        <p:nvSpPr>
          <p:cNvPr id="9" name="Slide Number Placeholder 8">
            <a:extLst>
              <a:ext uri="{FF2B5EF4-FFF2-40B4-BE49-F238E27FC236}">
                <a16:creationId xmlns:a16="http://schemas.microsoft.com/office/drawing/2014/main" id="{144C589F-72C2-9ABC-8FB8-9C6663428F5D}"/>
              </a:ext>
            </a:extLst>
          </p:cNvPr>
          <p:cNvSpPr>
            <a:spLocks noGrp="1"/>
          </p:cNvSpPr>
          <p:nvPr>
            <p:ph type="sldNum" sz="quarter" idx="12"/>
          </p:nvPr>
        </p:nvSpPr>
        <p:spPr/>
        <p:txBody>
          <a:bodyPr/>
          <a:lstStyle/>
          <a:p>
            <a:fld id="{BB44241B-2579-694C-B40C-A1E3D5F0E4EC}" type="slidenum">
              <a:rPr lang="en-JP" smtClean="0"/>
              <a:t>5</a:t>
            </a:fld>
            <a:endParaRPr lang="en-JP"/>
          </a:p>
        </p:txBody>
      </p:sp>
      <p:sp>
        <p:nvSpPr>
          <p:cNvPr id="11" name="TextBox 10">
            <a:extLst>
              <a:ext uri="{FF2B5EF4-FFF2-40B4-BE49-F238E27FC236}">
                <a16:creationId xmlns:a16="http://schemas.microsoft.com/office/drawing/2014/main" id="{9FF63C4A-9447-C787-62DB-C479011B8DA5}"/>
              </a:ext>
            </a:extLst>
          </p:cNvPr>
          <p:cNvSpPr txBox="1"/>
          <p:nvPr/>
        </p:nvSpPr>
        <p:spPr>
          <a:xfrm>
            <a:off x="1111405" y="5292140"/>
            <a:ext cx="9969190" cy="369332"/>
          </a:xfrm>
          <a:prstGeom prst="rect">
            <a:avLst/>
          </a:prstGeom>
          <a:noFill/>
        </p:spPr>
        <p:txBody>
          <a:bodyPr wrap="square">
            <a:spAutoFit/>
          </a:bodyPr>
          <a:lstStyle/>
          <a:p>
            <a:r>
              <a:rPr lang="en-JP" dirty="0"/>
              <a:t>関連研究 提案された分類</a:t>
            </a:r>
          </a:p>
        </p:txBody>
      </p:sp>
    </p:spTree>
    <p:extLst>
      <p:ext uri="{BB962C8B-B14F-4D97-AF65-F5344CB8AC3E}">
        <p14:creationId xmlns:p14="http://schemas.microsoft.com/office/powerpoint/2010/main" val="215416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8B5D37-041D-983C-7E23-2F827469AEE6}"/>
              </a:ext>
            </a:extLst>
          </p:cNvPr>
          <p:cNvSpPr txBox="1"/>
          <p:nvPr/>
        </p:nvSpPr>
        <p:spPr>
          <a:xfrm>
            <a:off x="730406" y="969485"/>
            <a:ext cx="6099716" cy="523220"/>
          </a:xfrm>
          <a:prstGeom prst="rect">
            <a:avLst/>
          </a:prstGeom>
          <a:noFill/>
        </p:spPr>
        <p:txBody>
          <a:bodyPr wrap="square">
            <a:spAutoFit/>
          </a:bodyPr>
          <a:lstStyle/>
          <a:p>
            <a:r>
              <a:rPr lang="ja-JP" altLang="en-US" sz="2800"/>
              <a:t>研究背景</a:t>
            </a:r>
            <a:r>
              <a:rPr lang="en-US" altLang="ja-JP" sz="2800" dirty="0"/>
              <a:t> </a:t>
            </a:r>
            <a:endParaRPr lang="en-JP" sz="2800" dirty="0"/>
          </a:p>
        </p:txBody>
      </p:sp>
      <p:sp>
        <p:nvSpPr>
          <p:cNvPr id="7" name="TextBox 6">
            <a:extLst>
              <a:ext uri="{FF2B5EF4-FFF2-40B4-BE49-F238E27FC236}">
                <a16:creationId xmlns:a16="http://schemas.microsoft.com/office/drawing/2014/main" id="{5C6E1B73-71B6-0197-B148-BDB362D249EF}"/>
              </a:ext>
            </a:extLst>
          </p:cNvPr>
          <p:cNvSpPr txBox="1"/>
          <p:nvPr/>
        </p:nvSpPr>
        <p:spPr>
          <a:xfrm>
            <a:off x="473724" y="1745907"/>
            <a:ext cx="3682387" cy="369332"/>
          </a:xfrm>
          <a:prstGeom prst="rect">
            <a:avLst/>
          </a:prstGeom>
          <a:noFill/>
        </p:spPr>
        <p:txBody>
          <a:bodyPr wrap="square">
            <a:spAutoFit/>
          </a:bodyPr>
          <a:lstStyle/>
          <a:p>
            <a:r>
              <a:rPr lang="ja-JP" altLang="en-US"/>
              <a:t>セキュリティ調査</a:t>
            </a:r>
            <a:endParaRPr lang="en-JP" dirty="0"/>
          </a:p>
        </p:txBody>
      </p:sp>
      <p:sp>
        <p:nvSpPr>
          <p:cNvPr id="10" name="Rectangle 9">
            <a:extLst>
              <a:ext uri="{FF2B5EF4-FFF2-40B4-BE49-F238E27FC236}">
                <a16:creationId xmlns:a16="http://schemas.microsoft.com/office/drawing/2014/main" id="{3E461FC0-1D1A-D23D-45FA-90D37A0F4972}"/>
              </a:ext>
            </a:extLst>
          </p:cNvPr>
          <p:cNvSpPr/>
          <p:nvPr/>
        </p:nvSpPr>
        <p:spPr>
          <a:xfrm>
            <a:off x="473724" y="2192357"/>
            <a:ext cx="4054207" cy="348133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mn-MN" sz="1800" dirty="0"/>
              <a:t>  </a:t>
            </a:r>
            <a:r>
              <a:rPr lang="en-US" sz="1800" dirty="0"/>
              <a:t>IoT</a:t>
            </a:r>
            <a:r>
              <a:rPr lang="ja-JP" altLang="en-US" sz="1800"/>
              <a:t>環境には様々な脅威が存在</a:t>
            </a:r>
            <a:endParaRPr lang="mn-MN" altLang="ja-JP" sz="1800" dirty="0"/>
          </a:p>
          <a:p>
            <a:endParaRPr lang="ja-JP" altLang="en-US" sz="1800"/>
          </a:p>
          <a:p>
            <a:r>
              <a:rPr lang="en-US" altLang="ja-JP" sz="1800" dirty="0"/>
              <a:t>    </a:t>
            </a:r>
            <a:r>
              <a:rPr lang="ja-JP" altLang="en-US" sz="1800"/>
              <a:t>盗聴（</a:t>
            </a:r>
            <a:r>
              <a:rPr lang="en-US" sz="1800" dirty="0"/>
              <a:t>Eavesdropping）</a:t>
            </a:r>
          </a:p>
          <a:p>
            <a:r>
              <a:rPr lang="en-US" sz="1800" dirty="0"/>
              <a:t>　          </a:t>
            </a:r>
            <a:r>
              <a:rPr lang="ja-JP" altLang="en-US" sz="1800"/>
              <a:t>（</a:t>
            </a:r>
            <a:r>
              <a:rPr lang="en-US" sz="1800" dirty="0"/>
              <a:t>Spoofing）</a:t>
            </a:r>
          </a:p>
          <a:p>
            <a:r>
              <a:rPr lang="en-US" sz="1800" dirty="0"/>
              <a:t>　             (DoS/DDoS</a:t>
            </a:r>
            <a:r>
              <a:rPr lang="ja-JP" altLang="en-US" sz="1800"/>
              <a:t>攻撃</a:t>
            </a:r>
            <a:r>
              <a:rPr lang="en-US" altLang="ja-JP" sz="1800" dirty="0"/>
              <a:t>)</a:t>
            </a:r>
          </a:p>
          <a:p>
            <a:endParaRPr lang="ja-JP" altLang="en-US" sz="1800"/>
          </a:p>
          <a:p>
            <a:r>
              <a:rPr lang="ja-JP" altLang="en-US" sz="1800"/>
              <a:t>・</a:t>
            </a:r>
            <a:r>
              <a:rPr lang="en-US" altLang="ja-JP" sz="1800" dirty="0"/>
              <a:t> </a:t>
            </a:r>
            <a:r>
              <a:rPr lang="en-US" sz="1800" dirty="0"/>
              <a:t>CoAP</a:t>
            </a:r>
            <a:r>
              <a:rPr lang="ja-JP" altLang="en-US" sz="1800"/>
              <a:t>は</a:t>
            </a:r>
            <a:r>
              <a:rPr lang="en-US" sz="1800" dirty="0"/>
              <a:t>UDP</a:t>
            </a:r>
            <a:r>
              <a:rPr lang="ja-JP" altLang="en-US" sz="1800"/>
              <a:t>ベースのため</a:t>
            </a:r>
          </a:p>
          <a:p>
            <a:r>
              <a:rPr lang="ja-JP" altLang="en-US" sz="1800"/>
              <a:t>　暗号化がデフォルトでない</a:t>
            </a:r>
          </a:p>
          <a:p>
            <a:r>
              <a:rPr lang="ja-JP" altLang="en-US" sz="1800"/>
              <a:t>　接続レスで認証が弱い</a:t>
            </a:r>
            <a:endParaRPr lang="en-US" altLang="ja-JP" sz="1800" dirty="0"/>
          </a:p>
          <a:p>
            <a:endParaRPr lang="ja-JP" altLang="en-US" sz="1800"/>
          </a:p>
          <a:p>
            <a:r>
              <a:rPr lang="ja-JP" altLang="en-US" sz="1800"/>
              <a:t>・</a:t>
            </a:r>
            <a:r>
              <a:rPr lang="en-US" sz="1800" dirty="0"/>
              <a:t>DTLS</a:t>
            </a:r>
            <a:r>
              <a:rPr lang="ja-JP" altLang="en-US" sz="1800"/>
              <a:t>導入によりセキュリティ強</a:t>
            </a:r>
            <a:r>
              <a:rPr lang="en-US" altLang="ja-JP" sz="1800" dirty="0"/>
              <a:t> </a:t>
            </a:r>
            <a:r>
              <a:rPr lang="ja-JP" altLang="en-US" sz="1800"/>
              <a:t>化</a:t>
            </a:r>
            <a:r>
              <a:rPr lang="en-US" altLang="ja-JP" dirty="0"/>
              <a:t> </a:t>
            </a:r>
            <a:r>
              <a:rPr lang="en-US" altLang="ja-JP" sz="1800" dirty="0"/>
              <a:t>  </a:t>
            </a:r>
            <a:r>
              <a:rPr lang="ja-JP" altLang="en-US" sz="1800"/>
              <a:t>が可能</a:t>
            </a:r>
            <a:endParaRPr lang="ja-JP" altLang="en-US" sz="1800" dirty="0"/>
          </a:p>
        </p:txBody>
      </p:sp>
      <p:sp>
        <p:nvSpPr>
          <p:cNvPr id="11" name="Rectangle 10">
            <a:extLst>
              <a:ext uri="{FF2B5EF4-FFF2-40B4-BE49-F238E27FC236}">
                <a16:creationId xmlns:a16="http://schemas.microsoft.com/office/drawing/2014/main" id="{B9D0DBDB-05D9-0510-4EE1-3BB9C1A69EBE}"/>
              </a:ext>
            </a:extLst>
          </p:cNvPr>
          <p:cNvSpPr/>
          <p:nvPr/>
        </p:nvSpPr>
        <p:spPr>
          <a:xfrm>
            <a:off x="6219577" y="2192357"/>
            <a:ext cx="5069596" cy="338217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mn-MN" dirty="0"/>
              <a:t>    </a:t>
            </a:r>
            <a:r>
              <a:rPr lang="en-US" dirty="0"/>
              <a:t>DTLS</a:t>
            </a:r>
            <a:r>
              <a:rPr lang="ja-JP" altLang="en-US"/>
              <a:t>は</a:t>
            </a:r>
            <a:r>
              <a:rPr lang="en-US" dirty="0"/>
              <a:t>TLS  </a:t>
            </a:r>
            <a:r>
              <a:rPr lang="ja-JP" altLang="en-US"/>
              <a:t>の</a:t>
            </a:r>
            <a:r>
              <a:rPr lang="en-US" dirty="0"/>
              <a:t>UDP</a:t>
            </a:r>
            <a:r>
              <a:rPr lang="ja-JP" altLang="en-US"/>
              <a:t>版</a:t>
            </a:r>
            <a:endParaRPr lang="en-US" altLang="ja-JP" dirty="0"/>
          </a:p>
          <a:p>
            <a:pPr algn="just"/>
            <a:endParaRPr lang="ja-JP" altLang="en-US"/>
          </a:p>
          <a:p>
            <a:pPr algn="just"/>
            <a:r>
              <a:rPr lang="ja-JP" altLang="en-US"/>
              <a:t>・</a:t>
            </a:r>
            <a:r>
              <a:rPr lang="en-US" dirty="0"/>
              <a:t>CoAP</a:t>
            </a:r>
            <a:r>
              <a:rPr lang="ja-JP" altLang="en-US"/>
              <a:t>との相性が良い</a:t>
            </a:r>
          </a:p>
          <a:p>
            <a:pPr algn="just"/>
            <a:r>
              <a:rPr lang="ja-JP" altLang="en-US"/>
              <a:t>　</a:t>
            </a:r>
            <a:r>
              <a:rPr lang="en-US" altLang="ja-JP" dirty="0"/>
              <a:t> </a:t>
            </a:r>
            <a:r>
              <a:rPr lang="ja-JP" altLang="en-US"/>
              <a:t>軽量で</a:t>
            </a:r>
            <a:r>
              <a:rPr lang="en-US" dirty="0"/>
              <a:t>UDP</a:t>
            </a:r>
            <a:r>
              <a:rPr lang="ja-JP" altLang="en-US"/>
              <a:t>対応</a:t>
            </a:r>
            <a:endParaRPr lang="en-US" altLang="ja-JP" dirty="0"/>
          </a:p>
          <a:p>
            <a:pPr algn="just"/>
            <a:endParaRPr lang="ja-JP" altLang="en-US"/>
          </a:p>
          <a:p>
            <a:pPr algn="just"/>
            <a:r>
              <a:rPr lang="ja-JP" altLang="en-US"/>
              <a:t>・</a:t>
            </a:r>
            <a:r>
              <a:rPr lang="en-US" dirty="0"/>
              <a:t>IoT</a:t>
            </a:r>
            <a:r>
              <a:rPr lang="ja-JP" altLang="en-US"/>
              <a:t>デバイスの制約</a:t>
            </a:r>
            <a:r>
              <a:rPr lang="mn-MN" altLang="ja-JP" dirty="0"/>
              <a:t> </a:t>
            </a:r>
            <a:endParaRPr lang="ja-JP" altLang="en-US"/>
          </a:p>
          <a:p>
            <a:pPr algn="just"/>
            <a:r>
              <a:rPr lang="ja-JP" altLang="en-US"/>
              <a:t>　</a:t>
            </a:r>
            <a:r>
              <a:rPr lang="en-US" dirty="0"/>
              <a:t>CPU</a:t>
            </a:r>
            <a:r>
              <a:rPr lang="ja-JP" altLang="en-US"/>
              <a:t>やメモリに負担がかかる可能性</a:t>
            </a:r>
          </a:p>
          <a:p>
            <a:pPr algn="just"/>
            <a:r>
              <a:rPr lang="ja-JP" altLang="en-US"/>
              <a:t>　</a:t>
            </a:r>
            <a:r>
              <a:rPr lang="en-US" altLang="ja-JP" dirty="0"/>
              <a:t> </a:t>
            </a:r>
            <a:r>
              <a:rPr lang="ja-JP" altLang="en-US"/>
              <a:t>事前共有鍵（</a:t>
            </a:r>
            <a:r>
              <a:rPr lang="en-US" dirty="0"/>
              <a:t>PSK）</a:t>
            </a:r>
            <a:r>
              <a:rPr lang="ja-JP" altLang="en-US"/>
              <a:t>でリソース節約可能</a:t>
            </a:r>
            <a:endParaRPr lang="ja-JP" altLang="en-US" dirty="0"/>
          </a:p>
        </p:txBody>
      </p:sp>
      <p:sp>
        <p:nvSpPr>
          <p:cNvPr id="13" name="TextBox 12">
            <a:extLst>
              <a:ext uri="{FF2B5EF4-FFF2-40B4-BE49-F238E27FC236}">
                <a16:creationId xmlns:a16="http://schemas.microsoft.com/office/drawing/2014/main" id="{879259EB-F2EE-2A65-25D0-B7B8D01358CB}"/>
              </a:ext>
            </a:extLst>
          </p:cNvPr>
          <p:cNvSpPr txBox="1"/>
          <p:nvPr/>
        </p:nvSpPr>
        <p:spPr>
          <a:xfrm>
            <a:off x="6219577" y="1745907"/>
            <a:ext cx="4136834" cy="369332"/>
          </a:xfrm>
          <a:prstGeom prst="rect">
            <a:avLst/>
          </a:prstGeom>
          <a:noFill/>
        </p:spPr>
        <p:txBody>
          <a:bodyPr wrap="square">
            <a:spAutoFit/>
          </a:bodyPr>
          <a:lstStyle/>
          <a:p>
            <a:r>
              <a:rPr lang="en-US" dirty="0"/>
              <a:t>DTLS</a:t>
            </a:r>
            <a:r>
              <a:rPr lang="ja-JP" altLang="en-US"/>
              <a:t>の適合性</a:t>
            </a:r>
            <a:endParaRPr lang="en-JP" dirty="0"/>
          </a:p>
        </p:txBody>
      </p:sp>
      <p:pic>
        <p:nvPicPr>
          <p:cNvPr id="14" name="Picture 13">
            <a:extLst>
              <a:ext uri="{FF2B5EF4-FFF2-40B4-BE49-F238E27FC236}">
                <a16:creationId xmlns:a16="http://schemas.microsoft.com/office/drawing/2014/main" id="{5F321818-117A-0890-803D-3D8221DBF64F}"/>
              </a:ext>
            </a:extLst>
          </p:cNvPr>
          <p:cNvPicPr>
            <a:picLocks noChangeAspect="1"/>
          </p:cNvPicPr>
          <p:nvPr/>
        </p:nvPicPr>
        <p:blipFill>
          <a:blip r:embed="rId2"/>
          <a:stretch>
            <a:fillRect/>
          </a:stretch>
        </p:blipFill>
        <p:spPr>
          <a:xfrm>
            <a:off x="11289173" y="64399"/>
            <a:ext cx="744308" cy="794245"/>
          </a:xfrm>
          <a:prstGeom prst="rect">
            <a:avLst/>
          </a:prstGeom>
        </p:spPr>
      </p:pic>
      <p:sp>
        <p:nvSpPr>
          <p:cNvPr id="15" name="Slide Number Placeholder 14">
            <a:extLst>
              <a:ext uri="{FF2B5EF4-FFF2-40B4-BE49-F238E27FC236}">
                <a16:creationId xmlns:a16="http://schemas.microsoft.com/office/drawing/2014/main" id="{BDD39767-C245-1941-5161-BFCCE1DB3A37}"/>
              </a:ext>
            </a:extLst>
          </p:cNvPr>
          <p:cNvSpPr>
            <a:spLocks noGrp="1"/>
          </p:cNvSpPr>
          <p:nvPr>
            <p:ph type="sldNum" sz="quarter" idx="12"/>
          </p:nvPr>
        </p:nvSpPr>
        <p:spPr/>
        <p:txBody>
          <a:bodyPr/>
          <a:lstStyle/>
          <a:p>
            <a:fld id="{BB44241B-2579-694C-B40C-A1E3D5F0E4EC}" type="slidenum">
              <a:rPr lang="en-JP" smtClean="0"/>
              <a:t>6</a:t>
            </a:fld>
            <a:endParaRPr lang="en-JP"/>
          </a:p>
        </p:txBody>
      </p:sp>
    </p:spTree>
    <p:extLst>
      <p:ext uri="{BB962C8B-B14F-4D97-AF65-F5344CB8AC3E}">
        <p14:creationId xmlns:p14="http://schemas.microsoft.com/office/powerpoint/2010/main" val="2645536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50A973F7-4217-1C05-930E-A7EFE00B16EE}"/>
              </a:ext>
            </a:extLst>
          </p:cNvPr>
          <p:cNvSpPr/>
          <p:nvPr/>
        </p:nvSpPr>
        <p:spPr>
          <a:xfrm>
            <a:off x="1266939" y="1782113"/>
            <a:ext cx="5023692" cy="43296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ja-JP" altLang="en-US"/>
              <a:t>セキュリティ向上と性能のバランス：</a:t>
            </a:r>
          </a:p>
          <a:p>
            <a:r>
              <a:rPr lang="ja-JP" altLang="en-US"/>
              <a:t>　応答時間への影響を最小限に</a:t>
            </a:r>
          </a:p>
          <a:p>
            <a:r>
              <a:rPr lang="ja-JP" altLang="en-US"/>
              <a:t>　帯域、</a:t>
            </a:r>
            <a:r>
              <a:rPr lang="en-US" dirty="0"/>
              <a:t>CPU、</a:t>
            </a:r>
            <a:r>
              <a:rPr lang="ja-JP" altLang="en-US"/>
              <a:t>メモリの使用を抑制</a:t>
            </a:r>
            <a:endParaRPr lang="en-US" altLang="ja-JP" dirty="0"/>
          </a:p>
          <a:p>
            <a:endParaRPr lang="ja-JP" altLang="en-US"/>
          </a:p>
          <a:p>
            <a:r>
              <a:rPr lang="ja-JP" altLang="en-US"/>
              <a:t>・最適化手法：</a:t>
            </a:r>
          </a:p>
          <a:p>
            <a:r>
              <a:rPr lang="ja-JP" altLang="en-US"/>
              <a:t>　ハンドシェイクの簡素化</a:t>
            </a:r>
          </a:p>
          <a:p>
            <a:r>
              <a:rPr lang="ja-JP" altLang="en-US"/>
              <a:t>　軽量な暗号アルゴリズム</a:t>
            </a:r>
            <a:r>
              <a:rPr lang="en-US" altLang="ja-JP" dirty="0"/>
              <a:t> </a:t>
            </a:r>
          </a:p>
          <a:p>
            <a:endParaRPr lang="en-US" dirty="0"/>
          </a:p>
          <a:p>
            <a:r>
              <a:rPr lang="en-US" dirty="0"/>
              <a:t>・</a:t>
            </a:r>
            <a:r>
              <a:rPr lang="ja-JP" altLang="en-US"/>
              <a:t>評価指標：</a:t>
            </a:r>
          </a:p>
          <a:p>
            <a:r>
              <a:rPr lang="ja-JP" altLang="en-US"/>
              <a:t>　</a:t>
            </a:r>
            <a:r>
              <a:rPr lang="en-US" altLang="ja-JP" dirty="0"/>
              <a:t> </a:t>
            </a:r>
            <a:r>
              <a:rPr lang="en-US" dirty="0"/>
              <a:t>RTT（</a:t>
            </a:r>
            <a:r>
              <a:rPr lang="ja-JP" altLang="en-US"/>
              <a:t>ラウンドトリップタイム）</a:t>
            </a:r>
          </a:p>
          <a:p>
            <a:r>
              <a:rPr lang="en-US" altLang="ja-JP" dirty="0"/>
              <a:t>    </a:t>
            </a:r>
            <a:r>
              <a:rPr lang="ja-JP" altLang="en-US"/>
              <a:t>メモリ使用量</a:t>
            </a:r>
          </a:p>
          <a:p>
            <a:r>
              <a:rPr lang="ja-JP" altLang="en-US"/>
              <a:t>　パケット損失率</a:t>
            </a:r>
            <a:endParaRPr lang="en-JP" dirty="0"/>
          </a:p>
        </p:txBody>
      </p:sp>
      <p:sp>
        <p:nvSpPr>
          <p:cNvPr id="9" name="Rounded Rectangle 8">
            <a:extLst>
              <a:ext uri="{FF2B5EF4-FFF2-40B4-BE49-F238E27FC236}">
                <a16:creationId xmlns:a16="http://schemas.microsoft.com/office/drawing/2014/main" id="{4B1B7EAC-E367-DAF2-6D45-5E88920885AD}"/>
              </a:ext>
            </a:extLst>
          </p:cNvPr>
          <p:cNvSpPr/>
          <p:nvPr/>
        </p:nvSpPr>
        <p:spPr>
          <a:xfrm>
            <a:off x="6929610" y="1782113"/>
            <a:ext cx="4074405" cy="43296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dirty="0"/>
              <a:t>・IoT</a:t>
            </a:r>
            <a:r>
              <a:rPr lang="ja-JP" altLang="en-US"/>
              <a:t>デバイスの制限：</a:t>
            </a:r>
            <a:endParaRPr lang="en-US" altLang="ja-JP" dirty="0"/>
          </a:p>
          <a:p>
            <a:endParaRPr lang="ja-JP" altLang="en-US"/>
          </a:p>
          <a:p>
            <a:r>
              <a:rPr lang="ja-JP" altLang="en-US"/>
              <a:t>　</a:t>
            </a:r>
            <a:r>
              <a:rPr lang="en-US" dirty="0"/>
              <a:t>CPU、RAM、</a:t>
            </a:r>
            <a:r>
              <a:rPr lang="ja-JP" altLang="en-US"/>
              <a:t>バッテリーの制約</a:t>
            </a:r>
            <a:endParaRPr lang="en-US" altLang="ja-JP" dirty="0"/>
          </a:p>
          <a:p>
            <a:endParaRPr lang="ja-JP" altLang="en-US"/>
          </a:p>
          <a:p>
            <a:r>
              <a:rPr lang="ja-JP" altLang="en-US"/>
              <a:t>・ソリューション：</a:t>
            </a:r>
          </a:p>
          <a:p>
            <a:r>
              <a:rPr lang="ja-JP" altLang="en-US"/>
              <a:t>　軽量な暗号アルゴリズムの使用</a:t>
            </a:r>
          </a:p>
          <a:p>
            <a:r>
              <a:rPr lang="ja-JP" altLang="en-US"/>
              <a:t>　</a:t>
            </a:r>
            <a:r>
              <a:rPr lang="en-US" dirty="0"/>
              <a:t>DTLS + PSK</a:t>
            </a:r>
            <a:r>
              <a:rPr lang="ja-JP" altLang="en-US"/>
              <a:t>による効率的な保護</a:t>
            </a:r>
          </a:p>
          <a:p>
            <a:r>
              <a:rPr lang="ja-JP" altLang="en-US"/>
              <a:t>・目的：</a:t>
            </a:r>
          </a:p>
          <a:p>
            <a:r>
              <a:rPr lang="ja-JP" altLang="en-US"/>
              <a:t>　セキュリティを保ちながら性能を確保する</a:t>
            </a:r>
            <a:endParaRPr lang="ja-JP" altLang="en-US" dirty="0"/>
          </a:p>
        </p:txBody>
      </p:sp>
      <p:sp>
        <p:nvSpPr>
          <p:cNvPr id="11" name="TextBox 10">
            <a:extLst>
              <a:ext uri="{FF2B5EF4-FFF2-40B4-BE49-F238E27FC236}">
                <a16:creationId xmlns:a16="http://schemas.microsoft.com/office/drawing/2014/main" id="{C77DB700-D866-0B70-AD5D-6ACBB4E40A46}"/>
              </a:ext>
            </a:extLst>
          </p:cNvPr>
          <p:cNvSpPr txBox="1"/>
          <p:nvPr/>
        </p:nvSpPr>
        <p:spPr>
          <a:xfrm>
            <a:off x="2046383" y="1264186"/>
            <a:ext cx="1501048" cy="369332"/>
          </a:xfrm>
          <a:prstGeom prst="rect">
            <a:avLst/>
          </a:prstGeom>
          <a:noFill/>
        </p:spPr>
        <p:txBody>
          <a:bodyPr wrap="square">
            <a:spAutoFit/>
          </a:bodyPr>
          <a:lstStyle/>
          <a:p>
            <a:r>
              <a:rPr lang="ja-JP" altLang="en-US"/>
              <a:t>性能向上</a:t>
            </a:r>
            <a:endParaRPr lang="en-JP" dirty="0"/>
          </a:p>
        </p:txBody>
      </p:sp>
      <p:sp>
        <p:nvSpPr>
          <p:cNvPr id="13" name="TextBox 12">
            <a:extLst>
              <a:ext uri="{FF2B5EF4-FFF2-40B4-BE49-F238E27FC236}">
                <a16:creationId xmlns:a16="http://schemas.microsoft.com/office/drawing/2014/main" id="{34A7CA27-0C08-216F-4F85-4327D81EC9A9}"/>
              </a:ext>
            </a:extLst>
          </p:cNvPr>
          <p:cNvSpPr txBox="1"/>
          <p:nvPr/>
        </p:nvSpPr>
        <p:spPr>
          <a:xfrm>
            <a:off x="371819" y="525922"/>
            <a:ext cx="6097836" cy="369332"/>
          </a:xfrm>
          <a:prstGeom prst="rect">
            <a:avLst/>
          </a:prstGeom>
          <a:noFill/>
        </p:spPr>
        <p:txBody>
          <a:bodyPr wrap="square">
            <a:spAutoFit/>
          </a:bodyPr>
          <a:lstStyle/>
          <a:p>
            <a:r>
              <a:rPr lang="ja-JP" altLang="en-US" sz="1800"/>
              <a:t>研究背景</a:t>
            </a:r>
            <a:endParaRPr lang="en-JP" dirty="0"/>
          </a:p>
        </p:txBody>
      </p:sp>
      <p:sp>
        <p:nvSpPr>
          <p:cNvPr id="15" name="TextBox 14">
            <a:extLst>
              <a:ext uri="{FF2B5EF4-FFF2-40B4-BE49-F238E27FC236}">
                <a16:creationId xmlns:a16="http://schemas.microsoft.com/office/drawing/2014/main" id="{4B320069-0425-40DF-51BA-062AEEB928C7}"/>
              </a:ext>
            </a:extLst>
          </p:cNvPr>
          <p:cNvSpPr txBox="1"/>
          <p:nvPr/>
        </p:nvSpPr>
        <p:spPr>
          <a:xfrm>
            <a:off x="7462092" y="1131851"/>
            <a:ext cx="4325957" cy="369332"/>
          </a:xfrm>
          <a:prstGeom prst="rect">
            <a:avLst/>
          </a:prstGeom>
          <a:noFill/>
        </p:spPr>
        <p:txBody>
          <a:bodyPr wrap="square">
            <a:spAutoFit/>
          </a:bodyPr>
          <a:lstStyle/>
          <a:p>
            <a:r>
              <a:rPr lang="ja-JP" altLang="en-US"/>
              <a:t>軽量セキュリティソリューション</a:t>
            </a:r>
            <a:endParaRPr lang="en-JP" dirty="0"/>
          </a:p>
        </p:txBody>
      </p:sp>
      <p:pic>
        <p:nvPicPr>
          <p:cNvPr id="16" name="Picture 15">
            <a:extLst>
              <a:ext uri="{FF2B5EF4-FFF2-40B4-BE49-F238E27FC236}">
                <a16:creationId xmlns:a16="http://schemas.microsoft.com/office/drawing/2014/main" id="{3205EC6E-34B9-80CF-BF73-2DF87C51570C}"/>
              </a:ext>
            </a:extLst>
          </p:cNvPr>
          <p:cNvPicPr>
            <a:picLocks noChangeAspect="1"/>
          </p:cNvPicPr>
          <p:nvPr/>
        </p:nvPicPr>
        <p:blipFill>
          <a:blip r:embed="rId2"/>
          <a:stretch>
            <a:fillRect/>
          </a:stretch>
        </p:blipFill>
        <p:spPr>
          <a:xfrm>
            <a:off x="11289173" y="64399"/>
            <a:ext cx="744308" cy="794245"/>
          </a:xfrm>
          <a:prstGeom prst="rect">
            <a:avLst/>
          </a:prstGeom>
        </p:spPr>
      </p:pic>
      <p:sp>
        <p:nvSpPr>
          <p:cNvPr id="17" name="Slide Number Placeholder 16">
            <a:extLst>
              <a:ext uri="{FF2B5EF4-FFF2-40B4-BE49-F238E27FC236}">
                <a16:creationId xmlns:a16="http://schemas.microsoft.com/office/drawing/2014/main" id="{9DCC6E06-0DC7-77D6-3B4A-3EFA48B8AE0F}"/>
              </a:ext>
            </a:extLst>
          </p:cNvPr>
          <p:cNvSpPr>
            <a:spLocks noGrp="1"/>
          </p:cNvSpPr>
          <p:nvPr>
            <p:ph type="sldNum" sz="quarter" idx="12"/>
          </p:nvPr>
        </p:nvSpPr>
        <p:spPr/>
        <p:txBody>
          <a:bodyPr/>
          <a:lstStyle/>
          <a:p>
            <a:fld id="{BB44241B-2579-694C-B40C-A1E3D5F0E4EC}" type="slidenum">
              <a:rPr lang="en-JP" smtClean="0"/>
              <a:t>7</a:t>
            </a:fld>
            <a:endParaRPr lang="en-JP"/>
          </a:p>
        </p:txBody>
      </p:sp>
    </p:spTree>
    <p:extLst>
      <p:ext uri="{BB962C8B-B14F-4D97-AF65-F5344CB8AC3E}">
        <p14:creationId xmlns:p14="http://schemas.microsoft.com/office/powerpoint/2010/main" val="3441427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25D6-1D45-DAFE-4CAB-E429A6CB6DEC}"/>
              </a:ext>
            </a:extLst>
          </p:cNvPr>
          <p:cNvSpPr>
            <a:spLocks noGrp="1"/>
          </p:cNvSpPr>
          <p:nvPr>
            <p:ph type="title"/>
          </p:nvPr>
        </p:nvSpPr>
        <p:spPr>
          <a:xfrm>
            <a:off x="1206190" y="398578"/>
            <a:ext cx="10515600" cy="1325563"/>
          </a:xfrm>
        </p:spPr>
        <p:txBody>
          <a:bodyPr>
            <a:normAutofit/>
          </a:bodyPr>
          <a:lstStyle/>
          <a:p>
            <a:r>
              <a:rPr lang="ja-JP" altLang="en-US" sz="3200">
                <a:latin typeface="+mj-ea"/>
              </a:rPr>
              <a:t>目次</a:t>
            </a:r>
            <a:endParaRPr lang="en-JP" sz="3200" dirty="0"/>
          </a:p>
        </p:txBody>
      </p:sp>
      <p:sp>
        <p:nvSpPr>
          <p:cNvPr id="5" name="TextBox 4">
            <a:extLst>
              <a:ext uri="{FF2B5EF4-FFF2-40B4-BE49-F238E27FC236}">
                <a16:creationId xmlns:a16="http://schemas.microsoft.com/office/drawing/2014/main" id="{B3CB7E5B-C3BE-7473-B3B9-A89DC1D1526C}"/>
              </a:ext>
            </a:extLst>
          </p:cNvPr>
          <p:cNvSpPr txBox="1"/>
          <p:nvPr/>
        </p:nvSpPr>
        <p:spPr>
          <a:xfrm>
            <a:off x="886522" y="1724141"/>
            <a:ext cx="6626981" cy="3262111"/>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800"/>
              <a:t>研究背景・目的</a:t>
            </a:r>
            <a:endParaRPr lang="en-US" altLang="ja-JP" sz="2800" dirty="0"/>
          </a:p>
          <a:p>
            <a:pPr marL="635000" indent="-457200">
              <a:lnSpc>
                <a:spcPct val="150000"/>
              </a:lnSpc>
              <a:spcBef>
                <a:spcPts val="0"/>
              </a:spcBef>
              <a:buSzPts val="2800"/>
              <a:buFont typeface="Wingdings" pitchFamily="2" charset="2"/>
              <a:buChar char="§"/>
            </a:pPr>
            <a:r>
              <a:rPr lang="en-US" sz="2800" dirty="0">
                <a:solidFill>
                  <a:srgbClr val="C00000"/>
                </a:solidFill>
              </a:rPr>
              <a:t>CoAP</a:t>
            </a:r>
            <a:r>
              <a:rPr lang="ja-JP" altLang="en-US" sz="2800">
                <a:solidFill>
                  <a:srgbClr val="C00000"/>
                </a:solidFill>
              </a:rPr>
              <a:t>と</a:t>
            </a:r>
            <a:r>
              <a:rPr lang="en-US" sz="2800" dirty="0">
                <a:solidFill>
                  <a:srgbClr val="C00000"/>
                </a:solidFill>
              </a:rPr>
              <a:t>DTLS</a:t>
            </a:r>
            <a:r>
              <a:rPr lang="ja-JP" altLang="en-US" sz="2800">
                <a:solidFill>
                  <a:srgbClr val="C00000"/>
                </a:solidFill>
              </a:rPr>
              <a:t>の基礎</a:t>
            </a:r>
            <a:endParaRPr lang="mn-MN" altLang="ja-JP" sz="2800" dirty="0">
              <a:solidFill>
                <a:srgbClr val="C00000"/>
              </a:solidFill>
            </a:endParaRPr>
          </a:p>
          <a:p>
            <a:pPr marL="635000" indent="-457200">
              <a:lnSpc>
                <a:spcPct val="150000"/>
              </a:lnSpc>
              <a:spcBef>
                <a:spcPts val="0"/>
              </a:spcBef>
              <a:buSzPts val="2800"/>
              <a:buFont typeface="Wingdings" pitchFamily="2" charset="2"/>
              <a:buChar char="§"/>
            </a:pPr>
            <a:r>
              <a:rPr lang="en-US" sz="2800" b="0" i="0" dirty="0">
                <a:solidFill>
                  <a:srgbClr val="252525"/>
                </a:solidFill>
                <a:effectLst/>
                <a:latin typeface="Roboto" panose="02000000000000000000" pitchFamily="2" charset="0"/>
              </a:rPr>
              <a:t>Enhanced DTLS</a:t>
            </a:r>
            <a:r>
              <a:rPr lang="ja-JP" altLang="en-US" sz="2800" b="0" i="0">
                <a:solidFill>
                  <a:srgbClr val="252525"/>
                </a:solidFill>
                <a:effectLst/>
                <a:latin typeface="Roboto" panose="02000000000000000000" pitchFamily="2" charset="0"/>
              </a:rPr>
              <a:t>の特徴と提案手法</a:t>
            </a:r>
            <a:endParaRPr lang="mn-MN" altLang="ja-JP" sz="2800" b="0" i="0" dirty="0">
              <a:solidFill>
                <a:srgbClr val="252525"/>
              </a:solidFill>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実験方法と評価</a:t>
            </a:r>
            <a:endParaRPr lang="mn-MN" altLang="ja-JP" sz="2800" dirty="0">
              <a:solidFill>
                <a:srgbClr val="252525"/>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まとめ・今後の</a:t>
            </a:r>
            <a:r>
              <a:rPr kumimoji="1" lang="ja-JP" altLang="en-US" sz="2800">
                <a:latin typeface="+mj-ea"/>
                <a:ea typeface="+mj-ea"/>
              </a:rPr>
              <a:t>課題</a:t>
            </a:r>
            <a:endParaRPr lang="en-US" altLang="ja-JP" sz="2800" dirty="0"/>
          </a:p>
        </p:txBody>
      </p:sp>
      <p:pic>
        <p:nvPicPr>
          <p:cNvPr id="9" name="Picture 8">
            <a:extLst>
              <a:ext uri="{FF2B5EF4-FFF2-40B4-BE49-F238E27FC236}">
                <a16:creationId xmlns:a16="http://schemas.microsoft.com/office/drawing/2014/main" id="{0D671DB8-4195-BB65-906F-9124A56D8BC4}"/>
              </a:ext>
            </a:extLst>
          </p:cNvPr>
          <p:cNvPicPr>
            <a:picLocks noChangeAspect="1"/>
          </p:cNvPicPr>
          <p:nvPr/>
        </p:nvPicPr>
        <p:blipFill>
          <a:blip r:embed="rId2"/>
          <a:stretch>
            <a:fillRect/>
          </a:stretch>
        </p:blipFill>
        <p:spPr>
          <a:xfrm>
            <a:off x="11289173" y="64399"/>
            <a:ext cx="744308" cy="794245"/>
          </a:xfrm>
          <a:prstGeom prst="rect">
            <a:avLst/>
          </a:prstGeom>
        </p:spPr>
      </p:pic>
      <p:sp>
        <p:nvSpPr>
          <p:cNvPr id="12" name="Slide Number Placeholder 11">
            <a:extLst>
              <a:ext uri="{FF2B5EF4-FFF2-40B4-BE49-F238E27FC236}">
                <a16:creationId xmlns:a16="http://schemas.microsoft.com/office/drawing/2014/main" id="{F7259FD7-A7C6-E4D6-FCC9-8FB860935785}"/>
              </a:ext>
            </a:extLst>
          </p:cNvPr>
          <p:cNvSpPr>
            <a:spLocks noGrp="1"/>
          </p:cNvSpPr>
          <p:nvPr>
            <p:ph type="sldNum" sz="quarter" idx="12"/>
          </p:nvPr>
        </p:nvSpPr>
        <p:spPr/>
        <p:txBody>
          <a:bodyPr/>
          <a:lstStyle/>
          <a:p>
            <a:fld id="{BB44241B-2579-694C-B40C-A1E3D5F0E4EC}" type="slidenum">
              <a:rPr lang="en-JP" smtClean="0"/>
              <a:t>8</a:t>
            </a:fld>
            <a:endParaRPr lang="en-JP"/>
          </a:p>
        </p:txBody>
      </p:sp>
    </p:spTree>
    <p:extLst>
      <p:ext uri="{BB962C8B-B14F-4D97-AF65-F5344CB8AC3E}">
        <p14:creationId xmlns:p14="http://schemas.microsoft.com/office/powerpoint/2010/main" val="3549981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7E7E77-63AE-D767-D8E8-F5D3728EC87C}"/>
              </a:ext>
            </a:extLst>
          </p:cNvPr>
          <p:cNvPicPr>
            <a:picLocks noChangeAspect="1"/>
          </p:cNvPicPr>
          <p:nvPr/>
        </p:nvPicPr>
        <p:blipFill>
          <a:blip r:embed="rId2"/>
          <a:stretch>
            <a:fillRect/>
          </a:stretch>
        </p:blipFill>
        <p:spPr>
          <a:xfrm>
            <a:off x="61331" y="945299"/>
            <a:ext cx="5497551" cy="3894330"/>
          </a:xfrm>
          <a:prstGeom prst="rect">
            <a:avLst/>
          </a:prstGeom>
        </p:spPr>
      </p:pic>
      <p:sp>
        <p:nvSpPr>
          <p:cNvPr id="8" name="TextBox 7">
            <a:extLst>
              <a:ext uri="{FF2B5EF4-FFF2-40B4-BE49-F238E27FC236}">
                <a16:creationId xmlns:a16="http://schemas.microsoft.com/office/drawing/2014/main" id="{3D66EB0F-0941-41EC-4CE9-138CD04E5094}"/>
              </a:ext>
            </a:extLst>
          </p:cNvPr>
          <p:cNvSpPr txBox="1"/>
          <p:nvPr/>
        </p:nvSpPr>
        <p:spPr>
          <a:xfrm>
            <a:off x="5928730" y="945299"/>
            <a:ext cx="4861933" cy="1477328"/>
          </a:xfrm>
          <a:prstGeom prst="rect">
            <a:avLst/>
          </a:prstGeom>
          <a:noFill/>
        </p:spPr>
        <p:txBody>
          <a:bodyPr wrap="square">
            <a:spAutoFit/>
          </a:bodyPr>
          <a:lstStyle/>
          <a:p>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 CoAP（Constrained Application Protocol) </a:t>
            </a:r>
          </a:p>
          <a:p>
            <a:r>
              <a:rPr lang="en-JP" dirty="0">
                <a:latin typeface="+mj-ea"/>
                <a:ea typeface="+mj-ea"/>
                <a:cs typeface="Times New Roman" panose="02020603050405020304" pitchFamily="18" charset="0"/>
              </a:rPr>
              <a:t>リソースが制限されたIoTデバイス向けに設計された軽量なアプリケーション層プロトコルであり、UDP上で動作し、HTTPに似たRESTful通信を実現します。</a:t>
            </a:r>
          </a:p>
        </p:txBody>
      </p:sp>
      <p:sp>
        <p:nvSpPr>
          <p:cNvPr id="13" name="TextBox 12">
            <a:extLst>
              <a:ext uri="{FF2B5EF4-FFF2-40B4-BE49-F238E27FC236}">
                <a16:creationId xmlns:a16="http://schemas.microsoft.com/office/drawing/2014/main" id="{39928197-FAFB-5AF1-BEDE-54EBA21C33EC}"/>
              </a:ext>
            </a:extLst>
          </p:cNvPr>
          <p:cNvSpPr txBox="1"/>
          <p:nvPr/>
        </p:nvSpPr>
        <p:spPr>
          <a:xfrm>
            <a:off x="284357" y="352143"/>
            <a:ext cx="6099716" cy="369332"/>
          </a:xfrm>
          <a:prstGeom prst="rect">
            <a:avLst/>
          </a:prstGeom>
          <a:noFill/>
        </p:spPr>
        <p:txBody>
          <a:bodyPr wrap="square">
            <a:spAutoFit/>
          </a:bodyPr>
          <a:lstStyle/>
          <a:p>
            <a:r>
              <a:rPr lang="ja-JP" altLang="en-US">
                <a:latin typeface="+mj-ea"/>
                <a:ea typeface="+mj-ea"/>
              </a:rPr>
              <a:t>・</a:t>
            </a:r>
            <a:r>
              <a:rPr lang="en-US" altLang="ja-JP" dirty="0">
                <a:latin typeface="Times New Roman" panose="02020603050405020304" pitchFamily="18" charset="0"/>
                <a:ea typeface="+mj-ea"/>
                <a:cs typeface="Times New Roman" panose="02020603050405020304" pitchFamily="18" charset="0"/>
              </a:rPr>
              <a:t>CoAP</a:t>
            </a:r>
            <a:r>
              <a:rPr lang="ja-JP" altLang="en-US">
                <a:latin typeface="Times New Roman" panose="02020603050405020304" pitchFamily="18" charset="0"/>
                <a:ea typeface="+mj-ea"/>
                <a:cs typeface="Times New Roman" panose="02020603050405020304" pitchFamily="18" charset="0"/>
              </a:rPr>
              <a:t>（</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 Constrained Application Protocol）</a:t>
            </a:r>
            <a:r>
              <a:rPr lang="mn-MN" altLang="ja-JP" dirty="0"/>
              <a:t> </a:t>
            </a:r>
            <a:r>
              <a:rPr lang="en-US" altLang="ja-JP" dirty="0"/>
              <a:t>1/2</a:t>
            </a:r>
            <a:endParaRPr lang="en-JP" dirty="0">
              <a:latin typeface="+mj-ea"/>
              <a:ea typeface="+mj-ea"/>
            </a:endParaRPr>
          </a:p>
        </p:txBody>
      </p:sp>
      <p:sp>
        <p:nvSpPr>
          <p:cNvPr id="18" name="TextBox 17">
            <a:extLst>
              <a:ext uri="{FF2B5EF4-FFF2-40B4-BE49-F238E27FC236}">
                <a16:creationId xmlns:a16="http://schemas.microsoft.com/office/drawing/2014/main" id="{F7EA9412-C451-37D3-9972-18DE64186B2C}"/>
              </a:ext>
            </a:extLst>
          </p:cNvPr>
          <p:cNvSpPr txBox="1"/>
          <p:nvPr/>
        </p:nvSpPr>
        <p:spPr>
          <a:xfrm>
            <a:off x="5928730" y="3074162"/>
            <a:ext cx="5497551" cy="1477328"/>
          </a:xfrm>
          <a:prstGeom prst="rect">
            <a:avLst/>
          </a:prstGeom>
          <a:noFill/>
        </p:spPr>
        <p:txBody>
          <a:bodyPr wrap="square">
            <a:spAutoFit/>
          </a:bodyPr>
          <a:lstStyle/>
          <a:p>
            <a:r>
              <a:rPr lang="en-US" dirty="0"/>
              <a:t>CoAP</a:t>
            </a:r>
            <a:r>
              <a:rPr lang="ja-JP" altLang="en-US"/>
              <a:t>メソッド（</a:t>
            </a:r>
            <a:r>
              <a:rPr lang="en-US" dirty="0"/>
              <a:t>GET、PUT、POST、DELETE）</a:t>
            </a:r>
            <a:r>
              <a:rPr lang="ja-JP" altLang="en-US"/>
              <a:t>を使用する主な目的は、低消費電力で制約のある環境で、リソース（センサーデータ、コンフィギュレーション、デバイス設定など）に対して</a:t>
            </a:r>
            <a:r>
              <a:rPr lang="en-US" dirty="0"/>
              <a:t>CRUD（Create、Read、Update、Delete）</a:t>
            </a:r>
            <a:r>
              <a:rPr lang="ja-JP" altLang="en-US"/>
              <a:t>操作を実行することです</a:t>
            </a:r>
            <a:endParaRPr lang="en-JP" dirty="0"/>
          </a:p>
        </p:txBody>
      </p:sp>
      <p:pic>
        <p:nvPicPr>
          <p:cNvPr id="20" name="Picture 19">
            <a:extLst>
              <a:ext uri="{FF2B5EF4-FFF2-40B4-BE49-F238E27FC236}">
                <a16:creationId xmlns:a16="http://schemas.microsoft.com/office/drawing/2014/main" id="{D6117387-9904-F99A-CA78-71861A853EF6}"/>
              </a:ext>
            </a:extLst>
          </p:cNvPr>
          <p:cNvPicPr>
            <a:picLocks noChangeAspect="1"/>
          </p:cNvPicPr>
          <p:nvPr/>
        </p:nvPicPr>
        <p:blipFill>
          <a:blip r:embed="rId3"/>
          <a:stretch>
            <a:fillRect/>
          </a:stretch>
        </p:blipFill>
        <p:spPr>
          <a:xfrm>
            <a:off x="11289173" y="64399"/>
            <a:ext cx="744308" cy="794245"/>
          </a:xfrm>
          <a:prstGeom prst="rect">
            <a:avLst/>
          </a:prstGeom>
        </p:spPr>
      </p:pic>
      <p:sp>
        <p:nvSpPr>
          <p:cNvPr id="21" name="Slide Number Placeholder 20">
            <a:extLst>
              <a:ext uri="{FF2B5EF4-FFF2-40B4-BE49-F238E27FC236}">
                <a16:creationId xmlns:a16="http://schemas.microsoft.com/office/drawing/2014/main" id="{58800FA3-8BA7-B920-DD70-90A0F4C2D2B1}"/>
              </a:ext>
            </a:extLst>
          </p:cNvPr>
          <p:cNvSpPr>
            <a:spLocks noGrp="1"/>
          </p:cNvSpPr>
          <p:nvPr>
            <p:ph type="sldNum" sz="quarter" idx="12"/>
          </p:nvPr>
        </p:nvSpPr>
        <p:spPr/>
        <p:txBody>
          <a:bodyPr/>
          <a:lstStyle/>
          <a:p>
            <a:fld id="{BB44241B-2579-694C-B40C-A1E3D5F0E4EC}" type="slidenum">
              <a:rPr lang="en-JP" smtClean="0"/>
              <a:t>9</a:t>
            </a:fld>
            <a:endParaRPr lang="en-JP"/>
          </a:p>
        </p:txBody>
      </p:sp>
    </p:spTree>
    <p:extLst>
      <p:ext uri="{BB962C8B-B14F-4D97-AF65-F5344CB8AC3E}">
        <p14:creationId xmlns:p14="http://schemas.microsoft.com/office/powerpoint/2010/main" val="215607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D8268828-FB55-4062-881A-1A2FC7F3B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88" y="1120408"/>
            <a:ext cx="8727187" cy="1736803"/>
          </a:xfrm>
          <a:prstGeom prst="rect">
            <a:avLst/>
          </a:prstGeom>
          <a:noFill/>
          <a:extLst>
            <a:ext uri="{909E8E84-426E-40DD-AFC4-6F175D3DCCD1}">
              <a14:hiddenFill xmlns:a14="http://schemas.microsoft.com/office/drawing/2010/main">
                <a:solidFill>
                  <a:srgbClr val="FFFFFF"/>
                </a:solidFill>
              </a14:hiddenFill>
            </a:ext>
          </a:extLst>
        </p:spPr>
      </p:pic>
      <p:sp>
        <p:nvSpPr>
          <p:cNvPr id="5" name="四角形: 角を丸くする 29">
            <a:extLst>
              <a:ext uri="{FF2B5EF4-FFF2-40B4-BE49-F238E27FC236}">
                <a16:creationId xmlns:a16="http://schemas.microsoft.com/office/drawing/2014/main" id="{290935F3-9D17-5B4B-D282-025CEBAAF2E8}"/>
              </a:ext>
            </a:extLst>
          </p:cNvPr>
          <p:cNvSpPr/>
          <p:nvPr/>
        </p:nvSpPr>
        <p:spPr>
          <a:xfrm>
            <a:off x="591014" y="1498157"/>
            <a:ext cx="7560526" cy="490653"/>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8" name="TextBox 7">
            <a:extLst>
              <a:ext uri="{FF2B5EF4-FFF2-40B4-BE49-F238E27FC236}">
                <a16:creationId xmlns:a16="http://schemas.microsoft.com/office/drawing/2014/main" id="{F150110B-9D93-949D-73ED-8F7B1E0ACBFF}"/>
              </a:ext>
            </a:extLst>
          </p:cNvPr>
          <p:cNvSpPr txBox="1"/>
          <p:nvPr/>
        </p:nvSpPr>
        <p:spPr>
          <a:xfrm>
            <a:off x="688587" y="3607526"/>
            <a:ext cx="6099716" cy="923330"/>
          </a:xfrm>
          <a:prstGeom prst="rect">
            <a:avLst/>
          </a:prstGeom>
          <a:noFill/>
        </p:spPr>
        <p:txBody>
          <a:bodyPr wrap="square">
            <a:spAutoFit/>
          </a:bodyPr>
          <a:lstStyle/>
          <a:p>
            <a:r>
              <a:rPr lang="ja-JP" altLang="en-US"/>
              <a:t>クライアント（例：センサーや</a:t>
            </a:r>
            <a:r>
              <a:rPr lang="en-US" dirty="0"/>
              <a:t>IoT</a:t>
            </a:r>
            <a:r>
              <a:rPr lang="ja-JP" altLang="en-US"/>
              <a:t>デバイス）は、温度などのデータを取得するために、サーバーに </a:t>
            </a:r>
            <a:r>
              <a:rPr lang="en-US" dirty="0"/>
              <a:t>CoAP</a:t>
            </a:r>
            <a:r>
              <a:rPr lang="ja-JP" altLang="en-US"/>
              <a:t>リクエスト（例：</a:t>
            </a:r>
            <a:r>
              <a:rPr lang="en-US" dirty="0"/>
              <a:t>GET） </a:t>
            </a:r>
            <a:r>
              <a:rPr lang="ja-JP" altLang="en-US"/>
              <a:t>を送信します。</a:t>
            </a:r>
          </a:p>
        </p:txBody>
      </p:sp>
      <p:sp>
        <p:nvSpPr>
          <p:cNvPr id="9" name="矢印: 折線 6">
            <a:extLst>
              <a:ext uri="{FF2B5EF4-FFF2-40B4-BE49-F238E27FC236}">
                <a16:creationId xmlns:a16="http://schemas.microsoft.com/office/drawing/2014/main" id="{D9335A9E-ACA1-29F8-4843-28788A5BC227}"/>
              </a:ext>
            </a:extLst>
          </p:cNvPr>
          <p:cNvSpPr/>
          <p:nvPr/>
        </p:nvSpPr>
        <p:spPr>
          <a:xfrm flipV="1">
            <a:off x="459988" y="1613565"/>
            <a:ext cx="306657" cy="2487291"/>
          </a:xfrm>
          <a:prstGeom prst="bentArrow">
            <a:avLst>
              <a:gd name="adj1" fmla="val 25000"/>
              <a:gd name="adj2" fmla="val 14214"/>
              <a:gd name="adj3" fmla="val 38483"/>
              <a:gd name="adj4" fmla="val 437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1" name="TextBox 10">
            <a:extLst>
              <a:ext uri="{FF2B5EF4-FFF2-40B4-BE49-F238E27FC236}">
                <a16:creationId xmlns:a16="http://schemas.microsoft.com/office/drawing/2014/main" id="{EA78A1EB-6A38-6C72-2F81-B4274D819965}"/>
              </a:ext>
            </a:extLst>
          </p:cNvPr>
          <p:cNvSpPr txBox="1"/>
          <p:nvPr/>
        </p:nvSpPr>
        <p:spPr>
          <a:xfrm>
            <a:off x="3652024" y="4846911"/>
            <a:ext cx="6099716" cy="923330"/>
          </a:xfrm>
          <a:prstGeom prst="rect">
            <a:avLst/>
          </a:prstGeom>
          <a:noFill/>
        </p:spPr>
        <p:txBody>
          <a:bodyPr wrap="square">
            <a:spAutoFit/>
          </a:bodyPr>
          <a:lstStyle/>
          <a:p>
            <a:r>
              <a:rPr lang="en-JP" dirty="0">
                <a:latin typeface="+mj-ea"/>
                <a:ea typeface="+mj-ea"/>
              </a:rPr>
              <a:t>サーバー はリクエストを処理し、CoAPレスポンス</a:t>
            </a:r>
          </a:p>
          <a:p>
            <a:r>
              <a:rPr lang="en-JP" dirty="0">
                <a:latin typeface="+mj-ea"/>
                <a:ea typeface="+mj-ea"/>
              </a:rPr>
              <a:t>（例：2.05 Content） を返し、要求されたデータをクライアントに送信します。</a:t>
            </a:r>
            <a:r>
              <a:rPr lang="ja-JP" altLang="en-US">
                <a:latin typeface="+mj-ea"/>
                <a:ea typeface="+mj-ea"/>
              </a:rPr>
              <a:t>信</a:t>
            </a:r>
            <a:endParaRPr lang="en-JP" dirty="0">
              <a:latin typeface="+mj-ea"/>
              <a:ea typeface="+mj-ea"/>
            </a:endParaRPr>
          </a:p>
        </p:txBody>
      </p:sp>
      <p:sp>
        <p:nvSpPr>
          <p:cNvPr id="13" name="TextBox 12">
            <a:extLst>
              <a:ext uri="{FF2B5EF4-FFF2-40B4-BE49-F238E27FC236}">
                <a16:creationId xmlns:a16="http://schemas.microsoft.com/office/drawing/2014/main" id="{80318CA3-DF71-2DFE-B028-3D1A36FA480C}"/>
              </a:ext>
            </a:extLst>
          </p:cNvPr>
          <p:cNvSpPr txBox="1"/>
          <p:nvPr/>
        </p:nvSpPr>
        <p:spPr>
          <a:xfrm>
            <a:off x="459988" y="445090"/>
            <a:ext cx="6930482" cy="369332"/>
          </a:xfrm>
          <a:prstGeom prst="rect">
            <a:avLst/>
          </a:prstGeom>
          <a:noFill/>
        </p:spPr>
        <p:txBody>
          <a:bodyPr wrap="square">
            <a:spAutoFit/>
          </a:bodyPr>
          <a:lstStyle/>
          <a:p>
            <a:r>
              <a:rPr lang="en-US" altLang="ja-JP" b="1" dirty="0">
                <a:latin typeface="+mj-ea"/>
                <a:ea typeface="+mj-ea"/>
              </a:rPr>
              <a:t>CoAP</a:t>
            </a:r>
            <a:r>
              <a:rPr lang="ja-JP" altLang="en-US">
                <a:latin typeface="+mj-ea"/>
                <a:ea typeface="+mj-ea"/>
              </a:rPr>
              <a:t>（</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 Constrained Application Protocol）</a:t>
            </a:r>
            <a:r>
              <a:rPr lang="en-US" altLang="ja-JP" dirty="0"/>
              <a:t> 2/2</a:t>
            </a:r>
            <a:endParaRPr lang="mn-MN" altLang="ja-JP" dirty="0"/>
          </a:p>
        </p:txBody>
      </p:sp>
      <p:sp>
        <p:nvSpPr>
          <p:cNvPr id="19" name="Left-Up Arrow 18">
            <a:extLst>
              <a:ext uri="{FF2B5EF4-FFF2-40B4-BE49-F238E27FC236}">
                <a16:creationId xmlns:a16="http://schemas.microsoft.com/office/drawing/2014/main" id="{29661F6D-DF8C-8197-C859-1CE2DFCDC77D}"/>
              </a:ext>
            </a:extLst>
          </p:cNvPr>
          <p:cNvSpPr/>
          <p:nvPr/>
        </p:nvSpPr>
        <p:spPr>
          <a:xfrm rot="16200000">
            <a:off x="6765806" y="3163243"/>
            <a:ext cx="3121803" cy="261291"/>
          </a:xfrm>
          <a:prstGeom prst="leftUpArrow">
            <a:avLst>
              <a:gd name="adj1" fmla="val 25000"/>
              <a:gd name="adj2" fmla="val 28934"/>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pic>
        <p:nvPicPr>
          <p:cNvPr id="21" name="Picture 20">
            <a:extLst>
              <a:ext uri="{FF2B5EF4-FFF2-40B4-BE49-F238E27FC236}">
                <a16:creationId xmlns:a16="http://schemas.microsoft.com/office/drawing/2014/main" id="{05A0D972-D1C2-4FF9-AE1C-759087F52BCE}"/>
              </a:ext>
            </a:extLst>
          </p:cNvPr>
          <p:cNvPicPr>
            <a:picLocks noChangeAspect="1"/>
          </p:cNvPicPr>
          <p:nvPr/>
        </p:nvPicPr>
        <p:blipFill>
          <a:blip r:embed="rId3"/>
          <a:stretch>
            <a:fillRect/>
          </a:stretch>
        </p:blipFill>
        <p:spPr>
          <a:xfrm>
            <a:off x="11289173" y="64399"/>
            <a:ext cx="744308" cy="794245"/>
          </a:xfrm>
          <a:prstGeom prst="rect">
            <a:avLst/>
          </a:prstGeom>
        </p:spPr>
      </p:pic>
      <p:sp>
        <p:nvSpPr>
          <p:cNvPr id="22" name="Slide Number Placeholder 21">
            <a:extLst>
              <a:ext uri="{FF2B5EF4-FFF2-40B4-BE49-F238E27FC236}">
                <a16:creationId xmlns:a16="http://schemas.microsoft.com/office/drawing/2014/main" id="{D9D2D6E5-468A-07E3-2428-347F75DD4D62}"/>
              </a:ext>
            </a:extLst>
          </p:cNvPr>
          <p:cNvSpPr>
            <a:spLocks noGrp="1"/>
          </p:cNvSpPr>
          <p:nvPr>
            <p:ph type="sldNum" sz="quarter" idx="12"/>
          </p:nvPr>
        </p:nvSpPr>
        <p:spPr/>
        <p:txBody>
          <a:bodyPr/>
          <a:lstStyle/>
          <a:p>
            <a:fld id="{BB44241B-2579-694C-B40C-A1E3D5F0E4EC}" type="slidenum">
              <a:rPr lang="en-JP" smtClean="0"/>
              <a:t>10</a:t>
            </a:fld>
            <a:endParaRPr lang="en-JP"/>
          </a:p>
        </p:txBody>
      </p:sp>
    </p:spTree>
    <p:extLst>
      <p:ext uri="{BB962C8B-B14F-4D97-AF65-F5344CB8AC3E}">
        <p14:creationId xmlns:p14="http://schemas.microsoft.com/office/powerpoint/2010/main" val="99295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6E6BB4-2D8F-92EA-355A-9ADA05FC46AC}"/>
              </a:ext>
            </a:extLst>
          </p:cNvPr>
          <p:cNvPicPr>
            <a:picLocks noChangeAspect="1"/>
          </p:cNvPicPr>
          <p:nvPr/>
        </p:nvPicPr>
        <p:blipFill>
          <a:blip r:embed="rId2"/>
          <a:stretch>
            <a:fillRect/>
          </a:stretch>
        </p:blipFill>
        <p:spPr>
          <a:xfrm>
            <a:off x="490654" y="1012269"/>
            <a:ext cx="4514385" cy="3382433"/>
          </a:xfrm>
          <a:prstGeom prst="rect">
            <a:avLst/>
          </a:prstGeom>
        </p:spPr>
      </p:pic>
      <p:sp>
        <p:nvSpPr>
          <p:cNvPr id="6" name="TextBox 5">
            <a:extLst>
              <a:ext uri="{FF2B5EF4-FFF2-40B4-BE49-F238E27FC236}">
                <a16:creationId xmlns:a16="http://schemas.microsoft.com/office/drawing/2014/main" id="{8031B1BD-74C8-4E48-D0DF-0C8743B8A55A}"/>
              </a:ext>
            </a:extLst>
          </p:cNvPr>
          <p:cNvSpPr txBox="1"/>
          <p:nvPr/>
        </p:nvSpPr>
        <p:spPr>
          <a:xfrm>
            <a:off x="490653" y="367319"/>
            <a:ext cx="5765179" cy="369332"/>
          </a:xfrm>
          <a:prstGeom prst="rect">
            <a:avLst/>
          </a:prstGeom>
          <a:noFill/>
        </p:spPr>
        <p:txBody>
          <a:bodyPr wrap="square">
            <a:spAutoFit/>
          </a:bodyPr>
          <a:lstStyle/>
          <a:p>
            <a:r>
              <a:rPr lang="en-US" dirty="0"/>
              <a:t> </a:t>
            </a:r>
            <a:r>
              <a:rPr lang="en-JP" dirty="0"/>
              <a:t> </a:t>
            </a:r>
            <a:r>
              <a:rPr lang="en-JP" dirty="0">
                <a:latin typeface="Times New Roman" panose="02020603050405020304" pitchFamily="18" charset="0"/>
                <a:cs typeface="Times New Roman" panose="02020603050405020304" pitchFamily="18" charset="0"/>
              </a:rPr>
              <a:t>DTLS(Datagram Transport Layer Security</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1/2</a:t>
            </a:r>
            <a:endParaRPr lang="mn-MN" altLang="ja-JP"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D818F2A-D288-5354-8E5D-1405BA4FF53B}"/>
              </a:ext>
            </a:extLst>
          </p:cNvPr>
          <p:cNvSpPr txBox="1"/>
          <p:nvPr/>
        </p:nvSpPr>
        <p:spPr>
          <a:xfrm>
            <a:off x="317812" y="4763611"/>
            <a:ext cx="4514386" cy="1200329"/>
          </a:xfrm>
          <a:prstGeom prst="rect">
            <a:avLst/>
          </a:prstGeom>
          <a:noFill/>
        </p:spPr>
        <p:txBody>
          <a:bodyPr wrap="square">
            <a:spAutoFit/>
          </a:bodyPr>
          <a:lstStyle/>
          <a:p>
            <a:r>
              <a:rPr lang="en-JP" dirty="0">
                <a:latin typeface="Yu Mincho" panose="02020400000000000000" pitchFamily="18" charset="-128"/>
                <a:ea typeface="Yu Mincho" panose="02020400000000000000" pitchFamily="18" charset="-128"/>
              </a:rPr>
              <a:t>DTLSを取り上げます。DTLSはUDPのような軽量だけど不安定な通信の上でセキュリティを実現するためのトランスポート層のプロトコルです。</a:t>
            </a:r>
          </a:p>
        </p:txBody>
      </p:sp>
      <p:sp>
        <p:nvSpPr>
          <p:cNvPr id="10" name="TextBox 9">
            <a:extLst>
              <a:ext uri="{FF2B5EF4-FFF2-40B4-BE49-F238E27FC236}">
                <a16:creationId xmlns:a16="http://schemas.microsoft.com/office/drawing/2014/main" id="{3A66CF18-9377-6BDF-98B8-30CD2706B9F5}"/>
              </a:ext>
            </a:extLst>
          </p:cNvPr>
          <p:cNvSpPr txBox="1"/>
          <p:nvPr/>
        </p:nvSpPr>
        <p:spPr>
          <a:xfrm>
            <a:off x="886523" y="1377189"/>
            <a:ext cx="1968188" cy="584775"/>
          </a:xfrm>
          <a:prstGeom prst="rect">
            <a:avLst/>
          </a:prstGeom>
          <a:noFill/>
        </p:spPr>
        <p:txBody>
          <a:bodyPr wrap="square">
            <a:spAutoFit/>
          </a:bodyPr>
          <a:lstStyle/>
          <a:p>
            <a:r>
              <a:rPr lang="en-JP" sz="3200" dirty="0"/>
              <a:t>DTLS</a:t>
            </a:r>
          </a:p>
        </p:txBody>
      </p:sp>
      <p:sp>
        <p:nvSpPr>
          <p:cNvPr id="11" name="Rounded Rectangle 10">
            <a:extLst>
              <a:ext uri="{FF2B5EF4-FFF2-40B4-BE49-F238E27FC236}">
                <a16:creationId xmlns:a16="http://schemas.microsoft.com/office/drawing/2014/main" id="{F891D55C-9403-366F-54E5-41A346994A11}"/>
              </a:ext>
            </a:extLst>
          </p:cNvPr>
          <p:cNvSpPr/>
          <p:nvPr/>
        </p:nvSpPr>
        <p:spPr>
          <a:xfrm>
            <a:off x="5709424" y="1012268"/>
            <a:ext cx="4605453" cy="6715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en-US" dirty="0"/>
              <a:t>TLS</a:t>
            </a:r>
            <a:r>
              <a:rPr lang="ja-JP" altLang="en-US"/>
              <a:t>のセキュリティ機能（暗号化、認証、改ざん検出）をそのまま</a:t>
            </a:r>
            <a:r>
              <a:rPr lang="en-US" dirty="0"/>
              <a:t>UDP</a:t>
            </a:r>
            <a:r>
              <a:rPr lang="ja-JP" altLang="en-US"/>
              <a:t>に適用</a:t>
            </a:r>
            <a:endParaRPr lang="en-JP" dirty="0"/>
          </a:p>
        </p:txBody>
      </p:sp>
      <p:sp>
        <p:nvSpPr>
          <p:cNvPr id="12" name="Rounded Rectangle 11">
            <a:extLst>
              <a:ext uri="{FF2B5EF4-FFF2-40B4-BE49-F238E27FC236}">
                <a16:creationId xmlns:a16="http://schemas.microsoft.com/office/drawing/2014/main" id="{634EE150-4C03-0FDD-2B50-9D5EF08BF75F}"/>
              </a:ext>
            </a:extLst>
          </p:cNvPr>
          <p:cNvSpPr/>
          <p:nvPr/>
        </p:nvSpPr>
        <p:spPr>
          <a:xfrm>
            <a:off x="5709424" y="1961963"/>
            <a:ext cx="4605453" cy="5916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ja-JP" altLang="en-US"/>
              <a:t>パケットの損失や順序の入れ替えに対応可能（</a:t>
            </a:r>
            <a:r>
              <a:rPr lang="en-US" dirty="0"/>
              <a:t>IoT</a:t>
            </a:r>
            <a:r>
              <a:rPr lang="ja-JP" altLang="en-US"/>
              <a:t>環境に最適）</a:t>
            </a:r>
            <a:endParaRPr lang="en-JP" dirty="0"/>
          </a:p>
        </p:txBody>
      </p:sp>
      <p:sp>
        <p:nvSpPr>
          <p:cNvPr id="13" name="Rounded Rectangle 12">
            <a:extLst>
              <a:ext uri="{FF2B5EF4-FFF2-40B4-BE49-F238E27FC236}">
                <a16:creationId xmlns:a16="http://schemas.microsoft.com/office/drawing/2014/main" id="{8EB645BC-D88D-14B6-1671-711D70A1AB52}"/>
              </a:ext>
            </a:extLst>
          </p:cNvPr>
          <p:cNvSpPr/>
          <p:nvPr/>
        </p:nvSpPr>
        <p:spPr>
          <a:xfrm>
            <a:off x="5709425" y="2835704"/>
            <a:ext cx="4759712" cy="67156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en-US" dirty="0"/>
              <a:t>CoAP</a:t>
            </a:r>
            <a:r>
              <a:rPr lang="ja-JP" altLang="en-US"/>
              <a:t>などの</a:t>
            </a:r>
            <a:r>
              <a:rPr lang="en-US" dirty="0"/>
              <a:t>UDP</a:t>
            </a:r>
            <a:r>
              <a:rPr lang="ja-JP" altLang="en-US"/>
              <a:t>ベースのプロトコルと組み合わせて使用される</a:t>
            </a:r>
            <a:endParaRPr lang="en-JP" dirty="0"/>
          </a:p>
        </p:txBody>
      </p:sp>
      <p:sp>
        <p:nvSpPr>
          <p:cNvPr id="14" name="Rounded Rectangle 13">
            <a:extLst>
              <a:ext uri="{FF2B5EF4-FFF2-40B4-BE49-F238E27FC236}">
                <a16:creationId xmlns:a16="http://schemas.microsoft.com/office/drawing/2014/main" id="{9F79D1CB-42A2-4160-C560-F0CF1F5ECA68}"/>
              </a:ext>
            </a:extLst>
          </p:cNvPr>
          <p:cNvSpPr/>
          <p:nvPr/>
        </p:nvSpPr>
        <p:spPr>
          <a:xfrm>
            <a:off x="5720575" y="3699108"/>
            <a:ext cx="4759712" cy="85059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285750" indent="-285750" algn="ctr">
              <a:buFont typeface="Wingdings" pitchFamily="2" charset="2"/>
              <a:buChar char="Ø"/>
            </a:pPr>
            <a:r>
              <a:rPr lang="ja-JP" altLang="en-US"/>
              <a:t>軽量で高速な通信が可能なため、リソース制限のある</a:t>
            </a:r>
            <a:r>
              <a:rPr lang="en-US" dirty="0"/>
              <a:t>IoT</a:t>
            </a:r>
            <a:r>
              <a:rPr lang="ja-JP" altLang="en-US"/>
              <a:t>デバイスに適している</a:t>
            </a:r>
            <a:endParaRPr lang="en-JP" dirty="0"/>
          </a:p>
        </p:txBody>
      </p:sp>
      <p:sp>
        <p:nvSpPr>
          <p:cNvPr id="15" name="Down Arrow 14">
            <a:extLst>
              <a:ext uri="{FF2B5EF4-FFF2-40B4-BE49-F238E27FC236}">
                <a16:creationId xmlns:a16="http://schemas.microsoft.com/office/drawing/2014/main" id="{72B523D9-CC3D-FE7B-6AF5-E2CDD88CF299}"/>
              </a:ext>
            </a:extLst>
          </p:cNvPr>
          <p:cNvSpPr/>
          <p:nvPr/>
        </p:nvSpPr>
        <p:spPr>
          <a:xfrm>
            <a:off x="7939668" y="4763611"/>
            <a:ext cx="211873" cy="44400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7" name="TextBox 16">
            <a:extLst>
              <a:ext uri="{FF2B5EF4-FFF2-40B4-BE49-F238E27FC236}">
                <a16:creationId xmlns:a16="http://schemas.microsoft.com/office/drawing/2014/main" id="{1D76E4E4-C199-69C9-B220-C786F5032C06}"/>
              </a:ext>
            </a:extLst>
          </p:cNvPr>
          <p:cNvSpPr txBox="1"/>
          <p:nvPr/>
        </p:nvSpPr>
        <p:spPr>
          <a:xfrm>
            <a:off x="7482468" y="5363775"/>
            <a:ext cx="1650380" cy="369332"/>
          </a:xfrm>
          <a:prstGeom prst="rect">
            <a:avLst/>
          </a:prstGeom>
          <a:noFill/>
        </p:spPr>
        <p:txBody>
          <a:bodyPr wrap="square">
            <a:spAutoFit/>
          </a:bodyPr>
          <a:lstStyle/>
          <a:p>
            <a:r>
              <a:rPr lang="en-JP" dirty="0"/>
              <a:t>主な特徴</a:t>
            </a:r>
          </a:p>
        </p:txBody>
      </p:sp>
      <p:pic>
        <p:nvPicPr>
          <p:cNvPr id="19" name="Picture 18">
            <a:extLst>
              <a:ext uri="{FF2B5EF4-FFF2-40B4-BE49-F238E27FC236}">
                <a16:creationId xmlns:a16="http://schemas.microsoft.com/office/drawing/2014/main" id="{51B2D207-112C-A0A7-7588-2A46871D2289}"/>
              </a:ext>
            </a:extLst>
          </p:cNvPr>
          <p:cNvPicPr>
            <a:picLocks noChangeAspect="1"/>
          </p:cNvPicPr>
          <p:nvPr/>
        </p:nvPicPr>
        <p:blipFill>
          <a:blip r:embed="rId3"/>
          <a:stretch>
            <a:fillRect/>
          </a:stretch>
        </p:blipFill>
        <p:spPr>
          <a:xfrm>
            <a:off x="11289173" y="64399"/>
            <a:ext cx="744308" cy="794245"/>
          </a:xfrm>
          <a:prstGeom prst="rect">
            <a:avLst/>
          </a:prstGeom>
        </p:spPr>
      </p:pic>
      <p:sp>
        <p:nvSpPr>
          <p:cNvPr id="20" name="Slide Number Placeholder 19">
            <a:extLst>
              <a:ext uri="{FF2B5EF4-FFF2-40B4-BE49-F238E27FC236}">
                <a16:creationId xmlns:a16="http://schemas.microsoft.com/office/drawing/2014/main" id="{F169270B-E4FD-812E-C3B6-EAAA66CCDA81}"/>
              </a:ext>
            </a:extLst>
          </p:cNvPr>
          <p:cNvSpPr>
            <a:spLocks noGrp="1"/>
          </p:cNvSpPr>
          <p:nvPr>
            <p:ph type="sldNum" sz="quarter" idx="12"/>
          </p:nvPr>
        </p:nvSpPr>
        <p:spPr/>
        <p:txBody>
          <a:bodyPr/>
          <a:lstStyle/>
          <a:p>
            <a:fld id="{BB44241B-2579-694C-B40C-A1E3D5F0E4EC}" type="slidenum">
              <a:rPr lang="en-JP" smtClean="0"/>
              <a:t>11</a:t>
            </a:fld>
            <a:endParaRPr lang="en-JP"/>
          </a:p>
        </p:txBody>
      </p:sp>
    </p:spTree>
    <p:extLst>
      <p:ext uri="{BB962C8B-B14F-4D97-AF65-F5344CB8AC3E}">
        <p14:creationId xmlns:p14="http://schemas.microsoft.com/office/powerpoint/2010/main" val="1769906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684618-67A7-CC98-B13D-028F9C673B36}"/>
              </a:ext>
            </a:extLst>
          </p:cNvPr>
          <p:cNvPicPr>
            <a:picLocks noChangeAspect="1"/>
          </p:cNvPicPr>
          <p:nvPr/>
        </p:nvPicPr>
        <p:blipFill>
          <a:blip r:embed="rId2"/>
          <a:stretch>
            <a:fillRect/>
          </a:stretch>
        </p:blipFill>
        <p:spPr>
          <a:xfrm>
            <a:off x="222250" y="1048989"/>
            <a:ext cx="6881077" cy="5017274"/>
          </a:xfrm>
          <a:prstGeom prst="rect">
            <a:avLst/>
          </a:prstGeom>
        </p:spPr>
      </p:pic>
      <p:sp>
        <p:nvSpPr>
          <p:cNvPr id="6" name="TextBox 5">
            <a:extLst>
              <a:ext uri="{FF2B5EF4-FFF2-40B4-BE49-F238E27FC236}">
                <a16:creationId xmlns:a16="http://schemas.microsoft.com/office/drawing/2014/main" id="{B1F12244-3375-2BCA-29EF-17DE698A4835}"/>
              </a:ext>
            </a:extLst>
          </p:cNvPr>
          <p:cNvSpPr txBox="1"/>
          <p:nvPr/>
        </p:nvSpPr>
        <p:spPr>
          <a:xfrm>
            <a:off x="222250" y="411924"/>
            <a:ext cx="6099716" cy="369332"/>
          </a:xfrm>
          <a:prstGeom prst="rect">
            <a:avLst/>
          </a:prstGeom>
          <a:noFill/>
        </p:spPr>
        <p:txBody>
          <a:bodyPr wrap="square">
            <a:spAutoFit/>
          </a:bodyPr>
          <a:lstStyle/>
          <a:p>
            <a:r>
              <a:rPr lang="en-JP" dirty="0">
                <a:latin typeface="Times New Roman" panose="02020603050405020304" pitchFamily="18" charset="0"/>
                <a:cs typeface="Times New Roman" panose="02020603050405020304" pitchFamily="18" charset="0"/>
              </a:rPr>
              <a:t>DTLS(Datagram Transport Layer Security</a:t>
            </a:r>
            <a:r>
              <a:rPr lang="en-US" dirty="0">
                <a:latin typeface="Times New Roman" panose="02020603050405020304" pitchFamily="18" charset="0"/>
                <a:ea typeface="YuMincho +36p Kana Medium" panose="02020500000000000000" pitchFamily="18" charset="-128"/>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 2/2</a:t>
            </a:r>
            <a:endParaRPr lang="mn-MN" altLang="ja-JP" dirty="0"/>
          </a:p>
        </p:txBody>
      </p:sp>
      <p:sp>
        <p:nvSpPr>
          <p:cNvPr id="8" name="TextBox 7">
            <a:extLst>
              <a:ext uri="{FF2B5EF4-FFF2-40B4-BE49-F238E27FC236}">
                <a16:creationId xmlns:a16="http://schemas.microsoft.com/office/drawing/2014/main" id="{2B7C2E36-59BF-7555-815F-25244806ED6A}"/>
              </a:ext>
            </a:extLst>
          </p:cNvPr>
          <p:cNvSpPr txBox="1"/>
          <p:nvPr/>
        </p:nvSpPr>
        <p:spPr>
          <a:xfrm>
            <a:off x="7529318" y="955432"/>
            <a:ext cx="4440432" cy="1200329"/>
          </a:xfrm>
          <a:prstGeom prst="rect">
            <a:avLst/>
          </a:prstGeom>
          <a:noFill/>
        </p:spPr>
        <p:txBody>
          <a:bodyPr wrap="square">
            <a:spAutoFit/>
          </a:bodyPr>
          <a:lstStyle/>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DTLS</a:t>
            </a:r>
            <a:r>
              <a:rPr lang="ja-JP" altLang="en-US" b="1"/>
              <a:t>層</a:t>
            </a:r>
            <a:r>
              <a:rPr lang="ja-JP" altLang="en-US"/>
              <a:t>：</a:t>
            </a:r>
            <a:r>
              <a:rPr lang="en-US" dirty="0"/>
              <a:t>DTLS</a:t>
            </a:r>
            <a:r>
              <a:rPr lang="ja-JP" altLang="en-US"/>
              <a:t>プロトコルによる暗号化通信を処理します。</a:t>
            </a:r>
            <a:endParaRPr lang="en-US" altLang="ja-JP" dirty="0"/>
          </a:p>
          <a:p>
            <a:pPr marL="285750" indent="-285750">
              <a:buFont typeface="Arial" panose="020B0604020202020204" pitchFamily="34" charset="0"/>
              <a:buChar char="•"/>
            </a:pPr>
            <a:endParaRPr lang="en-JP" dirty="0"/>
          </a:p>
        </p:txBody>
      </p:sp>
      <p:sp>
        <p:nvSpPr>
          <p:cNvPr id="10" name="TextBox 9">
            <a:extLst>
              <a:ext uri="{FF2B5EF4-FFF2-40B4-BE49-F238E27FC236}">
                <a16:creationId xmlns:a16="http://schemas.microsoft.com/office/drawing/2014/main" id="{205B3971-4D12-D3E5-B2DB-AB09994C14FE}"/>
              </a:ext>
            </a:extLst>
          </p:cNvPr>
          <p:cNvSpPr txBox="1"/>
          <p:nvPr/>
        </p:nvSpPr>
        <p:spPr>
          <a:xfrm>
            <a:off x="7529318" y="1849291"/>
            <a:ext cx="4293219" cy="1200329"/>
          </a:xfrm>
          <a:prstGeom prst="rect">
            <a:avLst/>
          </a:prstGeom>
          <a:noFill/>
        </p:spPr>
        <p:txBody>
          <a:bodyPr wrap="square">
            <a:spAutoFit/>
          </a:bodyPr>
          <a:lstStyle/>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DTLS</a:t>
            </a:r>
            <a:r>
              <a:rPr lang="ja-JP" altLang="en-US" b="1"/>
              <a:t>プロトコル処理</a:t>
            </a:r>
            <a:r>
              <a:rPr lang="ja-JP" altLang="en-US"/>
              <a:t>：暗号化・復号化、認証、メッセージの整合性確認などの処理を行います。</a:t>
            </a:r>
            <a:endParaRPr lang="en-JP" dirty="0"/>
          </a:p>
        </p:txBody>
      </p:sp>
      <p:sp>
        <p:nvSpPr>
          <p:cNvPr id="12" name="TextBox 11">
            <a:extLst>
              <a:ext uri="{FF2B5EF4-FFF2-40B4-BE49-F238E27FC236}">
                <a16:creationId xmlns:a16="http://schemas.microsoft.com/office/drawing/2014/main" id="{D2AE8CCC-F1E6-F91C-25F1-0B24780F573B}"/>
              </a:ext>
            </a:extLst>
          </p:cNvPr>
          <p:cNvSpPr txBox="1"/>
          <p:nvPr/>
        </p:nvSpPr>
        <p:spPr>
          <a:xfrm>
            <a:off x="7529318" y="3022368"/>
            <a:ext cx="3843841" cy="2031325"/>
          </a:xfrm>
          <a:prstGeom prst="rect">
            <a:avLst/>
          </a:prstGeom>
          <a:noFill/>
        </p:spPr>
        <p:txBody>
          <a:bodyPr wrap="square">
            <a:spAutoFit/>
          </a:bodyPr>
          <a:lstStyle/>
          <a:p>
            <a:pPr marL="285750" indent="-285750">
              <a:buFont typeface="Arial" panose="020B0604020202020204" pitchFamily="34" charset="0"/>
              <a:buChar char="•"/>
            </a:pPr>
            <a:endParaRPr lang="en-US" altLang="ja-JP" b="1" dirty="0"/>
          </a:p>
          <a:p>
            <a:pPr marL="285750" indent="-285750">
              <a:buFont typeface="Arial" panose="020B0604020202020204" pitchFamily="34" charset="0"/>
              <a:buChar char="•"/>
            </a:pPr>
            <a:r>
              <a:rPr lang="ja-JP" altLang="en-US" b="1"/>
              <a:t>パケット順序、消失、重複管理（ハンドシェーク中のみ）</a:t>
            </a:r>
            <a:r>
              <a:rPr lang="ja-JP" altLang="en-US"/>
              <a:t>：</a:t>
            </a:r>
            <a:r>
              <a:rPr lang="en-US" dirty="0"/>
              <a:t>TLS</a:t>
            </a:r>
            <a:r>
              <a:rPr lang="ja-JP" altLang="en-US"/>
              <a:t>と異なり、</a:t>
            </a:r>
            <a:r>
              <a:rPr lang="en-US" dirty="0"/>
              <a:t>UDP</a:t>
            </a:r>
            <a:r>
              <a:rPr lang="ja-JP" altLang="en-US"/>
              <a:t>は信頼性がないため、</a:t>
            </a:r>
            <a:r>
              <a:rPr lang="en-US" dirty="0"/>
              <a:t>DTLS</a:t>
            </a:r>
            <a:r>
              <a:rPr lang="ja-JP" altLang="en-US"/>
              <a:t>はハンドシェーク中にパケットの順番や欠落、重複を自動的に管理します。</a:t>
            </a:r>
            <a:endParaRPr lang="en-JP" dirty="0"/>
          </a:p>
        </p:txBody>
      </p:sp>
      <p:sp>
        <p:nvSpPr>
          <p:cNvPr id="14" name="TextBox 13">
            <a:extLst>
              <a:ext uri="{FF2B5EF4-FFF2-40B4-BE49-F238E27FC236}">
                <a16:creationId xmlns:a16="http://schemas.microsoft.com/office/drawing/2014/main" id="{C5CF5573-4F43-A4FC-5ADB-09602E3A560D}"/>
              </a:ext>
            </a:extLst>
          </p:cNvPr>
          <p:cNvSpPr txBox="1"/>
          <p:nvPr/>
        </p:nvSpPr>
        <p:spPr>
          <a:xfrm>
            <a:off x="7529318" y="4979238"/>
            <a:ext cx="4084676" cy="1200329"/>
          </a:xfrm>
          <a:prstGeom prst="rect">
            <a:avLst/>
          </a:prstGeom>
          <a:noFill/>
        </p:spPr>
        <p:txBody>
          <a:bodyPr wrap="square">
            <a:spAutoFit/>
          </a:bodyPr>
          <a:lstStyle/>
          <a:p>
            <a:pPr>
              <a:buFont typeface="Arial" panose="020B0604020202020204" pitchFamily="34" charset="0"/>
              <a:buChar char="•"/>
            </a:pPr>
            <a:endParaRPr lang="en-US" b="1" dirty="0"/>
          </a:p>
          <a:p>
            <a:pPr>
              <a:buFont typeface="Arial" panose="020B0604020202020204" pitchFamily="34" charset="0"/>
              <a:buChar char="•"/>
            </a:pPr>
            <a:r>
              <a:rPr lang="en-US" b="1" dirty="0"/>
              <a:t>UDP</a:t>
            </a:r>
            <a:r>
              <a:rPr lang="ja-JP" altLang="en-US" b="1"/>
              <a:t>層</a:t>
            </a:r>
            <a:r>
              <a:rPr lang="ja-JP" altLang="en-US"/>
              <a:t>：下層のトランスポートプロトコルで、接続レス型（</a:t>
            </a:r>
            <a:r>
              <a:rPr lang="en-US" dirty="0"/>
              <a:t>connectionless）</a:t>
            </a:r>
            <a:r>
              <a:rPr lang="ja-JP" altLang="en-US"/>
              <a:t>で軽量な通信を担当します。</a:t>
            </a:r>
          </a:p>
        </p:txBody>
      </p:sp>
      <p:pic>
        <p:nvPicPr>
          <p:cNvPr id="16" name="Picture 15">
            <a:extLst>
              <a:ext uri="{FF2B5EF4-FFF2-40B4-BE49-F238E27FC236}">
                <a16:creationId xmlns:a16="http://schemas.microsoft.com/office/drawing/2014/main" id="{77F5EFF3-9434-B5DD-669C-CE07D1286DD2}"/>
              </a:ext>
            </a:extLst>
          </p:cNvPr>
          <p:cNvPicPr>
            <a:picLocks noChangeAspect="1"/>
          </p:cNvPicPr>
          <p:nvPr/>
        </p:nvPicPr>
        <p:blipFill>
          <a:blip r:embed="rId3"/>
          <a:stretch>
            <a:fillRect/>
          </a:stretch>
        </p:blipFill>
        <p:spPr>
          <a:xfrm>
            <a:off x="11289173" y="64399"/>
            <a:ext cx="744308" cy="794245"/>
          </a:xfrm>
          <a:prstGeom prst="rect">
            <a:avLst/>
          </a:prstGeom>
        </p:spPr>
      </p:pic>
      <p:sp>
        <p:nvSpPr>
          <p:cNvPr id="17" name="Slide Number Placeholder 16">
            <a:extLst>
              <a:ext uri="{FF2B5EF4-FFF2-40B4-BE49-F238E27FC236}">
                <a16:creationId xmlns:a16="http://schemas.microsoft.com/office/drawing/2014/main" id="{6646DDAA-2B3F-105E-F64B-57441A72AD04}"/>
              </a:ext>
            </a:extLst>
          </p:cNvPr>
          <p:cNvSpPr>
            <a:spLocks noGrp="1"/>
          </p:cNvSpPr>
          <p:nvPr>
            <p:ph type="sldNum" sz="quarter" idx="12"/>
          </p:nvPr>
        </p:nvSpPr>
        <p:spPr/>
        <p:txBody>
          <a:bodyPr/>
          <a:lstStyle/>
          <a:p>
            <a:fld id="{BB44241B-2579-694C-B40C-A1E3D5F0E4EC}" type="slidenum">
              <a:rPr lang="en-JP" smtClean="0"/>
              <a:t>12</a:t>
            </a:fld>
            <a:endParaRPr lang="en-JP"/>
          </a:p>
        </p:txBody>
      </p:sp>
    </p:spTree>
    <p:extLst>
      <p:ext uri="{BB962C8B-B14F-4D97-AF65-F5344CB8AC3E}">
        <p14:creationId xmlns:p14="http://schemas.microsoft.com/office/powerpoint/2010/main" val="1690462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340E6-D23C-1704-2CA8-1FC5B62A576B}"/>
              </a:ext>
            </a:extLst>
          </p:cNvPr>
          <p:cNvSpPr>
            <a:spLocks noGrp="1"/>
          </p:cNvSpPr>
          <p:nvPr>
            <p:ph type="title"/>
          </p:nvPr>
        </p:nvSpPr>
        <p:spPr>
          <a:xfrm>
            <a:off x="838200" y="889935"/>
            <a:ext cx="10515600" cy="1325563"/>
          </a:xfrm>
        </p:spPr>
        <p:txBody>
          <a:bodyPr>
            <a:normAutofit/>
          </a:bodyPr>
          <a:lstStyle/>
          <a:p>
            <a:r>
              <a:rPr lang="ja-JP" altLang="en-US" sz="3200">
                <a:latin typeface="+mj-ea"/>
              </a:rPr>
              <a:t>目次</a:t>
            </a:r>
            <a:endParaRPr lang="en-JP" sz="3200" dirty="0"/>
          </a:p>
        </p:txBody>
      </p:sp>
      <p:sp>
        <p:nvSpPr>
          <p:cNvPr id="5" name="TextBox 4">
            <a:extLst>
              <a:ext uri="{FF2B5EF4-FFF2-40B4-BE49-F238E27FC236}">
                <a16:creationId xmlns:a16="http://schemas.microsoft.com/office/drawing/2014/main" id="{911F230A-250D-6EA6-0387-742738A70309}"/>
              </a:ext>
            </a:extLst>
          </p:cNvPr>
          <p:cNvSpPr txBox="1"/>
          <p:nvPr/>
        </p:nvSpPr>
        <p:spPr>
          <a:xfrm>
            <a:off x="685799" y="2029461"/>
            <a:ext cx="6897029" cy="3262111"/>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800"/>
              <a:t>研究背景・目的</a:t>
            </a:r>
            <a:endParaRPr lang="en-US" altLang="ja-JP" sz="2800" dirty="0"/>
          </a:p>
          <a:p>
            <a:pPr marL="635000" indent="-457200">
              <a:lnSpc>
                <a:spcPct val="150000"/>
              </a:lnSpc>
              <a:spcBef>
                <a:spcPts val="0"/>
              </a:spcBef>
              <a:buSzPts val="2800"/>
              <a:buFont typeface="Wingdings" pitchFamily="2" charset="2"/>
              <a:buChar char="§"/>
            </a:pPr>
            <a:r>
              <a:rPr lang="en-US" sz="2800" dirty="0"/>
              <a:t>CoAP</a:t>
            </a:r>
            <a:r>
              <a:rPr lang="ja-JP" altLang="en-US" sz="2800"/>
              <a:t>と</a:t>
            </a:r>
            <a:r>
              <a:rPr lang="en-US" sz="2800" dirty="0"/>
              <a:t>DTLS</a:t>
            </a:r>
            <a:r>
              <a:rPr lang="ja-JP" altLang="en-US" sz="2800"/>
              <a:t>の基礎</a:t>
            </a:r>
            <a:endParaRPr lang="mn-MN" altLang="ja-JP" sz="2800" dirty="0"/>
          </a:p>
          <a:p>
            <a:pPr marL="635000" indent="-457200">
              <a:lnSpc>
                <a:spcPct val="150000"/>
              </a:lnSpc>
              <a:spcBef>
                <a:spcPts val="0"/>
              </a:spcBef>
              <a:buSzPts val="2800"/>
              <a:buFont typeface="Wingdings" pitchFamily="2" charset="2"/>
              <a:buChar char="§"/>
            </a:pPr>
            <a:r>
              <a:rPr lang="en-US" sz="2800" b="0" i="0" dirty="0">
                <a:solidFill>
                  <a:srgbClr val="C00000"/>
                </a:solidFill>
                <a:effectLst/>
                <a:latin typeface="Roboto" panose="02000000000000000000" pitchFamily="2" charset="0"/>
              </a:rPr>
              <a:t>Enhanced DTLS</a:t>
            </a:r>
            <a:r>
              <a:rPr lang="ja-JP" altLang="en-US" sz="2800" b="0" i="0">
                <a:solidFill>
                  <a:srgbClr val="C00000"/>
                </a:solidFill>
                <a:effectLst/>
                <a:latin typeface="Roboto" panose="02000000000000000000" pitchFamily="2" charset="0"/>
              </a:rPr>
              <a:t>の特徴と提案手法</a:t>
            </a:r>
            <a:endParaRPr lang="mn-MN" altLang="ja-JP" sz="2800" b="0" i="0" dirty="0">
              <a:solidFill>
                <a:srgbClr val="C00000"/>
              </a:solidFill>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実験方法と評価</a:t>
            </a:r>
            <a:endParaRPr lang="mn-MN" altLang="ja-JP" sz="2800" dirty="0">
              <a:solidFill>
                <a:srgbClr val="252525"/>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まとめ・今後の</a:t>
            </a:r>
            <a:r>
              <a:rPr kumimoji="1" lang="ja-JP" altLang="en-US" sz="2800">
                <a:latin typeface="+mj-ea"/>
                <a:ea typeface="+mj-ea"/>
              </a:rPr>
              <a:t>課題</a:t>
            </a:r>
            <a:endParaRPr lang="en-US" altLang="ja-JP" sz="2800" dirty="0"/>
          </a:p>
        </p:txBody>
      </p:sp>
      <p:pic>
        <p:nvPicPr>
          <p:cNvPr id="8" name="Picture 7">
            <a:extLst>
              <a:ext uri="{FF2B5EF4-FFF2-40B4-BE49-F238E27FC236}">
                <a16:creationId xmlns:a16="http://schemas.microsoft.com/office/drawing/2014/main" id="{D17D89C1-6F89-B365-2870-EAD41B6FD9A2}"/>
              </a:ext>
            </a:extLst>
          </p:cNvPr>
          <p:cNvPicPr>
            <a:picLocks noChangeAspect="1"/>
          </p:cNvPicPr>
          <p:nvPr/>
        </p:nvPicPr>
        <p:blipFill>
          <a:blip r:embed="rId2"/>
          <a:stretch>
            <a:fillRect/>
          </a:stretch>
        </p:blipFill>
        <p:spPr>
          <a:xfrm>
            <a:off x="11277600" y="197155"/>
            <a:ext cx="757199" cy="692780"/>
          </a:xfrm>
          <a:prstGeom prst="rect">
            <a:avLst/>
          </a:prstGeom>
        </p:spPr>
      </p:pic>
      <p:sp>
        <p:nvSpPr>
          <p:cNvPr id="9" name="Slide Number Placeholder 8">
            <a:extLst>
              <a:ext uri="{FF2B5EF4-FFF2-40B4-BE49-F238E27FC236}">
                <a16:creationId xmlns:a16="http://schemas.microsoft.com/office/drawing/2014/main" id="{AFC772C1-21B3-31B0-79EF-81D8B4B07F5B}"/>
              </a:ext>
            </a:extLst>
          </p:cNvPr>
          <p:cNvSpPr>
            <a:spLocks noGrp="1"/>
          </p:cNvSpPr>
          <p:nvPr>
            <p:ph type="sldNum" sz="quarter" idx="12"/>
          </p:nvPr>
        </p:nvSpPr>
        <p:spPr/>
        <p:txBody>
          <a:bodyPr/>
          <a:lstStyle/>
          <a:p>
            <a:fld id="{BB44241B-2579-694C-B40C-A1E3D5F0E4EC}" type="slidenum">
              <a:rPr lang="en-JP" smtClean="0"/>
              <a:t>13</a:t>
            </a:fld>
            <a:endParaRPr lang="en-JP"/>
          </a:p>
        </p:txBody>
      </p:sp>
    </p:spTree>
    <p:extLst>
      <p:ext uri="{BB962C8B-B14F-4D97-AF65-F5344CB8AC3E}">
        <p14:creationId xmlns:p14="http://schemas.microsoft.com/office/powerpoint/2010/main" val="278668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48A600-46F0-3E76-C10A-D93126941ECD}"/>
              </a:ext>
            </a:extLst>
          </p:cNvPr>
          <p:cNvPicPr>
            <a:picLocks noChangeAspect="1"/>
          </p:cNvPicPr>
          <p:nvPr/>
        </p:nvPicPr>
        <p:blipFill>
          <a:blip r:embed="rId2"/>
          <a:stretch>
            <a:fillRect/>
          </a:stretch>
        </p:blipFill>
        <p:spPr>
          <a:xfrm>
            <a:off x="11289173" y="64399"/>
            <a:ext cx="744308" cy="794245"/>
          </a:xfrm>
          <a:prstGeom prst="rect">
            <a:avLst/>
          </a:prstGeom>
        </p:spPr>
      </p:pic>
      <p:sp>
        <p:nvSpPr>
          <p:cNvPr id="6" name="TextBox 5">
            <a:extLst>
              <a:ext uri="{FF2B5EF4-FFF2-40B4-BE49-F238E27FC236}">
                <a16:creationId xmlns:a16="http://schemas.microsoft.com/office/drawing/2014/main" id="{2B46CDF0-B972-DF2C-CEF9-A470831C07B8}"/>
              </a:ext>
            </a:extLst>
          </p:cNvPr>
          <p:cNvSpPr txBox="1"/>
          <p:nvPr/>
        </p:nvSpPr>
        <p:spPr>
          <a:xfrm>
            <a:off x="295508" y="391337"/>
            <a:ext cx="6099716" cy="467307"/>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1/</a:t>
            </a:r>
            <a:endParaRPr lang="mn-MN" altLang="ja-JP" sz="1800" b="0" i="0" dirty="0">
              <a:effectLst/>
              <a:latin typeface="+mj-ea"/>
              <a:ea typeface="+mj-ea"/>
            </a:endParaRPr>
          </a:p>
        </p:txBody>
      </p:sp>
      <p:sp>
        <p:nvSpPr>
          <p:cNvPr id="8" name="TextBox 7">
            <a:extLst>
              <a:ext uri="{FF2B5EF4-FFF2-40B4-BE49-F238E27FC236}">
                <a16:creationId xmlns:a16="http://schemas.microsoft.com/office/drawing/2014/main" id="{184B2761-E34A-48B2-DE39-3383E986A5B4}"/>
              </a:ext>
            </a:extLst>
          </p:cNvPr>
          <p:cNvSpPr txBox="1"/>
          <p:nvPr/>
        </p:nvSpPr>
        <p:spPr>
          <a:xfrm>
            <a:off x="479502" y="4765154"/>
            <a:ext cx="10917044" cy="1323439"/>
          </a:xfrm>
          <a:prstGeom prst="rect">
            <a:avLst/>
          </a:prstGeom>
          <a:noFill/>
        </p:spPr>
        <p:txBody>
          <a:bodyPr wrap="square">
            <a:spAutoFit/>
          </a:bodyPr>
          <a:lstStyle/>
          <a:p>
            <a:r>
              <a:rPr lang="en-JP" sz="2000" dirty="0">
                <a:latin typeface="Yu Mincho" panose="02020400000000000000" pitchFamily="18" charset="-128"/>
                <a:ea typeface="Yu Mincho" panose="02020400000000000000" pitchFamily="18" charset="-128"/>
              </a:rPr>
              <a:t>提案するソリューションは、CoAPプロトコル上でDTLSのためのTP（Trust Part）コンセプトを利用し、IoT環境においてサーバーへのDoSおよびDDoS攻撃を未然に防ぐことを目的としている。TPは、秘密鍵の交換、クライアントの認証、および不審なデバイスの検出・確認の役割を果たす。</a:t>
            </a:r>
          </a:p>
        </p:txBody>
      </p:sp>
      <p:pic>
        <p:nvPicPr>
          <p:cNvPr id="9" name="Picture 8">
            <a:extLst>
              <a:ext uri="{FF2B5EF4-FFF2-40B4-BE49-F238E27FC236}">
                <a16:creationId xmlns:a16="http://schemas.microsoft.com/office/drawing/2014/main" id="{795C83C8-0C89-F060-73D1-CD895FC53822}"/>
              </a:ext>
            </a:extLst>
          </p:cNvPr>
          <p:cNvPicPr>
            <a:picLocks noChangeAspect="1"/>
          </p:cNvPicPr>
          <p:nvPr/>
        </p:nvPicPr>
        <p:blipFill>
          <a:blip r:embed="rId3"/>
          <a:stretch>
            <a:fillRect/>
          </a:stretch>
        </p:blipFill>
        <p:spPr>
          <a:xfrm>
            <a:off x="570570" y="1202636"/>
            <a:ext cx="10825976" cy="3218526"/>
          </a:xfrm>
          <a:prstGeom prst="rect">
            <a:avLst/>
          </a:prstGeom>
        </p:spPr>
      </p:pic>
      <p:sp>
        <p:nvSpPr>
          <p:cNvPr id="10" name="Slide Number Placeholder 9">
            <a:extLst>
              <a:ext uri="{FF2B5EF4-FFF2-40B4-BE49-F238E27FC236}">
                <a16:creationId xmlns:a16="http://schemas.microsoft.com/office/drawing/2014/main" id="{3D097342-2B0B-6136-C71F-B0303C6D3768}"/>
              </a:ext>
            </a:extLst>
          </p:cNvPr>
          <p:cNvSpPr>
            <a:spLocks noGrp="1"/>
          </p:cNvSpPr>
          <p:nvPr>
            <p:ph type="sldNum" sz="quarter" idx="12"/>
          </p:nvPr>
        </p:nvSpPr>
        <p:spPr/>
        <p:txBody>
          <a:bodyPr/>
          <a:lstStyle/>
          <a:p>
            <a:fld id="{BB44241B-2579-694C-B40C-A1E3D5F0E4EC}" type="slidenum">
              <a:rPr lang="en-JP" smtClean="0"/>
              <a:t>14</a:t>
            </a:fld>
            <a:endParaRPr lang="en-JP"/>
          </a:p>
        </p:txBody>
      </p:sp>
    </p:spTree>
    <p:extLst>
      <p:ext uri="{BB962C8B-B14F-4D97-AF65-F5344CB8AC3E}">
        <p14:creationId xmlns:p14="http://schemas.microsoft.com/office/powerpoint/2010/main" val="4131517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C73260-9119-E8DE-2A63-8F152EAC0F9A}"/>
              </a:ext>
            </a:extLst>
          </p:cNvPr>
          <p:cNvPicPr>
            <a:picLocks noChangeAspect="1"/>
          </p:cNvPicPr>
          <p:nvPr/>
        </p:nvPicPr>
        <p:blipFill>
          <a:blip r:embed="rId2"/>
          <a:stretch>
            <a:fillRect/>
          </a:stretch>
        </p:blipFill>
        <p:spPr>
          <a:xfrm>
            <a:off x="11289173" y="64399"/>
            <a:ext cx="744308" cy="794245"/>
          </a:xfrm>
          <a:prstGeom prst="rect">
            <a:avLst/>
          </a:prstGeom>
        </p:spPr>
      </p:pic>
      <p:sp>
        <p:nvSpPr>
          <p:cNvPr id="8" name="TextBox 7">
            <a:extLst>
              <a:ext uri="{FF2B5EF4-FFF2-40B4-BE49-F238E27FC236}">
                <a16:creationId xmlns:a16="http://schemas.microsoft.com/office/drawing/2014/main" id="{318AAD76-9D9C-5974-5854-629213703869}"/>
              </a:ext>
            </a:extLst>
          </p:cNvPr>
          <p:cNvSpPr txBox="1"/>
          <p:nvPr/>
        </p:nvSpPr>
        <p:spPr>
          <a:xfrm>
            <a:off x="292334" y="625888"/>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2/</a:t>
            </a:r>
            <a:endParaRPr lang="mn-MN" altLang="ja-JP" sz="1800" b="0" i="0" dirty="0">
              <a:effectLst/>
              <a:latin typeface="+mj-ea"/>
              <a:ea typeface="+mj-ea"/>
            </a:endParaRPr>
          </a:p>
        </p:txBody>
      </p:sp>
      <p:pic>
        <p:nvPicPr>
          <p:cNvPr id="9" name="Picture 8">
            <a:extLst>
              <a:ext uri="{FF2B5EF4-FFF2-40B4-BE49-F238E27FC236}">
                <a16:creationId xmlns:a16="http://schemas.microsoft.com/office/drawing/2014/main" id="{D3A2B3F9-B8FB-1444-F593-78E60E1DEFF9}"/>
              </a:ext>
            </a:extLst>
          </p:cNvPr>
          <p:cNvPicPr>
            <a:picLocks noChangeAspect="1"/>
          </p:cNvPicPr>
          <p:nvPr/>
        </p:nvPicPr>
        <p:blipFill>
          <a:blip r:embed="rId3"/>
          <a:stretch>
            <a:fillRect/>
          </a:stretch>
        </p:blipFill>
        <p:spPr>
          <a:xfrm>
            <a:off x="292334" y="1261171"/>
            <a:ext cx="5702300" cy="4871999"/>
          </a:xfrm>
          <a:prstGeom prst="rect">
            <a:avLst/>
          </a:prstGeom>
        </p:spPr>
      </p:pic>
      <p:sp>
        <p:nvSpPr>
          <p:cNvPr id="10" name="TextBox 9">
            <a:extLst>
              <a:ext uri="{FF2B5EF4-FFF2-40B4-BE49-F238E27FC236}">
                <a16:creationId xmlns:a16="http://schemas.microsoft.com/office/drawing/2014/main" id="{DB469F7F-0B34-0700-CFA5-EA70C1F03F82}"/>
              </a:ext>
            </a:extLst>
          </p:cNvPr>
          <p:cNvSpPr txBox="1"/>
          <p:nvPr/>
        </p:nvSpPr>
        <p:spPr>
          <a:xfrm>
            <a:off x="6646128" y="1318010"/>
            <a:ext cx="4783872" cy="923330"/>
          </a:xfrm>
          <a:prstGeom prst="rect">
            <a:avLst/>
          </a:prstGeom>
          <a:noFill/>
        </p:spPr>
        <p:txBody>
          <a:bodyPr wrap="square" rtlCol="0">
            <a:spAutoFit/>
          </a:bodyPr>
          <a:lstStyle/>
          <a:p>
            <a:pPr marL="285750" indent="-285750">
              <a:buFont typeface="Arial" panose="020B0604020202020204" pitchFamily="34" charset="0"/>
              <a:buChar char="•"/>
            </a:pPr>
            <a:r>
              <a:rPr lang="ja-JP" altLang="en-US">
                <a:latin typeface="+mj-ea"/>
                <a:ea typeface="+mj-ea"/>
              </a:rPr>
              <a:t>クライアントとサーバー、あるいは</a:t>
            </a:r>
            <a:r>
              <a:rPr lang="en-US" dirty="0">
                <a:latin typeface="+mj-ea"/>
                <a:ea typeface="+mj-ea"/>
              </a:rPr>
              <a:t>TP</a:t>
            </a:r>
            <a:r>
              <a:rPr lang="ja-JP" altLang="en-US">
                <a:latin typeface="+mj-ea"/>
                <a:ea typeface="+mj-ea"/>
              </a:rPr>
              <a:t>との間で通信が始まる前に、サーバーと</a:t>
            </a:r>
            <a:r>
              <a:rPr lang="en-US" dirty="0">
                <a:latin typeface="+mj-ea"/>
                <a:ea typeface="+mj-ea"/>
              </a:rPr>
              <a:t>TP</a:t>
            </a:r>
            <a:r>
              <a:rPr lang="ja-JP" altLang="en-US">
                <a:latin typeface="+mj-ea"/>
                <a:ea typeface="+mj-ea"/>
              </a:rPr>
              <a:t>の間で</a:t>
            </a:r>
            <a:r>
              <a:rPr lang="ja-JP" altLang="en-US" b="1">
                <a:solidFill>
                  <a:srgbClr val="C00000"/>
                </a:solidFill>
                <a:latin typeface="+mj-ea"/>
                <a:ea typeface="+mj-ea"/>
              </a:rPr>
              <a:t>相互信頼</a:t>
            </a:r>
            <a:r>
              <a:rPr lang="ja-JP" altLang="en-US">
                <a:latin typeface="+mj-ea"/>
                <a:ea typeface="+mj-ea"/>
              </a:rPr>
              <a:t>を確立する必要がある</a:t>
            </a:r>
            <a:r>
              <a:rPr lang="ja-JP" altLang="en-US"/>
              <a:t>。</a:t>
            </a:r>
            <a:endParaRPr lang="en-JP" dirty="0"/>
          </a:p>
        </p:txBody>
      </p:sp>
      <p:sp>
        <p:nvSpPr>
          <p:cNvPr id="12" name="TextBox 11">
            <a:extLst>
              <a:ext uri="{FF2B5EF4-FFF2-40B4-BE49-F238E27FC236}">
                <a16:creationId xmlns:a16="http://schemas.microsoft.com/office/drawing/2014/main" id="{A46F7D50-9A81-DBF7-24AA-6ED75436063C}"/>
              </a:ext>
            </a:extLst>
          </p:cNvPr>
          <p:cNvSpPr txBox="1"/>
          <p:nvPr/>
        </p:nvSpPr>
        <p:spPr>
          <a:xfrm>
            <a:off x="6774367" y="2457101"/>
            <a:ext cx="4527395" cy="923330"/>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j-ea"/>
                <a:ea typeface="+mj-ea"/>
              </a:rPr>
              <a:t>この相互信頼は、事前共有鍵（</a:t>
            </a:r>
            <a:r>
              <a:rPr lang="en-US" dirty="0">
                <a:solidFill>
                  <a:srgbClr val="C00000"/>
                </a:solidFill>
                <a:latin typeface="+mj-ea"/>
                <a:ea typeface="+mj-ea"/>
              </a:rPr>
              <a:t>Pre-shared Secret</a:t>
            </a:r>
            <a:r>
              <a:rPr lang="ja-JP" altLang="en-US">
                <a:latin typeface="+mj-ea"/>
                <a:ea typeface="+mj-ea"/>
              </a:rPr>
              <a:t>の交換によって実現される</a:t>
            </a:r>
            <a:endParaRPr lang="en-JP" dirty="0">
              <a:latin typeface="+mj-ea"/>
              <a:ea typeface="+mj-ea"/>
            </a:endParaRPr>
          </a:p>
        </p:txBody>
      </p:sp>
      <p:sp>
        <p:nvSpPr>
          <p:cNvPr id="14" name="TextBox 13">
            <a:extLst>
              <a:ext uri="{FF2B5EF4-FFF2-40B4-BE49-F238E27FC236}">
                <a16:creationId xmlns:a16="http://schemas.microsoft.com/office/drawing/2014/main" id="{6029A50C-7C08-CA06-3A48-9A00D90B5298}"/>
              </a:ext>
            </a:extLst>
          </p:cNvPr>
          <p:cNvSpPr txBox="1"/>
          <p:nvPr/>
        </p:nvSpPr>
        <p:spPr>
          <a:xfrm>
            <a:off x="6774367" y="3464310"/>
            <a:ext cx="4655633" cy="646331"/>
          </a:xfrm>
          <a:prstGeom prst="rect">
            <a:avLst/>
          </a:prstGeom>
          <a:noFill/>
        </p:spPr>
        <p:txBody>
          <a:bodyPr wrap="square">
            <a:spAutoFit/>
          </a:bodyPr>
          <a:lstStyle/>
          <a:p>
            <a:pPr marL="285750" indent="-285750">
              <a:buFont typeface="Arial" panose="020B0604020202020204" pitchFamily="34" charset="0"/>
              <a:buChar char="•"/>
            </a:pPr>
            <a:r>
              <a:rPr lang="ja-JP" altLang="en-US"/>
              <a:t>最初のステップとして、</a:t>
            </a:r>
            <a:r>
              <a:rPr lang="en-US" dirty="0"/>
              <a:t>TP</a:t>
            </a:r>
            <a:r>
              <a:rPr lang="ja-JP" altLang="en-US"/>
              <a:t>とサーバーは共通の秘密鍵 </a:t>
            </a:r>
            <a:r>
              <a:rPr lang="en-US" b="1" dirty="0">
                <a:solidFill>
                  <a:srgbClr val="C00000"/>
                </a:solidFill>
              </a:rPr>
              <a:t>K</a:t>
            </a:r>
            <a:r>
              <a:rPr lang="en-US" dirty="0"/>
              <a:t> </a:t>
            </a:r>
            <a:r>
              <a:rPr lang="ja-JP" altLang="en-US"/>
              <a:t>に合意する。</a:t>
            </a:r>
          </a:p>
        </p:txBody>
      </p:sp>
      <p:sp>
        <p:nvSpPr>
          <p:cNvPr id="16" name="TextBox 15">
            <a:extLst>
              <a:ext uri="{FF2B5EF4-FFF2-40B4-BE49-F238E27FC236}">
                <a16:creationId xmlns:a16="http://schemas.microsoft.com/office/drawing/2014/main" id="{7F4D6541-C040-D26A-53E1-BA2924575E91}"/>
              </a:ext>
            </a:extLst>
          </p:cNvPr>
          <p:cNvSpPr txBox="1"/>
          <p:nvPr/>
        </p:nvSpPr>
        <p:spPr>
          <a:xfrm>
            <a:off x="6950000" y="4472862"/>
            <a:ext cx="4276491" cy="1200329"/>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j-ea"/>
                <a:ea typeface="+mj-ea"/>
              </a:rPr>
              <a:t>この秘密鍵 </a:t>
            </a:r>
            <a:r>
              <a:rPr lang="en-US" b="1" dirty="0">
                <a:solidFill>
                  <a:srgbClr val="C00000"/>
                </a:solidFill>
                <a:latin typeface="+mj-ea"/>
                <a:ea typeface="+mj-ea"/>
              </a:rPr>
              <a:t>K</a:t>
            </a:r>
            <a:r>
              <a:rPr lang="en-US" dirty="0">
                <a:solidFill>
                  <a:srgbClr val="C00000"/>
                </a:solidFill>
                <a:latin typeface="+mj-ea"/>
                <a:ea typeface="+mj-ea"/>
              </a:rPr>
              <a:t> </a:t>
            </a:r>
            <a:r>
              <a:rPr lang="ja-JP" altLang="en-US">
                <a:latin typeface="+mj-ea"/>
                <a:ea typeface="+mj-ea"/>
              </a:rPr>
              <a:t>は信頼確立のためだけでなく、後にクライアントを認証し、その資格情報を検証するためにも使用される。</a:t>
            </a:r>
            <a:endParaRPr lang="en-JP" dirty="0">
              <a:latin typeface="+mj-ea"/>
              <a:ea typeface="+mj-ea"/>
            </a:endParaRPr>
          </a:p>
        </p:txBody>
      </p:sp>
      <p:sp>
        <p:nvSpPr>
          <p:cNvPr id="17" name="Slide Number Placeholder 16">
            <a:extLst>
              <a:ext uri="{FF2B5EF4-FFF2-40B4-BE49-F238E27FC236}">
                <a16:creationId xmlns:a16="http://schemas.microsoft.com/office/drawing/2014/main" id="{107A24EC-4096-5EAF-24E1-2EB17F8B91F1}"/>
              </a:ext>
            </a:extLst>
          </p:cNvPr>
          <p:cNvSpPr>
            <a:spLocks noGrp="1"/>
          </p:cNvSpPr>
          <p:nvPr>
            <p:ph type="sldNum" sz="quarter" idx="12"/>
          </p:nvPr>
        </p:nvSpPr>
        <p:spPr/>
        <p:txBody>
          <a:bodyPr/>
          <a:lstStyle/>
          <a:p>
            <a:fld id="{BB44241B-2579-694C-B40C-A1E3D5F0E4EC}" type="slidenum">
              <a:rPr lang="en-JP" smtClean="0"/>
              <a:t>15</a:t>
            </a:fld>
            <a:endParaRPr lang="en-JP"/>
          </a:p>
        </p:txBody>
      </p:sp>
    </p:spTree>
    <p:extLst>
      <p:ext uri="{BB962C8B-B14F-4D97-AF65-F5344CB8AC3E}">
        <p14:creationId xmlns:p14="http://schemas.microsoft.com/office/powerpoint/2010/main" val="858665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F4C7A4-4EC9-319F-6673-7F05020CB668}"/>
              </a:ext>
            </a:extLst>
          </p:cNvPr>
          <p:cNvPicPr>
            <a:picLocks noChangeAspect="1"/>
          </p:cNvPicPr>
          <p:nvPr/>
        </p:nvPicPr>
        <p:blipFill>
          <a:blip r:embed="rId3"/>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04D73168-3721-571C-E802-D2A61A5E36EB}"/>
              </a:ext>
            </a:extLst>
          </p:cNvPr>
          <p:cNvSpPr txBox="1"/>
          <p:nvPr/>
        </p:nvSpPr>
        <p:spPr>
          <a:xfrm>
            <a:off x="259134" y="415019"/>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sz="1800" b="0" i="0" dirty="0">
                <a:effectLst/>
                <a:latin typeface="+mj-ea"/>
                <a:ea typeface="+mj-ea"/>
              </a:rPr>
              <a:t> 3</a:t>
            </a:r>
            <a:r>
              <a:rPr lang="en-US" altLang="ja-JP" dirty="0">
                <a:latin typeface="+mj-ea"/>
                <a:ea typeface="+mj-ea"/>
              </a:rPr>
              <a:t> /</a:t>
            </a:r>
            <a:endParaRPr lang="mn-MN" altLang="ja-JP" sz="1800" b="0" i="0" dirty="0">
              <a:effectLst/>
              <a:latin typeface="+mj-ea"/>
              <a:ea typeface="+mj-ea"/>
            </a:endParaRPr>
          </a:p>
        </p:txBody>
      </p:sp>
      <p:sp>
        <p:nvSpPr>
          <p:cNvPr id="8" name="TextBox 7">
            <a:extLst>
              <a:ext uri="{FF2B5EF4-FFF2-40B4-BE49-F238E27FC236}">
                <a16:creationId xmlns:a16="http://schemas.microsoft.com/office/drawing/2014/main" id="{01218390-E01A-CE2B-A62A-0B0A50A6E386}"/>
              </a:ext>
            </a:extLst>
          </p:cNvPr>
          <p:cNvSpPr txBox="1"/>
          <p:nvPr/>
        </p:nvSpPr>
        <p:spPr>
          <a:xfrm>
            <a:off x="4495056" y="883620"/>
            <a:ext cx="6099716" cy="369332"/>
          </a:xfrm>
          <a:prstGeom prst="rect">
            <a:avLst/>
          </a:prstGeom>
          <a:noFill/>
        </p:spPr>
        <p:txBody>
          <a:bodyPr wrap="square">
            <a:spAutoFit/>
          </a:bodyPr>
          <a:lstStyle/>
          <a:p>
            <a:r>
              <a:rPr lang="en-US" b="1" i="0" dirty="0">
                <a:solidFill>
                  <a:srgbClr val="404040"/>
                </a:solidFill>
                <a:effectLst/>
                <a:latin typeface="quote-cjk-patch"/>
              </a:rPr>
              <a:t>Traffic Check (Authorization Phase)</a:t>
            </a:r>
            <a:endParaRPr lang="en-JP" dirty="0"/>
          </a:p>
        </p:txBody>
      </p:sp>
      <p:pic>
        <p:nvPicPr>
          <p:cNvPr id="10" name="Picture 9">
            <a:extLst>
              <a:ext uri="{FF2B5EF4-FFF2-40B4-BE49-F238E27FC236}">
                <a16:creationId xmlns:a16="http://schemas.microsoft.com/office/drawing/2014/main" id="{46B74912-2956-B5B5-372F-703A0FA27799}"/>
              </a:ext>
            </a:extLst>
          </p:cNvPr>
          <p:cNvPicPr>
            <a:picLocks noChangeAspect="1"/>
          </p:cNvPicPr>
          <p:nvPr/>
        </p:nvPicPr>
        <p:blipFill>
          <a:blip r:embed="rId4"/>
          <a:stretch>
            <a:fillRect/>
          </a:stretch>
        </p:blipFill>
        <p:spPr>
          <a:xfrm>
            <a:off x="1493785" y="1597914"/>
            <a:ext cx="1041400" cy="812800"/>
          </a:xfrm>
          <a:prstGeom prst="rect">
            <a:avLst/>
          </a:prstGeom>
        </p:spPr>
      </p:pic>
      <p:sp>
        <p:nvSpPr>
          <p:cNvPr id="11" name="TextBox 10">
            <a:extLst>
              <a:ext uri="{FF2B5EF4-FFF2-40B4-BE49-F238E27FC236}">
                <a16:creationId xmlns:a16="http://schemas.microsoft.com/office/drawing/2014/main" id="{5DC32AF3-B6D6-FB57-4A73-C9D3B6D22905}"/>
              </a:ext>
            </a:extLst>
          </p:cNvPr>
          <p:cNvSpPr txBox="1"/>
          <p:nvPr/>
        </p:nvSpPr>
        <p:spPr>
          <a:xfrm>
            <a:off x="1474028" y="2363732"/>
            <a:ext cx="1041400" cy="369332"/>
          </a:xfrm>
          <a:prstGeom prst="rect">
            <a:avLst/>
          </a:prstGeom>
          <a:noFill/>
        </p:spPr>
        <p:txBody>
          <a:bodyPr wrap="square" rtlCol="0">
            <a:spAutoFit/>
          </a:bodyPr>
          <a:lstStyle/>
          <a:p>
            <a:r>
              <a:rPr lang="en-US" dirty="0"/>
              <a:t>C</a:t>
            </a:r>
            <a:r>
              <a:rPr lang="en-JP" dirty="0"/>
              <a:t>lient </a:t>
            </a:r>
          </a:p>
        </p:txBody>
      </p:sp>
      <p:sp>
        <p:nvSpPr>
          <p:cNvPr id="12" name="Rounded Rectangle 11">
            <a:extLst>
              <a:ext uri="{FF2B5EF4-FFF2-40B4-BE49-F238E27FC236}">
                <a16:creationId xmlns:a16="http://schemas.microsoft.com/office/drawing/2014/main" id="{9CDC4545-E5FD-18A7-A4ED-733A052FFB47}"/>
              </a:ext>
            </a:extLst>
          </p:cNvPr>
          <p:cNvSpPr/>
          <p:nvPr/>
        </p:nvSpPr>
        <p:spPr>
          <a:xfrm>
            <a:off x="5012751" y="1735598"/>
            <a:ext cx="2809550" cy="812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effectLst/>
            </a:endParaRPr>
          </a:p>
          <a:p>
            <a:pPr algn="ctr"/>
            <a:r>
              <a:rPr lang="en-US" sz="1400" dirty="0">
                <a:effectLst/>
              </a:rPr>
              <a:t>TP</a:t>
            </a:r>
          </a:p>
          <a:p>
            <a:pPr algn="ctr"/>
            <a:r>
              <a:rPr lang="en-US" sz="1400" dirty="0">
                <a:effectLst/>
                <a:latin typeface="Menlo" panose="020B0609030804020204" pitchFamily="49" charset="0"/>
              </a:rPr>
              <a:t>     IP</a:t>
            </a:r>
            <a:r>
              <a:rPr lang="ja-JP" altLang="en-US" sz="1400">
                <a:effectLst/>
                <a:latin typeface="Menlo" panose="020B0609030804020204" pitchFamily="49" charset="0"/>
              </a:rPr>
              <a:t>アドレスチェック</a:t>
            </a:r>
            <a:endParaRPr lang="ja-JP" altLang="en-US" sz="1400">
              <a:effectLst/>
            </a:endParaRPr>
          </a:p>
          <a:p>
            <a:pPr algn="ctr"/>
            <a:r>
              <a:rPr lang="en-US" sz="1400" dirty="0">
                <a:effectLst/>
                <a:latin typeface="Menlo" panose="020B0609030804020204" pitchFamily="49" charset="0"/>
              </a:rPr>
              <a:t>TP</a:t>
            </a:r>
            <a:r>
              <a:rPr lang="ja-JP" altLang="en-US" sz="1400">
                <a:effectLst/>
                <a:latin typeface="Menlo" panose="020B0609030804020204" pitchFamily="49" charset="0"/>
              </a:rPr>
              <a:t>による分析</a:t>
            </a:r>
            <a:r>
              <a:rPr lang="ja-JP" altLang="en-US" sz="1400">
                <a:effectLst/>
              </a:rPr>
              <a:t> </a:t>
            </a:r>
            <a:br>
              <a:rPr lang="ja-JP" altLang="en-US">
                <a:effectLst/>
              </a:rPr>
            </a:br>
            <a:endParaRPr lang="ja-JP" altLang="en-US">
              <a:effectLst/>
            </a:endParaRPr>
          </a:p>
        </p:txBody>
      </p:sp>
      <p:sp>
        <p:nvSpPr>
          <p:cNvPr id="13" name="Down Arrow 12">
            <a:extLst>
              <a:ext uri="{FF2B5EF4-FFF2-40B4-BE49-F238E27FC236}">
                <a16:creationId xmlns:a16="http://schemas.microsoft.com/office/drawing/2014/main" id="{1ABE562A-183A-06EE-5B15-FD550892E375}"/>
              </a:ext>
            </a:extLst>
          </p:cNvPr>
          <p:cNvSpPr/>
          <p:nvPr/>
        </p:nvSpPr>
        <p:spPr>
          <a:xfrm rot="2046892">
            <a:off x="5299241" y="2604656"/>
            <a:ext cx="66262" cy="9605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4" name="Rounded Rectangle 13">
            <a:extLst>
              <a:ext uri="{FF2B5EF4-FFF2-40B4-BE49-F238E27FC236}">
                <a16:creationId xmlns:a16="http://schemas.microsoft.com/office/drawing/2014/main" id="{2D54C5DA-08B2-E535-E34B-DCF74B41BE45}"/>
              </a:ext>
            </a:extLst>
          </p:cNvPr>
          <p:cNvSpPr/>
          <p:nvPr/>
        </p:nvSpPr>
        <p:spPr>
          <a:xfrm>
            <a:off x="3672590" y="3612208"/>
            <a:ext cx="1713501" cy="759969"/>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i="0" dirty="0">
                <a:solidFill>
                  <a:srgbClr val="404040"/>
                </a:solidFill>
                <a:effectLst/>
                <a:latin typeface="quote-cjk-patch"/>
              </a:rPr>
              <a:t>Trusted List (TL)</a:t>
            </a:r>
            <a:endParaRPr lang="en-JP" dirty="0"/>
          </a:p>
        </p:txBody>
      </p:sp>
      <p:sp>
        <p:nvSpPr>
          <p:cNvPr id="15" name="Rounded Rectangle 14">
            <a:extLst>
              <a:ext uri="{FF2B5EF4-FFF2-40B4-BE49-F238E27FC236}">
                <a16:creationId xmlns:a16="http://schemas.microsoft.com/office/drawing/2014/main" id="{A29EB590-3116-18BC-B1FE-1F8A5CF10DD3}"/>
              </a:ext>
            </a:extLst>
          </p:cNvPr>
          <p:cNvSpPr/>
          <p:nvPr/>
        </p:nvSpPr>
        <p:spPr>
          <a:xfrm>
            <a:off x="5586760" y="3656888"/>
            <a:ext cx="1661532" cy="71529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i="0" dirty="0">
                <a:solidFill>
                  <a:srgbClr val="404040"/>
                </a:solidFill>
                <a:effectLst/>
                <a:latin typeface="quote-cjk-patch"/>
              </a:rPr>
              <a:t>Suspicious List (SL)</a:t>
            </a:r>
            <a:endParaRPr lang="en-JP" dirty="0"/>
          </a:p>
        </p:txBody>
      </p:sp>
      <p:sp>
        <p:nvSpPr>
          <p:cNvPr id="16" name="Rounded Rectangle 15">
            <a:extLst>
              <a:ext uri="{FF2B5EF4-FFF2-40B4-BE49-F238E27FC236}">
                <a16:creationId xmlns:a16="http://schemas.microsoft.com/office/drawing/2014/main" id="{A56F46E6-2616-7B29-1AB6-9728D1415FEE}"/>
              </a:ext>
            </a:extLst>
          </p:cNvPr>
          <p:cNvSpPr/>
          <p:nvPr/>
        </p:nvSpPr>
        <p:spPr>
          <a:xfrm>
            <a:off x="7448961" y="3612209"/>
            <a:ext cx="1661532" cy="759969"/>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i="0" dirty="0">
                <a:solidFill>
                  <a:srgbClr val="404040"/>
                </a:solidFill>
                <a:effectLst/>
                <a:latin typeface="quote-cjk-patch"/>
              </a:rPr>
              <a:t>Blocked List (BL)</a:t>
            </a:r>
            <a:endParaRPr lang="en-JP" dirty="0"/>
          </a:p>
        </p:txBody>
      </p:sp>
      <p:sp>
        <p:nvSpPr>
          <p:cNvPr id="17" name="Rounded Rectangle 16">
            <a:extLst>
              <a:ext uri="{FF2B5EF4-FFF2-40B4-BE49-F238E27FC236}">
                <a16:creationId xmlns:a16="http://schemas.microsoft.com/office/drawing/2014/main" id="{56E5C700-1CB8-B823-0640-F6BEB1D96504}"/>
              </a:ext>
            </a:extLst>
          </p:cNvPr>
          <p:cNvSpPr/>
          <p:nvPr/>
        </p:nvSpPr>
        <p:spPr>
          <a:xfrm>
            <a:off x="10086278" y="1522452"/>
            <a:ext cx="1661532" cy="118153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00" dirty="0">
              <a:effectLst/>
            </a:endParaRPr>
          </a:p>
          <a:p>
            <a:pPr algn="ctr"/>
            <a:r>
              <a:rPr lang="en-US" sz="1400" dirty="0">
                <a:effectLst/>
              </a:rPr>
              <a:t>TP</a:t>
            </a:r>
          </a:p>
          <a:p>
            <a:r>
              <a:rPr lang="ja-JP" altLang="en-US" sz="1400"/>
              <a:t>アクション決定</a:t>
            </a:r>
            <a:r>
              <a:rPr lang="en-US" altLang="ja-JP" sz="1400" dirty="0"/>
              <a:t>(</a:t>
            </a:r>
            <a:r>
              <a:rPr lang="ja-JP" altLang="en-US" sz="1400"/>
              <a:t>リストに基づく</a:t>
            </a:r>
            <a:r>
              <a:rPr lang="en-US" altLang="ja-JP" sz="1400" dirty="0"/>
              <a:t>)</a:t>
            </a:r>
            <a:br>
              <a:rPr lang="ja-JP" altLang="en-US">
                <a:effectLst/>
              </a:rPr>
            </a:br>
            <a:endParaRPr lang="ja-JP" altLang="en-US">
              <a:effectLst/>
            </a:endParaRPr>
          </a:p>
        </p:txBody>
      </p:sp>
      <mc:AlternateContent xmlns:mc="http://schemas.openxmlformats.org/markup-compatibility/2006">
        <mc:Choice xmlns:am3d="http://schemas.microsoft.com/office/drawing/2017/model3d" Requires="am3d">
          <p:graphicFrame>
            <p:nvGraphicFramePr>
              <p:cNvPr id="22" name="3D Model 21" descr="Cloud">
                <a:extLst>
                  <a:ext uri="{FF2B5EF4-FFF2-40B4-BE49-F238E27FC236}">
                    <a16:creationId xmlns:a16="http://schemas.microsoft.com/office/drawing/2014/main" id="{F1B9AC22-EB2E-B409-82DB-5539F22ADE91}"/>
                  </a:ext>
                </a:extLst>
              </p:cNvPr>
              <p:cNvGraphicFramePr>
                <a:graphicFrameLocks noChangeAspect="1"/>
              </p:cNvGraphicFramePr>
              <p:nvPr>
                <p:extLst>
                  <p:ext uri="{D42A27DB-BD31-4B8C-83A1-F6EECF244321}">
                    <p14:modId xmlns:p14="http://schemas.microsoft.com/office/powerpoint/2010/main" val="3090397056"/>
                  </p:ext>
                </p:extLst>
              </p:nvPr>
            </p:nvGraphicFramePr>
            <p:xfrm>
              <a:off x="6605317" y="3201112"/>
              <a:ext cx="737176" cy="555406"/>
            </p:xfrm>
            <a:graphic>
              <a:graphicData uri="http://schemas.microsoft.com/office/drawing/2017/model3d">
                <am3d:model3d r:embed="rId5">
                  <am3d:spPr>
                    <a:xfrm>
                      <a:off x="0" y="0"/>
                      <a:ext cx="737176" cy="555406"/>
                    </a:xfrm>
                    <a:prstGeom prst="rect">
                      <a:avLst/>
                    </a:prstGeom>
                    <a:noFill/>
                  </am3d:spPr>
                  <am3d:camera>
                    <am3d:pos x="0" y="0" z="65930006"/>
                    <am3d:up dx="0" dy="36000000" dz="0"/>
                    <am3d:lookAt x="0" y="0" z="0"/>
                    <am3d:perspective fov="2700000"/>
                  </am3d:camera>
                  <am3d:trans>
                    <am3d:meterPerModelUnit n="6072774" d="1000000"/>
                    <am3d:preTrans dx="983301" dy="-9956585" dz="-601184"/>
                    <am3d:scale>
                      <am3d:sx n="1000000" d="1000000"/>
                      <am3d:sy n="1000000" d="1000000"/>
                      <am3d:sz n="1000000" d="1000000"/>
                    </am3d:scale>
                    <am3d:rot ax="658662" ay="129248" az="25066"/>
                    <am3d:postTrans dx="0" dy="0" dz="0"/>
                  </am3d:trans>
                  <am3d:raster rName="Office3DRenderer" rVer="16.0.8326">
                    <am3d:blip r:embed="rId6"/>
                  </am3d:raster>
                  <am3d:objViewport viewportSz="97953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3D Model 21" descr="Cloud">
                <a:extLst>
                  <a:ext uri="{FF2B5EF4-FFF2-40B4-BE49-F238E27FC236}">
                    <a16:creationId xmlns:a16="http://schemas.microsoft.com/office/drawing/2014/main" id="{F1B9AC22-EB2E-B409-82DB-5539F22ADE91}"/>
                  </a:ext>
                </a:extLst>
              </p:cNvPr>
              <p:cNvPicPr>
                <a:picLocks noGrp="1" noRot="1" noChangeAspect="1" noMove="1" noResize="1" noEditPoints="1" noAdjustHandles="1" noChangeArrowheads="1" noChangeShapeType="1" noCrop="1"/>
              </p:cNvPicPr>
              <p:nvPr/>
            </p:nvPicPr>
            <p:blipFill>
              <a:blip r:embed="rId6"/>
              <a:stretch>
                <a:fillRect/>
              </a:stretch>
            </p:blipFill>
            <p:spPr>
              <a:xfrm>
                <a:off x="6605317" y="3201112"/>
                <a:ext cx="737176" cy="555406"/>
              </a:xfrm>
              <a:prstGeom prst="rect">
                <a:avLst/>
              </a:prstGeom>
              <a:noFill/>
            </p:spPr>
          </p:pic>
        </mc:Fallback>
      </mc:AlternateContent>
      <mc:AlternateContent xmlns:mc="http://schemas.openxmlformats.org/markup-compatibility/2006">
        <mc:Choice xmlns:am3d="http://schemas.microsoft.com/office/drawing/2017/model3d" Requires="am3d">
          <p:graphicFrame>
            <p:nvGraphicFramePr>
              <p:cNvPr id="24" name="3D Model 23" descr="Lightning Cloud">
                <a:extLst>
                  <a:ext uri="{FF2B5EF4-FFF2-40B4-BE49-F238E27FC236}">
                    <a16:creationId xmlns:a16="http://schemas.microsoft.com/office/drawing/2014/main" id="{03170214-5A20-CE08-4232-96F5EB7E5DC1}"/>
                  </a:ext>
                </a:extLst>
              </p:cNvPr>
              <p:cNvGraphicFramePr>
                <a:graphicFrameLocks noChangeAspect="1"/>
              </p:cNvGraphicFramePr>
              <p:nvPr>
                <p:extLst>
                  <p:ext uri="{D42A27DB-BD31-4B8C-83A1-F6EECF244321}">
                    <p14:modId xmlns:p14="http://schemas.microsoft.com/office/powerpoint/2010/main" val="3217823451"/>
                  </p:ext>
                </p:extLst>
              </p:nvPr>
            </p:nvGraphicFramePr>
            <p:xfrm>
              <a:off x="8740480" y="3478815"/>
              <a:ext cx="672640" cy="662522"/>
            </p:xfrm>
            <a:graphic>
              <a:graphicData uri="http://schemas.microsoft.com/office/drawing/2017/model3d">
                <am3d:model3d r:embed="rId7">
                  <am3d:spPr>
                    <a:xfrm>
                      <a:off x="0" y="0"/>
                      <a:ext cx="672640" cy="662522"/>
                    </a:xfrm>
                    <a:prstGeom prst="rect">
                      <a:avLst/>
                    </a:prstGeom>
                  </am3d:spPr>
                  <am3d:camera>
                    <am3d:pos x="0" y="0" z="67377523"/>
                    <am3d:up dx="0" dy="36000000" dz="0"/>
                    <am3d:lookAt x="0" y="0" z="0"/>
                    <am3d:perspective fov="2700000"/>
                  </am3d:camera>
                  <am3d:trans>
                    <am3d:meterPerModelUnit n="18409266" d="1000000"/>
                    <am3d:preTrans dx="0" dy="-18075376" dz="0"/>
                    <am3d:scale>
                      <am3d:sx n="1000000" d="1000000"/>
                      <am3d:sy n="1000000" d="1000000"/>
                      <am3d:sz n="1000000" d="1000000"/>
                    </am3d:scale>
                    <am3d:rot ax="300278" ay="-149432" az="-13089"/>
                    <am3d:postTrans dx="0" dy="0" dz="0"/>
                  </am3d:trans>
                  <am3d:raster rName="Office3DRenderer" rVer="16.0.8326">
                    <am3d:blip r:embed="rId8"/>
                  </am3d:raster>
                  <am3d:objViewport viewportSz="95361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3D Model 23" descr="Lightning Cloud">
                <a:extLst>
                  <a:ext uri="{FF2B5EF4-FFF2-40B4-BE49-F238E27FC236}">
                    <a16:creationId xmlns:a16="http://schemas.microsoft.com/office/drawing/2014/main" id="{03170214-5A20-CE08-4232-96F5EB7E5DC1}"/>
                  </a:ext>
                </a:extLst>
              </p:cNvPr>
              <p:cNvPicPr>
                <a:picLocks noGrp="1" noRot="1" noChangeAspect="1" noMove="1" noResize="1" noEditPoints="1" noAdjustHandles="1" noChangeArrowheads="1" noChangeShapeType="1" noCrop="1"/>
              </p:cNvPicPr>
              <p:nvPr/>
            </p:nvPicPr>
            <p:blipFill>
              <a:blip r:embed="rId8"/>
              <a:stretch>
                <a:fillRect/>
              </a:stretch>
            </p:blipFill>
            <p:spPr>
              <a:xfrm>
                <a:off x="8740480" y="3478815"/>
                <a:ext cx="672640" cy="66252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25" name="3D Model 24" descr="Cloud">
                <a:extLst>
                  <a:ext uri="{FF2B5EF4-FFF2-40B4-BE49-F238E27FC236}">
                    <a16:creationId xmlns:a16="http://schemas.microsoft.com/office/drawing/2014/main" id="{37208956-A3F3-E5A3-A8DD-BCFE27590798}"/>
                  </a:ext>
                </a:extLst>
              </p:cNvPr>
              <p:cNvGraphicFramePr/>
              <p:nvPr>
                <p:extLst>
                  <p:ext uri="{D42A27DB-BD31-4B8C-83A1-F6EECF244321}">
                    <p14:modId xmlns:p14="http://schemas.microsoft.com/office/powerpoint/2010/main" val="2654214333"/>
                  </p:ext>
                </p:extLst>
              </p:nvPr>
            </p:nvGraphicFramePr>
            <p:xfrm>
              <a:off x="4761413" y="3159517"/>
              <a:ext cx="737176" cy="812800"/>
            </p:xfrm>
            <a:graphic>
              <a:graphicData uri="http://schemas.microsoft.com/office/drawing/2017/model3d">
                <am3d:model3d r:embed="rId9">
                  <am3d:spPr>
                    <a:xfrm>
                      <a:off x="0" y="0"/>
                      <a:ext cx="737176" cy="812800"/>
                    </a:xfrm>
                    <a:prstGeom prst="rect">
                      <a:avLst/>
                    </a:prstGeom>
                  </am3d:spPr>
                  <am3d:camera>
                    <am3d:pos x="0" y="0" z="62240239"/>
                    <am3d:up dx="0" dy="36000000" dz="0"/>
                    <am3d:lookAt x="0" y="0" z="0"/>
                    <am3d:perspective fov="2700000"/>
                  </am3d:camera>
                  <am3d:trans>
                    <am3d:meterPerModelUnit n="12422867" d="1000000"/>
                    <am3d:preTrans dx="290649" dy="-11077296" dz="-120526"/>
                    <am3d:scale>
                      <am3d:sx n="1000000" d="1000000"/>
                      <am3d:sy n="1000000" d="1000000"/>
                      <am3d:sz n="1000000" d="1000000"/>
                    </am3d:scale>
                    <am3d:rot/>
                    <am3d:postTrans dx="0" dy="0" dz="0"/>
                  </am3d:trans>
                  <am3d:raster rName="Office3DRenderer" rVer="16.0.8326">
                    <am3d:blip r:embed="rId10"/>
                  </am3d:raster>
                  <am3d:objViewport viewportSz="100222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 name="3D Model 24" descr="Cloud">
                <a:extLst>
                  <a:ext uri="{FF2B5EF4-FFF2-40B4-BE49-F238E27FC236}">
                    <a16:creationId xmlns:a16="http://schemas.microsoft.com/office/drawing/2014/main" id="{37208956-A3F3-E5A3-A8DD-BCFE27590798}"/>
                  </a:ext>
                </a:extLst>
              </p:cNvPr>
              <p:cNvPicPr>
                <a:picLocks noGrp="1" noRot="1" noChangeAspect="1" noMove="1" noResize="1" noEditPoints="1" noAdjustHandles="1" noChangeArrowheads="1" noChangeShapeType="1" noCrop="1"/>
              </p:cNvPicPr>
              <p:nvPr/>
            </p:nvPicPr>
            <p:blipFill>
              <a:blip r:embed="rId10"/>
              <a:stretch>
                <a:fillRect/>
              </a:stretch>
            </p:blipFill>
            <p:spPr>
              <a:xfrm>
                <a:off x="4761413" y="3159517"/>
                <a:ext cx="737176" cy="812800"/>
              </a:xfrm>
              <a:prstGeom prst="rect">
                <a:avLst/>
              </a:prstGeom>
            </p:spPr>
          </p:pic>
        </mc:Fallback>
      </mc:AlternateContent>
      <p:sp>
        <p:nvSpPr>
          <p:cNvPr id="28" name="Down Arrow 27">
            <a:extLst>
              <a:ext uri="{FF2B5EF4-FFF2-40B4-BE49-F238E27FC236}">
                <a16:creationId xmlns:a16="http://schemas.microsoft.com/office/drawing/2014/main" id="{682723C2-4AE4-6867-2069-B28BF0549A17}"/>
              </a:ext>
            </a:extLst>
          </p:cNvPr>
          <p:cNvSpPr/>
          <p:nvPr/>
        </p:nvSpPr>
        <p:spPr>
          <a:xfrm>
            <a:off x="6311056" y="2705814"/>
            <a:ext cx="106470" cy="8324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9" name="Down Arrow 28">
            <a:extLst>
              <a:ext uri="{FF2B5EF4-FFF2-40B4-BE49-F238E27FC236}">
                <a16:creationId xmlns:a16="http://schemas.microsoft.com/office/drawing/2014/main" id="{138F1696-5D4F-08A3-57AE-355A273E54E8}"/>
              </a:ext>
            </a:extLst>
          </p:cNvPr>
          <p:cNvSpPr/>
          <p:nvPr/>
        </p:nvSpPr>
        <p:spPr>
          <a:xfrm rot="18643095">
            <a:off x="7622728" y="2562128"/>
            <a:ext cx="66262" cy="9605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3" name="Rounded Rectangle 32">
            <a:extLst>
              <a:ext uri="{FF2B5EF4-FFF2-40B4-BE49-F238E27FC236}">
                <a16:creationId xmlns:a16="http://schemas.microsoft.com/office/drawing/2014/main" id="{8832FF66-249D-DA28-9532-6C16948CC196}"/>
              </a:ext>
            </a:extLst>
          </p:cNvPr>
          <p:cNvSpPr/>
          <p:nvPr/>
        </p:nvSpPr>
        <p:spPr>
          <a:xfrm>
            <a:off x="9858792" y="3042402"/>
            <a:ext cx="2061862" cy="71411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b="1" i="0" dirty="0">
                <a:solidFill>
                  <a:srgbClr val="404040"/>
                </a:solidFill>
                <a:effectLst/>
                <a:latin typeface="quote-cjk-patch"/>
              </a:rPr>
              <a:t>TL</a:t>
            </a:r>
            <a:r>
              <a:rPr lang="en-US" sz="1400" b="1" dirty="0">
                <a:solidFill>
                  <a:srgbClr val="404040"/>
                </a:solidFill>
                <a:latin typeface="quote-cjk-patch"/>
              </a:rPr>
              <a:t> </a:t>
            </a:r>
            <a:r>
              <a:rPr lang="ja-JP" altLang="en-US" sz="1400" b="1" i="0">
                <a:solidFill>
                  <a:srgbClr val="404040"/>
                </a:solidFill>
                <a:effectLst/>
                <a:latin typeface="quote-cjk-patch"/>
              </a:rPr>
              <a:t>判定</a:t>
            </a:r>
            <a:r>
              <a:rPr lang="ja-JP" altLang="en-US" sz="1400" b="0" i="0">
                <a:solidFill>
                  <a:srgbClr val="404040"/>
                </a:solidFill>
                <a:effectLst/>
                <a:latin typeface="quote-cjk-patch"/>
              </a:rPr>
              <a:t>：通信を許可し、サーバーへの接続を確立。</a:t>
            </a:r>
            <a:endParaRPr lang="en-JP" sz="1400" dirty="0"/>
          </a:p>
        </p:txBody>
      </p:sp>
      <p:sp>
        <p:nvSpPr>
          <p:cNvPr id="34" name="Rounded Rectangle 33">
            <a:extLst>
              <a:ext uri="{FF2B5EF4-FFF2-40B4-BE49-F238E27FC236}">
                <a16:creationId xmlns:a16="http://schemas.microsoft.com/office/drawing/2014/main" id="{8FE2532E-76A5-5C5F-B38C-0B5C9C2B878A}"/>
              </a:ext>
            </a:extLst>
          </p:cNvPr>
          <p:cNvSpPr/>
          <p:nvPr/>
        </p:nvSpPr>
        <p:spPr>
          <a:xfrm>
            <a:off x="9928724" y="4141336"/>
            <a:ext cx="2007220" cy="75996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b="1" i="0" dirty="0">
                <a:solidFill>
                  <a:srgbClr val="404040"/>
                </a:solidFill>
                <a:effectLst/>
                <a:latin typeface="quote-cjk-patch"/>
              </a:rPr>
              <a:t>SL</a:t>
            </a:r>
            <a:r>
              <a:rPr lang="ja-JP" altLang="en-US" sz="1400" b="1" i="0">
                <a:solidFill>
                  <a:srgbClr val="404040"/>
                </a:solidFill>
                <a:effectLst/>
                <a:latin typeface="quote-cjk-patch"/>
              </a:rPr>
              <a:t>判定</a:t>
            </a:r>
            <a:r>
              <a:rPr lang="en-US" altLang="ja-JP" sz="1400" b="1" i="0" dirty="0">
                <a:solidFill>
                  <a:srgbClr val="404040"/>
                </a:solidFill>
                <a:effectLst/>
                <a:latin typeface="quote-cjk-patch"/>
              </a:rPr>
              <a:t>: </a:t>
            </a:r>
            <a:r>
              <a:rPr lang="ja-JP" altLang="en-US" sz="1400" b="0" i="0">
                <a:solidFill>
                  <a:srgbClr val="404040"/>
                </a:solidFill>
                <a:effectLst/>
                <a:latin typeface="quote-cjk-patch"/>
              </a:rPr>
              <a:t>追加の認証</a:t>
            </a:r>
            <a:endParaRPr lang="en-JP" sz="1400" dirty="0"/>
          </a:p>
        </p:txBody>
      </p:sp>
      <p:sp>
        <p:nvSpPr>
          <p:cNvPr id="35" name="Rounded Rectangle 34">
            <a:extLst>
              <a:ext uri="{FF2B5EF4-FFF2-40B4-BE49-F238E27FC236}">
                <a16:creationId xmlns:a16="http://schemas.microsoft.com/office/drawing/2014/main" id="{3A82326C-8DD8-B53E-80A3-584ACF9487B2}"/>
              </a:ext>
            </a:extLst>
          </p:cNvPr>
          <p:cNvSpPr/>
          <p:nvPr/>
        </p:nvSpPr>
        <p:spPr>
          <a:xfrm>
            <a:off x="9928724" y="5335547"/>
            <a:ext cx="2007220" cy="65113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i="0" dirty="0">
                <a:solidFill>
                  <a:srgbClr val="404040"/>
                </a:solidFill>
                <a:effectLst/>
                <a:latin typeface="quote-cjk-patch"/>
              </a:rPr>
              <a:t>BL</a:t>
            </a:r>
            <a:r>
              <a:rPr lang="ja-JP" altLang="en-US" sz="1400" b="1" i="0">
                <a:solidFill>
                  <a:srgbClr val="404040"/>
                </a:solidFill>
                <a:effectLst/>
                <a:latin typeface="quote-cjk-patch"/>
              </a:rPr>
              <a:t>判定</a:t>
            </a:r>
            <a:r>
              <a:rPr lang="ja-JP" altLang="en-US" sz="1400" b="0" i="0">
                <a:solidFill>
                  <a:srgbClr val="404040"/>
                </a:solidFill>
                <a:effectLst/>
                <a:latin typeface="quote-cjk-patch"/>
              </a:rPr>
              <a:t>：ログを記録し、接続を拒否</a:t>
            </a:r>
            <a:endParaRPr lang="en-JP" sz="1400" b="1" dirty="0"/>
          </a:p>
        </p:txBody>
      </p:sp>
      <p:sp>
        <p:nvSpPr>
          <p:cNvPr id="39" name="Right Arrow 38">
            <a:extLst>
              <a:ext uri="{FF2B5EF4-FFF2-40B4-BE49-F238E27FC236}">
                <a16:creationId xmlns:a16="http://schemas.microsoft.com/office/drawing/2014/main" id="{70F9ADFD-A551-A49F-408B-E0A63F29C675}"/>
              </a:ext>
            </a:extLst>
          </p:cNvPr>
          <p:cNvSpPr/>
          <p:nvPr/>
        </p:nvSpPr>
        <p:spPr>
          <a:xfrm>
            <a:off x="3094463" y="2019300"/>
            <a:ext cx="994937" cy="165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0" name="Right Arrow 39">
            <a:extLst>
              <a:ext uri="{FF2B5EF4-FFF2-40B4-BE49-F238E27FC236}">
                <a16:creationId xmlns:a16="http://schemas.microsoft.com/office/drawing/2014/main" id="{4DFA009C-BBA1-0AE2-8447-EED4B1DC9B45}"/>
              </a:ext>
            </a:extLst>
          </p:cNvPr>
          <p:cNvSpPr/>
          <p:nvPr/>
        </p:nvSpPr>
        <p:spPr>
          <a:xfrm>
            <a:off x="8589535" y="2091198"/>
            <a:ext cx="994937" cy="1651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1" name="Down Arrow 40">
            <a:extLst>
              <a:ext uri="{FF2B5EF4-FFF2-40B4-BE49-F238E27FC236}">
                <a16:creationId xmlns:a16="http://schemas.microsoft.com/office/drawing/2014/main" id="{BCA68C23-38F4-172B-1AF5-BBF13E138A1E}"/>
              </a:ext>
            </a:extLst>
          </p:cNvPr>
          <p:cNvSpPr/>
          <p:nvPr/>
        </p:nvSpPr>
        <p:spPr>
          <a:xfrm>
            <a:off x="10914676" y="3756517"/>
            <a:ext cx="197824" cy="384820"/>
          </a:xfrm>
          <a:prstGeom prst="downArrow">
            <a:avLst>
              <a:gd name="adj1" fmla="val 50000"/>
              <a:gd name="adj2" fmla="val 468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2" name="Down Arrow 41">
            <a:extLst>
              <a:ext uri="{FF2B5EF4-FFF2-40B4-BE49-F238E27FC236}">
                <a16:creationId xmlns:a16="http://schemas.microsoft.com/office/drawing/2014/main" id="{F6DBF7E4-CF58-F768-E772-52C547ECF688}"/>
              </a:ext>
            </a:extLst>
          </p:cNvPr>
          <p:cNvSpPr/>
          <p:nvPr/>
        </p:nvSpPr>
        <p:spPr>
          <a:xfrm>
            <a:off x="10851623" y="2678739"/>
            <a:ext cx="197824" cy="384820"/>
          </a:xfrm>
          <a:prstGeom prst="downArrow">
            <a:avLst>
              <a:gd name="adj1" fmla="val 50000"/>
              <a:gd name="adj2" fmla="val 468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4" name="Down Arrow 43">
            <a:extLst>
              <a:ext uri="{FF2B5EF4-FFF2-40B4-BE49-F238E27FC236}">
                <a16:creationId xmlns:a16="http://schemas.microsoft.com/office/drawing/2014/main" id="{F00EF467-3706-717E-11EA-94CC0EC4D182}"/>
              </a:ext>
            </a:extLst>
          </p:cNvPr>
          <p:cNvSpPr/>
          <p:nvPr/>
        </p:nvSpPr>
        <p:spPr>
          <a:xfrm>
            <a:off x="10937388" y="4936891"/>
            <a:ext cx="197824" cy="384820"/>
          </a:xfrm>
          <a:prstGeom prst="downArrow">
            <a:avLst>
              <a:gd name="adj1" fmla="val 50000"/>
              <a:gd name="adj2" fmla="val 4687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6" name="TextBox 45">
            <a:extLst>
              <a:ext uri="{FF2B5EF4-FFF2-40B4-BE49-F238E27FC236}">
                <a16:creationId xmlns:a16="http://schemas.microsoft.com/office/drawing/2014/main" id="{CFE6D13C-B433-C3B2-FC3E-6FEA40D91752}"/>
              </a:ext>
            </a:extLst>
          </p:cNvPr>
          <p:cNvSpPr txBox="1"/>
          <p:nvPr/>
        </p:nvSpPr>
        <p:spPr>
          <a:xfrm>
            <a:off x="338573" y="3122023"/>
            <a:ext cx="3142889" cy="1815882"/>
          </a:xfrm>
          <a:prstGeom prst="rect">
            <a:avLst/>
          </a:prstGeom>
          <a:noFill/>
        </p:spPr>
        <p:txBody>
          <a:bodyPr wrap="square">
            <a:spAutoFit/>
          </a:bodyPr>
          <a:lstStyle/>
          <a:p>
            <a:r>
              <a:rPr lang="ja-JP" altLang="en-US" sz="1400" b="1" i="0">
                <a:solidFill>
                  <a:srgbClr val="404040"/>
                </a:solidFill>
                <a:effectLst/>
                <a:latin typeface="quote-cjk-patch"/>
              </a:rPr>
              <a:t>クライアント</a:t>
            </a:r>
            <a:r>
              <a:rPr lang="en-US" sz="1400" b="1" i="0" dirty="0">
                <a:solidFill>
                  <a:srgbClr val="404040"/>
                </a:solidFill>
                <a:effectLst/>
                <a:latin typeface="quote-cjk-patch"/>
              </a:rPr>
              <a:t>A</a:t>
            </a:r>
            <a:r>
              <a:rPr lang="en-US" sz="1400" b="0" i="0" dirty="0">
                <a:solidFill>
                  <a:srgbClr val="404040"/>
                </a:solidFill>
                <a:effectLst/>
                <a:latin typeface="quote-cjk-patch"/>
              </a:rPr>
              <a:t>（IP: </a:t>
            </a:r>
            <a:r>
              <a:rPr lang="en-US" sz="1400" dirty="0"/>
              <a:t>192.168.1.10</a:t>
            </a:r>
            <a:r>
              <a:rPr lang="en-US" sz="1400" b="0" i="0" dirty="0">
                <a:solidFill>
                  <a:srgbClr val="404040"/>
                </a:solidFill>
                <a:effectLst/>
                <a:latin typeface="quote-cjk-patch"/>
              </a:rPr>
              <a:t>）</a:t>
            </a:r>
            <a:r>
              <a:rPr lang="ja-JP" altLang="en-US" sz="1400" b="0" i="0">
                <a:solidFill>
                  <a:srgbClr val="404040"/>
                </a:solidFill>
                <a:effectLst/>
                <a:latin typeface="quote-cjk-patch"/>
              </a:rPr>
              <a:t>が</a:t>
            </a:r>
            <a:r>
              <a:rPr lang="en-US" sz="1400" b="0" i="0" dirty="0">
                <a:solidFill>
                  <a:srgbClr val="404040"/>
                </a:solidFill>
                <a:effectLst/>
                <a:latin typeface="quote-cjk-patch"/>
              </a:rPr>
              <a:t>AuthREQ</a:t>
            </a:r>
            <a:r>
              <a:rPr lang="ja-JP" altLang="en-US" sz="1400" b="0" i="0">
                <a:solidFill>
                  <a:srgbClr val="404040"/>
                </a:solidFill>
                <a:effectLst/>
                <a:latin typeface="quote-cjk-patch"/>
              </a:rPr>
              <a:t>を送信</a:t>
            </a:r>
            <a:endParaRPr lang="en-JP" sz="1400" dirty="0"/>
          </a:p>
          <a:p>
            <a:endParaRPr lang="en-JP" sz="1400" dirty="0"/>
          </a:p>
          <a:p>
            <a:r>
              <a:rPr lang="ja-JP" altLang="en-US" sz="1400" b="1" i="0">
                <a:solidFill>
                  <a:srgbClr val="404040"/>
                </a:solidFill>
                <a:effectLst/>
                <a:latin typeface="quote-cjk-patch"/>
              </a:rPr>
              <a:t>クライアント</a:t>
            </a:r>
            <a:r>
              <a:rPr lang="en-US" sz="1400" b="1" i="0" dirty="0">
                <a:solidFill>
                  <a:srgbClr val="404040"/>
                </a:solidFill>
                <a:effectLst/>
                <a:latin typeface="quote-cjk-patch"/>
              </a:rPr>
              <a:t>B</a:t>
            </a:r>
            <a:r>
              <a:rPr lang="en-US" sz="1400" b="0" i="0" dirty="0">
                <a:solidFill>
                  <a:srgbClr val="404040"/>
                </a:solidFill>
                <a:effectLst/>
                <a:latin typeface="quote-cjk-patch"/>
              </a:rPr>
              <a:t>（IP: </a:t>
            </a:r>
            <a:r>
              <a:rPr lang="en-US" sz="1400" dirty="0"/>
              <a:t>10.0.0.5</a:t>
            </a:r>
            <a:r>
              <a:rPr lang="en-US" sz="1400" b="0" i="0" dirty="0">
                <a:solidFill>
                  <a:srgbClr val="404040"/>
                </a:solidFill>
                <a:effectLst/>
                <a:latin typeface="quote-cjk-patch"/>
              </a:rPr>
              <a:t>）</a:t>
            </a:r>
            <a:r>
              <a:rPr lang="ja-JP" altLang="en-US" sz="1400" b="0" i="0">
                <a:solidFill>
                  <a:srgbClr val="404040"/>
                </a:solidFill>
                <a:effectLst/>
                <a:latin typeface="quote-cjk-patch"/>
              </a:rPr>
              <a:t>が</a:t>
            </a:r>
            <a:r>
              <a:rPr lang="en-US" sz="1400" b="0" i="0" dirty="0">
                <a:solidFill>
                  <a:srgbClr val="404040"/>
                </a:solidFill>
                <a:effectLst/>
                <a:latin typeface="quote-cjk-patch"/>
              </a:rPr>
              <a:t>AuthREQ</a:t>
            </a:r>
            <a:r>
              <a:rPr lang="ja-JP" altLang="en-US" sz="1400" b="0" i="0">
                <a:solidFill>
                  <a:srgbClr val="404040"/>
                </a:solidFill>
                <a:effectLst/>
                <a:latin typeface="quote-cjk-patch"/>
              </a:rPr>
              <a:t>を送信。</a:t>
            </a:r>
            <a:endParaRPr lang="en-JP" altLang="ja-JP" sz="1400" b="0" i="0" dirty="0">
              <a:solidFill>
                <a:srgbClr val="404040"/>
              </a:solidFill>
              <a:effectLst/>
              <a:latin typeface="quote-cjk-patch"/>
            </a:endParaRPr>
          </a:p>
          <a:p>
            <a:endParaRPr lang="en-JP" sz="1400" dirty="0">
              <a:solidFill>
                <a:srgbClr val="404040"/>
              </a:solidFill>
              <a:latin typeface="quote-cjk-patch"/>
            </a:endParaRPr>
          </a:p>
          <a:p>
            <a:r>
              <a:rPr lang="ja-JP" altLang="en-US" sz="1400" b="1" i="0">
                <a:solidFill>
                  <a:srgbClr val="404040"/>
                </a:solidFill>
                <a:effectLst/>
                <a:latin typeface="quote-cjk-patch"/>
              </a:rPr>
              <a:t>クライアント</a:t>
            </a:r>
            <a:r>
              <a:rPr lang="en-US" sz="1400" b="1" i="0" dirty="0">
                <a:solidFill>
                  <a:srgbClr val="404040"/>
                </a:solidFill>
                <a:effectLst/>
                <a:latin typeface="quote-cjk-patch"/>
              </a:rPr>
              <a:t>C</a:t>
            </a:r>
            <a:r>
              <a:rPr lang="en-US" sz="1400" b="0" i="0" dirty="0">
                <a:solidFill>
                  <a:srgbClr val="404040"/>
                </a:solidFill>
                <a:effectLst/>
                <a:latin typeface="quote-cjk-patch"/>
              </a:rPr>
              <a:t>（IP: </a:t>
            </a:r>
            <a:r>
              <a:rPr lang="en-US" sz="1400" dirty="0"/>
              <a:t>172.16.0.3</a:t>
            </a:r>
            <a:r>
              <a:rPr lang="en-US" sz="1400" b="0" i="0" dirty="0">
                <a:solidFill>
                  <a:srgbClr val="404040"/>
                </a:solidFill>
                <a:effectLst/>
                <a:latin typeface="quote-cjk-patch"/>
              </a:rPr>
              <a:t>）</a:t>
            </a:r>
            <a:r>
              <a:rPr lang="ja-JP" altLang="en-US" sz="1400" b="0" i="0">
                <a:solidFill>
                  <a:srgbClr val="404040"/>
                </a:solidFill>
                <a:effectLst/>
                <a:latin typeface="quote-cjk-patch"/>
              </a:rPr>
              <a:t>が</a:t>
            </a:r>
            <a:r>
              <a:rPr lang="en-US" sz="1400" b="0" i="0" dirty="0">
                <a:solidFill>
                  <a:srgbClr val="404040"/>
                </a:solidFill>
                <a:effectLst/>
                <a:latin typeface="quote-cjk-patch"/>
              </a:rPr>
              <a:t>AuthREQ</a:t>
            </a:r>
            <a:r>
              <a:rPr lang="ja-JP" altLang="en-US" sz="1400" b="0" i="0">
                <a:solidFill>
                  <a:srgbClr val="404040"/>
                </a:solidFill>
                <a:effectLst/>
                <a:latin typeface="quote-cjk-patch"/>
              </a:rPr>
              <a:t>を送信。</a:t>
            </a:r>
            <a:endParaRPr lang="en-JP" sz="1400" dirty="0"/>
          </a:p>
        </p:txBody>
      </p:sp>
      <p:sp>
        <p:nvSpPr>
          <p:cNvPr id="48" name="TextBox 47">
            <a:extLst>
              <a:ext uri="{FF2B5EF4-FFF2-40B4-BE49-F238E27FC236}">
                <a16:creationId xmlns:a16="http://schemas.microsoft.com/office/drawing/2014/main" id="{DF6DDD74-A4D7-19BE-EA0E-FBE83B5899C1}"/>
              </a:ext>
            </a:extLst>
          </p:cNvPr>
          <p:cNvSpPr txBox="1"/>
          <p:nvPr/>
        </p:nvSpPr>
        <p:spPr>
          <a:xfrm>
            <a:off x="3672591" y="4661323"/>
            <a:ext cx="1732786" cy="738664"/>
          </a:xfrm>
          <a:prstGeom prst="rect">
            <a:avLst/>
          </a:prstGeom>
          <a:noFill/>
        </p:spPr>
        <p:txBody>
          <a:bodyPr wrap="square">
            <a:spAutoFit/>
          </a:bodyPr>
          <a:lstStyle/>
          <a:p>
            <a:pPr algn="l"/>
            <a:r>
              <a:rPr lang="en-US" sz="1400" b="0" i="0" dirty="0">
                <a:solidFill>
                  <a:srgbClr val="404040"/>
                </a:solidFill>
                <a:effectLst/>
                <a:latin typeface="+mj-ea"/>
                <a:ea typeface="+mj-ea"/>
              </a:rPr>
              <a:t>TP</a:t>
            </a:r>
            <a:r>
              <a:rPr lang="ja-JP" altLang="en-US" sz="1400" b="0" i="0">
                <a:solidFill>
                  <a:srgbClr val="404040"/>
                </a:solidFill>
                <a:effectLst/>
                <a:latin typeface="+mj-ea"/>
                <a:ea typeface="+mj-ea"/>
              </a:rPr>
              <a:t>が</a:t>
            </a:r>
            <a:r>
              <a:rPr lang="en-US" sz="1400" b="0" i="0" dirty="0">
                <a:solidFill>
                  <a:srgbClr val="404040"/>
                </a:solidFill>
                <a:effectLst/>
                <a:latin typeface="+mj-ea"/>
                <a:ea typeface="+mj-ea"/>
              </a:rPr>
              <a:t>IP</a:t>
            </a:r>
            <a:r>
              <a:rPr lang="ja-JP" altLang="en-US" sz="1400" b="0" i="0">
                <a:solidFill>
                  <a:srgbClr val="404040"/>
                </a:solidFill>
                <a:effectLst/>
                <a:latin typeface="+mj-ea"/>
                <a:ea typeface="+mj-ea"/>
              </a:rPr>
              <a:t>をチェック → </a:t>
            </a:r>
            <a:r>
              <a:rPr lang="en-US" sz="1400" b="1" i="0" dirty="0">
                <a:solidFill>
                  <a:srgbClr val="404040"/>
                </a:solidFill>
                <a:effectLst/>
                <a:latin typeface="+mj-ea"/>
                <a:ea typeface="+mj-ea"/>
              </a:rPr>
              <a:t>Trusted List</a:t>
            </a:r>
            <a:r>
              <a:rPr lang="ja-JP" altLang="en-US" sz="1400" b="1" i="0">
                <a:solidFill>
                  <a:srgbClr val="404040"/>
                </a:solidFill>
                <a:effectLst/>
                <a:latin typeface="+mj-ea"/>
                <a:ea typeface="+mj-ea"/>
              </a:rPr>
              <a:t>に存在</a:t>
            </a:r>
            <a:r>
              <a:rPr lang="ja-JP" altLang="en-US" sz="1400" b="0" i="0">
                <a:solidFill>
                  <a:srgbClr val="404040"/>
                </a:solidFill>
                <a:effectLst/>
                <a:latin typeface="+mj-ea"/>
                <a:ea typeface="+mj-ea"/>
              </a:rPr>
              <a:t> → 接続許可</a:t>
            </a:r>
            <a:endParaRPr lang="ja-JP" altLang="en-US" b="0" i="0">
              <a:solidFill>
                <a:srgbClr val="404040"/>
              </a:solidFill>
              <a:effectLst/>
              <a:latin typeface="quote-cjk-patch"/>
            </a:endParaRPr>
          </a:p>
        </p:txBody>
      </p:sp>
      <p:sp>
        <p:nvSpPr>
          <p:cNvPr id="50" name="TextBox 49">
            <a:extLst>
              <a:ext uri="{FF2B5EF4-FFF2-40B4-BE49-F238E27FC236}">
                <a16:creationId xmlns:a16="http://schemas.microsoft.com/office/drawing/2014/main" id="{A80B7206-298A-57F9-A9CE-A8CC42FE8B08}"/>
              </a:ext>
            </a:extLst>
          </p:cNvPr>
          <p:cNvSpPr txBox="1"/>
          <p:nvPr/>
        </p:nvSpPr>
        <p:spPr>
          <a:xfrm>
            <a:off x="5629167" y="4661038"/>
            <a:ext cx="1661533" cy="954107"/>
          </a:xfrm>
          <a:prstGeom prst="rect">
            <a:avLst/>
          </a:prstGeom>
          <a:noFill/>
        </p:spPr>
        <p:txBody>
          <a:bodyPr wrap="square">
            <a:spAutoFit/>
          </a:bodyPr>
          <a:lstStyle/>
          <a:p>
            <a:r>
              <a:rPr lang="en-US" sz="1400" b="0" i="0" dirty="0">
                <a:solidFill>
                  <a:srgbClr val="404040"/>
                </a:solidFill>
                <a:effectLst/>
                <a:latin typeface="quote-cjk-patch"/>
              </a:rPr>
              <a:t>TP</a:t>
            </a:r>
            <a:r>
              <a:rPr lang="ja-JP" altLang="en-US" sz="1400" b="0" i="0">
                <a:solidFill>
                  <a:srgbClr val="404040"/>
                </a:solidFill>
                <a:effectLst/>
                <a:latin typeface="quote-cjk-patch"/>
              </a:rPr>
              <a:t>が</a:t>
            </a:r>
            <a:r>
              <a:rPr lang="en-US" sz="1400" b="0" i="0" dirty="0">
                <a:solidFill>
                  <a:srgbClr val="404040"/>
                </a:solidFill>
                <a:effectLst/>
                <a:latin typeface="quote-cjk-patch"/>
              </a:rPr>
              <a:t>IP</a:t>
            </a:r>
            <a:r>
              <a:rPr lang="ja-JP" altLang="en-US" sz="1400" b="0" i="0">
                <a:solidFill>
                  <a:srgbClr val="404040"/>
                </a:solidFill>
                <a:effectLst/>
                <a:latin typeface="quote-cjk-patch"/>
              </a:rPr>
              <a:t>をチェック → </a:t>
            </a:r>
            <a:r>
              <a:rPr lang="en-US" sz="1400" b="1" i="0" dirty="0">
                <a:solidFill>
                  <a:srgbClr val="404040"/>
                </a:solidFill>
                <a:effectLst/>
                <a:latin typeface="quote-cjk-patch"/>
              </a:rPr>
              <a:t>Suspicious List</a:t>
            </a:r>
            <a:r>
              <a:rPr lang="ja-JP" altLang="en-US" sz="1400" b="1" i="0">
                <a:solidFill>
                  <a:srgbClr val="404040"/>
                </a:solidFill>
                <a:effectLst/>
                <a:latin typeface="quote-cjk-patch"/>
              </a:rPr>
              <a:t>に存在</a:t>
            </a:r>
            <a:r>
              <a:rPr lang="ja-JP" altLang="en-US" sz="1400" b="0" i="0">
                <a:solidFill>
                  <a:srgbClr val="404040"/>
                </a:solidFill>
                <a:effectLst/>
                <a:latin typeface="quote-cjk-patch"/>
              </a:rPr>
              <a:t> → 追加認証を要求</a:t>
            </a:r>
            <a:endParaRPr lang="en-JP" sz="1400" dirty="0"/>
          </a:p>
        </p:txBody>
      </p:sp>
      <p:sp>
        <p:nvSpPr>
          <p:cNvPr id="52" name="TextBox 51">
            <a:extLst>
              <a:ext uri="{FF2B5EF4-FFF2-40B4-BE49-F238E27FC236}">
                <a16:creationId xmlns:a16="http://schemas.microsoft.com/office/drawing/2014/main" id="{2A01C866-D0AD-2BE3-C996-1B0CB970A0FD}"/>
              </a:ext>
            </a:extLst>
          </p:cNvPr>
          <p:cNvSpPr txBox="1"/>
          <p:nvPr/>
        </p:nvSpPr>
        <p:spPr>
          <a:xfrm>
            <a:off x="7602342" y="4728465"/>
            <a:ext cx="1661533" cy="738664"/>
          </a:xfrm>
          <a:prstGeom prst="rect">
            <a:avLst/>
          </a:prstGeom>
          <a:noFill/>
        </p:spPr>
        <p:txBody>
          <a:bodyPr wrap="square">
            <a:spAutoFit/>
          </a:bodyPr>
          <a:lstStyle/>
          <a:p>
            <a:r>
              <a:rPr lang="en-US" sz="1400" b="0" i="0" dirty="0">
                <a:solidFill>
                  <a:srgbClr val="404040"/>
                </a:solidFill>
                <a:effectLst/>
                <a:latin typeface="quote-cjk-patch"/>
              </a:rPr>
              <a:t>TP</a:t>
            </a:r>
            <a:r>
              <a:rPr lang="ja-JP" altLang="en-US" sz="1400" b="0" i="0">
                <a:solidFill>
                  <a:srgbClr val="404040"/>
                </a:solidFill>
                <a:effectLst/>
                <a:latin typeface="quote-cjk-patch"/>
              </a:rPr>
              <a:t>が</a:t>
            </a:r>
            <a:r>
              <a:rPr lang="en-US" sz="1400" b="0" i="0" dirty="0">
                <a:solidFill>
                  <a:srgbClr val="404040"/>
                </a:solidFill>
                <a:effectLst/>
                <a:latin typeface="quote-cjk-patch"/>
              </a:rPr>
              <a:t>IP</a:t>
            </a:r>
            <a:r>
              <a:rPr lang="ja-JP" altLang="en-US" sz="1400" b="0" i="0">
                <a:solidFill>
                  <a:srgbClr val="404040"/>
                </a:solidFill>
                <a:effectLst/>
                <a:latin typeface="quote-cjk-patch"/>
              </a:rPr>
              <a:t>をチェック → </a:t>
            </a:r>
            <a:r>
              <a:rPr lang="en-US" sz="1400" b="1" i="0" dirty="0">
                <a:solidFill>
                  <a:srgbClr val="404040"/>
                </a:solidFill>
                <a:effectLst/>
                <a:latin typeface="quote-cjk-patch"/>
              </a:rPr>
              <a:t>Blocked List</a:t>
            </a:r>
            <a:r>
              <a:rPr lang="ja-JP" altLang="en-US" sz="1400" b="1" i="0">
                <a:solidFill>
                  <a:srgbClr val="404040"/>
                </a:solidFill>
                <a:effectLst/>
                <a:latin typeface="quote-cjk-patch"/>
              </a:rPr>
              <a:t>に存在</a:t>
            </a:r>
            <a:r>
              <a:rPr lang="ja-JP" altLang="en-US" sz="1400" b="0" i="0">
                <a:solidFill>
                  <a:srgbClr val="404040"/>
                </a:solidFill>
                <a:effectLst/>
                <a:latin typeface="quote-cjk-patch"/>
              </a:rPr>
              <a:t> → 即時遮断</a:t>
            </a:r>
            <a:endParaRPr lang="en-JP" sz="1400" dirty="0"/>
          </a:p>
        </p:txBody>
      </p:sp>
      <p:sp>
        <p:nvSpPr>
          <p:cNvPr id="54" name="TextBox 53">
            <a:extLst>
              <a:ext uri="{FF2B5EF4-FFF2-40B4-BE49-F238E27FC236}">
                <a16:creationId xmlns:a16="http://schemas.microsoft.com/office/drawing/2014/main" id="{A358559B-DD60-1BD3-A71B-CFF62158E3DA}"/>
              </a:ext>
            </a:extLst>
          </p:cNvPr>
          <p:cNvSpPr txBox="1"/>
          <p:nvPr/>
        </p:nvSpPr>
        <p:spPr>
          <a:xfrm>
            <a:off x="3672589" y="5587742"/>
            <a:ext cx="1644935" cy="307777"/>
          </a:xfrm>
          <a:prstGeom prst="rect">
            <a:avLst/>
          </a:prstGeom>
          <a:noFill/>
        </p:spPr>
        <p:txBody>
          <a:bodyPr wrap="square">
            <a:spAutoFit/>
          </a:bodyPr>
          <a:lstStyle/>
          <a:p>
            <a:r>
              <a:rPr lang="en-US" sz="1400" b="0" i="0" dirty="0">
                <a:solidFill>
                  <a:srgbClr val="404040"/>
                </a:solidFill>
                <a:effectLst/>
                <a:latin typeface="quote-cjk-patch"/>
              </a:rPr>
              <a:t>IP: </a:t>
            </a:r>
            <a:r>
              <a:rPr lang="en-US" sz="1400" dirty="0"/>
              <a:t>192.168.1.10</a:t>
            </a:r>
            <a:endParaRPr lang="en-JP" sz="1400" dirty="0"/>
          </a:p>
        </p:txBody>
      </p:sp>
      <p:sp>
        <p:nvSpPr>
          <p:cNvPr id="56" name="TextBox 55">
            <a:extLst>
              <a:ext uri="{FF2B5EF4-FFF2-40B4-BE49-F238E27FC236}">
                <a16:creationId xmlns:a16="http://schemas.microsoft.com/office/drawing/2014/main" id="{18827200-8FFD-503E-72DA-43B1FF46D3E9}"/>
              </a:ext>
            </a:extLst>
          </p:cNvPr>
          <p:cNvSpPr txBox="1"/>
          <p:nvPr/>
        </p:nvSpPr>
        <p:spPr>
          <a:xfrm>
            <a:off x="5798635" y="5663655"/>
            <a:ext cx="1492065" cy="307777"/>
          </a:xfrm>
          <a:prstGeom prst="rect">
            <a:avLst/>
          </a:prstGeom>
          <a:noFill/>
        </p:spPr>
        <p:txBody>
          <a:bodyPr wrap="square">
            <a:spAutoFit/>
          </a:bodyPr>
          <a:lstStyle/>
          <a:p>
            <a:r>
              <a:rPr lang="en-US" sz="1400" b="0" i="0" dirty="0">
                <a:solidFill>
                  <a:srgbClr val="404040"/>
                </a:solidFill>
                <a:effectLst/>
                <a:latin typeface="quote-cjk-patch"/>
              </a:rPr>
              <a:t>IP: </a:t>
            </a:r>
            <a:r>
              <a:rPr lang="en-US" sz="1400" dirty="0"/>
              <a:t>10.0.0.5</a:t>
            </a:r>
            <a:endParaRPr lang="en-JP" sz="1400" dirty="0"/>
          </a:p>
        </p:txBody>
      </p:sp>
      <p:sp>
        <p:nvSpPr>
          <p:cNvPr id="58" name="TextBox 57">
            <a:extLst>
              <a:ext uri="{FF2B5EF4-FFF2-40B4-BE49-F238E27FC236}">
                <a16:creationId xmlns:a16="http://schemas.microsoft.com/office/drawing/2014/main" id="{8B09829E-1246-6153-9103-AFB86F34BB18}"/>
              </a:ext>
            </a:extLst>
          </p:cNvPr>
          <p:cNvSpPr txBox="1"/>
          <p:nvPr/>
        </p:nvSpPr>
        <p:spPr>
          <a:xfrm>
            <a:off x="7577252" y="5632877"/>
            <a:ext cx="2007220" cy="307777"/>
          </a:xfrm>
          <a:prstGeom prst="rect">
            <a:avLst/>
          </a:prstGeom>
          <a:noFill/>
        </p:spPr>
        <p:txBody>
          <a:bodyPr wrap="square">
            <a:spAutoFit/>
          </a:bodyPr>
          <a:lstStyle/>
          <a:p>
            <a:r>
              <a:rPr lang="en-US" sz="1400" b="0" i="0" dirty="0">
                <a:solidFill>
                  <a:srgbClr val="404040"/>
                </a:solidFill>
                <a:effectLst/>
                <a:latin typeface="Yu Mincho" panose="02020400000000000000" pitchFamily="18" charset="-128"/>
                <a:ea typeface="Yu Mincho" panose="02020400000000000000" pitchFamily="18" charset="-128"/>
              </a:rPr>
              <a:t>IP: </a:t>
            </a:r>
            <a:r>
              <a:rPr lang="en-US" sz="1400" dirty="0">
                <a:latin typeface="Yu Mincho" panose="02020400000000000000" pitchFamily="18" charset="-128"/>
                <a:ea typeface="Yu Mincho" panose="02020400000000000000" pitchFamily="18" charset="-128"/>
              </a:rPr>
              <a:t>172.16.0.3</a:t>
            </a:r>
            <a:endParaRPr lang="en-JP" sz="1400" dirty="0">
              <a:latin typeface="Yu Mincho" panose="02020400000000000000" pitchFamily="18" charset="-128"/>
              <a:ea typeface="Yu Mincho" panose="02020400000000000000" pitchFamily="18" charset="-128"/>
            </a:endParaRPr>
          </a:p>
        </p:txBody>
      </p:sp>
      <p:sp>
        <p:nvSpPr>
          <p:cNvPr id="59" name="Slide Number Placeholder 58">
            <a:extLst>
              <a:ext uri="{FF2B5EF4-FFF2-40B4-BE49-F238E27FC236}">
                <a16:creationId xmlns:a16="http://schemas.microsoft.com/office/drawing/2014/main" id="{5AB27DF6-36DC-20BB-1D0E-8D21266B9D80}"/>
              </a:ext>
            </a:extLst>
          </p:cNvPr>
          <p:cNvSpPr>
            <a:spLocks noGrp="1"/>
          </p:cNvSpPr>
          <p:nvPr>
            <p:ph type="sldNum" sz="quarter" idx="12"/>
          </p:nvPr>
        </p:nvSpPr>
        <p:spPr/>
        <p:txBody>
          <a:bodyPr/>
          <a:lstStyle/>
          <a:p>
            <a:fld id="{BB44241B-2579-694C-B40C-A1E3D5F0E4EC}" type="slidenum">
              <a:rPr lang="en-JP" smtClean="0"/>
              <a:t>16</a:t>
            </a:fld>
            <a:endParaRPr lang="en-JP"/>
          </a:p>
        </p:txBody>
      </p:sp>
    </p:spTree>
    <p:extLst>
      <p:ext uri="{BB962C8B-B14F-4D97-AF65-F5344CB8AC3E}">
        <p14:creationId xmlns:p14="http://schemas.microsoft.com/office/powerpoint/2010/main" val="3083832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A59654-DFB5-C245-52CF-F43C1616AB6A}"/>
              </a:ext>
            </a:extLst>
          </p:cNvPr>
          <p:cNvGraphicFramePr>
            <a:graphicFrameLocks noGrp="1"/>
          </p:cNvGraphicFramePr>
          <p:nvPr>
            <p:extLst>
              <p:ext uri="{D42A27DB-BD31-4B8C-83A1-F6EECF244321}">
                <p14:modId xmlns:p14="http://schemas.microsoft.com/office/powerpoint/2010/main" val="2395746790"/>
              </p:ext>
            </p:extLst>
          </p:nvPr>
        </p:nvGraphicFramePr>
        <p:xfrm>
          <a:off x="605930" y="1035586"/>
          <a:ext cx="7965192" cy="5676624"/>
        </p:xfrm>
        <a:graphic>
          <a:graphicData uri="http://schemas.openxmlformats.org/drawingml/2006/table">
            <a:tbl>
              <a:tblPr>
                <a:tableStyleId>{93296810-A885-4BE3-A3E7-6D5BEEA58F35}</a:tableStyleId>
              </a:tblPr>
              <a:tblGrid>
                <a:gridCol w="4164564">
                  <a:extLst>
                    <a:ext uri="{9D8B030D-6E8A-4147-A177-3AD203B41FA5}">
                      <a16:colId xmlns:a16="http://schemas.microsoft.com/office/drawing/2014/main" val="3445773132"/>
                    </a:ext>
                  </a:extLst>
                </a:gridCol>
                <a:gridCol w="1214178">
                  <a:extLst>
                    <a:ext uri="{9D8B030D-6E8A-4147-A177-3AD203B41FA5}">
                      <a16:colId xmlns:a16="http://schemas.microsoft.com/office/drawing/2014/main" val="667332129"/>
                    </a:ext>
                  </a:extLst>
                </a:gridCol>
                <a:gridCol w="2586450">
                  <a:extLst>
                    <a:ext uri="{9D8B030D-6E8A-4147-A177-3AD203B41FA5}">
                      <a16:colId xmlns:a16="http://schemas.microsoft.com/office/drawing/2014/main" val="2065452553"/>
                    </a:ext>
                  </a:extLst>
                </a:gridCol>
              </a:tblGrid>
              <a:tr h="372195">
                <a:tc>
                  <a:txBody>
                    <a:bodyPr/>
                    <a:lstStyle/>
                    <a:p>
                      <a:r>
                        <a:rPr lang="ja-JP" altLang="en-US" sz="1500"/>
                        <a:t>判定基準</a:t>
                      </a:r>
                    </a:p>
                  </a:txBody>
                  <a:tcPr marL="77702" marR="77702" marT="38851" marB="38851" anchor="ctr"/>
                </a:tc>
                <a:tc>
                  <a:txBody>
                    <a:bodyPr/>
                    <a:lstStyle/>
                    <a:p>
                      <a:r>
                        <a:rPr lang="ja-JP" altLang="en-US" sz="1500"/>
                        <a:t>状況の</a:t>
                      </a:r>
                    </a:p>
                  </a:txBody>
                  <a:tcPr marL="77702" marR="77702" marT="38851" marB="38851" anchor="ctr"/>
                </a:tc>
                <a:tc>
                  <a:txBody>
                    <a:bodyPr/>
                    <a:lstStyle/>
                    <a:p>
                      <a:r>
                        <a:rPr lang="ja-JP" altLang="en-US" sz="1500"/>
                        <a:t>リストの種類</a:t>
                      </a:r>
                    </a:p>
                  </a:txBody>
                  <a:tcPr marL="77702" marR="77702" marT="38851" marB="38851" anchor="ctr"/>
                </a:tc>
                <a:extLst>
                  <a:ext uri="{0D108BD9-81ED-4DB2-BD59-A6C34878D82A}">
                    <a16:rowId xmlns:a16="http://schemas.microsoft.com/office/drawing/2014/main" val="48781903"/>
                  </a:ext>
                </a:extLst>
              </a:tr>
              <a:tr h="664318">
                <a:tc>
                  <a:txBody>
                    <a:bodyPr/>
                    <a:lstStyle/>
                    <a:p>
                      <a:r>
                        <a:rPr lang="en-JP" sz="1600" dirty="0"/>
                        <a:t>✅</a:t>
                      </a:r>
                      <a:r>
                        <a:rPr lang="ja-JP" altLang="en-US" sz="1500"/>
                        <a:t>以前に正常に接続され、攻撃が検出されなかった場合</a:t>
                      </a:r>
                    </a:p>
                  </a:txBody>
                  <a:tcPr marL="77702" marR="77702" marT="38851" marB="38851" anchor="ctr"/>
                </a:tc>
                <a:tc>
                  <a:txBody>
                    <a:bodyPr/>
                    <a:lstStyle/>
                    <a:p>
                      <a:r>
                        <a:rPr lang="ja-JP" altLang="en-US" sz="1500"/>
                        <a:t>信頼済み</a:t>
                      </a:r>
                    </a:p>
                  </a:txBody>
                  <a:tcPr marL="77702" marR="77702" marT="38851" marB="38851" anchor="ctr"/>
                </a:tc>
                <a:tc>
                  <a:txBody>
                    <a:bodyPr/>
                    <a:lstStyle/>
                    <a:p>
                      <a:r>
                        <a:rPr lang="en-US" sz="1500" dirty="0"/>
                        <a:t>TL（</a:t>
                      </a:r>
                      <a:r>
                        <a:rPr lang="ja-JP" altLang="en-US" sz="1500"/>
                        <a:t>信頼リスト）</a:t>
                      </a:r>
                      <a:r>
                        <a:rPr lang="en-US" sz="1600" b="0" i="0" dirty="0">
                          <a:solidFill>
                            <a:srgbClr val="404040"/>
                          </a:solidFill>
                          <a:effectLst/>
                          <a:latin typeface="quote-cjk-patch"/>
                        </a:rPr>
                        <a:t>IP: </a:t>
                      </a:r>
                      <a:r>
                        <a:rPr lang="en-US" sz="1600" dirty="0"/>
                        <a:t>192.168.1.10</a:t>
                      </a:r>
                      <a:endParaRPr lang="ja-JP" altLang="en-US" sz="1500"/>
                    </a:p>
                  </a:txBody>
                  <a:tcPr marL="77702" marR="77702" marT="38851" marB="38851" anchor="ctr"/>
                </a:tc>
                <a:extLst>
                  <a:ext uri="{0D108BD9-81ED-4DB2-BD59-A6C34878D82A}">
                    <a16:rowId xmlns:a16="http://schemas.microsoft.com/office/drawing/2014/main" val="1256689197"/>
                  </a:ext>
                </a:extLst>
              </a:tr>
              <a:tr h="476686">
                <a:tc>
                  <a:txBody>
                    <a:bodyPr/>
                    <a:lstStyle/>
                    <a:p>
                      <a:r>
                        <a:rPr lang="en-JP" sz="1600" dirty="0"/>
                        <a:t>⚠️</a:t>
                      </a:r>
                      <a:r>
                        <a:rPr lang="ja-JP" altLang="en-US" sz="1500"/>
                        <a:t>短時間に大量のリクエストを送信している場合</a:t>
                      </a:r>
                    </a:p>
                  </a:txBody>
                  <a:tcPr marL="77702" marR="77702" marT="38851" marB="38851" anchor="ctr"/>
                </a:tc>
                <a:tc>
                  <a:txBody>
                    <a:bodyPr/>
                    <a:lstStyle/>
                    <a:p>
                      <a:r>
                        <a:rPr lang="ja-JP" altLang="en-US" sz="1500"/>
                        <a:t>疑わしい</a:t>
                      </a:r>
                    </a:p>
                  </a:txBody>
                  <a:tcPr marL="77702" marR="77702" marT="38851" marB="3885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SL（</a:t>
                      </a:r>
                      <a:r>
                        <a:rPr lang="ja-JP" altLang="en-US" sz="1500"/>
                        <a:t>監視リスト）</a:t>
                      </a:r>
                      <a:endParaRPr lang="en-US" altLang="ja-JP"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dirty="0">
                          <a:solidFill>
                            <a:srgbClr val="404040"/>
                          </a:solidFill>
                          <a:effectLst/>
                          <a:latin typeface="quote-cjk-patch"/>
                        </a:rPr>
                        <a:t>IP: </a:t>
                      </a:r>
                      <a:r>
                        <a:rPr lang="en-US" sz="1600" dirty="0"/>
                        <a:t>10.0.0.5</a:t>
                      </a:r>
                      <a:endParaRPr lang="en-JP" sz="1600" dirty="0"/>
                    </a:p>
                    <a:p>
                      <a:endParaRPr lang="ja-JP" altLang="en-US" sz="1500"/>
                    </a:p>
                  </a:txBody>
                  <a:tcPr marL="77702" marR="77702" marT="38851" marB="38851" anchor="ctr"/>
                </a:tc>
                <a:extLst>
                  <a:ext uri="{0D108BD9-81ED-4DB2-BD59-A6C34878D82A}">
                    <a16:rowId xmlns:a16="http://schemas.microsoft.com/office/drawing/2014/main" val="1321129005"/>
                  </a:ext>
                </a:extLst>
              </a:tr>
              <a:tr h="664318">
                <a:tc>
                  <a:txBody>
                    <a:bodyPr/>
                    <a:lstStyle/>
                    <a:p>
                      <a:r>
                        <a:rPr lang="en-JP" sz="1600" dirty="0"/>
                        <a:t>⚠️</a:t>
                      </a:r>
                      <a:r>
                        <a:rPr lang="ja-JP" altLang="en-US" sz="1500"/>
                        <a:t> 許可されていないポートや不正なデータを使用している場合</a:t>
                      </a:r>
                    </a:p>
                  </a:txBody>
                  <a:tcPr marL="77702" marR="77702" marT="38851" marB="38851" anchor="ctr"/>
                </a:tc>
                <a:tc>
                  <a:txBody>
                    <a:bodyPr/>
                    <a:lstStyle/>
                    <a:p>
                      <a:r>
                        <a:rPr lang="ja-JP" altLang="en-US" sz="1500"/>
                        <a:t>疑わしい</a:t>
                      </a:r>
                    </a:p>
                  </a:txBody>
                  <a:tcPr marL="77702" marR="77702" marT="38851" marB="38851"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dirty="0"/>
                        <a:t>SL（</a:t>
                      </a:r>
                      <a:r>
                        <a:rPr lang="ja-JP" altLang="en-US" sz="1500"/>
                        <a:t>監視リスト）</a:t>
                      </a:r>
                      <a:endParaRPr lang="en-US" altLang="ja-JP" sz="15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a:solidFill>
                            <a:srgbClr val="404040"/>
                          </a:solidFill>
                          <a:effectLst/>
                          <a:latin typeface="quote-cjk-patch"/>
                        </a:rPr>
                        <a:t>IP: </a:t>
                      </a:r>
                      <a:r>
                        <a:rPr lang="en-US" sz="1400" dirty="0"/>
                        <a:t>10.0.0.5</a:t>
                      </a:r>
                      <a:endParaRPr lang="en-JP" sz="1400" dirty="0"/>
                    </a:p>
                    <a:p>
                      <a:endParaRPr lang="ja-JP" altLang="en-US" sz="1500"/>
                    </a:p>
                  </a:txBody>
                  <a:tcPr marL="77702" marR="77702" marT="38851" marB="38851" anchor="ctr"/>
                </a:tc>
                <a:extLst>
                  <a:ext uri="{0D108BD9-81ED-4DB2-BD59-A6C34878D82A}">
                    <a16:rowId xmlns:a16="http://schemas.microsoft.com/office/drawing/2014/main" val="3688615150"/>
                  </a:ext>
                </a:extLst>
              </a:tr>
              <a:tr h="651340">
                <a:tc>
                  <a:txBody>
                    <a:bodyPr/>
                    <a:lstStyle/>
                    <a:p>
                      <a:r>
                        <a:rPr lang="en-JP" sz="1500" dirty="0"/>
                        <a:t>⛔ </a:t>
                      </a:r>
                      <a:r>
                        <a:rPr lang="ja-JP" altLang="en-US" sz="1500"/>
                        <a:t>過去に</a:t>
                      </a:r>
                      <a:r>
                        <a:rPr lang="en-US" sz="1500" dirty="0"/>
                        <a:t>DoS</a:t>
                      </a:r>
                      <a:r>
                        <a:rPr lang="ja-JP" altLang="en-US" sz="1500"/>
                        <a:t>やブルートフォース攻撃を試みた場合</a:t>
                      </a:r>
                    </a:p>
                  </a:txBody>
                  <a:tcPr marL="77702" marR="77702" marT="38851" marB="38851" anchor="ctr"/>
                </a:tc>
                <a:tc>
                  <a:txBody>
                    <a:bodyPr/>
                    <a:lstStyle/>
                    <a:p>
                      <a:r>
                        <a:rPr lang="ja-JP" altLang="en-US" sz="1500"/>
                        <a:t>ブロック対象</a:t>
                      </a:r>
                    </a:p>
                  </a:txBody>
                  <a:tcPr marL="77702" marR="77702" marT="38851" marB="38851" anchor="ctr"/>
                </a:tc>
                <a:tc>
                  <a:txBody>
                    <a:bodyPr/>
                    <a:lstStyle/>
                    <a:p>
                      <a:r>
                        <a:rPr lang="en-US" sz="1500" dirty="0"/>
                        <a:t>BL（</a:t>
                      </a:r>
                      <a:r>
                        <a:rPr lang="ja-JP" altLang="en-US" sz="1500"/>
                        <a:t>遮断リスト）</a:t>
                      </a:r>
                      <a:r>
                        <a:rPr lang="en-US" sz="1600" dirty="0">
                          <a:latin typeface="Yu Mincho" panose="02020400000000000000" pitchFamily="18" charset="-128"/>
                          <a:ea typeface="Yu Mincho" panose="02020400000000000000" pitchFamily="18" charset="-128"/>
                        </a:rPr>
                        <a:t>172.16.0.3</a:t>
                      </a:r>
                      <a:endParaRPr lang="ja-JP" altLang="en-US" sz="1500"/>
                    </a:p>
                  </a:txBody>
                  <a:tcPr marL="77702" marR="77702" marT="38851" marB="38851" anchor="ctr"/>
                </a:tc>
                <a:extLst>
                  <a:ext uri="{0D108BD9-81ED-4DB2-BD59-A6C34878D82A}">
                    <a16:rowId xmlns:a16="http://schemas.microsoft.com/office/drawing/2014/main" val="4132179920"/>
                  </a:ext>
                </a:extLst>
              </a:tr>
              <a:tr h="651340">
                <a:tc>
                  <a:txBody>
                    <a:bodyPr/>
                    <a:lstStyle/>
                    <a:p>
                      <a:r>
                        <a:rPr lang="en-JP" sz="1500"/>
                        <a:t>⛔ </a:t>
                      </a:r>
                      <a:r>
                        <a:rPr lang="en-US" sz="1500"/>
                        <a:t>IP</a:t>
                      </a:r>
                      <a:r>
                        <a:rPr lang="ja-JP" altLang="en-US" sz="1500"/>
                        <a:t>スプーフィングやパケット改ざんが検出された場合</a:t>
                      </a:r>
                    </a:p>
                  </a:txBody>
                  <a:tcPr marL="77702" marR="77702" marT="38851" marB="38851" anchor="ctr"/>
                </a:tc>
                <a:tc>
                  <a:txBody>
                    <a:bodyPr/>
                    <a:lstStyle/>
                    <a:p>
                      <a:r>
                        <a:rPr lang="ja-JP" altLang="en-US" sz="1500"/>
                        <a:t>ブロック対象</a:t>
                      </a:r>
                    </a:p>
                  </a:txBody>
                  <a:tcPr marL="77702" marR="77702" marT="38851" marB="38851" anchor="ctr"/>
                </a:tc>
                <a:tc>
                  <a:txBody>
                    <a:bodyPr/>
                    <a:lstStyle/>
                    <a:p>
                      <a:r>
                        <a:rPr lang="en-US" sz="1500" dirty="0"/>
                        <a:t>BL（</a:t>
                      </a:r>
                      <a:r>
                        <a:rPr lang="ja-JP" altLang="en-US" sz="1500"/>
                        <a:t>遮断リスト）</a:t>
                      </a:r>
                      <a:r>
                        <a:rPr lang="en-US" sz="1600" dirty="0">
                          <a:latin typeface="Yu Mincho" panose="02020400000000000000" pitchFamily="18" charset="-128"/>
                          <a:ea typeface="Yu Mincho" panose="02020400000000000000" pitchFamily="18" charset="-128"/>
                        </a:rPr>
                        <a:t>172.16.0.3</a:t>
                      </a:r>
                      <a:endParaRPr lang="ja-JP" altLang="en-US" sz="1500"/>
                    </a:p>
                  </a:txBody>
                  <a:tcPr marL="77702" marR="77702" marT="38851" marB="38851" anchor="ctr"/>
                </a:tc>
                <a:extLst>
                  <a:ext uri="{0D108BD9-81ED-4DB2-BD59-A6C34878D82A}">
                    <a16:rowId xmlns:a16="http://schemas.microsoft.com/office/drawing/2014/main" val="237189885"/>
                  </a:ext>
                </a:extLst>
              </a:tr>
              <a:tr h="651340">
                <a:tc>
                  <a:txBody>
                    <a:bodyPr/>
                    <a:lstStyle/>
                    <a:p>
                      <a:r>
                        <a:rPr lang="en-JP" sz="1500" dirty="0"/>
                        <a:t>✅ </a:t>
                      </a:r>
                      <a:r>
                        <a:rPr lang="en-US" sz="1500" dirty="0"/>
                        <a:t>TP</a:t>
                      </a:r>
                      <a:r>
                        <a:rPr lang="ja-JP" altLang="en-US" sz="1500"/>
                        <a:t>により認証されたデバイス</a:t>
                      </a:r>
                      <a:r>
                        <a:rPr lang="en-US" sz="1500" dirty="0"/>
                        <a:t>ID</a:t>
                      </a:r>
                      <a:r>
                        <a:rPr lang="ja-JP" altLang="en-US" sz="1500"/>
                        <a:t>を持っている場合</a:t>
                      </a:r>
                    </a:p>
                  </a:txBody>
                  <a:tcPr marL="77702" marR="77702" marT="38851" marB="38851" anchor="ctr"/>
                </a:tc>
                <a:tc>
                  <a:txBody>
                    <a:bodyPr/>
                    <a:lstStyle/>
                    <a:p>
                      <a:r>
                        <a:rPr lang="ja-JP" altLang="en-US" sz="1500"/>
                        <a:t>信頼済み</a:t>
                      </a:r>
                    </a:p>
                  </a:txBody>
                  <a:tcPr marL="77702" marR="77702" marT="38851" marB="38851" anchor="ctr"/>
                </a:tc>
                <a:tc>
                  <a:txBody>
                    <a:bodyPr/>
                    <a:lstStyle/>
                    <a:p>
                      <a:r>
                        <a:rPr lang="en-US" sz="1500" dirty="0"/>
                        <a:t>TL（</a:t>
                      </a:r>
                      <a:r>
                        <a:rPr lang="ja-JP" altLang="en-US" sz="1500"/>
                        <a:t>信頼リスト）</a:t>
                      </a:r>
                      <a:endParaRPr lang="en-US" altLang="ja-JP" sz="1500" dirty="0"/>
                    </a:p>
                    <a:p>
                      <a:r>
                        <a:rPr lang="en-US" sz="1600" b="0" i="0" dirty="0">
                          <a:solidFill>
                            <a:srgbClr val="404040"/>
                          </a:solidFill>
                          <a:effectLst/>
                          <a:latin typeface="quote-cjk-patch"/>
                        </a:rPr>
                        <a:t>IP: </a:t>
                      </a:r>
                      <a:r>
                        <a:rPr lang="en-US" sz="1600" dirty="0"/>
                        <a:t>192.168.1.10</a:t>
                      </a:r>
                      <a:endParaRPr lang="ja-JP" altLang="en-US" sz="1500"/>
                    </a:p>
                  </a:txBody>
                  <a:tcPr marL="77702" marR="77702" marT="38851" marB="38851" anchor="ctr"/>
                </a:tc>
                <a:extLst>
                  <a:ext uri="{0D108BD9-81ED-4DB2-BD59-A6C34878D82A}">
                    <a16:rowId xmlns:a16="http://schemas.microsoft.com/office/drawing/2014/main" val="3355303064"/>
                  </a:ext>
                </a:extLst>
              </a:tr>
              <a:tr h="930487">
                <a:tc>
                  <a:txBody>
                    <a:bodyPr/>
                    <a:lstStyle/>
                    <a:p>
                      <a:r>
                        <a:rPr lang="en-JP" sz="1600" dirty="0"/>
                        <a:t>⚠️</a:t>
                      </a:r>
                      <a:r>
                        <a:rPr lang="ja-JP" altLang="en-US" sz="1500"/>
                        <a:t>長期間非アクティブだったが、急に多くのリクエストを送り始めた場合</a:t>
                      </a:r>
                    </a:p>
                  </a:txBody>
                  <a:tcPr marL="77702" marR="77702" marT="38851" marB="38851" anchor="ctr"/>
                </a:tc>
                <a:tc>
                  <a:txBody>
                    <a:bodyPr/>
                    <a:lstStyle/>
                    <a:p>
                      <a:r>
                        <a:rPr lang="ja-JP" altLang="en-US" sz="1500"/>
                        <a:t>疑わしい</a:t>
                      </a:r>
                    </a:p>
                  </a:txBody>
                  <a:tcPr marL="77702" marR="77702" marT="38851" marB="38851" anchor="ctr"/>
                </a:tc>
                <a:tc>
                  <a:txBody>
                    <a:bodyPr/>
                    <a:lstStyle/>
                    <a:p>
                      <a:r>
                        <a:rPr lang="en-US" sz="1500" dirty="0"/>
                        <a:t>SL（</a:t>
                      </a:r>
                      <a:r>
                        <a:rPr lang="ja-JP" altLang="en-US" sz="1500"/>
                        <a:t>監視リスト）</a:t>
                      </a:r>
                      <a:r>
                        <a:rPr lang="en-US" sz="1600" b="0" i="0" dirty="0">
                          <a:solidFill>
                            <a:srgbClr val="404040"/>
                          </a:solidFill>
                          <a:effectLst/>
                          <a:latin typeface="quote-cjk-patch"/>
                        </a:rPr>
                        <a:t>IP: </a:t>
                      </a:r>
                      <a:r>
                        <a:rPr lang="en-US" sz="1600" dirty="0"/>
                        <a:t>10.0.0.5</a:t>
                      </a:r>
                      <a:endParaRPr lang="ja-JP" altLang="en-US" sz="1500"/>
                    </a:p>
                  </a:txBody>
                  <a:tcPr marL="77702" marR="77702" marT="38851" marB="38851" anchor="ctr"/>
                </a:tc>
                <a:extLst>
                  <a:ext uri="{0D108BD9-81ED-4DB2-BD59-A6C34878D82A}">
                    <a16:rowId xmlns:a16="http://schemas.microsoft.com/office/drawing/2014/main" val="3086523018"/>
                  </a:ext>
                </a:extLst>
              </a:tr>
            </a:tbl>
          </a:graphicData>
        </a:graphic>
      </p:graphicFrame>
      <p:sp>
        <p:nvSpPr>
          <p:cNvPr id="8" name="TextBox 7">
            <a:extLst>
              <a:ext uri="{FF2B5EF4-FFF2-40B4-BE49-F238E27FC236}">
                <a16:creationId xmlns:a16="http://schemas.microsoft.com/office/drawing/2014/main" id="{1CF7DDBB-FB3C-8042-562B-AC8B2F456AD5}"/>
              </a:ext>
            </a:extLst>
          </p:cNvPr>
          <p:cNvSpPr txBox="1"/>
          <p:nvPr/>
        </p:nvSpPr>
        <p:spPr>
          <a:xfrm>
            <a:off x="8751983" y="2863295"/>
            <a:ext cx="3124200" cy="2862322"/>
          </a:xfrm>
          <a:prstGeom prst="rect">
            <a:avLst/>
          </a:prstGeom>
          <a:noFill/>
        </p:spPr>
        <p:txBody>
          <a:bodyPr wrap="square">
            <a:spAutoFit/>
          </a:bodyPr>
          <a:lstStyle/>
          <a:p>
            <a:r>
              <a:rPr lang="en-JP" dirty="0"/>
              <a:t>✅ </a:t>
            </a:r>
            <a:r>
              <a:rPr lang="en-US" b="1" dirty="0"/>
              <a:t>Trusted List（TL）</a:t>
            </a:r>
            <a:r>
              <a:rPr lang="en-US" dirty="0"/>
              <a:t> – </a:t>
            </a:r>
            <a:r>
              <a:rPr lang="ja-JP" altLang="en-US"/>
              <a:t>信頼できる、認証済みの</a:t>
            </a:r>
            <a:r>
              <a:rPr lang="en-US" dirty="0"/>
              <a:t>IP</a:t>
            </a:r>
            <a:r>
              <a:rPr lang="ja-JP" altLang="en-US"/>
              <a:t>アドレス</a:t>
            </a:r>
            <a:br>
              <a:rPr lang="ja-JP" altLang="en-US"/>
            </a:br>
            <a:r>
              <a:rPr lang="en-JP" sz="1800" dirty="0"/>
              <a:t>⚠️</a:t>
            </a:r>
            <a:r>
              <a:rPr lang="en-US" b="1" dirty="0"/>
              <a:t>Suspicious List（SL）</a:t>
            </a:r>
            <a:r>
              <a:rPr lang="en-US" dirty="0"/>
              <a:t> – </a:t>
            </a:r>
            <a:r>
              <a:rPr lang="ja-JP" altLang="en-US"/>
              <a:t>疑わしい</a:t>
            </a:r>
            <a:r>
              <a:rPr lang="en-US" dirty="0"/>
              <a:t>IP</a:t>
            </a:r>
            <a:r>
              <a:rPr lang="ja-JP" altLang="en-US"/>
              <a:t>アドレス（一時的な待機ゾーン）</a:t>
            </a:r>
            <a:endParaRPr lang="mn-MN" altLang="ja-JP" dirty="0"/>
          </a:p>
          <a:p>
            <a:br>
              <a:rPr lang="ja-JP" altLang="en-US"/>
            </a:br>
            <a:r>
              <a:rPr lang="en-JP" dirty="0"/>
              <a:t>⛔ </a:t>
            </a:r>
            <a:r>
              <a:rPr lang="en-US" b="1" dirty="0"/>
              <a:t>Blocked List（BL）</a:t>
            </a:r>
            <a:r>
              <a:rPr lang="en-US" dirty="0"/>
              <a:t> – </a:t>
            </a:r>
            <a:r>
              <a:rPr lang="ja-JP" altLang="en-US"/>
              <a:t>攻撃者として記録された、ブロックされた</a:t>
            </a:r>
            <a:r>
              <a:rPr lang="en-US" dirty="0"/>
              <a:t>IP</a:t>
            </a:r>
            <a:r>
              <a:rPr lang="ja-JP" altLang="en-US"/>
              <a:t>アドレス</a:t>
            </a:r>
            <a:endParaRPr lang="en-JP" dirty="0"/>
          </a:p>
        </p:txBody>
      </p:sp>
      <p:sp>
        <p:nvSpPr>
          <p:cNvPr id="10" name="TextBox 9">
            <a:extLst>
              <a:ext uri="{FF2B5EF4-FFF2-40B4-BE49-F238E27FC236}">
                <a16:creationId xmlns:a16="http://schemas.microsoft.com/office/drawing/2014/main" id="{57EAAF79-9BB2-811E-CC99-BCC2E9862A17}"/>
              </a:ext>
            </a:extLst>
          </p:cNvPr>
          <p:cNvSpPr txBox="1"/>
          <p:nvPr/>
        </p:nvSpPr>
        <p:spPr>
          <a:xfrm>
            <a:off x="426904" y="257495"/>
            <a:ext cx="609783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5 /</a:t>
            </a:r>
            <a:endParaRPr lang="mn-MN" altLang="ja-JP" sz="1800" b="0" i="0" dirty="0">
              <a:effectLst/>
              <a:latin typeface="+mj-ea"/>
              <a:ea typeface="+mj-ea"/>
            </a:endParaRPr>
          </a:p>
        </p:txBody>
      </p:sp>
      <p:pic>
        <p:nvPicPr>
          <p:cNvPr id="11" name="Picture 10">
            <a:extLst>
              <a:ext uri="{FF2B5EF4-FFF2-40B4-BE49-F238E27FC236}">
                <a16:creationId xmlns:a16="http://schemas.microsoft.com/office/drawing/2014/main" id="{8D2EEFC2-A588-49E8-2B3F-707D7B6FCFC6}"/>
              </a:ext>
            </a:extLst>
          </p:cNvPr>
          <p:cNvPicPr>
            <a:picLocks noChangeAspect="1"/>
          </p:cNvPicPr>
          <p:nvPr/>
        </p:nvPicPr>
        <p:blipFill>
          <a:blip r:embed="rId3"/>
          <a:stretch>
            <a:fillRect/>
          </a:stretch>
        </p:blipFill>
        <p:spPr>
          <a:xfrm>
            <a:off x="11375656" y="77075"/>
            <a:ext cx="744308" cy="794245"/>
          </a:xfrm>
          <a:prstGeom prst="rect">
            <a:avLst/>
          </a:prstGeom>
        </p:spPr>
      </p:pic>
      <p:sp>
        <p:nvSpPr>
          <p:cNvPr id="12" name="Oval 11">
            <a:extLst>
              <a:ext uri="{FF2B5EF4-FFF2-40B4-BE49-F238E27FC236}">
                <a16:creationId xmlns:a16="http://schemas.microsoft.com/office/drawing/2014/main" id="{5ED8DF94-47EB-2171-1FCD-541B512CE23B}"/>
              </a:ext>
            </a:extLst>
          </p:cNvPr>
          <p:cNvSpPr/>
          <p:nvPr/>
        </p:nvSpPr>
        <p:spPr>
          <a:xfrm>
            <a:off x="9067975" y="1356682"/>
            <a:ext cx="1746914" cy="148629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dirty="0"/>
              <a:t>Ip header </a:t>
            </a:r>
          </a:p>
          <a:p>
            <a:r>
              <a:rPr lang="en-US" dirty="0"/>
              <a:t> metadata </a:t>
            </a:r>
            <a:endParaRPr lang="en-JP" dirty="0"/>
          </a:p>
        </p:txBody>
      </p:sp>
      <p:sp>
        <p:nvSpPr>
          <p:cNvPr id="14" name="TextBox 13">
            <a:extLst>
              <a:ext uri="{FF2B5EF4-FFF2-40B4-BE49-F238E27FC236}">
                <a16:creationId xmlns:a16="http://schemas.microsoft.com/office/drawing/2014/main" id="{A12C7D0A-60D9-2DD0-066B-4BA09D99D821}"/>
              </a:ext>
            </a:extLst>
          </p:cNvPr>
          <p:cNvSpPr txBox="1"/>
          <p:nvPr/>
        </p:nvSpPr>
        <p:spPr>
          <a:xfrm>
            <a:off x="8698892" y="929335"/>
            <a:ext cx="6097836" cy="369332"/>
          </a:xfrm>
          <a:prstGeom prst="rect">
            <a:avLst/>
          </a:prstGeom>
          <a:noFill/>
        </p:spPr>
        <p:txBody>
          <a:bodyPr wrap="square">
            <a:spAutoFit/>
          </a:bodyPr>
          <a:lstStyle/>
          <a:p>
            <a:r>
              <a:rPr lang="en-JP" dirty="0"/>
              <a:t>どのように分類されますか?</a:t>
            </a:r>
          </a:p>
        </p:txBody>
      </p:sp>
      <p:sp>
        <p:nvSpPr>
          <p:cNvPr id="15" name="Slide Number Placeholder 14">
            <a:extLst>
              <a:ext uri="{FF2B5EF4-FFF2-40B4-BE49-F238E27FC236}">
                <a16:creationId xmlns:a16="http://schemas.microsoft.com/office/drawing/2014/main" id="{931827A8-1F6E-5B44-6D43-C106826E704B}"/>
              </a:ext>
            </a:extLst>
          </p:cNvPr>
          <p:cNvSpPr>
            <a:spLocks noGrp="1"/>
          </p:cNvSpPr>
          <p:nvPr>
            <p:ph type="sldNum" sz="quarter" idx="12"/>
          </p:nvPr>
        </p:nvSpPr>
        <p:spPr/>
        <p:txBody>
          <a:bodyPr/>
          <a:lstStyle/>
          <a:p>
            <a:fld id="{BB44241B-2579-694C-B40C-A1E3D5F0E4EC}" type="slidenum">
              <a:rPr lang="en-JP" smtClean="0"/>
              <a:t>17</a:t>
            </a:fld>
            <a:endParaRPr lang="en-JP"/>
          </a:p>
        </p:txBody>
      </p:sp>
    </p:spTree>
    <p:extLst>
      <p:ext uri="{BB962C8B-B14F-4D97-AF65-F5344CB8AC3E}">
        <p14:creationId xmlns:p14="http://schemas.microsoft.com/office/powerpoint/2010/main" val="1483433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957EC5-B94B-6313-47EF-2DC157BFC1E4}"/>
              </a:ext>
            </a:extLst>
          </p:cNvPr>
          <p:cNvPicPr>
            <a:picLocks noChangeAspect="1"/>
          </p:cNvPicPr>
          <p:nvPr/>
        </p:nvPicPr>
        <p:blipFill>
          <a:blip r:embed="rId3"/>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07AF2F21-12D2-72AC-FCF0-FB41EB7AD1B6}"/>
              </a:ext>
            </a:extLst>
          </p:cNvPr>
          <p:cNvSpPr txBox="1"/>
          <p:nvPr/>
        </p:nvSpPr>
        <p:spPr>
          <a:xfrm>
            <a:off x="72036" y="318575"/>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en-US" altLang="ja-JP" dirty="0">
                <a:latin typeface="+mj-ea"/>
                <a:ea typeface="+mj-ea"/>
              </a:rPr>
              <a:t>   5 /</a:t>
            </a:r>
            <a:endParaRPr lang="mn-MN" altLang="ja-JP" sz="1800" b="0" i="0" dirty="0">
              <a:effectLst/>
              <a:latin typeface="+mj-ea"/>
              <a:ea typeface="+mj-ea"/>
            </a:endParaRPr>
          </a:p>
        </p:txBody>
      </p:sp>
      <p:sp>
        <p:nvSpPr>
          <p:cNvPr id="7" name="Rounded Rectangle 6">
            <a:extLst>
              <a:ext uri="{FF2B5EF4-FFF2-40B4-BE49-F238E27FC236}">
                <a16:creationId xmlns:a16="http://schemas.microsoft.com/office/drawing/2014/main" id="{CAED25CD-AB64-C09B-0B72-0C3F97CB410D}"/>
              </a:ext>
            </a:extLst>
          </p:cNvPr>
          <p:cNvSpPr/>
          <p:nvPr/>
        </p:nvSpPr>
        <p:spPr>
          <a:xfrm>
            <a:off x="6553583" y="1178660"/>
            <a:ext cx="5527554" cy="11971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altLang="ja-JP" dirty="0"/>
              <a:t>Input Packet </a:t>
            </a:r>
            <a:r>
              <a:rPr lang="ja-JP" altLang="en-US"/>
              <a:t> </a:t>
            </a:r>
            <a:r>
              <a:rPr lang="en-US" dirty="0"/>
              <a:t>P = [IPS, IPD, PL]</a:t>
            </a:r>
          </a:p>
          <a:p>
            <a:pPr>
              <a:buFont typeface="Arial" panose="020B0604020202020204" pitchFamily="34" charset="0"/>
              <a:buChar char="•"/>
            </a:pPr>
            <a:r>
              <a:rPr lang="en-US" dirty="0"/>
              <a:t>IPS：</a:t>
            </a:r>
            <a:r>
              <a:rPr lang="ja-JP" altLang="en-US"/>
              <a:t>送信元</a:t>
            </a:r>
            <a:r>
              <a:rPr lang="en-US" dirty="0"/>
              <a:t>IP</a:t>
            </a:r>
            <a:r>
              <a:rPr lang="ja-JP" altLang="en-US"/>
              <a:t>アドレス（</a:t>
            </a:r>
            <a:r>
              <a:rPr lang="en-US" dirty="0"/>
              <a:t>IoT</a:t>
            </a:r>
            <a:r>
              <a:rPr lang="ja-JP" altLang="en-US"/>
              <a:t>デバイスの</a:t>
            </a:r>
            <a:r>
              <a:rPr lang="en-US" dirty="0"/>
              <a:t>IP）</a:t>
            </a:r>
          </a:p>
          <a:p>
            <a:pPr>
              <a:buFont typeface="Arial" panose="020B0604020202020204" pitchFamily="34" charset="0"/>
              <a:buChar char="•"/>
            </a:pPr>
            <a:r>
              <a:rPr lang="en-US" dirty="0"/>
              <a:t>IPD：</a:t>
            </a:r>
            <a:r>
              <a:rPr lang="ja-JP" altLang="en-US"/>
              <a:t>宛先</a:t>
            </a:r>
            <a:r>
              <a:rPr lang="en-US" dirty="0"/>
              <a:t>IP</a:t>
            </a:r>
            <a:r>
              <a:rPr lang="ja-JP" altLang="en-US"/>
              <a:t>アドレス（通常はサーバ）</a:t>
            </a:r>
          </a:p>
          <a:p>
            <a:pPr>
              <a:buFont typeface="Arial" panose="020B0604020202020204" pitchFamily="34" charset="0"/>
              <a:buChar char="•"/>
            </a:pPr>
            <a:r>
              <a:rPr lang="en-US" dirty="0" err="1"/>
              <a:t>PLT：payload</a:t>
            </a:r>
            <a:r>
              <a:rPr lang="en-US" dirty="0"/>
              <a:t> </a:t>
            </a:r>
            <a:r>
              <a:rPr lang="ja-JP" altLang="en-US"/>
              <a:t>サイズ（送信データの大きさ）</a:t>
            </a:r>
          </a:p>
        </p:txBody>
      </p:sp>
      <p:sp>
        <p:nvSpPr>
          <p:cNvPr id="14" name="TextBox 13">
            <a:extLst>
              <a:ext uri="{FF2B5EF4-FFF2-40B4-BE49-F238E27FC236}">
                <a16:creationId xmlns:a16="http://schemas.microsoft.com/office/drawing/2014/main" id="{BD4198EC-300E-A925-BA22-DD1302E866E8}"/>
              </a:ext>
            </a:extLst>
          </p:cNvPr>
          <p:cNvSpPr txBox="1"/>
          <p:nvPr/>
        </p:nvSpPr>
        <p:spPr>
          <a:xfrm>
            <a:off x="-1191025" y="1673382"/>
            <a:ext cx="5231828" cy="5632311"/>
          </a:xfrm>
          <a:prstGeom prst="rect">
            <a:avLst/>
          </a:prstGeom>
          <a:noFill/>
        </p:spPr>
        <p:txBody>
          <a:bodyPr wrap="square">
            <a:spAutoFit/>
          </a:bodyPr>
          <a:lstStyle/>
          <a:p>
            <a:pPr algn="ctr"/>
            <a:r>
              <a:rPr lang="en-US" dirty="0"/>
              <a:t>if IPS in blacklist:</a:t>
            </a:r>
          </a:p>
          <a:p>
            <a:pPr algn="ctr"/>
            <a:r>
              <a:rPr lang="en-US" dirty="0"/>
              <a:t>    drop(P)</a:t>
            </a:r>
            <a:endParaRPr lang="mn-MN" dirty="0"/>
          </a:p>
          <a:p>
            <a:pPr algn="ctr"/>
            <a:endParaRPr lang="mn-MN" dirty="0"/>
          </a:p>
          <a:p>
            <a:pPr algn="ctr"/>
            <a:r>
              <a:rPr lang="en-US" dirty="0"/>
              <a:t>if PL &gt; PLT:</a:t>
            </a:r>
          </a:p>
          <a:p>
            <a:pPr algn="ctr"/>
            <a:r>
              <a:rPr lang="en-US" dirty="0"/>
              <a:t>    drop(Packet)</a:t>
            </a:r>
          </a:p>
          <a:p>
            <a:pPr algn="ctr"/>
            <a:r>
              <a:rPr lang="en-US" dirty="0"/>
              <a:t>Add(IPS, Bl)</a:t>
            </a:r>
          </a:p>
          <a:p>
            <a:pPr algn="ctr"/>
            <a:r>
              <a:rPr lang="en-US" dirty="0"/>
              <a:t>    blacklist.add(IPS)</a:t>
            </a:r>
          </a:p>
          <a:p>
            <a:pPr algn="ctr"/>
            <a:endParaRPr lang="en-US" dirty="0"/>
          </a:p>
          <a:p>
            <a:pPr algn="ctr"/>
            <a:r>
              <a:rPr lang="en-US" dirty="0"/>
              <a:t>elif IPS in suspect_list:</a:t>
            </a:r>
            <a:endParaRPr lang="mn-MN" dirty="0"/>
          </a:p>
          <a:p>
            <a:pPr algn="ctr"/>
            <a:endParaRPr lang="en-US" dirty="0"/>
          </a:p>
          <a:p>
            <a:pPr algn="ctr"/>
            <a:r>
              <a:rPr lang="en-US" dirty="0"/>
              <a:t>    if PL == suspect_list[IPS]:</a:t>
            </a:r>
          </a:p>
          <a:p>
            <a:pPr algn="ctr"/>
            <a:r>
              <a:rPr lang="en-US" dirty="0"/>
              <a:t>        alert("DoS</a:t>
            </a:r>
            <a:r>
              <a:rPr lang="ja-JP" altLang="en-US"/>
              <a:t>検出</a:t>
            </a:r>
            <a:r>
              <a:rPr lang="en-US" altLang="ja-JP" dirty="0"/>
              <a:t>")</a:t>
            </a:r>
          </a:p>
          <a:p>
            <a:pPr algn="ctr"/>
            <a:r>
              <a:rPr lang="en-US" altLang="ja-JP" dirty="0"/>
              <a:t>        </a:t>
            </a:r>
            <a:r>
              <a:rPr lang="en-US" dirty="0"/>
              <a:t>blacklist.add(IPS)</a:t>
            </a:r>
            <a:endParaRPr lang="mn-MN" dirty="0"/>
          </a:p>
          <a:p>
            <a:pPr algn="ctr"/>
            <a:endParaRPr lang="en-US" dirty="0"/>
          </a:p>
          <a:p>
            <a:pPr algn="ctr"/>
            <a:r>
              <a:rPr lang="en-US" dirty="0"/>
              <a:t>    elif multiple_IPS_same_PL:</a:t>
            </a:r>
          </a:p>
          <a:p>
            <a:pPr algn="ctr"/>
            <a:r>
              <a:rPr lang="en-US" dirty="0"/>
              <a:t>        alert("DDoS</a:t>
            </a:r>
            <a:r>
              <a:rPr lang="ja-JP" altLang="en-US"/>
              <a:t>検出</a:t>
            </a:r>
            <a:r>
              <a:rPr lang="en-US" altLang="ja-JP" dirty="0"/>
              <a:t>")</a:t>
            </a:r>
            <a:endParaRPr lang="mn-MN" altLang="ja-JP" dirty="0"/>
          </a:p>
          <a:p>
            <a:pPr algn="ctr"/>
            <a:endParaRPr lang="en-US" altLang="ja-JP" dirty="0"/>
          </a:p>
          <a:p>
            <a:pPr algn="ctr"/>
            <a:r>
              <a:rPr lang="en-US" altLang="ja-JP" dirty="0"/>
              <a:t>        </a:t>
            </a:r>
            <a:endParaRPr lang="en-US" dirty="0"/>
          </a:p>
          <a:p>
            <a:pPr algn="ctr"/>
            <a:endParaRPr lang="en-US" dirty="0"/>
          </a:p>
          <a:p>
            <a:pPr algn="ctr"/>
            <a:endParaRPr lang="en-JP" dirty="0"/>
          </a:p>
        </p:txBody>
      </p:sp>
      <p:sp>
        <p:nvSpPr>
          <p:cNvPr id="15" name="正方形/長方形 9">
            <a:extLst>
              <a:ext uri="{FF2B5EF4-FFF2-40B4-BE49-F238E27FC236}">
                <a16:creationId xmlns:a16="http://schemas.microsoft.com/office/drawing/2014/main" id="{F653728A-2F14-4F8F-D2A7-5418091670F3}"/>
              </a:ext>
            </a:extLst>
          </p:cNvPr>
          <p:cNvSpPr/>
          <p:nvPr/>
        </p:nvSpPr>
        <p:spPr>
          <a:xfrm>
            <a:off x="281011" y="2496924"/>
            <a:ext cx="2419285" cy="11551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9">
            <a:extLst>
              <a:ext uri="{FF2B5EF4-FFF2-40B4-BE49-F238E27FC236}">
                <a16:creationId xmlns:a16="http://schemas.microsoft.com/office/drawing/2014/main" id="{13AB1F30-3A8C-53DD-E2EB-EEC8DEC89685}"/>
              </a:ext>
            </a:extLst>
          </p:cNvPr>
          <p:cNvSpPr/>
          <p:nvPr/>
        </p:nvSpPr>
        <p:spPr>
          <a:xfrm>
            <a:off x="458705" y="1207854"/>
            <a:ext cx="2063898" cy="10417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TextBox 16">
            <a:extLst>
              <a:ext uri="{FF2B5EF4-FFF2-40B4-BE49-F238E27FC236}">
                <a16:creationId xmlns:a16="http://schemas.microsoft.com/office/drawing/2014/main" id="{FC7E78C7-F9AA-C846-BB76-322B8742A7D0}"/>
              </a:ext>
            </a:extLst>
          </p:cNvPr>
          <p:cNvSpPr txBox="1"/>
          <p:nvPr/>
        </p:nvSpPr>
        <p:spPr>
          <a:xfrm>
            <a:off x="614356" y="1313941"/>
            <a:ext cx="1752596" cy="369332"/>
          </a:xfrm>
          <a:prstGeom prst="rect">
            <a:avLst/>
          </a:prstGeom>
          <a:noFill/>
        </p:spPr>
        <p:txBody>
          <a:bodyPr wrap="none" rtlCol="0">
            <a:spAutoFit/>
          </a:bodyPr>
          <a:lstStyle/>
          <a:p>
            <a:r>
              <a:rPr lang="en-US" dirty="0"/>
              <a:t>Extract P. header</a:t>
            </a:r>
            <a:endParaRPr lang="en-JP" dirty="0"/>
          </a:p>
        </p:txBody>
      </p:sp>
      <p:sp>
        <p:nvSpPr>
          <p:cNvPr id="18" name="正方形/長方形 9">
            <a:extLst>
              <a:ext uri="{FF2B5EF4-FFF2-40B4-BE49-F238E27FC236}">
                <a16:creationId xmlns:a16="http://schemas.microsoft.com/office/drawing/2014/main" id="{5BD67C3B-0610-17A0-10D2-5C796C93C9FC}"/>
              </a:ext>
            </a:extLst>
          </p:cNvPr>
          <p:cNvSpPr/>
          <p:nvPr/>
        </p:nvSpPr>
        <p:spPr>
          <a:xfrm>
            <a:off x="281011" y="3899433"/>
            <a:ext cx="2594132" cy="13371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TextBox 19">
            <a:extLst>
              <a:ext uri="{FF2B5EF4-FFF2-40B4-BE49-F238E27FC236}">
                <a16:creationId xmlns:a16="http://schemas.microsoft.com/office/drawing/2014/main" id="{C05B151D-492B-4D36-8A03-27EE71ED7E08}"/>
              </a:ext>
            </a:extLst>
          </p:cNvPr>
          <p:cNvSpPr txBox="1"/>
          <p:nvPr/>
        </p:nvSpPr>
        <p:spPr>
          <a:xfrm>
            <a:off x="6171752" y="2978647"/>
            <a:ext cx="4199853" cy="1200329"/>
          </a:xfrm>
          <a:prstGeom prst="rect">
            <a:avLst/>
          </a:prstGeom>
          <a:noFill/>
        </p:spPr>
        <p:txBody>
          <a:bodyPr wrap="square">
            <a:spAutoFit/>
          </a:bodyPr>
          <a:lstStyle/>
          <a:p>
            <a:pPr algn="ctr"/>
            <a:r>
              <a:rPr lang="en-US" dirty="0"/>
              <a:t>Add(IPS,TL)</a:t>
            </a:r>
          </a:p>
          <a:p>
            <a:pPr algn="ctr"/>
            <a:r>
              <a:rPr lang="en-US" dirty="0"/>
              <a:t>suspect_list.add(ip)</a:t>
            </a:r>
            <a:endParaRPr lang="mn-MN" dirty="0"/>
          </a:p>
          <a:p>
            <a:pPr algn="ctr"/>
            <a:r>
              <a:rPr lang="en-US" dirty="0"/>
              <a:t>else:</a:t>
            </a:r>
          </a:p>
          <a:p>
            <a:pPr algn="ctr"/>
            <a:r>
              <a:rPr lang="en-US" dirty="0"/>
              <a:t>    trust_list.add(IPS)</a:t>
            </a:r>
          </a:p>
        </p:txBody>
      </p:sp>
      <p:sp>
        <p:nvSpPr>
          <p:cNvPr id="21" name="吹き出し: 角を丸めた四角形 47">
            <a:extLst>
              <a:ext uri="{FF2B5EF4-FFF2-40B4-BE49-F238E27FC236}">
                <a16:creationId xmlns:a16="http://schemas.microsoft.com/office/drawing/2014/main" id="{55C408BE-CBF2-1AFE-F637-9709E0DD982B}"/>
              </a:ext>
            </a:extLst>
          </p:cNvPr>
          <p:cNvSpPr/>
          <p:nvPr/>
        </p:nvSpPr>
        <p:spPr>
          <a:xfrm rot="10800000" flipV="1">
            <a:off x="3278497" y="1127644"/>
            <a:ext cx="2893255" cy="109147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600" dirty="0">
                <a:solidFill>
                  <a:schemeClr val="tx1"/>
                </a:solidFill>
              </a:rPr>
              <a:t>IPS</a:t>
            </a:r>
            <a:r>
              <a:rPr lang="ja-JP" altLang="en-US" sz="1600">
                <a:solidFill>
                  <a:schemeClr val="tx1"/>
                </a:solidFill>
              </a:rPr>
              <a:t>がブラックリストにある場合：これらの</a:t>
            </a:r>
            <a:r>
              <a:rPr lang="en-US" sz="1600" dirty="0">
                <a:solidFill>
                  <a:schemeClr val="tx1"/>
                </a:solidFill>
              </a:rPr>
              <a:t>IP</a:t>
            </a:r>
            <a:r>
              <a:rPr lang="ja-JP" altLang="en-US" sz="1600">
                <a:solidFill>
                  <a:schemeClr val="tx1"/>
                </a:solidFill>
              </a:rPr>
              <a:t>は過去に攻撃を行った、または危険と判定されたもの</a:t>
            </a:r>
            <a:endParaRPr kumimoji="1" lang="en-US" altLang="ja-JP" sz="1600" dirty="0">
              <a:solidFill>
                <a:schemeClr val="tx1"/>
              </a:solidFill>
              <a:latin typeface="Meiryo" panose="020B0604030504040204" pitchFamily="34" charset="-128"/>
              <a:ea typeface="Meiryo" panose="020B0604030504040204" pitchFamily="34" charset="-128"/>
            </a:endParaRPr>
          </a:p>
        </p:txBody>
      </p:sp>
      <p:sp>
        <p:nvSpPr>
          <p:cNvPr id="22" name="正方形/長方形 9">
            <a:extLst>
              <a:ext uri="{FF2B5EF4-FFF2-40B4-BE49-F238E27FC236}">
                <a16:creationId xmlns:a16="http://schemas.microsoft.com/office/drawing/2014/main" id="{B106178F-46EE-7B1E-F882-2AE80D607F6B}"/>
              </a:ext>
            </a:extLst>
          </p:cNvPr>
          <p:cNvSpPr/>
          <p:nvPr/>
        </p:nvSpPr>
        <p:spPr>
          <a:xfrm>
            <a:off x="193587" y="5421779"/>
            <a:ext cx="2681556" cy="13371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吹き出し: 角を丸めた四角形 47">
            <a:extLst>
              <a:ext uri="{FF2B5EF4-FFF2-40B4-BE49-F238E27FC236}">
                <a16:creationId xmlns:a16="http://schemas.microsoft.com/office/drawing/2014/main" id="{FC56079E-A143-81F7-432D-E49D054D9B13}"/>
              </a:ext>
            </a:extLst>
          </p:cNvPr>
          <p:cNvSpPr/>
          <p:nvPr/>
        </p:nvSpPr>
        <p:spPr>
          <a:xfrm rot="10800000" flipV="1">
            <a:off x="3278497" y="2532491"/>
            <a:ext cx="2893255" cy="109147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ja-JP" altLang="en-US">
                <a:solidFill>
                  <a:schemeClr val="tx1"/>
                </a:solidFill>
              </a:rPr>
              <a:t>ペイロードサイズが閾値を超えている場合</a:t>
            </a:r>
            <a:endParaRPr kumimoji="1" lang="en-US" altLang="ja-JP" sz="1600" dirty="0">
              <a:solidFill>
                <a:schemeClr val="tx1"/>
              </a:solidFill>
              <a:latin typeface="Meiryo" panose="020B0604030504040204" pitchFamily="34" charset="-128"/>
              <a:ea typeface="Meiryo" panose="020B0604030504040204" pitchFamily="34" charset="-128"/>
            </a:endParaRPr>
          </a:p>
        </p:txBody>
      </p:sp>
      <p:sp>
        <p:nvSpPr>
          <p:cNvPr id="24" name="吹き出し: 角を丸めた四角形 47">
            <a:extLst>
              <a:ext uri="{FF2B5EF4-FFF2-40B4-BE49-F238E27FC236}">
                <a16:creationId xmlns:a16="http://schemas.microsoft.com/office/drawing/2014/main" id="{85BBCF34-D735-14C4-B5EE-902E1D2358F8}"/>
              </a:ext>
            </a:extLst>
          </p:cNvPr>
          <p:cNvSpPr/>
          <p:nvPr/>
        </p:nvSpPr>
        <p:spPr>
          <a:xfrm rot="10800000" flipV="1">
            <a:off x="3174797" y="4165482"/>
            <a:ext cx="3051965" cy="919299"/>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kumimoji="1" lang="en-US" altLang="ja-JP" dirty="0">
                <a:solidFill>
                  <a:schemeClr val="tx1"/>
                </a:solidFill>
                <a:latin typeface="+mj-ea"/>
                <a:ea typeface="+mj-ea"/>
              </a:rPr>
              <a:t>IPS</a:t>
            </a:r>
            <a:r>
              <a:rPr kumimoji="1" lang="ja-JP" altLang="en-US">
                <a:solidFill>
                  <a:schemeClr val="tx1"/>
                </a:solidFill>
                <a:latin typeface="+mj-ea"/>
                <a:ea typeface="+mj-ea"/>
              </a:rPr>
              <a:t>がサスペクトリストにある場合</a:t>
            </a:r>
            <a:endParaRPr kumimoji="1" lang="en-US" altLang="ja-JP" dirty="0">
              <a:solidFill>
                <a:schemeClr val="tx1"/>
              </a:solidFill>
              <a:latin typeface="+mj-ea"/>
              <a:ea typeface="+mj-ea"/>
            </a:endParaRPr>
          </a:p>
        </p:txBody>
      </p:sp>
      <p:sp>
        <p:nvSpPr>
          <p:cNvPr id="25" name="吹き出し: 角を丸めた四角形 47">
            <a:extLst>
              <a:ext uri="{FF2B5EF4-FFF2-40B4-BE49-F238E27FC236}">
                <a16:creationId xmlns:a16="http://schemas.microsoft.com/office/drawing/2014/main" id="{492D8997-864F-A6EF-9F72-D3FAAE7A9851}"/>
              </a:ext>
            </a:extLst>
          </p:cNvPr>
          <p:cNvSpPr/>
          <p:nvPr/>
        </p:nvSpPr>
        <p:spPr>
          <a:xfrm rot="10800000" flipV="1">
            <a:off x="3202744" y="5533800"/>
            <a:ext cx="2893255" cy="977844"/>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ja-JP" altLang="en-US">
                <a:solidFill>
                  <a:schemeClr val="tx1"/>
                </a:solidFill>
              </a:rPr>
              <a:t>複数の</a:t>
            </a:r>
            <a:r>
              <a:rPr lang="en-US" dirty="0">
                <a:solidFill>
                  <a:schemeClr val="tx1"/>
                </a:solidFill>
              </a:rPr>
              <a:t>IP</a:t>
            </a:r>
            <a:r>
              <a:rPr lang="ja-JP" altLang="en-US">
                <a:solidFill>
                  <a:schemeClr val="tx1"/>
                </a:solidFill>
              </a:rPr>
              <a:t>から同時にアクセスがある場合</a:t>
            </a:r>
            <a:endParaRPr kumimoji="1" lang="en-US" altLang="ja-JP" sz="2000" dirty="0">
              <a:solidFill>
                <a:schemeClr val="tx1"/>
              </a:solidFill>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B0907CBB-05C3-ED88-029C-D4C3BBB74719}"/>
              </a:ext>
            </a:extLst>
          </p:cNvPr>
          <p:cNvSpPr txBox="1"/>
          <p:nvPr/>
        </p:nvSpPr>
        <p:spPr>
          <a:xfrm>
            <a:off x="9870909" y="3394145"/>
            <a:ext cx="1311211" cy="646331"/>
          </a:xfrm>
          <a:prstGeom prst="rect">
            <a:avLst/>
          </a:prstGeom>
          <a:noFill/>
        </p:spPr>
        <p:txBody>
          <a:bodyPr wrap="square">
            <a:spAutoFit/>
          </a:bodyPr>
          <a:lstStyle/>
          <a:p>
            <a:r>
              <a:rPr lang="en-JP" dirty="0"/>
              <a:t>信頼リスト</a:t>
            </a:r>
          </a:p>
        </p:txBody>
      </p:sp>
      <p:sp>
        <p:nvSpPr>
          <p:cNvPr id="28" name="正方形/長方形 9">
            <a:extLst>
              <a:ext uri="{FF2B5EF4-FFF2-40B4-BE49-F238E27FC236}">
                <a16:creationId xmlns:a16="http://schemas.microsoft.com/office/drawing/2014/main" id="{0DA7DA40-7D33-09CD-EC0E-CA48B4BC12DD}"/>
              </a:ext>
            </a:extLst>
          </p:cNvPr>
          <p:cNvSpPr/>
          <p:nvPr/>
        </p:nvSpPr>
        <p:spPr>
          <a:xfrm>
            <a:off x="7205616" y="3074950"/>
            <a:ext cx="2063898" cy="10417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Slide Number Placeholder 28">
            <a:extLst>
              <a:ext uri="{FF2B5EF4-FFF2-40B4-BE49-F238E27FC236}">
                <a16:creationId xmlns:a16="http://schemas.microsoft.com/office/drawing/2014/main" id="{24E37A71-F873-1B48-B4B1-2A8EF6D91C0C}"/>
              </a:ext>
            </a:extLst>
          </p:cNvPr>
          <p:cNvSpPr>
            <a:spLocks noGrp="1"/>
          </p:cNvSpPr>
          <p:nvPr>
            <p:ph type="sldNum" sz="quarter" idx="12"/>
          </p:nvPr>
        </p:nvSpPr>
        <p:spPr/>
        <p:txBody>
          <a:bodyPr/>
          <a:lstStyle/>
          <a:p>
            <a:fld id="{BB44241B-2579-694C-B40C-A1E3D5F0E4EC}" type="slidenum">
              <a:rPr lang="en-JP" smtClean="0"/>
              <a:t>18</a:t>
            </a:fld>
            <a:endParaRPr lang="en-JP"/>
          </a:p>
        </p:txBody>
      </p:sp>
    </p:spTree>
    <p:extLst>
      <p:ext uri="{BB962C8B-B14F-4D97-AF65-F5344CB8AC3E}">
        <p14:creationId xmlns:p14="http://schemas.microsoft.com/office/powerpoint/2010/main" val="57428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2000"/>
                            </p:stCondLst>
                            <p:childTnLst>
                              <p:par>
                                <p:cTn id="33" presetID="10"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21" grpId="0" animBg="1"/>
      <p:bldP spid="22" grpId="0" animBg="1"/>
      <p:bldP spid="23" grpId="0" animBg="1"/>
      <p:bldP spid="24" grpId="0" animBg="1"/>
      <p:bldP spid="25"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58222E-D67F-4C7C-C16E-E17E066EA65A}"/>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D953438C-77F9-31A5-0DCD-92A317E50AF3}"/>
              </a:ext>
            </a:extLst>
          </p:cNvPr>
          <p:cNvSpPr txBox="1"/>
          <p:nvPr/>
        </p:nvSpPr>
        <p:spPr>
          <a:xfrm>
            <a:off x="262054" y="405808"/>
            <a:ext cx="609971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a:t>
            </a:r>
            <a:endParaRPr lang="mn-MN" altLang="ja-JP" sz="1800" b="0" i="0" dirty="0">
              <a:effectLst/>
              <a:latin typeface="+mj-ea"/>
              <a:ea typeface="+mj-ea"/>
            </a:endParaRPr>
          </a:p>
        </p:txBody>
      </p:sp>
      <p:sp>
        <p:nvSpPr>
          <p:cNvPr id="8" name="TextBox 7">
            <a:extLst>
              <a:ext uri="{FF2B5EF4-FFF2-40B4-BE49-F238E27FC236}">
                <a16:creationId xmlns:a16="http://schemas.microsoft.com/office/drawing/2014/main" id="{55F4025A-F40B-B760-DB90-285B1BD63DF9}"/>
              </a:ext>
            </a:extLst>
          </p:cNvPr>
          <p:cNvSpPr txBox="1"/>
          <p:nvPr/>
        </p:nvSpPr>
        <p:spPr>
          <a:xfrm>
            <a:off x="3391829" y="1014090"/>
            <a:ext cx="6646689" cy="369332"/>
          </a:xfrm>
          <a:prstGeom prst="rect">
            <a:avLst/>
          </a:prstGeom>
          <a:noFill/>
        </p:spPr>
        <p:txBody>
          <a:bodyPr wrap="square">
            <a:spAutoFit/>
          </a:bodyPr>
          <a:lstStyle/>
          <a:p>
            <a:pPr algn="l"/>
            <a:r>
              <a:rPr lang="en-US" i="0" dirty="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rPr>
              <a:t>DTLS</a:t>
            </a:r>
            <a:r>
              <a:rPr lang="ja-JP" altLang="en-US" i="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rPr>
              <a:t>ハンドシェイク前の認証フェーズ</a:t>
            </a:r>
            <a:r>
              <a:rPr lang="mn-MN" altLang="ja-JP" i="0" dirty="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rPr>
              <a:t> (</a:t>
            </a:r>
            <a:r>
              <a:rPr lang="en-US" dirty="0"/>
              <a:t>Enhanced DTLS + TP)</a:t>
            </a:r>
            <a:endParaRPr lang="ja-JP" altLang="en-US" i="0">
              <a:solidFill>
                <a:srgbClr val="404040"/>
              </a:solidFill>
              <a:effectLst/>
              <a:latin typeface="Times New Roman" panose="02020603050405020304" pitchFamily="18" charset="0"/>
              <a:ea typeface="Yu Mincho" panose="02020400000000000000" pitchFamily="18" charset="-128"/>
              <a:cs typeface="Times New Roman" panose="02020603050405020304" pitchFamily="18" charset="0"/>
            </a:endParaRPr>
          </a:p>
        </p:txBody>
      </p:sp>
      <p:sp>
        <p:nvSpPr>
          <p:cNvPr id="9" name="Rounded Rectangle 8">
            <a:extLst>
              <a:ext uri="{FF2B5EF4-FFF2-40B4-BE49-F238E27FC236}">
                <a16:creationId xmlns:a16="http://schemas.microsoft.com/office/drawing/2014/main" id="{66FBB201-CD4D-28CB-E059-8196804C28D0}"/>
              </a:ext>
            </a:extLst>
          </p:cNvPr>
          <p:cNvSpPr/>
          <p:nvPr/>
        </p:nvSpPr>
        <p:spPr>
          <a:xfrm>
            <a:off x="647107" y="1857390"/>
            <a:ext cx="1791629" cy="83200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404040"/>
                </a:solidFill>
                <a:latin typeface="quote-cjk-patch"/>
              </a:rPr>
              <a:t>Client </a:t>
            </a:r>
          </a:p>
          <a:p>
            <a:pPr algn="ctr"/>
            <a:r>
              <a:rPr lang="en-US" b="1" i="0" dirty="0">
                <a:solidFill>
                  <a:srgbClr val="404040"/>
                </a:solidFill>
                <a:effectLst/>
                <a:latin typeface="quote-cjk-patch"/>
              </a:rPr>
              <a:t>(TL)</a:t>
            </a:r>
            <a:endParaRPr lang="en-JP" dirty="0"/>
          </a:p>
        </p:txBody>
      </p:sp>
      <mc:AlternateContent xmlns:mc="http://schemas.openxmlformats.org/markup-compatibility/2006">
        <mc:Choice xmlns:am3d="http://schemas.microsoft.com/office/drawing/2017/model3d" Requires="am3d">
          <p:graphicFrame>
            <p:nvGraphicFramePr>
              <p:cNvPr id="10" name="3D Model 9" descr="Cloud">
                <a:extLst>
                  <a:ext uri="{FF2B5EF4-FFF2-40B4-BE49-F238E27FC236}">
                    <a16:creationId xmlns:a16="http://schemas.microsoft.com/office/drawing/2014/main" id="{73B51835-F741-FE7C-1B92-49ED4A3C501D}"/>
                  </a:ext>
                </a:extLst>
              </p:cNvPr>
              <p:cNvGraphicFramePr/>
              <p:nvPr>
                <p:extLst>
                  <p:ext uri="{D42A27DB-BD31-4B8C-83A1-F6EECF244321}">
                    <p14:modId xmlns:p14="http://schemas.microsoft.com/office/powerpoint/2010/main" val="156309855"/>
                  </p:ext>
                </p:extLst>
              </p:nvPr>
            </p:nvGraphicFramePr>
            <p:xfrm>
              <a:off x="2153481" y="1460592"/>
              <a:ext cx="737176" cy="812800"/>
            </p:xfrm>
            <a:graphic>
              <a:graphicData uri="http://schemas.microsoft.com/office/drawing/2017/model3d">
                <am3d:model3d r:embed="rId3">
                  <am3d:spPr>
                    <a:xfrm>
                      <a:off x="0" y="0"/>
                      <a:ext cx="737176" cy="812800"/>
                    </a:xfrm>
                    <a:prstGeom prst="rect">
                      <a:avLst/>
                    </a:prstGeom>
                  </am3d:spPr>
                  <am3d:camera>
                    <am3d:pos x="0" y="0" z="62240239"/>
                    <am3d:up dx="0" dy="36000000" dz="0"/>
                    <am3d:lookAt x="0" y="0" z="0"/>
                    <am3d:perspective fov="2700000"/>
                  </am3d:camera>
                  <am3d:trans>
                    <am3d:meterPerModelUnit n="12422867" d="1000000"/>
                    <am3d:preTrans dx="290649" dy="-11077296" dz="-120526"/>
                    <am3d:scale>
                      <am3d:sx n="1000000" d="1000000"/>
                      <am3d:sy n="1000000" d="1000000"/>
                      <am3d:sz n="1000000" d="1000000"/>
                    </am3d:scale>
                    <am3d:rot/>
                    <am3d:postTrans dx="0" dy="0" dz="0"/>
                  </am3d:trans>
                  <am3d:raster rName="Office3DRenderer" rVer="16.0.8326">
                    <am3d:blip r:embed="rId4"/>
                  </am3d:raster>
                  <am3d:objViewport viewportSz="100222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Cloud">
                <a:extLst>
                  <a:ext uri="{FF2B5EF4-FFF2-40B4-BE49-F238E27FC236}">
                    <a16:creationId xmlns:a16="http://schemas.microsoft.com/office/drawing/2014/main" id="{73B51835-F741-FE7C-1B92-49ED4A3C501D}"/>
                  </a:ext>
                </a:extLst>
              </p:cNvPr>
              <p:cNvPicPr>
                <a:picLocks noGrp="1" noRot="1" noChangeAspect="1" noMove="1" noResize="1" noEditPoints="1" noAdjustHandles="1" noChangeArrowheads="1" noChangeShapeType="1" noCrop="1"/>
              </p:cNvPicPr>
              <p:nvPr/>
            </p:nvPicPr>
            <p:blipFill>
              <a:blip r:embed="rId4"/>
              <a:stretch>
                <a:fillRect/>
              </a:stretch>
            </p:blipFill>
            <p:spPr>
              <a:xfrm>
                <a:off x="2153481" y="1460592"/>
                <a:ext cx="737176" cy="812800"/>
              </a:xfrm>
              <a:prstGeom prst="rect">
                <a:avLst/>
              </a:prstGeom>
            </p:spPr>
          </p:pic>
        </mc:Fallback>
      </mc:AlternateContent>
      <p:sp>
        <p:nvSpPr>
          <p:cNvPr id="11" name="Rounded Rectangle 10">
            <a:extLst>
              <a:ext uri="{FF2B5EF4-FFF2-40B4-BE49-F238E27FC236}">
                <a16:creationId xmlns:a16="http://schemas.microsoft.com/office/drawing/2014/main" id="{810246A7-AC14-7FB4-7293-5CB841AEE518}"/>
              </a:ext>
            </a:extLst>
          </p:cNvPr>
          <p:cNvSpPr/>
          <p:nvPr/>
        </p:nvSpPr>
        <p:spPr>
          <a:xfrm>
            <a:off x="3311912" y="1814734"/>
            <a:ext cx="1791629" cy="832003"/>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i="0" dirty="0">
                <a:solidFill>
                  <a:srgbClr val="404040"/>
                </a:solidFill>
                <a:effectLst/>
                <a:latin typeface="quote-cjk-patch"/>
              </a:rPr>
              <a:t>Trusted  Part (</a:t>
            </a:r>
            <a:r>
              <a:rPr lang="en-US" b="1" i="0" dirty="0" err="1">
                <a:solidFill>
                  <a:srgbClr val="404040"/>
                </a:solidFill>
                <a:effectLst/>
                <a:latin typeface="quote-cjk-patch"/>
              </a:rPr>
              <a:t>Tp</a:t>
            </a:r>
            <a:r>
              <a:rPr lang="en-US" b="1" i="0" dirty="0">
                <a:solidFill>
                  <a:srgbClr val="404040"/>
                </a:solidFill>
                <a:effectLst/>
                <a:latin typeface="quote-cjk-patch"/>
              </a:rPr>
              <a:t>)</a:t>
            </a:r>
            <a:endParaRPr lang="en-JP" dirty="0"/>
          </a:p>
        </p:txBody>
      </p:sp>
      <p:cxnSp>
        <p:nvCxnSpPr>
          <p:cNvPr id="16" name="Straight Connector 15">
            <a:extLst>
              <a:ext uri="{FF2B5EF4-FFF2-40B4-BE49-F238E27FC236}">
                <a16:creationId xmlns:a16="http://schemas.microsoft.com/office/drawing/2014/main" id="{7383523D-B6CF-5CA2-CAB4-BC3763D2F298}"/>
              </a:ext>
            </a:extLst>
          </p:cNvPr>
          <p:cNvCxnSpPr>
            <a:stCxn id="9" idx="2"/>
          </p:cNvCxnSpPr>
          <p:nvPr/>
        </p:nvCxnSpPr>
        <p:spPr>
          <a:xfrm flipH="1">
            <a:off x="1542921" y="2689393"/>
            <a:ext cx="1" cy="2904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8F64C91-D5EB-37A4-852A-2A3EE96E4A85}"/>
              </a:ext>
            </a:extLst>
          </p:cNvPr>
          <p:cNvCxnSpPr/>
          <p:nvPr/>
        </p:nvCxnSpPr>
        <p:spPr>
          <a:xfrm flipH="1">
            <a:off x="4299007" y="2689393"/>
            <a:ext cx="1" cy="2904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D260628-51B4-1CFE-34D6-E070137B8053}"/>
              </a:ext>
            </a:extLst>
          </p:cNvPr>
          <p:cNvCxnSpPr/>
          <p:nvPr/>
        </p:nvCxnSpPr>
        <p:spPr>
          <a:xfrm>
            <a:off x="1542921" y="3429000"/>
            <a:ext cx="27646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E6D072D-3932-5FCF-02C5-D9ADB0F6A592}"/>
              </a:ext>
            </a:extLst>
          </p:cNvPr>
          <p:cNvCxnSpPr>
            <a:cxnSpLocks/>
          </p:cNvCxnSpPr>
          <p:nvPr/>
        </p:nvCxnSpPr>
        <p:spPr>
          <a:xfrm flipH="1">
            <a:off x="1542921" y="4261004"/>
            <a:ext cx="2756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EE4AA69-C820-5380-FDEB-0256A4270B05}"/>
              </a:ext>
            </a:extLst>
          </p:cNvPr>
          <p:cNvCxnSpPr>
            <a:cxnSpLocks/>
          </p:cNvCxnSpPr>
          <p:nvPr/>
        </p:nvCxnSpPr>
        <p:spPr>
          <a:xfrm>
            <a:off x="1542921" y="5247073"/>
            <a:ext cx="27560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6682280-8CBE-CC17-0EB1-863FDF92869B}"/>
              </a:ext>
            </a:extLst>
          </p:cNvPr>
          <p:cNvSpPr txBox="1"/>
          <p:nvPr/>
        </p:nvSpPr>
        <p:spPr>
          <a:xfrm>
            <a:off x="1211351" y="6082860"/>
            <a:ext cx="3358612" cy="369332"/>
          </a:xfrm>
          <a:prstGeom prst="rect">
            <a:avLst/>
          </a:prstGeom>
          <a:noFill/>
        </p:spPr>
        <p:txBody>
          <a:bodyPr wrap="none" rtlCol="0">
            <a:spAutoFit/>
          </a:bodyPr>
          <a:lstStyle/>
          <a:p>
            <a:r>
              <a:rPr lang="en-JP" dirty="0"/>
              <a:t>Tp to Client Authentication phase </a:t>
            </a:r>
          </a:p>
        </p:txBody>
      </p:sp>
      <p:sp>
        <p:nvSpPr>
          <p:cNvPr id="42" name="TextBox 41">
            <a:extLst>
              <a:ext uri="{FF2B5EF4-FFF2-40B4-BE49-F238E27FC236}">
                <a16:creationId xmlns:a16="http://schemas.microsoft.com/office/drawing/2014/main" id="{15F8EEE6-32F5-671D-D195-70EA41E663DC}"/>
              </a:ext>
            </a:extLst>
          </p:cNvPr>
          <p:cNvSpPr txBox="1"/>
          <p:nvPr/>
        </p:nvSpPr>
        <p:spPr>
          <a:xfrm>
            <a:off x="2214509" y="3078049"/>
            <a:ext cx="1412910" cy="369332"/>
          </a:xfrm>
          <a:prstGeom prst="rect">
            <a:avLst/>
          </a:prstGeom>
          <a:noFill/>
        </p:spPr>
        <p:txBody>
          <a:bodyPr wrap="square">
            <a:spAutoFit/>
          </a:bodyPr>
          <a:lstStyle/>
          <a:p>
            <a:r>
              <a:rPr lang="en-US" dirty="0"/>
              <a:t>AuthREQ</a:t>
            </a:r>
            <a:endParaRPr lang="en-JP" dirty="0"/>
          </a:p>
        </p:txBody>
      </p:sp>
      <p:sp>
        <p:nvSpPr>
          <p:cNvPr id="44" name="TextBox 43">
            <a:extLst>
              <a:ext uri="{FF2B5EF4-FFF2-40B4-BE49-F238E27FC236}">
                <a16:creationId xmlns:a16="http://schemas.microsoft.com/office/drawing/2014/main" id="{6D382DFE-BAD8-55E8-D510-32B5272A328C}"/>
              </a:ext>
            </a:extLst>
          </p:cNvPr>
          <p:cNvSpPr txBox="1"/>
          <p:nvPr/>
        </p:nvSpPr>
        <p:spPr>
          <a:xfrm>
            <a:off x="2221072" y="3917533"/>
            <a:ext cx="1578162" cy="369332"/>
          </a:xfrm>
          <a:prstGeom prst="rect">
            <a:avLst/>
          </a:prstGeom>
          <a:noFill/>
        </p:spPr>
        <p:txBody>
          <a:bodyPr wrap="square">
            <a:spAutoFit/>
          </a:bodyPr>
          <a:lstStyle/>
          <a:p>
            <a:r>
              <a:rPr lang="en-US" dirty="0"/>
              <a:t>AuthREP</a:t>
            </a:r>
            <a:endParaRPr lang="en-JP" dirty="0"/>
          </a:p>
        </p:txBody>
      </p:sp>
      <p:sp>
        <p:nvSpPr>
          <p:cNvPr id="48" name="TextBox 47">
            <a:extLst>
              <a:ext uri="{FF2B5EF4-FFF2-40B4-BE49-F238E27FC236}">
                <a16:creationId xmlns:a16="http://schemas.microsoft.com/office/drawing/2014/main" id="{97C7DA92-10B9-98F7-9507-290A00B89165}"/>
              </a:ext>
            </a:extLst>
          </p:cNvPr>
          <p:cNvSpPr txBox="1"/>
          <p:nvPr/>
        </p:nvSpPr>
        <p:spPr>
          <a:xfrm>
            <a:off x="2221072" y="4838150"/>
            <a:ext cx="1791629" cy="369332"/>
          </a:xfrm>
          <a:prstGeom prst="rect">
            <a:avLst/>
          </a:prstGeom>
          <a:noFill/>
        </p:spPr>
        <p:txBody>
          <a:bodyPr wrap="square">
            <a:spAutoFit/>
          </a:bodyPr>
          <a:lstStyle/>
          <a:p>
            <a:r>
              <a:rPr lang="en-US" dirty="0"/>
              <a:t>{</a:t>
            </a:r>
            <a:r>
              <a:rPr lang="mn-MN" dirty="0"/>
              <a:t>  </a:t>
            </a:r>
            <a:r>
              <a:rPr lang="en-US" dirty="0"/>
              <a:t>K, SN</a:t>
            </a:r>
            <a:r>
              <a:rPr lang="mn-MN" dirty="0"/>
              <a:t> </a:t>
            </a:r>
            <a:endParaRPr lang="en-JP" dirty="0"/>
          </a:p>
        </p:txBody>
      </p:sp>
      <p:sp>
        <p:nvSpPr>
          <p:cNvPr id="50" name="TextBox 49">
            <a:extLst>
              <a:ext uri="{FF2B5EF4-FFF2-40B4-BE49-F238E27FC236}">
                <a16:creationId xmlns:a16="http://schemas.microsoft.com/office/drawing/2014/main" id="{D55D9083-2C86-2005-5FDD-5E526C23B9C2}"/>
              </a:ext>
            </a:extLst>
          </p:cNvPr>
          <p:cNvSpPr txBox="1"/>
          <p:nvPr/>
        </p:nvSpPr>
        <p:spPr>
          <a:xfrm>
            <a:off x="5813969" y="1731104"/>
            <a:ext cx="6097836" cy="1754326"/>
          </a:xfrm>
          <a:prstGeom prst="rect">
            <a:avLst/>
          </a:prstGeom>
          <a:noFill/>
        </p:spPr>
        <p:txBody>
          <a:bodyPr wrap="square">
            <a:spAutoFit/>
          </a:bodyPr>
          <a:lstStyle/>
          <a:p>
            <a:r>
              <a:rPr lang="en-JP" dirty="0"/>
              <a:t># TP側に登録されたK</a:t>
            </a:r>
          </a:p>
          <a:p>
            <a:r>
              <a:rPr lang="en-JP" dirty="0"/>
              <a:t>TP_stored_K = "s3cr3t_k3y_123"  </a:t>
            </a:r>
          </a:p>
          <a:p>
            <a:endParaRPr lang="en-JP" dirty="0"/>
          </a:p>
          <a:p>
            <a:r>
              <a:rPr lang="en-JP" dirty="0"/>
              <a:t># クライアント側のK (TPと同じ値)</a:t>
            </a:r>
          </a:p>
          <a:p>
            <a:r>
              <a:rPr lang="en-JP" dirty="0"/>
              <a:t>client_K = "s3cr3t_k3y_123" </a:t>
            </a:r>
          </a:p>
          <a:p>
            <a:endParaRPr lang="en-JP" dirty="0"/>
          </a:p>
        </p:txBody>
      </p:sp>
      <p:sp>
        <p:nvSpPr>
          <p:cNvPr id="52" name="TextBox 51">
            <a:extLst>
              <a:ext uri="{FF2B5EF4-FFF2-40B4-BE49-F238E27FC236}">
                <a16:creationId xmlns:a16="http://schemas.microsoft.com/office/drawing/2014/main" id="{C042D1D3-12BC-4B18-CA19-366CD596C2BD}"/>
              </a:ext>
            </a:extLst>
          </p:cNvPr>
          <p:cNvSpPr txBox="1"/>
          <p:nvPr/>
        </p:nvSpPr>
        <p:spPr>
          <a:xfrm>
            <a:off x="5974881" y="2706256"/>
            <a:ext cx="6217119" cy="646331"/>
          </a:xfrm>
          <a:prstGeom prst="rect">
            <a:avLst/>
          </a:prstGeom>
          <a:noFill/>
        </p:spPr>
        <p:txBody>
          <a:bodyPr wrap="square">
            <a:spAutoFit/>
          </a:bodyPr>
          <a:lstStyle/>
          <a:p>
            <a:endParaRPr lang="mn-MN" i="0" dirty="0">
              <a:solidFill>
                <a:srgbClr val="404040"/>
              </a:solidFill>
              <a:effectLst/>
              <a:latin typeface="Times New Roman" panose="02020603050405020304" pitchFamily="18" charset="0"/>
              <a:cs typeface="Times New Roman" panose="02020603050405020304" pitchFamily="18" charset="0"/>
            </a:endParaRPr>
          </a:p>
          <a:p>
            <a:endParaRPr lang="en-JP" dirty="0"/>
          </a:p>
        </p:txBody>
      </p:sp>
      <p:sp>
        <p:nvSpPr>
          <p:cNvPr id="56" name="TextBox 55">
            <a:extLst>
              <a:ext uri="{FF2B5EF4-FFF2-40B4-BE49-F238E27FC236}">
                <a16:creationId xmlns:a16="http://schemas.microsoft.com/office/drawing/2014/main" id="{C5E20E92-3F75-6783-6A2D-1EE3B66031BD}"/>
              </a:ext>
            </a:extLst>
          </p:cNvPr>
          <p:cNvSpPr txBox="1"/>
          <p:nvPr/>
        </p:nvSpPr>
        <p:spPr>
          <a:xfrm>
            <a:off x="5103541" y="3809019"/>
            <a:ext cx="6736648" cy="2308324"/>
          </a:xfrm>
          <a:prstGeom prst="rect">
            <a:avLst/>
          </a:prstGeom>
          <a:noFill/>
        </p:spPr>
        <p:txBody>
          <a:bodyPr wrap="square">
            <a:spAutoFit/>
          </a:bodyPr>
          <a:lstStyle/>
          <a:p>
            <a:r>
              <a:rPr lang="en-JP" sz="1600" dirty="0">
                <a:latin typeface="Times New Roman" panose="02020603050405020304" pitchFamily="18" charset="0"/>
                <a:cs typeface="Times New Roman" panose="02020603050405020304" pitchFamily="18" charset="0"/>
              </a:rPr>
              <a:t>なぜ安全か？</a:t>
            </a:r>
          </a:p>
          <a:p>
            <a:r>
              <a:rPr lang="en-JP" sz="1600" dirty="0">
                <a:latin typeface="Times New Roman" panose="02020603050405020304" pitchFamily="18" charset="0"/>
                <a:cs typeface="Times New Roman" panose="02020603050405020304" pitchFamily="18" charset="0"/>
              </a:rPr>
              <a:t>Kの秘密性:KはTPとクライアントのみが知っており、第三者には漏れない。</a:t>
            </a:r>
          </a:p>
          <a:p>
            <a:endParaRPr lang="en-JP" sz="1600" dirty="0">
              <a:latin typeface="Times New Roman" panose="02020603050405020304" pitchFamily="18" charset="0"/>
              <a:cs typeface="Times New Roman" panose="02020603050405020304" pitchFamily="18" charset="0"/>
            </a:endParaRPr>
          </a:p>
          <a:p>
            <a:r>
              <a:rPr lang="en-JP" sz="1600" dirty="0">
                <a:latin typeface="Times New Roman" panose="02020603050405020304" pitchFamily="18" charset="0"/>
                <a:cs typeface="Times New Roman" panose="02020603050405020304" pitchFamily="18" charset="0"/>
              </a:rPr>
              <a:t>IPチェックとの組み合わせ: IPアドレスだけでなく、Kによる二重認証でより強固に。</a:t>
            </a:r>
          </a:p>
          <a:p>
            <a:endParaRPr lang="en-JP" sz="1600" dirty="0">
              <a:latin typeface="Times New Roman" panose="02020603050405020304" pitchFamily="18" charset="0"/>
              <a:cs typeface="Times New Roman" panose="02020603050405020304" pitchFamily="18" charset="0"/>
            </a:endParaRPr>
          </a:p>
          <a:p>
            <a:r>
              <a:rPr lang="en-JP" sz="1600" dirty="0">
                <a:latin typeface="Times New Roman" panose="02020603050405020304" pitchFamily="18" charset="0"/>
                <a:cs typeface="Times New Roman" panose="02020603050405020304" pitchFamily="18" charset="0"/>
              </a:rPr>
              <a:t>リプレイ攻撃防止: セッションごとに一時的なSession Keyを生成するため、過去の通信を悪用できない。</a:t>
            </a:r>
          </a:p>
        </p:txBody>
      </p:sp>
      <p:sp>
        <p:nvSpPr>
          <p:cNvPr id="57" name="Slide Number Placeholder 56">
            <a:extLst>
              <a:ext uri="{FF2B5EF4-FFF2-40B4-BE49-F238E27FC236}">
                <a16:creationId xmlns:a16="http://schemas.microsoft.com/office/drawing/2014/main" id="{97797101-9227-8B07-33B0-7A066073B80A}"/>
              </a:ext>
            </a:extLst>
          </p:cNvPr>
          <p:cNvSpPr>
            <a:spLocks noGrp="1"/>
          </p:cNvSpPr>
          <p:nvPr>
            <p:ph type="sldNum" sz="quarter" idx="12"/>
          </p:nvPr>
        </p:nvSpPr>
        <p:spPr/>
        <p:txBody>
          <a:bodyPr/>
          <a:lstStyle/>
          <a:p>
            <a:fld id="{BB44241B-2579-694C-B40C-A1E3D5F0E4EC}" type="slidenum">
              <a:rPr lang="en-JP" smtClean="0"/>
              <a:t>19</a:t>
            </a:fld>
            <a:endParaRPr lang="en-JP"/>
          </a:p>
        </p:txBody>
      </p:sp>
    </p:spTree>
    <p:extLst>
      <p:ext uri="{BB962C8B-B14F-4D97-AF65-F5344CB8AC3E}">
        <p14:creationId xmlns:p14="http://schemas.microsoft.com/office/powerpoint/2010/main" val="4041572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1B7B53-F636-1C9D-BF9B-D7B68141ACBF}"/>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8633A13C-144B-2F50-B093-FB9A6FE95410}"/>
              </a:ext>
            </a:extLst>
          </p:cNvPr>
          <p:cNvSpPr txBox="1"/>
          <p:nvPr/>
        </p:nvSpPr>
        <p:spPr>
          <a:xfrm>
            <a:off x="72036" y="474197"/>
            <a:ext cx="6097836" cy="465512"/>
          </a:xfrm>
          <a:prstGeom prst="rect">
            <a:avLst/>
          </a:prstGeom>
          <a:noFill/>
        </p:spPr>
        <p:txBody>
          <a:bodyPr wrap="square">
            <a:spAutoFit/>
          </a:bodyPr>
          <a:lstStyle/>
          <a:p>
            <a:pPr marL="177800">
              <a:lnSpc>
                <a:spcPct val="150000"/>
              </a:lnSpc>
              <a:spcBef>
                <a:spcPts val="0"/>
              </a:spcBef>
              <a:buSzPts val="2800"/>
            </a:pPr>
            <a:r>
              <a:rPr lang="en-US" sz="1800" b="0" i="0" dirty="0">
                <a:effectLst/>
                <a:latin typeface="+mj-ea"/>
                <a:ea typeface="+mj-ea"/>
              </a:rPr>
              <a:t>Enhanced DTLS</a:t>
            </a:r>
            <a:r>
              <a:rPr lang="ja-JP" altLang="en-US" sz="1800" b="0" i="0">
                <a:effectLst/>
                <a:latin typeface="+mj-ea"/>
                <a:ea typeface="+mj-ea"/>
              </a:rPr>
              <a:t>の特徴と提案手法</a:t>
            </a:r>
            <a:r>
              <a:rPr lang="mn-MN" altLang="ja-JP" sz="1800" b="0" i="0" dirty="0">
                <a:effectLst/>
                <a:latin typeface="+mj-ea"/>
                <a:ea typeface="+mj-ea"/>
              </a:rPr>
              <a:t> </a:t>
            </a:r>
            <a:r>
              <a:rPr lang="en-US" altLang="ja-JP" dirty="0">
                <a:latin typeface="+mj-ea"/>
                <a:ea typeface="+mj-ea"/>
              </a:rPr>
              <a:t>   4 /</a:t>
            </a:r>
            <a:endParaRPr lang="mn-MN" altLang="ja-JP" sz="1800" b="0" i="0" dirty="0">
              <a:effectLst/>
              <a:latin typeface="+mj-ea"/>
              <a:ea typeface="+mj-ea"/>
            </a:endParaRPr>
          </a:p>
        </p:txBody>
      </p:sp>
      <p:pic>
        <p:nvPicPr>
          <p:cNvPr id="15" name="Picture 14">
            <a:extLst>
              <a:ext uri="{FF2B5EF4-FFF2-40B4-BE49-F238E27FC236}">
                <a16:creationId xmlns:a16="http://schemas.microsoft.com/office/drawing/2014/main" id="{D29E73F6-3E2A-C688-11A6-B4A071B6E373}"/>
              </a:ext>
            </a:extLst>
          </p:cNvPr>
          <p:cNvPicPr>
            <a:picLocks noChangeAspect="1"/>
          </p:cNvPicPr>
          <p:nvPr/>
        </p:nvPicPr>
        <p:blipFill>
          <a:blip r:embed="rId3"/>
          <a:stretch>
            <a:fillRect/>
          </a:stretch>
        </p:blipFill>
        <p:spPr>
          <a:xfrm>
            <a:off x="6321144" y="1194084"/>
            <a:ext cx="3709088" cy="2044700"/>
          </a:xfrm>
          <a:prstGeom prst="rect">
            <a:avLst/>
          </a:prstGeom>
        </p:spPr>
      </p:pic>
      <p:pic>
        <p:nvPicPr>
          <p:cNvPr id="22" name="Picture 21">
            <a:extLst>
              <a:ext uri="{FF2B5EF4-FFF2-40B4-BE49-F238E27FC236}">
                <a16:creationId xmlns:a16="http://schemas.microsoft.com/office/drawing/2014/main" id="{2F1B45FF-1E62-EBA4-8193-413A3972F987}"/>
              </a:ext>
            </a:extLst>
          </p:cNvPr>
          <p:cNvPicPr>
            <a:picLocks noChangeAspect="1"/>
          </p:cNvPicPr>
          <p:nvPr/>
        </p:nvPicPr>
        <p:blipFill>
          <a:blip r:embed="rId4"/>
          <a:stretch>
            <a:fillRect/>
          </a:stretch>
        </p:blipFill>
        <p:spPr>
          <a:xfrm>
            <a:off x="359163" y="1326286"/>
            <a:ext cx="4840536" cy="5189719"/>
          </a:xfrm>
          <a:prstGeom prst="rect">
            <a:avLst/>
          </a:prstGeom>
        </p:spPr>
      </p:pic>
      <p:sp>
        <p:nvSpPr>
          <p:cNvPr id="24" name="TextBox 23">
            <a:extLst>
              <a:ext uri="{FF2B5EF4-FFF2-40B4-BE49-F238E27FC236}">
                <a16:creationId xmlns:a16="http://schemas.microsoft.com/office/drawing/2014/main" id="{06035886-F0DA-DCD8-18E3-DCA76F7E8342}"/>
              </a:ext>
            </a:extLst>
          </p:cNvPr>
          <p:cNvSpPr txBox="1"/>
          <p:nvPr/>
        </p:nvSpPr>
        <p:spPr>
          <a:xfrm>
            <a:off x="5735001" y="3632591"/>
            <a:ext cx="5336951" cy="2862322"/>
          </a:xfrm>
          <a:prstGeom prst="rect">
            <a:avLst/>
          </a:prstGeom>
          <a:noFill/>
        </p:spPr>
        <p:txBody>
          <a:bodyPr wrap="square">
            <a:spAutoFit/>
          </a:bodyPr>
          <a:lstStyle/>
          <a:p>
            <a:pPr algn="l">
              <a:buFont typeface="+mj-lt"/>
              <a:buAutoNum type="arabicPeriod"/>
            </a:pPr>
            <a:r>
              <a:rPr lang="ja-JP" altLang="en-US" b="1" i="0">
                <a:solidFill>
                  <a:srgbClr val="404040"/>
                </a:solidFill>
                <a:effectLst/>
                <a:latin typeface="+mj-ea"/>
                <a:ea typeface="+mj-ea"/>
              </a:rPr>
              <a:t>クライアント認証完了</a:t>
            </a:r>
            <a:endParaRPr lang="ja-JP" altLang="en-US" b="0" i="0">
              <a:solidFill>
                <a:srgbClr val="404040"/>
              </a:solidFill>
              <a:effectLst/>
              <a:latin typeface="+mj-ea"/>
              <a:ea typeface="+mj-ea"/>
            </a:endParaRPr>
          </a:p>
          <a:p>
            <a:pPr marL="742950" lvl="1" indent="-285750" algn="l">
              <a:buFont typeface="Arial" panose="020B0604020202020204" pitchFamily="34" charset="0"/>
              <a:buChar char="•"/>
            </a:pPr>
            <a:r>
              <a:rPr lang="en-US" b="0" i="0" dirty="0">
                <a:solidFill>
                  <a:srgbClr val="404040"/>
                </a:solidFill>
                <a:effectLst/>
                <a:latin typeface="+mj-ea"/>
                <a:ea typeface="+mj-ea"/>
              </a:rPr>
              <a:t>TP</a:t>
            </a:r>
            <a:r>
              <a:rPr lang="ja-JP" altLang="en-US" b="0" i="0">
                <a:solidFill>
                  <a:srgbClr val="404040"/>
                </a:solidFill>
                <a:effectLst/>
                <a:latin typeface="+mj-ea"/>
                <a:ea typeface="+mj-ea"/>
              </a:rPr>
              <a:t>によりクライアントの正当性が確認済み</a:t>
            </a:r>
            <a:endParaRPr lang="en-US" altLang="ja-JP" b="0" i="0" dirty="0">
              <a:solidFill>
                <a:srgbClr val="404040"/>
              </a:solidFill>
              <a:effectLst/>
              <a:latin typeface="+mj-ea"/>
              <a:ea typeface="+mj-ea"/>
            </a:endParaRPr>
          </a:p>
          <a:p>
            <a:pPr marL="742950" lvl="1" indent="-285750" algn="l">
              <a:buFont typeface="Arial" panose="020B0604020202020204" pitchFamily="34" charset="0"/>
              <a:buChar char="•"/>
            </a:pPr>
            <a:endParaRPr lang="ja-JP" altLang="en-US" b="0" i="0">
              <a:solidFill>
                <a:srgbClr val="404040"/>
              </a:solidFill>
              <a:effectLst/>
              <a:latin typeface="+mj-ea"/>
              <a:ea typeface="+mj-ea"/>
            </a:endParaRPr>
          </a:p>
          <a:p>
            <a:pPr algn="l">
              <a:buFont typeface="+mj-lt"/>
              <a:buAutoNum type="arabicPeriod"/>
            </a:pPr>
            <a:r>
              <a:rPr lang="en-US" i="0" dirty="0">
                <a:solidFill>
                  <a:srgbClr val="404040"/>
                </a:solidFill>
                <a:effectLst/>
                <a:latin typeface="+mj-ea"/>
                <a:ea typeface="+mj-ea"/>
              </a:rPr>
              <a:t>Client Hello </a:t>
            </a:r>
            <a:r>
              <a:rPr lang="ja-JP" altLang="en-US" b="1" i="0">
                <a:solidFill>
                  <a:srgbClr val="404040"/>
                </a:solidFill>
                <a:effectLst/>
                <a:latin typeface="+mj-ea"/>
                <a:ea typeface="+mj-ea"/>
              </a:rPr>
              <a:t>送信</a:t>
            </a:r>
            <a:endParaRPr lang="en-US" altLang="ja-JP" b="1" i="0" dirty="0">
              <a:solidFill>
                <a:srgbClr val="404040"/>
              </a:solidFill>
              <a:effectLst/>
              <a:latin typeface="+mj-ea"/>
              <a:ea typeface="+mj-ea"/>
            </a:endParaRPr>
          </a:p>
          <a:p>
            <a:pPr algn="l">
              <a:buFont typeface="+mj-lt"/>
              <a:buAutoNum type="arabicPeriod"/>
            </a:pPr>
            <a:endParaRPr lang="ja-JP" altLang="en-US" b="0" i="0">
              <a:solidFill>
                <a:srgbClr val="404040"/>
              </a:solidFill>
              <a:effectLst/>
              <a:latin typeface="+mj-ea"/>
              <a:ea typeface="+mj-ea"/>
            </a:endParaRPr>
          </a:p>
          <a:p>
            <a:pPr marL="742950" lvl="1" indent="-285750" algn="l">
              <a:buFont typeface="Arial" panose="020B0604020202020204" pitchFamily="34" charset="0"/>
              <a:buChar char="•"/>
            </a:pPr>
            <a:r>
              <a:rPr lang="ja-JP" altLang="en-US" b="0" i="0">
                <a:solidFill>
                  <a:srgbClr val="404040"/>
                </a:solidFill>
                <a:effectLst/>
                <a:latin typeface="+mj-ea"/>
                <a:ea typeface="+mj-ea"/>
              </a:rPr>
              <a:t>クライアントがサーバーに接続開始を要求</a:t>
            </a:r>
          </a:p>
          <a:p>
            <a:pPr algn="l">
              <a:buFont typeface="+mj-lt"/>
              <a:buAutoNum type="arabicPeriod"/>
            </a:pPr>
            <a:r>
              <a:rPr lang="ja-JP" altLang="en-US" b="1" i="0">
                <a:solidFill>
                  <a:srgbClr val="404040"/>
                </a:solidFill>
                <a:effectLst/>
                <a:latin typeface="+mj-ea"/>
                <a:ea typeface="+mj-ea"/>
              </a:rPr>
              <a:t>サーバーによる鍵照合</a:t>
            </a:r>
            <a:endParaRPr lang="en-US" altLang="ja-JP" b="1" i="0" dirty="0">
              <a:solidFill>
                <a:srgbClr val="404040"/>
              </a:solidFill>
              <a:effectLst/>
              <a:latin typeface="+mj-ea"/>
              <a:ea typeface="+mj-ea"/>
            </a:endParaRPr>
          </a:p>
          <a:p>
            <a:pPr algn="l">
              <a:buFont typeface="+mj-lt"/>
              <a:buAutoNum type="arabicPeriod"/>
            </a:pPr>
            <a:endParaRPr lang="ja-JP" altLang="en-US" b="0" i="0">
              <a:solidFill>
                <a:srgbClr val="404040"/>
              </a:solidFill>
              <a:effectLst/>
              <a:latin typeface="+mj-ea"/>
              <a:ea typeface="+mj-ea"/>
            </a:endParaRPr>
          </a:p>
          <a:p>
            <a:pPr marL="742950" lvl="1" indent="-285750" algn="l">
              <a:buFont typeface="Arial" panose="020B0604020202020204" pitchFamily="34" charset="0"/>
              <a:buChar char="•"/>
            </a:pPr>
            <a:r>
              <a:rPr lang="ja-JP" altLang="en-US" b="0" i="0">
                <a:solidFill>
                  <a:srgbClr val="404040"/>
                </a:solidFill>
                <a:effectLst/>
                <a:latin typeface="+mj-ea"/>
                <a:ea typeface="+mj-ea"/>
              </a:rPr>
              <a:t>サーバーは</a:t>
            </a:r>
            <a:r>
              <a:rPr lang="en-US" b="0" i="0" dirty="0">
                <a:solidFill>
                  <a:srgbClr val="404040"/>
                </a:solidFill>
                <a:effectLst/>
                <a:latin typeface="+mj-ea"/>
                <a:ea typeface="+mj-ea"/>
              </a:rPr>
              <a:t>TP</a:t>
            </a:r>
            <a:r>
              <a:rPr lang="ja-JP" altLang="en-US" b="0" i="0">
                <a:solidFill>
                  <a:srgbClr val="404040"/>
                </a:solidFill>
                <a:effectLst/>
                <a:latin typeface="+mj-ea"/>
                <a:ea typeface="+mj-ea"/>
              </a:rPr>
              <a:t>と共有する認証鍵を検証</a:t>
            </a:r>
          </a:p>
          <a:p>
            <a:pPr algn="l">
              <a:buFont typeface="+mj-lt"/>
              <a:buAutoNum type="arabicPeriod"/>
            </a:pPr>
            <a:r>
              <a:rPr lang="ja-JP" altLang="en-US" b="1" i="0">
                <a:solidFill>
                  <a:srgbClr val="404040"/>
                </a:solidFill>
                <a:effectLst/>
                <a:latin typeface="+mj-ea"/>
                <a:ea typeface="+mj-ea"/>
              </a:rPr>
              <a:t>接続開始 </a:t>
            </a:r>
            <a:r>
              <a:rPr lang="en-US" i="0" dirty="0">
                <a:solidFill>
                  <a:srgbClr val="404040"/>
                </a:solidFill>
                <a:effectLst/>
                <a:latin typeface="+mj-ea"/>
                <a:ea typeface="+mj-ea"/>
              </a:rPr>
              <a:t>or</a:t>
            </a:r>
            <a:r>
              <a:rPr lang="en-US" b="1" i="0" dirty="0">
                <a:solidFill>
                  <a:srgbClr val="404040"/>
                </a:solidFill>
                <a:effectLst/>
                <a:latin typeface="+mj-ea"/>
                <a:ea typeface="+mj-ea"/>
              </a:rPr>
              <a:t> </a:t>
            </a:r>
            <a:r>
              <a:rPr lang="ja-JP" altLang="en-US" b="1" i="0">
                <a:solidFill>
                  <a:srgbClr val="404040"/>
                </a:solidFill>
                <a:effectLst/>
                <a:latin typeface="+mj-ea"/>
                <a:ea typeface="+mj-ea"/>
              </a:rPr>
              <a:t>拒否</a:t>
            </a:r>
            <a:endParaRPr lang="ja-JP" altLang="en-US" b="0" i="0">
              <a:solidFill>
                <a:srgbClr val="404040"/>
              </a:solidFill>
              <a:effectLst/>
              <a:latin typeface="+mj-ea"/>
              <a:ea typeface="+mj-ea"/>
            </a:endParaRPr>
          </a:p>
        </p:txBody>
      </p:sp>
      <p:sp>
        <p:nvSpPr>
          <p:cNvPr id="25" name="Slide Number Placeholder 24">
            <a:extLst>
              <a:ext uri="{FF2B5EF4-FFF2-40B4-BE49-F238E27FC236}">
                <a16:creationId xmlns:a16="http://schemas.microsoft.com/office/drawing/2014/main" id="{46249C96-37DE-A91F-D0DB-4C6D17E79390}"/>
              </a:ext>
            </a:extLst>
          </p:cNvPr>
          <p:cNvSpPr>
            <a:spLocks noGrp="1"/>
          </p:cNvSpPr>
          <p:nvPr>
            <p:ph type="sldNum" sz="quarter" idx="12"/>
          </p:nvPr>
        </p:nvSpPr>
        <p:spPr/>
        <p:txBody>
          <a:bodyPr/>
          <a:lstStyle/>
          <a:p>
            <a:fld id="{BB44241B-2579-694C-B40C-A1E3D5F0E4EC}" type="slidenum">
              <a:rPr lang="en-JP" smtClean="0"/>
              <a:t>20</a:t>
            </a:fld>
            <a:endParaRPr lang="en-JP"/>
          </a:p>
        </p:txBody>
      </p:sp>
    </p:spTree>
    <p:extLst>
      <p:ext uri="{BB962C8B-B14F-4D97-AF65-F5344CB8AC3E}">
        <p14:creationId xmlns:p14="http://schemas.microsoft.com/office/powerpoint/2010/main" val="1581995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14830A-693E-560C-2993-3121057FE652}"/>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9C5AE963-DC4F-ED9D-D8FA-9996C246F540}"/>
              </a:ext>
            </a:extLst>
          </p:cNvPr>
          <p:cNvSpPr txBox="1"/>
          <p:nvPr/>
        </p:nvSpPr>
        <p:spPr>
          <a:xfrm>
            <a:off x="878595" y="1727773"/>
            <a:ext cx="5621356" cy="3908442"/>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800"/>
              <a:t>研究背景・目的</a:t>
            </a:r>
            <a:endParaRPr lang="en-US" altLang="ja-JP" sz="2800" dirty="0"/>
          </a:p>
          <a:p>
            <a:pPr marL="635000" indent="-457200">
              <a:lnSpc>
                <a:spcPct val="150000"/>
              </a:lnSpc>
              <a:spcBef>
                <a:spcPts val="0"/>
              </a:spcBef>
              <a:buSzPts val="2800"/>
              <a:buFont typeface="Wingdings" pitchFamily="2" charset="2"/>
              <a:buChar char="§"/>
            </a:pPr>
            <a:r>
              <a:rPr lang="en-US" sz="2800" dirty="0"/>
              <a:t>CoAP</a:t>
            </a:r>
            <a:r>
              <a:rPr lang="ja-JP" altLang="en-US" sz="2800"/>
              <a:t>と</a:t>
            </a:r>
            <a:r>
              <a:rPr lang="en-US" sz="2800" dirty="0"/>
              <a:t>DTLS</a:t>
            </a:r>
            <a:r>
              <a:rPr lang="ja-JP" altLang="en-US" sz="2800"/>
              <a:t>の基礎</a:t>
            </a:r>
            <a:endParaRPr lang="mn-MN" altLang="ja-JP" sz="2800" dirty="0"/>
          </a:p>
          <a:p>
            <a:pPr marL="635000" indent="-457200">
              <a:lnSpc>
                <a:spcPct val="150000"/>
              </a:lnSpc>
              <a:spcBef>
                <a:spcPts val="0"/>
              </a:spcBef>
              <a:buSzPts val="2800"/>
              <a:buFont typeface="Wingdings" pitchFamily="2" charset="2"/>
              <a:buChar char="§"/>
            </a:pPr>
            <a:r>
              <a:rPr lang="en-US" sz="2800" b="0" i="0" dirty="0">
                <a:solidFill>
                  <a:srgbClr val="252525"/>
                </a:solidFill>
                <a:effectLst/>
                <a:latin typeface="Roboto" panose="02000000000000000000" pitchFamily="2" charset="0"/>
              </a:rPr>
              <a:t>Enhanced DTLS</a:t>
            </a:r>
            <a:r>
              <a:rPr lang="ja-JP" altLang="en-US" sz="2800" b="0" i="0">
                <a:solidFill>
                  <a:srgbClr val="252525"/>
                </a:solidFill>
                <a:effectLst/>
                <a:latin typeface="Roboto" panose="02000000000000000000" pitchFamily="2" charset="0"/>
              </a:rPr>
              <a:t>の特徴と提案手法</a:t>
            </a:r>
            <a:endParaRPr lang="mn-MN" altLang="ja-JP" sz="2800" b="0" i="0" dirty="0">
              <a:solidFill>
                <a:srgbClr val="252525"/>
              </a:solidFill>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solidFill>
                  <a:srgbClr val="C00000"/>
                </a:solidFill>
              </a:rPr>
              <a:t>実験方法と評価</a:t>
            </a:r>
            <a:endParaRPr lang="mn-MN" altLang="ja-JP" sz="2800" dirty="0">
              <a:solidFill>
                <a:srgbClr val="C00000"/>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800"/>
              <a:t>まとめ・今後の</a:t>
            </a:r>
            <a:r>
              <a:rPr kumimoji="1" lang="ja-JP" altLang="en-US" sz="2800">
                <a:latin typeface="+mj-ea"/>
                <a:ea typeface="+mj-ea"/>
              </a:rPr>
              <a:t>課題</a:t>
            </a:r>
            <a:endParaRPr lang="en-US" altLang="ja-JP" sz="2800" dirty="0"/>
          </a:p>
        </p:txBody>
      </p:sp>
      <p:sp>
        <p:nvSpPr>
          <p:cNvPr id="8" name="TextBox 7">
            <a:extLst>
              <a:ext uri="{FF2B5EF4-FFF2-40B4-BE49-F238E27FC236}">
                <a16:creationId xmlns:a16="http://schemas.microsoft.com/office/drawing/2014/main" id="{1109D99B-2B73-EFAE-0910-F9B9BFCFD382}"/>
              </a:ext>
            </a:extLst>
          </p:cNvPr>
          <p:cNvSpPr txBox="1"/>
          <p:nvPr/>
        </p:nvSpPr>
        <p:spPr>
          <a:xfrm>
            <a:off x="1125097" y="871320"/>
            <a:ext cx="6097836" cy="461665"/>
          </a:xfrm>
          <a:prstGeom prst="rect">
            <a:avLst/>
          </a:prstGeom>
          <a:noFill/>
        </p:spPr>
        <p:txBody>
          <a:bodyPr wrap="square">
            <a:spAutoFit/>
          </a:bodyPr>
          <a:lstStyle/>
          <a:p>
            <a:r>
              <a:rPr lang="ja-JP" altLang="en-US" sz="2400">
                <a:latin typeface="+mj-ea"/>
              </a:rPr>
              <a:t>目次</a:t>
            </a:r>
            <a:endParaRPr lang="en-JP" sz="2400" dirty="0"/>
          </a:p>
        </p:txBody>
      </p:sp>
      <p:sp>
        <p:nvSpPr>
          <p:cNvPr id="9" name="Slide Number Placeholder 8">
            <a:extLst>
              <a:ext uri="{FF2B5EF4-FFF2-40B4-BE49-F238E27FC236}">
                <a16:creationId xmlns:a16="http://schemas.microsoft.com/office/drawing/2014/main" id="{00BF0CFA-D876-B553-2130-A01147BDD9C2}"/>
              </a:ext>
            </a:extLst>
          </p:cNvPr>
          <p:cNvSpPr>
            <a:spLocks noGrp="1"/>
          </p:cNvSpPr>
          <p:nvPr>
            <p:ph type="sldNum" sz="quarter" idx="12"/>
          </p:nvPr>
        </p:nvSpPr>
        <p:spPr/>
        <p:txBody>
          <a:bodyPr/>
          <a:lstStyle/>
          <a:p>
            <a:fld id="{BB44241B-2579-694C-B40C-A1E3D5F0E4EC}" type="slidenum">
              <a:rPr lang="en-JP" smtClean="0"/>
              <a:t>21</a:t>
            </a:fld>
            <a:endParaRPr lang="en-JP"/>
          </a:p>
        </p:txBody>
      </p:sp>
    </p:spTree>
    <p:extLst>
      <p:ext uri="{BB962C8B-B14F-4D97-AF65-F5344CB8AC3E}">
        <p14:creationId xmlns:p14="http://schemas.microsoft.com/office/powerpoint/2010/main" val="589119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41588D-3C0D-259C-157A-3091285EE8C9}"/>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2F7586AC-4A9F-1D45-2CF4-14EF5A356C50}"/>
              </a:ext>
            </a:extLst>
          </p:cNvPr>
          <p:cNvSpPr txBox="1"/>
          <p:nvPr/>
        </p:nvSpPr>
        <p:spPr>
          <a:xfrm>
            <a:off x="548089" y="474197"/>
            <a:ext cx="6097836" cy="467307"/>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1800"/>
              <a:t>実験方法と評価</a:t>
            </a:r>
            <a:endParaRPr lang="mn-MN" altLang="ja-JP" sz="1800" dirty="0">
              <a:latin typeface="Roboto" panose="02000000000000000000" pitchFamily="2" charset="0"/>
            </a:endParaRPr>
          </a:p>
        </p:txBody>
      </p:sp>
      <p:sp>
        <p:nvSpPr>
          <p:cNvPr id="8" name="TextBox 7">
            <a:extLst>
              <a:ext uri="{FF2B5EF4-FFF2-40B4-BE49-F238E27FC236}">
                <a16:creationId xmlns:a16="http://schemas.microsoft.com/office/drawing/2014/main" id="{F3D431A2-7CD3-97B7-745C-7681AD85C9FA}"/>
              </a:ext>
            </a:extLst>
          </p:cNvPr>
          <p:cNvSpPr txBox="1"/>
          <p:nvPr/>
        </p:nvSpPr>
        <p:spPr>
          <a:xfrm>
            <a:off x="878595" y="1555198"/>
            <a:ext cx="4012894" cy="2308324"/>
          </a:xfrm>
          <a:prstGeom prst="rect">
            <a:avLst/>
          </a:prstGeom>
          <a:noFill/>
        </p:spPr>
        <p:txBody>
          <a:bodyPr wrap="square">
            <a:spAutoFit/>
          </a:bodyPr>
          <a:lstStyle/>
          <a:p>
            <a:r>
              <a:rPr lang="en-JP" dirty="0"/>
              <a:t>1. TPとサーバーの事前設定</a:t>
            </a:r>
          </a:p>
          <a:p>
            <a:r>
              <a:rPr lang="en-JP" dirty="0"/>
              <a:t>事前共有鍵（K）の交換:</a:t>
            </a:r>
          </a:p>
          <a:p>
            <a:endParaRPr lang="en-JP" dirty="0"/>
          </a:p>
          <a:p>
            <a:r>
              <a:rPr lang="en-JP" dirty="0"/>
              <a:t>Trusted Party（TP）とサーバーは事前に秘密鍵（K）を共有</a:t>
            </a:r>
          </a:p>
          <a:p>
            <a:endParaRPr lang="en-JP" dirty="0"/>
          </a:p>
          <a:p>
            <a:r>
              <a:rPr lang="en-JP" dirty="0"/>
              <a:t>この鍵はクライアント認証とサーバー認証の両方に使用</a:t>
            </a:r>
          </a:p>
        </p:txBody>
      </p:sp>
      <p:sp>
        <p:nvSpPr>
          <p:cNvPr id="10" name="TextBox 9">
            <a:extLst>
              <a:ext uri="{FF2B5EF4-FFF2-40B4-BE49-F238E27FC236}">
                <a16:creationId xmlns:a16="http://schemas.microsoft.com/office/drawing/2014/main" id="{83D7672A-533A-B801-FAD3-A9BA0FC518B6}"/>
              </a:ext>
            </a:extLst>
          </p:cNvPr>
          <p:cNvSpPr txBox="1"/>
          <p:nvPr/>
        </p:nvSpPr>
        <p:spPr>
          <a:xfrm>
            <a:off x="5233012" y="1555198"/>
            <a:ext cx="6410899" cy="3416320"/>
          </a:xfrm>
          <a:prstGeom prst="rect">
            <a:avLst/>
          </a:prstGeom>
          <a:noFill/>
        </p:spPr>
        <p:txBody>
          <a:bodyPr wrap="square">
            <a:spAutoFit/>
          </a:bodyPr>
          <a:lstStyle/>
          <a:p>
            <a:pPr algn="l"/>
            <a:r>
              <a:rPr lang="en-US" b="1" i="0" dirty="0">
                <a:solidFill>
                  <a:srgbClr val="404040"/>
                </a:solidFill>
                <a:effectLst/>
                <a:latin typeface="quote-cjk-patch"/>
              </a:rPr>
              <a:t>2. TP</a:t>
            </a:r>
            <a:r>
              <a:rPr lang="ja-JP" altLang="en-US" b="1" i="0">
                <a:solidFill>
                  <a:srgbClr val="404040"/>
                </a:solidFill>
                <a:effectLst/>
                <a:latin typeface="quote-cjk-patch"/>
              </a:rPr>
              <a:t>によるクライアント認証フロー</a:t>
            </a:r>
            <a:endParaRPr lang="ja-JP" altLang="en-US" b="0" i="0">
              <a:solidFill>
                <a:srgbClr val="404040"/>
              </a:solidFill>
              <a:effectLst/>
              <a:latin typeface="quote-cjk-patch"/>
            </a:endParaRPr>
          </a:p>
          <a:p>
            <a:pPr algn="l"/>
            <a:r>
              <a:rPr lang="ja-JP" altLang="en-US" b="1" i="0">
                <a:solidFill>
                  <a:srgbClr val="404040"/>
                </a:solidFill>
                <a:effectLst/>
                <a:latin typeface="quote-cjk-patch"/>
              </a:rPr>
              <a:t>ステップ</a:t>
            </a:r>
            <a:r>
              <a:rPr lang="en-US" altLang="ja-JP" b="1" i="0" dirty="0">
                <a:solidFill>
                  <a:srgbClr val="404040"/>
                </a:solidFill>
                <a:effectLst/>
                <a:latin typeface="quote-cjk-patch"/>
              </a:rPr>
              <a:t>1: </a:t>
            </a:r>
            <a:r>
              <a:rPr lang="en-US" b="1" i="0" dirty="0">
                <a:solidFill>
                  <a:srgbClr val="404040"/>
                </a:solidFill>
                <a:effectLst/>
                <a:latin typeface="quote-cjk-patch"/>
              </a:rPr>
              <a:t>IP</a:t>
            </a:r>
            <a:r>
              <a:rPr lang="ja-JP" altLang="en-US" b="1" i="0">
                <a:solidFill>
                  <a:srgbClr val="404040"/>
                </a:solidFill>
                <a:effectLst/>
                <a:latin typeface="quote-cjk-patch"/>
              </a:rPr>
              <a:t>アドレスによるフィルタリング</a:t>
            </a:r>
            <a:endParaRPr lang="mn-MN" altLang="ja-JP" b="1" i="0" dirty="0">
              <a:solidFill>
                <a:srgbClr val="404040"/>
              </a:solidFill>
              <a:effectLst/>
              <a:latin typeface="quote-cjk-patch"/>
            </a:endParaRPr>
          </a:p>
          <a:p>
            <a:pPr algn="l"/>
            <a:endParaRPr lang="mn-MN" altLang="ja-JP" b="1" dirty="0">
              <a:solidFill>
                <a:srgbClr val="404040"/>
              </a:solidFill>
              <a:latin typeface="quote-cjk-patch"/>
            </a:endParaRPr>
          </a:p>
          <a:p>
            <a:pPr algn="l"/>
            <a:endParaRPr lang="ja-JP" altLang="en-US" b="0" i="0">
              <a:solidFill>
                <a:srgbClr val="404040"/>
              </a:solidFill>
              <a:effectLst/>
              <a:latin typeface="quote-cjk-patch"/>
            </a:endParaRPr>
          </a:p>
          <a:p>
            <a:pPr algn="l">
              <a:buFont typeface="Arial" panose="020B0604020202020204" pitchFamily="34" charset="0"/>
              <a:buChar char="•"/>
            </a:pPr>
            <a:r>
              <a:rPr lang="en-US" b="0" i="0" dirty="0">
                <a:solidFill>
                  <a:srgbClr val="404040"/>
                </a:solidFill>
                <a:effectLst/>
                <a:latin typeface="quote-cjk-patch"/>
              </a:rPr>
              <a:t>TP</a:t>
            </a:r>
            <a:r>
              <a:rPr lang="ja-JP" altLang="en-US" b="0" i="0">
                <a:solidFill>
                  <a:srgbClr val="404040"/>
                </a:solidFill>
                <a:effectLst/>
                <a:latin typeface="quote-cjk-patch"/>
              </a:rPr>
              <a:t>はクライアントの</a:t>
            </a:r>
            <a:r>
              <a:rPr lang="en-US" b="0" i="0" dirty="0">
                <a:solidFill>
                  <a:srgbClr val="404040"/>
                </a:solidFill>
                <a:effectLst/>
                <a:latin typeface="quote-cjk-patch"/>
              </a:rPr>
              <a:t>IP</a:t>
            </a:r>
            <a:r>
              <a:rPr lang="ja-JP" altLang="en-US" b="0" i="0">
                <a:solidFill>
                  <a:srgbClr val="404040"/>
                </a:solidFill>
                <a:effectLst/>
                <a:latin typeface="quote-cjk-patch"/>
              </a:rPr>
              <a:t>アドレスを</a:t>
            </a:r>
            <a:r>
              <a:rPr lang="en-US" altLang="ja-JP" b="0" i="0" dirty="0">
                <a:solidFill>
                  <a:srgbClr val="404040"/>
                </a:solidFill>
                <a:effectLst/>
                <a:latin typeface="quote-cjk-patch"/>
              </a:rPr>
              <a:t>3</a:t>
            </a:r>
            <a:r>
              <a:rPr lang="ja-JP" altLang="en-US" b="0" i="0">
                <a:solidFill>
                  <a:srgbClr val="404040"/>
                </a:solidFill>
                <a:effectLst/>
                <a:latin typeface="quote-cjk-patch"/>
              </a:rPr>
              <a:t>つのリストで照合</a:t>
            </a:r>
            <a:r>
              <a:rPr lang="en-US" altLang="ja-JP" b="0" i="0" dirty="0">
                <a:solidFill>
                  <a:srgbClr val="404040"/>
                </a:solidFill>
                <a:effectLst/>
                <a:latin typeface="quote-cjk-patch"/>
              </a:rPr>
              <a:t>:</a:t>
            </a:r>
            <a:endParaRPr lang="mn-MN" altLang="ja-JP" b="0" i="0" dirty="0">
              <a:solidFill>
                <a:srgbClr val="404040"/>
              </a:solidFill>
              <a:effectLst/>
              <a:latin typeface="quote-cjk-patch"/>
            </a:endParaRPr>
          </a:p>
          <a:p>
            <a:pPr algn="l"/>
            <a:endParaRPr lang="en-US" altLang="ja-JP" b="0" i="0" dirty="0">
              <a:solidFill>
                <a:srgbClr val="404040"/>
              </a:solidFill>
              <a:effectLst/>
              <a:latin typeface="quote-cjk-patch"/>
            </a:endParaRPr>
          </a:p>
          <a:p>
            <a:pPr marL="742950" lvl="1" indent="-285750" algn="l">
              <a:buFont typeface="Arial" panose="020B0604020202020204" pitchFamily="34" charset="0"/>
              <a:buChar char="•"/>
            </a:pPr>
            <a:r>
              <a:rPr lang="ja-JP" altLang="en-US" b="1" i="0">
                <a:solidFill>
                  <a:srgbClr val="404040"/>
                </a:solidFill>
                <a:effectLst/>
                <a:latin typeface="quote-cjk-patch"/>
              </a:rPr>
              <a:t>ブロックリスト（</a:t>
            </a:r>
            <a:r>
              <a:rPr lang="en-US" b="1" i="0" dirty="0">
                <a:solidFill>
                  <a:srgbClr val="404040"/>
                </a:solidFill>
                <a:effectLst/>
                <a:latin typeface="quote-cjk-patch"/>
              </a:rPr>
              <a:t>BL）</a:t>
            </a:r>
            <a:r>
              <a:rPr lang="en-US" b="0" i="0" dirty="0">
                <a:solidFill>
                  <a:srgbClr val="404040"/>
                </a:solidFill>
                <a:effectLst/>
                <a:latin typeface="quote-cjk-patch"/>
              </a:rPr>
              <a:t>: </a:t>
            </a:r>
            <a:r>
              <a:rPr lang="ja-JP" altLang="en-US" b="0" i="0">
                <a:solidFill>
                  <a:srgbClr val="404040"/>
                </a:solidFill>
                <a:effectLst/>
                <a:latin typeface="quote-cjk-patch"/>
              </a:rPr>
              <a:t>既知の攻撃元</a:t>
            </a:r>
            <a:r>
              <a:rPr lang="en-US" b="0" i="0" dirty="0">
                <a:solidFill>
                  <a:srgbClr val="404040"/>
                </a:solidFill>
                <a:effectLst/>
                <a:latin typeface="quote-cjk-patch"/>
              </a:rPr>
              <a:t>IP（</a:t>
            </a:r>
            <a:r>
              <a:rPr lang="ja-JP" altLang="en-US" b="0" i="0">
                <a:solidFill>
                  <a:srgbClr val="404040"/>
                </a:solidFill>
                <a:effectLst/>
                <a:latin typeface="quote-cjk-patch"/>
              </a:rPr>
              <a:t>接続即時拒否）。</a:t>
            </a:r>
          </a:p>
          <a:p>
            <a:pPr marL="742950" lvl="1" indent="-285750" algn="l">
              <a:buFont typeface="Arial" panose="020B0604020202020204" pitchFamily="34" charset="0"/>
              <a:buChar char="•"/>
            </a:pPr>
            <a:r>
              <a:rPr lang="ja-JP" altLang="en-US" b="1" i="0">
                <a:solidFill>
                  <a:srgbClr val="404040"/>
                </a:solidFill>
                <a:effectLst/>
                <a:latin typeface="quote-cjk-patch"/>
              </a:rPr>
              <a:t>サスペクトリスト（</a:t>
            </a:r>
            <a:r>
              <a:rPr lang="en-US" b="1" i="0" dirty="0">
                <a:solidFill>
                  <a:srgbClr val="404040"/>
                </a:solidFill>
                <a:effectLst/>
                <a:latin typeface="quote-cjk-patch"/>
              </a:rPr>
              <a:t>SL）</a:t>
            </a:r>
            <a:r>
              <a:rPr lang="en-US" b="0" i="0" dirty="0">
                <a:solidFill>
                  <a:srgbClr val="404040"/>
                </a:solidFill>
                <a:effectLst/>
                <a:latin typeface="quote-cjk-patch"/>
              </a:rPr>
              <a:t>: </a:t>
            </a:r>
            <a:r>
              <a:rPr lang="ja-JP" altLang="en-US" b="0" i="0">
                <a:solidFill>
                  <a:srgbClr val="404040"/>
                </a:solidFill>
                <a:effectLst/>
                <a:latin typeface="quote-cjk-patch"/>
              </a:rPr>
              <a:t>不審な</a:t>
            </a:r>
            <a:r>
              <a:rPr lang="en-US" b="0" i="0" dirty="0">
                <a:solidFill>
                  <a:srgbClr val="404040"/>
                </a:solidFill>
                <a:effectLst/>
                <a:latin typeface="quote-cjk-patch"/>
              </a:rPr>
              <a:t>IP（</a:t>
            </a:r>
            <a:r>
              <a:rPr lang="ja-JP" altLang="en-US" b="0" i="0">
                <a:solidFill>
                  <a:srgbClr val="404040"/>
                </a:solidFill>
                <a:effectLst/>
                <a:latin typeface="quote-cjk-patch"/>
              </a:rPr>
              <a:t>追加認証が必要）。</a:t>
            </a:r>
          </a:p>
          <a:p>
            <a:pPr marL="742950" lvl="1" indent="-285750" algn="l">
              <a:buFont typeface="Arial" panose="020B0604020202020204" pitchFamily="34" charset="0"/>
              <a:buChar char="•"/>
            </a:pPr>
            <a:r>
              <a:rPr lang="ja-JP" altLang="en-US" b="1" i="0">
                <a:solidFill>
                  <a:srgbClr val="404040"/>
                </a:solidFill>
                <a:effectLst/>
                <a:latin typeface="quote-cjk-patch"/>
              </a:rPr>
              <a:t>トラストリスト（</a:t>
            </a:r>
            <a:r>
              <a:rPr lang="en-US" b="1" i="0" dirty="0">
                <a:solidFill>
                  <a:srgbClr val="404040"/>
                </a:solidFill>
                <a:effectLst/>
                <a:latin typeface="quote-cjk-patch"/>
              </a:rPr>
              <a:t>TL）</a:t>
            </a:r>
            <a:r>
              <a:rPr lang="en-US" b="0" i="0" dirty="0">
                <a:solidFill>
                  <a:srgbClr val="404040"/>
                </a:solidFill>
                <a:effectLst/>
                <a:latin typeface="quote-cjk-patch"/>
              </a:rPr>
              <a:t>: </a:t>
            </a:r>
            <a:r>
              <a:rPr lang="ja-JP" altLang="en-US" b="0" i="0">
                <a:solidFill>
                  <a:srgbClr val="404040"/>
                </a:solidFill>
                <a:effectLst/>
                <a:latin typeface="quote-cjk-patch"/>
              </a:rPr>
              <a:t>信頼済み</a:t>
            </a:r>
            <a:r>
              <a:rPr lang="en-US" b="0" i="0" dirty="0">
                <a:solidFill>
                  <a:srgbClr val="404040"/>
                </a:solidFill>
                <a:effectLst/>
                <a:latin typeface="quote-cjk-patch"/>
              </a:rPr>
              <a:t>IP（</a:t>
            </a:r>
            <a:r>
              <a:rPr lang="ja-JP" altLang="en-US" b="0" i="0">
                <a:solidFill>
                  <a:srgbClr val="404040"/>
                </a:solidFill>
                <a:effectLst/>
                <a:latin typeface="quote-cjk-patch"/>
              </a:rPr>
              <a:t>次の認証ステップへ）。</a:t>
            </a:r>
          </a:p>
        </p:txBody>
      </p:sp>
      <p:sp>
        <p:nvSpPr>
          <p:cNvPr id="12" name="TextBox 11">
            <a:extLst>
              <a:ext uri="{FF2B5EF4-FFF2-40B4-BE49-F238E27FC236}">
                <a16:creationId xmlns:a16="http://schemas.microsoft.com/office/drawing/2014/main" id="{19B9DD93-601A-B3E7-9B1F-9A84FD7B9930}"/>
              </a:ext>
            </a:extLst>
          </p:cNvPr>
          <p:cNvSpPr txBox="1"/>
          <p:nvPr/>
        </p:nvSpPr>
        <p:spPr>
          <a:xfrm>
            <a:off x="878595" y="4278912"/>
            <a:ext cx="4795091" cy="1754326"/>
          </a:xfrm>
          <a:prstGeom prst="rect">
            <a:avLst/>
          </a:prstGeom>
          <a:noFill/>
        </p:spPr>
        <p:txBody>
          <a:bodyPr wrap="square">
            <a:spAutoFit/>
          </a:bodyPr>
          <a:lstStyle/>
          <a:p>
            <a:pPr algn="l"/>
            <a:r>
              <a:rPr lang="en-US" altLang="ja-JP" b="1" i="0" dirty="0">
                <a:solidFill>
                  <a:srgbClr val="404040"/>
                </a:solidFill>
                <a:effectLst/>
                <a:latin typeface="quote-cjk-patch"/>
              </a:rPr>
              <a:t>3. </a:t>
            </a:r>
            <a:r>
              <a:rPr lang="ja-JP" altLang="en-US" b="1" i="0">
                <a:solidFill>
                  <a:srgbClr val="404040"/>
                </a:solidFill>
                <a:effectLst/>
                <a:latin typeface="quote-cjk-patch"/>
              </a:rPr>
              <a:t>サーバーへの接続許可</a:t>
            </a:r>
            <a:endParaRPr lang="ja-JP" altLang="en-US" b="0" i="0">
              <a:solidFill>
                <a:srgbClr val="404040"/>
              </a:solidFill>
              <a:effectLst/>
              <a:latin typeface="quote-cjk-patch"/>
            </a:endParaRPr>
          </a:p>
          <a:p>
            <a:pPr algn="l">
              <a:buFont typeface="Arial" panose="020B0604020202020204" pitchFamily="34" charset="0"/>
              <a:buChar char="•"/>
            </a:pPr>
            <a:r>
              <a:rPr lang="ja-JP" altLang="en-US" b="0" i="0">
                <a:solidFill>
                  <a:srgbClr val="404040"/>
                </a:solidFill>
                <a:effectLst/>
                <a:latin typeface="quote-cjk-patch"/>
              </a:rPr>
              <a:t>以下の条件を満たした場合のみ、サーバーはサービスを提供</a:t>
            </a:r>
            <a:r>
              <a:rPr lang="en-US" altLang="ja-JP" b="0" i="0" dirty="0">
                <a:solidFill>
                  <a:srgbClr val="404040"/>
                </a:solidFill>
                <a:effectLst/>
                <a:latin typeface="quote-cjk-patch"/>
              </a:rPr>
              <a:t>:</a:t>
            </a:r>
          </a:p>
          <a:p>
            <a:pPr marL="742950" lvl="1" indent="-285750" algn="l">
              <a:buFont typeface="Arial" panose="020B0604020202020204" pitchFamily="34" charset="0"/>
              <a:buChar char="•"/>
            </a:pPr>
            <a:r>
              <a:rPr lang="ja-JP" altLang="en-US" b="0" i="0">
                <a:solidFill>
                  <a:srgbClr val="404040"/>
                </a:solidFill>
                <a:effectLst/>
                <a:latin typeface="quote-cjk-patch"/>
              </a:rPr>
              <a:t>クライアントの</a:t>
            </a:r>
            <a:r>
              <a:rPr lang="en-US" b="0" i="0" dirty="0">
                <a:solidFill>
                  <a:srgbClr val="404040"/>
                </a:solidFill>
                <a:effectLst/>
                <a:latin typeface="quote-cjk-patch"/>
              </a:rPr>
              <a:t>IP</a:t>
            </a:r>
            <a:r>
              <a:rPr lang="ja-JP" altLang="en-US" b="0" i="0">
                <a:solidFill>
                  <a:srgbClr val="404040"/>
                </a:solidFill>
                <a:effectLst/>
                <a:latin typeface="quote-cjk-patch"/>
              </a:rPr>
              <a:t>が</a:t>
            </a:r>
            <a:r>
              <a:rPr lang="ja-JP" altLang="en-US" b="1" i="0">
                <a:solidFill>
                  <a:srgbClr val="404040"/>
                </a:solidFill>
                <a:effectLst/>
                <a:latin typeface="quote-cjk-patch"/>
              </a:rPr>
              <a:t>トラストリスト（</a:t>
            </a:r>
            <a:r>
              <a:rPr lang="en-US" b="1" i="0" dirty="0">
                <a:solidFill>
                  <a:srgbClr val="404040"/>
                </a:solidFill>
                <a:effectLst/>
                <a:latin typeface="quote-cjk-patch"/>
              </a:rPr>
              <a:t>TL）</a:t>
            </a:r>
            <a:r>
              <a:rPr lang="ja-JP" altLang="en-US" b="0" i="0">
                <a:solidFill>
                  <a:srgbClr val="404040"/>
                </a:solidFill>
                <a:effectLst/>
                <a:latin typeface="quote-cjk-patch"/>
              </a:rPr>
              <a:t>に登録。</a:t>
            </a:r>
          </a:p>
          <a:p>
            <a:pPr marL="742950" lvl="1" indent="-285750" algn="l">
              <a:buFont typeface="Arial" panose="020B0604020202020204" pitchFamily="34" charset="0"/>
              <a:buChar char="•"/>
            </a:pPr>
            <a:r>
              <a:rPr lang="en-US" b="1" i="0" dirty="0">
                <a:solidFill>
                  <a:srgbClr val="404040"/>
                </a:solidFill>
                <a:effectLst/>
                <a:latin typeface="quote-cjk-patch"/>
              </a:rPr>
              <a:t>K</a:t>
            </a:r>
            <a:r>
              <a:rPr lang="ja-JP" altLang="en-US" b="0" i="0">
                <a:solidFill>
                  <a:srgbClr val="404040"/>
                </a:solidFill>
                <a:effectLst/>
                <a:latin typeface="quote-cjk-patch"/>
              </a:rPr>
              <a:t>の認証が成功。</a:t>
            </a:r>
          </a:p>
        </p:txBody>
      </p:sp>
      <p:sp>
        <p:nvSpPr>
          <p:cNvPr id="13" name="Slide Number Placeholder 12">
            <a:extLst>
              <a:ext uri="{FF2B5EF4-FFF2-40B4-BE49-F238E27FC236}">
                <a16:creationId xmlns:a16="http://schemas.microsoft.com/office/drawing/2014/main" id="{E7D68D04-B082-A87E-DE5B-937348D7B00E}"/>
              </a:ext>
            </a:extLst>
          </p:cNvPr>
          <p:cNvSpPr>
            <a:spLocks noGrp="1"/>
          </p:cNvSpPr>
          <p:nvPr>
            <p:ph type="sldNum" sz="quarter" idx="12"/>
          </p:nvPr>
        </p:nvSpPr>
        <p:spPr/>
        <p:txBody>
          <a:bodyPr/>
          <a:lstStyle/>
          <a:p>
            <a:fld id="{BB44241B-2579-694C-B40C-A1E3D5F0E4EC}" type="slidenum">
              <a:rPr lang="en-JP" smtClean="0"/>
              <a:t>22</a:t>
            </a:fld>
            <a:endParaRPr lang="en-JP"/>
          </a:p>
        </p:txBody>
      </p:sp>
    </p:spTree>
    <p:extLst>
      <p:ext uri="{BB962C8B-B14F-4D97-AF65-F5344CB8AC3E}">
        <p14:creationId xmlns:p14="http://schemas.microsoft.com/office/powerpoint/2010/main" val="3031476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1FA05A-ED19-CFD5-17AD-323ADF3A90C5}"/>
              </a:ext>
            </a:extLst>
          </p:cNvPr>
          <p:cNvPicPr>
            <a:picLocks noChangeAspect="1"/>
          </p:cNvPicPr>
          <p:nvPr/>
        </p:nvPicPr>
        <p:blipFill>
          <a:blip r:embed="rId2"/>
          <a:stretch>
            <a:fillRect/>
          </a:stretch>
        </p:blipFill>
        <p:spPr>
          <a:xfrm>
            <a:off x="11375656" y="77075"/>
            <a:ext cx="744308" cy="794245"/>
          </a:xfrm>
          <a:prstGeom prst="rect">
            <a:avLst/>
          </a:prstGeom>
        </p:spPr>
      </p:pic>
      <p:sp>
        <p:nvSpPr>
          <p:cNvPr id="8" name="TextBox 7">
            <a:extLst>
              <a:ext uri="{FF2B5EF4-FFF2-40B4-BE49-F238E27FC236}">
                <a16:creationId xmlns:a16="http://schemas.microsoft.com/office/drawing/2014/main" id="{F6F31939-5E63-7A05-554E-46631766F33F}"/>
              </a:ext>
            </a:extLst>
          </p:cNvPr>
          <p:cNvSpPr txBox="1"/>
          <p:nvPr/>
        </p:nvSpPr>
        <p:spPr>
          <a:xfrm>
            <a:off x="316735" y="474197"/>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10" name="TextBox 9">
            <a:extLst>
              <a:ext uri="{FF2B5EF4-FFF2-40B4-BE49-F238E27FC236}">
                <a16:creationId xmlns:a16="http://schemas.microsoft.com/office/drawing/2014/main" id="{D639CB26-59BE-C91D-96E4-A29680E100FC}"/>
              </a:ext>
            </a:extLst>
          </p:cNvPr>
          <p:cNvSpPr txBox="1"/>
          <p:nvPr/>
        </p:nvSpPr>
        <p:spPr>
          <a:xfrm>
            <a:off x="2189604" y="1615440"/>
            <a:ext cx="6097836" cy="923330"/>
          </a:xfrm>
          <a:prstGeom prst="rect">
            <a:avLst/>
          </a:prstGeom>
          <a:noFill/>
        </p:spPr>
        <p:txBody>
          <a:bodyPr wrap="square">
            <a:spAutoFit/>
          </a:bodyPr>
          <a:lstStyle/>
          <a:p>
            <a:pPr marL="285750" indent="-285750">
              <a:buFont typeface="Arial" panose="020B0604020202020204" pitchFamily="34" charset="0"/>
              <a:buChar char="•"/>
            </a:pPr>
            <a:r>
              <a:rPr lang="ja-JP" altLang="en-US"/>
              <a:t>提案した強化版</a:t>
            </a:r>
            <a:r>
              <a:rPr lang="en-US" dirty="0"/>
              <a:t>DTLS</a:t>
            </a:r>
            <a:r>
              <a:rPr lang="ja-JP" altLang="en-US"/>
              <a:t>プロトコルの有効性と効率性を検証するために、</a:t>
            </a:r>
            <a:r>
              <a:rPr lang="en-US" dirty="0"/>
              <a:t>MATLAB</a:t>
            </a:r>
            <a:r>
              <a:rPr lang="ja-JP" altLang="en-US"/>
              <a:t>ツールを用いて実装を行いました。</a:t>
            </a:r>
            <a:endParaRPr lang="en-JP" dirty="0"/>
          </a:p>
        </p:txBody>
      </p:sp>
      <p:sp>
        <p:nvSpPr>
          <p:cNvPr id="12" name="TextBox 11">
            <a:extLst>
              <a:ext uri="{FF2B5EF4-FFF2-40B4-BE49-F238E27FC236}">
                <a16:creationId xmlns:a16="http://schemas.microsoft.com/office/drawing/2014/main" id="{6494A887-D966-D65F-C3C1-44B375AFC19B}"/>
              </a:ext>
            </a:extLst>
          </p:cNvPr>
          <p:cNvSpPr txBox="1"/>
          <p:nvPr/>
        </p:nvSpPr>
        <p:spPr>
          <a:xfrm>
            <a:off x="2046383" y="2849450"/>
            <a:ext cx="6097836" cy="923330"/>
          </a:xfrm>
          <a:prstGeom prst="rect">
            <a:avLst/>
          </a:prstGeom>
          <a:noFill/>
        </p:spPr>
        <p:txBody>
          <a:bodyPr wrap="square">
            <a:spAutoFit/>
          </a:bodyPr>
          <a:lstStyle/>
          <a:p>
            <a:pPr marL="285750" indent="-285750">
              <a:buFont typeface="Arial" panose="020B0604020202020204" pitchFamily="34" charset="0"/>
              <a:buChar char="•"/>
            </a:pPr>
            <a:r>
              <a:rPr lang="en-US" dirty="0"/>
              <a:t>CoAP</a:t>
            </a:r>
            <a:r>
              <a:rPr lang="ja-JP" altLang="en-US"/>
              <a:t>プロトコルを操作するための専用ライブラリを使用し、</a:t>
            </a:r>
            <a:r>
              <a:rPr lang="en-US" dirty="0"/>
              <a:t>DTLS</a:t>
            </a:r>
            <a:r>
              <a:rPr lang="ja-JP" altLang="en-US"/>
              <a:t>を用いた</a:t>
            </a:r>
            <a:r>
              <a:rPr lang="en-US" dirty="0"/>
              <a:t>IP</a:t>
            </a:r>
            <a:r>
              <a:rPr lang="ja-JP" altLang="en-US"/>
              <a:t>ベースのセキュリティ通信を実現しました</a:t>
            </a:r>
            <a:endParaRPr lang="en-JP" dirty="0"/>
          </a:p>
        </p:txBody>
      </p:sp>
      <p:sp>
        <p:nvSpPr>
          <p:cNvPr id="14" name="TextBox 13">
            <a:extLst>
              <a:ext uri="{FF2B5EF4-FFF2-40B4-BE49-F238E27FC236}">
                <a16:creationId xmlns:a16="http://schemas.microsoft.com/office/drawing/2014/main" id="{FCA34D0E-F3EC-F37C-B46C-E0CE48C76669}"/>
              </a:ext>
            </a:extLst>
          </p:cNvPr>
          <p:cNvSpPr txBox="1"/>
          <p:nvPr/>
        </p:nvSpPr>
        <p:spPr>
          <a:xfrm>
            <a:off x="2046383" y="4112412"/>
            <a:ext cx="6097836" cy="923330"/>
          </a:xfrm>
          <a:prstGeom prst="rect">
            <a:avLst/>
          </a:prstGeom>
          <a:noFill/>
        </p:spPr>
        <p:txBody>
          <a:bodyPr wrap="square">
            <a:spAutoFit/>
          </a:bodyPr>
          <a:lstStyle/>
          <a:p>
            <a:pPr marL="285750" indent="-285750">
              <a:buFont typeface="Arial" panose="020B0604020202020204" pitchFamily="34" charset="0"/>
              <a:buChar char="•"/>
            </a:pPr>
            <a:r>
              <a:rPr lang="ja-JP" altLang="en-US"/>
              <a:t>らに、</a:t>
            </a:r>
            <a:r>
              <a:rPr lang="en-US" dirty="0"/>
              <a:t>Simulink</a:t>
            </a:r>
            <a:r>
              <a:rPr lang="ja-JP" altLang="en-US"/>
              <a:t>を使用してシステム全体のモデルベース設計（</a:t>
            </a:r>
            <a:r>
              <a:rPr lang="en-US" dirty="0"/>
              <a:t>Model-Based Design）</a:t>
            </a:r>
            <a:r>
              <a:rPr lang="ja-JP" altLang="en-US"/>
              <a:t>によるシミュレーションも実施しました</a:t>
            </a:r>
            <a:endParaRPr lang="en-JP" dirty="0"/>
          </a:p>
        </p:txBody>
      </p:sp>
      <p:pic>
        <p:nvPicPr>
          <p:cNvPr id="15" name="Picture 14">
            <a:extLst>
              <a:ext uri="{FF2B5EF4-FFF2-40B4-BE49-F238E27FC236}">
                <a16:creationId xmlns:a16="http://schemas.microsoft.com/office/drawing/2014/main" id="{9F0E2574-5F5B-AB6F-E4F9-EB29082A5881}"/>
              </a:ext>
            </a:extLst>
          </p:cNvPr>
          <p:cNvPicPr>
            <a:picLocks noChangeAspect="1"/>
          </p:cNvPicPr>
          <p:nvPr/>
        </p:nvPicPr>
        <p:blipFill>
          <a:blip r:embed="rId3"/>
          <a:stretch>
            <a:fillRect/>
          </a:stretch>
        </p:blipFill>
        <p:spPr>
          <a:xfrm>
            <a:off x="9274859" y="2073186"/>
            <a:ext cx="1741516" cy="1685198"/>
          </a:xfrm>
          <a:prstGeom prst="rect">
            <a:avLst/>
          </a:prstGeom>
        </p:spPr>
      </p:pic>
      <p:sp>
        <p:nvSpPr>
          <p:cNvPr id="16" name="Slide Number Placeholder 15">
            <a:extLst>
              <a:ext uri="{FF2B5EF4-FFF2-40B4-BE49-F238E27FC236}">
                <a16:creationId xmlns:a16="http://schemas.microsoft.com/office/drawing/2014/main" id="{FF534D82-17A0-4917-26BA-6868AD1A133C}"/>
              </a:ext>
            </a:extLst>
          </p:cNvPr>
          <p:cNvSpPr>
            <a:spLocks noGrp="1"/>
          </p:cNvSpPr>
          <p:nvPr>
            <p:ph type="sldNum" sz="quarter" idx="12"/>
          </p:nvPr>
        </p:nvSpPr>
        <p:spPr/>
        <p:txBody>
          <a:bodyPr/>
          <a:lstStyle/>
          <a:p>
            <a:fld id="{BB44241B-2579-694C-B40C-A1E3D5F0E4EC}" type="slidenum">
              <a:rPr lang="en-JP" smtClean="0"/>
              <a:t>23</a:t>
            </a:fld>
            <a:endParaRPr lang="en-JP"/>
          </a:p>
        </p:txBody>
      </p:sp>
    </p:spTree>
    <p:extLst>
      <p:ext uri="{BB962C8B-B14F-4D97-AF65-F5344CB8AC3E}">
        <p14:creationId xmlns:p14="http://schemas.microsoft.com/office/powerpoint/2010/main" val="1206759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17E712-8772-C722-0CBB-DB7F70A8895C}"/>
              </a:ext>
            </a:extLst>
          </p:cNvPr>
          <p:cNvPicPr>
            <a:picLocks noChangeAspect="1"/>
          </p:cNvPicPr>
          <p:nvPr/>
        </p:nvPicPr>
        <p:blipFill>
          <a:blip r:embed="rId3"/>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6806769F-E8F7-FBC0-6C6E-50ED94C6D4B0}"/>
              </a:ext>
            </a:extLst>
          </p:cNvPr>
          <p:cNvSpPr txBox="1"/>
          <p:nvPr/>
        </p:nvSpPr>
        <p:spPr>
          <a:xfrm>
            <a:off x="382835" y="576275"/>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pic>
        <p:nvPicPr>
          <p:cNvPr id="10" name="Picture 9">
            <a:extLst>
              <a:ext uri="{FF2B5EF4-FFF2-40B4-BE49-F238E27FC236}">
                <a16:creationId xmlns:a16="http://schemas.microsoft.com/office/drawing/2014/main" id="{13375AD8-7CB8-C925-86E9-B7020B1442E3}"/>
              </a:ext>
            </a:extLst>
          </p:cNvPr>
          <p:cNvPicPr>
            <a:picLocks noChangeAspect="1"/>
          </p:cNvPicPr>
          <p:nvPr/>
        </p:nvPicPr>
        <p:blipFill>
          <a:blip r:embed="rId4"/>
          <a:stretch>
            <a:fillRect/>
          </a:stretch>
        </p:blipFill>
        <p:spPr>
          <a:xfrm>
            <a:off x="4235985" y="1585747"/>
            <a:ext cx="6743700" cy="1727200"/>
          </a:xfrm>
          <a:prstGeom prst="rect">
            <a:avLst/>
          </a:prstGeom>
        </p:spPr>
      </p:pic>
      <p:sp>
        <p:nvSpPr>
          <p:cNvPr id="12" name="TextBox 11">
            <a:extLst>
              <a:ext uri="{FF2B5EF4-FFF2-40B4-BE49-F238E27FC236}">
                <a16:creationId xmlns:a16="http://schemas.microsoft.com/office/drawing/2014/main" id="{5764C927-39FE-C262-AC38-E274A14163C4}"/>
              </a:ext>
            </a:extLst>
          </p:cNvPr>
          <p:cNvSpPr txBox="1"/>
          <p:nvPr/>
        </p:nvSpPr>
        <p:spPr>
          <a:xfrm>
            <a:off x="4381958" y="3793721"/>
            <a:ext cx="6743699" cy="923330"/>
          </a:xfrm>
          <a:prstGeom prst="rect">
            <a:avLst/>
          </a:prstGeom>
          <a:noFill/>
        </p:spPr>
        <p:txBody>
          <a:bodyPr wrap="square">
            <a:spAutoFit/>
          </a:bodyPr>
          <a:lstStyle/>
          <a:p>
            <a:pPr marL="285750" indent="-285750">
              <a:buFont typeface="Arial" panose="020B0604020202020204" pitchFamily="34" charset="0"/>
              <a:buChar char="•"/>
            </a:pPr>
            <a:r>
              <a:rPr lang="ja-JP" altLang="en-US"/>
              <a:t>信頼されたマシン（</a:t>
            </a:r>
            <a:r>
              <a:rPr lang="en-US" dirty="0"/>
              <a:t>trusted machine）</a:t>
            </a:r>
          </a:p>
          <a:p>
            <a:pPr marL="285750" indent="-285750">
              <a:buFont typeface="Arial" panose="020B0604020202020204" pitchFamily="34" charset="0"/>
              <a:buChar char="•"/>
            </a:pPr>
            <a:r>
              <a:rPr lang="ja-JP" altLang="en-US"/>
              <a:t>疑わしいマシン（</a:t>
            </a:r>
            <a:r>
              <a:rPr lang="en-US" dirty="0"/>
              <a:t>suspicious machine）</a:t>
            </a:r>
          </a:p>
          <a:p>
            <a:pPr marL="285750" indent="-285750">
              <a:buFont typeface="Arial" panose="020B0604020202020204" pitchFamily="34" charset="0"/>
              <a:buChar char="•"/>
            </a:pPr>
            <a:r>
              <a:rPr lang="ja-JP" altLang="en-US"/>
              <a:t>ブロックされた</a:t>
            </a:r>
            <a:r>
              <a:rPr lang="en-US" dirty="0"/>
              <a:t>IP</a:t>
            </a:r>
            <a:r>
              <a:rPr lang="ja-JP" altLang="en-US"/>
              <a:t>アドレスを持つマシン（</a:t>
            </a:r>
            <a:r>
              <a:rPr lang="en-US" dirty="0"/>
              <a:t>blocked machine</a:t>
            </a:r>
            <a:r>
              <a:rPr lang="en-US" b="1" dirty="0"/>
              <a:t>）</a:t>
            </a:r>
            <a:endParaRPr lang="en-US" dirty="0"/>
          </a:p>
        </p:txBody>
      </p:sp>
      <p:pic>
        <p:nvPicPr>
          <p:cNvPr id="13" name="Picture 12">
            <a:extLst>
              <a:ext uri="{FF2B5EF4-FFF2-40B4-BE49-F238E27FC236}">
                <a16:creationId xmlns:a16="http://schemas.microsoft.com/office/drawing/2014/main" id="{D0E188D0-DDA5-A505-E0D4-1F2910D72464}"/>
              </a:ext>
            </a:extLst>
          </p:cNvPr>
          <p:cNvPicPr>
            <a:picLocks noChangeAspect="1"/>
          </p:cNvPicPr>
          <p:nvPr/>
        </p:nvPicPr>
        <p:blipFill>
          <a:blip r:embed="rId5"/>
          <a:stretch>
            <a:fillRect/>
          </a:stretch>
        </p:blipFill>
        <p:spPr>
          <a:xfrm>
            <a:off x="632904" y="1934933"/>
            <a:ext cx="1460500" cy="711200"/>
          </a:xfrm>
          <a:prstGeom prst="rect">
            <a:avLst/>
          </a:prstGeom>
        </p:spPr>
      </p:pic>
      <p:cxnSp>
        <p:nvCxnSpPr>
          <p:cNvPr id="15" name="Straight Connector 14">
            <a:extLst>
              <a:ext uri="{FF2B5EF4-FFF2-40B4-BE49-F238E27FC236}">
                <a16:creationId xmlns:a16="http://schemas.microsoft.com/office/drawing/2014/main" id="{B8013801-A213-EAF6-0E19-40BFF25B53C3}"/>
              </a:ext>
            </a:extLst>
          </p:cNvPr>
          <p:cNvCxnSpPr>
            <a:stCxn id="13" idx="3"/>
          </p:cNvCxnSpPr>
          <p:nvPr/>
        </p:nvCxnSpPr>
        <p:spPr>
          <a:xfrm>
            <a:off x="2093404" y="2290533"/>
            <a:ext cx="2142581" cy="975"/>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60F7C39-C0B1-9BA3-4EFB-24296004258F}"/>
              </a:ext>
            </a:extLst>
          </p:cNvPr>
          <p:cNvSpPr txBox="1"/>
          <p:nvPr/>
        </p:nvSpPr>
        <p:spPr>
          <a:xfrm>
            <a:off x="489072" y="3231528"/>
            <a:ext cx="3208663" cy="1200329"/>
          </a:xfrm>
          <a:prstGeom prst="rect">
            <a:avLst/>
          </a:prstGeom>
          <a:noFill/>
        </p:spPr>
        <p:txBody>
          <a:bodyPr wrap="square">
            <a:spAutoFit/>
          </a:bodyPr>
          <a:lstStyle/>
          <a:p>
            <a:r>
              <a:rPr lang="ja-JP" altLang="en-US"/>
              <a:t>これらのマシンは、</a:t>
            </a:r>
            <a:r>
              <a:rPr lang="en-US" dirty="0"/>
              <a:t>IP</a:t>
            </a:r>
            <a:r>
              <a:rPr lang="ja-JP" altLang="en-US"/>
              <a:t>アドレス「</a:t>
            </a:r>
            <a:r>
              <a:rPr lang="en-US" altLang="ja-JP" dirty="0"/>
              <a:t>192.168.1.3</a:t>
            </a:r>
            <a:r>
              <a:rPr lang="ja-JP" altLang="en-US"/>
              <a:t>」</a:t>
            </a:r>
            <a:r>
              <a:rPr lang="en-US" altLang="ja-JP" dirty="0"/>
              <a:t> </a:t>
            </a:r>
            <a:r>
              <a:rPr lang="ja-JP" altLang="en-US"/>
              <a:t>を持つホストサーバーにデータを送信しようとします。</a:t>
            </a:r>
          </a:p>
        </p:txBody>
      </p:sp>
      <p:sp>
        <p:nvSpPr>
          <p:cNvPr id="19" name="TextBox 18">
            <a:extLst>
              <a:ext uri="{FF2B5EF4-FFF2-40B4-BE49-F238E27FC236}">
                <a16:creationId xmlns:a16="http://schemas.microsoft.com/office/drawing/2014/main" id="{91D5A839-6338-85FB-E690-6B0B583D7217}"/>
              </a:ext>
            </a:extLst>
          </p:cNvPr>
          <p:cNvSpPr txBox="1"/>
          <p:nvPr/>
        </p:nvSpPr>
        <p:spPr>
          <a:xfrm>
            <a:off x="648817" y="5358083"/>
            <a:ext cx="6097836" cy="1200329"/>
          </a:xfrm>
          <a:prstGeom prst="rect">
            <a:avLst/>
          </a:prstGeom>
          <a:noFill/>
        </p:spPr>
        <p:txBody>
          <a:bodyPr wrap="square">
            <a:spAutoFit/>
          </a:bodyPr>
          <a:lstStyle/>
          <a:p>
            <a:r>
              <a:rPr lang="ja-JP" altLang="en-US"/>
              <a:t>この</a:t>
            </a:r>
            <a:r>
              <a:rPr lang="en-US" dirty="0"/>
              <a:t>DTLS</a:t>
            </a:r>
            <a:r>
              <a:rPr lang="ja-JP" altLang="en-US"/>
              <a:t>プロトコルは、</a:t>
            </a:r>
            <a:r>
              <a:rPr lang="en-US" altLang="ja-JP" dirty="0"/>
              <a:t>3</a:t>
            </a:r>
            <a:r>
              <a:rPr lang="ja-JP" altLang="en-US"/>
              <a:t>台のマシンからのトラフィックをフィルタリング（選別）し、</a:t>
            </a:r>
            <a:r>
              <a:rPr lang="en-US" dirty="0"/>
              <a:t>IP</a:t>
            </a:r>
            <a:r>
              <a:rPr lang="ja-JP" altLang="en-US"/>
              <a:t>アドレスリストをリアルタイムで更新します。これにより、信頼されたマシンのデータのみがサーバーに届き、他は拒否されます</a:t>
            </a:r>
            <a:endParaRPr lang="en-JP" dirty="0"/>
          </a:p>
        </p:txBody>
      </p:sp>
      <p:sp>
        <p:nvSpPr>
          <p:cNvPr id="20" name="Slide Number Placeholder 19">
            <a:extLst>
              <a:ext uri="{FF2B5EF4-FFF2-40B4-BE49-F238E27FC236}">
                <a16:creationId xmlns:a16="http://schemas.microsoft.com/office/drawing/2014/main" id="{B4A8BC9E-8D29-FA4D-AB32-57CBCB6451FC}"/>
              </a:ext>
            </a:extLst>
          </p:cNvPr>
          <p:cNvSpPr>
            <a:spLocks noGrp="1"/>
          </p:cNvSpPr>
          <p:nvPr>
            <p:ph type="sldNum" sz="quarter" idx="12"/>
          </p:nvPr>
        </p:nvSpPr>
        <p:spPr/>
        <p:txBody>
          <a:bodyPr/>
          <a:lstStyle/>
          <a:p>
            <a:fld id="{BB44241B-2579-694C-B40C-A1E3D5F0E4EC}" type="slidenum">
              <a:rPr lang="en-JP" smtClean="0"/>
              <a:t>24</a:t>
            </a:fld>
            <a:endParaRPr lang="en-JP"/>
          </a:p>
        </p:txBody>
      </p:sp>
    </p:spTree>
    <p:extLst>
      <p:ext uri="{BB962C8B-B14F-4D97-AF65-F5344CB8AC3E}">
        <p14:creationId xmlns:p14="http://schemas.microsoft.com/office/powerpoint/2010/main" val="1032303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9BC02F-9078-807B-9B11-78E69EF42A48}"/>
              </a:ext>
            </a:extLst>
          </p:cNvPr>
          <p:cNvPicPr>
            <a:picLocks noChangeAspect="1"/>
          </p:cNvPicPr>
          <p:nvPr/>
        </p:nvPicPr>
        <p:blipFill>
          <a:blip r:embed="rId2"/>
          <a:stretch>
            <a:fillRect/>
          </a:stretch>
        </p:blipFill>
        <p:spPr>
          <a:xfrm>
            <a:off x="11375656" y="77075"/>
            <a:ext cx="744308" cy="794245"/>
          </a:xfrm>
          <a:prstGeom prst="rect">
            <a:avLst/>
          </a:prstGeom>
        </p:spPr>
      </p:pic>
      <p:sp>
        <p:nvSpPr>
          <p:cNvPr id="6" name="TextBox 5">
            <a:extLst>
              <a:ext uri="{FF2B5EF4-FFF2-40B4-BE49-F238E27FC236}">
                <a16:creationId xmlns:a16="http://schemas.microsoft.com/office/drawing/2014/main" id="{BCA8FA1F-47B2-C40E-1FC6-A1BEA7C1698A}"/>
              </a:ext>
            </a:extLst>
          </p:cNvPr>
          <p:cNvSpPr txBox="1"/>
          <p:nvPr/>
        </p:nvSpPr>
        <p:spPr>
          <a:xfrm>
            <a:off x="272667" y="472868"/>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pic>
        <p:nvPicPr>
          <p:cNvPr id="7" name="Picture 6">
            <a:extLst>
              <a:ext uri="{FF2B5EF4-FFF2-40B4-BE49-F238E27FC236}">
                <a16:creationId xmlns:a16="http://schemas.microsoft.com/office/drawing/2014/main" id="{85434380-78A4-C237-DDBB-F7756484F24C}"/>
              </a:ext>
            </a:extLst>
          </p:cNvPr>
          <p:cNvPicPr>
            <a:picLocks noChangeAspect="1"/>
          </p:cNvPicPr>
          <p:nvPr/>
        </p:nvPicPr>
        <p:blipFill>
          <a:blip r:embed="rId3"/>
          <a:stretch>
            <a:fillRect/>
          </a:stretch>
        </p:blipFill>
        <p:spPr>
          <a:xfrm>
            <a:off x="272666" y="1079653"/>
            <a:ext cx="4585773" cy="4208443"/>
          </a:xfrm>
          <a:prstGeom prst="rect">
            <a:avLst/>
          </a:prstGeom>
        </p:spPr>
      </p:pic>
      <p:sp>
        <p:nvSpPr>
          <p:cNvPr id="9" name="TextBox 8">
            <a:extLst>
              <a:ext uri="{FF2B5EF4-FFF2-40B4-BE49-F238E27FC236}">
                <a16:creationId xmlns:a16="http://schemas.microsoft.com/office/drawing/2014/main" id="{208D76FA-25BC-7BD1-C261-21BF74DF9B64}"/>
              </a:ext>
            </a:extLst>
          </p:cNvPr>
          <p:cNvSpPr txBox="1"/>
          <p:nvPr/>
        </p:nvSpPr>
        <p:spPr>
          <a:xfrm>
            <a:off x="5586292" y="1894901"/>
            <a:ext cx="4835664" cy="2862322"/>
          </a:xfrm>
          <a:prstGeom prst="rect">
            <a:avLst/>
          </a:prstGeom>
          <a:noFill/>
        </p:spPr>
        <p:txBody>
          <a:bodyPr wrap="square">
            <a:spAutoFit/>
          </a:bodyPr>
          <a:lstStyle/>
          <a:p>
            <a:r>
              <a:rPr lang="en-US" dirty="0"/>
              <a:t>MATLAB</a:t>
            </a:r>
            <a:r>
              <a:rPr lang="ja-JP" altLang="en-US"/>
              <a:t>の</a:t>
            </a:r>
            <a:r>
              <a:rPr lang="en-US" dirty="0"/>
              <a:t>Simulink</a:t>
            </a:r>
            <a:r>
              <a:rPr lang="ja-JP" altLang="en-US"/>
              <a:t>で前に作ったモデルを使ってシミュレーションを行いました。その結果が図</a:t>
            </a:r>
            <a:r>
              <a:rPr lang="en-US" altLang="ja-JP" dirty="0"/>
              <a:t>6</a:t>
            </a:r>
            <a:r>
              <a:rPr lang="ja-JP" altLang="en-US"/>
              <a:t>に示されています。</a:t>
            </a:r>
          </a:p>
          <a:p>
            <a:r>
              <a:rPr lang="ja-JP" altLang="en-US"/>
              <a:t>この図からわかるように、提案した方法はとても効果的でした。第三者のサーバーは、信頼できる</a:t>
            </a:r>
            <a:r>
              <a:rPr lang="en-US" altLang="ja-JP" dirty="0"/>
              <a:t>1</a:t>
            </a:r>
            <a:r>
              <a:rPr lang="ja-JP" altLang="en-US"/>
              <a:t>台のマシンからの通信だけを許可しており、そのマシンの</a:t>
            </a:r>
            <a:r>
              <a:rPr lang="en-US" dirty="0"/>
              <a:t>IP</a:t>
            </a:r>
            <a:r>
              <a:rPr lang="ja-JP" altLang="en-US"/>
              <a:t>アドレスは「信頼リスト」に登録されています。</a:t>
            </a:r>
          </a:p>
          <a:p>
            <a:r>
              <a:rPr lang="ja-JP" altLang="en-US"/>
              <a:t>一方、他の</a:t>
            </a:r>
            <a:r>
              <a:rPr lang="en-US" altLang="ja-JP" dirty="0"/>
              <a:t>2</a:t>
            </a:r>
            <a:r>
              <a:rPr lang="ja-JP" altLang="en-US"/>
              <a:t>台のマシンからの通信はブロックされました。</a:t>
            </a:r>
          </a:p>
        </p:txBody>
      </p:sp>
      <p:sp>
        <p:nvSpPr>
          <p:cNvPr id="11" name="Slide Number Placeholder 10">
            <a:extLst>
              <a:ext uri="{FF2B5EF4-FFF2-40B4-BE49-F238E27FC236}">
                <a16:creationId xmlns:a16="http://schemas.microsoft.com/office/drawing/2014/main" id="{B3052A04-398A-EBA8-6434-46E730976733}"/>
              </a:ext>
            </a:extLst>
          </p:cNvPr>
          <p:cNvSpPr>
            <a:spLocks noGrp="1"/>
          </p:cNvSpPr>
          <p:nvPr>
            <p:ph type="sldNum" sz="quarter" idx="12"/>
          </p:nvPr>
        </p:nvSpPr>
        <p:spPr/>
        <p:txBody>
          <a:bodyPr/>
          <a:lstStyle/>
          <a:p>
            <a:fld id="{BB44241B-2579-694C-B40C-A1E3D5F0E4EC}" type="slidenum">
              <a:rPr lang="en-JP" smtClean="0"/>
              <a:t>25</a:t>
            </a:fld>
            <a:endParaRPr lang="en-JP"/>
          </a:p>
        </p:txBody>
      </p:sp>
    </p:spTree>
    <p:extLst>
      <p:ext uri="{BB962C8B-B14F-4D97-AF65-F5344CB8AC3E}">
        <p14:creationId xmlns:p14="http://schemas.microsoft.com/office/powerpoint/2010/main" val="67962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A319E0-74F6-2914-E21D-A776FDEA67CB}"/>
              </a:ext>
            </a:extLst>
          </p:cNvPr>
          <p:cNvPicPr>
            <a:picLocks noChangeAspect="1"/>
          </p:cNvPicPr>
          <p:nvPr/>
        </p:nvPicPr>
        <p:blipFill>
          <a:blip r:embed="rId2"/>
          <a:stretch>
            <a:fillRect/>
          </a:stretch>
        </p:blipFill>
        <p:spPr>
          <a:xfrm>
            <a:off x="11375656" y="77075"/>
            <a:ext cx="744308" cy="794245"/>
          </a:xfrm>
          <a:prstGeom prst="rect">
            <a:avLst/>
          </a:prstGeom>
        </p:spPr>
      </p:pic>
      <p:pic>
        <p:nvPicPr>
          <p:cNvPr id="5" name="Picture 4">
            <a:extLst>
              <a:ext uri="{FF2B5EF4-FFF2-40B4-BE49-F238E27FC236}">
                <a16:creationId xmlns:a16="http://schemas.microsoft.com/office/drawing/2014/main" id="{2DF49F0F-C0AB-D9BC-5D25-059FE36DA7E8}"/>
              </a:ext>
            </a:extLst>
          </p:cNvPr>
          <p:cNvPicPr>
            <a:picLocks noChangeAspect="1"/>
          </p:cNvPicPr>
          <p:nvPr/>
        </p:nvPicPr>
        <p:blipFill>
          <a:blip r:embed="rId3"/>
          <a:stretch>
            <a:fillRect/>
          </a:stretch>
        </p:blipFill>
        <p:spPr>
          <a:xfrm>
            <a:off x="707604" y="1252561"/>
            <a:ext cx="3924300" cy="2222500"/>
          </a:xfrm>
          <a:prstGeom prst="rect">
            <a:avLst/>
          </a:prstGeom>
        </p:spPr>
      </p:pic>
      <p:sp>
        <p:nvSpPr>
          <p:cNvPr id="7" name="TextBox 6">
            <a:extLst>
              <a:ext uri="{FF2B5EF4-FFF2-40B4-BE49-F238E27FC236}">
                <a16:creationId xmlns:a16="http://schemas.microsoft.com/office/drawing/2014/main" id="{D584622D-7B86-2B25-D1C4-F7A713E16D4D}"/>
              </a:ext>
            </a:extLst>
          </p:cNvPr>
          <p:cNvSpPr txBox="1"/>
          <p:nvPr/>
        </p:nvSpPr>
        <p:spPr>
          <a:xfrm>
            <a:off x="592156" y="496702"/>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9" name="TextBox 8">
            <a:extLst>
              <a:ext uri="{FF2B5EF4-FFF2-40B4-BE49-F238E27FC236}">
                <a16:creationId xmlns:a16="http://schemas.microsoft.com/office/drawing/2014/main" id="{ECABD85A-2C42-0B5A-4A3D-94A1E82C8905}"/>
              </a:ext>
            </a:extLst>
          </p:cNvPr>
          <p:cNvSpPr txBox="1"/>
          <p:nvPr/>
        </p:nvSpPr>
        <p:spPr>
          <a:xfrm>
            <a:off x="5555996" y="1097087"/>
            <a:ext cx="5819660" cy="2031325"/>
          </a:xfrm>
          <a:prstGeom prst="rect">
            <a:avLst/>
          </a:prstGeom>
          <a:noFill/>
        </p:spPr>
        <p:txBody>
          <a:bodyPr wrap="square">
            <a:spAutoFit/>
          </a:bodyPr>
          <a:lstStyle/>
          <a:p>
            <a:r>
              <a:rPr lang="en-JP" dirty="0"/>
              <a:t>[Trusted]  ██████████████████████████████ 30 (100%許可)  </a:t>
            </a:r>
          </a:p>
          <a:p>
            <a:r>
              <a:rPr lang="en-JP" dirty="0"/>
              <a:t>[Suspicious] ███████████████████████ 27 (90%検知 → ブロック)  </a:t>
            </a:r>
          </a:p>
          <a:p>
            <a:r>
              <a:rPr lang="en-JP" dirty="0"/>
              <a:t>[Blocked]  ███████████████████████████ 30 (100%ブロック) </a:t>
            </a:r>
          </a:p>
        </p:txBody>
      </p:sp>
      <p:sp>
        <p:nvSpPr>
          <p:cNvPr id="10" name="円柱 16">
            <a:extLst>
              <a:ext uri="{FF2B5EF4-FFF2-40B4-BE49-F238E27FC236}">
                <a16:creationId xmlns:a16="http://schemas.microsoft.com/office/drawing/2014/main" id="{0C424F0C-03FA-AEBC-F170-EB59DA8E0A32}"/>
              </a:ext>
            </a:extLst>
          </p:cNvPr>
          <p:cNvSpPr/>
          <p:nvPr/>
        </p:nvSpPr>
        <p:spPr>
          <a:xfrm>
            <a:off x="578383" y="5067593"/>
            <a:ext cx="1944733" cy="550876"/>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i="0">
                <a:solidFill>
                  <a:srgbClr val="404040"/>
                </a:solidFill>
                <a:effectLst/>
                <a:latin typeface="quote-cjk-patch"/>
              </a:rPr>
              <a:t>セキュリティ保証</a:t>
            </a:r>
            <a:r>
              <a:rPr lang="en-US" altLang="ja-JP" sz="1600" b="0" i="0" dirty="0">
                <a:solidFill>
                  <a:srgbClr val="404040"/>
                </a:solidFill>
                <a:effectLst/>
                <a:latin typeface="quote-cjk-patch"/>
              </a:rPr>
              <a:t>:</a:t>
            </a:r>
            <a:endParaRPr kumimoji="1" lang="ja-JP" altLang="en-US" sz="1600">
              <a:solidFill>
                <a:schemeClr val="tx1"/>
              </a:solidFill>
            </a:endParaRPr>
          </a:p>
        </p:txBody>
      </p:sp>
      <p:sp>
        <p:nvSpPr>
          <p:cNvPr id="11" name="円柱 15">
            <a:extLst>
              <a:ext uri="{FF2B5EF4-FFF2-40B4-BE49-F238E27FC236}">
                <a16:creationId xmlns:a16="http://schemas.microsoft.com/office/drawing/2014/main" id="{2EC36AB7-C801-07E2-5CD0-1579B4D4855C}"/>
              </a:ext>
            </a:extLst>
          </p:cNvPr>
          <p:cNvSpPr/>
          <p:nvPr/>
        </p:nvSpPr>
        <p:spPr>
          <a:xfrm>
            <a:off x="481985" y="6076237"/>
            <a:ext cx="1944733" cy="550876"/>
          </a:xfrm>
          <a:prstGeom prst="can">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Traffic filtering</a:t>
            </a:r>
            <a:endParaRPr kumimoji="1" lang="ja-JP" altLang="en-US">
              <a:solidFill>
                <a:schemeClr val="tx1"/>
              </a:solidFill>
            </a:endParaRPr>
          </a:p>
        </p:txBody>
      </p:sp>
      <p:sp>
        <p:nvSpPr>
          <p:cNvPr id="13" name="Rounded Rectangle 12">
            <a:extLst>
              <a:ext uri="{FF2B5EF4-FFF2-40B4-BE49-F238E27FC236}">
                <a16:creationId xmlns:a16="http://schemas.microsoft.com/office/drawing/2014/main" id="{4BBFB14E-2292-B5E2-EAA3-0FC6B958B68D}"/>
              </a:ext>
            </a:extLst>
          </p:cNvPr>
          <p:cNvSpPr/>
          <p:nvPr/>
        </p:nvSpPr>
        <p:spPr>
          <a:xfrm>
            <a:off x="3135241" y="3661938"/>
            <a:ext cx="5237578" cy="1011827"/>
          </a:xfrm>
          <a:prstGeom prst="roundRect">
            <a:avLst/>
          </a:prstGeom>
          <a:solidFill>
            <a:schemeClr val="accent2">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l">
              <a:buFont typeface="Arial" panose="020B0604020202020204" pitchFamily="34" charset="0"/>
              <a:buChar char="•"/>
            </a:pPr>
            <a:r>
              <a:rPr lang="ja-JP" altLang="en-US" i="0">
                <a:solidFill>
                  <a:srgbClr val="404040"/>
                </a:solidFill>
                <a:effectLst/>
                <a:latin typeface="quote-cjk-patch"/>
              </a:rPr>
              <a:t>信頼済みユーザー</a:t>
            </a:r>
            <a:r>
              <a:rPr lang="en-US" altLang="ja-JP" i="0" dirty="0">
                <a:solidFill>
                  <a:srgbClr val="404040"/>
                </a:solidFill>
                <a:effectLst/>
                <a:latin typeface="quote-cjk-patch"/>
              </a:rPr>
              <a:t>30</a:t>
            </a:r>
            <a:r>
              <a:rPr lang="ja-JP" altLang="en-US" i="0">
                <a:solidFill>
                  <a:srgbClr val="404040"/>
                </a:solidFill>
                <a:effectLst/>
                <a:latin typeface="quote-cjk-patch"/>
              </a:rPr>
              <a:t>件を</a:t>
            </a:r>
            <a:r>
              <a:rPr lang="en-US" altLang="ja-JP" i="0" dirty="0">
                <a:solidFill>
                  <a:srgbClr val="404040"/>
                </a:solidFill>
                <a:effectLst/>
                <a:latin typeface="quote-cjk-patch"/>
              </a:rPr>
              <a:t>100%</a:t>
            </a:r>
            <a:r>
              <a:rPr lang="ja-JP" altLang="en-US" i="0">
                <a:solidFill>
                  <a:srgbClr val="404040"/>
                </a:solidFill>
                <a:effectLst/>
                <a:latin typeface="quote-cjk-patch"/>
              </a:rPr>
              <a:t>正確に許可</a:t>
            </a:r>
          </a:p>
          <a:p>
            <a:pPr algn="l">
              <a:buFont typeface="Arial" panose="020B0604020202020204" pitchFamily="34" charset="0"/>
              <a:buChar char="•"/>
            </a:pPr>
            <a:r>
              <a:rPr lang="ja-JP" altLang="en-US" i="0">
                <a:solidFill>
                  <a:srgbClr val="404040"/>
                </a:solidFill>
                <a:effectLst/>
                <a:latin typeface="quote-cjk-patch"/>
              </a:rPr>
              <a:t>不審ユーザー</a:t>
            </a:r>
            <a:r>
              <a:rPr lang="en-US" altLang="ja-JP" i="0" dirty="0">
                <a:solidFill>
                  <a:srgbClr val="404040"/>
                </a:solidFill>
                <a:effectLst/>
                <a:latin typeface="quote-cjk-patch"/>
              </a:rPr>
              <a:t>30</a:t>
            </a:r>
            <a:r>
              <a:rPr lang="ja-JP" altLang="en-US" i="0">
                <a:solidFill>
                  <a:srgbClr val="404040"/>
                </a:solidFill>
                <a:effectLst/>
                <a:latin typeface="quote-cjk-patch"/>
              </a:rPr>
              <a:t>件のうち</a:t>
            </a:r>
            <a:r>
              <a:rPr lang="en-US" altLang="ja-JP" i="0" dirty="0">
                <a:solidFill>
                  <a:srgbClr val="404040"/>
                </a:solidFill>
                <a:effectLst/>
                <a:latin typeface="quote-cjk-patch"/>
              </a:rPr>
              <a:t>27</a:t>
            </a:r>
            <a:r>
              <a:rPr lang="ja-JP" altLang="en-US" i="0">
                <a:solidFill>
                  <a:srgbClr val="404040"/>
                </a:solidFill>
                <a:effectLst/>
                <a:latin typeface="quote-cjk-patch"/>
              </a:rPr>
              <a:t>件を正確にブロック（</a:t>
            </a:r>
            <a:r>
              <a:rPr lang="en-US" altLang="ja-JP" i="0" dirty="0">
                <a:solidFill>
                  <a:srgbClr val="404040"/>
                </a:solidFill>
                <a:effectLst/>
                <a:latin typeface="quote-cjk-patch"/>
              </a:rPr>
              <a:t>3</a:t>
            </a:r>
            <a:r>
              <a:rPr lang="ja-JP" altLang="en-US" i="0">
                <a:solidFill>
                  <a:srgbClr val="404040"/>
                </a:solidFill>
                <a:effectLst/>
                <a:latin typeface="quote-cjk-patch"/>
              </a:rPr>
              <a:t>件は</a:t>
            </a:r>
            <a:r>
              <a:rPr lang="en-US" i="0" dirty="0">
                <a:solidFill>
                  <a:srgbClr val="404040"/>
                </a:solidFill>
                <a:effectLst/>
                <a:latin typeface="quote-cjk-patch"/>
              </a:rPr>
              <a:t>False Negative）</a:t>
            </a:r>
          </a:p>
        </p:txBody>
      </p:sp>
      <p:sp>
        <p:nvSpPr>
          <p:cNvPr id="16" name="円柱 16">
            <a:extLst>
              <a:ext uri="{FF2B5EF4-FFF2-40B4-BE49-F238E27FC236}">
                <a16:creationId xmlns:a16="http://schemas.microsoft.com/office/drawing/2014/main" id="{EEB62E4C-E5D8-E952-4C4C-E6388A7C4CAA}"/>
              </a:ext>
            </a:extLst>
          </p:cNvPr>
          <p:cNvSpPr/>
          <p:nvPr/>
        </p:nvSpPr>
        <p:spPr>
          <a:xfrm>
            <a:off x="592156" y="3840623"/>
            <a:ext cx="1944733" cy="643082"/>
          </a:xfrm>
          <a:prstGeom prst="can">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i="0">
                <a:solidFill>
                  <a:srgbClr val="404040"/>
                </a:solidFill>
                <a:effectLst/>
                <a:latin typeface="quote-cjk-patch"/>
              </a:rPr>
              <a:t>検知精度</a:t>
            </a:r>
            <a:endParaRPr lang="en-JP" dirty="0"/>
          </a:p>
        </p:txBody>
      </p:sp>
      <p:sp>
        <p:nvSpPr>
          <p:cNvPr id="18" name="Right Arrow 17">
            <a:extLst>
              <a:ext uri="{FF2B5EF4-FFF2-40B4-BE49-F238E27FC236}">
                <a16:creationId xmlns:a16="http://schemas.microsoft.com/office/drawing/2014/main" id="{B9D0D49A-FB15-E899-136A-4C86B1C87D8A}"/>
              </a:ext>
            </a:extLst>
          </p:cNvPr>
          <p:cNvSpPr/>
          <p:nvPr/>
        </p:nvSpPr>
        <p:spPr>
          <a:xfrm>
            <a:off x="2523116" y="4157733"/>
            <a:ext cx="61212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9" name="Rounded Rectangle 18">
            <a:extLst>
              <a:ext uri="{FF2B5EF4-FFF2-40B4-BE49-F238E27FC236}">
                <a16:creationId xmlns:a16="http://schemas.microsoft.com/office/drawing/2014/main" id="{08B23501-DF0E-BD0F-ED3E-D614E4D53648}"/>
              </a:ext>
            </a:extLst>
          </p:cNvPr>
          <p:cNvSpPr/>
          <p:nvPr/>
        </p:nvSpPr>
        <p:spPr>
          <a:xfrm>
            <a:off x="3135241" y="4887672"/>
            <a:ext cx="5237578" cy="101182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buFont typeface="Arial" panose="020B0604020202020204" pitchFamily="34" charset="0"/>
              <a:buChar char="•"/>
            </a:pPr>
            <a:r>
              <a:rPr lang="en-US" i="0" dirty="0">
                <a:solidFill>
                  <a:srgbClr val="404040"/>
                </a:solidFill>
                <a:effectLst/>
                <a:latin typeface="+mj-ea"/>
                <a:ea typeface="+mj-ea"/>
              </a:rPr>
              <a:t>False Negative（</a:t>
            </a:r>
            <a:r>
              <a:rPr lang="ja-JP" altLang="en-US" i="0">
                <a:solidFill>
                  <a:srgbClr val="404040"/>
                </a:solidFill>
                <a:effectLst/>
                <a:latin typeface="+mj-ea"/>
                <a:ea typeface="+mj-ea"/>
              </a:rPr>
              <a:t>見逃し）が発生しても、誤って「ブロック済み」に分類されるため安全</a:t>
            </a:r>
          </a:p>
          <a:p>
            <a:pPr algn="l">
              <a:buFont typeface="Arial" panose="020B0604020202020204" pitchFamily="34" charset="0"/>
              <a:buChar char="•"/>
            </a:pPr>
            <a:endParaRPr lang="en-US" i="0" dirty="0">
              <a:solidFill>
                <a:srgbClr val="404040"/>
              </a:solidFill>
              <a:effectLst/>
              <a:latin typeface="+mj-ea"/>
              <a:ea typeface="+mj-ea"/>
            </a:endParaRPr>
          </a:p>
        </p:txBody>
      </p:sp>
      <p:sp>
        <p:nvSpPr>
          <p:cNvPr id="22" name="Rounded Rectangle 21">
            <a:extLst>
              <a:ext uri="{FF2B5EF4-FFF2-40B4-BE49-F238E27FC236}">
                <a16:creationId xmlns:a16="http://schemas.microsoft.com/office/drawing/2014/main" id="{DE88483C-C604-1BDC-EE65-BF6DEF17C653}"/>
              </a:ext>
            </a:extLst>
          </p:cNvPr>
          <p:cNvSpPr/>
          <p:nvPr/>
        </p:nvSpPr>
        <p:spPr>
          <a:xfrm>
            <a:off x="3135240" y="6032577"/>
            <a:ext cx="5237578" cy="526734"/>
          </a:xfrm>
          <a:prstGeom prst="roundRect">
            <a:avLst/>
          </a:prstGeom>
          <a:solidFill>
            <a:schemeClr val="bg1">
              <a:lumMod val="8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l">
              <a:buFont typeface="Arial" panose="020B0604020202020204" pitchFamily="34" charset="0"/>
              <a:buChar char="•"/>
            </a:pPr>
            <a:endParaRPr lang="en-US" altLang="ja-JP" i="0" dirty="0">
              <a:solidFill>
                <a:srgbClr val="404040"/>
              </a:solidFill>
              <a:effectLst/>
              <a:latin typeface="quote-cjk-patch"/>
            </a:endParaRPr>
          </a:p>
          <a:p>
            <a:pPr algn="l">
              <a:buFont typeface="Arial" panose="020B0604020202020204" pitchFamily="34" charset="0"/>
              <a:buChar char="•"/>
            </a:pPr>
            <a:r>
              <a:rPr lang="en-US" altLang="ja-JP" i="0" dirty="0">
                <a:solidFill>
                  <a:srgbClr val="404040"/>
                </a:solidFill>
                <a:effectLst/>
                <a:latin typeface="quote-cjk-patch"/>
              </a:rPr>
              <a:t>93.55%</a:t>
            </a:r>
            <a:r>
              <a:rPr lang="ja-JP" altLang="en-US" i="0">
                <a:solidFill>
                  <a:srgbClr val="404040"/>
                </a:solidFill>
                <a:effectLst/>
                <a:latin typeface="quote-cjk-patch"/>
              </a:rPr>
              <a:t>の精度で悪意あるトラフィックを遮断</a:t>
            </a:r>
          </a:p>
        </p:txBody>
      </p:sp>
      <p:sp>
        <p:nvSpPr>
          <p:cNvPr id="23" name="Right Arrow 22">
            <a:extLst>
              <a:ext uri="{FF2B5EF4-FFF2-40B4-BE49-F238E27FC236}">
                <a16:creationId xmlns:a16="http://schemas.microsoft.com/office/drawing/2014/main" id="{E06DEE12-55FC-F58C-948C-927F913ED329}"/>
              </a:ext>
            </a:extLst>
          </p:cNvPr>
          <p:cNvSpPr/>
          <p:nvPr/>
        </p:nvSpPr>
        <p:spPr>
          <a:xfrm>
            <a:off x="2536889" y="5333577"/>
            <a:ext cx="61212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4" name="Right Arrow 23">
            <a:extLst>
              <a:ext uri="{FF2B5EF4-FFF2-40B4-BE49-F238E27FC236}">
                <a16:creationId xmlns:a16="http://schemas.microsoft.com/office/drawing/2014/main" id="{E03036AA-6D0E-B8F1-8EEA-0FCF5F373FF4}"/>
              </a:ext>
            </a:extLst>
          </p:cNvPr>
          <p:cNvSpPr/>
          <p:nvPr/>
        </p:nvSpPr>
        <p:spPr>
          <a:xfrm>
            <a:off x="2426718" y="6366632"/>
            <a:ext cx="612125"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6" name="TextBox 25">
            <a:extLst>
              <a:ext uri="{FF2B5EF4-FFF2-40B4-BE49-F238E27FC236}">
                <a16:creationId xmlns:a16="http://schemas.microsoft.com/office/drawing/2014/main" id="{ECD7ACE4-CF40-0F3E-A6FB-29BAD21A6D4B}"/>
              </a:ext>
            </a:extLst>
          </p:cNvPr>
          <p:cNvSpPr txBox="1"/>
          <p:nvPr/>
        </p:nvSpPr>
        <p:spPr>
          <a:xfrm>
            <a:off x="8774600" y="3677703"/>
            <a:ext cx="2973210" cy="1754326"/>
          </a:xfrm>
          <a:prstGeom prst="rect">
            <a:avLst/>
          </a:prstGeom>
          <a:noFill/>
        </p:spPr>
        <p:txBody>
          <a:bodyPr wrap="square">
            <a:spAutoFit/>
          </a:bodyPr>
          <a:lstStyle/>
          <a:p>
            <a:r>
              <a:rPr lang="en-US" altLang="ja-JP" i="0" dirty="0">
                <a:solidFill>
                  <a:srgbClr val="404040"/>
                </a:solidFill>
                <a:effectLst/>
                <a:latin typeface="quote-cjk-patch"/>
              </a:rPr>
              <a:t>7%</a:t>
            </a:r>
            <a:r>
              <a:rPr lang="ja-JP" altLang="en-US" i="0">
                <a:solidFill>
                  <a:srgbClr val="404040"/>
                </a:solidFill>
                <a:effectLst/>
                <a:latin typeface="quote-cjk-patch"/>
              </a:rPr>
              <a:t>の誤検知率は、</a:t>
            </a:r>
            <a:r>
              <a:rPr lang="en-US" i="0" dirty="0">
                <a:solidFill>
                  <a:srgbClr val="404040"/>
                </a:solidFill>
                <a:effectLst/>
                <a:latin typeface="quote-cjk-patch"/>
              </a:rPr>
              <a:t>IoT</a:t>
            </a:r>
            <a:r>
              <a:rPr lang="ja-JP" altLang="en-US" i="0">
                <a:solidFill>
                  <a:srgbClr val="404040"/>
                </a:solidFill>
                <a:effectLst/>
                <a:latin typeface="quote-cjk-patch"/>
              </a:rPr>
              <a:t>環境において許容範囲内の高い精度です。</a:t>
            </a:r>
            <a:r>
              <a:rPr lang="en-US" i="0" dirty="0">
                <a:solidFill>
                  <a:srgbClr val="404040"/>
                </a:solidFill>
                <a:effectLst/>
                <a:latin typeface="quote-cjk-patch"/>
              </a:rPr>
              <a:t>False Negative</a:t>
            </a:r>
            <a:r>
              <a:rPr lang="ja-JP" altLang="en-US" i="0">
                <a:solidFill>
                  <a:srgbClr val="404040"/>
                </a:solidFill>
                <a:effectLst/>
                <a:latin typeface="quote-cjk-patch"/>
              </a:rPr>
              <a:t>も自動的にブロックされるため、セキュリティ強度が維持されます</a:t>
            </a:r>
            <a:endParaRPr lang="en-JP" dirty="0"/>
          </a:p>
        </p:txBody>
      </p:sp>
      <p:sp>
        <p:nvSpPr>
          <p:cNvPr id="27" name="Slide Number Placeholder 26">
            <a:extLst>
              <a:ext uri="{FF2B5EF4-FFF2-40B4-BE49-F238E27FC236}">
                <a16:creationId xmlns:a16="http://schemas.microsoft.com/office/drawing/2014/main" id="{5769AF65-B1F8-8281-6501-5882039648F2}"/>
              </a:ext>
            </a:extLst>
          </p:cNvPr>
          <p:cNvSpPr>
            <a:spLocks noGrp="1"/>
          </p:cNvSpPr>
          <p:nvPr>
            <p:ph type="sldNum" sz="quarter" idx="12"/>
          </p:nvPr>
        </p:nvSpPr>
        <p:spPr/>
        <p:txBody>
          <a:bodyPr/>
          <a:lstStyle/>
          <a:p>
            <a:fld id="{BB44241B-2579-694C-B40C-A1E3D5F0E4EC}" type="slidenum">
              <a:rPr lang="en-JP" smtClean="0"/>
              <a:t>26</a:t>
            </a:fld>
            <a:endParaRPr lang="en-JP"/>
          </a:p>
        </p:txBody>
      </p:sp>
    </p:spTree>
    <p:extLst>
      <p:ext uri="{BB962C8B-B14F-4D97-AF65-F5344CB8AC3E}">
        <p14:creationId xmlns:p14="http://schemas.microsoft.com/office/powerpoint/2010/main" val="3659102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EF6ED7-0F15-3CFF-37DF-0BDA3252AB83}"/>
              </a:ext>
            </a:extLst>
          </p:cNvPr>
          <p:cNvPicPr>
            <a:picLocks noChangeAspect="1"/>
          </p:cNvPicPr>
          <p:nvPr/>
        </p:nvPicPr>
        <p:blipFill>
          <a:blip r:embed="rId2"/>
          <a:stretch>
            <a:fillRect/>
          </a:stretch>
        </p:blipFill>
        <p:spPr>
          <a:xfrm>
            <a:off x="11375656" y="77075"/>
            <a:ext cx="744308" cy="794245"/>
          </a:xfrm>
          <a:prstGeom prst="rect">
            <a:avLst/>
          </a:prstGeom>
        </p:spPr>
      </p:pic>
      <p:pic>
        <p:nvPicPr>
          <p:cNvPr id="5" name="Picture 4">
            <a:extLst>
              <a:ext uri="{FF2B5EF4-FFF2-40B4-BE49-F238E27FC236}">
                <a16:creationId xmlns:a16="http://schemas.microsoft.com/office/drawing/2014/main" id="{8B467167-F001-E3E5-89E8-CB0D881BFB63}"/>
              </a:ext>
            </a:extLst>
          </p:cNvPr>
          <p:cNvPicPr>
            <a:picLocks noChangeAspect="1"/>
          </p:cNvPicPr>
          <p:nvPr/>
        </p:nvPicPr>
        <p:blipFill>
          <a:blip r:embed="rId3"/>
          <a:stretch>
            <a:fillRect/>
          </a:stretch>
        </p:blipFill>
        <p:spPr>
          <a:xfrm>
            <a:off x="72036" y="1060848"/>
            <a:ext cx="7772400" cy="5221305"/>
          </a:xfrm>
          <a:prstGeom prst="rect">
            <a:avLst/>
          </a:prstGeom>
        </p:spPr>
      </p:pic>
      <p:sp>
        <p:nvSpPr>
          <p:cNvPr id="7" name="TextBox 6">
            <a:extLst>
              <a:ext uri="{FF2B5EF4-FFF2-40B4-BE49-F238E27FC236}">
                <a16:creationId xmlns:a16="http://schemas.microsoft.com/office/drawing/2014/main" id="{93FEE37F-4002-7051-F13C-628D31554546}"/>
              </a:ext>
            </a:extLst>
          </p:cNvPr>
          <p:cNvSpPr txBox="1"/>
          <p:nvPr/>
        </p:nvSpPr>
        <p:spPr>
          <a:xfrm>
            <a:off x="72036" y="474197"/>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8" name="吹き出し: 角を丸めた四角形 47">
            <a:extLst>
              <a:ext uri="{FF2B5EF4-FFF2-40B4-BE49-F238E27FC236}">
                <a16:creationId xmlns:a16="http://schemas.microsoft.com/office/drawing/2014/main" id="{702D37C5-5002-33F5-195D-67C70357E55D}"/>
              </a:ext>
            </a:extLst>
          </p:cNvPr>
          <p:cNvSpPr/>
          <p:nvPr/>
        </p:nvSpPr>
        <p:spPr>
          <a:xfrm rot="10800000" flipV="1">
            <a:off x="8163497" y="1060848"/>
            <a:ext cx="3823771" cy="2947794"/>
          </a:xfrm>
          <a:prstGeom prst="wedgeRoundRectCallout">
            <a:avLst>
              <a:gd name="adj1" fmla="val 73925"/>
              <a:gd name="adj2" fmla="val -10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mn-MN" altLang="ja-JP" sz="1600" b="1" dirty="0">
              <a:solidFill>
                <a:schemeClr val="tx1"/>
              </a:solidFill>
            </a:endParaRPr>
          </a:p>
          <a:p>
            <a:endParaRPr lang="mn-MN" altLang="ja-JP" sz="1600" b="1" dirty="0">
              <a:solidFill>
                <a:schemeClr val="tx1"/>
              </a:solidFill>
            </a:endParaRPr>
          </a:p>
          <a:p>
            <a:r>
              <a:rPr lang="ja-JP" altLang="en-US" sz="1600" b="1">
                <a:solidFill>
                  <a:schemeClr val="tx1"/>
                </a:solidFill>
              </a:rPr>
              <a:t>信頼済みユーザー</a:t>
            </a:r>
            <a:r>
              <a:rPr lang="en-US" altLang="ja-JP" sz="1600" dirty="0">
                <a:solidFill>
                  <a:schemeClr val="tx1"/>
                </a:solidFill>
              </a:rPr>
              <a:t>: 100%</a:t>
            </a:r>
            <a:r>
              <a:rPr lang="ja-JP" altLang="en-US" sz="1600">
                <a:solidFill>
                  <a:schemeClr val="tx1"/>
                </a:solidFill>
              </a:rPr>
              <a:t>正確に分類（</a:t>
            </a:r>
            <a:r>
              <a:rPr lang="en-US" altLang="ja-JP" sz="1600" dirty="0">
                <a:solidFill>
                  <a:schemeClr val="tx1"/>
                </a:solidFill>
              </a:rPr>
              <a:t>30/30</a:t>
            </a:r>
            <a:r>
              <a:rPr lang="ja-JP" altLang="en-US" sz="1600">
                <a:solidFill>
                  <a:schemeClr val="tx1"/>
                </a:solidFill>
              </a:rPr>
              <a:t>）</a:t>
            </a:r>
            <a:endParaRPr lang="mn-MN" altLang="ja-JP" sz="1600" dirty="0">
              <a:solidFill>
                <a:schemeClr val="tx1"/>
              </a:solidFill>
            </a:endParaRPr>
          </a:p>
          <a:p>
            <a:endParaRPr lang="ja-JP" altLang="en-US" sz="1600">
              <a:solidFill>
                <a:schemeClr val="tx1"/>
              </a:solidFill>
            </a:endParaRPr>
          </a:p>
          <a:p>
            <a:r>
              <a:rPr lang="ja-JP" altLang="en-US" sz="1600" b="1">
                <a:solidFill>
                  <a:schemeClr val="tx1"/>
                </a:solidFill>
              </a:rPr>
              <a:t>不審ユーザー</a:t>
            </a:r>
            <a:r>
              <a:rPr lang="en-US" altLang="ja-JP" sz="1600" dirty="0">
                <a:solidFill>
                  <a:schemeClr val="tx1"/>
                </a:solidFill>
              </a:rPr>
              <a:t>:</a:t>
            </a:r>
          </a:p>
          <a:p>
            <a:pPr lvl="1"/>
            <a:r>
              <a:rPr lang="en-US" altLang="ja-JP" sz="1600" dirty="0">
                <a:solidFill>
                  <a:schemeClr val="tx1"/>
                </a:solidFill>
              </a:rPr>
              <a:t>27</a:t>
            </a:r>
            <a:r>
              <a:rPr lang="ja-JP" altLang="en-US" sz="1600">
                <a:solidFill>
                  <a:schemeClr val="tx1"/>
                </a:solidFill>
              </a:rPr>
              <a:t>件正確検知（</a:t>
            </a:r>
            <a:r>
              <a:rPr lang="en-US" altLang="ja-JP" sz="1600" dirty="0">
                <a:solidFill>
                  <a:schemeClr val="tx1"/>
                </a:solidFill>
              </a:rPr>
              <a:t>90%</a:t>
            </a:r>
            <a:r>
              <a:rPr lang="ja-JP" altLang="en-US" sz="1600">
                <a:solidFill>
                  <a:schemeClr val="tx1"/>
                </a:solidFill>
              </a:rPr>
              <a:t>）</a:t>
            </a:r>
          </a:p>
          <a:p>
            <a:pPr lvl="1"/>
            <a:r>
              <a:rPr lang="en-US" altLang="ja-JP" sz="1600" dirty="0">
                <a:solidFill>
                  <a:schemeClr val="tx1"/>
                </a:solidFill>
              </a:rPr>
              <a:t>3</a:t>
            </a:r>
            <a:r>
              <a:rPr lang="ja-JP" altLang="en-US" sz="1600">
                <a:solidFill>
                  <a:schemeClr val="tx1"/>
                </a:solidFill>
              </a:rPr>
              <a:t>件誤分類（</a:t>
            </a:r>
            <a:r>
              <a:rPr lang="en-US" sz="1600" dirty="0">
                <a:solidFill>
                  <a:schemeClr val="tx1"/>
                </a:solidFill>
              </a:rPr>
              <a:t>False Negative）→ </a:t>
            </a:r>
            <a:r>
              <a:rPr lang="ja-JP" altLang="en-US" sz="1600" b="1">
                <a:solidFill>
                  <a:schemeClr val="tx1"/>
                </a:solidFill>
              </a:rPr>
              <a:t>ブロック扱い</a:t>
            </a:r>
            <a:r>
              <a:rPr lang="ja-JP" altLang="en-US" sz="1600">
                <a:solidFill>
                  <a:schemeClr val="tx1"/>
                </a:solidFill>
              </a:rPr>
              <a:t>に</a:t>
            </a:r>
          </a:p>
          <a:p>
            <a:r>
              <a:rPr lang="ja-JP" altLang="en-US" sz="1600" b="1">
                <a:solidFill>
                  <a:schemeClr val="tx1"/>
                </a:solidFill>
              </a:rPr>
              <a:t>ブロックユーザー</a:t>
            </a:r>
            <a:r>
              <a:rPr lang="en-US" altLang="ja-JP" sz="1600" dirty="0">
                <a:solidFill>
                  <a:schemeClr val="tx1"/>
                </a:solidFill>
              </a:rPr>
              <a:t>:</a:t>
            </a:r>
          </a:p>
          <a:p>
            <a:pPr lvl="1"/>
            <a:r>
              <a:rPr lang="en-US" altLang="ja-JP" sz="1600" dirty="0">
                <a:solidFill>
                  <a:schemeClr val="tx1"/>
                </a:solidFill>
              </a:rPr>
              <a:t>33</a:t>
            </a:r>
            <a:r>
              <a:rPr lang="ja-JP" altLang="en-US" sz="1600">
                <a:solidFill>
                  <a:schemeClr val="tx1"/>
                </a:solidFill>
              </a:rPr>
              <a:t>件中</a:t>
            </a:r>
            <a:r>
              <a:rPr lang="en-US" altLang="ja-JP" sz="1600" dirty="0">
                <a:solidFill>
                  <a:schemeClr val="tx1"/>
                </a:solidFill>
              </a:rPr>
              <a:t>3</a:t>
            </a:r>
            <a:r>
              <a:rPr lang="ja-JP" altLang="en-US" sz="1600">
                <a:solidFill>
                  <a:schemeClr val="tx1"/>
                </a:solidFill>
              </a:rPr>
              <a:t>件が誤検知（</a:t>
            </a:r>
            <a:r>
              <a:rPr lang="en-US" sz="1600" dirty="0">
                <a:solidFill>
                  <a:schemeClr val="tx1"/>
                </a:solidFill>
              </a:rPr>
              <a:t>False Positive）</a:t>
            </a:r>
          </a:p>
          <a:p>
            <a:br>
              <a:rPr lang="en-US" sz="1600" dirty="0">
                <a:solidFill>
                  <a:schemeClr val="tx1"/>
                </a:solidFill>
              </a:rPr>
            </a:br>
            <a:endParaRPr kumimoji="1" lang="en-US" altLang="ja-JP" sz="1600" dirty="0">
              <a:solidFill>
                <a:schemeClr val="tx1"/>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9278CBF0-2FFB-3FE3-008B-8856EE685929}"/>
              </a:ext>
            </a:extLst>
          </p:cNvPr>
          <p:cNvSpPr txBox="1"/>
          <p:nvPr/>
        </p:nvSpPr>
        <p:spPr>
          <a:xfrm>
            <a:off x="7327292" y="4198169"/>
            <a:ext cx="4420518" cy="2308324"/>
          </a:xfrm>
          <a:prstGeom prst="rect">
            <a:avLst/>
          </a:prstGeom>
          <a:noFill/>
        </p:spPr>
        <p:txBody>
          <a:bodyPr wrap="square">
            <a:spAutoFit/>
          </a:bodyPr>
          <a:lstStyle/>
          <a:p>
            <a:pPr algn="l"/>
            <a:r>
              <a:rPr lang="en-US" altLang="ja-JP" b="1" i="0" dirty="0">
                <a:solidFill>
                  <a:srgbClr val="404040"/>
                </a:solidFill>
                <a:effectLst/>
                <a:latin typeface="quote-cjk-patch"/>
              </a:rPr>
              <a:t>Traffic filtering</a:t>
            </a:r>
            <a:r>
              <a:rPr lang="mn-MN" altLang="ja-JP" b="1" i="0" dirty="0">
                <a:solidFill>
                  <a:srgbClr val="404040"/>
                </a:solidFill>
                <a:effectLst/>
                <a:latin typeface="quote-cjk-patch"/>
              </a:rPr>
              <a:t> </a:t>
            </a:r>
            <a:r>
              <a:rPr lang="ja-JP" altLang="en-US" b="1" i="0">
                <a:solidFill>
                  <a:srgbClr val="404040"/>
                </a:solidFill>
                <a:effectLst/>
                <a:latin typeface="quote-cjk-patch"/>
              </a:rPr>
              <a:t>性能</a:t>
            </a:r>
            <a:endParaRPr lang="ja-JP" altLang="en-US" b="0" i="0">
              <a:solidFill>
                <a:srgbClr val="404040"/>
              </a:solidFill>
              <a:effectLst/>
              <a:latin typeface="quote-cjk-patch"/>
            </a:endParaRPr>
          </a:p>
          <a:p>
            <a:pPr algn="l">
              <a:buFont typeface="Arial" panose="020B0604020202020204" pitchFamily="34" charset="0"/>
              <a:buChar char="•"/>
            </a:pPr>
            <a:r>
              <a:rPr lang="ja-JP" altLang="en-US" b="1" i="0">
                <a:solidFill>
                  <a:srgbClr val="404040"/>
                </a:solidFill>
                <a:effectLst/>
                <a:latin typeface="quote-cjk-patch"/>
              </a:rPr>
              <a:t>許可トラフィック</a:t>
            </a:r>
            <a:r>
              <a:rPr lang="en-US" altLang="ja-JP" b="0" i="0" dirty="0">
                <a:solidFill>
                  <a:srgbClr val="404040"/>
                </a:solidFill>
                <a:effectLst/>
                <a:latin typeface="quote-cjk-patch"/>
              </a:rPr>
              <a:t>:</a:t>
            </a:r>
          </a:p>
          <a:p>
            <a:pPr marL="742950" lvl="1" indent="-285750" algn="l">
              <a:buFont typeface="Arial" panose="020B0604020202020204" pitchFamily="34" charset="0"/>
              <a:buChar char="•"/>
            </a:pPr>
            <a:r>
              <a:rPr lang="ja-JP" altLang="en-US" b="0" i="0">
                <a:solidFill>
                  <a:srgbClr val="404040"/>
                </a:solidFill>
                <a:effectLst/>
                <a:latin typeface="quote-cjk-patch"/>
              </a:rPr>
              <a:t>全</a:t>
            </a:r>
            <a:r>
              <a:rPr lang="en-US" altLang="ja-JP" b="0" i="0" dirty="0">
                <a:solidFill>
                  <a:srgbClr val="404040"/>
                </a:solidFill>
                <a:effectLst/>
                <a:latin typeface="quote-cjk-patch"/>
              </a:rPr>
              <a:t>52</a:t>
            </a:r>
            <a:r>
              <a:rPr lang="ja-JP" altLang="en-US" b="0" i="0">
                <a:solidFill>
                  <a:srgbClr val="404040"/>
                </a:solidFill>
                <a:effectLst/>
                <a:latin typeface="quote-cjk-patch"/>
              </a:rPr>
              <a:t>件中</a:t>
            </a:r>
            <a:r>
              <a:rPr lang="en-US" altLang="ja-JP" b="0" i="0" dirty="0">
                <a:solidFill>
                  <a:srgbClr val="404040"/>
                </a:solidFill>
                <a:effectLst/>
                <a:latin typeface="quote-cjk-patch"/>
              </a:rPr>
              <a:t>30</a:t>
            </a:r>
            <a:r>
              <a:rPr lang="ja-JP" altLang="en-US" b="0" i="0">
                <a:solidFill>
                  <a:srgbClr val="404040"/>
                </a:solidFill>
                <a:effectLst/>
                <a:latin typeface="quote-cjk-patch"/>
              </a:rPr>
              <a:t>件が</a:t>
            </a:r>
            <a:r>
              <a:rPr lang="ja-JP" altLang="en-US" b="1" i="0">
                <a:solidFill>
                  <a:srgbClr val="404040"/>
                </a:solidFill>
                <a:effectLst/>
                <a:latin typeface="quote-cjk-patch"/>
              </a:rPr>
              <a:t>信頼済みマシン</a:t>
            </a:r>
            <a:r>
              <a:rPr lang="ja-JP" altLang="en-US" b="0" i="0">
                <a:solidFill>
                  <a:srgbClr val="404040"/>
                </a:solidFill>
                <a:effectLst/>
                <a:latin typeface="quote-cjk-patch"/>
              </a:rPr>
              <a:t>（黄色ライン）</a:t>
            </a:r>
          </a:p>
          <a:p>
            <a:pPr algn="l">
              <a:buFont typeface="Arial" panose="020B0604020202020204" pitchFamily="34" charset="0"/>
              <a:buChar char="•"/>
            </a:pPr>
            <a:r>
              <a:rPr lang="ja-JP" altLang="en-US" b="1" i="0">
                <a:solidFill>
                  <a:srgbClr val="404040"/>
                </a:solidFill>
                <a:effectLst/>
                <a:latin typeface="quote-cjk-patch"/>
              </a:rPr>
              <a:t>ブロックトラフィック</a:t>
            </a:r>
            <a:r>
              <a:rPr lang="en-US" altLang="ja-JP" b="0" i="0" dirty="0">
                <a:solidFill>
                  <a:srgbClr val="404040"/>
                </a:solidFill>
                <a:effectLst/>
                <a:latin typeface="quote-cjk-patch"/>
              </a:rPr>
              <a:t>:</a:t>
            </a:r>
          </a:p>
          <a:p>
            <a:pPr marL="742950" lvl="1" indent="-285750" algn="l">
              <a:buFont typeface="Arial" panose="020B0604020202020204" pitchFamily="34" charset="0"/>
              <a:buChar char="•"/>
            </a:pPr>
            <a:r>
              <a:rPr lang="en-US" altLang="ja-JP" b="0" i="0" dirty="0">
                <a:solidFill>
                  <a:srgbClr val="404040"/>
                </a:solidFill>
                <a:effectLst/>
                <a:latin typeface="quote-cjk-patch"/>
              </a:rPr>
              <a:t>38</a:t>
            </a:r>
            <a:r>
              <a:rPr lang="ja-JP" altLang="en-US" b="0" i="0">
                <a:solidFill>
                  <a:srgbClr val="404040"/>
                </a:solidFill>
                <a:effectLst/>
                <a:latin typeface="quote-cjk-patch"/>
              </a:rPr>
              <a:t>件（不審</a:t>
            </a:r>
            <a:r>
              <a:rPr lang="en-US" altLang="ja-JP" b="0" i="0" dirty="0">
                <a:solidFill>
                  <a:srgbClr val="404040"/>
                </a:solidFill>
                <a:effectLst/>
                <a:latin typeface="quote-cjk-patch"/>
              </a:rPr>
              <a:t>7</a:t>
            </a:r>
            <a:r>
              <a:rPr lang="ja-JP" altLang="en-US" b="0" i="0">
                <a:solidFill>
                  <a:srgbClr val="404040"/>
                </a:solidFill>
                <a:effectLst/>
                <a:latin typeface="quote-cjk-patch"/>
              </a:rPr>
              <a:t>件 </a:t>
            </a:r>
            <a:r>
              <a:rPr lang="en-US" altLang="ja-JP" b="0" i="0" dirty="0">
                <a:solidFill>
                  <a:srgbClr val="404040"/>
                </a:solidFill>
                <a:effectLst/>
                <a:latin typeface="quote-cjk-patch"/>
              </a:rPr>
              <a:t>+ </a:t>
            </a:r>
            <a:r>
              <a:rPr lang="ja-JP" altLang="en-US" b="0" i="0">
                <a:solidFill>
                  <a:srgbClr val="404040"/>
                </a:solidFill>
                <a:effectLst/>
                <a:latin typeface="quote-cjk-patch"/>
              </a:rPr>
              <a:t>ブロック</a:t>
            </a:r>
            <a:r>
              <a:rPr lang="en-US" altLang="ja-JP" b="0" i="0" dirty="0">
                <a:solidFill>
                  <a:srgbClr val="404040"/>
                </a:solidFill>
                <a:effectLst/>
                <a:latin typeface="quote-cjk-patch"/>
              </a:rPr>
              <a:t>31</a:t>
            </a:r>
            <a:r>
              <a:rPr lang="ja-JP" altLang="en-US" b="0" i="0">
                <a:solidFill>
                  <a:srgbClr val="404040"/>
                </a:solidFill>
                <a:effectLst/>
                <a:latin typeface="quote-cjk-patch"/>
              </a:rPr>
              <a:t>件）</a:t>
            </a:r>
          </a:p>
          <a:p>
            <a:pPr marL="742950" lvl="1" indent="-285750" algn="l">
              <a:buFont typeface="Arial" panose="020B0604020202020204" pitchFamily="34" charset="0"/>
              <a:buChar char="•"/>
            </a:pPr>
            <a:r>
              <a:rPr lang="en-US" altLang="ja-JP" b="1" i="0" dirty="0">
                <a:solidFill>
                  <a:srgbClr val="404040"/>
                </a:solidFill>
                <a:effectLst/>
                <a:latin typeface="quote-cjk-patch"/>
              </a:rPr>
              <a:t>6.45%</a:t>
            </a:r>
            <a:r>
              <a:rPr lang="ja-JP" altLang="en-US" b="1" i="0">
                <a:solidFill>
                  <a:srgbClr val="404040"/>
                </a:solidFill>
                <a:effectLst/>
                <a:latin typeface="quote-cjk-patch"/>
              </a:rPr>
              <a:t>見逃し率</a:t>
            </a:r>
            <a:r>
              <a:rPr lang="en-US" altLang="ja-JP" b="0" i="0" dirty="0">
                <a:solidFill>
                  <a:srgbClr val="404040"/>
                </a:solidFill>
                <a:effectLst/>
                <a:latin typeface="quote-cjk-patch"/>
              </a:rPr>
              <a:t>: </a:t>
            </a:r>
            <a:r>
              <a:rPr lang="ja-JP" altLang="en-US" b="0" i="0">
                <a:solidFill>
                  <a:srgbClr val="404040"/>
                </a:solidFill>
                <a:effectLst/>
                <a:latin typeface="quote-cjk-patch"/>
              </a:rPr>
              <a:t>ブロック中の</a:t>
            </a:r>
            <a:r>
              <a:rPr lang="en-US" altLang="ja-JP" b="0" i="0" dirty="0">
                <a:solidFill>
                  <a:srgbClr val="404040"/>
                </a:solidFill>
                <a:effectLst/>
                <a:latin typeface="quote-cjk-patch"/>
              </a:rPr>
              <a:t>2</a:t>
            </a:r>
            <a:r>
              <a:rPr lang="ja-JP" altLang="en-US" b="0" i="0">
                <a:solidFill>
                  <a:srgbClr val="404040"/>
                </a:solidFill>
                <a:effectLst/>
                <a:latin typeface="quote-cjk-patch"/>
              </a:rPr>
              <a:t>件が正当なトラフィック</a:t>
            </a:r>
          </a:p>
        </p:txBody>
      </p:sp>
      <p:sp>
        <p:nvSpPr>
          <p:cNvPr id="13" name="正方形/長方形 2">
            <a:extLst>
              <a:ext uri="{FF2B5EF4-FFF2-40B4-BE49-F238E27FC236}">
                <a16:creationId xmlns:a16="http://schemas.microsoft.com/office/drawing/2014/main" id="{07E95F82-EBAD-1907-227B-E75119D6B116}"/>
              </a:ext>
            </a:extLst>
          </p:cNvPr>
          <p:cNvSpPr/>
          <p:nvPr/>
        </p:nvSpPr>
        <p:spPr>
          <a:xfrm>
            <a:off x="7327292" y="4127986"/>
            <a:ext cx="4420518" cy="23785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TextBox 14">
            <a:extLst>
              <a:ext uri="{FF2B5EF4-FFF2-40B4-BE49-F238E27FC236}">
                <a16:creationId xmlns:a16="http://schemas.microsoft.com/office/drawing/2014/main" id="{E53D4D3B-8B78-4796-162F-5A9E8F032F30}"/>
              </a:ext>
            </a:extLst>
          </p:cNvPr>
          <p:cNvSpPr txBox="1"/>
          <p:nvPr/>
        </p:nvSpPr>
        <p:spPr>
          <a:xfrm>
            <a:off x="2387906" y="756837"/>
            <a:ext cx="6097836" cy="369332"/>
          </a:xfrm>
          <a:prstGeom prst="rect">
            <a:avLst/>
          </a:prstGeom>
          <a:noFill/>
        </p:spPr>
        <p:txBody>
          <a:bodyPr wrap="square">
            <a:spAutoFit/>
          </a:bodyPr>
          <a:lstStyle/>
          <a:p>
            <a:r>
              <a:rPr lang="en-JP" dirty="0"/>
              <a:t>🟢 </a:t>
            </a:r>
            <a:r>
              <a:rPr lang="mn-MN" dirty="0"/>
              <a:t>                        </a:t>
            </a:r>
            <a:r>
              <a:rPr lang="en-JP" dirty="0"/>
              <a:t>🟡</a:t>
            </a:r>
            <a:r>
              <a:rPr lang="mn-MN" dirty="0"/>
              <a:t>                         </a:t>
            </a:r>
            <a:r>
              <a:rPr lang="en-JP" dirty="0"/>
              <a:t>🔴</a:t>
            </a:r>
          </a:p>
        </p:txBody>
      </p:sp>
      <p:sp>
        <p:nvSpPr>
          <p:cNvPr id="16" name="Slide Number Placeholder 15">
            <a:extLst>
              <a:ext uri="{FF2B5EF4-FFF2-40B4-BE49-F238E27FC236}">
                <a16:creationId xmlns:a16="http://schemas.microsoft.com/office/drawing/2014/main" id="{9FBD65F8-CA3D-7C85-F144-E9BB79D81195}"/>
              </a:ext>
            </a:extLst>
          </p:cNvPr>
          <p:cNvSpPr>
            <a:spLocks noGrp="1"/>
          </p:cNvSpPr>
          <p:nvPr>
            <p:ph type="sldNum" sz="quarter" idx="12"/>
          </p:nvPr>
        </p:nvSpPr>
        <p:spPr/>
        <p:txBody>
          <a:bodyPr/>
          <a:lstStyle/>
          <a:p>
            <a:fld id="{BB44241B-2579-694C-B40C-A1E3D5F0E4EC}" type="slidenum">
              <a:rPr lang="en-JP" smtClean="0"/>
              <a:t>27</a:t>
            </a:fld>
            <a:endParaRPr lang="en-JP"/>
          </a:p>
        </p:txBody>
      </p:sp>
    </p:spTree>
    <p:extLst>
      <p:ext uri="{BB962C8B-B14F-4D97-AF65-F5344CB8AC3E}">
        <p14:creationId xmlns:p14="http://schemas.microsoft.com/office/powerpoint/2010/main" val="412816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E41C1C-619A-F187-4A29-FCBD6BEB4AFA}"/>
              </a:ext>
            </a:extLst>
          </p:cNvPr>
          <p:cNvSpPr>
            <a:spLocks noGrp="1"/>
          </p:cNvSpPr>
          <p:nvPr>
            <p:ph type="sldNum" sz="quarter" idx="12"/>
          </p:nvPr>
        </p:nvSpPr>
        <p:spPr/>
        <p:txBody>
          <a:bodyPr/>
          <a:lstStyle/>
          <a:p>
            <a:fld id="{BB44241B-2579-694C-B40C-A1E3D5F0E4EC}" type="slidenum">
              <a:rPr lang="en-JP" smtClean="0"/>
              <a:t>28</a:t>
            </a:fld>
            <a:endParaRPr lang="en-JP"/>
          </a:p>
        </p:txBody>
      </p:sp>
      <p:pic>
        <p:nvPicPr>
          <p:cNvPr id="5" name="Picture 4">
            <a:extLst>
              <a:ext uri="{FF2B5EF4-FFF2-40B4-BE49-F238E27FC236}">
                <a16:creationId xmlns:a16="http://schemas.microsoft.com/office/drawing/2014/main" id="{D1CB5C9E-0A7B-7272-444E-226DC5767901}"/>
              </a:ext>
            </a:extLst>
          </p:cNvPr>
          <p:cNvPicPr>
            <a:picLocks noChangeAspect="1"/>
          </p:cNvPicPr>
          <p:nvPr/>
        </p:nvPicPr>
        <p:blipFill>
          <a:blip r:embed="rId2"/>
          <a:stretch>
            <a:fillRect/>
          </a:stretch>
        </p:blipFill>
        <p:spPr>
          <a:xfrm>
            <a:off x="296767" y="1202904"/>
            <a:ext cx="4305300" cy="2628900"/>
          </a:xfrm>
          <a:prstGeom prst="rect">
            <a:avLst/>
          </a:prstGeom>
        </p:spPr>
      </p:pic>
      <p:sp>
        <p:nvSpPr>
          <p:cNvPr id="7" name="TextBox 6">
            <a:extLst>
              <a:ext uri="{FF2B5EF4-FFF2-40B4-BE49-F238E27FC236}">
                <a16:creationId xmlns:a16="http://schemas.microsoft.com/office/drawing/2014/main" id="{A6E7B7C1-6FE9-8ADA-A6A9-1D3DD0DAFC69}"/>
              </a:ext>
            </a:extLst>
          </p:cNvPr>
          <p:cNvSpPr txBox="1"/>
          <p:nvPr/>
        </p:nvSpPr>
        <p:spPr>
          <a:xfrm>
            <a:off x="217583" y="498968"/>
            <a:ext cx="6097836" cy="467307"/>
          </a:xfrm>
          <a:prstGeom prst="rect">
            <a:avLst/>
          </a:prstGeom>
          <a:noFill/>
        </p:spPr>
        <p:txBody>
          <a:bodyPr wrap="square">
            <a:spAutoFit/>
          </a:bodyPr>
          <a:lstStyle/>
          <a:p>
            <a:pPr marL="177800">
              <a:lnSpc>
                <a:spcPct val="150000"/>
              </a:lnSpc>
              <a:spcBef>
                <a:spcPts val="0"/>
              </a:spcBef>
              <a:buSzPts val="2800"/>
            </a:pPr>
            <a:r>
              <a:rPr lang="ja-JP" altLang="en-US" sz="1800"/>
              <a:t>実験方法と評価</a:t>
            </a:r>
            <a:endParaRPr lang="mn-MN" altLang="ja-JP" sz="1800" dirty="0">
              <a:latin typeface="Roboto" panose="02000000000000000000" pitchFamily="2" charset="0"/>
            </a:endParaRPr>
          </a:p>
        </p:txBody>
      </p:sp>
      <p:sp>
        <p:nvSpPr>
          <p:cNvPr id="11" name="TextBox 10">
            <a:extLst>
              <a:ext uri="{FF2B5EF4-FFF2-40B4-BE49-F238E27FC236}">
                <a16:creationId xmlns:a16="http://schemas.microsoft.com/office/drawing/2014/main" id="{EA1B5BAA-1CAB-804D-A837-D0B8EA4FF179}"/>
              </a:ext>
            </a:extLst>
          </p:cNvPr>
          <p:cNvSpPr txBox="1"/>
          <p:nvPr/>
        </p:nvSpPr>
        <p:spPr>
          <a:xfrm>
            <a:off x="5056743" y="1363192"/>
            <a:ext cx="6297057" cy="2585323"/>
          </a:xfrm>
          <a:prstGeom prst="rect">
            <a:avLst/>
          </a:prstGeom>
          <a:noFill/>
        </p:spPr>
        <p:txBody>
          <a:bodyPr wrap="square">
            <a:spAutoFit/>
          </a:bodyPr>
          <a:lstStyle/>
          <a:p>
            <a:r>
              <a:rPr lang="ja-JP" altLang="en-US"/>
              <a:t>既存手法（</a:t>
            </a:r>
            <a:r>
              <a:rPr lang="en-US" dirty="0"/>
              <a:t>DTLS、[15]</a:t>
            </a:r>
            <a:r>
              <a:rPr lang="ja-JP" altLang="en-US"/>
              <a:t>の手法）と比較するため、同じ条件でシミュレーションを実施。</a:t>
            </a:r>
          </a:p>
          <a:p>
            <a:r>
              <a:rPr lang="en-US" altLang="ja-JP" dirty="0"/>
              <a:t>30</a:t>
            </a:r>
            <a:r>
              <a:rPr lang="ja-JP" altLang="en-US"/>
              <a:t>人のユーザーを</a:t>
            </a:r>
            <a:r>
              <a:rPr lang="en-US" altLang="ja-JP" dirty="0"/>
              <a:t>3</a:t>
            </a:r>
            <a:r>
              <a:rPr lang="ja-JP" altLang="en-US"/>
              <a:t>グループに分けて</a:t>
            </a:r>
            <a:r>
              <a:rPr lang="en-US" dirty="0"/>
              <a:t>IP</a:t>
            </a:r>
            <a:r>
              <a:rPr lang="ja-JP" altLang="en-US"/>
              <a:t>ベースの通信を生成。</a:t>
            </a:r>
          </a:p>
          <a:p>
            <a:r>
              <a:rPr lang="ja-JP" altLang="en-US"/>
              <a:t>提案手法は、誤検出率が最も低い結果を示した：</a:t>
            </a:r>
            <a:endParaRPr lang="mn-MN" altLang="ja-JP" dirty="0"/>
          </a:p>
          <a:p>
            <a:endParaRPr lang="ja-JP" altLang="en-US"/>
          </a:p>
          <a:p>
            <a:r>
              <a:rPr lang="en-US" dirty="0"/>
              <a:t>False Negative</a:t>
            </a:r>
            <a:r>
              <a:rPr lang="ja-JP" altLang="en-US"/>
              <a:t>：</a:t>
            </a:r>
            <a:r>
              <a:rPr lang="en-US" altLang="ja-JP" dirty="0"/>
              <a:t>1.31%</a:t>
            </a:r>
            <a:r>
              <a:rPr lang="ja-JP" altLang="en-US"/>
              <a:t>、</a:t>
            </a:r>
            <a:r>
              <a:rPr lang="en-US" dirty="0"/>
              <a:t>False Positive</a:t>
            </a:r>
            <a:r>
              <a:rPr lang="ja-JP" altLang="en-US"/>
              <a:t>：</a:t>
            </a:r>
            <a:r>
              <a:rPr lang="en-US" altLang="ja-JP" dirty="0"/>
              <a:t>3.75%</a:t>
            </a:r>
            <a:endParaRPr lang="ja-JP" altLang="en-US"/>
          </a:p>
          <a:p>
            <a:r>
              <a:rPr lang="ja-JP" altLang="en-US"/>
              <a:t>従来の</a:t>
            </a:r>
            <a:r>
              <a:rPr lang="en-US" dirty="0"/>
              <a:t>DTLS（6.21% / 9.22%）</a:t>
            </a:r>
            <a:r>
              <a:rPr lang="ja-JP" altLang="en-US"/>
              <a:t>や</a:t>
            </a:r>
            <a:r>
              <a:rPr lang="en-US" altLang="ja-JP" dirty="0"/>
              <a:t>[15]</a:t>
            </a:r>
            <a:r>
              <a:rPr lang="ja-JP" altLang="en-US"/>
              <a:t>の手法（</a:t>
            </a:r>
            <a:r>
              <a:rPr lang="en-US" altLang="ja-JP" dirty="0"/>
              <a:t>3.98% / 5.06%</a:t>
            </a:r>
            <a:r>
              <a:rPr lang="ja-JP" altLang="en-US"/>
              <a:t>）よりも高精度であることを確認</a:t>
            </a:r>
          </a:p>
        </p:txBody>
      </p:sp>
      <p:graphicFrame>
        <p:nvGraphicFramePr>
          <p:cNvPr id="12" name="Table 11">
            <a:extLst>
              <a:ext uri="{FF2B5EF4-FFF2-40B4-BE49-F238E27FC236}">
                <a16:creationId xmlns:a16="http://schemas.microsoft.com/office/drawing/2014/main" id="{2BAA0FB0-300A-B4EB-E359-5391009224B4}"/>
              </a:ext>
            </a:extLst>
          </p:cNvPr>
          <p:cNvGraphicFramePr>
            <a:graphicFrameLocks noGrp="1"/>
          </p:cNvGraphicFramePr>
          <p:nvPr>
            <p:extLst>
              <p:ext uri="{D42A27DB-BD31-4B8C-83A1-F6EECF244321}">
                <p14:modId xmlns:p14="http://schemas.microsoft.com/office/powerpoint/2010/main" val="2801854546"/>
              </p:ext>
            </p:extLst>
          </p:nvPr>
        </p:nvGraphicFramePr>
        <p:xfrm>
          <a:off x="595829" y="4360444"/>
          <a:ext cx="10515600" cy="1463040"/>
        </p:xfrm>
        <a:graphic>
          <a:graphicData uri="http://schemas.openxmlformats.org/drawingml/2006/table">
            <a:tbl>
              <a:tblPr/>
              <a:tblGrid>
                <a:gridCol w="3505200">
                  <a:extLst>
                    <a:ext uri="{9D8B030D-6E8A-4147-A177-3AD203B41FA5}">
                      <a16:colId xmlns:a16="http://schemas.microsoft.com/office/drawing/2014/main" val="3302128359"/>
                    </a:ext>
                  </a:extLst>
                </a:gridCol>
                <a:gridCol w="3505200">
                  <a:extLst>
                    <a:ext uri="{9D8B030D-6E8A-4147-A177-3AD203B41FA5}">
                      <a16:colId xmlns:a16="http://schemas.microsoft.com/office/drawing/2014/main" val="898111136"/>
                    </a:ext>
                  </a:extLst>
                </a:gridCol>
                <a:gridCol w="3505200">
                  <a:extLst>
                    <a:ext uri="{9D8B030D-6E8A-4147-A177-3AD203B41FA5}">
                      <a16:colId xmlns:a16="http://schemas.microsoft.com/office/drawing/2014/main" val="167425840"/>
                    </a:ext>
                  </a:extLst>
                </a:gridCol>
              </a:tblGrid>
              <a:tr h="0">
                <a:tc>
                  <a:txBody>
                    <a:bodyPr/>
                    <a:lstStyle/>
                    <a:p>
                      <a:r>
                        <a:rPr lang="en-US" b="1"/>
                        <a:t>Method</a:t>
                      </a:r>
                      <a:endParaRPr lang="en-US"/>
                    </a:p>
                  </a:txBody>
                  <a:tcPr anchor="ctr">
                    <a:lnL>
                      <a:noFill/>
                    </a:lnL>
                    <a:lnR>
                      <a:noFill/>
                    </a:lnR>
                    <a:lnT>
                      <a:noFill/>
                    </a:lnT>
                    <a:lnB>
                      <a:noFill/>
                    </a:lnB>
                  </a:tcPr>
                </a:tc>
                <a:tc>
                  <a:txBody>
                    <a:bodyPr/>
                    <a:lstStyle/>
                    <a:p>
                      <a:r>
                        <a:rPr lang="en-US" b="1"/>
                        <a:t>False Negative (%)</a:t>
                      </a:r>
                      <a:endParaRPr lang="en-US"/>
                    </a:p>
                  </a:txBody>
                  <a:tcPr anchor="ctr">
                    <a:lnL>
                      <a:noFill/>
                    </a:lnL>
                    <a:lnR>
                      <a:noFill/>
                    </a:lnR>
                    <a:lnT>
                      <a:noFill/>
                    </a:lnT>
                    <a:lnB>
                      <a:noFill/>
                    </a:lnB>
                  </a:tcPr>
                </a:tc>
                <a:tc>
                  <a:txBody>
                    <a:bodyPr/>
                    <a:lstStyle/>
                    <a:p>
                      <a:r>
                        <a:rPr lang="en-US" b="1"/>
                        <a:t>False Positive (%)</a:t>
                      </a:r>
                      <a:endParaRPr lang="en-US"/>
                    </a:p>
                  </a:txBody>
                  <a:tcPr anchor="ctr">
                    <a:lnL>
                      <a:noFill/>
                    </a:lnL>
                    <a:lnR>
                      <a:noFill/>
                    </a:lnR>
                    <a:lnT>
                      <a:noFill/>
                    </a:lnT>
                    <a:lnB>
                      <a:noFill/>
                    </a:lnB>
                  </a:tcPr>
                </a:tc>
                <a:extLst>
                  <a:ext uri="{0D108BD9-81ED-4DB2-BD59-A6C34878D82A}">
                    <a16:rowId xmlns:a16="http://schemas.microsoft.com/office/drawing/2014/main" val="4291437478"/>
                  </a:ext>
                </a:extLst>
              </a:tr>
              <a:tr h="0">
                <a:tc>
                  <a:txBody>
                    <a:bodyPr/>
                    <a:lstStyle/>
                    <a:p>
                      <a:r>
                        <a:rPr lang="en-US"/>
                        <a:t>Proposed (Enhanced DTLS + TP)</a:t>
                      </a:r>
                    </a:p>
                  </a:txBody>
                  <a:tcPr anchor="ctr">
                    <a:lnL>
                      <a:noFill/>
                    </a:lnL>
                    <a:lnR>
                      <a:noFill/>
                    </a:lnR>
                    <a:lnT>
                      <a:noFill/>
                    </a:lnT>
                    <a:lnB>
                      <a:noFill/>
                    </a:lnB>
                  </a:tcPr>
                </a:tc>
                <a:tc>
                  <a:txBody>
                    <a:bodyPr/>
                    <a:lstStyle/>
                    <a:p>
                      <a:r>
                        <a:rPr lang="en-JP"/>
                        <a:t>1.31%</a:t>
                      </a:r>
                    </a:p>
                  </a:txBody>
                  <a:tcPr anchor="ctr">
                    <a:lnL>
                      <a:noFill/>
                    </a:lnL>
                    <a:lnR>
                      <a:noFill/>
                    </a:lnR>
                    <a:lnT>
                      <a:noFill/>
                    </a:lnT>
                    <a:lnB>
                      <a:noFill/>
                    </a:lnB>
                  </a:tcPr>
                </a:tc>
                <a:tc>
                  <a:txBody>
                    <a:bodyPr/>
                    <a:lstStyle/>
                    <a:p>
                      <a:r>
                        <a:rPr lang="en-JP"/>
                        <a:t>3.75%</a:t>
                      </a:r>
                    </a:p>
                  </a:txBody>
                  <a:tcPr anchor="ctr">
                    <a:lnL>
                      <a:noFill/>
                    </a:lnL>
                    <a:lnR>
                      <a:noFill/>
                    </a:lnR>
                    <a:lnT>
                      <a:noFill/>
                    </a:lnT>
                    <a:lnB>
                      <a:noFill/>
                    </a:lnB>
                  </a:tcPr>
                </a:tc>
                <a:extLst>
                  <a:ext uri="{0D108BD9-81ED-4DB2-BD59-A6C34878D82A}">
                    <a16:rowId xmlns:a16="http://schemas.microsoft.com/office/drawing/2014/main" val="1335262263"/>
                  </a:ext>
                </a:extLst>
              </a:tr>
              <a:tr h="0">
                <a:tc>
                  <a:txBody>
                    <a:bodyPr/>
                    <a:lstStyle/>
                    <a:p>
                      <a:r>
                        <a:rPr lang="en-US"/>
                        <a:t>Existing Method [15]</a:t>
                      </a:r>
                    </a:p>
                  </a:txBody>
                  <a:tcPr anchor="ctr">
                    <a:lnL>
                      <a:noFill/>
                    </a:lnL>
                    <a:lnR>
                      <a:noFill/>
                    </a:lnR>
                    <a:lnT>
                      <a:noFill/>
                    </a:lnT>
                    <a:lnB>
                      <a:noFill/>
                    </a:lnB>
                  </a:tcPr>
                </a:tc>
                <a:tc>
                  <a:txBody>
                    <a:bodyPr/>
                    <a:lstStyle/>
                    <a:p>
                      <a:r>
                        <a:rPr lang="en-JP" dirty="0"/>
                        <a:t>3.98%</a:t>
                      </a:r>
                    </a:p>
                  </a:txBody>
                  <a:tcPr anchor="ctr">
                    <a:lnL>
                      <a:noFill/>
                    </a:lnL>
                    <a:lnR>
                      <a:noFill/>
                    </a:lnR>
                    <a:lnT>
                      <a:noFill/>
                    </a:lnT>
                    <a:lnB>
                      <a:noFill/>
                    </a:lnB>
                  </a:tcPr>
                </a:tc>
                <a:tc>
                  <a:txBody>
                    <a:bodyPr/>
                    <a:lstStyle/>
                    <a:p>
                      <a:r>
                        <a:rPr lang="en-JP" dirty="0"/>
                        <a:t>5.06%</a:t>
                      </a:r>
                    </a:p>
                  </a:txBody>
                  <a:tcPr anchor="ctr">
                    <a:lnL>
                      <a:noFill/>
                    </a:lnL>
                    <a:lnR>
                      <a:noFill/>
                    </a:lnR>
                    <a:lnT>
                      <a:noFill/>
                    </a:lnT>
                    <a:lnB>
                      <a:noFill/>
                    </a:lnB>
                  </a:tcPr>
                </a:tc>
                <a:extLst>
                  <a:ext uri="{0D108BD9-81ED-4DB2-BD59-A6C34878D82A}">
                    <a16:rowId xmlns:a16="http://schemas.microsoft.com/office/drawing/2014/main" val="303663151"/>
                  </a:ext>
                </a:extLst>
              </a:tr>
              <a:tr h="0">
                <a:tc>
                  <a:txBody>
                    <a:bodyPr/>
                    <a:lstStyle/>
                    <a:p>
                      <a:r>
                        <a:rPr lang="en-US"/>
                        <a:t>Standard DTLS</a:t>
                      </a:r>
                    </a:p>
                  </a:txBody>
                  <a:tcPr anchor="ctr">
                    <a:lnL>
                      <a:noFill/>
                    </a:lnL>
                    <a:lnR>
                      <a:noFill/>
                    </a:lnR>
                    <a:lnT>
                      <a:noFill/>
                    </a:lnT>
                    <a:lnB>
                      <a:noFill/>
                    </a:lnB>
                  </a:tcPr>
                </a:tc>
                <a:tc>
                  <a:txBody>
                    <a:bodyPr/>
                    <a:lstStyle/>
                    <a:p>
                      <a:r>
                        <a:rPr lang="en-JP"/>
                        <a:t>6.21%</a:t>
                      </a:r>
                    </a:p>
                  </a:txBody>
                  <a:tcPr anchor="ctr">
                    <a:lnL>
                      <a:noFill/>
                    </a:lnL>
                    <a:lnR>
                      <a:noFill/>
                    </a:lnR>
                    <a:lnT>
                      <a:noFill/>
                    </a:lnT>
                    <a:lnB>
                      <a:noFill/>
                    </a:lnB>
                  </a:tcPr>
                </a:tc>
                <a:tc>
                  <a:txBody>
                    <a:bodyPr/>
                    <a:lstStyle/>
                    <a:p>
                      <a:r>
                        <a:rPr lang="en-JP" dirty="0"/>
                        <a:t>9.22%</a:t>
                      </a:r>
                    </a:p>
                  </a:txBody>
                  <a:tcPr anchor="ctr">
                    <a:lnL>
                      <a:noFill/>
                    </a:lnL>
                    <a:lnR>
                      <a:noFill/>
                    </a:lnR>
                    <a:lnT>
                      <a:noFill/>
                    </a:lnT>
                    <a:lnB>
                      <a:noFill/>
                    </a:lnB>
                  </a:tcPr>
                </a:tc>
                <a:extLst>
                  <a:ext uri="{0D108BD9-81ED-4DB2-BD59-A6C34878D82A}">
                    <a16:rowId xmlns:a16="http://schemas.microsoft.com/office/drawing/2014/main" val="2485877550"/>
                  </a:ext>
                </a:extLst>
              </a:tr>
            </a:tbl>
          </a:graphicData>
        </a:graphic>
      </p:graphicFrame>
      <p:sp>
        <p:nvSpPr>
          <p:cNvPr id="13" name="正方形/長方形 8">
            <a:extLst>
              <a:ext uri="{FF2B5EF4-FFF2-40B4-BE49-F238E27FC236}">
                <a16:creationId xmlns:a16="http://schemas.microsoft.com/office/drawing/2014/main" id="{4F5B882F-C093-F928-34B5-DFACF842BB2B}"/>
              </a:ext>
            </a:extLst>
          </p:cNvPr>
          <p:cNvSpPr/>
          <p:nvPr/>
        </p:nvSpPr>
        <p:spPr>
          <a:xfrm>
            <a:off x="4968607" y="2736176"/>
            <a:ext cx="6297058" cy="9455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40" descr="ランプ, ミラー, ネックレス が含まれている画像&#10;&#10;自動的に生成された説明">
            <a:extLst>
              <a:ext uri="{FF2B5EF4-FFF2-40B4-BE49-F238E27FC236}">
                <a16:creationId xmlns:a16="http://schemas.microsoft.com/office/drawing/2014/main" id="{83544831-83BA-AF85-46DA-3D155E3B23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7556" y="3429000"/>
            <a:ext cx="2562155" cy="2764851"/>
          </a:xfrm>
          <a:prstGeom prst="rect">
            <a:avLst/>
          </a:prstGeom>
        </p:spPr>
      </p:pic>
      <p:sp>
        <p:nvSpPr>
          <p:cNvPr id="22" name="TextBox 21">
            <a:extLst>
              <a:ext uri="{FF2B5EF4-FFF2-40B4-BE49-F238E27FC236}">
                <a16:creationId xmlns:a16="http://schemas.microsoft.com/office/drawing/2014/main" id="{0DF1EE38-2B23-E14F-2EE5-343E756A0C8A}"/>
              </a:ext>
            </a:extLst>
          </p:cNvPr>
          <p:cNvSpPr txBox="1"/>
          <p:nvPr/>
        </p:nvSpPr>
        <p:spPr>
          <a:xfrm>
            <a:off x="9733607" y="4185102"/>
            <a:ext cx="2110052" cy="1323439"/>
          </a:xfrm>
          <a:prstGeom prst="rect">
            <a:avLst/>
          </a:prstGeom>
          <a:noFill/>
        </p:spPr>
        <p:txBody>
          <a:bodyPr wrap="square">
            <a:spAutoFit/>
          </a:bodyPr>
          <a:lstStyle/>
          <a:p>
            <a:r>
              <a:rPr lang="en-JP" sz="1600" dirty="0"/>
              <a:t>Enhanced DTLSプロトコルは93%以上の精度でトラフィックを選別し、DoS攻撃から防御します</a:t>
            </a:r>
          </a:p>
        </p:txBody>
      </p:sp>
      <p:pic>
        <p:nvPicPr>
          <p:cNvPr id="23" name="Picture 22">
            <a:extLst>
              <a:ext uri="{FF2B5EF4-FFF2-40B4-BE49-F238E27FC236}">
                <a16:creationId xmlns:a16="http://schemas.microsoft.com/office/drawing/2014/main" id="{AEE31225-0AD1-BAF7-FBF6-48C8CD4E051F}"/>
              </a:ext>
            </a:extLst>
          </p:cNvPr>
          <p:cNvPicPr>
            <a:picLocks noChangeAspect="1"/>
          </p:cNvPicPr>
          <p:nvPr/>
        </p:nvPicPr>
        <p:blipFill>
          <a:blip r:embed="rId4"/>
          <a:stretch>
            <a:fillRect/>
          </a:stretch>
        </p:blipFill>
        <p:spPr>
          <a:xfrm>
            <a:off x="11375656" y="77075"/>
            <a:ext cx="744308" cy="794245"/>
          </a:xfrm>
          <a:prstGeom prst="rect">
            <a:avLst/>
          </a:prstGeom>
        </p:spPr>
      </p:pic>
    </p:spTree>
    <p:extLst>
      <p:ext uri="{BB962C8B-B14F-4D97-AF65-F5344CB8AC3E}">
        <p14:creationId xmlns:p14="http://schemas.microsoft.com/office/powerpoint/2010/main" val="3515067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588347-7055-F275-7720-30BD22A5B07A}"/>
              </a:ext>
            </a:extLst>
          </p:cNvPr>
          <p:cNvSpPr>
            <a:spLocks noGrp="1"/>
          </p:cNvSpPr>
          <p:nvPr>
            <p:ph type="sldNum" sz="quarter" idx="12"/>
          </p:nvPr>
        </p:nvSpPr>
        <p:spPr/>
        <p:txBody>
          <a:bodyPr/>
          <a:lstStyle/>
          <a:p>
            <a:fld id="{BB44241B-2579-694C-B40C-A1E3D5F0E4EC}" type="slidenum">
              <a:rPr lang="en-JP" smtClean="0"/>
              <a:t>29</a:t>
            </a:fld>
            <a:endParaRPr lang="en-JP"/>
          </a:p>
        </p:txBody>
      </p:sp>
      <p:sp>
        <p:nvSpPr>
          <p:cNvPr id="8" name="TextBox 7">
            <a:extLst>
              <a:ext uri="{FF2B5EF4-FFF2-40B4-BE49-F238E27FC236}">
                <a16:creationId xmlns:a16="http://schemas.microsoft.com/office/drawing/2014/main" id="{3FB653BF-DE7F-2F49-D1B6-7F8732DC12B4}"/>
              </a:ext>
            </a:extLst>
          </p:cNvPr>
          <p:cNvSpPr txBox="1"/>
          <p:nvPr/>
        </p:nvSpPr>
        <p:spPr>
          <a:xfrm>
            <a:off x="647241" y="933545"/>
            <a:ext cx="6097836" cy="523220"/>
          </a:xfrm>
          <a:prstGeom prst="rect">
            <a:avLst/>
          </a:prstGeom>
          <a:noFill/>
        </p:spPr>
        <p:txBody>
          <a:bodyPr wrap="square">
            <a:spAutoFit/>
          </a:bodyPr>
          <a:lstStyle/>
          <a:p>
            <a:r>
              <a:rPr lang="ja-JP" altLang="en-US" sz="2800">
                <a:latin typeface="+mj-ea"/>
              </a:rPr>
              <a:t>目次</a:t>
            </a:r>
            <a:endParaRPr lang="en-JP" sz="2800" dirty="0"/>
          </a:p>
        </p:txBody>
      </p:sp>
      <p:sp>
        <p:nvSpPr>
          <p:cNvPr id="10" name="TextBox 9">
            <a:extLst>
              <a:ext uri="{FF2B5EF4-FFF2-40B4-BE49-F238E27FC236}">
                <a16:creationId xmlns:a16="http://schemas.microsoft.com/office/drawing/2014/main" id="{C754AC20-FF0F-5DC5-54B9-1F1BCF0E1A2E}"/>
              </a:ext>
            </a:extLst>
          </p:cNvPr>
          <p:cNvSpPr txBox="1"/>
          <p:nvPr/>
        </p:nvSpPr>
        <p:spPr>
          <a:xfrm>
            <a:off x="481987" y="1804891"/>
            <a:ext cx="6097836" cy="2809231"/>
          </a:xfrm>
          <a:prstGeom prst="rect">
            <a:avLst/>
          </a:prstGeom>
          <a:noFill/>
        </p:spPr>
        <p:txBody>
          <a:bodyPr wrap="square">
            <a:spAutoFit/>
          </a:bodyPr>
          <a:lstStyle/>
          <a:p>
            <a:pPr marL="635000" indent="-457200">
              <a:lnSpc>
                <a:spcPct val="150000"/>
              </a:lnSpc>
              <a:spcBef>
                <a:spcPts val="0"/>
              </a:spcBef>
              <a:buSzPts val="2800"/>
              <a:buFont typeface="Wingdings" pitchFamily="2" charset="2"/>
              <a:buChar char="§"/>
            </a:pPr>
            <a:r>
              <a:rPr lang="ja-JP" altLang="en-US" sz="2400"/>
              <a:t>研究背景・目的</a:t>
            </a:r>
            <a:endParaRPr lang="en-US" altLang="ja-JP" sz="2400" dirty="0"/>
          </a:p>
          <a:p>
            <a:pPr marL="635000" indent="-457200">
              <a:lnSpc>
                <a:spcPct val="150000"/>
              </a:lnSpc>
              <a:spcBef>
                <a:spcPts val="0"/>
              </a:spcBef>
              <a:buSzPts val="2800"/>
              <a:buFont typeface="Wingdings" pitchFamily="2" charset="2"/>
              <a:buChar char="§"/>
            </a:pPr>
            <a:r>
              <a:rPr lang="en-US" sz="2400" dirty="0"/>
              <a:t>CoAP</a:t>
            </a:r>
            <a:r>
              <a:rPr lang="ja-JP" altLang="en-US" sz="2400"/>
              <a:t>と</a:t>
            </a:r>
            <a:r>
              <a:rPr lang="en-US" sz="2400" dirty="0"/>
              <a:t>DTLS</a:t>
            </a:r>
            <a:r>
              <a:rPr lang="ja-JP" altLang="en-US" sz="2400"/>
              <a:t>の基礎</a:t>
            </a:r>
            <a:endParaRPr lang="mn-MN" altLang="ja-JP" sz="2400" dirty="0"/>
          </a:p>
          <a:p>
            <a:pPr marL="635000" indent="-457200">
              <a:lnSpc>
                <a:spcPct val="150000"/>
              </a:lnSpc>
              <a:spcBef>
                <a:spcPts val="0"/>
              </a:spcBef>
              <a:buSzPts val="2800"/>
              <a:buFont typeface="Wingdings" pitchFamily="2" charset="2"/>
              <a:buChar char="§"/>
            </a:pPr>
            <a:r>
              <a:rPr lang="en-US" sz="2400" b="0" i="0" dirty="0">
                <a:effectLst/>
                <a:latin typeface="Roboto" panose="02000000000000000000" pitchFamily="2" charset="0"/>
              </a:rPr>
              <a:t>Enhanced DTLS</a:t>
            </a:r>
            <a:r>
              <a:rPr lang="ja-JP" altLang="en-US" sz="2400" b="0" i="0">
                <a:effectLst/>
                <a:latin typeface="Roboto" panose="02000000000000000000" pitchFamily="2" charset="0"/>
              </a:rPr>
              <a:t>の特徴と提案手法</a:t>
            </a:r>
            <a:endParaRPr lang="mn-MN" altLang="ja-JP" sz="2400" b="0" i="0" dirty="0">
              <a:effectLst/>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400"/>
              <a:t>実験方法と評価</a:t>
            </a:r>
            <a:endParaRPr lang="mn-MN" altLang="ja-JP" sz="2400" dirty="0">
              <a:solidFill>
                <a:srgbClr val="252525"/>
              </a:solidFill>
              <a:latin typeface="Roboto" panose="02000000000000000000" pitchFamily="2" charset="0"/>
            </a:endParaRPr>
          </a:p>
          <a:p>
            <a:pPr marL="635000" indent="-457200">
              <a:lnSpc>
                <a:spcPct val="150000"/>
              </a:lnSpc>
              <a:spcBef>
                <a:spcPts val="0"/>
              </a:spcBef>
              <a:buSzPts val="2800"/>
              <a:buFont typeface="Wingdings" pitchFamily="2" charset="2"/>
              <a:buChar char="§"/>
            </a:pPr>
            <a:r>
              <a:rPr lang="ja-JP" altLang="en-US" sz="2400">
                <a:solidFill>
                  <a:srgbClr val="C00000"/>
                </a:solidFill>
                <a:latin typeface="+mj-ea"/>
                <a:ea typeface="+mj-ea"/>
              </a:rPr>
              <a:t>まとめ・今後の</a:t>
            </a:r>
            <a:r>
              <a:rPr kumimoji="1" lang="ja-JP" altLang="en-US" sz="2400">
                <a:solidFill>
                  <a:srgbClr val="C00000"/>
                </a:solidFill>
                <a:latin typeface="+mj-ea"/>
                <a:ea typeface="+mj-ea"/>
              </a:rPr>
              <a:t>課題</a:t>
            </a:r>
            <a:endParaRPr lang="en-US" altLang="ja-JP" sz="2400" dirty="0">
              <a:solidFill>
                <a:srgbClr val="C00000"/>
              </a:solidFill>
              <a:latin typeface="+mj-ea"/>
              <a:ea typeface="+mj-ea"/>
            </a:endParaRPr>
          </a:p>
        </p:txBody>
      </p:sp>
      <p:pic>
        <p:nvPicPr>
          <p:cNvPr id="11" name="Picture 10">
            <a:extLst>
              <a:ext uri="{FF2B5EF4-FFF2-40B4-BE49-F238E27FC236}">
                <a16:creationId xmlns:a16="http://schemas.microsoft.com/office/drawing/2014/main" id="{F5535BF6-F098-20C5-DC80-39233E249467}"/>
              </a:ext>
            </a:extLst>
          </p:cNvPr>
          <p:cNvPicPr>
            <a:picLocks noChangeAspect="1"/>
          </p:cNvPicPr>
          <p:nvPr/>
        </p:nvPicPr>
        <p:blipFill>
          <a:blip r:embed="rId2"/>
          <a:stretch>
            <a:fillRect/>
          </a:stretch>
        </p:blipFill>
        <p:spPr>
          <a:xfrm>
            <a:off x="11375656" y="77075"/>
            <a:ext cx="744308" cy="794245"/>
          </a:xfrm>
          <a:prstGeom prst="rect">
            <a:avLst/>
          </a:prstGeom>
        </p:spPr>
      </p:pic>
    </p:spTree>
    <p:extLst>
      <p:ext uri="{BB962C8B-B14F-4D97-AF65-F5344CB8AC3E}">
        <p14:creationId xmlns:p14="http://schemas.microsoft.com/office/powerpoint/2010/main" val="3180845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1F2BBB-61F2-6993-718F-79ECD0037FD5}"/>
              </a:ext>
            </a:extLst>
          </p:cNvPr>
          <p:cNvSpPr>
            <a:spLocks noGrp="1"/>
          </p:cNvSpPr>
          <p:nvPr>
            <p:ph type="sldNum" sz="quarter" idx="12"/>
          </p:nvPr>
        </p:nvSpPr>
        <p:spPr/>
        <p:txBody>
          <a:bodyPr/>
          <a:lstStyle/>
          <a:p>
            <a:fld id="{BB44241B-2579-694C-B40C-A1E3D5F0E4EC}" type="slidenum">
              <a:rPr lang="en-JP" smtClean="0"/>
              <a:t>30</a:t>
            </a:fld>
            <a:endParaRPr lang="en-JP"/>
          </a:p>
        </p:txBody>
      </p:sp>
      <p:sp>
        <p:nvSpPr>
          <p:cNvPr id="6" name="TextBox 5">
            <a:extLst>
              <a:ext uri="{FF2B5EF4-FFF2-40B4-BE49-F238E27FC236}">
                <a16:creationId xmlns:a16="http://schemas.microsoft.com/office/drawing/2014/main" id="{10334A01-6E27-4B01-02EF-09E00C4BB20D}"/>
              </a:ext>
            </a:extLst>
          </p:cNvPr>
          <p:cNvSpPr txBox="1"/>
          <p:nvPr/>
        </p:nvSpPr>
        <p:spPr>
          <a:xfrm>
            <a:off x="848299" y="1098799"/>
            <a:ext cx="6097836" cy="461665"/>
          </a:xfrm>
          <a:prstGeom prst="rect">
            <a:avLst/>
          </a:prstGeom>
          <a:noFill/>
        </p:spPr>
        <p:txBody>
          <a:bodyPr wrap="square">
            <a:spAutoFit/>
          </a:bodyPr>
          <a:lstStyle/>
          <a:p>
            <a:r>
              <a:rPr kumimoji="1" lang="ja-JP" altLang="en-US" sz="2400"/>
              <a:t>まとめ</a:t>
            </a:r>
            <a:endParaRPr lang="en-JP" sz="2400" dirty="0"/>
          </a:p>
        </p:txBody>
      </p:sp>
      <p:sp>
        <p:nvSpPr>
          <p:cNvPr id="8" name="TextBox 7">
            <a:extLst>
              <a:ext uri="{FF2B5EF4-FFF2-40B4-BE49-F238E27FC236}">
                <a16:creationId xmlns:a16="http://schemas.microsoft.com/office/drawing/2014/main" id="{B5989193-9AF9-9375-AC98-2A93482CF325}"/>
              </a:ext>
            </a:extLst>
          </p:cNvPr>
          <p:cNvSpPr txBox="1"/>
          <p:nvPr/>
        </p:nvSpPr>
        <p:spPr>
          <a:xfrm>
            <a:off x="848299" y="2069848"/>
            <a:ext cx="10014333" cy="2677656"/>
          </a:xfrm>
          <a:prstGeom prst="rect">
            <a:avLst/>
          </a:prstGeom>
          <a:noFill/>
        </p:spPr>
        <p:txBody>
          <a:bodyPr wrap="square">
            <a:spAutoFit/>
          </a:bodyPr>
          <a:lstStyle/>
          <a:p>
            <a:r>
              <a:rPr lang="ja-JP" altLang="en-US" sz="2400"/>
              <a:t>本研究では、</a:t>
            </a:r>
            <a:r>
              <a:rPr lang="en-US" sz="2400" dirty="0"/>
              <a:t>CoAP</a:t>
            </a:r>
            <a:r>
              <a:rPr lang="ja-JP" altLang="en-US" sz="2400"/>
              <a:t>上で拡張</a:t>
            </a:r>
            <a:r>
              <a:rPr lang="en-US" sz="2400" dirty="0"/>
              <a:t>DTLS</a:t>
            </a:r>
            <a:r>
              <a:rPr lang="ja-JP" altLang="en-US" sz="2400"/>
              <a:t>を用いて、</a:t>
            </a:r>
            <a:r>
              <a:rPr lang="en-US" sz="2400" dirty="0"/>
              <a:t>IoT</a:t>
            </a:r>
            <a:r>
              <a:rPr lang="ja-JP" altLang="en-US" sz="2400"/>
              <a:t>データのセキュリティを強化する手法を提案した。信頼された第三者機関（</a:t>
            </a:r>
            <a:r>
              <a:rPr lang="en-US" sz="2400" dirty="0"/>
              <a:t>TP）</a:t>
            </a:r>
            <a:r>
              <a:rPr lang="ja-JP" altLang="en-US" sz="2400"/>
              <a:t>を導入することで、</a:t>
            </a:r>
            <a:r>
              <a:rPr lang="en-US" sz="2400" dirty="0"/>
              <a:t>DoS</a:t>
            </a:r>
            <a:r>
              <a:rPr lang="ja-JP" altLang="en-US" sz="2400"/>
              <a:t>や</a:t>
            </a:r>
            <a:r>
              <a:rPr lang="en-US" sz="2400" dirty="0"/>
              <a:t>DDoS</a:t>
            </a:r>
            <a:r>
              <a:rPr lang="ja-JP" altLang="en-US" sz="2400"/>
              <a:t>攻撃を効果的に防止し、不正なトラフィックを高精度で検出できることが確認された。</a:t>
            </a:r>
            <a:endParaRPr lang="mn-MN" altLang="ja-JP" sz="2400" dirty="0"/>
          </a:p>
          <a:p>
            <a:endParaRPr lang="mn-MN" altLang="ja-JP" sz="2400" dirty="0"/>
          </a:p>
          <a:p>
            <a:r>
              <a:rPr lang="ja-JP" altLang="en-US" sz="2400"/>
              <a:t>今後は、さらに多様な</a:t>
            </a:r>
            <a:r>
              <a:rPr lang="en-US" sz="2400" dirty="0"/>
              <a:t>IoT</a:t>
            </a:r>
            <a:r>
              <a:rPr lang="ja-JP" altLang="en-US" sz="2400"/>
              <a:t>環境での実験と、</a:t>
            </a:r>
            <a:r>
              <a:rPr lang="en-US" sz="2400" dirty="0"/>
              <a:t>TP</a:t>
            </a:r>
            <a:r>
              <a:rPr lang="ja-JP" altLang="en-US" sz="2400"/>
              <a:t>の分散化による信頼性向上が課題である。</a:t>
            </a:r>
            <a:endParaRPr lang="en-JP" sz="2400" dirty="0"/>
          </a:p>
        </p:txBody>
      </p:sp>
      <p:pic>
        <p:nvPicPr>
          <p:cNvPr id="9" name="Picture 8">
            <a:extLst>
              <a:ext uri="{FF2B5EF4-FFF2-40B4-BE49-F238E27FC236}">
                <a16:creationId xmlns:a16="http://schemas.microsoft.com/office/drawing/2014/main" id="{3EBBD151-07B7-BB7F-A45B-512C92EA04C6}"/>
              </a:ext>
            </a:extLst>
          </p:cNvPr>
          <p:cNvPicPr>
            <a:picLocks noChangeAspect="1"/>
          </p:cNvPicPr>
          <p:nvPr/>
        </p:nvPicPr>
        <p:blipFill>
          <a:blip r:embed="rId2"/>
          <a:stretch>
            <a:fillRect/>
          </a:stretch>
        </p:blipFill>
        <p:spPr>
          <a:xfrm>
            <a:off x="11375656" y="77075"/>
            <a:ext cx="744308" cy="794245"/>
          </a:xfrm>
          <a:prstGeom prst="rect">
            <a:avLst/>
          </a:prstGeom>
        </p:spPr>
      </p:pic>
    </p:spTree>
    <p:extLst>
      <p:ext uri="{BB962C8B-B14F-4D97-AF65-F5344CB8AC3E}">
        <p14:creationId xmlns:p14="http://schemas.microsoft.com/office/powerpoint/2010/main" val="731356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4292</TotalTime>
  <Words>2874</Words>
  <Application>Microsoft Macintosh PowerPoint</Application>
  <PresentationFormat>Widescreen</PresentationFormat>
  <Paragraphs>385</Paragraphs>
  <Slides>31</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Meiryo</vt:lpstr>
      <vt:lpstr>quote-cjk-patch</vt:lpstr>
      <vt:lpstr>游ゴシック Light</vt:lpstr>
      <vt:lpstr>Yu Mincho</vt:lpstr>
      <vt:lpstr>YuMincho +36p Kana Medium</vt:lpstr>
      <vt:lpstr>Arial</vt:lpstr>
      <vt:lpstr>Calibri</vt:lpstr>
      <vt:lpstr>Calibri Light</vt:lpstr>
      <vt:lpstr>Menlo</vt:lpstr>
      <vt:lpstr>Roboto</vt:lpstr>
      <vt:lpstr>Times New Roman</vt:lpstr>
      <vt:lpstr>Wingdings</vt:lpstr>
      <vt:lpstr>Office Theme</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2</cp:revision>
  <dcterms:created xsi:type="dcterms:W3CDTF">2025-05-25T03:58:30Z</dcterms:created>
  <dcterms:modified xsi:type="dcterms:W3CDTF">2025-05-28T03:31:11Z</dcterms:modified>
</cp:coreProperties>
</file>