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5" r:id="rId10"/>
    <p:sldId id="264" r:id="rId11"/>
    <p:sldId id="267" r:id="rId12"/>
    <p:sldId id="266" r:id="rId13"/>
    <p:sldId id="268" r:id="rId14"/>
    <p:sldId id="269" r:id="rId15"/>
    <p:sldId id="270" r:id="rId16"/>
    <p:sldId id="272" r:id="rId17"/>
    <p:sldId id="273" r:id="rId18"/>
    <p:sldId id="274" r:id="rId19"/>
    <p:sldId id="275" r:id="rId20"/>
    <p:sldId id="277" r:id="rId21"/>
    <p:sldId id="281" r:id="rId22"/>
    <p:sldId id="276" r:id="rId23"/>
    <p:sldId id="283" r:id="rId24"/>
    <p:sldId id="278" r:id="rId25"/>
    <p:sldId id="279" r:id="rId26"/>
    <p:sldId id="280" r:id="rId27"/>
    <p:sldId id="282" r:id="rId28"/>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69"/>
    <p:restoredTop sz="94648"/>
  </p:normalViewPr>
  <p:slideViewPr>
    <p:cSldViewPr snapToGrid="0">
      <p:cViewPr>
        <p:scale>
          <a:sx n="105" d="100"/>
          <a:sy n="105" d="100"/>
        </p:scale>
        <p:origin x="1040"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2D97EF-2E2B-B749-A0E2-EB99382A2FBD}" type="datetimeFigureOut">
              <a:rPr lang="en-JP" smtClean="0"/>
              <a:t>2025/06/15</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CDA1DB-BE8A-1A43-A8C8-17C24F747CE7}" type="slidenum">
              <a:rPr lang="en-JP" smtClean="0"/>
              <a:t>‹#›</a:t>
            </a:fld>
            <a:endParaRPr lang="en-JP"/>
          </a:p>
        </p:txBody>
      </p:sp>
    </p:spTree>
    <p:extLst>
      <p:ext uri="{BB962C8B-B14F-4D97-AF65-F5344CB8AC3E}">
        <p14:creationId xmlns:p14="http://schemas.microsoft.com/office/powerpoint/2010/main" val="2803202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44A62-D83B-7903-DFA3-CB428E11A8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E0DE46C6-7C50-4E4E-6D0E-E39CF31173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28760611-8996-F61D-EC5A-63F46C1EFA3D}"/>
              </a:ext>
            </a:extLst>
          </p:cNvPr>
          <p:cNvSpPr>
            <a:spLocks noGrp="1"/>
          </p:cNvSpPr>
          <p:nvPr>
            <p:ph type="dt" sz="half" idx="10"/>
          </p:nvPr>
        </p:nvSpPr>
        <p:spPr/>
        <p:txBody>
          <a:bodyPr/>
          <a:lstStyle/>
          <a:p>
            <a:fld id="{4603BDAB-ACA6-5F4D-9927-3D8FDC78E582}" type="datetime1">
              <a:rPr lang="en-US" smtClean="0"/>
              <a:t>6/16/25</a:t>
            </a:fld>
            <a:endParaRPr lang="en-JP"/>
          </a:p>
        </p:txBody>
      </p:sp>
      <p:sp>
        <p:nvSpPr>
          <p:cNvPr id="5" name="Footer Placeholder 4">
            <a:extLst>
              <a:ext uri="{FF2B5EF4-FFF2-40B4-BE49-F238E27FC236}">
                <a16:creationId xmlns:a16="http://schemas.microsoft.com/office/drawing/2014/main" id="{9FCDAA16-9028-D4A6-775B-DD7EF7A630D5}"/>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A825EACB-5BF4-E84A-11A7-45D1E92F7CA2}"/>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3033566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02778-3867-E048-18E9-7A7CC6A35C76}"/>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9A730B88-A1BD-E900-DDE6-A96C3876400A}"/>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P" dirty="0"/>
          </a:p>
        </p:txBody>
      </p:sp>
      <p:sp>
        <p:nvSpPr>
          <p:cNvPr id="4" name="Date Placeholder 3">
            <a:extLst>
              <a:ext uri="{FF2B5EF4-FFF2-40B4-BE49-F238E27FC236}">
                <a16:creationId xmlns:a16="http://schemas.microsoft.com/office/drawing/2014/main" id="{F5659CE8-4D23-015A-AAF5-0C23A72E9FCA}"/>
              </a:ext>
            </a:extLst>
          </p:cNvPr>
          <p:cNvSpPr>
            <a:spLocks noGrp="1"/>
          </p:cNvSpPr>
          <p:nvPr>
            <p:ph type="dt" sz="half" idx="10"/>
          </p:nvPr>
        </p:nvSpPr>
        <p:spPr/>
        <p:txBody>
          <a:bodyPr/>
          <a:lstStyle>
            <a:lvl1pPr>
              <a:defRPr sz="1800">
                <a:latin typeface="Meiryo" panose="020B0604030504040204" pitchFamily="34" charset="-128"/>
                <a:ea typeface="Meiryo" panose="020B0604030504040204" pitchFamily="34" charset="-128"/>
              </a:defRPr>
            </a:lvl1pPr>
          </a:lstStyle>
          <a:p>
            <a:fld id="{0AF783C4-16E0-664D-AECC-C07FAA837275}" type="datetime1">
              <a:rPr lang="en-US" smtClean="0"/>
              <a:t>6/16/25</a:t>
            </a:fld>
            <a:endParaRPr lang="en-JP" dirty="0"/>
          </a:p>
        </p:txBody>
      </p:sp>
      <p:sp>
        <p:nvSpPr>
          <p:cNvPr id="5" name="Footer Placeholder 4">
            <a:extLst>
              <a:ext uri="{FF2B5EF4-FFF2-40B4-BE49-F238E27FC236}">
                <a16:creationId xmlns:a16="http://schemas.microsoft.com/office/drawing/2014/main" id="{6B95429A-ED7E-F8DD-8F36-DEEB10E85A49}"/>
              </a:ext>
            </a:extLst>
          </p:cNvPr>
          <p:cNvSpPr>
            <a:spLocks noGrp="1"/>
          </p:cNvSpPr>
          <p:nvPr>
            <p:ph type="ftr" sz="quarter" idx="11"/>
          </p:nvPr>
        </p:nvSpPr>
        <p:spPr/>
        <p:txBody>
          <a:bodyPr/>
          <a:lstStyle/>
          <a:p>
            <a:endParaRPr lang="en-JP" dirty="0"/>
          </a:p>
        </p:txBody>
      </p:sp>
      <p:sp>
        <p:nvSpPr>
          <p:cNvPr id="6" name="Slide Number Placeholder 5">
            <a:extLst>
              <a:ext uri="{FF2B5EF4-FFF2-40B4-BE49-F238E27FC236}">
                <a16:creationId xmlns:a16="http://schemas.microsoft.com/office/drawing/2014/main" id="{460C49CC-44C0-FEF3-59E8-555B72733A2E}"/>
              </a:ext>
            </a:extLst>
          </p:cNvPr>
          <p:cNvSpPr>
            <a:spLocks noGrp="1"/>
          </p:cNvSpPr>
          <p:nvPr>
            <p:ph type="sldNum" sz="quarter" idx="12"/>
          </p:nvPr>
        </p:nvSpPr>
        <p:spPr>
          <a:noFill/>
        </p:spPr>
        <p:txBody>
          <a:bodyPr/>
          <a:lstStyle>
            <a:lvl1pPr>
              <a:defRPr sz="1800">
                <a:solidFill>
                  <a:schemeClr val="tx1"/>
                </a:solidFill>
                <a:latin typeface="Meiryo" panose="020B0604030504040204" pitchFamily="34" charset="-128"/>
                <a:ea typeface="Meiryo" panose="020B0604030504040204" pitchFamily="34" charset="-128"/>
              </a:defRPr>
            </a:lvl1pPr>
          </a:lstStyle>
          <a:p>
            <a:fld id="{CFF2457F-2906-7A4E-9961-8D26F85DED96}" type="slidenum">
              <a:rPr lang="en-JP" smtClean="0"/>
              <a:pPr/>
              <a:t>‹#›</a:t>
            </a:fld>
            <a:endParaRPr lang="en-JP" dirty="0"/>
          </a:p>
        </p:txBody>
      </p:sp>
    </p:spTree>
    <p:extLst>
      <p:ext uri="{BB962C8B-B14F-4D97-AF65-F5344CB8AC3E}">
        <p14:creationId xmlns:p14="http://schemas.microsoft.com/office/powerpoint/2010/main" val="1380067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7F6F3-C7CE-F263-2BE0-BFAED8B353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A63CC6E4-1E7B-DB6C-A193-38C5769B91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32CAFB-666A-089B-609F-4B2B36E8040E}"/>
              </a:ext>
            </a:extLst>
          </p:cNvPr>
          <p:cNvSpPr>
            <a:spLocks noGrp="1"/>
          </p:cNvSpPr>
          <p:nvPr>
            <p:ph type="dt" sz="half" idx="10"/>
          </p:nvPr>
        </p:nvSpPr>
        <p:spPr/>
        <p:txBody>
          <a:bodyPr/>
          <a:lstStyle/>
          <a:p>
            <a:fld id="{F8BFF9BE-A819-2D47-BE9A-C6A15155A2BA}" type="datetime1">
              <a:rPr lang="en-US" smtClean="0"/>
              <a:t>6/16/25</a:t>
            </a:fld>
            <a:endParaRPr lang="en-JP"/>
          </a:p>
        </p:txBody>
      </p:sp>
      <p:sp>
        <p:nvSpPr>
          <p:cNvPr id="5" name="Footer Placeholder 4">
            <a:extLst>
              <a:ext uri="{FF2B5EF4-FFF2-40B4-BE49-F238E27FC236}">
                <a16:creationId xmlns:a16="http://schemas.microsoft.com/office/drawing/2014/main" id="{3A79695C-6AAE-5F97-BA92-B5003486DEFF}"/>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70A3CE0-AAB7-2CC8-0885-FF7E596C3C50}"/>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2525572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E7AB6-651B-D910-892C-16DA8A9C7B00}"/>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23A49597-B5AC-CB09-6AEC-33ADD1D653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3A620B24-8378-9475-D9CB-3ED8252801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C3FCDACB-C0B3-F16E-0CD8-CA155FB3F780}"/>
              </a:ext>
            </a:extLst>
          </p:cNvPr>
          <p:cNvSpPr>
            <a:spLocks noGrp="1"/>
          </p:cNvSpPr>
          <p:nvPr>
            <p:ph type="dt" sz="half" idx="10"/>
          </p:nvPr>
        </p:nvSpPr>
        <p:spPr/>
        <p:txBody>
          <a:bodyPr/>
          <a:lstStyle/>
          <a:p>
            <a:fld id="{9CB6FDE4-3D2A-1E47-B239-154BC8343463}" type="datetime1">
              <a:rPr lang="en-US" smtClean="0"/>
              <a:t>6/16/25</a:t>
            </a:fld>
            <a:endParaRPr lang="en-JP"/>
          </a:p>
        </p:txBody>
      </p:sp>
      <p:sp>
        <p:nvSpPr>
          <p:cNvPr id="6" name="Footer Placeholder 5">
            <a:extLst>
              <a:ext uri="{FF2B5EF4-FFF2-40B4-BE49-F238E27FC236}">
                <a16:creationId xmlns:a16="http://schemas.microsoft.com/office/drawing/2014/main" id="{8797393A-60A2-5069-2DED-1997AA771CC0}"/>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78E16FB6-928A-EEE9-4206-6ADA5D8AA186}"/>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2250145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9B2C2-B759-3BC1-D0FA-9CE3FD1ABD8D}"/>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5E9F9615-5C38-70F2-2CCD-D284A5198A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BF799E-B3C3-1A2F-328E-816149E6E9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0E474ADF-FBFE-A919-9286-5F1461DC18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239DAB-139F-934E-B42A-DE8E01F54E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EA882A61-F360-4BDC-4741-6FC12B69A355}"/>
              </a:ext>
            </a:extLst>
          </p:cNvPr>
          <p:cNvSpPr>
            <a:spLocks noGrp="1"/>
          </p:cNvSpPr>
          <p:nvPr>
            <p:ph type="dt" sz="half" idx="10"/>
          </p:nvPr>
        </p:nvSpPr>
        <p:spPr/>
        <p:txBody>
          <a:bodyPr/>
          <a:lstStyle/>
          <a:p>
            <a:fld id="{01AD7662-0EF8-DD4A-A7F7-ED3F6B5A5A06}" type="datetime1">
              <a:rPr lang="en-US" smtClean="0"/>
              <a:t>6/16/25</a:t>
            </a:fld>
            <a:endParaRPr lang="en-JP"/>
          </a:p>
        </p:txBody>
      </p:sp>
      <p:sp>
        <p:nvSpPr>
          <p:cNvPr id="8" name="Footer Placeholder 7">
            <a:extLst>
              <a:ext uri="{FF2B5EF4-FFF2-40B4-BE49-F238E27FC236}">
                <a16:creationId xmlns:a16="http://schemas.microsoft.com/office/drawing/2014/main" id="{380CA179-69D0-8E35-D491-920F3E3BEC77}"/>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F17B6383-DF74-EFB9-1CF5-C9500F4A7B5B}"/>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3675559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2BDD1-172A-0E6B-74C3-5A724439C474}"/>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74434505-94F1-44C3-635E-F7782A417592}"/>
              </a:ext>
            </a:extLst>
          </p:cNvPr>
          <p:cNvSpPr>
            <a:spLocks noGrp="1"/>
          </p:cNvSpPr>
          <p:nvPr>
            <p:ph type="dt" sz="half" idx="10"/>
          </p:nvPr>
        </p:nvSpPr>
        <p:spPr/>
        <p:txBody>
          <a:bodyPr/>
          <a:lstStyle/>
          <a:p>
            <a:fld id="{861DAF1A-0631-F848-B08B-A19D6B575D46}" type="datetime1">
              <a:rPr lang="en-US" smtClean="0"/>
              <a:t>6/16/25</a:t>
            </a:fld>
            <a:endParaRPr lang="en-JP"/>
          </a:p>
        </p:txBody>
      </p:sp>
      <p:sp>
        <p:nvSpPr>
          <p:cNvPr id="4" name="Footer Placeholder 3">
            <a:extLst>
              <a:ext uri="{FF2B5EF4-FFF2-40B4-BE49-F238E27FC236}">
                <a16:creationId xmlns:a16="http://schemas.microsoft.com/office/drawing/2014/main" id="{4B6B9604-5F94-D91E-F1D9-8923334CF1A1}"/>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812C4807-F77D-9BD5-6744-011DF98CBAD7}"/>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2932578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E7D672-B411-D13E-DB53-6702647AF21D}"/>
              </a:ext>
            </a:extLst>
          </p:cNvPr>
          <p:cNvSpPr>
            <a:spLocks noGrp="1"/>
          </p:cNvSpPr>
          <p:nvPr>
            <p:ph type="dt" sz="half" idx="10"/>
          </p:nvPr>
        </p:nvSpPr>
        <p:spPr/>
        <p:txBody>
          <a:bodyPr/>
          <a:lstStyle/>
          <a:p>
            <a:fld id="{3BA15C6B-4594-ED4E-9B65-03446823C53E}" type="datetime1">
              <a:rPr lang="en-US" smtClean="0"/>
              <a:t>6/16/25</a:t>
            </a:fld>
            <a:endParaRPr lang="en-JP"/>
          </a:p>
        </p:txBody>
      </p:sp>
      <p:sp>
        <p:nvSpPr>
          <p:cNvPr id="3" name="Footer Placeholder 2">
            <a:extLst>
              <a:ext uri="{FF2B5EF4-FFF2-40B4-BE49-F238E27FC236}">
                <a16:creationId xmlns:a16="http://schemas.microsoft.com/office/drawing/2014/main" id="{F04620DE-948C-0060-0707-D206AE45A51A}"/>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D80FB5DD-11A2-70C0-11F0-1DA815338EBA}"/>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2830672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1AED0-C959-80F9-E4A3-04C901AB9E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F0A69558-AE85-FE63-CF91-EC613D3B14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989B2A02-6B58-7E6C-3CB2-3DB40BF2A1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0987D8-E0AE-56C3-2025-7E05C77A3117}"/>
              </a:ext>
            </a:extLst>
          </p:cNvPr>
          <p:cNvSpPr>
            <a:spLocks noGrp="1"/>
          </p:cNvSpPr>
          <p:nvPr>
            <p:ph type="dt" sz="half" idx="10"/>
          </p:nvPr>
        </p:nvSpPr>
        <p:spPr/>
        <p:txBody>
          <a:bodyPr/>
          <a:lstStyle/>
          <a:p>
            <a:fld id="{43B5CDED-F7AC-9D47-83E4-C3D2355C1487}" type="datetime1">
              <a:rPr lang="en-US" smtClean="0"/>
              <a:t>6/16/25</a:t>
            </a:fld>
            <a:endParaRPr lang="en-JP"/>
          </a:p>
        </p:txBody>
      </p:sp>
      <p:sp>
        <p:nvSpPr>
          <p:cNvPr id="6" name="Footer Placeholder 5">
            <a:extLst>
              <a:ext uri="{FF2B5EF4-FFF2-40B4-BE49-F238E27FC236}">
                <a16:creationId xmlns:a16="http://schemas.microsoft.com/office/drawing/2014/main" id="{19062B9A-FD38-943A-5475-EA3E75834C30}"/>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AEBF7E48-9DE0-C29A-49C0-547D57181B0E}"/>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3253408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8F9BD-BA28-8F28-4316-8536A4092E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047A3BC3-A210-FA6C-04CF-73AFAC8638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8E552045-5925-C224-7E10-B70B1FA8C8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F403EC-0D7E-053A-DDF3-FEB49FAE5CA3}"/>
              </a:ext>
            </a:extLst>
          </p:cNvPr>
          <p:cNvSpPr>
            <a:spLocks noGrp="1"/>
          </p:cNvSpPr>
          <p:nvPr>
            <p:ph type="dt" sz="half" idx="10"/>
          </p:nvPr>
        </p:nvSpPr>
        <p:spPr/>
        <p:txBody>
          <a:bodyPr/>
          <a:lstStyle/>
          <a:p>
            <a:fld id="{5BBA5EB8-2B3B-C643-BC63-E2189607362C}" type="datetime1">
              <a:rPr lang="en-US" smtClean="0"/>
              <a:t>6/16/25</a:t>
            </a:fld>
            <a:endParaRPr lang="en-JP"/>
          </a:p>
        </p:txBody>
      </p:sp>
      <p:sp>
        <p:nvSpPr>
          <p:cNvPr id="6" name="Footer Placeholder 5">
            <a:extLst>
              <a:ext uri="{FF2B5EF4-FFF2-40B4-BE49-F238E27FC236}">
                <a16:creationId xmlns:a16="http://schemas.microsoft.com/office/drawing/2014/main" id="{55306809-6623-027B-EB38-A655C0FF95E4}"/>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03F787A5-9C9E-6E4C-FC5F-45FB8D06C672}"/>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2621047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F569-4853-B05A-7D62-0AAF2942ECE1}"/>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13D7F638-9A5F-73C1-B50F-FF7320ED70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16EFAE02-1C64-EC5C-E048-8C83C43BB53D}"/>
              </a:ext>
            </a:extLst>
          </p:cNvPr>
          <p:cNvSpPr>
            <a:spLocks noGrp="1"/>
          </p:cNvSpPr>
          <p:nvPr>
            <p:ph type="dt" sz="half" idx="10"/>
          </p:nvPr>
        </p:nvSpPr>
        <p:spPr/>
        <p:txBody>
          <a:bodyPr/>
          <a:lstStyle/>
          <a:p>
            <a:fld id="{0B6EF86D-B8BC-E940-97F9-3004F14B14DF}" type="datetime1">
              <a:rPr lang="en-US" smtClean="0"/>
              <a:t>6/16/25</a:t>
            </a:fld>
            <a:endParaRPr lang="en-JP"/>
          </a:p>
        </p:txBody>
      </p:sp>
      <p:sp>
        <p:nvSpPr>
          <p:cNvPr id="5" name="Footer Placeholder 4">
            <a:extLst>
              <a:ext uri="{FF2B5EF4-FFF2-40B4-BE49-F238E27FC236}">
                <a16:creationId xmlns:a16="http://schemas.microsoft.com/office/drawing/2014/main" id="{E3859306-5937-061B-6D2F-9882589325CC}"/>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E0B8CEF9-2106-A8D3-11C1-52EC3234619C}"/>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1416290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777FF8-40FE-CB4C-6066-0F20AE342D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8DD68680-A73D-FD2A-BAF5-89915DAAA3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7506088A-E50C-D72D-CE51-7792A202E0A5}"/>
              </a:ext>
            </a:extLst>
          </p:cNvPr>
          <p:cNvSpPr>
            <a:spLocks noGrp="1"/>
          </p:cNvSpPr>
          <p:nvPr>
            <p:ph type="dt" sz="half" idx="10"/>
          </p:nvPr>
        </p:nvSpPr>
        <p:spPr/>
        <p:txBody>
          <a:bodyPr/>
          <a:lstStyle/>
          <a:p>
            <a:fld id="{6FCB8A6E-45CD-AE40-B23F-0D33E1736D43}" type="datetime1">
              <a:rPr lang="en-US" smtClean="0"/>
              <a:t>6/16/25</a:t>
            </a:fld>
            <a:endParaRPr lang="en-JP"/>
          </a:p>
        </p:txBody>
      </p:sp>
      <p:sp>
        <p:nvSpPr>
          <p:cNvPr id="5" name="Footer Placeholder 4">
            <a:extLst>
              <a:ext uri="{FF2B5EF4-FFF2-40B4-BE49-F238E27FC236}">
                <a16:creationId xmlns:a16="http://schemas.microsoft.com/office/drawing/2014/main" id="{4D664AB1-8F32-D673-7AA3-6EF4C88D5FDF}"/>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A67C4F98-F14F-5AE1-FE76-4FC730D1B3E6}"/>
              </a:ext>
            </a:extLst>
          </p:cNvPr>
          <p:cNvSpPr>
            <a:spLocks noGrp="1"/>
          </p:cNvSpPr>
          <p:nvPr>
            <p:ph type="sldNum" sz="quarter" idx="12"/>
          </p:nvPr>
        </p:nvSpPr>
        <p:spPr/>
        <p:txBody>
          <a:bodyPr/>
          <a:lstStyle/>
          <a:p>
            <a:fld id="{25A9D56D-006D-A740-86A3-FD23428E3C6A}" type="slidenum">
              <a:rPr lang="en-JP" smtClean="0"/>
              <a:t>‹#›</a:t>
            </a:fld>
            <a:endParaRPr lang="en-JP"/>
          </a:p>
        </p:txBody>
      </p:sp>
    </p:spTree>
    <p:extLst>
      <p:ext uri="{BB962C8B-B14F-4D97-AF65-F5344CB8AC3E}">
        <p14:creationId xmlns:p14="http://schemas.microsoft.com/office/powerpoint/2010/main" val="3338731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784AC9-24FD-97F4-6057-B689D12C1A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D6F3733E-8651-D0D1-81B7-6B7D069330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59992BB6-2095-5650-2BAB-ADDAE33F6C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800">
                <a:solidFill>
                  <a:schemeClr val="tx1">
                    <a:tint val="75000"/>
                  </a:schemeClr>
                </a:solidFill>
                <a:latin typeface="Meiryo" panose="020B0604030504040204" pitchFamily="34" charset="-128"/>
                <a:ea typeface="Meiryo" panose="020B0604030504040204" pitchFamily="34" charset="-128"/>
              </a:defRPr>
            </a:lvl1pPr>
          </a:lstStyle>
          <a:p>
            <a:fld id="{B964285F-2422-A74A-B824-5725FC8753A7}" type="datetime1">
              <a:rPr lang="en-US" smtClean="0"/>
              <a:t>6/16/25</a:t>
            </a:fld>
            <a:endParaRPr lang="en-JP" dirty="0"/>
          </a:p>
        </p:txBody>
      </p:sp>
      <p:sp>
        <p:nvSpPr>
          <p:cNvPr id="5" name="Footer Placeholder 4">
            <a:extLst>
              <a:ext uri="{FF2B5EF4-FFF2-40B4-BE49-F238E27FC236}">
                <a16:creationId xmlns:a16="http://schemas.microsoft.com/office/drawing/2014/main" id="{4839BBA7-0B18-C6DF-C8F4-515D65A272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1FABB6AA-8D59-7226-6073-BFF753E12C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A9D56D-006D-A740-86A3-FD23428E3C6A}" type="slidenum">
              <a:rPr lang="en-JP" smtClean="0"/>
              <a:t>‹#›</a:t>
            </a:fld>
            <a:endParaRPr lang="en-JP" dirty="0"/>
          </a:p>
        </p:txBody>
      </p:sp>
    </p:spTree>
    <p:extLst>
      <p:ext uri="{BB962C8B-B14F-4D97-AF65-F5344CB8AC3E}">
        <p14:creationId xmlns:p14="http://schemas.microsoft.com/office/powerpoint/2010/main" val="1649815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4E5A34-F346-C787-DF6E-9EB58A5B1DFA}"/>
              </a:ext>
            </a:extLst>
          </p:cNvPr>
          <p:cNvSpPr txBox="1"/>
          <p:nvPr/>
        </p:nvSpPr>
        <p:spPr>
          <a:xfrm>
            <a:off x="2098484" y="2992916"/>
            <a:ext cx="7995032" cy="1384995"/>
          </a:xfrm>
          <a:prstGeom prst="rect">
            <a:avLst/>
          </a:prstGeom>
          <a:noFill/>
        </p:spPr>
        <p:txBody>
          <a:bodyPr wrap="square">
            <a:spAutoFit/>
          </a:bodyPr>
          <a:lstStyle/>
          <a:p>
            <a:r>
              <a:rPr lang="ja-JP" altLang="en-US" sz="2800">
                <a:latin typeface="Meiryo" panose="020B0604030504040204" pitchFamily="34" charset="-128"/>
                <a:ea typeface="Meiryo" panose="020B0604030504040204" pitchFamily="34" charset="-128"/>
              </a:rPr>
              <a:t>大分大学 理工学研究科博士前期課程理工学専攻 情報・数理・データサイエンスプログラム </a:t>
            </a:r>
            <a:endParaRPr lang="en-US" altLang="ja-JP" sz="2800" dirty="0">
              <a:latin typeface="Meiryo" panose="020B0604030504040204" pitchFamily="34" charset="-128"/>
              <a:ea typeface="Meiryo" panose="020B0604030504040204" pitchFamily="34" charset="-128"/>
            </a:endParaRPr>
          </a:p>
          <a:p>
            <a:r>
              <a:rPr lang="ja-JP" altLang="en-US" sz="2800">
                <a:latin typeface="Meiryo" panose="020B0604030504040204" pitchFamily="34" charset="-128"/>
                <a:ea typeface="Meiryo" panose="020B0604030504040204" pitchFamily="34" charset="-128"/>
              </a:rPr>
              <a:t>（高度実践系）（知能情報システム分野）</a:t>
            </a:r>
            <a:endParaRPr lang="en-JP" sz="28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879E19E6-D33B-F078-D65F-6FB73C214572}"/>
              </a:ext>
            </a:extLst>
          </p:cNvPr>
          <p:cNvSpPr txBox="1"/>
          <p:nvPr/>
        </p:nvSpPr>
        <p:spPr>
          <a:xfrm>
            <a:off x="3128103" y="697968"/>
            <a:ext cx="6965413" cy="584775"/>
          </a:xfrm>
          <a:prstGeom prst="rect">
            <a:avLst/>
          </a:prstGeom>
          <a:noFill/>
        </p:spPr>
        <p:txBody>
          <a:bodyPr wrap="square">
            <a:spAutoFit/>
          </a:bodyPr>
          <a:lstStyle/>
          <a:p>
            <a:r>
              <a:rPr lang="ja-JP" altLang="en-US" sz="3200">
                <a:latin typeface="Meiryo" panose="020B0604030504040204" pitchFamily="34" charset="-128"/>
                <a:ea typeface="Meiryo" panose="020B0604030504040204" pitchFamily="34" charset="-128"/>
              </a:rPr>
              <a:t>知能システム特論第一</a:t>
            </a:r>
            <a:endParaRPr lang="en-JP" sz="32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C8225081-91F0-F5C0-FA2C-2C1ABE758294}"/>
              </a:ext>
            </a:extLst>
          </p:cNvPr>
          <p:cNvSpPr txBox="1"/>
          <p:nvPr/>
        </p:nvSpPr>
        <p:spPr>
          <a:xfrm>
            <a:off x="1388126" y="4605052"/>
            <a:ext cx="8705390" cy="523220"/>
          </a:xfrm>
          <a:prstGeom prst="rect">
            <a:avLst/>
          </a:prstGeom>
          <a:noFill/>
        </p:spPr>
        <p:txBody>
          <a:bodyPr wrap="square">
            <a:spAutoFit/>
          </a:bodyPr>
          <a:lstStyle/>
          <a:p>
            <a:r>
              <a:rPr lang="ja-JP" altLang="en-US" sz="2800">
                <a:effectLst/>
                <a:latin typeface="Meiryo" panose="020B0604030504040204" pitchFamily="34" charset="-128"/>
                <a:ea typeface="Meiryo" panose="020B0604030504040204" pitchFamily="34" charset="-128"/>
              </a:rPr>
              <a:t>情報基盤システム学研究室</a:t>
            </a:r>
            <a:r>
              <a:rPr lang="mn-MN" altLang="ja-JP" sz="2800" dirty="0">
                <a:effectLst/>
                <a:latin typeface="Meiryo" panose="020B0604030504040204" pitchFamily="34" charset="-128"/>
                <a:ea typeface="Meiryo" panose="020B0604030504040204" pitchFamily="34" charset="-128"/>
              </a:rPr>
              <a:t> </a:t>
            </a:r>
            <a:r>
              <a:rPr lang="en-US" altLang="ja-JP" sz="2800" dirty="0">
                <a:effectLst/>
                <a:latin typeface="Meiryo" panose="020B0604030504040204" pitchFamily="34" charset="-128"/>
                <a:ea typeface="Meiryo" panose="020B0604030504040204" pitchFamily="34" charset="-128"/>
              </a:rPr>
              <a:t>: Davaakhuu Undarmaa </a:t>
            </a:r>
            <a:endParaRPr lang="ja-JP" altLang="en-US" sz="2800">
              <a:effectLst/>
            </a:endParaRPr>
          </a:p>
        </p:txBody>
      </p:sp>
      <p:sp>
        <p:nvSpPr>
          <p:cNvPr id="11" name="TextBox 10">
            <a:extLst>
              <a:ext uri="{FF2B5EF4-FFF2-40B4-BE49-F238E27FC236}">
                <a16:creationId xmlns:a16="http://schemas.microsoft.com/office/drawing/2014/main" id="{50401EAD-A6AF-AFF9-C872-917EA500B387}"/>
              </a:ext>
            </a:extLst>
          </p:cNvPr>
          <p:cNvSpPr txBox="1"/>
          <p:nvPr/>
        </p:nvSpPr>
        <p:spPr>
          <a:xfrm>
            <a:off x="2947930" y="1832282"/>
            <a:ext cx="6097836" cy="646331"/>
          </a:xfrm>
          <a:prstGeom prst="rect">
            <a:avLst/>
          </a:prstGeom>
          <a:noFill/>
        </p:spPr>
        <p:txBody>
          <a:bodyPr wrap="square">
            <a:spAutoFit/>
          </a:bodyPr>
          <a:lstStyle/>
          <a:p>
            <a:r>
              <a:rPr lang="ja-JP" altLang="en-US" sz="3600">
                <a:latin typeface="Meiryo" panose="020B0604030504040204" pitchFamily="34" charset="-128"/>
                <a:ea typeface="Meiryo" panose="020B0604030504040204" pitchFamily="34" charset="-128"/>
              </a:rPr>
              <a:t>異常検知：</a:t>
            </a:r>
            <a:r>
              <a:rPr lang="en-US" sz="3600" dirty="0">
                <a:latin typeface="Meiryo" panose="020B0604030504040204" pitchFamily="34" charset="-128"/>
                <a:ea typeface="Meiryo" panose="020B0604030504040204" pitchFamily="34" charset="-128"/>
              </a:rPr>
              <a:t>VAE・GAN</a:t>
            </a:r>
            <a:endParaRPr lang="en-JP" sz="3600" dirty="0">
              <a:latin typeface="Meiryo" panose="020B0604030504040204" pitchFamily="34" charset="-128"/>
              <a:ea typeface="Meiryo" panose="020B0604030504040204" pitchFamily="34" charset="-128"/>
            </a:endParaRPr>
          </a:p>
        </p:txBody>
      </p:sp>
      <p:pic>
        <p:nvPicPr>
          <p:cNvPr id="13" name="Picture 12">
            <a:extLst>
              <a:ext uri="{FF2B5EF4-FFF2-40B4-BE49-F238E27FC236}">
                <a16:creationId xmlns:a16="http://schemas.microsoft.com/office/drawing/2014/main" id="{7FE0B473-EFC9-1D89-8DC0-965C7180E651}"/>
              </a:ext>
            </a:extLst>
          </p:cNvPr>
          <p:cNvPicPr>
            <a:picLocks noChangeAspect="1"/>
          </p:cNvPicPr>
          <p:nvPr/>
        </p:nvPicPr>
        <p:blipFill>
          <a:blip r:embed="rId3"/>
          <a:stretch>
            <a:fillRect/>
          </a:stretch>
        </p:blipFill>
        <p:spPr>
          <a:xfrm>
            <a:off x="11216465" y="301484"/>
            <a:ext cx="791922" cy="845054"/>
          </a:xfrm>
          <a:prstGeom prst="rect">
            <a:avLst/>
          </a:prstGeom>
        </p:spPr>
      </p:pic>
    </p:spTree>
    <p:extLst>
      <p:ext uri="{BB962C8B-B14F-4D97-AF65-F5344CB8AC3E}">
        <p14:creationId xmlns:p14="http://schemas.microsoft.com/office/powerpoint/2010/main" val="2203301993"/>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DB127D-0C81-DCF1-CE31-E9946C38D082}"/>
              </a:ext>
            </a:extLst>
          </p:cNvPr>
          <p:cNvSpPr txBox="1"/>
          <p:nvPr/>
        </p:nvSpPr>
        <p:spPr>
          <a:xfrm>
            <a:off x="1704861" y="806974"/>
            <a:ext cx="6097836" cy="646331"/>
          </a:xfrm>
          <a:prstGeom prst="rect">
            <a:avLst/>
          </a:prstGeom>
          <a:noFill/>
        </p:spPr>
        <p:txBody>
          <a:bodyPr wrap="square">
            <a:spAutoFit/>
          </a:bodyPr>
          <a:lstStyle/>
          <a:p>
            <a:r>
              <a:rPr lang="ja-JP" altLang="en-US" sz="3600">
                <a:effectLst/>
                <a:latin typeface="Meiryo" panose="020B0604030504040204" pitchFamily="34" charset="-128"/>
                <a:ea typeface="Meiryo" panose="020B0604030504040204" pitchFamily="34" charset="-128"/>
              </a:rPr>
              <a:t>目次 </a:t>
            </a:r>
            <a:endParaRPr lang="ja-JP" altLang="en-US" sz="3600">
              <a:effectLst/>
            </a:endParaRPr>
          </a:p>
        </p:txBody>
      </p:sp>
      <p:sp>
        <p:nvSpPr>
          <p:cNvPr id="7" name="TextBox 6">
            <a:extLst>
              <a:ext uri="{FF2B5EF4-FFF2-40B4-BE49-F238E27FC236}">
                <a16:creationId xmlns:a16="http://schemas.microsoft.com/office/drawing/2014/main" id="{50C4F74D-8963-E967-1227-DB8EE96127B9}"/>
              </a:ext>
            </a:extLst>
          </p:cNvPr>
          <p:cNvSpPr txBox="1"/>
          <p:nvPr/>
        </p:nvSpPr>
        <p:spPr>
          <a:xfrm>
            <a:off x="1264186" y="1875508"/>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solidFill>
                  <a:srgbClr val="FF0000"/>
                </a:solidFill>
                <a:latin typeface="Meiryo" panose="020B0604030504040204" pitchFamily="34" charset="-128"/>
                <a:ea typeface="Meiryo" panose="020B0604030504040204" pitchFamily="34" charset="-128"/>
              </a:rPr>
              <a:t>異常検知とは</a:t>
            </a:r>
            <a:endParaRPr lang="en-JP" sz="3200" dirty="0">
              <a:solidFill>
                <a:srgbClr val="FF0000"/>
              </a:solidFill>
            </a:endParaRPr>
          </a:p>
        </p:txBody>
      </p:sp>
      <p:sp>
        <p:nvSpPr>
          <p:cNvPr id="9" name="TextBox 8">
            <a:extLst>
              <a:ext uri="{FF2B5EF4-FFF2-40B4-BE49-F238E27FC236}">
                <a16:creationId xmlns:a16="http://schemas.microsoft.com/office/drawing/2014/main" id="{6E004C72-922C-EF9D-C8E1-1A1BD9B520BF}"/>
              </a:ext>
            </a:extLst>
          </p:cNvPr>
          <p:cNvSpPr txBox="1"/>
          <p:nvPr/>
        </p:nvSpPr>
        <p:spPr>
          <a:xfrm>
            <a:off x="1264186" y="3383137"/>
            <a:ext cx="6097836" cy="58477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Meiryo" panose="020B0604030504040204" pitchFamily="34" charset="-128"/>
                <a:ea typeface="Meiryo" panose="020B0604030504040204" pitchFamily="34" charset="-128"/>
              </a:rPr>
              <a:t>VAEとは</a:t>
            </a:r>
            <a:endParaRPr lang="en-JP" sz="3200" dirty="0"/>
          </a:p>
        </p:txBody>
      </p:sp>
      <p:sp>
        <p:nvSpPr>
          <p:cNvPr id="11" name="TextBox 10">
            <a:extLst>
              <a:ext uri="{FF2B5EF4-FFF2-40B4-BE49-F238E27FC236}">
                <a16:creationId xmlns:a16="http://schemas.microsoft.com/office/drawing/2014/main" id="{76AC34A8-2D46-C049-88FB-451C26BABFED}"/>
              </a:ext>
            </a:extLst>
          </p:cNvPr>
          <p:cNvSpPr txBox="1"/>
          <p:nvPr/>
        </p:nvSpPr>
        <p:spPr>
          <a:xfrm>
            <a:off x="1264186" y="4052036"/>
            <a:ext cx="6097836" cy="58477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Meiryo" panose="020B0604030504040204" pitchFamily="34" charset="-128"/>
                <a:ea typeface="Meiryo" panose="020B0604030504040204" pitchFamily="34" charset="-128"/>
              </a:rPr>
              <a:t>GANとは</a:t>
            </a:r>
            <a:endParaRPr lang="en-JP" sz="3200" dirty="0">
              <a:latin typeface="Meiryo" panose="020B0604030504040204" pitchFamily="34" charset="-128"/>
              <a:ea typeface="Meiryo" panose="020B0604030504040204" pitchFamily="34" charset="-128"/>
            </a:endParaRPr>
          </a:p>
        </p:txBody>
      </p:sp>
      <p:sp>
        <p:nvSpPr>
          <p:cNvPr id="13" name="TextBox 12">
            <a:extLst>
              <a:ext uri="{FF2B5EF4-FFF2-40B4-BE49-F238E27FC236}">
                <a16:creationId xmlns:a16="http://schemas.microsoft.com/office/drawing/2014/main" id="{BD7FDA08-B309-8217-9E04-E8CAD54F6371}"/>
              </a:ext>
            </a:extLst>
          </p:cNvPr>
          <p:cNvSpPr txBox="1"/>
          <p:nvPr/>
        </p:nvSpPr>
        <p:spPr>
          <a:xfrm>
            <a:off x="1264186" y="2672013"/>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異常検知の手法</a:t>
            </a:r>
            <a:endParaRPr lang="en-JP" sz="3200" dirty="0">
              <a:latin typeface="Meiryo" panose="020B0604030504040204" pitchFamily="34" charset="-128"/>
              <a:ea typeface="Meiryo" panose="020B0604030504040204" pitchFamily="34" charset="-128"/>
            </a:endParaRPr>
          </a:p>
        </p:txBody>
      </p:sp>
      <p:sp>
        <p:nvSpPr>
          <p:cNvPr id="15" name="TextBox 14">
            <a:extLst>
              <a:ext uri="{FF2B5EF4-FFF2-40B4-BE49-F238E27FC236}">
                <a16:creationId xmlns:a16="http://schemas.microsoft.com/office/drawing/2014/main" id="{420CE368-A20E-56C7-D6BC-C38AAB369A2F}"/>
              </a:ext>
            </a:extLst>
          </p:cNvPr>
          <p:cNvSpPr txBox="1"/>
          <p:nvPr/>
        </p:nvSpPr>
        <p:spPr>
          <a:xfrm>
            <a:off x="1264186" y="4685193"/>
            <a:ext cx="6097836" cy="584775"/>
          </a:xfrm>
          <a:prstGeom prst="rect">
            <a:avLst/>
          </a:prstGeom>
          <a:noFill/>
        </p:spPr>
        <p:txBody>
          <a:bodyPr wrap="square">
            <a:spAutoFit/>
          </a:bodyPr>
          <a:lstStyle/>
          <a:p>
            <a:pPr marL="285750" indent="-285750">
              <a:buFont typeface="Arial" panose="020B0604020202020204" pitchFamily="34" charset="0"/>
              <a:buChar char="•"/>
            </a:pPr>
            <a:r>
              <a:rPr lang="en-US" sz="3200" dirty="0">
                <a:latin typeface="Meiryo" panose="020B0604030504040204" pitchFamily="34" charset="-128"/>
                <a:ea typeface="Meiryo" panose="020B0604030504040204" pitchFamily="34" charset="-128"/>
              </a:rPr>
              <a:t>VAE・GAN</a:t>
            </a:r>
            <a:r>
              <a:rPr lang="ja-JP" altLang="en-US" sz="3200">
                <a:latin typeface="Meiryo" panose="020B0604030504040204" pitchFamily="34" charset="-128"/>
                <a:ea typeface="Meiryo" panose="020B0604030504040204" pitchFamily="34" charset="-128"/>
              </a:rPr>
              <a:t>による異常検知</a:t>
            </a:r>
            <a:endParaRPr lang="en-JP" sz="3200" dirty="0">
              <a:latin typeface="Meiryo" panose="020B0604030504040204" pitchFamily="34" charset="-128"/>
              <a:ea typeface="Meiryo" panose="020B0604030504040204" pitchFamily="34" charset="-128"/>
            </a:endParaRPr>
          </a:p>
        </p:txBody>
      </p:sp>
      <p:sp>
        <p:nvSpPr>
          <p:cNvPr id="17" name="TextBox 16">
            <a:extLst>
              <a:ext uri="{FF2B5EF4-FFF2-40B4-BE49-F238E27FC236}">
                <a16:creationId xmlns:a16="http://schemas.microsoft.com/office/drawing/2014/main" id="{B19A2A01-2FB0-C789-791E-CECE78FB39B3}"/>
              </a:ext>
            </a:extLst>
          </p:cNvPr>
          <p:cNvSpPr txBox="1"/>
          <p:nvPr/>
        </p:nvSpPr>
        <p:spPr>
          <a:xfrm>
            <a:off x="1264186" y="5459139"/>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まとめ</a:t>
            </a:r>
            <a:endParaRPr lang="en-JP" sz="3200" dirty="0">
              <a:latin typeface="Meiryo" panose="020B0604030504040204" pitchFamily="34" charset="-128"/>
              <a:ea typeface="Meiryo" panose="020B0604030504040204" pitchFamily="34" charset="-128"/>
            </a:endParaRPr>
          </a:p>
        </p:txBody>
      </p:sp>
      <p:pic>
        <p:nvPicPr>
          <p:cNvPr id="18" name="Picture 17">
            <a:extLst>
              <a:ext uri="{FF2B5EF4-FFF2-40B4-BE49-F238E27FC236}">
                <a16:creationId xmlns:a16="http://schemas.microsoft.com/office/drawing/2014/main" id="{B64D4919-91E4-A71F-F839-F86A2A38FB3B}"/>
              </a:ext>
            </a:extLst>
          </p:cNvPr>
          <p:cNvPicPr>
            <a:picLocks noChangeAspect="1"/>
          </p:cNvPicPr>
          <p:nvPr/>
        </p:nvPicPr>
        <p:blipFill>
          <a:blip r:embed="rId2"/>
          <a:stretch>
            <a:fillRect/>
          </a:stretch>
        </p:blipFill>
        <p:spPr>
          <a:xfrm>
            <a:off x="11216465" y="301484"/>
            <a:ext cx="791922" cy="845054"/>
          </a:xfrm>
          <a:prstGeom prst="rect">
            <a:avLst/>
          </a:prstGeom>
        </p:spPr>
      </p:pic>
      <p:sp>
        <p:nvSpPr>
          <p:cNvPr id="19" name="Slide Number Placeholder 18">
            <a:extLst>
              <a:ext uri="{FF2B5EF4-FFF2-40B4-BE49-F238E27FC236}">
                <a16:creationId xmlns:a16="http://schemas.microsoft.com/office/drawing/2014/main" id="{128C9300-2CE2-0B9C-68F3-F5711B97C899}"/>
              </a:ext>
            </a:extLst>
          </p:cNvPr>
          <p:cNvSpPr>
            <a:spLocks noGrp="1"/>
          </p:cNvSpPr>
          <p:nvPr>
            <p:ph type="sldNum" sz="quarter" idx="12"/>
          </p:nvPr>
        </p:nvSpPr>
        <p:spPr/>
        <p:txBody>
          <a:bodyPr/>
          <a:lstStyle/>
          <a:p>
            <a:fld id="{25A9D56D-006D-A740-86A3-FD23428E3C6A}" type="slidenum">
              <a:rPr lang="en-JP" sz="1800" smtClean="0">
                <a:latin typeface="Meiryo" panose="020B0604030504040204" pitchFamily="34" charset="-128"/>
                <a:ea typeface="Meiryo" panose="020B0604030504040204" pitchFamily="34" charset="-128"/>
              </a:rPr>
              <a:t>1</a:t>
            </a:fld>
            <a:endParaRPr lang="en-JP" sz="18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89553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6143F-6FE5-C361-5386-5153ADAE64A1}"/>
              </a:ext>
            </a:extLst>
          </p:cNvPr>
          <p:cNvSpPr>
            <a:spLocks noGrp="1"/>
          </p:cNvSpPr>
          <p:nvPr>
            <p:ph type="title"/>
          </p:nvPr>
        </p:nvSpPr>
        <p:spPr/>
        <p:txBody>
          <a:bodyPr/>
          <a:lstStyle/>
          <a:p>
            <a:r>
              <a:rPr lang="ja-JP" altLang="en-US">
                <a:latin typeface="Meiryo" panose="020B0604030504040204" pitchFamily="34" charset="-128"/>
                <a:ea typeface="Meiryo" panose="020B0604030504040204" pitchFamily="34" charset="-128"/>
              </a:rPr>
              <a:t>異常検知とは</a:t>
            </a:r>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6736AB5E-74E4-74B4-7690-AA875D8973EB}"/>
              </a:ext>
            </a:extLst>
          </p:cNvPr>
          <p:cNvSpPr txBox="1"/>
          <p:nvPr/>
        </p:nvSpPr>
        <p:spPr>
          <a:xfrm>
            <a:off x="286440" y="2522785"/>
            <a:ext cx="5230716" cy="2308324"/>
          </a:xfrm>
          <a:prstGeom prst="rect">
            <a:avLst/>
          </a:prstGeom>
          <a:noFill/>
        </p:spPr>
        <p:txBody>
          <a:bodyPr wrap="square">
            <a:spAutoFit/>
          </a:bodyPr>
          <a:lstStyle/>
          <a:p>
            <a:r>
              <a:rPr lang="en-JP" sz="2400" dirty="0">
                <a:latin typeface="Meiryo" panose="020B0604030504040204" pitchFamily="34" charset="-128"/>
                <a:ea typeface="Meiryo" panose="020B0604030504040204" pitchFamily="34" charset="-128"/>
              </a:rPr>
              <a:t>異常検知とは、通常とは異なるパターンや動作を検出する技術です。</a:t>
            </a:r>
            <a:endParaRPr lang="mn-MN"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a:p>
            <a:r>
              <a:rPr lang="en-JP" sz="2400" dirty="0">
                <a:latin typeface="Meiryo" panose="020B0604030504040204" pitchFamily="34" charset="-128"/>
                <a:ea typeface="Meiryo" panose="020B0604030504040204" pitchFamily="34" charset="-128"/>
              </a:rPr>
              <a:t>これはセキュリティ、機械の保守、金融などさまざまな分野で利用されています。</a:t>
            </a:r>
          </a:p>
        </p:txBody>
      </p:sp>
      <p:pic>
        <p:nvPicPr>
          <p:cNvPr id="6" name="Picture 5">
            <a:extLst>
              <a:ext uri="{FF2B5EF4-FFF2-40B4-BE49-F238E27FC236}">
                <a16:creationId xmlns:a16="http://schemas.microsoft.com/office/drawing/2014/main" id="{CC0A4794-4577-C64D-BACC-E0E4499D9739}"/>
              </a:ext>
            </a:extLst>
          </p:cNvPr>
          <p:cNvPicPr>
            <a:picLocks noChangeAspect="1"/>
          </p:cNvPicPr>
          <p:nvPr/>
        </p:nvPicPr>
        <p:blipFill>
          <a:blip r:embed="rId2"/>
          <a:stretch>
            <a:fillRect/>
          </a:stretch>
        </p:blipFill>
        <p:spPr>
          <a:xfrm>
            <a:off x="5517154" y="1498294"/>
            <a:ext cx="6674845" cy="4483866"/>
          </a:xfrm>
          <a:prstGeom prst="rect">
            <a:avLst/>
          </a:prstGeom>
        </p:spPr>
      </p:pic>
      <p:pic>
        <p:nvPicPr>
          <p:cNvPr id="7" name="Picture 6">
            <a:extLst>
              <a:ext uri="{FF2B5EF4-FFF2-40B4-BE49-F238E27FC236}">
                <a16:creationId xmlns:a16="http://schemas.microsoft.com/office/drawing/2014/main" id="{DF742719-2338-3B21-4B7D-63CB0EAC125A}"/>
              </a:ext>
            </a:extLst>
          </p:cNvPr>
          <p:cNvPicPr>
            <a:picLocks noChangeAspect="1"/>
          </p:cNvPicPr>
          <p:nvPr/>
        </p:nvPicPr>
        <p:blipFill>
          <a:blip r:embed="rId3"/>
          <a:stretch>
            <a:fillRect/>
          </a:stretch>
        </p:blipFill>
        <p:spPr>
          <a:xfrm>
            <a:off x="11216465" y="301484"/>
            <a:ext cx="791922" cy="845054"/>
          </a:xfrm>
          <a:prstGeom prst="rect">
            <a:avLst/>
          </a:prstGeom>
        </p:spPr>
      </p:pic>
      <p:sp>
        <p:nvSpPr>
          <p:cNvPr id="8" name="Slide Number Placeholder 7">
            <a:extLst>
              <a:ext uri="{FF2B5EF4-FFF2-40B4-BE49-F238E27FC236}">
                <a16:creationId xmlns:a16="http://schemas.microsoft.com/office/drawing/2014/main" id="{DFE94564-4C38-154F-F11D-3BF1CE02F1D7}"/>
              </a:ext>
            </a:extLst>
          </p:cNvPr>
          <p:cNvSpPr>
            <a:spLocks noGrp="1"/>
          </p:cNvSpPr>
          <p:nvPr>
            <p:ph type="sldNum" sz="quarter" idx="12"/>
          </p:nvPr>
        </p:nvSpPr>
        <p:spPr/>
        <p:txBody>
          <a:bodyPr/>
          <a:lstStyle/>
          <a:p>
            <a:fld id="{25A9D56D-006D-A740-86A3-FD23428E3C6A}" type="slidenum">
              <a:rPr lang="en-JP" sz="1600" smtClean="0">
                <a:latin typeface="Meiryo" panose="020B0604030504040204" pitchFamily="34" charset="-128"/>
                <a:ea typeface="Meiryo" panose="020B0604030504040204" pitchFamily="34" charset="-128"/>
              </a:rPr>
              <a:t>2</a:t>
            </a:fld>
            <a:endParaRPr lang="en-JP" sz="16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478273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7F0842-19C1-C679-D37A-F7019E71D7BA}"/>
              </a:ext>
            </a:extLst>
          </p:cNvPr>
          <p:cNvSpPr txBox="1"/>
          <p:nvPr/>
        </p:nvSpPr>
        <p:spPr>
          <a:xfrm>
            <a:off x="1087915" y="2159561"/>
            <a:ext cx="7185752" cy="2246769"/>
          </a:xfrm>
          <a:prstGeom prst="rect">
            <a:avLst/>
          </a:prstGeom>
          <a:noFill/>
        </p:spPr>
        <p:txBody>
          <a:bodyPr wrap="square">
            <a:spAutoFit/>
          </a:bodyPr>
          <a:lstStyle/>
          <a:p>
            <a:pPr>
              <a:buFont typeface="Arial" panose="020B0604020202020204" pitchFamily="34" charset="0"/>
              <a:buChar char="•"/>
            </a:pPr>
            <a:r>
              <a:rPr lang="mn-MN" altLang="ja-JP" sz="2800" dirty="0">
                <a:latin typeface="Meiryo" panose="020B0604030504040204" pitchFamily="34" charset="-128"/>
                <a:ea typeface="Meiryo" panose="020B0604030504040204" pitchFamily="34" charset="-128"/>
              </a:rPr>
              <a:t> </a:t>
            </a:r>
            <a:r>
              <a:rPr lang="ja-JP" altLang="en-US" sz="2800">
                <a:latin typeface="Meiryo" panose="020B0604030504040204" pitchFamily="34" charset="-128"/>
                <a:ea typeface="Meiryo" panose="020B0604030504040204" pitchFamily="34" charset="-128"/>
              </a:rPr>
              <a:t>システムやサービスの安定性を保つ</a:t>
            </a:r>
            <a:endParaRPr lang="mn-MN"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a:p>
            <a:pPr>
              <a:buFont typeface="Arial" panose="020B0604020202020204" pitchFamily="34" charset="0"/>
              <a:buChar char="•"/>
            </a:pPr>
            <a:r>
              <a:rPr lang="mn-MN" altLang="ja-JP" sz="2800" dirty="0">
                <a:latin typeface="Meiryo" panose="020B0604030504040204" pitchFamily="34" charset="-128"/>
                <a:ea typeface="Meiryo" panose="020B0604030504040204" pitchFamily="34" charset="-128"/>
              </a:rPr>
              <a:t> </a:t>
            </a:r>
            <a:r>
              <a:rPr lang="ja-JP" altLang="en-US" sz="2800">
                <a:latin typeface="Meiryo" panose="020B0604030504040204" pitchFamily="34" charset="-128"/>
                <a:ea typeface="Meiryo" panose="020B0604030504040204" pitchFamily="34" charset="-128"/>
              </a:rPr>
              <a:t>セキュリティリスクや故障を未然に防ぐ</a:t>
            </a:r>
            <a:endParaRPr lang="mn-MN"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a:p>
            <a:pPr>
              <a:buFont typeface="Arial" panose="020B0604020202020204" pitchFamily="34" charset="0"/>
              <a:buChar char="•"/>
            </a:pPr>
            <a:r>
              <a:rPr lang="mn-MN" altLang="ja-JP" sz="2800" dirty="0">
                <a:latin typeface="Meiryo" panose="020B0604030504040204" pitchFamily="34" charset="-128"/>
                <a:ea typeface="Meiryo" panose="020B0604030504040204" pitchFamily="34" charset="-128"/>
              </a:rPr>
              <a:t> </a:t>
            </a:r>
            <a:r>
              <a:rPr lang="ja-JP" altLang="en-US" sz="2800">
                <a:latin typeface="Meiryo" panose="020B0604030504040204" pitchFamily="34" charset="-128"/>
                <a:ea typeface="Meiryo" panose="020B0604030504040204" pitchFamily="34" charset="-128"/>
              </a:rPr>
              <a:t>人手では気づきにくい問題を発見する</a:t>
            </a:r>
          </a:p>
        </p:txBody>
      </p:sp>
      <p:sp>
        <p:nvSpPr>
          <p:cNvPr id="9" name="TextBox 8">
            <a:extLst>
              <a:ext uri="{FF2B5EF4-FFF2-40B4-BE49-F238E27FC236}">
                <a16:creationId xmlns:a16="http://schemas.microsoft.com/office/drawing/2014/main" id="{E6F12AC5-9932-A4AA-6045-C915BFEDB9E1}"/>
              </a:ext>
            </a:extLst>
          </p:cNvPr>
          <p:cNvSpPr txBox="1"/>
          <p:nvPr/>
        </p:nvSpPr>
        <p:spPr>
          <a:xfrm>
            <a:off x="1087915" y="746259"/>
            <a:ext cx="6097836" cy="707886"/>
          </a:xfrm>
          <a:prstGeom prst="rect">
            <a:avLst/>
          </a:prstGeom>
          <a:noFill/>
        </p:spPr>
        <p:txBody>
          <a:bodyPr wrap="square">
            <a:spAutoFit/>
          </a:bodyPr>
          <a:lstStyle/>
          <a:p>
            <a:r>
              <a:rPr lang="ja-JP" altLang="en-US" sz="4000" b="1"/>
              <a:t>異常検知の目的</a:t>
            </a:r>
          </a:p>
        </p:txBody>
      </p:sp>
      <p:pic>
        <p:nvPicPr>
          <p:cNvPr id="10" name="Picture 9">
            <a:extLst>
              <a:ext uri="{FF2B5EF4-FFF2-40B4-BE49-F238E27FC236}">
                <a16:creationId xmlns:a16="http://schemas.microsoft.com/office/drawing/2014/main" id="{01D01670-C903-A3B0-17AC-8DBA48C544CA}"/>
              </a:ext>
            </a:extLst>
          </p:cNvPr>
          <p:cNvPicPr>
            <a:picLocks noChangeAspect="1"/>
          </p:cNvPicPr>
          <p:nvPr/>
        </p:nvPicPr>
        <p:blipFill>
          <a:blip r:embed="rId2"/>
          <a:stretch>
            <a:fillRect/>
          </a:stretch>
        </p:blipFill>
        <p:spPr>
          <a:xfrm>
            <a:off x="11216465" y="301484"/>
            <a:ext cx="791922" cy="845054"/>
          </a:xfrm>
          <a:prstGeom prst="rect">
            <a:avLst/>
          </a:prstGeom>
        </p:spPr>
      </p:pic>
      <p:sp>
        <p:nvSpPr>
          <p:cNvPr id="11" name="Slide Number Placeholder 10">
            <a:extLst>
              <a:ext uri="{FF2B5EF4-FFF2-40B4-BE49-F238E27FC236}">
                <a16:creationId xmlns:a16="http://schemas.microsoft.com/office/drawing/2014/main" id="{A596FEA6-2860-7F81-692F-CEB264F8434A}"/>
              </a:ext>
            </a:extLst>
          </p:cNvPr>
          <p:cNvSpPr>
            <a:spLocks noGrp="1"/>
          </p:cNvSpPr>
          <p:nvPr>
            <p:ph type="sldNum" sz="quarter" idx="12"/>
          </p:nvPr>
        </p:nvSpPr>
        <p:spPr/>
        <p:txBody>
          <a:bodyPr/>
          <a:lstStyle/>
          <a:p>
            <a:fld id="{25A9D56D-006D-A740-86A3-FD23428E3C6A}" type="slidenum">
              <a:rPr lang="en-JP" smtClean="0"/>
              <a:t>3</a:t>
            </a:fld>
            <a:endParaRPr lang="en-JP"/>
          </a:p>
        </p:txBody>
      </p:sp>
    </p:spTree>
    <p:extLst>
      <p:ext uri="{BB962C8B-B14F-4D97-AF65-F5344CB8AC3E}">
        <p14:creationId xmlns:p14="http://schemas.microsoft.com/office/powerpoint/2010/main" val="2465814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549E9F-A21B-7413-81FC-1D2B97C2F358}"/>
              </a:ext>
            </a:extLst>
          </p:cNvPr>
          <p:cNvPicPr>
            <a:picLocks noChangeAspect="1"/>
          </p:cNvPicPr>
          <p:nvPr/>
        </p:nvPicPr>
        <p:blipFill>
          <a:blip r:embed="rId2"/>
          <a:stretch>
            <a:fillRect/>
          </a:stretch>
        </p:blipFill>
        <p:spPr>
          <a:xfrm>
            <a:off x="11216465" y="301484"/>
            <a:ext cx="791922" cy="845054"/>
          </a:xfrm>
          <a:prstGeom prst="rect">
            <a:avLst/>
          </a:prstGeom>
        </p:spPr>
      </p:pic>
      <p:pic>
        <p:nvPicPr>
          <p:cNvPr id="5" name="Picture 4">
            <a:extLst>
              <a:ext uri="{FF2B5EF4-FFF2-40B4-BE49-F238E27FC236}">
                <a16:creationId xmlns:a16="http://schemas.microsoft.com/office/drawing/2014/main" id="{022DA4F1-E180-3EDE-6750-52582DBBD16B}"/>
              </a:ext>
            </a:extLst>
          </p:cNvPr>
          <p:cNvPicPr>
            <a:picLocks noChangeAspect="1"/>
          </p:cNvPicPr>
          <p:nvPr/>
        </p:nvPicPr>
        <p:blipFill>
          <a:blip r:embed="rId3"/>
          <a:stretch>
            <a:fillRect/>
          </a:stretch>
        </p:blipFill>
        <p:spPr>
          <a:xfrm>
            <a:off x="0" y="990599"/>
            <a:ext cx="7549613" cy="5784773"/>
          </a:xfrm>
          <a:prstGeom prst="rect">
            <a:avLst/>
          </a:prstGeom>
        </p:spPr>
      </p:pic>
      <p:sp>
        <p:nvSpPr>
          <p:cNvPr id="8" name="TextBox 7">
            <a:extLst>
              <a:ext uri="{FF2B5EF4-FFF2-40B4-BE49-F238E27FC236}">
                <a16:creationId xmlns:a16="http://schemas.microsoft.com/office/drawing/2014/main" id="{8396AF53-505B-B2E7-C890-1D5CA0711724}"/>
              </a:ext>
            </a:extLst>
          </p:cNvPr>
          <p:cNvSpPr txBox="1"/>
          <p:nvPr/>
        </p:nvSpPr>
        <p:spPr>
          <a:xfrm>
            <a:off x="393853" y="301484"/>
            <a:ext cx="6097836" cy="461665"/>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異常検知の活用分野</a:t>
            </a:r>
            <a:endParaRPr lang="en-JP" sz="2400"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ECE832DE-634C-D57A-C3BC-45199CDA509E}"/>
              </a:ext>
            </a:extLst>
          </p:cNvPr>
          <p:cNvSpPr txBox="1"/>
          <p:nvPr/>
        </p:nvSpPr>
        <p:spPr>
          <a:xfrm>
            <a:off x="7720070" y="1511143"/>
            <a:ext cx="6097836" cy="646331"/>
          </a:xfrm>
          <a:prstGeom prst="rect">
            <a:avLst/>
          </a:prstGeom>
          <a:noFill/>
        </p:spPr>
        <p:txBody>
          <a:bodyPr wrap="square">
            <a:spAutoFit/>
          </a:bodyPr>
          <a:lstStyle/>
          <a:p>
            <a:r>
              <a:rPr lang="ja-JP" altLang="en-US" b="1"/>
              <a:t>サイバーセキュリティ（</a:t>
            </a:r>
            <a:r>
              <a:rPr lang="en-US" b="1" dirty="0"/>
              <a:t>Cyber Security）</a:t>
            </a:r>
          </a:p>
          <a:p>
            <a:pPr>
              <a:buFont typeface="Arial" panose="020B0604020202020204" pitchFamily="34" charset="0"/>
              <a:buChar char="•"/>
            </a:pPr>
            <a:r>
              <a:rPr lang="ja-JP" altLang="en-US"/>
              <a:t>ネットワーク攻撃やマルウェアの検出</a:t>
            </a:r>
          </a:p>
        </p:txBody>
      </p:sp>
      <p:sp>
        <p:nvSpPr>
          <p:cNvPr id="12" name="TextBox 11">
            <a:extLst>
              <a:ext uri="{FF2B5EF4-FFF2-40B4-BE49-F238E27FC236}">
                <a16:creationId xmlns:a16="http://schemas.microsoft.com/office/drawing/2014/main" id="{FA77E2C3-350E-F0E6-276C-D1CB1C6CE4D9}"/>
              </a:ext>
            </a:extLst>
          </p:cNvPr>
          <p:cNvSpPr txBox="1"/>
          <p:nvPr/>
        </p:nvSpPr>
        <p:spPr>
          <a:xfrm>
            <a:off x="7771483" y="2522079"/>
            <a:ext cx="4420517" cy="646331"/>
          </a:xfrm>
          <a:prstGeom prst="rect">
            <a:avLst/>
          </a:prstGeom>
          <a:noFill/>
        </p:spPr>
        <p:txBody>
          <a:bodyPr wrap="square">
            <a:spAutoFit/>
          </a:bodyPr>
          <a:lstStyle/>
          <a:p>
            <a:r>
              <a:rPr lang="ja-JP" altLang="en-US" b="1"/>
              <a:t>製造業（</a:t>
            </a:r>
            <a:r>
              <a:rPr lang="en-US" b="1" dirty="0"/>
              <a:t>Manufacturing）</a:t>
            </a:r>
          </a:p>
          <a:p>
            <a:pPr>
              <a:buFont typeface="Arial" panose="020B0604020202020204" pitchFamily="34" charset="0"/>
              <a:buChar char="•"/>
            </a:pPr>
            <a:r>
              <a:rPr lang="ja-JP" altLang="en-US"/>
              <a:t>設備の故障予兆検知（予防保全）</a:t>
            </a:r>
          </a:p>
        </p:txBody>
      </p:sp>
      <p:sp>
        <p:nvSpPr>
          <p:cNvPr id="14" name="TextBox 13">
            <a:extLst>
              <a:ext uri="{FF2B5EF4-FFF2-40B4-BE49-F238E27FC236}">
                <a16:creationId xmlns:a16="http://schemas.microsoft.com/office/drawing/2014/main" id="{7D8A4B86-6062-254C-3977-7E845C65D850}"/>
              </a:ext>
            </a:extLst>
          </p:cNvPr>
          <p:cNvSpPr txBox="1"/>
          <p:nvPr/>
        </p:nvSpPr>
        <p:spPr>
          <a:xfrm>
            <a:off x="7771483" y="3559819"/>
            <a:ext cx="4420517" cy="646331"/>
          </a:xfrm>
          <a:prstGeom prst="rect">
            <a:avLst/>
          </a:prstGeom>
          <a:noFill/>
        </p:spPr>
        <p:txBody>
          <a:bodyPr wrap="square">
            <a:spAutoFit/>
          </a:bodyPr>
          <a:lstStyle/>
          <a:p>
            <a:r>
              <a:rPr lang="ja-JP" altLang="en-US" b="1"/>
              <a:t>金融（</a:t>
            </a:r>
            <a:r>
              <a:rPr lang="en-US" b="1" dirty="0"/>
              <a:t>Finance）</a:t>
            </a:r>
          </a:p>
          <a:p>
            <a:pPr>
              <a:buFont typeface="Arial" panose="020B0604020202020204" pitchFamily="34" charset="0"/>
              <a:buChar char="•"/>
            </a:pPr>
            <a:r>
              <a:rPr lang="ja-JP" altLang="en-US"/>
              <a:t>クレジットカード不正利用の検出</a:t>
            </a:r>
          </a:p>
        </p:txBody>
      </p:sp>
      <p:sp>
        <p:nvSpPr>
          <p:cNvPr id="16" name="TextBox 15">
            <a:extLst>
              <a:ext uri="{FF2B5EF4-FFF2-40B4-BE49-F238E27FC236}">
                <a16:creationId xmlns:a16="http://schemas.microsoft.com/office/drawing/2014/main" id="{8AAF833B-2CE0-DF08-9F2A-BE41B260885B}"/>
              </a:ext>
            </a:extLst>
          </p:cNvPr>
          <p:cNvSpPr txBox="1"/>
          <p:nvPr/>
        </p:nvSpPr>
        <p:spPr>
          <a:xfrm>
            <a:off x="7771484" y="4682169"/>
            <a:ext cx="4420516" cy="646331"/>
          </a:xfrm>
          <a:prstGeom prst="rect">
            <a:avLst/>
          </a:prstGeom>
          <a:noFill/>
        </p:spPr>
        <p:txBody>
          <a:bodyPr wrap="square">
            <a:spAutoFit/>
          </a:bodyPr>
          <a:lstStyle/>
          <a:p>
            <a:r>
              <a:rPr lang="ja-JP" altLang="en-US" b="1"/>
              <a:t>医療（</a:t>
            </a:r>
            <a:r>
              <a:rPr lang="en-US" b="1" dirty="0"/>
              <a:t>Healthcare）</a:t>
            </a:r>
          </a:p>
          <a:p>
            <a:pPr>
              <a:buFont typeface="Arial" panose="020B0604020202020204" pitchFamily="34" charset="0"/>
              <a:buChar char="•"/>
            </a:pPr>
            <a:r>
              <a:rPr lang="ja-JP" altLang="en-US"/>
              <a:t>生体データの異常（心電図、脳波など）</a:t>
            </a:r>
          </a:p>
        </p:txBody>
      </p:sp>
      <p:sp>
        <p:nvSpPr>
          <p:cNvPr id="17" name="Slide Number Placeholder 16">
            <a:extLst>
              <a:ext uri="{FF2B5EF4-FFF2-40B4-BE49-F238E27FC236}">
                <a16:creationId xmlns:a16="http://schemas.microsoft.com/office/drawing/2014/main" id="{288C5FAA-B443-790F-FA08-B1CF681508D8}"/>
              </a:ext>
            </a:extLst>
          </p:cNvPr>
          <p:cNvSpPr>
            <a:spLocks noGrp="1"/>
          </p:cNvSpPr>
          <p:nvPr>
            <p:ph type="sldNum" sz="quarter" idx="12"/>
          </p:nvPr>
        </p:nvSpPr>
        <p:spPr/>
        <p:txBody>
          <a:bodyPr/>
          <a:lstStyle/>
          <a:p>
            <a:fld id="{25A9D56D-006D-A740-86A3-FD23428E3C6A}" type="slidenum">
              <a:rPr lang="en-JP" smtClean="0"/>
              <a:t>4</a:t>
            </a:fld>
            <a:endParaRPr lang="en-JP"/>
          </a:p>
        </p:txBody>
      </p:sp>
    </p:spTree>
    <p:extLst>
      <p:ext uri="{BB962C8B-B14F-4D97-AF65-F5344CB8AC3E}">
        <p14:creationId xmlns:p14="http://schemas.microsoft.com/office/powerpoint/2010/main" val="251811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8866BC-FAAA-EA51-385D-1DBA6B594D1C}"/>
              </a:ext>
            </a:extLst>
          </p:cNvPr>
          <p:cNvPicPr>
            <a:picLocks noChangeAspect="1"/>
          </p:cNvPicPr>
          <p:nvPr/>
        </p:nvPicPr>
        <p:blipFill>
          <a:blip r:embed="rId2"/>
          <a:stretch>
            <a:fillRect/>
          </a:stretch>
        </p:blipFill>
        <p:spPr>
          <a:xfrm>
            <a:off x="11216465" y="301484"/>
            <a:ext cx="791922" cy="845054"/>
          </a:xfrm>
          <a:prstGeom prst="rect">
            <a:avLst/>
          </a:prstGeom>
        </p:spPr>
      </p:pic>
      <p:sp>
        <p:nvSpPr>
          <p:cNvPr id="5" name="TextBox 4">
            <a:extLst>
              <a:ext uri="{FF2B5EF4-FFF2-40B4-BE49-F238E27FC236}">
                <a16:creationId xmlns:a16="http://schemas.microsoft.com/office/drawing/2014/main" id="{7741004C-61A7-5BFC-A54C-2B94929452A9}"/>
              </a:ext>
            </a:extLst>
          </p:cNvPr>
          <p:cNvSpPr txBox="1"/>
          <p:nvPr/>
        </p:nvSpPr>
        <p:spPr>
          <a:xfrm>
            <a:off x="1857261" y="959374"/>
            <a:ext cx="6097836" cy="646331"/>
          </a:xfrm>
          <a:prstGeom prst="rect">
            <a:avLst/>
          </a:prstGeom>
          <a:noFill/>
        </p:spPr>
        <p:txBody>
          <a:bodyPr wrap="square">
            <a:spAutoFit/>
          </a:bodyPr>
          <a:lstStyle/>
          <a:p>
            <a:r>
              <a:rPr lang="ja-JP" altLang="en-US" sz="3600">
                <a:effectLst/>
                <a:latin typeface="Meiryo" panose="020B0604030504040204" pitchFamily="34" charset="-128"/>
                <a:ea typeface="Meiryo" panose="020B0604030504040204" pitchFamily="34" charset="-128"/>
              </a:rPr>
              <a:t>目次 </a:t>
            </a:r>
            <a:endParaRPr lang="ja-JP" altLang="en-US" sz="3600">
              <a:effectLst/>
            </a:endParaRPr>
          </a:p>
        </p:txBody>
      </p:sp>
      <p:sp>
        <p:nvSpPr>
          <p:cNvPr id="6" name="TextBox 5">
            <a:extLst>
              <a:ext uri="{FF2B5EF4-FFF2-40B4-BE49-F238E27FC236}">
                <a16:creationId xmlns:a16="http://schemas.microsoft.com/office/drawing/2014/main" id="{756088E5-9ADD-F9DF-1A0D-28A77E6ABE84}"/>
              </a:ext>
            </a:extLst>
          </p:cNvPr>
          <p:cNvSpPr txBox="1"/>
          <p:nvPr/>
        </p:nvSpPr>
        <p:spPr>
          <a:xfrm>
            <a:off x="1416586" y="2027908"/>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異常検知とは</a:t>
            </a:r>
            <a:endParaRPr lang="en-JP" sz="3200" dirty="0"/>
          </a:p>
        </p:txBody>
      </p:sp>
      <p:sp>
        <p:nvSpPr>
          <p:cNvPr id="7" name="TextBox 6">
            <a:extLst>
              <a:ext uri="{FF2B5EF4-FFF2-40B4-BE49-F238E27FC236}">
                <a16:creationId xmlns:a16="http://schemas.microsoft.com/office/drawing/2014/main" id="{60F3FA79-B0F6-2632-0C7B-E93B2174C5A0}"/>
              </a:ext>
            </a:extLst>
          </p:cNvPr>
          <p:cNvSpPr txBox="1"/>
          <p:nvPr/>
        </p:nvSpPr>
        <p:spPr>
          <a:xfrm>
            <a:off x="1416586" y="3535537"/>
            <a:ext cx="6097836" cy="58477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Meiryo" panose="020B0604030504040204" pitchFamily="34" charset="-128"/>
                <a:ea typeface="Meiryo" panose="020B0604030504040204" pitchFamily="34" charset="-128"/>
              </a:rPr>
              <a:t>VAEとは</a:t>
            </a:r>
            <a:endParaRPr lang="en-JP" sz="3200" dirty="0"/>
          </a:p>
        </p:txBody>
      </p:sp>
      <p:sp>
        <p:nvSpPr>
          <p:cNvPr id="8" name="TextBox 7">
            <a:extLst>
              <a:ext uri="{FF2B5EF4-FFF2-40B4-BE49-F238E27FC236}">
                <a16:creationId xmlns:a16="http://schemas.microsoft.com/office/drawing/2014/main" id="{8E66D701-F388-B7C3-9DDA-1ED6C24D7087}"/>
              </a:ext>
            </a:extLst>
          </p:cNvPr>
          <p:cNvSpPr txBox="1"/>
          <p:nvPr/>
        </p:nvSpPr>
        <p:spPr>
          <a:xfrm>
            <a:off x="1416586" y="4204436"/>
            <a:ext cx="6097836" cy="58477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Meiryo" panose="020B0604030504040204" pitchFamily="34" charset="-128"/>
                <a:ea typeface="Meiryo" panose="020B0604030504040204" pitchFamily="34" charset="-128"/>
              </a:rPr>
              <a:t>GANとは</a:t>
            </a:r>
            <a:endParaRPr lang="en-JP" sz="32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03A1BCB3-BFEC-4140-152A-8F37C608E067}"/>
              </a:ext>
            </a:extLst>
          </p:cNvPr>
          <p:cNvSpPr txBox="1"/>
          <p:nvPr/>
        </p:nvSpPr>
        <p:spPr>
          <a:xfrm>
            <a:off x="1416586" y="2824413"/>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solidFill>
                  <a:srgbClr val="FF0000"/>
                </a:solidFill>
                <a:latin typeface="Meiryo" panose="020B0604030504040204" pitchFamily="34" charset="-128"/>
                <a:ea typeface="Meiryo" panose="020B0604030504040204" pitchFamily="34" charset="-128"/>
              </a:rPr>
              <a:t>異常検知の手法</a:t>
            </a:r>
            <a:endParaRPr lang="en-JP" sz="3200" dirty="0">
              <a:solidFill>
                <a:srgbClr val="FF0000"/>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3B853B94-298F-F240-BD91-9FE7E92D5563}"/>
              </a:ext>
            </a:extLst>
          </p:cNvPr>
          <p:cNvSpPr txBox="1"/>
          <p:nvPr/>
        </p:nvSpPr>
        <p:spPr>
          <a:xfrm>
            <a:off x="1416586" y="4837593"/>
            <a:ext cx="6097836" cy="584775"/>
          </a:xfrm>
          <a:prstGeom prst="rect">
            <a:avLst/>
          </a:prstGeom>
          <a:noFill/>
        </p:spPr>
        <p:txBody>
          <a:bodyPr wrap="square">
            <a:spAutoFit/>
          </a:bodyPr>
          <a:lstStyle/>
          <a:p>
            <a:pPr marL="285750" indent="-285750">
              <a:buFont typeface="Arial" panose="020B0604020202020204" pitchFamily="34" charset="0"/>
              <a:buChar char="•"/>
            </a:pPr>
            <a:r>
              <a:rPr lang="en-US" sz="3200" dirty="0">
                <a:latin typeface="Meiryo" panose="020B0604030504040204" pitchFamily="34" charset="-128"/>
                <a:ea typeface="Meiryo" panose="020B0604030504040204" pitchFamily="34" charset="-128"/>
              </a:rPr>
              <a:t>VAE・GAN</a:t>
            </a:r>
            <a:r>
              <a:rPr lang="ja-JP" altLang="en-US" sz="3200">
                <a:latin typeface="Meiryo" panose="020B0604030504040204" pitchFamily="34" charset="-128"/>
                <a:ea typeface="Meiryo" panose="020B0604030504040204" pitchFamily="34" charset="-128"/>
              </a:rPr>
              <a:t>による異常検知</a:t>
            </a:r>
            <a:endParaRPr lang="en-JP" sz="32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8BD2F1A6-022D-0909-42BD-1A5212FDF51B}"/>
              </a:ext>
            </a:extLst>
          </p:cNvPr>
          <p:cNvSpPr txBox="1"/>
          <p:nvPr/>
        </p:nvSpPr>
        <p:spPr>
          <a:xfrm>
            <a:off x="1416586" y="5611539"/>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まとめ</a:t>
            </a:r>
            <a:endParaRPr lang="en-JP" sz="3200" dirty="0">
              <a:latin typeface="Meiryo" panose="020B0604030504040204" pitchFamily="34" charset="-128"/>
              <a:ea typeface="Meiryo" panose="020B0604030504040204" pitchFamily="34" charset="-128"/>
            </a:endParaRPr>
          </a:p>
        </p:txBody>
      </p:sp>
      <p:pic>
        <p:nvPicPr>
          <p:cNvPr id="12" name="Picture 11">
            <a:extLst>
              <a:ext uri="{FF2B5EF4-FFF2-40B4-BE49-F238E27FC236}">
                <a16:creationId xmlns:a16="http://schemas.microsoft.com/office/drawing/2014/main" id="{A4B184B9-5BA5-BC06-6C2E-73FDC3A06FE7}"/>
              </a:ext>
            </a:extLst>
          </p:cNvPr>
          <p:cNvPicPr>
            <a:picLocks noChangeAspect="1"/>
          </p:cNvPicPr>
          <p:nvPr/>
        </p:nvPicPr>
        <p:blipFill>
          <a:blip r:embed="rId2"/>
          <a:stretch>
            <a:fillRect/>
          </a:stretch>
        </p:blipFill>
        <p:spPr>
          <a:xfrm>
            <a:off x="11368865" y="453884"/>
            <a:ext cx="791922" cy="845054"/>
          </a:xfrm>
          <a:prstGeom prst="rect">
            <a:avLst/>
          </a:prstGeom>
        </p:spPr>
      </p:pic>
      <p:sp>
        <p:nvSpPr>
          <p:cNvPr id="13" name="Slide Number Placeholder 12">
            <a:extLst>
              <a:ext uri="{FF2B5EF4-FFF2-40B4-BE49-F238E27FC236}">
                <a16:creationId xmlns:a16="http://schemas.microsoft.com/office/drawing/2014/main" id="{5BD0C451-3289-A504-EEED-FD045E3A324F}"/>
              </a:ext>
            </a:extLst>
          </p:cNvPr>
          <p:cNvSpPr>
            <a:spLocks noGrp="1"/>
          </p:cNvSpPr>
          <p:nvPr>
            <p:ph type="sldNum" sz="quarter" idx="12"/>
          </p:nvPr>
        </p:nvSpPr>
        <p:spPr/>
        <p:txBody>
          <a:bodyPr/>
          <a:lstStyle/>
          <a:p>
            <a:fld id="{25A9D56D-006D-A740-86A3-FD23428E3C6A}" type="slidenum">
              <a:rPr lang="en-JP" smtClean="0"/>
              <a:t>5</a:t>
            </a:fld>
            <a:endParaRPr lang="en-JP"/>
          </a:p>
        </p:txBody>
      </p:sp>
    </p:spTree>
    <p:extLst>
      <p:ext uri="{BB962C8B-B14F-4D97-AF65-F5344CB8AC3E}">
        <p14:creationId xmlns:p14="http://schemas.microsoft.com/office/powerpoint/2010/main" val="3948010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08ECF7-0424-3158-CF77-F3E33014A45D}"/>
              </a:ext>
            </a:extLst>
          </p:cNvPr>
          <p:cNvPicPr>
            <a:picLocks noChangeAspect="1"/>
          </p:cNvPicPr>
          <p:nvPr/>
        </p:nvPicPr>
        <p:blipFill>
          <a:blip r:embed="rId2"/>
          <a:stretch>
            <a:fillRect/>
          </a:stretch>
        </p:blipFill>
        <p:spPr>
          <a:xfrm>
            <a:off x="11216465" y="301484"/>
            <a:ext cx="791922" cy="845054"/>
          </a:xfrm>
          <a:prstGeom prst="rect">
            <a:avLst/>
          </a:prstGeom>
        </p:spPr>
      </p:pic>
      <p:sp>
        <p:nvSpPr>
          <p:cNvPr id="6" name="TextBox 5">
            <a:extLst>
              <a:ext uri="{FF2B5EF4-FFF2-40B4-BE49-F238E27FC236}">
                <a16:creationId xmlns:a16="http://schemas.microsoft.com/office/drawing/2014/main" id="{E7CFA63F-03C0-29B9-9D16-5280A9CD55C4}"/>
              </a:ext>
            </a:extLst>
          </p:cNvPr>
          <p:cNvSpPr txBox="1"/>
          <p:nvPr/>
        </p:nvSpPr>
        <p:spPr>
          <a:xfrm>
            <a:off x="355516" y="445699"/>
            <a:ext cx="6097836" cy="523220"/>
          </a:xfrm>
          <a:prstGeom prst="rect">
            <a:avLst/>
          </a:prstGeom>
          <a:noFill/>
        </p:spPr>
        <p:txBody>
          <a:bodyPr wrap="square">
            <a:spAutoFit/>
          </a:bodyPr>
          <a:lstStyle/>
          <a:p>
            <a:pPr marL="457200" indent="-4572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異常検知の手法</a:t>
            </a:r>
            <a:endParaRPr lang="en-JP" sz="2800" dirty="0">
              <a:latin typeface="Meiryo" panose="020B0604030504040204" pitchFamily="34" charset="-128"/>
              <a:ea typeface="Meiryo" panose="020B0604030504040204" pitchFamily="34" charset="-128"/>
            </a:endParaRPr>
          </a:p>
        </p:txBody>
      </p:sp>
      <p:sp>
        <p:nvSpPr>
          <p:cNvPr id="7" name="Slide Number Placeholder 6">
            <a:extLst>
              <a:ext uri="{FF2B5EF4-FFF2-40B4-BE49-F238E27FC236}">
                <a16:creationId xmlns:a16="http://schemas.microsoft.com/office/drawing/2014/main" id="{EAB686CB-E0AC-A423-08B0-A193BB328235}"/>
              </a:ext>
            </a:extLst>
          </p:cNvPr>
          <p:cNvSpPr>
            <a:spLocks noGrp="1"/>
          </p:cNvSpPr>
          <p:nvPr>
            <p:ph type="sldNum" sz="quarter" idx="12"/>
          </p:nvPr>
        </p:nvSpPr>
        <p:spPr/>
        <p:txBody>
          <a:bodyPr/>
          <a:lstStyle/>
          <a:p>
            <a:fld id="{25A9D56D-006D-A740-86A3-FD23428E3C6A}" type="slidenum">
              <a:rPr lang="en-JP" smtClean="0"/>
              <a:t>6</a:t>
            </a:fld>
            <a:endParaRPr lang="en-JP"/>
          </a:p>
        </p:txBody>
      </p:sp>
      <p:sp>
        <p:nvSpPr>
          <p:cNvPr id="9" name="TextBox 8">
            <a:extLst>
              <a:ext uri="{FF2B5EF4-FFF2-40B4-BE49-F238E27FC236}">
                <a16:creationId xmlns:a16="http://schemas.microsoft.com/office/drawing/2014/main" id="{883A5606-10D6-9EBF-243C-E6B7C6535F28}"/>
              </a:ext>
            </a:extLst>
          </p:cNvPr>
          <p:cNvSpPr txBox="1"/>
          <p:nvPr/>
        </p:nvSpPr>
        <p:spPr>
          <a:xfrm>
            <a:off x="241738" y="1844541"/>
            <a:ext cx="5717628" cy="1631216"/>
          </a:xfrm>
          <a:prstGeom prst="rect">
            <a:avLst/>
          </a:prstGeom>
          <a:noFill/>
        </p:spPr>
        <p:txBody>
          <a:bodyPr wrap="square">
            <a:spAutoFit/>
          </a:bodyPr>
          <a:lstStyle/>
          <a:p>
            <a:r>
              <a:rPr lang="ja-JP" altLang="en-US" sz="2000" b="1">
                <a:latin typeface="Meiryo" panose="020B0604030504040204" pitchFamily="34" charset="-128"/>
                <a:ea typeface="Meiryo" panose="020B0604030504040204" pitchFamily="34" charset="-128"/>
              </a:rPr>
              <a:t>統計的手法（</a:t>
            </a:r>
            <a:r>
              <a:rPr lang="en-US" sz="2000" b="1" dirty="0">
                <a:latin typeface="Meiryo" panose="020B0604030504040204" pitchFamily="34" charset="-128"/>
                <a:ea typeface="Meiryo" panose="020B0604030504040204" pitchFamily="34" charset="-128"/>
              </a:rPr>
              <a:t>Statistical Methods）</a:t>
            </a:r>
          </a:p>
          <a:p>
            <a:r>
              <a:rPr lang="ja-JP" altLang="en-US" sz="2000">
                <a:latin typeface="Meiryo" panose="020B0604030504040204" pitchFamily="34" charset="-128"/>
                <a:ea typeface="Meiryo" panose="020B0604030504040204" pitchFamily="34" charset="-128"/>
              </a:rPr>
              <a:t>平均・分散・相関などを用いて異常を検出</a:t>
            </a:r>
          </a:p>
          <a:p>
            <a:r>
              <a:rPr lang="ja-JP" altLang="en-US" sz="2000">
                <a:latin typeface="Meiryo" panose="020B0604030504040204" pitchFamily="34" charset="-128"/>
                <a:ea typeface="Meiryo" panose="020B0604030504040204" pitchFamily="34" charset="-128"/>
              </a:rPr>
              <a:t>シンプルで解釈しやすいが、複雑なパターンには弱い</a:t>
            </a:r>
          </a:p>
          <a:p>
            <a:endParaRPr lang="en-JP" sz="2000" b="1" dirty="0">
              <a:latin typeface="Meiryo" panose="020B0604030504040204" pitchFamily="34" charset="-128"/>
              <a:ea typeface="Meiryo" panose="020B0604030504040204" pitchFamily="34" charset="-128"/>
            </a:endParaRPr>
          </a:p>
        </p:txBody>
      </p:sp>
      <p:sp>
        <p:nvSpPr>
          <p:cNvPr id="13" name="TextBox 12">
            <a:extLst>
              <a:ext uri="{FF2B5EF4-FFF2-40B4-BE49-F238E27FC236}">
                <a16:creationId xmlns:a16="http://schemas.microsoft.com/office/drawing/2014/main" id="{D32ED6A4-37AB-1F26-8D9C-BBC02A317F81}"/>
              </a:ext>
            </a:extLst>
          </p:cNvPr>
          <p:cNvSpPr txBox="1"/>
          <p:nvPr/>
        </p:nvSpPr>
        <p:spPr>
          <a:xfrm>
            <a:off x="5959366" y="1783610"/>
            <a:ext cx="6096000" cy="1631216"/>
          </a:xfrm>
          <a:prstGeom prst="rect">
            <a:avLst/>
          </a:prstGeom>
          <a:noFill/>
        </p:spPr>
        <p:txBody>
          <a:bodyPr wrap="square">
            <a:spAutoFit/>
          </a:bodyPr>
          <a:lstStyle/>
          <a:p>
            <a:r>
              <a:rPr lang="ja-JP" altLang="en-US" sz="2000" b="1">
                <a:latin typeface="Meiryo" panose="020B0604030504040204" pitchFamily="34" charset="-128"/>
                <a:ea typeface="Meiryo" panose="020B0604030504040204" pitchFamily="34" charset="-128"/>
              </a:rPr>
              <a:t>機械学習（</a:t>
            </a:r>
            <a:r>
              <a:rPr lang="en-US" sz="2000" b="1" dirty="0">
                <a:latin typeface="Meiryo" panose="020B0604030504040204" pitchFamily="34" charset="-128"/>
                <a:ea typeface="Meiryo" panose="020B0604030504040204" pitchFamily="34" charset="-128"/>
              </a:rPr>
              <a:t>Machine Learning）</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教師あり学習（</a:t>
            </a:r>
            <a:r>
              <a:rPr lang="en-US" sz="2000" dirty="0">
                <a:latin typeface="Meiryo" panose="020B0604030504040204" pitchFamily="34" charset="-128"/>
                <a:ea typeface="Meiryo" panose="020B0604030504040204" pitchFamily="34" charset="-128"/>
              </a:rPr>
              <a:t>SVM, </a:t>
            </a:r>
            <a:r>
              <a:rPr lang="ja-JP" altLang="en-US" sz="2000">
                <a:latin typeface="Meiryo" panose="020B0604030504040204" pitchFamily="34" charset="-128"/>
                <a:ea typeface="Meiryo" panose="020B0604030504040204" pitchFamily="34" charset="-128"/>
              </a:rPr>
              <a:t>決定木</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ロジスティック回帰など）</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教師なし学習（</a:t>
            </a:r>
            <a:r>
              <a:rPr lang="en-US" sz="2000" dirty="0">
                <a:latin typeface="Meiryo" panose="020B0604030504040204" pitchFamily="34" charset="-128"/>
                <a:ea typeface="Meiryo" panose="020B0604030504040204" pitchFamily="34" charset="-128"/>
              </a:rPr>
              <a:t>k-means, PCA, Isolation Forest</a:t>
            </a:r>
            <a:r>
              <a:rPr lang="ja-JP" altLang="en-US" sz="2000">
                <a:latin typeface="Meiryo" panose="020B0604030504040204" pitchFamily="34" charset="-128"/>
                <a:ea typeface="Meiryo" panose="020B0604030504040204" pitchFamily="34" charset="-128"/>
              </a:rPr>
              <a:t>など）</a:t>
            </a:r>
          </a:p>
        </p:txBody>
      </p:sp>
      <p:sp>
        <p:nvSpPr>
          <p:cNvPr id="15" name="TextBox 14">
            <a:extLst>
              <a:ext uri="{FF2B5EF4-FFF2-40B4-BE49-F238E27FC236}">
                <a16:creationId xmlns:a16="http://schemas.microsoft.com/office/drawing/2014/main" id="{46C2A6F1-D6E7-ABD1-260F-A72E42E1B183}"/>
              </a:ext>
            </a:extLst>
          </p:cNvPr>
          <p:cNvSpPr txBox="1"/>
          <p:nvPr/>
        </p:nvSpPr>
        <p:spPr>
          <a:xfrm>
            <a:off x="2882348" y="4041214"/>
            <a:ext cx="4910845" cy="1323439"/>
          </a:xfrm>
          <a:prstGeom prst="rect">
            <a:avLst/>
          </a:prstGeom>
          <a:noFill/>
        </p:spPr>
        <p:txBody>
          <a:bodyPr wrap="square">
            <a:spAutoFit/>
          </a:bodyPr>
          <a:lstStyle/>
          <a:p>
            <a:r>
              <a:rPr lang="en-US" altLang="ja-JP" sz="2000" b="1" dirty="0">
                <a:latin typeface="Meiryo" panose="020B0604030504040204" pitchFamily="34" charset="-128"/>
                <a:ea typeface="Meiryo" panose="020B0604030504040204" pitchFamily="34" charset="-128"/>
              </a:rPr>
              <a:t> </a:t>
            </a:r>
            <a:r>
              <a:rPr lang="ja-JP" altLang="en-US" sz="2000" b="1">
                <a:latin typeface="Meiryo" panose="020B0604030504040204" pitchFamily="34" charset="-128"/>
                <a:ea typeface="Meiryo" panose="020B0604030504040204" pitchFamily="34" charset="-128"/>
              </a:rPr>
              <a:t>深層学習（</a:t>
            </a:r>
            <a:r>
              <a:rPr lang="en-US" sz="2000" b="1" dirty="0">
                <a:latin typeface="Meiryo" panose="020B0604030504040204" pitchFamily="34" charset="-128"/>
                <a:ea typeface="Meiryo" panose="020B0604030504040204" pitchFamily="34" charset="-128"/>
              </a:rPr>
              <a:t>Deep Learning）</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オートエンコーダ（</a:t>
            </a:r>
            <a:r>
              <a:rPr lang="en-US" sz="2000" dirty="0">
                <a:latin typeface="Meiryo" panose="020B0604030504040204" pitchFamily="34" charset="-128"/>
                <a:ea typeface="Meiryo" panose="020B0604030504040204" pitchFamily="34" charset="-128"/>
              </a:rPr>
              <a:t>Autoencoder）</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変分オートエンコーダ（</a:t>
            </a:r>
            <a:r>
              <a:rPr lang="en-US" sz="2000" dirty="0">
                <a:latin typeface="Meiryo" panose="020B0604030504040204" pitchFamily="34" charset="-128"/>
                <a:ea typeface="Meiryo" panose="020B0604030504040204" pitchFamily="34" charset="-128"/>
              </a:rPr>
              <a:t>VAE）</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敵対的生成ネットワーク（</a:t>
            </a:r>
            <a:r>
              <a:rPr lang="en-US" sz="2000" dirty="0">
                <a:latin typeface="Meiryo" panose="020B0604030504040204" pitchFamily="34" charset="-128"/>
                <a:ea typeface="Meiryo" panose="020B0604030504040204" pitchFamily="34" charset="-128"/>
              </a:rPr>
              <a:t>GAN）</a:t>
            </a:r>
            <a:r>
              <a:rPr lang="ja-JP" altLang="en-US" sz="2000">
                <a:latin typeface="Meiryo" panose="020B0604030504040204" pitchFamily="34" charset="-128"/>
                <a:ea typeface="Meiryo" panose="020B0604030504040204" pitchFamily="34" charset="-128"/>
              </a:rPr>
              <a:t>など</a:t>
            </a:r>
          </a:p>
        </p:txBody>
      </p:sp>
      <p:sp>
        <p:nvSpPr>
          <p:cNvPr id="16" name="正方形/長方形 8">
            <a:extLst>
              <a:ext uri="{FF2B5EF4-FFF2-40B4-BE49-F238E27FC236}">
                <a16:creationId xmlns:a16="http://schemas.microsoft.com/office/drawing/2014/main" id="{5291ECE1-97CD-81C6-9A37-F4441A79FB1F}"/>
              </a:ext>
            </a:extLst>
          </p:cNvPr>
          <p:cNvSpPr/>
          <p:nvPr/>
        </p:nvSpPr>
        <p:spPr>
          <a:xfrm>
            <a:off x="2664146" y="3763686"/>
            <a:ext cx="5347251" cy="187849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592"/>
          </a:p>
        </p:txBody>
      </p:sp>
    </p:spTree>
    <p:extLst>
      <p:ext uri="{BB962C8B-B14F-4D97-AF65-F5344CB8AC3E}">
        <p14:creationId xmlns:p14="http://schemas.microsoft.com/office/powerpoint/2010/main" val="137675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DD2D10-6F35-C889-005F-06330C8056F0}"/>
              </a:ext>
            </a:extLst>
          </p:cNvPr>
          <p:cNvPicPr>
            <a:picLocks noChangeAspect="1"/>
          </p:cNvPicPr>
          <p:nvPr/>
        </p:nvPicPr>
        <p:blipFill>
          <a:blip r:embed="rId2"/>
          <a:stretch>
            <a:fillRect/>
          </a:stretch>
        </p:blipFill>
        <p:spPr>
          <a:xfrm>
            <a:off x="11216465" y="301484"/>
            <a:ext cx="791922" cy="845054"/>
          </a:xfrm>
          <a:prstGeom prst="rect">
            <a:avLst/>
          </a:prstGeom>
        </p:spPr>
      </p:pic>
      <p:sp>
        <p:nvSpPr>
          <p:cNvPr id="5" name="Slide Number Placeholder 4">
            <a:extLst>
              <a:ext uri="{FF2B5EF4-FFF2-40B4-BE49-F238E27FC236}">
                <a16:creationId xmlns:a16="http://schemas.microsoft.com/office/drawing/2014/main" id="{80F6832B-77FD-2AE3-E35E-38A779145987}"/>
              </a:ext>
            </a:extLst>
          </p:cNvPr>
          <p:cNvSpPr>
            <a:spLocks noGrp="1"/>
          </p:cNvSpPr>
          <p:nvPr>
            <p:ph type="sldNum" sz="quarter" idx="12"/>
          </p:nvPr>
        </p:nvSpPr>
        <p:spPr/>
        <p:txBody>
          <a:bodyPr/>
          <a:lstStyle/>
          <a:p>
            <a:fld id="{25A9D56D-006D-A740-86A3-FD23428E3C6A}" type="slidenum">
              <a:rPr lang="en-JP" smtClean="0"/>
              <a:t>7</a:t>
            </a:fld>
            <a:endParaRPr lang="en-JP"/>
          </a:p>
        </p:txBody>
      </p:sp>
      <p:sp>
        <p:nvSpPr>
          <p:cNvPr id="17" name="TextBox 16">
            <a:extLst>
              <a:ext uri="{FF2B5EF4-FFF2-40B4-BE49-F238E27FC236}">
                <a16:creationId xmlns:a16="http://schemas.microsoft.com/office/drawing/2014/main" id="{4902D93C-876D-864D-EC11-8612474493AC}"/>
              </a:ext>
            </a:extLst>
          </p:cNvPr>
          <p:cNvSpPr txBox="1"/>
          <p:nvPr/>
        </p:nvSpPr>
        <p:spPr>
          <a:xfrm>
            <a:off x="424472" y="493178"/>
            <a:ext cx="6226864" cy="461665"/>
          </a:xfrm>
          <a:prstGeom prst="rect">
            <a:avLst/>
          </a:prstGeom>
          <a:noFill/>
        </p:spPr>
        <p:txBody>
          <a:bodyPr wrap="square">
            <a:spAutoFit/>
          </a:bodyPr>
          <a:lstStyle/>
          <a:p>
            <a:r>
              <a:rPr lang="ja-JP" altLang="en-US" sz="2400" b="1">
                <a:solidFill>
                  <a:srgbClr val="FF0000"/>
                </a:solidFill>
              </a:rPr>
              <a:t>オートエンコーダ（</a:t>
            </a:r>
            <a:r>
              <a:rPr lang="en-US" sz="2400" b="1" dirty="0">
                <a:solidFill>
                  <a:srgbClr val="FF0000"/>
                </a:solidFill>
              </a:rPr>
              <a:t>Autoencoder）とは？</a:t>
            </a:r>
          </a:p>
        </p:txBody>
      </p:sp>
      <p:sp>
        <p:nvSpPr>
          <p:cNvPr id="20" name="TextBox 19">
            <a:extLst>
              <a:ext uri="{FF2B5EF4-FFF2-40B4-BE49-F238E27FC236}">
                <a16:creationId xmlns:a16="http://schemas.microsoft.com/office/drawing/2014/main" id="{1A476544-5801-4123-9059-9781BCC7BA4F}"/>
              </a:ext>
            </a:extLst>
          </p:cNvPr>
          <p:cNvSpPr txBox="1"/>
          <p:nvPr/>
        </p:nvSpPr>
        <p:spPr>
          <a:xfrm>
            <a:off x="7613677" y="2109780"/>
            <a:ext cx="4394710" cy="2862322"/>
          </a:xfrm>
          <a:prstGeom prst="rect">
            <a:avLst/>
          </a:prstGeom>
          <a:noFill/>
        </p:spPr>
        <p:txBody>
          <a:bodyPr wrap="square">
            <a:spAutoFit/>
          </a:bodyPr>
          <a:lstStyle/>
          <a:p>
            <a:r>
              <a:rPr lang="ja-JP" altLang="en-US" sz="2000"/>
              <a:t>➤</a:t>
            </a:r>
            <a:r>
              <a:rPr lang="ja-JP" altLang="en-US" sz="2000" b="1"/>
              <a:t>入力データ </a:t>
            </a:r>
            <a:r>
              <a:rPr lang="en-US" sz="2000" b="1" dirty="0"/>
              <a:t>X </a:t>
            </a:r>
            <a:r>
              <a:rPr lang="ja-JP" altLang="en-US" sz="2000" b="1"/>
              <a:t>を </a:t>
            </a:r>
            <a:r>
              <a:rPr lang="en-US" sz="2000" b="1" dirty="0"/>
              <a:t>Encoder </a:t>
            </a:r>
            <a:r>
              <a:rPr lang="ja-JP" altLang="en-US" sz="2000" b="1"/>
              <a:t>に通す</a:t>
            </a:r>
            <a:endParaRPr lang="en-US" altLang="ja-JP" sz="2000" b="1" dirty="0"/>
          </a:p>
          <a:p>
            <a:br>
              <a:rPr lang="ja-JP" altLang="en-US" sz="2000"/>
            </a:br>
            <a:r>
              <a:rPr lang="ja-JP" altLang="en-US" sz="2000"/>
              <a:t>➤ </a:t>
            </a:r>
            <a:r>
              <a:rPr lang="en-US" sz="2000" b="1" dirty="0"/>
              <a:t>z </a:t>
            </a:r>
            <a:r>
              <a:rPr lang="ja-JP" altLang="en-US" sz="2000" b="1"/>
              <a:t>を </a:t>
            </a:r>
            <a:r>
              <a:rPr lang="en-US" sz="2000" b="1" dirty="0"/>
              <a:t>Decoder </a:t>
            </a:r>
            <a:r>
              <a:rPr lang="ja-JP" altLang="en-US" sz="2000" b="1"/>
              <a:t>に通して再構成 </a:t>
            </a:r>
            <a:r>
              <a:rPr lang="en-US" sz="2000" b="1" dirty="0"/>
              <a:t>X' </a:t>
            </a:r>
            <a:r>
              <a:rPr lang="ja-JP" altLang="en-US" sz="2000" b="1"/>
              <a:t>を出力</a:t>
            </a:r>
            <a:endParaRPr lang="en-US" altLang="ja-JP" sz="2000" b="1" dirty="0"/>
          </a:p>
          <a:p>
            <a:br>
              <a:rPr lang="ja-JP" altLang="en-US" sz="2000"/>
            </a:br>
            <a:r>
              <a:rPr lang="ja-JP" altLang="en-US" sz="2000"/>
              <a:t>➤ </a:t>
            </a:r>
            <a:r>
              <a:rPr lang="en-US" sz="2000" dirty="0"/>
              <a:t>z → X' (</a:t>
            </a:r>
            <a:r>
              <a:rPr lang="ja-JP" altLang="en-US" sz="2000" b="1"/>
              <a:t>損失関数（</a:t>
            </a:r>
            <a:r>
              <a:rPr lang="en-US" sz="2000" b="1" dirty="0"/>
              <a:t>Loss function）</a:t>
            </a:r>
            <a:r>
              <a:rPr lang="ja-JP" altLang="en-US" sz="2000" b="1"/>
              <a:t>を使って </a:t>
            </a:r>
            <a:r>
              <a:rPr lang="en-US" sz="2000" b="1" dirty="0"/>
              <a:t>X </a:t>
            </a:r>
            <a:r>
              <a:rPr lang="ja-JP" altLang="en-US" sz="2000" b="1"/>
              <a:t>と </a:t>
            </a:r>
            <a:r>
              <a:rPr lang="en-US" sz="2000" b="1" dirty="0"/>
              <a:t>X' </a:t>
            </a:r>
            <a:r>
              <a:rPr lang="ja-JP" altLang="en-US" sz="2000" b="1"/>
              <a:t>の誤差を最小化</a:t>
            </a:r>
            <a:endParaRPr lang="en-US" altLang="ja-JP" sz="2000" b="1" dirty="0"/>
          </a:p>
          <a:p>
            <a:br>
              <a:rPr lang="ja-JP" altLang="en-US" sz="2000"/>
            </a:br>
            <a:r>
              <a:rPr lang="ja-JP" altLang="en-US" sz="2000"/>
              <a:t>➤ </a:t>
            </a:r>
            <a:r>
              <a:rPr lang="en-US" sz="2000" dirty="0"/>
              <a:t>Reconstruction Loss: X ≈ X</a:t>
            </a:r>
            <a:endParaRPr lang="mn-MN" sz="2000" dirty="0"/>
          </a:p>
        </p:txBody>
      </p:sp>
      <p:pic>
        <p:nvPicPr>
          <p:cNvPr id="21" name="Picture 20">
            <a:extLst>
              <a:ext uri="{FF2B5EF4-FFF2-40B4-BE49-F238E27FC236}">
                <a16:creationId xmlns:a16="http://schemas.microsoft.com/office/drawing/2014/main" id="{970DA921-CAA2-EF94-019F-51B9F0788FB2}"/>
              </a:ext>
            </a:extLst>
          </p:cNvPr>
          <p:cNvPicPr>
            <a:picLocks noChangeAspect="1"/>
          </p:cNvPicPr>
          <p:nvPr/>
        </p:nvPicPr>
        <p:blipFill>
          <a:blip r:embed="rId3"/>
          <a:stretch>
            <a:fillRect/>
          </a:stretch>
        </p:blipFill>
        <p:spPr>
          <a:xfrm>
            <a:off x="0" y="1048512"/>
            <a:ext cx="7613677" cy="4984858"/>
          </a:xfrm>
          <a:prstGeom prst="rect">
            <a:avLst/>
          </a:prstGeom>
        </p:spPr>
      </p:pic>
    </p:spTree>
    <p:extLst>
      <p:ext uri="{BB962C8B-B14F-4D97-AF65-F5344CB8AC3E}">
        <p14:creationId xmlns:p14="http://schemas.microsoft.com/office/powerpoint/2010/main" val="3447265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597288-D757-E29A-026D-F59CBD58988A}"/>
              </a:ext>
            </a:extLst>
          </p:cNvPr>
          <p:cNvPicPr>
            <a:picLocks noChangeAspect="1"/>
          </p:cNvPicPr>
          <p:nvPr/>
        </p:nvPicPr>
        <p:blipFill>
          <a:blip r:embed="rId2"/>
          <a:stretch>
            <a:fillRect/>
          </a:stretch>
        </p:blipFill>
        <p:spPr>
          <a:xfrm>
            <a:off x="11216465" y="301484"/>
            <a:ext cx="791922" cy="845054"/>
          </a:xfrm>
          <a:prstGeom prst="rect">
            <a:avLst/>
          </a:prstGeom>
        </p:spPr>
      </p:pic>
      <p:sp>
        <p:nvSpPr>
          <p:cNvPr id="5" name="Slide Number Placeholder 4">
            <a:extLst>
              <a:ext uri="{FF2B5EF4-FFF2-40B4-BE49-F238E27FC236}">
                <a16:creationId xmlns:a16="http://schemas.microsoft.com/office/drawing/2014/main" id="{070E5F19-50C0-8AA5-BC5A-BFAD8434BFD5}"/>
              </a:ext>
            </a:extLst>
          </p:cNvPr>
          <p:cNvSpPr>
            <a:spLocks noGrp="1"/>
          </p:cNvSpPr>
          <p:nvPr>
            <p:ph type="sldNum" sz="quarter" idx="12"/>
          </p:nvPr>
        </p:nvSpPr>
        <p:spPr/>
        <p:txBody>
          <a:bodyPr/>
          <a:lstStyle/>
          <a:p>
            <a:fld id="{25A9D56D-006D-A740-86A3-FD23428E3C6A}" type="slidenum">
              <a:rPr lang="en-JP" smtClean="0"/>
              <a:t>8</a:t>
            </a:fld>
            <a:endParaRPr lang="en-JP"/>
          </a:p>
        </p:txBody>
      </p:sp>
      <p:sp>
        <p:nvSpPr>
          <p:cNvPr id="7" name="TextBox 6">
            <a:extLst>
              <a:ext uri="{FF2B5EF4-FFF2-40B4-BE49-F238E27FC236}">
                <a16:creationId xmlns:a16="http://schemas.microsoft.com/office/drawing/2014/main" id="{396A99F1-EE02-E06E-2997-BD65D57B0899}"/>
              </a:ext>
            </a:extLst>
          </p:cNvPr>
          <p:cNvSpPr txBox="1"/>
          <p:nvPr/>
        </p:nvSpPr>
        <p:spPr>
          <a:xfrm>
            <a:off x="397598" y="539345"/>
            <a:ext cx="6097656" cy="369332"/>
          </a:xfrm>
          <a:prstGeom prst="rect">
            <a:avLst/>
          </a:prstGeom>
          <a:noFill/>
        </p:spPr>
        <p:txBody>
          <a:bodyPr wrap="square">
            <a:spAutoFit/>
          </a:bodyPr>
          <a:lstStyle/>
          <a:p>
            <a:r>
              <a:rPr lang="en-US" sz="1800" dirty="0">
                <a:solidFill>
                  <a:srgbClr val="FF0000"/>
                </a:solidFill>
                <a:latin typeface="Meiryo" panose="020B0604030504040204" pitchFamily="34" charset="-128"/>
                <a:ea typeface="Meiryo" panose="020B0604030504040204" pitchFamily="34" charset="-128"/>
              </a:rPr>
              <a:t>AutoEncoder  </a:t>
            </a:r>
            <a:endParaRPr lang="en-JP" dirty="0"/>
          </a:p>
        </p:txBody>
      </p:sp>
      <mc:AlternateContent xmlns:mc="http://schemas.openxmlformats.org/markup-compatibility/2006">
        <mc:Choice xmlns:am3d="http://schemas.microsoft.com/office/drawing/2017/model3d" Requires="am3d">
          <p:graphicFrame>
            <p:nvGraphicFramePr>
              <p:cNvPr id="8" name="3D Model 7" descr="Female Dancer">
                <a:extLst>
                  <a:ext uri="{FF2B5EF4-FFF2-40B4-BE49-F238E27FC236}">
                    <a16:creationId xmlns:a16="http://schemas.microsoft.com/office/drawing/2014/main" id="{B330D668-5CC4-C407-B1BB-B0CA52C0832C}"/>
                  </a:ext>
                </a:extLst>
              </p:cNvPr>
              <p:cNvGraphicFramePr/>
              <p:nvPr>
                <p:extLst>
                  <p:ext uri="{D42A27DB-BD31-4B8C-83A1-F6EECF244321}">
                    <p14:modId xmlns:p14="http://schemas.microsoft.com/office/powerpoint/2010/main" val="2973502392"/>
                  </p:ext>
                </p:extLst>
              </p:nvPr>
            </p:nvGraphicFramePr>
            <p:xfrm rot="2136069">
              <a:off x="984966" y="2638000"/>
              <a:ext cx="3465476" cy="4496634"/>
            </p:xfrm>
            <a:graphic>
              <a:graphicData uri="http://schemas.microsoft.com/office/drawing/2017/model3d">
                <am3d:model3d r:embed="rId3">
                  <am3d:spPr>
                    <a:xfrm rot="2136069">
                      <a:off x="0" y="0"/>
                      <a:ext cx="3465476" cy="4496634"/>
                    </a:xfrm>
                    <a:prstGeom prst="rect">
                      <a:avLst/>
                    </a:prstGeom>
                  </am3d:spPr>
                  <am3d:camera>
                    <am3d:pos x="0" y="0" z="57915862"/>
                    <am3d:up dx="0" dy="36000000" dz="0"/>
                    <am3d:lookAt x="0" y="0" z="0"/>
                    <am3d:perspective fov="2700000"/>
                  </am3d:camera>
                  <am3d:trans>
                    <am3d:meterPerModelUnit n="9880064" d="1000000"/>
                    <am3d:preTrans dx="-2475017" dy="-793755" dz="-703855"/>
                    <am3d:scale>
                      <am3d:sx n="1000000" d="1000000"/>
                      <am3d:sy n="1000000" d="1000000"/>
                      <am3d:sz n="1000000" d="1000000"/>
                    </am3d:scale>
                    <am3d:rot/>
                    <am3d:postTrans dx="0" dy="0" dz="0"/>
                  </am3d:trans>
                  <am3d:raster rName="Office3DRenderer" rVer="16.0.8326">
                    <am3d:blip r:embed="rId4"/>
                  </am3d:raster>
                  <am3d:objViewport viewportSz="571044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Female Dancer">
                <a:extLst>
                  <a:ext uri="{FF2B5EF4-FFF2-40B4-BE49-F238E27FC236}">
                    <a16:creationId xmlns:a16="http://schemas.microsoft.com/office/drawing/2014/main" id="{B330D668-5CC4-C407-B1BB-B0CA52C0832C}"/>
                  </a:ext>
                </a:extLst>
              </p:cNvPr>
              <p:cNvPicPr>
                <a:picLocks noGrp="1" noRot="1" noChangeAspect="1" noMove="1" noResize="1" noEditPoints="1" noAdjustHandles="1" noChangeArrowheads="1" noChangeShapeType="1" noCrop="1"/>
              </p:cNvPicPr>
              <p:nvPr/>
            </p:nvPicPr>
            <p:blipFill>
              <a:blip r:embed="rId4"/>
              <a:stretch>
                <a:fillRect/>
              </a:stretch>
            </p:blipFill>
            <p:spPr>
              <a:xfrm rot="2136069">
                <a:off x="984966" y="2638000"/>
                <a:ext cx="3465476" cy="4496634"/>
              </a:xfrm>
              <a:prstGeom prst="rect">
                <a:avLst/>
              </a:prstGeom>
            </p:spPr>
          </p:pic>
        </mc:Fallback>
      </mc:AlternateContent>
      <p:sp>
        <p:nvSpPr>
          <p:cNvPr id="9" name="角丸四角形吹き出し 83">
            <a:extLst>
              <a:ext uri="{FF2B5EF4-FFF2-40B4-BE49-F238E27FC236}">
                <a16:creationId xmlns:a16="http://schemas.microsoft.com/office/drawing/2014/main" id="{21467A5C-1665-97EF-FF5F-CA422264FDBD}"/>
              </a:ext>
            </a:extLst>
          </p:cNvPr>
          <p:cNvSpPr/>
          <p:nvPr/>
        </p:nvSpPr>
        <p:spPr>
          <a:xfrm>
            <a:off x="3230880" y="396200"/>
            <a:ext cx="7953921" cy="3305030"/>
          </a:xfrm>
          <a:prstGeom prst="cloudCallout">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rPr>
              <a:t>オートエンコーダーは、まるで記憶力の弱い人のような仕組みです。</a:t>
            </a:r>
            <a:br>
              <a:rPr lang="ja-JP" altLang="en-US" sz="2400">
                <a:solidFill>
                  <a:schemeClr val="tx1"/>
                </a:solidFill>
              </a:rPr>
            </a:br>
            <a:r>
              <a:rPr lang="ja-JP" altLang="en-US" sz="2400">
                <a:solidFill>
                  <a:schemeClr val="tx1"/>
                </a:solidFill>
              </a:rPr>
              <a:t>ある情報（</a:t>
            </a:r>
            <a:r>
              <a:rPr lang="en-US" sz="2400" dirty="0">
                <a:solidFill>
                  <a:srgbClr val="FF0000"/>
                </a:solidFill>
              </a:rPr>
              <a:t>X</a:t>
            </a:r>
            <a:r>
              <a:rPr lang="en-US" sz="2400" dirty="0">
                <a:solidFill>
                  <a:schemeClr val="tx1"/>
                </a:solidFill>
              </a:rPr>
              <a:t>）</a:t>
            </a:r>
            <a:r>
              <a:rPr lang="ja-JP" altLang="en-US" sz="2400">
                <a:solidFill>
                  <a:schemeClr val="tx1"/>
                </a:solidFill>
              </a:rPr>
              <a:t>を見て、大事だと思ったところだけを覚えます</a:t>
            </a:r>
            <a:r>
              <a:rPr lang="ja-JP" altLang="en-US" sz="2400">
                <a:solidFill>
                  <a:srgbClr val="FF0000"/>
                </a:solidFill>
              </a:rPr>
              <a:t>（</a:t>
            </a:r>
            <a:r>
              <a:rPr lang="en-US" sz="2400" dirty="0">
                <a:solidFill>
                  <a:srgbClr val="FF0000"/>
                </a:solidFill>
              </a:rPr>
              <a:t>z）</a:t>
            </a:r>
            <a:br>
              <a:rPr lang="en-US" sz="2400" dirty="0">
                <a:solidFill>
                  <a:schemeClr val="tx1"/>
                </a:solidFill>
              </a:rPr>
            </a:br>
            <a:r>
              <a:rPr lang="ja-JP" altLang="en-US" sz="2400">
                <a:solidFill>
                  <a:schemeClr val="tx1"/>
                </a:solidFill>
              </a:rPr>
              <a:t>そして、その覚えた情報から元の情報（</a:t>
            </a:r>
            <a:r>
              <a:rPr lang="en-US" sz="2400" dirty="0">
                <a:solidFill>
                  <a:srgbClr val="FF0000"/>
                </a:solidFill>
              </a:rPr>
              <a:t>X′）</a:t>
            </a:r>
            <a:r>
              <a:rPr lang="ja-JP" altLang="en-US" sz="2400">
                <a:solidFill>
                  <a:schemeClr val="tx1"/>
                </a:solidFill>
              </a:rPr>
              <a:t>を思い出そうとします。</a:t>
            </a:r>
            <a:endParaRPr lang="en-JP" sz="2400" dirty="0">
              <a:solidFill>
                <a:schemeClr val="tx1"/>
              </a:solidFill>
            </a:endParaRPr>
          </a:p>
        </p:txBody>
      </p:sp>
      <p:sp>
        <p:nvSpPr>
          <p:cNvPr id="13" name="TextBox 12">
            <a:extLst>
              <a:ext uri="{FF2B5EF4-FFF2-40B4-BE49-F238E27FC236}">
                <a16:creationId xmlns:a16="http://schemas.microsoft.com/office/drawing/2014/main" id="{D6205EA4-3C9E-3E5D-E0E5-96AF7089E109}"/>
              </a:ext>
            </a:extLst>
          </p:cNvPr>
          <p:cNvSpPr txBox="1"/>
          <p:nvPr/>
        </p:nvSpPr>
        <p:spPr>
          <a:xfrm>
            <a:off x="4925568" y="4635841"/>
            <a:ext cx="6096000" cy="1323439"/>
          </a:xfrm>
          <a:prstGeom prst="rect">
            <a:avLst/>
          </a:prstGeom>
          <a:noFill/>
        </p:spPr>
        <p:txBody>
          <a:bodyPr wrap="square">
            <a:spAutoFit/>
          </a:bodyPr>
          <a:lstStyle/>
          <a:p>
            <a:r>
              <a:rPr lang="ja-JP" sz="2000">
                <a:effectLst/>
                <a:latin typeface="Meiryo" panose="020B0604030504040204" pitchFamily="34" charset="-128"/>
                <a:ea typeface="Meiryo" panose="020B0604030504040204" pitchFamily="34" charset="-128"/>
                <a:cs typeface="MS Mincho" panose="02020609040205080304" pitchFamily="49" charset="-128"/>
              </a:rPr>
              <a:t>もし、うまく覚えていれば</a:t>
            </a:r>
            <a:r>
              <a:rPr lang="en-JP" sz="2000" dirty="0">
                <a:effectLst/>
                <a:latin typeface="Meiryo" panose="020B0604030504040204" pitchFamily="34" charset="-128"/>
                <a:ea typeface="Meiryo" panose="020B0604030504040204" pitchFamily="34" charset="-128"/>
              </a:rPr>
              <a:t> </a:t>
            </a:r>
            <a:r>
              <a:rPr lang="en-US" sz="2000" b="1" dirty="0">
                <a:solidFill>
                  <a:srgbClr val="FF0000"/>
                </a:solidFill>
                <a:latin typeface="Meiryo" panose="020B0604030504040204" pitchFamily="34" charset="-128"/>
                <a:ea typeface="Meiryo" panose="020B0604030504040204" pitchFamily="34" charset="-128"/>
              </a:rPr>
              <a:t>X′ ≈ X </a:t>
            </a:r>
            <a:r>
              <a:rPr lang="ja-JP" sz="2000">
                <a:effectLst/>
                <a:latin typeface="Meiryo" panose="020B0604030504040204" pitchFamily="34" charset="-128"/>
                <a:ea typeface="Meiryo" panose="020B0604030504040204" pitchFamily="34" charset="-128"/>
                <a:cs typeface="MS Mincho" panose="02020609040205080304" pitchFamily="49" charset="-128"/>
              </a:rPr>
              <a:t>に近い形になりますが、</a:t>
            </a:r>
            <a:br>
              <a:rPr lang="en-JP" sz="2000" dirty="0">
                <a:effectLst/>
                <a:latin typeface="Meiryo" panose="020B0604030504040204" pitchFamily="34" charset="-128"/>
                <a:ea typeface="Meiryo" panose="020B0604030504040204" pitchFamily="34" charset="-128"/>
              </a:rPr>
            </a:br>
            <a:r>
              <a:rPr lang="ja-JP" sz="2000">
                <a:effectLst/>
                <a:latin typeface="Meiryo" panose="020B0604030504040204" pitchFamily="34" charset="-128"/>
                <a:ea typeface="Meiryo" panose="020B0604030504040204" pitchFamily="34" charset="-128"/>
                <a:cs typeface="MS Mincho" panose="02020609040205080304" pitchFamily="49" charset="-128"/>
              </a:rPr>
              <a:t>記憶があいまいだと、</a:t>
            </a:r>
            <a:r>
              <a:rPr lang="en-JP" sz="2000" b="1" dirty="0">
                <a:solidFill>
                  <a:srgbClr val="FF0000"/>
                </a:solidFill>
                <a:effectLst/>
                <a:latin typeface="Meiryo" panose="020B0604030504040204" pitchFamily="34" charset="-128"/>
                <a:ea typeface="Meiryo" panose="020B0604030504040204" pitchFamily="34" charset="-128"/>
              </a:rPr>
              <a:t>X′</a:t>
            </a:r>
            <a:r>
              <a:rPr lang="en-JP" sz="2000" b="1" dirty="0">
                <a:effectLst/>
                <a:latin typeface="Meiryo" panose="020B0604030504040204" pitchFamily="34" charset="-128"/>
                <a:ea typeface="Meiryo" panose="020B0604030504040204" pitchFamily="34" charset="-128"/>
              </a:rPr>
              <a:t> </a:t>
            </a:r>
            <a:r>
              <a:rPr lang="ja-JP" sz="2000">
                <a:effectLst/>
                <a:latin typeface="Meiryo" panose="020B0604030504040204" pitchFamily="34" charset="-128"/>
                <a:ea typeface="Meiryo" panose="020B0604030504040204" pitchFamily="34" charset="-128"/>
                <a:cs typeface="MS Mincho" panose="02020609040205080304" pitchFamily="49" charset="-128"/>
              </a:rPr>
              <a:t>は</a:t>
            </a:r>
            <a:r>
              <a:rPr lang="en-JP" sz="2000" b="1" dirty="0">
                <a:effectLst/>
                <a:latin typeface="Meiryo" panose="020B0604030504040204" pitchFamily="34" charset="-128"/>
                <a:ea typeface="Meiryo" panose="020B0604030504040204" pitchFamily="34" charset="-128"/>
              </a:rPr>
              <a:t> </a:t>
            </a:r>
            <a:r>
              <a:rPr lang="en-JP" sz="2000" b="1" dirty="0">
                <a:solidFill>
                  <a:srgbClr val="FF0000"/>
                </a:solidFill>
                <a:effectLst/>
                <a:latin typeface="Meiryo" panose="020B0604030504040204" pitchFamily="34" charset="-128"/>
                <a:ea typeface="Meiryo" panose="020B0604030504040204" pitchFamily="34" charset="-128"/>
              </a:rPr>
              <a:t>X</a:t>
            </a:r>
            <a:r>
              <a:rPr lang="en-JP" sz="2000" b="1" dirty="0">
                <a:effectLst/>
                <a:latin typeface="Meiryo" panose="020B0604030504040204" pitchFamily="34" charset="-128"/>
                <a:ea typeface="Meiryo" panose="020B0604030504040204" pitchFamily="34" charset="-128"/>
              </a:rPr>
              <a:t> </a:t>
            </a:r>
            <a:r>
              <a:rPr lang="ja-JP" sz="2000">
                <a:effectLst/>
                <a:latin typeface="Meiryo" panose="020B0604030504040204" pitchFamily="34" charset="-128"/>
                <a:ea typeface="Meiryo" panose="020B0604030504040204" pitchFamily="34" charset="-128"/>
                <a:cs typeface="MS Mincho" panose="02020609040205080304" pitchFamily="49" charset="-128"/>
              </a:rPr>
              <a:t>と違うものになってしまいます。</a:t>
            </a:r>
            <a:endParaRPr lang="en-JP" sz="2000" dirty="0">
              <a:effectLst/>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29584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58F365-01B3-C4DE-F0AB-AC0A38DCE95E}"/>
              </a:ext>
            </a:extLst>
          </p:cNvPr>
          <p:cNvPicPr>
            <a:picLocks noChangeAspect="1"/>
          </p:cNvPicPr>
          <p:nvPr/>
        </p:nvPicPr>
        <p:blipFill>
          <a:blip r:embed="rId2"/>
          <a:stretch>
            <a:fillRect/>
          </a:stretch>
        </p:blipFill>
        <p:spPr>
          <a:xfrm>
            <a:off x="11216465" y="301484"/>
            <a:ext cx="791922" cy="845054"/>
          </a:xfrm>
          <a:prstGeom prst="rect">
            <a:avLst/>
          </a:prstGeom>
        </p:spPr>
      </p:pic>
      <p:sp>
        <p:nvSpPr>
          <p:cNvPr id="5" name="Slide Number Placeholder 4">
            <a:extLst>
              <a:ext uri="{FF2B5EF4-FFF2-40B4-BE49-F238E27FC236}">
                <a16:creationId xmlns:a16="http://schemas.microsoft.com/office/drawing/2014/main" id="{AD7D509F-5353-3BF8-B603-1EF3921FC4D6}"/>
              </a:ext>
            </a:extLst>
          </p:cNvPr>
          <p:cNvSpPr>
            <a:spLocks noGrp="1"/>
          </p:cNvSpPr>
          <p:nvPr>
            <p:ph type="sldNum" sz="quarter" idx="12"/>
          </p:nvPr>
        </p:nvSpPr>
        <p:spPr/>
        <p:txBody>
          <a:bodyPr/>
          <a:lstStyle/>
          <a:p>
            <a:fld id="{25A9D56D-006D-A740-86A3-FD23428E3C6A}" type="slidenum">
              <a:rPr lang="en-JP" smtClean="0"/>
              <a:t>9</a:t>
            </a:fld>
            <a:endParaRPr lang="en-JP"/>
          </a:p>
        </p:txBody>
      </p:sp>
      <p:sp>
        <p:nvSpPr>
          <p:cNvPr id="7" name="TextBox 6">
            <a:extLst>
              <a:ext uri="{FF2B5EF4-FFF2-40B4-BE49-F238E27FC236}">
                <a16:creationId xmlns:a16="http://schemas.microsoft.com/office/drawing/2014/main" id="{FE6DA220-4196-C192-E305-0CC3D3AF1A21}"/>
              </a:ext>
            </a:extLst>
          </p:cNvPr>
          <p:cNvSpPr txBox="1"/>
          <p:nvPr/>
        </p:nvSpPr>
        <p:spPr>
          <a:xfrm>
            <a:off x="1194816" y="813782"/>
            <a:ext cx="6097656" cy="461665"/>
          </a:xfrm>
          <a:prstGeom prst="rect">
            <a:avLst/>
          </a:prstGeom>
          <a:noFill/>
        </p:spPr>
        <p:txBody>
          <a:bodyPr wrap="square">
            <a:spAutoFit/>
          </a:bodyPr>
          <a:lstStyle/>
          <a:p>
            <a:r>
              <a:rPr lang="en-US" sz="2400" dirty="0">
                <a:solidFill>
                  <a:srgbClr val="FF0000"/>
                </a:solidFill>
                <a:latin typeface="Meiryo" panose="020B0604030504040204" pitchFamily="34" charset="-128"/>
                <a:ea typeface="Meiryo" panose="020B0604030504040204" pitchFamily="34" charset="-128"/>
              </a:rPr>
              <a:t>AutoEncoderの目的</a:t>
            </a:r>
            <a:endParaRPr lang="en-JP" sz="2400" dirty="0">
              <a:solidFill>
                <a:srgbClr val="FF000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56A26B0E-48A7-9D6A-CD7D-F5A53FD196FB}"/>
              </a:ext>
            </a:extLst>
          </p:cNvPr>
          <p:cNvSpPr txBox="1"/>
          <p:nvPr/>
        </p:nvSpPr>
        <p:spPr>
          <a:xfrm>
            <a:off x="1016508" y="2274838"/>
            <a:ext cx="10158984" cy="2308324"/>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入力データを低次元の潜在空間に圧縮し、その潜在表現から元のデータを再構成する能力を学習することである。</a:t>
            </a:r>
            <a:endParaRPr lang="en-US"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a:p>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すなわち、元の入力データ</a:t>
            </a:r>
            <a:r>
              <a:rPr lang="en-US" sz="2400" dirty="0">
                <a:solidFill>
                  <a:srgbClr val="FF0000"/>
                </a:solidFill>
                <a:latin typeface="Meiryo" panose="020B0604030504040204" pitchFamily="34" charset="-128"/>
                <a:ea typeface="Meiryo" panose="020B0604030504040204" pitchFamily="34" charset="-128"/>
              </a:rPr>
              <a:t>X</a:t>
            </a:r>
            <a:r>
              <a:rPr lang="ja-JP" altLang="en-US" sz="2400">
                <a:latin typeface="Meiryo" panose="020B0604030504040204" pitchFamily="34" charset="-128"/>
                <a:ea typeface="Meiryo" panose="020B0604030504040204" pitchFamily="34" charset="-128"/>
              </a:rPr>
              <a:t>と再構成されたデータ</a:t>
            </a:r>
            <a:r>
              <a:rPr lang="en-US" sz="2400" dirty="0">
                <a:solidFill>
                  <a:srgbClr val="FF0000"/>
                </a:solidFill>
                <a:latin typeface="Meiryo" panose="020B0604030504040204" pitchFamily="34" charset="-128"/>
                <a:ea typeface="Meiryo" panose="020B0604030504040204" pitchFamily="34" charset="-128"/>
              </a:rPr>
              <a:t>X′</a:t>
            </a:r>
            <a:r>
              <a:rPr lang="ja-JP" altLang="en-US" sz="2400">
                <a:latin typeface="Meiryo" panose="020B0604030504040204" pitchFamily="34" charset="-128"/>
                <a:ea typeface="Meiryo" panose="020B0604030504040204" pitchFamily="34" charset="-128"/>
              </a:rPr>
              <a:t>との誤差を最小化することを目的とする。</a:t>
            </a:r>
            <a:endParaRPr lang="en-JP" sz="2400" dirty="0">
              <a:latin typeface="Meiryo" panose="020B0604030504040204" pitchFamily="34" charset="-128"/>
              <a:ea typeface="Meiryo" panose="020B0604030504040204" pitchFamily="34" charset="-128"/>
            </a:endParaRPr>
          </a:p>
        </p:txBody>
      </p:sp>
      <p:pic>
        <p:nvPicPr>
          <p:cNvPr id="10" name="Picture 9">
            <a:extLst>
              <a:ext uri="{FF2B5EF4-FFF2-40B4-BE49-F238E27FC236}">
                <a16:creationId xmlns:a16="http://schemas.microsoft.com/office/drawing/2014/main" id="{4820369B-D30B-B416-EBFE-C5A891611AD9}"/>
              </a:ext>
            </a:extLst>
          </p:cNvPr>
          <p:cNvPicPr>
            <a:picLocks noChangeAspect="1"/>
          </p:cNvPicPr>
          <p:nvPr/>
        </p:nvPicPr>
        <p:blipFill>
          <a:blip r:embed="rId3"/>
          <a:stretch>
            <a:fillRect/>
          </a:stretch>
        </p:blipFill>
        <p:spPr>
          <a:xfrm>
            <a:off x="1016508" y="4961636"/>
            <a:ext cx="2641600" cy="1082582"/>
          </a:xfrm>
          <a:prstGeom prst="rect">
            <a:avLst/>
          </a:prstGeom>
        </p:spPr>
      </p:pic>
      <p:sp>
        <p:nvSpPr>
          <p:cNvPr id="12" name="TextBox 11">
            <a:extLst>
              <a:ext uri="{FF2B5EF4-FFF2-40B4-BE49-F238E27FC236}">
                <a16:creationId xmlns:a16="http://schemas.microsoft.com/office/drawing/2014/main" id="{348D3DB6-8365-69D1-3126-3A74C70B26B2}"/>
              </a:ext>
            </a:extLst>
          </p:cNvPr>
          <p:cNvSpPr txBox="1"/>
          <p:nvPr/>
        </p:nvSpPr>
        <p:spPr>
          <a:xfrm>
            <a:off x="5079492" y="5032170"/>
            <a:ext cx="6096000" cy="1015663"/>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(X)</a:t>
            </a:r>
            <a:r>
              <a:rPr lang="mn-MN" sz="2000" dirty="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original</a:t>
            </a:r>
            <a:r>
              <a:rPr lang="en-JP" sz="2000" dirty="0">
                <a:latin typeface="Meiryo" panose="020B0604030504040204" pitchFamily="34" charset="-128"/>
                <a:ea typeface="Meiryo" panose="020B0604030504040204" pitchFamily="34" charset="-128"/>
              </a:rPr>
              <a:t>のデータ </a:t>
            </a:r>
          </a:p>
          <a:p>
            <a:endParaRPr lang="mn-MN"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(X′) 再構築されたデータ </a:t>
            </a:r>
          </a:p>
        </p:txBody>
      </p:sp>
      <p:cxnSp>
        <p:nvCxnSpPr>
          <p:cNvPr id="14" name="Straight Arrow Connector 13">
            <a:extLst>
              <a:ext uri="{FF2B5EF4-FFF2-40B4-BE49-F238E27FC236}">
                <a16:creationId xmlns:a16="http://schemas.microsoft.com/office/drawing/2014/main" id="{81338EC2-D961-EC5D-6DBE-1C503B8E9934}"/>
              </a:ext>
            </a:extLst>
          </p:cNvPr>
          <p:cNvCxnSpPr>
            <a:cxnSpLocks/>
            <a:stCxn id="10" idx="3"/>
          </p:cNvCxnSpPr>
          <p:nvPr/>
        </p:nvCxnSpPr>
        <p:spPr>
          <a:xfrm flipV="1">
            <a:off x="3658108" y="5242560"/>
            <a:ext cx="1421384" cy="260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7AD5226-9931-A10E-AEF4-FE2F01762646}"/>
              </a:ext>
            </a:extLst>
          </p:cNvPr>
          <p:cNvCxnSpPr>
            <a:cxnSpLocks/>
            <a:stCxn id="10" idx="3"/>
          </p:cNvCxnSpPr>
          <p:nvPr/>
        </p:nvCxnSpPr>
        <p:spPr>
          <a:xfrm>
            <a:off x="3658108" y="5502927"/>
            <a:ext cx="1421384" cy="246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052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6367A4-59CF-5022-5209-9869FCFC977D}"/>
              </a:ext>
            </a:extLst>
          </p:cNvPr>
          <p:cNvPicPr>
            <a:picLocks noChangeAspect="1"/>
          </p:cNvPicPr>
          <p:nvPr/>
        </p:nvPicPr>
        <p:blipFill>
          <a:blip r:embed="rId2"/>
          <a:stretch>
            <a:fillRect/>
          </a:stretch>
        </p:blipFill>
        <p:spPr>
          <a:xfrm>
            <a:off x="11216465" y="301484"/>
            <a:ext cx="791922" cy="845054"/>
          </a:xfrm>
          <a:prstGeom prst="rect">
            <a:avLst/>
          </a:prstGeom>
        </p:spPr>
      </p:pic>
      <p:sp>
        <p:nvSpPr>
          <p:cNvPr id="5" name="Slide Number Placeholder 4">
            <a:extLst>
              <a:ext uri="{FF2B5EF4-FFF2-40B4-BE49-F238E27FC236}">
                <a16:creationId xmlns:a16="http://schemas.microsoft.com/office/drawing/2014/main" id="{9ACB6F14-CF86-B8EC-8D7F-F87ED6AE3A57}"/>
              </a:ext>
            </a:extLst>
          </p:cNvPr>
          <p:cNvSpPr>
            <a:spLocks noGrp="1"/>
          </p:cNvSpPr>
          <p:nvPr>
            <p:ph type="sldNum" sz="quarter" idx="12"/>
          </p:nvPr>
        </p:nvSpPr>
        <p:spPr/>
        <p:txBody>
          <a:bodyPr/>
          <a:lstStyle/>
          <a:p>
            <a:fld id="{25A9D56D-006D-A740-86A3-FD23428E3C6A}" type="slidenum">
              <a:rPr lang="en-JP" sz="1800" smtClean="0"/>
              <a:t>10</a:t>
            </a:fld>
            <a:endParaRPr lang="en-JP" sz="1800" dirty="0"/>
          </a:p>
        </p:txBody>
      </p:sp>
      <p:pic>
        <p:nvPicPr>
          <p:cNvPr id="6" name="Picture 5">
            <a:extLst>
              <a:ext uri="{FF2B5EF4-FFF2-40B4-BE49-F238E27FC236}">
                <a16:creationId xmlns:a16="http://schemas.microsoft.com/office/drawing/2014/main" id="{7E0F096B-6B82-2175-7D87-E61A586BCE76}"/>
              </a:ext>
            </a:extLst>
          </p:cNvPr>
          <p:cNvPicPr>
            <a:picLocks noChangeAspect="1"/>
          </p:cNvPicPr>
          <p:nvPr/>
        </p:nvPicPr>
        <p:blipFill>
          <a:blip r:embed="rId3"/>
          <a:stretch>
            <a:fillRect/>
          </a:stretch>
        </p:blipFill>
        <p:spPr>
          <a:xfrm>
            <a:off x="344424" y="908677"/>
            <a:ext cx="8266176" cy="5650619"/>
          </a:xfrm>
          <a:prstGeom prst="rect">
            <a:avLst/>
          </a:prstGeom>
        </p:spPr>
      </p:pic>
      <p:sp>
        <p:nvSpPr>
          <p:cNvPr id="8" name="TextBox 7">
            <a:extLst>
              <a:ext uri="{FF2B5EF4-FFF2-40B4-BE49-F238E27FC236}">
                <a16:creationId xmlns:a16="http://schemas.microsoft.com/office/drawing/2014/main" id="{BC592FEE-00FA-7D24-4F96-C3F3C2D9538B}"/>
              </a:ext>
            </a:extLst>
          </p:cNvPr>
          <p:cNvSpPr txBox="1"/>
          <p:nvPr/>
        </p:nvSpPr>
        <p:spPr>
          <a:xfrm>
            <a:off x="524256" y="539345"/>
            <a:ext cx="6096000" cy="369332"/>
          </a:xfrm>
          <a:prstGeom prst="rect">
            <a:avLst/>
          </a:prstGeom>
          <a:noFill/>
        </p:spPr>
        <p:txBody>
          <a:bodyPr wrap="square">
            <a:spAutoFit/>
          </a:bodyPr>
          <a:lstStyle/>
          <a:p>
            <a:pPr algn="l"/>
            <a:r>
              <a:rPr lang="en-US" b="1" i="0" dirty="0">
                <a:solidFill>
                  <a:srgbClr val="242424"/>
                </a:solidFill>
                <a:effectLst/>
                <a:latin typeface="Meiryo" panose="020B0604030504040204" pitchFamily="34" charset="-128"/>
                <a:ea typeface="Meiryo" panose="020B0604030504040204" pitchFamily="34" charset="-128"/>
              </a:rPr>
              <a:t>Variational Autoencoder(VAE)</a:t>
            </a:r>
          </a:p>
        </p:txBody>
      </p:sp>
      <p:sp>
        <p:nvSpPr>
          <p:cNvPr id="10" name="TextBox 9">
            <a:extLst>
              <a:ext uri="{FF2B5EF4-FFF2-40B4-BE49-F238E27FC236}">
                <a16:creationId xmlns:a16="http://schemas.microsoft.com/office/drawing/2014/main" id="{DA7FFC1C-C0E7-E735-E5B9-B5B86F5BAC64}"/>
              </a:ext>
            </a:extLst>
          </p:cNvPr>
          <p:cNvSpPr txBox="1"/>
          <p:nvPr/>
        </p:nvSpPr>
        <p:spPr>
          <a:xfrm>
            <a:off x="8459724" y="1924354"/>
            <a:ext cx="3044952" cy="3416320"/>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Variational Autoencoder（VAE）</a:t>
            </a:r>
            <a:r>
              <a:rPr lang="ja-JP" altLang="en-US">
                <a:latin typeface="Meiryo" panose="020B0604030504040204" pitchFamily="34" charset="-128"/>
                <a:ea typeface="Meiryo" panose="020B0604030504040204" pitchFamily="34" charset="-128"/>
              </a:rPr>
              <a:t>は、データの分布をモデル化する生成モデルの一種です。</a:t>
            </a:r>
            <a:endParaRPr lang="en-US" altLang="ja-JP" dirty="0">
              <a:latin typeface="Meiryo" panose="020B0604030504040204" pitchFamily="34" charset="-128"/>
              <a:ea typeface="Meiryo" panose="020B0604030504040204" pitchFamily="34" charset="-128"/>
            </a:endParaRPr>
          </a:p>
          <a:p>
            <a:endParaRPr lang="en-US" altLang="ja-JP" dirty="0">
              <a:latin typeface="Meiryo" panose="020B0604030504040204" pitchFamily="34" charset="-128"/>
              <a:ea typeface="Meiryo" panose="020B0604030504040204" pitchFamily="34" charset="-128"/>
            </a:endParaRPr>
          </a:p>
          <a:p>
            <a:endParaRPr lang="en-US" altLang="ja-JP" dirty="0">
              <a:latin typeface="Meiryo" panose="020B0604030504040204" pitchFamily="34" charset="-128"/>
              <a:ea typeface="Meiryo" panose="020B0604030504040204" pitchFamily="34" charset="-128"/>
            </a:endParaRPr>
          </a:p>
          <a:p>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これは、標準正規分布 </a:t>
            </a:r>
            <a:r>
              <a:rPr lang="en-US" dirty="0">
                <a:latin typeface="Meiryo" panose="020B0604030504040204" pitchFamily="34" charset="-128"/>
                <a:ea typeface="Meiryo" panose="020B0604030504040204" pitchFamily="34" charset="-128"/>
              </a:rPr>
              <a:t>N(0,1) </a:t>
            </a:r>
            <a:r>
              <a:rPr lang="ja-JP" altLang="en-US">
                <a:latin typeface="Meiryo" panose="020B0604030504040204" pitchFamily="34" charset="-128"/>
                <a:ea typeface="Meiryo" panose="020B0604030504040204" pitchFamily="34" charset="-128"/>
              </a:rPr>
              <a:t>に従う潜在変数 </a:t>
            </a:r>
            <a:r>
              <a:rPr lang="en-US" altLang="ja-JP" dirty="0">
                <a:latin typeface="Meiryo" panose="020B0604030504040204" pitchFamily="34" charset="-128"/>
                <a:ea typeface="Meiryo" panose="020B0604030504040204" pitchFamily="34" charset="-128"/>
              </a:rPr>
              <a:t>Z</a:t>
            </a:r>
            <a:r>
              <a:rPr lang="ja-JP" altLang="en-US">
                <a:latin typeface="Meiryo" panose="020B0604030504040204" pitchFamily="34" charset="-128"/>
                <a:ea typeface="Meiryo" panose="020B0604030504040204" pitchFamily="34" charset="-128"/>
              </a:rPr>
              <a:t>を用いて、データ空間に新しいデータを生成することを可能にします。</a:t>
            </a:r>
            <a:endParaRPr lang="en-JP" dirty="0">
              <a:latin typeface="Meiryo" panose="020B0604030504040204" pitchFamily="34" charset="-128"/>
              <a:ea typeface="Meiryo" panose="020B0604030504040204" pitchFamily="34" charset="-128"/>
            </a:endParaRPr>
          </a:p>
        </p:txBody>
      </p:sp>
      <p:sp>
        <p:nvSpPr>
          <p:cNvPr id="11" name="正方形/長方形 8">
            <a:extLst>
              <a:ext uri="{FF2B5EF4-FFF2-40B4-BE49-F238E27FC236}">
                <a16:creationId xmlns:a16="http://schemas.microsoft.com/office/drawing/2014/main" id="{33827D86-52E3-947B-F103-479D01629F9F}"/>
              </a:ext>
            </a:extLst>
          </p:cNvPr>
          <p:cNvSpPr/>
          <p:nvPr/>
        </p:nvSpPr>
        <p:spPr>
          <a:xfrm>
            <a:off x="2535936" y="999744"/>
            <a:ext cx="2487167" cy="464243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592"/>
          </a:p>
        </p:txBody>
      </p:sp>
    </p:spTree>
    <p:extLst>
      <p:ext uri="{BB962C8B-B14F-4D97-AF65-F5344CB8AC3E}">
        <p14:creationId xmlns:p14="http://schemas.microsoft.com/office/powerpoint/2010/main" val="1647864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BCC92E-05B3-B360-E871-D263797A9623}"/>
              </a:ext>
            </a:extLst>
          </p:cNvPr>
          <p:cNvPicPr>
            <a:picLocks noChangeAspect="1"/>
          </p:cNvPicPr>
          <p:nvPr/>
        </p:nvPicPr>
        <p:blipFill>
          <a:blip r:embed="rId2"/>
          <a:stretch>
            <a:fillRect/>
          </a:stretch>
        </p:blipFill>
        <p:spPr>
          <a:xfrm>
            <a:off x="11216465" y="301484"/>
            <a:ext cx="791922" cy="845054"/>
          </a:xfrm>
          <a:prstGeom prst="rect">
            <a:avLst/>
          </a:prstGeom>
        </p:spPr>
      </p:pic>
      <p:sp>
        <p:nvSpPr>
          <p:cNvPr id="6" name="Slide Number Placeholder 5">
            <a:extLst>
              <a:ext uri="{FF2B5EF4-FFF2-40B4-BE49-F238E27FC236}">
                <a16:creationId xmlns:a16="http://schemas.microsoft.com/office/drawing/2014/main" id="{021DC38B-E979-8C60-CB0A-027C860C580D}"/>
              </a:ext>
            </a:extLst>
          </p:cNvPr>
          <p:cNvSpPr>
            <a:spLocks noGrp="1"/>
          </p:cNvSpPr>
          <p:nvPr>
            <p:ph type="sldNum" sz="quarter" idx="12"/>
          </p:nvPr>
        </p:nvSpPr>
        <p:spPr/>
        <p:txBody>
          <a:bodyPr/>
          <a:lstStyle/>
          <a:p>
            <a:fld id="{25A9D56D-006D-A740-86A3-FD23428E3C6A}" type="slidenum">
              <a:rPr lang="en-JP" smtClean="0"/>
              <a:t>11</a:t>
            </a:fld>
            <a:endParaRPr lang="en-JP"/>
          </a:p>
        </p:txBody>
      </p:sp>
      <p:sp>
        <p:nvSpPr>
          <p:cNvPr id="8" name="TextBox 7">
            <a:extLst>
              <a:ext uri="{FF2B5EF4-FFF2-40B4-BE49-F238E27FC236}">
                <a16:creationId xmlns:a16="http://schemas.microsoft.com/office/drawing/2014/main" id="{AAB0C059-7704-625D-B277-6B349406BE1B}"/>
              </a:ext>
            </a:extLst>
          </p:cNvPr>
          <p:cNvSpPr txBox="1"/>
          <p:nvPr/>
        </p:nvSpPr>
        <p:spPr>
          <a:xfrm>
            <a:off x="463296" y="1815560"/>
            <a:ext cx="10314432" cy="1200329"/>
          </a:xfrm>
          <a:prstGeom prst="rect">
            <a:avLst/>
          </a:prstGeom>
          <a:noFill/>
        </p:spPr>
        <p:txBody>
          <a:bodyPr wrap="square">
            <a:spAutoFit/>
          </a:bodyPr>
          <a:lstStyle/>
          <a:p>
            <a:r>
              <a:rPr lang="en-US" sz="2400" b="1" dirty="0">
                <a:latin typeface="Meiryo" panose="020B0604030504040204" pitchFamily="34" charset="-128"/>
                <a:ea typeface="Meiryo" panose="020B0604030504040204" pitchFamily="34" charset="-128"/>
              </a:rPr>
              <a:t>Encoder</a:t>
            </a:r>
            <a:r>
              <a:rPr lang="ja-JP" altLang="en-US" sz="2400" b="1">
                <a:latin typeface="Meiryo" panose="020B0604030504040204" pitchFamily="34" charset="-128"/>
                <a:ea typeface="Meiryo" panose="020B0604030504040204" pitchFamily="34" charset="-128"/>
              </a:rPr>
              <a:t>部分</a:t>
            </a:r>
            <a:r>
              <a:rPr lang="ja-JP" altLang="en-US" sz="2400">
                <a:latin typeface="Meiryo" panose="020B0604030504040204" pitchFamily="34" charset="-128"/>
                <a:ea typeface="Meiryo" panose="020B0604030504040204" pitchFamily="34" charset="-128"/>
              </a:rPr>
              <a:t>は、入力データを受け取り、それを低次元の潜在空間に変換する役割を担っている。</a:t>
            </a:r>
            <a:br>
              <a:rPr lang="ja-JP" altLang="en-US" sz="2400">
                <a:latin typeface="Meiryo" panose="020B0604030504040204" pitchFamily="34" charset="-128"/>
                <a:ea typeface="Meiryo" panose="020B0604030504040204" pitchFamily="34" charset="-128"/>
              </a:rPr>
            </a:br>
            <a:endParaRPr lang="en-JP" sz="2400"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1DC7EF5B-1AF6-B0B9-7EBE-E51D4FD5C217}"/>
              </a:ext>
            </a:extLst>
          </p:cNvPr>
          <p:cNvSpPr txBox="1"/>
          <p:nvPr/>
        </p:nvSpPr>
        <p:spPr>
          <a:xfrm>
            <a:off x="621792" y="724011"/>
            <a:ext cx="6096000" cy="400110"/>
          </a:xfrm>
          <a:prstGeom prst="rect">
            <a:avLst/>
          </a:prstGeom>
          <a:noFill/>
        </p:spPr>
        <p:txBody>
          <a:bodyPr wrap="square">
            <a:spAutoFit/>
          </a:bodyPr>
          <a:lstStyle/>
          <a:p>
            <a:r>
              <a:rPr lang="en-US" sz="2000" b="1" dirty="0">
                <a:latin typeface="Meiryo" panose="020B0604030504040204" pitchFamily="34" charset="-128"/>
                <a:ea typeface="Meiryo" panose="020B0604030504040204" pitchFamily="34" charset="-128"/>
              </a:rPr>
              <a:t>Encoder</a:t>
            </a:r>
            <a:r>
              <a:rPr lang="ja-JP" altLang="en-US" sz="2000" b="1">
                <a:latin typeface="Meiryo" panose="020B0604030504040204" pitchFamily="34" charset="-128"/>
                <a:ea typeface="Meiryo" panose="020B0604030504040204" pitchFamily="34" charset="-128"/>
              </a:rPr>
              <a:t>部分</a:t>
            </a:r>
            <a:endParaRPr lang="en-JP" sz="2000" dirty="0">
              <a:latin typeface="Meiryo" panose="020B0604030504040204" pitchFamily="34" charset="-128"/>
              <a:ea typeface="Meiryo" panose="020B0604030504040204" pitchFamily="34" charset="-128"/>
            </a:endParaRPr>
          </a:p>
        </p:txBody>
      </p:sp>
      <p:pic>
        <p:nvPicPr>
          <p:cNvPr id="11" name="Picture 10">
            <a:extLst>
              <a:ext uri="{FF2B5EF4-FFF2-40B4-BE49-F238E27FC236}">
                <a16:creationId xmlns:a16="http://schemas.microsoft.com/office/drawing/2014/main" id="{28D30463-9AAE-E5A0-D2CB-E05DB947C0DD}"/>
              </a:ext>
            </a:extLst>
          </p:cNvPr>
          <p:cNvPicPr>
            <a:picLocks noChangeAspect="1"/>
          </p:cNvPicPr>
          <p:nvPr/>
        </p:nvPicPr>
        <p:blipFill>
          <a:blip r:embed="rId3"/>
          <a:stretch>
            <a:fillRect/>
          </a:stretch>
        </p:blipFill>
        <p:spPr>
          <a:xfrm>
            <a:off x="621792" y="3015889"/>
            <a:ext cx="4013200" cy="2885039"/>
          </a:xfrm>
          <a:prstGeom prst="rect">
            <a:avLst/>
          </a:prstGeom>
        </p:spPr>
      </p:pic>
      <p:sp>
        <p:nvSpPr>
          <p:cNvPr id="13" name="TextBox 12">
            <a:extLst>
              <a:ext uri="{FF2B5EF4-FFF2-40B4-BE49-F238E27FC236}">
                <a16:creationId xmlns:a16="http://schemas.microsoft.com/office/drawing/2014/main" id="{BFD2FEF5-A1EB-96C2-9507-85032084ADBE}"/>
              </a:ext>
            </a:extLst>
          </p:cNvPr>
          <p:cNvSpPr txBox="1"/>
          <p:nvPr/>
        </p:nvSpPr>
        <p:spPr>
          <a:xfrm>
            <a:off x="5642864" y="3360313"/>
            <a:ext cx="6096000" cy="1569660"/>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この潜在変数（</a:t>
            </a:r>
            <a:r>
              <a:rPr lang="en-US" sz="2400" dirty="0">
                <a:latin typeface="Meiryo" panose="020B0604030504040204" pitchFamily="34" charset="-128"/>
                <a:ea typeface="Meiryo" panose="020B0604030504040204" pitchFamily="34" charset="-128"/>
              </a:rPr>
              <a:t>latent variable）</a:t>
            </a:r>
            <a:r>
              <a:rPr lang="ja-JP" altLang="en-US" sz="2400">
                <a:latin typeface="Meiryo" panose="020B0604030504040204" pitchFamily="34" charset="-128"/>
                <a:ea typeface="Meiryo" panose="020B0604030504040204" pitchFamily="34" charset="-128"/>
              </a:rPr>
              <a:t>は、元データの特徴を圧縮された形で保持しており、デコーダーによって再構成の元になる情報源となる。</a:t>
            </a:r>
            <a:endParaRPr lang="en-JP" sz="2400" dirty="0"/>
          </a:p>
        </p:txBody>
      </p:sp>
    </p:spTree>
    <p:extLst>
      <p:ext uri="{BB962C8B-B14F-4D97-AF65-F5344CB8AC3E}">
        <p14:creationId xmlns:p14="http://schemas.microsoft.com/office/powerpoint/2010/main" val="2331564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91D466-11FF-C95B-B77F-47410EDDEE56}"/>
              </a:ext>
            </a:extLst>
          </p:cNvPr>
          <p:cNvPicPr>
            <a:picLocks noChangeAspect="1"/>
          </p:cNvPicPr>
          <p:nvPr/>
        </p:nvPicPr>
        <p:blipFill>
          <a:blip r:embed="rId2"/>
          <a:stretch>
            <a:fillRect/>
          </a:stretch>
        </p:blipFill>
        <p:spPr>
          <a:xfrm>
            <a:off x="11216465" y="301484"/>
            <a:ext cx="791922" cy="845054"/>
          </a:xfrm>
          <a:prstGeom prst="rect">
            <a:avLst/>
          </a:prstGeom>
        </p:spPr>
      </p:pic>
      <p:sp>
        <p:nvSpPr>
          <p:cNvPr id="5" name="Slide Number Placeholder 4">
            <a:extLst>
              <a:ext uri="{FF2B5EF4-FFF2-40B4-BE49-F238E27FC236}">
                <a16:creationId xmlns:a16="http://schemas.microsoft.com/office/drawing/2014/main" id="{2B1DA49B-64C7-4BCB-F4FF-0400F74884BF}"/>
              </a:ext>
            </a:extLst>
          </p:cNvPr>
          <p:cNvSpPr>
            <a:spLocks noGrp="1"/>
          </p:cNvSpPr>
          <p:nvPr>
            <p:ph type="sldNum" sz="quarter" idx="12"/>
          </p:nvPr>
        </p:nvSpPr>
        <p:spPr/>
        <p:txBody>
          <a:bodyPr/>
          <a:lstStyle/>
          <a:p>
            <a:fld id="{25A9D56D-006D-A740-86A3-FD23428E3C6A}" type="slidenum">
              <a:rPr lang="en-JP" smtClean="0"/>
              <a:t>12</a:t>
            </a:fld>
            <a:endParaRPr lang="en-JP"/>
          </a:p>
        </p:txBody>
      </p:sp>
      <p:pic>
        <p:nvPicPr>
          <p:cNvPr id="6" name="Picture 5">
            <a:extLst>
              <a:ext uri="{FF2B5EF4-FFF2-40B4-BE49-F238E27FC236}">
                <a16:creationId xmlns:a16="http://schemas.microsoft.com/office/drawing/2014/main" id="{7E88192E-18C7-57AF-270F-9C55E7BC40E9}"/>
              </a:ext>
            </a:extLst>
          </p:cNvPr>
          <p:cNvPicPr>
            <a:picLocks noChangeAspect="1"/>
          </p:cNvPicPr>
          <p:nvPr/>
        </p:nvPicPr>
        <p:blipFill>
          <a:blip r:embed="rId3"/>
          <a:stretch>
            <a:fillRect/>
          </a:stretch>
        </p:blipFill>
        <p:spPr>
          <a:xfrm>
            <a:off x="1218692" y="1146538"/>
            <a:ext cx="3073400" cy="5063508"/>
          </a:xfrm>
          <a:prstGeom prst="rect">
            <a:avLst/>
          </a:prstGeom>
        </p:spPr>
      </p:pic>
      <p:sp>
        <p:nvSpPr>
          <p:cNvPr id="8" name="TextBox 7">
            <a:extLst>
              <a:ext uri="{FF2B5EF4-FFF2-40B4-BE49-F238E27FC236}">
                <a16:creationId xmlns:a16="http://schemas.microsoft.com/office/drawing/2014/main" id="{40E1CA46-D37B-0517-3F4E-02BC381F208F}"/>
              </a:ext>
            </a:extLst>
          </p:cNvPr>
          <p:cNvSpPr txBox="1"/>
          <p:nvPr/>
        </p:nvSpPr>
        <p:spPr>
          <a:xfrm>
            <a:off x="4292092" y="1778984"/>
            <a:ext cx="7485380" cy="3416320"/>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デコーダーは、圧縮された情報（</a:t>
            </a:r>
            <a:r>
              <a:rPr lang="en-US" sz="2400" dirty="0">
                <a:latin typeface="Meiryo" panose="020B0604030504040204" pitchFamily="34" charset="-128"/>
                <a:ea typeface="Meiryo" panose="020B0604030504040204" pitchFamily="34" charset="-128"/>
              </a:rPr>
              <a:t>z）</a:t>
            </a:r>
            <a:r>
              <a:rPr lang="ja-JP" altLang="en-US" sz="2400">
                <a:latin typeface="Meiryo" panose="020B0604030504040204" pitchFamily="34" charset="-128"/>
                <a:ea typeface="Meiryo" panose="020B0604030504040204" pitchFamily="34" charset="-128"/>
              </a:rPr>
              <a:t>を使って、元のデータ</a:t>
            </a:r>
            <a:r>
              <a:rPr lang="ja-JP" altLang="en-US" sz="2400">
                <a:solidFill>
                  <a:srgbClr val="FF0000"/>
                </a:solidFill>
                <a:latin typeface="Meiryo" panose="020B0604030504040204" pitchFamily="34" charset="-128"/>
                <a:ea typeface="Meiryo" panose="020B0604030504040204" pitchFamily="34" charset="-128"/>
              </a:rPr>
              <a:t>（</a:t>
            </a:r>
            <a:r>
              <a:rPr lang="en-US" sz="2400" dirty="0">
                <a:solidFill>
                  <a:srgbClr val="FF0000"/>
                </a:solidFill>
                <a:latin typeface="Meiryo" panose="020B0604030504040204" pitchFamily="34" charset="-128"/>
                <a:ea typeface="Meiryo" panose="020B0604030504040204" pitchFamily="34" charset="-128"/>
              </a:rPr>
              <a:t>x）</a:t>
            </a:r>
            <a:r>
              <a:rPr lang="ja-JP" altLang="en-US" sz="2400">
                <a:latin typeface="Meiryo" panose="020B0604030504040204" pitchFamily="34" charset="-128"/>
                <a:ea typeface="Meiryo" panose="020B0604030504040204" pitchFamily="34" charset="-128"/>
              </a:rPr>
              <a:t>をさいげんしようとする部分です。</a:t>
            </a:r>
            <a:endParaRPr lang="mn-MN" altLang="ja-JP" sz="2400" dirty="0">
              <a:latin typeface="Meiryo" panose="020B0604030504040204" pitchFamily="34" charset="-128"/>
              <a:ea typeface="Meiryo" panose="020B0604030504040204" pitchFamily="34" charset="-128"/>
            </a:endParaRPr>
          </a:p>
          <a:p>
            <a:br>
              <a:rPr lang="ja-JP" altLang="en-US" sz="2400">
                <a:latin typeface="Meiryo" panose="020B0604030504040204" pitchFamily="34" charset="-128"/>
                <a:ea typeface="Meiryo" panose="020B0604030504040204" pitchFamily="34" charset="-128"/>
              </a:rPr>
            </a:br>
            <a:r>
              <a:rPr lang="en-US" sz="2400" dirty="0">
                <a:solidFill>
                  <a:srgbClr val="FF0000"/>
                </a:solidFill>
                <a:latin typeface="Meiryo" panose="020B0604030504040204" pitchFamily="34" charset="-128"/>
                <a:ea typeface="Meiryo" panose="020B0604030504040204" pitchFamily="34" charset="-128"/>
              </a:rPr>
              <a:t>z </a:t>
            </a:r>
            <a:r>
              <a:rPr lang="ja-JP" altLang="en-US" sz="2400">
                <a:latin typeface="Meiryo" panose="020B0604030504040204" pitchFamily="34" charset="-128"/>
                <a:ea typeface="Meiryo" panose="020B0604030504040204" pitchFamily="34" charset="-128"/>
              </a:rPr>
              <a:t>という短くまとめられた情報から、どんなデータだったか？を思い出すように作り直します。</a:t>
            </a:r>
          </a:p>
          <a:p>
            <a:r>
              <a:rPr lang="ja-JP" altLang="en-US" sz="2400">
                <a:latin typeface="Meiryo" panose="020B0604030504040204" pitchFamily="34" charset="-128"/>
                <a:ea typeface="Meiryo" panose="020B0604030504040204" pitchFamily="34" charset="-128"/>
              </a:rPr>
              <a:t>たとえば、画像の特徴だけを </a:t>
            </a:r>
            <a:r>
              <a:rPr lang="en-US" sz="2400" dirty="0">
                <a:latin typeface="Meiryo" panose="020B0604030504040204" pitchFamily="34" charset="-128"/>
                <a:ea typeface="Meiryo" panose="020B0604030504040204" pitchFamily="34" charset="-128"/>
              </a:rPr>
              <a:t>z </a:t>
            </a:r>
            <a:r>
              <a:rPr lang="ja-JP" altLang="en-US" sz="2400">
                <a:latin typeface="Meiryo" panose="020B0604030504040204" pitchFamily="34" charset="-128"/>
                <a:ea typeface="Meiryo" panose="020B0604030504040204" pitchFamily="34" charset="-128"/>
              </a:rPr>
              <a:t>に保存しておいて、あとでその特徴を使って画像をもう一度作ろうとします。</a:t>
            </a:r>
          </a:p>
          <a:p>
            <a:endParaRPr lang="ja-JP" altLang="en-US" sz="240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10042D7E-7A0D-2183-907B-FC1DA47F8AA3}"/>
              </a:ext>
            </a:extLst>
          </p:cNvPr>
          <p:cNvSpPr txBox="1"/>
          <p:nvPr/>
        </p:nvSpPr>
        <p:spPr>
          <a:xfrm>
            <a:off x="1244092" y="507599"/>
            <a:ext cx="6096000" cy="1200329"/>
          </a:xfrm>
          <a:prstGeom prst="rect">
            <a:avLst/>
          </a:prstGeom>
          <a:noFill/>
        </p:spPr>
        <p:txBody>
          <a:bodyPr wrap="square">
            <a:spAutoFit/>
          </a:bodyPr>
          <a:lstStyle/>
          <a:p>
            <a:pPr algn="l"/>
            <a:r>
              <a:rPr lang="en-US" sz="2400" b="1" i="0" dirty="0">
                <a:solidFill>
                  <a:srgbClr val="242424"/>
                </a:solidFill>
                <a:effectLst/>
                <a:latin typeface="Meiryo" panose="020B0604030504040204" pitchFamily="34" charset="-128"/>
                <a:ea typeface="Meiryo" panose="020B0604030504040204" pitchFamily="34" charset="-128"/>
              </a:rPr>
              <a:t>Decoder</a:t>
            </a:r>
          </a:p>
          <a:p>
            <a:br>
              <a:rPr lang="en-US" sz="2400" dirty="0">
                <a:latin typeface="Meiryo" panose="020B0604030504040204" pitchFamily="34" charset="-128"/>
                <a:ea typeface="Meiryo" panose="020B0604030504040204" pitchFamily="34" charset="-128"/>
              </a:rPr>
            </a:br>
            <a:endParaRPr lang="en-JP" sz="24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176207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3A3C9E-0C37-EF2D-B667-0405247C1334}"/>
              </a:ext>
            </a:extLst>
          </p:cNvPr>
          <p:cNvPicPr>
            <a:picLocks noChangeAspect="1"/>
          </p:cNvPicPr>
          <p:nvPr/>
        </p:nvPicPr>
        <p:blipFill>
          <a:blip r:embed="rId2"/>
          <a:stretch>
            <a:fillRect/>
          </a:stretch>
        </p:blipFill>
        <p:spPr>
          <a:xfrm>
            <a:off x="11216465" y="301484"/>
            <a:ext cx="791922" cy="845054"/>
          </a:xfrm>
          <a:prstGeom prst="rect">
            <a:avLst/>
          </a:prstGeom>
        </p:spPr>
      </p:pic>
      <p:sp>
        <p:nvSpPr>
          <p:cNvPr id="5" name="Slide Number Placeholder 4">
            <a:extLst>
              <a:ext uri="{FF2B5EF4-FFF2-40B4-BE49-F238E27FC236}">
                <a16:creationId xmlns:a16="http://schemas.microsoft.com/office/drawing/2014/main" id="{F58E3C71-9CC2-D025-09B5-1172FC101354}"/>
              </a:ext>
            </a:extLst>
          </p:cNvPr>
          <p:cNvSpPr>
            <a:spLocks noGrp="1"/>
          </p:cNvSpPr>
          <p:nvPr>
            <p:ph type="sldNum" sz="quarter" idx="12"/>
          </p:nvPr>
        </p:nvSpPr>
        <p:spPr/>
        <p:txBody>
          <a:bodyPr/>
          <a:lstStyle/>
          <a:p>
            <a:fld id="{25A9D56D-006D-A740-86A3-FD23428E3C6A}" type="slidenum">
              <a:rPr lang="en-JP" smtClean="0"/>
              <a:t>13</a:t>
            </a:fld>
            <a:endParaRPr lang="en-JP"/>
          </a:p>
        </p:txBody>
      </p:sp>
      <p:sp>
        <p:nvSpPr>
          <p:cNvPr id="7" name="TextBox 6">
            <a:extLst>
              <a:ext uri="{FF2B5EF4-FFF2-40B4-BE49-F238E27FC236}">
                <a16:creationId xmlns:a16="http://schemas.microsoft.com/office/drawing/2014/main" id="{24C740FB-865E-208C-B4E4-C4F7FDBA17BB}"/>
              </a:ext>
            </a:extLst>
          </p:cNvPr>
          <p:cNvSpPr txBox="1"/>
          <p:nvPr/>
        </p:nvSpPr>
        <p:spPr>
          <a:xfrm>
            <a:off x="1048511" y="1200608"/>
            <a:ext cx="10167953" cy="1323439"/>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VAE</a:t>
            </a:r>
            <a:r>
              <a:rPr lang="ja-JP" altLang="en-US" sz="2000">
                <a:latin typeface="Meiryo" panose="020B0604030504040204" pitchFamily="34" charset="-128"/>
                <a:ea typeface="Meiryo" panose="020B0604030504040204" pitchFamily="34" charset="-128"/>
              </a:rPr>
              <a:t>の学習中に、潜在変数</a:t>
            </a:r>
            <a:r>
              <a:rPr lang="ja-JP" altLang="en-US" sz="2000" b="1">
                <a:latin typeface="Meiryo" panose="020B0604030504040204" pitchFamily="34" charset="-128"/>
                <a:ea typeface="Meiryo" panose="020B0604030504040204" pitchFamily="34" charset="-128"/>
              </a:rPr>
              <a:t> </a:t>
            </a:r>
            <a:r>
              <a:rPr lang="en-US" altLang="ja-JP" sz="2000" b="1" dirty="0">
                <a:latin typeface="Meiryo" panose="020B0604030504040204" pitchFamily="34" charset="-128"/>
                <a:ea typeface="Meiryo" panose="020B0604030504040204" pitchFamily="34" charset="-128"/>
              </a:rPr>
              <a:t>Z</a:t>
            </a:r>
            <a:r>
              <a:rPr lang="en-US"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を生成するには、エンコーダーが出力したパラメータ（平均と分散）を使って</a:t>
            </a:r>
            <a:r>
              <a:rPr lang="en-US" altLang="ja-JP" sz="2000" dirty="0">
                <a:latin typeface="Meiryo" panose="020B0604030504040204" pitchFamily="34" charset="-128"/>
                <a:ea typeface="Meiryo" panose="020B0604030504040204" pitchFamily="34" charset="-128"/>
              </a:rPr>
              <a:t>sampling </a:t>
            </a:r>
            <a:r>
              <a:rPr lang="ja-JP" altLang="en-US" sz="2000">
                <a:latin typeface="Meiryo" panose="020B0604030504040204" pitchFamily="34" charset="-128"/>
                <a:ea typeface="Meiryo" panose="020B0604030504040204" pitchFamily="34" charset="-128"/>
              </a:rPr>
              <a:t>（乱数の生成）を行います。</a:t>
            </a:r>
          </a:p>
          <a:p>
            <a:r>
              <a:rPr lang="ja-JP" altLang="en-US" sz="2000">
                <a:latin typeface="Meiryo" panose="020B0604030504040204" pitchFamily="34" charset="-128"/>
                <a:ea typeface="Meiryo" panose="020B0604030504040204" pitchFamily="34" charset="-128"/>
              </a:rPr>
              <a:t>しかし、ランダムなサンプリング操作は、誤差逆伝播（</a:t>
            </a:r>
            <a:r>
              <a:rPr lang="en-US" sz="2000" dirty="0">
                <a:latin typeface="Meiryo" panose="020B0604030504040204" pitchFamily="34" charset="-128"/>
                <a:ea typeface="Meiryo" panose="020B0604030504040204" pitchFamily="34" charset="-128"/>
              </a:rPr>
              <a:t>Backpropagation）</a:t>
            </a:r>
            <a:r>
              <a:rPr lang="ja-JP" altLang="en-US" sz="2000">
                <a:latin typeface="Meiryo" panose="020B0604030504040204" pitchFamily="34" charset="-128"/>
                <a:ea typeface="Meiryo" panose="020B0604030504040204" pitchFamily="34" charset="-128"/>
              </a:rPr>
              <a:t>が通れないため、学習ができなくなります。これが学習のボトルネック（障害）になります。</a:t>
            </a:r>
          </a:p>
        </p:txBody>
      </p:sp>
      <p:sp>
        <p:nvSpPr>
          <p:cNvPr id="9" name="TextBox 8">
            <a:extLst>
              <a:ext uri="{FF2B5EF4-FFF2-40B4-BE49-F238E27FC236}">
                <a16:creationId xmlns:a16="http://schemas.microsoft.com/office/drawing/2014/main" id="{7612C409-20B5-DF22-B499-6FDEA58F87D2}"/>
              </a:ext>
            </a:extLst>
          </p:cNvPr>
          <p:cNvSpPr txBox="1"/>
          <p:nvPr/>
        </p:nvSpPr>
        <p:spPr>
          <a:xfrm>
            <a:off x="846620" y="5181978"/>
            <a:ext cx="10569019" cy="830997"/>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この問題を解決するために、</a:t>
            </a:r>
            <a:r>
              <a:rPr lang="en-US" sz="2400" dirty="0">
                <a:latin typeface="Meiryo" panose="020B0604030504040204" pitchFamily="34" charset="-128"/>
                <a:ea typeface="Meiryo" panose="020B0604030504040204" pitchFamily="34" charset="-128"/>
              </a:rPr>
              <a:t>Reparameterization trick（</a:t>
            </a:r>
            <a:r>
              <a:rPr lang="ja-JP" altLang="en-US" sz="2400">
                <a:latin typeface="Meiryo" panose="020B0604030504040204" pitchFamily="34" charset="-128"/>
                <a:ea typeface="Meiryo" panose="020B0604030504040204" pitchFamily="34" charset="-128"/>
              </a:rPr>
              <a:t>再パラメータ化トリック）を使います。</a:t>
            </a:r>
          </a:p>
        </p:txBody>
      </p:sp>
      <p:pic>
        <p:nvPicPr>
          <p:cNvPr id="10" name="Picture 9">
            <a:extLst>
              <a:ext uri="{FF2B5EF4-FFF2-40B4-BE49-F238E27FC236}">
                <a16:creationId xmlns:a16="http://schemas.microsoft.com/office/drawing/2014/main" id="{C5F0B126-E2B0-D95F-076E-57E855D368BB}"/>
              </a:ext>
            </a:extLst>
          </p:cNvPr>
          <p:cNvPicPr>
            <a:picLocks noChangeAspect="1"/>
          </p:cNvPicPr>
          <p:nvPr/>
        </p:nvPicPr>
        <p:blipFill>
          <a:blip r:embed="rId3"/>
          <a:stretch>
            <a:fillRect/>
          </a:stretch>
        </p:blipFill>
        <p:spPr>
          <a:xfrm>
            <a:off x="479649" y="3339199"/>
            <a:ext cx="5422900" cy="1346200"/>
          </a:xfrm>
          <a:prstGeom prst="rect">
            <a:avLst/>
          </a:prstGeom>
        </p:spPr>
      </p:pic>
      <p:sp>
        <p:nvSpPr>
          <p:cNvPr id="12" name="TextBox 11">
            <a:extLst>
              <a:ext uri="{FF2B5EF4-FFF2-40B4-BE49-F238E27FC236}">
                <a16:creationId xmlns:a16="http://schemas.microsoft.com/office/drawing/2014/main" id="{CA2179A0-D57B-07BE-AAD1-5A28FA69C1F6}"/>
              </a:ext>
            </a:extLst>
          </p:cNvPr>
          <p:cNvSpPr txBox="1"/>
          <p:nvPr/>
        </p:nvSpPr>
        <p:spPr>
          <a:xfrm>
            <a:off x="479649" y="330060"/>
            <a:ext cx="6096000" cy="400110"/>
          </a:xfrm>
          <a:prstGeom prst="rect">
            <a:avLst/>
          </a:prstGeom>
          <a:noFill/>
        </p:spPr>
        <p:txBody>
          <a:bodyPr wrap="square">
            <a:spAutoFit/>
          </a:bodyPr>
          <a:lstStyle/>
          <a:p>
            <a:r>
              <a:rPr lang="en-US" sz="2000" b="1" dirty="0">
                <a:latin typeface="Meiryo" panose="020B0604030504040204" pitchFamily="34" charset="-128"/>
                <a:ea typeface="Meiryo" panose="020B0604030504040204" pitchFamily="34" charset="-128"/>
              </a:rPr>
              <a:t>Reparameterization trick</a:t>
            </a:r>
            <a:endParaRPr lang="en-JP" sz="2000" b="1"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AF02A3BD-C210-07B5-91C0-B5DB35E914E7}"/>
              </a:ext>
            </a:extLst>
          </p:cNvPr>
          <p:cNvSpPr txBox="1"/>
          <p:nvPr/>
        </p:nvSpPr>
        <p:spPr>
          <a:xfrm>
            <a:off x="6132487" y="2969867"/>
            <a:ext cx="6096000" cy="369332"/>
          </a:xfrm>
          <a:prstGeom prst="rect">
            <a:avLst/>
          </a:prstGeom>
          <a:noFill/>
        </p:spPr>
        <p:txBody>
          <a:bodyPr wrap="square">
            <a:spAutoFit/>
          </a:bodyPr>
          <a:lstStyle/>
          <a:p>
            <a:endParaRPr lang="ja-JP" altLang="en-US"/>
          </a:p>
        </p:txBody>
      </p:sp>
      <p:sp>
        <p:nvSpPr>
          <p:cNvPr id="16" name="Rounded Rectangle 15">
            <a:extLst>
              <a:ext uri="{FF2B5EF4-FFF2-40B4-BE49-F238E27FC236}">
                <a16:creationId xmlns:a16="http://schemas.microsoft.com/office/drawing/2014/main" id="{A04B5F85-2AD8-AD6B-C15E-7E5245FAD702}"/>
              </a:ext>
            </a:extLst>
          </p:cNvPr>
          <p:cNvSpPr/>
          <p:nvPr/>
        </p:nvSpPr>
        <p:spPr>
          <a:xfrm>
            <a:off x="6096000" y="2751456"/>
            <a:ext cx="4948507" cy="1799365"/>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l-GR" sz="2000" dirty="0">
                <a:solidFill>
                  <a:schemeClr val="tx1"/>
                </a:solidFill>
              </a:rPr>
              <a:t>μ</a:t>
            </a:r>
            <a:r>
              <a:rPr lang="mn-MN" sz="2000" dirty="0">
                <a:solidFill>
                  <a:schemeClr val="tx1"/>
                </a:solidFill>
              </a:rPr>
              <a:t> </a:t>
            </a:r>
            <a:r>
              <a:rPr lang="el-GR" sz="2000" dirty="0">
                <a:solidFill>
                  <a:schemeClr val="tx1"/>
                </a:solidFill>
              </a:rPr>
              <a:t>：</a:t>
            </a:r>
            <a:r>
              <a:rPr lang="ja-JP" altLang="en-US" sz="2000">
                <a:solidFill>
                  <a:schemeClr val="tx1"/>
                </a:solidFill>
              </a:rPr>
              <a:t>エンコーダーが出力する平均</a:t>
            </a:r>
          </a:p>
          <a:p>
            <a:r>
              <a:rPr lang="el-GR" sz="2000" dirty="0">
                <a:solidFill>
                  <a:schemeClr val="tx1"/>
                </a:solidFill>
              </a:rPr>
              <a:t>σ：</a:t>
            </a:r>
            <a:r>
              <a:rPr lang="ja-JP" altLang="en-US" sz="2000">
                <a:solidFill>
                  <a:schemeClr val="tx1"/>
                </a:solidFill>
              </a:rPr>
              <a:t>標準偏差（分散の平方根）</a:t>
            </a:r>
          </a:p>
          <a:p>
            <a:r>
              <a:rPr lang="el-GR" sz="2000" dirty="0">
                <a:solidFill>
                  <a:schemeClr val="tx1"/>
                </a:solidFill>
              </a:rPr>
              <a:t>ε：</a:t>
            </a:r>
            <a:r>
              <a:rPr lang="ja-JP" altLang="en-US" sz="2000">
                <a:solidFill>
                  <a:schemeClr val="tx1"/>
                </a:solidFill>
              </a:rPr>
              <a:t>標準正規分布 </a:t>
            </a:r>
            <a:r>
              <a:rPr lang="en-US" sz="2000" dirty="0">
                <a:solidFill>
                  <a:schemeClr val="tx1"/>
                </a:solidFill>
              </a:rPr>
              <a:t>N(0,1) </a:t>
            </a:r>
            <a:r>
              <a:rPr lang="ja-JP" altLang="en-US" sz="2000">
                <a:solidFill>
                  <a:schemeClr val="tx1"/>
                </a:solidFill>
              </a:rPr>
              <a:t>からサンプリングした乱数</a:t>
            </a:r>
          </a:p>
        </p:txBody>
      </p:sp>
    </p:spTree>
    <p:extLst>
      <p:ext uri="{BB962C8B-B14F-4D97-AF65-F5344CB8AC3E}">
        <p14:creationId xmlns:p14="http://schemas.microsoft.com/office/powerpoint/2010/main" val="2060359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6AEA13-6019-F88E-4DBF-7949A131C450}"/>
              </a:ext>
            </a:extLst>
          </p:cNvPr>
          <p:cNvPicPr>
            <a:picLocks noChangeAspect="1"/>
          </p:cNvPicPr>
          <p:nvPr/>
        </p:nvPicPr>
        <p:blipFill>
          <a:blip r:embed="rId2"/>
          <a:stretch>
            <a:fillRect/>
          </a:stretch>
        </p:blipFill>
        <p:spPr>
          <a:xfrm>
            <a:off x="11216465" y="301484"/>
            <a:ext cx="791922" cy="845054"/>
          </a:xfrm>
          <a:prstGeom prst="rect">
            <a:avLst/>
          </a:prstGeom>
        </p:spPr>
      </p:pic>
      <p:sp>
        <p:nvSpPr>
          <p:cNvPr id="5" name="Slide Number Placeholder 4">
            <a:extLst>
              <a:ext uri="{FF2B5EF4-FFF2-40B4-BE49-F238E27FC236}">
                <a16:creationId xmlns:a16="http://schemas.microsoft.com/office/drawing/2014/main" id="{0437CCCF-0712-BEA2-620B-15E93BB7A476}"/>
              </a:ext>
            </a:extLst>
          </p:cNvPr>
          <p:cNvSpPr>
            <a:spLocks noGrp="1"/>
          </p:cNvSpPr>
          <p:nvPr>
            <p:ph type="sldNum" sz="quarter" idx="12"/>
          </p:nvPr>
        </p:nvSpPr>
        <p:spPr/>
        <p:txBody>
          <a:bodyPr/>
          <a:lstStyle/>
          <a:p>
            <a:fld id="{25A9D56D-006D-A740-86A3-FD23428E3C6A}" type="slidenum">
              <a:rPr lang="en-JP" smtClean="0"/>
              <a:t>14</a:t>
            </a:fld>
            <a:endParaRPr lang="en-JP"/>
          </a:p>
        </p:txBody>
      </p:sp>
      <p:sp>
        <p:nvSpPr>
          <p:cNvPr id="7" name="TextBox 6">
            <a:extLst>
              <a:ext uri="{FF2B5EF4-FFF2-40B4-BE49-F238E27FC236}">
                <a16:creationId xmlns:a16="http://schemas.microsoft.com/office/drawing/2014/main" id="{49DED2BA-5BF4-E315-801F-89EBBFBD68CF}"/>
              </a:ext>
            </a:extLst>
          </p:cNvPr>
          <p:cNvSpPr txBox="1"/>
          <p:nvPr/>
        </p:nvSpPr>
        <p:spPr>
          <a:xfrm>
            <a:off x="4791456" y="878253"/>
            <a:ext cx="6096000" cy="5324535"/>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Variational Autoencoder（VAE）</a:t>
            </a:r>
            <a:r>
              <a:rPr lang="ja-JP" altLang="en-US" sz="2000">
                <a:latin typeface="Meiryo" panose="020B0604030504040204" pitchFamily="34" charset="-128"/>
                <a:ea typeface="Meiryo" panose="020B0604030504040204" pitchFamily="34" charset="-128"/>
              </a:rPr>
              <a:t>は、データの分布をモデル化する生成モデルの一種です。</a:t>
            </a:r>
            <a:endParaRPr lang="mn-MN" altLang="ja-JP" sz="2000" dirty="0">
              <a:latin typeface="Meiryo" panose="020B0604030504040204" pitchFamily="34" charset="-128"/>
              <a:ea typeface="Meiryo" panose="020B0604030504040204" pitchFamily="34" charset="-128"/>
            </a:endParaRPr>
          </a:p>
          <a:p>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これは、標準正規分布 </a:t>
            </a:r>
            <a:r>
              <a:rPr lang="en-US" sz="2000" dirty="0">
                <a:latin typeface="Meiryo" panose="020B0604030504040204" pitchFamily="34" charset="-128"/>
                <a:ea typeface="Meiryo" panose="020B0604030504040204" pitchFamily="34" charset="-128"/>
              </a:rPr>
              <a:t>N(0,1) </a:t>
            </a:r>
            <a:r>
              <a:rPr lang="ja-JP" altLang="en-US" sz="2000">
                <a:latin typeface="Meiryo" panose="020B0604030504040204" pitchFamily="34" charset="-128"/>
                <a:ea typeface="Meiryo" panose="020B0604030504040204" pitchFamily="34" charset="-128"/>
              </a:rPr>
              <a:t>に従う潜在変数 </a:t>
            </a:r>
            <a:r>
              <a:rPr lang="en-US" altLang="ja-JP" sz="2000" dirty="0">
                <a:latin typeface="Meiryo" panose="020B0604030504040204" pitchFamily="34" charset="-128"/>
                <a:ea typeface="Meiryo" panose="020B0604030504040204" pitchFamily="34" charset="-128"/>
              </a:rPr>
              <a:t>Z</a:t>
            </a:r>
            <a:r>
              <a:rPr lang="en-US"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を用いて、データ空間に新しいデータを生成することを可能にします。</a:t>
            </a:r>
          </a:p>
          <a:p>
            <a:r>
              <a:rPr lang="ja-JP" altLang="en-US" sz="2000">
                <a:latin typeface="Meiryo" panose="020B0604030504040204" pitchFamily="34" charset="-128"/>
                <a:ea typeface="Meiryo" panose="020B0604030504040204" pitchFamily="34" charset="-128"/>
              </a:rPr>
              <a:t>エンコーダーは入力データを受け取り、その潜在表現のパラメータである </a:t>
            </a:r>
            <a:r>
              <a:rPr lang="el-GR" sz="2000" dirty="0">
                <a:latin typeface="Meiryo" panose="020B0604030504040204" pitchFamily="34" charset="-128"/>
                <a:ea typeface="Meiryo" panose="020B0604030504040204" pitchFamily="34" charset="-128"/>
              </a:rPr>
              <a:t>μ</a:t>
            </a:r>
            <a:r>
              <a:rPr lang="ja-JP" altLang="en-US" sz="2000">
                <a:latin typeface="Meiryo" panose="020B0604030504040204" pitchFamily="34" charset="-128"/>
                <a:ea typeface="Meiryo" panose="020B0604030504040204" pitchFamily="34" charset="-128"/>
              </a:rPr>
              <a:t>と </a:t>
            </a:r>
            <a:r>
              <a:rPr lang="el-GR" sz="2000" dirty="0">
                <a:latin typeface="Meiryo" panose="020B0604030504040204" pitchFamily="34" charset="-128"/>
                <a:ea typeface="Meiryo" panose="020B0604030504040204" pitchFamily="34" charset="-128"/>
              </a:rPr>
              <a:t>σ</a:t>
            </a:r>
            <a:r>
              <a:rPr lang="ja-JP" altLang="en-US" sz="2000">
                <a:latin typeface="Meiryo" panose="020B0604030504040204" pitchFamily="34" charset="-128"/>
                <a:ea typeface="Meiryo" panose="020B0604030504040204" pitchFamily="34" charset="-128"/>
              </a:rPr>
              <a:t>を推定します。</a:t>
            </a:r>
            <a:endParaRPr lang="en-US" altLang="ja-JP" sz="2000" dirty="0">
              <a:latin typeface="Meiryo" panose="020B0604030504040204" pitchFamily="34" charset="-128"/>
              <a:ea typeface="Meiryo" panose="020B0604030504040204" pitchFamily="34" charset="-128"/>
            </a:endParaRPr>
          </a:p>
          <a:p>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これらのパラメータは、そのデータに対応する</a:t>
            </a:r>
            <a:endParaRPr lang="en-US"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ガウス分布を定義します。</a:t>
            </a:r>
            <a:endParaRPr lang="en-US" altLang="ja-JP" sz="2000" dirty="0">
              <a:latin typeface="Meiryo" panose="020B0604030504040204" pitchFamily="34" charset="-128"/>
              <a:ea typeface="Meiryo" panose="020B0604030504040204" pitchFamily="34" charset="-128"/>
            </a:endParaRPr>
          </a:p>
          <a:p>
            <a:endParaRPr lang="ja-JP" altLang="en-US" sz="200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デコーダーはその分布からサンプルした </a:t>
            </a:r>
            <a:r>
              <a:rPr lang="en-US" altLang="ja-JP" sz="2000" dirty="0">
                <a:latin typeface="Meiryo" panose="020B0604030504040204" pitchFamily="34" charset="-128"/>
                <a:ea typeface="Meiryo" panose="020B0604030504040204" pitchFamily="34" charset="-128"/>
              </a:rPr>
              <a:t>Z</a:t>
            </a:r>
            <a:r>
              <a:rPr lang="en-US"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を用いて元のデータを再構成します。</a:t>
            </a:r>
            <a:endParaRPr lang="en-US" altLang="ja-JP" sz="2000" dirty="0">
              <a:latin typeface="Meiryo" panose="020B0604030504040204" pitchFamily="34" charset="-128"/>
              <a:ea typeface="Meiryo" panose="020B0604030504040204" pitchFamily="34" charset="-128"/>
            </a:endParaRPr>
          </a:p>
          <a:p>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すべての分布を統合することで、元のデータ分布 </a:t>
            </a:r>
            <a:r>
              <a:rPr lang="en-US" sz="2000" dirty="0">
                <a:latin typeface="Meiryo" panose="020B0604030504040204" pitchFamily="34" charset="-128"/>
                <a:ea typeface="Meiryo" panose="020B0604030504040204" pitchFamily="34" charset="-128"/>
              </a:rPr>
              <a:t>P(x) </a:t>
            </a:r>
            <a:r>
              <a:rPr lang="ja-JP" altLang="en-US" sz="2000">
                <a:latin typeface="Meiryo" panose="020B0604030504040204" pitchFamily="34" charset="-128"/>
                <a:ea typeface="Meiryo" panose="020B0604030504040204" pitchFamily="34" charset="-128"/>
              </a:rPr>
              <a:t>を近似的にモデル化することができます。</a:t>
            </a:r>
          </a:p>
        </p:txBody>
      </p:sp>
      <p:sp>
        <p:nvSpPr>
          <p:cNvPr id="9" name="TextBox 8">
            <a:extLst>
              <a:ext uri="{FF2B5EF4-FFF2-40B4-BE49-F238E27FC236}">
                <a16:creationId xmlns:a16="http://schemas.microsoft.com/office/drawing/2014/main" id="{A698CF44-15FD-12DE-1083-C89242794983}"/>
              </a:ext>
            </a:extLst>
          </p:cNvPr>
          <p:cNvSpPr txBox="1"/>
          <p:nvPr/>
        </p:nvSpPr>
        <p:spPr>
          <a:xfrm>
            <a:off x="280416" y="470546"/>
            <a:ext cx="6096000" cy="369332"/>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VAE はどのように機能しますか?</a:t>
            </a:r>
          </a:p>
        </p:txBody>
      </p:sp>
      <p:pic>
        <p:nvPicPr>
          <p:cNvPr id="10" name="Picture 9">
            <a:extLst>
              <a:ext uri="{FF2B5EF4-FFF2-40B4-BE49-F238E27FC236}">
                <a16:creationId xmlns:a16="http://schemas.microsoft.com/office/drawing/2014/main" id="{3139B4DC-F875-266D-4237-FA3915B8D5D8}"/>
              </a:ext>
            </a:extLst>
          </p:cNvPr>
          <p:cNvPicPr>
            <a:picLocks noChangeAspect="1"/>
          </p:cNvPicPr>
          <p:nvPr/>
        </p:nvPicPr>
        <p:blipFill>
          <a:blip r:embed="rId3"/>
          <a:stretch>
            <a:fillRect/>
          </a:stretch>
        </p:blipFill>
        <p:spPr>
          <a:xfrm>
            <a:off x="183555" y="2139442"/>
            <a:ext cx="4498173" cy="1993900"/>
          </a:xfrm>
          <a:prstGeom prst="rect">
            <a:avLst/>
          </a:prstGeom>
        </p:spPr>
      </p:pic>
    </p:spTree>
    <p:extLst>
      <p:ext uri="{BB962C8B-B14F-4D97-AF65-F5344CB8AC3E}">
        <p14:creationId xmlns:p14="http://schemas.microsoft.com/office/powerpoint/2010/main" val="361694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3F18AA-7597-AD33-CE24-D64EBDA6DADF}"/>
              </a:ext>
            </a:extLst>
          </p:cNvPr>
          <p:cNvSpPr>
            <a:spLocks noGrp="1"/>
          </p:cNvSpPr>
          <p:nvPr>
            <p:ph type="sldNum" sz="quarter" idx="12"/>
          </p:nvPr>
        </p:nvSpPr>
        <p:spPr/>
        <p:txBody>
          <a:bodyPr/>
          <a:lstStyle/>
          <a:p>
            <a:fld id="{25A9D56D-006D-A740-86A3-FD23428E3C6A}" type="slidenum">
              <a:rPr lang="en-JP" smtClean="0"/>
              <a:t>15</a:t>
            </a:fld>
            <a:endParaRPr lang="en-JP" dirty="0"/>
          </a:p>
        </p:txBody>
      </p:sp>
      <p:sp>
        <p:nvSpPr>
          <p:cNvPr id="5" name="TextBox 4">
            <a:extLst>
              <a:ext uri="{FF2B5EF4-FFF2-40B4-BE49-F238E27FC236}">
                <a16:creationId xmlns:a16="http://schemas.microsoft.com/office/drawing/2014/main" id="{779A0655-0B44-0205-7F79-5CA74553C05B}"/>
              </a:ext>
            </a:extLst>
          </p:cNvPr>
          <p:cNvSpPr txBox="1"/>
          <p:nvPr/>
        </p:nvSpPr>
        <p:spPr>
          <a:xfrm>
            <a:off x="1857261" y="959374"/>
            <a:ext cx="6097836" cy="646331"/>
          </a:xfrm>
          <a:prstGeom prst="rect">
            <a:avLst/>
          </a:prstGeom>
          <a:noFill/>
        </p:spPr>
        <p:txBody>
          <a:bodyPr wrap="square">
            <a:spAutoFit/>
          </a:bodyPr>
          <a:lstStyle/>
          <a:p>
            <a:r>
              <a:rPr lang="ja-JP" altLang="en-US" sz="3600">
                <a:effectLst/>
                <a:latin typeface="Meiryo" panose="020B0604030504040204" pitchFamily="34" charset="-128"/>
                <a:ea typeface="Meiryo" panose="020B0604030504040204" pitchFamily="34" charset="-128"/>
              </a:rPr>
              <a:t>目次 </a:t>
            </a:r>
            <a:endParaRPr lang="ja-JP" altLang="en-US" sz="3600">
              <a:effectLst/>
            </a:endParaRPr>
          </a:p>
        </p:txBody>
      </p:sp>
      <p:sp>
        <p:nvSpPr>
          <p:cNvPr id="6" name="TextBox 5">
            <a:extLst>
              <a:ext uri="{FF2B5EF4-FFF2-40B4-BE49-F238E27FC236}">
                <a16:creationId xmlns:a16="http://schemas.microsoft.com/office/drawing/2014/main" id="{98446220-BB32-FAE5-340D-88BB62E10463}"/>
              </a:ext>
            </a:extLst>
          </p:cNvPr>
          <p:cNvSpPr txBox="1"/>
          <p:nvPr/>
        </p:nvSpPr>
        <p:spPr>
          <a:xfrm>
            <a:off x="1416586" y="2027908"/>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異常検知とは</a:t>
            </a:r>
            <a:endParaRPr lang="en-JP" sz="3200" dirty="0"/>
          </a:p>
        </p:txBody>
      </p:sp>
      <p:sp>
        <p:nvSpPr>
          <p:cNvPr id="7" name="TextBox 6">
            <a:extLst>
              <a:ext uri="{FF2B5EF4-FFF2-40B4-BE49-F238E27FC236}">
                <a16:creationId xmlns:a16="http://schemas.microsoft.com/office/drawing/2014/main" id="{42A5C881-B397-236D-49D4-8408EE06A500}"/>
              </a:ext>
            </a:extLst>
          </p:cNvPr>
          <p:cNvSpPr txBox="1"/>
          <p:nvPr/>
        </p:nvSpPr>
        <p:spPr>
          <a:xfrm>
            <a:off x="1416586" y="3535537"/>
            <a:ext cx="6097836" cy="58477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Meiryo" panose="020B0604030504040204" pitchFamily="34" charset="-128"/>
                <a:ea typeface="Meiryo" panose="020B0604030504040204" pitchFamily="34" charset="-128"/>
              </a:rPr>
              <a:t>VAEとは</a:t>
            </a:r>
            <a:endParaRPr lang="en-JP" sz="3200" dirty="0"/>
          </a:p>
        </p:txBody>
      </p:sp>
      <p:sp>
        <p:nvSpPr>
          <p:cNvPr id="8" name="TextBox 7">
            <a:extLst>
              <a:ext uri="{FF2B5EF4-FFF2-40B4-BE49-F238E27FC236}">
                <a16:creationId xmlns:a16="http://schemas.microsoft.com/office/drawing/2014/main" id="{201C52D1-0FC9-C977-4593-A3EABEB27720}"/>
              </a:ext>
            </a:extLst>
          </p:cNvPr>
          <p:cNvSpPr txBox="1"/>
          <p:nvPr/>
        </p:nvSpPr>
        <p:spPr>
          <a:xfrm>
            <a:off x="1416586" y="4204436"/>
            <a:ext cx="6097836" cy="584775"/>
          </a:xfrm>
          <a:prstGeom prst="rect">
            <a:avLst/>
          </a:prstGeom>
          <a:noFill/>
        </p:spPr>
        <p:txBody>
          <a:bodyPr wrap="square">
            <a:spAutoFit/>
          </a:bodyPr>
          <a:lstStyle/>
          <a:p>
            <a:pPr marL="457200" indent="-457200">
              <a:buFont typeface="Arial" panose="020B0604020202020204" pitchFamily="34" charset="0"/>
              <a:buChar char="•"/>
            </a:pPr>
            <a:r>
              <a:rPr lang="en-US" sz="3200" dirty="0">
                <a:solidFill>
                  <a:srgbClr val="FF0000"/>
                </a:solidFill>
                <a:latin typeface="Meiryo" panose="020B0604030504040204" pitchFamily="34" charset="-128"/>
                <a:ea typeface="Meiryo" panose="020B0604030504040204" pitchFamily="34" charset="-128"/>
              </a:rPr>
              <a:t>GANとは</a:t>
            </a:r>
            <a:endParaRPr lang="en-JP" sz="3200" dirty="0">
              <a:solidFill>
                <a:srgbClr val="FF000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050FF072-F580-61A2-E52D-897AC466CD33}"/>
              </a:ext>
            </a:extLst>
          </p:cNvPr>
          <p:cNvSpPr txBox="1"/>
          <p:nvPr/>
        </p:nvSpPr>
        <p:spPr>
          <a:xfrm>
            <a:off x="1416586" y="2824413"/>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異常検知の手法</a:t>
            </a:r>
            <a:endParaRPr lang="en-JP" sz="3200"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56CFA83E-FB31-9A80-74FE-19D19BCA3614}"/>
              </a:ext>
            </a:extLst>
          </p:cNvPr>
          <p:cNvSpPr txBox="1"/>
          <p:nvPr/>
        </p:nvSpPr>
        <p:spPr>
          <a:xfrm>
            <a:off x="1416586" y="4837593"/>
            <a:ext cx="6097836" cy="584775"/>
          </a:xfrm>
          <a:prstGeom prst="rect">
            <a:avLst/>
          </a:prstGeom>
          <a:noFill/>
        </p:spPr>
        <p:txBody>
          <a:bodyPr wrap="square">
            <a:spAutoFit/>
          </a:bodyPr>
          <a:lstStyle/>
          <a:p>
            <a:pPr marL="285750" indent="-285750">
              <a:buFont typeface="Arial" panose="020B0604020202020204" pitchFamily="34" charset="0"/>
              <a:buChar char="•"/>
            </a:pPr>
            <a:r>
              <a:rPr lang="en-US" sz="3200" dirty="0">
                <a:latin typeface="Meiryo" panose="020B0604030504040204" pitchFamily="34" charset="-128"/>
                <a:ea typeface="Meiryo" panose="020B0604030504040204" pitchFamily="34" charset="-128"/>
              </a:rPr>
              <a:t>VAE・GAN</a:t>
            </a:r>
            <a:r>
              <a:rPr lang="ja-JP" altLang="en-US" sz="3200">
                <a:latin typeface="Meiryo" panose="020B0604030504040204" pitchFamily="34" charset="-128"/>
                <a:ea typeface="Meiryo" panose="020B0604030504040204" pitchFamily="34" charset="-128"/>
              </a:rPr>
              <a:t>による異常検知</a:t>
            </a:r>
            <a:endParaRPr lang="en-JP" sz="32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64234E9F-4706-943D-7BB9-8A308079BF2A}"/>
              </a:ext>
            </a:extLst>
          </p:cNvPr>
          <p:cNvSpPr txBox="1"/>
          <p:nvPr/>
        </p:nvSpPr>
        <p:spPr>
          <a:xfrm>
            <a:off x="1416586" y="5611539"/>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まとめ</a:t>
            </a:r>
            <a:endParaRPr lang="en-JP" sz="3200" dirty="0">
              <a:latin typeface="Meiryo" panose="020B0604030504040204" pitchFamily="34" charset="-128"/>
              <a:ea typeface="Meiryo" panose="020B0604030504040204" pitchFamily="34" charset="-128"/>
            </a:endParaRPr>
          </a:p>
        </p:txBody>
      </p:sp>
      <p:pic>
        <p:nvPicPr>
          <p:cNvPr id="12" name="Picture 11">
            <a:extLst>
              <a:ext uri="{FF2B5EF4-FFF2-40B4-BE49-F238E27FC236}">
                <a16:creationId xmlns:a16="http://schemas.microsoft.com/office/drawing/2014/main" id="{1CA57478-402E-5E25-5360-55477999D32A}"/>
              </a:ext>
            </a:extLst>
          </p:cNvPr>
          <p:cNvPicPr>
            <a:picLocks noChangeAspect="1"/>
          </p:cNvPicPr>
          <p:nvPr/>
        </p:nvPicPr>
        <p:blipFill>
          <a:blip r:embed="rId2"/>
          <a:stretch>
            <a:fillRect/>
          </a:stretch>
        </p:blipFill>
        <p:spPr>
          <a:xfrm>
            <a:off x="11368865" y="453884"/>
            <a:ext cx="791922" cy="845054"/>
          </a:xfrm>
          <a:prstGeom prst="rect">
            <a:avLst/>
          </a:prstGeom>
        </p:spPr>
      </p:pic>
      <p:sp>
        <p:nvSpPr>
          <p:cNvPr id="13" name="Slide Number Placeholder 18">
            <a:extLst>
              <a:ext uri="{FF2B5EF4-FFF2-40B4-BE49-F238E27FC236}">
                <a16:creationId xmlns:a16="http://schemas.microsoft.com/office/drawing/2014/main" id="{CF3EF99F-13A9-CDB0-3182-E4EA7B574AC4}"/>
              </a:ext>
            </a:extLst>
          </p:cNvPr>
          <p:cNvSpPr txBox="1">
            <a:spLocks/>
          </p:cNvSpPr>
          <p:nvPr/>
        </p:nvSpPr>
        <p:spPr>
          <a:xfrm>
            <a:off x="8763000" y="6508750"/>
            <a:ext cx="2743200" cy="365125"/>
          </a:xfrm>
          <a:prstGeom prst="rect">
            <a:avLst/>
          </a:prstGeom>
        </p:spPr>
        <p:txBody>
          <a:bodyPr vert="horz" lIns="91440" tIns="45720" rIns="91440" bIns="45720" rtlCol="0" anchor="ctr"/>
          <a:lstStyle>
            <a:defPPr>
              <a:defRPr lang="en-JP"/>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5A9D56D-006D-A740-86A3-FD23428E3C6A}" type="slidenum">
              <a:rPr lang="en-JP" smtClean="0"/>
              <a:pPr/>
              <a:t>15</a:t>
            </a:fld>
            <a:endParaRPr lang="en-JP"/>
          </a:p>
        </p:txBody>
      </p:sp>
    </p:spTree>
    <p:extLst>
      <p:ext uri="{BB962C8B-B14F-4D97-AF65-F5344CB8AC3E}">
        <p14:creationId xmlns:p14="http://schemas.microsoft.com/office/powerpoint/2010/main" val="3917136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E09E53-47A6-1C4B-3403-F2538DBD3B85}"/>
              </a:ext>
            </a:extLst>
          </p:cNvPr>
          <p:cNvSpPr>
            <a:spLocks noGrp="1"/>
          </p:cNvSpPr>
          <p:nvPr>
            <p:ph type="sldNum" sz="quarter" idx="12"/>
          </p:nvPr>
        </p:nvSpPr>
        <p:spPr/>
        <p:txBody>
          <a:bodyPr/>
          <a:lstStyle/>
          <a:p>
            <a:fld id="{25A9D56D-006D-A740-86A3-FD23428E3C6A}" type="slidenum">
              <a:rPr lang="en-JP" smtClean="0"/>
              <a:t>16</a:t>
            </a:fld>
            <a:endParaRPr lang="en-JP" dirty="0"/>
          </a:p>
        </p:txBody>
      </p:sp>
      <p:pic>
        <p:nvPicPr>
          <p:cNvPr id="5" name="Picture 4">
            <a:extLst>
              <a:ext uri="{FF2B5EF4-FFF2-40B4-BE49-F238E27FC236}">
                <a16:creationId xmlns:a16="http://schemas.microsoft.com/office/drawing/2014/main" id="{FD37DD67-9D7D-4613-0A3F-D72371933ADE}"/>
              </a:ext>
            </a:extLst>
          </p:cNvPr>
          <p:cNvPicPr>
            <a:picLocks noChangeAspect="1"/>
          </p:cNvPicPr>
          <p:nvPr/>
        </p:nvPicPr>
        <p:blipFill>
          <a:blip r:embed="rId2"/>
          <a:stretch>
            <a:fillRect/>
          </a:stretch>
        </p:blipFill>
        <p:spPr>
          <a:xfrm>
            <a:off x="11216465" y="301484"/>
            <a:ext cx="791922" cy="845054"/>
          </a:xfrm>
          <a:prstGeom prst="rect">
            <a:avLst/>
          </a:prstGeom>
        </p:spPr>
      </p:pic>
      <p:sp>
        <p:nvSpPr>
          <p:cNvPr id="8" name="TextBox 7">
            <a:extLst>
              <a:ext uri="{FF2B5EF4-FFF2-40B4-BE49-F238E27FC236}">
                <a16:creationId xmlns:a16="http://schemas.microsoft.com/office/drawing/2014/main" id="{12DFD45A-19A9-F934-5CCC-86F1EFBE3FC9}"/>
              </a:ext>
            </a:extLst>
          </p:cNvPr>
          <p:cNvSpPr txBox="1"/>
          <p:nvPr/>
        </p:nvSpPr>
        <p:spPr>
          <a:xfrm>
            <a:off x="722655" y="539345"/>
            <a:ext cx="6096000" cy="400110"/>
          </a:xfrm>
          <a:prstGeom prst="rect">
            <a:avLst/>
          </a:prstGeom>
          <a:noFill/>
        </p:spPr>
        <p:txBody>
          <a:bodyPr wrap="square">
            <a:spAutoFit/>
          </a:bodyPr>
          <a:lstStyle/>
          <a:p>
            <a:r>
              <a:rPr lang="en-US" sz="2000" dirty="0">
                <a:solidFill>
                  <a:srgbClr val="FF0000"/>
                </a:solidFill>
                <a:latin typeface="Meiryo" panose="020B0604030504040204" pitchFamily="34" charset="-128"/>
                <a:ea typeface="Meiryo" panose="020B0604030504040204" pitchFamily="34" charset="-128"/>
              </a:rPr>
              <a:t>Generative Adversarial Network</a:t>
            </a:r>
            <a:endParaRPr lang="en-JP" sz="2000" dirty="0">
              <a:solidFill>
                <a:srgbClr val="FF0000"/>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43CF2B70-665C-1723-D197-5EB49CC39DC0}"/>
              </a:ext>
            </a:extLst>
          </p:cNvPr>
          <p:cNvSpPr txBox="1"/>
          <p:nvPr/>
        </p:nvSpPr>
        <p:spPr>
          <a:xfrm>
            <a:off x="7260615" y="1357458"/>
            <a:ext cx="4504665" cy="5016758"/>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GAN</a:t>
            </a:r>
            <a:r>
              <a:rPr lang="ja-JP" altLang="en-US" sz="2000">
                <a:latin typeface="Meiryo" panose="020B0604030504040204" pitchFamily="34" charset="-128"/>
                <a:ea typeface="Meiryo" panose="020B0604030504040204" pitchFamily="34" charset="-128"/>
              </a:rPr>
              <a:t>は、</a:t>
            </a:r>
            <a:r>
              <a:rPr lang="en-US" altLang="ja-JP" sz="2000" dirty="0">
                <a:latin typeface="Meiryo" panose="020B0604030504040204" pitchFamily="34" charset="-128"/>
                <a:ea typeface="Meiryo" panose="020B0604030504040204" pitchFamily="34" charset="-128"/>
              </a:rPr>
              <a:t>2014</a:t>
            </a:r>
            <a:r>
              <a:rPr lang="ja-JP" altLang="en-US" sz="2000">
                <a:latin typeface="Meiryo" panose="020B0604030504040204" pitchFamily="34" charset="-128"/>
                <a:ea typeface="Meiryo" panose="020B0604030504040204" pitchFamily="34" charset="-128"/>
              </a:rPr>
              <a:t>年に</a:t>
            </a:r>
            <a:r>
              <a:rPr lang="en-US" sz="2000" dirty="0">
                <a:latin typeface="Meiryo" panose="020B0604030504040204" pitchFamily="34" charset="-128"/>
                <a:ea typeface="Meiryo" panose="020B0604030504040204" pitchFamily="34" charset="-128"/>
              </a:rPr>
              <a:t>Ian Goodfellow</a:t>
            </a:r>
            <a:r>
              <a:rPr lang="ja-JP" altLang="en-US" sz="2000">
                <a:latin typeface="Meiryo" panose="020B0604030504040204" pitchFamily="34" charset="-128"/>
                <a:ea typeface="Meiryo" panose="020B0604030504040204" pitchFamily="34" charset="-128"/>
              </a:rPr>
              <a:t>らによって提案された</a:t>
            </a:r>
            <a:r>
              <a:rPr lang="en-US" altLang="ja-JP" sz="2000" dirty="0">
                <a:latin typeface="Meiryo" panose="020B0604030504040204" pitchFamily="34" charset="-128"/>
                <a:ea typeface="Meiryo" panose="020B0604030504040204" pitchFamily="34" charset="-128"/>
              </a:rPr>
              <a:t>Deep Learning Models</a:t>
            </a:r>
            <a:r>
              <a:rPr lang="ja-JP" altLang="en-US" sz="2000">
                <a:latin typeface="Meiryo" panose="020B0604030504040204" pitchFamily="34" charset="-128"/>
                <a:ea typeface="Meiryo" panose="020B0604030504040204" pitchFamily="34" charset="-128"/>
              </a:rPr>
              <a:t>のいっしゅです。</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基本的には、２つのニューラルネットワークが「競い合う」ことで</a:t>
            </a:r>
            <a:r>
              <a:rPr lang="en-US" altLang="ja-JP" sz="2000" dirty="0">
                <a:latin typeface="Meiryo" panose="020B0604030504040204" pitchFamily="34" charset="-128"/>
                <a:ea typeface="Meiryo" panose="020B0604030504040204" pitchFamily="34" charset="-128"/>
              </a:rPr>
              <a:t>high quality</a:t>
            </a:r>
            <a:r>
              <a:rPr lang="ja-JP" altLang="en-US" sz="2000">
                <a:latin typeface="Meiryo" panose="020B0604030504040204" pitchFamily="34" charset="-128"/>
                <a:ea typeface="Meiryo" panose="020B0604030504040204" pitchFamily="34" charset="-128"/>
              </a:rPr>
              <a:t>なデータを生成する仕組みです。</a:t>
            </a:r>
            <a:endParaRPr lang="mn-MN" altLang="ja-JP" sz="2000" dirty="0">
              <a:latin typeface="Meiryo" panose="020B0604030504040204" pitchFamily="34" charset="-128"/>
              <a:ea typeface="Meiryo" panose="020B0604030504040204" pitchFamily="34" charset="-128"/>
            </a:endParaRPr>
          </a:p>
          <a:p>
            <a:endParaRPr lang="ja-JP" altLang="en-US" sz="20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ジェネレーター（</a:t>
            </a:r>
            <a:r>
              <a:rPr lang="en-US" sz="2000" dirty="0">
                <a:latin typeface="Meiryo" panose="020B0604030504040204" pitchFamily="34" charset="-128"/>
                <a:ea typeface="Meiryo" panose="020B0604030504040204" pitchFamily="34" charset="-128"/>
              </a:rPr>
              <a:t>Generator）</a:t>
            </a:r>
            <a:br>
              <a:rPr lang="en-US" sz="2000" dirty="0">
                <a:latin typeface="Meiryo" panose="020B0604030504040204" pitchFamily="34" charset="-128"/>
                <a:ea typeface="Meiryo" panose="020B0604030504040204" pitchFamily="34" charset="-128"/>
              </a:rPr>
            </a:br>
            <a:r>
              <a:rPr lang="en-US" sz="2000" dirty="0">
                <a:latin typeface="Meiryo" panose="020B0604030504040204" pitchFamily="34" charset="-128"/>
                <a:ea typeface="Meiryo" panose="020B0604030504040204" pitchFamily="34" charset="-128"/>
              </a:rPr>
              <a:t>　→ </a:t>
            </a:r>
            <a:r>
              <a:rPr lang="ja-JP" altLang="en-US" sz="2000">
                <a:latin typeface="Meiryo" panose="020B0604030504040204" pitchFamily="34" charset="-128"/>
                <a:ea typeface="Meiryo" panose="020B0604030504040204" pitchFamily="34" charset="-128"/>
              </a:rPr>
              <a:t>偽のデータ（例：画像など）を作る役割。</a:t>
            </a:r>
            <a:endParaRPr lang="mn-MN" altLang="ja-JP" sz="2000" dirty="0">
              <a:latin typeface="Meiryo" panose="020B0604030504040204" pitchFamily="34" charset="-128"/>
              <a:ea typeface="Meiryo" panose="020B0604030504040204" pitchFamily="34" charset="-128"/>
            </a:endParaRPr>
          </a:p>
          <a:p>
            <a:endParaRPr lang="ja-JP" altLang="en-US" sz="20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ディスクリミネーター（</a:t>
            </a:r>
            <a:r>
              <a:rPr lang="en-US" sz="2000" dirty="0">
                <a:latin typeface="Meiryo" panose="020B0604030504040204" pitchFamily="34" charset="-128"/>
                <a:ea typeface="Meiryo" panose="020B0604030504040204" pitchFamily="34" charset="-128"/>
              </a:rPr>
              <a:t>Discriminator）</a:t>
            </a:r>
            <a:br>
              <a:rPr lang="en-US" sz="2000" dirty="0">
                <a:latin typeface="Meiryo" panose="020B0604030504040204" pitchFamily="34" charset="-128"/>
                <a:ea typeface="Meiryo" panose="020B0604030504040204" pitchFamily="34" charset="-128"/>
              </a:rPr>
            </a:br>
            <a:r>
              <a:rPr lang="en-US" sz="2000" dirty="0">
                <a:latin typeface="Meiryo" panose="020B0604030504040204" pitchFamily="34" charset="-128"/>
                <a:ea typeface="Meiryo" panose="020B0604030504040204" pitchFamily="34" charset="-128"/>
              </a:rPr>
              <a:t>　→ ほんもの</a:t>
            </a:r>
            <a:r>
              <a:rPr lang="ja-JP" altLang="en-US" sz="2000">
                <a:latin typeface="Meiryo" panose="020B0604030504040204" pitchFamily="34" charset="-128"/>
                <a:ea typeface="Meiryo" panose="020B0604030504040204" pitchFamily="34" charset="-128"/>
              </a:rPr>
              <a:t>のデータか偽物のデータかをけんぶんける役割。</a:t>
            </a:r>
          </a:p>
        </p:txBody>
      </p:sp>
      <p:pic>
        <p:nvPicPr>
          <p:cNvPr id="11" name="Picture 10">
            <a:extLst>
              <a:ext uri="{FF2B5EF4-FFF2-40B4-BE49-F238E27FC236}">
                <a16:creationId xmlns:a16="http://schemas.microsoft.com/office/drawing/2014/main" id="{33B84D54-A932-6B25-444A-09C4A734D5B8}"/>
              </a:ext>
            </a:extLst>
          </p:cNvPr>
          <p:cNvPicPr>
            <a:picLocks noChangeAspect="1"/>
          </p:cNvPicPr>
          <p:nvPr/>
        </p:nvPicPr>
        <p:blipFill>
          <a:blip r:embed="rId3"/>
          <a:stretch>
            <a:fillRect/>
          </a:stretch>
        </p:blipFill>
        <p:spPr>
          <a:xfrm>
            <a:off x="0" y="1357458"/>
            <a:ext cx="7260615" cy="5250606"/>
          </a:xfrm>
          <a:prstGeom prst="rect">
            <a:avLst/>
          </a:prstGeom>
        </p:spPr>
      </p:pic>
    </p:spTree>
    <p:extLst>
      <p:ext uri="{BB962C8B-B14F-4D97-AF65-F5344CB8AC3E}">
        <p14:creationId xmlns:p14="http://schemas.microsoft.com/office/powerpoint/2010/main" val="3114411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C3F881-8D9B-8FEB-2B7B-A63BA069F918}"/>
              </a:ext>
            </a:extLst>
          </p:cNvPr>
          <p:cNvSpPr>
            <a:spLocks noGrp="1"/>
          </p:cNvSpPr>
          <p:nvPr>
            <p:ph type="sldNum" sz="quarter" idx="12"/>
          </p:nvPr>
        </p:nvSpPr>
        <p:spPr/>
        <p:txBody>
          <a:bodyPr/>
          <a:lstStyle/>
          <a:p>
            <a:fld id="{25A9D56D-006D-A740-86A3-FD23428E3C6A}" type="slidenum">
              <a:rPr lang="en-JP" smtClean="0"/>
              <a:t>17</a:t>
            </a:fld>
            <a:endParaRPr lang="en-JP" dirty="0"/>
          </a:p>
        </p:txBody>
      </p:sp>
      <p:pic>
        <p:nvPicPr>
          <p:cNvPr id="5" name="Picture 4">
            <a:extLst>
              <a:ext uri="{FF2B5EF4-FFF2-40B4-BE49-F238E27FC236}">
                <a16:creationId xmlns:a16="http://schemas.microsoft.com/office/drawing/2014/main" id="{6994126A-7159-4F0B-47E3-976A949BB05D}"/>
              </a:ext>
            </a:extLst>
          </p:cNvPr>
          <p:cNvPicPr>
            <a:picLocks noChangeAspect="1"/>
          </p:cNvPicPr>
          <p:nvPr/>
        </p:nvPicPr>
        <p:blipFill>
          <a:blip r:embed="rId2"/>
          <a:stretch>
            <a:fillRect/>
          </a:stretch>
        </p:blipFill>
        <p:spPr>
          <a:xfrm>
            <a:off x="11216465" y="301484"/>
            <a:ext cx="791922" cy="845054"/>
          </a:xfrm>
          <a:prstGeom prst="rect">
            <a:avLst/>
          </a:prstGeom>
        </p:spPr>
      </p:pic>
      <p:sp>
        <p:nvSpPr>
          <p:cNvPr id="9" name="TextBox 8">
            <a:extLst>
              <a:ext uri="{FF2B5EF4-FFF2-40B4-BE49-F238E27FC236}">
                <a16:creationId xmlns:a16="http://schemas.microsoft.com/office/drawing/2014/main" id="{7795123E-EB44-1585-DA84-8DA84D421937}"/>
              </a:ext>
            </a:extLst>
          </p:cNvPr>
          <p:cNvSpPr txBox="1"/>
          <p:nvPr/>
        </p:nvSpPr>
        <p:spPr>
          <a:xfrm>
            <a:off x="655320" y="704456"/>
            <a:ext cx="9973056" cy="2677656"/>
          </a:xfrm>
          <a:prstGeom prst="rect">
            <a:avLst/>
          </a:prstGeom>
          <a:noFill/>
        </p:spPr>
        <p:txBody>
          <a:bodyPr wrap="square">
            <a:spAutoFit/>
          </a:bodyPr>
          <a:lstStyle/>
          <a:p>
            <a:r>
              <a:rPr lang="en-US" sz="2400" b="1" dirty="0">
                <a:latin typeface="Meiryo" panose="020B0604030504040204" pitchFamily="34" charset="-128"/>
                <a:ea typeface="Meiryo" panose="020B0604030504040204" pitchFamily="34" charset="-128"/>
              </a:rPr>
              <a:t>Generator</a:t>
            </a:r>
            <a:endParaRPr lang="mn-MN" sz="2400" b="1" dirty="0">
              <a:latin typeface="Meiryo" panose="020B0604030504040204" pitchFamily="34" charset="-128"/>
              <a:ea typeface="Meiryo" panose="020B0604030504040204" pitchFamily="34" charset="-128"/>
            </a:endParaRPr>
          </a:p>
          <a:p>
            <a:endParaRPr lang="en-US"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ジェネレーター（生成器）ネットワークは、</a:t>
            </a:r>
            <a:r>
              <a:rPr lang="en-US" altLang="ja-JP" sz="2400" dirty="0">
                <a:latin typeface="Meiryo" panose="020B0604030504040204" pitchFamily="34" charset="-128"/>
                <a:ea typeface="Meiryo" panose="020B0604030504040204" pitchFamily="34" charset="-128"/>
              </a:rPr>
              <a:t> Random noise</a:t>
            </a:r>
            <a:r>
              <a:rPr lang="ja-JP" altLang="en-US" sz="2400">
                <a:latin typeface="Meiryo" panose="020B0604030504040204" pitchFamily="34" charset="-128"/>
                <a:ea typeface="Meiryo" panose="020B0604030504040204" pitchFamily="34" charset="-128"/>
              </a:rPr>
              <a:t>を入力として受け取り、</a:t>
            </a:r>
            <a:r>
              <a:rPr lang="en-US" altLang="ja-JP" sz="2400" dirty="0">
                <a:latin typeface="Meiryo" panose="020B0604030504040204" pitchFamily="34" charset="-128"/>
                <a:ea typeface="Meiryo" panose="020B0604030504040204" pitchFamily="34" charset="-128"/>
              </a:rPr>
              <a:t>Train</a:t>
            </a:r>
            <a:r>
              <a:rPr lang="ja-JP" altLang="en-US" sz="2400">
                <a:latin typeface="Meiryo" panose="020B0604030504040204" pitchFamily="34" charset="-128"/>
                <a:ea typeface="Meiryo" panose="020B0604030504040204" pitchFamily="34" charset="-128"/>
              </a:rPr>
              <a:t>データににたデータ（例：画像、音声、テキストなど）を生成しようとします。</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その目的は、本物のデータと見分けがつかないほど</a:t>
            </a:r>
            <a:r>
              <a:rPr lang="en-US" altLang="ja-JP" sz="2400" dirty="0">
                <a:latin typeface="Meiryo" panose="020B0604030504040204" pitchFamily="34" charset="-128"/>
                <a:ea typeface="Meiryo" panose="020B0604030504040204" pitchFamily="34" charset="-128"/>
              </a:rPr>
              <a:t>Real</a:t>
            </a:r>
            <a:r>
              <a:rPr lang="ja-JP" altLang="en-US" sz="2400">
                <a:latin typeface="Meiryo" panose="020B0604030504040204" pitchFamily="34" charset="-128"/>
                <a:ea typeface="Meiryo" panose="020B0604030504040204" pitchFamily="34" charset="-128"/>
              </a:rPr>
              <a:t>なサンプルを作り出すことです。</a:t>
            </a:r>
          </a:p>
        </p:txBody>
      </p:sp>
      <p:pic>
        <p:nvPicPr>
          <p:cNvPr id="10" name="Picture 9">
            <a:extLst>
              <a:ext uri="{FF2B5EF4-FFF2-40B4-BE49-F238E27FC236}">
                <a16:creationId xmlns:a16="http://schemas.microsoft.com/office/drawing/2014/main" id="{ED1B398E-DC0A-DD6E-8E72-74620B8C8511}"/>
              </a:ext>
            </a:extLst>
          </p:cNvPr>
          <p:cNvPicPr>
            <a:picLocks noChangeAspect="1"/>
          </p:cNvPicPr>
          <p:nvPr/>
        </p:nvPicPr>
        <p:blipFill>
          <a:blip r:embed="rId3"/>
          <a:stretch>
            <a:fillRect/>
          </a:stretch>
        </p:blipFill>
        <p:spPr>
          <a:xfrm>
            <a:off x="655320" y="3938969"/>
            <a:ext cx="10098024" cy="1981200"/>
          </a:xfrm>
          <a:prstGeom prst="rect">
            <a:avLst/>
          </a:prstGeom>
        </p:spPr>
      </p:pic>
    </p:spTree>
    <p:extLst>
      <p:ext uri="{BB962C8B-B14F-4D97-AF65-F5344CB8AC3E}">
        <p14:creationId xmlns:p14="http://schemas.microsoft.com/office/powerpoint/2010/main" val="2039456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E50863-A2AF-9345-DE1C-D63E67FE0248}"/>
              </a:ext>
            </a:extLst>
          </p:cNvPr>
          <p:cNvSpPr>
            <a:spLocks noGrp="1"/>
          </p:cNvSpPr>
          <p:nvPr>
            <p:ph type="sldNum" sz="quarter" idx="12"/>
          </p:nvPr>
        </p:nvSpPr>
        <p:spPr/>
        <p:txBody>
          <a:bodyPr/>
          <a:lstStyle/>
          <a:p>
            <a:fld id="{25A9D56D-006D-A740-86A3-FD23428E3C6A}" type="slidenum">
              <a:rPr lang="en-JP" smtClean="0"/>
              <a:t>18</a:t>
            </a:fld>
            <a:endParaRPr lang="en-JP" dirty="0"/>
          </a:p>
        </p:txBody>
      </p:sp>
      <p:pic>
        <p:nvPicPr>
          <p:cNvPr id="5" name="Picture 4">
            <a:extLst>
              <a:ext uri="{FF2B5EF4-FFF2-40B4-BE49-F238E27FC236}">
                <a16:creationId xmlns:a16="http://schemas.microsoft.com/office/drawing/2014/main" id="{060FED66-6021-5D80-6256-2F46B80F90BC}"/>
              </a:ext>
            </a:extLst>
          </p:cNvPr>
          <p:cNvPicPr>
            <a:picLocks noChangeAspect="1"/>
          </p:cNvPicPr>
          <p:nvPr/>
        </p:nvPicPr>
        <p:blipFill>
          <a:blip r:embed="rId2"/>
          <a:stretch>
            <a:fillRect/>
          </a:stretch>
        </p:blipFill>
        <p:spPr>
          <a:xfrm>
            <a:off x="11216465" y="301484"/>
            <a:ext cx="791922" cy="845054"/>
          </a:xfrm>
          <a:prstGeom prst="rect">
            <a:avLst/>
          </a:prstGeom>
        </p:spPr>
      </p:pic>
      <p:pic>
        <p:nvPicPr>
          <p:cNvPr id="6" name="Picture 5">
            <a:extLst>
              <a:ext uri="{FF2B5EF4-FFF2-40B4-BE49-F238E27FC236}">
                <a16:creationId xmlns:a16="http://schemas.microsoft.com/office/drawing/2014/main" id="{5EBCA1EB-5533-A9F7-91F6-27A692603E18}"/>
              </a:ext>
            </a:extLst>
          </p:cNvPr>
          <p:cNvPicPr>
            <a:picLocks noChangeAspect="1"/>
          </p:cNvPicPr>
          <p:nvPr/>
        </p:nvPicPr>
        <p:blipFill>
          <a:blip r:embed="rId3"/>
          <a:stretch>
            <a:fillRect/>
          </a:stretch>
        </p:blipFill>
        <p:spPr>
          <a:xfrm>
            <a:off x="609600" y="2707561"/>
            <a:ext cx="9863328" cy="3404237"/>
          </a:xfrm>
          <a:prstGeom prst="rect">
            <a:avLst/>
          </a:prstGeom>
        </p:spPr>
      </p:pic>
      <p:sp>
        <p:nvSpPr>
          <p:cNvPr id="8" name="TextBox 7">
            <a:extLst>
              <a:ext uri="{FF2B5EF4-FFF2-40B4-BE49-F238E27FC236}">
                <a16:creationId xmlns:a16="http://schemas.microsoft.com/office/drawing/2014/main" id="{6E9B6E7A-BBCF-51C7-5004-E2A706BD4F6D}"/>
              </a:ext>
            </a:extLst>
          </p:cNvPr>
          <p:cNvSpPr txBox="1"/>
          <p:nvPr/>
        </p:nvSpPr>
        <p:spPr>
          <a:xfrm>
            <a:off x="838200" y="585572"/>
            <a:ext cx="9829800" cy="1877437"/>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Discriminator</a:t>
            </a:r>
            <a:endParaRPr lang="mn-MN" b="1" dirty="0">
              <a:latin typeface="Meiryo" panose="020B0604030504040204" pitchFamily="34" charset="-128"/>
              <a:ea typeface="Meiryo" panose="020B0604030504040204" pitchFamily="34" charset="-128"/>
            </a:endParaRPr>
          </a:p>
          <a:p>
            <a:endParaRPr lang="en-US" dirty="0"/>
          </a:p>
          <a:p>
            <a:r>
              <a:rPr lang="ja-JP" altLang="en-US" sz="2000">
                <a:latin typeface="Meiryo" panose="020B0604030504040204" pitchFamily="34" charset="-128"/>
                <a:ea typeface="Meiryo" panose="020B0604030504040204" pitchFamily="34" charset="-128"/>
              </a:rPr>
              <a:t>一方、ディスクリミネーター（識別器）ネットワークは、</a:t>
            </a:r>
            <a:r>
              <a:rPr lang="en-US" altLang="ja-JP" sz="2000" dirty="0">
                <a:latin typeface="Meiryo" panose="020B0604030504040204" pitchFamily="34" charset="-128"/>
                <a:ea typeface="Meiryo" panose="020B0604030504040204" pitchFamily="34" charset="-128"/>
              </a:rPr>
              <a:t>train</a:t>
            </a:r>
            <a:r>
              <a:rPr lang="ja-JP" altLang="en-US" sz="2000">
                <a:latin typeface="Meiryo" panose="020B0604030504040204" pitchFamily="34" charset="-128"/>
                <a:ea typeface="Meiryo" panose="020B0604030504040204" pitchFamily="34" charset="-128"/>
              </a:rPr>
              <a:t>データからの本物のデータと、</a:t>
            </a:r>
            <a:r>
              <a:rPr lang="en-US" altLang="ja-JP" sz="2000" dirty="0">
                <a:latin typeface="Meiryo" panose="020B0604030504040204" pitchFamily="34" charset="-128"/>
                <a:ea typeface="Meiryo" panose="020B0604030504040204" pitchFamily="34" charset="-128"/>
              </a:rPr>
              <a:t> Generator</a:t>
            </a:r>
            <a:r>
              <a:rPr lang="ja-JP" altLang="en-US" sz="2000">
                <a:latin typeface="Meiryo" panose="020B0604030504040204" pitchFamily="34" charset="-128"/>
                <a:ea typeface="Meiryo" panose="020B0604030504040204" pitchFamily="34" charset="-128"/>
              </a:rPr>
              <a:t>によって生成された偽物のデータを区別することを学習する分類器として機能します。</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その目的は、本物と偽物のサンプルを正確に分類することです。</a:t>
            </a:r>
          </a:p>
        </p:txBody>
      </p:sp>
      <p:sp>
        <p:nvSpPr>
          <p:cNvPr id="10" name="TextBox 9">
            <a:extLst>
              <a:ext uri="{FF2B5EF4-FFF2-40B4-BE49-F238E27FC236}">
                <a16:creationId xmlns:a16="http://schemas.microsoft.com/office/drawing/2014/main" id="{52C70573-F5A7-CE7A-B81F-A1EEF747796A}"/>
              </a:ext>
            </a:extLst>
          </p:cNvPr>
          <p:cNvSpPr txBox="1"/>
          <p:nvPr/>
        </p:nvSpPr>
        <p:spPr>
          <a:xfrm>
            <a:off x="243840" y="6174053"/>
            <a:ext cx="7949184" cy="369332"/>
          </a:xfrm>
          <a:prstGeom prst="rect">
            <a:avLst/>
          </a:prstGeom>
          <a:noFill/>
        </p:spPr>
        <p:txBody>
          <a:bodyPr wrap="square">
            <a:spAutoFit/>
          </a:bodyPr>
          <a:lstStyle/>
          <a:p>
            <a:r>
              <a:rPr lang="en-JP" dirty="0"/>
              <a:t>https://www.toptal.com/machine-learning/generative-adversarial-networks</a:t>
            </a:r>
          </a:p>
        </p:txBody>
      </p:sp>
    </p:spTree>
    <p:extLst>
      <p:ext uri="{BB962C8B-B14F-4D97-AF65-F5344CB8AC3E}">
        <p14:creationId xmlns:p14="http://schemas.microsoft.com/office/powerpoint/2010/main" val="3105037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227847-609E-83EC-6784-51DA534B6CB5}"/>
              </a:ext>
            </a:extLst>
          </p:cNvPr>
          <p:cNvSpPr>
            <a:spLocks noGrp="1"/>
          </p:cNvSpPr>
          <p:nvPr>
            <p:ph type="sldNum" sz="quarter" idx="12"/>
          </p:nvPr>
        </p:nvSpPr>
        <p:spPr>
          <a:xfrm>
            <a:off x="8610600" y="6356350"/>
            <a:ext cx="2743200" cy="365125"/>
          </a:xfrm>
        </p:spPr>
        <p:txBody>
          <a:bodyPr/>
          <a:lstStyle/>
          <a:p>
            <a:fld id="{25A9D56D-006D-A740-86A3-FD23428E3C6A}" type="slidenum">
              <a:rPr lang="en-JP" smtClean="0"/>
              <a:pPr/>
              <a:t>19</a:t>
            </a:fld>
            <a:endParaRPr lang="en-JP" dirty="0"/>
          </a:p>
        </p:txBody>
      </p:sp>
      <p:pic>
        <p:nvPicPr>
          <p:cNvPr id="6" name="Picture 5">
            <a:extLst>
              <a:ext uri="{FF2B5EF4-FFF2-40B4-BE49-F238E27FC236}">
                <a16:creationId xmlns:a16="http://schemas.microsoft.com/office/drawing/2014/main" id="{0482F5FE-87CE-9AB3-68DD-308645B83B54}"/>
              </a:ext>
            </a:extLst>
          </p:cNvPr>
          <p:cNvPicPr>
            <a:picLocks noChangeAspect="1"/>
          </p:cNvPicPr>
          <p:nvPr/>
        </p:nvPicPr>
        <p:blipFill>
          <a:blip r:embed="rId2"/>
          <a:stretch>
            <a:fillRect/>
          </a:stretch>
        </p:blipFill>
        <p:spPr>
          <a:xfrm>
            <a:off x="11216465" y="301484"/>
            <a:ext cx="791922" cy="845054"/>
          </a:xfrm>
          <a:prstGeom prst="rect">
            <a:avLst/>
          </a:prstGeom>
        </p:spPr>
      </p:pic>
      <p:sp>
        <p:nvSpPr>
          <p:cNvPr id="10" name="TextBox 9">
            <a:extLst>
              <a:ext uri="{FF2B5EF4-FFF2-40B4-BE49-F238E27FC236}">
                <a16:creationId xmlns:a16="http://schemas.microsoft.com/office/drawing/2014/main" id="{7068D2D9-F00A-F470-FE03-AD03343347D1}"/>
              </a:ext>
            </a:extLst>
          </p:cNvPr>
          <p:cNvSpPr txBox="1"/>
          <p:nvPr/>
        </p:nvSpPr>
        <p:spPr>
          <a:xfrm>
            <a:off x="183613" y="226919"/>
            <a:ext cx="7156704" cy="400110"/>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GAN</a:t>
            </a:r>
            <a:r>
              <a:rPr lang="ja-JP" altLang="en-US" sz="2000">
                <a:latin typeface="Meiryo" panose="020B0604030504040204" pitchFamily="34" charset="-128"/>
                <a:ea typeface="Meiryo" panose="020B0604030504040204" pitchFamily="34" charset="-128"/>
              </a:rPr>
              <a:t>を異常検知にどのように活用する</a:t>
            </a:r>
            <a:endParaRPr lang="en-JP" sz="2000" dirty="0">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F1989BB6-8F72-99AB-CFB3-C52647B78882}"/>
              </a:ext>
            </a:extLst>
          </p:cNvPr>
          <p:cNvSpPr/>
          <p:nvPr/>
        </p:nvSpPr>
        <p:spPr>
          <a:xfrm>
            <a:off x="2987040" y="934212"/>
            <a:ext cx="6888480" cy="215036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ja-JP" altLang="en-US" sz="2000">
                <a:latin typeface="Meiryo" panose="020B0604030504040204" pitchFamily="34" charset="-128"/>
                <a:ea typeface="Meiryo" panose="020B0604030504040204" pitchFamily="34" charset="-128"/>
              </a:rPr>
              <a:t>異常検知とは、システムにおける通常とは異なる動作やデータ、攻撃などを検出することを意味します。</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例としては、ネットワーク攻撃や機器の故障などが挙げられます</a:t>
            </a:r>
            <a:endParaRPr lang="en-JP" sz="2000" dirty="0">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FDADBB85-5548-675C-5AE4-E9218BF328CC}"/>
              </a:ext>
            </a:extLst>
          </p:cNvPr>
          <p:cNvSpPr/>
          <p:nvPr/>
        </p:nvSpPr>
        <p:spPr>
          <a:xfrm>
            <a:off x="1975104" y="3429000"/>
            <a:ext cx="4120896" cy="277672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ja-JP" altLang="en-US" sz="2000" b="1">
                <a:latin typeface="Meiryo" panose="020B0604030504040204" pitchFamily="34" charset="-128"/>
                <a:ea typeface="Meiryo" panose="020B0604030504040204" pitchFamily="34" charset="-128"/>
              </a:rPr>
              <a:t>正常データでの学習</a:t>
            </a:r>
          </a:p>
          <a:p>
            <a:r>
              <a:rPr lang="ja-JP" altLang="en-US" sz="2000">
                <a:latin typeface="Meiryo" panose="020B0604030504040204" pitchFamily="34" charset="-128"/>
                <a:ea typeface="Meiryo" panose="020B0604030504040204" pitchFamily="34" charset="-128"/>
              </a:rPr>
              <a:t>ジェネレーターは、正常なデータを正確に再現（再構成）しようとします。</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ディスクリミネーターは、ジェネレーターが生成したデータを実際の正常データと区別できるように学習します。</a:t>
            </a:r>
          </a:p>
        </p:txBody>
      </p:sp>
      <p:sp>
        <p:nvSpPr>
          <p:cNvPr id="16" name="Rounded Rectangle 15">
            <a:extLst>
              <a:ext uri="{FF2B5EF4-FFF2-40B4-BE49-F238E27FC236}">
                <a16:creationId xmlns:a16="http://schemas.microsoft.com/office/drawing/2014/main" id="{570E11D8-B551-1C47-3073-187ADB7BD5E4}"/>
              </a:ext>
            </a:extLst>
          </p:cNvPr>
          <p:cNvSpPr/>
          <p:nvPr/>
        </p:nvSpPr>
        <p:spPr>
          <a:xfrm>
            <a:off x="6687312" y="3429000"/>
            <a:ext cx="4120896" cy="277672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ja-JP" altLang="en-US" sz="2000" b="1">
                <a:latin typeface="Meiryo" panose="020B0604030504040204" pitchFamily="34" charset="-128"/>
                <a:ea typeface="Meiryo" panose="020B0604030504040204" pitchFamily="34" charset="-128"/>
              </a:rPr>
              <a:t>新しいデータの評価</a:t>
            </a:r>
          </a:p>
          <a:p>
            <a:r>
              <a:rPr lang="ja-JP" altLang="en-US" sz="2000">
                <a:latin typeface="Meiryo" panose="020B0604030504040204" pitchFamily="34" charset="-128"/>
                <a:ea typeface="Meiryo" panose="020B0604030504040204" pitchFamily="34" charset="-128"/>
              </a:rPr>
              <a:t>もし新しく入力されたデータをジェネレーターが正確に再構成できない、つまり再現誤差が大きい場合、そのデータは異常（アノマリー）である可能性があります。</a:t>
            </a:r>
          </a:p>
        </p:txBody>
      </p:sp>
    </p:spTree>
    <p:extLst>
      <p:ext uri="{BB962C8B-B14F-4D97-AF65-F5344CB8AC3E}">
        <p14:creationId xmlns:p14="http://schemas.microsoft.com/office/powerpoint/2010/main" val="2213937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454C97-E629-4D60-59AC-5104A3AB7A6C}"/>
              </a:ext>
            </a:extLst>
          </p:cNvPr>
          <p:cNvSpPr>
            <a:spLocks noGrp="1"/>
          </p:cNvSpPr>
          <p:nvPr>
            <p:ph type="sldNum" sz="quarter" idx="12"/>
          </p:nvPr>
        </p:nvSpPr>
        <p:spPr/>
        <p:txBody>
          <a:bodyPr/>
          <a:lstStyle/>
          <a:p>
            <a:fld id="{25A9D56D-006D-A740-86A3-FD23428E3C6A}" type="slidenum">
              <a:rPr lang="en-JP" smtClean="0"/>
              <a:t>20</a:t>
            </a:fld>
            <a:endParaRPr lang="en-JP" dirty="0"/>
          </a:p>
        </p:txBody>
      </p:sp>
      <p:sp>
        <p:nvSpPr>
          <p:cNvPr id="5" name="Slide Number Placeholder 3">
            <a:extLst>
              <a:ext uri="{FF2B5EF4-FFF2-40B4-BE49-F238E27FC236}">
                <a16:creationId xmlns:a16="http://schemas.microsoft.com/office/drawing/2014/main" id="{870AB1B6-1244-551C-27EF-E01EC4C7DA82}"/>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JP"/>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5A9D56D-006D-A740-86A3-FD23428E3C6A}" type="slidenum">
              <a:rPr lang="en-JP" smtClean="0"/>
              <a:pPr/>
              <a:t>20</a:t>
            </a:fld>
            <a:endParaRPr lang="en-JP" dirty="0"/>
          </a:p>
        </p:txBody>
      </p:sp>
      <p:sp>
        <p:nvSpPr>
          <p:cNvPr id="6" name="TextBox 5">
            <a:extLst>
              <a:ext uri="{FF2B5EF4-FFF2-40B4-BE49-F238E27FC236}">
                <a16:creationId xmlns:a16="http://schemas.microsoft.com/office/drawing/2014/main" id="{FBF3F48E-9B79-7A75-D324-E6FD8F23EFF3}"/>
              </a:ext>
            </a:extLst>
          </p:cNvPr>
          <p:cNvSpPr txBox="1"/>
          <p:nvPr/>
        </p:nvSpPr>
        <p:spPr>
          <a:xfrm>
            <a:off x="1857261" y="959374"/>
            <a:ext cx="6097836" cy="646331"/>
          </a:xfrm>
          <a:prstGeom prst="rect">
            <a:avLst/>
          </a:prstGeom>
          <a:noFill/>
        </p:spPr>
        <p:txBody>
          <a:bodyPr wrap="square">
            <a:spAutoFit/>
          </a:bodyPr>
          <a:lstStyle/>
          <a:p>
            <a:r>
              <a:rPr lang="ja-JP" altLang="en-US" sz="3600">
                <a:effectLst/>
                <a:latin typeface="Meiryo" panose="020B0604030504040204" pitchFamily="34" charset="-128"/>
                <a:ea typeface="Meiryo" panose="020B0604030504040204" pitchFamily="34" charset="-128"/>
              </a:rPr>
              <a:t>目次 </a:t>
            </a:r>
            <a:endParaRPr lang="ja-JP" altLang="en-US" sz="3600">
              <a:effectLst/>
            </a:endParaRPr>
          </a:p>
        </p:txBody>
      </p:sp>
      <p:sp>
        <p:nvSpPr>
          <p:cNvPr id="7" name="TextBox 6">
            <a:extLst>
              <a:ext uri="{FF2B5EF4-FFF2-40B4-BE49-F238E27FC236}">
                <a16:creationId xmlns:a16="http://schemas.microsoft.com/office/drawing/2014/main" id="{F7E13B8A-0A62-D15B-C795-8C946C3D2ADC}"/>
              </a:ext>
            </a:extLst>
          </p:cNvPr>
          <p:cNvSpPr txBox="1"/>
          <p:nvPr/>
        </p:nvSpPr>
        <p:spPr>
          <a:xfrm>
            <a:off x="1416586" y="2027908"/>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異常検知とは</a:t>
            </a:r>
            <a:endParaRPr lang="en-JP" sz="3200" dirty="0"/>
          </a:p>
        </p:txBody>
      </p:sp>
      <p:sp>
        <p:nvSpPr>
          <p:cNvPr id="8" name="TextBox 7">
            <a:extLst>
              <a:ext uri="{FF2B5EF4-FFF2-40B4-BE49-F238E27FC236}">
                <a16:creationId xmlns:a16="http://schemas.microsoft.com/office/drawing/2014/main" id="{2457CF02-BEB4-F940-A0F4-ED722F08A5DA}"/>
              </a:ext>
            </a:extLst>
          </p:cNvPr>
          <p:cNvSpPr txBox="1"/>
          <p:nvPr/>
        </p:nvSpPr>
        <p:spPr>
          <a:xfrm>
            <a:off x="1416586" y="3535537"/>
            <a:ext cx="6097836" cy="58477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Meiryo" panose="020B0604030504040204" pitchFamily="34" charset="-128"/>
                <a:ea typeface="Meiryo" panose="020B0604030504040204" pitchFamily="34" charset="-128"/>
              </a:rPr>
              <a:t>VAEとは</a:t>
            </a:r>
            <a:endParaRPr lang="en-JP" sz="3200" dirty="0"/>
          </a:p>
        </p:txBody>
      </p:sp>
      <p:sp>
        <p:nvSpPr>
          <p:cNvPr id="9" name="TextBox 8">
            <a:extLst>
              <a:ext uri="{FF2B5EF4-FFF2-40B4-BE49-F238E27FC236}">
                <a16:creationId xmlns:a16="http://schemas.microsoft.com/office/drawing/2014/main" id="{70C34C3A-C552-F0E4-EB45-A9F9F279B9C7}"/>
              </a:ext>
            </a:extLst>
          </p:cNvPr>
          <p:cNvSpPr txBox="1"/>
          <p:nvPr/>
        </p:nvSpPr>
        <p:spPr>
          <a:xfrm>
            <a:off x="1416586" y="4204436"/>
            <a:ext cx="6097836" cy="58477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Meiryo" panose="020B0604030504040204" pitchFamily="34" charset="-128"/>
                <a:ea typeface="Meiryo" panose="020B0604030504040204" pitchFamily="34" charset="-128"/>
              </a:rPr>
              <a:t>GANとは</a:t>
            </a:r>
            <a:endParaRPr lang="en-JP" sz="3200"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9A0257E9-5B78-125B-9D43-14FCE07D8D04}"/>
              </a:ext>
            </a:extLst>
          </p:cNvPr>
          <p:cNvSpPr txBox="1"/>
          <p:nvPr/>
        </p:nvSpPr>
        <p:spPr>
          <a:xfrm>
            <a:off x="1416586" y="2824413"/>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異常検知の手法</a:t>
            </a:r>
            <a:endParaRPr lang="en-JP" sz="32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B2565FEC-7E67-E6E3-20F8-D5082BD1239A}"/>
              </a:ext>
            </a:extLst>
          </p:cNvPr>
          <p:cNvSpPr txBox="1"/>
          <p:nvPr/>
        </p:nvSpPr>
        <p:spPr>
          <a:xfrm>
            <a:off x="1416586" y="4837593"/>
            <a:ext cx="6097836" cy="584775"/>
          </a:xfrm>
          <a:prstGeom prst="rect">
            <a:avLst/>
          </a:prstGeom>
          <a:noFill/>
        </p:spPr>
        <p:txBody>
          <a:bodyPr wrap="square">
            <a:spAutoFit/>
          </a:bodyPr>
          <a:lstStyle/>
          <a:p>
            <a:pPr marL="285750" indent="-285750">
              <a:buFont typeface="Arial" panose="020B0604020202020204" pitchFamily="34" charset="0"/>
              <a:buChar char="•"/>
            </a:pPr>
            <a:r>
              <a:rPr lang="en-US" sz="3200" dirty="0">
                <a:solidFill>
                  <a:srgbClr val="FF0000"/>
                </a:solidFill>
                <a:latin typeface="Meiryo" panose="020B0604030504040204" pitchFamily="34" charset="-128"/>
                <a:ea typeface="Meiryo" panose="020B0604030504040204" pitchFamily="34" charset="-128"/>
              </a:rPr>
              <a:t>VAE・GAN</a:t>
            </a:r>
            <a:r>
              <a:rPr lang="ja-JP" altLang="en-US" sz="3200">
                <a:solidFill>
                  <a:srgbClr val="FF0000"/>
                </a:solidFill>
                <a:latin typeface="Meiryo" panose="020B0604030504040204" pitchFamily="34" charset="-128"/>
                <a:ea typeface="Meiryo" panose="020B0604030504040204" pitchFamily="34" charset="-128"/>
              </a:rPr>
              <a:t>による異常検知</a:t>
            </a:r>
            <a:endParaRPr lang="en-JP" sz="3200" dirty="0">
              <a:solidFill>
                <a:srgbClr val="FF0000"/>
              </a:solidFill>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8070C8C5-B834-F4F8-BFA1-265356A1E898}"/>
              </a:ext>
            </a:extLst>
          </p:cNvPr>
          <p:cNvSpPr txBox="1"/>
          <p:nvPr/>
        </p:nvSpPr>
        <p:spPr>
          <a:xfrm>
            <a:off x="1416586" y="5611539"/>
            <a:ext cx="6097836"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まとめ</a:t>
            </a:r>
            <a:endParaRPr lang="en-JP" sz="3200" dirty="0">
              <a:latin typeface="Meiryo" panose="020B0604030504040204" pitchFamily="34" charset="-128"/>
              <a:ea typeface="Meiryo" panose="020B0604030504040204" pitchFamily="34" charset="-128"/>
            </a:endParaRPr>
          </a:p>
        </p:txBody>
      </p:sp>
      <p:pic>
        <p:nvPicPr>
          <p:cNvPr id="13" name="Picture 12">
            <a:extLst>
              <a:ext uri="{FF2B5EF4-FFF2-40B4-BE49-F238E27FC236}">
                <a16:creationId xmlns:a16="http://schemas.microsoft.com/office/drawing/2014/main" id="{AA5A93BC-4D70-323C-50FE-0B238E897A52}"/>
              </a:ext>
            </a:extLst>
          </p:cNvPr>
          <p:cNvPicPr>
            <a:picLocks noChangeAspect="1"/>
          </p:cNvPicPr>
          <p:nvPr/>
        </p:nvPicPr>
        <p:blipFill>
          <a:blip r:embed="rId2"/>
          <a:stretch>
            <a:fillRect/>
          </a:stretch>
        </p:blipFill>
        <p:spPr>
          <a:xfrm>
            <a:off x="11368865" y="453884"/>
            <a:ext cx="791922" cy="845054"/>
          </a:xfrm>
          <a:prstGeom prst="rect">
            <a:avLst/>
          </a:prstGeom>
        </p:spPr>
      </p:pic>
      <p:sp>
        <p:nvSpPr>
          <p:cNvPr id="14" name="Slide Number Placeholder 18">
            <a:extLst>
              <a:ext uri="{FF2B5EF4-FFF2-40B4-BE49-F238E27FC236}">
                <a16:creationId xmlns:a16="http://schemas.microsoft.com/office/drawing/2014/main" id="{28F7F6F9-7BF6-4738-DAE9-0E6F39BE9869}"/>
              </a:ext>
            </a:extLst>
          </p:cNvPr>
          <p:cNvSpPr txBox="1">
            <a:spLocks/>
          </p:cNvSpPr>
          <p:nvPr/>
        </p:nvSpPr>
        <p:spPr>
          <a:xfrm>
            <a:off x="8763000" y="6508750"/>
            <a:ext cx="2743200" cy="365125"/>
          </a:xfrm>
          <a:prstGeom prst="rect">
            <a:avLst/>
          </a:prstGeom>
        </p:spPr>
        <p:txBody>
          <a:bodyPr vert="horz" lIns="91440" tIns="45720" rIns="91440" bIns="45720" rtlCol="0" anchor="ctr"/>
          <a:lstStyle>
            <a:defPPr>
              <a:defRPr lang="en-JP"/>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5A9D56D-006D-A740-86A3-FD23428E3C6A}" type="slidenum">
              <a:rPr lang="en-JP" smtClean="0"/>
              <a:pPr/>
              <a:t>20</a:t>
            </a:fld>
            <a:endParaRPr lang="en-JP"/>
          </a:p>
        </p:txBody>
      </p:sp>
    </p:spTree>
    <p:extLst>
      <p:ext uri="{BB962C8B-B14F-4D97-AF65-F5344CB8AC3E}">
        <p14:creationId xmlns:p14="http://schemas.microsoft.com/office/powerpoint/2010/main" val="1906916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5BDDE3-2F7C-946D-2520-3628920D84D1}"/>
              </a:ext>
            </a:extLst>
          </p:cNvPr>
          <p:cNvSpPr>
            <a:spLocks noGrp="1"/>
          </p:cNvSpPr>
          <p:nvPr>
            <p:ph type="sldNum" sz="quarter" idx="12"/>
          </p:nvPr>
        </p:nvSpPr>
        <p:spPr/>
        <p:txBody>
          <a:bodyPr/>
          <a:lstStyle/>
          <a:p>
            <a:fld id="{25A9D56D-006D-A740-86A3-FD23428E3C6A}" type="slidenum">
              <a:rPr lang="en-JP" smtClean="0"/>
              <a:t>21</a:t>
            </a:fld>
            <a:endParaRPr lang="en-JP" dirty="0"/>
          </a:p>
        </p:txBody>
      </p:sp>
      <p:pic>
        <p:nvPicPr>
          <p:cNvPr id="5" name="Picture 4">
            <a:extLst>
              <a:ext uri="{FF2B5EF4-FFF2-40B4-BE49-F238E27FC236}">
                <a16:creationId xmlns:a16="http://schemas.microsoft.com/office/drawing/2014/main" id="{A62242DD-295C-8C81-CADB-AC0F9EA14417}"/>
              </a:ext>
            </a:extLst>
          </p:cNvPr>
          <p:cNvPicPr>
            <a:picLocks noChangeAspect="1"/>
          </p:cNvPicPr>
          <p:nvPr/>
        </p:nvPicPr>
        <p:blipFill>
          <a:blip r:embed="rId2"/>
          <a:stretch>
            <a:fillRect/>
          </a:stretch>
        </p:blipFill>
        <p:spPr>
          <a:xfrm>
            <a:off x="11216465" y="301484"/>
            <a:ext cx="791922" cy="845054"/>
          </a:xfrm>
          <a:prstGeom prst="rect">
            <a:avLst/>
          </a:prstGeom>
        </p:spPr>
      </p:pic>
      <p:pic>
        <p:nvPicPr>
          <p:cNvPr id="6" name="Picture 5">
            <a:extLst>
              <a:ext uri="{FF2B5EF4-FFF2-40B4-BE49-F238E27FC236}">
                <a16:creationId xmlns:a16="http://schemas.microsoft.com/office/drawing/2014/main" id="{9CA80CA0-FA2B-AEE8-408C-96AB369BC6F8}"/>
              </a:ext>
            </a:extLst>
          </p:cNvPr>
          <p:cNvPicPr>
            <a:picLocks noChangeAspect="1"/>
          </p:cNvPicPr>
          <p:nvPr/>
        </p:nvPicPr>
        <p:blipFill>
          <a:blip r:embed="rId3"/>
          <a:stretch>
            <a:fillRect/>
          </a:stretch>
        </p:blipFill>
        <p:spPr>
          <a:xfrm>
            <a:off x="0" y="1288186"/>
            <a:ext cx="7772400" cy="4799622"/>
          </a:xfrm>
          <a:prstGeom prst="rect">
            <a:avLst/>
          </a:prstGeom>
        </p:spPr>
      </p:pic>
      <p:sp>
        <p:nvSpPr>
          <p:cNvPr id="8" name="TextBox 7">
            <a:extLst>
              <a:ext uri="{FF2B5EF4-FFF2-40B4-BE49-F238E27FC236}">
                <a16:creationId xmlns:a16="http://schemas.microsoft.com/office/drawing/2014/main" id="{11241F8D-BD8C-A82E-C2EF-AF25AD68F22D}"/>
              </a:ext>
            </a:extLst>
          </p:cNvPr>
          <p:cNvSpPr txBox="1"/>
          <p:nvPr/>
        </p:nvSpPr>
        <p:spPr>
          <a:xfrm>
            <a:off x="8210683" y="1843950"/>
            <a:ext cx="3401743" cy="3170099"/>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これらの図は、</a:t>
            </a:r>
            <a:r>
              <a:rPr lang="en-US" sz="2000" dirty="0">
                <a:latin typeface="Meiryo" panose="020B0604030504040204" pitchFamily="34" charset="-128"/>
                <a:ea typeface="Meiryo" panose="020B0604030504040204" pitchFamily="34" charset="-128"/>
              </a:rPr>
              <a:t>GAN</a:t>
            </a:r>
            <a:r>
              <a:rPr lang="ja-JP" altLang="en-US" sz="2000">
                <a:latin typeface="Meiryo" panose="020B0604030504040204" pitchFamily="34" charset="-128"/>
                <a:ea typeface="Meiryo" panose="020B0604030504040204" pitchFamily="34" charset="-128"/>
              </a:rPr>
              <a:t>を用いた視覚的異常検知の基本的な構造を示しています。</a:t>
            </a:r>
            <a:endParaRPr lang="mn-MN" altLang="ja-JP" sz="2000" dirty="0">
              <a:latin typeface="Meiryo" panose="020B0604030504040204" pitchFamily="34" charset="-128"/>
              <a:ea typeface="Meiryo" panose="020B0604030504040204" pitchFamily="34" charset="-128"/>
            </a:endParaRPr>
          </a:p>
          <a:p>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まず、正常データの特徴を学習し、潜在空間から類似する画像を再構成します。</a:t>
            </a:r>
            <a:endParaRPr lang="mn-MN" altLang="ja-JP" sz="2000" dirty="0">
              <a:latin typeface="Meiryo" panose="020B0604030504040204" pitchFamily="34" charset="-128"/>
              <a:ea typeface="Meiryo" panose="020B0604030504040204" pitchFamily="34" charset="-128"/>
            </a:endParaRPr>
          </a:p>
          <a:p>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その後、再構成誤差を計算し、異常を検出します。</a:t>
            </a:r>
            <a:endParaRPr lang="en-JP" sz="2000"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4A8CA4EF-1D32-0408-B23A-13F5D4B77E0C}"/>
              </a:ext>
            </a:extLst>
          </p:cNvPr>
          <p:cNvSpPr txBox="1"/>
          <p:nvPr/>
        </p:nvSpPr>
        <p:spPr>
          <a:xfrm>
            <a:off x="682752" y="323901"/>
            <a:ext cx="6096000" cy="400110"/>
          </a:xfrm>
          <a:prstGeom prst="rect">
            <a:avLst/>
          </a:prstGeom>
          <a:noFill/>
        </p:spPr>
        <p:txBody>
          <a:bodyPr wrap="square">
            <a:spAutoFit/>
          </a:bodyPr>
          <a:lstStyle/>
          <a:p>
            <a:r>
              <a:rPr lang="en-US" sz="2000" b="1" dirty="0">
                <a:latin typeface="Meiryo" panose="020B0604030504040204" pitchFamily="34" charset="-128"/>
                <a:ea typeface="Meiryo" panose="020B0604030504040204" pitchFamily="34" charset="-128"/>
              </a:rPr>
              <a:t>GAN</a:t>
            </a:r>
            <a:r>
              <a:rPr lang="ja-JP" altLang="en-US" sz="2000" b="1">
                <a:latin typeface="Meiryo" panose="020B0604030504040204" pitchFamily="34" charset="-128"/>
                <a:ea typeface="Meiryo" panose="020B0604030504040204" pitchFamily="34" charset="-128"/>
              </a:rPr>
              <a:t>を異常検知</a:t>
            </a:r>
            <a:r>
              <a:rPr lang="en-US" altLang="ja-JP" sz="2000" b="1" dirty="0">
                <a:latin typeface="Meiryo" panose="020B0604030504040204" pitchFamily="34" charset="-128"/>
                <a:ea typeface="Meiryo" panose="020B0604030504040204" pitchFamily="34" charset="-128"/>
              </a:rPr>
              <a:t>_1</a:t>
            </a:r>
            <a:endParaRPr lang="en-JP" sz="2000" b="1"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318694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5C915C-FFB4-68CC-A9B2-499AC32854E4}"/>
              </a:ext>
            </a:extLst>
          </p:cNvPr>
          <p:cNvSpPr>
            <a:spLocks noGrp="1"/>
          </p:cNvSpPr>
          <p:nvPr>
            <p:ph type="sldNum" sz="quarter" idx="12"/>
          </p:nvPr>
        </p:nvSpPr>
        <p:spPr/>
        <p:txBody>
          <a:bodyPr/>
          <a:lstStyle/>
          <a:p>
            <a:fld id="{25A9D56D-006D-A740-86A3-FD23428E3C6A}" type="slidenum">
              <a:rPr lang="en-JP" smtClean="0"/>
              <a:t>22</a:t>
            </a:fld>
            <a:endParaRPr lang="en-JP" dirty="0"/>
          </a:p>
        </p:txBody>
      </p:sp>
      <p:sp>
        <p:nvSpPr>
          <p:cNvPr id="6" name="TextBox 5">
            <a:extLst>
              <a:ext uri="{FF2B5EF4-FFF2-40B4-BE49-F238E27FC236}">
                <a16:creationId xmlns:a16="http://schemas.microsoft.com/office/drawing/2014/main" id="{20E8BE5C-01B5-714A-1829-E7399A26DA4A}"/>
              </a:ext>
            </a:extLst>
          </p:cNvPr>
          <p:cNvSpPr txBox="1"/>
          <p:nvPr/>
        </p:nvSpPr>
        <p:spPr>
          <a:xfrm>
            <a:off x="499872" y="455414"/>
            <a:ext cx="6096000" cy="369332"/>
          </a:xfrm>
          <a:prstGeom prst="rect">
            <a:avLst/>
          </a:prstGeom>
          <a:noFill/>
        </p:spPr>
        <p:txBody>
          <a:bodyPr wrap="square">
            <a:spAutoFit/>
          </a:bodyPr>
          <a:lstStyle/>
          <a:p>
            <a:r>
              <a:rPr lang="en-US" sz="1800" b="1" dirty="0">
                <a:latin typeface="Meiryo" panose="020B0604030504040204" pitchFamily="34" charset="-128"/>
                <a:ea typeface="Meiryo" panose="020B0604030504040204" pitchFamily="34" charset="-128"/>
              </a:rPr>
              <a:t>GAN</a:t>
            </a:r>
            <a:r>
              <a:rPr lang="ja-JP" altLang="en-US" sz="1800" b="1">
                <a:latin typeface="Meiryo" panose="020B0604030504040204" pitchFamily="34" charset="-128"/>
                <a:ea typeface="Meiryo" panose="020B0604030504040204" pitchFamily="34" charset="-128"/>
              </a:rPr>
              <a:t>を異常検知</a:t>
            </a:r>
            <a:r>
              <a:rPr lang="en-US" altLang="ja-JP" b="1" dirty="0">
                <a:latin typeface="Meiryo" panose="020B0604030504040204" pitchFamily="34" charset="-128"/>
                <a:ea typeface="Meiryo" panose="020B0604030504040204" pitchFamily="34" charset="-128"/>
              </a:rPr>
              <a:t>_</a:t>
            </a:r>
            <a:r>
              <a:rPr lang="mn-MN" altLang="ja-JP" b="1" dirty="0">
                <a:latin typeface="Meiryo" panose="020B0604030504040204" pitchFamily="34" charset="-128"/>
                <a:ea typeface="Meiryo" panose="020B0604030504040204" pitchFamily="34" charset="-128"/>
              </a:rPr>
              <a:t>2</a:t>
            </a:r>
            <a:endParaRPr lang="en-JP" sz="1800" b="1" dirty="0">
              <a:latin typeface="Meiryo" panose="020B0604030504040204" pitchFamily="34" charset="-128"/>
              <a:ea typeface="Meiryo" panose="020B0604030504040204" pitchFamily="34" charset="-128"/>
            </a:endParaRPr>
          </a:p>
        </p:txBody>
      </p:sp>
      <p:pic>
        <p:nvPicPr>
          <p:cNvPr id="7" name="Picture 6">
            <a:extLst>
              <a:ext uri="{FF2B5EF4-FFF2-40B4-BE49-F238E27FC236}">
                <a16:creationId xmlns:a16="http://schemas.microsoft.com/office/drawing/2014/main" id="{08475103-8EAE-2971-5A48-E2AD688296D8}"/>
              </a:ext>
            </a:extLst>
          </p:cNvPr>
          <p:cNvPicPr>
            <a:picLocks noChangeAspect="1"/>
          </p:cNvPicPr>
          <p:nvPr/>
        </p:nvPicPr>
        <p:blipFill>
          <a:blip r:embed="rId2"/>
          <a:stretch>
            <a:fillRect/>
          </a:stretch>
        </p:blipFill>
        <p:spPr>
          <a:xfrm>
            <a:off x="23651" y="924483"/>
            <a:ext cx="7772400" cy="4409052"/>
          </a:xfrm>
          <a:prstGeom prst="rect">
            <a:avLst/>
          </a:prstGeom>
        </p:spPr>
      </p:pic>
      <p:sp>
        <p:nvSpPr>
          <p:cNvPr id="9" name="TextBox 8">
            <a:extLst>
              <a:ext uri="{FF2B5EF4-FFF2-40B4-BE49-F238E27FC236}">
                <a16:creationId xmlns:a16="http://schemas.microsoft.com/office/drawing/2014/main" id="{7327682D-DBD4-B1C2-B0D4-33C6D125D7E6}"/>
              </a:ext>
            </a:extLst>
          </p:cNvPr>
          <p:cNvSpPr txBox="1"/>
          <p:nvPr/>
        </p:nvSpPr>
        <p:spPr>
          <a:xfrm>
            <a:off x="4610995" y="1423354"/>
            <a:ext cx="6605470" cy="646331"/>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この図は、</a:t>
            </a:r>
            <a:r>
              <a:rPr lang="en-US" dirty="0">
                <a:latin typeface="Meiryo" panose="020B0604030504040204" pitchFamily="34" charset="-128"/>
                <a:ea typeface="Meiryo" panose="020B0604030504040204" pitchFamily="34" charset="-128"/>
              </a:rPr>
              <a:t>GAN（</a:t>
            </a:r>
            <a:r>
              <a:rPr lang="ja-JP" altLang="en-US">
                <a:latin typeface="Meiryo" panose="020B0604030504040204" pitchFamily="34" charset="-128"/>
                <a:ea typeface="Meiryo" panose="020B0604030504040204" pitchFamily="34" charset="-128"/>
              </a:rPr>
              <a:t>敵対的生成ネットワーク）のベクトル演算の能力を示した例です。</a:t>
            </a:r>
          </a:p>
        </p:txBody>
      </p:sp>
      <p:pic>
        <p:nvPicPr>
          <p:cNvPr id="10" name="Picture 9">
            <a:extLst>
              <a:ext uri="{FF2B5EF4-FFF2-40B4-BE49-F238E27FC236}">
                <a16:creationId xmlns:a16="http://schemas.microsoft.com/office/drawing/2014/main" id="{1AF0C18D-E952-AD09-54EC-09BD7B7AF584}"/>
              </a:ext>
            </a:extLst>
          </p:cNvPr>
          <p:cNvPicPr>
            <a:picLocks noChangeAspect="1"/>
          </p:cNvPicPr>
          <p:nvPr/>
        </p:nvPicPr>
        <p:blipFill>
          <a:blip r:embed="rId3"/>
          <a:stretch>
            <a:fillRect/>
          </a:stretch>
        </p:blipFill>
        <p:spPr>
          <a:xfrm>
            <a:off x="11216465" y="301484"/>
            <a:ext cx="791922" cy="845054"/>
          </a:xfrm>
          <a:prstGeom prst="rect">
            <a:avLst/>
          </a:prstGeom>
        </p:spPr>
      </p:pic>
      <p:sp>
        <p:nvSpPr>
          <p:cNvPr id="12" name="TextBox 11">
            <a:extLst>
              <a:ext uri="{FF2B5EF4-FFF2-40B4-BE49-F238E27FC236}">
                <a16:creationId xmlns:a16="http://schemas.microsoft.com/office/drawing/2014/main" id="{99B0CD6F-C7BA-128B-BBE9-8E4949B5E0A4}"/>
              </a:ext>
            </a:extLst>
          </p:cNvPr>
          <p:cNvSpPr txBox="1"/>
          <p:nvPr/>
        </p:nvSpPr>
        <p:spPr>
          <a:xfrm>
            <a:off x="7796051" y="2568556"/>
            <a:ext cx="4103341" cy="2862322"/>
          </a:xfrm>
          <a:prstGeom prst="rect">
            <a:avLst/>
          </a:prstGeom>
          <a:noFill/>
        </p:spPr>
        <p:txBody>
          <a:bodyPr wrap="square">
            <a:spAutoFit/>
          </a:bodyPr>
          <a:lstStyle/>
          <a:p>
            <a:r>
              <a:rPr lang="ja-JP" altLang="en-US" b="1">
                <a:latin typeface="Meiryo" panose="020B0604030504040204" pitchFamily="34" charset="-128"/>
                <a:ea typeface="Meiryo" panose="020B0604030504040204" pitchFamily="34" charset="-128"/>
              </a:rPr>
              <a:t>平均ベクトルの計算</a:t>
            </a:r>
            <a:r>
              <a:rPr lang="en-US" altLang="ja-JP" b="1" dirty="0">
                <a:latin typeface="Meiryo" panose="020B0604030504040204" pitchFamily="34" charset="-128"/>
                <a:ea typeface="Meiryo" panose="020B0604030504040204" pitchFamily="34" charset="-128"/>
              </a:rPr>
              <a:t>:</a:t>
            </a:r>
          </a:p>
          <a:p>
            <a:r>
              <a:rPr lang="ja-JP" altLang="en-US">
                <a:latin typeface="Meiryo" panose="020B0604030504040204" pitchFamily="34" charset="-128"/>
                <a:ea typeface="Meiryo" panose="020B0604030504040204" pitchFamily="34" charset="-128"/>
              </a:rPr>
              <a:t>例えば、「メガネをかけた男性」という概念に対応するすべての画像の</a:t>
            </a:r>
            <a:r>
              <a:rPr lang="en-US" dirty="0">
                <a:latin typeface="Meiryo" panose="020B0604030504040204" pitchFamily="34" charset="-128"/>
                <a:ea typeface="Meiryo" panose="020B0604030504040204" pitchFamily="34" charset="-128"/>
              </a:rPr>
              <a:t>Z</a:t>
            </a:r>
            <a:r>
              <a:rPr lang="ja-JP" altLang="en-US">
                <a:latin typeface="Meiryo" panose="020B0604030504040204" pitchFamily="34" charset="-128"/>
                <a:ea typeface="Meiryo" panose="020B0604030504040204" pitchFamily="34" charset="-128"/>
              </a:rPr>
              <a:t>ベクトル（</a:t>
            </a:r>
            <a:r>
              <a:rPr lang="en-US" dirty="0">
                <a:latin typeface="Meiryo" panose="020B0604030504040204" pitchFamily="34" charset="-128"/>
                <a:ea typeface="Meiryo" panose="020B0604030504040204" pitchFamily="34" charset="-128"/>
              </a:rPr>
              <a:t>GAN</a:t>
            </a:r>
            <a:r>
              <a:rPr lang="ja-JP" altLang="en-US">
                <a:latin typeface="Meiryo" panose="020B0604030504040204" pitchFamily="34" charset="-128"/>
                <a:ea typeface="Meiryo" panose="020B0604030504040204" pitchFamily="34" charset="-128"/>
              </a:rPr>
              <a:t>の潜在空間における点）を平均化します。</a:t>
            </a:r>
            <a:endParaRPr lang="mn-MN" altLang="ja-JP" dirty="0">
              <a:latin typeface="Meiryo" panose="020B0604030504040204" pitchFamily="34" charset="-128"/>
              <a:ea typeface="Meiryo" panose="020B0604030504040204" pitchFamily="34" charset="-128"/>
            </a:endParaRPr>
          </a:p>
          <a:p>
            <a:endParaRPr lang="ja-JP" altLang="en-US">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同様に、他の</a:t>
            </a:r>
            <a:r>
              <a:rPr lang="en-US" altLang="ja-JP" dirty="0">
                <a:latin typeface="Meiryo" panose="020B0604030504040204" pitchFamily="34" charset="-128"/>
                <a:ea typeface="Meiryo" panose="020B0604030504040204" pitchFamily="34" charset="-128"/>
              </a:rPr>
              <a:t>3</a:t>
            </a:r>
            <a:r>
              <a:rPr lang="ja-JP" altLang="en-US">
                <a:latin typeface="Meiryo" panose="020B0604030504040204" pitchFamily="34" charset="-128"/>
                <a:ea typeface="Meiryo" panose="020B0604030504040204" pitchFamily="34" charset="-128"/>
              </a:rPr>
              <a:t>つの概念（メガネなしの男性、メガネなしの女性、メガネありの女性）についても平均ベクトルを求めます。</a:t>
            </a:r>
          </a:p>
        </p:txBody>
      </p:sp>
      <p:sp>
        <p:nvSpPr>
          <p:cNvPr id="14" name="TextBox 13">
            <a:extLst>
              <a:ext uri="{FF2B5EF4-FFF2-40B4-BE49-F238E27FC236}">
                <a16:creationId xmlns:a16="http://schemas.microsoft.com/office/drawing/2014/main" id="{10518E55-6A14-0492-17A6-8DF5845F4864}"/>
              </a:ext>
            </a:extLst>
          </p:cNvPr>
          <p:cNvSpPr txBox="1"/>
          <p:nvPr/>
        </p:nvSpPr>
        <p:spPr>
          <a:xfrm>
            <a:off x="341376" y="5933517"/>
            <a:ext cx="6778752" cy="646331"/>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生成された画像は、「メガネをかけた男性」に近い特徴を持つ顔画像になります。</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577608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087A43-D06A-0C3C-D5E2-023DDE5DF7EC}"/>
              </a:ext>
            </a:extLst>
          </p:cNvPr>
          <p:cNvSpPr>
            <a:spLocks noGrp="1"/>
          </p:cNvSpPr>
          <p:nvPr>
            <p:ph type="sldNum" sz="quarter" idx="12"/>
          </p:nvPr>
        </p:nvSpPr>
        <p:spPr/>
        <p:txBody>
          <a:bodyPr/>
          <a:lstStyle/>
          <a:p>
            <a:fld id="{25A9D56D-006D-A740-86A3-FD23428E3C6A}" type="slidenum">
              <a:rPr lang="en-JP" smtClean="0"/>
              <a:t>23</a:t>
            </a:fld>
            <a:endParaRPr lang="en-JP" dirty="0"/>
          </a:p>
        </p:txBody>
      </p:sp>
      <p:pic>
        <p:nvPicPr>
          <p:cNvPr id="5" name="Picture 4">
            <a:extLst>
              <a:ext uri="{FF2B5EF4-FFF2-40B4-BE49-F238E27FC236}">
                <a16:creationId xmlns:a16="http://schemas.microsoft.com/office/drawing/2014/main" id="{C13476A9-0ADA-08E4-05A2-29AA56E951FF}"/>
              </a:ext>
            </a:extLst>
          </p:cNvPr>
          <p:cNvPicPr>
            <a:picLocks noChangeAspect="1"/>
          </p:cNvPicPr>
          <p:nvPr/>
        </p:nvPicPr>
        <p:blipFill>
          <a:blip r:embed="rId2"/>
          <a:stretch>
            <a:fillRect/>
          </a:stretch>
        </p:blipFill>
        <p:spPr>
          <a:xfrm>
            <a:off x="11216465" y="301484"/>
            <a:ext cx="791922" cy="845054"/>
          </a:xfrm>
          <a:prstGeom prst="rect">
            <a:avLst/>
          </a:prstGeom>
        </p:spPr>
      </p:pic>
      <p:pic>
        <p:nvPicPr>
          <p:cNvPr id="6" name="Picture 5">
            <a:extLst>
              <a:ext uri="{FF2B5EF4-FFF2-40B4-BE49-F238E27FC236}">
                <a16:creationId xmlns:a16="http://schemas.microsoft.com/office/drawing/2014/main" id="{91394713-CE60-AE87-C6C3-11A3720EF9ED}"/>
              </a:ext>
            </a:extLst>
          </p:cNvPr>
          <p:cNvPicPr>
            <a:picLocks noChangeAspect="1"/>
          </p:cNvPicPr>
          <p:nvPr/>
        </p:nvPicPr>
        <p:blipFill>
          <a:blip r:embed="rId3"/>
          <a:stretch>
            <a:fillRect/>
          </a:stretch>
        </p:blipFill>
        <p:spPr>
          <a:xfrm>
            <a:off x="3291894" y="602083"/>
            <a:ext cx="7150100" cy="4876800"/>
          </a:xfrm>
          <a:prstGeom prst="rect">
            <a:avLst/>
          </a:prstGeom>
        </p:spPr>
      </p:pic>
      <p:sp>
        <p:nvSpPr>
          <p:cNvPr id="8" name="TextBox 7">
            <a:extLst>
              <a:ext uri="{FF2B5EF4-FFF2-40B4-BE49-F238E27FC236}">
                <a16:creationId xmlns:a16="http://schemas.microsoft.com/office/drawing/2014/main" id="{A99358D2-304F-1BFF-20F7-4E0B82AF27BA}"/>
              </a:ext>
            </a:extLst>
          </p:cNvPr>
          <p:cNvSpPr txBox="1"/>
          <p:nvPr/>
        </p:nvSpPr>
        <p:spPr>
          <a:xfrm>
            <a:off x="341376" y="417417"/>
            <a:ext cx="6096000" cy="646331"/>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Meiryo" panose="020B0604030504040204" pitchFamily="34" charset="-128"/>
                <a:ea typeface="Meiryo" panose="020B0604030504040204" pitchFamily="34" charset="-128"/>
              </a:rPr>
              <a:t>VAE</a:t>
            </a:r>
            <a:r>
              <a:rPr lang="ja-JP" altLang="en-US" sz="1800" b="1">
                <a:latin typeface="Meiryo" panose="020B0604030504040204" pitchFamily="34" charset="-128"/>
                <a:ea typeface="Meiryo" panose="020B0604030504040204" pitchFamily="34" charset="-128"/>
              </a:rPr>
              <a:t>による異常検知</a:t>
            </a:r>
            <a:r>
              <a:rPr lang="en-US" altLang="ja-JP" sz="1800" b="1" dirty="0">
                <a:latin typeface="Meiryo" panose="020B0604030504040204" pitchFamily="34" charset="-128"/>
                <a:ea typeface="Meiryo" panose="020B0604030504040204" pitchFamily="34" charset="-128"/>
              </a:rPr>
              <a:t>_1</a:t>
            </a:r>
          </a:p>
          <a:p>
            <a:pPr marL="285750" indent="-285750">
              <a:buFont typeface="Arial" panose="020B0604020202020204" pitchFamily="34" charset="0"/>
              <a:buChar char="•"/>
            </a:pPr>
            <a:endParaRPr lang="en-JP" sz="1800" b="1"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EE03FE41-A1A9-3A3F-2540-343BBAC11ED1}"/>
              </a:ext>
            </a:extLst>
          </p:cNvPr>
          <p:cNvSpPr txBox="1"/>
          <p:nvPr/>
        </p:nvSpPr>
        <p:spPr>
          <a:xfrm>
            <a:off x="0" y="2319820"/>
            <a:ext cx="4474464" cy="1200329"/>
          </a:xfrm>
          <a:prstGeom prst="rect">
            <a:avLst/>
          </a:prstGeom>
          <a:noFill/>
        </p:spPr>
        <p:txBody>
          <a:bodyPr wrap="square">
            <a:spAutoFit/>
          </a:bodyPr>
          <a:lstStyle/>
          <a:p>
            <a:pPr algn="l"/>
            <a:r>
              <a:rPr lang="ja-JP" altLang="en-US" b="0" i="0">
                <a:effectLst/>
                <a:latin typeface="Meiryo" panose="020B0604030504040204" pitchFamily="34" charset="-128"/>
                <a:ea typeface="Meiryo" panose="020B0604030504040204" pitchFamily="34" charset="-128"/>
              </a:rPr>
              <a:t>学習データとテストデータは以下の</a:t>
            </a:r>
            <a:endParaRPr lang="en-US" altLang="ja-JP" b="0" i="0" dirty="0">
              <a:effectLst/>
              <a:latin typeface="Meiryo" panose="020B0604030504040204" pitchFamily="34" charset="-128"/>
              <a:ea typeface="Meiryo" panose="020B0604030504040204" pitchFamily="34" charset="-128"/>
            </a:endParaRPr>
          </a:p>
          <a:p>
            <a:pPr algn="l"/>
            <a:r>
              <a:rPr lang="ja-JP" altLang="en-US" b="0" i="0">
                <a:effectLst/>
                <a:latin typeface="Meiryo" panose="020B0604030504040204" pitchFamily="34" charset="-128"/>
                <a:ea typeface="Meiryo" panose="020B0604030504040204" pitchFamily="34" charset="-128"/>
              </a:rPr>
              <a:t>・学習データ：ス二ーカー</a:t>
            </a:r>
          </a:p>
          <a:p>
            <a:pPr algn="l"/>
            <a:r>
              <a:rPr lang="ja-JP" altLang="en-US" b="0" i="0">
                <a:effectLst/>
                <a:latin typeface="Meiryo" panose="020B0604030504040204" pitchFamily="34" charset="-128"/>
                <a:ea typeface="Meiryo" panose="020B0604030504040204" pitchFamily="34" charset="-128"/>
              </a:rPr>
              <a:t>・テストデータ（</a:t>
            </a:r>
            <a:r>
              <a:rPr lang="en-US" altLang="ja-JP" b="0" i="0" dirty="0">
                <a:effectLst/>
                <a:latin typeface="Meiryo" panose="020B0604030504040204" pitchFamily="34" charset="-128"/>
                <a:ea typeface="Meiryo" panose="020B0604030504040204" pitchFamily="34" charset="-128"/>
              </a:rPr>
              <a:t>normal</a:t>
            </a:r>
            <a:r>
              <a:rPr lang="ja-JP" altLang="en-US" b="0" i="0">
                <a:effectLst/>
                <a:latin typeface="Meiryo" panose="020B0604030504040204" pitchFamily="34" charset="-128"/>
                <a:ea typeface="Meiryo" panose="020B0604030504040204" pitchFamily="34" charset="-128"/>
              </a:rPr>
              <a:t>）：ス二ーカー</a:t>
            </a:r>
            <a:br>
              <a:rPr lang="ja-JP" altLang="en-US" b="0" i="0">
                <a:effectLst/>
                <a:latin typeface="Meiryo" panose="020B0604030504040204" pitchFamily="34" charset="-128"/>
                <a:ea typeface="Meiryo" panose="020B0604030504040204" pitchFamily="34" charset="-128"/>
              </a:rPr>
            </a:br>
            <a:r>
              <a:rPr lang="ja-JP" altLang="en-US" b="0" i="0">
                <a:effectLst/>
                <a:latin typeface="Meiryo" panose="020B0604030504040204" pitchFamily="34" charset="-128"/>
                <a:ea typeface="Meiryo" panose="020B0604030504040204" pitchFamily="34" charset="-128"/>
              </a:rPr>
              <a:t>・テストデータ（異常）：ブーツ</a:t>
            </a:r>
          </a:p>
        </p:txBody>
      </p:sp>
      <p:sp>
        <p:nvSpPr>
          <p:cNvPr id="12" name="TextBox 11">
            <a:extLst>
              <a:ext uri="{FF2B5EF4-FFF2-40B4-BE49-F238E27FC236}">
                <a16:creationId xmlns:a16="http://schemas.microsoft.com/office/drawing/2014/main" id="{66070C79-B142-85D2-3081-312DAB9097FC}"/>
              </a:ext>
            </a:extLst>
          </p:cNvPr>
          <p:cNvSpPr txBox="1"/>
          <p:nvPr/>
        </p:nvSpPr>
        <p:spPr>
          <a:xfrm>
            <a:off x="2794815" y="5609586"/>
            <a:ext cx="8144257" cy="646331"/>
          </a:xfrm>
          <a:prstGeom prst="rect">
            <a:avLst/>
          </a:prstGeom>
          <a:noFill/>
        </p:spPr>
        <p:txBody>
          <a:bodyPr wrap="square">
            <a:spAutoFit/>
          </a:bodyPr>
          <a:lstStyle/>
          <a:p>
            <a:r>
              <a:rPr lang="ja-JP" altLang="en-US" b="0" i="0">
                <a:effectLst/>
                <a:latin typeface="Meiryo" panose="020B0604030504040204" pitchFamily="34" charset="-128"/>
                <a:ea typeface="Meiryo" panose="020B0604030504040204" pitchFamily="34" charset="-128"/>
              </a:rPr>
              <a:t>ス二ーカー</a:t>
            </a:r>
            <a:r>
              <a:rPr lang="en-US" altLang="ja-JP" b="0" i="0" dirty="0">
                <a:effectLst/>
                <a:latin typeface="Meiryo" panose="020B0604030504040204" pitchFamily="34" charset="-128"/>
                <a:ea typeface="Meiryo" panose="020B0604030504040204" pitchFamily="34" charset="-128"/>
              </a:rPr>
              <a:t> sneakers </a:t>
            </a:r>
            <a:r>
              <a:rPr lang="ja-JP" altLang="en-US" b="0" i="0">
                <a:effectLst/>
                <a:latin typeface="Meiryo" panose="020B0604030504040204" pitchFamily="34" charset="-128"/>
                <a:ea typeface="Meiryo" panose="020B0604030504040204" pitchFamily="34" charset="-128"/>
              </a:rPr>
              <a:t>（正常）とブーツ</a:t>
            </a:r>
            <a:r>
              <a:rPr lang="en-US" altLang="ja-JP" b="0" i="0" dirty="0">
                <a:effectLst/>
                <a:latin typeface="Meiryo" panose="020B0604030504040204" pitchFamily="34" charset="-128"/>
                <a:ea typeface="Meiryo" panose="020B0604030504040204" pitchFamily="34" charset="-128"/>
              </a:rPr>
              <a:t>boots </a:t>
            </a:r>
            <a:r>
              <a:rPr lang="ja-JP" altLang="en-US" b="0" i="0">
                <a:effectLst/>
                <a:latin typeface="Meiryo" panose="020B0604030504040204" pitchFamily="34" charset="-128"/>
                <a:ea typeface="Meiryo" panose="020B0604030504040204" pitchFamily="34" charset="-128"/>
              </a:rPr>
              <a:t>（異常）で大きな差はなく、</a:t>
            </a:r>
            <a:br>
              <a:rPr lang="ja-JP" altLang="en-US">
                <a:latin typeface="Meiryo" panose="020B0604030504040204" pitchFamily="34" charset="-128"/>
                <a:ea typeface="Meiryo" panose="020B0604030504040204" pitchFamily="34" charset="-128"/>
              </a:rPr>
            </a:br>
            <a:r>
              <a:rPr lang="ja-JP" altLang="en-US" b="0" i="0">
                <a:effectLst/>
                <a:latin typeface="Meiryo" panose="020B0604030504040204" pitchFamily="34" charset="-128"/>
                <a:ea typeface="Meiryo" panose="020B0604030504040204" pitchFamily="34" charset="-128"/>
              </a:rPr>
              <a:t>異常検知に失敗しているようです。</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26104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FB2F12-D059-51C8-1A5D-1269B01D9D8B}"/>
              </a:ext>
            </a:extLst>
          </p:cNvPr>
          <p:cNvSpPr>
            <a:spLocks noGrp="1"/>
          </p:cNvSpPr>
          <p:nvPr>
            <p:ph type="sldNum" sz="quarter" idx="12"/>
          </p:nvPr>
        </p:nvSpPr>
        <p:spPr/>
        <p:txBody>
          <a:bodyPr/>
          <a:lstStyle/>
          <a:p>
            <a:fld id="{25A9D56D-006D-A740-86A3-FD23428E3C6A}" type="slidenum">
              <a:rPr lang="en-JP" smtClean="0"/>
              <a:t>24</a:t>
            </a:fld>
            <a:endParaRPr lang="en-JP" dirty="0"/>
          </a:p>
        </p:txBody>
      </p:sp>
      <p:pic>
        <p:nvPicPr>
          <p:cNvPr id="5" name="Picture 4">
            <a:extLst>
              <a:ext uri="{FF2B5EF4-FFF2-40B4-BE49-F238E27FC236}">
                <a16:creationId xmlns:a16="http://schemas.microsoft.com/office/drawing/2014/main" id="{46052896-4C93-BBC7-0D8C-03F57AB8AC76}"/>
              </a:ext>
            </a:extLst>
          </p:cNvPr>
          <p:cNvPicPr>
            <a:picLocks noChangeAspect="1"/>
          </p:cNvPicPr>
          <p:nvPr/>
        </p:nvPicPr>
        <p:blipFill>
          <a:blip r:embed="rId2"/>
          <a:stretch>
            <a:fillRect/>
          </a:stretch>
        </p:blipFill>
        <p:spPr>
          <a:xfrm>
            <a:off x="11216465" y="301484"/>
            <a:ext cx="791922" cy="845054"/>
          </a:xfrm>
          <a:prstGeom prst="rect">
            <a:avLst/>
          </a:prstGeom>
        </p:spPr>
      </p:pic>
      <p:sp>
        <p:nvSpPr>
          <p:cNvPr id="7" name="TextBox 6">
            <a:extLst>
              <a:ext uri="{FF2B5EF4-FFF2-40B4-BE49-F238E27FC236}">
                <a16:creationId xmlns:a16="http://schemas.microsoft.com/office/drawing/2014/main" id="{D4F89EAE-C65C-F081-F224-8F1052A2B3D3}"/>
              </a:ext>
            </a:extLst>
          </p:cNvPr>
          <p:cNvSpPr txBox="1"/>
          <p:nvPr/>
        </p:nvSpPr>
        <p:spPr>
          <a:xfrm>
            <a:off x="341376" y="500207"/>
            <a:ext cx="6096000" cy="646331"/>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Meiryo" panose="020B0604030504040204" pitchFamily="34" charset="-128"/>
                <a:ea typeface="Meiryo" panose="020B0604030504040204" pitchFamily="34" charset="-128"/>
              </a:rPr>
              <a:t>VAE</a:t>
            </a:r>
            <a:r>
              <a:rPr lang="ja-JP" altLang="en-US" sz="1800" b="1">
                <a:latin typeface="Meiryo" panose="020B0604030504040204" pitchFamily="34" charset="-128"/>
                <a:ea typeface="Meiryo" panose="020B0604030504040204" pitchFamily="34" charset="-128"/>
              </a:rPr>
              <a:t>による異常検知</a:t>
            </a:r>
            <a:r>
              <a:rPr lang="en-US" altLang="ja-JP" sz="1800" b="1" dirty="0">
                <a:latin typeface="Meiryo" panose="020B0604030504040204" pitchFamily="34" charset="-128"/>
                <a:ea typeface="Meiryo" panose="020B0604030504040204" pitchFamily="34" charset="-128"/>
              </a:rPr>
              <a:t>_2</a:t>
            </a:r>
          </a:p>
          <a:p>
            <a:pPr marL="285750" indent="-285750">
              <a:buFont typeface="Arial" panose="020B0604020202020204" pitchFamily="34" charset="0"/>
              <a:buChar char="•"/>
            </a:pPr>
            <a:endParaRPr lang="en-JP" sz="1800" b="1" dirty="0">
              <a:latin typeface="Meiryo" panose="020B0604030504040204" pitchFamily="34" charset="-128"/>
              <a:ea typeface="Meiryo" panose="020B0604030504040204" pitchFamily="34" charset="-128"/>
            </a:endParaRPr>
          </a:p>
        </p:txBody>
      </p:sp>
      <p:pic>
        <p:nvPicPr>
          <p:cNvPr id="8" name="Picture 7">
            <a:extLst>
              <a:ext uri="{FF2B5EF4-FFF2-40B4-BE49-F238E27FC236}">
                <a16:creationId xmlns:a16="http://schemas.microsoft.com/office/drawing/2014/main" id="{D437283D-16A2-E566-F991-1C2C55466427}"/>
              </a:ext>
            </a:extLst>
          </p:cNvPr>
          <p:cNvPicPr>
            <a:picLocks noChangeAspect="1"/>
          </p:cNvPicPr>
          <p:nvPr/>
        </p:nvPicPr>
        <p:blipFill>
          <a:blip r:embed="rId3"/>
          <a:stretch>
            <a:fillRect/>
          </a:stretch>
        </p:blipFill>
        <p:spPr>
          <a:xfrm>
            <a:off x="171421" y="1146538"/>
            <a:ext cx="6680200" cy="5473718"/>
          </a:xfrm>
          <a:prstGeom prst="rect">
            <a:avLst/>
          </a:prstGeom>
        </p:spPr>
      </p:pic>
      <p:sp>
        <p:nvSpPr>
          <p:cNvPr id="10" name="TextBox 9">
            <a:extLst>
              <a:ext uri="{FF2B5EF4-FFF2-40B4-BE49-F238E27FC236}">
                <a16:creationId xmlns:a16="http://schemas.microsoft.com/office/drawing/2014/main" id="{86A3911B-ACF4-6C89-D780-BE6CAF491F67}"/>
              </a:ext>
            </a:extLst>
          </p:cNvPr>
          <p:cNvSpPr txBox="1"/>
          <p:nvPr/>
        </p:nvSpPr>
        <p:spPr>
          <a:xfrm>
            <a:off x="6693407" y="1963864"/>
            <a:ext cx="5010179" cy="2246769"/>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ブーツは「異常」と認識されているようです。 予想に反して、</a:t>
            </a:r>
            <a:r>
              <a:rPr lang="en-US" altLang="ja-JP" sz="2000" dirty="0">
                <a:latin typeface="Meiryo" panose="020B0604030504040204" pitchFamily="34" charset="-128"/>
                <a:ea typeface="Meiryo" panose="020B0604030504040204" pitchFamily="34" charset="-128"/>
              </a:rPr>
              <a:t> boots </a:t>
            </a:r>
            <a:r>
              <a:rPr lang="ja-JP" altLang="en-US" sz="2000">
                <a:latin typeface="Meiryo" panose="020B0604030504040204" pitchFamily="34" charset="-128"/>
                <a:ea typeface="Meiryo" panose="020B0604030504040204" pitchFamily="34" charset="-128"/>
              </a:rPr>
              <a:t>の「かかと」ではなく、口の垂直部分が 「異常」と認識されているようです。</a:t>
            </a:r>
            <a:endParaRPr lang="mn-MN" altLang="ja-JP" sz="2000" dirty="0">
              <a:latin typeface="Meiryo" panose="020B0604030504040204" pitchFamily="34" charset="-128"/>
              <a:ea typeface="Meiryo" panose="020B0604030504040204" pitchFamily="34" charset="-128"/>
            </a:endParaRPr>
          </a:p>
          <a:p>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言われてみると、スニーカーには 垂直になった部分はありませんもんねー。</a:t>
            </a:r>
            <a:endParaRPr lang="en-JP" sz="20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7616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1EA29C-585E-2A69-D269-909C26C5AA79}"/>
              </a:ext>
            </a:extLst>
          </p:cNvPr>
          <p:cNvSpPr>
            <a:spLocks noGrp="1"/>
          </p:cNvSpPr>
          <p:nvPr>
            <p:ph type="sldNum" sz="quarter" idx="12"/>
          </p:nvPr>
        </p:nvSpPr>
        <p:spPr/>
        <p:txBody>
          <a:bodyPr/>
          <a:lstStyle/>
          <a:p>
            <a:fld id="{25A9D56D-006D-A740-86A3-FD23428E3C6A}" type="slidenum">
              <a:rPr lang="en-JP" smtClean="0"/>
              <a:t>25</a:t>
            </a:fld>
            <a:endParaRPr lang="en-JP" dirty="0"/>
          </a:p>
        </p:txBody>
      </p:sp>
      <p:pic>
        <p:nvPicPr>
          <p:cNvPr id="5" name="Picture 4">
            <a:extLst>
              <a:ext uri="{FF2B5EF4-FFF2-40B4-BE49-F238E27FC236}">
                <a16:creationId xmlns:a16="http://schemas.microsoft.com/office/drawing/2014/main" id="{3A8886BB-8587-563D-739F-5D354216DDC3}"/>
              </a:ext>
            </a:extLst>
          </p:cNvPr>
          <p:cNvPicPr>
            <a:picLocks noChangeAspect="1"/>
          </p:cNvPicPr>
          <p:nvPr/>
        </p:nvPicPr>
        <p:blipFill>
          <a:blip r:embed="rId2"/>
          <a:stretch>
            <a:fillRect/>
          </a:stretch>
        </p:blipFill>
        <p:spPr>
          <a:xfrm>
            <a:off x="11216465" y="301484"/>
            <a:ext cx="791922" cy="845054"/>
          </a:xfrm>
          <a:prstGeom prst="rect">
            <a:avLst/>
          </a:prstGeom>
        </p:spPr>
      </p:pic>
      <p:sp>
        <p:nvSpPr>
          <p:cNvPr id="7" name="TextBox 6">
            <a:extLst>
              <a:ext uri="{FF2B5EF4-FFF2-40B4-BE49-F238E27FC236}">
                <a16:creationId xmlns:a16="http://schemas.microsoft.com/office/drawing/2014/main" id="{E28953D6-B76E-85CB-290F-3D3DDF1C732F}"/>
              </a:ext>
            </a:extLst>
          </p:cNvPr>
          <p:cNvSpPr txBox="1"/>
          <p:nvPr/>
        </p:nvSpPr>
        <p:spPr>
          <a:xfrm>
            <a:off x="1133856" y="523956"/>
            <a:ext cx="6096000" cy="400110"/>
          </a:xfrm>
          <a:prstGeom prst="rect">
            <a:avLst/>
          </a:prstGeom>
          <a:noFill/>
        </p:spPr>
        <p:txBody>
          <a:bodyPr wrap="square">
            <a:spAutoFit/>
          </a:bodyPr>
          <a:lstStyle/>
          <a:p>
            <a:pPr algn="l"/>
            <a:r>
              <a:rPr lang="ja-JP" altLang="en-US" sz="2000" b="1" i="0">
                <a:effectLst/>
                <a:latin typeface="Meiryo" panose="020B0604030504040204" pitchFamily="34" charset="-128"/>
                <a:ea typeface="Meiryo" panose="020B0604030504040204" pitchFamily="34" charset="-128"/>
              </a:rPr>
              <a:t>まとめ</a:t>
            </a:r>
          </a:p>
        </p:txBody>
      </p:sp>
      <p:sp>
        <p:nvSpPr>
          <p:cNvPr id="9" name="TextBox 8">
            <a:extLst>
              <a:ext uri="{FF2B5EF4-FFF2-40B4-BE49-F238E27FC236}">
                <a16:creationId xmlns:a16="http://schemas.microsoft.com/office/drawing/2014/main" id="{98DFCAAA-9902-F45F-AAAF-940A81BB7EB9}"/>
              </a:ext>
            </a:extLst>
          </p:cNvPr>
          <p:cNvSpPr txBox="1"/>
          <p:nvPr/>
        </p:nvSpPr>
        <p:spPr>
          <a:xfrm>
            <a:off x="986028" y="1146538"/>
            <a:ext cx="10219944" cy="5016758"/>
          </a:xfrm>
          <a:prstGeom prst="rect">
            <a:avLst/>
          </a:prstGeom>
          <a:noFill/>
        </p:spPr>
        <p:txBody>
          <a:bodyPr wrap="square">
            <a:spAutoFit/>
          </a:bodyPr>
          <a:lstStyle/>
          <a:p>
            <a:endParaRPr lang="ja-JP" altLang="en-US" sz="2000" b="1">
              <a:latin typeface="Meiryo" panose="020B0604030504040204" pitchFamily="34" charset="-128"/>
              <a:ea typeface="Meiryo" panose="020B0604030504040204" pitchFamily="34" charset="-128"/>
            </a:endParaRPr>
          </a:p>
          <a:p>
            <a:pPr>
              <a:buFont typeface="+mj-lt"/>
              <a:buAutoNum type="arabicPeriod"/>
            </a:pPr>
            <a:r>
              <a:rPr lang="ja-JP" altLang="en-US" sz="2000" b="1">
                <a:latin typeface="Meiryo" panose="020B0604030504040204" pitchFamily="34" charset="-128"/>
                <a:ea typeface="Meiryo" panose="020B0604030504040204" pitchFamily="34" charset="-128"/>
              </a:rPr>
              <a:t>異常検知とは</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異常検知は、正常とは異なるパターンや挙動を検出する技術です。</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ネットワークの攻撃検出や機械の故障予知など、さまざまな分野で活用されています。</a:t>
            </a:r>
            <a:endParaRPr lang="mn-MN" altLang="ja-JP" sz="2000" dirty="0">
              <a:latin typeface="Meiryo" panose="020B0604030504040204" pitchFamily="34" charset="-128"/>
              <a:ea typeface="Meiryo" panose="020B0604030504040204" pitchFamily="34" charset="-128"/>
            </a:endParaRPr>
          </a:p>
          <a:p>
            <a:pPr>
              <a:buFont typeface="+mj-lt"/>
              <a:buAutoNum type="arabicPeriod"/>
            </a:pPr>
            <a:endParaRPr lang="mn-MN" altLang="ja-JP" sz="2000" dirty="0">
              <a:latin typeface="Meiryo" panose="020B0604030504040204" pitchFamily="34" charset="-128"/>
              <a:ea typeface="Meiryo" panose="020B0604030504040204" pitchFamily="34" charset="-128"/>
            </a:endParaRPr>
          </a:p>
          <a:p>
            <a:pPr>
              <a:buFont typeface="+mj-lt"/>
              <a:buAutoNum type="arabicPeriod"/>
            </a:pPr>
            <a:endParaRPr lang="ja-JP" altLang="en-US" sz="2000">
              <a:latin typeface="Meiryo" panose="020B0604030504040204" pitchFamily="34" charset="-128"/>
              <a:ea typeface="Meiryo" panose="020B0604030504040204" pitchFamily="34" charset="-128"/>
            </a:endParaRPr>
          </a:p>
          <a:p>
            <a:pPr>
              <a:buFont typeface="+mj-lt"/>
              <a:buAutoNum type="arabicPeriod"/>
            </a:pPr>
            <a:r>
              <a:rPr lang="en-US" sz="2000" b="1" dirty="0">
                <a:latin typeface="Meiryo" panose="020B0604030504040204" pitchFamily="34" charset="-128"/>
                <a:ea typeface="Meiryo" panose="020B0604030504040204" pitchFamily="34" charset="-128"/>
              </a:rPr>
              <a:t>VAE</a:t>
            </a:r>
            <a:r>
              <a:rPr lang="ja-JP" altLang="en-US" sz="2000" b="1">
                <a:latin typeface="Meiryo" panose="020B0604030504040204" pitchFamily="34" charset="-128"/>
                <a:ea typeface="Meiryo" panose="020B0604030504040204" pitchFamily="34" charset="-128"/>
              </a:rPr>
              <a:t>による異常検知</a:t>
            </a:r>
            <a:br>
              <a:rPr lang="ja-JP" altLang="en-US" sz="2000">
                <a:latin typeface="Meiryo" panose="020B0604030504040204" pitchFamily="34" charset="-128"/>
                <a:ea typeface="Meiryo" panose="020B0604030504040204" pitchFamily="34" charset="-128"/>
              </a:rPr>
            </a:br>
            <a:r>
              <a:rPr lang="en-US" sz="2000" dirty="0">
                <a:latin typeface="Meiryo" panose="020B0604030504040204" pitchFamily="34" charset="-128"/>
                <a:ea typeface="Meiryo" panose="020B0604030504040204" pitchFamily="34" charset="-128"/>
              </a:rPr>
              <a:t>Variational Autoencoder（VAE）</a:t>
            </a:r>
            <a:r>
              <a:rPr lang="ja-JP" altLang="en-US" sz="2000">
                <a:latin typeface="Meiryo" panose="020B0604030504040204" pitchFamily="34" charset="-128"/>
                <a:ea typeface="Meiryo" panose="020B0604030504040204" pitchFamily="34" charset="-128"/>
              </a:rPr>
              <a:t>は、正常データのみを学習し、データの再構成誤差を利用して異常を検出します。</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再構成が困難なデータを異常と判断するため、高い検出性能が期待されます。</a:t>
            </a:r>
            <a:endParaRPr lang="mn-MN" altLang="ja-JP" sz="2000" dirty="0">
              <a:latin typeface="Meiryo" panose="020B0604030504040204" pitchFamily="34" charset="-128"/>
              <a:ea typeface="Meiryo" panose="020B0604030504040204" pitchFamily="34" charset="-128"/>
            </a:endParaRPr>
          </a:p>
          <a:p>
            <a:pPr>
              <a:buFont typeface="+mj-lt"/>
              <a:buAutoNum type="arabicPeriod"/>
            </a:pPr>
            <a:endParaRPr lang="mn-MN" altLang="ja-JP" sz="2000" dirty="0">
              <a:latin typeface="Meiryo" panose="020B0604030504040204" pitchFamily="34" charset="-128"/>
              <a:ea typeface="Meiryo" panose="020B0604030504040204" pitchFamily="34" charset="-128"/>
            </a:endParaRPr>
          </a:p>
          <a:p>
            <a:pPr>
              <a:buFont typeface="+mj-lt"/>
              <a:buAutoNum type="arabicPeriod"/>
            </a:pPr>
            <a:endParaRPr lang="ja-JP" altLang="en-US" sz="2000">
              <a:latin typeface="Meiryo" panose="020B0604030504040204" pitchFamily="34" charset="-128"/>
              <a:ea typeface="Meiryo" panose="020B0604030504040204" pitchFamily="34" charset="-128"/>
            </a:endParaRPr>
          </a:p>
          <a:p>
            <a:pPr>
              <a:buFont typeface="+mj-lt"/>
              <a:buAutoNum type="arabicPeriod"/>
            </a:pPr>
            <a:r>
              <a:rPr lang="en-US" sz="2000" b="1" dirty="0">
                <a:latin typeface="Meiryo" panose="020B0604030504040204" pitchFamily="34" charset="-128"/>
                <a:ea typeface="Meiryo" panose="020B0604030504040204" pitchFamily="34" charset="-128"/>
              </a:rPr>
              <a:t>GAN</a:t>
            </a:r>
            <a:r>
              <a:rPr lang="ja-JP" altLang="en-US" sz="2000" b="1">
                <a:latin typeface="Meiryo" panose="020B0604030504040204" pitchFamily="34" charset="-128"/>
                <a:ea typeface="Meiryo" panose="020B0604030504040204" pitchFamily="34" charset="-128"/>
              </a:rPr>
              <a:t>による異常検知</a:t>
            </a:r>
            <a:br>
              <a:rPr lang="ja-JP" altLang="en-US" sz="2000">
                <a:latin typeface="Meiryo" panose="020B0604030504040204" pitchFamily="34" charset="-128"/>
                <a:ea typeface="Meiryo" panose="020B0604030504040204" pitchFamily="34" charset="-128"/>
              </a:rPr>
            </a:br>
            <a:r>
              <a:rPr lang="en-US" sz="2000" dirty="0">
                <a:latin typeface="Meiryo" panose="020B0604030504040204" pitchFamily="34" charset="-128"/>
                <a:ea typeface="Meiryo" panose="020B0604030504040204" pitchFamily="34" charset="-128"/>
              </a:rPr>
              <a:t>Generative Adversarial Network（GAN）</a:t>
            </a:r>
            <a:r>
              <a:rPr lang="ja-JP" altLang="en-US" sz="2000">
                <a:latin typeface="Meiryo" panose="020B0604030504040204" pitchFamily="34" charset="-128"/>
                <a:ea typeface="Meiryo" panose="020B0604030504040204" pitchFamily="34" charset="-128"/>
              </a:rPr>
              <a:t>は、正常データの特徴を学習し、潜在空間から再構成を行います。</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再構成誤差や識別器の判定結果を用いて異常を検出する方法が注目されています。</a:t>
            </a:r>
          </a:p>
        </p:txBody>
      </p:sp>
    </p:spTree>
    <p:extLst>
      <p:ext uri="{BB962C8B-B14F-4D97-AF65-F5344CB8AC3E}">
        <p14:creationId xmlns:p14="http://schemas.microsoft.com/office/powerpoint/2010/main" val="2509897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E08010-6A48-264F-D367-AC34835D8D89}"/>
              </a:ext>
            </a:extLst>
          </p:cNvPr>
          <p:cNvSpPr>
            <a:spLocks noGrp="1"/>
          </p:cNvSpPr>
          <p:nvPr>
            <p:ph type="sldNum" sz="quarter" idx="12"/>
          </p:nvPr>
        </p:nvSpPr>
        <p:spPr/>
        <p:txBody>
          <a:bodyPr/>
          <a:lstStyle/>
          <a:p>
            <a:fld id="{25A9D56D-006D-A740-86A3-FD23428E3C6A}" type="slidenum">
              <a:rPr lang="en-JP" smtClean="0"/>
              <a:t>26</a:t>
            </a:fld>
            <a:endParaRPr lang="en-JP" dirty="0"/>
          </a:p>
        </p:txBody>
      </p:sp>
      <p:sp>
        <p:nvSpPr>
          <p:cNvPr id="6" name="TextBox 5">
            <a:extLst>
              <a:ext uri="{FF2B5EF4-FFF2-40B4-BE49-F238E27FC236}">
                <a16:creationId xmlns:a16="http://schemas.microsoft.com/office/drawing/2014/main" id="{1B3CFFAF-3742-17D8-A094-5CC37F7A3357}"/>
              </a:ext>
            </a:extLst>
          </p:cNvPr>
          <p:cNvSpPr txBox="1"/>
          <p:nvPr/>
        </p:nvSpPr>
        <p:spPr>
          <a:xfrm>
            <a:off x="1036320" y="830586"/>
            <a:ext cx="6096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参考</a:t>
            </a:r>
            <a:endParaRPr lang="en-JP" sz="2400" b="1"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854B6A72-425C-FC1C-3CAE-8A9D939C27F8}"/>
              </a:ext>
            </a:extLst>
          </p:cNvPr>
          <p:cNvSpPr txBox="1"/>
          <p:nvPr/>
        </p:nvSpPr>
        <p:spPr>
          <a:xfrm>
            <a:off x="963168" y="1779955"/>
            <a:ext cx="7790688" cy="369332"/>
          </a:xfrm>
          <a:prstGeom prst="rect">
            <a:avLst/>
          </a:prstGeom>
          <a:noFill/>
        </p:spPr>
        <p:txBody>
          <a:bodyPr wrap="square">
            <a:spAutoFit/>
          </a:bodyPr>
          <a:lstStyle/>
          <a:p>
            <a:r>
              <a:rPr lang="en-JP" dirty="0"/>
              <a:t>[1]https://www.toptal.com/machine-learning/generative-adversarial-networks</a:t>
            </a:r>
          </a:p>
        </p:txBody>
      </p:sp>
      <p:sp>
        <p:nvSpPr>
          <p:cNvPr id="10" name="TextBox 9">
            <a:extLst>
              <a:ext uri="{FF2B5EF4-FFF2-40B4-BE49-F238E27FC236}">
                <a16:creationId xmlns:a16="http://schemas.microsoft.com/office/drawing/2014/main" id="{6D73539C-BF8E-4231-05E9-A4225E0046A7}"/>
              </a:ext>
            </a:extLst>
          </p:cNvPr>
          <p:cNvSpPr txBox="1"/>
          <p:nvPr/>
        </p:nvSpPr>
        <p:spPr>
          <a:xfrm>
            <a:off x="963168" y="2320790"/>
            <a:ext cx="6096000" cy="369332"/>
          </a:xfrm>
          <a:prstGeom prst="rect">
            <a:avLst/>
          </a:prstGeom>
          <a:noFill/>
        </p:spPr>
        <p:txBody>
          <a:bodyPr wrap="square">
            <a:spAutoFit/>
          </a:bodyPr>
          <a:lstStyle/>
          <a:p>
            <a:r>
              <a:rPr lang="en-JP" dirty="0"/>
              <a:t>[2]https://www.youtube.com/watch?v=9zKuYvjFFS8</a:t>
            </a:r>
          </a:p>
        </p:txBody>
      </p:sp>
      <p:sp>
        <p:nvSpPr>
          <p:cNvPr id="12" name="TextBox 11">
            <a:extLst>
              <a:ext uri="{FF2B5EF4-FFF2-40B4-BE49-F238E27FC236}">
                <a16:creationId xmlns:a16="http://schemas.microsoft.com/office/drawing/2014/main" id="{A53C564F-B625-8970-F013-6AA6191966E9}"/>
              </a:ext>
            </a:extLst>
          </p:cNvPr>
          <p:cNvSpPr txBox="1"/>
          <p:nvPr/>
        </p:nvSpPr>
        <p:spPr>
          <a:xfrm>
            <a:off x="963168" y="2867823"/>
            <a:ext cx="8095488" cy="923330"/>
          </a:xfrm>
          <a:prstGeom prst="rect">
            <a:avLst/>
          </a:prstGeom>
          <a:noFill/>
        </p:spPr>
        <p:txBody>
          <a:bodyPr wrap="square">
            <a:spAutoFit/>
          </a:bodyPr>
          <a:lstStyle/>
          <a:p>
            <a:r>
              <a:rPr lang="en-US" dirty="0"/>
              <a:t>[3] Radford, A., Metz, L., &amp; Chintala, S. (2016). Unsupervised Representation Learning with Deep Convolutional Generative Adversarial Networks. </a:t>
            </a:r>
            <a:r>
              <a:rPr lang="en-US" i="1" dirty="0"/>
              <a:t>arXiv preprint arXiv:1511.06434</a:t>
            </a:r>
            <a:r>
              <a:rPr lang="en-US" dirty="0"/>
              <a:t>. https://arxiv.org/pdf/1511.06434</a:t>
            </a:r>
            <a:endParaRPr lang="en-JP" dirty="0"/>
          </a:p>
        </p:txBody>
      </p:sp>
      <p:sp>
        <p:nvSpPr>
          <p:cNvPr id="14" name="TextBox 13">
            <a:extLst>
              <a:ext uri="{FF2B5EF4-FFF2-40B4-BE49-F238E27FC236}">
                <a16:creationId xmlns:a16="http://schemas.microsoft.com/office/drawing/2014/main" id="{C5FAB5BA-5E65-D237-6264-C802261AB21C}"/>
              </a:ext>
            </a:extLst>
          </p:cNvPr>
          <p:cNvSpPr txBox="1"/>
          <p:nvPr/>
        </p:nvSpPr>
        <p:spPr>
          <a:xfrm>
            <a:off x="963168" y="3968854"/>
            <a:ext cx="6242304" cy="646331"/>
          </a:xfrm>
          <a:prstGeom prst="rect">
            <a:avLst/>
          </a:prstGeom>
          <a:noFill/>
        </p:spPr>
        <p:txBody>
          <a:bodyPr wrap="square">
            <a:spAutoFit/>
          </a:bodyPr>
          <a:lstStyle/>
          <a:p>
            <a:r>
              <a:rPr lang="en-US" dirty="0"/>
              <a:t>[4]Early Visual Concept Learning with Unsupervised Deep Learning https://arxiv.org/pdf/1606.05579</a:t>
            </a:r>
            <a:endParaRPr lang="en-JP" dirty="0"/>
          </a:p>
        </p:txBody>
      </p:sp>
    </p:spTree>
    <p:extLst>
      <p:ext uri="{BB962C8B-B14F-4D97-AF65-F5344CB8AC3E}">
        <p14:creationId xmlns:p14="http://schemas.microsoft.com/office/powerpoint/2010/main" val="4052614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5392</TotalTime>
  <Words>1901</Words>
  <Application>Microsoft Macintosh PowerPoint</Application>
  <PresentationFormat>Widescreen</PresentationFormat>
  <Paragraphs>189</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Meiryo</vt:lpstr>
      <vt:lpstr>Arial</vt:lpstr>
      <vt:lpstr>Calibri</vt:lpstr>
      <vt:lpstr>Calibri Light</vt:lpstr>
      <vt:lpstr>Office Theme</vt:lpstr>
      <vt:lpstr>PowerPoint Presentation</vt:lpstr>
      <vt:lpstr>PowerPoint Presentation</vt:lpstr>
      <vt:lpstr>異常検知とは</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2</cp:revision>
  <dcterms:created xsi:type="dcterms:W3CDTF">2025-06-12T09:38:26Z</dcterms:created>
  <dcterms:modified xsi:type="dcterms:W3CDTF">2025-06-16T03:30:40Z</dcterms:modified>
</cp:coreProperties>
</file>