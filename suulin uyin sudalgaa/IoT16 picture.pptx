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3"/>
  </p:notesMasterIdLst>
  <p:sldIdLst>
    <p:sldId id="256" r:id="rId2"/>
    <p:sldId id="274" r:id="rId3"/>
    <p:sldId id="283" r:id="rId4"/>
    <p:sldId id="284" r:id="rId5"/>
    <p:sldId id="285" r:id="rId6"/>
    <p:sldId id="286" r:id="rId7"/>
    <p:sldId id="287" r:id="rId8"/>
    <p:sldId id="257" r:id="rId9"/>
    <p:sldId id="271" r:id="rId10"/>
    <p:sldId id="270" r:id="rId11"/>
    <p:sldId id="272" r:id="rId12"/>
    <p:sldId id="277" r:id="rId13"/>
    <p:sldId id="280" r:id="rId14"/>
    <p:sldId id="279" r:id="rId15"/>
    <p:sldId id="278" r:id="rId16"/>
    <p:sldId id="273" r:id="rId17"/>
    <p:sldId id="281" r:id="rId18"/>
    <p:sldId id="282" r:id="rId19"/>
    <p:sldId id="268" r:id="rId20"/>
    <p:sldId id="288" r:id="rId21"/>
    <p:sldId id="289" r:id="rId22"/>
    <p:sldId id="260" r:id="rId23"/>
    <p:sldId id="258" r:id="rId24"/>
    <p:sldId id="266" r:id="rId25"/>
    <p:sldId id="275" r:id="rId26"/>
    <p:sldId id="276" r:id="rId27"/>
    <p:sldId id="265" r:id="rId28"/>
    <p:sldId id="267" r:id="rId29"/>
    <p:sldId id="263" r:id="rId30"/>
    <p:sldId id="264" r:id="rId31"/>
    <p:sldId id="262" r:id="rId3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01"/>
    <p:restoredTop sz="94648"/>
  </p:normalViewPr>
  <p:slideViewPr>
    <p:cSldViewPr snapToGrid="0">
      <p:cViewPr varScale="1">
        <p:scale>
          <a:sx n="104" d="100"/>
          <a:sy n="104" d="100"/>
        </p:scale>
        <p:origin x="22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1B5DD-A29B-E244-83F5-80DAC8FE64DF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0E122-13B1-7349-9FFC-6261DF4F463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1091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0E122-13B1-7349-9FFC-6261DF4F463B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0431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A44-9F81-A5A2-DD09-FA1B7E49E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1C69E-4372-C8A3-4D91-3880A8387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FE24E-F869-93E9-4A1D-1DCD472B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DD9DC-00A5-81F5-1328-001B44F1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BEA98-C05A-7D62-9E2B-8E8D2B7B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3003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299E-0F2C-4C40-DA56-FE1C4E0D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8B83-2629-F168-83FE-F1A35DCE5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F1FA9-AD49-037F-6142-9DFB3A2F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4CFDD-AB1D-2E02-BBCC-828BE7C5B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BA0B6-D8A3-7CB7-2BDB-4C1D7761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832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3636-D5FF-4544-72CE-D7AB42F3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4F2F7-D2FD-9AC5-4216-3EB17DF1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22CB-10D0-B2DB-F9F9-325E47AE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6BCB7-2343-2B7F-43C3-5B24A915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5DB7B-166A-1D70-4F53-41EF317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7351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A61E-40FE-F389-DC6C-9B43B840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0186-4AFF-E2BC-1585-037A8A064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ADD9D-FF89-513A-46B7-4B9DB7902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3827-5D03-851D-3AAF-9A240EBD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C6A5C-7AB4-C9E2-3D46-9FF9B4F5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4F3B1-1034-0DBE-6B48-6F4645DB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5563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6812-90EB-3040-7F4E-FBDF9572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15783-61D4-4AEE-B728-4B8F6463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B6052-B785-12FD-BF0F-329EA1CC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FC82E-130A-7F69-AC8F-EDE71BEB7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5752A-67A2-CD4F-369F-5B543325C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BFB4E-AED3-844A-CEDA-72DB1B77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1E267-B2F9-D2FD-8A24-AC762F3F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F7797-27E7-398C-2EE1-88140C9B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0014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AB2F-D839-8ECC-8427-C8A997B7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6112A-9C00-C792-CCC6-4A6B2B3C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4EC5C-F8F3-F2F5-B3AD-D4C2CB1D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77BFD-E835-8B67-CB5B-E5B4C49C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9286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E115A-4127-1BF5-FDE1-0E020DEE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B45D8-917F-90B7-4A94-BEC97740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A9FEF-FDC9-52EE-7356-E8382CF1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2331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E251-D5F7-41F4-FAB2-D72E2B4C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5217C-5B63-00CD-3915-C36BAFAA4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489F9-B18C-EB78-7B90-DD351F971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FF024-608B-77C8-9CBB-D6C6EF70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B2278-5049-C1E7-D24F-CDE5EEBE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BB52F-F719-F476-BE7D-9182F31C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033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A302-460F-828C-4529-AE550C8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761EF-7AB8-9D68-2FF6-E689669A1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6A831-2E70-FE1D-7186-AE074EC9A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41845-91D3-2713-A6F1-83A3AA74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9EFD4-4F2B-D55F-D23B-D951CABE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E924F-8BBB-B57C-F6DF-42E04A32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839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7156-964F-C9EF-0151-E6FDEE5E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99E9B-1CE2-81AB-B1BB-61F678790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0678-4E38-34AB-3CF4-08B60A7E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B7360-19C6-6281-4E2A-BA904101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7E3BF-0AFE-561F-F760-81EB549E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2044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22F34-559B-7E9C-6603-41E064A21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2E313-64F9-A329-473D-FFFF0E0DE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45A77-2264-0CCF-CFD6-E5DE2956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BC755-462E-84C0-F98E-C5C717F3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D1652-F950-44EF-4472-E6B37833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224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AEE5A-5A16-8FB8-19FB-F2CE0D65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833C7-A32C-54F1-7393-E1E79F923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2C838-E255-F628-2892-679A09FBB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D723-4C5C-4347-89E7-12F60CE56255}" type="datetimeFigureOut">
              <a:rPr lang="en-JP" smtClean="0"/>
              <a:t>2026/04/07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A1D2-A840-8268-45B3-81272FF67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3AFC-246B-8ED4-100D-315B65B9D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C911D-1BC8-604B-8F65-51E5906F3A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0822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12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5DE2-CE2F-4E97-34F0-03EFA2969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DA6CB-6241-3FC2-4A61-78220382C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1051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A35E-4DFD-5F78-4916-612D7A6C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72890-CBEB-AFAB-F32C-DB1A5B506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002" y="2898562"/>
            <a:ext cx="2403606" cy="1275907"/>
          </a:xfrm>
          <a:prstGeom prst="rect">
            <a:avLst/>
          </a:prstGeom>
        </p:spPr>
      </p:pic>
      <p:pic>
        <p:nvPicPr>
          <p:cNvPr id="4" name="Content Placeholder 4" descr="Laptop">
            <a:extLst>
              <a:ext uri="{FF2B5EF4-FFF2-40B4-BE49-F238E27FC236}">
                <a16:creationId xmlns:a16="http://schemas.microsoft.com/office/drawing/2014/main" id="{C1211995-6537-853F-A487-1659D67EE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3352" y="3082169"/>
            <a:ext cx="1105436" cy="10923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54A93F-76CF-5E85-DA2C-68B391BBBCB2}"/>
              </a:ext>
            </a:extLst>
          </p:cNvPr>
          <p:cNvSpPr txBox="1"/>
          <p:nvPr/>
        </p:nvSpPr>
        <p:spPr>
          <a:xfrm>
            <a:off x="3026535" y="4275786"/>
            <a:ext cx="110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33D00-6C60-A784-29AE-463878290EFC}"/>
              </a:ext>
            </a:extLst>
          </p:cNvPr>
          <p:cNvSpPr txBox="1"/>
          <p:nvPr/>
        </p:nvSpPr>
        <p:spPr>
          <a:xfrm>
            <a:off x="7101002" y="4460452"/>
            <a:ext cx="311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 =  Gateway</a:t>
            </a:r>
            <a:endParaRPr lang="en-JP" dirty="0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519A9DB-DD34-A379-0626-1DFFAA615F74}"/>
              </a:ext>
            </a:extLst>
          </p:cNvPr>
          <p:cNvCxnSpPr>
            <a:cxnSpLocks/>
          </p:cNvCxnSpPr>
          <p:nvPr/>
        </p:nvCxnSpPr>
        <p:spPr>
          <a:xfrm>
            <a:off x="4472729" y="3536515"/>
            <a:ext cx="1876556" cy="9180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35966F-D49E-21E3-2738-4AA51504F001}"/>
              </a:ext>
            </a:extLst>
          </p:cNvPr>
          <p:cNvSpPr txBox="1"/>
          <p:nvPr/>
        </p:nvSpPr>
        <p:spPr>
          <a:xfrm>
            <a:off x="4663759" y="4092834"/>
            <a:ext cx="168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Get,Post requist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FB85C-0E4A-9345-3E8F-FC1B1ED65925}"/>
              </a:ext>
            </a:extLst>
          </p:cNvPr>
          <p:cNvSpPr txBox="1"/>
          <p:nvPr/>
        </p:nvSpPr>
        <p:spPr>
          <a:xfrm>
            <a:off x="2838027" y="4746435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172.20.10.2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3236E-D50C-E928-4D06-7B3841B5325E}"/>
              </a:ext>
            </a:extLst>
          </p:cNvPr>
          <p:cNvSpPr txBox="1"/>
          <p:nvPr/>
        </p:nvSpPr>
        <p:spPr>
          <a:xfrm>
            <a:off x="8087932" y="497124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172.20.10.7</a:t>
            </a:r>
            <a:endParaRPr lang="en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71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E205AA-8BAA-26EB-8CAE-6297FF724428}"/>
              </a:ext>
            </a:extLst>
          </p:cNvPr>
          <p:cNvSpPr/>
          <p:nvPr/>
        </p:nvSpPr>
        <p:spPr>
          <a:xfrm>
            <a:off x="208001" y="763197"/>
            <a:ext cx="1963699" cy="8954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受信メール    (Incoming Email)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82129D-E650-BB03-48F2-2898BCE187A9}"/>
              </a:ext>
            </a:extLst>
          </p:cNvPr>
          <p:cNvSpPr/>
          <p:nvPr/>
        </p:nvSpPr>
        <p:spPr>
          <a:xfrm>
            <a:off x="2760701" y="763197"/>
            <a:ext cx="1963699" cy="8954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1.SPF / DKIM /   </a:t>
            </a:r>
            <a:r>
              <a:rPr lang="en-US" dirty="0"/>
              <a:t>(</a:t>
            </a:r>
            <a:r>
              <a:rPr lang="en-JP" dirty="0"/>
              <a:t>DMARC 検証)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813800-E593-42D1-ABA0-0D65D8F513A9}"/>
              </a:ext>
            </a:extLst>
          </p:cNvPr>
          <p:cNvSpPr/>
          <p:nvPr/>
        </p:nvSpPr>
        <p:spPr>
          <a:xfrm>
            <a:off x="5211803" y="763197"/>
            <a:ext cx="2331999" cy="89540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2.添付ファイル 抽出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DDF8233-F721-F242-25C2-A4E00333F3D0}"/>
              </a:ext>
            </a:extLst>
          </p:cNvPr>
          <p:cNvSpPr/>
          <p:nvPr/>
        </p:nvSpPr>
        <p:spPr>
          <a:xfrm>
            <a:off x="8450303" y="661597"/>
            <a:ext cx="3220997" cy="266580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3.静的解析（自動化）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 ファイルハッシュ照合            </a:t>
            </a:r>
          </a:p>
          <a:p>
            <a:r>
              <a:rPr lang="en-JP" dirty="0"/>
              <a:t>            (既知マルウェアDB)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YARAルールマッチング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ファイル構造検証                 </a:t>
            </a:r>
          </a:p>
          <a:p>
            <a:r>
              <a:rPr lang="en-JP" dirty="0"/>
              <a:t>             (PE / Office解析)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 難読化・暗号化検出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479327-2886-10E7-1CA9-0960F2D57231}"/>
              </a:ext>
            </a:extLst>
          </p:cNvPr>
          <p:cNvSpPr/>
          <p:nvPr/>
        </p:nvSpPr>
        <p:spPr>
          <a:xfrm>
            <a:off x="6687973" y="3714692"/>
            <a:ext cx="1963699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4. リスク       </a:t>
            </a:r>
          </a:p>
          <a:p>
            <a:r>
              <a:rPr lang="en-JP" dirty="0"/>
              <a:t>(スコアリング)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08310B8-2D37-2E36-F63A-6318D8035C8A}"/>
              </a:ext>
            </a:extLst>
          </p:cNvPr>
          <p:cNvSpPr/>
          <p:nvPr/>
        </p:nvSpPr>
        <p:spPr>
          <a:xfrm>
            <a:off x="2925801" y="2852405"/>
            <a:ext cx="1963699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</a:t>
            </a:r>
            <a:r>
              <a:rPr lang="en-JP" dirty="0"/>
              <a:t> Low Risk(配送) 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1016ECA-8BA0-D0F7-E35C-67D3236BF38A}"/>
              </a:ext>
            </a:extLst>
          </p:cNvPr>
          <p:cNvSpPr/>
          <p:nvPr/>
        </p:nvSpPr>
        <p:spPr>
          <a:xfrm>
            <a:off x="2925801" y="4162396"/>
            <a:ext cx="1963699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II. Medium Risk 動的解析へ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13C69A-1F89-6E57-678B-7504B1F4E982}"/>
              </a:ext>
            </a:extLst>
          </p:cNvPr>
          <p:cNvSpPr/>
          <p:nvPr/>
        </p:nvSpPr>
        <p:spPr>
          <a:xfrm>
            <a:off x="2925801" y="5472387"/>
            <a:ext cx="1963699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III. High Risk </a:t>
            </a:r>
          </a:p>
          <a:p>
            <a:r>
              <a:rPr lang="en-JP" dirty="0"/>
              <a:t>隔離 + アラート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82AF1A-4AE0-14D7-EDC4-F1E782890DE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71700" y="1210901"/>
            <a:ext cx="589001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2C28F9-23E3-8328-4EBF-2F461D907F6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724400" y="1202602"/>
            <a:ext cx="487403" cy="8299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8AEE4E-D6B1-51D7-33B9-ECF3DD6FDBA3}"/>
              </a:ext>
            </a:extLst>
          </p:cNvPr>
          <p:cNvCxnSpPr>
            <a:cxnSpLocks/>
          </p:cNvCxnSpPr>
          <p:nvPr/>
        </p:nvCxnSpPr>
        <p:spPr>
          <a:xfrm>
            <a:off x="7669823" y="1257608"/>
            <a:ext cx="589001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6AC463C7-9FFC-63FB-7912-0972C6C82D6E}"/>
              </a:ext>
            </a:extLst>
          </p:cNvPr>
          <p:cNvCxnSpPr>
            <a:stCxn id="14" idx="1"/>
          </p:cNvCxnSpPr>
          <p:nvPr/>
        </p:nvCxnSpPr>
        <p:spPr>
          <a:xfrm rot="10800000">
            <a:off x="4889501" y="3327400"/>
            <a:ext cx="1798473" cy="834996"/>
          </a:xfrm>
          <a:prstGeom prst="bentConnector3">
            <a:avLst>
              <a:gd name="adj1" fmla="val 468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BF7F970-561B-38C2-1C5D-4DFEDC83361B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 flipV="1">
            <a:off x="4889500" y="4162394"/>
            <a:ext cx="948592" cy="44770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7CB8BCA-A4E3-98CA-E223-B64377614DB8}"/>
              </a:ext>
            </a:extLst>
          </p:cNvPr>
          <p:cNvCxnSpPr>
            <a:cxnSpLocks/>
            <a:endCxn id="17" idx="3"/>
          </p:cNvCxnSpPr>
          <p:nvPr/>
        </p:nvCxnSpPr>
        <p:spPr>
          <a:xfrm rot="5400000">
            <a:off x="4484948" y="4566946"/>
            <a:ext cx="1757697" cy="9485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1ED655D-C995-2E57-D313-650D553412D2}"/>
              </a:ext>
            </a:extLst>
          </p:cNvPr>
          <p:cNvCxnSpPr>
            <a:stCxn id="13" idx="2"/>
          </p:cNvCxnSpPr>
          <p:nvPr/>
        </p:nvCxnSpPr>
        <p:spPr>
          <a:xfrm rot="5400000">
            <a:off x="8938741" y="3040331"/>
            <a:ext cx="834993" cy="140913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56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375DCB-01F7-202E-B6A5-AA983BE5C7D2}"/>
              </a:ext>
            </a:extLst>
          </p:cNvPr>
          <p:cNvSpPr/>
          <p:nvPr/>
        </p:nvSpPr>
        <p:spPr>
          <a:xfrm>
            <a:off x="39520" y="680817"/>
            <a:ext cx="1559688" cy="8954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ユーザ端末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E2D663-E8CE-32F9-1A83-B861CF4484FD}"/>
              </a:ext>
            </a:extLst>
          </p:cNvPr>
          <p:cNvSpPr/>
          <p:nvPr/>
        </p:nvSpPr>
        <p:spPr>
          <a:xfrm>
            <a:off x="2262962" y="686957"/>
            <a:ext cx="1963699" cy="8954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HTTP / HTTPS</a:t>
            </a:r>
          </a:p>
          <a:p>
            <a:pPr algn="ctr"/>
            <a:r>
              <a:rPr lang="en-JP" dirty="0"/>
              <a:t> 通信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96DF70-4C1F-EC91-847F-187DA3904308}"/>
              </a:ext>
            </a:extLst>
          </p:cNvPr>
          <p:cNvSpPr/>
          <p:nvPr/>
        </p:nvSpPr>
        <p:spPr>
          <a:xfrm>
            <a:off x="4853520" y="498768"/>
            <a:ext cx="3000144" cy="13610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URLレピュテーション</a:t>
            </a:r>
            <a:r>
              <a:rPr lang="mn-MN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確認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 悪性URL / DGA検出 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D6FC81-8B21-4CE1-B668-41EB6C29D003}"/>
              </a:ext>
            </a:extLst>
          </p:cNvPr>
          <p:cNvSpPr/>
          <p:nvPr/>
        </p:nvSpPr>
        <p:spPr>
          <a:xfrm>
            <a:off x="8442665" y="249464"/>
            <a:ext cx="3602418" cy="266580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ダウンロードファイル検査</a:t>
            </a:r>
            <a:endParaRPr lang="mn-MN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MIME/拡張子不一致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実行可能ファイル検出 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スクリプト難読化検出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623CB4-C861-919C-A10E-EB7912846256}"/>
              </a:ext>
            </a:extLst>
          </p:cNvPr>
          <p:cNvSpPr/>
          <p:nvPr/>
        </p:nvSpPr>
        <p:spPr>
          <a:xfrm>
            <a:off x="7543803" y="4137552"/>
            <a:ext cx="1698672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疑わしい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5E60576-AE87-1C64-88B9-66E3EFA2B630}"/>
              </a:ext>
            </a:extLst>
          </p:cNvPr>
          <p:cNvSpPr/>
          <p:nvPr/>
        </p:nvSpPr>
        <p:spPr>
          <a:xfrm>
            <a:off x="3547966" y="2766017"/>
            <a:ext cx="2880969" cy="13610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I.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動的解析</a:t>
            </a:r>
            <a:endParaRPr lang="mn-MN" altLang="ja-JP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ネットワーク通信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通信監視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C2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通信パターン検出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E498B2-B160-83DD-2949-ECE2256222C5}"/>
              </a:ext>
            </a:extLst>
          </p:cNvPr>
          <p:cNvSpPr/>
          <p:nvPr/>
        </p:nvSpPr>
        <p:spPr>
          <a:xfrm>
            <a:off x="4010383" y="4585256"/>
            <a:ext cx="1963699" cy="8954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II. 許可</a:t>
            </a:r>
          </a:p>
          <a:p>
            <a:r>
              <a:rPr lang="en-JP" dirty="0"/>
              <a:t>  通信継続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1A52AC-58C9-1DA3-2A8F-245727BF53E1}"/>
              </a:ext>
            </a:extLst>
          </p:cNvPr>
          <p:cNvCxnSpPr>
            <a:cxnSpLocks/>
          </p:cNvCxnSpPr>
          <p:nvPr/>
        </p:nvCxnSpPr>
        <p:spPr>
          <a:xfrm>
            <a:off x="1739885" y="1179277"/>
            <a:ext cx="3824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FEB13-2CC1-FE7B-2AE5-7ED1CF08B3C1}"/>
              </a:ext>
            </a:extLst>
          </p:cNvPr>
          <p:cNvCxnSpPr>
            <a:cxnSpLocks/>
          </p:cNvCxnSpPr>
          <p:nvPr/>
        </p:nvCxnSpPr>
        <p:spPr>
          <a:xfrm>
            <a:off x="4337301" y="1128521"/>
            <a:ext cx="416785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DC7C55-0E95-DD63-F703-DFFA90418F56}"/>
              </a:ext>
            </a:extLst>
          </p:cNvPr>
          <p:cNvCxnSpPr>
            <a:cxnSpLocks/>
          </p:cNvCxnSpPr>
          <p:nvPr/>
        </p:nvCxnSpPr>
        <p:spPr>
          <a:xfrm>
            <a:off x="7853664" y="1179277"/>
            <a:ext cx="589001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0BF2925-5EBD-EDB3-5A24-686946ADC038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rot="10800000">
            <a:off x="6428935" y="3446528"/>
            <a:ext cx="1114868" cy="113872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8C9C782-14F8-1C0D-BE0A-15343852D923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rot="10800000" flipV="1">
            <a:off x="5974083" y="4585256"/>
            <a:ext cx="1569721" cy="44770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A932309-2E43-C1D1-5E47-FC7788A7776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8707365" y="2601042"/>
            <a:ext cx="1222285" cy="185073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4E9520B-8366-FDE9-1C6B-779EE31F1C78}"/>
              </a:ext>
            </a:extLst>
          </p:cNvPr>
          <p:cNvSpPr/>
          <p:nvPr/>
        </p:nvSpPr>
        <p:spPr>
          <a:xfrm>
            <a:off x="625896" y="2766017"/>
            <a:ext cx="1963699" cy="11106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4.判定                    </a:t>
            </a:r>
          </a:p>
          <a:p>
            <a:r>
              <a:rPr lang="en-JP" dirty="0"/>
              <a:t> Block / Warning / Allow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D13B867-06FE-B481-BA5D-B817CB4209F7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2589596" y="3307347"/>
            <a:ext cx="958370" cy="1391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20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E04201-A01A-90D9-1F12-E1BC8E8829C5}"/>
              </a:ext>
            </a:extLst>
          </p:cNvPr>
          <p:cNvSpPr/>
          <p:nvPr/>
        </p:nvSpPr>
        <p:spPr>
          <a:xfrm>
            <a:off x="124877" y="680817"/>
            <a:ext cx="1559688" cy="8954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5982F5-9874-56A4-E376-8F951055AB63}"/>
              </a:ext>
            </a:extLst>
          </p:cNvPr>
          <p:cNvSpPr/>
          <p:nvPr/>
        </p:nvSpPr>
        <p:spPr>
          <a:xfrm>
            <a:off x="2262962" y="686957"/>
            <a:ext cx="1963699" cy="8954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プロセス実行試行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F384EF-F294-44F9-722E-54BADFF7DD9E}"/>
              </a:ext>
            </a:extLst>
          </p:cNvPr>
          <p:cNvSpPr/>
          <p:nvPr/>
        </p:nvSpPr>
        <p:spPr>
          <a:xfrm>
            <a:off x="4853520" y="498768"/>
            <a:ext cx="3000144" cy="19778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</a:t>
            </a:r>
            <a:r>
              <a:rPr lang="en-JP" dirty="0"/>
              <a:t>プロセス起動監視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 親子プロセス確認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 署名検証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 レピュテーション確認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4E704F-BCC5-0466-873D-7605E11BFCB7}"/>
              </a:ext>
            </a:extLst>
          </p:cNvPr>
          <p:cNvSpPr/>
          <p:nvPr/>
        </p:nvSpPr>
        <p:spPr>
          <a:xfrm>
            <a:off x="8442665" y="566303"/>
            <a:ext cx="3602418" cy="266580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2.振る舞い分析</a:t>
            </a:r>
          </a:p>
          <a:p>
            <a:r>
              <a:rPr lang="en-JP" dirty="0"/>
              <a:t>（リアルタイム）</a:t>
            </a:r>
          </a:p>
          <a:p>
            <a:r>
              <a:rPr lang="en-JP" dirty="0"/>
              <a:t>  - ファイル操作              </a:t>
            </a:r>
          </a:p>
          <a:p>
            <a:r>
              <a:rPr lang="en-JP" dirty="0"/>
              <a:t>  - レジストリ変更            </a:t>
            </a:r>
          </a:p>
          <a:p>
            <a:r>
              <a:rPr lang="en-JP" dirty="0"/>
              <a:t>  - ネットワーク通信          </a:t>
            </a:r>
          </a:p>
          <a:p>
            <a:r>
              <a:rPr lang="en-JP" dirty="0"/>
              <a:t>  - 権限昇格試行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4906F8-969D-B587-B212-CB3E89D4BCF8}"/>
              </a:ext>
            </a:extLst>
          </p:cNvPr>
          <p:cNvSpPr/>
          <p:nvPr/>
        </p:nvSpPr>
        <p:spPr>
          <a:xfrm>
            <a:off x="5065566" y="4619212"/>
            <a:ext cx="4022302" cy="13610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3.機械学習ベース検知         </a:t>
            </a:r>
          </a:p>
          <a:p>
            <a:r>
              <a:rPr lang="en-JP" dirty="0"/>
              <a:t>  - 異常行動スコアリング       </a:t>
            </a:r>
          </a:p>
          <a:p>
            <a:r>
              <a:rPr lang="en-JP" dirty="0"/>
              <a:t>  - ゼロデイ検出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FB12A2-B2DB-5C33-BCDD-2A7EB4CCD4A6}"/>
              </a:ext>
            </a:extLst>
          </p:cNvPr>
          <p:cNvSpPr/>
          <p:nvPr/>
        </p:nvSpPr>
        <p:spPr>
          <a:xfrm>
            <a:off x="379829" y="3742017"/>
            <a:ext cx="2724306" cy="1593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対応アクション              - プロセス終了              </a:t>
            </a:r>
          </a:p>
          <a:p>
            <a:r>
              <a:rPr lang="en-JP" dirty="0"/>
              <a:t>- 隔離（Quarantine）</a:t>
            </a:r>
          </a:p>
          <a:p>
            <a:r>
              <a:rPr lang="en-JP" dirty="0"/>
              <a:t>  - 証拠保全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5B76AC-B815-16F4-C6AE-85DCB1A375FE}"/>
              </a:ext>
            </a:extLst>
          </p:cNvPr>
          <p:cNvCxnSpPr>
            <a:cxnSpLocks/>
          </p:cNvCxnSpPr>
          <p:nvPr/>
        </p:nvCxnSpPr>
        <p:spPr>
          <a:xfrm>
            <a:off x="1739885" y="1179277"/>
            <a:ext cx="3824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5D797-26CB-07F8-4D14-C534109E9E91}"/>
              </a:ext>
            </a:extLst>
          </p:cNvPr>
          <p:cNvCxnSpPr>
            <a:cxnSpLocks/>
          </p:cNvCxnSpPr>
          <p:nvPr/>
        </p:nvCxnSpPr>
        <p:spPr>
          <a:xfrm>
            <a:off x="4337301" y="1128521"/>
            <a:ext cx="416785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8FDBF9-7DDA-F405-A421-60C834A40D5B}"/>
              </a:ext>
            </a:extLst>
          </p:cNvPr>
          <p:cNvCxnSpPr>
            <a:cxnSpLocks/>
          </p:cNvCxnSpPr>
          <p:nvPr/>
        </p:nvCxnSpPr>
        <p:spPr>
          <a:xfrm>
            <a:off x="7853664" y="1179277"/>
            <a:ext cx="589001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92CE437B-01CF-E771-2D51-AF05FF488E1C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rot="10800000">
            <a:off x="3104136" y="4539002"/>
            <a:ext cx="1961431" cy="760717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9E19A44-25DB-17E9-3A5D-98FE9E6BF54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7966743" y="2342081"/>
            <a:ext cx="1387106" cy="316715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43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B09043-17D6-419E-0A73-7AB9DD20EE19}"/>
              </a:ext>
            </a:extLst>
          </p:cNvPr>
          <p:cNvSpPr/>
          <p:nvPr/>
        </p:nvSpPr>
        <p:spPr>
          <a:xfrm>
            <a:off x="124877" y="680817"/>
            <a:ext cx="1559688" cy="8954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侵入成功後の活動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960F8F-6B49-BC87-A64F-89CE3F50098E}"/>
              </a:ext>
            </a:extLst>
          </p:cNvPr>
          <p:cNvSpPr/>
          <p:nvPr/>
        </p:nvSpPr>
        <p:spPr>
          <a:xfrm>
            <a:off x="2262962" y="686957"/>
            <a:ext cx="1963699" cy="8954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横展開</a:t>
            </a:r>
            <a:endParaRPr lang="mn-MN" dirty="0"/>
          </a:p>
          <a:p>
            <a:pPr algn="ctr"/>
            <a:r>
              <a:rPr lang="en-JP" dirty="0"/>
              <a:t>（ラテラルムーブメント）検知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31EB76-BBD8-EC89-81D8-56D82703F938}"/>
              </a:ext>
            </a:extLst>
          </p:cNvPr>
          <p:cNvSpPr/>
          <p:nvPr/>
        </p:nvSpPr>
        <p:spPr>
          <a:xfrm>
            <a:off x="4294384" y="1454702"/>
            <a:ext cx="3263538" cy="19778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ネットワーク層検知</a:t>
            </a:r>
            <a:endParaRPr lang="mn-MN" dirty="0"/>
          </a:p>
          <a:p>
            <a:r>
              <a:rPr lang="en-JP" dirty="0"/>
              <a:t>（NDR）              </a:t>
            </a:r>
            <a:endParaRPr lang="mn-MN" dirty="0"/>
          </a:p>
          <a:p>
            <a:r>
              <a:rPr lang="en-JP" dirty="0"/>
              <a:t>- SMB / RDP 異常接続 </a:t>
            </a:r>
            <a:endParaRPr lang="mn-MN" dirty="0"/>
          </a:p>
          <a:p>
            <a:r>
              <a:rPr lang="en-JP" dirty="0"/>
              <a:t>- Pass-the-Hash 攻撃 </a:t>
            </a:r>
            <a:endParaRPr lang="mn-MN" dirty="0"/>
          </a:p>
          <a:p>
            <a:r>
              <a:rPr lang="en-JP" dirty="0"/>
              <a:t>- 内部ネットワークスキャン             </a:t>
            </a:r>
          </a:p>
          <a:p>
            <a:r>
              <a:rPr lang="en-JP" dirty="0"/>
              <a:t> - C2 ビーコン通信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5AEFD1-777F-5EE9-6684-E1229E33429E}"/>
              </a:ext>
            </a:extLst>
          </p:cNvPr>
          <p:cNvSpPr/>
          <p:nvPr/>
        </p:nvSpPr>
        <p:spPr>
          <a:xfrm>
            <a:off x="8314006" y="566303"/>
            <a:ext cx="3731077" cy="266580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エンドポイント層検知（EDR）            </a:t>
            </a:r>
          </a:p>
          <a:p>
            <a:r>
              <a:rPr lang="en-JP" dirty="0"/>
              <a:t>- 認証情報窃取）      </a:t>
            </a:r>
          </a:p>
          <a:p>
            <a:r>
              <a:rPr lang="en-JP" dirty="0"/>
              <a:t>- PsExec によるリモート実行            </a:t>
            </a:r>
          </a:p>
          <a:p>
            <a:r>
              <a:rPr lang="en-JP" dirty="0"/>
              <a:t>- WMI / PowerShell 悪用     </a:t>
            </a:r>
            <a:endParaRPr lang="mn-MN" dirty="0"/>
          </a:p>
          <a:p>
            <a:r>
              <a:rPr lang="en-JP" dirty="0"/>
              <a:t>- ファイルレスマルウェア </a:t>
            </a:r>
          </a:p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D36D78-DDBF-4267-D662-7C699983E857}"/>
              </a:ext>
            </a:extLst>
          </p:cNvPr>
          <p:cNvSpPr/>
          <p:nvPr/>
        </p:nvSpPr>
        <p:spPr>
          <a:xfrm>
            <a:off x="7300418" y="4381343"/>
            <a:ext cx="4022302" cy="19778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ユーザー行動分析</a:t>
            </a:r>
            <a:endParaRPr lang="mn-MN" dirty="0"/>
          </a:p>
          <a:p>
            <a:r>
              <a:rPr lang="en-JP" dirty="0"/>
              <a:t>- 異常なアクセス時間                  </a:t>
            </a:r>
          </a:p>
          <a:p>
            <a:r>
              <a:rPr lang="en-JP" dirty="0"/>
              <a:t>- 大量データダウンロード              </a:t>
            </a:r>
          </a:p>
          <a:p>
            <a:r>
              <a:rPr lang="en-JP" dirty="0"/>
              <a:t> - 特権昇格試行                        </a:t>
            </a:r>
          </a:p>
          <a:p>
            <a:r>
              <a:rPr lang="en-JP" dirty="0"/>
              <a:t> - 異常なファイルアクセス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1D3A00-18AC-1EB6-ADE7-5326C86C2AB7}"/>
              </a:ext>
            </a:extLst>
          </p:cNvPr>
          <p:cNvSpPr/>
          <p:nvPr/>
        </p:nvSpPr>
        <p:spPr>
          <a:xfrm>
            <a:off x="4501662" y="4729167"/>
            <a:ext cx="1851930" cy="10003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 SIEM 統合分析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C3ECC7-3259-DF17-8D8B-CFD074DEB993}"/>
              </a:ext>
            </a:extLst>
          </p:cNvPr>
          <p:cNvCxnSpPr>
            <a:cxnSpLocks/>
          </p:cNvCxnSpPr>
          <p:nvPr/>
        </p:nvCxnSpPr>
        <p:spPr>
          <a:xfrm>
            <a:off x="1739885" y="1179277"/>
            <a:ext cx="3824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D4F958-DC54-F008-F24B-863D262D0118}"/>
              </a:ext>
            </a:extLst>
          </p:cNvPr>
          <p:cNvCxnSpPr>
            <a:cxnSpLocks/>
          </p:cNvCxnSpPr>
          <p:nvPr/>
        </p:nvCxnSpPr>
        <p:spPr>
          <a:xfrm>
            <a:off x="7557922" y="2248422"/>
            <a:ext cx="589001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FEC680B-B23D-0C75-A85C-632C607A69EC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rot="10800000">
            <a:off x="6353592" y="5229320"/>
            <a:ext cx="946826" cy="140968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8F99ED93-2293-0A15-3FFD-AC0A8D378A7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9170939" y="3372736"/>
            <a:ext cx="1149237" cy="86797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A32460-01F3-A285-53D2-74A4E1D0B3A9}"/>
              </a:ext>
            </a:extLst>
          </p:cNvPr>
          <p:cNvSpPr/>
          <p:nvPr/>
        </p:nvSpPr>
        <p:spPr>
          <a:xfrm>
            <a:off x="1252111" y="4781619"/>
            <a:ext cx="2158355" cy="895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dirty="0"/>
              <a:t>インシデント判定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8074C84-0AA6-8734-7E93-A15F627EF167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226661" y="1134661"/>
            <a:ext cx="1699492" cy="320041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0752B564-180E-A843-0270-4FC65DFB2C39}"/>
              </a:ext>
            </a:extLst>
          </p:cNvPr>
          <p:cNvCxnSpPr>
            <a:cxnSpLocks/>
          </p:cNvCxnSpPr>
          <p:nvPr/>
        </p:nvCxnSpPr>
        <p:spPr>
          <a:xfrm rot="10800000">
            <a:off x="3482651" y="5229320"/>
            <a:ext cx="946826" cy="140968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24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FCE9937-9E96-55EB-22C1-450CEE06A65B}"/>
              </a:ext>
            </a:extLst>
          </p:cNvPr>
          <p:cNvSpPr txBox="1"/>
          <p:nvPr/>
        </p:nvSpPr>
        <p:spPr>
          <a:xfrm>
            <a:off x="6096000" y="529778"/>
            <a:ext cx="609834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[図2: SOC/CSIRT統合運用体制]</a:t>
            </a:r>
          </a:p>
          <a:p>
            <a:endParaRPr lang="en-JP" dirty="0"/>
          </a:p>
          <a:p>
            <a:r>
              <a:rPr lang="en-JP" dirty="0"/>
              <a:t>┌─────────────────────────────────────┐</a:t>
            </a:r>
          </a:p>
          <a:p>
            <a:r>
              <a:rPr lang="en-JP" dirty="0"/>
              <a:t>│           セキュリティ統括責任者 (CISO)         │</a:t>
            </a:r>
          </a:p>
          <a:p>
            <a:r>
              <a:rPr lang="en-JP" dirty="0"/>
              <a:t>└─────────────────────────────────────┘</a:t>
            </a:r>
          </a:p>
          <a:p>
            <a:r>
              <a:rPr lang="en-JP" dirty="0"/>
              <a:t>                   │</a:t>
            </a:r>
          </a:p>
          <a:p>
            <a:r>
              <a:rPr lang="en-JP" dirty="0"/>
              <a:t>    ┌─────────────┼─────────────┐</a:t>
            </a:r>
          </a:p>
          <a:p>
            <a:r>
              <a:rPr lang="en-JP" dirty="0"/>
              <a:t>    ▼             ▼             ▼</a:t>
            </a:r>
          </a:p>
          <a:p>
            <a:r>
              <a:rPr lang="en-JP" dirty="0"/>
              <a:t>┌─────┐     ┌─────┐     ┌─────┐</a:t>
            </a:r>
          </a:p>
          <a:p>
            <a:r>
              <a:rPr lang="en-JP" dirty="0"/>
              <a:t>│ SOC       │CSIRT │     │ 技術  │</a:t>
            </a:r>
          </a:p>
          <a:p>
            <a:r>
              <a:rPr lang="en-JP" dirty="0"/>
              <a:t>│マネージャ│     │リーダー│     │チーム │</a:t>
            </a:r>
          </a:p>
          <a:p>
            <a:r>
              <a:rPr lang="en-JP" dirty="0"/>
              <a:t>└─────┘     └─────┘     └─────┘</a:t>
            </a:r>
          </a:p>
          <a:p>
            <a:r>
              <a:rPr lang="en-JP" dirty="0"/>
              <a:t>    │             │             │</a:t>
            </a:r>
          </a:p>
          <a:p>
            <a:r>
              <a:rPr lang="en-JP" dirty="0"/>
              <a:t>    ▼             ▼             ▼</a:t>
            </a:r>
          </a:p>
          <a:p>
            <a:r>
              <a:rPr lang="en-JP" dirty="0"/>
              <a:t>┌─────┐     ┌─────┐     ┌─────┐</a:t>
            </a:r>
          </a:p>
          <a:p>
            <a:r>
              <a:rPr lang="en-JP" dirty="0"/>
              <a:t>│監視  │     │対応  │     │実装・│</a:t>
            </a:r>
          </a:p>
          <a:p>
            <a:r>
              <a:rPr lang="en-JP" dirty="0"/>
              <a:t>│チーム │     │チーム │     │保守  │</a:t>
            </a:r>
          </a:p>
          <a:p>
            <a:r>
              <a:rPr lang="en-JP" dirty="0"/>
              <a:t>│(L1/L2)│     │(L3)  │     │チーム │</a:t>
            </a:r>
          </a:p>
          <a:p>
            <a:r>
              <a:rPr lang="en-JP" dirty="0"/>
              <a:t>└─────┘     └─────┘     └─────┘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EBDDBF-6F7C-8920-E613-E46FE0E212BA}"/>
              </a:ext>
            </a:extLst>
          </p:cNvPr>
          <p:cNvSpPr/>
          <p:nvPr/>
        </p:nvSpPr>
        <p:spPr>
          <a:xfrm>
            <a:off x="1042586" y="682283"/>
            <a:ext cx="4234375" cy="10269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セキュリティ統括責任者 (CISO)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2A5741-8F12-FD3E-2338-C55BFA861947}"/>
              </a:ext>
            </a:extLst>
          </p:cNvPr>
          <p:cNvSpPr/>
          <p:nvPr/>
        </p:nvSpPr>
        <p:spPr>
          <a:xfrm>
            <a:off x="914400" y="2278966"/>
            <a:ext cx="1406769" cy="998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SOC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マネージャ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0540B-3FAD-7B0A-E155-914F86731EF0}"/>
              </a:ext>
            </a:extLst>
          </p:cNvPr>
          <p:cNvSpPr/>
          <p:nvPr/>
        </p:nvSpPr>
        <p:spPr>
          <a:xfrm>
            <a:off x="2599006" y="2278966"/>
            <a:ext cx="1153551" cy="998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CSIRT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リーダー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CC1D6-D944-9007-CC8E-540E3983DFF8}"/>
              </a:ext>
            </a:extLst>
          </p:cNvPr>
          <p:cNvSpPr/>
          <p:nvPr/>
        </p:nvSpPr>
        <p:spPr>
          <a:xfrm>
            <a:off x="4133557" y="2278966"/>
            <a:ext cx="1153551" cy="998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技術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チーム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EC5693-4B2E-75AA-BDC3-006BF7CA182B}"/>
              </a:ext>
            </a:extLst>
          </p:cNvPr>
          <p:cNvSpPr/>
          <p:nvPr/>
        </p:nvSpPr>
        <p:spPr>
          <a:xfrm>
            <a:off x="903849" y="3714682"/>
            <a:ext cx="1406769" cy="998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監視 チーム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L1・L2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10377F-2FF9-84DB-4971-3577261B137D}"/>
              </a:ext>
            </a:extLst>
          </p:cNvPr>
          <p:cNvSpPr/>
          <p:nvPr/>
        </p:nvSpPr>
        <p:spPr>
          <a:xfrm rot="10800000" flipV="1">
            <a:off x="2599005" y="3714683"/>
            <a:ext cx="1153551" cy="1019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chemeClr val="tx1"/>
              </a:solidFill>
            </a:endParaRPr>
          </a:p>
          <a:p>
            <a:pPr algn="ctr"/>
            <a:r>
              <a:rPr lang="en-JP" dirty="0">
                <a:solidFill>
                  <a:schemeClr val="tx1"/>
                </a:solidFill>
              </a:rPr>
              <a:t>対応</a:t>
            </a:r>
            <a:r>
              <a:rPr lang="ja-JP" altLang="en-US">
                <a:solidFill>
                  <a:schemeClr val="tx1"/>
                </a:solidFill>
              </a:rPr>
              <a:t>　</a:t>
            </a:r>
            <a:r>
              <a:rPr lang="en-JP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チーム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L3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62F7D4-4C34-C487-C2F0-D75B611EB907}"/>
              </a:ext>
            </a:extLst>
          </p:cNvPr>
          <p:cNvSpPr/>
          <p:nvPr/>
        </p:nvSpPr>
        <p:spPr>
          <a:xfrm>
            <a:off x="4133557" y="3714682"/>
            <a:ext cx="1153551" cy="998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実装</a:t>
            </a:r>
            <a:r>
              <a:rPr lang="ja-JP" altLang="en-US">
                <a:solidFill>
                  <a:schemeClr val="tx1"/>
                </a:solidFill>
              </a:rPr>
              <a:t>　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JP" dirty="0">
                <a:solidFill>
                  <a:schemeClr val="tx1"/>
                </a:solidFill>
              </a:rPr>
              <a:t> 保守</a:t>
            </a:r>
            <a:r>
              <a:rPr lang="ja-JP" altLang="en-US">
                <a:solidFill>
                  <a:schemeClr val="tx1"/>
                </a:solidFill>
              </a:rPr>
              <a:t>　</a:t>
            </a:r>
            <a:r>
              <a:rPr lang="en-JP" dirty="0">
                <a:solidFill>
                  <a:schemeClr val="tx1"/>
                </a:solidFill>
              </a:rPr>
              <a:t> チーム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0EBD22-8ECF-300A-6C65-A8445F685E38}"/>
              </a:ext>
            </a:extLst>
          </p:cNvPr>
          <p:cNvCxnSpPr>
            <a:cxnSpLocks/>
          </p:cNvCxnSpPr>
          <p:nvPr/>
        </p:nvCxnSpPr>
        <p:spPr>
          <a:xfrm flipH="1">
            <a:off x="1477108" y="1997613"/>
            <a:ext cx="3233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79C24B-F9D2-2B8A-6AA8-B38AFF681DC5}"/>
              </a:ext>
            </a:extLst>
          </p:cNvPr>
          <p:cNvCxnSpPr/>
          <p:nvPr/>
        </p:nvCxnSpPr>
        <p:spPr>
          <a:xfrm>
            <a:off x="1477108" y="1990577"/>
            <a:ext cx="0" cy="29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8F8BC8-12F1-A138-5D73-E2794F2FDC7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175781" y="1997613"/>
            <a:ext cx="1" cy="281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28542A-693D-3C84-8970-0A55D4C7CE12}"/>
              </a:ext>
            </a:extLst>
          </p:cNvPr>
          <p:cNvCxnSpPr>
            <a:cxnSpLocks/>
          </p:cNvCxnSpPr>
          <p:nvPr/>
        </p:nvCxnSpPr>
        <p:spPr>
          <a:xfrm>
            <a:off x="4710332" y="1997613"/>
            <a:ext cx="0" cy="281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A0723C-DBA7-519C-DA4B-0BEDC6DF1A14}"/>
              </a:ext>
            </a:extLst>
          </p:cNvPr>
          <p:cNvCxnSpPr/>
          <p:nvPr/>
        </p:nvCxnSpPr>
        <p:spPr>
          <a:xfrm>
            <a:off x="1607233" y="3281289"/>
            <a:ext cx="0" cy="29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9A8004-E7CC-1D5E-A44B-9BE213F4F89B}"/>
              </a:ext>
            </a:extLst>
          </p:cNvPr>
          <p:cNvCxnSpPr/>
          <p:nvPr/>
        </p:nvCxnSpPr>
        <p:spPr>
          <a:xfrm>
            <a:off x="3190697" y="3277772"/>
            <a:ext cx="0" cy="29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D73649-8253-6941-B905-8AD7E8F5ACC9}"/>
              </a:ext>
            </a:extLst>
          </p:cNvPr>
          <p:cNvCxnSpPr>
            <a:cxnSpLocks/>
          </p:cNvCxnSpPr>
          <p:nvPr/>
        </p:nvCxnSpPr>
        <p:spPr>
          <a:xfrm>
            <a:off x="4735758" y="3289172"/>
            <a:ext cx="0" cy="29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9EAD52-ED78-E0D3-36E6-58B2E788090F}"/>
              </a:ext>
            </a:extLst>
          </p:cNvPr>
          <p:cNvCxnSpPr>
            <a:cxnSpLocks/>
          </p:cNvCxnSpPr>
          <p:nvPr/>
        </p:nvCxnSpPr>
        <p:spPr>
          <a:xfrm>
            <a:off x="2591890" y="1709224"/>
            <a:ext cx="1" cy="281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21AC93-8E29-A039-A802-A181D6E20D97}"/>
              </a:ext>
            </a:extLst>
          </p:cNvPr>
          <p:cNvCxnSpPr>
            <a:cxnSpLocks/>
          </p:cNvCxnSpPr>
          <p:nvPr/>
        </p:nvCxnSpPr>
        <p:spPr>
          <a:xfrm>
            <a:off x="3952132" y="1716260"/>
            <a:ext cx="1" cy="281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285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DB7F9F-4378-E1D3-4952-376763412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817" y="335237"/>
            <a:ext cx="1741923" cy="704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BC2D61-2826-3072-44C1-60FBDE549B32}"/>
              </a:ext>
            </a:extLst>
          </p:cNvPr>
          <p:cNvSpPr txBox="1"/>
          <p:nvPr/>
        </p:nvSpPr>
        <p:spPr>
          <a:xfrm>
            <a:off x="5485260" y="1150130"/>
            <a:ext cx="15310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effectLst/>
                <a:latin typeface="Meiryo" panose="020B0604030504040204" pitchFamily="34" charset="-128"/>
                <a:ea typeface="Meiryo" panose="020B0604030504040204" pitchFamily="34" charset="-128"/>
                <a:cs typeface="MS Mincho" panose="02020609040205080304" pitchFamily="49" charset="-128"/>
              </a:rPr>
              <a:t>Home router</a:t>
            </a:r>
            <a:endParaRPr lang="en-JP" sz="1100" dirty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C2B74-0C0C-CBAF-50FC-D160D5FD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557" y="797705"/>
            <a:ext cx="1435100" cy="87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5C1AC8-B601-69B9-E608-24CAFA790087}"/>
              </a:ext>
            </a:extLst>
          </p:cNvPr>
          <p:cNvSpPr txBox="1"/>
          <p:nvPr/>
        </p:nvSpPr>
        <p:spPr>
          <a:xfrm flipH="1">
            <a:off x="8319781" y="1674005"/>
            <a:ext cx="2291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Cloud platform</a:t>
            </a:r>
          </a:p>
          <a:p>
            <a:r>
              <a:rPr 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(Firebase / ThingSpek)</a:t>
            </a:r>
            <a:endParaRPr lang="en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804D1-E7FE-9B44-F4E6-195B700CE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337" y="2615227"/>
            <a:ext cx="1841887" cy="127590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09FEAE-6446-46C3-7334-4A357862F7E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999236" y="3253181"/>
            <a:ext cx="81310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E1334B-336B-9342-B072-3320B4A8C6FA}"/>
              </a:ext>
            </a:extLst>
          </p:cNvPr>
          <p:cNvCxnSpPr>
            <a:cxnSpLocks/>
          </p:cNvCxnSpPr>
          <p:nvPr/>
        </p:nvCxnSpPr>
        <p:spPr>
          <a:xfrm flipH="1" flipV="1">
            <a:off x="4441242" y="687662"/>
            <a:ext cx="1044018" cy="1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2CB585-7AAF-1629-EA60-C9F577BA5EC1}"/>
              </a:ext>
            </a:extLst>
          </p:cNvPr>
          <p:cNvSpPr txBox="1"/>
          <p:nvPr/>
        </p:nvSpPr>
        <p:spPr>
          <a:xfrm>
            <a:off x="2812337" y="3942985"/>
            <a:ext cx="36070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Raspberry Pi 4 / Zero W</a:t>
            </a:r>
          </a:p>
          <a:p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(MQTT送倡)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7986E4E-03BE-02F9-A26F-8FA9E222C2AA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4390300" y="754721"/>
            <a:ext cx="1203487" cy="2517524"/>
          </a:xfrm>
          <a:prstGeom prst="bent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77D07FD-6557-4B5B-9125-F484C8D16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894" y="2893316"/>
            <a:ext cx="2205752" cy="7132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C58105-B771-2F3D-29DE-93BA2EF9D323}"/>
              </a:ext>
            </a:extLst>
          </p:cNvPr>
          <p:cNvSpPr txBox="1"/>
          <p:nvPr/>
        </p:nvSpPr>
        <p:spPr>
          <a:xfrm rot="10800000" flipV="1">
            <a:off x="6696821" y="3655387"/>
            <a:ext cx="2682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LINE Notity/7 通如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A448F7-37B6-A867-F4CD-7DA2516D1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9152" y="254231"/>
            <a:ext cx="1719808" cy="924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32BED3-806E-C0A2-A752-8024CAA4B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4695" y="4779172"/>
            <a:ext cx="2886150" cy="17142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166B655-DACD-B1D0-8795-4538858931E5}"/>
              </a:ext>
            </a:extLst>
          </p:cNvPr>
          <p:cNvSpPr txBox="1"/>
          <p:nvPr/>
        </p:nvSpPr>
        <p:spPr>
          <a:xfrm>
            <a:off x="6537023" y="6393947"/>
            <a:ext cx="60997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Web Dashboard</a:t>
            </a:r>
            <a:r>
              <a:rPr lang="en-JP" sz="1200" dirty="0">
                <a:latin typeface="Meiryo" panose="020B0604030504040204" pitchFamily="34" charset="-128"/>
                <a:ea typeface="Meiryo" panose="020B0604030504040204" pitchFamily="34" charset="-128"/>
              </a:rPr>
              <a:t>(Node-RED / Blynk)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B4E0578-88C5-EBDC-D00C-5059070E1AC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645254" y="3891134"/>
            <a:ext cx="2589441" cy="1745167"/>
          </a:xfrm>
          <a:prstGeom prst="bent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AA48243-7DF6-22E2-280A-247385139B94}"/>
              </a:ext>
            </a:extLst>
          </p:cNvPr>
          <p:cNvCxnSpPr>
            <a:stCxn id="18" idx="3"/>
            <a:endCxn id="16" idx="2"/>
          </p:cNvCxnSpPr>
          <p:nvPr/>
        </p:nvCxnSpPr>
        <p:spPr>
          <a:xfrm flipH="1" flipV="1">
            <a:off x="8038241" y="3916997"/>
            <a:ext cx="1082604" cy="1719304"/>
          </a:xfrm>
          <a:prstGeom prst="bentConnector4">
            <a:avLst>
              <a:gd name="adj1" fmla="val -21116"/>
              <a:gd name="adj2" fmla="val 7492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28705FE7-533E-9385-5DC3-B323BE4A8BCD}"/>
              </a:ext>
            </a:extLst>
          </p:cNvPr>
          <p:cNvCxnSpPr>
            <a:stCxn id="17" idx="3"/>
            <a:endCxn id="7" idx="0"/>
          </p:cNvCxnSpPr>
          <p:nvPr/>
        </p:nvCxnSpPr>
        <p:spPr>
          <a:xfrm>
            <a:off x="7318960" y="716699"/>
            <a:ext cx="1855147" cy="8100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1A0FE40-E995-DCF5-46AD-45E6E9EB0B3C}"/>
              </a:ext>
            </a:extLst>
          </p:cNvPr>
          <p:cNvCxnSpPr>
            <a:cxnSpLocks/>
            <a:stCxn id="8" idx="2"/>
            <a:endCxn id="15" idx="3"/>
          </p:cNvCxnSpPr>
          <p:nvPr/>
        </p:nvCxnSpPr>
        <p:spPr>
          <a:xfrm rot="5400000">
            <a:off x="8565946" y="2350370"/>
            <a:ext cx="1114286" cy="68488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09AEA0E4-6E81-BE68-8E39-D1CBE31A2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33" y="2063510"/>
            <a:ext cx="1435100" cy="2273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EB007AA-215F-C06C-A4CB-1F3556973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107" y="2893316"/>
            <a:ext cx="673100" cy="9271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06FA2FC-C92B-90E4-73D1-4A4C56692B7A}"/>
              </a:ext>
            </a:extLst>
          </p:cNvPr>
          <p:cNvSpPr txBox="1"/>
          <p:nvPr/>
        </p:nvSpPr>
        <p:spPr>
          <a:xfrm>
            <a:off x="7280708" y="2397680"/>
            <a:ext cx="3680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CO2</a:t>
            </a:r>
            <a:r>
              <a:rPr lang="ja-JP" sz="1200">
                <a:effectLst/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：</a:t>
            </a:r>
            <a:r>
              <a:rPr lang="mn-MN" sz="1200" dirty="0">
                <a:effectLst/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1</a:t>
            </a:r>
            <a:r>
              <a:rPr lang="en-US" sz="1200" dirty="0">
                <a:effectLst/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3</a:t>
            </a:r>
            <a:r>
              <a:rPr lang="mn-MN" sz="1200" dirty="0">
                <a:effectLst/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00 ppm</a:t>
            </a:r>
            <a:r>
              <a:rPr lang="ja-JP" sz="1200">
                <a:effectLst/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以上</a:t>
            </a:r>
            <a:r>
              <a:rPr lang="en-JP" sz="120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en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077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7DC566-A63A-69EC-00BE-57926BA6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37" y="2615227"/>
            <a:ext cx="1841887" cy="12759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3EFF9D-E29C-C311-7F1F-E5C74D9EBCC3}"/>
              </a:ext>
            </a:extLst>
          </p:cNvPr>
          <p:cNvSpPr txBox="1"/>
          <p:nvPr/>
        </p:nvSpPr>
        <p:spPr>
          <a:xfrm>
            <a:off x="2812336" y="4174800"/>
            <a:ext cx="2414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Raspberry Pi 4 / Zero W</a:t>
            </a:r>
          </a:p>
          <a:p>
            <a:r>
              <a:rPr lang="en-JP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Data Processing ・Analysis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9C29A6-3BFE-8ED6-A72B-46900E5E4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358" y="2552700"/>
            <a:ext cx="1435100" cy="876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D9F21E-1BC2-ECB1-F5E0-80E85266B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633" y="3236491"/>
            <a:ext cx="2886150" cy="13092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0F2371-2A6A-6BDF-6296-F0DC9A68FA6B}"/>
              </a:ext>
            </a:extLst>
          </p:cNvPr>
          <p:cNvSpPr txBox="1"/>
          <p:nvPr/>
        </p:nvSpPr>
        <p:spPr>
          <a:xfrm>
            <a:off x="5347016" y="3666969"/>
            <a:ext cx="1573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Cloud platform </a:t>
            </a:r>
          </a:p>
          <a:p>
            <a:r>
              <a:rPr lang="en-US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Web server</a:t>
            </a:r>
          </a:p>
          <a:p>
            <a:r>
              <a:rPr lang="en-US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(Ambient)</a:t>
            </a:r>
            <a:endParaRPr lang="en-JP" sz="1400" dirty="0">
              <a:latin typeface="Times New Roman" panose="02020603050405020304" pitchFamily="18" charset="0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DEACA4-D336-EA4E-CF54-BD7C63F65623}"/>
              </a:ext>
            </a:extLst>
          </p:cNvPr>
          <p:cNvCxnSpPr>
            <a:cxnSpLocks/>
          </p:cNvCxnSpPr>
          <p:nvPr/>
        </p:nvCxnSpPr>
        <p:spPr>
          <a:xfrm flipH="1" flipV="1">
            <a:off x="6981063" y="3253180"/>
            <a:ext cx="1044018" cy="1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B22B5BFA-372C-84A9-4E10-76D62959480B}"/>
              </a:ext>
            </a:extLst>
          </p:cNvPr>
          <p:cNvCxnSpPr>
            <a:cxnSpLocks/>
            <a:stCxn id="10" idx="0"/>
            <a:endCxn id="4" idx="0"/>
          </p:cNvCxnSpPr>
          <p:nvPr/>
        </p:nvCxnSpPr>
        <p:spPr>
          <a:xfrm rot="16200000" flipH="1" flipV="1">
            <a:off x="4917831" y="1368149"/>
            <a:ext cx="62527" cy="2431627"/>
          </a:xfrm>
          <a:prstGeom prst="bentConnector3">
            <a:avLst>
              <a:gd name="adj1" fmla="val -365602"/>
            </a:avLst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90420A9-92A7-F532-4018-AFDD70881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333" y="2234269"/>
            <a:ext cx="529093" cy="728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F1D876-B45B-735C-F1BD-1D29BF1AC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838" y="2216944"/>
            <a:ext cx="1130300" cy="20193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CCB64A-55F8-8353-01D1-1EFC32B6D512}"/>
              </a:ext>
            </a:extLst>
          </p:cNvPr>
          <p:cNvSpPr txBox="1"/>
          <p:nvPr/>
        </p:nvSpPr>
        <p:spPr>
          <a:xfrm>
            <a:off x="684251" y="4298255"/>
            <a:ext cx="1312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1.Sensor </a:t>
            </a:r>
          </a:p>
          <a:p>
            <a:r>
              <a:rPr lang="en-JP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2.Image captur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9064F-A83A-5B90-934C-741CA0C0C255}"/>
              </a:ext>
            </a:extLst>
          </p:cNvPr>
          <p:cNvSpPr txBox="1"/>
          <p:nvPr/>
        </p:nvSpPr>
        <p:spPr>
          <a:xfrm>
            <a:off x="8732317" y="2620733"/>
            <a:ext cx="12570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</a:t>
            </a:r>
          </a:p>
          <a:p>
            <a:r>
              <a:rPr lang="en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eserve</a:t>
            </a:r>
          </a:p>
          <a:p>
            <a:r>
              <a:rPr lang="en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endParaRPr lang="en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2AB3CD-0BF4-20AB-CB8C-9EE9FFBAF9B7}"/>
              </a:ext>
            </a:extLst>
          </p:cNvPr>
          <p:cNvCxnSpPr>
            <a:cxnSpLocks/>
          </p:cNvCxnSpPr>
          <p:nvPr/>
        </p:nvCxnSpPr>
        <p:spPr>
          <a:xfrm flipH="1" flipV="1">
            <a:off x="1694304" y="3245128"/>
            <a:ext cx="1044018" cy="1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1C7D4D2-D9D3-2BA7-0111-A611ABAE54E3}"/>
              </a:ext>
            </a:extLst>
          </p:cNvPr>
          <p:cNvSpPr txBox="1"/>
          <p:nvPr/>
        </p:nvSpPr>
        <p:spPr>
          <a:xfrm>
            <a:off x="1877138" y="1874884"/>
            <a:ext cx="1032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LoRa 通信 </a:t>
            </a:r>
          </a:p>
        </p:txBody>
      </p:sp>
    </p:spTree>
    <p:extLst>
      <p:ext uri="{BB962C8B-B14F-4D97-AF65-F5344CB8AC3E}">
        <p14:creationId xmlns:p14="http://schemas.microsoft.com/office/powerpoint/2010/main" val="185860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7008E5-50C3-7A52-9B07-98960418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416214"/>
            <a:ext cx="69342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7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DF3D4C-9B8F-B850-3898-C6718222CB0F}"/>
              </a:ext>
            </a:extLst>
          </p:cNvPr>
          <p:cNvSpPr txBox="1"/>
          <p:nvPr/>
        </p:nvSpPr>
        <p:spPr>
          <a:xfrm>
            <a:off x="567559" y="607408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フィールドセンサー</a:t>
            </a:r>
          </a:p>
          <a:p>
            <a:r>
              <a:rPr lang="ja-JP" altLang="en-US" sz="1200"/>
              <a:t>    │</a:t>
            </a:r>
          </a:p>
          <a:p>
            <a:r>
              <a:rPr lang="ja-JP" altLang="en-US" sz="1200"/>
              <a:t>    │ </a:t>
            </a:r>
            <a:r>
              <a:rPr lang="en-US" altLang="ja-JP" sz="1200" dirty="0"/>
              <a:t>〔</a:t>
            </a:r>
            <a:r>
              <a:rPr lang="en-US" sz="1200" dirty="0"/>
              <a:t>LoRa〕「</a:t>
            </a:r>
            <a:r>
              <a:rPr lang="ja-JP" altLang="en-US" sz="1200"/>
              <a:t>エリア</a:t>
            </a:r>
            <a:r>
              <a:rPr lang="en-US" sz="1200" dirty="0"/>
              <a:t>A：15</a:t>
            </a:r>
            <a:r>
              <a:rPr lang="ja-JP" altLang="en-US" sz="1200"/>
              <a:t>台」</a:t>
            </a:r>
          </a:p>
          <a:p>
            <a:r>
              <a:rPr lang="ja-JP" altLang="en-US" sz="1200"/>
              <a:t>    ▼</a:t>
            </a:r>
          </a:p>
          <a:p>
            <a:r>
              <a:rPr lang="ja-JP" altLang="en-US" sz="1200"/>
              <a:t>ゲートウェイ</a:t>
            </a:r>
          </a:p>
          <a:p>
            <a:r>
              <a:rPr lang="ja-JP" altLang="en-US" sz="1200"/>
              <a:t>    │</a:t>
            </a:r>
          </a:p>
          <a:p>
            <a:r>
              <a:rPr lang="ja-JP" altLang="en-US" sz="1200"/>
              <a:t>    │ </a:t>
            </a:r>
            <a:r>
              <a:rPr lang="en-US" altLang="ja-JP" sz="1200" dirty="0"/>
              <a:t>〔</a:t>
            </a:r>
            <a:r>
              <a:rPr lang="ja-JP" altLang="en-US" sz="1200"/>
              <a:t>インターネット</a:t>
            </a:r>
            <a:r>
              <a:rPr lang="en-US" altLang="ja-JP" sz="1200" dirty="0"/>
              <a:t>〕</a:t>
            </a:r>
            <a:r>
              <a:rPr lang="en-US" sz="1200" dirty="0"/>
              <a:t>POST</a:t>
            </a:r>
            <a:r>
              <a:rPr lang="ja-JP" altLang="en-US" sz="1200"/>
              <a:t>リクエスト</a:t>
            </a:r>
          </a:p>
          <a:p>
            <a:r>
              <a:rPr lang="ja-JP" altLang="en-US" sz="1200"/>
              <a:t>    ▼</a:t>
            </a:r>
          </a:p>
          <a:p>
            <a:r>
              <a:rPr lang="ja-JP" altLang="en-US" sz="1200"/>
              <a:t>クラウドサーバー</a:t>
            </a:r>
          </a:p>
          <a:p>
            <a:r>
              <a:rPr lang="ja-JP" altLang="en-US" sz="1200"/>
              <a:t>    │</a:t>
            </a:r>
          </a:p>
          <a:p>
            <a:r>
              <a:rPr lang="ja-JP" altLang="en-US" sz="1200"/>
              <a:t>    ▼</a:t>
            </a:r>
          </a:p>
          <a:p>
            <a:r>
              <a:rPr lang="ja-JP" altLang="en-US" sz="1200"/>
              <a:t>データベース</a:t>
            </a:r>
            <a:r>
              <a:rPr lang="en-US" altLang="ja-JP" sz="1200" dirty="0"/>
              <a:t>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ON-SCREEN DISPLAY</a:t>
            </a:r>
            <a:endParaRPr lang="en-JP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/>
              <a:t>On Screen Display</a:t>
            </a:r>
            <a:endParaRPr lang="ja-JP" altLang="en-US" sz="1200"/>
          </a:p>
          <a:p>
            <a:r>
              <a:rPr lang="ja-JP" altLang="en-US" sz="1200"/>
              <a:t>      └─ 保存内容：「エリア</a:t>
            </a:r>
            <a:r>
              <a:rPr lang="en-US" sz="1200" dirty="0"/>
              <a:t>A：15</a:t>
            </a:r>
            <a:r>
              <a:rPr lang="ja-JP" altLang="en-US" sz="1200"/>
              <a:t>台、時刻：</a:t>
            </a:r>
            <a:r>
              <a:rPr lang="en-US" altLang="ja-JP" sz="1200" dirty="0"/>
              <a:t>14:30</a:t>
            </a:r>
            <a:r>
              <a:rPr lang="ja-JP" altLang="en-US" sz="1200"/>
              <a:t>」</a:t>
            </a:r>
            <a:endParaRPr lang="ja-JP" altLang="en-US" sz="12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5A065E-53E2-88D7-0DE8-875388E31B78}"/>
              </a:ext>
            </a:extLst>
          </p:cNvPr>
          <p:cNvSpPr/>
          <p:nvPr/>
        </p:nvSpPr>
        <p:spPr>
          <a:xfrm>
            <a:off x="6857581" y="607409"/>
            <a:ext cx="1716229" cy="68509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LoRa Sensor Node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0B8CD-38D8-6C48-44C0-277C0F93C106}"/>
              </a:ext>
            </a:extLst>
          </p:cNvPr>
          <p:cNvSpPr txBox="1"/>
          <p:nvPr/>
        </p:nvSpPr>
        <p:spPr>
          <a:xfrm>
            <a:off x="683173" y="342900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200" dirty="0"/>
              <a:t>ОБЛАКЫН СЕРВЕР</a:t>
            </a:r>
          </a:p>
          <a:p>
            <a:r>
              <a:rPr lang="en-JP" sz="1200" dirty="0"/>
              <a:t>    │</a:t>
            </a:r>
          </a:p>
          <a:p>
            <a:r>
              <a:rPr lang="en-JP" sz="1200" dirty="0"/>
              <a:t>    │ Тооцоолол хийх:</a:t>
            </a:r>
          </a:p>
          <a:p>
            <a:r>
              <a:rPr lang="en-JP" sz="1200" dirty="0"/>
              <a:t>    │ Нийт 20 - Зогссон 15 = Сул 5</a:t>
            </a:r>
          </a:p>
          <a:p>
            <a:r>
              <a:rPr lang="en-JP" sz="1200" dirty="0"/>
              <a:t>    ▼</a:t>
            </a:r>
          </a:p>
          <a:p>
            <a:r>
              <a:rPr lang="en-JP" sz="1200" dirty="0"/>
              <a:t>GATEWAY</a:t>
            </a:r>
          </a:p>
          <a:p>
            <a:r>
              <a:rPr lang="en-JP" sz="1200" dirty="0"/>
              <a:t>    │</a:t>
            </a:r>
          </a:p>
          <a:p>
            <a:r>
              <a:rPr lang="en-JP" sz="1200" dirty="0"/>
              <a:t>    │ [LoRa] "Бүс А: Сул 5 зай"</a:t>
            </a:r>
          </a:p>
          <a:p>
            <a:r>
              <a:rPr lang="en-JP" sz="1200" dirty="0"/>
              <a:t>    ▼</a:t>
            </a:r>
          </a:p>
          <a:p>
            <a:r>
              <a:rPr lang="en-JP" sz="1200" dirty="0"/>
              <a:t>ҮҮДНИЙ ДЭЛГЭЦ</a:t>
            </a:r>
          </a:p>
          <a:p>
            <a:r>
              <a:rPr lang="en-JP" sz="1200" dirty="0"/>
              <a:t>    │</a:t>
            </a:r>
          </a:p>
          <a:p>
            <a:r>
              <a:rPr lang="en-JP" sz="1200" dirty="0"/>
              <a:t>    ▼</a:t>
            </a:r>
          </a:p>
          <a:p>
            <a:r>
              <a:rPr lang="en-JP" sz="1200" dirty="0"/>
              <a:t>ДЭЛГЭЦЭНД ХАРУУЛАХ</a:t>
            </a:r>
          </a:p>
          <a:p>
            <a:r>
              <a:rPr lang="en-JP" sz="1200" dirty="0"/>
              <a:t>    └─ "Бүс А: 🟢 Сул 5 зай"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2DFF414D-3059-44BF-3738-5B057BDBF2D8}"/>
              </a:ext>
            </a:extLst>
          </p:cNvPr>
          <p:cNvSpPr/>
          <p:nvPr/>
        </p:nvSpPr>
        <p:spPr>
          <a:xfrm>
            <a:off x="3195148" y="937688"/>
            <a:ext cx="1387363" cy="639078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57DF6B-F060-48B8-B845-174A750B2620}"/>
              </a:ext>
            </a:extLst>
          </p:cNvPr>
          <p:cNvSpPr/>
          <p:nvPr/>
        </p:nvSpPr>
        <p:spPr>
          <a:xfrm>
            <a:off x="7110246" y="1853903"/>
            <a:ext cx="1387357" cy="6752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LoRa / Wi-Fi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endParaRPr lang="en-JP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3546F9-6B81-6D7B-ACDC-82D5C66E0FEA}"/>
              </a:ext>
            </a:extLst>
          </p:cNvPr>
          <p:cNvSpPr/>
          <p:nvPr/>
        </p:nvSpPr>
        <p:spPr>
          <a:xfrm>
            <a:off x="7126015" y="3091453"/>
            <a:ext cx="1387351" cy="56464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Ambient</a:t>
            </a:r>
            <a:endParaRPr lang="ja-JP" altLang="en-US" sz="1600">
              <a:solidFill>
                <a:schemeClr val="tx1"/>
              </a:solidFill>
              <a:latin typeface="Times New Roman" panose="02020603050405020304" pitchFamily="18" charset="0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FECAC5-AA9B-9750-A4DB-4C2CB7FCA269}"/>
              </a:ext>
            </a:extLst>
          </p:cNvPr>
          <p:cNvSpPr txBox="1"/>
          <p:nvPr/>
        </p:nvSpPr>
        <p:spPr>
          <a:xfrm>
            <a:off x="7977351" y="1374512"/>
            <a:ext cx="2028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mn-MN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BF6251-3966-ED29-A434-4623D6E27E52}"/>
              </a:ext>
            </a:extLst>
          </p:cNvPr>
          <p:cNvCxnSpPr/>
          <p:nvPr/>
        </p:nvCxnSpPr>
        <p:spPr>
          <a:xfrm>
            <a:off x="7819692" y="1359918"/>
            <a:ext cx="0" cy="46245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C52752-04BC-75C8-4D08-66F06E62286B}"/>
              </a:ext>
            </a:extLst>
          </p:cNvPr>
          <p:cNvCxnSpPr/>
          <p:nvPr/>
        </p:nvCxnSpPr>
        <p:spPr>
          <a:xfrm>
            <a:off x="7819690" y="2628998"/>
            <a:ext cx="0" cy="46245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9CE29D-37C7-A194-76CF-8A2EAE70E0F2}"/>
              </a:ext>
            </a:extLst>
          </p:cNvPr>
          <p:cNvCxnSpPr>
            <a:cxnSpLocks/>
          </p:cNvCxnSpPr>
          <p:nvPr/>
        </p:nvCxnSpPr>
        <p:spPr>
          <a:xfrm>
            <a:off x="7819692" y="3783724"/>
            <a:ext cx="0" cy="43823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45DA0A4-661E-5C1B-3087-915C31362578}"/>
              </a:ext>
            </a:extLst>
          </p:cNvPr>
          <p:cNvSpPr/>
          <p:nvPr/>
        </p:nvSpPr>
        <p:spPr>
          <a:xfrm>
            <a:off x="7065573" y="4390223"/>
            <a:ext cx="150823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</a:t>
            </a:r>
            <a:endParaRPr lang="en-JP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674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758E2F-80AE-9475-AD7A-8F889251B709}"/>
              </a:ext>
            </a:extLst>
          </p:cNvPr>
          <p:cNvSpPr/>
          <p:nvPr/>
        </p:nvSpPr>
        <p:spPr>
          <a:xfrm>
            <a:off x="1732001" y="1550597"/>
            <a:ext cx="1725571" cy="8954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Client </a:t>
            </a:r>
          </a:p>
          <a:p>
            <a:pPr algn="ctr"/>
            <a:r>
              <a:rPr lang="en-JP" dirty="0"/>
              <a:t> Browser</a:t>
            </a:r>
          </a:p>
          <a:p>
            <a:pPr algn="ctr"/>
            <a:r>
              <a:rPr lang="en-JP" dirty="0"/>
              <a:t> 信頼検証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4EFF10C-91D4-FE89-AADB-D5FA9F6E9AA8}"/>
              </a:ext>
            </a:extLst>
          </p:cNvPr>
          <p:cNvSpPr/>
          <p:nvPr/>
        </p:nvSpPr>
        <p:spPr>
          <a:xfrm>
            <a:off x="4505543" y="1465506"/>
            <a:ext cx="2208162" cy="10365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600" dirty="0">
                <a:solidFill>
                  <a:schemeClr val="tx1"/>
                </a:solidFill>
              </a:rPr>
              <a:t>           Web Server    </a:t>
            </a:r>
          </a:p>
          <a:p>
            <a:r>
              <a:rPr lang="en-JP" sz="1600" dirty="0">
                <a:solidFill>
                  <a:schemeClr val="tx1"/>
                </a:solidFill>
              </a:rPr>
              <a:t>         サーバ証明書         </a:t>
            </a:r>
          </a:p>
          <a:p>
            <a:r>
              <a:rPr lang="en-JP" sz="1600" dirty="0">
                <a:solidFill>
                  <a:schemeClr val="tx1"/>
                </a:solidFill>
              </a:rPr>
              <a:t>       公開鍵 / 秘密鍵</a:t>
            </a:r>
            <a:endParaRPr lang="en-JP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C21B56-25C4-8E7C-F231-825BFF817129}"/>
              </a:ext>
            </a:extLst>
          </p:cNvPr>
          <p:cNvSpPr/>
          <p:nvPr/>
        </p:nvSpPr>
        <p:spPr>
          <a:xfrm>
            <a:off x="7276564" y="1480269"/>
            <a:ext cx="2208161" cy="110233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600" dirty="0">
                <a:solidFill>
                  <a:schemeClr val="tx1"/>
                </a:solidFill>
              </a:rPr>
              <a:t>Intermediate CA    </a:t>
            </a:r>
          </a:p>
          <a:p>
            <a:pPr algn="ctr"/>
            <a:r>
              <a:rPr lang="en-JP" sz="1600" dirty="0">
                <a:solidFill>
                  <a:schemeClr val="tx1"/>
                </a:solidFill>
              </a:rPr>
              <a:t>中間CA・任意</a:t>
            </a:r>
            <a:endParaRPr lang="ja-JP" altLang="en-US" sz="1600">
              <a:solidFill>
                <a:schemeClr val="tx1"/>
              </a:solidFill>
              <a:latin typeface="Times New Roman" panose="02020603050405020304" pitchFamily="18" charset="0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BDFE84-DBDC-F714-B4E5-D9D7FA1A4C6C}"/>
              </a:ext>
            </a:extLst>
          </p:cNvPr>
          <p:cNvCxnSpPr>
            <a:cxnSpLocks/>
          </p:cNvCxnSpPr>
          <p:nvPr/>
        </p:nvCxnSpPr>
        <p:spPr>
          <a:xfrm>
            <a:off x="3580327" y="2031436"/>
            <a:ext cx="88435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C610F8-4AD8-DAC4-7A7F-85DED7EA6DA7}"/>
              </a:ext>
            </a:extLst>
          </p:cNvPr>
          <p:cNvCxnSpPr>
            <a:cxnSpLocks/>
          </p:cNvCxnSpPr>
          <p:nvPr/>
        </p:nvCxnSpPr>
        <p:spPr>
          <a:xfrm>
            <a:off x="6713705" y="2031436"/>
            <a:ext cx="56285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2547E2-CA4B-17BF-2A41-1129778AA33A}"/>
              </a:ext>
            </a:extLst>
          </p:cNvPr>
          <p:cNvCxnSpPr>
            <a:cxnSpLocks/>
          </p:cNvCxnSpPr>
          <p:nvPr/>
        </p:nvCxnSpPr>
        <p:spPr>
          <a:xfrm>
            <a:off x="8380644" y="2582603"/>
            <a:ext cx="0" cy="43823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C4026-46AC-3C76-F1DB-44FA0676F249}"/>
              </a:ext>
            </a:extLst>
          </p:cNvPr>
          <p:cNvSpPr/>
          <p:nvPr/>
        </p:nvSpPr>
        <p:spPr>
          <a:xfrm>
            <a:off x="7382927" y="3089735"/>
            <a:ext cx="2101798" cy="9308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Root CA         </a:t>
            </a:r>
          </a:p>
          <a:p>
            <a:pPr algn="ctr"/>
            <a:r>
              <a:rPr lang="en-JP" dirty="0">
                <a:solidFill>
                  <a:schemeClr val="tx1"/>
                </a:solidFill>
              </a:rPr>
              <a:t>  (ルート証明書)</a:t>
            </a:r>
            <a:endParaRPr lang="en-JP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5D400A-E782-50B6-29CD-8730816F93E7}"/>
              </a:ext>
            </a:extLst>
          </p:cNvPr>
          <p:cNvSpPr txBox="1"/>
          <p:nvPr/>
        </p:nvSpPr>
        <p:spPr>
          <a:xfrm>
            <a:off x="6709510" y="2104222"/>
            <a:ext cx="920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署名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3319B0-82FD-7D47-A3ED-66D10E09782C}"/>
              </a:ext>
            </a:extLst>
          </p:cNvPr>
          <p:cNvSpPr txBox="1"/>
          <p:nvPr/>
        </p:nvSpPr>
        <p:spPr>
          <a:xfrm>
            <a:off x="8470965" y="2651503"/>
            <a:ext cx="1461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信頼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043100-1C82-ECE1-15F2-2F19777CC6CE}"/>
              </a:ext>
            </a:extLst>
          </p:cNvPr>
          <p:cNvSpPr txBox="1"/>
          <p:nvPr/>
        </p:nvSpPr>
        <p:spPr>
          <a:xfrm>
            <a:off x="3580327" y="1550597"/>
            <a:ext cx="982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HTTPS</a:t>
            </a:r>
          </a:p>
        </p:txBody>
      </p:sp>
    </p:spTree>
    <p:extLst>
      <p:ext uri="{BB962C8B-B14F-4D97-AF65-F5344CB8AC3E}">
        <p14:creationId xmlns:p14="http://schemas.microsoft.com/office/powerpoint/2010/main" val="337459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149688-150F-1A95-A56E-5CDECA0C0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79713"/>
            <a:ext cx="4831080" cy="494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4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4BDE85-29F4-E98D-1273-6DFBEBEE2225}"/>
              </a:ext>
            </a:extLst>
          </p:cNvPr>
          <p:cNvSpPr/>
          <p:nvPr/>
        </p:nvSpPr>
        <p:spPr>
          <a:xfrm>
            <a:off x="6981007" y="1099823"/>
            <a:ext cx="4153989" cy="18679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pki.example.jp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(Private Ca)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OpenSSL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CA</a:t>
            </a:r>
            <a:r>
              <a:rPr lang="ja-JP" altLang="en-US"/>
              <a:t>秘密鍵</a:t>
            </a:r>
            <a:endParaRPr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ja-JP" altLang="en-US"/>
              <a:t>ルート証明</a:t>
            </a:r>
            <a:endParaRPr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ja-JP" altLang="en-US"/>
              <a:t>証明書</a:t>
            </a:r>
            <a:r>
              <a:rPr lang="en-US" dirty="0"/>
              <a:t>DB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JP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628507-31E7-ED8A-C765-EC2BE0804CC2}"/>
              </a:ext>
            </a:extLst>
          </p:cNvPr>
          <p:cNvSpPr/>
          <p:nvPr/>
        </p:nvSpPr>
        <p:spPr>
          <a:xfrm>
            <a:off x="622662" y="1123407"/>
            <a:ext cx="4153989" cy="18679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 www1.example.jp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 (Web</a:t>
            </a:r>
            <a:r>
              <a:rPr lang="ja-JP" altLang="en-US">
                <a:solidFill>
                  <a:srgbClr val="C00000"/>
                </a:solidFill>
              </a:rPr>
              <a:t>サーバ</a:t>
            </a:r>
            <a:r>
              <a:rPr lang="en-US" altLang="ja-JP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Apache httpd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ja-JP" altLang="en-US"/>
              <a:t>サーバ証明書</a:t>
            </a:r>
            <a:endParaRPr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ja-JP" altLang="en-US"/>
              <a:t>サーバ秘密鍵</a:t>
            </a:r>
            <a:endParaRPr lang="en-JP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F45F19-D441-62FF-90B6-BA610F1F0F8B}"/>
              </a:ext>
            </a:extLst>
          </p:cNvPr>
          <p:cNvSpPr/>
          <p:nvPr/>
        </p:nvSpPr>
        <p:spPr>
          <a:xfrm>
            <a:off x="1759131" y="4447903"/>
            <a:ext cx="7733212" cy="18679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rgbClr val="C00000"/>
                </a:solidFill>
              </a:rPr>
              <a:t>クライアント </a:t>
            </a:r>
            <a:r>
              <a:rPr lang="en-US" altLang="ja-JP" dirty="0">
                <a:solidFill>
                  <a:srgbClr val="C0000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</a:rPr>
              <a:t>Ubuntu / Web</a:t>
            </a:r>
            <a:r>
              <a:rPr lang="ja-JP" altLang="en-US">
                <a:solidFill>
                  <a:srgbClr val="C00000"/>
                </a:solidFill>
              </a:rPr>
              <a:t>ブラウザ</a:t>
            </a:r>
            <a:r>
              <a:rPr lang="en-US" altLang="ja-JP" dirty="0">
                <a:solidFill>
                  <a:srgbClr val="C00000"/>
                </a:solidFill>
              </a:rPr>
              <a:t>)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CA</a:t>
            </a:r>
            <a:r>
              <a:rPr lang="ja-JP" altLang="en-US"/>
              <a:t>証明書を信頼ストアにインポート </a:t>
            </a:r>
            <a:endParaRPr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ja-JP" altLang="en-US"/>
              <a:t>証明書チェーンの検証 </a:t>
            </a:r>
            <a:endParaRPr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ja-JP" dirty="0"/>
              <a:t> </a:t>
            </a:r>
            <a:r>
              <a:rPr lang="en-US" dirty="0"/>
              <a:t>TLS handshake・</a:t>
            </a:r>
            <a:r>
              <a:rPr lang="ja-JP" altLang="en-US"/>
              <a:t>暗号化通信 </a:t>
            </a:r>
            <a:endParaRPr lang="en-JP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BD2B71-3498-D0DA-1335-294C2A212DB8}"/>
              </a:ext>
            </a:extLst>
          </p:cNvPr>
          <p:cNvCxnSpPr/>
          <p:nvPr/>
        </p:nvCxnSpPr>
        <p:spPr>
          <a:xfrm>
            <a:off x="4872446" y="1476103"/>
            <a:ext cx="1933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E9A46-BC9F-543F-6200-28CA55962048}"/>
              </a:ext>
            </a:extLst>
          </p:cNvPr>
          <p:cNvCxnSpPr>
            <a:cxnSpLocks/>
          </p:cNvCxnSpPr>
          <p:nvPr/>
        </p:nvCxnSpPr>
        <p:spPr>
          <a:xfrm flipH="1">
            <a:off x="4776651" y="2377439"/>
            <a:ext cx="20290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8BAACBE-1F98-E0E3-F451-28BA7DC593E2}"/>
              </a:ext>
            </a:extLst>
          </p:cNvPr>
          <p:cNvSpPr txBox="1"/>
          <p:nvPr/>
        </p:nvSpPr>
        <p:spPr>
          <a:xfrm>
            <a:off x="5303520" y="1188720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  <a:r>
              <a:rPr lang="ja-JP" altLang="en-US"/>
              <a:t>送信</a:t>
            </a:r>
            <a:endParaRPr lang="en-JP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E23AF-230E-324D-728E-816C00EA22D7}"/>
              </a:ext>
            </a:extLst>
          </p:cNvPr>
          <p:cNvSpPr txBox="1"/>
          <p:nvPr/>
        </p:nvSpPr>
        <p:spPr>
          <a:xfrm>
            <a:off x="4776651" y="2442752"/>
            <a:ext cx="2619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サーバ証明書発行</a:t>
            </a:r>
            <a:endParaRPr lang="en-JP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A85DB7-AB1C-85F7-5E48-B77844E85B9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699657" y="2991395"/>
            <a:ext cx="0" cy="1432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2B6910-7B9C-14F8-F398-7D0482A2B503}"/>
              </a:ext>
            </a:extLst>
          </p:cNvPr>
          <p:cNvCxnSpPr>
            <a:cxnSpLocks/>
          </p:cNvCxnSpPr>
          <p:nvPr/>
        </p:nvCxnSpPr>
        <p:spPr>
          <a:xfrm>
            <a:off x="8142514" y="2991395"/>
            <a:ext cx="0" cy="1432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306B40-E902-3B5B-28FF-0E0A8143D270}"/>
              </a:ext>
            </a:extLst>
          </p:cNvPr>
          <p:cNvSpPr txBox="1"/>
          <p:nvPr/>
        </p:nvSpPr>
        <p:spPr>
          <a:xfrm>
            <a:off x="2632170" y="3429000"/>
            <a:ext cx="1521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</a:t>
            </a:r>
            <a:r>
              <a:rPr lang="ja-JP" altLang="en-US"/>
              <a:t>通信 </a:t>
            </a:r>
            <a:endParaRPr lang="en-JP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FA27DA-386B-E488-2290-83F4AEB5AF83}"/>
              </a:ext>
            </a:extLst>
          </p:cNvPr>
          <p:cNvSpPr txBox="1"/>
          <p:nvPr/>
        </p:nvSpPr>
        <p:spPr>
          <a:xfrm>
            <a:off x="8142514" y="3371391"/>
            <a:ext cx="183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</a:t>
            </a:r>
            <a:r>
              <a:rPr lang="ja-JP" altLang="en-US"/>
              <a:t>証明書配布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189153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94F90-D781-24F4-222C-81AA1C20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011936"/>
            <a:ext cx="4438650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53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rminator 5">
            <a:extLst>
              <a:ext uri="{FF2B5EF4-FFF2-40B4-BE49-F238E27FC236}">
                <a16:creationId xmlns:a16="http://schemas.microsoft.com/office/drawing/2014/main" id="{DDFA4A52-0387-D06A-530B-B6B36A50B001}"/>
              </a:ext>
            </a:extLst>
          </p:cNvPr>
          <p:cNvSpPr/>
          <p:nvPr/>
        </p:nvSpPr>
        <p:spPr>
          <a:xfrm>
            <a:off x="1554576" y="557672"/>
            <a:ext cx="2451100" cy="6031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待機 / スリープ状態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DBEA1014-9B9F-0031-7705-FFEB22135CF5}"/>
              </a:ext>
            </a:extLst>
          </p:cNvPr>
          <p:cNvSpPr/>
          <p:nvPr/>
        </p:nvSpPr>
        <p:spPr>
          <a:xfrm>
            <a:off x="3249037" y="1332690"/>
            <a:ext cx="1703947" cy="398834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定期チェック</a:t>
            </a:r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1935F12B-5385-D768-7883-B0DD5718314B}"/>
              </a:ext>
            </a:extLst>
          </p:cNvPr>
          <p:cNvSpPr/>
          <p:nvPr/>
        </p:nvSpPr>
        <p:spPr>
          <a:xfrm>
            <a:off x="1790709" y="2220338"/>
            <a:ext cx="1959845" cy="603115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センサー確認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4F6CE0BC-A2DD-6B53-01CA-B6C7C6E3770C}"/>
              </a:ext>
            </a:extLst>
          </p:cNvPr>
          <p:cNvSpPr/>
          <p:nvPr/>
        </p:nvSpPr>
        <p:spPr>
          <a:xfrm>
            <a:off x="3244758" y="3326705"/>
            <a:ext cx="2211963" cy="60311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車両の入退場が発生したか？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913E2-65B0-1438-5E18-C4F1237F9649}"/>
              </a:ext>
            </a:extLst>
          </p:cNvPr>
          <p:cNvSpPr txBox="1"/>
          <p:nvPr/>
        </p:nvSpPr>
        <p:spPr>
          <a:xfrm>
            <a:off x="6725039" y="950606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[待機 / スリープ状態]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 |（定期チェック）</a:t>
            </a:r>
          </a:p>
          <a:p>
            <a:r>
              <a:rPr lang="en-JP" dirty="0"/>
              <a:t>        v</a:t>
            </a:r>
          </a:p>
          <a:p>
            <a:r>
              <a:rPr lang="en-JP" dirty="0"/>
              <a:t>[センサー確認]</a:t>
            </a:r>
          </a:p>
          <a:p>
            <a:r>
              <a:rPr lang="en-JP" dirty="0"/>
              <a:t>        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 |車両の入退場が発生したか？</a:t>
            </a:r>
          </a:p>
          <a:p>
            <a:r>
              <a:rPr lang="en-JP" dirty="0"/>
              <a:t>       YES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 v</a:t>
            </a:r>
          </a:p>
          <a:p>
            <a:r>
              <a:rPr lang="en-JP" dirty="0"/>
              <a:t>[データ送信]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 | ACK（受信確認）は取得できたか？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YES</a:t>
            </a:r>
          </a:p>
          <a:p>
            <a:r>
              <a:rPr lang="en-JP" dirty="0"/>
              <a:t>        |</a:t>
            </a:r>
          </a:p>
          <a:p>
            <a:r>
              <a:rPr lang="en-JP" dirty="0"/>
              <a:t>        v</a:t>
            </a:r>
          </a:p>
          <a:p>
            <a:r>
              <a:rPr lang="en-JP" dirty="0"/>
              <a:t>[スリープ状態へ移行]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221C0A-03F0-6F18-C817-925EEE89B9F0}"/>
              </a:ext>
            </a:extLst>
          </p:cNvPr>
          <p:cNvCxnSpPr>
            <a:cxnSpLocks/>
          </p:cNvCxnSpPr>
          <p:nvPr/>
        </p:nvCxnSpPr>
        <p:spPr>
          <a:xfrm>
            <a:off x="2770631" y="1332690"/>
            <a:ext cx="0" cy="59690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B9563C-C79B-9401-FA09-E22E9415A396}"/>
              </a:ext>
            </a:extLst>
          </p:cNvPr>
          <p:cNvCxnSpPr>
            <a:cxnSpLocks/>
          </p:cNvCxnSpPr>
          <p:nvPr/>
        </p:nvCxnSpPr>
        <p:spPr>
          <a:xfrm>
            <a:off x="2759962" y="3100538"/>
            <a:ext cx="0" cy="59690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EFCFA9-666D-4BA0-91AD-00656136858D}"/>
              </a:ext>
            </a:extLst>
          </p:cNvPr>
          <p:cNvSpPr/>
          <p:nvPr/>
        </p:nvSpPr>
        <p:spPr>
          <a:xfrm>
            <a:off x="1682151" y="4475214"/>
            <a:ext cx="2176960" cy="82565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データ送信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4A8C5-F04F-0E33-7A3F-6538F83FCA6C}"/>
              </a:ext>
            </a:extLst>
          </p:cNvPr>
          <p:cNvSpPr txBox="1"/>
          <p:nvPr/>
        </p:nvSpPr>
        <p:spPr>
          <a:xfrm>
            <a:off x="2418961" y="3901660"/>
            <a:ext cx="56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 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B7FD9-C929-408E-CF79-1F255C63009F}"/>
              </a:ext>
            </a:extLst>
          </p:cNvPr>
          <p:cNvSpPr txBox="1"/>
          <p:nvPr/>
        </p:nvSpPr>
        <p:spPr>
          <a:xfrm>
            <a:off x="2780126" y="5562238"/>
            <a:ext cx="703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| ACK（受信確認）は取得できたか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EED6CF-1E1F-098A-3132-22B624FC6997}"/>
              </a:ext>
            </a:extLst>
          </p:cNvPr>
          <p:cNvCxnSpPr>
            <a:cxnSpLocks/>
          </p:cNvCxnSpPr>
          <p:nvPr/>
        </p:nvCxnSpPr>
        <p:spPr>
          <a:xfrm>
            <a:off x="2680392" y="5509756"/>
            <a:ext cx="0" cy="59690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9377312-F4F0-5B28-5BC6-39136A833B5C}"/>
              </a:ext>
            </a:extLst>
          </p:cNvPr>
          <p:cNvSpPr/>
          <p:nvPr/>
        </p:nvSpPr>
        <p:spPr>
          <a:xfrm>
            <a:off x="1605344" y="6189454"/>
            <a:ext cx="2323525" cy="512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</a:rPr>
              <a:t>スリープ状態へ移行</a:t>
            </a:r>
          </a:p>
        </p:txBody>
      </p:sp>
    </p:spTree>
    <p:extLst>
      <p:ext uri="{BB962C8B-B14F-4D97-AF65-F5344CB8AC3E}">
        <p14:creationId xmlns:p14="http://schemas.microsoft.com/office/powerpoint/2010/main" val="1414243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62F3EE-88E3-1111-C967-747B204AD800}"/>
              </a:ext>
            </a:extLst>
          </p:cNvPr>
          <p:cNvSpPr txBox="1"/>
          <p:nvPr/>
        </p:nvSpPr>
        <p:spPr>
          <a:xfrm>
            <a:off x="1295400" y="-356651"/>
            <a:ext cx="7848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┌─────────────────────────────────────────────────────┐</a:t>
            </a:r>
          </a:p>
          <a:p>
            <a:r>
              <a:rPr lang="en-JP" dirty="0"/>
              <a:t>│                 クラウドサーバ層                      │</a:t>
            </a:r>
          </a:p>
          <a:p>
            <a:r>
              <a:rPr lang="en-JP" dirty="0"/>
              <a:t>│  - データベース（車両履歴、利用統計）                  │</a:t>
            </a:r>
          </a:p>
          <a:p>
            <a:r>
              <a:rPr lang="en-JP" dirty="0"/>
              <a:t>│  - 管理Webアプリケーション                            │</a:t>
            </a:r>
          </a:p>
          <a:p>
            <a:r>
              <a:rPr lang="en-JP" dirty="0"/>
              <a:t>│  - API Gateway                                      │</a:t>
            </a:r>
          </a:p>
          <a:p>
            <a:r>
              <a:rPr lang="en-JP" dirty="0"/>
              <a:t>└──────────────────┬──────────────────────────────────┘</a:t>
            </a:r>
          </a:p>
          <a:p>
            <a:r>
              <a:rPr lang="en-JP" dirty="0"/>
              <a:t>                   │ Internet (HTTP/MQTT)</a:t>
            </a:r>
          </a:p>
          <a:p>
            <a:r>
              <a:rPr lang="en-JP" dirty="0"/>
              <a:t>┌──────────────────┴──────────────────────────────────┐</a:t>
            </a:r>
          </a:p>
          <a:p>
            <a:r>
              <a:rPr lang="en-JP" dirty="0"/>
              <a:t>│              ゲートウェイ層（Gateway）                 │</a:t>
            </a:r>
          </a:p>
          <a:p>
            <a:r>
              <a:rPr lang="en-JP" dirty="0"/>
              <a:t>│  - データ集約・転送                                   │</a:t>
            </a:r>
          </a:p>
          <a:p>
            <a:r>
              <a:rPr lang="en-JP" dirty="0"/>
              <a:t>│  - プロトコル変換（LoRa ↔ WiFi/Internet）            │</a:t>
            </a:r>
          </a:p>
          <a:p>
            <a:r>
              <a:rPr lang="en-JP" dirty="0"/>
              <a:t>│  - ローカルキャッシュ                                 │</a:t>
            </a:r>
          </a:p>
          <a:p>
            <a:r>
              <a:rPr lang="en-JP" dirty="0"/>
              <a:t>└──────────────────┬──────────────────────────────────┘</a:t>
            </a:r>
          </a:p>
          <a:p>
            <a:r>
              <a:rPr lang="en-JP" dirty="0"/>
              <a:t>                   │ LoRa / WiFi</a:t>
            </a:r>
          </a:p>
          <a:p>
            <a:r>
              <a:rPr lang="en-JP" dirty="0"/>
              <a:t>┌──────────────────┴──────────────────────────────────┐</a:t>
            </a:r>
          </a:p>
          <a:p>
            <a:r>
              <a:rPr lang="en-JP" dirty="0"/>
              <a:t>│                端末層（IoT Devices）                  │</a:t>
            </a:r>
          </a:p>
          <a:p>
            <a:r>
              <a:rPr lang="en-JP" dirty="0"/>
              <a:t>│  ┌────────────┐  ┌────────────┐  ┌────────────┐    │</a:t>
            </a:r>
          </a:p>
          <a:p>
            <a:r>
              <a:rPr lang="en-JP" dirty="0"/>
              <a:t>│  │ゲート端末  │  │区画端末1   │  │区画端末N   │    │</a:t>
            </a:r>
          </a:p>
          <a:p>
            <a:r>
              <a:rPr lang="en-JP" dirty="0"/>
              <a:t>│  │(Camera+OCR)│  │(Sensor)    │  │(Sensor)    │    │</a:t>
            </a:r>
          </a:p>
          <a:p>
            <a:r>
              <a:rPr lang="en-JP" dirty="0"/>
              <a:t>│  └────────────┘  └────────────┘  └────────────┘    │</a:t>
            </a:r>
          </a:p>
          <a:p>
            <a:r>
              <a:rPr lang="en-JP" dirty="0"/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559060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115A9A-1A63-55FB-612A-E12DC8E32219}"/>
              </a:ext>
            </a:extLst>
          </p:cNvPr>
          <p:cNvSpPr/>
          <p:nvPr/>
        </p:nvSpPr>
        <p:spPr>
          <a:xfrm>
            <a:off x="1861457" y="2792186"/>
            <a:ext cx="1845129" cy="4898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車両接近</a:t>
            </a:r>
            <a:endParaRPr lang="en-JP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EBC8D1-6823-9C78-C27F-E3B39CC934D8}"/>
              </a:ext>
            </a:extLst>
          </p:cNvPr>
          <p:cNvSpPr/>
          <p:nvPr/>
        </p:nvSpPr>
        <p:spPr>
          <a:xfrm>
            <a:off x="4757056" y="2792186"/>
            <a:ext cx="1845129" cy="4898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ゲート端末</a:t>
            </a:r>
            <a:endParaRPr lang="en-JP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E9012B0-1E8F-E9C4-8CA9-0CC6145812BC}"/>
              </a:ext>
            </a:extLst>
          </p:cNvPr>
          <p:cNvSpPr/>
          <p:nvPr/>
        </p:nvSpPr>
        <p:spPr>
          <a:xfrm>
            <a:off x="7328806" y="2792186"/>
            <a:ext cx="1845129" cy="4898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ゲートウェイ</a:t>
            </a:r>
            <a:endParaRPr lang="en-JP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2D3D46-AB87-2BED-3B59-A28EED328E51}"/>
              </a:ext>
            </a:extLst>
          </p:cNvPr>
          <p:cNvSpPr/>
          <p:nvPr/>
        </p:nvSpPr>
        <p:spPr>
          <a:xfrm>
            <a:off x="9900556" y="2792186"/>
            <a:ext cx="1845129" cy="4898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クラウド </a:t>
            </a:r>
            <a:endParaRPr lang="en-JP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7D5FB4-0628-37F5-835D-C242EEF931EE}"/>
              </a:ext>
            </a:extLst>
          </p:cNvPr>
          <p:cNvSpPr/>
          <p:nvPr/>
        </p:nvSpPr>
        <p:spPr>
          <a:xfrm>
            <a:off x="4593776" y="3773661"/>
            <a:ext cx="2008409" cy="16981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カメラ撮影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OCR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処理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車両</a:t>
            </a: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ID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生成</a:t>
            </a:r>
            <a:endParaRPr lang="en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11EE76-F723-08A6-42AA-DF3030BEF77B}"/>
              </a:ext>
            </a:extLst>
          </p:cNvPr>
          <p:cNvCxnSpPr>
            <a:cxnSpLocks/>
          </p:cNvCxnSpPr>
          <p:nvPr/>
        </p:nvCxnSpPr>
        <p:spPr>
          <a:xfrm>
            <a:off x="4000500" y="3053443"/>
            <a:ext cx="419100" cy="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96EDA3-FB82-AB81-A551-1EFF1486EE25}"/>
              </a:ext>
            </a:extLst>
          </p:cNvPr>
          <p:cNvCxnSpPr>
            <a:cxnSpLocks/>
          </p:cNvCxnSpPr>
          <p:nvPr/>
        </p:nvCxnSpPr>
        <p:spPr>
          <a:xfrm>
            <a:off x="6732814" y="3053443"/>
            <a:ext cx="419100" cy="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4A1CDE-EA73-7C4C-230E-8AD38375AAE2}"/>
              </a:ext>
            </a:extLst>
          </p:cNvPr>
          <p:cNvCxnSpPr>
            <a:cxnSpLocks/>
          </p:cNvCxnSpPr>
          <p:nvPr/>
        </p:nvCxnSpPr>
        <p:spPr>
          <a:xfrm>
            <a:off x="9312728" y="3053443"/>
            <a:ext cx="419100" cy="0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ABE7CA-8107-1899-3CC6-9B1F6D1AF424}"/>
              </a:ext>
            </a:extLst>
          </p:cNvPr>
          <p:cNvCxnSpPr>
            <a:cxnSpLocks/>
          </p:cNvCxnSpPr>
          <p:nvPr/>
        </p:nvCxnSpPr>
        <p:spPr>
          <a:xfrm>
            <a:off x="5614307" y="3389938"/>
            <a:ext cx="0" cy="375557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20B88BF-4BE9-F2B8-F07E-BD070264ABE4}"/>
              </a:ext>
            </a:extLst>
          </p:cNvPr>
          <p:cNvSpPr/>
          <p:nvPr/>
        </p:nvSpPr>
        <p:spPr>
          <a:xfrm>
            <a:off x="7043067" y="3804556"/>
            <a:ext cx="2356749" cy="16981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データ受信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プロトコル変換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30D3CF-0D18-618D-1956-92F352EDB8AC}"/>
              </a:ext>
            </a:extLst>
          </p:cNvPr>
          <p:cNvCxnSpPr>
            <a:cxnSpLocks/>
          </p:cNvCxnSpPr>
          <p:nvPr/>
        </p:nvCxnSpPr>
        <p:spPr>
          <a:xfrm>
            <a:off x="8251370" y="3428999"/>
            <a:ext cx="0" cy="375557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493D837-FC6F-C346-4ABD-2B524665B958}"/>
              </a:ext>
            </a:extLst>
          </p:cNvPr>
          <p:cNvSpPr txBox="1"/>
          <p:nvPr/>
        </p:nvSpPr>
        <p:spPr>
          <a:xfrm>
            <a:off x="3706586" y="2416629"/>
            <a:ext cx="1098086" cy="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LoRa送信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E249C08-28A3-214D-D5DE-D73A84907383}"/>
              </a:ext>
            </a:extLst>
          </p:cNvPr>
          <p:cNvSpPr/>
          <p:nvPr/>
        </p:nvSpPr>
        <p:spPr>
          <a:xfrm>
            <a:off x="9774008" y="3765495"/>
            <a:ext cx="2098224" cy="16981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処理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記録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リアルタイム通知</a:t>
            </a:r>
            <a:endParaRPr lang="en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B99BE6-8A32-1C3E-AC69-D9E72004906A}"/>
              </a:ext>
            </a:extLst>
          </p:cNvPr>
          <p:cNvSpPr txBox="1"/>
          <p:nvPr/>
        </p:nvSpPr>
        <p:spPr>
          <a:xfrm>
            <a:off x="6466796" y="2355487"/>
            <a:ext cx="1370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MQTT送信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8A670E-53BE-0ED9-7B4A-D2C0C571811B}"/>
              </a:ext>
            </a:extLst>
          </p:cNvPr>
          <p:cNvCxnSpPr>
            <a:cxnSpLocks/>
          </p:cNvCxnSpPr>
          <p:nvPr/>
        </p:nvCxnSpPr>
        <p:spPr>
          <a:xfrm>
            <a:off x="10809513" y="3398104"/>
            <a:ext cx="0" cy="375557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C48CE6A-0A62-06E8-ECC6-91D7611A7A1E}"/>
              </a:ext>
            </a:extLst>
          </p:cNvPr>
          <p:cNvSpPr/>
          <p:nvPr/>
        </p:nvSpPr>
        <p:spPr>
          <a:xfrm>
            <a:off x="9900553" y="1215693"/>
            <a:ext cx="1845129" cy="77959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dirty="0">
                <a:solidFill>
                  <a:schemeClr val="tx1"/>
                </a:solidFill>
              </a:rPr>
              <a:t> Webアプリ     </a:t>
            </a:r>
            <a:endParaRPr lang="mn-MN" dirty="0">
              <a:solidFill>
                <a:schemeClr val="tx1"/>
              </a:solidFill>
            </a:endParaRPr>
          </a:p>
          <a:p>
            <a:r>
              <a:rPr lang="en-JP" dirty="0">
                <a:solidFill>
                  <a:schemeClr val="tx1"/>
                </a:solidFill>
              </a:rPr>
              <a:t>│（管理画面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JP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E4C85A-23D7-4B50-CF4B-3DA9C9D26F7B}"/>
              </a:ext>
            </a:extLst>
          </p:cNvPr>
          <p:cNvCxnSpPr>
            <a:cxnSpLocks/>
          </p:cNvCxnSpPr>
          <p:nvPr/>
        </p:nvCxnSpPr>
        <p:spPr>
          <a:xfrm flipV="1">
            <a:off x="10809513" y="2237016"/>
            <a:ext cx="0" cy="369332"/>
          </a:xfrm>
          <a:prstGeom prst="straightConnector1">
            <a:avLst/>
          </a:prstGeom>
          <a:ln w="60325">
            <a:solidFill>
              <a:schemeClr val="accent6">
                <a:lumMod val="75000"/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489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4549F0-7A3F-0398-89DE-E17B22B05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3" y="513852"/>
            <a:ext cx="5943600" cy="2389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6699B7-7D1F-D502-BAE2-47D7FDB40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71" y="437650"/>
            <a:ext cx="5540829" cy="219242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FD97DE-4CA6-DE41-FB4D-A69BC756A95D}"/>
              </a:ext>
            </a:extLst>
          </p:cNvPr>
          <p:cNvSpPr/>
          <p:nvPr/>
        </p:nvSpPr>
        <p:spPr>
          <a:xfrm>
            <a:off x="1065229" y="4100660"/>
            <a:ext cx="1102936" cy="593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JP" dirty="0"/>
              <a:t>ensor all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50F3E2-01E7-131A-F0ED-E362DC12A974}"/>
              </a:ext>
            </a:extLst>
          </p:cNvPr>
          <p:cNvCxnSpPr>
            <a:cxnSpLocks/>
          </p:cNvCxnSpPr>
          <p:nvPr/>
        </p:nvCxnSpPr>
        <p:spPr>
          <a:xfrm>
            <a:off x="2253006" y="4392891"/>
            <a:ext cx="1143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0CE005-7449-C379-94CF-3276A071A4DF}"/>
              </a:ext>
            </a:extLst>
          </p:cNvPr>
          <p:cNvSpPr/>
          <p:nvPr/>
        </p:nvSpPr>
        <p:spPr>
          <a:xfrm>
            <a:off x="3601039" y="4095947"/>
            <a:ext cx="1102936" cy="593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Gateway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729BEE-34E0-AF96-F615-06AC5CFFA18B}"/>
              </a:ext>
            </a:extLst>
          </p:cNvPr>
          <p:cNvSpPr/>
          <p:nvPr/>
        </p:nvSpPr>
        <p:spPr>
          <a:xfrm>
            <a:off x="5709503" y="4095947"/>
            <a:ext cx="1102936" cy="593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C1CB5-C918-E6B5-61BD-16129A57ABD4}"/>
              </a:ext>
            </a:extLst>
          </p:cNvPr>
          <p:cNvSpPr txBox="1"/>
          <p:nvPr/>
        </p:nvSpPr>
        <p:spPr>
          <a:xfrm>
            <a:off x="2153577" y="3763781"/>
            <a:ext cx="124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 Node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ED963A-5D96-3607-9DFC-49EB6FE5FD2B}"/>
              </a:ext>
            </a:extLst>
          </p:cNvPr>
          <p:cNvCxnSpPr>
            <a:cxnSpLocks/>
          </p:cNvCxnSpPr>
          <p:nvPr/>
        </p:nvCxnSpPr>
        <p:spPr>
          <a:xfrm>
            <a:off x="4834603" y="4392891"/>
            <a:ext cx="724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8D5164-3444-88A8-385A-46AD72D5B27C}"/>
              </a:ext>
            </a:extLst>
          </p:cNvPr>
          <p:cNvSpPr txBox="1"/>
          <p:nvPr/>
        </p:nvSpPr>
        <p:spPr>
          <a:xfrm>
            <a:off x="4676482" y="3763781"/>
            <a:ext cx="124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0733F02-930B-F6F2-C246-142F698A3EA8}"/>
              </a:ext>
            </a:extLst>
          </p:cNvPr>
          <p:cNvSpPr/>
          <p:nvPr/>
        </p:nvSpPr>
        <p:spPr>
          <a:xfrm>
            <a:off x="7786540" y="3073898"/>
            <a:ext cx="2507528" cy="6898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1. </a:t>
            </a:r>
            <a:r>
              <a:rPr lang="ja-JP" altLang="en-US"/>
              <a:t>車両のカウント</a:t>
            </a:r>
            <a:endParaRPr lang="en-JP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7351EB-0BB0-451D-9329-6FDE8D28847C}"/>
              </a:ext>
            </a:extLst>
          </p:cNvPr>
          <p:cNvSpPr/>
          <p:nvPr/>
        </p:nvSpPr>
        <p:spPr>
          <a:xfrm>
            <a:off x="7786541" y="3946213"/>
            <a:ext cx="2507528" cy="593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dirty="0"/>
              <a:t>2.</a:t>
            </a:r>
            <a:r>
              <a:rPr lang="en-JP" dirty="0"/>
              <a:t> </a:t>
            </a:r>
            <a:r>
              <a:rPr lang="ja-JP" altLang="en-US"/>
              <a:t>履歴の保存</a:t>
            </a:r>
            <a:endParaRPr lang="en-JP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2C8530D-8C47-0E18-94B0-7873111D9217}"/>
              </a:ext>
            </a:extLst>
          </p:cNvPr>
          <p:cNvSpPr/>
          <p:nvPr/>
        </p:nvSpPr>
        <p:spPr>
          <a:xfrm>
            <a:off x="7786540" y="4810835"/>
            <a:ext cx="2428970" cy="7886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dirty="0"/>
              <a:t>3. </a:t>
            </a:r>
            <a:r>
              <a:rPr lang="en-US" dirty="0"/>
              <a:t>OCR</a:t>
            </a:r>
            <a:r>
              <a:rPr lang="ja-JP" altLang="en-US"/>
              <a:t>によるナンバー認識</a:t>
            </a:r>
            <a:endParaRPr lang="en-JP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936234-AC58-DD4A-5696-7EB92AE10F80}"/>
              </a:ext>
            </a:extLst>
          </p:cNvPr>
          <p:cNvSpPr/>
          <p:nvPr/>
        </p:nvSpPr>
        <p:spPr>
          <a:xfrm>
            <a:off x="7865098" y="5707953"/>
            <a:ext cx="2428970" cy="7886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altLang="ja-JP" dirty="0"/>
              <a:t>4.</a:t>
            </a:r>
            <a:r>
              <a:rPr lang="ja-JP" altLang="en-US"/>
              <a:t>空きスペースの算出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909684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63BD0-F895-DA13-F2CA-3D602873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77" y="651824"/>
            <a:ext cx="4123163" cy="292074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AAFE6F-B437-9BBA-4FAD-42391CEBD901}"/>
              </a:ext>
            </a:extLst>
          </p:cNvPr>
          <p:cNvSpPr/>
          <p:nvPr/>
        </p:nvSpPr>
        <p:spPr>
          <a:xfrm>
            <a:off x="5115697" y="790832"/>
            <a:ext cx="1767017" cy="790833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dirty="0"/>
              <a:t>I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Devicel</a:t>
            </a:r>
            <a:endParaRPr lang="en-US" dirty="0"/>
          </a:p>
          <a:p>
            <a:pPr algn="ctr"/>
            <a:r>
              <a:rPr lang="en-US" dirty="0"/>
              <a:t>(Client)</a:t>
            </a:r>
            <a:endParaRPr lang="en-JP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E366A0-CB94-6A23-C95E-9EA67265A2D6}"/>
              </a:ext>
            </a:extLst>
          </p:cNvPr>
          <p:cNvSpPr/>
          <p:nvPr/>
        </p:nvSpPr>
        <p:spPr>
          <a:xfrm>
            <a:off x="8023654" y="790832"/>
            <a:ext cx="1767017" cy="790833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Server </a:t>
            </a:r>
          </a:p>
          <a:p>
            <a:pPr algn="ctr"/>
            <a:r>
              <a:rPr lang="en-JP" dirty="0"/>
              <a:t>(CoAP)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55DB95-0146-4AB2-4757-440A8C51098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999205" y="1581665"/>
            <a:ext cx="1" cy="263610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3C231D-54B8-3337-3644-21DF2C523DD2}"/>
              </a:ext>
            </a:extLst>
          </p:cNvPr>
          <p:cNvSpPr/>
          <p:nvPr/>
        </p:nvSpPr>
        <p:spPr>
          <a:xfrm>
            <a:off x="5115696" y="4217772"/>
            <a:ext cx="1767017" cy="7908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dirty="0"/>
              <a:t>I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Devicel</a:t>
            </a:r>
            <a:endParaRPr lang="en-US" dirty="0"/>
          </a:p>
          <a:p>
            <a:pPr algn="ctr"/>
            <a:r>
              <a:rPr lang="en-US" dirty="0"/>
              <a:t>(Client)</a:t>
            </a:r>
            <a:endParaRPr lang="en-JP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F7F45A-8910-8610-DC11-5A6E252FA76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907163" y="1581665"/>
            <a:ext cx="0" cy="263610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06B1CC-2658-7B34-CED5-472BFB2827EF}"/>
              </a:ext>
            </a:extLst>
          </p:cNvPr>
          <p:cNvSpPr/>
          <p:nvPr/>
        </p:nvSpPr>
        <p:spPr>
          <a:xfrm>
            <a:off x="8023654" y="4217772"/>
            <a:ext cx="1767017" cy="7908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dirty="0"/>
              <a:t>I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Devicel</a:t>
            </a:r>
            <a:endParaRPr lang="en-US" dirty="0"/>
          </a:p>
          <a:p>
            <a:pPr algn="ctr"/>
            <a:r>
              <a:rPr lang="en-US" dirty="0"/>
              <a:t>(Client)</a:t>
            </a:r>
            <a:endParaRPr lang="en-JP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9F6AA0-2C52-8BE3-D7CB-0676E922F824}"/>
              </a:ext>
            </a:extLst>
          </p:cNvPr>
          <p:cNvCxnSpPr>
            <a:cxnSpLocks/>
          </p:cNvCxnSpPr>
          <p:nvPr/>
        </p:nvCxnSpPr>
        <p:spPr>
          <a:xfrm>
            <a:off x="5999204" y="2444262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1D2BC-667E-4AB3-DC42-D89B46FDBC14}"/>
              </a:ext>
            </a:extLst>
          </p:cNvPr>
          <p:cNvCxnSpPr>
            <a:cxnSpLocks/>
          </p:cNvCxnSpPr>
          <p:nvPr/>
        </p:nvCxnSpPr>
        <p:spPr>
          <a:xfrm flipH="1">
            <a:off x="5999204" y="3429000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B38C72-DA3B-0360-3125-61051C695A60}"/>
              </a:ext>
            </a:extLst>
          </p:cNvPr>
          <p:cNvSpPr txBox="1"/>
          <p:nvPr/>
        </p:nvSpPr>
        <p:spPr>
          <a:xfrm>
            <a:off x="6226831" y="2037052"/>
            <a:ext cx="2172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600" dirty="0"/>
              <a:t>[1] CoAP Request (CON)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2E499-BFCD-3C18-D6E2-AC1E196E0B7B}"/>
              </a:ext>
            </a:extLst>
          </p:cNvPr>
          <p:cNvSpPr txBox="1"/>
          <p:nvPr/>
        </p:nvSpPr>
        <p:spPr>
          <a:xfrm>
            <a:off x="6124787" y="3010489"/>
            <a:ext cx="2782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600" dirty="0"/>
              <a:t>[2] CoAP Response ( 2.05)</a:t>
            </a:r>
          </a:p>
        </p:txBody>
      </p:sp>
    </p:spTree>
    <p:extLst>
      <p:ext uri="{BB962C8B-B14F-4D97-AF65-F5344CB8AC3E}">
        <p14:creationId xmlns:p14="http://schemas.microsoft.com/office/powerpoint/2010/main" val="2108554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01E21B-9C7F-E2F8-A9B9-2C5FEE150708}"/>
              </a:ext>
            </a:extLst>
          </p:cNvPr>
          <p:cNvSpPr/>
          <p:nvPr/>
        </p:nvSpPr>
        <p:spPr>
          <a:xfrm>
            <a:off x="5115697" y="1052315"/>
            <a:ext cx="1767017" cy="52935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  <a:endParaRPr lang="en-JP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25424A-5555-35CF-2697-F1207892D628}"/>
              </a:ext>
            </a:extLst>
          </p:cNvPr>
          <p:cNvSpPr/>
          <p:nvPr/>
        </p:nvSpPr>
        <p:spPr>
          <a:xfrm>
            <a:off x="8023654" y="1052315"/>
            <a:ext cx="1767017" cy="52935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  <a:p>
            <a:pPr algn="ctr"/>
            <a:r>
              <a:rPr lang="en-JP" dirty="0"/>
              <a:t>Server </a:t>
            </a:r>
          </a:p>
          <a:p>
            <a:pPr algn="ctr"/>
            <a:endParaRPr lang="en-JP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8468C2-4EDE-EAE2-9ECE-6BC0773D499F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956657" y="1581665"/>
            <a:ext cx="42549" cy="3534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75640E-F1C4-5097-4DD7-0ADCB84FA23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8907163" y="1581665"/>
            <a:ext cx="5511" cy="3528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7C9D9D-0232-3113-FEB9-A38EE9E1C8DA}"/>
              </a:ext>
            </a:extLst>
          </p:cNvPr>
          <p:cNvCxnSpPr>
            <a:cxnSpLocks/>
          </p:cNvCxnSpPr>
          <p:nvPr/>
        </p:nvCxnSpPr>
        <p:spPr>
          <a:xfrm>
            <a:off x="5999204" y="2444262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625896-795F-0E9F-77F4-BFE8D8F96DEE}"/>
              </a:ext>
            </a:extLst>
          </p:cNvPr>
          <p:cNvCxnSpPr>
            <a:cxnSpLocks/>
          </p:cNvCxnSpPr>
          <p:nvPr/>
        </p:nvCxnSpPr>
        <p:spPr>
          <a:xfrm flipH="1">
            <a:off x="5986320" y="3097426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D53836-B13C-71F2-909F-C73D459462FB}"/>
              </a:ext>
            </a:extLst>
          </p:cNvPr>
          <p:cNvSpPr txBox="1"/>
          <p:nvPr/>
        </p:nvSpPr>
        <p:spPr>
          <a:xfrm>
            <a:off x="6370797" y="2105708"/>
            <a:ext cx="155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Hello Message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1EEB6D-D663-D93C-D5C7-6F4850F74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6763" y="102532"/>
            <a:ext cx="5308600" cy="4978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12A42D-071F-C0C3-08A9-F608C9FE5C57}"/>
              </a:ext>
            </a:extLst>
          </p:cNvPr>
          <p:cNvCxnSpPr>
            <a:cxnSpLocks/>
          </p:cNvCxnSpPr>
          <p:nvPr/>
        </p:nvCxnSpPr>
        <p:spPr>
          <a:xfrm flipH="1">
            <a:off x="5957336" y="4230343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A970EE-75B0-3695-7E13-5972A94D805D}"/>
              </a:ext>
            </a:extLst>
          </p:cNvPr>
          <p:cNvCxnSpPr>
            <a:cxnSpLocks/>
          </p:cNvCxnSpPr>
          <p:nvPr/>
        </p:nvCxnSpPr>
        <p:spPr>
          <a:xfrm>
            <a:off x="5986320" y="3616095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D11ABD-2FFE-E26D-29DD-F8AD91BD8939}"/>
              </a:ext>
            </a:extLst>
          </p:cNvPr>
          <p:cNvSpPr txBox="1"/>
          <p:nvPr/>
        </p:nvSpPr>
        <p:spPr>
          <a:xfrm>
            <a:off x="6232988" y="2733949"/>
            <a:ext cx="227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Server Hello Response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F4BCE-2CA8-5C40-4FC6-BEE1B2B33D29}"/>
              </a:ext>
            </a:extLst>
          </p:cNvPr>
          <p:cNvSpPr txBox="1"/>
          <p:nvPr/>
        </p:nvSpPr>
        <p:spPr>
          <a:xfrm>
            <a:off x="6112476" y="3232428"/>
            <a:ext cx="272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Cer client key exchange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B08EA-0E27-9F04-B970-E7473468A92A}"/>
              </a:ext>
            </a:extLst>
          </p:cNvPr>
          <p:cNvSpPr txBox="1"/>
          <p:nvPr/>
        </p:nvSpPr>
        <p:spPr>
          <a:xfrm>
            <a:off x="6012079" y="3861011"/>
            <a:ext cx="288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Change Cipher Spec Finished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FACA8B-ED06-1492-2229-72F894C8E46D}"/>
              </a:ext>
            </a:extLst>
          </p:cNvPr>
          <p:cNvCxnSpPr>
            <a:cxnSpLocks/>
          </p:cNvCxnSpPr>
          <p:nvPr/>
        </p:nvCxnSpPr>
        <p:spPr>
          <a:xfrm>
            <a:off x="5986320" y="4956802"/>
            <a:ext cx="29079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7BF5C74-607F-F1A7-584A-819B205D5621}"/>
              </a:ext>
            </a:extLst>
          </p:cNvPr>
          <p:cNvSpPr txBox="1"/>
          <p:nvPr/>
        </p:nvSpPr>
        <p:spPr>
          <a:xfrm>
            <a:off x="6654126" y="4587469"/>
            <a:ext cx="16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Encrypted Data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156248E-846B-01B6-6969-FD3C38EB105F}"/>
              </a:ext>
            </a:extLst>
          </p:cNvPr>
          <p:cNvSpPr/>
          <p:nvPr/>
        </p:nvSpPr>
        <p:spPr>
          <a:xfrm>
            <a:off x="5115697" y="5080932"/>
            <a:ext cx="1767017" cy="52935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  <a:endParaRPr lang="en-JP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3E0A910-695F-5F56-2CB2-94844D53F14A}"/>
              </a:ext>
            </a:extLst>
          </p:cNvPr>
          <p:cNvSpPr/>
          <p:nvPr/>
        </p:nvSpPr>
        <p:spPr>
          <a:xfrm>
            <a:off x="8029165" y="5109931"/>
            <a:ext cx="1767017" cy="52935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66782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DC7A9-FE42-687F-04D9-F578E7268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0" y="2254250"/>
            <a:ext cx="55499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32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A9A583-AAF3-962C-3841-B7FD4254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817" y="335237"/>
            <a:ext cx="1741923" cy="70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FA0830-B419-5E6B-47E4-82071C5A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52" y="254231"/>
            <a:ext cx="1719808" cy="924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48B57D-DB9B-A25E-9DC9-931F9E363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197" y="2153093"/>
            <a:ext cx="1841887" cy="1275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1A746E-6F3B-3BF4-8166-2BCA15F66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354" y="1529944"/>
            <a:ext cx="673100" cy="92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8A0A71-2C73-C7DC-B3DE-F83BCDC66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258" y="1742843"/>
            <a:ext cx="1095308" cy="1257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3C355-6036-AF91-323C-8520F3A97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017" y="3429000"/>
            <a:ext cx="1701800" cy="158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3D012A-894D-DADC-8F85-8C4FD7646E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390" y="4701775"/>
            <a:ext cx="1232807" cy="144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5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720F9D-79B0-937F-D3E4-CCE2B2F261DD}"/>
              </a:ext>
            </a:extLst>
          </p:cNvPr>
          <p:cNvSpPr txBox="1"/>
          <p:nvPr/>
        </p:nvSpPr>
        <p:spPr>
          <a:xfrm>
            <a:off x="828675" y="1016951"/>
            <a:ext cx="6098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User</a:t>
            </a:r>
            <a:r>
              <a:rPr lang="en-US" dirty="0"/>
              <a:t> </a:t>
            </a:r>
            <a:r>
              <a:rPr lang="mn-MN" dirty="0"/>
              <a:t>нь </a:t>
            </a:r>
            <a:r>
              <a:rPr lang="en-US" dirty="0"/>
              <a:t>Smart Home app-</a:t>
            </a:r>
            <a:r>
              <a:rPr lang="mn-MN" dirty="0"/>
              <a:t>аар </a:t>
            </a:r>
            <a:r>
              <a:rPr lang="en-US" b="1" dirty="0"/>
              <a:t>Cloud server-</a:t>
            </a:r>
            <a:r>
              <a:rPr lang="mn-MN" b="1" dirty="0"/>
              <a:t>т хандана</a:t>
            </a:r>
            <a:r>
              <a:rPr lang="mn-MN" dirty="0"/>
              <a:t> (интернэтээр).</a:t>
            </a:r>
          </a:p>
          <a:p>
            <a:r>
              <a:rPr lang="en-US" dirty="0"/>
              <a:t>Cloud </a:t>
            </a:r>
            <a:r>
              <a:rPr lang="mn-MN" dirty="0"/>
              <a:t>нь </a:t>
            </a:r>
            <a:r>
              <a:rPr lang="mn-MN" b="1" dirty="0"/>
              <a:t>танай </a:t>
            </a:r>
            <a:r>
              <a:rPr lang="en-US" b="1" dirty="0"/>
              <a:t>Router-</a:t>
            </a:r>
            <a:r>
              <a:rPr lang="mn-MN" b="1" dirty="0"/>
              <a:t>тай холбогдсон </a:t>
            </a:r>
            <a:r>
              <a:rPr lang="en-US" b="1" dirty="0"/>
              <a:t>Raspberry Pi Gateway</a:t>
            </a:r>
            <a:r>
              <a:rPr lang="en-US" dirty="0"/>
              <a:t> </a:t>
            </a:r>
            <a:r>
              <a:rPr lang="mn-MN" dirty="0"/>
              <a:t>рүү команд дамжуулна.</a:t>
            </a:r>
          </a:p>
          <a:p>
            <a:r>
              <a:rPr lang="en-US" dirty="0"/>
              <a:t>Raspberry Pi </a:t>
            </a:r>
            <a:r>
              <a:rPr lang="mn-MN" dirty="0"/>
              <a:t>нь </a:t>
            </a:r>
            <a:r>
              <a:rPr lang="mn-MN" b="1" dirty="0"/>
              <a:t>дотоод сүлжээ</a:t>
            </a:r>
            <a:r>
              <a:rPr lang="mn-MN" dirty="0"/>
              <a:t> дотроо </a:t>
            </a:r>
            <a:r>
              <a:rPr lang="en-US" dirty="0"/>
              <a:t>IoT </a:t>
            </a:r>
            <a:r>
              <a:rPr lang="mn-MN" dirty="0"/>
              <a:t>төхөөрөмжүүдэд команд дамжуулна.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83695A-BDFD-3D77-EB84-D1973EF86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800976"/>
              </p:ext>
            </p:extLst>
          </p:nvPr>
        </p:nvGraphicFramePr>
        <p:xfrm>
          <a:off x="625929" y="3002711"/>
          <a:ext cx="10515600" cy="3017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353739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1589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12605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mn-MN"/>
                        <a:t>Шинж чанар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Cloud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Home 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289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n-MN"/>
                        <a:t>Байршил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Интернэтэд (онлайн)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Таны гэрт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1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Public IP (</a:t>
                      </a:r>
                      <a:r>
                        <a:rPr lang="mn-MN"/>
                        <a:t>байнга өөрчлөгддөггүй)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ISP-</a:t>
                      </a:r>
                      <a:r>
                        <a:rPr lang="mn-MN"/>
                        <a:t>аас авсан </a:t>
                      </a:r>
                      <a:r>
                        <a:rPr lang="en-US"/>
                        <a:t>Dynamic/Static 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551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n-MN"/>
                        <a:t>Үүрэг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Мэдээлэл хадгалах, боловсруулах, удирдах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Сүлжээний </a:t>
                      </a:r>
                      <a:r>
                        <a:rPr lang="en-US"/>
                        <a:t>Gateway, NAT, Firewall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638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n-MN"/>
                        <a:t>Ашиглалт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Хэрэглэгчийн удирдлага, алсаас хандах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Гэрийн сүлжээ холбох, хамгаалах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997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n-MN"/>
                        <a:t>Хандалт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/>
                        <a:t>Интернэтээр хаанаас 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Зөвхөн дотоодоос эсвэл </a:t>
                      </a:r>
                      <a:r>
                        <a:rPr lang="en-US" dirty="0"/>
                        <a:t>Port Forward </a:t>
                      </a:r>
                      <a:r>
                        <a:rPr lang="mn-MN" dirty="0"/>
                        <a:t>хийвэл гадаадаас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213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885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1C3418-AD35-A9DE-0A66-831BA7EA3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7204"/>
            <a:ext cx="10663707" cy="497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045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2212836-7C15-A367-5BCD-1C5B7D5C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197100"/>
            <a:ext cx="1524000" cy="154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038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6910D3-3090-2BBB-D153-8944E39ED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59" y="1650383"/>
            <a:ext cx="1242422" cy="1922037"/>
          </a:xfrm>
          <a:prstGeom prst="rect">
            <a:avLst/>
          </a:prstGeom>
        </p:spPr>
      </p:pic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BE439358-D81D-75A7-8A1E-C4D6799A7ABD}"/>
              </a:ext>
            </a:extLst>
          </p:cNvPr>
          <p:cNvSpPr/>
          <p:nvPr/>
        </p:nvSpPr>
        <p:spPr>
          <a:xfrm>
            <a:off x="1322806" y="3053095"/>
            <a:ext cx="1675301" cy="175202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D4093D-AE87-3993-FD2B-5CB283B0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10" y="100897"/>
            <a:ext cx="1014393" cy="635986"/>
          </a:xfrm>
          <a:prstGeom prst="rect">
            <a:avLst/>
          </a:prstGeom>
        </p:spPr>
      </p:pic>
      <p:sp>
        <p:nvSpPr>
          <p:cNvPr id="46" name="Bent Arrow 45">
            <a:extLst>
              <a:ext uri="{FF2B5EF4-FFF2-40B4-BE49-F238E27FC236}">
                <a16:creationId xmlns:a16="http://schemas.microsoft.com/office/drawing/2014/main" id="{7C11349D-3AF5-ECB8-5C22-074F0C9F2A25}"/>
              </a:ext>
            </a:extLst>
          </p:cNvPr>
          <p:cNvSpPr/>
          <p:nvPr/>
        </p:nvSpPr>
        <p:spPr>
          <a:xfrm rot="10800000">
            <a:off x="7856538" y="3287399"/>
            <a:ext cx="2199788" cy="251591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chemeClr val="tx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42EC0E-823D-0539-252E-FE3698BDE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638" y="961788"/>
            <a:ext cx="1095308" cy="125707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FC1EF38-B3C8-4959-0A80-3741677F9330}"/>
              </a:ext>
            </a:extLst>
          </p:cNvPr>
          <p:cNvSpPr txBox="1"/>
          <p:nvPr/>
        </p:nvSpPr>
        <p:spPr>
          <a:xfrm>
            <a:off x="9132096" y="2232204"/>
            <a:ext cx="9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1A47444E-9524-0334-8B6D-33B2E0A4D864}"/>
              </a:ext>
            </a:extLst>
          </p:cNvPr>
          <p:cNvSpPr/>
          <p:nvPr/>
        </p:nvSpPr>
        <p:spPr>
          <a:xfrm>
            <a:off x="7953779" y="2671906"/>
            <a:ext cx="1362843" cy="170127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FD3722-4FB7-9603-24F0-072A9421029B}"/>
              </a:ext>
            </a:extLst>
          </p:cNvPr>
          <p:cNvSpPr txBox="1"/>
          <p:nvPr/>
        </p:nvSpPr>
        <p:spPr>
          <a:xfrm>
            <a:off x="7870302" y="2939671"/>
            <a:ext cx="167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Dos/Scan/Flood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7F1857C-32CF-5FC8-AB7D-D96FFB8BE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417" y="159028"/>
            <a:ext cx="1364362" cy="704850"/>
          </a:xfrm>
          <a:prstGeom prst="rect">
            <a:avLst/>
          </a:prstGeom>
        </p:spPr>
      </p:pic>
      <p:sp>
        <p:nvSpPr>
          <p:cNvPr id="55" name="Bent Arrow 54">
            <a:extLst>
              <a:ext uri="{FF2B5EF4-FFF2-40B4-BE49-F238E27FC236}">
                <a16:creationId xmlns:a16="http://schemas.microsoft.com/office/drawing/2014/main" id="{71DCE43E-E4DC-DB63-1CE8-D0A7F2FC1E6E}"/>
              </a:ext>
            </a:extLst>
          </p:cNvPr>
          <p:cNvSpPr/>
          <p:nvPr/>
        </p:nvSpPr>
        <p:spPr>
          <a:xfrm flipV="1">
            <a:off x="994524" y="5053978"/>
            <a:ext cx="1675301" cy="356387"/>
          </a:xfrm>
          <a:prstGeom prst="ben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1AB5D9-182E-25DA-5AF2-2607A252597A}"/>
              </a:ext>
            </a:extLst>
          </p:cNvPr>
          <p:cNvSpPr txBox="1"/>
          <p:nvPr/>
        </p:nvSpPr>
        <p:spPr>
          <a:xfrm>
            <a:off x="893245" y="5429161"/>
            <a:ext cx="2118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Enctypted Traffic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88AA2-713E-292F-37BC-DEFDFA0B5F38}"/>
              </a:ext>
            </a:extLst>
          </p:cNvPr>
          <p:cNvSpPr txBox="1"/>
          <p:nvPr/>
        </p:nvSpPr>
        <p:spPr>
          <a:xfrm>
            <a:off x="7957748" y="3713620"/>
            <a:ext cx="337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Malicious Traffic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43E0002-502B-4332-50FE-25EC941789E1}"/>
              </a:ext>
            </a:extLst>
          </p:cNvPr>
          <p:cNvCxnSpPr>
            <a:cxnSpLocks/>
          </p:cNvCxnSpPr>
          <p:nvPr/>
        </p:nvCxnSpPr>
        <p:spPr>
          <a:xfrm flipH="1">
            <a:off x="1805865" y="511453"/>
            <a:ext cx="86396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5C0994D-DE4E-C824-2D4D-04EA154EC4AF}"/>
              </a:ext>
            </a:extLst>
          </p:cNvPr>
          <p:cNvSpPr txBox="1"/>
          <p:nvPr/>
        </p:nvSpPr>
        <p:spPr>
          <a:xfrm>
            <a:off x="666486" y="4675248"/>
            <a:ext cx="634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</a:t>
            </a:r>
            <a:r>
              <a:rPr lang="en-JP" dirty="0"/>
              <a:t>ncrypte communication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04446D-2D8F-4558-50FC-7D796330FFCD}"/>
              </a:ext>
            </a:extLst>
          </p:cNvPr>
          <p:cNvSpPr/>
          <p:nvPr/>
        </p:nvSpPr>
        <p:spPr>
          <a:xfrm>
            <a:off x="3121145" y="800623"/>
            <a:ext cx="4626119" cy="5571577"/>
          </a:xfrm>
          <a:prstGeom prst="rec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15823733-1759-595E-061D-867B43F90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314" y="2128127"/>
            <a:ext cx="945241" cy="110587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AB59F2A-2C15-6B64-879F-0962A6524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2954" y="1086326"/>
            <a:ext cx="1231900" cy="662532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D6B0973-C973-C2DB-2360-734D9A600D13}"/>
              </a:ext>
            </a:extLst>
          </p:cNvPr>
          <p:cNvCxnSpPr>
            <a:cxnSpLocks/>
          </p:cNvCxnSpPr>
          <p:nvPr/>
        </p:nvCxnSpPr>
        <p:spPr>
          <a:xfrm flipV="1">
            <a:off x="5353082" y="1549386"/>
            <a:ext cx="0" cy="45516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29D365C1-027F-8B86-7EDD-104EF734B89C}"/>
              </a:ext>
            </a:extLst>
          </p:cNvPr>
          <p:cNvSpPr/>
          <p:nvPr/>
        </p:nvSpPr>
        <p:spPr>
          <a:xfrm>
            <a:off x="3672582" y="2240267"/>
            <a:ext cx="1426218" cy="548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IoT </a:t>
            </a:r>
            <a:r>
              <a:rPr lang="mn-MN" dirty="0"/>
              <a:t>G</a:t>
            </a:r>
            <a:r>
              <a:rPr lang="en-US" dirty="0"/>
              <a:t>ateway</a:t>
            </a:r>
            <a:endParaRPr lang="en-JP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DBDA-8FA8-D6BB-1EC1-433FB61C2A89}"/>
              </a:ext>
            </a:extLst>
          </p:cNvPr>
          <p:cNvSpPr txBox="1"/>
          <p:nvPr/>
        </p:nvSpPr>
        <p:spPr>
          <a:xfrm>
            <a:off x="6507329" y="1735086"/>
            <a:ext cx="187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r>
              <a:rPr lang="en-JP" sz="1200" dirty="0"/>
              <a:t>ttack detected </a:t>
            </a:r>
          </a:p>
          <a:p>
            <a:r>
              <a:rPr lang="en-JP" sz="1200" dirty="0"/>
              <a:t>      blocked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522D428-DA88-8105-A9FD-3F9A961CEE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1959" y="1184335"/>
            <a:ext cx="557124" cy="41674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487F1D6-DB80-2319-057B-590470F5B5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4663" y="2231573"/>
            <a:ext cx="453740" cy="58882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43C226B-965D-EC73-25B8-EB65EC9BD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7253" y="4804162"/>
            <a:ext cx="4063725" cy="152105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51B34E5-387C-D7B0-D5C6-7EDF595166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5413" y="5042327"/>
            <a:ext cx="393700" cy="5715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69842F5-839E-4CCB-3E53-49919684E3D9}"/>
              </a:ext>
            </a:extLst>
          </p:cNvPr>
          <p:cNvSpPr txBox="1"/>
          <p:nvPr/>
        </p:nvSpPr>
        <p:spPr>
          <a:xfrm>
            <a:off x="4671756" y="106422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Home Router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06830F6-9980-48BA-FE75-6E6228A9C36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668403" y="418890"/>
            <a:ext cx="313870" cy="375183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E4082EC-1A41-7307-A3E9-6A317B3DAAC0}"/>
              </a:ext>
            </a:extLst>
          </p:cNvPr>
          <p:cNvSpPr txBox="1"/>
          <p:nvPr/>
        </p:nvSpPr>
        <p:spPr>
          <a:xfrm>
            <a:off x="6507329" y="361345"/>
            <a:ext cx="6406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u="none" strike="noStrike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システムの構成図 </a:t>
            </a:r>
            <a:r>
              <a:rPr lang="en-US" altLang="ja-JP" sz="1400" b="0" i="0" u="none" strike="noStrike" dirty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altLang="ja-JP" sz="1400" dirty="0">
                <a:solidFill>
                  <a:srgbClr val="222222"/>
                </a:solidFill>
                <a:latin typeface="Arial" panose="020B0604020202020204" pitchFamily="34" charset="0"/>
              </a:rPr>
              <a:t>DTLS+CoAP+IDS)</a:t>
            </a:r>
            <a:endParaRPr lang="en-JP" sz="1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6D4E73D-98FD-997D-C073-2B686C7D397A}"/>
              </a:ext>
            </a:extLst>
          </p:cNvPr>
          <p:cNvSpPr txBox="1"/>
          <p:nvPr/>
        </p:nvSpPr>
        <p:spPr>
          <a:xfrm>
            <a:off x="3441533" y="4508717"/>
            <a:ext cx="6764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IoT Device</a:t>
            </a:r>
            <a:endParaRPr lang="en-JP" dirty="0"/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971EB2E9-2C75-2F34-CB92-92682BE3D27D}"/>
              </a:ext>
            </a:extLst>
          </p:cNvPr>
          <p:cNvSpPr/>
          <p:nvPr/>
        </p:nvSpPr>
        <p:spPr>
          <a:xfrm rot="5400000">
            <a:off x="4027328" y="3134934"/>
            <a:ext cx="599520" cy="11720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C00CE-E3E9-31F5-6F0C-1CDF6E7696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4504" y="1937948"/>
            <a:ext cx="1021179" cy="93781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5601E7-4251-F033-BCF1-09C9B2A2B194}"/>
              </a:ext>
            </a:extLst>
          </p:cNvPr>
          <p:cNvSpPr/>
          <p:nvPr/>
        </p:nvSpPr>
        <p:spPr>
          <a:xfrm>
            <a:off x="5314781" y="3000018"/>
            <a:ext cx="1861793" cy="35932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ML-Based IDS</a:t>
            </a:r>
            <a:endParaRPr lang="en-JP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4EF8-CD42-CA7E-BA41-374A8A72BB84}"/>
              </a:ext>
            </a:extLst>
          </p:cNvPr>
          <p:cNvSpPr txBox="1"/>
          <p:nvPr/>
        </p:nvSpPr>
        <p:spPr>
          <a:xfrm>
            <a:off x="2478627" y="4257581"/>
            <a:ext cx="7493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CoAP+DTLS</a:t>
            </a:r>
            <a:endParaRPr lang="en-US" dirty="0"/>
          </a:p>
          <a:p>
            <a:pPr algn="ctr"/>
            <a:r>
              <a:rPr lang="en-US" dirty="0"/>
              <a:t>Encrypted Traffic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E8DE3B-2133-4077-78FB-2AED9F854DA6}"/>
              </a:ext>
            </a:extLst>
          </p:cNvPr>
          <p:cNvSpPr/>
          <p:nvPr/>
        </p:nvSpPr>
        <p:spPr>
          <a:xfrm>
            <a:off x="5149261" y="3526647"/>
            <a:ext cx="2260106" cy="48190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Monitoring before encryption</a:t>
            </a:r>
            <a:endParaRPr lang="en-JP" sz="1400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F987DCA4-F04F-CCF6-E614-BE4CE0D434DC}"/>
              </a:ext>
            </a:extLst>
          </p:cNvPr>
          <p:cNvSpPr/>
          <p:nvPr/>
        </p:nvSpPr>
        <p:spPr>
          <a:xfrm rot="5400000">
            <a:off x="6086950" y="4160877"/>
            <a:ext cx="271735" cy="4571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87074D-85F1-26FD-4405-B5FC9E741F05}"/>
              </a:ext>
            </a:extLst>
          </p:cNvPr>
          <p:cNvCxnSpPr>
            <a:cxnSpLocks/>
          </p:cNvCxnSpPr>
          <p:nvPr/>
        </p:nvCxnSpPr>
        <p:spPr>
          <a:xfrm>
            <a:off x="5210781" y="2606745"/>
            <a:ext cx="26249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7472E4-6484-F57A-1DEB-1194E83964DA}"/>
              </a:ext>
            </a:extLst>
          </p:cNvPr>
          <p:cNvSpPr txBox="1"/>
          <p:nvPr/>
        </p:nvSpPr>
        <p:spPr>
          <a:xfrm>
            <a:off x="1415009" y="2593024"/>
            <a:ext cx="148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traffic</a:t>
            </a:r>
            <a:endParaRPr lang="en-JP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3528C9-DEBB-8727-73CE-904925C67FB3}"/>
              </a:ext>
            </a:extLst>
          </p:cNvPr>
          <p:cNvCxnSpPr/>
          <p:nvPr/>
        </p:nvCxnSpPr>
        <p:spPr>
          <a:xfrm>
            <a:off x="3128069" y="4134993"/>
            <a:ext cx="4626119" cy="22114"/>
          </a:xfrm>
          <a:prstGeom prst="line">
            <a:avLst/>
          </a:prstGeom>
          <a:ln w="38100">
            <a:solidFill>
              <a:schemeClr val="tx1">
                <a:alpha val="7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57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89FE53-1E38-3D4B-0436-EA608066D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1" y="213474"/>
            <a:ext cx="7772400" cy="53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77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7F598E-E7A5-80FE-9290-0B7169B9E53A}"/>
              </a:ext>
            </a:extLst>
          </p:cNvPr>
          <p:cNvSpPr txBox="1"/>
          <p:nvPr/>
        </p:nvSpPr>
        <p:spPr>
          <a:xfrm>
            <a:off x="1023257" y="474345"/>
            <a:ext cx="92746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dirty="0"/>
              <a:t>Таны сервер (</a:t>
            </a:r>
            <a:r>
              <a:rPr lang="en-US" dirty="0"/>
              <a:t>Raspberry Pi Gateway + IDS) </a:t>
            </a:r>
            <a:r>
              <a:rPr lang="mn-MN" dirty="0"/>
              <a:t>зураг дээр </a:t>
            </a:r>
            <a:r>
              <a:rPr lang="en-US" b="1" dirty="0"/>
              <a:t>Smart House</a:t>
            </a:r>
            <a:r>
              <a:rPr lang="en-US" dirty="0"/>
              <a:t> </a:t>
            </a:r>
            <a:r>
              <a:rPr lang="mn-MN" dirty="0"/>
              <a:t>дотор байрлаж байгаа. Тодруулбал: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mn-MN" b="1" dirty="0"/>
              <a:t>“</a:t>
            </a:r>
            <a:r>
              <a:rPr lang="en-US" b="1" dirty="0"/>
              <a:t>IDS: Traffic Inspection &amp; Alerts”</a:t>
            </a:r>
            <a:r>
              <a:rPr lang="en-US" dirty="0"/>
              <a:t> </a:t>
            </a:r>
            <a:r>
              <a:rPr lang="mn-MN" dirty="0"/>
              <a:t>гэж бичсэн хэсэг нь таны серверийг төлөөлж байна.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mn-MN" dirty="0"/>
              <a:t>Үүн дээр: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n-MN" dirty="0"/>
              <a:t>Шүүлтүүрийн </a:t>
            </a:r>
            <a:r>
              <a:rPr lang="en-US" dirty="0"/>
              <a:t>icon (</a:t>
            </a:r>
            <a:r>
              <a:rPr lang="en-JP" dirty="0"/>
              <a:t>🔍)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Raspberry Pi icon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n-MN" dirty="0"/>
              <a:t>Мөн “</a:t>
            </a:r>
            <a:r>
              <a:rPr lang="en-US" dirty="0"/>
              <a:t>Attack detected &amp; blocked” </a:t>
            </a:r>
            <a:r>
              <a:rPr lang="mn-MN" dirty="0"/>
              <a:t>гэсэн анхааруулах дохио (⚠️) байгаа.</a:t>
            </a:r>
          </a:p>
          <a:p>
            <a:r>
              <a:rPr lang="en-JP" dirty="0"/>
              <a:t>📍 </a:t>
            </a:r>
            <a:r>
              <a:rPr lang="mn-MN" dirty="0"/>
              <a:t>Таны сервер бол </a:t>
            </a:r>
            <a:r>
              <a:rPr lang="en-US" dirty="0"/>
              <a:t>Smart House-</a:t>
            </a:r>
            <a:r>
              <a:rPr lang="mn-MN" dirty="0"/>
              <a:t>ийн </a:t>
            </a:r>
            <a:r>
              <a:rPr lang="mn-MN" b="1" dirty="0"/>
              <a:t>дотоод сүлжээний төв</a:t>
            </a:r>
            <a:r>
              <a:rPr lang="mn-MN" dirty="0"/>
              <a:t> бөгөөд: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User-</a:t>
            </a:r>
            <a:r>
              <a:rPr lang="mn-MN" b="1" dirty="0"/>
              <a:t>с ирсэн </a:t>
            </a:r>
            <a:r>
              <a:rPr lang="en-US" b="1" dirty="0"/>
              <a:t>encrypted CoAP + DTLS </a:t>
            </a:r>
            <a:r>
              <a:rPr lang="mn-MN" b="1" dirty="0"/>
              <a:t>траффик</a:t>
            </a:r>
            <a:r>
              <a:rPr lang="mn-MN" dirty="0"/>
              <a:t>-ийг хүлээн авна.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IoT </a:t>
            </a:r>
            <a:r>
              <a:rPr lang="mn-MN" b="1" dirty="0"/>
              <a:t>төхөөрөмжүүдтэй</a:t>
            </a:r>
            <a:r>
              <a:rPr lang="mn-MN" dirty="0"/>
              <a:t> холбогдож команд/өгөгдөл дамжуулна.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Attacker-</a:t>
            </a:r>
            <a:r>
              <a:rPr lang="mn-MN" b="1" dirty="0"/>
              <a:t>с ирж буй улаан траффик</a:t>
            </a:r>
            <a:r>
              <a:rPr lang="mn-MN" dirty="0"/>
              <a:t>-ийг шинжилж, блок эсвэл </a:t>
            </a:r>
            <a:r>
              <a:rPr lang="en-US" dirty="0"/>
              <a:t>alert </a:t>
            </a:r>
            <a:r>
              <a:rPr lang="mn-MN" dirty="0"/>
              <a:t>гаргана.</a:t>
            </a:r>
          </a:p>
          <a:p>
            <a:r>
              <a:rPr lang="mn-MN" dirty="0"/>
              <a:t>Хэрэв илүү </a:t>
            </a:r>
            <a:r>
              <a:rPr lang="mn-MN" b="1" dirty="0"/>
              <a:t>ямар нэг </a:t>
            </a:r>
            <a:r>
              <a:rPr lang="en-US" b="1" dirty="0"/>
              <a:t>server box </a:t>
            </a:r>
            <a:r>
              <a:rPr lang="mn-MN" b="1" dirty="0"/>
              <a:t>эсвэл </a:t>
            </a:r>
            <a:r>
              <a:rPr lang="en-US" b="1" dirty="0"/>
              <a:t>Raspberry Pi-</a:t>
            </a:r>
            <a:r>
              <a:rPr lang="mn-MN" b="1" dirty="0"/>
              <a:t>ийг томоор онцгойруулан гаргах</a:t>
            </a:r>
            <a:r>
              <a:rPr lang="mn-MN" dirty="0"/>
              <a:t> хэрэгтэй гэж үзэж байвал, дараагийн зурагт нарийвчлан хийж өгч болно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63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C16B31-5842-D03C-C949-8E81690D2F85}"/>
              </a:ext>
            </a:extLst>
          </p:cNvPr>
          <p:cNvSpPr txBox="1"/>
          <p:nvPr/>
        </p:nvSpPr>
        <p:spPr>
          <a:xfrm>
            <a:off x="587829" y="766418"/>
            <a:ext cx="83275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CoAP + DTLS </a:t>
            </a:r>
            <a:r>
              <a:rPr lang="mn-MN" b="1" dirty="0"/>
              <a:t>ашиглаж байгаа зам:</a:t>
            </a:r>
          </a:p>
          <a:p>
            <a:r>
              <a:rPr lang="en-JP" b="1" dirty="0"/>
              <a:t>📱 </a:t>
            </a:r>
            <a:r>
              <a:rPr lang="en-US" b="1" dirty="0"/>
              <a:t>User → Raspberry Pi Gateway (Server)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Raspberry Pi Gateway → IoT Devices</a:t>
            </a:r>
            <a:endParaRPr lang="en-US" dirty="0"/>
          </a:p>
          <a:p>
            <a:r>
              <a:rPr lang="en-JP" b="1" dirty="0"/>
              <a:t>🎯 </a:t>
            </a:r>
            <a:r>
              <a:rPr lang="mn-MN" b="1" dirty="0"/>
              <a:t>Тайлбар: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(</a:t>
            </a:r>
            <a:r>
              <a:rPr lang="ja-JP" altLang="en-US" b="1"/>
              <a:t>スマートフォン </a:t>
            </a:r>
            <a:r>
              <a:rPr lang="en-US" altLang="ja-JP" b="1" dirty="0"/>
              <a:t>/ </a:t>
            </a:r>
            <a:r>
              <a:rPr lang="mn-MN" b="1" dirty="0"/>
              <a:t>таблет)</a:t>
            </a:r>
            <a:endParaRPr lang="mn-MN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CoAP </a:t>
            </a:r>
            <a:r>
              <a:rPr lang="mn-MN" dirty="0"/>
              <a:t>протоколыг ашиглан </a:t>
            </a:r>
            <a:r>
              <a:rPr lang="mn-MN" b="1" dirty="0"/>
              <a:t>команд илгээдэг</a:t>
            </a:r>
            <a:r>
              <a:rPr lang="mn-MN" dirty="0"/>
              <a:t> (жишээ нь, гэрлийн асалт, хаалганы түгжээ тайлах гэх мэт).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DTLS </a:t>
            </a:r>
            <a:r>
              <a:rPr lang="mn-MN" dirty="0"/>
              <a:t>нь энэ </a:t>
            </a:r>
            <a:r>
              <a:rPr lang="en-US" dirty="0"/>
              <a:t>CoAP </a:t>
            </a:r>
            <a:r>
              <a:rPr lang="mn-MN" dirty="0"/>
              <a:t>холбоог </a:t>
            </a:r>
            <a:r>
              <a:rPr lang="mn-MN" b="1" dirty="0"/>
              <a:t>шифрлэж, найдвартай</a:t>
            </a:r>
            <a:r>
              <a:rPr lang="mn-MN" dirty="0"/>
              <a:t> болгодог.</a:t>
            </a:r>
          </a:p>
          <a:p>
            <a:pPr marL="742950" lvl="1" indent="-285750">
              <a:buFont typeface="+mj-lt"/>
              <a:buAutoNum type="arabicPeriod"/>
            </a:pPr>
            <a:r>
              <a:rPr lang="mn-MN" dirty="0"/>
              <a:t>Энэ команд нь </a:t>
            </a:r>
            <a:r>
              <a:rPr lang="en-US" b="1" dirty="0"/>
              <a:t>Raspberry Pi Gateway (DTLS + CoAP server)</a:t>
            </a:r>
            <a:r>
              <a:rPr lang="en-US" dirty="0"/>
              <a:t> </a:t>
            </a:r>
            <a:r>
              <a:rPr lang="mn-MN" dirty="0"/>
              <a:t>руу очдог.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Raspberry Pi Gateway (Server)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CoAP </a:t>
            </a:r>
            <a:r>
              <a:rPr lang="mn-MN" dirty="0"/>
              <a:t>серверийн үүрэгтэй.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User-</a:t>
            </a:r>
            <a:r>
              <a:rPr lang="mn-MN" dirty="0"/>
              <a:t>ээс ирсэн командыг </a:t>
            </a:r>
            <a:r>
              <a:rPr lang="en-US" dirty="0"/>
              <a:t>IoT </a:t>
            </a:r>
            <a:r>
              <a:rPr lang="mn-MN" dirty="0"/>
              <a:t>төхөөрөмж рүү дамжуулна.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DTLS </a:t>
            </a:r>
            <a:r>
              <a:rPr lang="mn-MN" b="1" dirty="0"/>
              <a:t>нь </a:t>
            </a:r>
            <a:r>
              <a:rPr lang="en-US" b="1" dirty="0"/>
              <a:t>User ↔ Gateway </a:t>
            </a:r>
            <a:r>
              <a:rPr lang="mn-MN" b="1" dirty="0"/>
              <a:t>хоорондын холбоог шифрлэнэ</a:t>
            </a:r>
            <a:r>
              <a:rPr lang="mn-MN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IoT Devices (Smart Lock, Camera </a:t>
            </a:r>
            <a:r>
              <a:rPr lang="mn-MN" b="1" dirty="0"/>
              <a:t>гэх мэт)</a:t>
            </a:r>
            <a:endParaRPr lang="mn-MN" dirty="0"/>
          </a:p>
          <a:p>
            <a:pPr marL="742950" lvl="1" indent="-285750">
              <a:buFont typeface="+mj-lt"/>
              <a:buAutoNum type="arabicPeriod"/>
            </a:pPr>
            <a:r>
              <a:rPr lang="mn-MN" dirty="0"/>
              <a:t>Зарим тохиолдолд </a:t>
            </a:r>
            <a:r>
              <a:rPr lang="en-US" dirty="0"/>
              <a:t>CoAP client </a:t>
            </a:r>
            <a:r>
              <a:rPr lang="mn-MN" dirty="0"/>
              <a:t>эсвэл сервер болж ажилладаг.</a:t>
            </a:r>
          </a:p>
          <a:p>
            <a:pPr marL="742950" lvl="1" indent="-285750">
              <a:buFont typeface="+mj-lt"/>
              <a:buAutoNum type="arabicPeriod"/>
            </a:pPr>
            <a:r>
              <a:rPr lang="mn-MN" dirty="0"/>
              <a:t>Хэрэв эдгээр төхөөрөмж </a:t>
            </a:r>
            <a:r>
              <a:rPr lang="en-US" dirty="0"/>
              <a:t>CoAP-</a:t>
            </a:r>
            <a:r>
              <a:rPr lang="mn-MN" dirty="0"/>
              <a:t>ийг дэмждэг бол </a:t>
            </a:r>
            <a:r>
              <a:rPr lang="en-US" dirty="0"/>
              <a:t>Gateway → IoT Devices </a:t>
            </a:r>
            <a:r>
              <a:rPr lang="mn-MN" dirty="0"/>
              <a:t>холбоо ч мөн </a:t>
            </a:r>
            <a:r>
              <a:rPr lang="en-US" dirty="0"/>
              <a:t>CoAP </a:t>
            </a:r>
            <a:r>
              <a:rPr lang="mn-MN" dirty="0"/>
              <a:t>ашиглаж болно (</a:t>
            </a:r>
            <a:r>
              <a:rPr lang="en-US" dirty="0"/>
              <a:t>DTLS </a:t>
            </a:r>
            <a:r>
              <a:rPr lang="mn-MN" dirty="0"/>
              <a:t>хэрэглэх эсэх нь тухайн төхөөрөмжийн чадавхаас хамаарна).</a:t>
            </a:r>
          </a:p>
        </p:txBody>
      </p:sp>
    </p:spTree>
    <p:extLst>
      <p:ext uri="{BB962C8B-B14F-4D97-AF65-F5344CB8AC3E}">
        <p14:creationId xmlns:p14="http://schemas.microsoft.com/office/powerpoint/2010/main" val="1277660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4EBEF3-0D1D-7126-89DC-83C3585F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3429000"/>
            <a:ext cx="12700" cy="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372A5F-1E81-237F-C55C-A97CBCA56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532349"/>
            <a:ext cx="7772400" cy="505307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944AD8-1A57-EAFA-61FD-906207092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2279"/>
              </p:ext>
            </p:extLst>
          </p:nvPr>
        </p:nvGraphicFramePr>
        <p:xfrm>
          <a:off x="533400" y="1641566"/>
          <a:ext cx="3886200" cy="283464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420422524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082979493"/>
                    </a:ext>
                  </a:extLst>
                </a:gridCol>
              </a:tblGrid>
              <a:tr h="363288">
                <a:tc>
                  <a:txBody>
                    <a:bodyPr/>
                    <a:lstStyle/>
                    <a:p>
                      <a:r>
                        <a:rPr lang="mn-MN"/>
                        <a:t>Холболт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Протоколууд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38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→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CoAP + DTLS (Encrypted communication)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27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Gateway → IoT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CoAP (</a:t>
                      </a:r>
                      <a:r>
                        <a:rPr lang="mn-MN"/>
                        <a:t>боломжтой бол </a:t>
                      </a:r>
                      <a:r>
                        <a:rPr lang="en-US"/>
                        <a:t>DTLS)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123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IoT Devices →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CoAP (Data sending, sensor info)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083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78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26962</TotalTime>
  <Words>1517</Words>
  <Application>Microsoft Macintosh PowerPoint</Application>
  <PresentationFormat>Widescreen</PresentationFormat>
  <Paragraphs>360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Meiryo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undarmaa581@gmail.com</dc:creator>
  <cp:lastModifiedBy>undarmaa581@gmail.com</cp:lastModifiedBy>
  <cp:revision>16</cp:revision>
  <dcterms:created xsi:type="dcterms:W3CDTF">2025-07-22T00:02:05Z</dcterms:created>
  <dcterms:modified xsi:type="dcterms:W3CDTF">2026-04-08T06:37:32Z</dcterms:modified>
</cp:coreProperties>
</file>