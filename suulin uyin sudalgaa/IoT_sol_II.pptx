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55" r:id="rId1"/>
  </p:sldMasterIdLst>
  <p:notesMasterIdLst>
    <p:notesMasterId r:id="rId16"/>
  </p:notesMasterIdLst>
  <p:sldIdLst>
    <p:sldId id="256" r:id="rId2"/>
    <p:sldId id="268" r:id="rId3"/>
    <p:sldId id="257" r:id="rId4"/>
    <p:sldId id="258" r:id="rId5"/>
    <p:sldId id="260" r:id="rId6"/>
    <p:sldId id="259" r:id="rId7"/>
    <p:sldId id="261" r:id="rId8"/>
    <p:sldId id="262" r:id="rId9"/>
    <p:sldId id="263" r:id="rId10"/>
    <p:sldId id="264" r:id="rId11"/>
    <p:sldId id="265" r:id="rId12"/>
    <p:sldId id="267" r:id="rId13"/>
    <p:sldId id="266"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0"/>
    <p:restoredTop sz="94648"/>
  </p:normalViewPr>
  <p:slideViewPr>
    <p:cSldViewPr snapToGrid="0">
      <p:cViewPr>
        <p:scale>
          <a:sx n="100" d="100"/>
          <a:sy n="100" d="100"/>
        </p:scale>
        <p:origin x="1560" y="6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50A379-B615-3443-BD0B-968FF156361F}" type="datetimeFigureOut">
              <a:rPr lang="en-JP" smtClean="0"/>
              <a:t>2025/07/22</a:t>
            </a:fld>
            <a:endParaRPr lang="en-JP"/>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762C6D-5A73-D14F-B045-309ECCEB20F7}" type="slidenum">
              <a:rPr lang="en-JP" smtClean="0"/>
              <a:t>‹#›</a:t>
            </a:fld>
            <a:endParaRPr lang="en-JP"/>
          </a:p>
        </p:txBody>
      </p:sp>
    </p:spTree>
    <p:extLst>
      <p:ext uri="{BB962C8B-B14F-4D97-AF65-F5344CB8AC3E}">
        <p14:creationId xmlns:p14="http://schemas.microsoft.com/office/powerpoint/2010/main" val="4022837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061"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9432CEC-23C0-0C47-9624-13EA97DDB866}" type="datetime1">
              <a:rPr lang="en-US" smtClean="0"/>
              <a:t>7/22/25</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endParaRPr lang="en-JP" dirty="0"/>
          </a:p>
        </p:txBody>
      </p:sp>
    </p:spTree>
    <p:extLst>
      <p:ext uri="{BB962C8B-B14F-4D97-AF65-F5344CB8AC3E}">
        <p14:creationId xmlns:p14="http://schemas.microsoft.com/office/powerpoint/2010/main" val="844451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68AA38-D724-0F45-9428-255DC36E6BD5}" type="datetime1">
              <a:rPr lang="en-US" smtClean="0"/>
              <a:t>7/22/25</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D46B4CB5-B774-3647-BF86-B3C8EE0819CF}" type="slidenum">
              <a:rPr lang="en-JP" smtClean="0"/>
              <a:t>‹#›</a:t>
            </a:fld>
            <a:endParaRPr lang="en-JP"/>
          </a:p>
        </p:txBody>
      </p:sp>
    </p:spTree>
    <p:extLst>
      <p:ext uri="{BB962C8B-B14F-4D97-AF65-F5344CB8AC3E}">
        <p14:creationId xmlns:p14="http://schemas.microsoft.com/office/powerpoint/2010/main" val="3264694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B6307D-76A4-C544-A454-E6B189862A33}" type="datetime1">
              <a:rPr lang="en-US" smtClean="0"/>
              <a:t>7/22/25</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D46B4CB5-B774-3647-BF86-B3C8EE0819CF}" type="slidenum">
              <a:rPr lang="en-JP" smtClean="0"/>
              <a:t>‹#›</a:t>
            </a:fld>
            <a:endParaRPr lang="en-JP"/>
          </a:p>
        </p:txBody>
      </p:sp>
    </p:spTree>
    <p:extLst>
      <p:ext uri="{BB962C8B-B14F-4D97-AF65-F5344CB8AC3E}">
        <p14:creationId xmlns:p14="http://schemas.microsoft.com/office/powerpoint/2010/main" val="1694714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6F0305D-1735-FB45-90F4-91BD52837DEF}" type="datetime1">
              <a:rPr lang="en-US" smtClean="0"/>
              <a:t>7/22/25</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D46B4CB5-B774-3647-BF86-B3C8EE0819CF}" type="slidenum">
              <a:rPr lang="en-JP" smtClean="0"/>
              <a:t>‹#›</a:t>
            </a:fld>
            <a:endParaRPr lang="en-JP"/>
          </a:p>
        </p:txBody>
      </p:sp>
    </p:spTree>
    <p:extLst>
      <p:ext uri="{BB962C8B-B14F-4D97-AF65-F5344CB8AC3E}">
        <p14:creationId xmlns:p14="http://schemas.microsoft.com/office/powerpoint/2010/main" val="1925755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B298B0C-4971-A049-A725-0FA251ED8C1B}" type="datetime1">
              <a:rPr lang="en-US" smtClean="0"/>
              <a:t>7/22/25</a:t>
            </a:fld>
            <a:endParaRPr lang="en-JP"/>
          </a:p>
        </p:txBody>
      </p:sp>
      <p:sp>
        <p:nvSpPr>
          <p:cNvPr id="8" name="Footer Placeholder 7"/>
          <p:cNvSpPr>
            <a:spLocks noGrp="1"/>
          </p:cNvSpPr>
          <p:nvPr>
            <p:ph type="ftr" sz="quarter" idx="11"/>
          </p:nvPr>
        </p:nvSpPr>
        <p:spPr/>
        <p:txBody>
          <a:bodyPr/>
          <a:lstStyle/>
          <a:p>
            <a:endParaRPr lang="en-JP"/>
          </a:p>
        </p:txBody>
      </p:sp>
      <p:sp>
        <p:nvSpPr>
          <p:cNvPr id="9" name="Slide Number Placeholder 8"/>
          <p:cNvSpPr>
            <a:spLocks noGrp="1"/>
          </p:cNvSpPr>
          <p:nvPr>
            <p:ph type="sldNum" sz="quarter" idx="12"/>
          </p:nvPr>
        </p:nvSpPr>
        <p:spPr/>
        <p:txBody>
          <a:bodyPr/>
          <a:lstStyle/>
          <a:p>
            <a:fld id="{D46B4CB5-B774-3647-BF86-B3C8EE0819CF}" type="slidenum">
              <a:rPr lang="en-JP" smtClean="0"/>
              <a:t>‹#›</a:t>
            </a:fld>
            <a:endParaRPr lang="en-JP"/>
          </a:p>
        </p:txBody>
      </p:sp>
    </p:spTree>
    <p:extLst>
      <p:ext uri="{BB962C8B-B14F-4D97-AF65-F5344CB8AC3E}">
        <p14:creationId xmlns:p14="http://schemas.microsoft.com/office/powerpoint/2010/main" val="2717490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4758D24-85A2-7940-B81D-30FF2E0B9CED}" type="datetime1">
              <a:rPr lang="en-US" smtClean="0"/>
              <a:t>7/22/25</a:t>
            </a:fld>
            <a:endParaRPr lang="en-JP"/>
          </a:p>
        </p:txBody>
      </p:sp>
      <p:sp>
        <p:nvSpPr>
          <p:cNvPr id="4" name="Footer Placeholder 3"/>
          <p:cNvSpPr>
            <a:spLocks noGrp="1"/>
          </p:cNvSpPr>
          <p:nvPr>
            <p:ph type="ftr" sz="quarter" idx="11"/>
          </p:nvPr>
        </p:nvSpPr>
        <p:spPr/>
        <p:txBody>
          <a:bodyPr/>
          <a:lstStyle/>
          <a:p>
            <a:endParaRPr lang="en-JP"/>
          </a:p>
        </p:txBody>
      </p:sp>
      <p:sp>
        <p:nvSpPr>
          <p:cNvPr id="5" name="Slide Number Placeholder 4"/>
          <p:cNvSpPr>
            <a:spLocks noGrp="1"/>
          </p:cNvSpPr>
          <p:nvPr>
            <p:ph type="sldNum" sz="quarter" idx="12"/>
          </p:nvPr>
        </p:nvSpPr>
        <p:spPr/>
        <p:txBody>
          <a:bodyPr/>
          <a:lstStyle/>
          <a:p>
            <a:fld id="{D46B4CB5-B774-3647-BF86-B3C8EE0819CF}" type="slidenum">
              <a:rPr lang="en-JP" smtClean="0"/>
              <a:t>‹#›</a:t>
            </a:fld>
            <a:endParaRPr lang="en-JP"/>
          </a:p>
        </p:txBody>
      </p:sp>
    </p:spTree>
    <p:extLst>
      <p:ext uri="{BB962C8B-B14F-4D97-AF65-F5344CB8AC3E}">
        <p14:creationId xmlns:p14="http://schemas.microsoft.com/office/powerpoint/2010/main" val="3299797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19808030-8902-774F-9711-C8886EB50364}" type="datetime1">
              <a:rPr lang="en-US" smtClean="0"/>
              <a:t>7/22/25</a:t>
            </a:fld>
            <a:endParaRPr lang="en-JP"/>
          </a:p>
        </p:txBody>
      </p:sp>
      <p:sp>
        <p:nvSpPr>
          <p:cNvPr id="3" name="Footer Placeholder 2"/>
          <p:cNvSpPr>
            <a:spLocks noGrp="1"/>
          </p:cNvSpPr>
          <p:nvPr>
            <p:ph type="ftr" sz="quarter" idx="11"/>
          </p:nvPr>
        </p:nvSpPr>
        <p:spPr/>
        <p:txBody>
          <a:bodyPr/>
          <a:lstStyle/>
          <a:p>
            <a:endParaRPr lang="en-JP"/>
          </a:p>
        </p:txBody>
      </p:sp>
      <p:sp>
        <p:nvSpPr>
          <p:cNvPr id="4" name="Slide Number Placeholder 3"/>
          <p:cNvSpPr>
            <a:spLocks noGrp="1"/>
          </p:cNvSpPr>
          <p:nvPr>
            <p:ph type="sldNum" sz="quarter" idx="12"/>
          </p:nvPr>
        </p:nvSpPr>
        <p:spPr/>
        <p:txBody>
          <a:bodyPr/>
          <a:lstStyle/>
          <a:p>
            <a:fld id="{D46B4CB5-B774-3647-BF86-B3C8EE0819CF}" type="slidenum">
              <a:rPr lang="en-JP" smtClean="0"/>
              <a:t>‹#›</a:t>
            </a:fld>
            <a:endParaRPr lang="en-JP"/>
          </a:p>
        </p:txBody>
      </p:sp>
    </p:spTree>
    <p:extLst>
      <p:ext uri="{BB962C8B-B14F-4D97-AF65-F5344CB8AC3E}">
        <p14:creationId xmlns:p14="http://schemas.microsoft.com/office/powerpoint/2010/main" val="38417673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182CC8-A851-F44E-853D-3E662DC23C0E}" type="datetime1">
              <a:rPr lang="en-US" smtClean="0"/>
              <a:t>7/22/25</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D46B4CB5-B774-3647-BF86-B3C8EE0819CF}" type="slidenum">
              <a:rPr lang="en-JP" smtClean="0"/>
              <a:t>‹#›</a:t>
            </a:fld>
            <a:endParaRPr lang="en-JP"/>
          </a:p>
        </p:txBody>
      </p:sp>
    </p:spTree>
    <p:extLst>
      <p:ext uri="{BB962C8B-B14F-4D97-AF65-F5344CB8AC3E}">
        <p14:creationId xmlns:p14="http://schemas.microsoft.com/office/powerpoint/2010/main" val="593669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D57E397-2DC5-614B-B708-1D2D9F9C9422}" type="datetime1">
              <a:rPr lang="en-US" smtClean="0"/>
              <a:t>7/22/25</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D46B4CB5-B774-3647-BF86-B3C8EE0819CF}" type="slidenum">
              <a:rPr lang="en-JP" smtClean="0"/>
              <a:t>‹#›</a:t>
            </a:fld>
            <a:endParaRPr lang="en-JP"/>
          </a:p>
        </p:txBody>
      </p:sp>
    </p:spTree>
    <p:extLst>
      <p:ext uri="{BB962C8B-B14F-4D97-AF65-F5344CB8AC3E}">
        <p14:creationId xmlns:p14="http://schemas.microsoft.com/office/powerpoint/2010/main" val="4998134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B868607-2815-234C-AC4A-714FB2B95FC5}" type="datetime1">
              <a:rPr lang="en-US" smtClean="0"/>
              <a:t>7/22/25</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D46B4CB5-B774-3647-BF86-B3C8EE0819CF}" type="slidenum">
              <a:rPr lang="en-JP" smtClean="0"/>
              <a:t>‹#›</a:t>
            </a:fld>
            <a:endParaRPr lang="en-JP"/>
          </a:p>
        </p:txBody>
      </p:sp>
    </p:spTree>
    <p:extLst>
      <p:ext uri="{BB962C8B-B14F-4D97-AF65-F5344CB8AC3E}">
        <p14:creationId xmlns:p14="http://schemas.microsoft.com/office/powerpoint/2010/main" val="2030879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8B070AB-05A7-4D4D-B05E-6D985BF182A1}" type="datetime1">
              <a:rPr lang="en-US" smtClean="0"/>
              <a:t>7/22/25</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D46B4CB5-B774-3647-BF86-B3C8EE0819CF}" type="slidenum">
              <a:rPr lang="en-JP" smtClean="0"/>
              <a:t>‹#›</a:t>
            </a:fld>
            <a:endParaRPr lang="en-JP"/>
          </a:p>
        </p:txBody>
      </p:sp>
    </p:spTree>
    <p:extLst>
      <p:ext uri="{BB962C8B-B14F-4D97-AF65-F5344CB8AC3E}">
        <p14:creationId xmlns:p14="http://schemas.microsoft.com/office/powerpoint/2010/main" val="6594703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482B30-1001-644D-B0D8-0B2086922AFE}" type="datetime1">
              <a:rPr lang="en-US" smtClean="0"/>
              <a:t>7/22/25</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D46B4CB5-B774-3647-BF86-B3C8EE0819CF}" type="slidenum">
              <a:rPr lang="en-JP" smtClean="0"/>
              <a:t>‹#›</a:t>
            </a:fld>
            <a:endParaRPr lang="en-JP"/>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2995259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1792A47-1403-FB4D-801C-54DEF4AF0192}" type="datetime1">
              <a:rPr lang="en-US" smtClean="0"/>
              <a:t>7/22/25</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D46B4CB5-B774-3647-BF86-B3C8EE0819CF}" type="slidenum">
              <a:rPr lang="en-JP" smtClean="0"/>
              <a:t>‹#›</a:t>
            </a:fld>
            <a:endParaRPr lang="en-JP"/>
          </a:p>
        </p:txBody>
      </p:sp>
    </p:spTree>
    <p:extLst>
      <p:ext uri="{BB962C8B-B14F-4D97-AF65-F5344CB8AC3E}">
        <p14:creationId xmlns:p14="http://schemas.microsoft.com/office/powerpoint/2010/main" val="26995149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45E4B3D-0095-BB42-80F3-AC2D1A177307}" type="datetime1">
              <a:rPr lang="en-US" smtClean="0"/>
              <a:t>7/22/25</a:t>
            </a:fld>
            <a:endParaRPr lang="en-JP"/>
          </a:p>
        </p:txBody>
      </p:sp>
      <p:sp>
        <p:nvSpPr>
          <p:cNvPr id="4" name="Footer Placeholder 3"/>
          <p:cNvSpPr>
            <a:spLocks noGrp="1"/>
          </p:cNvSpPr>
          <p:nvPr>
            <p:ph type="ftr" sz="quarter" idx="11"/>
          </p:nvPr>
        </p:nvSpPr>
        <p:spPr/>
        <p:txBody>
          <a:bodyPr/>
          <a:lstStyle/>
          <a:p>
            <a:endParaRPr lang="en-JP"/>
          </a:p>
        </p:txBody>
      </p:sp>
      <p:sp>
        <p:nvSpPr>
          <p:cNvPr id="5" name="Slide Number Placeholder 4"/>
          <p:cNvSpPr>
            <a:spLocks noGrp="1"/>
          </p:cNvSpPr>
          <p:nvPr>
            <p:ph type="sldNum" sz="quarter" idx="12"/>
          </p:nvPr>
        </p:nvSpPr>
        <p:spPr/>
        <p:txBody>
          <a:bodyPr/>
          <a:lstStyle/>
          <a:p>
            <a:fld id="{D46B4CB5-B774-3647-BF86-B3C8EE0819CF}" type="slidenum">
              <a:rPr lang="en-JP" smtClean="0"/>
              <a:t>‹#›</a:t>
            </a:fld>
            <a:endParaRPr lang="en-JP"/>
          </a:p>
        </p:txBody>
      </p:sp>
    </p:spTree>
    <p:extLst>
      <p:ext uri="{BB962C8B-B14F-4D97-AF65-F5344CB8AC3E}">
        <p14:creationId xmlns:p14="http://schemas.microsoft.com/office/powerpoint/2010/main" val="12469401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E337551-7D25-B444-B880-7E7F6B570245}" type="datetime1">
              <a:rPr lang="en-US" smtClean="0"/>
              <a:t>7/22/25</a:t>
            </a:fld>
            <a:endParaRPr lang="en-JP"/>
          </a:p>
        </p:txBody>
      </p:sp>
      <p:sp>
        <p:nvSpPr>
          <p:cNvPr id="4" name="Footer Placeholder 3"/>
          <p:cNvSpPr>
            <a:spLocks noGrp="1"/>
          </p:cNvSpPr>
          <p:nvPr>
            <p:ph type="ftr" sz="quarter" idx="11"/>
          </p:nvPr>
        </p:nvSpPr>
        <p:spPr/>
        <p:txBody>
          <a:bodyPr/>
          <a:lstStyle/>
          <a:p>
            <a:endParaRPr lang="en-JP"/>
          </a:p>
        </p:txBody>
      </p:sp>
      <p:sp>
        <p:nvSpPr>
          <p:cNvPr id="5" name="Slide Number Placeholder 4"/>
          <p:cNvSpPr>
            <a:spLocks noGrp="1"/>
          </p:cNvSpPr>
          <p:nvPr>
            <p:ph type="sldNum" sz="quarter" idx="12"/>
          </p:nvPr>
        </p:nvSpPr>
        <p:spPr/>
        <p:txBody>
          <a:bodyPr/>
          <a:lstStyle/>
          <a:p>
            <a:fld id="{D46B4CB5-B774-3647-BF86-B3C8EE0819CF}" type="slidenum">
              <a:rPr lang="en-JP" smtClean="0"/>
              <a:t>‹#›</a:t>
            </a:fld>
            <a:endParaRPr lang="en-JP"/>
          </a:p>
        </p:txBody>
      </p:sp>
    </p:spTree>
    <p:extLst>
      <p:ext uri="{BB962C8B-B14F-4D97-AF65-F5344CB8AC3E}">
        <p14:creationId xmlns:p14="http://schemas.microsoft.com/office/powerpoint/2010/main" val="27601791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83F671-8BA3-3948-AA44-F4EBB8FA5983}" type="datetime1">
              <a:rPr lang="en-US" smtClean="0"/>
              <a:t>7/22/25</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D46B4CB5-B774-3647-BF86-B3C8EE0819CF}" type="slidenum">
              <a:rPr lang="en-JP" smtClean="0"/>
              <a:t>‹#›</a:t>
            </a:fld>
            <a:endParaRPr lang="en-JP"/>
          </a:p>
        </p:txBody>
      </p:sp>
    </p:spTree>
    <p:extLst>
      <p:ext uri="{BB962C8B-B14F-4D97-AF65-F5344CB8AC3E}">
        <p14:creationId xmlns:p14="http://schemas.microsoft.com/office/powerpoint/2010/main" val="2603664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861D87-D978-2A4D-B962-495D616836BE}" type="datetime1">
              <a:rPr lang="en-US" smtClean="0"/>
              <a:t>7/22/25</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D46B4CB5-B774-3647-BF86-B3C8EE0819CF}" type="slidenum">
              <a:rPr lang="en-JP" smtClean="0"/>
              <a:t>‹#›</a:t>
            </a:fld>
            <a:endParaRPr lang="en-JP"/>
          </a:p>
        </p:txBody>
      </p:sp>
    </p:spTree>
    <p:extLst>
      <p:ext uri="{BB962C8B-B14F-4D97-AF65-F5344CB8AC3E}">
        <p14:creationId xmlns:p14="http://schemas.microsoft.com/office/powerpoint/2010/main" val="15499370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06976-23B0-7B37-06C2-59EED68710AF}"/>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9B803237-A7DB-6DD7-1BFD-FADD3129B1D9}"/>
              </a:ext>
            </a:extLst>
          </p:cNvPr>
          <p:cNvSpPr>
            <a:spLocks noGrp="1"/>
          </p:cNvSpPr>
          <p:nvPr>
            <p:ph idx="1"/>
          </p:nvPr>
        </p:nvSpPr>
        <p:spPr>
          <a:xfrm>
            <a:off x="764919" y="1792935"/>
            <a:ext cx="10364452"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EE4852A6-2BF3-2DC1-5341-180A31FCE55B}"/>
              </a:ext>
            </a:extLst>
          </p:cNvPr>
          <p:cNvSpPr>
            <a:spLocks noGrp="1"/>
          </p:cNvSpPr>
          <p:nvPr>
            <p:ph type="dt" sz="half" idx="10"/>
          </p:nvPr>
        </p:nvSpPr>
        <p:spPr/>
        <p:txBody>
          <a:bodyPr/>
          <a:lstStyle/>
          <a:p>
            <a:fld id="{3948E9E5-18C9-3D41-B6A1-AD802AC3E84C}" type="datetime1">
              <a:rPr lang="en-US" smtClean="0"/>
              <a:t>7/22/25</a:t>
            </a:fld>
            <a:endParaRPr lang="en-JP"/>
          </a:p>
        </p:txBody>
      </p:sp>
      <p:sp>
        <p:nvSpPr>
          <p:cNvPr id="5" name="Footer Placeholder 4">
            <a:extLst>
              <a:ext uri="{FF2B5EF4-FFF2-40B4-BE49-F238E27FC236}">
                <a16:creationId xmlns:a16="http://schemas.microsoft.com/office/drawing/2014/main" id="{827EDD5E-2354-62B2-4AD4-FA9BE602CBD7}"/>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160BA698-0F87-7B78-0A62-81FBC588D188}"/>
              </a:ext>
            </a:extLst>
          </p:cNvPr>
          <p:cNvSpPr>
            <a:spLocks noGrp="1"/>
          </p:cNvSpPr>
          <p:nvPr>
            <p:ph type="sldNum" sz="quarter" idx="12"/>
          </p:nvPr>
        </p:nvSpPr>
        <p:spPr/>
        <p:txBody>
          <a:bodyPr/>
          <a:lstStyle>
            <a:lvl1pPr>
              <a:defRPr sz="1600">
                <a:latin typeface="Meiryo" panose="020B0604030504040204" pitchFamily="34" charset="-128"/>
                <a:ea typeface="Meiryo" panose="020B0604030504040204" pitchFamily="34" charset="-128"/>
              </a:defRPr>
            </a:lvl1pPr>
          </a:lstStyle>
          <a:p>
            <a:endParaRPr lang="en-JP" dirty="0"/>
          </a:p>
        </p:txBody>
      </p:sp>
    </p:spTree>
    <p:extLst>
      <p:ext uri="{BB962C8B-B14F-4D97-AF65-F5344CB8AC3E}">
        <p14:creationId xmlns:p14="http://schemas.microsoft.com/office/powerpoint/2010/main" val="24107580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8000">
              <a:schemeClr val="bg1"/>
            </a:gs>
            <a:gs pos="0">
              <a:schemeClr val="bg1">
                <a:shade val="64000"/>
                <a:lumMod val="88000"/>
              </a:schemeClr>
            </a:gs>
          </a:gsLst>
          <a:lin ang="8100000" scaled="1"/>
          <a:tileRect/>
        </a:gradFill>
        <a:effectLst/>
      </p:bgPr>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2E7B14CE-3C52-024A-B571-080251806F2B}" type="datetime1">
              <a:rPr lang="en-US" smtClean="0"/>
              <a:t>7/22/25</a:t>
            </a:fld>
            <a:endParaRPr lang="en-JP"/>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JP"/>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D46B4CB5-B774-3647-BF86-B3C8EE0819CF}" type="slidenum">
              <a:rPr lang="en-JP" smtClean="0"/>
              <a:t>‹#›</a:t>
            </a:fld>
            <a:endParaRPr lang="en-JP"/>
          </a:p>
        </p:txBody>
      </p:sp>
    </p:spTree>
    <p:extLst>
      <p:ext uri="{BB962C8B-B14F-4D97-AF65-F5344CB8AC3E}">
        <p14:creationId xmlns:p14="http://schemas.microsoft.com/office/powerpoint/2010/main" val="3290611768"/>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 id="2147483769" r:id="rId14"/>
    <p:sldLayoutId id="2147483770" r:id="rId15"/>
    <p:sldLayoutId id="2147483771" r:id="rId16"/>
    <p:sldLayoutId id="2147483772" r:id="rId17"/>
    <p:sldLayoutId id="2147483773" r:id="rId18"/>
  </p:sldLayoutIdLst>
  <p:hf hdr="0" ftr="0" dt="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18.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8.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75523-A5F7-85E2-6FE8-086AA2E4DDB4}"/>
              </a:ext>
            </a:extLst>
          </p:cNvPr>
          <p:cNvSpPr>
            <a:spLocks noGrp="1"/>
          </p:cNvSpPr>
          <p:nvPr>
            <p:ph type="ctrTitle"/>
          </p:nvPr>
        </p:nvSpPr>
        <p:spPr>
          <a:xfrm>
            <a:off x="1099369" y="760498"/>
            <a:ext cx="9610671" cy="2509213"/>
          </a:xfrm>
        </p:spPr>
        <p:txBody>
          <a:bodyPr/>
          <a:lstStyle/>
          <a:p>
            <a:r>
              <a:rPr lang="ja-JP" altLang="en-US"/>
              <a:t>室内空気質モニタリングのための</a:t>
            </a:r>
            <a:r>
              <a:rPr lang="en-US" dirty="0"/>
              <a:t>IoT</a:t>
            </a:r>
            <a:r>
              <a:rPr lang="ja-JP" altLang="en-US"/>
              <a:t>システム提案</a:t>
            </a:r>
            <a:endParaRPr lang="en-JP" dirty="0"/>
          </a:p>
        </p:txBody>
      </p:sp>
      <p:sp>
        <p:nvSpPr>
          <p:cNvPr id="3" name="Subtitle 2">
            <a:extLst>
              <a:ext uri="{FF2B5EF4-FFF2-40B4-BE49-F238E27FC236}">
                <a16:creationId xmlns:a16="http://schemas.microsoft.com/office/drawing/2014/main" id="{4854D662-7BB3-F239-E654-526A47FB00CB}"/>
              </a:ext>
            </a:extLst>
          </p:cNvPr>
          <p:cNvSpPr>
            <a:spLocks noGrp="1"/>
          </p:cNvSpPr>
          <p:nvPr>
            <p:ph type="subTitle" idx="1"/>
          </p:nvPr>
        </p:nvSpPr>
        <p:spPr>
          <a:xfrm>
            <a:off x="200823" y="4441740"/>
            <a:ext cx="5203372" cy="1655762"/>
          </a:xfrm>
        </p:spPr>
        <p:txBody>
          <a:bodyPr/>
          <a:lstStyle/>
          <a:p>
            <a:r>
              <a:rPr lang="ja-JP" altLang="en-US" sz="2400" b="0" i="0" u="none" strike="noStrike">
                <a:solidFill>
                  <a:schemeClr val="tx1"/>
                </a:solidFill>
                <a:effectLst/>
                <a:latin typeface="YuMincho +36p Kana Medium" panose="02020500000000000000" pitchFamily="18" charset="-128"/>
                <a:ea typeface="YuMincho +36p Kana Medium" panose="02020500000000000000" pitchFamily="18" charset="-128"/>
              </a:rPr>
              <a:t>Ｉ</a:t>
            </a:r>
            <a:r>
              <a:rPr lang="en-US" altLang="ja-JP" sz="2400" dirty="0">
                <a:solidFill>
                  <a:schemeClr val="tx1"/>
                </a:solidFill>
                <a:latin typeface="YuMincho +36p Kana Medium" panose="02020500000000000000" pitchFamily="18" charset="-128"/>
                <a:ea typeface="YuMincho +36p Kana Medium" panose="02020500000000000000" pitchFamily="18" charset="-128"/>
              </a:rPr>
              <a:t>o</a:t>
            </a:r>
            <a:r>
              <a:rPr lang="ja-JP" altLang="en-US" sz="2400" b="0" i="0" u="none" strike="noStrike">
                <a:solidFill>
                  <a:schemeClr val="tx1"/>
                </a:solidFill>
                <a:effectLst/>
                <a:latin typeface="YuMincho +36p Kana Medium" panose="02020500000000000000" pitchFamily="18" charset="-128"/>
                <a:ea typeface="YuMincho +36p Kana Medium" panose="02020500000000000000" pitchFamily="18" charset="-128"/>
              </a:rPr>
              <a:t>Ｔソリューション特論第一</a:t>
            </a:r>
            <a:endParaRPr lang="en-US" altLang="ja-JP" sz="2400" b="0" i="0" u="none" strike="noStrike" dirty="0">
              <a:solidFill>
                <a:schemeClr val="tx1"/>
              </a:solidFill>
              <a:effectLst/>
              <a:latin typeface="YuMincho +36p Kana Medium" panose="02020500000000000000" pitchFamily="18" charset="-128"/>
              <a:ea typeface="YuMincho +36p Kana Medium" panose="02020500000000000000" pitchFamily="18" charset="-128"/>
            </a:endParaRPr>
          </a:p>
          <a:p>
            <a:r>
              <a:rPr lang="ja-JP" altLang="en-US" sz="2400" b="0" i="0" u="none" strike="noStrike">
                <a:solidFill>
                  <a:schemeClr val="tx1"/>
                </a:solidFill>
                <a:effectLst/>
                <a:latin typeface="YuMincho +36p Kana Medium" panose="02020500000000000000" pitchFamily="18" charset="-128"/>
                <a:ea typeface="YuMincho +36p Kana Medium" panose="02020500000000000000" pitchFamily="18" charset="-128"/>
              </a:rPr>
              <a:t>発表日</a:t>
            </a:r>
            <a:r>
              <a:rPr lang="en-US" altLang="ja-JP" sz="2400" b="0" i="0" u="none" strike="noStrike" dirty="0">
                <a:solidFill>
                  <a:schemeClr val="tx1"/>
                </a:solidFill>
                <a:effectLst/>
                <a:latin typeface="YuMincho +36p Kana Medium" panose="02020500000000000000" pitchFamily="18" charset="-128"/>
                <a:ea typeface="YuMincho +36p Kana Medium" panose="02020500000000000000" pitchFamily="18" charset="-128"/>
              </a:rPr>
              <a:t>: 2025</a:t>
            </a:r>
            <a:r>
              <a:rPr lang="ja-JP" altLang="en-US" sz="2400" b="0" i="0" u="none" strike="noStrike">
                <a:solidFill>
                  <a:schemeClr val="tx1"/>
                </a:solidFill>
                <a:effectLst/>
                <a:latin typeface="YuMincho +36p Kana Medium" panose="02020500000000000000" pitchFamily="18" charset="-128"/>
                <a:ea typeface="YuMincho +36p Kana Medium" panose="02020500000000000000" pitchFamily="18" charset="-128"/>
              </a:rPr>
              <a:t>年</a:t>
            </a:r>
            <a:r>
              <a:rPr lang="en-US" altLang="ja-JP" sz="2400" dirty="0">
                <a:solidFill>
                  <a:schemeClr val="tx1"/>
                </a:solidFill>
                <a:latin typeface="YuMincho +36p Kana Medium" panose="02020500000000000000" pitchFamily="18" charset="-128"/>
                <a:ea typeface="YuMincho +36p Kana Medium" panose="02020500000000000000" pitchFamily="18" charset="-128"/>
              </a:rPr>
              <a:t>7</a:t>
            </a:r>
            <a:r>
              <a:rPr lang="ja-JP" altLang="en-US" sz="2400" b="0" i="0" u="none" strike="noStrike">
                <a:solidFill>
                  <a:schemeClr val="tx1"/>
                </a:solidFill>
                <a:effectLst/>
                <a:latin typeface="YuMincho +36p Kana Medium" panose="02020500000000000000" pitchFamily="18" charset="-128"/>
                <a:ea typeface="YuMincho +36p Kana Medium" panose="02020500000000000000" pitchFamily="18" charset="-128"/>
              </a:rPr>
              <a:t>月</a:t>
            </a:r>
            <a:r>
              <a:rPr lang="en-US" altLang="ja-JP" sz="2400" dirty="0">
                <a:solidFill>
                  <a:schemeClr val="tx1"/>
                </a:solidFill>
                <a:latin typeface="YuMincho +36p Kana Medium" panose="02020500000000000000" pitchFamily="18" charset="-128"/>
                <a:ea typeface="YuMincho +36p Kana Medium" panose="02020500000000000000" pitchFamily="18" charset="-128"/>
              </a:rPr>
              <a:t>23</a:t>
            </a:r>
            <a:r>
              <a:rPr lang="ja-JP" altLang="en-US" sz="2400" b="0" i="0" u="none" strike="noStrike">
                <a:solidFill>
                  <a:schemeClr val="tx1"/>
                </a:solidFill>
                <a:effectLst/>
                <a:latin typeface="YuMincho +36p Kana Medium" panose="02020500000000000000" pitchFamily="18" charset="-128"/>
                <a:ea typeface="YuMincho +36p Kana Medium" panose="02020500000000000000" pitchFamily="18" charset="-128"/>
              </a:rPr>
              <a:t>日</a:t>
            </a:r>
            <a:endParaRPr lang="en-US" altLang="ja-JP" sz="2400" b="0" i="0" u="none" strike="noStrike" dirty="0">
              <a:solidFill>
                <a:schemeClr val="tx1"/>
              </a:solidFill>
              <a:effectLst/>
              <a:latin typeface="YuMincho +36p Kana Medium" panose="02020500000000000000" pitchFamily="18" charset="-128"/>
              <a:ea typeface="YuMincho +36p Kana Medium" panose="02020500000000000000" pitchFamily="18" charset="-128"/>
            </a:endParaRPr>
          </a:p>
          <a:p>
            <a:r>
              <a:rPr lang="ja-JP" altLang="en-US" sz="2400" b="0" i="0" u="none" strike="noStrike">
                <a:solidFill>
                  <a:schemeClr val="tx1"/>
                </a:solidFill>
                <a:effectLst/>
                <a:latin typeface="YuMincho +36p Kana Medium" panose="02020500000000000000" pitchFamily="18" charset="-128"/>
                <a:ea typeface="YuMincho +36p Kana Medium" panose="02020500000000000000" pitchFamily="18" charset="-128"/>
              </a:rPr>
              <a:t>発表者：</a:t>
            </a:r>
            <a:r>
              <a:rPr lang="en-JP" sz="2400" dirty="0">
                <a:solidFill>
                  <a:schemeClr val="tx1"/>
                </a:solidFill>
                <a:latin typeface="YuMincho +36p Kana Medium" panose="02020500000000000000" pitchFamily="18" charset="-128"/>
                <a:ea typeface="YuMincho +36p Kana Medium" panose="02020500000000000000" pitchFamily="18" charset="-128"/>
              </a:rPr>
              <a:t>ウンダラマー</a:t>
            </a:r>
          </a:p>
        </p:txBody>
      </p:sp>
      <p:sp>
        <p:nvSpPr>
          <p:cNvPr id="5" name="TextBox 4">
            <a:extLst>
              <a:ext uri="{FF2B5EF4-FFF2-40B4-BE49-F238E27FC236}">
                <a16:creationId xmlns:a16="http://schemas.microsoft.com/office/drawing/2014/main" id="{DB150CF6-0CEB-ECF0-4DBA-CCEC2415021D}"/>
              </a:ext>
            </a:extLst>
          </p:cNvPr>
          <p:cNvSpPr txBox="1"/>
          <p:nvPr/>
        </p:nvSpPr>
        <p:spPr>
          <a:xfrm>
            <a:off x="7083972" y="620110"/>
            <a:ext cx="184731" cy="369332"/>
          </a:xfrm>
          <a:prstGeom prst="rect">
            <a:avLst/>
          </a:prstGeom>
          <a:noFill/>
        </p:spPr>
        <p:txBody>
          <a:bodyPr wrap="none" rtlCol="0">
            <a:spAutoFit/>
          </a:bodyPr>
          <a:lstStyle/>
          <a:p>
            <a:endParaRPr lang="en-JP" dirty="0"/>
          </a:p>
        </p:txBody>
      </p:sp>
      <p:sp>
        <p:nvSpPr>
          <p:cNvPr id="9" name="TextBox 8">
            <a:extLst>
              <a:ext uri="{FF2B5EF4-FFF2-40B4-BE49-F238E27FC236}">
                <a16:creationId xmlns:a16="http://schemas.microsoft.com/office/drawing/2014/main" id="{C8CE9A99-F430-26D6-2FB4-BC49DFD628E2}"/>
              </a:ext>
            </a:extLst>
          </p:cNvPr>
          <p:cNvSpPr txBox="1"/>
          <p:nvPr/>
        </p:nvSpPr>
        <p:spPr>
          <a:xfrm>
            <a:off x="7639815" y="3428999"/>
            <a:ext cx="3929885" cy="400110"/>
          </a:xfrm>
          <a:prstGeom prst="rect">
            <a:avLst/>
          </a:prstGeom>
          <a:noFill/>
        </p:spPr>
        <p:txBody>
          <a:bodyPr wrap="square">
            <a:spAutoFit/>
          </a:bodyPr>
          <a:lstStyle/>
          <a:p>
            <a:r>
              <a:rPr lang="ja-JP" altLang="en-US" sz="2000"/>
              <a:t>データ収集・分析：データ加工処理</a:t>
            </a:r>
            <a:endParaRPr lang="en-JP" sz="2000" dirty="0"/>
          </a:p>
        </p:txBody>
      </p:sp>
    </p:spTree>
    <p:extLst>
      <p:ext uri="{BB962C8B-B14F-4D97-AF65-F5344CB8AC3E}">
        <p14:creationId xmlns:p14="http://schemas.microsoft.com/office/powerpoint/2010/main" val="1084532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8783A0B-E358-DD86-0073-EECDEFD1CC64}"/>
              </a:ext>
            </a:extLst>
          </p:cNvPr>
          <p:cNvSpPr>
            <a:spLocks noGrp="1"/>
          </p:cNvSpPr>
          <p:nvPr>
            <p:ph type="sldNum" sz="quarter" idx="12"/>
          </p:nvPr>
        </p:nvSpPr>
        <p:spPr/>
        <p:txBody>
          <a:bodyPr/>
          <a:lstStyle/>
          <a:p>
            <a:r>
              <a:rPr lang="en-US" dirty="0"/>
              <a:t>2</a:t>
            </a:r>
          </a:p>
          <a:p>
            <a:endParaRPr lang="en-JP" dirty="0"/>
          </a:p>
        </p:txBody>
      </p:sp>
      <p:sp>
        <p:nvSpPr>
          <p:cNvPr id="6" name="TextBox 5">
            <a:extLst>
              <a:ext uri="{FF2B5EF4-FFF2-40B4-BE49-F238E27FC236}">
                <a16:creationId xmlns:a16="http://schemas.microsoft.com/office/drawing/2014/main" id="{6E43DBE5-C9D2-7010-4C5F-D5E74A4EEC18}"/>
              </a:ext>
            </a:extLst>
          </p:cNvPr>
          <p:cNvSpPr txBox="1"/>
          <p:nvPr/>
        </p:nvSpPr>
        <p:spPr>
          <a:xfrm>
            <a:off x="1110796" y="1746285"/>
            <a:ext cx="6097772" cy="3879973"/>
          </a:xfrm>
          <a:prstGeom prst="rect">
            <a:avLst/>
          </a:prstGeom>
          <a:noFill/>
        </p:spPr>
        <p:txBody>
          <a:bodyPr wrap="square">
            <a:spAutoFit/>
          </a:bodyPr>
          <a:lstStyle/>
          <a:p>
            <a:pPr marL="761981" indent="-548626">
              <a:lnSpc>
                <a:spcPct val="150000"/>
              </a:lnSpc>
              <a:spcBef>
                <a:spcPts val="0"/>
              </a:spcBef>
              <a:buSzPts val="2800"/>
              <a:buFont typeface="Wingdings" pitchFamily="2" charset="2"/>
              <a:buChar char="§"/>
            </a:pPr>
            <a:r>
              <a:rPr lang="ja-JP" altLang="en-US" sz="2800">
                <a:latin typeface="Meiryo UI" panose="020B0604030504040204" pitchFamily="50" charset="-128"/>
                <a:ea typeface="Meiryo UI" panose="020B0604030504040204" pitchFamily="50" charset="-128"/>
              </a:rPr>
              <a:t>システムの概要</a:t>
            </a:r>
          </a:p>
          <a:p>
            <a:pPr marL="761981" indent="-548626">
              <a:lnSpc>
                <a:spcPct val="150000"/>
              </a:lnSpc>
              <a:spcBef>
                <a:spcPts val="0"/>
              </a:spcBef>
              <a:buSzPts val="2800"/>
              <a:buFont typeface="Wingdings" pitchFamily="2" charset="2"/>
              <a:buChar char="§"/>
            </a:pPr>
            <a:r>
              <a:rPr lang="ja-JP" altLang="en-US" sz="2800">
                <a:latin typeface="Meiryo UI" panose="020B0604030504040204" pitchFamily="50" charset="-128"/>
                <a:ea typeface="Meiryo UI" panose="020B0604030504040204" pitchFamily="50" charset="-128"/>
              </a:rPr>
              <a:t>収集されるデータ</a:t>
            </a:r>
          </a:p>
          <a:p>
            <a:pPr marL="761981" indent="-548626">
              <a:lnSpc>
                <a:spcPct val="150000"/>
              </a:lnSpc>
              <a:spcBef>
                <a:spcPts val="0"/>
              </a:spcBef>
              <a:buSzPts val="2800"/>
              <a:buFont typeface="Wingdings" pitchFamily="2" charset="2"/>
              <a:buChar char="§"/>
            </a:pPr>
            <a:r>
              <a:rPr lang="ja-JP" altLang="en-US" sz="2800">
                <a:latin typeface="Meiryo UI" panose="020B0604030504040204" pitchFamily="50" charset="-128"/>
                <a:ea typeface="Meiryo UI" panose="020B0604030504040204" pitchFamily="50" charset="-128"/>
              </a:rPr>
              <a:t> 想定されるデータの不具合</a:t>
            </a:r>
          </a:p>
          <a:p>
            <a:pPr marL="761981" indent="-548626">
              <a:lnSpc>
                <a:spcPct val="150000"/>
              </a:lnSpc>
              <a:spcBef>
                <a:spcPts val="0"/>
              </a:spcBef>
              <a:buSzPts val="2800"/>
              <a:buFont typeface="Wingdings" pitchFamily="2" charset="2"/>
              <a:buChar char="§"/>
            </a:pPr>
            <a:r>
              <a:rPr lang="ja-JP" altLang="en-US" sz="2800">
                <a:latin typeface="Meiryo UI" panose="020B0604030504040204" pitchFamily="50" charset="-128"/>
                <a:ea typeface="Meiryo UI" panose="020B0604030504040204" pitchFamily="50" charset="-128"/>
              </a:rPr>
              <a:t>データのクレンジング方法</a:t>
            </a:r>
          </a:p>
          <a:p>
            <a:pPr marL="761981" indent="-548626">
              <a:lnSpc>
                <a:spcPct val="150000"/>
              </a:lnSpc>
              <a:spcBef>
                <a:spcPts val="0"/>
              </a:spcBef>
              <a:buSzPts val="2800"/>
              <a:buFont typeface="Wingdings" pitchFamily="2" charset="2"/>
              <a:buChar char="§"/>
            </a:pPr>
            <a:r>
              <a:rPr lang="ja-JP" altLang="en-US" sz="2800">
                <a:latin typeface="Meiryo UI" panose="020B0604030504040204" pitchFamily="50" charset="-128"/>
                <a:ea typeface="Meiryo UI" panose="020B0604030504040204" pitchFamily="50" charset="-128"/>
              </a:rPr>
              <a:t>データ処理</a:t>
            </a:r>
          </a:p>
          <a:p>
            <a:pPr marL="761981" indent="-548626">
              <a:lnSpc>
                <a:spcPct val="150000"/>
              </a:lnSpc>
              <a:spcBef>
                <a:spcPts val="0"/>
              </a:spcBef>
              <a:buSzPts val="2800"/>
              <a:buFont typeface="Wingdings" pitchFamily="2" charset="2"/>
              <a:buChar char="§"/>
            </a:pPr>
            <a:r>
              <a:rPr lang="ja-JP" altLang="en-US" sz="2800">
                <a:latin typeface="Meiryo UI" panose="020B0604030504040204" pitchFamily="50" charset="-128"/>
                <a:ea typeface="Meiryo UI" panose="020B0604030504040204" pitchFamily="50" charset="-128"/>
              </a:rPr>
              <a:t>まとめ</a:t>
            </a:r>
            <a:endParaRPr kumimoji="1" lang="en-US" altLang="ja-JP" sz="2800" dirty="0">
              <a:latin typeface="Meiryo UI" panose="020B0604030504040204" pitchFamily="50" charset="-128"/>
              <a:ea typeface="Meiryo UI" panose="020B0604030504040204" pitchFamily="50" charset="-128"/>
            </a:endParaRPr>
          </a:p>
        </p:txBody>
      </p:sp>
      <p:sp>
        <p:nvSpPr>
          <p:cNvPr id="8" name="TextBox 7">
            <a:extLst>
              <a:ext uri="{FF2B5EF4-FFF2-40B4-BE49-F238E27FC236}">
                <a16:creationId xmlns:a16="http://schemas.microsoft.com/office/drawing/2014/main" id="{64ACE13E-AA99-DC8C-C633-511C03092617}"/>
              </a:ext>
            </a:extLst>
          </p:cNvPr>
          <p:cNvSpPr txBox="1"/>
          <p:nvPr/>
        </p:nvSpPr>
        <p:spPr>
          <a:xfrm>
            <a:off x="1317551" y="892087"/>
            <a:ext cx="6097772" cy="523220"/>
          </a:xfrm>
          <a:prstGeom prst="rect">
            <a:avLst/>
          </a:prstGeom>
          <a:noFill/>
        </p:spPr>
        <p:txBody>
          <a:bodyPr wrap="square">
            <a:spAutoFit/>
          </a:bodyPr>
          <a:lstStyle/>
          <a:p>
            <a:r>
              <a:rPr lang="ja-JP" altLang="en-US" sz="2800">
                <a:latin typeface="Meiryo UI" panose="020B0604030504040204" pitchFamily="50" charset="-128"/>
                <a:ea typeface="Meiryo UI" panose="020B0604030504040204" pitchFamily="50" charset="-128"/>
              </a:rPr>
              <a:t>目次</a:t>
            </a:r>
            <a:endParaRPr lang="en-JP" sz="2800" dirty="0"/>
          </a:p>
        </p:txBody>
      </p:sp>
    </p:spTree>
    <p:extLst>
      <p:ext uri="{BB962C8B-B14F-4D97-AF65-F5344CB8AC3E}">
        <p14:creationId xmlns:p14="http://schemas.microsoft.com/office/powerpoint/2010/main" val="1835790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311624C-3C7D-E0F3-8982-7CF320FE1092}"/>
              </a:ext>
            </a:extLst>
          </p:cNvPr>
          <p:cNvSpPr txBox="1"/>
          <p:nvPr/>
        </p:nvSpPr>
        <p:spPr>
          <a:xfrm>
            <a:off x="533400" y="649813"/>
            <a:ext cx="6096000" cy="369332"/>
          </a:xfrm>
          <a:prstGeom prst="rect">
            <a:avLst/>
          </a:prstGeom>
          <a:noFill/>
        </p:spPr>
        <p:txBody>
          <a:bodyPr wrap="square">
            <a:spAutoFit/>
          </a:bodyPr>
          <a:lstStyle/>
          <a:p>
            <a:r>
              <a:rPr lang="ja-JP" altLang="en-US"/>
              <a:t>解決したい問題</a:t>
            </a:r>
            <a:r>
              <a:rPr lang="en-US" altLang="ja-JP" dirty="0"/>
              <a:t>/</a:t>
            </a:r>
            <a:r>
              <a:rPr lang="ja-JP" altLang="en-US"/>
              <a:t>システムの概要</a:t>
            </a:r>
          </a:p>
        </p:txBody>
      </p:sp>
      <p:sp>
        <p:nvSpPr>
          <p:cNvPr id="8" name="TextBox 7">
            <a:extLst>
              <a:ext uri="{FF2B5EF4-FFF2-40B4-BE49-F238E27FC236}">
                <a16:creationId xmlns:a16="http://schemas.microsoft.com/office/drawing/2014/main" id="{18766DDF-A887-B9E3-EE36-6DF4A2C3AEE2}"/>
              </a:ext>
            </a:extLst>
          </p:cNvPr>
          <p:cNvSpPr txBox="1"/>
          <p:nvPr/>
        </p:nvSpPr>
        <p:spPr>
          <a:xfrm>
            <a:off x="381000" y="3359296"/>
            <a:ext cx="5267872" cy="2031325"/>
          </a:xfrm>
          <a:prstGeom prst="rect">
            <a:avLst/>
          </a:prstGeom>
          <a:noFill/>
        </p:spPr>
        <p:txBody>
          <a:bodyPr wrap="square">
            <a:spAutoFit/>
          </a:bodyPr>
          <a:lstStyle/>
          <a:p>
            <a:pPr marL="285750" indent="-285750">
              <a:buFont typeface="Arial" panose="020B0604020202020204" pitchFamily="34" charset="0"/>
              <a:buChar char="•"/>
            </a:pPr>
            <a:r>
              <a:rPr lang="ja-JP" altLang="en-US">
                <a:latin typeface="Meiryo" panose="020B0604030504040204" pitchFamily="34" charset="-128"/>
                <a:ea typeface="Meiryo" panose="020B0604030504040204" pitchFamily="34" charset="-128"/>
              </a:rPr>
              <a:t>空調と自然換気のバランスが取りにくい</a:t>
            </a:r>
          </a:p>
          <a:p>
            <a:pPr marL="285750" indent="-285750">
              <a:buFont typeface="Arial" panose="020B0604020202020204" pitchFamily="34" charset="0"/>
              <a:buChar char="•"/>
            </a:pPr>
            <a:r>
              <a:rPr lang="ja-JP" altLang="en-US">
                <a:latin typeface="Meiryo" panose="020B0604030504040204" pitchFamily="34" charset="-128"/>
                <a:ea typeface="Meiryo" panose="020B0604030504040204" pitchFamily="34" charset="-128"/>
              </a:rPr>
              <a:t>長時間集中して学習していると空気の状態に気づかない</a:t>
            </a:r>
          </a:p>
          <a:p>
            <a:pPr marL="285750" indent="-285750">
              <a:buFont typeface="Arial" panose="020B0604020202020204" pitchFamily="34" charset="0"/>
              <a:buChar char="•"/>
            </a:pPr>
            <a:r>
              <a:rPr lang="ja-JP" altLang="en-US">
                <a:latin typeface="Meiryo" panose="020B0604030504040204" pitchFamily="34" charset="-128"/>
                <a:ea typeface="Meiryo" panose="020B0604030504040204" pitchFamily="34" charset="-128"/>
              </a:rPr>
              <a:t>頭痛、生産性低下、アレルギー反応などの問題</a:t>
            </a:r>
            <a:endParaRPr lang="mn-MN" altLang="ja-JP"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lang="mn-MN" altLang="ja-JP"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lang="ja-JP" altLang="en-US">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0A1E34AE-01F4-457E-9AF3-4EF9CB95B662}"/>
              </a:ext>
            </a:extLst>
          </p:cNvPr>
          <p:cNvSpPr txBox="1"/>
          <p:nvPr/>
        </p:nvSpPr>
        <p:spPr>
          <a:xfrm>
            <a:off x="746015" y="1866055"/>
            <a:ext cx="4537841" cy="646331"/>
          </a:xfrm>
          <a:prstGeom prst="rect">
            <a:avLst/>
          </a:prstGeom>
          <a:noFill/>
        </p:spPr>
        <p:txBody>
          <a:bodyPr wrap="square">
            <a:spAutoFit/>
          </a:bodyPr>
          <a:lstStyle/>
          <a:p>
            <a:r>
              <a:rPr lang="ja-JP" altLang="en-US" b="1">
                <a:latin typeface="Meiryo" panose="020B0604030504040204" pitchFamily="34" charset="-128"/>
                <a:ea typeface="Meiryo" panose="020B0604030504040204" pitchFamily="34" charset="-128"/>
              </a:rPr>
              <a:t>目的：</a:t>
            </a:r>
            <a:r>
              <a:rPr lang="ja-JP" altLang="en-US">
                <a:latin typeface="Meiryo" panose="020B0604030504040204" pitchFamily="34" charset="-128"/>
                <a:ea typeface="Meiryo" panose="020B0604030504040204" pitchFamily="34" charset="-128"/>
              </a:rPr>
              <a:t> 室内空気質をモニタリングし、適切なタイミングで換気・空調を促す</a:t>
            </a:r>
          </a:p>
        </p:txBody>
      </p:sp>
      <p:pic>
        <p:nvPicPr>
          <p:cNvPr id="12" name="Picture 11">
            <a:extLst>
              <a:ext uri="{FF2B5EF4-FFF2-40B4-BE49-F238E27FC236}">
                <a16:creationId xmlns:a16="http://schemas.microsoft.com/office/drawing/2014/main" id="{7B7BC51E-1DBA-F202-B91E-E23260BED1DD}"/>
              </a:ext>
            </a:extLst>
          </p:cNvPr>
          <p:cNvPicPr>
            <a:picLocks noChangeAspect="1"/>
          </p:cNvPicPr>
          <p:nvPr/>
        </p:nvPicPr>
        <p:blipFill>
          <a:blip r:embed="rId2"/>
          <a:stretch>
            <a:fillRect/>
          </a:stretch>
        </p:blipFill>
        <p:spPr>
          <a:xfrm>
            <a:off x="6045200" y="1019145"/>
            <a:ext cx="5382685" cy="5189042"/>
          </a:xfrm>
          <a:prstGeom prst="rect">
            <a:avLst/>
          </a:prstGeom>
        </p:spPr>
      </p:pic>
      <p:sp>
        <p:nvSpPr>
          <p:cNvPr id="13" name="Slide Number Placeholder 12">
            <a:extLst>
              <a:ext uri="{FF2B5EF4-FFF2-40B4-BE49-F238E27FC236}">
                <a16:creationId xmlns:a16="http://schemas.microsoft.com/office/drawing/2014/main" id="{99A2FB33-E783-2888-28D5-67BF10745487}"/>
              </a:ext>
            </a:extLst>
          </p:cNvPr>
          <p:cNvSpPr>
            <a:spLocks noGrp="1"/>
          </p:cNvSpPr>
          <p:nvPr>
            <p:ph type="sldNum" sz="quarter" idx="12"/>
          </p:nvPr>
        </p:nvSpPr>
        <p:spPr/>
        <p:txBody>
          <a:bodyPr/>
          <a:lstStyle/>
          <a:p>
            <a:fld id="{D46B4CB5-B774-3647-BF86-B3C8EE0819CF}" type="slidenum">
              <a:rPr lang="en-JP" smtClean="0"/>
              <a:t>3</a:t>
            </a:fld>
            <a:endParaRPr lang="en-JP" dirty="0"/>
          </a:p>
        </p:txBody>
      </p:sp>
    </p:spTree>
    <p:extLst>
      <p:ext uri="{BB962C8B-B14F-4D97-AF65-F5344CB8AC3E}">
        <p14:creationId xmlns:p14="http://schemas.microsoft.com/office/powerpoint/2010/main" val="11683990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2C98056-2B82-B78A-6E98-91E6219B2E28}"/>
              </a:ext>
            </a:extLst>
          </p:cNvPr>
          <p:cNvSpPr txBox="1"/>
          <p:nvPr/>
        </p:nvSpPr>
        <p:spPr>
          <a:xfrm>
            <a:off x="717147" y="630985"/>
            <a:ext cx="6096000" cy="369332"/>
          </a:xfrm>
          <a:prstGeom prst="rect">
            <a:avLst/>
          </a:prstGeom>
          <a:noFill/>
        </p:spPr>
        <p:txBody>
          <a:bodyPr wrap="square">
            <a:spAutoFit/>
          </a:bodyPr>
          <a:lstStyle/>
          <a:p>
            <a:r>
              <a:rPr lang="en-US" dirty="0">
                <a:latin typeface="Meiryo" panose="020B0604030504040204" pitchFamily="34" charset="-128"/>
                <a:ea typeface="Meiryo" panose="020B0604030504040204" pitchFamily="34" charset="-128"/>
              </a:rPr>
              <a:t>IoT</a:t>
            </a:r>
            <a:r>
              <a:rPr lang="mn-MN" dirty="0">
                <a:latin typeface="Meiryo" panose="020B0604030504040204" pitchFamily="34" charset="-128"/>
                <a:ea typeface="Meiryo" panose="020B0604030504040204" pitchFamily="34" charset="-128"/>
              </a:rPr>
              <a:t> </a:t>
            </a:r>
            <a:r>
              <a:rPr lang="en-US" dirty="0">
                <a:latin typeface="Meiryo" panose="020B0604030504040204" pitchFamily="34" charset="-128"/>
                <a:ea typeface="Meiryo" panose="020B0604030504040204" pitchFamily="34" charset="-128"/>
              </a:rPr>
              <a:t>Data</a:t>
            </a:r>
            <a:endParaRPr lang="en-JP" dirty="0">
              <a:latin typeface="Meiryo" panose="020B0604030504040204" pitchFamily="34" charset="-128"/>
              <a:ea typeface="Meiryo" panose="020B0604030504040204" pitchFamily="34" charset="-128"/>
            </a:endParaRPr>
          </a:p>
        </p:txBody>
      </p:sp>
      <p:sp>
        <p:nvSpPr>
          <p:cNvPr id="8" name="Slide Number Placeholder 7">
            <a:extLst>
              <a:ext uri="{FF2B5EF4-FFF2-40B4-BE49-F238E27FC236}">
                <a16:creationId xmlns:a16="http://schemas.microsoft.com/office/drawing/2014/main" id="{5DA80D98-BEE0-C289-E35B-CFE2D6169109}"/>
              </a:ext>
            </a:extLst>
          </p:cNvPr>
          <p:cNvSpPr>
            <a:spLocks noGrp="1"/>
          </p:cNvSpPr>
          <p:nvPr>
            <p:ph type="sldNum" sz="quarter" idx="12"/>
          </p:nvPr>
        </p:nvSpPr>
        <p:spPr/>
        <p:txBody>
          <a:bodyPr/>
          <a:lstStyle/>
          <a:p>
            <a:fld id="{D46B4CB5-B774-3647-BF86-B3C8EE0819CF}" type="slidenum">
              <a:rPr lang="en-JP" smtClean="0"/>
              <a:t>4</a:t>
            </a:fld>
            <a:endParaRPr lang="en-JP"/>
          </a:p>
        </p:txBody>
      </p:sp>
      <p:sp>
        <p:nvSpPr>
          <p:cNvPr id="10" name="TextBox 9">
            <a:extLst>
              <a:ext uri="{FF2B5EF4-FFF2-40B4-BE49-F238E27FC236}">
                <a16:creationId xmlns:a16="http://schemas.microsoft.com/office/drawing/2014/main" id="{DC657649-AC6A-318E-A087-ECD4E98DC87F}"/>
              </a:ext>
            </a:extLst>
          </p:cNvPr>
          <p:cNvSpPr txBox="1"/>
          <p:nvPr/>
        </p:nvSpPr>
        <p:spPr>
          <a:xfrm>
            <a:off x="526056" y="1505684"/>
            <a:ext cx="4934944" cy="1323439"/>
          </a:xfrm>
          <a:prstGeom prst="rect">
            <a:avLst/>
          </a:prstGeom>
          <a:noFill/>
        </p:spPr>
        <p:txBody>
          <a:bodyPr wrap="square">
            <a:spAutoFit/>
          </a:bodyPr>
          <a:lstStyle/>
          <a:p>
            <a:r>
              <a:rPr lang="en-US" sz="2000" dirty="0">
                <a:latin typeface="Meiryo" panose="020B0604030504040204" pitchFamily="34" charset="-128"/>
                <a:ea typeface="Meiryo" panose="020B0604030504040204" pitchFamily="34" charset="-128"/>
              </a:rPr>
              <a:t>IoT</a:t>
            </a:r>
            <a:r>
              <a:rPr lang="ja-JP" altLang="en-US" sz="2000">
                <a:latin typeface="Meiryo" panose="020B0604030504040204" pitchFamily="34" charset="-128"/>
                <a:ea typeface="Meiryo" panose="020B0604030504040204" pitchFamily="34" charset="-128"/>
              </a:rPr>
              <a:t>データとは、現実世界からセンサーによって収集され、デジタル形式で処理され、ネットワークを通じて送信される情報のことです。</a:t>
            </a:r>
            <a:endParaRPr lang="en-JP" sz="2000" dirty="0">
              <a:latin typeface="Meiryo" panose="020B0604030504040204" pitchFamily="34" charset="-128"/>
              <a:ea typeface="Meiryo" panose="020B0604030504040204" pitchFamily="34" charset="-128"/>
            </a:endParaRPr>
          </a:p>
        </p:txBody>
      </p:sp>
      <p:pic>
        <p:nvPicPr>
          <p:cNvPr id="11" name="Picture 10">
            <a:extLst>
              <a:ext uri="{FF2B5EF4-FFF2-40B4-BE49-F238E27FC236}">
                <a16:creationId xmlns:a16="http://schemas.microsoft.com/office/drawing/2014/main" id="{C8AB74BB-7F24-79A1-D8AD-286F5EE83A2A}"/>
              </a:ext>
            </a:extLst>
          </p:cNvPr>
          <p:cNvPicPr>
            <a:picLocks noChangeAspect="1"/>
          </p:cNvPicPr>
          <p:nvPr/>
        </p:nvPicPr>
        <p:blipFill>
          <a:blip r:embed="rId2"/>
          <a:stretch>
            <a:fillRect/>
          </a:stretch>
        </p:blipFill>
        <p:spPr>
          <a:xfrm>
            <a:off x="5739918" y="815651"/>
            <a:ext cx="6096000" cy="4315962"/>
          </a:xfrm>
          <a:prstGeom prst="rect">
            <a:avLst/>
          </a:prstGeom>
        </p:spPr>
      </p:pic>
      <p:sp>
        <p:nvSpPr>
          <p:cNvPr id="14" name="TextBox 13">
            <a:extLst>
              <a:ext uri="{FF2B5EF4-FFF2-40B4-BE49-F238E27FC236}">
                <a16:creationId xmlns:a16="http://schemas.microsoft.com/office/drawing/2014/main" id="{E48E4F8E-C2A1-DFBE-0AF7-30674FC872AC}"/>
              </a:ext>
            </a:extLst>
          </p:cNvPr>
          <p:cNvSpPr txBox="1"/>
          <p:nvPr/>
        </p:nvSpPr>
        <p:spPr>
          <a:xfrm>
            <a:off x="669428" y="3965378"/>
            <a:ext cx="4648200" cy="1200329"/>
          </a:xfrm>
          <a:prstGeom prst="rect">
            <a:avLst/>
          </a:prstGeom>
          <a:noFill/>
        </p:spPr>
        <p:txBody>
          <a:bodyPr wrap="square">
            <a:spAutoFit/>
          </a:bodyPr>
          <a:lstStyle/>
          <a:p>
            <a:r>
              <a:rPr lang="ja-JP" altLang="en-US">
                <a:latin typeface="Meiryo" panose="020B0604030504040204" pitchFamily="34" charset="-128"/>
                <a:ea typeface="Meiryo" panose="020B0604030504040204" pitchFamily="34" charset="-128"/>
              </a:rPr>
              <a:t>自身のシステムは、室内の温度、湿度、</a:t>
            </a:r>
            <a:r>
              <a:rPr lang="en-US" dirty="0">
                <a:latin typeface="Meiryo" panose="020B0604030504040204" pitchFamily="34" charset="-128"/>
                <a:ea typeface="Meiryo" panose="020B0604030504040204" pitchFamily="34" charset="-128"/>
              </a:rPr>
              <a:t>CO₂</a:t>
            </a:r>
            <a:r>
              <a:rPr lang="ja-JP" altLang="en-US">
                <a:latin typeface="Meiryo" panose="020B0604030504040204" pitchFamily="34" charset="-128"/>
                <a:ea typeface="Meiryo" panose="020B0604030504040204" pitchFamily="34" charset="-128"/>
              </a:rPr>
              <a:t>濃度をリアルタイムで監視し、空気の質が基準値を超えた場合にユーザーへ通知する構成となっている。</a:t>
            </a:r>
            <a:endParaRPr lang="en-JP"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198277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55">
            <a:extLst>
              <a:ext uri="{FF2B5EF4-FFF2-40B4-BE49-F238E27FC236}">
                <a16:creationId xmlns:a16="http://schemas.microsoft.com/office/drawing/2014/main" id="{FBDEFF41-CDEE-D08B-7BDF-032F2C9FBCCB}"/>
              </a:ext>
            </a:extLst>
          </p:cNvPr>
          <p:cNvPicPr>
            <a:picLocks noChangeAspect="1"/>
          </p:cNvPicPr>
          <p:nvPr/>
        </p:nvPicPr>
        <p:blipFill>
          <a:blip r:embed="rId2"/>
          <a:stretch>
            <a:fillRect/>
          </a:stretch>
        </p:blipFill>
        <p:spPr>
          <a:xfrm>
            <a:off x="2620817" y="335237"/>
            <a:ext cx="1741923" cy="704850"/>
          </a:xfrm>
          <a:prstGeom prst="rect">
            <a:avLst/>
          </a:prstGeom>
        </p:spPr>
      </p:pic>
      <p:sp>
        <p:nvSpPr>
          <p:cNvPr id="57" name="TextBox 56">
            <a:extLst>
              <a:ext uri="{FF2B5EF4-FFF2-40B4-BE49-F238E27FC236}">
                <a16:creationId xmlns:a16="http://schemas.microsoft.com/office/drawing/2014/main" id="{566C3B13-D05B-7357-72F6-621B6540FBF2}"/>
              </a:ext>
            </a:extLst>
          </p:cNvPr>
          <p:cNvSpPr txBox="1"/>
          <p:nvPr/>
        </p:nvSpPr>
        <p:spPr>
          <a:xfrm>
            <a:off x="5485260" y="1150130"/>
            <a:ext cx="1531089" cy="261610"/>
          </a:xfrm>
          <a:prstGeom prst="rect">
            <a:avLst/>
          </a:prstGeom>
          <a:noFill/>
        </p:spPr>
        <p:txBody>
          <a:bodyPr wrap="square">
            <a:spAutoFit/>
          </a:bodyPr>
          <a:lstStyle/>
          <a:p>
            <a:pPr algn="ctr"/>
            <a:r>
              <a:rPr lang="en-US" sz="1100" dirty="0">
                <a:effectLst/>
                <a:latin typeface="Meiryo" panose="020B0604030504040204" pitchFamily="34" charset="-128"/>
                <a:ea typeface="Meiryo" panose="020B0604030504040204" pitchFamily="34" charset="-128"/>
                <a:cs typeface="MS Mincho" panose="02020609040205080304" pitchFamily="49" charset="-128"/>
              </a:rPr>
              <a:t>Home router</a:t>
            </a:r>
            <a:endParaRPr lang="en-JP" sz="1100" dirty="0">
              <a:effectLst/>
              <a:latin typeface="Meiryo" panose="020B0604030504040204" pitchFamily="34" charset="-128"/>
              <a:ea typeface="Meiryo" panose="020B0604030504040204" pitchFamily="34" charset="-128"/>
            </a:endParaRPr>
          </a:p>
        </p:txBody>
      </p:sp>
      <p:pic>
        <p:nvPicPr>
          <p:cNvPr id="58" name="Picture 57">
            <a:extLst>
              <a:ext uri="{FF2B5EF4-FFF2-40B4-BE49-F238E27FC236}">
                <a16:creationId xmlns:a16="http://schemas.microsoft.com/office/drawing/2014/main" id="{BF960242-AD20-26F3-E047-EB2CE16A72AE}"/>
              </a:ext>
            </a:extLst>
          </p:cNvPr>
          <p:cNvPicPr>
            <a:picLocks noChangeAspect="1"/>
          </p:cNvPicPr>
          <p:nvPr/>
        </p:nvPicPr>
        <p:blipFill>
          <a:blip r:embed="rId3"/>
          <a:stretch>
            <a:fillRect/>
          </a:stretch>
        </p:blipFill>
        <p:spPr>
          <a:xfrm>
            <a:off x="8456557" y="797705"/>
            <a:ext cx="1435100" cy="876300"/>
          </a:xfrm>
          <a:prstGeom prst="rect">
            <a:avLst/>
          </a:prstGeom>
        </p:spPr>
      </p:pic>
      <p:sp>
        <p:nvSpPr>
          <p:cNvPr id="59" name="TextBox 58">
            <a:extLst>
              <a:ext uri="{FF2B5EF4-FFF2-40B4-BE49-F238E27FC236}">
                <a16:creationId xmlns:a16="http://schemas.microsoft.com/office/drawing/2014/main" id="{C8FC303F-E594-9A67-2FFE-B34CE771C1A3}"/>
              </a:ext>
            </a:extLst>
          </p:cNvPr>
          <p:cNvSpPr txBox="1"/>
          <p:nvPr/>
        </p:nvSpPr>
        <p:spPr>
          <a:xfrm flipH="1">
            <a:off x="8319781" y="1674005"/>
            <a:ext cx="2291503" cy="461665"/>
          </a:xfrm>
          <a:prstGeom prst="rect">
            <a:avLst/>
          </a:prstGeom>
          <a:noFill/>
        </p:spPr>
        <p:txBody>
          <a:bodyPr wrap="square" rtlCol="0">
            <a:spAutoFit/>
          </a:bodyPr>
          <a:lstStyle/>
          <a:p>
            <a:r>
              <a:rPr lang="en-US" sz="1200" dirty="0">
                <a:latin typeface="Meiryo" panose="020B0604030504040204" pitchFamily="34" charset="-128"/>
                <a:ea typeface="Meiryo" panose="020B0604030504040204" pitchFamily="34" charset="-128"/>
              </a:rPr>
              <a:t>Cloud platform</a:t>
            </a:r>
          </a:p>
          <a:p>
            <a:r>
              <a:rPr lang="en-US" sz="1200" dirty="0">
                <a:latin typeface="Meiryo" panose="020B0604030504040204" pitchFamily="34" charset="-128"/>
                <a:ea typeface="Meiryo" panose="020B0604030504040204" pitchFamily="34" charset="-128"/>
              </a:rPr>
              <a:t>(Firebase / ThingSpek)</a:t>
            </a:r>
            <a:endParaRPr lang="en-JP" sz="1200" dirty="0">
              <a:latin typeface="Meiryo" panose="020B0604030504040204" pitchFamily="34" charset="-128"/>
              <a:ea typeface="Meiryo" panose="020B0604030504040204" pitchFamily="34" charset="-128"/>
            </a:endParaRPr>
          </a:p>
        </p:txBody>
      </p:sp>
      <p:pic>
        <p:nvPicPr>
          <p:cNvPr id="60" name="Picture 59">
            <a:extLst>
              <a:ext uri="{FF2B5EF4-FFF2-40B4-BE49-F238E27FC236}">
                <a16:creationId xmlns:a16="http://schemas.microsoft.com/office/drawing/2014/main" id="{70CBAA97-45D8-4063-B90F-4213D0470DFB}"/>
              </a:ext>
            </a:extLst>
          </p:cNvPr>
          <p:cNvPicPr>
            <a:picLocks noChangeAspect="1"/>
          </p:cNvPicPr>
          <p:nvPr/>
        </p:nvPicPr>
        <p:blipFill>
          <a:blip r:embed="rId4"/>
          <a:stretch>
            <a:fillRect/>
          </a:stretch>
        </p:blipFill>
        <p:spPr>
          <a:xfrm>
            <a:off x="2812337" y="2615227"/>
            <a:ext cx="1841887" cy="1275907"/>
          </a:xfrm>
          <a:prstGeom prst="rect">
            <a:avLst/>
          </a:prstGeom>
        </p:spPr>
      </p:pic>
      <p:cxnSp>
        <p:nvCxnSpPr>
          <p:cNvPr id="61" name="Straight Arrow Connector 60">
            <a:extLst>
              <a:ext uri="{FF2B5EF4-FFF2-40B4-BE49-F238E27FC236}">
                <a16:creationId xmlns:a16="http://schemas.microsoft.com/office/drawing/2014/main" id="{FD6935EB-3A34-0A0E-1202-DA6C42E3339F}"/>
              </a:ext>
            </a:extLst>
          </p:cNvPr>
          <p:cNvCxnSpPr>
            <a:cxnSpLocks/>
            <a:endCxn id="60" idx="1"/>
          </p:cNvCxnSpPr>
          <p:nvPr/>
        </p:nvCxnSpPr>
        <p:spPr>
          <a:xfrm>
            <a:off x="1999236" y="3253181"/>
            <a:ext cx="813101"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764C6CBE-6CC5-726C-5B8A-53F564DED079}"/>
              </a:ext>
            </a:extLst>
          </p:cNvPr>
          <p:cNvCxnSpPr>
            <a:cxnSpLocks/>
          </p:cNvCxnSpPr>
          <p:nvPr/>
        </p:nvCxnSpPr>
        <p:spPr>
          <a:xfrm flipH="1" flipV="1">
            <a:off x="4441242" y="687662"/>
            <a:ext cx="1044018" cy="1"/>
          </a:xfrm>
          <a:prstGeom prst="straightConnector1">
            <a:avLst/>
          </a:prstGeom>
          <a:ln w="25400">
            <a:solidFill>
              <a:schemeClr val="accent1">
                <a:lumMod val="75000"/>
              </a:schemeClr>
            </a:solidFill>
            <a:headEnd type="triangle"/>
            <a:tailEnd type="triangle"/>
          </a:ln>
        </p:spPr>
        <p:style>
          <a:lnRef idx="1">
            <a:schemeClr val="dk1"/>
          </a:lnRef>
          <a:fillRef idx="0">
            <a:schemeClr val="dk1"/>
          </a:fillRef>
          <a:effectRef idx="0">
            <a:schemeClr val="dk1"/>
          </a:effectRef>
          <a:fontRef idx="minor">
            <a:schemeClr val="tx1"/>
          </a:fontRef>
        </p:style>
      </p:cxnSp>
      <p:sp>
        <p:nvSpPr>
          <p:cNvPr id="63" name="TextBox 62">
            <a:extLst>
              <a:ext uri="{FF2B5EF4-FFF2-40B4-BE49-F238E27FC236}">
                <a16:creationId xmlns:a16="http://schemas.microsoft.com/office/drawing/2014/main" id="{58F2A581-B39F-6FFF-1294-397858136FE3}"/>
              </a:ext>
            </a:extLst>
          </p:cNvPr>
          <p:cNvSpPr txBox="1"/>
          <p:nvPr/>
        </p:nvSpPr>
        <p:spPr>
          <a:xfrm>
            <a:off x="2812337" y="3942985"/>
            <a:ext cx="3607095" cy="430887"/>
          </a:xfrm>
          <a:prstGeom prst="rect">
            <a:avLst/>
          </a:prstGeom>
          <a:noFill/>
        </p:spPr>
        <p:txBody>
          <a:bodyPr wrap="square">
            <a:spAutoFit/>
          </a:bodyPr>
          <a:lstStyle/>
          <a:p>
            <a:r>
              <a:rPr lang="en-JP" sz="1100" dirty="0">
                <a:latin typeface="Meiryo" panose="020B0604030504040204" pitchFamily="34" charset="-128"/>
                <a:ea typeface="Meiryo" panose="020B0604030504040204" pitchFamily="34" charset="-128"/>
              </a:rPr>
              <a:t>Raspberry Pi 4 / Zero W</a:t>
            </a:r>
          </a:p>
          <a:p>
            <a:r>
              <a:rPr lang="en-JP" sz="1100" dirty="0">
                <a:latin typeface="Meiryo" panose="020B0604030504040204" pitchFamily="34" charset="-128"/>
                <a:ea typeface="Meiryo" panose="020B0604030504040204" pitchFamily="34" charset="-128"/>
              </a:rPr>
              <a:t>(MQTT送倡)</a:t>
            </a:r>
          </a:p>
        </p:txBody>
      </p:sp>
      <p:cxnSp>
        <p:nvCxnSpPr>
          <p:cNvPr id="64" name="Elbow Connector 63">
            <a:extLst>
              <a:ext uri="{FF2B5EF4-FFF2-40B4-BE49-F238E27FC236}">
                <a16:creationId xmlns:a16="http://schemas.microsoft.com/office/drawing/2014/main" id="{ED4F9215-3D8D-23D6-6EEA-1A389F451B3F}"/>
              </a:ext>
            </a:extLst>
          </p:cNvPr>
          <p:cNvCxnSpPr>
            <a:cxnSpLocks/>
            <a:stCxn id="57" idx="2"/>
            <a:endCxn id="60" idx="0"/>
          </p:cNvCxnSpPr>
          <p:nvPr/>
        </p:nvCxnSpPr>
        <p:spPr>
          <a:xfrm rot="5400000">
            <a:off x="4390300" y="754721"/>
            <a:ext cx="1203487" cy="2517524"/>
          </a:xfrm>
          <a:prstGeom prst="bentConnector3">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pic>
        <p:nvPicPr>
          <p:cNvPr id="65" name="Picture 64">
            <a:extLst>
              <a:ext uri="{FF2B5EF4-FFF2-40B4-BE49-F238E27FC236}">
                <a16:creationId xmlns:a16="http://schemas.microsoft.com/office/drawing/2014/main" id="{9B6C50E9-25BE-5FC1-5AC8-B99FDC02453E}"/>
              </a:ext>
            </a:extLst>
          </p:cNvPr>
          <p:cNvPicPr>
            <a:picLocks noChangeAspect="1"/>
          </p:cNvPicPr>
          <p:nvPr/>
        </p:nvPicPr>
        <p:blipFill>
          <a:blip r:embed="rId5"/>
          <a:stretch>
            <a:fillRect/>
          </a:stretch>
        </p:blipFill>
        <p:spPr>
          <a:xfrm>
            <a:off x="6574894" y="2893316"/>
            <a:ext cx="2205752" cy="713280"/>
          </a:xfrm>
          <a:prstGeom prst="rect">
            <a:avLst/>
          </a:prstGeom>
        </p:spPr>
      </p:pic>
      <p:sp>
        <p:nvSpPr>
          <p:cNvPr id="66" name="TextBox 65">
            <a:extLst>
              <a:ext uri="{FF2B5EF4-FFF2-40B4-BE49-F238E27FC236}">
                <a16:creationId xmlns:a16="http://schemas.microsoft.com/office/drawing/2014/main" id="{D0A2B5FE-EA7F-8AF6-BDA9-48FF3146EE95}"/>
              </a:ext>
            </a:extLst>
          </p:cNvPr>
          <p:cNvSpPr txBox="1"/>
          <p:nvPr/>
        </p:nvSpPr>
        <p:spPr>
          <a:xfrm rot="10800000" flipV="1">
            <a:off x="6696821" y="3655387"/>
            <a:ext cx="2682841" cy="261610"/>
          </a:xfrm>
          <a:prstGeom prst="rect">
            <a:avLst/>
          </a:prstGeom>
          <a:noFill/>
        </p:spPr>
        <p:txBody>
          <a:bodyPr wrap="square">
            <a:spAutoFit/>
          </a:bodyPr>
          <a:lstStyle/>
          <a:p>
            <a:r>
              <a:rPr lang="en-JP" sz="1100" dirty="0">
                <a:latin typeface="Meiryo" panose="020B0604030504040204" pitchFamily="34" charset="-128"/>
                <a:ea typeface="Meiryo" panose="020B0604030504040204" pitchFamily="34" charset="-128"/>
              </a:rPr>
              <a:t>LINE Notity/7 通如</a:t>
            </a:r>
          </a:p>
        </p:txBody>
      </p:sp>
      <p:pic>
        <p:nvPicPr>
          <p:cNvPr id="67" name="Picture 66">
            <a:extLst>
              <a:ext uri="{FF2B5EF4-FFF2-40B4-BE49-F238E27FC236}">
                <a16:creationId xmlns:a16="http://schemas.microsoft.com/office/drawing/2014/main" id="{65578422-F829-FC24-B1CF-BE188E6609E2}"/>
              </a:ext>
            </a:extLst>
          </p:cNvPr>
          <p:cNvPicPr>
            <a:picLocks noChangeAspect="1"/>
          </p:cNvPicPr>
          <p:nvPr/>
        </p:nvPicPr>
        <p:blipFill>
          <a:blip r:embed="rId6"/>
          <a:stretch>
            <a:fillRect/>
          </a:stretch>
        </p:blipFill>
        <p:spPr>
          <a:xfrm>
            <a:off x="5633874" y="187054"/>
            <a:ext cx="1719808" cy="924935"/>
          </a:xfrm>
          <a:prstGeom prst="rect">
            <a:avLst/>
          </a:prstGeom>
        </p:spPr>
      </p:pic>
      <p:pic>
        <p:nvPicPr>
          <p:cNvPr id="68" name="Picture 67">
            <a:extLst>
              <a:ext uri="{FF2B5EF4-FFF2-40B4-BE49-F238E27FC236}">
                <a16:creationId xmlns:a16="http://schemas.microsoft.com/office/drawing/2014/main" id="{407ADE87-FD1F-0B2E-3F12-5B0328E65C87}"/>
              </a:ext>
            </a:extLst>
          </p:cNvPr>
          <p:cNvPicPr>
            <a:picLocks noChangeAspect="1"/>
          </p:cNvPicPr>
          <p:nvPr/>
        </p:nvPicPr>
        <p:blipFill>
          <a:blip r:embed="rId7"/>
          <a:stretch>
            <a:fillRect/>
          </a:stretch>
        </p:blipFill>
        <p:spPr>
          <a:xfrm>
            <a:off x="6234695" y="4779172"/>
            <a:ext cx="2886150" cy="1714257"/>
          </a:xfrm>
          <a:prstGeom prst="rect">
            <a:avLst/>
          </a:prstGeom>
        </p:spPr>
      </p:pic>
      <p:cxnSp>
        <p:nvCxnSpPr>
          <p:cNvPr id="69" name="Elbow Connector 68">
            <a:extLst>
              <a:ext uri="{FF2B5EF4-FFF2-40B4-BE49-F238E27FC236}">
                <a16:creationId xmlns:a16="http://schemas.microsoft.com/office/drawing/2014/main" id="{6FCEB979-B539-DFC4-5F9A-3DFA22AD75A3}"/>
              </a:ext>
            </a:extLst>
          </p:cNvPr>
          <p:cNvCxnSpPr>
            <a:cxnSpLocks/>
            <a:endCxn id="68" idx="1"/>
          </p:cNvCxnSpPr>
          <p:nvPr/>
        </p:nvCxnSpPr>
        <p:spPr>
          <a:xfrm>
            <a:off x="3645254" y="3891134"/>
            <a:ext cx="2589441" cy="1745167"/>
          </a:xfrm>
          <a:prstGeom prst="bentConnector3">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0" name="Elbow Connector 69">
            <a:extLst>
              <a:ext uri="{FF2B5EF4-FFF2-40B4-BE49-F238E27FC236}">
                <a16:creationId xmlns:a16="http://schemas.microsoft.com/office/drawing/2014/main" id="{FA733D72-588F-5CB2-C714-900DA3E3E614}"/>
              </a:ext>
            </a:extLst>
          </p:cNvPr>
          <p:cNvCxnSpPr>
            <a:stCxn id="68" idx="3"/>
            <a:endCxn id="66" idx="2"/>
          </p:cNvCxnSpPr>
          <p:nvPr/>
        </p:nvCxnSpPr>
        <p:spPr>
          <a:xfrm flipH="1" flipV="1">
            <a:off x="8038241" y="3916997"/>
            <a:ext cx="1082604" cy="1719304"/>
          </a:xfrm>
          <a:prstGeom prst="bentConnector4">
            <a:avLst>
              <a:gd name="adj1" fmla="val -21116"/>
              <a:gd name="adj2" fmla="val 74927"/>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71" name="Elbow Connector 70">
            <a:extLst>
              <a:ext uri="{FF2B5EF4-FFF2-40B4-BE49-F238E27FC236}">
                <a16:creationId xmlns:a16="http://schemas.microsoft.com/office/drawing/2014/main" id="{77754A01-09CB-8F9A-4987-9759F0C07389}"/>
              </a:ext>
            </a:extLst>
          </p:cNvPr>
          <p:cNvCxnSpPr>
            <a:stCxn id="67" idx="3"/>
            <a:endCxn id="58" idx="0"/>
          </p:cNvCxnSpPr>
          <p:nvPr/>
        </p:nvCxnSpPr>
        <p:spPr>
          <a:xfrm>
            <a:off x="7353682" y="649522"/>
            <a:ext cx="1820425" cy="148183"/>
          </a:xfrm>
          <a:prstGeom prst="bentConnector2">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72" name="Elbow Connector 71">
            <a:extLst>
              <a:ext uri="{FF2B5EF4-FFF2-40B4-BE49-F238E27FC236}">
                <a16:creationId xmlns:a16="http://schemas.microsoft.com/office/drawing/2014/main" id="{BC19F7FF-5115-5C0E-5836-A5A4AAC8A02F}"/>
              </a:ext>
            </a:extLst>
          </p:cNvPr>
          <p:cNvCxnSpPr>
            <a:cxnSpLocks/>
            <a:stCxn id="59" idx="2"/>
            <a:endCxn id="65" idx="3"/>
          </p:cNvCxnSpPr>
          <p:nvPr/>
        </p:nvCxnSpPr>
        <p:spPr>
          <a:xfrm rot="5400000">
            <a:off x="8565946" y="2350370"/>
            <a:ext cx="1114286" cy="684886"/>
          </a:xfrm>
          <a:prstGeom prst="bentConnector2">
            <a:avLst/>
          </a:prstGeom>
          <a:ln w="25400">
            <a:tailEnd type="triangle"/>
          </a:ln>
        </p:spPr>
        <p:style>
          <a:lnRef idx="1">
            <a:schemeClr val="accent1"/>
          </a:lnRef>
          <a:fillRef idx="0">
            <a:schemeClr val="accent1"/>
          </a:fillRef>
          <a:effectRef idx="0">
            <a:schemeClr val="accent1"/>
          </a:effectRef>
          <a:fontRef idx="minor">
            <a:schemeClr val="tx1"/>
          </a:fontRef>
        </p:style>
      </p:cxnSp>
      <p:pic>
        <p:nvPicPr>
          <p:cNvPr id="73" name="Picture 72">
            <a:extLst>
              <a:ext uri="{FF2B5EF4-FFF2-40B4-BE49-F238E27FC236}">
                <a16:creationId xmlns:a16="http://schemas.microsoft.com/office/drawing/2014/main" id="{9C96F247-30BD-E268-CDA4-D92CA5747711}"/>
              </a:ext>
            </a:extLst>
          </p:cNvPr>
          <p:cNvPicPr>
            <a:picLocks noChangeAspect="1"/>
          </p:cNvPicPr>
          <p:nvPr/>
        </p:nvPicPr>
        <p:blipFill>
          <a:blip r:embed="rId8"/>
          <a:stretch>
            <a:fillRect/>
          </a:stretch>
        </p:blipFill>
        <p:spPr>
          <a:xfrm>
            <a:off x="559333" y="2063510"/>
            <a:ext cx="1435100" cy="2273300"/>
          </a:xfrm>
          <a:prstGeom prst="rect">
            <a:avLst/>
          </a:prstGeom>
        </p:spPr>
      </p:pic>
      <p:pic>
        <p:nvPicPr>
          <p:cNvPr id="74" name="Picture 73">
            <a:extLst>
              <a:ext uri="{FF2B5EF4-FFF2-40B4-BE49-F238E27FC236}">
                <a16:creationId xmlns:a16="http://schemas.microsoft.com/office/drawing/2014/main" id="{30980F50-A710-66DF-55C3-21EC8AE9C15F}"/>
              </a:ext>
            </a:extLst>
          </p:cNvPr>
          <p:cNvPicPr>
            <a:picLocks noChangeAspect="1"/>
          </p:cNvPicPr>
          <p:nvPr/>
        </p:nvPicPr>
        <p:blipFill>
          <a:blip r:embed="rId9"/>
          <a:stretch>
            <a:fillRect/>
          </a:stretch>
        </p:blipFill>
        <p:spPr>
          <a:xfrm>
            <a:off x="9555107" y="2893316"/>
            <a:ext cx="673100" cy="927100"/>
          </a:xfrm>
          <a:prstGeom prst="rect">
            <a:avLst/>
          </a:prstGeom>
        </p:spPr>
      </p:pic>
      <p:sp>
        <p:nvSpPr>
          <p:cNvPr id="75" name="TextBox 74">
            <a:extLst>
              <a:ext uri="{FF2B5EF4-FFF2-40B4-BE49-F238E27FC236}">
                <a16:creationId xmlns:a16="http://schemas.microsoft.com/office/drawing/2014/main" id="{A8817D14-5022-AEFE-80B3-B50F5FA9B30D}"/>
              </a:ext>
            </a:extLst>
          </p:cNvPr>
          <p:cNvSpPr txBox="1"/>
          <p:nvPr/>
        </p:nvSpPr>
        <p:spPr>
          <a:xfrm>
            <a:off x="7280708" y="2397680"/>
            <a:ext cx="3680273" cy="276999"/>
          </a:xfrm>
          <a:prstGeom prst="rect">
            <a:avLst/>
          </a:prstGeom>
          <a:noFill/>
        </p:spPr>
        <p:txBody>
          <a:bodyPr wrap="square">
            <a:spAutoFit/>
          </a:bodyPr>
          <a:lstStyle/>
          <a:p>
            <a:r>
              <a:rPr lang="en-US" altLang="ja-JP" sz="1200" dirty="0">
                <a:latin typeface="Meiryo" panose="020B0604030504040204" pitchFamily="34" charset="-128"/>
                <a:ea typeface="Meiryo" panose="020B0604030504040204" pitchFamily="34" charset="-128"/>
                <a:cs typeface="Times New Roman" panose="02020603050405020304" pitchFamily="18" charset="0"/>
              </a:rPr>
              <a:t>CO2</a:t>
            </a:r>
            <a:r>
              <a:rPr lang="ja-JP" sz="1200">
                <a:effectLst/>
                <a:latin typeface="Meiryo" panose="020B0604030504040204" pitchFamily="34" charset="-128"/>
                <a:ea typeface="Meiryo" panose="020B0604030504040204" pitchFamily="34" charset="-128"/>
                <a:cs typeface="Times New Roman" panose="02020603050405020304" pitchFamily="18" charset="0"/>
              </a:rPr>
              <a:t>：</a:t>
            </a:r>
            <a:r>
              <a:rPr lang="mn-MN" sz="1200" dirty="0">
                <a:effectLst/>
                <a:latin typeface="Meiryo" panose="020B0604030504040204" pitchFamily="34" charset="-128"/>
                <a:ea typeface="Meiryo" panose="020B0604030504040204" pitchFamily="34" charset="-128"/>
                <a:cs typeface="Times New Roman" panose="02020603050405020304" pitchFamily="18" charset="0"/>
              </a:rPr>
              <a:t>1</a:t>
            </a:r>
            <a:r>
              <a:rPr lang="en-US" sz="1200" dirty="0">
                <a:effectLst/>
                <a:latin typeface="Meiryo" panose="020B0604030504040204" pitchFamily="34" charset="-128"/>
                <a:ea typeface="Meiryo" panose="020B0604030504040204" pitchFamily="34" charset="-128"/>
                <a:cs typeface="Times New Roman" panose="02020603050405020304" pitchFamily="18" charset="0"/>
              </a:rPr>
              <a:t>3</a:t>
            </a:r>
            <a:r>
              <a:rPr lang="mn-MN" sz="1200" dirty="0">
                <a:effectLst/>
                <a:latin typeface="Meiryo" panose="020B0604030504040204" pitchFamily="34" charset="-128"/>
                <a:ea typeface="Meiryo" panose="020B0604030504040204" pitchFamily="34" charset="-128"/>
                <a:cs typeface="Times New Roman" panose="02020603050405020304" pitchFamily="18" charset="0"/>
              </a:rPr>
              <a:t>00 ppm</a:t>
            </a:r>
            <a:r>
              <a:rPr lang="ja-JP" sz="1200">
                <a:effectLst/>
                <a:latin typeface="Meiryo" panose="020B0604030504040204" pitchFamily="34" charset="-128"/>
                <a:ea typeface="Meiryo" panose="020B0604030504040204" pitchFamily="34" charset="-128"/>
                <a:cs typeface="Times New Roman" panose="02020603050405020304" pitchFamily="18" charset="0"/>
              </a:rPr>
              <a:t>以上</a:t>
            </a:r>
            <a:r>
              <a:rPr lang="en-JP" sz="1200" dirty="0">
                <a:effectLst/>
                <a:latin typeface="Meiryo" panose="020B0604030504040204" pitchFamily="34" charset="-128"/>
                <a:ea typeface="Meiryo" panose="020B0604030504040204" pitchFamily="34" charset="-128"/>
              </a:rPr>
              <a:t> </a:t>
            </a:r>
            <a:endParaRPr lang="en-JP" sz="1200" dirty="0">
              <a:latin typeface="Meiryo" panose="020B0604030504040204" pitchFamily="34" charset="-128"/>
              <a:ea typeface="Meiryo" panose="020B0604030504040204" pitchFamily="34" charset="-128"/>
            </a:endParaRPr>
          </a:p>
        </p:txBody>
      </p:sp>
      <p:sp>
        <p:nvSpPr>
          <p:cNvPr id="76" name="Slide Number Placeholder 75">
            <a:extLst>
              <a:ext uri="{FF2B5EF4-FFF2-40B4-BE49-F238E27FC236}">
                <a16:creationId xmlns:a16="http://schemas.microsoft.com/office/drawing/2014/main" id="{6F1662AA-F96B-DC3D-4B8D-D972D63209EB}"/>
              </a:ext>
            </a:extLst>
          </p:cNvPr>
          <p:cNvSpPr>
            <a:spLocks noGrp="1"/>
          </p:cNvSpPr>
          <p:nvPr>
            <p:ph type="sldNum" sz="quarter" idx="12"/>
          </p:nvPr>
        </p:nvSpPr>
        <p:spPr/>
        <p:txBody>
          <a:bodyPr/>
          <a:lstStyle/>
          <a:p>
            <a:fld id="{D46B4CB5-B774-3647-BF86-B3C8EE0819CF}" type="slidenum">
              <a:rPr lang="en-JP" smtClean="0"/>
              <a:t>5</a:t>
            </a:fld>
            <a:endParaRPr lang="en-JP"/>
          </a:p>
        </p:txBody>
      </p:sp>
      <p:sp>
        <p:nvSpPr>
          <p:cNvPr id="78" name="TextBox 77">
            <a:extLst>
              <a:ext uri="{FF2B5EF4-FFF2-40B4-BE49-F238E27FC236}">
                <a16:creationId xmlns:a16="http://schemas.microsoft.com/office/drawing/2014/main" id="{C7D858AE-0015-1393-0FA4-96076D5D09EC}"/>
              </a:ext>
            </a:extLst>
          </p:cNvPr>
          <p:cNvSpPr txBox="1"/>
          <p:nvPr/>
        </p:nvSpPr>
        <p:spPr>
          <a:xfrm>
            <a:off x="321660" y="5747998"/>
            <a:ext cx="6097772" cy="923330"/>
          </a:xfrm>
          <a:prstGeom prst="rect">
            <a:avLst/>
          </a:prstGeom>
          <a:noFill/>
        </p:spPr>
        <p:txBody>
          <a:bodyPr wrap="square">
            <a:spAutoFit/>
          </a:bodyPr>
          <a:lstStyle/>
          <a:p>
            <a:pPr>
              <a:buFont typeface="Arial" panose="020B0604020202020204" pitchFamily="34" charset="0"/>
              <a:buChar char="•"/>
            </a:pPr>
            <a:r>
              <a:rPr lang="ja-JP" altLang="en-US"/>
              <a:t>使用センサー（温度、</a:t>
            </a:r>
            <a:r>
              <a:rPr lang="en-US" dirty="0"/>
              <a:t>CO₂）</a:t>
            </a:r>
          </a:p>
          <a:p>
            <a:pPr>
              <a:buFont typeface="Arial" panose="020B0604020202020204" pitchFamily="34" charset="0"/>
              <a:buChar char="•"/>
            </a:pPr>
            <a:r>
              <a:rPr lang="ja-JP" altLang="en-US"/>
              <a:t>通信方式（</a:t>
            </a:r>
            <a:r>
              <a:rPr lang="en-US" dirty="0"/>
              <a:t>MQTT → </a:t>
            </a:r>
            <a:r>
              <a:rPr lang="ja-JP" altLang="en-US"/>
              <a:t>クラウド）</a:t>
            </a:r>
          </a:p>
          <a:p>
            <a:pPr>
              <a:buFont typeface="Arial" panose="020B0604020202020204" pitchFamily="34" charset="0"/>
              <a:buChar char="•"/>
            </a:pPr>
            <a:r>
              <a:rPr lang="ja-JP" altLang="en-US"/>
              <a:t>通知方法（</a:t>
            </a:r>
            <a:r>
              <a:rPr lang="en-US" dirty="0"/>
              <a:t>LINE</a:t>
            </a:r>
            <a:r>
              <a:rPr lang="ja-JP" altLang="en-US"/>
              <a:t>通知）</a:t>
            </a:r>
          </a:p>
        </p:txBody>
      </p:sp>
      <p:sp>
        <p:nvSpPr>
          <p:cNvPr id="79" name="TextBox 78">
            <a:extLst>
              <a:ext uri="{FF2B5EF4-FFF2-40B4-BE49-F238E27FC236}">
                <a16:creationId xmlns:a16="http://schemas.microsoft.com/office/drawing/2014/main" id="{9A9F8294-9F74-DFEA-6A5B-CE23A33A6A9A}"/>
              </a:ext>
            </a:extLst>
          </p:cNvPr>
          <p:cNvSpPr txBox="1"/>
          <p:nvPr/>
        </p:nvSpPr>
        <p:spPr>
          <a:xfrm>
            <a:off x="552893" y="510363"/>
            <a:ext cx="1375698" cy="369332"/>
          </a:xfrm>
          <a:prstGeom prst="rect">
            <a:avLst/>
          </a:prstGeom>
          <a:noFill/>
        </p:spPr>
        <p:txBody>
          <a:bodyPr wrap="none" rtlCol="0">
            <a:spAutoFit/>
          </a:bodyPr>
          <a:lstStyle/>
          <a:p>
            <a:r>
              <a:rPr lang="en-JP" dirty="0"/>
              <a:t>IoTの</a:t>
            </a:r>
            <a:r>
              <a:rPr lang="ja-JP" altLang="en-US"/>
              <a:t>構成図</a:t>
            </a:r>
            <a:endParaRPr lang="en-JP" dirty="0"/>
          </a:p>
        </p:txBody>
      </p:sp>
      <p:sp>
        <p:nvSpPr>
          <p:cNvPr id="80" name="四角形: 角を丸くする 29">
            <a:extLst>
              <a:ext uri="{FF2B5EF4-FFF2-40B4-BE49-F238E27FC236}">
                <a16:creationId xmlns:a16="http://schemas.microsoft.com/office/drawing/2014/main" id="{F297969B-8B66-CCBE-DD35-9E6555F9C4C7}"/>
              </a:ext>
            </a:extLst>
          </p:cNvPr>
          <p:cNvSpPr/>
          <p:nvPr/>
        </p:nvSpPr>
        <p:spPr>
          <a:xfrm flipV="1">
            <a:off x="278656" y="1668829"/>
            <a:ext cx="4921552" cy="3122683"/>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592" b="1"/>
          </a:p>
        </p:txBody>
      </p:sp>
    </p:spTree>
    <p:extLst>
      <p:ext uri="{BB962C8B-B14F-4D97-AF65-F5344CB8AC3E}">
        <p14:creationId xmlns:p14="http://schemas.microsoft.com/office/powerpoint/2010/main" val="1566313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017817F-7E60-2D4C-0E11-029D780880C2}"/>
              </a:ext>
            </a:extLst>
          </p:cNvPr>
          <p:cNvSpPr txBox="1"/>
          <p:nvPr/>
        </p:nvSpPr>
        <p:spPr>
          <a:xfrm>
            <a:off x="641131" y="545803"/>
            <a:ext cx="6096000" cy="400110"/>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収集データ</a:t>
            </a:r>
            <a:endParaRPr lang="en-JP" sz="2000" dirty="0">
              <a:latin typeface="Meiryo" panose="020B0604030504040204" pitchFamily="34" charset="-128"/>
              <a:ea typeface="Meiryo" panose="020B0604030504040204" pitchFamily="34" charset="-128"/>
            </a:endParaRPr>
          </a:p>
        </p:txBody>
      </p:sp>
      <p:pic>
        <p:nvPicPr>
          <p:cNvPr id="6" name="Picture 5">
            <a:extLst>
              <a:ext uri="{FF2B5EF4-FFF2-40B4-BE49-F238E27FC236}">
                <a16:creationId xmlns:a16="http://schemas.microsoft.com/office/drawing/2014/main" id="{3C219D55-F0DB-67CC-E266-1E1CF5E76285}"/>
              </a:ext>
            </a:extLst>
          </p:cNvPr>
          <p:cNvPicPr>
            <a:picLocks noChangeAspect="1"/>
          </p:cNvPicPr>
          <p:nvPr/>
        </p:nvPicPr>
        <p:blipFill>
          <a:blip r:embed="rId2"/>
          <a:stretch>
            <a:fillRect/>
          </a:stretch>
        </p:blipFill>
        <p:spPr>
          <a:xfrm>
            <a:off x="3851186" y="431493"/>
            <a:ext cx="6749474" cy="2835738"/>
          </a:xfrm>
          <a:prstGeom prst="rect">
            <a:avLst/>
          </a:prstGeom>
        </p:spPr>
      </p:pic>
      <p:sp>
        <p:nvSpPr>
          <p:cNvPr id="8" name="TextBox 7">
            <a:extLst>
              <a:ext uri="{FF2B5EF4-FFF2-40B4-BE49-F238E27FC236}">
                <a16:creationId xmlns:a16="http://schemas.microsoft.com/office/drawing/2014/main" id="{8A463ADC-87B2-7A98-CEC6-8E0B4F61691D}"/>
              </a:ext>
            </a:extLst>
          </p:cNvPr>
          <p:cNvSpPr txBox="1"/>
          <p:nvPr/>
        </p:nvSpPr>
        <p:spPr>
          <a:xfrm>
            <a:off x="346841" y="1888636"/>
            <a:ext cx="3342290" cy="923330"/>
          </a:xfrm>
          <a:prstGeom prst="rect">
            <a:avLst/>
          </a:prstGeom>
          <a:noFill/>
        </p:spPr>
        <p:txBody>
          <a:bodyPr wrap="square">
            <a:spAutoFit/>
          </a:bodyPr>
          <a:lstStyle/>
          <a:p>
            <a:r>
              <a:rPr lang="en-US" altLang="ja-JP" dirty="0"/>
              <a:t>Temperature</a:t>
            </a:r>
            <a:r>
              <a:rPr lang="ja-JP" altLang="en-US"/>
              <a:t>（例：</a:t>
            </a:r>
            <a:r>
              <a:rPr lang="en-US" altLang="ja-JP" dirty="0"/>
              <a:t>25</a:t>
            </a:r>
            <a:r>
              <a:rPr lang="ja-JP" altLang="en-US"/>
              <a:t>～</a:t>
            </a:r>
            <a:r>
              <a:rPr lang="en-US" altLang="ja-JP" dirty="0"/>
              <a:t>35℃</a:t>
            </a:r>
            <a:r>
              <a:rPr lang="ja-JP" altLang="en-US"/>
              <a:t>）</a:t>
            </a:r>
            <a:endParaRPr lang="en-US" altLang="ja-JP" dirty="0"/>
          </a:p>
          <a:p>
            <a:r>
              <a:rPr lang="en-US" altLang="ja-JP" dirty="0"/>
              <a:t>Humidity</a:t>
            </a:r>
            <a:r>
              <a:rPr lang="ja-JP" altLang="en-US"/>
              <a:t>（例：</a:t>
            </a:r>
            <a:r>
              <a:rPr lang="en-US" altLang="ja-JP" dirty="0"/>
              <a:t>40</a:t>
            </a:r>
            <a:r>
              <a:rPr lang="ja-JP" altLang="en-US"/>
              <a:t>～</a:t>
            </a:r>
            <a:r>
              <a:rPr lang="en-US" altLang="ja-JP" dirty="0"/>
              <a:t>70%</a:t>
            </a:r>
            <a:r>
              <a:rPr lang="ja-JP" altLang="en-US"/>
              <a:t>）</a:t>
            </a:r>
          </a:p>
          <a:p>
            <a:r>
              <a:rPr lang="en-US" dirty="0"/>
              <a:t>CO2</a:t>
            </a:r>
            <a:r>
              <a:rPr lang="ja-JP" altLang="en-US"/>
              <a:t>濃度（例：</a:t>
            </a:r>
            <a:r>
              <a:rPr lang="en-US" altLang="ja-JP" dirty="0"/>
              <a:t>400</a:t>
            </a:r>
            <a:r>
              <a:rPr lang="ja-JP" altLang="en-US"/>
              <a:t>～</a:t>
            </a:r>
            <a:r>
              <a:rPr lang="en-US" altLang="ja-JP" dirty="0"/>
              <a:t>1300</a:t>
            </a:r>
            <a:r>
              <a:rPr lang="en-US" dirty="0"/>
              <a:t>ppm）</a:t>
            </a:r>
          </a:p>
        </p:txBody>
      </p:sp>
      <p:sp>
        <p:nvSpPr>
          <p:cNvPr id="10" name="TextBox 9">
            <a:extLst>
              <a:ext uri="{FF2B5EF4-FFF2-40B4-BE49-F238E27FC236}">
                <a16:creationId xmlns:a16="http://schemas.microsoft.com/office/drawing/2014/main" id="{D7CCC8D3-F14C-B548-8841-D1088010D9E3}"/>
              </a:ext>
            </a:extLst>
          </p:cNvPr>
          <p:cNvSpPr txBox="1"/>
          <p:nvPr/>
        </p:nvSpPr>
        <p:spPr>
          <a:xfrm>
            <a:off x="346840" y="5638129"/>
            <a:ext cx="6096000" cy="369332"/>
          </a:xfrm>
          <a:prstGeom prst="rect">
            <a:avLst/>
          </a:prstGeom>
          <a:noFill/>
        </p:spPr>
        <p:txBody>
          <a:bodyPr wrap="square">
            <a:spAutoFit/>
          </a:bodyPr>
          <a:lstStyle/>
          <a:p>
            <a:r>
              <a:rPr lang="ja-JP" altLang="en-US" b="1"/>
              <a:t>データの種類</a:t>
            </a:r>
            <a:r>
              <a:rPr lang="mn-MN" altLang="ja-JP" b="1" dirty="0"/>
              <a:t>          </a:t>
            </a:r>
            <a:r>
              <a:rPr lang="ja-JP" altLang="en-US"/>
              <a:t>① 事前に保存された </a:t>
            </a:r>
            <a:r>
              <a:rPr lang="en-US" dirty="0"/>
              <a:t>　② </a:t>
            </a:r>
            <a:r>
              <a:rPr lang="ja-JP" altLang="en-US"/>
              <a:t>リアルタイム</a:t>
            </a:r>
            <a:endParaRPr lang="en-JP" dirty="0"/>
          </a:p>
        </p:txBody>
      </p:sp>
      <p:sp>
        <p:nvSpPr>
          <p:cNvPr id="11" name="Slide Number Placeholder 10">
            <a:extLst>
              <a:ext uri="{FF2B5EF4-FFF2-40B4-BE49-F238E27FC236}">
                <a16:creationId xmlns:a16="http://schemas.microsoft.com/office/drawing/2014/main" id="{F72FB1DE-DA16-BF62-2178-88DD5E02D8A5}"/>
              </a:ext>
            </a:extLst>
          </p:cNvPr>
          <p:cNvSpPr>
            <a:spLocks noGrp="1"/>
          </p:cNvSpPr>
          <p:nvPr>
            <p:ph type="sldNum" sz="quarter" idx="12"/>
          </p:nvPr>
        </p:nvSpPr>
        <p:spPr/>
        <p:txBody>
          <a:bodyPr/>
          <a:lstStyle/>
          <a:p>
            <a:fld id="{D46B4CB5-B774-3647-BF86-B3C8EE0819CF}" type="slidenum">
              <a:rPr lang="en-JP" smtClean="0"/>
              <a:t>6</a:t>
            </a:fld>
            <a:endParaRPr lang="en-JP"/>
          </a:p>
        </p:txBody>
      </p:sp>
      <p:graphicFrame>
        <p:nvGraphicFramePr>
          <p:cNvPr id="12" name="Table 11">
            <a:extLst>
              <a:ext uri="{FF2B5EF4-FFF2-40B4-BE49-F238E27FC236}">
                <a16:creationId xmlns:a16="http://schemas.microsoft.com/office/drawing/2014/main" id="{C3B37056-DB1D-845B-6AF8-235F09D065CC}"/>
              </a:ext>
            </a:extLst>
          </p:cNvPr>
          <p:cNvGraphicFramePr>
            <a:graphicFrameLocks noGrp="1"/>
          </p:cNvGraphicFramePr>
          <p:nvPr>
            <p:extLst>
              <p:ext uri="{D42A27DB-BD31-4B8C-83A1-F6EECF244321}">
                <p14:modId xmlns:p14="http://schemas.microsoft.com/office/powerpoint/2010/main" val="63209212"/>
              </p:ext>
            </p:extLst>
          </p:nvPr>
        </p:nvGraphicFramePr>
        <p:xfrm>
          <a:off x="346840" y="3802882"/>
          <a:ext cx="10253820" cy="1599320"/>
        </p:xfrm>
        <a:graphic>
          <a:graphicData uri="http://schemas.openxmlformats.org/drawingml/2006/table">
            <a:tbl>
              <a:tblPr firstRow="1" firstCol="1" bandRow="1">
                <a:tableStyleId>{9D7B26C5-4107-4FEC-AEDC-1716B250A1EF}</a:tableStyleId>
              </a:tblPr>
              <a:tblGrid>
                <a:gridCol w="5126910">
                  <a:extLst>
                    <a:ext uri="{9D8B030D-6E8A-4147-A177-3AD203B41FA5}">
                      <a16:colId xmlns:a16="http://schemas.microsoft.com/office/drawing/2014/main" val="1671877672"/>
                    </a:ext>
                  </a:extLst>
                </a:gridCol>
                <a:gridCol w="5126910">
                  <a:extLst>
                    <a:ext uri="{9D8B030D-6E8A-4147-A177-3AD203B41FA5}">
                      <a16:colId xmlns:a16="http://schemas.microsoft.com/office/drawing/2014/main" val="1647606050"/>
                    </a:ext>
                  </a:extLst>
                </a:gridCol>
              </a:tblGrid>
              <a:tr h="319864">
                <a:tc>
                  <a:txBody>
                    <a:bodyPr/>
                    <a:lstStyle/>
                    <a:p>
                      <a:pPr algn="ctr"/>
                      <a:r>
                        <a:rPr lang="ja-JP" sz="1200" b="0" kern="100">
                          <a:effectLst/>
                          <a:latin typeface="Meiryo" panose="020B0604030504040204" pitchFamily="34" charset="-128"/>
                          <a:ea typeface="Meiryo" panose="020B0604030504040204" pitchFamily="34" charset="-128"/>
                        </a:rPr>
                        <a:t>特徴</a:t>
                      </a:r>
                      <a:endParaRPr lang="en-JP" sz="12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1200" b="0" kern="100">
                          <a:effectLst/>
                          <a:latin typeface="Meiryo" panose="020B0604030504040204" pitchFamily="34" charset="-128"/>
                          <a:ea typeface="Meiryo" panose="020B0604030504040204" pitchFamily="34" charset="-128"/>
                        </a:rPr>
                        <a:t>内容</a:t>
                      </a:r>
                      <a:endParaRPr lang="en-JP" sz="12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216747887"/>
                  </a:ext>
                </a:extLst>
              </a:tr>
              <a:tr h="319864">
                <a:tc>
                  <a:txBody>
                    <a:bodyPr/>
                    <a:lstStyle/>
                    <a:p>
                      <a:pPr algn="ctr"/>
                      <a:r>
                        <a:rPr lang="ja-JP" sz="1200" b="0" kern="100">
                          <a:effectLst/>
                          <a:latin typeface="Meiryo" panose="020B0604030504040204" pitchFamily="34" charset="-128"/>
                          <a:ea typeface="Meiryo" panose="020B0604030504040204" pitchFamily="34" charset="-128"/>
                        </a:rPr>
                        <a:t>リアルタイム性</a:t>
                      </a:r>
                      <a:r>
                        <a:rPr lang="ja-JP" altLang="en-US" sz="1200" b="0" kern="100">
                          <a:effectLst/>
                          <a:latin typeface="Meiryo" panose="020B0604030504040204" pitchFamily="34" charset="-128"/>
                          <a:ea typeface="Meiryo" panose="020B0604030504040204" pitchFamily="34" charset="-128"/>
                        </a:rPr>
                        <a:t>・</a:t>
                      </a:r>
                      <a:r>
                        <a:rPr lang="en-US" altLang="ja-JP" sz="1200" b="0" kern="100" dirty="0">
                          <a:effectLst/>
                          <a:latin typeface="Meiryo" panose="020B0604030504040204" pitchFamily="34" charset="-128"/>
                          <a:ea typeface="Meiryo" panose="020B0604030504040204" pitchFamily="34" charset="-128"/>
                        </a:rPr>
                        <a:t>Real-time</a:t>
                      </a:r>
                      <a:endParaRPr lang="en-JP" sz="12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1200" b="0" kern="100">
                          <a:effectLst/>
                          <a:latin typeface="Meiryo" panose="020B0604030504040204" pitchFamily="34" charset="-128"/>
                          <a:ea typeface="Meiryo" panose="020B0604030504040204" pitchFamily="34" charset="-128"/>
                        </a:rPr>
                        <a:t>データはリアルタイムで収集される</a:t>
                      </a:r>
                      <a:endParaRPr lang="en-JP" sz="12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948768084"/>
                  </a:ext>
                </a:extLst>
              </a:tr>
              <a:tr h="319864">
                <a:tc>
                  <a:txBody>
                    <a:bodyPr/>
                    <a:lstStyle/>
                    <a:p>
                      <a:pPr algn="ctr"/>
                      <a:r>
                        <a:rPr lang="ja-JP" sz="1200" b="0" kern="100">
                          <a:effectLst/>
                          <a:latin typeface="Meiryo" panose="020B0604030504040204" pitchFamily="34" charset="-128"/>
                          <a:ea typeface="Meiryo" panose="020B0604030504040204" pitchFamily="34" charset="-128"/>
                        </a:rPr>
                        <a:t>センサーベース</a:t>
                      </a:r>
                      <a:r>
                        <a:rPr lang="ja-JP" altLang="en-US" sz="1200" b="0" kern="100">
                          <a:effectLst/>
                          <a:latin typeface="Meiryo" panose="020B0604030504040204" pitchFamily="34" charset="-128"/>
                          <a:ea typeface="Meiryo" panose="020B0604030504040204" pitchFamily="34" charset="-128"/>
                        </a:rPr>
                        <a:t>・</a:t>
                      </a:r>
                      <a:r>
                        <a:rPr lang="en-US" altLang="ja-JP" sz="1200" b="0" kern="100" dirty="0">
                          <a:effectLst/>
                          <a:latin typeface="Meiryo" panose="020B0604030504040204" pitchFamily="34" charset="-128"/>
                          <a:ea typeface="Meiryo" panose="020B0604030504040204" pitchFamily="34" charset="-128"/>
                        </a:rPr>
                        <a:t>Sensor-based</a:t>
                      </a:r>
                      <a:endParaRPr lang="en-JP" sz="12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1200" b="0" kern="100">
                          <a:effectLst/>
                          <a:latin typeface="Meiryo" panose="020B0604030504040204" pitchFamily="34" charset="-128"/>
                          <a:ea typeface="Meiryo" panose="020B0604030504040204" pitchFamily="34" charset="-128"/>
                        </a:rPr>
                        <a:t>センサーを通じて物理環境から情報を取得する</a:t>
                      </a:r>
                      <a:endParaRPr lang="en-JP" sz="12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777194866"/>
                  </a:ext>
                </a:extLst>
              </a:tr>
              <a:tr h="319864">
                <a:tc>
                  <a:txBody>
                    <a:bodyPr/>
                    <a:lstStyle/>
                    <a:p>
                      <a:pPr algn="ctr"/>
                      <a:r>
                        <a:rPr lang="ja-JP" sz="1200" b="0" kern="100">
                          <a:effectLst/>
                          <a:latin typeface="Meiryo" panose="020B0604030504040204" pitchFamily="34" charset="-128"/>
                          <a:ea typeface="Meiryo" panose="020B0604030504040204" pitchFamily="34" charset="-128"/>
                        </a:rPr>
                        <a:t>大量・連続的</a:t>
                      </a:r>
                      <a:r>
                        <a:rPr lang="ja-JP" altLang="en-US" sz="1200" b="0" kern="100">
                          <a:effectLst/>
                          <a:latin typeface="Meiryo" panose="020B0604030504040204" pitchFamily="34" charset="-128"/>
                          <a:ea typeface="Meiryo" panose="020B0604030504040204" pitchFamily="34" charset="-128"/>
                        </a:rPr>
                        <a:t>・</a:t>
                      </a:r>
                      <a:r>
                        <a:rPr lang="en-US" altLang="ja-JP" sz="1200" b="0" kern="100" dirty="0">
                          <a:effectLst/>
                          <a:latin typeface="Meiryo" panose="020B0604030504040204" pitchFamily="34" charset="-128"/>
                          <a:ea typeface="Meiryo" panose="020B0604030504040204" pitchFamily="34" charset="-128"/>
                        </a:rPr>
                        <a:t>Large volume/continuous</a:t>
                      </a:r>
                      <a:endParaRPr lang="en-JP" sz="12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1200" b="0" kern="100">
                          <a:effectLst/>
                          <a:latin typeface="Meiryo" panose="020B0604030504040204" pitchFamily="34" charset="-128"/>
                          <a:ea typeface="Meiryo" panose="020B0604030504040204" pitchFamily="34" charset="-128"/>
                        </a:rPr>
                        <a:t>測定は継続的に行われ、大量のデータが生成される</a:t>
                      </a:r>
                      <a:endParaRPr lang="en-JP" sz="12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111303456"/>
                  </a:ext>
                </a:extLst>
              </a:tr>
              <a:tr h="319864">
                <a:tc>
                  <a:txBody>
                    <a:bodyPr/>
                    <a:lstStyle/>
                    <a:p>
                      <a:pPr algn="ctr"/>
                      <a:r>
                        <a:rPr lang="ja-JP" sz="1200" b="0" kern="100">
                          <a:effectLst/>
                          <a:latin typeface="Meiryo" panose="020B0604030504040204" pitchFamily="34" charset="-128"/>
                          <a:ea typeface="Meiryo" panose="020B0604030504040204" pitchFamily="34" charset="-128"/>
                        </a:rPr>
                        <a:t>時系列データ</a:t>
                      </a:r>
                      <a:r>
                        <a:rPr lang="ja-JP" altLang="en-US" sz="1200" b="0" kern="100">
                          <a:effectLst/>
                          <a:latin typeface="Meiryo" panose="020B0604030504040204" pitchFamily="34" charset="-128"/>
                          <a:ea typeface="Meiryo" panose="020B0604030504040204" pitchFamily="34" charset="-128"/>
                        </a:rPr>
                        <a:t>・</a:t>
                      </a:r>
                      <a:r>
                        <a:rPr lang="en-US" altLang="ja-JP" sz="1200" b="0" kern="100" dirty="0">
                          <a:effectLst/>
                          <a:latin typeface="Meiryo" panose="020B0604030504040204" pitchFamily="34" charset="-128"/>
                          <a:ea typeface="Meiryo" panose="020B0604030504040204" pitchFamily="34" charset="-128"/>
                        </a:rPr>
                        <a:t>Time series data</a:t>
                      </a:r>
                      <a:endParaRPr lang="en-JP" sz="12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1200" b="0" kern="100">
                          <a:effectLst/>
                          <a:latin typeface="Meiryo" panose="020B0604030504040204" pitchFamily="34" charset="-128"/>
                          <a:ea typeface="Meiryo" panose="020B0604030504040204" pitchFamily="34" charset="-128"/>
                        </a:rPr>
                        <a:t>「時刻＋値」という構造を持つデータである</a:t>
                      </a:r>
                      <a:endParaRPr lang="en-JP" sz="12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2695369343"/>
                  </a:ext>
                </a:extLst>
              </a:tr>
            </a:tbl>
          </a:graphicData>
        </a:graphic>
      </p:graphicFrame>
    </p:spTree>
    <p:extLst>
      <p:ext uri="{BB962C8B-B14F-4D97-AF65-F5344CB8AC3E}">
        <p14:creationId xmlns:p14="http://schemas.microsoft.com/office/powerpoint/2010/main" val="2874231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803DA8-67E1-BFC6-2763-F2CF22192DC2}"/>
              </a:ext>
            </a:extLst>
          </p:cNvPr>
          <p:cNvSpPr>
            <a:spLocks noGrp="1"/>
          </p:cNvSpPr>
          <p:nvPr>
            <p:ph type="sldNum" sz="quarter" idx="12"/>
          </p:nvPr>
        </p:nvSpPr>
        <p:spPr>
          <a:xfrm>
            <a:off x="10907416" y="6069179"/>
            <a:ext cx="764215" cy="365125"/>
          </a:xfrm>
        </p:spPr>
        <p:txBody>
          <a:bodyPr/>
          <a:lstStyle/>
          <a:p>
            <a:fld id="{D46B4CB5-B774-3647-BF86-B3C8EE0819CF}" type="slidenum">
              <a:rPr lang="en-JP" smtClean="0"/>
              <a:t>7</a:t>
            </a:fld>
            <a:endParaRPr lang="en-JP"/>
          </a:p>
        </p:txBody>
      </p:sp>
      <p:sp>
        <p:nvSpPr>
          <p:cNvPr id="6" name="TextBox 5">
            <a:extLst>
              <a:ext uri="{FF2B5EF4-FFF2-40B4-BE49-F238E27FC236}">
                <a16:creationId xmlns:a16="http://schemas.microsoft.com/office/drawing/2014/main" id="{62F8F530-E7C5-1F5A-BC8E-D169FC1D9E9E}"/>
              </a:ext>
            </a:extLst>
          </p:cNvPr>
          <p:cNvSpPr txBox="1"/>
          <p:nvPr/>
        </p:nvSpPr>
        <p:spPr>
          <a:xfrm>
            <a:off x="571500" y="516917"/>
            <a:ext cx="6097772" cy="369332"/>
          </a:xfrm>
          <a:prstGeom prst="rect">
            <a:avLst/>
          </a:prstGeom>
          <a:noFill/>
        </p:spPr>
        <p:txBody>
          <a:bodyPr wrap="square">
            <a:spAutoFit/>
          </a:bodyPr>
          <a:lstStyle/>
          <a:p>
            <a:r>
              <a:rPr lang="en-JP" dirty="0"/>
              <a:t>どのようなデータ不具合が想定されるか</a:t>
            </a:r>
          </a:p>
        </p:txBody>
      </p:sp>
      <p:graphicFrame>
        <p:nvGraphicFramePr>
          <p:cNvPr id="7" name="Table 6">
            <a:extLst>
              <a:ext uri="{FF2B5EF4-FFF2-40B4-BE49-F238E27FC236}">
                <a16:creationId xmlns:a16="http://schemas.microsoft.com/office/drawing/2014/main" id="{3AF14518-19F6-D8AA-113D-568B2E510DB4}"/>
              </a:ext>
            </a:extLst>
          </p:cNvPr>
          <p:cNvGraphicFramePr>
            <a:graphicFrameLocks noGrp="1"/>
          </p:cNvGraphicFramePr>
          <p:nvPr>
            <p:extLst>
              <p:ext uri="{D42A27DB-BD31-4B8C-83A1-F6EECF244321}">
                <p14:modId xmlns:p14="http://schemas.microsoft.com/office/powerpoint/2010/main" val="3744659697"/>
              </p:ext>
            </p:extLst>
          </p:nvPr>
        </p:nvGraphicFramePr>
        <p:xfrm>
          <a:off x="619347" y="1105786"/>
          <a:ext cx="10459779" cy="4401879"/>
        </p:xfrm>
        <a:graphic>
          <a:graphicData uri="http://schemas.openxmlformats.org/drawingml/2006/table">
            <a:tbl>
              <a:tblPr firstRow="1" firstCol="1" bandRow="1">
                <a:tableStyleId>{616DA210-FB5B-4158-B5E0-FEB733F419BA}</a:tableStyleId>
              </a:tblPr>
              <a:tblGrid>
                <a:gridCol w="3486593">
                  <a:extLst>
                    <a:ext uri="{9D8B030D-6E8A-4147-A177-3AD203B41FA5}">
                      <a16:colId xmlns:a16="http://schemas.microsoft.com/office/drawing/2014/main" val="1192234131"/>
                    </a:ext>
                  </a:extLst>
                </a:gridCol>
                <a:gridCol w="3486593">
                  <a:extLst>
                    <a:ext uri="{9D8B030D-6E8A-4147-A177-3AD203B41FA5}">
                      <a16:colId xmlns:a16="http://schemas.microsoft.com/office/drawing/2014/main" val="1210518081"/>
                    </a:ext>
                  </a:extLst>
                </a:gridCol>
                <a:gridCol w="3486593">
                  <a:extLst>
                    <a:ext uri="{9D8B030D-6E8A-4147-A177-3AD203B41FA5}">
                      <a16:colId xmlns:a16="http://schemas.microsoft.com/office/drawing/2014/main" val="78179273"/>
                    </a:ext>
                  </a:extLst>
                </a:gridCol>
              </a:tblGrid>
              <a:tr h="413799">
                <a:tc>
                  <a:txBody>
                    <a:bodyPr/>
                    <a:lstStyle/>
                    <a:p>
                      <a:pPr algn="ctr"/>
                      <a:r>
                        <a:rPr lang="ja-JP" sz="1600" kern="100">
                          <a:solidFill>
                            <a:schemeClr val="tx1"/>
                          </a:solidFill>
                          <a:effectLst/>
                          <a:latin typeface="Meiryo" panose="020B0604030504040204" pitchFamily="34" charset="-128"/>
                          <a:ea typeface="Meiryo" panose="020B0604030504040204" pitchFamily="34" charset="-128"/>
                        </a:rPr>
                        <a:t>問題点</a:t>
                      </a:r>
                      <a:endParaRPr lang="en-JP" sz="1600" kern="100" dirty="0">
                        <a:solidFill>
                          <a:schemeClr val="tx1"/>
                        </a:solidFill>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1600" kern="100">
                          <a:solidFill>
                            <a:schemeClr val="tx1"/>
                          </a:solidFill>
                          <a:effectLst/>
                          <a:latin typeface="Meiryo" panose="020B0604030504040204" pitchFamily="34" charset="-128"/>
                          <a:ea typeface="Meiryo" panose="020B0604030504040204" pitchFamily="34" charset="-128"/>
                        </a:rPr>
                        <a:t>例</a:t>
                      </a:r>
                      <a:endParaRPr lang="en-JP" sz="1600" kern="100">
                        <a:solidFill>
                          <a:schemeClr val="tx1"/>
                        </a:solidFill>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1600" kern="100">
                          <a:solidFill>
                            <a:schemeClr val="tx1"/>
                          </a:solidFill>
                          <a:effectLst/>
                          <a:latin typeface="Meiryo" panose="020B0604030504040204" pitchFamily="34" charset="-128"/>
                          <a:ea typeface="Meiryo" panose="020B0604030504040204" pitchFamily="34" charset="-128"/>
                        </a:rPr>
                        <a:t>なぜ問題なのか</a:t>
                      </a:r>
                      <a:endParaRPr lang="en-JP" sz="1600" kern="100">
                        <a:solidFill>
                          <a:schemeClr val="tx1"/>
                        </a:solidFill>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736381232"/>
                  </a:ext>
                </a:extLst>
              </a:tr>
              <a:tr h="797616">
                <a:tc>
                  <a:txBody>
                    <a:bodyPr/>
                    <a:lstStyle/>
                    <a:p>
                      <a:pPr algn="ctr"/>
                      <a:r>
                        <a:rPr lang="ja-JP" sz="1600" kern="100">
                          <a:solidFill>
                            <a:schemeClr val="tx1"/>
                          </a:solidFill>
                          <a:effectLst/>
                          <a:latin typeface="Meiryo" panose="020B0604030504040204" pitchFamily="34" charset="-128"/>
                          <a:ea typeface="Meiryo" panose="020B0604030504040204" pitchFamily="34" charset="-128"/>
                        </a:rPr>
                        <a:t>欠損データ（</a:t>
                      </a:r>
                      <a:r>
                        <a:rPr lang="en-JP" sz="1600" kern="100" dirty="0">
                          <a:solidFill>
                            <a:schemeClr val="tx1"/>
                          </a:solidFill>
                          <a:effectLst/>
                          <a:latin typeface="Meiryo" panose="020B0604030504040204" pitchFamily="34" charset="-128"/>
                          <a:ea typeface="Meiryo" panose="020B0604030504040204" pitchFamily="34" charset="-128"/>
                        </a:rPr>
                        <a:t>NULL</a:t>
                      </a:r>
                      <a:r>
                        <a:rPr lang="ja-JP" sz="1600" kern="100">
                          <a:solidFill>
                            <a:schemeClr val="tx1"/>
                          </a:solidFill>
                          <a:effectLst/>
                          <a:latin typeface="Meiryo" panose="020B0604030504040204" pitchFamily="34" charset="-128"/>
                          <a:ea typeface="Meiryo" panose="020B0604030504040204" pitchFamily="34" charset="-128"/>
                        </a:rPr>
                        <a:t>）</a:t>
                      </a:r>
                      <a:endParaRPr lang="en-JP" sz="1600" kern="100" dirty="0">
                        <a:solidFill>
                          <a:schemeClr val="tx1"/>
                        </a:solidFill>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1600" kern="100">
                          <a:solidFill>
                            <a:schemeClr val="tx1"/>
                          </a:solidFill>
                          <a:effectLst/>
                          <a:latin typeface="Meiryo" panose="020B0604030504040204" pitchFamily="34" charset="-128"/>
                          <a:ea typeface="Meiryo" panose="020B0604030504040204" pitchFamily="34" charset="-128"/>
                        </a:rPr>
                        <a:t>14:00</a:t>
                      </a:r>
                      <a:r>
                        <a:rPr lang="ja-JP" sz="1600" kern="100">
                          <a:solidFill>
                            <a:schemeClr val="tx1"/>
                          </a:solidFill>
                          <a:effectLst/>
                          <a:latin typeface="Meiryo" panose="020B0604030504040204" pitchFamily="34" charset="-128"/>
                          <a:ea typeface="Meiryo" panose="020B0604030504040204" pitchFamily="34" charset="-128"/>
                        </a:rPr>
                        <a:t>時のデータが全く届いていない</a:t>
                      </a:r>
                      <a:endParaRPr lang="en-JP" sz="1600" kern="100">
                        <a:solidFill>
                          <a:schemeClr val="tx1"/>
                        </a:solidFill>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1600" kern="100">
                          <a:solidFill>
                            <a:schemeClr val="tx1"/>
                          </a:solidFill>
                          <a:effectLst/>
                          <a:latin typeface="Meiryo" panose="020B0604030504040204" pitchFamily="34" charset="-128"/>
                          <a:ea typeface="Meiryo" panose="020B0604030504040204" pitchFamily="34" charset="-128"/>
                        </a:rPr>
                        <a:t>グラフが途切れたり、計算エラーの原因になる</a:t>
                      </a:r>
                      <a:endParaRPr lang="en-JP" sz="1600" kern="100" dirty="0">
                        <a:solidFill>
                          <a:schemeClr val="tx1"/>
                        </a:solidFill>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087245985"/>
                  </a:ext>
                </a:extLst>
              </a:tr>
              <a:tr h="797616">
                <a:tc>
                  <a:txBody>
                    <a:bodyPr/>
                    <a:lstStyle/>
                    <a:p>
                      <a:pPr algn="ctr"/>
                      <a:r>
                        <a:rPr lang="ja-JP" sz="1600" kern="100">
                          <a:solidFill>
                            <a:schemeClr val="tx1"/>
                          </a:solidFill>
                          <a:effectLst/>
                          <a:latin typeface="Meiryo" panose="020B0604030504040204" pitchFamily="34" charset="-128"/>
                          <a:ea typeface="Meiryo" panose="020B0604030504040204" pitchFamily="34" charset="-128"/>
                        </a:rPr>
                        <a:t>データの途切れ／不足</a:t>
                      </a:r>
                      <a:endParaRPr lang="en-JP" sz="1600" kern="100" dirty="0">
                        <a:solidFill>
                          <a:schemeClr val="tx1"/>
                        </a:solidFill>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1600" kern="100" dirty="0">
                          <a:solidFill>
                            <a:schemeClr val="tx1"/>
                          </a:solidFill>
                          <a:effectLst/>
                          <a:latin typeface="Meiryo" panose="020B0604030504040204" pitchFamily="34" charset="-128"/>
                          <a:ea typeface="Meiryo" panose="020B0604030504040204" pitchFamily="34" charset="-128"/>
                        </a:rPr>
                        <a:t>5</a:t>
                      </a:r>
                      <a:r>
                        <a:rPr lang="ja-JP" sz="1600" kern="100">
                          <a:solidFill>
                            <a:schemeClr val="tx1"/>
                          </a:solidFill>
                          <a:effectLst/>
                          <a:latin typeface="Meiryo" panose="020B0604030504040204" pitchFamily="34" charset="-128"/>
                          <a:ea typeface="Meiryo" panose="020B0604030504040204" pitchFamily="34" charset="-128"/>
                        </a:rPr>
                        <a:t>分ごとにデータを取得するはずが、一部の時間帯でデータが欠けている</a:t>
                      </a:r>
                      <a:endParaRPr lang="en-JP" sz="1600" kern="100" dirty="0">
                        <a:solidFill>
                          <a:schemeClr val="tx1"/>
                        </a:solidFill>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1600" kern="100">
                          <a:solidFill>
                            <a:schemeClr val="tx1"/>
                          </a:solidFill>
                          <a:effectLst/>
                          <a:latin typeface="Meiryo" panose="020B0604030504040204" pitchFamily="34" charset="-128"/>
                          <a:ea typeface="Meiryo" panose="020B0604030504040204" pitchFamily="34" charset="-128"/>
                        </a:rPr>
                        <a:t>十分な分析ができなくなる</a:t>
                      </a:r>
                      <a:endParaRPr lang="en-JP" sz="1600" kern="100">
                        <a:solidFill>
                          <a:schemeClr val="tx1"/>
                        </a:solidFill>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4198892625"/>
                  </a:ext>
                </a:extLst>
              </a:tr>
              <a:tr h="797616">
                <a:tc>
                  <a:txBody>
                    <a:bodyPr/>
                    <a:lstStyle/>
                    <a:p>
                      <a:pPr algn="ctr"/>
                      <a:r>
                        <a:rPr lang="ja-JP" sz="1600" kern="100">
                          <a:solidFill>
                            <a:schemeClr val="tx1"/>
                          </a:solidFill>
                          <a:effectLst/>
                          <a:latin typeface="Meiryo" panose="020B0604030504040204" pitchFamily="34" charset="-128"/>
                          <a:ea typeface="Meiryo" panose="020B0604030504040204" pitchFamily="34" charset="-128"/>
                        </a:rPr>
                        <a:t>異常値</a:t>
                      </a:r>
                      <a:endParaRPr lang="en-JP" sz="1600" kern="100">
                        <a:solidFill>
                          <a:schemeClr val="tx1"/>
                        </a:solidFill>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1600" kern="100">
                          <a:solidFill>
                            <a:schemeClr val="tx1"/>
                          </a:solidFill>
                          <a:effectLst/>
                          <a:latin typeface="Meiryo" panose="020B0604030504040204" pitchFamily="34" charset="-128"/>
                          <a:ea typeface="Meiryo" panose="020B0604030504040204" pitchFamily="34" charset="-128"/>
                        </a:rPr>
                        <a:t>温度が</a:t>
                      </a:r>
                      <a:r>
                        <a:rPr lang="en-JP" sz="1600" kern="100" dirty="0">
                          <a:solidFill>
                            <a:schemeClr val="tx1"/>
                          </a:solidFill>
                          <a:effectLst/>
                          <a:latin typeface="Meiryo" panose="020B0604030504040204" pitchFamily="34" charset="-128"/>
                          <a:ea typeface="Meiryo" panose="020B0604030504040204" pitchFamily="34" charset="-128"/>
                        </a:rPr>
                        <a:t>300°C</a:t>
                      </a:r>
                      <a:r>
                        <a:rPr lang="ja-JP" sz="1600" kern="100">
                          <a:solidFill>
                            <a:schemeClr val="tx1"/>
                          </a:solidFill>
                          <a:effectLst/>
                          <a:latin typeface="Meiryo" panose="020B0604030504040204" pitchFamily="34" charset="-128"/>
                          <a:ea typeface="Meiryo" panose="020B0604030504040204" pitchFamily="34" charset="-128"/>
                        </a:rPr>
                        <a:t>と記録された（センサーの誤作動）</a:t>
                      </a:r>
                      <a:endParaRPr lang="en-JP" sz="1600" kern="100" dirty="0">
                        <a:solidFill>
                          <a:schemeClr val="tx1"/>
                        </a:solidFill>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1600" kern="100">
                          <a:solidFill>
                            <a:schemeClr val="tx1"/>
                          </a:solidFill>
                          <a:effectLst/>
                          <a:latin typeface="Meiryo" panose="020B0604030504040204" pitchFamily="34" charset="-128"/>
                          <a:ea typeface="Meiryo" panose="020B0604030504040204" pitchFamily="34" charset="-128"/>
                        </a:rPr>
                        <a:t>実際の状況と合わず、誤った結論につながる可能性がある</a:t>
                      </a:r>
                      <a:endParaRPr lang="en-JP" sz="1600" kern="100">
                        <a:solidFill>
                          <a:schemeClr val="tx1"/>
                        </a:solidFill>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367272593"/>
                  </a:ext>
                </a:extLst>
              </a:tr>
              <a:tr h="797616">
                <a:tc>
                  <a:txBody>
                    <a:bodyPr/>
                    <a:lstStyle/>
                    <a:p>
                      <a:pPr algn="ctr"/>
                      <a:r>
                        <a:rPr lang="ja-JP" sz="1600" kern="100">
                          <a:solidFill>
                            <a:schemeClr val="tx1"/>
                          </a:solidFill>
                          <a:effectLst/>
                          <a:latin typeface="Meiryo" panose="020B0604030504040204" pitchFamily="34" charset="-128"/>
                          <a:ea typeface="Meiryo" panose="020B0604030504040204" pitchFamily="34" charset="-128"/>
                        </a:rPr>
                        <a:t>タイムスタンプの不統一</a:t>
                      </a:r>
                      <a:endParaRPr lang="en-JP" sz="1600" kern="100">
                        <a:solidFill>
                          <a:schemeClr val="tx1"/>
                        </a:solidFill>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1600" kern="100" dirty="0">
                          <a:solidFill>
                            <a:schemeClr val="tx1"/>
                          </a:solidFill>
                          <a:effectLst/>
                          <a:latin typeface="Meiryo" panose="020B0604030504040204" pitchFamily="34" charset="-128"/>
                          <a:ea typeface="Meiryo" panose="020B0604030504040204" pitchFamily="34" charset="-128"/>
                        </a:rPr>
                        <a:t>2025/07/01</a:t>
                      </a:r>
                      <a:r>
                        <a:rPr lang="ja-JP" sz="1600" kern="100">
                          <a:solidFill>
                            <a:schemeClr val="tx1"/>
                          </a:solidFill>
                          <a:effectLst/>
                          <a:latin typeface="Meiryo" panose="020B0604030504040204" pitchFamily="34" charset="-128"/>
                          <a:ea typeface="Meiryo" panose="020B0604030504040204" pitchFamily="34" charset="-128"/>
                        </a:rPr>
                        <a:t>、</a:t>
                      </a:r>
                      <a:r>
                        <a:rPr lang="en-JP" sz="1600" kern="100" dirty="0">
                          <a:solidFill>
                            <a:schemeClr val="tx1"/>
                          </a:solidFill>
                          <a:effectLst/>
                          <a:latin typeface="Meiryo" panose="020B0604030504040204" pitchFamily="34" charset="-128"/>
                          <a:ea typeface="Meiryo" panose="020B0604030504040204" pitchFamily="34" charset="-128"/>
                        </a:rPr>
                        <a:t>07-01-2025</a:t>
                      </a:r>
                      <a:r>
                        <a:rPr lang="ja-JP" sz="1600" kern="100">
                          <a:solidFill>
                            <a:schemeClr val="tx1"/>
                          </a:solidFill>
                          <a:effectLst/>
                          <a:latin typeface="Meiryo" panose="020B0604030504040204" pitchFamily="34" charset="-128"/>
                          <a:ea typeface="Meiryo" panose="020B0604030504040204" pitchFamily="34" charset="-128"/>
                        </a:rPr>
                        <a:t>、</a:t>
                      </a:r>
                      <a:r>
                        <a:rPr lang="en-JP" sz="1600" kern="100" dirty="0">
                          <a:solidFill>
                            <a:schemeClr val="tx1"/>
                          </a:solidFill>
                          <a:effectLst/>
                          <a:latin typeface="Meiryo" panose="020B0604030504040204" pitchFamily="34" charset="-128"/>
                          <a:ea typeface="Meiryo" panose="020B0604030504040204" pitchFamily="34" charset="-128"/>
                        </a:rPr>
                        <a:t>UTC+0 </a:t>
                      </a:r>
                      <a:r>
                        <a:rPr lang="ja-JP" sz="1600" kern="100">
                          <a:solidFill>
                            <a:schemeClr val="tx1"/>
                          </a:solidFill>
                          <a:effectLst/>
                          <a:latin typeface="Meiryo" panose="020B0604030504040204" pitchFamily="34" charset="-128"/>
                          <a:ea typeface="Meiryo" panose="020B0604030504040204" pitchFamily="34" charset="-128"/>
                        </a:rPr>
                        <a:t>などフォーマットがバラバラ</a:t>
                      </a:r>
                      <a:endParaRPr lang="en-JP" sz="1600" kern="100" dirty="0">
                        <a:solidFill>
                          <a:schemeClr val="tx1"/>
                        </a:solidFill>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1600" kern="100">
                          <a:solidFill>
                            <a:schemeClr val="tx1"/>
                          </a:solidFill>
                          <a:effectLst/>
                          <a:latin typeface="Meiryo" panose="020B0604030504040204" pitchFamily="34" charset="-128"/>
                          <a:ea typeface="Meiryo" panose="020B0604030504040204" pitchFamily="34" charset="-128"/>
                        </a:rPr>
                        <a:t>時系列で正しく比較・解析できない</a:t>
                      </a:r>
                      <a:endParaRPr lang="en-JP" sz="1600" kern="100" dirty="0">
                        <a:solidFill>
                          <a:schemeClr val="tx1"/>
                        </a:solidFill>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627853595"/>
                  </a:ext>
                </a:extLst>
              </a:tr>
              <a:tr h="797616">
                <a:tc>
                  <a:txBody>
                    <a:bodyPr/>
                    <a:lstStyle/>
                    <a:p>
                      <a:pPr algn="ctr"/>
                      <a:r>
                        <a:rPr lang="en-JP" sz="1600" kern="100">
                          <a:solidFill>
                            <a:schemeClr val="tx1"/>
                          </a:solidFill>
                          <a:effectLst/>
                          <a:latin typeface="Meiryo" panose="020B0604030504040204" pitchFamily="34" charset="-128"/>
                          <a:ea typeface="Meiryo" panose="020B0604030504040204" pitchFamily="34" charset="-128"/>
                        </a:rPr>
                        <a:t>0</a:t>
                      </a:r>
                      <a:r>
                        <a:rPr lang="ja-JP" sz="1600" kern="100">
                          <a:solidFill>
                            <a:schemeClr val="tx1"/>
                          </a:solidFill>
                          <a:effectLst/>
                          <a:latin typeface="Meiryo" panose="020B0604030504040204" pitchFamily="34" charset="-128"/>
                          <a:ea typeface="Meiryo" panose="020B0604030504040204" pitchFamily="34" charset="-128"/>
                        </a:rPr>
                        <a:t>の値</a:t>
                      </a:r>
                      <a:endParaRPr lang="en-JP" sz="1600" kern="100">
                        <a:solidFill>
                          <a:schemeClr val="tx1"/>
                        </a:solidFill>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1600" kern="100" dirty="0">
                          <a:solidFill>
                            <a:schemeClr val="tx1"/>
                          </a:solidFill>
                          <a:effectLst/>
                          <a:latin typeface="Meiryo" panose="020B0604030504040204" pitchFamily="34" charset="-128"/>
                          <a:ea typeface="Meiryo" panose="020B0604030504040204" pitchFamily="34" charset="-128"/>
                        </a:rPr>
                        <a:t>CO₂</a:t>
                      </a:r>
                      <a:r>
                        <a:rPr lang="ja-JP" sz="1600" kern="100">
                          <a:solidFill>
                            <a:schemeClr val="tx1"/>
                          </a:solidFill>
                          <a:effectLst/>
                          <a:latin typeface="Meiryo" panose="020B0604030504040204" pitchFamily="34" charset="-128"/>
                          <a:ea typeface="Meiryo" panose="020B0604030504040204" pitchFamily="34" charset="-128"/>
                        </a:rPr>
                        <a:t>の値が</a:t>
                      </a:r>
                      <a:r>
                        <a:rPr lang="en-JP" sz="1600" kern="100" dirty="0">
                          <a:solidFill>
                            <a:schemeClr val="tx1"/>
                          </a:solidFill>
                          <a:effectLst/>
                          <a:latin typeface="Meiryo" panose="020B0604030504040204" pitchFamily="34" charset="-128"/>
                          <a:ea typeface="Meiryo" panose="020B0604030504040204" pitchFamily="34" charset="-128"/>
                        </a:rPr>
                        <a:t>0</a:t>
                      </a:r>
                      <a:r>
                        <a:rPr lang="ja-JP" sz="1600" kern="100">
                          <a:solidFill>
                            <a:schemeClr val="tx1"/>
                          </a:solidFill>
                          <a:effectLst/>
                          <a:latin typeface="Meiryo" panose="020B0604030504040204" pitchFamily="34" charset="-128"/>
                          <a:ea typeface="Meiryo" panose="020B0604030504040204" pitchFamily="34" charset="-128"/>
                        </a:rPr>
                        <a:t>と記録されている（実際には測定されていない）</a:t>
                      </a:r>
                      <a:endParaRPr lang="en-JP" sz="1600" kern="100" dirty="0">
                        <a:solidFill>
                          <a:schemeClr val="tx1"/>
                        </a:solidFill>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1600" kern="100">
                          <a:solidFill>
                            <a:schemeClr val="tx1"/>
                          </a:solidFill>
                          <a:effectLst/>
                          <a:latin typeface="Meiryo" panose="020B0604030504040204" pitchFamily="34" charset="-128"/>
                          <a:ea typeface="Meiryo" panose="020B0604030504040204" pitchFamily="34" charset="-128"/>
                        </a:rPr>
                        <a:t>データがないことを誤って「正常」と解釈してしまう</a:t>
                      </a:r>
                      <a:endParaRPr lang="en-JP" sz="1600" kern="100" dirty="0">
                        <a:solidFill>
                          <a:schemeClr val="tx1"/>
                        </a:solidFill>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4050274570"/>
                  </a:ext>
                </a:extLst>
              </a:tr>
            </a:tbl>
          </a:graphicData>
        </a:graphic>
      </p:graphicFrame>
      <p:sp>
        <p:nvSpPr>
          <p:cNvPr id="11" name="TextBox 10">
            <a:extLst>
              <a:ext uri="{FF2B5EF4-FFF2-40B4-BE49-F238E27FC236}">
                <a16:creationId xmlns:a16="http://schemas.microsoft.com/office/drawing/2014/main" id="{4D33A755-2F6C-643A-4D0B-78C31F1F2463}"/>
              </a:ext>
            </a:extLst>
          </p:cNvPr>
          <p:cNvSpPr txBox="1"/>
          <p:nvPr/>
        </p:nvSpPr>
        <p:spPr>
          <a:xfrm>
            <a:off x="619346" y="5651576"/>
            <a:ext cx="10600659" cy="646331"/>
          </a:xfrm>
          <a:prstGeom prst="rect">
            <a:avLst/>
          </a:prstGeom>
          <a:noFill/>
        </p:spPr>
        <p:txBody>
          <a:bodyPr wrap="square">
            <a:spAutoFit/>
          </a:bodyPr>
          <a:lstStyle/>
          <a:p>
            <a:r>
              <a:rPr lang="ja-JP" altLang="en-US">
                <a:latin typeface="Meiryo" panose="020B0604030504040204" pitchFamily="34" charset="-128"/>
                <a:ea typeface="Meiryo" panose="020B0604030504040204" pitchFamily="34" charset="-128"/>
              </a:rPr>
              <a:t>データというものは、常に「きれい」で「正しい」形で届くとは限りません。</a:t>
            </a:r>
            <a:br>
              <a:rPr lang="ja-JP" altLang="en-US">
                <a:latin typeface="Meiryo" panose="020B0604030504040204" pitchFamily="34" charset="-128"/>
                <a:ea typeface="Meiryo" panose="020B0604030504040204" pitchFamily="34" charset="-128"/>
              </a:rPr>
            </a:br>
            <a:r>
              <a:rPr lang="ja-JP" altLang="en-US">
                <a:latin typeface="Meiryo" panose="020B0604030504040204" pitchFamily="34" charset="-128"/>
                <a:ea typeface="Meiryo" panose="020B0604030504040204" pitchFamily="34" charset="-128"/>
              </a:rPr>
              <a:t>そのため、信頼できる結論を導き出すためには、データをクレンジングし、整える必要がある。</a:t>
            </a:r>
            <a:endParaRPr lang="en-JP"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578997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D857DFE-F1E9-3B5A-738C-F486AACDB752}"/>
              </a:ext>
            </a:extLst>
          </p:cNvPr>
          <p:cNvSpPr>
            <a:spLocks noGrp="1"/>
          </p:cNvSpPr>
          <p:nvPr>
            <p:ph type="sldNum" sz="quarter" idx="12"/>
          </p:nvPr>
        </p:nvSpPr>
        <p:spPr/>
        <p:txBody>
          <a:bodyPr/>
          <a:lstStyle/>
          <a:p>
            <a:fld id="{D46B4CB5-B774-3647-BF86-B3C8EE0819CF}" type="slidenum">
              <a:rPr lang="en-JP" smtClean="0"/>
              <a:t>8</a:t>
            </a:fld>
            <a:endParaRPr lang="en-JP"/>
          </a:p>
        </p:txBody>
      </p:sp>
      <p:pic>
        <p:nvPicPr>
          <p:cNvPr id="6" name="Picture 5">
            <a:extLst>
              <a:ext uri="{FF2B5EF4-FFF2-40B4-BE49-F238E27FC236}">
                <a16:creationId xmlns:a16="http://schemas.microsoft.com/office/drawing/2014/main" id="{9DE537A0-A605-0FEC-5D4B-314B0C6788FD}"/>
              </a:ext>
            </a:extLst>
          </p:cNvPr>
          <p:cNvPicPr>
            <a:picLocks noChangeAspect="1"/>
          </p:cNvPicPr>
          <p:nvPr/>
        </p:nvPicPr>
        <p:blipFill>
          <a:blip r:embed="rId2"/>
          <a:stretch>
            <a:fillRect/>
          </a:stretch>
        </p:blipFill>
        <p:spPr>
          <a:xfrm>
            <a:off x="5436781" y="579770"/>
            <a:ext cx="5248940" cy="2849230"/>
          </a:xfrm>
          <a:prstGeom prst="rect">
            <a:avLst/>
          </a:prstGeom>
        </p:spPr>
      </p:pic>
      <p:sp>
        <p:nvSpPr>
          <p:cNvPr id="8" name="TextBox 7">
            <a:extLst>
              <a:ext uri="{FF2B5EF4-FFF2-40B4-BE49-F238E27FC236}">
                <a16:creationId xmlns:a16="http://schemas.microsoft.com/office/drawing/2014/main" id="{4382B3D9-2BC2-D3ED-4FAA-1AF1EE3CE02C}"/>
              </a:ext>
            </a:extLst>
          </p:cNvPr>
          <p:cNvSpPr txBox="1"/>
          <p:nvPr/>
        </p:nvSpPr>
        <p:spPr>
          <a:xfrm>
            <a:off x="4820245" y="609600"/>
            <a:ext cx="6097772" cy="369332"/>
          </a:xfrm>
          <a:prstGeom prst="rect">
            <a:avLst/>
          </a:prstGeom>
          <a:noFill/>
        </p:spPr>
        <p:txBody>
          <a:bodyPr wrap="square">
            <a:spAutoFit/>
          </a:bodyPr>
          <a:lstStyle/>
          <a:p>
            <a:r>
              <a:rPr lang="ja-JP" altLang="en-US"/>
              <a:t>① </a:t>
            </a:r>
            <a:endParaRPr lang="en-JP" dirty="0"/>
          </a:p>
        </p:txBody>
      </p:sp>
      <p:pic>
        <p:nvPicPr>
          <p:cNvPr id="10" name="Picture 9">
            <a:extLst>
              <a:ext uri="{FF2B5EF4-FFF2-40B4-BE49-F238E27FC236}">
                <a16:creationId xmlns:a16="http://schemas.microsoft.com/office/drawing/2014/main" id="{850DB187-F691-7432-C52C-E43F754DF5C4}"/>
              </a:ext>
            </a:extLst>
          </p:cNvPr>
          <p:cNvPicPr>
            <a:picLocks noChangeAspect="1"/>
          </p:cNvPicPr>
          <p:nvPr/>
        </p:nvPicPr>
        <p:blipFill>
          <a:blip r:embed="rId3"/>
          <a:stretch>
            <a:fillRect/>
          </a:stretch>
        </p:blipFill>
        <p:spPr>
          <a:xfrm>
            <a:off x="5464617" y="3670922"/>
            <a:ext cx="5221104" cy="2950207"/>
          </a:xfrm>
          <a:prstGeom prst="rect">
            <a:avLst/>
          </a:prstGeom>
        </p:spPr>
      </p:pic>
      <p:pic>
        <p:nvPicPr>
          <p:cNvPr id="11" name="Picture 10">
            <a:extLst>
              <a:ext uri="{FF2B5EF4-FFF2-40B4-BE49-F238E27FC236}">
                <a16:creationId xmlns:a16="http://schemas.microsoft.com/office/drawing/2014/main" id="{FE9FC09B-05D0-21A0-6484-6908EC908645}"/>
              </a:ext>
            </a:extLst>
          </p:cNvPr>
          <p:cNvPicPr>
            <a:picLocks noChangeAspect="1"/>
          </p:cNvPicPr>
          <p:nvPr/>
        </p:nvPicPr>
        <p:blipFill>
          <a:blip r:embed="rId4"/>
          <a:stretch>
            <a:fillRect/>
          </a:stretch>
        </p:blipFill>
        <p:spPr>
          <a:xfrm>
            <a:off x="473055" y="850900"/>
            <a:ext cx="3898900" cy="2578100"/>
          </a:xfrm>
          <a:prstGeom prst="rect">
            <a:avLst/>
          </a:prstGeom>
        </p:spPr>
      </p:pic>
      <p:sp>
        <p:nvSpPr>
          <p:cNvPr id="13" name="TextBox 12">
            <a:extLst>
              <a:ext uri="{FF2B5EF4-FFF2-40B4-BE49-F238E27FC236}">
                <a16:creationId xmlns:a16="http://schemas.microsoft.com/office/drawing/2014/main" id="{D17188B8-6D00-5CA1-2A0D-C5265311BFC9}"/>
              </a:ext>
            </a:extLst>
          </p:cNvPr>
          <p:cNvSpPr txBox="1"/>
          <p:nvPr/>
        </p:nvSpPr>
        <p:spPr>
          <a:xfrm>
            <a:off x="4820245" y="3818492"/>
            <a:ext cx="6097772" cy="369332"/>
          </a:xfrm>
          <a:prstGeom prst="rect">
            <a:avLst/>
          </a:prstGeom>
          <a:noFill/>
        </p:spPr>
        <p:txBody>
          <a:bodyPr wrap="square">
            <a:spAutoFit/>
          </a:bodyPr>
          <a:lstStyle/>
          <a:p>
            <a:r>
              <a:rPr lang="en-US" dirty="0"/>
              <a:t>② </a:t>
            </a:r>
            <a:endParaRPr lang="en-JP" dirty="0"/>
          </a:p>
        </p:txBody>
      </p:sp>
      <p:sp>
        <p:nvSpPr>
          <p:cNvPr id="17" name="TextBox 16">
            <a:extLst>
              <a:ext uri="{FF2B5EF4-FFF2-40B4-BE49-F238E27FC236}">
                <a16:creationId xmlns:a16="http://schemas.microsoft.com/office/drawing/2014/main" id="{0E58D07E-9DCF-B6BF-8058-31D7BE9E93C6}"/>
              </a:ext>
            </a:extLst>
          </p:cNvPr>
          <p:cNvSpPr txBox="1"/>
          <p:nvPr/>
        </p:nvSpPr>
        <p:spPr>
          <a:xfrm>
            <a:off x="473055" y="367678"/>
            <a:ext cx="6097772" cy="369332"/>
          </a:xfrm>
          <a:prstGeom prst="rect">
            <a:avLst/>
          </a:prstGeom>
          <a:noFill/>
        </p:spPr>
        <p:txBody>
          <a:bodyPr wrap="square">
            <a:spAutoFit/>
          </a:bodyPr>
          <a:lstStyle/>
          <a:p>
            <a:r>
              <a:rPr lang="ja-JP" altLang="en-US">
                <a:latin typeface="Meiryo" panose="020B0604030504040204" pitchFamily="34" charset="-128"/>
                <a:ea typeface="Meiryo" panose="020B0604030504040204" pitchFamily="34" charset="-128"/>
              </a:rPr>
              <a:t>データクリーニング</a:t>
            </a:r>
            <a:endParaRPr lang="en-JP" dirty="0">
              <a:latin typeface="Meiryo" panose="020B0604030504040204" pitchFamily="34" charset="-128"/>
              <a:ea typeface="Meiryo" panose="020B0604030504040204" pitchFamily="34" charset="-128"/>
            </a:endParaRPr>
          </a:p>
        </p:txBody>
      </p:sp>
      <p:sp>
        <p:nvSpPr>
          <p:cNvPr id="19" name="TextBox 18">
            <a:extLst>
              <a:ext uri="{FF2B5EF4-FFF2-40B4-BE49-F238E27FC236}">
                <a16:creationId xmlns:a16="http://schemas.microsoft.com/office/drawing/2014/main" id="{C36E92CD-6318-1570-549A-72C3816A14F1}"/>
              </a:ext>
            </a:extLst>
          </p:cNvPr>
          <p:cNvSpPr txBox="1"/>
          <p:nvPr/>
        </p:nvSpPr>
        <p:spPr>
          <a:xfrm>
            <a:off x="52906" y="3670922"/>
            <a:ext cx="4819206" cy="3046988"/>
          </a:xfrm>
          <a:prstGeom prst="rect">
            <a:avLst/>
          </a:prstGeom>
          <a:noFill/>
        </p:spPr>
        <p:txBody>
          <a:bodyPr wrap="square">
            <a:spAutoFit/>
          </a:bodyPr>
          <a:lstStyle/>
          <a:p>
            <a:r>
              <a:rPr lang="en-US" sz="1600" dirty="0">
                <a:latin typeface="Meiryo" panose="020B0604030504040204" pitchFamily="34" charset="-128"/>
                <a:ea typeface="Meiryo" panose="020B0604030504040204" pitchFamily="34" charset="-128"/>
              </a:rPr>
              <a:t>NULL</a:t>
            </a:r>
            <a:r>
              <a:rPr lang="ja-JP" altLang="en-US" sz="1600">
                <a:latin typeface="Meiryo" panose="020B0604030504040204" pitchFamily="34" charset="-128"/>
                <a:ea typeface="Meiryo" panose="020B0604030504040204" pitchFamily="34" charset="-128"/>
              </a:rPr>
              <a:t>や欠損値の補完：直前の値や平均値で埋める</a:t>
            </a:r>
            <a:endParaRPr lang="mn-MN" altLang="ja-JP" sz="1600" dirty="0">
              <a:latin typeface="Meiryo" panose="020B0604030504040204" pitchFamily="34" charset="-128"/>
              <a:ea typeface="Meiryo" panose="020B0604030504040204" pitchFamily="34" charset="-128"/>
            </a:endParaRPr>
          </a:p>
          <a:p>
            <a:endParaRPr lang="ja-JP" altLang="en-US" sz="1600">
              <a:latin typeface="Meiryo" panose="020B0604030504040204" pitchFamily="34" charset="-128"/>
              <a:ea typeface="Meiryo" panose="020B0604030504040204" pitchFamily="34" charset="-128"/>
            </a:endParaRPr>
          </a:p>
          <a:p>
            <a:r>
              <a:rPr lang="ja-JP" altLang="en-US" sz="1600">
                <a:latin typeface="Meiryo" panose="020B0604030504040204" pitchFamily="34" charset="-128"/>
                <a:ea typeface="Meiryo" panose="020B0604030504040204" pitchFamily="34" charset="-128"/>
              </a:rPr>
              <a:t>異常値の除去：上限・下限の閾値を設定して範囲外を除外する</a:t>
            </a:r>
          </a:p>
          <a:p>
            <a:endParaRPr lang="mn-MN" altLang="ja-JP" sz="1600" dirty="0">
              <a:latin typeface="Meiryo" panose="020B0604030504040204" pitchFamily="34" charset="-128"/>
              <a:ea typeface="Meiryo" panose="020B0604030504040204" pitchFamily="34" charset="-128"/>
            </a:endParaRPr>
          </a:p>
          <a:p>
            <a:r>
              <a:rPr lang="ja-JP" altLang="en-US" sz="1600">
                <a:latin typeface="Meiryo" panose="020B0604030504040204" pitchFamily="34" charset="-128"/>
                <a:ea typeface="Meiryo" panose="020B0604030504040204" pitchFamily="34" charset="-128"/>
              </a:rPr>
              <a:t>時刻の統一：タイムスタンプのフォーマットやタイムゾーンを揃える</a:t>
            </a:r>
            <a:endParaRPr lang="mn-MN" altLang="ja-JP" sz="1600" dirty="0">
              <a:latin typeface="Meiryo" panose="020B0604030504040204" pitchFamily="34" charset="-128"/>
              <a:ea typeface="Meiryo" panose="020B0604030504040204" pitchFamily="34" charset="-128"/>
            </a:endParaRPr>
          </a:p>
          <a:p>
            <a:endParaRPr lang="ja-JP" altLang="en-US" sz="1600">
              <a:latin typeface="Meiryo" panose="020B0604030504040204" pitchFamily="34" charset="-128"/>
              <a:ea typeface="Meiryo" panose="020B0604030504040204" pitchFamily="34" charset="-128"/>
            </a:endParaRPr>
          </a:p>
          <a:p>
            <a:r>
              <a:rPr lang="ja-JP" altLang="en-US" sz="1600">
                <a:latin typeface="Meiryo" panose="020B0604030504040204" pitchFamily="34" charset="-128"/>
                <a:ea typeface="Meiryo" panose="020B0604030504040204" pitchFamily="34" charset="-128"/>
              </a:rPr>
              <a:t>線形補完：前後の値を使って滑らかに補間する</a:t>
            </a:r>
            <a:endParaRPr lang="mn-MN" altLang="ja-JP" sz="1600" dirty="0">
              <a:latin typeface="Meiryo" panose="020B0604030504040204" pitchFamily="34" charset="-128"/>
              <a:ea typeface="Meiryo" panose="020B0604030504040204" pitchFamily="34" charset="-128"/>
            </a:endParaRPr>
          </a:p>
          <a:p>
            <a:endParaRPr lang="ja-JP" altLang="en-US" sz="1600">
              <a:latin typeface="Meiryo" panose="020B0604030504040204" pitchFamily="34" charset="-128"/>
              <a:ea typeface="Meiryo" panose="020B0604030504040204" pitchFamily="34" charset="-128"/>
            </a:endParaRPr>
          </a:p>
          <a:p>
            <a:r>
              <a:rPr lang="en-US" altLang="ja-JP" sz="1600" dirty="0">
                <a:latin typeface="Meiryo" panose="020B0604030504040204" pitchFamily="34" charset="-128"/>
                <a:ea typeface="Meiryo" panose="020B0604030504040204" pitchFamily="34" charset="-128"/>
              </a:rPr>
              <a:t>0</a:t>
            </a:r>
            <a:r>
              <a:rPr lang="ja-JP" altLang="en-US" sz="1600">
                <a:latin typeface="Meiryo" panose="020B0604030504040204" pitchFamily="34" charset="-128"/>
                <a:ea typeface="Meiryo" panose="020B0604030504040204" pitchFamily="34" charset="-128"/>
              </a:rPr>
              <a:t>値の再判定：異常かどうかをルールに基づいて判定する</a:t>
            </a:r>
          </a:p>
        </p:txBody>
      </p:sp>
    </p:spTree>
    <p:extLst>
      <p:ext uri="{BB962C8B-B14F-4D97-AF65-F5344CB8AC3E}">
        <p14:creationId xmlns:p14="http://schemas.microsoft.com/office/powerpoint/2010/main" val="604684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F94EE22-EABA-5242-A245-C5063F20F762}"/>
              </a:ext>
            </a:extLst>
          </p:cNvPr>
          <p:cNvSpPr>
            <a:spLocks noGrp="1"/>
          </p:cNvSpPr>
          <p:nvPr>
            <p:ph type="sldNum" sz="quarter" idx="12"/>
          </p:nvPr>
        </p:nvSpPr>
        <p:spPr/>
        <p:txBody>
          <a:bodyPr/>
          <a:lstStyle/>
          <a:p>
            <a:fld id="{D46B4CB5-B774-3647-BF86-B3C8EE0819CF}" type="slidenum">
              <a:rPr lang="en-JP" smtClean="0"/>
              <a:t>9</a:t>
            </a:fld>
            <a:endParaRPr lang="en-JP"/>
          </a:p>
        </p:txBody>
      </p:sp>
      <p:sp>
        <p:nvSpPr>
          <p:cNvPr id="6" name="TextBox 5">
            <a:extLst>
              <a:ext uri="{FF2B5EF4-FFF2-40B4-BE49-F238E27FC236}">
                <a16:creationId xmlns:a16="http://schemas.microsoft.com/office/drawing/2014/main" id="{E01CA765-9771-CB79-173B-CD054106F5F3}"/>
              </a:ext>
            </a:extLst>
          </p:cNvPr>
          <p:cNvSpPr txBox="1"/>
          <p:nvPr/>
        </p:nvSpPr>
        <p:spPr>
          <a:xfrm>
            <a:off x="719986" y="501134"/>
            <a:ext cx="6097772" cy="369332"/>
          </a:xfrm>
          <a:prstGeom prst="rect">
            <a:avLst/>
          </a:prstGeom>
          <a:noFill/>
        </p:spPr>
        <p:txBody>
          <a:bodyPr wrap="square">
            <a:spAutoFit/>
          </a:bodyPr>
          <a:lstStyle/>
          <a:p>
            <a:r>
              <a:rPr lang="en-US" altLang="ja-JP" dirty="0">
                <a:latin typeface="Meiryo" panose="020B0604030504040204" pitchFamily="34" charset="-128"/>
                <a:ea typeface="Meiryo" panose="020B0604030504040204" pitchFamily="34" charset="-128"/>
              </a:rPr>
              <a:t>Offline</a:t>
            </a:r>
            <a:r>
              <a:rPr lang="ja-JP" altLang="en-US">
                <a:latin typeface="Meiryo" panose="020B0604030504040204" pitchFamily="34" charset="-128"/>
                <a:ea typeface="Meiryo" panose="020B0604030504040204" pitchFamily="34" charset="-128"/>
              </a:rPr>
              <a:t>データと</a:t>
            </a:r>
            <a:r>
              <a:rPr lang="en-US" altLang="ja-JP" dirty="0">
                <a:latin typeface="Meiryo" panose="020B0604030504040204" pitchFamily="34" charset="-128"/>
                <a:ea typeface="Meiryo" panose="020B0604030504040204" pitchFamily="34" charset="-128"/>
              </a:rPr>
              <a:t>Real Time</a:t>
            </a:r>
            <a:r>
              <a:rPr lang="ja-JP" altLang="en-US">
                <a:latin typeface="Meiryo" panose="020B0604030504040204" pitchFamily="34" charset="-128"/>
                <a:ea typeface="Meiryo" panose="020B0604030504040204" pitchFamily="34" charset="-128"/>
              </a:rPr>
              <a:t>データの違い</a:t>
            </a:r>
            <a:endParaRPr lang="en-JP" dirty="0">
              <a:latin typeface="Meiryo" panose="020B0604030504040204" pitchFamily="34" charset="-128"/>
              <a:ea typeface="Meiryo" panose="020B0604030504040204" pitchFamily="34" charset="-128"/>
            </a:endParaRPr>
          </a:p>
        </p:txBody>
      </p:sp>
      <p:graphicFrame>
        <p:nvGraphicFramePr>
          <p:cNvPr id="7" name="Table 6">
            <a:extLst>
              <a:ext uri="{FF2B5EF4-FFF2-40B4-BE49-F238E27FC236}">
                <a16:creationId xmlns:a16="http://schemas.microsoft.com/office/drawing/2014/main" id="{18555C84-ED36-B7D2-D71B-E91EA278A446}"/>
              </a:ext>
            </a:extLst>
          </p:cNvPr>
          <p:cNvGraphicFramePr>
            <a:graphicFrameLocks noGrp="1"/>
          </p:cNvGraphicFramePr>
          <p:nvPr>
            <p:extLst>
              <p:ext uri="{D42A27DB-BD31-4B8C-83A1-F6EECF244321}">
                <p14:modId xmlns:p14="http://schemas.microsoft.com/office/powerpoint/2010/main" val="2132078607"/>
              </p:ext>
            </p:extLst>
          </p:nvPr>
        </p:nvGraphicFramePr>
        <p:xfrm>
          <a:off x="719986" y="1187290"/>
          <a:ext cx="10710014" cy="4118358"/>
        </p:xfrm>
        <a:graphic>
          <a:graphicData uri="http://schemas.openxmlformats.org/drawingml/2006/table">
            <a:tbl>
              <a:tblPr firstRow="1" firstCol="1" bandRow="1">
                <a:tableStyleId>{9D7B26C5-4107-4FEC-AEDC-1716B250A1EF}</a:tableStyleId>
              </a:tblPr>
              <a:tblGrid>
                <a:gridCol w="1361972">
                  <a:extLst>
                    <a:ext uri="{9D8B030D-6E8A-4147-A177-3AD203B41FA5}">
                      <a16:colId xmlns:a16="http://schemas.microsoft.com/office/drawing/2014/main" val="1354089084"/>
                    </a:ext>
                  </a:extLst>
                </a:gridCol>
                <a:gridCol w="5147701">
                  <a:extLst>
                    <a:ext uri="{9D8B030D-6E8A-4147-A177-3AD203B41FA5}">
                      <a16:colId xmlns:a16="http://schemas.microsoft.com/office/drawing/2014/main" val="2621177875"/>
                    </a:ext>
                  </a:extLst>
                </a:gridCol>
                <a:gridCol w="4200341">
                  <a:extLst>
                    <a:ext uri="{9D8B030D-6E8A-4147-A177-3AD203B41FA5}">
                      <a16:colId xmlns:a16="http://schemas.microsoft.com/office/drawing/2014/main" val="292348425"/>
                    </a:ext>
                  </a:extLst>
                </a:gridCol>
              </a:tblGrid>
              <a:tr h="468922">
                <a:tc>
                  <a:txBody>
                    <a:bodyPr/>
                    <a:lstStyle/>
                    <a:p>
                      <a:pPr algn="ctr"/>
                      <a:r>
                        <a:rPr lang="ja-JP" sz="1600" b="0" kern="100">
                          <a:effectLst/>
                          <a:latin typeface="Meiryo" panose="020B0604030504040204" pitchFamily="34" charset="-128"/>
                          <a:ea typeface="Meiryo" panose="020B0604030504040204" pitchFamily="34" charset="-128"/>
                        </a:rPr>
                        <a:t>特徴</a:t>
                      </a:r>
                      <a:endParaRPr lang="en-JP" sz="16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US" altLang="ja-JP" sz="1600" b="0" kern="100" dirty="0">
                          <a:effectLst/>
                          <a:latin typeface="Meiryo" panose="020B0604030504040204" pitchFamily="34" charset="-128"/>
                          <a:ea typeface="Meiryo" panose="020B0604030504040204" pitchFamily="34" charset="-128"/>
                        </a:rPr>
                        <a:t>Offline</a:t>
                      </a:r>
                      <a:r>
                        <a:rPr lang="ja-JP" sz="1600" b="0" kern="100">
                          <a:effectLst/>
                          <a:latin typeface="Meiryo" panose="020B0604030504040204" pitchFamily="34" charset="-128"/>
                          <a:ea typeface="Meiryo" panose="020B0604030504040204" pitchFamily="34" charset="-128"/>
                        </a:rPr>
                        <a:t>データ</a:t>
                      </a:r>
                      <a:endParaRPr lang="en-JP" sz="16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US" altLang="ja-JP" sz="1600" b="0" kern="100" dirty="0">
                          <a:effectLst/>
                          <a:latin typeface="Meiryo" panose="020B0604030504040204" pitchFamily="34" charset="-128"/>
                          <a:ea typeface="Meiryo" panose="020B0604030504040204" pitchFamily="34" charset="-128"/>
                        </a:rPr>
                        <a:t>RealTime</a:t>
                      </a:r>
                      <a:r>
                        <a:rPr lang="ja-JP" sz="1600" b="0" kern="100">
                          <a:effectLst/>
                          <a:latin typeface="Meiryo" panose="020B0604030504040204" pitchFamily="34" charset="-128"/>
                          <a:ea typeface="Meiryo" panose="020B0604030504040204" pitchFamily="34" charset="-128"/>
                        </a:rPr>
                        <a:t>データ</a:t>
                      </a:r>
                      <a:endParaRPr lang="en-JP" sz="16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923762694"/>
                  </a:ext>
                </a:extLst>
              </a:tr>
              <a:tr h="468922">
                <a:tc>
                  <a:txBody>
                    <a:bodyPr/>
                    <a:lstStyle/>
                    <a:p>
                      <a:r>
                        <a:rPr lang="en-JP" sz="1600" b="0" kern="100" dirty="0">
                          <a:effectLst/>
                          <a:latin typeface="Meiryo" panose="020B0604030504040204" pitchFamily="34" charset="-128"/>
                          <a:ea typeface="Meiryo" panose="020B0604030504040204" pitchFamily="34" charset="-128"/>
                        </a:rPr>
                        <a:t> </a:t>
                      </a:r>
                      <a:r>
                        <a:rPr lang="ja-JP" sz="1600" b="0" kern="100">
                          <a:effectLst/>
                          <a:latin typeface="Meiryo" panose="020B0604030504040204" pitchFamily="34" charset="-128"/>
                          <a:ea typeface="Meiryo" panose="020B0604030504040204" pitchFamily="34" charset="-128"/>
                        </a:rPr>
                        <a:t>時間軸</a:t>
                      </a:r>
                      <a:endParaRPr lang="en-JP" sz="16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600" b="0" kern="100">
                          <a:effectLst/>
                          <a:latin typeface="Meiryo" panose="020B0604030504040204" pitchFamily="34" charset="-128"/>
                          <a:ea typeface="Meiryo" panose="020B0604030504040204" pitchFamily="34" charset="-128"/>
                        </a:rPr>
                        <a:t>過去に収集されたデータ</a:t>
                      </a:r>
                      <a:endParaRPr lang="en-JP" sz="16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600" b="0" kern="100">
                          <a:effectLst/>
                          <a:latin typeface="Meiryo" panose="020B0604030504040204" pitchFamily="34" charset="-128"/>
                          <a:ea typeface="Meiryo" panose="020B0604030504040204" pitchFamily="34" charset="-128"/>
                        </a:rPr>
                        <a:t>現在リアルタイムで収集されているデータ</a:t>
                      </a:r>
                      <a:endParaRPr lang="en-JP" sz="16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2692755857"/>
                  </a:ext>
                </a:extLst>
              </a:tr>
              <a:tr h="903864">
                <a:tc>
                  <a:txBody>
                    <a:bodyPr/>
                    <a:lstStyle/>
                    <a:p>
                      <a:r>
                        <a:rPr lang="en-JP" sz="1600" b="0" kern="100">
                          <a:effectLst/>
                          <a:latin typeface="Meiryo" panose="020B0604030504040204" pitchFamily="34" charset="-128"/>
                          <a:ea typeface="Meiryo" panose="020B0604030504040204" pitchFamily="34" charset="-128"/>
                        </a:rPr>
                        <a:t> </a:t>
                      </a:r>
                      <a:r>
                        <a:rPr lang="ja-JP" sz="1600" b="0" kern="100">
                          <a:effectLst/>
                          <a:latin typeface="Meiryo" panose="020B0604030504040204" pitchFamily="34" charset="-128"/>
                          <a:ea typeface="Meiryo" panose="020B0604030504040204" pitchFamily="34" charset="-128"/>
                        </a:rPr>
                        <a:t>利用方法</a:t>
                      </a:r>
                      <a:endParaRPr lang="en-JP" sz="16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600" b="0" kern="100">
                          <a:effectLst/>
                          <a:latin typeface="Meiryo" panose="020B0604030504040204" pitchFamily="34" charset="-128"/>
                          <a:ea typeface="Meiryo" panose="020B0604030504040204" pitchFamily="34" charset="-128"/>
                        </a:rPr>
                        <a:t>後で分析・レポート・学習に使用</a:t>
                      </a:r>
                      <a:endParaRPr lang="en-JP" sz="16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600" b="0" kern="100">
                          <a:effectLst/>
                          <a:latin typeface="Meiryo" panose="020B0604030504040204" pitchFamily="34" charset="-128"/>
                          <a:ea typeface="Meiryo" panose="020B0604030504040204" pitchFamily="34" charset="-128"/>
                        </a:rPr>
                        <a:t>即時モニタリング、アラート、対応などに使用</a:t>
                      </a:r>
                      <a:endParaRPr lang="en-JP" sz="16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922890392"/>
                  </a:ext>
                </a:extLst>
              </a:tr>
              <a:tr h="903864">
                <a:tc>
                  <a:txBody>
                    <a:bodyPr/>
                    <a:lstStyle/>
                    <a:p>
                      <a:r>
                        <a:rPr lang="en-JP" sz="1600" b="0" kern="100">
                          <a:effectLst/>
                          <a:latin typeface="Meiryo" panose="020B0604030504040204" pitchFamily="34" charset="-128"/>
                          <a:ea typeface="Meiryo" panose="020B0604030504040204" pitchFamily="34" charset="-128"/>
                        </a:rPr>
                        <a:t> </a:t>
                      </a:r>
                      <a:r>
                        <a:rPr lang="ja-JP" sz="1600" b="0" kern="100">
                          <a:effectLst/>
                          <a:latin typeface="Meiryo" panose="020B0604030504040204" pitchFamily="34" charset="-128"/>
                          <a:ea typeface="Meiryo" panose="020B0604030504040204" pitchFamily="34" charset="-128"/>
                        </a:rPr>
                        <a:t>処理方法</a:t>
                      </a:r>
                      <a:endParaRPr lang="en-JP" sz="16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600" b="0" kern="100">
                          <a:effectLst/>
                          <a:latin typeface="Meiryo" panose="020B0604030504040204" pitchFamily="34" charset="-128"/>
                          <a:ea typeface="Meiryo" panose="020B0604030504040204" pitchFamily="34" charset="-128"/>
                        </a:rPr>
                        <a:t>バッチ処理が可能、処理に時間がかかってもよい</a:t>
                      </a:r>
                      <a:endParaRPr lang="en-JP" sz="16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600" b="0" kern="100">
                          <a:effectLst/>
                          <a:latin typeface="Meiryo" panose="020B0604030504040204" pitchFamily="34" charset="-128"/>
                          <a:ea typeface="Meiryo" panose="020B0604030504040204" pitchFamily="34" charset="-128"/>
                        </a:rPr>
                        <a:t>即時処理が必要、高速なレスポンスが求められる</a:t>
                      </a:r>
                      <a:endParaRPr lang="en-JP" sz="16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977094318"/>
                  </a:ext>
                </a:extLst>
              </a:tr>
              <a:tr h="468922">
                <a:tc>
                  <a:txBody>
                    <a:bodyPr/>
                    <a:lstStyle/>
                    <a:p>
                      <a:r>
                        <a:rPr lang="en-JP" sz="1600" b="0" kern="100">
                          <a:effectLst/>
                          <a:latin typeface="Meiryo" panose="020B0604030504040204" pitchFamily="34" charset="-128"/>
                          <a:ea typeface="Meiryo" panose="020B0604030504040204" pitchFamily="34" charset="-128"/>
                        </a:rPr>
                        <a:t> </a:t>
                      </a:r>
                      <a:r>
                        <a:rPr lang="ja-JP" sz="1600" b="0" kern="100">
                          <a:effectLst/>
                          <a:latin typeface="Meiryo" panose="020B0604030504040204" pitchFamily="34" charset="-128"/>
                          <a:ea typeface="Meiryo" panose="020B0604030504040204" pitchFamily="34" charset="-128"/>
                        </a:rPr>
                        <a:t>目的</a:t>
                      </a:r>
                      <a:endParaRPr lang="en-JP" sz="16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600" b="0" kern="100">
                          <a:effectLst/>
                          <a:latin typeface="Meiryo" panose="020B0604030504040204" pitchFamily="34" charset="-128"/>
                          <a:ea typeface="Meiryo" panose="020B0604030504040204" pitchFamily="34" charset="-128"/>
                        </a:rPr>
                        <a:t>傾向の把握、学習モデルの構築、長期的な分析</a:t>
                      </a:r>
                      <a:endParaRPr lang="en-JP" sz="16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600" b="0" kern="100">
                          <a:effectLst/>
                          <a:latin typeface="Meiryo" panose="020B0604030504040204" pitchFamily="34" charset="-128"/>
                          <a:ea typeface="Meiryo" panose="020B0604030504040204" pitchFamily="34" charset="-128"/>
                        </a:rPr>
                        <a:t>異常検知、通知、リアルタイム対応</a:t>
                      </a:r>
                      <a:endParaRPr lang="en-JP" sz="16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831963865"/>
                  </a:ext>
                </a:extLst>
              </a:tr>
              <a:tr h="903864">
                <a:tc>
                  <a:txBody>
                    <a:bodyPr/>
                    <a:lstStyle/>
                    <a:p>
                      <a:r>
                        <a:rPr lang="ja-JP" sz="1600" b="0" kern="100">
                          <a:effectLst/>
                          <a:latin typeface="Meiryo" panose="020B0604030504040204" pitchFamily="34" charset="-128"/>
                          <a:ea typeface="Meiryo" panose="020B0604030504040204" pitchFamily="34" charset="-128"/>
                        </a:rPr>
                        <a:t>使用例</a:t>
                      </a:r>
                      <a:endParaRPr lang="en-JP" sz="16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en-JP" sz="1600" b="0" kern="100" dirty="0">
                          <a:effectLst/>
                          <a:latin typeface="Meiryo" panose="020B0604030504040204" pitchFamily="34" charset="-128"/>
                          <a:ea typeface="Meiryo" panose="020B0604030504040204" pitchFamily="34" charset="-128"/>
                        </a:rPr>
                        <a:t>AI</a:t>
                      </a:r>
                      <a:r>
                        <a:rPr lang="ja-JP" sz="1600" b="0" kern="100">
                          <a:effectLst/>
                          <a:latin typeface="Meiryo" panose="020B0604030504040204" pitchFamily="34" charset="-128"/>
                          <a:ea typeface="Meiryo" panose="020B0604030504040204" pitchFamily="34" charset="-128"/>
                        </a:rPr>
                        <a:t>モデルの学習、レポート作成、履歴分析</a:t>
                      </a:r>
                      <a:endParaRPr lang="en-JP" sz="16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en-JP" sz="1600" b="0" kern="100" dirty="0">
                          <a:effectLst/>
                          <a:latin typeface="Meiryo" panose="020B0604030504040204" pitchFamily="34" charset="-128"/>
                          <a:ea typeface="Meiryo" panose="020B0604030504040204" pitchFamily="34" charset="-128"/>
                        </a:rPr>
                        <a:t>IoT</a:t>
                      </a:r>
                      <a:r>
                        <a:rPr lang="ja-JP" sz="1600" b="0" kern="100">
                          <a:effectLst/>
                          <a:latin typeface="Meiryo" panose="020B0604030504040204" pitchFamily="34" charset="-128"/>
                          <a:ea typeface="Meiryo" panose="020B0604030504040204" pitchFamily="34" charset="-128"/>
                        </a:rPr>
                        <a:t>センサーの警報、</a:t>
                      </a:r>
                      <a:r>
                        <a:rPr lang="en-JP" sz="1600" b="0" kern="100" dirty="0">
                          <a:effectLst/>
                          <a:latin typeface="Meiryo" panose="020B0604030504040204" pitchFamily="34" charset="-128"/>
                          <a:ea typeface="Meiryo" panose="020B0604030504040204" pitchFamily="34" charset="-128"/>
                        </a:rPr>
                        <a:t>LINE</a:t>
                      </a:r>
                      <a:r>
                        <a:rPr lang="ja-JP" sz="1600" b="0" kern="100">
                          <a:effectLst/>
                          <a:latin typeface="Meiryo" panose="020B0604030504040204" pitchFamily="34" charset="-128"/>
                          <a:ea typeface="Meiryo" panose="020B0604030504040204" pitchFamily="34" charset="-128"/>
                        </a:rPr>
                        <a:t>通知、リアルタイム監視など</a:t>
                      </a:r>
                      <a:endParaRPr lang="en-JP" sz="16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2503291348"/>
                  </a:ext>
                </a:extLst>
              </a:tr>
            </a:tbl>
          </a:graphicData>
        </a:graphic>
      </p:graphicFrame>
    </p:spTree>
    <p:extLst>
      <p:ext uri="{BB962C8B-B14F-4D97-AF65-F5344CB8AC3E}">
        <p14:creationId xmlns:p14="http://schemas.microsoft.com/office/powerpoint/2010/main" val="2805439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2B70F8-49AF-EF1A-5208-C5675CCB9639}"/>
              </a:ext>
            </a:extLst>
          </p:cNvPr>
          <p:cNvSpPr>
            <a:spLocks noGrp="1"/>
          </p:cNvSpPr>
          <p:nvPr>
            <p:ph type="sldNum" sz="quarter" idx="12"/>
          </p:nvPr>
        </p:nvSpPr>
        <p:spPr/>
        <p:txBody>
          <a:bodyPr/>
          <a:lstStyle/>
          <a:p>
            <a:fld id="{D46B4CB5-B774-3647-BF86-B3C8EE0819CF}" type="slidenum">
              <a:rPr lang="en-JP" smtClean="0"/>
              <a:t>10</a:t>
            </a:fld>
            <a:endParaRPr lang="en-JP"/>
          </a:p>
        </p:txBody>
      </p:sp>
      <p:sp>
        <p:nvSpPr>
          <p:cNvPr id="6" name="TextBox 5">
            <a:extLst>
              <a:ext uri="{FF2B5EF4-FFF2-40B4-BE49-F238E27FC236}">
                <a16:creationId xmlns:a16="http://schemas.microsoft.com/office/drawing/2014/main" id="{6944424E-174C-9C06-164B-4C4F45990525}"/>
              </a:ext>
            </a:extLst>
          </p:cNvPr>
          <p:cNvSpPr txBox="1"/>
          <p:nvPr/>
        </p:nvSpPr>
        <p:spPr>
          <a:xfrm>
            <a:off x="209992" y="274252"/>
            <a:ext cx="9869672" cy="1323439"/>
          </a:xfrm>
          <a:prstGeom prst="rect">
            <a:avLst/>
          </a:prstGeom>
          <a:noFill/>
        </p:spPr>
        <p:txBody>
          <a:bodyPr wrap="square">
            <a:spAutoFit/>
          </a:bodyPr>
          <a:lstStyle/>
          <a:p>
            <a:r>
              <a:rPr lang="en-US" sz="1600" b="1" dirty="0">
                <a:effectLst/>
                <a:latin typeface="Meiryo" panose="020B0604030504040204" pitchFamily="34" charset="-128"/>
                <a:ea typeface="Meiryo" panose="020B0604030504040204" pitchFamily="34" charset="-128"/>
              </a:rPr>
              <a:t>MQTT</a:t>
            </a:r>
            <a:endParaRPr lang="mn-MN" sz="1600" b="1" dirty="0">
              <a:effectLst/>
              <a:latin typeface="Meiryo" panose="020B0604030504040204" pitchFamily="34" charset="-128"/>
              <a:ea typeface="Meiryo" panose="020B0604030504040204" pitchFamily="34" charset="-128"/>
            </a:endParaRPr>
          </a:p>
          <a:p>
            <a:br>
              <a:rPr lang="en-US" sz="1600" dirty="0">
                <a:effectLst/>
                <a:latin typeface="Meiryo" panose="020B0604030504040204" pitchFamily="34" charset="-128"/>
                <a:ea typeface="Meiryo" panose="020B0604030504040204" pitchFamily="34" charset="-128"/>
              </a:rPr>
            </a:br>
            <a:r>
              <a:rPr lang="en-US" sz="1600" dirty="0">
                <a:effectLst/>
                <a:latin typeface="Meiryo" panose="020B0604030504040204" pitchFamily="34" charset="-128"/>
                <a:ea typeface="Meiryo" panose="020B0604030504040204" pitchFamily="34" charset="-128"/>
              </a:rPr>
              <a:t>IoT </a:t>
            </a:r>
            <a:r>
              <a:rPr lang="ja-JP" altLang="en-US" sz="1600">
                <a:effectLst/>
                <a:latin typeface="Meiryo" panose="020B0604030504040204" pitchFamily="34" charset="-128"/>
                <a:ea typeface="Meiryo" panose="020B0604030504040204" pitchFamily="34" charset="-128"/>
              </a:rPr>
              <a:t>では、パブリッシュ</a:t>
            </a:r>
            <a:r>
              <a:rPr lang="en-US" altLang="ja-JP" sz="1600" dirty="0">
                <a:effectLst/>
                <a:latin typeface="Meiryo" panose="020B0604030504040204" pitchFamily="34" charset="-128"/>
                <a:ea typeface="Meiryo" panose="020B0604030504040204" pitchFamily="34" charset="-128"/>
              </a:rPr>
              <a:t>/</a:t>
            </a:r>
            <a:r>
              <a:rPr lang="ja-JP" altLang="en-US" sz="1600">
                <a:effectLst/>
                <a:latin typeface="Meiryo" panose="020B0604030504040204" pitchFamily="34" charset="-128"/>
                <a:ea typeface="Meiryo" panose="020B0604030504040204" pitchFamily="34" charset="-128"/>
              </a:rPr>
              <a:t>サブスクライブベースの </a:t>
            </a:r>
            <a:r>
              <a:rPr lang="en-US" sz="1600" dirty="0">
                <a:effectLst/>
                <a:latin typeface="Meiryo" panose="020B0604030504040204" pitchFamily="34" charset="-128"/>
                <a:ea typeface="Meiryo" panose="020B0604030504040204" pitchFamily="34" charset="-128"/>
              </a:rPr>
              <a:t>Message Queuing Telemetry Transpor(MQTT)</a:t>
            </a:r>
            <a:r>
              <a:rPr lang="ja-JP" altLang="en-US" sz="1600">
                <a:effectLst/>
                <a:latin typeface="Meiryo" panose="020B0604030504040204" pitchFamily="34" charset="-128"/>
                <a:ea typeface="Meiryo" panose="020B0604030504040204" pitchFamily="34" charset="-128"/>
              </a:rPr>
              <a:t>プロトコルが普及している。</a:t>
            </a:r>
            <a:r>
              <a:rPr lang="en-US" sz="1600" dirty="0">
                <a:effectLst/>
                <a:latin typeface="Meiryo" panose="020B0604030504040204" pitchFamily="34" charset="-128"/>
                <a:ea typeface="Meiryo" panose="020B0604030504040204" pitchFamily="34" charset="-128"/>
              </a:rPr>
              <a:t>MQTT </a:t>
            </a:r>
            <a:r>
              <a:rPr lang="ja-JP" altLang="en-US" sz="1600">
                <a:effectLst/>
                <a:latin typeface="Meiryo" panose="020B0604030504040204" pitchFamily="34" charset="-128"/>
                <a:ea typeface="Meiryo" panose="020B0604030504040204" pitchFamily="34" charset="-128"/>
              </a:rPr>
              <a:t>は、リモートセンサーから測 定データを収集し、</a:t>
            </a:r>
            <a:r>
              <a:rPr lang="en-US" sz="1600" dirty="0">
                <a:effectLst/>
                <a:latin typeface="Meiryo" panose="020B0604030504040204" pitchFamily="34" charset="-128"/>
                <a:ea typeface="Meiryo" panose="020B0604030504040204" pitchFamily="34" charset="-128"/>
              </a:rPr>
              <a:t>TCP </a:t>
            </a:r>
            <a:r>
              <a:rPr lang="ja-JP" altLang="en-US" sz="1600">
                <a:effectLst/>
                <a:latin typeface="Meiryo" panose="020B0604030504040204" pitchFamily="34" charset="-128"/>
                <a:ea typeface="Meiryo" panose="020B0604030504040204" pitchFamily="34" charset="-128"/>
              </a:rPr>
              <a:t>経由でサーバーに送信するために使用される軽量 </a:t>
            </a:r>
            <a:r>
              <a:rPr lang="en-US" sz="1600" dirty="0">
                <a:effectLst/>
                <a:latin typeface="Meiryo" panose="020B0604030504040204" pitchFamily="34" charset="-128"/>
                <a:ea typeface="Meiryo" panose="020B0604030504040204" pitchFamily="34" charset="-128"/>
              </a:rPr>
              <a:t>IoT </a:t>
            </a:r>
            <a:r>
              <a:rPr lang="ja-JP" altLang="en-US" sz="1600">
                <a:effectLst/>
                <a:latin typeface="Meiryo" panose="020B0604030504040204" pitchFamily="34" charset="-128"/>
                <a:ea typeface="Meiryo" panose="020B0604030504040204" pitchFamily="34" charset="-128"/>
              </a:rPr>
              <a:t>メッセ ージングプロトコルである。 </a:t>
            </a:r>
            <a:endParaRPr lang="ja-JP" altLang="en-US" sz="1600">
              <a:latin typeface="Meiryo" panose="020B0604030504040204" pitchFamily="34" charset="-128"/>
              <a:ea typeface="Meiryo" panose="020B0604030504040204" pitchFamily="34" charset="-128"/>
            </a:endParaRPr>
          </a:p>
        </p:txBody>
      </p:sp>
      <p:pic>
        <p:nvPicPr>
          <p:cNvPr id="7" name="Picture 6">
            <a:extLst>
              <a:ext uri="{FF2B5EF4-FFF2-40B4-BE49-F238E27FC236}">
                <a16:creationId xmlns:a16="http://schemas.microsoft.com/office/drawing/2014/main" id="{B55BDB2C-FCFB-CAF5-D951-D1E25CD8D516}"/>
              </a:ext>
            </a:extLst>
          </p:cNvPr>
          <p:cNvPicPr>
            <a:picLocks noChangeAspect="1"/>
          </p:cNvPicPr>
          <p:nvPr/>
        </p:nvPicPr>
        <p:blipFill>
          <a:blip r:embed="rId2"/>
          <a:stretch>
            <a:fillRect/>
          </a:stretch>
        </p:blipFill>
        <p:spPr>
          <a:xfrm>
            <a:off x="43416" y="1702055"/>
            <a:ext cx="6052584" cy="4181220"/>
          </a:xfrm>
          <a:prstGeom prst="rect">
            <a:avLst/>
          </a:prstGeom>
        </p:spPr>
      </p:pic>
      <p:sp>
        <p:nvSpPr>
          <p:cNvPr id="16" name="TextBox 15">
            <a:extLst>
              <a:ext uri="{FF2B5EF4-FFF2-40B4-BE49-F238E27FC236}">
                <a16:creationId xmlns:a16="http://schemas.microsoft.com/office/drawing/2014/main" id="{367B1493-46C2-227D-3C03-DE1C548B13A1}"/>
              </a:ext>
            </a:extLst>
          </p:cNvPr>
          <p:cNvSpPr txBox="1"/>
          <p:nvPr/>
        </p:nvSpPr>
        <p:spPr>
          <a:xfrm>
            <a:off x="6804837" y="2137990"/>
            <a:ext cx="4946797" cy="3139321"/>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1. Broker（ブローカー）</a:t>
            </a:r>
          </a:p>
          <a:p>
            <a:r>
              <a:rPr lang="en-JP" dirty="0">
                <a:latin typeface="Meiryo" panose="020B0604030504040204" pitchFamily="34" charset="-128"/>
                <a:ea typeface="Meiryo" panose="020B0604030504040204" pitchFamily="34" charset="-128"/>
              </a:rPr>
              <a:t>メッセージを受け取り、購読者に配信する中央サーバー。</a:t>
            </a:r>
          </a:p>
          <a:p>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2. Publisher（パブリッシャー / 発行者）</a:t>
            </a:r>
          </a:p>
          <a:p>
            <a:r>
              <a:rPr lang="en-JP" dirty="0">
                <a:latin typeface="Meiryo" panose="020B0604030504040204" pitchFamily="34" charset="-128"/>
                <a:ea typeface="Meiryo" panose="020B0604030504040204" pitchFamily="34" charset="-128"/>
              </a:rPr>
              <a:t>データを生成し、特定のトピックにメッセージを送る機器。</a:t>
            </a:r>
          </a:p>
          <a:p>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3. Subscriber（サブスクライバー / 購読者）</a:t>
            </a:r>
          </a:p>
          <a:p>
            <a:r>
              <a:rPr lang="en-JP" dirty="0">
                <a:latin typeface="Meiryo" panose="020B0604030504040204" pitchFamily="34" charset="-128"/>
                <a:ea typeface="Meiryo" panose="020B0604030504040204" pitchFamily="34" charset="-128"/>
              </a:rPr>
              <a:t>興味のあるトピックを購読し、ブローカー経由でデータを受信する機器やアプリ。</a:t>
            </a:r>
          </a:p>
        </p:txBody>
      </p:sp>
    </p:spTree>
    <p:extLst>
      <p:ext uri="{BB962C8B-B14F-4D97-AF65-F5344CB8AC3E}">
        <p14:creationId xmlns:p14="http://schemas.microsoft.com/office/powerpoint/2010/main" val="42757945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635839-AFAB-A0B7-4828-073847A6CBD2}"/>
              </a:ext>
            </a:extLst>
          </p:cNvPr>
          <p:cNvSpPr>
            <a:spLocks noGrp="1"/>
          </p:cNvSpPr>
          <p:nvPr>
            <p:ph type="sldNum" sz="quarter" idx="12"/>
          </p:nvPr>
        </p:nvSpPr>
        <p:spPr/>
        <p:txBody>
          <a:bodyPr/>
          <a:lstStyle/>
          <a:p>
            <a:fld id="{D46B4CB5-B774-3647-BF86-B3C8EE0819CF}" type="slidenum">
              <a:rPr lang="en-JP" smtClean="0"/>
              <a:t>11</a:t>
            </a:fld>
            <a:endParaRPr lang="en-JP"/>
          </a:p>
        </p:txBody>
      </p:sp>
      <p:sp>
        <p:nvSpPr>
          <p:cNvPr id="10" name="Rounded Rectangle 9">
            <a:extLst>
              <a:ext uri="{FF2B5EF4-FFF2-40B4-BE49-F238E27FC236}">
                <a16:creationId xmlns:a16="http://schemas.microsoft.com/office/drawing/2014/main" id="{CACF6EAF-F1A3-19D5-6E07-F8A2B3B973D3}"/>
              </a:ext>
            </a:extLst>
          </p:cNvPr>
          <p:cNvSpPr/>
          <p:nvPr/>
        </p:nvSpPr>
        <p:spPr>
          <a:xfrm>
            <a:off x="357965" y="1816683"/>
            <a:ext cx="3668233" cy="408058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600">
                <a:solidFill>
                  <a:schemeClr val="tx1"/>
                </a:solidFill>
                <a:latin typeface="Meiryo" panose="020B0604030504040204" pitchFamily="34" charset="-128"/>
                <a:ea typeface="Meiryo" panose="020B0604030504040204" pitchFamily="34" charset="-128"/>
              </a:rPr>
              <a:t>センサーのデータには一時的な変動（ノイズ）が含まれることがあり、そのままでは正確な傾向をつかむのが難しいです。</a:t>
            </a:r>
            <a:endParaRPr lang="en-US" altLang="ja-JP" sz="1600" dirty="0">
              <a:solidFill>
                <a:schemeClr val="tx1"/>
              </a:solidFill>
              <a:latin typeface="Meiryo" panose="020B0604030504040204" pitchFamily="34" charset="-128"/>
              <a:ea typeface="Meiryo" panose="020B0604030504040204" pitchFamily="34" charset="-128"/>
            </a:endParaRPr>
          </a:p>
          <a:p>
            <a:endParaRPr lang="ja-JP" altLang="en-US" sz="1600">
              <a:solidFill>
                <a:schemeClr val="tx1"/>
              </a:solidFill>
              <a:latin typeface="Meiryo" panose="020B0604030504040204" pitchFamily="34" charset="-128"/>
              <a:ea typeface="Meiryo" panose="020B0604030504040204" pitchFamily="34" charset="-128"/>
            </a:endParaRPr>
          </a:p>
          <a:p>
            <a:r>
              <a:rPr lang="ja-JP" altLang="en-US" sz="1600">
                <a:solidFill>
                  <a:schemeClr val="tx1"/>
                </a:solidFill>
                <a:latin typeface="Meiryo" panose="020B0604030504040204" pitchFamily="34" charset="-128"/>
                <a:ea typeface="Meiryo" panose="020B0604030504040204" pitchFamily="34" charset="-128"/>
              </a:rPr>
              <a:t>そこで、移動平均（例：</a:t>
            </a:r>
            <a:r>
              <a:rPr lang="en-US" altLang="ja-JP" sz="1600" dirty="0">
                <a:solidFill>
                  <a:schemeClr val="tx1"/>
                </a:solidFill>
                <a:latin typeface="Meiryo" panose="020B0604030504040204" pitchFamily="34" charset="-128"/>
                <a:ea typeface="Meiryo" panose="020B0604030504040204" pitchFamily="34" charset="-128"/>
              </a:rPr>
              <a:t>5</a:t>
            </a:r>
            <a:r>
              <a:rPr lang="ja-JP" altLang="en-US" sz="1600">
                <a:solidFill>
                  <a:schemeClr val="tx1"/>
                </a:solidFill>
                <a:latin typeface="Meiryo" panose="020B0604030504040204" pitchFamily="34" charset="-128"/>
                <a:ea typeface="Meiryo" panose="020B0604030504040204" pitchFamily="34" charset="-128"/>
              </a:rPr>
              <a:t>分平均）を適用することで、短期的な揺れを滑らかにし、全体のトレンドが明確になる。</a:t>
            </a:r>
            <a:endParaRPr lang="en-US" altLang="ja-JP" sz="1600" dirty="0">
              <a:solidFill>
                <a:schemeClr val="tx1"/>
              </a:solidFill>
              <a:latin typeface="Meiryo" panose="020B0604030504040204" pitchFamily="34" charset="-128"/>
              <a:ea typeface="Meiryo" panose="020B0604030504040204" pitchFamily="34" charset="-128"/>
            </a:endParaRPr>
          </a:p>
          <a:p>
            <a:endParaRPr lang="ja-JP" altLang="en-US" sz="1600">
              <a:solidFill>
                <a:schemeClr val="tx1"/>
              </a:solidFill>
              <a:latin typeface="Meiryo" panose="020B0604030504040204" pitchFamily="34" charset="-128"/>
              <a:ea typeface="Meiryo" panose="020B0604030504040204" pitchFamily="34" charset="-128"/>
            </a:endParaRPr>
          </a:p>
          <a:p>
            <a:r>
              <a:rPr lang="ja-JP" altLang="en-US" sz="1600">
                <a:solidFill>
                  <a:schemeClr val="tx1"/>
                </a:solidFill>
                <a:latin typeface="Meiryo" panose="020B0604030504040204" pitchFamily="34" charset="-128"/>
                <a:ea typeface="Meiryo" panose="020B0604030504040204" pitchFamily="34" charset="-128"/>
              </a:rPr>
              <a:t>例：</a:t>
            </a:r>
          </a:p>
          <a:p>
            <a:r>
              <a:rPr lang="ja-JP" altLang="en-US" sz="1600">
                <a:solidFill>
                  <a:schemeClr val="tx1"/>
                </a:solidFill>
                <a:latin typeface="Meiryo" panose="020B0604030504040204" pitchFamily="34" charset="-128"/>
                <a:ea typeface="Meiryo" panose="020B0604030504040204" pitchFamily="34" charset="-128"/>
              </a:rPr>
              <a:t>データ：</a:t>
            </a:r>
            <a:r>
              <a:rPr lang="en-US" altLang="ja-JP" sz="1600" dirty="0">
                <a:solidFill>
                  <a:schemeClr val="tx1"/>
                </a:solidFill>
                <a:latin typeface="Meiryo" panose="020B0604030504040204" pitchFamily="34" charset="-128"/>
                <a:ea typeface="Meiryo" panose="020B0604030504040204" pitchFamily="34" charset="-128"/>
              </a:rPr>
              <a:t>620</a:t>
            </a:r>
            <a:r>
              <a:rPr lang="en-US" sz="1600" dirty="0">
                <a:solidFill>
                  <a:schemeClr val="tx1"/>
                </a:solidFill>
                <a:latin typeface="Meiryo" panose="020B0604030504040204" pitchFamily="34" charset="-128"/>
                <a:ea typeface="Meiryo" panose="020B0604030504040204" pitchFamily="34" charset="-128"/>
              </a:rPr>
              <a:t>ppm → 890ppm → 560ppm → 780ppm</a:t>
            </a:r>
          </a:p>
          <a:p>
            <a:r>
              <a:rPr lang="ja-JP" altLang="en-US" sz="1600">
                <a:solidFill>
                  <a:schemeClr val="tx1"/>
                </a:solidFill>
                <a:latin typeface="Meiryo" panose="020B0604030504040204" pitchFamily="34" charset="-128"/>
                <a:ea typeface="Meiryo" panose="020B0604030504040204" pitchFamily="34" charset="-128"/>
              </a:rPr>
              <a:t>移動平均：</a:t>
            </a:r>
            <a:r>
              <a:rPr lang="en-US" altLang="ja-JP" sz="1600" dirty="0">
                <a:solidFill>
                  <a:schemeClr val="tx1"/>
                </a:solidFill>
                <a:latin typeface="Meiryo" panose="020B0604030504040204" pitchFamily="34" charset="-128"/>
                <a:ea typeface="Meiryo" panose="020B0604030504040204" pitchFamily="34" charset="-128"/>
              </a:rPr>
              <a:t>700</a:t>
            </a:r>
            <a:r>
              <a:rPr lang="en-US" sz="1600" dirty="0">
                <a:solidFill>
                  <a:schemeClr val="tx1"/>
                </a:solidFill>
                <a:latin typeface="Meiryo" panose="020B0604030504040204" pitchFamily="34" charset="-128"/>
                <a:ea typeface="Meiryo" panose="020B0604030504040204" pitchFamily="34" charset="-128"/>
              </a:rPr>
              <a:t>ppm → 710ppm</a:t>
            </a:r>
          </a:p>
          <a:p>
            <a:r>
              <a:rPr lang="en-US" sz="1600" dirty="0">
                <a:solidFill>
                  <a:schemeClr val="tx1"/>
                </a:solidFill>
                <a:latin typeface="Meiryo" panose="020B0604030504040204" pitchFamily="34" charset="-128"/>
                <a:ea typeface="Meiryo" panose="020B0604030504040204" pitchFamily="34" charset="-128"/>
              </a:rPr>
              <a:t>→ </a:t>
            </a:r>
            <a:r>
              <a:rPr lang="ja-JP" altLang="en-US" sz="1600">
                <a:solidFill>
                  <a:schemeClr val="tx1"/>
                </a:solidFill>
                <a:latin typeface="Meiryo" panose="020B0604030504040204" pitchFamily="34" charset="-128"/>
                <a:ea typeface="Meiryo" panose="020B0604030504040204" pitchFamily="34" charset="-128"/>
              </a:rPr>
              <a:t>ノイズが除去され、滑らかな曲線になる</a:t>
            </a:r>
            <a:endParaRPr lang="en-JP" sz="1600" dirty="0">
              <a:solidFill>
                <a:schemeClr val="tx1"/>
              </a:solidFill>
              <a:latin typeface="Meiryo" panose="020B0604030504040204" pitchFamily="34" charset="-128"/>
              <a:ea typeface="Meiryo" panose="020B0604030504040204" pitchFamily="34" charset="-128"/>
            </a:endParaRPr>
          </a:p>
        </p:txBody>
      </p:sp>
      <p:sp>
        <p:nvSpPr>
          <p:cNvPr id="11" name="Rounded Rectangle 10">
            <a:extLst>
              <a:ext uri="{FF2B5EF4-FFF2-40B4-BE49-F238E27FC236}">
                <a16:creationId xmlns:a16="http://schemas.microsoft.com/office/drawing/2014/main" id="{C7904A6F-B93E-51DF-1D7B-58B3C72D51F6}"/>
              </a:ext>
            </a:extLst>
          </p:cNvPr>
          <p:cNvSpPr/>
          <p:nvPr/>
        </p:nvSpPr>
        <p:spPr>
          <a:xfrm>
            <a:off x="4376093" y="1816683"/>
            <a:ext cx="3306725" cy="3994043"/>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600" dirty="0">
                <a:solidFill>
                  <a:schemeClr val="tx1"/>
                </a:solidFill>
                <a:latin typeface="Meiryo" panose="020B0604030504040204" pitchFamily="34" charset="-128"/>
                <a:ea typeface="Meiryo" panose="020B0604030504040204" pitchFamily="34" charset="-128"/>
              </a:rPr>
              <a:t>1</a:t>
            </a:r>
            <a:r>
              <a:rPr lang="ja-JP" altLang="en-US" sz="1600">
                <a:solidFill>
                  <a:schemeClr val="tx1"/>
                </a:solidFill>
                <a:latin typeface="Meiryo" panose="020B0604030504040204" pitchFamily="34" charset="-128"/>
                <a:ea typeface="Meiryo" panose="020B0604030504040204" pitchFamily="34" charset="-128"/>
              </a:rPr>
              <a:t>日の時間帯ごとの</a:t>
            </a:r>
            <a:r>
              <a:rPr lang="en-US" sz="1600" dirty="0">
                <a:solidFill>
                  <a:schemeClr val="tx1"/>
                </a:solidFill>
                <a:latin typeface="Meiryo" panose="020B0604030504040204" pitchFamily="34" charset="-128"/>
                <a:ea typeface="Meiryo" panose="020B0604030504040204" pitchFamily="34" charset="-128"/>
              </a:rPr>
              <a:t>CO₂</a:t>
            </a:r>
            <a:r>
              <a:rPr lang="ja-JP" altLang="en-US" sz="1600">
                <a:solidFill>
                  <a:schemeClr val="tx1"/>
                </a:solidFill>
                <a:latin typeface="Meiryo" panose="020B0604030504040204" pitchFamily="34" charset="-128"/>
                <a:ea typeface="Meiryo" panose="020B0604030504040204" pitchFamily="34" charset="-128"/>
              </a:rPr>
              <a:t>濃度の変化を見ることで、室内の使用状況や換気の必要性を把握することができる。</a:t>
            </a:r>
          </a:p>
          <a:p>
            <a:endParaRPr lang="ja-JP" altLang="en-US" sz="1600">
              <a:solidFill>
                <a:schemeClr val="tx1"/>
              </a:solidFill>
              <a:latin typeface="Meiryo" panose="020B0604030504040204" pitchFamily="34" charset="-128"/>
              <a:ea typeface="Meiryo" panose="020B0604030504040204" pitchFamily="34" charset="-128"/>
            </a:endParaRPr>
          </a:p>
          <a:p>
            <a:endParaRPr lang="en-US" altLang="ja-JP" sz="1600" dirty="0">
              <a:solidFill>
                <a:schemeClr val="tx1"/>
              </a:solidFill>
              <a:latin typeface="Meiryo" panose="020B0604030504040204" pitchFamily="34" charset="-128"/>
              <a:ea typeface="Meiryo" panose="020B0604030504040204" pitchFamily="34" charset="-128"/>
            </a:endParaRPr>
          </a:p>
          <a:p>
            <a:r>
              <a:rPr lang="ja-JP" altLang="en-US" sz="1600">
                <a:solidFill>
                  <a:schemeClr val="tx1"/>
                </a:solidFill>
                <a:latin typeface="Meiryo" panose="020B0604030504040204" pitchFamily="34" charset="-128"/>
                <a:ea typeface="Meiryo" panose="020B0604030504040204" pitchFamily="34" charset="-128"/>
              </a:rPr>
              <a:t>例：</a:t>
            </a:r>
          </a:p>
          <a:p>
            <a:pPr marL="285750" indent="-285750">
              <a:buFont typeface="Arial" panose="020B0604020202020204" pitchFamily="34" charset="0"/>
              <a:buChar char="•"/>
            </a:pPr>
            <a:r>
              <a:rPr lang="ja-JP" altLang="en-US" sz="1600">
                <a:solidFill>
                  <a:schemeClr val="tx1"/>
                </a:solidFill>
                <a:latin typeface="Meiryo" panose="020B0604030504040204" pitchFamily="34" charset="-128"/>
                <a:ea typeface="Meiryo" panose="020B0604030504040204" pitchFamily="34" charset="-128"/>
              </a:rPr>
              <a:t>朝は低い（人がいない）</a:t>
            </a:r>
          </a:p>
          <a:p>
            <a:pPr marL="285750" indent="-285750">
              <a:buFont typeface="Arial" panose="020B0604020202020204" pitchFamily="34" charset="0"/>
              <a:buChar char="•"/>
            </a:pPr>
            <a:r>
              <a:rPr lang="ja-JP" altLang="en-US" sz="1600">
                <a:solidFill>
                  <a:schemeClr val="tx1"/>
                </a:solidFill>
                <a:latin typeface="Meiryo" panose="020B0604030504040204" pitchFamily="34" charset="-128"/>
                <a:ea typeface="Meiryo" panose="020B0604030504040204" pitchFamily="34" charset="-128"/>
              </a:rPr>
              <a:t>昼間に上昇（人が集まる）</a:t>
            </a:r>
          </a:p>
          <a:p>
            <a:pPr marL="285750" indent="-285750">
              <a:buFont typeface="Arial" panose="020B0604020202020204" pitchFamily="34" charset="0"/>
              <a:buChar char="•"/>
            </a:pPr>
            <a:r>
              <a:rPr lang="ja-JP" altLang="en-US" sz="1600">
                <a:solidFill>
                  <a:schemeClr val="tx1"/>
                </a:solidFill>
                <a:latin typeface="Meiryo" panose="020B0604030504040204" pitchFamily="34" charset="-128"/>
                <a:ea typeface="Meiryo" panose="020B0604030504040204" pitchFamily="34" charset="-128"/>
              </a:rPr>
              <a:t>夕方に再び低下（換気または退室）</a:t>
            </a:r>
            <a:endParaRPr lang="en-JP" sz="1600" dirty="0">
              <a:solidFill>
                <a:schemeClr val="tx1"/>
              </a:solidFill>
              <a:latin typeface="Meiryo" panose="020B0604030504040204" pitchFamily="34" charset="-128"/>
              <a:ea typeface="Meiryo" panose="020B0604030504040204" pitchFamily="34" charset="-128"/>
            </a:endParaRPr>
          </a:p>
        </p:txBody>
      </p:sp>
      <p:sp>
        <p:nvSpPr>
          <p:cNvPr id="12" name="Rounded Rectangle 11">
            <a:extLst>
              <a:ext uri="{FF2B5EF4-FFF2-40B4-BE49-F238E27FC236}">
                <a16:creationId xmlns:a16="http://schemas.microsoft.com/office/drawing/2014/main" id="{A6DDB5B6-3E32-946A-8390-E59AF618AA22}"/>
              </a:ext>
            </a:extLst>
          </p:cNvPr>
          <p:cNvSpPr/>
          <p:nvPr/>
        </p:nvSpPr>
        <p:spPr>
          <a:xfrm>
            <a:off x="8165805" y="1817426"/>
            <a:ext cx="3476846" cy="3994042"/>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a:solidFill>
                  <a:schemeClr val="tx1"/>
                </a:solidFill>
                <a:latin typeface="Meiryo" panose="020B0604030504040204" pitchFamily="34" charset="-128"/>
                <a:ea typeface="Meiryo" panose="020B0604030504040204" pitchFamily="34" charset="-128"/>
              </a:rPr>
              <a:t>処理された現在のデータを、過去の同じ時間帯の平均値と比較することで、空気質の異常を早期に検知できる。</a:t>
            </a:r>
          </a:p>
          <a:p>
            <a:pPr algn="ctr"/>
            <a:endParaRPr lang="ja-JP" altLang="en-US" sz="1600">
              <a:solidFill>
                <a:schemeClr val="tx1"/>
              </a:solidFill>
              <a:latin typeface="Meiryo" panose="020B0604030504040204" pitchFamily="34" charset="-128"/>
              <a:ea typeface="Meiryo" panose="020B0604030504040204" pitchFamily="34" charset="-128"/>
            </a:endParaRPr>
          </a:p>
          <a:p>
            <a:pPr algn="ctr"/>
            <a:r>
              <a:rPr lang="ja-JP" altLang="en-US" sz="1600">
                <a:solidFill>
                  <a:schemeClr val="tx1"/>
                </a:solidFill>
                <a:latin typeface="Meiryo" panose="020B0604030504040204" pitchFamily="34" charset="-128"/>
                <a:ea typeface="Meiryo" panose="020B0604030504040204" pitchFamily="34" charset="-128"/>
              </a:rPr>
              <a:t>例：</a:t>
            </a:r>
          </a:p>
          <a:p>
            <a:pPr algn="ctr"/>
            <a:r>
              <a:rPr lang="ja-JP" altLang="en-US" sz="1600">
                <a:solidFill>
                  <a:schemeClr val="tx1"/>
                </a:solidFill>
                <a:latin typeface="Meiryo" panose="020B0604030504040204" pitchFamily="34" charset="-128"/>
                <a:ea typeface="Meiryo" panose="020B0604030504040204" pitchFamily="34" charset="-128"/>
              </a:rPr>
              <a:t>今日</a:t>
            </a:r>
            <a:r>
              <a:rPr lang="en-US" altLang="ja-JP" sz="1600" dirty="0">
                <a:solidFill>
                  <a:schemeClr val="tx1"/>
                </a:solidFill>
                <a:latin typeface="Meiryo" panose="020B0604030504040204" pitchFamily="34" charset="-128"/>
                <a:ea typeface="Meiryo" panose="020B0604030504040204" pitchFamily="34" charset="-128"/>
              </a:rPr>
              <a:t>13:00</a:t>
            </a:r>
            <a:r>
              <a:rPr lang="ja-JP" altLang="en-US" sz="1600">
                <a:solidFill>
                  <a:schemeClr val="tx1"/>
                </a:solidFill>
                <a:latin typeface="Meiryo" panose="020B0604030504040204" pitchFamily="34" charset="-128"/>
                <a:ea typeface="Meiryo" panose="020B0604030504040204" pitchFamily="34" charset="-128"/>
              </a:rPr>
              <a:t>の</a:t>
            </a:r>
            <a:r>
              <a:rPr lang="en-US" sz="1600" dirty="0">
                <a:solidFill>
                  <a:schemeClr val="tx1"/>
                </a:solidFill>
                <a:latin typeface="Meiryo" panose="020B0604030504040204" pitchFamily="34" charset="-128"/>
                <a:ea typeface="Meiryo" panose="020B0604030504040204" pitchFamily="34" charset="-128"/>
              </a:rPr>
              <a:t>CO₂</a:t>
            </a:r>
            <a:r>
              <a:rPr lang="ja-JP" altLang="en-US" sz="1600">
                <a:solidFill>
                  <a:schemeClr val="tx1"/>
                </a:solidFill>
                <a:latin typeface="Meiryo" panose="020B0604030504040204" pitchFamily="34" charset="-128"/>
                <a:ea typeface="Meiryo" panose="020B0604030504040204" pitchFamily="34" charset="-128"/>
              </a:rPr>
              <a:t>濃度：</a:t>
            </a:r>
            <a:r>
              <a:rPr lang="en-US" altLang="ja-JP" sz="1600" dirty="0">
                <a:solidFill>
                  <a:schemeClr val="tx1"/>
                </a:solidFill>
                <a:latin typeface="Meiryo" panose="020B0604030504040204" pitchFamily="34" charset="-128"/>
                <a:ea typeface="Meiryo" panose="020B0604030504040204" pitchFamily="34" charset="-128"/>
              </a:rPr>
              <a:t>950</a:t>
            </a:r>
            <a:r>
              <a:rPr lang="en-US" sz="1600" dirty="0">
                <a:solidFill>
                  <a:schemeClr val="tx1"/>
                </a:solidFill>
                <a:latin typeface="Meiryo" panose="020B0604030504040204" pitchFamily="34" charset="-128"/>
                <a:ea typeface="Meiryo" panose="020B0604030504040204" pitchFamily="34" charset="-128"/>
              </a:rPr>
              <a:t>ppm</a:t>
            </a:r>
          </a:p>
          <a:p>
            <a:pPr algn="ctr"/>
            <a:r>
              <a:rPr lang="en-US" sz="1600" dirty="0">
                <a:solidFill>
                  <a:schemeClr val="tx1"/>
                </a:solidFill>
                <a:latin typeface="Meiryo" panose="020B0604030504040204" pitchFamily="34" charset="-128"/>
                <a:ea typeface="Meiryo" panose="020B0604030504040204" pitchFamily="34" charset="-128"/>
              </a:rPr>
              <a:t>1</a:t>
            </a:r>
            <a:r>
              <a:rPr lang="ja-JP" altLang="en-US" sz="1600">
                <a:solidFill>
                  <a:schemeClr val="tx1"/>
                </a:solidFill>
                <a:latin typeface="Meiryo" panose="020B0604030504040204" pitchFamily="34" charset="-128"/>
                <a:ea typeface="Meiryo" panose="020B0604030504040204" pitchFamily="34" charset="-128"/>
              </a:rPr>
              <a:t>週間前の同時刻：</a:t>
            </a:r>
            <a:r>
              <a:rPr lang="en-US" altLang="ja-JP" sz="1600" dirty="0">
                <a:solidFill>
                  <a:schemeClr val="tx1"/>
                </a:solidFill>
                <a:latin typeface="Meiryo" panose="020B0604030504040204" pitchFamily="34" charset="-128"/>
                <a:ea typeface="Meiryo" panose="020B0604030504040204" pitchFamily="34" charset="-128"/>
              </a:rPr>
              <a:t>700</a:t>
            </a:r>
            <a:r>
              <a:rPr lang="en-US" sz="1600" dirty="0">
                <a:solidFill>
                  <a:schemeClr val="tx1"/>
                </a:solidFill>
                <a:latin typeface="Meiryo" panose="020B0604030504040204" pitchFamily="34" charset="-128"/>
                <a:ea typeface="Meiryo" panose="020B0604030504040204" pitchFamily="34" charset="-128"/>
              </a:rPr>
              <a:t>ppm</a:t>
            </a:r>
          </a:p>
          <a:p>
            <a:pPr algn="ctr"/>
            <a:r>
              <a:rPr lang="en-US" sz="1600" dirty="0">
                <a:solidFill>
                  <a:schemeClr val="tx1"/>
                </a:solidFill>
                <a:latin typeface="Meiryo" panose="020B0604030504040204" pitchFamily="34" charset="-128"/>
                <a:ea typeface="Meiryo" panose="020B0604030504040204" pitchFamily="34" charset="-128"/>
              </a:rPr>
              <a:t>→ </a:t>
            </a:r>
            <a:r>
              <a:rPr lang="ja-JP" altLang="en-US" sz="1600">
                <a:solidFill>
                  <a:schemeClr val="tx1"/>
                </a:solidFill>
                <a:latin typeface="Meiryo" panose="020B0604030504040204" pitchFamily="34" charset="-128"/>
                <a:ea typeface="Meiryo" panose="020B0604030504040204" pitchFamily="34" charset="-128"/>
              </a:rPr>
              <a:t>換気が不足している可能性がある</a:t>
            </a:r>
            <a:endParaRPr lang="en-JP" sz="1600" dirty="0">
              <a:solidFill>
                <a:schemeClr val="tx1"/>
              </a:solidFill>
              <a:latin typeface="Meiryo" panose="020B0604030504040204" pitchFamily="34" charset="-128"/>
              <a:ea typeface="Meiryo" panose="020B0604030504040204" pitchFamily="34" charset="-128"/>
            </a:endParaRPr>
          </a:p>
        </p:txBody>
      </p:sp>
      <p:sp>
        <p:nvSpPr>
          <p:cNvPr id="14" name="TextBox 13">
            <a:extLst>
              <a:ext uri="{FF2B5EF4-FFF2-40B4-BE49-F238E27FC236}">
                <a16:creationId xmlns:a16="http://schemas.microsoft.com/office/drawing/2014/main" id="{4FD0F5C3-E271-CA57-4BC9-789BAC3C8A9D}"/>
              </a:ext>
            </a:extLst>
          </p:cNvPr>
          <p:cNvSpPr txBox="1"/>
          <p:nvPr/>
        </p:nvSpPr>
        <p:spPr>
          <a:xfrm>
            <a:off x="357965" y="1138495"/>
            <a:ext cx="6097772" cy="369332"/>
          </a:xfrm>
          <a:prstGeom prst="rect">
            <a:avLst/>
          </a:prstGeom>
          <a:noFill/>
        </p:spPr>
        <p:txBody>
          <a:bodyPr wrap="square">
            <a:spAutoFit/>
          </a:bodyPr>
          <a:lstStyle/>
          <a:p>
            <a:r>
              <a:rPr lang="ja-JP" altLang="en-US">
                <a:solidFill>
                  <a:schemeClr val="bg2">
                    <a:lumMod val="50000"/>
                  </a:schemeClr>
                </a:solidFill>
              </a:rPr>
              <a:t>① 移動平均の適用（ノイズ除去）</a:t>
            </a:r>
            <a:endParaRPr lang="en-JP" dirty="0">
              <a:solidFill>
                <a:schemeClr val="bg2">
                  <a:lumMod val="50000"/>
                </a:schemeClr>
              </a:solidFill>
            </a:endParaRPr>
          </a:p>
        </p:txBody>
      </p:sp>
      <p:sp>
        <p:nvSpPr>
          <p:cNvPr id="16" name="TextBox 15">
            <a:extLst>
              <a:ext uri="{FF2B5EF4-FFF2-40B4-BE49-F238E27FC236}">
                <a16:creationId xmlns:a16="http://schemas.microsoft.com/office/drawing/2014/main" id="{2AAF8C98-CDBB-1A12-45D8-4942EAE8CF86}"/>
              </a:ext>
            </a:extLst>
          </p:cNvPr>
          <p:cNvSpPr txBox="1"/>
          <p:nvPr/>
        </p:nvSpPr>
        <p:spPr>
          <a:xfrm>
            <a:off x="4416239" y="1138495"/>
            <a:ext cx="6097772" cy="369332"/>
          </a:xfrm>
          <a:prstGeom prst="rect">
            <a:avLst/>
          </a:prstGeom>
          <a:noFill/>
        </p:spPr>
        <p:txBody>
          <a:bodyPr wrap="square">
            <a:spAutoFit/>
          </a:bodyPr>
          <a:lstStyle/>
          <a:p>
            <a:r>
              <a:rPr lang="ja-JP" altLang="en-US">
                <a:solidFill>
                  <a:schemeClr val="bg2">
                    <a:lumMod val="50000"/>
                  </a:schemeClr>
                </a:solidFill>
              </a:rPr>
              <a:t>② 時系列の変化を確認</a:t>
            </a:r>
            <a:endParaRPr lang="en-JP" dirty="0">
              <a:solidFill>
                <a:schemeClr val="bg2">
                  <a:lumMod val="50000"/>
                </a:schemeClr>
              </a:solidFill>
            </a:endParaRPr>
          </a:p>
        </p:txBody>
      </p:sp>
      <p:sp>
        <p:nvSpPr>
          <p:cNvPr id="18" name="TextBox 17">
            <a:extLst>
              <a:ext uri="{FF2B5EF4-FFF2-40B4-BE49-F238E27FC236}">
                <a16:creationId xmlns:a16="http://schemas.microsoft.com/office/drawing/2014/main" id="{6DD11429-E13D-1DA5-CDDB-5657EF6F734A}"/>
              </a:ext>
            </a:extLst>
          </p:cNvPr>
          <p:cNvSpPr txBox="1"/>
          <p:nvPr/>
        </p:nvSpPr>
        <p:spPr>
          <a:xfrm>
            <a:off x="8229340" y="1046533"/>
            <a:ext cx="6097772" cy="646331"/>
          </a:xfrm>
          <a:prstGeom prst="rect">
            <a:avLst/>
          </a:prstGeom>
          <a:noFill/>
        </p:spPr>
        <p:txBody>
          <a:bodyPr wrap="square">
            <a:spAutoFit/>
          </a:bodyPr>
          <a:lstStyle/>
          <a:p>
            <a:r>
              <a:rPr lang="en-JP" dirty="0">
                <a:solidFill>
                  <a:schemeClr val="bg2">
                    <a:lumMod val="50000"/>
                  </a:schemeClr>
                </a:solidFill>
              </a:rPr>
              <a:t>③ 過去データとの比較</a:t>
            </a:r>
          </a:p>
          <a:p>
            <a:r>
              <a:rPr lang="en-JP" dirty="0">
                <a:solidFill>
                  <a:schemeClr val="bg2">
                    <a:lumMod val="50000"/>
                  </a:schemeClr>
                </a:solidFill>
              </a:rPr>
              <a:t>（1週間の平均など）</a:t>
            </a:r>
          </a:p>
        </p:txBody>
      </p:sp>
      <p:sp>
        <p:nvSpPr>
          <p:cNvPr id="20" name="TextBox 19">
            <a:extLst>
              <a:ext uri="{FF2B5EF4-FFF2-40B4-BE49-F238E27FC236}">
                <a16:creationId xmlns:a16="http://schemas.microsoft.com/office/drawing/2014/main" id="{5A27EB4A-DD64-C598-3F75-575949E5252D}"/>
              </a:ext>
            </a:extLst>
          </p:cNvPr>
          <p:cNvSpPr txBox="1"/>
          <p:nvPr/>
        </p:nvSpPr>
        <p:spPr>
          <a:xfrm>
            <a:off x="516474" y="238110"/>
            <a:ext cx="7166344" cy="369332"/>
          </a:xfrm>
          <a:prstGeom prst="rect">
            <a:avLst/>
          </a:prstGeom>
          <a:noFill/>
        </p:spPr>
        <p:txBody>
          <a:bodyPr wrap="square">
            <a:spAutoFit/>
          </a:bodyPr>
          <a:lstStyle/>
          <a:p>
            <a:r>
              <a:rPr lang="ja-JP" altLang="en-US"/>
              <a:t>データ処理の方法</a:t>
            </a:r>
            <a:endParaRPr lang="en-JP" dirty="0"/>
          </a:p>
        </p:txBody>
      </p:sp>
    </p:spTree>
    <p:extLst>
      <p:ext uri="{BB962C8B-B14F-4D97-AF65-F5344CB8AC3E}">
        <p14:creationId xmlns:p14="http://schemas.microsoft.com/office/powerpoint/2010/main" val="2026933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DF11863-5831-880F-84E7-A2B413BEB575}"/>
              </a:ext>
            </a:extLst>
          </p:cNvPr>
          <p:cNvSpPr>
            <a:spLocks noGrp="1"/>
          </p:cNvSpPr>
          <p:nvPr>
            <p:ph type="sldNum" sz="quarter" idx="12"/>
          </p:nvPr>
        </p:nvSpPr>
        <p:spPr/>
        <p:txBody>
          <a:bodyPr/>
          <a:lstStyle/>
          <a:p>
            <a:fld id="{D46B4CB5-B774-3647-BF86-B3C8EE0819CF}" type="slidenum">
              <a:rPr lang="en-JP" smtClean="0"/>
              <a:t>12</a:t>
            </a:fld>
            <a:endParaRPr lang="en-JP"/>
          </a:p>
        </p:txBody>
      </p:sp>
      <p:sp>
        <p:nvSpPr>
          <p:cNvPr id="6" name="TextBox 5">
            <a:extLst>
              <a:ext uri="{FF2B5EF4-FFF2-40B4-BE49-F238E27FC236}">
                <a16:creationId xmlns:a16="http://schemas.microsoft.com/office/drawing/2014/main" id="{53B9A494-9737-E3DB-B1C4-7DC692AD087D}"/>
              </a:ext>
            </a:extLst>
          </p:cNvPr>
          <p:cNvSpPr txBox="1"/>
          <p:nvPr/>
        </p:nvSpPr>
        <p:spPr>
          <a:xfrm>
            <a:off x="2336504" y="1382286"/>
            <a:ext cx="7232798" cy="4093428"/>
          </a:xfrm>
          <a:prstGeom prst="rect">
            <a:avLst/>
          </a:prstGeom>
          <a:noFill/>
        </p:spPr>
        <p:txBody>
          <a:bodyPr wrap="square">
            <a:spAutoFit/>
          </a:bodyPr>
          <a:lstStyle/>
          <a:p>
            <a:r>
              <a:rPr lang="ja-JP" altLang="en-US" sz="2000">
                <a:solidFill>
                  <a:schemeClr val="bg2">
                    <a:lumMod val="50000"/>
                  </a:schemeClr>
                </a:solidFill>
                <a:latin typeface="Meiryo" panose="020B0604030504040204" pitchFamily="34" charset="-128"/>
                <a:ea typeface="Meiryo" panose="020B0604030504040204" pitchFamily="34" charset="-128"/>
              </a:rPr>
              <a:t>活用ポイント</a:t>
            </a:r>
            <a:endParaRPr lang="mn-MN" altLang="ja-JP" sz="2000" dirty="0">
              <a:solidFill>
                <a:schemeClr val="bg2">
                  <a:lumMod val="50000"/>
                </a:schemeClr>
              </a:solidFill>
              <a:latin typeface="Meiryo" panose="020B0604030504040204" pitchFamily="34" charset="-128"/>
              <a:ea typeface="Meiryo" panose="020B0604030504040204" pitchFamily="34" charset="-128"/>
            </a:endParaRPr>
          </a:p>
          <a:p>
            <a:endParaRPr lang="ja-JP" altLang="en-US" sz="2000">
              <a:solidFill>
                <a:schemeClr val="bg2">
                  <a:lumMod val="50000"/>
                </a:schemeClr>
              </a:solidFill>
              <a:latin typeface="Meiryo" panose="020B0604030504040204" pitchFamily="34" charset="-128"/>
              <a:ea typeface="Meiryo" panose="020B0604030504040204" pitchFamily="34" charset="-128"/>
            </a:endParaRPr>
          </a:p>
          <a:p>
            <a:pPr>
              <a:buFont typeface="Arial" panose="020B0604020202020204" pitchFamily="34" charset="0"/>
              <a:buChar char="•"/>
            </a:pPr>
            <a:r>
              <a:rPr lang="en-US" sz="2000" dirty="0">
                <a:solidFill>
                  <a:schemeClr val="bg2">
                    <a:lumMod val="50000"/>
                  </a:schemeClr>
                </a:solidFill>
                <a:latin typeface="Meiryo" panose="020B0604030504040204" pitchFamily="34" charset="-128"/>
                <a:ea typeface="Meiryo" panose="020B0604030504040204" pitchFamily="34" charset="-128"/>
              </a:rPr>
              <a:t>CO₂</a:t>
            </a:r>
            <a:r>
              <a:rPr lang="ja-JP" altLang="en-US" sz="2000">
                <a:solidFill>
                  <a:schemeClr val="bg2">
                    <a:lumMod val="50000"/>
                  </a:schemeClr>
                </a:solidFill>
                <a:latin typeface="Meiryo" panose="020B0604030504040204" pitchFamily="34" charset="-128"/>
                <a:ea typeface="Meiryo" panose="020B0604030504040204" pitchFamily="34" charset="-128"/>
              </a:rPr>
              <a:t>が設定されたしきい値（例：</a:t>
            </a:r>
            <a:r>
              <a:rPr lang="en-US" altLang="ja-JP" sz="2000" dirty="0">
                <a:solidFill>
                  <a:schemeClr val="bg2">
                    <a:lumMod val="50000"/>
                  </a:schemeClr>
                </a:solidFill>
                <a:latin typeface="Meiryo" panose="020B0604030504040204" pitchFamily="34" charset="-128"/>
                <a:ea typeface="Meiryo" panose="020B0604030504040204" pitchFamily="34" charset="-128"/>
              </a:rPr>
              <a:t>1300</a:t>
            </a:r>
            <a:r>
              <a:rPr lang="en-US" sz="2000" dirty="0">
                <a:solidFill>
                  <a:schemeClr val="bg2">
                    <a:lumMod val="50000"/>
                  </a:schemeClr>
                </a:solidFill>
                <a:latin typeface="Meiryo" panose="020B0604030504040204" pitchFamily="34" charset="-128"/>
                <a:ea typeface="Meiryo" panose="020B0604030504040204" pitchFamily="34" charset="-128"/>
              </a:rPr>
              <a:t>ppm）</a:t>
            </a:r>
            <a:r>
              <a:rPr lang="ja-JP" altLang="en-US" sz="2000">
                <a:solidFill>
                  <a:schemeClr val="bg2">
                    <a:lumMod val="50000"/>
                  </a:schemeClr>
                </a:solidFill>
                <a:latin typeface="Meiryo" panose="020B0604030504040204" pitchFamily="34" charset="-128"/>
                <a:ea typeface="Meiryo" panose="020B0604030504040204" pitchFamily="34" charset="-128"/>
              </a:rPr>
              <a:t>を超えた際に、</a:t>
            </a:r>
            <a:r>
              <a:rPr lang="en-US" sz="2000" dirty="0">
                <a:solidFill>
                  <a:schemeClr val="bg2">
                    <a:lumMod val="50000"/>
                  </a:schemeClr>
                </a:solidFill>
                <a:latin typeface="Meiryo" panose="020B0604030504040204" pitchFamily="34" charset="-128"/>
                <a:ea typeface="Meiryo" panose="020B0604030504040204" pitchFamily="34" charset="-128"/>
              </a:rPr>
              <a:t>LINE</a:t>
            </a:r>
            <a:r>
              <a:rPr lang="ja-JP" altLang="en-US" sz="2000">
                <a:solidFill>
                  <a:schemeClr val="bg2">
                    <a:lumMod val="50000"/>
                  </a:schemeClr>
                </a:solidFill>
                <a:latin typeface="Meiryo" panose="020B0604030504040204" pitchFamily="34" charset="-128"/>
                <a:ea typeface="Meiryo" panose="020B0604030504040204" pitchFamily="34" charset="-128"/>
              </a:rPr>
              <a:t>やアプリを通じてユーザーに通知</a:t>
            </a:r>
            <a:endParaRPr lang="mn-MN" altLang="ja-JP" sz="2000" dirty="0">
              <a:solidFill>
                <a:schemeClr val="bg2">
                  <a:lumMod val="50000"/>
                </a:schemeClr>
              </a:solidFill>
              <a:latin typeface="Meiryo" panose="020B0604030504040204" pitchFamily="34" charset="-128"/>
              <a:ea typeface="Meiryo" panose="020B0604030504040204" pitchFamily="34" charset="-128"/>
            </a:endParaRPr>
          </a:p>
          <a:p>
            <a:endParaRPr lang="ja-JP" altLang="en-US" sz="2000">
              <a:solidFill>
                <a:schemeClr val="bg2">
                  <a:lumMod val="50000"/>
                </a:schemeClr>
              </a:solidFill>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000">
                <a:solidFill>
                  <a:schemeClr val="bg2">
                    <a:lumMod val="50000"/>
                  </a:schemeClr>
                </a:solidFill>
                <a:latin typeface="Meiryo" panose="020B0604030504040204" pitchFamily="34" charset="-128"/>
                <a:ea typeface="Meiryo" panose="020B0604030504040204" pitchFamily="34" charset="-128"/>
              </a:rPr>
              <a:t>高濃度状態が一定時間以上継続した場合、「換気リマインダー」を再送信</a:t>
            </a:r>
            <a:endParaRPr lang="mn-MN" altLang="ja-JP" sz="2000" dirty="0">
              <a:solidFill>
                <a:schemeClr val="bg2">
                  <a:lumMod val="50000"/>
                </a:schemeClr>
              </a:solidFill>
              <a:latin typeface="Meiryo" panose="020B0604030504040204" pitchFamily="34" charset="-128"/>
              <a:ea typeface="Meiryo" panose="020B0604030504040204" pitchFamily="34" charset="-128"/>
            </a:endParaRPr>
          </a:p>
          <a:p>
            <a:pPr>
              <a:buFont typeface="Arial" panose="020B0604020202020204" pitchFamily="34" charset="0"/>
              <a:buChar char="•"/>
            </a:pPr>
            <a:endParaRPr lang="ja-JP" altLang="en-US" sz="2000">
              <a:solidFill>
                <a:schemeClr val="bg2">
                  <a:lumMod val="50000"/>
                </a:schemeClr>
              </a:solidFill>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000">
                <a:solidFill>
                  <a:schemeClr val="bg2">
                    <a:lumMod val="50000"/>
                  </a:schemeClr>
                </a:solidFill>
                <a:latin typeface="Meiryo" panose="020B0604030504040204" pitchFamily="34" charset="-128"/>
                <a:ea typeface="Meiryo" panose="020B0604030504040204" pitchFamily="34" charset="-128"/>
              </a:rPr>
              <a:t>グラフによって空気環境の傾向を可視化し、ユーザー自身が過去の状況を振り返ることが可能</a:t>
            </a:r>
            <a:endParaRPr lang="mn-MN" altLang="ja-JP" sz="2000" dirty="0">
              <a:solidFill>
                <a:schemeClr val="bg2">
                  <a:lumMod val="50000"/>
                </a:schemeClr>
              </a:solidFill>
              <a:latin typeface="Meiryo" panose="020B0604030504040204" pitchFamily="34" charset="-128"/>
              <a:ea typeface="Meiryo" panose="020B0604030504040204" pitchFamily="34" charset="-128"/>
            </a:endParaRPr>
          </a:p>
          <a:p>
            <a:pPr>
              <a:buFont typeface="Arial" panose="020B0604020202020204" pitchFamily="34" charset="0"/>
              <a:buChar char="•"/>
            </a:pPr>
            <a:endParaRPr lang="ja-JP" altLang="en-US" sz="2000">
              <a:solidFill>
                <a:schemeClr val="bg2">
                  <a:lumMod val="50000"/>
                </a:schemeClr>
              </a:solidFill>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000">
                <a:solidFill>
                  <a:schemeClr val="bg2">
                    <a:lumMod val="50000"/>
                  </a:schemeClr>
                </a:solidFill>
                <a:latin typeface="Meiryo" panose="020B0604030504040204" pitchFamily="34" charset="-128"/>
                <a:ea typeface="Meiryo" panose="020B0604030504040204" pitchFamily="34" charset="-128"/>
              </a:rPr>
              <a:t>定期的な分析により、換気タイミングやエアコン使用の最適化が期待される</a:t>
            </a:r>
          </a:p>
        </p:txBody>
      </p:sp>
      <p:sp>
        <p:nvSpPr>
          <p:cNvPr id="8" name="TextBox 7">
            <a:extLst>
              <a:ext uri="{FF2B5EF4-FFF2-40B4-BE49-F238E27FC236}">
                <a16:creationId xmlns:a16="http://schemas.microsoft.com/office/drawing/2014/main" id="{2D6536AB-2BC1-00A1-623A-8E9D0582E988}"/>
              </a:ext>
            </a:extLst>
          </p:cNvPr>
          <p:cNvSpPr txBox="1"/>
          <p:nvPr/>
        </p:nvSpPr>
        <p:spPr>
          <a:xfrm>
            <a:off x="879844" y="331012"/>
            <a:ext cx="6097772" cy="369332"/>
          </a:xfrm>
          <a:prstGeom prst="rect">
            <a:avLst/>
          </a:prstGeom>
          <a:noFill/>
        </p:spPr>
        <p:txBody>
          <a:bodyPr wrap="square">
            <a:spAutoFit/>
          </a:bodyPr>
          <a:lstStyle/>
          <a:p>
            <a:r>
              <a:rPr lang="ja-JP" altLang="en-US">
                <a:latin typeface="Meiryo" panose="020B0604030504040204" pitchFamily="34" charset="-128"/>
                <a:ea typeface="Meiryo" panose="020B0604030504040204" pitchFamily="34" charset="-128"/>
              </a:rPr>
              <a:t>データの活用</a:t>
            </a:r>
            <a:endParaRPr lang="en-JP"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597939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F015A6E-E4FA-EB31-D9DC-7F9CD411AACA}"/>
              </a:ext>
            </a:extLst>
          </p:cNvPr>
          <p:cNvSpPr>
            <a:spLocks noGrp="1"/>
          </p:cNvSpPr>
          <p:nvPr>
            <p:ph type="sldNum" sz="quarter" idx="12"/>
          </p:nvPr>
        </p:nvSpPr>
        <p:spPr/>
        <p:txBody>
          <a:bodyPr/>
          <a:lstStyle/>
          <a:p>
            <a:fld id="{D46B4CB5-B774-3647-BF86-B3C8EE0819CF}" type="slidenum">
              <a:rPr lang="en-JP" smtClean="0"/>
              <a:t>13</a:t>
            </a:fld>
            <a:endParaRPr lang="en-JP"/>
          </a:p>
        </p:txBody>
      </p:sp>
      <p:pic>
        <p:nvPicPr>
          <p:cNvPr id="8" name="Picture 7">
            <a:extLst>
              <a:ext uri="{FF2B5EF4-FFF2-40B4-BE49-F238E27FC236}">
                <a16:creationId xmlns:a16="http://schemas.microsoft.com/office/drawing/2014/main" id="{1A34522C-3B50-4B6D-3E99-AB5F0C5E3512}"/>
              </a:ext>
            </a:extLst>
          </p:cNvPr>
          <p:cNvPicPr>
            <a:picLocks noChangeAspect="1"/>
          </p:cNvPicPr>
          <p:nvPr/>
        </p:nvPicPr>
        <p:blipFill>
          <a:blip r:embed="rId2"/>
          <a:stretch>
            <a:fillRect/>
          </a:stretch>
        </p:blipFill>
        <p:spPr>
          <a:xfrm>
            <a:off x="0" y="0"/>
            <a:ext cx="8850261" cy="6858000"/>
          </a:xfrm>
          <a:prstGeom prst="rect">
            <a:avLst/>
          </a:prstGeom>
        </p:spPr>
      </p:pic>
      <p:sp>
        <p:nvSpPr>
          <p:cNvPr id="11" name="角丸四角形吹き出し 83">
            <a:extLst>
              <a:ext uri="{FF2B5EF4-FFF2-40B4-BE49-F238E27FC236}">
                <a16:creationId xmlns:a16="http://schemas.microsoft.com/office/drawing/2014/main" id="{582AA8A4-31E0-0520-6403-F8A20FC16097}"/>
              </a:ext>
            </a:extLst>
          </p:cNvPr>
          <p:cNvSpPr/>
          <p:nvPr/>
        </p:nvSpPr>
        <p:spPr>
          <a:xfrm>
            <a:off x="7942521" y="241600"/>
            <a:ext cx="4062315" cy="2601433"/>
          </a:xfrm>
          <a:prstGeom prst="cloudCallout">
            <a:avLst/>
          </a:prstGeom>
          <a:solidFill>
            <a:srgbClr val="FFFFFF"/>
          </a:solidFill>
          <a:ln w="285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a:solidFill>
                  <a:schemeClr val="tx2">
                    <a:lumMod val="50000"/>
                  </a:schemeClr>
                </a:solidFill>
                <a:latin typeface="Meiryo" panose="020B0604030504040204" pitchFamily="34" charset="-128"/>
                <a:ea typeface="Meiryo" panose="020B0604030504040204" pitchFamily="34" charset="-128"/>
              </a:rPr>
              <a:t>ダッシュボードは、室内の空気質（温度、湿度、</a:t>
            </a:r>
            <a:r>
              <a:rPr lang="en-JP" sz="1400" dirty="0">
                <a:solidFill>
                  <a:schemeClr val="tx2">
                    <a:lumMod val="50000"/>
                  </a:schemeClr>
                </a:solidFill>
                <a:latin typeface="Meiryo" panose="020B0604030504040204" pitchFamily="34" charset="-128"/>
                <a:ea typeface="Meiryo" panose="020B0604030504040204" pitchFamily="34" charset="-128"/>
              </a:rPr>
              <a:t>CO₂</a:t>
            </a:r>
            <a:r>
              <a:rPr lang="ja-JP" altLang="en-US" sz="1400">
                <a:solidFill>
                  <a:schemeClr val="tx2">
                    <a:lumMod val="50000"/>
                  </a:schemeClr>
                </a:solidFill>
                <a:latin typeface="Meiryo" panose="020B0604030504040204" pitchFamily="34" charset="-128"/>
                <a:ea typeface="Meiryo" panose="020B0604030504040204" pitchFamily="34" charset="-128"/>
              </a:rPr>
              <a:t>）の主要な指標を、リアルタイムおよび時間的な傾向の両方で表示することを目的としている。</a:t>
            </a:r>
            <a:endParaRPr lang="en-JP" sz="1400" dirty="0">
              <a:solidFill>
                <a:schemeClr val="tx2">
                  <a:lumMod val="50000"/>
                </a:schemeClr>
              </a:solidFill>
              <a:latin typeface="Meiryo" panose="020B0604030504040204" pitchFamily="34" charset="-128"/>
              <a:ea typeface="Meiryo" panose="020B0604030504040204" pitchFamily="34" charset="-128"/>
            </a:endParaRPr>
          </a:p>
          <a:p>
            <a:endParaRPr lang="en-JP" sz="1400" dirty="0">
              <a:solidFill>
                <a:schemeClr val="tx2">
                  <a:lumMod val="50000"/>
                </a:schemeClr>
              </a:solidFill>
              <a:latin typeface="Meiryo" panose="020B0604030504040204" pitchFamily="34" charset="-128"/>
              <a:ea typeface="Meiryo" panose="020B0604030504040204" pitchFamily="34" charset="-128"/>
            </a:endParaRPr>
          </a:p>
        </p:txBody>
      </p:sp>
      <p:sp>
        <p:nvSpPr>
          <p:cNvPr id="12" name="角丸四角形吹き出し 83">
            <a:extLst>
              <a:ext uri="{FF2B5EF4-FFF2-40B4-BE49-F238E27FC236}">
                <a16:creationId xmlns:a16="http://schemas.microsoft.com/office/drawing/2014/main" id="{48479579-ECF5-0C3F-4E39-A1D874C29E6B}"/>
              </a:ext>
            </a:extLst>
          </p:cNvPr>
          <p:cNvSpPr/>
          <p:nvPr/>
        </p:nvSpPr>
        <p:spPr>
          <a:xfrm>
            <a:off x="7836195" y="3429000"/>
            <a:ext cx="4207199" cy="2418575"/>
          </a:xfrm>
          <a:prstGeom prst="cloudCallout">
            <a:avLst/>
          </a:prstGeom>
          <a:solidFill>
            <a:srgbClr val="FFFFFF"/>
          </a:solidFill>
          <a:ln w="285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altLang="ja-JP" sz="1600" b="1" kern="100" dirty="0">
              <a:solidFill>
                <a:schemeClr val="tx2">
                  <a:lumMod val="50000"/>
                </a:schemeClr>
              </a:solidFill>
              <a:latin typeface="Meiryo" panose="020B0604030504040204" pitchFamily="34" charset="-128"/>
              <a:ea typeface="Meiryo" panose="020B0604030504040204" pitchFamily="34" charset="-128"/>
              <a:cs typeface="MS Mincho" panose="02020609040205080304" pitchFamily="49" charset="-128"/>
            </a:endParaRPr>
          </a:p>
          <a:p>
            <a:endParaRPr lang="mn-MN" altLang="ja-JP" sz="1600" b="1" kern="100" dirty="0">
              <a:solidFill>
                <a:schemeClr val="tx2">
                  <a:lumMod val="50000"/>
                </a:schemeClr>
              </a:solidFill>
              <a:latin typeface="Meiryo" panose="020B0604030504040204" pitchFamily="34" charset="-128"/>
              <a:ea typeface="Meiryo" panose="020B0604030504040204" pitchFamily="34" charset="-128"/>
              <a:cs typeface="MS Mincho" panose="02020609040205080304" pitchFamily="49" charset="-128"/>
            </a:endParaRPr>
          </a:p>
          <a:p>
            <a:r>
              <a:rPr lang="ja-JP" altLang="en-US" sz="1600" b="1" kern="100">
                <a:solidFill>
                  <a:schemeClr val="tx2">
                    <a:lumMod val="50000"/>
                  </a:schemeClr>
                </a:solidFill>
                <a:latin typeface="Meiryo" panose="020B0604030504040204" pitchFamily="34" charset="-128"/>
                <a:ea typeface="Meiryo" panose="020B0604030504040204" pitchFamily="34" charset="-128"/>
                <a:cs typeface="MS Mincho" panose="02020609040205080304" pitchFamily="49" charset="-128"/>
              </a:rPr>
              <a:t>表示例</a:t>
            </a:r>
            <a:r>
              <a:rPr lang="ja-JP" altLang="en-US" sz="1600" kern="100">
                <a:solidFill>
                  <a:schemeClr val="tx2">
                    <a:lumMod val="50000"/>
                  </a:schemeClr>
                </a:solidFill>
                <a:latin typeface="Meiryo" panose="020B0604030504040204" pitchFamily="34" charset="-128"/>
                <a:ea typeface="Meiryo" panose="020B0604030504040204" pitchFamily="34" charset="-128"/>
                <a:cs typeface="MS Mincho" panose="02020609040205080304" pitchFamily="49" charset="-128"/>
              </a:rPr>
              <a:t>：</a:t>
            </a:r>
            <a:r>
              <a:rPr lang="en-JP" sz="1600" kern="100" dirty="0">
                <a:solidFill>
                  <a:schemeClr val="tx2">
                    <a:lumMod val="50000"/>
                  </a:schemeClr>
                </a:solidFill>
                <a:latin typeface="Meiryo" panose="020B0604030504040204" pitchFamily="34" charset="-128"/>
                <a:ea typeface="Meiryo" panose="020B0604030504040204" pitchFamily="34" charset="-128"/>
                <a:cs typeface="Times New Roman" panose="02020603050405020304" pitchFamily="18" charset="0"/>
              </a:rPr>
              <a:t>Temperature: 27.0°C</a:t>
            </a:r>
            <a:r>
              <a:rPr lang="ja-JP" altLang="en-US" sz="1600" kern="100">
                <a:solidFill>
                  <a:schemeClr val="tx2">
                    <a:lumMod val="50000"/>
                  </a:schemeClr>
                </a:solidFill>
                <a:latin typeface="Meiryo" panose="020B0604030504040204" pitchFamily="34" charset="-128"/>
                <a:ea typeface="Meiryo" panose="020B0604030504040204" pitchFamily="34" charset="-128"/>
                <a:cs typeface="MS Mincho" panose="02020609040205080304" pitchFamily="49" charset="-128"/>
              </a:rPr>
              <a:t>「</a:t>
            </a:r>
            <a:r>
              <a:rPr lang="en-JP" sz="1600" kern="100" dirty="0">
                <a:solidFill>
                  <a:schemeClr val="tx2">
                    <a:lumMod val="50000"/>
                  </a:schemeClr>
                </a:solidFill>
                <a:latin typeface="Meiryo" panose="020B0604030504040204" pitchFamily="34" charset="-128"/>
                <a:ea typeface="Meiryo" panose="020B0604030504040204" pitchFamily="34" charset="-128"/>
                <a:cs typeface="Times New Roman" panose="02020603050405020304" pitchFamily="18" charset="0"/>
              </a:rPr>
              <a:t>Normal CO₂: 858 ppm</a:t>
            </a:r>
            <a:r>
              <a:rPr lang="ja-JP" altLang="en-US" sz="1600" kern="100">
                <a:solidFill>
                  <a:schemeClr val="tx2">
                    <a:lumMod val="50000"/>
                  </a:schemeClr>
                </a:solidFill>
                <a:latin typeface="Meiryo" panose="020B0604030504040204" pitchFamily="34" charset="-128"/>
                <a:ea typeface="Meiryo" panose="020B0604030504040204" pitchFamily="34" charset="-128"/>
                <a:cs typeface="MS Mincho" panose="02020609040205080304" pitchFamily="49" charset="-128"/>
              </a:rPr>
              <a:t>」「</a:t>
            </a:r>
            <a:r>
              <a:rPr lang="en-JP" sz="1600" kern="100" dirty="0">
                <a:solidFill>
                  <a:schemeClr val="tx2">
                    <a:lumMod val="50000"/>
                  </a:schemeClr>
                </a:solidFill>
                <a:latin typeface="Meiryo" panose="020B0604030504040204" pitchFamily="34" charset="-128"/>
                <a:ea typeface="Meiryo" panose="020B0604030504040204" pitchFamily="34" charset="-128"/>
                <a:cs typeface="Times New Roman" panose="02020603050405020304" pitchFamily="18" charset="0"/>
              </a:rPr>
              <a:t>Humidity: 64.2%</a:t>
            </a:r>
            <a:r>
              <a:rPr lang="ja-JP" altLang="en-US" sz="1600" kern="100">
                <a:solidFill>
                  <a:schemeClr val="tx2">
                    <a:lumMod val="50000"/>
                  </a:schemeClr>
                </a:solidFill>
                <a:latin typeface="Meiryo" panose="020B0604030504040204" pitchFamily="34" charset="-128"/>
                <a:ea typeface="Meiryo" panose="020B0604030504040204" pitchFamily="34" charset="-128"/>
                <a:cs typeface="MS Mincho" panose="02020609040205080304" pitchFamily="49" charset="-128"/>
              </a:rPr>
              <a:t>」などの情報が、それぞれ個別に表示されている。</a:t>
            </a:r>
            <a:endParaRPr lang="en-JP" sz="1600" kern="100" dirty="0">
              <a:solidFill>
                <a:schemeClr val="tx2">
                  <a:lumMod val="50000"/>
                </a:schemeClr>
              </a:solidFill>
              <a:latin typeface="Meiryo" panose="020B0604030504040204" pitchFamily="34" charset="-128"/>
              <a:ea typeface="Meiryo" panose="020B0604030504040204" pitchFamily="34" charset="-128"/>
              <a:cs typeface="Times New Roman" panose="02020603050405020304" pitchFamily="18" charset="0"/>
            </a:endParaRPr>
          </a:p>
          <a:p>
            <a:endParaRPr lang="en-JP" sz="1600" dirty="0">
              <a:solidFill>
                <a:schemeClr val="tx2">
                  <a:lumMod val="50000"/>
                </a:schemeClr>
              </a:solidFill>
            </a:endParaRPr>
          </a:p>
        </p:txBody>
      </p:sp>
    </p:spTree>
    <p:extLst>
      <p:ext uri="{BB962C8B-B14F-4D97-AF65-F5344CB8AC3E}">
        <p14:creationId xmlns:p14="http://schemas.microsoft.com/office/powerpoint/2010/main" val="4251522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78F4984-3D41-98C2-DDB6-C38F64820983}"/>
              </a:ext>
            </a:extLst>
          </p:cNvPr>
          <p:cNvSpPr>
            <a:spLocks noGrp="1"/>
          </p:cNvSpPr>
          <p:nvPr>
            <p:ph type="sldNum" sz="quarter" idx="12"/>
          </p:nvPr>
        </p:nvSpPr>
        <p:spPr/>
        <p:txBody>
          <a:bodyPr/>
          <a:lstStyle/>
          <a:p>
            <a:r>
              <a:rPr lang="en-JP" dirty="0"/>
              <a:t>13</a:t>
            </a:r>
          </a:p>
        </p:txBody>
      </p:sp>
      <p:sp>
        <p:nvSpPr>
          <p:cNvPr id="6" name="TextBox 5">
            <a:extLst>
              <a:ext uri="{FF2B5EF4-FFF2-40B4-BE49-F238E27FC236}">
                <a16:creationId xmlns:a16="http://schemas.microsoft.com/office/drawing/2014/main" id="{582B8171-35FA-9065-AFCB-7161C9DE649A}"/>
              </a:ext>
            </a:extLst>
          </p:cNvPr>
          <p:cNvSpPr txBox="1"/>
          <p:nvPr/>
        </p:nvSpPr>
        <p:spPr>
          <a:xfrm>
            <a:off x="1149037" y="1843950"/>
            <a:ext cx="9893926" cy="3170099"/>
          </a:xfrm>
          <a:prstGeom prst="rect">
            <a:avLst/>
          </a:prstGeom>
          <a:noFill/>
        </p:spPr>
        <p:txBody>
          <a:bodyPr wrap="square">
            <a:spAutoFit/>
          </a:bodyPr>
          <a:lstStyle/>
          <a:p>
            <a:pPr marL="342900" indent="-342900">
              <a:buFont typeface="Wingdings" pitchFamily="2" charset="2"/>
              <a:buChar char="Ø"/>
            </a:pPr>
            <a:r>
              <a:rPr lang="en-JP" sz="2000" dirty="0">
                <a:latin typeface="Meiryo" panose="020B0604030504040204" pitchFamily="34" charset="-128"/>
                <a:ea typeface="Meiryo" panose="020B0604030504040204" pitchFamily="34" charset="-128"/>
              </a:rPr>
              <a:t>室内の空気の質をわかりやすく可視化し、空気が悪化した際にユーザーへタイムリーに通知するシステムは、利用者が状況を理解し、迅速な対策を取るのに役立ちます。</a:t>
            </a:r>
          </a:p>
          <a:p>
            <a:pPr marL="342900" indent="-342900">
              <a:buFont typeface="Wingdings" pitchFamily="2" charset="2"/>
              <a:buChar char="Ø"/>
            </a:pPr>
            <a:endParaRPr lang="en-JP" sz="2000" dirty="0">
              <a:latin typeface="Meiryo" panose="020B0604030504040204" pitchFamily="34" charset="-128"/>
              <a:ea typeface="Meiryo" panose="020B0604030504040204" pitchFamily="34" charset="-128"/>
            </a:endParaRPr>
          </a:p>
          <a:p>
            <a:pPr marL="342900" indent="-342900">
              <a:buFont typeface="Wingdings" pitchFamily="2" charset="2"/>
              <a:buChar char="Ø"/>
            </a:pPr>
            <a:r>
              <a:rPr lang="en-JP" sz="2000" dirty="0">
                <a:latin typeface="Meiryo" panose="020B0604030504040204" pitchFamily="34" charset="-128"/>
                <a:ea typeface="Meiryo" panose="020B0604030504040204" pitchFamily="34" charset="-128"/>
              </a:rPr>
              <a:t>センサーのデータを正しくクレンジングし分析することで、ユーザーは正確で信頼できる情報に基づいて（例えば換気などの）適切な行動を取ることができる。これにより室内環境が改善され、快適で健康的な空間が実現します。</a:t>
            </a:r>
          </a:p>
          <a:p>
            <a:pPr marL="342900" indent="-342900">
              <a:buFont typeface="Wingdings" pitchFamily="2" charset="2"/>
              <a:buChar char="Ø"/>
            </a:pPr>
            <a:endParaRPr lang="en-JP" sz="2000" dirty="0">
              <a:latin typeface="Meiryo" panose="020B0604030504040204" pitchFamily="34" charset="-128"/>
              <a:ea typeface="Meiryo" panose="020B0604030504040204" pitchFamily="34" charset="-128"/>
            </a:endParaRPr>
          </a:p>
          <a:p>
            <a:pPr marL="342900" indent="-342900">
              <a:buFont typeface="Wingdings" pitchFamily="2" charset="2"/>
              <a:buChar char="Ø"/>
            </a:pPr>
            <a:r>
              <a:rPr lang="en-JP" sz="2000" dirty="0">
                <a:latin typeface="Meiryo" panose="020B0604030504040204" pitchFamily="34" charset="-128"/>
                <a:ea typeface="Meiryo" panose="020B0604030504040204" pitchFamily="34" charset="-128"/>
              </a:rPr>
              <a:t>センサーデータの精度および移動平均や比較分析などのデータ処理が非常に重要です。</a:t>
            </a:r>
          </a:p>
        </p:txBody>
      </p:sp>
      <p:sp>
        <p:nvSpPr>
          <p:cNvPr id="8" name="TextBox 7">
            <a:extLst>
              <a:ext uri="{FF2B5EF4-FFF2-40B4-BE49-F238E27FC236}">
                <a16:creationId xmlns:a16="http://schemas.microsoft.com/office/drawing/2014/main" id="{510E6765-C4E7-B8EB-BCC6-2D6AA3623AC5}"/>
              </a:ext>
            </a:extLst>
          </p:cNvPr>
          <p:cNvSpPr txBox="1"/>
          <p:nvPr/>
        </p:nvSpPr>
        <p:spPr>
          <a:xfrm>
            <a:off x="1397000" y="575231"/>
            <a:ext cx="6096000" cy="568874"/>
          </a:xfrm>
          <a:prstGeom prst="rect">
            <a:avLst/>
          </a:prstGeom>
          <a:noFill/>
        </p:spPr>
        <p:txBody>
          <a:bodyPr wrap="square">
            <a:spAutoFit/>
          </a:bodyPr>
          <a:lstStyle/>
          <a:p>
            <a:pPr marL="213355">
              <a:lnSpc>
                <a:spcPct val="150000"/>
              </a:lnSpc>
              <a:spcBef>
                <a:spcPts val="0"/>
              </a:spcBef>
              <a:buSzPts val="2800"/>
            </a:pPr>
            <a:r>
              <a:rPr lang="ja-JP" altLang="en-US" sz="2400">
                <a:latin typeface="Meiryo UI" panose="020B0604030504040204" pitchFamily="50" charset="-128"/>
                <a:ea typeface="Meiryo UI" panose="020B0604030504040204" pitchFamily="50" charset="-128"/>
              </a:rPr>
              <a:t>まとめ</a:t>
            </a:r>
            <a:endParaRPr kumimoji="1" lang="en-US" altLang="ja-JP" sz="24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317195806"/>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{5366502D-1E5D-5747-8BDA-DDAEC8313608}tf10001073</Template>
  <TotalTime>12219</TotalTime>
  <Words>1275</Words>
  <Application>Microsoft Macintosh PowerPoint</Application>
  <PresentationFormat>Widescreen</PresentationFormat>
  <Paragraphs>166</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Meiryo</vt:lpstr>
      <vt:lpstr>Meiryo UI</vt:lpstr>
      <vt:lpstr>YuMincho +36p Kana Medium</vt:lpstr>
      <vt:lpstr>Arial</vt:lpstr>
      <vt:lpstr>Calibri</vt:lpstr>
      <vt:lpstr>Tw Cen MT</vt:lpstr>
      <vt:lpstr>Wingdings</vt:lpstr>
      <vt:lpstr>Droplet</vt:lpstr>
      <vt:lpstr>室内空気質モニタリングのためのIoTシステム提案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undarmaa581@gmail.com</dc:creator>
  <cp:lastModifiedBy>undarmaa581@gmail.com</cp:lastModifiedBy>
  <cp:revision>5</cp:revision>
  <dcterms:created xsi:type="dcterms:W3CDTF">2025-07-09T04:29:01Z</dcterms:created>
  <dcterms:modified xsi:type="dcterms:W3CDTF">2025-07-23T11:52:46Z</dcterms:modified>
</cp:coreProperties>
</file>