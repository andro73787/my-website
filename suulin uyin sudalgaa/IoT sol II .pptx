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59" r:id="rId14"/>
    <p:sldId id="260" r:id="rId15"/>
    <p:sldId id="270" r:id="rId16"/>
    <p:sldId id="271" r:id="rId17"/>
    <p:sldId id="272" r:id="rId18"/>
    <p:sldId id="273" r:id="rId19"/>
    <p:sldId id="274" r:id="rId20"/>
    <p:sldId id="275" r:id="rId21"/>
    <p:sldId id="276" r:id="rId22"/>
    <p:sldId id="278" r:id="rId23"/>
    <p:sldId id="279" r:id="rId24"/>
    <p:sldId id="280" r:id="rId25"/>
    <p:sldId id="277" r:id="rId26"/>
    <p:sldId id="281" r:id="rId27"/>
    <p:sldId id="282" r:id="rId28"/>
    <p:sldId id="283" r:id="rId29"/>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3"/>
    <p:restoredTop sz="94676"/>
  </p:normalViewPr>
  <p:slideViewPr>
    <p:cSldViewPr snapToGrid="0">
      <p:cViewPr varScale="1">
        <p:scale>
          <a:sx n="114" d="100"/>
          <a:sy n="114" d="100"/>
        </p:scale>
        <p:origin x="336" y="1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831037-9D05-7C4D-9092-582F0E65166D}" type="datetimeFigureOut">
              <a:rPr lang="en-JP" smtClean="0"/>
              <a:t>2025/05/28</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AC9489-6342-5B46-AA75-E69CAEBB373D}" type="slidenum">
              <a:rPr lang="en-JP" smtClean="0"/>
              <a:t>‹#›</a:t>
            </a:fld>
            <a:endParaRPr lang="en-JP"/>
          </a:p>
        </p:txBody>
      </p:sp>
    </p:spTree>
    <p:extLst>
      <p:ext uri="{BB962C8B-B14F-4D97-AF65-F5344CB8AC3E}">
        <p14:creationId xmlns:p14="http://schemas.microsoft.com/office/powerpoint/2010/main" val="310688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3E3D-0421-59D4-6406-5C0D3B7920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C5F1081E-026E-F909-0EF5-1A65846F16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117BDB8A-2692-273B-84DA-8C8F050AAA6F}"/>
              </a:ext>
            </a:extLst>
          </p:cNvPr>
          <p:cNvSpPr>
            <a:spLocks noGrp="1"/>
          </p:cNvSpPr>
          <p:nvPr>
            <p:ph type="dt" sz="half" idx="10"/>
          </p:nvPr>
        </p:nvSpPr>
        <p:spPr/>
        <p:txBody>
          <a:bodyPr/>
          <a:lstStyle/>
          <a:p>
            <a:fld id="{1B6029D8-A8A5-3444-8DFA-C4E705AB6DAF}" type="datetime1">
              <a:rPr lang="en-US" smtClean="0"/>
              <a:t>5/28/25</a:t>
            </a:fld>
            <a:endParaRPr lang="en-JP"/>
          </a:p>
        </p:txBody>
      </p:sp>
      <p:sp>
        <p:nvSpPr>
          <p:cNvPr id="5" name="Footer Placeholder 4">
            <a:extLst>
              <a:ext uri="{FF2B5EF4-FFF2-40B4-BE49-F238E27FC236}">
                <a16:creationId xmlns:a16="http://schemas.microsoft.com/office/drawing/2014/main" id="{3571BD42-2287-5D6D-BB90-F9316503899E}"/>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2A14B49-110C-13E1-4A44-9A72B537F6E2}"/>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283280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FBE-7C84-8FAC-E553-2D6D0B4814F7}"/>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294456CD-AD4E-D0EC-BE7B-014540FE73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35158061-8F7D-B290-C381-46E0588A76D9}"/>
              </a:ext>
            </a:extLst>
          </p:cNvPr>
          <p:cNvSpPr>
            <a:spLocks noGrp="1"/>
          </p:cNvSpPr>
          <p:nvPr>
            <p:ph type="dt" sz="half" idx="10"/>
          </p:nvPr>
        </p:nvSpPr>
        <p:spPr/>
        <p:txBody>
          <a:bodyPr/>
          <a:lstStyle/>
          <a:p>
            <a:fld id="{0C0B3BD6-331D-D14D-AE63-DF0F72A05C74}" type="datetime1">
              <a:rPr lang="en-US" smtClean="0"/>
              <a:t>5/28/25</a:t>
            </a:fld>
            <a:endParaRPr lang="en-JP"/>
          </a:p>
        </p:txBody>
      </p:sp>
      <p:sp>
        <p:nvSpPr>
          <p:cNvPr id="5" name="Footer Placeholder 4">
            <a:extLst>
              <a:ext uri="{FF2B5EF4-FFF2-40B4-BE49-F238E27FC236}">
                <a16:creationId xmlns:a16="http://schemas.microsoft.com/office/drawing/2014/main" id="{6AA2E4A2-2C81-4C78-91C0-F0E089CB9B0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EF083B9-8118-F8CA-0996-8376C0CD3B50}"/>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2629955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BAC6F-D1BF-99A1-01D4-54F813E8BB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F9C08848-1734-5C01-73B4-32405F8877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E5A8B3-C3A7-3F21-073B-E00A6B356128}"/>
              </a:ext>
            </a:extLst>
          </p:cNvPr>
          <p:cNvSpPr>
            <a:spLocks noGrp="1"/>
          </p:cNvSpPr>
          <p:nvPr>
            <p:ph type="dt" sz="half" idx="10"/>
          </p:nvPr>
        </p:nvSpPr>
        <p:spPr/>
        <p:txBody>
          <a:bodyPr/>
          <a:lstStyle/>
          <a:p>
            <a:fld id="{5F8D3E71-031F-DF42-A422-F93E2351F384}" type="datetime1">
              <a:rPr lang="en-US" smtClean="0"/>
              <a:t>5/28/25</a:t>
            </a:fld>
            <a:endParaRPr lang="en-JP"/>
          </a:p>
        </p:txBody>
      </p:sp>
      <p:sp>
        <p:nvSpPr>
          <p:cNvPr id="5" name="Footer Placeholder 4">
            <a:extLst>
              <a:ext uri="{FF2B5EF4-FFF2-40B4-BE49-F238E27FC236}">
                <a16:creationId xmlns:a16="http://schemas.microsoft.com/office/drawing/2014/main" id="{DE7FC0F1-AA44-0400-A5D9-D41255131D2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A9CA4130-A8F7-0B15-1605-E6115698210D}"/>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33986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CC8E5-F97D-A07A-DE65-12E5F356F68D}"/>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41A0921D-E603-5698-7686-078D337F0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2765A298-7440-6DE6-8994-3A86B143AF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CF89CE60-4B6D-607D-C823-A12AF9C103C5}"/>
              </a:ext>
            </a:extLst>
          </p:cNvPr>
          <p:cNvSpPr>
            <a:spLocks noGrp="1"/>
          </p:cNvSpPr>
          <p:nvPr>
            <p:ph type="dt" sz="half" idx="10"/>
          </p:nvPr>
        </p:nvSpPr>
        <p:spPr/>
        <p:txBody>
          <a:bodyPr/>
          <a:lstStyle/>
          <a:p>
            <a:fld id="{3461504F-6174-7748-BCA5-10314577898F}" type="datetime1">
              <a:rPr lang="en-US" smtClean="0"/>
              <a:t>5/28/25</a:t>
            </a:fld>
            <a:endParaRPr lang="en-JP"/>
          </a:p>
        </p:txBody>
      </p:sp>
      <p:sp>
        <p:nvSpPr>
          <p:cNvPr id="6" name="Footer Placeholder 5">
            <a:extLst>
              <a:ext uri="{FF2B5EF4-FFF2-40B4-BE49-F238E27FC236}">
                <a16:creationId xmlns:a16="http://schemas.microsoft.com/office/drawing/2014/main" id="{F677EB3C-5295-EE3A-8496-0926144EEB96}"/>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1E29C8AC-ABDA-2FD7-4376-E84BA74DFE0C}"/>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7382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9582-4782-B0A6-3C71-C0F5AD5FC562}"/>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121F42DC-561A-A319-933F-987848AEE2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DB2BD7-8D8E-CEBD-0DB7-53DF250ACE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65591D04-D3E1-AE66-88FF-EB34E391A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E1692-8C9E-3D20-2A24-D9655834F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5D1DD950-7A32-C9C8-F618-63C465CD7E22}"/>
              </a:ext>
            </a:extLst>
          </p:cNvPr>
          <p:cNvSpPr>
            <a:spLocks noGrp="1"/>
          </p:cNvSpPr>
          <p:nvPr>
            <p:ph type="dt" sz="half" idx="10"/>
          </p:nvPr>
        </p:nvSpPr>
        <p:spPr/>
        <p:txBody>
          <a:bodyPr/>
          <a:lstStyle/>
          <a:p>
            <a:fld id="{B9A75AA0-91BA-1C47-8E9C-93B69954C367}" type="datetime1">
              <a:rPr lang="en-US" smtClean="0"/>
              <a:t>5/28/25</a:t>
            </a:fld>
            <a:endParaRPr lang="en-JP"/>
          </a:p>
        </p:txBody>
      </p:sp>
      <p:sp>
        <p:nvSpPr>
          <p:cNvPr id="8" name="Footer Placeholder 7">
            <a:extLst>
              <a:ext uri="{FF2B5EF4-FFF2-40B4-BE49-F238E27FC236}">
                <a16:creationId xmlns:a16="http://schemas.microsoft.com/office/drawing/2014/main" id="{8FCDE73C-C73D-0E02-4C57-D110E21FB1A1}"/>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B1A507EE-D25C-6D11-3A69-45183DB8236D}"/>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1046576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02CC-CAF5-DF67-A475-906E3DA1DDB1}"/>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E628C8D-1809-E67D-75E1-1EF23829FD46}"/>
              </a:ext>
            </a:extLst>
          </p:cNvPr>
          <p:cNvSpPr>
            <a:spLocks noGrp="1"/>
          </p:cNvSpPr>
          <p:nvPr>
            <p:ph type="dt" sz="half" idx="10"/>
          </p:nvPr>
        </p:nvSpPr>
        <p:spPr/>
        <p:txBody>
          <a:bodyPr/>
          <a:lstStyle/>
          <a:p>
            <a:fld id="{E723B28F-8C2C-5C46-A2E8-89C4250EC29B}" type="datetime1">
              <a:rPr lang="en-US" smtClean="0"/>
              <a:t>5/28/25</a:t>
            </a:fld>
            <a:endParaRPr lang="en-JP"/>
          </a:p>
        </p:txBody>
      </p:sp>
      <p:sp>
        <p:nvSpPr>
          <p:cNvPr id="4" name="Footer Placeholder 3">
            <a:extLst>
              <a:ext uri="{FF2B5EF4-FFF2-40B4-BE49-F238E27FC236}">
                <a16:creationId xmlns:a16="http://schemas.microsoft.com/office/drawing/2014/main" id="{2462C09D-23B8-E283-854C-FF8D9C3F6F46}"/>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13B94741-C4E9-4A20-F41D-DACCCE1D8F89}"/>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1456454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ABBDD8-7B95-A876-936D-11F7CD8B6097}"/>
              </a:ext>
            </a:extLst>
          </p:cNvPr>
          <p:cNvSpPr>
            <a:spLocks noGrp="1"/>
          </p:cNvSpPr>
          <p:nvPr>
            <p:ph type="dt" sz="half" idx="10"/>
          </p:nvPr>
        </p:nvSpPr>
        <p:spPr/>
        <p:txBody>
          <a:bodyPr/>
          <a:lstStyle/>
          <a:p>
            <a:fld id="{DD297928-E4C8-0A40-8D95-3E28D469C9CF}" type="datetime1">
              <a:rPr lang="en-US" smtClean="0"/>
              <a:t>5/28/25</a:t>
            </a:fld>
            <a:endParaRPr lang="en-JP"/>
          </a:p>
        </p:txBody>
      </p:sp>
      <p:sp>
        <p:nvSpPr>
          <p:cNvPr id="3" name="Footer Placeholder 2">
            <a:extLst>
              <a:ext uri="{FF2B5EF4-FFF2-40B4-BE49-F238E27FC236}">
                <a16:creationId xmlns:a16="http://schemas.microsoft.com/office/drawing/2014/main" id="{522FABE8-40F1-1826-36D0-CADFF4C0F231}"/>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8B404138-E9A0-4B76-0F64-7EB539351D4F}"/>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190836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73468-99C1-5003-2C43-038C2D9D4E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909603DA-3446-FCB1-1379-47062BD5F1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7CB8D031-F1C3-37EE-C4AB-5B35AB00EA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60723A-F8E2-1C3C-A3DA-BB701CF159FD}"/>
              </a:ext>
            </a:extLst>
          </p:cNvPr>
          <p:cNvSpPr>
            <a:spLocks noGrp="1"/>
          </p:cNvSpPr>
          <p:nvPr>
            <p:ph type="dt" sz="half" idx="10"/>
          </p:nvPr>
        </p:nvSpPr>
        <p:spPr/>
        <p:txBody>
          <a:bodyPr/>
          <a:lstStyle/>
          <a:p>
            <a:fld id="{28B1989C-7F6E-7441-A13D-E17B8E573D5F}" type="datetime1">
              <a:rPr lang="en-US" smtClean="0"/>
              <a:t>5/28/25</a:t>
            </a:fld>
            <a:endParaRPr lang="en-JP"/>
          </a:p>
        </p:txBody>
      </p:sp>
      <p:sp>
        <p:nvSpPr>
          <p:cNvPr id="6" name="Footer Placeholder 5">
            <a:extLst>
              <a:ext uri="{FF2B5EF4-FFF2-40B4-BE49-F238E27FC236}">
                <a16:creationId xmlns:a16="http://schemas.microsoft.com/office/drawing/2014/main" id="{6F610B33-8304-34CB-5C61-E72EDA9CFD7A}"/>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21FFFAA5-C080-86D1-EDD1-C6CF59940CBB}"/>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3349365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384B-26ED-B85A-3C38-B5686248F2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7D433256-B6BD-5050-30A0-734ABC48B4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1F2E931B-285F-1B09-AF69-38E5498D71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9669F-5CFA-5828-C73C-6EC051E68E02}"/>
              </a:ext>
            </a:extLst>
          </p:cNvPr>
          <p:cNvSpPr>
            <a:spLocks noGrp="1"/>
          </p:cNvSpPr>
          <p:nvPr>
            <p:ph type="dt" sz="half" idx="10"/>
          </p:nvPr>
        </p:nvSpPr>
        <p:spPr/>
        <p:txBody>
          <a:bodyPr/>
          <a:lstStyle/>
          <a:p>
            <a:fld id="{E974A9EF-1E0D-E843-A552-76AC4EB3FC04}" type="datetime1">
              <a:rPr lang="en-US" smtClean="0"/>
              <a:t>5/28/25</a:t>
            </a:fld>
            <a:endParaRPr lang="en-JP"/>
          </a:p>
        </p:txBody>
      </p:sp>
      <p:sp>
        <p:nvSpPr>
          <p:cNvPr id="6" name="Footer Placeholder 5">
            <a:extLst>
              <a:ext uri="{FF2B5EF4-FFF2-40B4-BE49-F238E27FC236}">
                <a16:creationId xmlns:a16="http://schemas.microsoft.com/office/drawing/2014/main" id="{255BEFE3-5B6C-72E6-650B-A9435FD27C0D}"/>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F0A0400E-DE0A-84C5-983B-1A413BAC5DF9}"/>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2454154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86E2-DEC9-A70E-562C-D7196562156E}"/>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D4893977-350E-76B2-6F0E-452C6D6C1D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684E638E-67D2-1C1F-8E27-16CBD746A05A}"/>
              </a:ext>
            </a:extLst>
          </p:cNvPr>
          <p:cNvSpPr>
            <a:spLocks noGrp="1"/>
          </p:cNvSpPr>
          <p:nvPr>
            <p:ph type="dt" sz="half" idx="10"/>
          </p:nvPr>
        </p:nvSpPr>
        <p:spPr/>
        <p:txBody>
          <a:bodyPr/>
          <a:lstStyle/>
          <a:p>
            <a:fld id="{340B88B3-3978-3A4C-91D4-3DBE934176C5}" type="datetime1">
              <a:rPr lang="en-US" smtClean="0"/>
              <a:t>5/28/25</a:t>
            </a:fld>
            <a:endParaRPr lang="en-JP"/>
          </a:p>
        </p:txBody>
      </p:sp>
      <p:sp>
        <p:nvSpPr>
          <p:cNvPr id="5" name="Footer Placeholder 4">
            <a:extLst>
              <a:ext uri="{FF2B5EF4-FFF2-40B4-BE49-F238E27FC236}">
                <a16:creationId xmlns:a16="http://schemas.microsoft.com/office/drawing/2014/main" id="{B4B34833-3211-29F3-86DE-B46F6820D7BC}"/>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64358C5A-C89B-0699-57E3-CE4B55FC66B3}"/>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642955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9DFD0D-4A8B-029E-B643-E6CA5E21EE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049A481B-34B2-EAF7-80AC-23B831FAB2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E65442DB-D640-AFF6-D5B1-ABFAEE5000F5}"/>
              </a:ext>
            </a:extLst>
          </p:cNvPr>
          <p:cNvSpPr>
            <a:spLocks noGrp="1"/>
          </p:cNvSpPr>
          <p:nvPr>
            <p:ph type="dt" sz="half" idx="10"/>
          </p:nvPr>
        </p:nvSpPr>
        <p:spPr/>
        <p:txBody>
          <a:bodyPr/>
          <a:lstStyle/>
          <a:p>
            <a:fld id="{98D21656-6653-E145-8466-D8CEB18D9C13}" type="datetime1">
              <a:rPr lang="en-US" smtClean="0"/>
              <a:t>5/28/25</a:t>
            </a:fld>
            <a:endParaRPr lang="en-JP"/>
          </a:p>
        </p:txBody>
      </p:sp>
      <p:sp>
        <p:nvSpPr>
          <p:cNvPr id="5" name="Footer Placeholder 4">
            <a:extLst>
              <a:ext uri="{FF2B5EF4-FFF2-40B4-BE49-F238E27FC236}">
                <a16:creationId xmlns:a16="http://schemas.microsoft.com/office/drawing/2014/main" id="{2DA06169-442A-F1F0-4553-4DB8DDC0867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6A9A07D-86DF-9273-8367-F71A5C6A2BC2}"/>
              </a:ext>
            </a:extLst>
          </p:cNvPr>
          <p:cNvSpPr>
            <a:spLocks noGrp="1"/>
          </p:cNvSpPr>
          <p:nvPr>
            <p:ph type="sldNum" sz="quarter" idx="12"/>
          </p:nvPr>
        </p:nvSpPr>
        <p:spPr/>
        <p:txBody>
          <a:bodyPr/>
          <a:lstStyle/>
          <a:p>
            <a:fld id="{520D4680-3C5B-EB48-BF72-7F3061D1D72A}" type="slidenum">
              <a:rPr lang="en-JP" smtClean="0"/>
              <a:t>‹#›</a:t>
            </a:fld>
            <a:endParaRPr lang="en-JP"/>
          </a:p>
        </p:txBody>
      </p:sp>
    </p:spTree>
    <p:extLst>
      <p:ext uri="{BB962C8B-B14F-4D97-AF65-F5344CB8AC3E}">
        <p14:creationId xmlns:p14="http://schemas.microsoft.com/office/powerpoint/2010/main" val="1785384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5C9589-EECF-43BC-6BD7-1C3173946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95828EC7-3CFD-2016-5735-4D13C16612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7338D69-8743-C5A5-9313-78A448AFD0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25CDE9-1F8A-0B44-AEF4-F50522224C7E}" type="datetime1">
              <a:rPr lang="en-US" smtClean="0"/>
              <a:t>5/28/25</a:t>
            </a:fld>
            <a:endParaRPr lang="en-JP"/>
          </a:p>
        </p:txBody>
      </p:sp>
      <p:sp>
        <p:nvSpPr>
          <p:cNvPr id="5" name="Footer Placeholder 4">
            <a:extLst>
              <a:ext uri="{FF2B5EF4-FFF2-40B4-BE49-F238E27FC236}">
                <a16:creationId xmlns:a16="http://schemas.microsoft.com/office/drawing/2014/main" id="{E3675AEB-B911-AC68-4E5B-85650BDB43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FBE78016-8725-4144-FBB5-6588B3F255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0D4680-3C5B-EB48-BF72-7F3061D1D72A}" type="slidenum">
              <a:rPr lang="en-JP" smtClean="0"/>
              <a:t>‹#›</a:t>
            </a:fld>
            <a:endParaRPr lang="en-JP"/>
          </a:p>
        </p:txBody>
      </p:sp>
    </p:spTree>
    <p:extLst>
      <p:ext uri="{BB962C8B-B14F-4D97-AF65-F5344CB8AC3E}">
        <p14:creationId xmlns:p14="http://schemas.microsoft.com/office/powerpoint/2010/main" val="4145963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FB5092-BFD8-1BE4-326A-53A66212DFBB}"/>
              </a:ext>
            </a:extLst>
          </p:cNvPr>
          <p:cNvSpPr txBox="1"/>
          <p:nvPr/>
        </p:nvSpPr>
        <p:spPr>
          <a:xfrm>
            <a:off x="3454265" y="3841860"/>
            <a:ext cx="6100762" cy="646331"/>
          </a:xfrm>
          <a:prstGeom prst="rect">
            <a:avLst/>
          </a:prstGeom>
          <a:noFill/>
        </p:spPr>
        <p:txBody>
          <a:bodyPr wrap="square">
            <a:spAutoFit/>
          </a:bodyPr>
          <a:lstStyle/>
          <a:p>
            <a:endParaRPr lang="en-US" altLang="ja-JP" dirty="0">
              <a:latin typeface="YuMincho +36p Kana Medium" panose="02020500000000000000" pitchFamily="18" charset="-128"/>
              <a:ea typeface="YuMincho +36p Kana Medium" panose="02020500000000000000" pitchFamily="18" charset="-128"/>
            </a:endParaRPr>
          </a:p>
          <a:p>
            <a:endParaRPr kumimoji="1" lang="ja-JP" altLang="en-US" sz="1800" dirty="0">
              <a:latin typeface="メイリオ" panose="020B0604030504040204" pitchFamily="50" charset="-128"/>
              <a:ea typeface="メイリオ" panose="020B0604030504040204" pitchFamily="50" charset="-128"/>
            </a:endParaRPr>
          </a:p>
        </p:txBody>
      </p:sp>
      <p:sp>
        <p:nvSpPr>
          <p:cNvPr id="7" name="TextBox 6">
            <a:extLst>
              <a:ext uri="{FF2B5EF4-FFF2-40B4-BE49-F238E27FC236}">
                <a16:creationId xmlns:a16="http://schemas.microsoft.com/office/drawing/2014/main" id="{81F8AB85-08E0-4A58-52D4-70129EC42A4C}"/>
              </a:ext>
            </a:extLst>
          </p:cNvPr>
          <p:cNvSpPr txBox="1"/>
          <p:nvPr/>
        </p:nvSpPr>
        <p:spPr>
          <a:xfrm>
            <a:off x="2170510" y="1656646"/>
            <a:ext cx="7850980" cy="5016758"/>
          </a:xfrm>
          <a:prstGeom prst="rect">
            <a:avLst/>
          </a:prstGeom>
          <a:noFill/>
        </p:spPr>
        <p:txBody>
          <a:bodyPr wrap="square">
            <a:spAutoFit/>
          </a:bodyPr>
          <a:lstStyle/>
          <a:p>
            <a:r>
              <a:rPr lang="en-US" sz="3200" dirty="0"/>
              <a:t>Apache IoTDB: A Time Series Database for Large Scale IoT Applications </a:t>
            </a:r>
          </a:p>
          <a:p>
            <a:endParaRPr lang="en-US" sz="3200" dirty="0"/>
          </a:p>
          <a:p>
            <a:endParaRPr lang="en-US" sz="3200" dirty="0"/>
          </a:p>
          <a:p>
            <a:r>
              <a:rPr lang="ja-JP" altLang="en-US" sz="3200"/>
              <a:t>著者：</a:t>
            </a:r>
            <a:r>
              <a:rPr lang="en-US" sz="3200" dirty="0"/>
              <a:t>Chen Wang</a:t>
            </a:r>
          </a:p>
          <a:p>
            <a:r>
              <a:rPr lang="ja-JP" altLang="en-US" sz="3200">
                <a:latin typeface="YuMincho +36p Kana Medium" panose="02020500000000000000" pitchFamily="18" charset="-128"/>
                <a:ea typeface="YuMincho +36p Kana Medium" panose="02020500000000000000" pitchFamily="18" charset="-128"/>
              </a:rPr>
              <a:t>発表日</a:t>
            </a:r>
            <a:r>
              <a:rPr lang="en-US" altLang="ja-JP" sz="3200" dirty="0">
                <a:latin typeface="YuMincho +36p Kana Medium" panose="02020500000000000000" pitchFamily="18" charset="-128"/>
                <a:ea typeface="YuMincho +36p Kana Medium" panose="02020500000000000000" pitchFamily="18" charset="-128"/>
              </a:rPr>
              <a:t>: 2025</a:t>
            </a:r>
            <a:r>
              <a:rPr lang="ja-JP" altLang="en-US" sz="3200">
                <a:latin typeface="YuMincho +36p Kana Medium" panose="02020500000000000000" pitchFamily="18" charset="-128"/>
                <a:ea typeface="YuMincho +36p Kana Medium" panose="02020500000000000000" pitchFamily="18" charset="-128"/>
              </a:rPr>
              <a:t>年</a:t>
            </a:r>
            <a:r>
              <a:rPr lang="mn-MN" altLang="ja-JP" sz="3200" b="0" i="0" u="none" strike="noStrike" dirty="0">
                <a:solidFill>
                  <a:schemeClr val="tx1"/>
                </a:solidFill>
                <a:effectLst/>
                <a:latin typeface="YuMincho +36p Kana Medium" panose="02020500000000000000" pitchFamily="18" charset="-128"/>
                <a:ea typeface="YuMincho +36p Kana Medium" panose="02020500000000000000" pitchFamily="18" charset="-128"/>
              </a:rPr>
              <a:t>5</a:t>
            </a:r>
            <a:r>
              <a:rPr lang="ja-JP" altLang="en-US" sz="3200">
                <a:latin typeface="YuMincho +36p Kana Medium" panose="02020500000000000000" pitchFamily="18" charset="-128"/>
                <a:ea typeface="YuMincho +36p Kana Medium" panose="02020500000000000000" pitchFamily="18" charset="-128"/>
              </a:rPr>
              <a:t>月</a:t>
            </a:r>
            <a:r>
              <a:rPr lang="en-US" altLang="ja-JP" sz="3200" dirty="0">
                <a:latin typeface="YuMincho +36p Kana Medium" panose="02020500000000000000" pitchFamily="18" charset="-128"/>
                <a:ea typeface="YuMincho +36p Kana Medium" panose="02020500000000000000" pitchFamily="18" charset="-128"/>
              </a:rPr>
              <a:t>28</a:t>
            </a:r>
            <a:r>
              <a:rPr lang="ja-JP" altLang="en-US" sz="3200">
                <a:latin typeface="YuMincho +36p Kana Medium" panose="02020500000000000000" pitchFamily="18" charset="-128"/>
                <a:ea typeface="YuMincho +36p Kana Medium" panose="02020500000000000000" pitchFamily="18" charset="-128"/>
              </a:rPr>
              <a:t>日</a:t>
            </a:r>
            <a:endParaRPr lang="en-US" altLang="ja-JP" sz="3200" dirty="0">
              <a:latin typeface="YuMincho +36p Kana Medium" panose="02020500000000000000" pitchFamily="18" charset="-128"/>
              <a:ea typeface="YuMincho +36p Kana Medium" panose="02020500000000000000" pitchFamily="18" charset="-128"/>
            </a:endParaRPr>
          </a:p>
          <a:p>
            <a:r>
              <a:rPr lang="ja-JP" altLang="en-US" sz="3200">
                <a:latin typeface="YuMincho +36p Kana Medium" panose="02020500000000000000" pitchFamily="18" charset="-128"/>
                <a:ea typeface="YuMincho +36p Kana Medium" panose="02020500000000000000" pitchFamily="18" charset="-128"/>
              </a:rPr>
              <a:t>発表者：</a:t>
            </a:r>
            <a:r>
              <a:rPr lang="en-JP" sz="3200" dirty="0">
                <a:latin typeface="YuMincho +36p Kana Medium" panose="02020500000000000000" pitchFamily="18" charset="-128"/>
                <a:ea typeface="YuMincho +36p Kana Medium" panose="02020500000000000000" pitchFamily="18" charset="-128"/>
              </a:rPr>
              <a:t>ウンダラマー</a:t>
            </a:r>
          </a:p>
          <a:p>
            <a:r>
              <a:rPr lang="en-US" sz="3200" dirty="0"/>
              <a:t>Section 8: Experiments (pp.30-40)</a:t>
            </a:r>
          </a:p>
          <a:p>
            <a:endParaRPr lang="en-JP" sz="3200" dirty="0">
              <a:latin typeface="YuMincho +36p Kana Medium" panose="02020500000000000000" pitchFamily="18" charset="-128"/>
              <a:ea typeface="YuMincho +36p Kana Medium" panose="02020500000000000000" pitchFamily="18" charset="-128"/>
            </a:endParaRPr>
          </a:p>
          <a:p>
            <a:endParaRPr lang="en-JP" sz="3200" dirty="0"/>
          </a:p>
        </p:txBody>
      </p:sp>
      <p:sp>
        <p:nvSpPr>
          <p:cNvPr id="9" name="TextBox 8">
            <a:extLst>
              <a:ext uri="{FF2B5EF4-FFF2-40B4-BE49-F238E27FC236}">
                <a16:creationId xmlns:a16="http://schemas.microsoft.com/office/drawing/2014/main" id="{CCA6C896-CA2D-2D7D-7A1E-8CEA065F3A9A}"/>
              </a:ext>
            </a:extLst>
          </p:cNvPr>
          <p:cNvSpPr txBox="1"/>
          <p:nvPr/>
        </p:nvSpPr>
        <p:spPr>
          <a:xfrm>
            <a:off x="6504646" y="331741"/>
            <a:ext cx="7086600" cy="523220"/>
          </a:xfrm>
          <a:prstGeom prst="rect">
            <a:avLst/>
          </a:prstGeom>
          <a:noFill/>
        </p:spPr>
        <p:txBody>
          <a:bodyPr wrap="square">
            <a:spAutoFit/>
          </a:bodyPr>
          <a:lstStyle/>
          <a:p>
            <a:r>
              <a:rPr lang="ja-JP" altLang="en-US" sz="2800">
                <a:latin typeface="YuMincho +36p Kana Medium" panose="02020500000000000000" pitchFamily="18" charset="-128"/>
                <a:ea typeface="YuMincho +36p Kana Medium" panose="02020500000000000000" pitchFamily="18" charset="-128"/>
              </a:rPr>
              <a:t>ＩｏＴソリューション特論第一</a:t>
            </a:r>
            <a:endParaRPr lang="en-US" altLang="ja-JP" sz="2800" dirty="0">
              <a:latin typeface="YuMincho +36p Kana Medium" panose="02020500000000000000" pitchFamily="18" charset="-128"/>
              <a:ea typeface="YuMincho +36p Kana Medium" panose="02020500000000000000" pitchFamily="18" charset="-128"/>
            </a:endParaRPr>
          </a:p>
        </p:txBody>
      </p:sp>
    </p:spTree>
    <p:extLst>
      <p:ext uri="{BB962C8B-B14F-4D97-AF65-F5344CB8AC3E}">
        <p14:creationId xmlns:p14="http://schemas.microsoft.com/office/powerpoint/2010/main" val="300333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8FDA99-E941-C91C-9A30-F95CB75F96EC}"/>
              </a:ext>
            </a:extLst>
          </p:cNvPr>
          <p:cNvSpPr txBox="1"/>
          <p:nvPr/>
        </p:nvSpPr>
        <p:spPr>
          <a:xfrm>
            <a:off x="1332570" y="1281721"/>
            <a:ext cx="4532970" cy="523220"/>
          </a:xfrm>
          <a:prstGeom prst="rect">
            <a:avLst/>
          </a:prstGeom>
          <a:noFill/>
        </p:spPr>
        <p:txBody>
          <a:bodyPr wrap="square">
            <a:spAutoFit/>
          </a:bodyPr>
          <a:lstStyle/>
          <a:p>
            <a:r>
              <a:rPr kumimoji="1" lang="ja-JP" altLang="en-US" sz="2800" b="1">
                <a:latin typeface="Yu Mincho" panose="02020400000000000000" pitchFamily="18" charset="-128"/>
                <a:ea typeface="Yu Mincho" panose="02020400000000000000" pitchFamily="18" charset="-128"/>
              </a:rPr>
              <a:t>目次</a:t>
            </a:r>
            <a:endParaRPr lang="en-JP" sz="2800" b="1" dirty="0">
              <a:latin typeface="Yu Mincho" panose="02020400000000000000" pitchFamily="18" charset="-128"/>
              <a:ea typeface="Yu Mincho" panose="02020400000000000000" pitchFamily="18" charset="-128"/>
            </a:endParaRPr>
          </a:p>
        </p:txBody>
      </p:sp>
      <p:sp>
        <p:nvSpPr>
          <p:cNvPr id="7" name="TextBox 6">
            <a:extLst>
              <a:ext uri="{FF2B5EF4-FFF2-40B4-BE49-F238E27FC236}">
                <a16:creationId xmlns:a16="http://schemas.microsoft.com/office/drawing/2014/main" id="{440772CC-4CD9-561F-2EA1-F9D3E70B1069}"/>
              </a:ext>
            </a:extLst>
          </p:cNvPr>
          <p:cNvSpPr txBox="1"/>
          <p:nvPr/>
        </p:nvSpPr>
        <p:spPr>
          <a:xfrm>
            <a:off x="1332570" y="2075156"/>
            <a:ext cx="8335537" cy="830997"/>
          </a:xfrm>
          <a:prstGeom prst="rect">
            <a:avLst/>
          </a:prstGeom>
          <a:noFill/>
        </p:spPr>
        <p:txBody>
          <a:bodyPr wrap="square">
            <a:spAutoFit/>
          </a:bodyPr>
          <a:lstStyle/>
          <a:p>
            <a:r>
              <a:rPr lang="ja-JP" altLang="en-US" sz="2400">
                <a:latin typeface="+mn-ea"/>
              </a:rPr>
              <a:t>本発表では、大規模な</a:t>
            </a:r>
            <a:r>
              <a:rPr lang="en-US" sz="2400" dirty="0">
                <a:latin typeface="+mn-ea"/>
              </a:rPr>
              <a:t>IoT</a:t>
            </a:r>
            <a:r>
              <a:rPr lang="ja-JP" altLang="en-US" sz="2400">
                <a:latin typeface="+mn-ea"/>
              </a:rPr>
              <a:t>データ環境における</a:t>
            </a:r>
            <a:r>
              <a:rPr lang="en-US" sz="2400" dirty="0">
                <a:latin typeface="+mn-ea"/>
              </a:rPr>
              <a:t>Apache IoTDB</a:t>
            </a:r>
            <a:r>
              <a:rPr lang="ja-JP" altLang="en-US" sz="2400">
                <a:latin typeface="+mn-ea"/>
              </a:rPr>
              <a:t>の性能を評価した実験について紹介します</a:t>
            </a:r>
            <a:r>
              <a:rPr lang="en-US" altLang="ja-JP" sz="2400" dirty="0">
                <a:latin typeface="+mn-ea"/>
              </a:rPr>
              <a:t>. </a:t>
            </a:r>
            <a:endParaRPr lang="en-JP" sz="2400" dirty="0">
              <a:latin typeface="+mn-ea"/>
            </a:endParaRPr>
          </a:p>
        </p:txBody>
      </p:sp>
      <p:sp>
        <p:nvSpPr>
          <p:cNvPr id="9" name="TextBox 8">
            <a:extLst>
              <a:ext uri="{FF2B5EF4-FFF2-40B4-BE49-F238E27FC236}">
                <a16:creationId xmlns:a16="http://schemas.microsoft.com/office/drawing/2014/main" id="{134FDDB2-AE58-BC91-8E2B-B046E03D9279}"/>
              </a:ext>
            </a:extLst>
          </p:cNvPr>
          <p:cNvSpPr txBox="1"/>
          <p:nvPr/>
        </p:nvSpPr>
        <p:spPr>
          <a:xfrm>
            <a:off x="1332570" y="2946814"/>
            <a:ext cx="8759283" cy="2308324"/>
          </a:xfrm>
          <a:prstGeom prst="rect">
            <a:avLst/>
          </a:prstGeom>
          <a:noFill/>
        </p:spPr>
        <p:txBody>
          <a:bodyPr wrap="square">
            <a:spAutoFit/>
          </a:bodyPr>
          <a:lstStyle/>
          <a:p>
            <a:endParaRPr lang="ja-JP" altLang="en-US" sz="2400">
              <a:latin typeface="+mn-ea"/>
            </a:endParaRPr>
          </a:p>
          <a:p>
            <a:pPr>
              <a:buFont typeface="Arial" panose="020B0604020202020204" pitchFamily="34" charset="0"/>
              <a:buChar char="•"/>
            </a:pPr>
            <a:r>
              <a:rPr lang="en-US" sz="2400" dirty="0">
                <a:latin typeface="+mn-ea"/>
              </a:rPr>
              <a:t>IoT </a:t>
            </a:r>
            <a:r>
              <a:rPr lang="ja-JP" altLang="en-US" sz="2400">
                <a:latin typeface="+mn-ea"/>
              </a:rPr>
              <a:t>向けに設計された 新しい時系列管理システム</a:t>
            </a:r>
            <a:endParaRPr lang="mn-MN" altLang="ja-JP" sz="2400" dirty="0">
              <a:latin typeface="+mn-ea"/>
            </a:endParaRPr>
          </a:p>
          <a:p>
            <a:endParaRPr lang="ja-JP" altLang="en-US" sz="2400">
              <a:latin typeface="+mn-ea"/>
            </a:endParaRPr>
          </a:p>
          <a:p>
            <a:pPr>
              <a:buFont typeface="Arial" panose="020B0604020202020204" pitchFamily="34" charset="0"/>
              <a:buChar char="•"/>
            </a:pPr>
            <a:r>
              <a:rPr lang="ja-JP" altLang="en-US" sz="2400">
                <a:latin typeface="+mn-ea"/>
              </a:rPr>
              <a:t>リアルタイムクエリ と ビッグデータ分析 の両方をサポート</a:t>
            </a:r>
            <a:endParaRPr lang="mn-MN" altLang="ja-JP" sz="2400" dirty="0">
              <a:latin typeface="+mn-ea"/>
            </a:endParaRPr>
          </a:p>
          <a:p>
            <a:pPr>
              <a:buFont typeface="Arial" panose="020B0604020202020204" pitchFamily="34" charset="0"/>
              <a:buChar char="•"/>
            </a:pPr>
            <a:endParaRPr lang="ja-JP" altLang="en-US" sz="2400">
              <a:latin typeface="+mn-ea"/>
            </a:endParaRPr>
          </a:p>
          <a:p>
            <a:pPr>
              <a:buFont typeface="Arial" panose="020B0604020202020204" pitchFamily="34" charset="0"/>
              <a:buChar char="•"/>
            </a:pPr>
            <a:r>
              <a:rPr lang="ja-JP" altLang="en-US" sz="2400">
                <a:latin typeface="+mn-ea"/>
              </a:rPr>
              <a:t>オープンアーキテクチャ ベースの設計</a:t>
            </a:r>
          </a:p>
        </p:txBody>
      </p:sp>
      <p:sp>
        <p:nvSpPr>
          <p:cNvPr id="10" name="Slide Number Placeholder 9">
            <a:extLst>
              <a:ext uri="{FF2B5EF4-FFF2-40B4-BE49-F238E27FC236}">
                <a16:creationId xmlns:a16="http://schemas.microsoft.com/office/drawing/2014/main" id="{62BE6048-7DBB-356E-F0AC-54BAD76D79AA}"/>
              </a:ext>
            </a:extLst>
          </p:cNvPr>
          <p:cNvSpPr>
            <a:spLocks noGrp="1"/>
          </p:cNvSpPr>
          <p:nvPr>
            <p:ph type="sldNum" sz="quarter" idx="12"/>
          </p:nvPr>
        </p:nvSpPr>
        <p:spPr/>
        <p:txBody>
          <a:bodyPr/>
          <a:lstStyle/>
          <a:p>
            <a:fld id="{520D4680-3C5B-EB48-BF72-7F3061D1D72A}" type="slidenum">
              <a:rPr lang="en-JP" smtClean="0"/>
              <a:t>2</a:t>
            </a:fld>
            <a:endParaRPr lang="en-JP"/>
          </a:p>
        </p:txBody>
      </p:sp>
    </p:spTree>
    <p:extLst>
      <p:ext uri="{BB962C8B-B14F-4D97-AF65-F5344CB8AC3E}">
        <p14:creationId xmlns:p14="http://schemas.microsoft.com/office/powerpoint/2010/main" val="17316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BE61EB-3067-F971-6E45-83A4E3184B21}"/>
              </a:ext>
            </a:extLst>
          </p:cNvPr>
          <p:cNvSpPr/>
          <p:nvPr/>
        </p:nvSpPr>
        <p:spPr>
          <a:xfrm>
            <a:off x="1486828" y="2280775"/>
            <a:ext cx="3200400" cy="20116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Standalone Version</a:t>
            </a:r>
          </a:p>
          <a:p>
            <a:r>
              <a:rPr dirty="0"/>
              <a:t>----------------------------</a:t>
            </a:r>
          </a:p>
          <a:p>
            <a:r>
              <a:rPr dirty="0"/>
              <a:t>Intel i7-10700 (8-core, 2.9GHz)</a:t>
            </a:r>
          </a:p>
          <a:p>
            <a:r>
              <a:rPr dirty="0"/>
              <a:t>32GB RAM, 10TB HDD</a:t>
            </a:r>
          </a:p>
          <a:p>
            <a:r>
              <a:rPr dirty="0"/>
              <a:t>Ubuntu 16.04</a:t>
            </a:r>
          </a:p>
        </p:txBody>
      </p:sp>
      <p:sp>
        <p:nvSpPr>
          <p:cNvPr id="5" name="Rectangle 4">
            <a:extLst>
              <a:ext uri="{FF2B5EF4-FFF2-40B4-BE49-F238E27FC236}">
                <a16:creationId xmlns:a16="http://schemas.microsoft.com/office/drawing/2014/main" id="{B8AF3925-A5D6-ABAC-BD33-6313D3C3E9B0}"/>
              </a:ext>
            </a:extLst>
          </p:cNvPr>
          <p:cNvSpPr/>
          <p:nvPr/>
        </p:nvSpPr>
        <p:spPr>
          <a:xfrm>
            <a:off x="7504772" y="2227029"/>
            <a:ext cx="3200400" cy="201168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dirty="0"/>
              <a:t>Distributed Version</a:t>
            </a:r>
          </a:p>
          <a:p>
            <a:r>
              <a:rPr dirty="0"/>
              <a:t>----------------------------</a:t>
            </a:r>
          </a:p>
          <a:p>
            <a:r>
              <a:rPr dirty="0"/>
              <a:t>Alibaba Cloud Servers</a:t>
            </a:r>
          </a:p>
          <a:p>
            <a:r>
              <a:rPr dirty="0"/>
              <a:t>Xeon Platinum 8269</a:t>
            </a:r>
          </a:p>
          <a:p>
            <a:r>
              <a:rPr dirty="0"/>
              <a:t>256GB RAM, PL1 ESSD</a:t>
            </a:r>
          </a:p>
        </p:txBody>
      </p:sp>
      <p:sp>
        <p:nvSpPr>
          <p:cNvPr id="8" name="Rectangle 7">
            <a:extLst>
              <a:ext uri="{FF2B5EF4-FFF2-40B4-BE49-F238E27FC236}">
                <a16:creationId xmlns:a16="http://schemas.microsoft.com/office/drawing/2014/main" id="{94657026-9B45-F42B-0890-3906141DEFC9}"/>
              </a:ext>
            </a:extLst>
          </p:cNvPr>
          <p:cNvSpPr/>
          <p:nvPr/>
        </p:nvSpPr>
        <p:spPr>
          <a:xfrm>
            <a:off x="4900962" y="694854"/>
            <a:ext cx="1728438"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ja-JP" altLang="en-US"/>
              <a:t>　</a:t>
            </a:r>
            <a:r>
              <a:rPr dirty="0"/>
              <a:t>Client PC</a:t>
            </a:r>
          </a:p>
          <a:p>
            <a:endParaRPr dirty="0"/>
          </a:p>
        </p:txBody>
      </p:sp>
      <p:sp>
        <p:nvSpPr>
          <p:cNvPr id="10" name="TextBox 9">
            <a:extLst>
              <a:ext uri="{FF2B5EF4-FFF2-40B4-BE49-F238E27FC236}">
                <a16:creationId xmlns:a16="http://schemas.microsoft.com/office/drawing/2014/main" id="{2256FB42-6194-AC2A-3255-0933A4AB6C08}"/>
              </a:ext>
            </a:extLst>
          </p:cNvPr>
          <p:cNvSpPr txBox="1"/>
          <p:nvPr/>
        </p:nvSpPr>
        <p:spPr>
          <a:xfrm>
            <a:off x="529684" y="334934"/>
            <a:ext cx="6099716" cy="369332"/>
          </a:xfrm>
          <a:prstGeom prst="rect">
            <a:avLst/>
          </a:prstGeom>
          <a:noFill/>
        </p:spPr>
        <p:txBody>
          <a:bodyPr wrap="square">
            <a:spAutoFit/>
          </a:bodyPr>
          <a:lstStyle/>
          <a:p>
            <a:r>
              <a:rPr lang="ja-JP" altLang="en-US"/>
              <a:t>研究背景</a:t>
            </a:r>
            <a:endParaRPr lang="en-JP" dirty="0"/>
          </a:p>
        </p:txBody>
      </p:sp>
      <p:sp>
        <p:nvSpPr>
          <p:cNvPr id="13" name="Rounded Rectangle 12">
            <a:extLst>
              <a:ext uri="{FF2B5EF4-FFF2-40B4-BE49-F238E27FC236}">
                <a16:creationId xmlns:a16="http://schemas.microsoft.com/office/drawing/2014/main" id="{658D5FB5-96F8-3305-9E13-16CE5A3CB4AB}"/>
              </a:ext>
            </a:extLst>
          </p:cNvPr>
          <p:cNvSpPr/>
          <p:nvPr/>
        </p:nvSpPr>
        <p:spPr>
          <a:xfrm>
            <a:off x="7504772" y="4538546"/>
            <a:ext cx="1182028" cy="14845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Server</a:t>
            </a:r>
            <a:endParaRPr lang="mn-MN" dirty="0"/>
          </a:p>
          <a:p>
            <a:pPr algn="ctr"/>
            <a:r>
              <a:rPr lang="en-US" dirty="0"/>
              <a:t>1</a:t>
            </a:r>
            <a:endParaRPr lang="mn-MN" dirty="0"/>
          </a:p>
          <a:p>
            <a:pPr algn="ctr"/>
            <a:r>
              <a:rPr lang="en-US" dirty="0"/>
              <a:t>Xeon </a:t>
            </a:r>
            <a:endParaRPr lang="mn-MN" dirty="0"/>
          </a:p>
          <a:p>
            <a:pPr algn="ctr"/>
            <a:r>
              <a:rPr lang="en-US" dirty="0"/>
              <a:t> PL1 ESSD</a:t>
            </a:r>
            <a:endParaRPr lang="en-JP" dirty="0"/>
          </a:p>
        </p:txBody>
      </p:sp>
      <p:sp>
        <p:nvSpPr>
          <p:cNvPr id="14" name="Rounded Rectangle 13">
            <a:extLst>
              <a:ext uri="{FF2B5EF4-FFF2-40B4-BE49-F238E27FC236}">
                <a16:creationId xmlns:a16="http://schemas.microsoft.com/office/drawing/2014/main" id="{8D017C5A-A4D8-41E2-3D87-93658839203E}"/>
              </a:ext>
            </a:extLst>
          </p:cNvPr>
          <p:cNvSpPr/>
          <p:nvPr/>
        </p:nvSpPr>
        <p:spPr>
          <a:xfrm>
            <a:off x="8805747" y="4538546"/>
            <a:ext cx="970156" cy="14845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Server</a:t>
            </a:r>
            <a:r>
              <a:rPr lang="mn-MN" dirty="0"/>
              <a:t>2</a:t>
            </a:r>
          </a:p>
          <a:p>
            <a:pPr algn="ctr"/>
            <a:r>
              <a:rPr lang="en-US" dirty="0"/>
              <a:t>Xeon </a:t>
            </a:r>
            <a:endParaRPr lang="mn-MN" dirty="0"/>
          </a:p>
          <a:p>
            <a:pPr algn="ctr"/>
            <a:r>
              <a:rPr lang="en-US" dirty="0"/>
              <a:t> PL1 ESSD</a:t>
            </a:r>
            <a:endParaRPr lang="en-JP" dirty="0"/>
          </a:p>
        </p:txBody>
      </p:sp>
      <p:sp>
        <p:nvSpPr>
          <p:cNvPr id="15" name="Rounded Rectangle 14">
            <a:extLst>
              <a:ext uri="{FF2B5EF4-FFF2-40B4-BE49-F238E27FC236}">
                <a16:creationId xmlns:a16="http://schemas.microsoft.com/office/drawing/2014/main" id="{AD27D64B-9BD5-08F3-BF3B-93C41629DDA7}"/>
              </a:ext>
            </a:extLst>
          </p:cNvPr>
          <p:cNvSpPr/>
          <p:nvPr/>
        </p:nvSpPr>
        <p:spPr>
          <a:xfrm>
            <a:off x="10006362" y="4538546"/>
            <a:ext cx="970156" cy="14845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Server</a:t>
            </a:r>
            <a:r>
              <a:rPr lang="mn-MN" dirty="0"/>
              <a:t>3</a:t>
            </a:r>
          </a:p>
          <a:p>
            <a:pPr algn="ctr"/>
            <a:r>
              <a:rPr lang="en-US" dirty="0"/>
              <a:t>Xeon </a:t>
            </a:r>
            <a:endParaRPr lang="mn-MN" dirty="0"/>
          </a:p>
          <a:p>
            <a:pPr algn="ctr"/>
            <a:r>
              <a:rPr lang="en-US" dirty="0"/>
              <a:t> PL1 ESSD</a:t>
            </a:r>
            <a:endParaRPr lang="en-JP" dirty="0"/>
          </a:p>
        </p:txBody>
      </p:sp>
      <p:sp>
        <p:nvSpPr>
          <p:cNvPr id="18" name="TextBox 17">
            <a:extLst>
              <a:ext uri="{FF2B5EF4-FFF2-40B4-BE49-F238E27FC236}">
                <a16:creationId xmlns:a16="http://schemas.microsoft.com/office/drawing/2014/main" id="{8C9FF90A-2524-AB34-DF56-F595114C6677}"/>
              </a:ext>
            </a:extLst>
          </p:cNvPr>
          <p:cNvSpPr txBox="1"/>
          <p:nvPr/>
        </p:nvSpPr>
        <p:spPr>
          <a:xfrm>
            <a:off x="853069" y="4760272"/>
            <a:ext cx="6099716" cy="1200329"/>
          </a:xfrm>
          <a:prstGeom prst="rect">
            <a:avLst/>
          </a:prstGeom>
          <a:noFill/>
        </p:spPr>
        <p:txBody>
          <a:bodyPr wrap="square">
            <a:spAutoFit/>
          </a:bodyPr>
          <a:lstStyle/>
          <a:p>
            <a:r>
              <a:rPr lang="en-US" dirty="0"/>
              <a:t>Apache IoTDB </a:t>
            </a:r>
            <a:r>
              <a:rPr lang="ja-JP" altLang="en-US"/>
              <a:t>データベースにおける </a:t>
            </a:r>
            <a:r>
              <a:rPr lang="en-US" altLang="ja-JP" dirty="0"/>
              <a:t>2 </a:t>
            </a:r>
            <a:r>
              <a:rPr lang="ja-JP" altLang="en-US"/>
              <a:t>種類の実験環境アーキテクチャを比較したものです。単一のマシン上で動作する「スタンドアロン版」と、複数のサーバーで構成される「分散版」の両方を示しています。</a:t>
            </a:r>
            <a:endParaRPr lang="en-JP" dirty="0"/>
          </a:p>
        </p:txBody>
      </p:sp>
      <p:sp>
        <p:nvSpPr>
          <p:cNvPr id="22" name="Slide Number Placeholder 21">
            <a:extLst>
              <a:ext uri="{FF2B5EF4-FFF2-40B4-BE49-F238E27FC236}">
                <a16:creationId xmlns:a16="http://schemas.microsoft.com/office/drawing/2014/main" id="{95BCB9FC-BE9E-8111-7059-1D25FE429507}"/>
              </a:ext>
            </a:extLst>
          </p:cNvPr>
          <p:cNvSpPr>
            <a:spLocks noGrp="1"/>
          </p:cNvSpPr>
          <p:nvPr>
            <p:ph type="sldNum" sz="quarter" idx="12"/>
          </p:nvPr>
        </p:nvSpPr>
        <p:spPr/>
        <p:txBody>
          <a:bodyPr/>
          <a:lstStyle/>
          <a:p>
            <a:fld id="{520D4680-3C5B-EB48-BF72-7F3061D1D72A}" type="slidenum">
              <a:rPr lang="en-JP" smtClean="0"/>
              <a:t>3</a:t>
            </a:fld>
            <a:endParaRPr lang="en-JP"/>
          </a:p>
        </p:txBody>
      </p:sp>
      <p:cxnSp>
        <p:nvCxnSpPr>
          <p:cNvPr id="25" name="Elbow Connector 24">
            <a:extLst>
              <a:ext uri="{FF2B5EF4-FFF2-40B4-BE49-F238E27FC236}">
                <a16:creationId xmlns:a16="http://schemas.microsoft.com/office/drawing/2014/main" id="{C4568BBF-CEBD-6114-4FF8-F743859770F3}"/>
              </a:ext>
            </a:extLst>
          </p:cNvPr>
          <p:cNvCxnSpPr>
            <a:stCxn id="8" idx="3"/>
          </p:cNvCxnSpPr>
          <p:nvPr/>
        </p:nvCxnSpPr>
        <p:spPr>
          <a:xfrm>
            <a:off x="6629400" y="1060614"/>
            <a:ext cx="1981200" cy="1002362"/>
          </a:xfrm>
          <a:prstGeom prst="bentConnector3">
            <a:avLst>
              <a:gd name="adj1" fmla="val 10009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889143C8-5086-097B-4932-EC497F95C1E8}"/>
              </a:ext>
            </a:extLst>
          </p:cNvPr>
          <p:cNvCxnSpPr>
            <a:cxnSpLocks/>
            <a:stCxn id="8" idx="1"/>
          </p:cNvCxnSpPr>
          <p:nvPr/>
        </p:nvCxnSpPr>
        <p:spPr>
          <a:xfrm rot="10800000" flipV="1">
            <a:off x="3087028" y="1060613"/>
            <a:ext cx="1813934" cy="1166415"/>
          </a:xfrm>
          <a:prstGeom prst="bentConnector3">
            <a:avLst>
              <a:gd name="adj1" fmla="val 101025"/>
            </a:avLst>
          </a:prstGeom>
          <a:ln>
            <a:solidFill>
              <a:schemeClr val="tx1">
                <a:lumMod val="50000"/>
                <a:lumOff val="50000"/>
                <a:alpha val="49004"/>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70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880CB8-98A7-15ED-623D-25EF7781C764}"/>
              </a:ext>
            </a:extLst>
          </p:cNvPr>
          <p:cNvPicPr>
            <a:picLocks noChangeAspect="1"/>
          </p:cNvPicPr>
          <p:nvPr/>
        </p:nvPicPr>
        <p:blipFill>
          <a:blip r:embed="rId2"/>
          <a:stretch>
            <a:fillRect/>
          </a:stretch>
        </p:blipFill>
        <p:spPr>
          <a:xfrm>
            <a:off x="338253" y="1577897"/>
            <a:ext cx="5207619" cy="3702205"/>
          </a:xfrm>
          <a:prstGeom prst="rect">
            <a:avLst/>
          </a:prstGeom>
        </p:spPr>
      </p:pic>
      <p:sp>
        <p:nvSpPr>
          <p:cNvPr id="6" name="TextBox 5">
            <a:extLst>
              <a:ext uri="{FF2B5EF4-FFF2-40B4-BE49-F238E27FC236}">
                <a16:creationId xmlns:a16="http://schemas.microsoft.com/office/drawing/2014/main" id="{6C7CDB3D-9EA6-3DA1-3DC8-ECF9A4D86FB7}"/>
              </a:ext>
            </a:extLst>
          </p:cNvPr>
          <p:cNvSpPr txBox="1"/>
          <p:nvPr/>
        </p:nvSpPr>
        <p:spPr>
          <a:xfrm>
            <a:off x="6534614" y="1353973"/>
            <a:ext cx="4638907" cy="4401205"/>
          </a:xfrm>
          <a:prstGeom prst="rect">
            <a:avLst/>
          </a:prstGeom>
          <a:noFill/>
        </p:spPr>
        <p:txBody>
          <a:bodyPr wrap="square">
            <a:spAutoFit/>
          </a:bodyPr>
          <a:lstStyle/>
          <a:p>
            <a:pPr>
              <a:buFont typeface="Arial" panose="020B0604020202020204" pitchFamily="34" charset="0"/>
              <a:buChar char="•"/>
            </a:pPr>
            <a:r>
              <a:rPr lang="ja-JP" altLang="en-US" sz="2000" b="1"/>
              <a:t>役割</a:t>
            </a:r>
            <a:r>
              <a:rPr lang="ja-JP" altLang="en-US" sz="2000"/>
              <a:t>：時間系列データ（</a:t>
            </a:r>
            <a:r>
              <a:rPr lang="en-US" sz="2000" dirty="0"/>
              <a:t>Time-Series Data）</a:t>
            </a:r>
            <a:r>
              <a:rPr lang="ja-JP" altLang="en-US" sz="2000"/>
              <a:t>を効率的に保存するための、</a:t>
            </a:r>
            <a:r>
              <a:rPr lang="en-US" sz="2000" dirty="0"/>
              <a:t>Apache IoTDB</a:t>
            </a:r>
            <a:r>
              <a:rPr lang="ja-JP" altLang="en-US" sz="2000"/>
              <a:t>における内部ファイルフォーマット。</a:t>
            </a:r>
            <a:endParaRPr lang="mn-MN" altLang="ja-JP" sz="2000" dirty="0"/>
          </a:p>
          <a:p>
            <a:pPr>
              <a:buFont typeface="Arial" panose="020B0604020202020204" pitchFamily="34" charset="0"/>
              <a:buChar char="•"/>
            </a:pPr>
            <a:endParaRPr lang="mn-MN" altLang="ja-JP" sz="2000" dirty="0"/>
          </a:p>
          <a:p>
            <a:pPr>
              <a:buFont typeface="Arial" panose="020B0604020202020204" pitchFamily="34" charset="0"/>
              <a:buChar char="•"/>
            </a:pPr>
            <a:endParaRPr lang="mn-MN" altLang="ja-JP" sz="2000" dirty="0"/>
          </a:p>
          <a:p>
            <a:pPr>
              <a:buFont typeface="Arial" panose="020B0604020202020204" pitchFamily="34" charset="0"/>
              <a:buChar char="•"/>
            </a:pPr>
            <a:endParaRPr lang="mn-MN" altLang="ja-JP" sz="2000" dirty="0"/>
          </a:p>
          <a:p>
            <a:pPr>
              <a:buFont typeface="Arial" panose="020B0604020202020204" pitchFamily="34" charset="0"/>
              <a:buChar char="•"/>
            </a:pPr>
            <a:endParaRPr lang="ja-JP" altLang="en-US" sz="2000"/>
          </a:p>
          <a:p>
            <a:pPr>
              <a:buFont typeface="Arial" panose="020B0604020202020204" pitchFamily="34" charset="0"/>
              <a:buChar char="•"/>
            </a:pPr>
            <a:r>
              <a:rPr lang="ja-JP" altLang="en-US" sz="2000" b="1"/>
              <a:t>仕組み</a:t>
            </a:r>
            <a:r>
              <a:rPr lang="ja-JP" altLang="en-US" sz="2000"/>
              <a:t>：</a:t>
            </a:r>
            <a:br>
              <a:rPr lang="ja-JP" altLang="en-US" sz="2000"/>
            </a:br>
            <a:r>
              <a:rPr lang="en-US" sz="2000" dirty="0"/>
              <a:t>TsFile</a:t>
            </a:r>
            <a:r>
              <a:rPr lang="ja-JP" altLang="en-US" sz="2000"/>
              <a:t>は</a:t>
            </a:r>
            <a:r>
              <a:rPr lang="ja-JP" altLang="en-US" sz="2000" b="1"/>
              <a:t>カラム型ストレージ</a:t>
            </a:r>
            <a:r>
              <a:rPr lang="ja-JP" altLang="en-US" sz="2000"/>
              <a:t>（列指向）を採用しており、センサーごとのデータを時間順に圧縮して保存します。これにより、高速なクエリ処理と高圧縮率を実現します。</a:t>
            </a:r>
          </a:p>
        </p:txBody>
      </p:sp>
      <p:sp>
        <p:nvSpPr>
          <p:cNvPr id="8" name="TextBox 7">
            <a:extLst>
              <a:ext uri="{FF2B5EF4-FFF2-40B4-BE49-F238E27FC236}">
                <a16:creationId xmlns:a16="http://schemas.microsoft.com/office/drawing/2014/main" id="{928CCCCA-F818-EC70-6633-5AF41FA5AF1D}"/>
              </a:ext>
            </a:extLst>
          </p:cNvPr>
          <p:cNvSpPr txBox="1"/>
          <p:nvPr/>
        </p:nvSpPr>
        <p:spPr>
          <a:xfrm>
            <a:off x="434898" y="333866"/>
            <a:ext cx="6099716" cy="369332"/>
          </a:xfrm>
          <a:prstGeom prst="rect">
            <a:avLst/>
          </a:prstGeom>
          <a:noFill/>
        </p:spPr>
        <p:txBody>
          <a:bodyPr wrap="square">
            <a:spAutoFit/>
          </a:bodyPr>
          <a:lstStyle/>
          <a:p>
            <a:r>
              <a:rPr lang="en-JP" dirty="0"/>
              <a:t>🗂️ </a:t>
            </a:r>
            <a:r>
              <a:rPr lang="en-US" b="1" dirty="0"/>
              <a:t>TsFile</a:t>
            </a:r>
            <a:r>
              <a:rPr lang="mn-MN" b="1" dirty="0"/>
              <a:t> v</a:t>
            </a:r>
            <a:r>
              <a:rPr lang="en-US" b="1" dirty="0"/>
              <a:t>0.13.0</a:t>
            </a:r>
            <a:endParaRPr lang="en-JP" dirty="0"/>
          </a:p>
        </p:txBody>
      </p:sp>
      <p:sp>
        <p:nvSpPr>
          <p:cNvPr id="9" name="Slide Number Placeholder 8">
            <a:extLst>
              <a:ext uri="{FF2B5EF4-FFF2-40B4-BE49-F238E27FC236}">
                <a16:creationId xmlns:a16="http://schemas.microsoft.com/office/drawing/2014/main" id="{86AF127E-DCFA-AD82-8DD1-4AA2BFFFE16D}"/>
              </a:ext>
            </a:extLst>
          </p:cNvPr>
          <p:cNvSpPr>
            <a:spLocks noGrp="1"/>
          </p:cNvSpPr>
          <p:nvPr>
            <p:ph type="sldNum" sz="quarter" idx="12"/>
          </p:nvPr>
        </p:nvSpPr>
        <p:spPr/>
        <p:txBody>
          <a:bodyPr/>
          <a:lstStyle/>
          <a:p>
            <a:fld id="{520D4680-3C5B-EB48-BF72-7F3061D1D72A}" type="slidenum">
              <a:rPr lang="en-JP" smtClean="0"/>
              <a:t>4</a:t>
            </a:fld>
            <a:endParaRPr lang="en-JP"/>
          </a:p>
        </p:txBody>
      </p:sp>
    </p:spTree>
    <p:extLst>
      <p:ext uri="{BB962C8B-B14F-4D97-AF65-F5344CB8AC3E}">
        <p14:creationId xmlns:p14="http://schemas.microsoft.com/office/powerpoint/2010/main" val="2192014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85786-7A6C-8043-D423-AD428076CD0F}"/>
              </a:ext>
            </a:extLst>
          </p:cNvPr>
          <p:cNvPicPr>
            <a:picLocks noChangeAspect="1"/>
          </p:cNvPicPr>
          <p:nvPr/>
        </p:nvPicPr>
        <p:blipFill>
          <a:blip r:embed="rId2"/>
          <a:stretch>
            <a:fillRect/>
          </a:stretch>
        </p:blipFill>
        <p:spPr>
          <a:xfrm>
            <a:off x="604024" y="1656195"/>
            <a:ext cx="6209372" cy="1376937"/>
          </a:xfrm>
          <a:prstGeom prst="rect">
            <a:avLst/>
          </a:prstGeom>
        </p:spPr>
      </p:pic>
      <p:sp>
        <p:nvSpPr>
          <p:cNvPr id="6" name="TextBox 5">
            <a:extLst>
              <a:ext uri="{FF2B5EF4-FFF2-40B4-BE49-F238E27FC236}">
                <a16:creationId xmlns:a16="http://schemas.microsoft.com/office/drawing/2014/main" id="{EE3A123F-4BD9-0EF0-ED7C-DD3052E9CD8D}"/>
              </a:ext>
            </a:extLst>
          </p:cNvPr>
          <p:cNvSpPr txBox="1"/>
          <p:nvPr/>
        </p:nvSpPr>
        <p:spPr>
          <a:xfrm>
            <a:off x="525965" y="657251"/>
            <a:ext cx="6099716" cy="369332"/>
          </a:xfrm>
          <a:prstGeom prst="rect">
            <a:avLst/>
          </a:prstGeom>
          <a:noFill/>
        </p:spPr>
        <p:txBody>
          <a:bodyPr wrap="square">
            <a:spAutoFit/>
          </a:bodyPr>
          <a:lstStyle/>
          <a:p>
            <a:r>
              <a:rPr lang="en-US" dirty="0"/>
              <a:t>Apache Parquet v2.9.0</a:t>
            </a:r>
            <a:endParaRPr lang="en-JP" dirty="0"/>
          </a:p>
        </p:txBody>
      </p:sp>
      <p:sp>
        <p:nvSpPr>
          <p:cNvPr id="8" name="TextBox 7">
            <a:extLst>
              <a:ext uri="{FF2B5EF4-FFF2-40B4-BE49-F238E27FC236}">
                <a16:creationId xmlns:a16="http://schemas.microsoft.com/office/drawing/2014/main" id="{C5D2AC5A-2810-FB19-BA98-75FCC829045C}"/>
              </a:ext>
            </a:extLst>
          </p:cNvPr>
          <p:cNvSpPr txBox="1"/>
          <p:nvPr/>
        </p:nvSpPr>
        <p:spPr>
          <a:xfrm>
            <a:off x="5090533" y="3641115"/>
            <a:ext cx="6099716" cy="2862322"/>
          </a:xfrm>
          <a:prstGeom prst="rect">
            <a:avLst/>
          </a:prstGeom>
          <a:noFill/>
        </p:spPr>
        <p:txBody>
          <a:bodyPr wrap="square">
            <a:spAutoFit/>
          </a:bodyPr>
          <a:lstStyle/>
          <a:p>
            <a:r>
              <a:rPr lang="ja-JP" altLang="en-US" sz="2000" b="1"/>
              <a:t>役割</a:t>
            </a:r>
            <a:r>
              <a:rPr lang="ja-JP" altLang="en-US" sz="2000"/>
              <a:t>：大規模データをカラム指向形式で保存する高性能フォーマット。主に分析・機械学習などで使用されます。</a:t>
            </a:r>
            <a:endParaRPr lang="mn-MN" altLang="ja-JP" sz="2000" dirty="0"/>
          </a:p>
          <a:p>
            <a:endParaRPr lang="ja-JP" altLang="en-US" sz="2000"/>
          </a:p>
          <a:p>
            <a:r>
              <a:rPr lang="ja-JP" altLang="en-US" sz="2000" b="1"/>
              <a:t>仕組み</a:t>
            </a:r>
            <a:r>
              <a:rPr lang="ja-JP" altLang="en-US" sz="2000"/>
              <a:t>：</a:t>
            </a:r>
            <a:br>
              <a:rPr lang="ja-JP" altLang="en-US" sz="2000"/>
            </a:br>
            <a:r>
              <a:rPr lang="ja-JP" altLang="en-US" sz="2000"/>
              <a:t>列ごとにデータを保存するため、必要な列だけを読み込むことができ、</a:t>
            </a:r>
            <a:r>
              <a:rPr lang="en-US" sz="2000" dirty="0"/>
              <a:t>I/O</a:t>
            </a:r>
            <a:r>
              <a:rPr lang="ja-JP" altLang="en-US" sz="2000"/>
              <a:t>のパフォーマンスが大幅に向上します。</a:t>
            </a:r>
            <a:r>
              <a:rPr lang="en-US" sz="2000" dirty="0"/>
              <a:t>Hadoop、Spark、Presto</a:t>
            </a:r>
            <a:r>
              <a:rPr lang="ja-JP" altLang="en-US" sz="2000"/>
              <a:t>などと互換性があります。</a:t>
            </a:r>
          </a:p>
        </p:txBody>
      </p:sp>
      <p:sp>
        <p:nvSpPr>
          <p:cNvPr id="9" name="Slide Number Placeholder 8">
            <a:extLst>
              <a:ext uri="{FF2B5EF4-FFF2-40B4-BE49-F238E27FC236}">
                <a16:creationId xmlns:a16="http://schemas.microsoft.com/office/drawing/2014/main" id="{1E31B088-6028-C3B4-48F2-95610DA0C47C}"/>
              </a:ext>
            </a:extLst>
          </p:cNvPr>
          <p:cNvSpPr>
            <a:spLocks noGrp="1"/>
          </p:cNvSpPr>
          <p:nvPr>
            <p:ph type="sldNum" sz="quarter" idx="12"/>
          </p:nvPr>
        </p:nvSpPr>
        <p:spPr/>
        <p:txBody>
          <a:bodyPr/>
          <a:lstStyle/>
          <a:p>
            <a:fld id="{520D4680-3C5B-EB48-BF72-7F3061D1D72A}" type="slidenum">
              <a:rPr lang="en-JP" smtClean="0"/>
              <a:t>5</a:t>
            </a:fld>
            <a:endParaRPr lang="en-JP"/>
          </a:p>
        </p:txBody>
      </p:sp>
    </p:spTree>
    <p:extLst>
      <p:ext uri="{BB962C8B-B14F-4D97-AF65-F5344CB8AC3E}">
        <p14:creationId xmlns:p14="http://schemas.microsoft.com/office/powerpoint/2010/main" val="658984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34946B-E329-9F71-E2E4-462577B42862}"/>
              </a:ext>
            </a:extLst>
          </p:cNvPr>
          <p:cNvSpPr txBox="1"/>
          <p:nvPr/>
        </p:nvSpPr>
        <p:spPr>
          <a:xfrm>
            <a:off x="373567" y="612647"/>
            <a:ext cx="6099716" cy="369332"/>
          </a:xfrm>
          <a:prstGeom prst="rect">
            <a:avLst/>
          </a:prstGeom>
          <a:noFill/>
        </p:spPr>
        <p:txBody>
          <a:bodyPr wrap="square">
            <a:spAutoFit/>
          </a:bodyPr>
          <a:lstStyle/>
          <a:p>
            <a:r>
              <a:rPr lang="en-US" dirty="0"/>
              <a:t>Apache ORC（Optimized Row Columnar）v1.5.4</a:t>
            </a:r>
            <a:endParaRPr lang="en-JP" dirty="0"/>
          </a:p>
        </p:txBody>
      </p:sp>
      <p:pic>
        <p:nvPicPr>
          <p:cNvPr id="6" name="Picture 5">
            <a:extLst>
              <a:ext uri="{FF2B5EF4-FFF2-40B4-BE49-F238E27FC236}">
                <a16:creationId xmlns:a16="http://schemas.microsoft.com/office/drawing/2014/main" id="{CED6F514-6C2F-A45B-A229-8D5C00B2FDD5}"/>
              </a:ext>
            </a:extLst>
          </p:cNvPr>
          <p:cNvPicPr>
            <a:picLocks noChangeAspect="1"/>
          </p:cNvPicPr>
          <p:nvPr/>
        </p:nvPicPr>
        <p:blipFill>
          <a:blip r:embed="rId2"/>
          <a:stretch>
            <a:fillRect/>
          </a:stretch>
        </p:blipFill>
        <p:spPr>
          <a:xfrm>
            <a:off x="457200" y="2141240"/>
            <a:ext cx="5638800" cy="2975827"/>
          </a:xfrm>
          <a:prstGeom prst="rect">
            <a:avLst/>
          </a:prstGeom>
        </p:spPr>
      </p:pic>
      <p:sp>
        <p:nvSpPr>
          <p:cNvPr id="8" name="TextBox 7">
            <a:extLst>
              <a:ext uri="{FF2B5EF4-FFF2-40B4-BE49-F238E27FC236}">
                <a16:creationId xmlns:a16="http://schemas.microsoft.com/office/drawing/2014/main" id="{DB5EEDE0-1289-C228-F2D5-2D07E7F26D01}"/>
              </a:ext>
            </a:extLst>
          </p:cNvPr>
          <p:cNvSpPr txBox="1"/>
          <p:nvPr/>
        </p:nvSpPr>
        <p:spPr>
          <a:xfrm>
            <a:off x="6555059" y="2059492"/>
            <a:ext cx="4685370" cy="3139321"/>
          </a:xfrm>
          <a:prstGeom prst="rect">
            <a:avLst/>
          </a:prstGeom>
          <a:noFill/>
        </p:spPr>
        <p:txBody>
          <a:bodyPr wrap="square">
            <a:spAutoFit/>
          </a:bodyPr>
          <a:lstStyle/>
          <a:p>
            <a:r>
              <a:rPr lang="ja-JP" altLang="en-US" b="1"/>
              <a:t>役割</a:t>
            </a:r>
            <a:r>
              <a:rPr lang="ja-JP" altLang="en-US"/>
              <a:t>：</a:t>
            </a:r>
            <a:r>
              <a:rPr lang="en-US" b="1" dirty="0"/>
              <a:t>Hadoop</a:t>
            </a:r>
            <a:r>
              <a:rPr lang="ja-JP" altLang="en-US" b="1"/>
              <a:t>エコシステム</a:t>
            </a:r>
            <a:r>
              <a:rPr lang="ja-JP" altLang="en-US"/>
              <a:t>向けに最適化されたカラム形式のデータ保存フォーマット</a:t>
            </a:r>
            <a:endParaRPr lang="en-US" altLang="ja-JP" dirty="0"/>
          </a:p>
          <a:p>
            <a:endParaRPr lang="en-US" altLang="ja-JP" dirty="0"/>
          </a:p>
          <a:p>
            <a:endParaRPr lang="en-US" altLang="ja-JP" dirty="0"/>
          </a:p>
          <a:p>
            <a:endParaRPr lang="en-US" altLang="ja-JP" dirty="0"/>
          </a:p>
          <a:p>
            <a:endParaRPr lang="ja-JP" altLang="en-US"/>
          </a:p>
          <a:p>
            <a:r>
              <a:rPr lang="ja-JP" altLang="en-US" b="1"/>
              <a:t>仕組み</a:t>
            </a:r>
            <a:r>
              <a:rPr lang="ja-JP" altLang="en-US"/>
              <a:t>：</a:t>
            </a:r>
            <a:br>
              <a:rPr lang="ja-JP" altLang="en-US"/>
            </a:br>
            <a:r>
              <a:rPr lang="en-US" dirty="0"/>
              <a:t>Parquet</a:t>
            </a:r>
            <a:r>
              <a:rPr lang="ja-JP" altLang="en-US"/>
              <a:t>と似たようにカラム単位でデータを格納し、圧縮・インデックス化により高速処理を実現します。</a:t>
            </a:r>
            <a:r>
              <a:rPr lang="en-US" dirty="0"/>
              <a:t>Hive</a:t>
            </a:r>
            <a:r>
              <a:rPr lang="ja-JP" altLang="en-US"/>
              <a:t>や</a:t>
            </a:r>
            <a:r>
              <a:rPr lang="en-US" dirty="0"/>
              <a:t>Spark</a:t>
            </a:r>
            <a:r>
              <a:rPr lang="ja-JP" altLang="en-US"/>
              <a:t>と連携して利用されます</a:t>
            </a:r>
          </a:p>
        </p:txBody>
      </p:sp>
      <p:sp>
        <p:nvSpPr>
          <p:cNvPr id="9" name="Slide Number Placeholder 8">
            <a:extLst>
              <a:ext uri="{FF2B5EF4-FFF2-40B4-BE49-F238E27FC236}">
                <a16:creationId xmlns:a16="http://schemas.microsoft.com/office/drawing/2014/main" id="{4F5D5D65-A4A3-9116-0850-05D17C00504E}"/>
              </a:ext>
            </a:extLst>
          </p:cNvPr>
          <p:cNvSpPr>
            <a:spLocks noGrp="1"/>
          </p:cNvSpPr>
          <p:nvPr>
            <p:ph type="sldNum" sz="quarter" idx="12"/>
          </p:nvPr>
        </p:nvSpPr>
        <p:spPr/>
        <p:txBody>
          <a:bodyPr/>
          <a:lstStyle/>
          <a:p>
            <a:fld id="{520D4680-3C5B-EB48-BF72-7F3061D1D72A}" type="slidenum">
              <a:rPr lang="en-JP" smtClean="0"/>
              <a:t>6</a:t>
            </a:fld>
            <a:endParaRPr lang="en-JP"/>
          </a:p>
        </p:txBody>
      </p:sp>
    </p:spTree>
    <p:extLst>
      <p:ext uri="{BB962C8B-B14F-4D97-AF65-F5344CB8AC3E}">
        <p14:creationId xmlns:p14="http://schemas.microsoft.com/office/powerpoint/2010/main" val="1261285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FFE721-7B9D-2630-F0D1-AC2CC6B32125}"/>
              </a:ext>
            </a:extLst>
          </p:cNvPr>
          <p:cNvPicPr>
            <a:picLocks noChangeAspect="1"/>
          </p:cNvPicPr>
          <p:nvPr/>
        </p:nvPicPr>
        <p:blipFill>
          <a:blip r:embed="rId2"/>
          <a:stretch>
            <a:fillRect/>
          </a:stretch>
        </p:blipFill>
        <p:spPr>
          <a:xfrm>
            <a:off x="588537" y="1995215"/>
            <a:ext cx="4368800" cy="2554545"/>
          </a:xfrm>
          <a:prstGeom prst="rect">
            <a:avLst/>
          </a:prstGeom>
        </p:spPr>
      </p:pic>
      <p:sp>
        <p:nvSpPr>
          <p:cNvPr id="6" name="TextBox 5">
            <a:extLst>
              <a:ext uri="{FF2B5EF4-FFF2-40B4-BE49-F238E27FC236}">
                <a16:creationId xmlns:a16="http://schemas.microsoft.com/office/drawing/2014/main" id="{9CFE5D5E-C56F-E1A6-E325-88CCB5577CE5}"/>
              </a:ext>
            </a:extLst>
          </p:cNvPr>
          <p:cNvSpPr txBox="1"/>
          <p:nvPr/>
        </p:nvSpPr>
        <p:spPr>
          <a:xfrm>
            <a:off x="1165303" y="880275"/>
            <a:ext cx="6099716" cy="400110"/>
          </a:xfrm>
          <a:prstGeom prst="rect">
            <a:avLst/>
          </a:prstGeom>
          <a:noFill/>
        </p:spPr>
        <p:txBody>
          <a:bodyPr wrap="square">
            <a:spAutoFit/>
          </a:bodyPr>
          <a:lstStyle/>
          <a:p>
            <a:r>
              <a:rPr lang="en-US" sz="2000" dirty="0"/>
              <a:t>InfluxDB v1.8.10</a:t>
            </a:r>
            <a:endParaRPr lang="en-JP" sz="2000" dirty="0"/>
          </a:p>
        </p:txBody>
      </p:sp>
      <p:sp>
        <p:nvSpPr>
          <p:cNvPr id="8" name="TextBox 7">
            <a:extLst>
              <a:ext uri="{FF2B5EF4-FFF2-40B4-BE49-F238E27FC236}">
                <a16:creationId xmlns:a16="http://schemas.microsoft.com/office/drawing/2014/main" id="{20432F29-CA88-6736-A12D-D34B3D4274D8}"/>
              </a:ext>
            </a:extLst>
          </p:cNvPr>
          <p:cNvSpPr txBox="1"/>
          <p:nvPr/>
        </p:nvSpPr>
        <p:spPr>
          <a:xfrm>
            <a:off x="5503747" y="1843950"/>
            <a:ext cx="6099716" cy="3170099"/>
          </a:xfrm>
          <a:prstGeom prst="rect">
            <a:avLst/>
          </a:prstGeom>
          <a:noFill/>
        </p:spPr>
        <p:txBody>
          <a:bodyPr wrap="square">
            <a:spAutoFit/>
          </a:bodyPr>
          <a:lstStyle/>
          <a:p>
            <a:r>
              <a:rPr lang="ja-JP" altLang="en-US" sz="2000" b="1"/>
              <a:t>役割</a:t>
            </a:r>
            <a:r>
              <a:rPr lang="ja-JP" altLang="en-US" sz="2000"/>
              <a:t>：</a:t>
            </a:r>
            <a:r>
              <a:rPr lang="ja-JP" altLang="en-US" sz="2000" b="1"/>
              <a:t>時系列データベース（</a:t>
            </a:r>
            <a:r>
              <a:rPr lang="en-US" sz="2000" b="1" dirty="0"/>
              <a:t>TSDB）: </a:t>
            </a:r>
          </a:p>
          <a:p>
            <a:endParaRPr lang="en-US" sz="2000" b="1" dirty="0"/>
          </a:p>
          <a:p>
            <a:r>
              <a:rPr lang="en-US" sz="2000" dirty="0"/>
              <a:t>IoT</a:t>
            </a:r>
            <a:r>
              <a:rPr lang="ja-JP" altLang="en-US" sz="2000"/>
              <a:t>デバイス、モニタリング、センサーなどのデータ収集に最適</a:t>
            </a:r>
            <a:endParaRPr lang="en-US" altLang="ja-JP" sz="2000" dirty="0"/>
          </a:p>
          <a:p>
            <a:endParaRPr lang="en-US" altLang="ja-JP" sz="2000" dirty="0"/>
          </a:p>
          <a:p>
            <a:endParaRPr lang="ja-JP" altLang="en-US" sz="2000"/>
          </a:p>
          <a:p>
            <a:r>
              <a:rPr lang="ja-JP" altLang="en-US" sz="2000" b="1"/>
              <a:t>仕組み</a:t>
            </a:r>
            <a:r>
              <a:rPr lang="ja-JP" altLang="en-US" sz="2000"/>
              <a:t>：</a:t>
            </a:r>
            <a:br>
              <a:rPr lang="ja-JP" altLang="en-US" sz="2000"/>
            </a:br>
            <a:r>
              <a:rPr lang="ja-JP" altLang="en-US" sz="2000"/>
              <a:t>独自のストレージエンジン（</a:t>
            </a:r>
            <a:r>
              <a:rPr lang="en-US" sz="2000" dirty="0"/>
              <a:t>TSM）</a:t>
            </a:r>
            <a:r>
              <a:rPr lang="ja-JP" altLang="en-US" sz="2000"/>
              <a:t>を使い、時間順にデータを保存します。</a:t>
            </a:r>
            <a:r>
              <a:rPr lang="en-US" sz="2000" dirty="0"/>
              <a:t>SQL</a:t>
            </a:r>
            <a:r>
              <a:rPr lang="ja-JP" altLang="en-US" sz="2000"/>
              <a:t>に似たクエリ言語（</a:t>
            </a:r>
            <a:r>
              <a:rPr lang="en-US" sz="2000" dirty="0" err="1"/>
              <a:t>InfluxQL</a:t>
            </a:r>
            <a:r>
              <a:rPr lang="en-US" sz="2000" dirty="0"/>
              <a:t>）</a:t>
            </a:r>
            <a:r>
              <a:rPr lang="ja-JP" altLang="en-US" sz="2000"/>
              <a:t>を使用し、集計・分析に優れています</a:t>
            </a:r>
          </a:p>
        </p:txBody>
      </p:sp>
      <p:sp>
        <p:nvSpPr>
          <p:cNvPr id="9" name="Slide Number Placeholder 8">
            <a:extLst>
              <a:ext uri="{FF2B5EF4-FFF2-40B4-BE49-F238E27FC236}">
                <a16:creationId xmlns:a16="http://schemas.microsoft.com/office/drawing/2014/main" id="{C882903D-6F3B-67BC-DDA8-002EDD72E0E5}"/>
              </a:ext>
            </a:extLst>
          </p:cNvPr>
          <p:cNvSpPr>
            <a:spLocks noGrp="1"/>
          </p:cNvSpPr>
          <p:nvPr>
            <p:ph type="sldNum" sz="quarter" idx="12"/>
          </p:nvPr>
        </p:nvSpPr>
        <p:spPr/>
        <p:txBody>
          <a:bodyPr/>
          <a:lstStyle/>
          <a:p>
            <a:fld id="{520D4680-3C5B-EB48-BF72-7F3061D1D72A}" type="slidenum">
              <a:rPr lang="en-JP" smtClean="0"/>
              <a:t>7</a:t>
            </a:fld>
            <a:endParaRPr lang="en-JP"/>
          </a:p>
        </p:txBody>
      </p:sp>
    </p:spTree>
    <p:extLst>
      <p:ext uri="{BB962C8B-B14F-4D97-AF65-F5344CB8AC3E}">
        <p14:creationId xmlns:p14="http://schemas.microsoft.com/office/powerpoint/2010/main" val="312597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6DB07B-1E58-DA70-0448-F21C8C1E3EB9}"/>
              </a:ext>
            </a:extLst>
          </p:cNvPr>
          <p:cNvSpPr txBox="1"/>
          <p:nvPr/>
        </p:nvSpPr>
        <p:spPr>
          <a:xfrm>
            <a:off x="473927" y="713007"/>
            <a:ext cx="6099716" cy="400110"/>
          </a:xfrm>
          <a:prstGeom prst="rect">
            <a:avLst/>
          </a:prstGeom>
          <a:noFill/>
        </p:spPr>
        <p:txBody>
          <a:bodyPr wrap="square">
            <a:spAutoFit/>
          </a:bodyPr>
          <a:lstStyle/>
          <a:p>
            <a:r>
              <a:rPr lang="en-US" sz="2000" dirty="0"/>
              <a:t>KairosDB v1.2.2</a:t>
            </a:r>
            <a:endParaRPr lang="en-JP" sz="2000" dirty="0"/>
          </a:p>
        </p:txBody>
      </p:sp>
      <p:pic>
        <p:nvPicPr>
          <p:cNvPr id="6" name="Picture 5">
            <a:extLst>
              <a:ext uri="{FF2B5EF4-FFF2-40B4-BE49-F238E27FC236}">
                <a16:creationId xmlns:a16="http://schemas.microsoft.com/office/drawing/2014/main" id="{F91B718B-FF8C-8555-30C4-D83B8AC52E77}"/>
              </a:ext>
            </a:extLst>
          </p:cNvPr>
          <p:cNvPicPr>
            <a:picLocks noChangeAspect="1"/>
          </p:cNvPicPr>
          <p:nvPr/>
        </p:nvPicPr>
        <p:blipFill>
          <a:blip r:embed="rId2"/>
          <a:stretch>
            <a:fillRect/>
          </a:stretch>
        </p:blipFill>
        <p:spPr>
          <a:xfrm>
            <a:off x="219462" y="2040711"/>
            <a:ext cx="5575300" cy="2362200"/>
          </a:xfrm>
          <a:prstGeom prst="rect">
            <a:avLst/>
          </a:prstGeom>
        </p:spPr>
      </p:pic>
      <p:sp>
        <p:nvSpPr>
          <p:cNvPr id="10" name="TextBox 9">
            <a:extLst>
              <a:ext uri="{FF2B5EF4-FFF2-40B4-BE49-F238E27FC236}">
                <a16:creationId xmlns:a16="http://schemas.microsoft.com/office/drawing/2014/main" id="{83F2C19D-002E-5A0B-F9D6-EBE49CFD55C8}"/>
              </a:ext>
            </a:extLst>
          </p:cNvPr>
          <p:cNvSpPr txBox="1"/>
          <p:nvPr/>
        </p:nvSpPr>
        <p:spPr>
          <a:xfrm>
            <a:off x="5794762" y="2344648"/>
            <a:ext cx="6099716" cy="2585323"/>
          </a:xfrm>
          <a:prstGeom prst="rect">
            <a:avLst/>
          </a:prstGeom>
          <a:noFill/>
        </p:spPr>
        <p:txBody>
          <a:bodyPr wrap="square">
            <a:spAutoFit/>
          </a:bodyPr>
          <a:lstStyle/>
          <a:p>
            <a:r>
              <a:rPr lang="ja-JP" altLang="en-US" b="1"/>
              <a:t>役割</a:t>
            </a:r>
            <a:r>
              <a:rPr lang="ja-JP" altLang="en-US"/>
              <a:t>：</a:t>
            </a:r>
            <a:r>
              <a:rPr lang="en-US" dirty="0"/>
              <a:t>Cassandra</a:t>
            </a:r>
            <a:r>
              <a:rPr lang="ja-JP" altLang="en-US"/>
              <a:t>上に構築された時系列データベース。</a:t>
            </a:r>
            <a:endParaRPr lang="en-US" altLang="ja-JP" dirty="0"/>
          </a:p>
          <a:p>
            <a:endParaRPr lang="en-US" altLang="ja-JP" dirty="0"/>
          </a:p>
          <a:p>
            <a:endParaRPr lang="ja-JP" altLang="en-US"/>
          </a:p>
          <a:p>
            <a:r>
              <a:rPr lang="ja-JP" altLang="en-US" b="1"/>
              <a:t>仕組み</a:t>
            </a:r>
            <a:r>
              <a:rPr lang="ja-JP" altLang="en-US"/>
              <a:t>：</a:t>
            </a:r>
            <a:endParaRPr lang="en-US" altLang="ja-JP" dirty="0"/>
          </a:p>
          <a:p>
            <a:br>
              <a:rPr lang="ja-JP" altLang="en-US"/>
            </a:br>
            <a:r>
              <a:rPr lang="en-US" dirty="0"/>
              <a:t>NoSQL</a:t>
            </a:r>
            <a:r>
              <a:rPr lang="ja-JP" altLang="en-US"/>
              <a:t>である</a:t>
            </a:r>
            <a:r>
              <a:rPr lang="en-US" dirty="0"/>
              <a:t>Cassandra</a:t>
            </a:r>
            <a:r>
              <a:rPr lang="ja-JP" altLang="en-US"/>
              <a:t>のスケーラブルな分散型ストレージを活用し、</a:t>
            </a:r>
            <a:r>
              <a:rPr lang="en-US" dirty="0"/>
              <a:t>KairosDB</a:t>
            </a:r>
            <a:r>
              <a:rPr lang="ja-JP" altLang="en-US"/>
              <a:t>は時間系列データを</a:t>
            </a:r>
            <a:r>
              <a:rPr lang="en-US" dirty="0"/>
              <a:t>API</a:t>
            </a:r>
            <a:r>
              <a:rPr lang="ja-JP" altLang="en-US"/>
              <a:t>経由で効率的に保存・取得します。大量データや分散環境に適しています。</a:t>
            </a:r>
          </a:p>
        </p:txBody>
      </p:sp>
      <p:sp>
        <p:nvSpPr>
          <p:cNvPr id="11" name="Slide Number Placeholder 10">
            <a:extLst>
              <a:ext uri="{FF2B5EF4-FFF2-40B4-BE49-F238E27FC236}">
                <a16:creationId xmlns:a16="http://schemas.microsoft.com/office/drawing/2014/main" id="{60F10F4E-F9D0-4340-10A0-EEDF2BAA5079}"/>
              </a:ext>
            </a:extLst>
          </p:cNvPr>
          <p:cNvSpPr>
            <a:spLocks noGrp="1"/>
          </p:cNvSpPr>
          <p:nvPr>
            <p:ph type="sldNum" sz="quarter" idx="12"/>
          </p:nvPr>
        </p:nvSpPr>
        <p:spPr/>
        <p:txBody>
          <a:bodyPr/>
          <a:lstStyle/>
          <a:p>
            <a:fld id="{520D4680-3C5B-EB48-BF72-7F3061D1D72A}" type="slidenum">
              <a:rPr lang="en-JP" smtClean="0"/>
              <a:t>8</a:t>
            </a:fld>
            <a:endParaRPr lang="en-JP"/>
          </a:p>
        </p:txBody>
      </p:sp>
    </p:spTree>
    <p:extLst>
      <p:ext uri="{BB962C8B-B14F-4D97-AF65-F5344CB8AC3E}">
        <p14:creationId xmlns:p14="http://schemas.microsoft.com/office/powerpoint/2010/main" val="1531074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405402-1F8C-E64D-C859-66797E136DC5}"/>
              </a:ext>
            </a:extLst>
          </p:cNvPr>
          <p:cNvSpPr txBox="1"/>
          <p:nvPr/>
        </p:nvSpPr>
        <p:spPr>
          <a:xfrm>
            <a:off x="5291254" y="1989592"/>
            <a:ext cx="6099716" cy="2585323"/>
          </a:xfrm>
          <a:prstGeom prst="rect">
            <a:avLst/>
          </a:prstGeom>
          <a:noFill/>
        </p:spPr>
        <p:txBody>
          <a:bodyPr wrap="square">
            <a:spAutoFit/>
          </a:bodyPr>
          <a:lstStyle/>
          <a:p>
            <a:pPr>
              <a:buFont typeface="Arial" panose="020B0604020202020204" pitchFamily="34" charset="0"/>
              <a:buChar char="•"/>
            </a:pPr>
            <a:r>
              <a:rPr lang="ja-JP" altLang="en-US" sz="1800" b="1"/>
              <a:t>役割</a:t>
            </a:r>
            <a:r>
              <a:rPr lang="ja-JP" altLang="en-US" sz="1800"/>
              <a:t>：</a:t>
            </a:r>
            <a:r>
              <a:rPr lang="en-US" sz="1800" dirty="0"/>
              <a:t>PostgreSQL</a:t>
            </a:r>
            <a:r>
              <a:rPr lang="ja-JP" altLang="en-US" sz="1800"/>
              <a:t>をベースにした時系列データベース</a:t>
            </a:r>
            <a:endParaRPr lang="en-US" altLang="ja-JP" sz="1800" dirty="0"/>
          </a:p>
          <a:p>
            <a:pPr>
              <a:buFont typeface="Arial" panose="020B0604020202020204" pitchFamily="34" charset="0"/>
              <a:buChar char="•"/>
            </a:pPr>
            <a:endParaRPr lang="en-US" altLang="ja-JP" sz="1800" dirty="0"/>
          </a:p>
          <a:p>
            <a:pPr>
              <a:buFont typeface="Arial" panose="020B0604020202020204" pitchFamily="34" charset="0"/>
              <a:buChar char="•"/>
            </a:pPr>
            <a:endParaRPr lang="en-US" altLang="ja-JP" dirty="0"/>
          </a:p>
          <a:p>
            <a:endParaRPr lang="ja-JP" altLang="en-US" sz="1800"/>
          </a:p>
          <a:p>
            <a:pPr>
              <a:buFont typeface="Arial" panose="020B0604020202020204" pitchFamily="34" charset="0"/>
              <a:buChar char="•"/>
            </a:pPr>
            <a:r>
              <a:rPr lang="ja-JP" altLang="en-US" sz="1800" b="1"/>
              <a:t>仕組み</a:t>
            </a:r>
            <a:r>
              <a:rPr lang="ja-JP" altLang="en-US" sz="1800"/>
              <a:t>：</a:t>
            </a:r>
            <a:br>
              <a:rPr lang="ja-JP" altLang="en-US" sz="1800"/>
            </a:br>
            <a:r>
              <a:rPr lang="en-US" sz="1800" dirty="0"/>
              <a:t>PostgreSQL</a:t>
            </a:r>
            <a:r>
              <a:rPr lang="ja-JP" altLang="en-US" sz="1800"/>
              <a:t>の拡張として動作し、時間軸に最適化された「ハイパーテーブル（</a:t>
            </a:r>
            <a:r>
              <a:rPr lang="en-US" sz="1800" dirty="0"/>
              <a:t>Hypertable）」</a:t>
            </a:r>
            <a:r>
              <a:rPr lang="ja-JP" altLang="en-US" sz="1800"/>
              <a:t>を使ってデータを管理します。</a:t>
            </a:r>
            <a:r>
              <a:rPr lang="en-US" sz="1800" dirty="0"/>
              <a:t>SQL</a:t>
            </a:r>
            <a:r>
              <a:rPr lang="ja-JP" altLang="en-US" sz="1800"/>
              <a:t>互換であるため、一般的なデータベース知識で利用可能です</a:t>
            </a:r>
          </a:p>
        </p:txBody>
      </p:sp>
      <p:sp>
        <p:nvSpPr>
          <p:cNvPr id="7" name="TextBox 6">
            <a:extLst>
              <a:ext uri="{FF2B5EF4-FFF2-40B4-BE49-F238E27FC236}">
                <a16:creationId xmlns:a16="http://schemas.microsoft.com/office/drawing/2014/main" id="{FBB5ADF8-16FC-4383-7E0E-E15CB6708238}"/>
              </a:ext>
            </a:extLst>
          </p:cNvPr>
          <p:cNvSpPr txBox="1"/>
          <p:nvPr/>
        </p:nvSpPr>
        <p:spPr>
          <a:xfrm>
            <a:off x="507382" y="604618"/>
            <a:ext cx="6099716" cy="400110"/>
          </a:xfrm>
          <a:prstGeom prst="rect">
            <a:avLst/>
          </a:prstGeom>
          <a:noFill/>
        </p:spPr>
        <p:txBody>
          <a:bodyPr wrap="square">
            <a:spAutoFit/>
          </a:bodyPr>
          <a:lstStyle/>
          <a:p>
            <a:r>
              <a:rPr lang="en-US" sz="2000" dirty="0"/>
              <a:t>TimescaleDB v1.7.5</a:t>
            </a:r>
            <a:endParaRPr lang="en-JP" sz="2000" dirty="0"/>
          </a:p>
        </p:txBody>
      </p:sp>
      <p:pic>
        <p:nvPicPr>
          <p:cNvPr id="8" name="Picture 7">
            <a:extLst>
              <a:ext uri="{FF2B5EF4-FFF2-40B4-BE49-F238E27FC236}">
                <a16:creationId xmlns:a16="http://schemas.microsoft.com/office/drawing/2014/main" id="{B416A1AB-AA65-441A-25F1-CC885D7B0548}"/>
              </a:ext>
            </a:extLst>
          </p:cNvPr>
          <p:cNvPicPr>
            <a:picLocks noChangeAspect="1"/>
          </p:cNvPicPr>
          <p:nvPr/>
        </p:nvPicPr>
        <p:blipFill>
          <a:blip r:embed="rId2"/>
          <a:stretch>
            <a:fillRect/>
          </a:stretch>
        </p:blipFill>
        <p:spPr>
          <a:xfrm>
            <a:off x="223025" y="1912434"/>
            <a:ext cx="4791152" cy="3033131"/>
          </a:xfrm>
          <a:prstGeom prst="rect">
            <a:avLst/>
          </a:prstGeom>
        </p:spPr>
      </p:pic>
      <p:sp>
        <p:nvSpPr>
          <p:cNvPr id="9" name="Slide Number Placeholder 8">
            <a:extLst>
              <a:ext uri="{FF2B5EF4-FFF2-40B4-BE49-F238E27FC236}">
                <a16:creationId xmlns:a16="http://schemas.microsoft.com/office/drawing/2014/main" id="{9EAD752B-7133-2CEA-F2C3-F30B02EF537B}"/>
              </a:ext>
            </a:extLst>
          </p:cNvPr>
          <p:cNvSpPr>
            <a:spLocks noGrp="1"/>
          </p:cNvSpPr>
          <p:nvPr>
            <p:ph type="sldNum" sz="quarter" idx="12"/>
          </p:nvPr>
        </p:nvSpPr>
        <p:spPr/>
        <p:txBody>
          <a:bodyPr/>
          <a:lstStyle/>
          <a:p>
            <a:fld id="{520D4680-3C5B-EB48-BF72-7F3061D1D72A}" type="slidenum">
              <a:rPr lang="en-JP" smtClean="0"/>
              <a:t>9</a:t>
            </a:fld>
            <a:endParaRPr lang="en-JP"/>
          </a:p>
        </p:txBody>
      </p:sp>
    </p:spTree>
    <p:extLst>
      <p:ext uri="{BB962C8B-B14F-4D97-AF65-F5344CB8AC3E}">
        <p14:creationId xmlns:p14="http://schemas.microsoft.com/office/powerpoint/2010/main" val="2836305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吹き出し: 角を丸めた四角形 64">
            <a:extLst>
              <a:ext uri="{FF2B5EF4-FFF2-40B4-BE49-F238E27FC236}">
                <a16:creationId xmlns:a16="http://schemas.microsoft.com/office/drawing/2014/main" id="{1CCFDEE7-6E5D-4305-4905-B9B24B9118C4}"/>
              </a:ext>
            </a:extLst>
          </p:cNvPr>
          <p:cNvSpPr/>
          <p:nvPr/>
        </p:nvSpPr>
        <p:spPr>
          <a:xfrm>
            <a:off x="7501201" y="858125"/>
            <a:ext cx="4006858" cy="1284097"/>
          </a:xfrm>
          <a:prstGeom prst="wedgeRoundRectCallout">
            <a:avLst>
              <a:gd name="adj1" fmla="val -23944"/>
              <a:gd name="adj2" fmla="val 175372"/>
              <a:gd name="adj3" fmla="val 16667"/>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産業パートナーから提供された</a:t>
            </a:r>
            <a:r>
              <a:rPr lang="en-US" altLang="ja-JP" dirty="0">
                <a:solidFill>
                  <a:schemeClr val="tx1"/>
                </a:solidFill>
              </a:rPr>
              <a:t>3</a:t>
            </a:r>
            <a:r>
              <a:rPr lang="ja-JP" altLang="en-US">
                <a:solidFill>
                  <a:schemeClr val="tx1"/>
                </a:solidFill>
              </a:rPr>
              <a:t>つの実データセットと、</a:t>
            </a:r>
            <a:r>
              <a:rPr lang="en-US" altLang="ja-JP" dirty="0">
                <a:solidFill>
                  <a:schemeClr val="tx1"/>
                </a:solidFill>
              </a:rPr>
              <a:t>1</a:t>
            </a:r>
            <a:r>
              <a:rPr lang="ja-JP" altLang="en-US">
                <a:solidFill>
                  <a:schemeClr val="tx1"/>
                </a:solidFill>
              </a:rPr>
              <a:t>つの時系列ベンチマークデータを使用しました。</a:t>
            </a:r>
            <a:endParaRPr kumimoji="1" lang="ja-JP" altLang="en-US">
              <a:solidFill>
                <a:schemeClr val="tx1"/>
              </a:solidFill>
            </a:endParaRPr>
          </a:p>
        </p:txBody>
      </p:sp>
      <p:sp>
        <p:nvSpPr>
          <p:cNvPr id="6" name="正方形/長方形 54">
            <a:extLst>
              <a:ext uri="{FF2B5EF4-FFF2-40B4-BE49-F238E27FC236}">
                <a16:creationId xmlns:a16="http://schemas.microsoft.com/office/drawing/2014/main" id="{472D38F5-AFD5-33D2-BDC3-B71ABEE2710D}"/>
              </a:ext>
            </a:extLst>
          </p:cNvPr>
          <p:cNvSpPr/>
          <p:nvPr/>
        </p:nvSpPr>
        <p:spPr>
          <a:xfrm>
            <a:off x="7501201" y="3814027"/>
            <a:ext cx="1948086" cy="1543799"/>
          </a:xfrm>
          <a:prstGeom prst="rect">
            <a:avLst/>
          </a:prstGeom>
          <a:solidFill>
            <a:schemeClr val="bg1">
              <a:lumMod val="8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kumimoji="1" lang="ja-JP" altLang="en-US"/>
          </a:p>
        </p:txBody>
      </p:sp>
      <p:sp>
        <p:nvSpPr>
          <p:cNvPr id="7" name="フローチャート: 他ページ結合子 44">
            <a:extLst>
              <a:ext uri="{FF2B5EF4-FFF2-40B4-BE49-F238E27FC236}">
                <a16:creationId xmlns:a16="http://schemas.microsoft.com/office/drawing/2014/main" id="{BF01298A-C267-70DF-D371-3409D9D03163}"/>
              </a:ext>
            </a:extLst>
          </p:cNvPr>
          <p:cNvSpPr/>
          <p:nvPr/>
        </p:nvSpPr>
        <p:spPr>
          <a:xfrm rot="16200000">
            <a:off x="5799358" y="3175964"/>
            <a:ext cx="1651066" cy="2838162"/>
          </a:xfrm>
          <a:prstGeom prst="flowChartOffpageConnector">
            <a:avLst/>
          </a:prstGeom>
          <a:solidFill>
            <a:schemeClr val="accent2">
              <a:lumMod val="20000"/>
              <a:lumOff val="8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en-US" sz="2400" dirty="0">
                <a:solidFill>
                  <a:schemeClr val="tx1"/>
                </a:solidFill>
              </a:rPr>
              <a:t>ZC-train</a:t>
            </a:r>
            <a:endParaRPr kumimoji="1" lang="ja-JP" altLang="en-US" sz="2400">
              <a:solidFill>
                <a:schemeClr val="tx1"/>
              </a:solidFill>
              <a:latin typeface="Meiryo" panose="020B0604030504040204" pitchFamily="34" charset="-128"/>
              <a:ea typeface="Meiryo" panose="020B0604030504040204" pitchFamily="34" charset="-128"/>
            </a:endParaRPr>
          </a:p>
        </p:txBody>
      </p:sp>
      <p:sp>
        <p:nvSpPr>
          <p:cNvPr id="9" name="フローチャート: 他ページ結合子 46">
            <a:extLst>
              <a:ext uri="{FF2B5EF4-FFF2-40B4-BE49-F238E27FC236}">
                <a16:creationId xmlns:a16="http://schemas.microsoft.com/office/drawing/2014/main" id="{8DD66679-1511-5DC7-102C-B76E58AC7E32}"/>
              </a:ext>
            </a:extLst>
          </p:cNvPr>
          <p:cNvSpPr/>
          <p:nvPr/>
        </p:nvSpPr>
        <p:spPr>
          <a:xfrm rot="16200000">
            <a:off x="3514726" y="3093190"/>
            <a:ext cx="1651065" cy="2985474"/>
          </a:xfrm>
          <a:prstGeom prst="flowChartOffpageConnector">
            <a:avLst/>
          </a:prstGeom>
          <a:solidFill>
            <a:schemeClr val="accent1">
              <a:lumMod val="20000"/>
              <a:lumOff val="8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en-US" sz="2400" dirty="0">
                <a:solidFill>
                  <a:schemeClr val="tx1"/>
                </a:solidFill>
              </a:rPr>
              <a:t>TY-vehicle</a:t>
            </a:r>
            <a:endParaRPr kumimoji="1" lang="ja-JP" altLang="en-US" sz="2400">
              <a:solidFill>
                <a:schemeClr val="tx1"/>
              </a:solidFill>
              <a:latin typeface="Meiryo" panose="020B0604030504040204" pitchFamily="34" charset="-128"/>
              <a:ea typeface="Meiryo" panose="020B0604030504040204" pitchFamily="34" charset="-128"/>
            </a:endParaRPr>
          </a:p>
        </p:txBody>
      </p:sp>
      <p:sp>
        <p:nvSpPr>
          <p:cNvPr id="10" name="コンテンツ プレースホルダー 2">
            <a:extLst>
              <a:ext uri="{FF2B5EF4-FFF2-40B4-BE49-F238E27FC236}">
                <a16:creationId xmlns:a16="http://schemas.microsoft.com/office/drawing/2014/main" id="{950BE961-D930-EA3F-6D06-71C4AF38C656}"/>
              </a:ext>
            </a:extLst>
          </p:cNvPr>
          <p:cNvSpPr txBox="1">
            <a:spLocks/>
          </p:cNvSpPr>
          <p:nvPr/>
        </p:nvSpPr>
        <p:spPr>
          <a:xfrm>
            <a:off x="3042440" y="4009614"/>
            <a:ext cx="2790556" cy="717283"/>
          </a:xfrm>
          <a:prstGeom prst="rect">
            <a:avLst/>
          </a:prstGeom>
          <a:noFill/>
          <a:ln w="28575">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Wingdings" pitchFamily="2" charset="2"/>
              <a:buChar char="Ø"/>
              <a:defRPr kumimoji="1"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endParaRPr lang="en-US" altLang="ja-JP" b="1" dirty="0"/>
          </a:p>
        </p:txBody>
      </p:sp>
      <p:sp>
        <p:nvSpPr>
          <p:cNvPr id="14" name="コンテンツ プレースホルダー 2">
            <a:extLst>
              <a:ext uri="{FF2B5EF4-FFF2-40B4-BE49-F238E27FC236}">
                <a16:creationId xmlns:a16="http://schemas.microsoft.com/office/drawing/2014/main" id="{0FFFD46A-6E6C-52CF-BFF5-1B5608CB965D}"/>
              </a:ext>
            </a:extLst>
          </p:cNvPr>
          <p:cNvSpPr txBox="1">
            <a:spLocks/>
          </p:cNvSpPr>
          <p:nvPr/>
        </p:nvSpPr>
        <p:spPr>
          <a:xfrm>
            <a:off x="4940651" y="4216985"/>
            <a:ext cx="1684240" cy="950735"/>
          </a:xfrm>
          <a:prstGeom prst="rect">
            <a:avLst/>
          </a:prstGeom>
          <a:noFill/>
          <a:ln w="28575">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Wingdings" pitchFamily="2" charset="2"/>
              <a:buChar char="Ø"/>
              <a:defRPr kumimoji="1"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endParaRPr lang="en-US" altLang="ja-JP" sz="2400" b="1" dirty="0"/>
          </a:p>
        </p:txBody>
      </p:sp>
      <p:sp>
        <p:nvSpPr>
          <p:cNvPr id="15" name="コンテンツ プレースホルダー 2">
            <a:extLst>
              <a:ext uri="{FF2B5EF4-FFF2-40B4-BE49-F238E27FC236}">
                <a16:creationId xmlns:a16="http://schemas.microsoft.com/office/drawing/2014/main" id="{6F2793D8-86E7-7CE6-236A-0D9067EEB607}"/>
              </a:ext>
            </a:extLst>
          </p:cNvPr>
          <p:cNvSpPr txBox="1">
            <a:spLocks/>
          </p:cNvSpPr>
          <p:nvPr/>
        </p:nvSpPr>
        <p:spPr>
          <a:xfrm>
            <a:off x="7875172" y="4363840"/>
            <a:ext cx="1574115" cy="56994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Wingdings" pitchFamily="2" charset="2"/>
              <a:buChar char="Ø"/>
              <a:defRPr kumimoji="1"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50000"/>
              </a:lnSpc>
              <a:buNone/>
            </a:pPr>
            <a:r>
              <a:rPr lang="en-US" sz="1600" dirty="0"/>
              <a:t>ZY-machine</a:t>
            </a:r>
            <a:endParaRPr lang="en-US" altLang="ja-JP" sz="1600" b="1" dirty="0"/>
          </a:p>
        </p:txBody>
      </p:sp>
      <p:pic>
        <p:nvPicPr>
          <p:cNvPr id="16" name="Picture 15">
            <a:extLst>
              <a:ext uri="{FF2B5EF4-FFF2-40B4-BE49-F238E27FC236}">
                <a16:creationId xmlns:a16="http://schemas.microsoft.com/office/drawing/2014/main" id="{0890927F-3B37-EA2D-230E-4BCF4C192FFA}"/>
              </a:ext>
            </a:extLst>
          </p:cNvPr>
          <p:cNvPicPr>
            <a:picLocks noChangeAspect="1"/>
          </p:cNvPicPr>
          <p:nvPr/>
        </p:nvPicPr>
        <p:blipFill>
          <a:blip r:embed="rId2"/>
          <a:stretch>
            <a:fillRect/>
          </a:stretch>
        </p:blipFill>
        <p:spPr>
          <a:xfrm>
            <a:off x="1313211" y="1500173"/>
            <a:ext cx="4279900" cy="1549400"/>
          </a:xfrm>
          <a:prstGeom prst="rect">
            <a:avLst/>
          </a:prstGeom>
        </p:spPr>
      </p:pic>
      <p:sp>
        <p:nvSpPr>
          <p:cNvPr id="17" name="Slide Number Placeholder 16">
            <a:extLst>
              <a:ext uri="{FF2B5EF4-FFF2-40B4-BE49-F238E27FC236}">
                <a16:creationId xmlns:a16="http://schemas.microsoft.com/office/drawing/2014/main" id="{96E88419-41E0-132F-58FF-7238EAD9A673}"/>
              </a:ext>
            </a:extLst>
          </p:cNvPr>
          <p:cNvSpPr>
            <a:spLocks noGrp="1"/>
          </p:cNvSpPr>
          <p:nvPr>
            <p:ph type="sldNum" sz="quarter" idx="12"/>
          </p:nvPr>
        </p:nvSpPr>
        <p:spPr/>
        <p:txBody>
          <a:bodyPr/>
          <a:lstStyle/>
          <a:p>
            <a:fld id="{520D4680-3C5B-EB48-BF72-7F3061D1D72A}" type="slidenum">
              <a:rPr lang="en-JP" smtClean="0"/>
              <a:t>10</a:t>
            </a:fld>
            <a:endParaRPr lang="en-JP"/>
          </a:p>
        </p:txBody>
      </p:sp>
    </p:spTree>
    <p:extLst>
      <p:ext uri="{BB962C8B-B14F-4D97-AF65-F5344CB8AC3E}">
        <p14:creationId xmlns:p14="http://schemas.microsoft.com/office/powerpoint/2010/main" val="180439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nodePh="1">
                                  <p:stCondLst>
                                    <p:cond delay="0"/>
                                  </p:stCondLst>
                                  <p:endCondLst>
                                    <p:cond evt="begin" delay="0">
                                      <p:tn val="25"/>
                                    </p:cond>
                                  </p:end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ローチャート: 他ページ結合子 46">
            <a:extLst>
              <a:ext uri="{FF2B5EF4-FFF2-40B4-BE49-F238E27FC236}">
                <a16:creationId xmlns:a16="http://schemas.microsoft.com/office/drawing/2014/main" id="{76FE7C3E-C740-3518-9EFA-AADE21C0F6AE}"/>
              </a:ext>
            </a:extLst>
          </p:cNvPr>
          <p:cNvSpPr/>
          <p:nvPr/>
        </p:nvSpPr>
        <p:spPr>
          <a:xfrm rot="16200000">
            <a:off x="1384843" y="-73756"/>
            <a:ext cx="1651065" cy="2985474"/>
          </a:xfrm>
          <a:prstGeom prst="flowChartOffpageConnector">
            <a:avLst/>
          </a:prstGeom>
          <a:solidFill>
            <a:schemeClr val="accent1">
              <a:lumMod val="20000"/>
              <a:lumOff val="8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en-US" sz="2400" dirty="0">
                <a:solidFill>
                  <a:schemeClr val="tx1"/>
                </a:solidFill>
              </a:rPr>
              <a:t>TY-vehicle</a:t>
            </a:r>
            <a:endParaRPr kumimoji="1" lang="ja-JP" altLang="en-US" sz="2400">
              <a:solidFill>
                <a:schemeClr val="tx1"/>
              </a:solidFill>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5CEF275B-55C7-28E6-DB68-05ACE1C6AEC8}"/>
              </a:ext>
            </a:extLst>
          </p:cNvPr>
          <p:cNvSpPr txBox="1"/>
          <p:nvPr/>
        </p:nvSpPr>
        <p:spPr>
          <a:xfrm>
            <a:off x="4064620" y="767186"/>
            <a:ext cx="7621858" cy="1477328"/>
          </a:xfrm>
          <a:prstGeom prst="rect">
            <a:avLst/>
          </a:prstGeom>
          <a:noFill/>
        </p:spPr>
        <p:txBody>
          <a:bodyPr wrap="square">
            <a:spAutoFit/>
          </a:bodyPr>
          <a:lstStyle/>
          <a:p>
            <a:r>
              <a:rPr lang="en-US" dirty="0">
                <a:latin typeface="+mj-ea"/>
                <a:ea typeface="+mj-ea"/>
              </a:rPr>
              <a:t>TY-vehicle</a:t>
            </a:r>
            <a:r>
              <a:rPr lang="ja-JP" altLang="en-US">
                <a:latin typeface="+mj-ea"/>
                <a:ea typeface="+mj-ea"/>
              </a:rPr>
              <a:t>データは、建設機械メーカーである天元テクノロジー社の掘削機や配送車両から収集されました。センサーは車速、燃料計、加速度、その他</a:t>
            </a:r>
            <a:r>
              <a:rPr lang="en-US" altLang="ja-JP" dirty="0">
                <a:latin typeface="+mj-ea"/>
                <a:ea typeface="+mj-ea"/>
              </a:rPr>
              <a:t>1,033</a:t>
            </a:r>
            <a:r>
              <a:rPr lang="ja-JP" altLang="en-US">
                <a:latin typeface="+mj-ea"/>
                <a:ea typeface="+mj-ea"/>
              </a:rPr>
              <a:t>種類の測定値を監視しています。時系列の周波数が不規則なため、データは非常に疎（スパース）です。時系列を整列させると、有効なデータはわずか</a:t>
            </a:r>
            <a:r>
              <a:rPr lang="en-US" altLang="ja-JP" dirty="0">
                <a:latin typeface="+mj-ea"/>
                <a:ea typeface="+mj-ea"/>
              </a:rPr>
              <a:t>4.79</a:t>
            </a:r>
            <a:r>
              <a:rPr lang="ja-JP" altLang="en-US">
                <a:latin typeface="+mj-ea"/>
                <a:ea typeface="+mj-ea"/>
              </a:rPr>
              <a:t>％です。</a:t>
            </a:r>
            <a:endParaRPr lang="en-JP" dirty="0">
              <a:latin typeface="+mj-ea"/>
              <a:ea typeface="+mj-ea"/>
            </a:endParaRPr>
          </a:p>
        </p:txBody>
      </p:sp>
      <p:sp>
        <p:nvSpPr>
          <p:cNvPr id="7" name="フローチャート: 他ページ結合子 44">
            <a:extLst>
              <a:ext uri="{FF2B5EF4-FFF2-40B4-BE49-F238E27FC236}">
                <a16:creationId xmlns:a16="http://schemas.microsoft.com/office/drawing/2014/main" id="{A2860723-80EA-DEA5-8347-FD77C74CCA09}"/>
              </a:ext>
            </a:extLst>
          </p:cNvPr>
          <p:cNvSpPr/>
          <p:nvPr/>
        </p:nvSpPr>
        <p:spPr>
          <a:xfrm rot="16200000">
            <a:off x="1311186" y="2172354"/>
            <a:ext cx="1651066" cy="2838162"/>
          </a:xfrm>
          <a:prstGeom prst="flowChartOffpageConnector">
            <a:avLst/>
          </a:prstGeom>
          <a:solidFill>
            <a:schemeClr val="accent2">
              <a:lumMod val="20000"/>
              <a:lumOff val="8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en-US" sz="2400" dirty="0">
                <a:solidFill>
                  <a:schemeClr val="tx1"/>
                </a:solidFill>
              </a:rPr>
              <a:t>ZC-train</a:t>
            </a:r>
            <a:endParaRPr kumimoji="1" lang="ja-JP" altLang="en-US" sz="2400">
              <a:solidFill>
                <a:schemeClr val="tx1"/>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6D920D9A-785E-A0EF-7D53-7179C014975E}"/>
              </a:ext>
            </a:extLst>
          </p:cNvPr>
          <p:cNvSpPr txBox="1"/>
          <p:nvPr/>
        </p:nvSpPr>
        <p:spPr>
          <a:xfrm>
            <a:off x="4064620" y="2662642"/>
            <a:ext cx="6540190" cy="1477328"/>
          </a:xfrm>
          <a:prstGeom prst="rect">
            <a:avLst/>
          </a:prstGeom>
          <a:noFill/>
        </p:spPr>
        <p:txBody>
          <a:bodyPr wrap="square">
            <a:spAutoFit/>
          </a:bodyPr>
          <a:lstStyle/>
          <a:p>
            <a:r>
              <a:rPr lang="en-US" dirty="0">
                <a:latin typeface="+mj-ea"/>
                <a:ea typeface="+mj-ea"/>
              </a:rPr>
              <a:t>ZC-train</a:t>
            </a:r>
            <a:r>
              <a:rPr lang="ja-JP" altLang="en-US">
                <a:latin typeface="+mj-ea"/>
                <a:ea typeface="+mj-ea"/>
              </a:rPr>
              <a:t>データは、中国中車（</a:t>
            </a:r>
            <a:r>
              <a:rPr lang="en-US" dirty="0">
                <a:latin typeface="+mj-ea"/>
                <a:ea typeface="+mj-ea"/>
              </a:rPr>
              <a:t>CRRC）</a:t>
            </a:r>
            <a:r>
              <a:rPr lang="ja-JP" altLang="en-US">
                <a:latin typeface="+mj-ea"/>
                <a:ea typeface="+mj-ea"/>
              </a:rPr>
              <a:t>社が製造した上海地下鉄の列車を監視して収集されたものです。温度、速度、荷重など、</a:t>
            </a:r>
            <a:r>
              <a:rPr lang="en-US" altLang="ja-JP" dirty="0">
                <a:latin typeface="+mj-ea"/>
                <a:ea typeface="+mj-ea"/>
              </a:rPr>
              <a:t>4,705</a:t>
            </a:r>
            <a:r>
              <a:rPr lang="ja-JP" altLang="en-US">
                <a:latin typeface="+mj-ea"/>
                <a:ea typeface="+mj-ea"/>
              </a:rPr>
              <a:t>種類の測定値が含まれています。列車から一括でデータが収集・アップロードされるため、このデータセットは比較的密であり、</a:t>
            </a:r>
            <a:r>
              <a:rPr lang="en-US" altLang="ja-JP" dirty="0">
                <a:latin typeface="+mj-ea"/>
                <a:ea typeface="+mj-ea"/>
              </a:rPr>
              <a:t>72.8</a:t>
            </a:r>
            <a:r>
              <a:rPr lang="ja-JP" altLang="en-US">
                <a:latin typeface="+mj-ea"/>
                <a:ea typeface="+mj-ea"/>
              </a:rPr>
              <a:t>％が非</a:t>
            </a:r>
            <a:r>
              <a:rPr lang="en-US" dirty="0">
                <a:latin typeface="+mj-ea"/>
                <a:ea typeface="+mj-ea"/>
              </a:rPr>
              <a:t>NULL（</a:t>
            </a:r>
            <a:r>
              <a:rPr lang="ja-JP" altLang="en-US">
                <a:latin typeface="+mj-ea"/>
                <a:ea typeface="+mj-ea"/>
              </a:rPr>
              <a:t>有効）データです。</a:t>
            </a:r>
            <a:endParaRPr lang="en-JP" dirty="0">
              <a:latin typeface="+mj-ea"/>
              <a:ea typeface="+mj-ea"/>
            </a:endParaRPr>
          </a:p>
        </p:txBody>
      </p:sp>
      <p:sp>
        <p:nvSpPr>
          <p:cNvPr id="10" name="フローチャート: 他ページ結合子 44">
            <a:extLst>
              <a:ext uri="{FF2B5EF4-FFF2-40B4-BE49-F238E27FC236}">
                <a16:creationId xmlns:a16="http://schemas.microsoft.com/office/drawing/2014/main" id="{391101BF-E2E7-D8D4-387B-CF9D0942191E}"/>
              </a:ext>
            </a:extLst>
          </p:cNvPr>
          <p:cNvSpPr/>
          <p:nvPr/>
        </p:nvSpPr>
        <p:spPr>
          <a:xfrm rot="16200000">
            <a:off x="1384842" y="4344807"/>
            <a:ext cx="1651066" cy="2838162"/>
          </a:xfrm>
          <a:prstGeom prst="flowChartOffpageConnector">
            <a:avLst/>
          </a:prstGeom>
          <a:ln/>
        </p:spPr>
        <p:style>
          <a:lnRef idx="1">
            <a:schemeClr val="accent3"/>
          </a:lnRef>
          <a:fillRef idx="2">
            <a:schemeClr val="accent3"/>
          </a:fillRef>
          <a:effectRef idx="1">
            <a:schemeClr val="accent3"/>
          </a:effectRef>
          <a:fontRef idx="minor">
            <a:schemeClr val="dk1"/>
          </a:fontRef>
        </p:style>
        <p:txBody>
          <a:bodyPr vert="eaVert" rtlCol="0" anchor="ctr"/>
          <a:lstStyle/>
          <a:p>
            <a:pPr algn="ctr"/>
            <a:r>
              <a:rPr lang="en-US" sz="2400" dirty="0"/>
              <a:t>ZY-machine</a:t>
            </a:r>
            <a:endParaRPr kumimoji="1" lang="ja-JP" altLang="en-US" sz="240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4CD92456-2FB5-0CCA-054C-D2FDF43A6E8A}"/>
              </a:ext>
            </a:extLst>
          </p:cNvPr>
          <p:cNvSpPr txBox="1"/>
          <p:nvPr/>
        </p:nvSpPr>
        <p:spPr>
          <a:xfrm>
            <a:off x="4064620" y="5025224"/>
            <a:ext cx="6099716" cy="1477328"/>
          </a:xfrm>
          <a:prstGeom prst="rect">
            <a:avLst/>
          </a:prstGeom>
          <a:noFill/>
        </p:spPr>
        <p:txBody>
          <a:bodyPr wrap="square">
            <a:spAutoFit/>
          </a:bodyPr>
          <a:lstStyle/>
          <a:p>
            <a:r>
              <a:rPr lang="en-US" dirty="0">
                <a:latin typeface="+mj-ea"/>
                <a:ea typeface="+mj-ea"/>
              </a:rPr>
              <a:t>ZY-machine</a:t>
            </a:r>
            <a:r>
              <a:rPr lang="ja-JP" altLang="en-US">
                <a:latin typeface="+mj-ea"/>
                <a:ea typeface="+mj-ea"/>
              </a:rPr>
              <a:t>データは、中国タバコ社の製造機械の生産ログです。水分量、バッチ番号、ロッド番号など</a:t>
            </a:r>
            <a:r>
              <a:rPr lang="en-US" altLang="ja-JP" dirty="0">
                <a:latin typeface="+mj-ea"/>
                <a:ea typeface="+mj-ea"/>
              </a:rPr>
              <a:t>117</a:t>
            </a:r>
            <a:r>
              <a:rPr lang="ja-JP" altLang="en-US">
                <a:latin typeface="+mj-ea"/>
                <a:ea typeface="+mj-ea"/>
              </a:rPr>
              <a:t>種類の指標が記録され、生産状況を監視しています。異なる種類の機械が同時に稼働するため、データは非常に疎であり、</a:t>
            </a:r>
            <a:r>
              <a:rPr lang="en-US" altLang="ja-JP" dirty="0">
                <a:latin typeface="+mj-ea"/>
                <a:ea typeface="+mj-ea"/>
              </a:rPr>
              <a:t>88.5</a:t>
            </a:r>
            <a:r>
              <a:rPr lang="ja-JP" altLang="en-US">
                <a:latin typeface="+mj-ea"/>
                <a:ea typeface="+mj-ea"/>
              </a:rPr>
              <a:t>％が</a:t>
            </a:r>
            <a:r>
              <a:rPr lang="en-US" dirty="0">
                <a:latin typeface="+mj-ea"/>
                <a:ea typeface="+mj-ea"/>
              </a:rPr>
              <a:t>NULL</a:t>
            </a:r>
            <a:r>
              <a:rPr lang="ja-JP" altLang="en-US">
                <a:latin typeface="+mj-ea"/>
                <a:ea typeface="+mj-ea"/>
              </a:rPr>
              <a:t>値です。</a:t>
            </a:r>
            <a:endParaRPr lang="en-JP" dirty="0">
              <a:latin typeface="+mj-ea"/>
              <a:ea typeface="+mj-ea"/>
            </a:endParaRPr>
          </a:p>
        </p:txBody>
      </p:sp>
      <p:sp>
        <p:nvSpPr>
          <p:cNvPr id="13" name="Slide Number Placeholder 12">
            <a:extLst>
              <a:ext uri="{FF2B5EF4-FFF2-40B4-BE49-F238E27FC236}">
                <a16:creationId xmlns:a16="http://schemas.microsoft.com/office/drawing/2014/main" id="{9A871DB5-5557-EF65-F3C4-1266C4B7825D}"/>
              </a:ext>
            </a:extLst>
          </p:cNvPr>
          <p:cNvSpPr>
            <a:spLocks noGrp="1"/>
          </p:cNvSpPr>
          <p:nvPr>
            <p:ph type="sldNum" sz="quarter" idx="12"/>
          </p:nvPr>
        </p:nvSpPr>
        <p:spPr/>
        <p:txBody>
          <a:bodyPr/>
          <a:lstStyle/>
          <a:p>
            <a:fld id="{520D4680-3C5B-EB48-BF72-7F3061D1D72A}" type="slidenum">
              <a:rPr lang="en-JP" smtClean="0"/>
              <a:t>11</a:t>
            </a:fld>
            <a:endParaRPr lang="en-JP"/>
          </a:p>
        </p:txBody>
      </p:sp>
    </p:spTree>
    <p:extLst>
      <p:ext uri="{BB962C8B-B14F-4D97-AF65-F5344CB8AC3E}">
        <p14:creationId xmlns:p14="http://schemas.microsoft.com/office/powerpoint/2010/main" val="421994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4533D6-77BC-3354-C0AD-14DFA97C4BA2}"/>
              </a:ext>
            </a:extLst>
          </p:cNvPr>
          <p:cNvPicPr>
            <a:picLocks noChangeAspect="1"/>
          </p:cNvPicPr>
          <p:nvPr/>
        </p:nvPicPr>
        <p:blipFill>
          <a:blip r:embed="rId2"/>
          <a:stretch>
            <a:fillRect/>
          </a:stretch>
        </p:blipFill>
        <p:spPr>
          <a:xfrm>
            <a:off x="256788" y="700743"/>
            <a:ext cx="8039720" cy="3536485"/>
          </a:xfrm>
          <a:prstGeom prst="rect">
            <a:avLst/>
          </a:prstGeom>
        </p:spPr>
      </p:pic>
      <p:sp>
        <p:nvSpPr>
          <p:cNvPr id="6" name="TextBox 5">
            <a:extLst>
              <a:ext uri="{FF2B5EF4-FFF2-40B4-BE49-F238E27FC236}">
                <a16:creationId xmlns:a16="http://schemas.microsoft.com/office/drawing/2014/main" id="{731D7440-2B47-BBE4-E42E-66069D8B5B42}"/>
              </a:ext>
            </a:extLst>
          </p:cNvPr>
          <p:cNvSpPr txBox="1"/>
          <p:nvPr/>
        </p:nvSpPr>
        <p:spPr>
          <a:xfrm>
            <a:off x="256789" y="4820220"/>
            <a:ext cx="7682880" cy="1200329"/>
          </a:xfrm>
          <a:prstGeom prst="rect">
            <a:avLst/>
          </a:prstGeom>
          <a:noFill/>
        </p:spPr>
        <p:txBody>
          <a:bodyPr wrap="square">
            <a:spAutoFit/>
          </a:bodyPr>
          <a:lstStyle/>
          <a:p>
            <a:r>
              <a:rPr lang="ja-JP" altLang="en-US">
                <a:latin typeface="Yu Mincho" panose="02020400000000000000" pitchFamily="18" charset="-128"/>
                <a:ea typeface="Yu Mincho" panose="02020400000000000000" pitchFamily="18" charset="-128"/>
              </a:rPr>
              <a:t>最初の図では、</a:t>
            </a:r>
            <a:r>
              <a:rPr lang="en-US" dirty="0">
                <a:latin typeface="Yu Mincho" panose="02020400000000000000" pitchFamily="18" charset="-128"/>
                <a:ea typeface="Yu Mincho" panose="02020400000000000000" pitchFamily="18" charset="-128"/>
              </a:rPr>
              <a:t>Apache IoTDB</a:t>
            </a:r>
            <a:r>
              <a:rPr lang="ja-JP" altLang="en-US">
                <a:latin typeface="Yu Mincho" panose="02020400000000000000" pitchFamily="18" charset="-128"/>
                <a:ea typeface="Yu Mincho" panose="02020400000000000000" pitchFamily="18" charset="-128"/>
              </a:rPr>
              <a:t>における様々なデータ保存フォーマット（</a:t>
            </a:r>
            <a:r>
              <a:rPr lang="en-US" dirty="0">
                <a:latin typeface="Yu Mincho" panose="02020400000000000000" pitchFamily="18" charset="-128"/>
                <a:ea typeface="Yu Mincho" panose="02020400000000000000" pitchFamily="18" charset="-128"/>
              </a:rPr>
              <a:t>TsFile</a:t>
            </a:r>
            <a:r>
              <a:rPr lang="ja-JP" altLang="en-US">
                <a:latin typeface="Yu Mincho" panose="02020400000000000000" pitchFamily="18" charset="-128"/>
                <a:ea typeface="Yu Mincho" panose="02020400000000000000" pitchFamily="18" charset="-128"/>
              </a:rPr>
              <a:t>のバリエーション、</a:t>
            </a:r>
            <a:r>
              <a:rPr lang="en-US" dirty="0">
                <a:latin typeface="Yu Mincho" panose="02020400000000000000" pitchFamily="18" charset="-128"/>
                <a:ea typeface="Yu Mincho" panose="02020400000000000000" pitchFamily="18" charset="-128"/>
              </a:rPr>
              <a:t>Parquet、ORC</a:t>
            </a:r>
            <a:r>
              <a:rPr lang="ja-JP" altLang="en-US">
                <a:latin typeface="Yu Mincho" panose="02020400000000000000" pitchFamily="18" charset="-128"/>
                <a:ea typeface="Yu Mincho" panose="02020400000000000000" pitchFamily="18" charset="-128"/>
              </a:rPr>
              <a:t>など）に対しての書き込みスループット（</a:t>
            </a:r>
            <a:r>
              <a:rPr lang="en-US" dirty="0">
                <a:latin typeface="Yu Mincho" panose="02020400000000000000" pitchFamily="18" charset="-128"/>
                <a:ea typeface="Yu Mincho" panose="02020400000000000000" pitchFamily="18" charset="-128"/>
              </a:rPr>
              <a:t>write throughput）、</a:t>
            </a:r>
            <a:r>
              <a:rPr lang="ja-JP" altLang="en-US">
                <a:latin typeface="Yu Mincho" panose="02020400000000000000" pitchFamily="18" charset="-128"/>
                <a:ea typeface="Yu Mincho" panose="02020400000000000000" pitchFamily="18" charset="-128"/>
              </a:rPr>
              <a:t>保存スペースのコスト（</a:t>
            </a:r>
            <a:r>
              <a:rPr lang="en-US" dirty="0">
                <a:latin typeface="Yu Mincho" panose="02020400000000000000" pitchFamily="18" charset="-128"/>
                <a:ea typeface="Yu Mincho" panose="02020400000000000000" pitchFamily="18" charset="-128"/>
              </a:rPr>
              <a:t>space cost</a:t>
            </a:r>
            <a:r>
              <a:rPr lang="en-US" b="1" dirty="0">
                <a:latin typeface="Yu Mincho" panose="02020400000000000000" pitchFamily="18" charset="-128"/>
                <a:ea typeface="Yu Mincho" panose="02020400000000000000" pitchFamily="18" charset="-128"/>
              </a:rPr>
              <a:t>）</a:t>
            </a:r>
            <a:r>
              <a:rPr lang="en-US" dirty="0">
                <a:latin typeface="Yu Mincho" panose="02020400000000000000" pitchFamily="18" charset="-128"/>
                <a:ea typeface="Yu Mincho" panose="02020400000000000000" pitchFamily="18" charset="-128"/>
              </a:rPr>
              <a:t>、</a:t>
            </a:r>
            <a:r>
              <a:rPr lang="ja-JP" altLang="en-US">
                <a:latin typeface="Yu Mincho" panose="02020400000000000000" pitchFamily="18" charset="-128"/>
                <a:ea typeface="Yu Mincho" panose="02020400000000000000" pitchFamily="18" charset="-128"/>
              </a:rPr>
              <a:t>および読み取り時間のコスト（</a:t>
            </a:r>
            <a:r>
              <a:rPr lang="en-US" dirty="0">
                <a:latin typeface="Yu Mincho" panose="02020400000000000000" pitchFamily="18" charset="-128"/>
                <a:ea typeface="Yu Mincho" panose="02020400000000000000" pitchFamily="18" charset="-128"/>
              </a:rPr>
              <a:t>read time cost）</a:t>
            </a:r>
            <a:r>
              <a:rPr lang="ja-JP" altLang="en-US">
                <a:latin typeface="Yu Mincho" panose="02020400000000000000" pitchFamily="18" charset="-128"/>
                <a:ea typeface="Yu Mincho" panose="02020400000000000000" pitchFamily="18" charset="-128"/>
              </a:rPr>
              <a:t>が示されています</a:t>
            </a:r>
            <a:endParaRPr lang="en-JP" dirty="0">
              <a:latin typeface="Yu Mincho" panose="02020400000000000000" pitchFamily="18" charset="-128"/>
              <a:ea typeface="Yu Mincho" panose="02020400000000000000" pitchFamily="18" charset="-128"/>
            </a:endParaRPr>
          </a:p>
        </p:txBody>
      </p:sp>
      <p:pic>
        <p:nvPicPr>
          <p:cNvPr id="9" name="Picture 8">
            <a:extLst>
              <a:ext uri="{FF2B5EF4-FFF2-40B4-BE49-F238E27FC236}">
                <a16:creationId xmlns:a16="http://schemas.microsoft.com/office/drawing/2014/main" id="{B633EF15-448E-5078-7184-6E3243481337}"/>
              </a:ext>
            </a:extLst>
          </p:cNvPr>
          <p:cNvPicPr>
            <a:picLocks noChangeAspect="1"/>
          </p:cNvPicPr>
          <p:nvPr/>
        </p:nvPicPr>
        <p:blipFill>
          <a:blip r:embed="rId3"/>
          <a:stretch>
            <a:fillRect/>
          </a:stretch>
        </p:blipFill>
        <p:spPr>
          <a:xfrm>
            <a:off x="9088243" y="500022"/>
            <a:ext cx="2055541" cy="938485"/>
          </a:xfrm>
          <a:prstGeom prst="rect">
            <a:avLst/>
          </a:prstGeom>
        </p:spPr>
      </p:pic>
      <p:pic>
        <p:nvPicPr>
          <p:cNvPr id="10" name="Picture 9">
            <a:extLst>
              <a:ext uri="{FF2B5EF4-FFF2-40B4-BE49-F238E27FC236}">
                <a16:creationId xmlns:a16="http://schemas.microsoft.com/office/drawing/2014/main" id="{B027709B-43C4-BEA8-7D76-941484EFD6F2}"/>
              </a:ext>
            </a:extLst>
          </p:cNvPr>
          <p:cNvPicPr>
            <a:picLocks noChangeAspect="1"/>
          </p:cNvPicPr>
          <p:nvPr/>
        </p:nvPicPr>
        <p:blipFill>
          <a:blip r:embed="rId4"/>
          <a:stretch>
            <a:fillRect/>
          </a:stretch>
        </p:blipFill>
        <p:spPr>
          <a:xfrm>
            <a:off x="8513489" y="1810345"/>
            <a:ext cx="3205047" cy="530693"/>
          </a:xfrm>
          <a:prstGeom prst="rect">
            <a:avLst/>
          </a:prstGeom>
        </p:spPr>
      </p:pic>
      <p:pic>
        <p:nvPicPr>
          <p:cNvPr id="11" name="Picture 10">
            <a:extLst>
              <a:ext uri="{FF2B5EF4-FFF2-40B4-BE49-F238E27FC236}">
                <a16:creationId xmlns:a16="http://schemas.microsoft.com/office/drawing/2014/main" id="{A4B1E245-8F19-9B30-5514-7886D21AEE69}"/>
              </a:ext>
            </a:extLst>
          </p:cNvPr>
          <p:cNvPicPr>
            <a:picLocks noChangeAspect="1"/>
          </p:cNvPicPr>
          <p:nvPr/>
        </p:nvPicPr>
        <p:blipFill>
          <a:blip r:embed="rId5"/>
          <a:stretch>
            <a:fillRect/>
          </a:stretch>
        </p:blipFill>
        <p:spPr>
          <a:xfrm>
            <a:off x="8697950" y="2712876"/>
            <a:ext cx="2286463" cy="530693"/>
          </a:xfrm>
          <a:prstGeom prst="rect">
            <a:avLst/>
          </a:prstGeom>
        </p:spPr>
      </p:pic>
      <p:sp>
        <p:nvSpPr>
          <p:cNvPr id="13" name="TextBox 12">
            <a:extLst>
              <a:ext uri="{FF2B5EF4-FFF2-40B4-BE49-F238E27FC236}">
                <a16:creationId xmlns:a16="http://schemas.microsoft.com/office/drawing/2014/main" id="{5FA45CA5-E4AD-F079-4639-AF8D9E98EAD7}"/>
              </a:ext>
            </a:extLst>
          </p:cNvPr>
          <p:cNvSpPr txBox="1"/>
          <p:nvPr/>
        </p:nvSpPr>
        <p:spPr>
          <a:xfrm>
            <a:off x="8296508" y="3504512"/>
            <a:ext cx="3205046" cy="3046988"/>
          </a:xfrm>
          <a:prstGeom prst="rect">
            <a:avLst/>
          </a:prstGeom>
          <a:noFill/>
        </p:spPr>
        <p:txBody>
          <a:bodyPr wrap="square">
            <a:spAutoFit/>
          </a:bodyPr>
          <a:lstStyle/>
          <a:p>
            <a:r>
              <a:rPr lang="en-JP" sz="1600" dirty="0">
                <a:latin typeface="Yu Mincho" panose="02020400000000000000" pitchFamily="18" charset="-128"/>
                <a:ea typeface="Yu Mincho" panose="02020400000000000000" pitchFamily="18" charset="-128"/>
              </a:rPr>
              <a:t>TsFile(single-column)：単一カラム単位でデータを保存する形式</a:t>
            </a:r>
          </a:p>
          <a:p>
            <a:endParaRPr lang="en-JP" sz="1600" dirty="0">
              <a:latin typeface="Yu Mincho" panose="02020400000000000000" pitchFamily="18" charset="-128"/>
              <a:ea typeface="Yu Mincho" panose="02020400000000000000" pitchFamily="18" charset="-128"/>
            </a:endParaRPr>
          </a:p>
          <a:p>
            <a:r>
              <a:rPr lang="en-JP" sz="1600" dirty="0">
                <a:latin typeface="Yu Mincho" panose="02020400000000000000" pitchFamily="18" charset="-128"/>
                <a:ea typeface="Yu Mincho" panose="02020400000000000000" pitchFamily="18" charset="-128"/>
              </a:rPr>
              <a:t>TsFile(column-group)：カラムグループ単位で保存する形式</a:t>
            </a:r>
          </a:p>
          <a:p>
            <a:endParaRPr lang="en-JP" sz="1600" dirty="0">
              <a:latin typeface="Yu Mincho" panose="02020400000000000000" pitchFamily="18" charset="-128"/>
              <a:ea typeface="Yu Mincho" panose="02020400000000000000" pitchFamily="18" charset="-128"/>
            </a:endParaRPr>
          </a:p>
          <a:p>
            <a:r>
              <a:rPr lang="en-JP" sz="1600" dirty="0">
                <a:latin typeface="Yu Mincho" panose="02020400000000000000" pitchFamily="18" charset="-128"/>
                <a:ea typeface="Yu Mincho" panose="02020400000000000000" pitchFamily="18" charset="-128"/>
              </a:rPr>
              <a:t>TsFile(single-group)：単一グループ単位で保存する形式</a:t>
            </a:r>
          </a:p>
          <a:p>
            <a:endParaRPr lang="en-JP" sz="1600" dirty="0">
              <a:latin typeface="Yu Mincho" panose="02020400000000000000" pitchFamily="18" charset="-128"/>
              <a:ea typeface="Yu Mincho" panose="02020400000000000000" pitchFamily="18" charset="-128"/>
            </a:endParaRPr>
          </a:p>
          <a:p>
            <a:r>
              <a:rPr lang="en-JP" sz="1600" dirty="0">
                <a:latin typeface="Yu Mincho" panose="02020400000000000000" pitchFamily="18" charset="-128"/>
                <a:ea typeface="Yu Mincho" panose="02020400000000000000" pitchFamily="18" charset="-128"/>
              </a:rPr>
              <a:t>TsFile(column-correlation)：カラム間の相関を考慮して保存する形式</a:t>
            </a:r>
          </a:p>
        </p:txBody>
      </p:sp>
      <p:sp>
        <p:nvSpPr>
          <p:cNvPr id="14" name="Slide Number Placeholder 13">
            <a:extLst>
              <a:ext uri="{FF2B5EF4-FFF2-40B4-BE49-F238E27FC236}">
                <a16:creationId xmlns:a16="http://schemas.microsoft.com/office/drawing/2014/main" id="{1E8E2982-7BB3-C8B9-88A3-FE19A0EE5795}"/>
              </a:ext>
            </a:extLst>
          </p:cNvPr>
          <p:cNvSpPr>
            <a:spLocks noGrp="1"/>
          </p:cNvSpPr>
          <p:nvPr>
            <p:ph type="sldNum" sz="quarter" idx="12"/>
          </p:nvPr>
        </p:nvSpPr>
        <p:spPr/>
        <p:txBody>
          <a:bodyPr/>
          <a:lstStyle/>
          <a:p>
            <a:fld id="{520D4680-3C5B-EB48-BF72-7F3061D1D72A}" type="slidenum">
              <a:rPr lang="en-JP" smtClean="0"/>
              <a:t>12</a:t>
            </a:fld>
            <a:endParaRPr lang="en-JP"/>
          </a:p>
        </p:txBody>
      </p:sp>
      <p:sp>
        <p:nvSpPr>
          <p:cNvPr id="16" name="正方形/長方形 2">
            <a:extLst>
              <a:ext uri="{FF2B5EF4-FFF2-40B4-BE49-F238E27FC236}">
                <a16:creationId xmlns:a16="http://schemas.microsoft.com/office/drawing/2014/main" id="{7ABDE663-81AC-6ADF-A199-29A90C6E8A67}"/>
              </a:ext>
            </a:extLst>
          </p:cNvPr>
          <p:cNvSpPr/>
          <p:nvPr/>
        </p:nvSpPr>
        <p:spPr>
          <a:xfrm>
            <a:off x="8261925" y="3429000"/>
            <a:ext cx="3335343" cy="3046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084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2E29-F6C1-100C-925B-80AF2E9CAF60}"/>
              </a:ext>
            </a:extLst>
          </p:cNvPr>
          <p:cNvSpPr>
            <a:spLocks noGrp="1"/>
          </p:cNvSpPr>
          <p:nvPr>
            <p:ph type="title"/>
          </p:nvPr>
        </p:nvSpPr>
        <p:spPr/>
        <p:txBody>
          <a:bodyPr>
            <a:normAutofit/>
          </a:bodyPr>
          <a:lstStyle/>
          <a:p>
            <a:r>
              <a:rPr lang="ja-JP" altLang="en-US" sz="2400">
                <a:latin typeface="+mj-ea"/>
              </a:rPr>
              <a:t>主に以下の</a:t>
            </a:r>
            <a:r>
              <a:rPr lang="en-US" altLang="ja-JP" sz="2400" dirty="0">
                <a:latin typeface="+mj-ea"/>
              </a:rPr>
              <a:t>4</a:t>
            </a:r>
            <a:r>
              <a:rPr lang="ja-JP" altLang="en-US" sz="2400">
                <a:latin typeface="+mj-ea"/>
              </a:rPr>
              <a:t>種類のクエリタイプを考慮しています</a:t>
            </a:r>
            <a:r>
              <a:rPr lang="mn-MN" altLang="ja-JP" sz="2400" dirty="0">
                <a:latin typeface="+mj-ea"/>
              </a:rPr>
              <a:t> </a:t>
            </a:r>
            <a:r>
              <a:rPr lang="en-US" altLang="ja-JP" sz="2400" dirty="0">
                <a:latin typeface="+mj-ea"/>
              </a:rPr>
              <a:t>1/2 </a:t>
            </a:r>
            <a:endParaRPr lang="en-JP" sz="2400" dirty="0">
              <a:latin typeface="+mj-ea"/>
            </a:endParaRPr>
          </a:p>
        </p:txBody>
      </p:sp>
      <p:sp>
        <p:nvSpPr>
          <p:cNvPr id="4" name="TextBox 3">
            <a:extLst>
              <a:ext uri="{FF2B5EF4-FFF2-40B4-BE49-F238E27FC236}">
                <a16:creationId xmlns:a16="http://schemas.microsoft.com/office/drawing/2014/main" id="{5F21F79B-1DB1-0BD6-85AA-E59054CB82AE}"/>
              </a:ext>
            </a:extLst>
          </p:cNvPr>
          <p:cNvSpPr txBox="1"/>
          <p:nvPr/>
        </p:nvSpPr>
        <p:spPr>
          <a:xfrm>
            <a:off x="847493" y="1806498"/>
            <a:ext cx="8263801" cy="1477328"/>
          </a:xfrm>
          <a:prstGeom prst="rect">
            <a:avLst/>
          </a:prstGeom>
          <a:noFill/>
        </p:spPr>
        <p:txBody>
          <a:bodyPr wrap="none" rtlCol="0">
            <a:spAutoFit/>
          </a:bodyPr>
          <a:lstStyle/>
          <a:p>
            <a:r>
              <a:rPr lang="en-US" b="1" dirty="0">
                <a:latin typeface="+mj-ea"/>
                <a:ea typeface="+mj-ea"/>
              </a:rPr>
              <a:t>Q1</a:t>
            </a:r>
            <a:r>
              <a:rPr lang="en-US" dirty="0">
                <a:latin typeface="+mj-ea"/>
                <a:ea typeface="+mj-ea"/>
              </a:rPr>
              <a:t> – </a:t>
            </a:r>
            <a:r>
              <a:rPr lang="ja-JP" altLang="en-US">
                <a:latin typeface="+mj-ea"/>
                <a:ea typeface="+mj-ea"/>
              </a:rPr>
              <a:t>時間範囲クエリ（</a:t>
            </a:r>
            <a:r>
              <a:rPr lang="en-US" dirty="0">
                <a:latin typeface="+mj-ea"/>
                <a:ea typeface="+mj-ea"/>
              </a:rPr>
              <a:t>Time range query）</a:t>
            </a:r>
            <a:br>
              <a:rPr lang="en-US" dirty="0">
                <a:latin typeface="+mj-ea"/>
                <a:ea typeface="+mj-ea"/>
              </a:rPr>
            </a:br>
            <a:r>
              <a:rPr lang="en-US" dirty="0">
                <a:latin typeface="+mj-ea"/>
                <a:ea typeface="+mj-ea"/>
              </a:rPr>
              <a:t>　</a:t>
            </a:r>
            <a:r>
              <a:rPr lang="ja-JP" altLang="en-US">
                <a:latin typeface="+mj-ea"/>
                <a:ea typeface="+mj-ea"/>
              </a:rPr>
              <a:t>あるデバイスから、指定された時間範囲内のデータを取得するクエリです</a:t>
            </a:r>
            <a:endParaRPr lang="mn-MN" altLang="ja-JP" dirty="0">
              <a:latin typeface="+mj-ea"/>
              <a:ea typeface="+mj-ea"/>
            </a:endParaRPr>
          </a:p>
          <a:p>
            <a:r>
              <a:rPr lang="mn-MN" dirty="0">
                <a:latin typeface="+mj-ea"/>
                <a:ea typeface="+mj-ea"/>
              </a:rPr>
              <a:t>     </a:t>
            </a:r>
            <a:r>
              <a:rPr lang="en-US" dirty="0">
                <a:latin typeface="+mj-ea"/>
                <a:ea typeface="+mj-ea"/>
              </a:rPr>
              <a:t>select series from device where time &gt; ? and time &lt; ?</a:t>
            </a:r>
            <a:endParaRPr lang="mn-MN" dirty="0">
              <a:latin typeface="+mj-ea"/>
              <a:ea typeface="+mj-ea"/>
            </a:endParaRPr>
          </a:p>
          <a:p>
            <a:endParaRPr lang="en-US" dirty="0">
              <a:latin typeface="+mj-ea"/>
              <a:ea typeface="+mj-ea"/>
            </a:endParaRPr>
          </a:p>
          <a:p>
            <a:pPr marL="285750" indent="-285750">
              <a:buFont typeface="Arial" panose="020B0604020202020204" pitchFamily="34" charset="0"/>
              <a:buChar char="•"/>
            </a:pPr>
            <a:r>
              <a:rPr lang="ja-JP" altLang="en-US">
                <a:latin typeface="+mj-ea"/>
                <a:ea typeface="+mj-ea"/>
              </a:rPr>
              <a:t>指定した開始時刻と終了時刻の間に記録されたセンサーデータを抽出します</a:t>
            </a:r>
            <a:endParaRPr lang="en-JP" dirty="0">
              <a:latin typeface="+mj-ea"/>
              <a:ea typeface="+mj-ea"/>
            </a:endParaRPr>
          </a:p>
        </p:txBody>
      </p:sp>
      <p:sp>
        <p:nvSpPr>
          <p:cNvPr id="6" name="TextBox 5">
            <a:extLst>
              <a:ext uri="{FF2B5EF4-FFF2-40B4-BE49-F238E27FC236}">
                <a16:creationId xmlns:a16="http://schemas.microsoft.com/office/drawing/2014/main" id="{280B995E-A73F-BD46-0E8A-EFD41B5FF5BC}"/>
              </a:ext>
            </a:extLst>
          </p:cNvPr>
          <p:cNvSpPr txBox="1"/>
          <p:nvPr/>
        </p:nvSpPr>
        <p:spPr>
          <a:xfrm>
            <a:off x="847493" y="3864524"/>
            <a:ext cx="8859643" cy="646331"/>
          </a:xfrm>
          <a:prstGeom prst="rect">
            <a:avLst/>
          </a:prstGeom>
          <a:noFill/>
        </p:spPr>
        <p:txBody>
          <a:bodyPr wrap="square">
            <a:spAutoFit/>
          </a:bodyPr>
          <a:lstStyle/>
          <a:p>
            <a:r>
              <a:rPr lang="en-US" b="1" dirty="0">
                <a:latin typeface="+mj-ea"/>
                <a:ea typeface="+mj-ea"/>
              </a:rPr>
              <a:t>Q2 </a:t>
            </a:r>
            <a:r>
              <a:rPr lang="en-US" dirty="0">
                <a:latin typeface="+mj-ea"/>
                <a:ea typeface="+mj-ea"/>
              </a:rPr>
              <a:t>– </a:t>
            </a:r>
            <a:r>
              <a:rPr lang="ja-JP" altLang="en-US">
                <a:latin typeface="+mj-ea"/>
                <a:ea typeface="+mj-ea"/>
              </a:rPr>
              <a:t>整列クエリ（</a:t>
            </a:r>
            <a:r>
              <a:rPr lang="en-US" dirty="0">
                <a:latin typeface="+mj-ea"/>
                <a:ea typeface="+mj-ea"/>
              </a:rPr>
              <a:t>Alignment query）</a:t>
            </a:r>
            <a:br>
              <a:rPr lang="en-US" dirty="0">
                <a:latin typeface="+mj-ea"/>
                <a:ea typeface="+mj-ea"/>
              </a:rPr>
            </a:br>
            <a:r>
              <a:rPr lang="en-US" dirty="0">
                <a:latin typeface="+mj-ea"/>
                <a:ea typeface="+mj-ea"/>
              </a:rPr>
              <a:t>　</a:t>
            </a:r>
            <a:r>
              <a:rPr lang="ja-JP" altLang="en-US">
                <a:latin typeface="+mj-ea"/>
                <a:ea typeface="+mj-ea"/>
              </a:rPr>
              <a:t>複数の系列データ（センサー値など）を同時に整列して取得するクエリです</a:t>
            </a:r>
            <a:endParaRPr lang="en-JP" dirty="0">
              <a:latin typeface="+mj-ea"/>
              <a:ea typeface="+mj-ea"/>
            </a:endParaRPr>
          </a:p>
        </p:txBody>
      </p:sp>
      <p:sp>
        <p:nvSpPr>
          <p:cNvPr id="8" name="TextBox 7">
            <a:extLst>
              <a:ext uri="{FF2B5EF4-FFF2-40B4-BE49-F238E27FC236}">
                <a16:creationId xmlns:a16="http://schemas.microsoft.com/office/drawing/2014/main" id="{37926FEE-77CA-CE83-A266-5F37A98DBF69}"/>
              </a:ext>
            </a:extLst>
          </p:cNvPr>
          <p:cNvSpPr txBox="1"/>
          <p:nvPr/>
        </p:nvSpPr>
        <p:spPr>
          <a:xfrm>
            <a:off x="1020336" y="4510855"/>
            <a:ext cx="10643838" cy="923330"/>
          </a:xfrm>
          <a:prstGeom prst="rect">
            <a:avLst/>
          </a:prstGeom>
          <a:noFill/>
        </p:spPr>
        <p:txBody>
          <a:bodyPr wrap="square">
            <a:spAutoFit/>
          </a:bodyPr>
          <a:lstStyle/>
          <a:p>
            <a:r>
              <a:rPr lang="en-JP" dirty="0">
                <a:latin typeface="+mj-ea"/>
                <a:ea typeface="+mj-ea"/>
              </a:rPr>
              <a:t>select series1, series2, ... from device</a:t>
            </a:r>
            <a:r>
              <a:rPr lang="mn-MN" dirty="0">
                <a:latin typeface="+mj-ea"/>
                <a:ea typeface="+mj-ea"/>
              </a:rPr>
              <a:t> 8</a:t>
            </a:r>
          </a:p>
          <a:p>
            <a:pPr marL="285750" indent="-285750">
              <a:buFont typeface="Arial" panose="020B0604020202020204" pitchFamily="34" charset="0"/>
              <a:buChar char="•"/>
            </a:pPr>
            <a:r>
              <a:rPr lang="ja-JP" altLang="en-US">
                <a:latin typeface="+mj-ea"/>
                <a:ea typeface="+mj-ea"/>
              </a:rPr>
              <a:t>同じタイムスタンプ上で、複数のセンサーからの値を並べて取得します</a:t>
            </a:r>
          </a:p>
          <a:p>
            <a:endParaRPr lang="en-JP" dirty="0">
              <a:latin typeface="+mj-ea"/>
              <a:ea typeface="+mj-ea"/>
            </a:endParaRPr>
          </a:p>
        </p:txBody>
      </p:sp>
      <p:sp>
        <p:nvSpPr>
          <p:cNvPr id="9" name="Slide Number Placeholder 8">
            <a:extLst>
              <a:ext uri="{FF2B5EF4-FFF2-40B4-BE49-F238E27FC236}">
                <a16:creationId xmlns:a16="http://schemas.microsoft.com/office/drawing/2014/main" id="{D8495BA2-8D4F-52C0-E32D-6211BEECAA32}"/>
              </a:ext>
            </a:extLst>
          </p:cNvPr>
          <p:cNvSpPr>
            <a:spLocks noGrp="1"/>
          </p:cNvSpPr>
          <p:nvPr>
            <p:ph type="sldNum" sz="quarter" idx="12"/>
          </p:nvPr>
        </p:nvSpPr>
        <p:spPr/>
        <p:txBody>
          <a:bodyPr/>
          <a:lstStyle/>
          <a:p>
            <a:fld id="{520D4680-3C5B-EB48-BF72-7F3061D1D72A}" type="slidenum">
              <a:rPr lang="en-JP" smtClean="0"/>
              <a:t>13</a:t>
            </a:fld>
            <a:endParaRPr lang="en-JP"/>
          </a:p>
        </p:txBody>
      </p:sp>
    </p:spTree>
    <p:extLst>
      <p:ext uri="{BB962C8B-B14F-4D97-AF65-F5344CB8AC3E}">
        <p14:creationId xmlns:p14="http://schemas.microsoft.com/office/powerpoint/2010/main" val="2744394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9878B3-4EDC-5F23-237A-1C9EC6889196}"/>
              </a:ext>
            </a:extLst>
          </p:cNvPr>
          <p:cNvSpPr txBox="1"/>
          <p:nvPr/>
        </p:nvSpPr>
        <p:spPr>
          <a:xfrm>
            <a:off x="708102" y="846822"/>
            <a:ext cx="8413595" cy="461665"/>
          </a:xfrm>
          <a:prstGeom prst="rect">
            <a:avLst/>
          </a:prstGeom>
          <a:noFill/>
        </p:spPr>
        <p:txBody>
          <a:bodyPr wrap="square">
            <a:spAutoFit/>
          </a:bodyPr>
          <a:lstStyle/>
          <a:p>
            <a:r>
              <a:rPr lang="ja-JP" altLang="en-US" sz="2400">
                <a:latin typeface="+mj-ea"/>
                <a:ea typeface="+mj-ea"/>
              </a:rPr>
              <a:t>主に以下の</a:t>
            </a:r>
            <a:r>
              <a:rPr lang="en-US" altLang="ja-JP" sz="2400" dirty="0">
                <a:latin typeface="+mj-ea"/>
                <a:ea typeface="+mj-ea"/>
              </a:rPr>
              <a:t>4</a:t>
            </a:r>
            <a:r>
              <a:rPr lang="ja-JP" altLang="en-US" sz="2400">
                <a:latin typeface="+mj-ea"/>
                <a:ea typeface="+mj-ea"/>
              </a:rPr>
              <a:t>種類のクエリタイプを考慮しています</a:t>
            </a:r>
            <a:r>
              <a:rPr lang="mn-MN" altLang="ja-JP" sz="2400" dirty="0">
                <a:latin typeface="+mj-ea"/>
                <a:ea typeface="+mj-ea"/>
              </a:rPr>
              <a:t> 2</a:t>
            </a:r>
            <a:r>
              <a:rPr lang="en-US" altLang="ja-JP" sz="2400" dirty="0">
                <a:latin typeface="+mj-ea"/>
                <a:ea typeface="+mj-ea"/>
              </a:rPr>
              <a:t>/2 </a:t>
            </a:r>
            <a:endParaRPr lang="en-JP" sz="2400" dirty="0">
              <a:latin typeface="+mj-ea"/>
              <a:ea typeface="+mj-ea"/>
            </a:endParaRPr>
          </a:p>
        </p:txBody>
      </p:sp>
      <p:sp>
        <p:nvSpPr>
          <p:cNvPr id="7" name="TextBox 6">
            <a:extLst>
              <a:ext uri="{FF2B5EF4-FFF2-40B4-BE49-F238E27FC236}">
                <a16:creationId xmlns:a16="http://schemas.microsoft.com/office/drawing/2014/main" id="{B2099730-6166-CBAC-1DFA-9F19CCE0C650}"/>
              </a:ext>
            </a:extLst>
          </p:cNvPr>
          <p:cNvSpPr txBox="1"/>
          <p:nvPr/>
        </p:nvSpPr>
        <p:spPr>
          <a:xfrm>
            <a:off x="1098395" y="1860912"/>
            <a:ext cx="6099716" cy="1200329"/>
          </a:xfrm>
          <a:prstGeom prst="rect">
            <a:avLst/>
          </a:prstGeom>
          <a:noFill/>
        </p:spPr>
        <p:txBody>
          <a:bodyPr wrap="square">
            <a:spAutoFit/>
          </a:bodyPr>
          <a:lstStyle/>
          <a:p>
            <a:r>
              <a:rPr lang="en-US" b="1" dirty="0"/>
              <a:t>Q3 – </a:t>
            </a:r>
            <a:r>
              <a:rPr lang="ja-JP" altLang="en-US" b="1"/>
              <a:t>集約クエリ（</a:t>
            </a:r>
            <a:r>
              <a:rPr lang="en-US" b="1" dirty="0"/>
              <a:t>Aggregation query）</a:t>
            </a:r>
            <a:br>
              <a:rPr lang="en-US" dirty="0"/>
            </a:br>
            <a:r>
              <a:rPr lang="en-US" dirty="0"/>
              <a:t>　</a:t>
            </a:r>
          </a:p>
          <a:p>
            <a:pPr marL="285750" indent="-285750">
              <a:buFont typeface="Arial" panose="020B0604020202020204" pitchFamily="34" charset="0"/>
              <a:buChar char="•"/>
            </a:pPr>
            <a:r>
              <a:rPr lang="ja-JP" altLang="en-US"/>
              <a:t>ある系列に対して集計操作（例：カウント）を行うクエリです。</a:t>
            </a:r>
            <a:endParaRPr lang="en-JP" dirty="0"/>
          </a:p>
        </p:txBody>
      </p:sp>
      <p:sp>
        <p:nvSpPr>
          <p:cNvPr id="9" name="TextBox 8">
            <a:extLst>
              <a:ext uri="{FF2B5EF4-FFF2-40B4-BE49-F238E27FC236}">
                <a16:creationId xmlns:a16="http://schemas.microsoft.com/office/drawing/2014/main" id="{9B572A0B-01C3-D588-85DB-DE414563C91F}"/>
              </a:ext>
            </a:extLst>
          </p:cNvPr>
          <p:cNvSpPr txBox="1"/>
          <p:nvPr/>
        </p:nvSpPr>
        <p:spPr>
          <a:xfrm>
            <a:off x="1444083" y="3244334"/>
            <a:ext cx="6099716" cy="369332"/>
          </a:xfrm>
          <a:prstGeom prst="rect">
            <a:avLst/>
          </a:prstGeom>
          <a:noFill/>
        </p:spPr>
        <p:txBody>
          <a:bodyPr wrap="square">
            <a:spAutoFit/>
          </a:bodyPr>
          <a:lstStyle/>
          <a:p>
            <a:r>
              <a:rPr lang="en-JP" dirty="0"/>
              <a:t>select count(series) from device</a:t>
            </a:r>
          </a:p>
        </p:txBody>
      </p:sp>
      <p:sp>
        <p:nvSpPr>
          <p:cNvPr id="11" name="TextBox 10">
            <a:extLst>
              <a:ext uri="{FF2B5EF4-FFF2-40B4-BE49-F238E27FC236}">
                <a16:creationId xmlns:a16="http://schemas.microsoft.com/office/drawing/2014/main" id="{ADBE3D9E-52F6-B724-A12D-69F07F20FC4E}"/>
              </a:ext>
            </a:extLst>
          </p:cNvPr>
          <p:cNvSpPr txBox="1"/>
          <p:nvPr/>
        </p:nvSpPr>
        <p:spPr>
          <a:xfrm>
            <a:off x="1444083" y="3613666"/>
            <a:ext cx="6099716" cy="369332"/>
          </a:xfrm>
          <a:prstGeom prst="rect">
            <a:avLst/>
          </a:prstGeom>
          <a:noFill/>
        </p:spPr>
        <p:txBody>
          <a:bodyPr wrap="square">
            <a:spAutoFit/>
          </a:bodyPr>
          <a:lstStyle/>
          <a:p>
            <a:r>
              <a:rPr lang="ja-JP" altLang="en-US"/>
              <a:t>特定センサーの記録回数を数えます</a:t>
            </a:r>
            <a:endParaRPr lang="en-JP" dirty="0"/>
          </a:p>
        </p:txBody>
      </p:sp>
      <p:sp>
        <p:nvSpPr>
          <p:cNvPr id="13" name="TextBox 12">
            <a:extLst>
              <a:ext uri="{FF2B5EF4-FFF2-40B4-BE49-F238E27FC236}">
                <a16:creationId xmlns:a16="http://schemas.microsoft.com/office/drawing/2014/main" id="{A8F7856A-1B82-1A9A-D8D3-873EBE3D070B}"/>
              </a:ext>
            </a:extLst>
          </p:cNvPr>
          <p:cNvSpPr txBox="1"/>
          <p:nvPr/>
        </p:nvSpPr>
        <p:spPr>
          <a:xfrm>
            <a:off x="1098395" y="4444663"/>
            <a:ext cx="7376531" cy="646331"/>
          </a:xfrm>
          <a:prstGeom prst="rect">
            <a:avLst/>
          </a:prstGeom>
          <a:noFill/>
        </p:spPr>
        <p:txBody>
          <a:bodyPr wrap="square">
            <a:spAutoFit/>
          </a:bodyPr>
          <a:lstStyle/>
          <a:p>
            <a:r>
              <a:rPr lang="en-US" b="1" dirty="0"/>
              <a:t>Q4 – </a:t>
            </a:r>
            <a:r>
              <a:rPr lang="ja-JP" altLang="en-US" b="1"/>
              <a:t>ダウンサンプリングクエリ（</a:t>
            </a:r>
            <a:r>
              <a:rPr lang="en-US" b="1" dirty="0"/>
              <a:t>Downsampling query）</a:t>
            </a:r>
          </a:p>
          <a:p>
            <a:pPr marL="285750" indent="-285750">
              <a:buFont typeface="Arial" panose="020B0604020202020204" pitchFamily="34" charset="0"/>
              <a:buChar char="•"/>
            </a:pPr>
            <a:r>
              <a:rPr lang="ja-JP" altLang="en-US"/>
              <a:t>時間を一定間隔に分割し、その間隔ごとに集計するクエリです</a:t>
            </a:r>
            <a:endParaRPr lang="en-JP" dirty="0"/>
          </a:p>
        </p:txBody>
      </p:sp>
      <p:sp>
        <p:nvSpPr>
          <p:cNvPr id="15" name="TextBox 14">
            <a:extLst>
              <a:ext uri="{FF2B5EF4-FFF2-40B4-BE49-F238E27FC236}">
                <a16:creationId xmlns:a16="http://schemas.microsoft.com/office/drawing/2014/main" id="{87A783B2-D0FF-6544-06A7-0A134B2F9AFF}"/>
              </a:ext>
            </a:extLst>
          </p:cNvPr>
          <p:cNvSpPr txBox="1"/>
          <p:nvPr/>
        </p:nvSpPr>
        <p:spPr>
          <a:xfrm>
            <a:off x="1444083" y="5090994"/>
            <a:ext cx="8547410" cy="369332"/>
          </a:xfrm>
          <a:prstGeom prst="rect">
            <a:avLst/>
          </a:prstGeom>
          <a:noFill/>
        </p:spPr>
        <p:txBody>
          <a:bodyPr wrap="square">
            <a:spAutoFit/>
          </a:bodyPr>
          <a:lstStyle/>
          <a:p>
            <a:r>
              <a:rPr lang="en-JP" dirty="0"/>
              <a:t>select count(series) from device group by ([start_time, end_time), sampling_interval)</a:t>
            </a:r>
          </a:p>
        </p:txBody>
      </p:sp>
      <p:sp>
        <p:nvSpPr>
          <p:cNvPr id="17" name="TextBox 16">
            <a:extLst>
              <a:ext uri="{FF2B5EF4-FFF2-40B4-BE49-F238E27FC236}">
                <a16:creationId xmlns:a16="http://schemas.microsoft.com/office/drawing/2014/main" id="{8E0D2A7E-CA20-5C9B-B445-20D06DEAA940}"/>
              </a:ext>
            </a:extLst>
          </p:cNvPr>
          <p:cNvSpPr txBox="1"/>
          <p:nvPr/>
        </p:nvSpPr>
        <p:spPr>
          <a:xfrm>
            <a:off x="1444083" y="5460326"/>
            <a:ext cx="6099716" cy="369332"/>
          </a:xfrm>
          <a:prstGeom prst="rect">
            <a:avLst/>
          </a:prstGeom>
          <a:noFill/>
        </p:spPr>
        <p:txBody>
          <a:bodyPr wrap="square">
            <a:spAutoFit/>
          </a:bodyPr>
          <a:lstStyle/>
          <a:p>
            <a:r>
              <a:rPr lang="en-US" altLang="ja-JP" dirty="0"/>
              <a:t>1</a:t>
            </a:r>
            <a:r>
              <a:rPr lang="ja-JP" altLang="en-US"/>
              <a:t>時間ごとに記録数を集計して、データを簡略化します</a:t>
            </a:r>
            <a:endParaRPr lang="en-JP" dirty="0"/>
          </a:p>
        </p:txBody>
      </p:sp>
      <p:sp>
        <p:nvSpPr>
          <p:cNvPr id="18" name="Slide Number Placeholder 17">
            <a:extLst>
              <a:ext uri="{FF2B5EF4-FFF2-40B4-BE49-F238E27FC236}">
                <a16:creationId xmlns:a16="http://schemas.microsoft.com/office/drawing/2014/main" id="{0C861F08-F1B3-1B62-964D-B4C13CDEC741}"/>
              </a:ext>
            </a:extLst>
          </p:cNvPr>
          <p:cNvSpPr>
            <a:spLocks noGrp="1"/>
          </p:cNvSpPr>
          <p:nvPr>
            <p:ph type="sldNum" sz="quarter" idx="12"/>
          </p:nvPr>
        </p:nvSpPr>
        <p:spPr/>
        <p:txBody>
          <a:bodyPr/>
          <a:lstStyle/>
          <a:p>
            <a:fld id="{520D4680-3C5B-EB48-BF72-7F3061D1D72A}" type="slidenum">
              <a:rPr lang="en-JP" smtClean="0"/>
              <a:t>14</a:t>
            </a:fld>
            <a:endParaRPr lang="en-JP"/>
          </a:p>
        </p:txBody>
      </p:sp>
    </p:spTree>
    <p:extLst>
      <p:ext uri="{BB962C8B-B14F-4D97-AF65-F5344CB8AC3E}">
        <p14:creationId xmlns:p14="http://schemas.microsoft.com/office/powerpoint/2010/main" val="389796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743149B-6DB3-1BE3-59C2-4D3BA819FA86}"/>
              </a:ext>
            </a:extLst>
          </p:cNvPr>
          <p:cNvSpPr txBox="1"/>
          <p:nvPr/>
        </p:nvSpPr>
        <p:spPr>
          <a:xfrm>
            <a:off x="440473" y="666009"/>
            <a:ext cx="6099716" cy="369332"/>
          </a:xfrm>
          <a:prstGeom prst="rect">
            <a:avLst/>
          </a:prstGeom>
          <a:noFill/>
        </p:spPr>
        <p:txBody>
          <a:bodyPr wrap="square">
            <a:spAutoFit/>
          </a:bodyPr>
          <a:lstStyle/>
          <a:p>
            <a:r>
              <a:rPr lang="ja-JP" altLang="en-US" b="1"/>
              <a:t>書き込み性能（</a:t>
            </a:r>
            <a:r>
              <a:rPr lang="en-US" b="1" dirty="0"/>
              <a:t>Write Performance）</a:t>
            </a:r>
            <a:endParaRPr lang="en-JP" b="1" dirty="0"/>
          </a:p>
        </p:txBody>
      </p:sp>
      <p:sp>
        <p:nvSpPr>
          <p:cNvPr id="9" name="TextBox 8">
            <a:extLst>
              <a:ext uri="{FF2B5EF4-FFF2-40B4-BE49-F238E27FC236}">
                <a16:creationId xmlns:a16="http://schemas.microsoft.com/office/drawing/2014/main" id="{3242F142-506B-47C9-30F8-2B1D1C565C42}"/>
              </a:ext>
            </a:extLst>
          </p:cNvPr>
          <p:cNvSpPr txBox="1"/>
          <p:nvPr/>
        </p:nvSpPr>
        <p:spPr>
          <a:xfrm>
            <a:off x="440473" y="1278816"/>
            <a:ext cx="11535937" cy="923330"/>
          </a:xfrm>
          <a:prstGeom prst="rect">
            <a:avLst/>
          </a:prstGeom>
          <a:noFill/>
        </p:spPr>
        <p:txBody>
          <a:bodyPr wrap="square">
            <a:spAutoFit/>
          </a:bodyPr>
          <a:lstStyle/>
          <a:p>
            <a:r>
              <a:rPr lang="ja-JP" altLang="en-US"/>
              <a:t>図の結果から分かるように、</a:t>
            </a:r>
            <a:r>
              <a:rPr lang="en-US" dirty="0"/>
              <a:t>TsFile </a:t>
            </a:r>
            <a:r>
              <a:rPr lang="ja-JP" altLang="en-US"/>
              <a:t>は他のすべてのファイル形式よりも優れた書き込み性能を示しています。</a:t>
            </a:r>
            <a:endParaRPr lang="mn-MN" altLang="ja-JP" dirty="0"/>
          </a:p>
          <a:p>
            <a:endParaRPr lang="mn-MN" altLang="ja-JP" dirty="0"/>
          </a:p>
          <a:p>
            <a:r>
              <a:rPr lang="ja-JP" altLang="en-US"/>
              <a:t>これは、</a:t>
            </a:r>
            <a:r>
              <a:rPr lang="en-US" dirty="0"/>
              <a:t>IoT</a:t>
            </a:r>
            <a:r>
              <a:rPr lang="ja-JP" altLang="en-US"/>
              <a:t>に特化した構造設計により、</a:t>
            </a:r>
            <a:r>
              <a:rPr lang="en-US" dirty="0"/>
              <a:t>deviceId </a:t>
            </a:r>
            <a:r>
              <a:rPr lang="ja-JP" altLang="en-US"/>
              <a:t>や </a:t>
            </a:r>
            <a:r>
              <a:rPr lang="en-US" dirty="0"/>
              <a:t>measurementId </a:t>
            </a:r>
            <a:r>
              <a:rPr lang="ja-JP" altLang="en-US"/>
              <a:t>といった冗長な情報を保存しないためです。</a:t>
            </a:r>
            <a:endParaRPr lang="en-JP" dirty="0"/>
          </a:p>
        </p:txBody>
      </p:sp>
      <p:sp>
        <p:nvSpPr>
          <p:cNvPr id="10" name="正方形/長方形 6">
            <a:extLst>
              <a:ext uri="{FF2B5EF4-FFF2-40B4-BE49-F238E27FC236}">
                <a16:creationId xmlns:a16="http://schemas.microsoft.com/office/drawing/2014/main" id="{06C21B42-1231-2471-6F21-C83729B42FEC}"/>
              </a:ext>
            </a:extLst>
          </p:cNvPr>
          <p:cNvSpPr/>
          <p:nvPr/>
        </p:nvSpPr>
        <p:spPr>
          <a:xfrm>
            <a:off x="3479181" y="1239610"/>
            <a:ext cx="8006576" cy="39448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ounded Rectangle 10">
            <a:extLst>
              <a:ext uri="{FF2B5EF4-FFF2-40B4-BE49-F238E27FC236}">
                <a16:creationId xmlns:a16="http://schemas.microsoft.com/office/drawing/2014/main" id="{1EADA4E1-73F5-6313-CD67-CAEBEEB19804}"/>
              </a:ext>
            </a:extLst>
          </p:cNvPr>
          <p:cNvSpPr/>
          <p:nvPr/>
        </p:nvSpPr>
        <p:spPr>
          <a:xfrm>
            <a:off x="440473" y="2843561"/>
            <a:ext cx="3518210" cy="32784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a:latin typeface="+mj-ea"/>
                <a:ea typeface="+mj-ea"/>
              </a:rPr>
              <a:t>TsFile</a:t>
            </a:r>
            <a:r>
              <a:rPr lang="en-US" sz="1600" dirty="0">
                <a:latin typeface="+mj-ea"/>
                <a:ea typeface="+mj-ea"/>
              </a:rPr>
              <a:t> </a:t>
            </a:r>
            <a:r>
              <a:rPr lang="ja-JP" altLang="en-US" sz="1600">
                <a:latin typeface="+mj-ea"/>
                <a:ea typeface="+mj-ea"/>
              </a:rPr>
              <a:t>と </a:t>
            </a:r>
            <a:r>
              <a:rPr lang="en-US" sz="1600" b="1" dirty="0">
                <a:latin typeface="+mj-ea"/>
                <a:ea typeface="+mj-ea"/>
              </a:rPr>
              <a:t>ORC</a:t>
            </a:r>
            <a:r>
              <a:rPr lang="en-US" sz="1600" dirty="0">
                <a:latin typeface="+mj-ea"/>
                <a:ea typeface="+mj-ea"/>
              </a:rPr>
              <a:t> </a:t>
            </a:r>
            <a:r>
              <a:rPr lang="ja-JP" altLang="en-US" sz="1600">
                <a:latin typeface="+mj-ea"/>
                <a:ea typeface="+mj-ea"/>
              </a:rPr>
              <a:t>は、通常小さなバッチでストリーミングされる </a:t>
            </a:r>
            <a:r>
              <a:rPr lang="en-US" sz="1600" b="1" dirty="0">
                <a:latin typeface="+mj-ea"/>
                <a:ea typeface="+mj-ea"/>
              </a:rPr>
              <a:t>IoT</a:t>
            </a:r>
            <a:r>
              <a:rPr lang="ja-JP" altLang="en-US" sz="1600" b="1">
                <a:latin typeface="+mj-ea"/>
                <a:ea typeface="+mj-ea"/>
              </a:rPr>
              <a:t>データの取り込みに適したベクトル化書き込みインターフェース（</a:t>
            </a:r>
            <a:r>
              <a:rPr lang="en-US" sz="1600" b="1" dirty="0">
                <a:latin typeface="+mj-ea"/>
                <a:ea typeface="+mj-ea"/>
              </a:rPr>
              <a:t>vectorized write interface）</a:t>
            </a:r>
            <a:r>
              <a:rPr lang="en-US" sz="1600" dirty="0">
                <a:latin typeface="+mj-ea"/>
                <a:ea typeface="+mj-ea"/>
              </a:rPr>
              <a:t> </a:t>
            </a:r>
            <a:r>
              <a:rPr lang="ja-JP" altLang="en-US" sz="1600">
                <a:latin typeface="+mj-ea"/>
                <a:ea typeface="+mj-ea"/>
              </a:rPr>
              <a:t>を提供しています。</a:t>
            </a:r>
            <a:endParaRPr lang="mn-MN" altLang="ja-JP" sz="1600" dirty="0">
              <a:latin typeface="+mj-ea"/>
              <a:ea typeface="+mj-ea"/>
            </a:endParaRPr>
          </a:p>
          <a:p>
            <a:pPr algn="ctr"/>
            <a:endParaRPr lang="mn-MN" altLang="ja-JP" sz="1600" dirty="0">
              <a:latin typeface="+mj-ea"/>
              <a:ea typeface="+mj-ea"/>
            </a:endParaRPr>
          </a:p>
          <a:p>
            <a:pPr algn="ctr"/>
            <a:r>
              <a:rPr lang="ja-JP" altLang="en-US" sz="1600">
                <a:latin typeface="+mj-ea"/>
                <a:ea typeface="+mj-ea"/>
              </a:rPr>
              <a:t>このようなインターフェースは、メモリ局所性（</a:t>
            </a:r>
            <a:r>
              <a:rPr lang="en-US" sz="1600" dirty="0">
                <a:latin typeface="+mj-ea"/>
                <a:ea typeface="+mj-ea"/>
              </a:rPr>
              <a:t>memory locality）</a:t>
            </a:r>
            <a:r>
              <a:rPr lang="ja-JP" altLang="en-US" sz="1600">
                <a:latin typeface="+mj-ea"/>
                <a:ea typeface="+mj-ea"/>
              </a:rPr>
              <a:t>を向上させ、より高い性能を実現します。</a:t>
            </a:r>
            <a:endParaRPr lang="en-JP" sz="1600" dirty="0">
              <a:latin typeface="+mj-ea"/>
              <a:ea typeface="+mj-ea"/>
            </a:endParaRPr>
          </a:p>
        </p:txBody>
      </p:sp>
      <p:sp>
        <p:nvSpPr>
          <p:cNvPr id="12" name="Rounded Rectangle 11">
            <a:extLst>
              <a:ext uri="{FF2B5EF4-FFF2-40B4-BE49-F238E27FC236}">
                <a16:creationId xmlns:a16="http://schemas.microsoft.com/office/drawing/2014/main" id="{A987DDE2-BEF9-F637-4F6E-54FF950AFBE2}"/>
              </a:ext>
            </a:extLst>
          </p:cNvPr>
          <p:cNvSpPr/>
          <p:nvPr/>
        </p:nvSpPr>
        <p:spPr>
          <a:xfrm>
            <a:off x="4464204" y="2843560"/>
            <a:ext cx="3386255" cy="327845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Parquet</a:t>
            </a:r>
            <a:r>
              <a:rPr lang="en-US" sz="1600" dirty="0"/>
              <a:t> </a:t>
            </a:r>
            <a:r>
              <a:rPr lang="ja-JP" altLang="en-US" sz="1600"/>
              <a:t>は最初に 辞書エンコーディング（</a:t>
            </a:r>
            <a:r>
              <a:rPr lang="en-US" sz="1600" dirty="0"/>
              <a:t>dictionary encoding） </a:t>
            </a:r>
            <a:r>
              <a:rPr lang="ja-JP" altLang="en-US" sz="1600"/>
              <a:t>を使用しますが、もし辞書やエンコードされたデータのサイズが元のデータサイズを超える場合は、</a:t>
            </a:r>
            <a:r>
              <a:rPr lang="en-US" sz="1600" dirty="0"/>
              <a:t>RLE </a:t>
            </a:r>
            <a:r>
              <a:rPr lang="ja-JP" altLang="en-US" sz="1600"/>
              <a:t>など別のエンコーディングに切り替えます。</a:t>
            </a:r>
            <a:br>
              <a:rPr lang="ja-JP" altLang="en-US" sz="1600"/>
            </a:br>
            <a:r>
              <a:rPr lang="ja-JP" altLang="en-US" sz="1600"/>
              <a:t>　→ このため、</a:t>
            </a:r>
            <a:r>
              <a:rPr lang="en-US" sz="1600" dirty="0"/>
              <a:t>Parquet </a:t>
            </a:r>
            <a:r>
              <a:rPr lang="ja-JP" altLang="en-US" sz="1600"/>
              <a:t>は同じデータを時々</a:t>
            </a:r>
            <a:r>
              <a:rPr lang="en-US" altLang="ja-JP" sz="1600" b="1" dirty="0"/>
              <a:t>2</a:t>
            </a:r>
            <a:r>
              <a:rPr lang="ja-JP" altLang="en-US" sz="1600" b="1"/>
              <a:t>回</a:t>
            </a:r>
            <a:r>
              <a:rPr lang="ja-JP" altLang="en-US" sz="1600"/>
              <a:t>書き込むことになり、結果としてスループットが低くなります。</a:t>
            </a:r>
            <a:endParaRPr lang="en-JP" sz="1600" dirty="0"/>
          </a:p>
        </p:txBody>
      </p:sp>
      <p:sp>
        <p:nvSpPr>
          <p:cNvPr id="13" name="Rounded Rectangle 12">
            <a:extLst>
              <a:ext uri="{FF2B5EF4-FFF2-40B4-BE49-F238E27FC236}">
                <a16:creationId xmlns:a16="http://schemas.microsoft.com/office/drawing/2014/main" id="{E83F5A94-0FE2-FE32-0671-8AE2A2C2D8F9}"/>
              </a:ext>
            </a:extLst>
          </p:cNvPr>
          <p:cNvSpPr/>
          <p:nvPr/>
        </p:nvSpPr>
        <p:spPr>
          <a:xfrm>
            <a:off x="8580864" y="2843560"/>
            <a:ext cx="3072160" cy="315300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ORC </a:t>
            </a:r>
            <a:r>
              <a:rPr lang="ja-JP" altLang="en-US"/>
              <a:t>は 赤黒木（</a:t>
            </a:r>
            <a:r>
              <a:rPr lang="en-US" dirty="0"/>
              <a:t>red-black tree）</a:t>
            </a:r>
            <a:r>
              <a:rPr lang="ja-JP" altLang="en-US"/>
              <a:t>に基づく辞書エンコーディングを使用しており、</a:t>
            </a:r>
            <a:br>
              <a:rPr lang="ja-JP" altLang="en-US"/>
            </a:br>
            <a:r>
              <a:rPr lang="ja-JP" altLang="en-US"/>
              <a:t>　→ 計算コストが高く、パフォーマンスが低下します。</a:t>
            </a:r>
            <a:endParaRPr lang="en-JP" dirty="0"/>
          </a:p>
        </p:txBody>
      </p:sp>
      <p:sp>
        <p:nvSpPr>
          <p:cNvPr id="14" name="Slide Number Placeholder 13">
            <a:extLst>
              <a:ext uri="{FF2B5EF4-FFF2-40B4-BE49-F238E27FC236}">
                <a16:creationId xmlns:a16="http://schemas.microsoft.com/office/drawing/2014/main" id="{CDAA1AA0-C0B0-1878-22B6-6A204A503821}"/>
              </a:ext>
            </a:extLst>
          </p:cNvPr>
          <p:cNvSpPr>
            <a:spLocks noGrp="1"/>
          </p:cNvSpPr>
          <p:nvPr>
            <p:ph type="sldNum" sz="quarter" idx="12"/>
          </p:nvPr>
        </p:nvSpPr>
        <p:spPr/>
        <p:txBody>
          <a:bodyPr/>
          <a:lstStyle/>
          <a:p>
            <a:fld id="{520D4680-3C5B-EB48-BF72-7F3061D1D72A}" type="slidenum">
              <a:rPr lang="en-JP" smtClean="0"/>
              <a:t>15</a:t>
            </a:fld>
            <a:endParaRPr lang="en-JP"/>
          </a:p>
        </p:txBody>
      </p:sp>
    </p:spTree>
    <p:extLst>
      <p:ext uri="{BB962C8B-B14F-4D97-AF65-F5344CB8AC3E}">
        <p14:creationId xmlns:p14="http://schemas.microsoft.com/office/powerpoint/2010/main" val="190402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380380-F099-6071-2F44-F30E69E0C9F9}"/>
              </a:ext>
            </a:extLst>
          </p:cNvPr>
          <p:cNvSpPr txBox="1"/>
          <p:nvPr/>
        </p:nvSpPr>
        <p:spPr>
          <a:xfrm>
            <a:off x="763859" y="802217"/>
            <a:ext cx="6099716" cy="369332"/>
          </a:xfrm>
          <a:prstGeom prst="rect">
            <a:avLst/>
          </a:prstGeom>
          <a:noFill/>
        </p:spPr>
        <p:txBody>
          <a:bodyPr wrap="square">
            <a:spAutoFit/>
          </a:bodyPr>
          <a:lstStyle/>
          <a:p>
            <a:r>
              <a:rPr lang="ja-JP" altLang="en-US"/>
              <a:t>ストレージコスト（</a:t>
            </a:r>
            <a:r>
              <a:rPr lang="en-US" dirty="0"/>
              <a:t>Space Cost）</a:t>
            </a:r>
            <a:endParaRPr lang="en-JP" dirty="0"/>
          </a:p>
        </p:txBody>
      </p:sp>
      <p:sp>
        <p:nvSpPr>
          <p:cNvPr id="7" name="TextBox 6">
            <a:extLst>
              <a:ext uri="{FF2B5EF4-FFF2-40B4-BE49-F238E27FC236}">
                <a16:creationId xmlns:a16="http://schemas.microsoft.com/office/drawing/2014/main" id="{09F6532B-9E8C-F9A2-7B6C-E69BF2504420}"/>
              </a:ext>
            </a:extLst>
          </p:cNvPr>
          <p:cNvSpPr txBox="1"/>
          <p:nvPr/>
        </p:nvSpPr>
        <p:spPr>
          <a:xfrm>
            <a:off x="763859" y="1305364"/>
            <a:ext cx="10443117" cy="923330"/>
          </a:xfrm>
          <a:prstGeom prst="rect">
            <a:avLst/>
          </a:prstGeom>
          <a:noFill/>
        </p:spPr>
        <p:txBody>
          <a:bodyPr wrap="square">
            <a:spAutoFit/>
          </a:bodyPr>
          <a:lstStyle/>
          <a:p>
            <a:r>
              <a:rPr lang="ja-JP" altLang="en-US"/>
              <a:t>ストレージコストの結果は図</a:t>
            </a:r>
            <a:r>
              <a:rPr lang="en-US" altLang="ja-JP" dirty="0"/>
              <a:t>b</a:t>
            </a:r>
            <a:r>
              <a:rPr lang="ja-JP" altLang="en-US"/>
              <a:t>に示されています。</a:t>
            </a:r>
            <a:endParaRPr lang="en-US" altLang="ja-JP" dirty="0"/>
          </a:p>
          <a:p>
            <a:endParaRPr lang="en-US" dirty="0"/>
          </a:p>
          <a:p>
            <a:r>
              <a:rPr lang="en-US" dirty="0"/>
              <a:t>TsFile </a:t>
            </a:r>
            <a:r>
              <a:rPr lang="ja-JP" altLang="en-US"/>
              <a:t>は他のフォーマットと比較しても、互換性のある高いストレージ効率を持っています</a:t>
            </a:r>
            <a:endParaRPr lang="en-JP" dirty="0"/>
          </a:p>
        </p:txBody>
      </p:sp>
      <p:sp>
        <p:nvSpPr>
          <p:cNvPr id="8" name="正方形/長方形 6">
            <a:extLst>
              <a:ext uri="{FF2B5EF4-FFF2-40B4-BE49-F238E27FC236}">
                <a16:creationId xmlns:a16="http://schemas.microsoft.com/office/drawing/2014/main" id="{8FF8985D-B4FD-B471-D7CB-CDA0D61ADCF9}"/>
              </a:ext>
            </a:extLst>
          </p:cNvPr>
          <p:cNvSpPr/>
          <p:nvPr/>
        </p:nvSpPr>
        <p:spPr>
          <a:xfrm>
            <a:off x="763859" y="1859362"/>
            <a:ext cx="9484112"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Rounded Rectangle 8">
            <a:extLst>
              <a:ext uri="{FF2B5EF4-FFF2-40B4-BE49-F238E27FC236}">
                <a16:creationId xmlns:a16="http://schemas.microsoft.com/office/drawing/2014/main" id="{9110DE39-3038-0389-D5E0-8321CC2C294B}"/>
              </a:ext>
            </a:extLst>
          </p:cNvPr>
          <p:cNvSpPr/>
          <p:nvPr/>
        </p:nvSpPr>
        <p:spPr>
          <a:xfrm>
            <a:off x="1131847" y="2738087"/>
            <a:ext cx="3674327" cy="343457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a:t>TsFile</a:t>
            </a:r>
            <a:r>
              <a:rPr lang="en-US" sz="1600" dirty="0"/>
              <a:t> </a:t>
            </a:r>
            <a:r>
              <a:rPr lang="ja-JP" altLang="en-US" sz="1600"/>
              <a:t>は </a:t>
            </a:r>
            <a:r>
              <a:rPr lang="en-US" sz="1600" dirty="0"/>
              <a:t>deviceId </a:t>
            </a:r>
            <a:r>
              <a:rPr lang="ja-JP" altLang="en-US" sz="1600"/>
              <a:t>や </a:t>
            </a:r>
            <a:r>
              <a:rPr lang="en-US" sz="1600" dirty="0"/>
              <a:t>measurementId </a:t>
            </a:r>
            <a:r>
              <a:rPr lang="ja-JP" altLang="en-US" sz="1600"/>
              <a:t>などの重複する情報をデータカラムとして保存せず、その代わりにより細かいインデックス（索引）を構築します</a:t>
            </a:r>
            <a:r>
              <a:rPr lang="ja-JP" altLang="en-US" sz="1600" b="1"/>
              <a:t>。</a:t>
            </a:r>
            <a:br>
              <a:rPr lang="ja-JP" altLang="en-US" sz="1600" b="1"/>
            </a:br>
            <a:r>
              <a:rPr lang="ja-JP" altLang="en-US" sz="1600"/>
              <a:t>これにより若干の追加ストレージを消費しますが、後述する実験結果から明らかなように、クエリ時間（検索速度）において非常に大きな改善をもたらすため、</a:t>
            </a:r>
            <a:br>
              <a:rPr lang="ja-JP" altLang="en-US" sz="1600"/>
            </a:br>
            <a:r>
              <a:rPr lang="ja-JP" altLang="en-US" sz="1600"/>
              <a:t>→ このコストは十分に価値があると言えます。</a:t>
            </a:r>
            <a:endParaRPr lang="en-JP" sz="1600" dirty="0">
              <a:latin typeface="+mj-ea"/>
              <a:ea typeface="+mj-ea"/>
            </a:endParaRPr>
          </a:p>
        </p:txBody>
      </p:sp>
      <p:sp>
        <p:nvSpPr>
          <p:cNvPr id="10" name="Rounded Rectangle 9">
            <a:extLst>
              <a:ext uri="{FF2B5EF4-FFF2-40B4-BE49-F238E27FC236}">
                <a16:creationId xmlns:a16="http://schemas.microsoft.com/office/drawing/2014/main" id="{E64BDD2D-0715-2E6E-E0F8-1117E690539D}"/>
              </a:ext>
            </a:extLst>
          </p:cNvPr>
          <p:cNvSpPr/>
          <p:nvPr/>
        </p:nvSpPr>
        <p:spPr>
          <a:xfrm>
            <a:off x="6471424" y="2843560"/>
            <a:ext cx="3386255" cy="327845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dirty="0"/>
              <a:t>Parquet</a:t>
            </a:r>
            <a:r>
              <a:rPr lang="en-US" sz="1600" dirty="0"/>
              <a:t> </a:t>
            </a:r>
            <a:r>
              <a:rPr lang="ja-JP" altLang="en-US" sz="1600"/>
              <a:t>や </a:t>
            </a:r>
            <a:r>
              <a:rPr lang="en-US" sz="1600" dirty="0"/>
              <a:t>ORC </a:t>
            </a:r>
            <a:r>
              <a:rPr lang="ja-JP" altLang="en-US" sz="1600"/>
              <a:t>では、</a:t>
            </a:r>
            <a:r>
              <a:rPr lang="en-US" sz="1600" dirty="0"/>
              <a:t>deviceId </a:t>
            </a:r>
            <a:r>
              <a:rPr lang="ja-JP" altLang="en-US" sz="1600"/>
              <a:t>や </a:t>
            </a:r>
            <a:r>
              <a:rPr lang="en-US" sz="1600" dirty="0"/>
              <a:t>measurementId </a:t>
            </a:r>
            <a:r>
              <a:rPr lang="ja-JP" altLang="en-US" sz="1600"/>
              <a:t>の重複データを辞書エンコーディング（</a:t>
            </a:r>
            <a:r>
              <a:rPr lang="en-US" sz="1600" dirty="0"/>
              <a:t>dictionary encoding）</a:t>
            </a:r>
            <a:r>
              <a:rPr lang="ja-JP" altLang="en-US" sz="1600"/>
              <a:t>によってある程度削減することが可能です。しかし、ユニークな </a:t>
            </a:r>
            <a:r>
              <a:rPr lang="en-US" sz="1600" dirty="0"/>
              <a:t>ID </a:t>
            </a:r>
            <a:r>
              <a:rPr lang="ja-JP" altLang="en-US" sz="1600"/>
              <a:t>の数が非常に多い場合（特に </a:t>
            </a:r>
            <a:r>
              <a:rPr lang="en-US" sz="1600" dirty="0"/>
              <a:t>TSBS </a:t>
            </a:r>
            <a:r>
              <a:rPr lang="ja-JP" altLang="en-US" sz="1600"/>
              <a:t>データセットでは）、</a:t>
            </a:r>
            <a:br>
              <a:rPr lang="ja-JP" altLang="en-US" sz="1600"/>
            </a:br>
            <a:r>
              <a:rPr lang="ja-JP" altLang="en-US" sz="1600"/>
              <a:t>それらの </a:t>
            </a:r>
            <a:r>
              <a:rPr lang="en-US" sz="1600" dirty="0"/>
              <a:t>ID </a:t>
            </a:r>
            <a:r>
              <a:rPr lang="ja-JP" altLang="en-US" sz="1600"/>
              <a:t>は依然として多くのストレージを占有するため、</a:t>
            </a:r>
            <a:br>
              <a:rPr lang="ja-JP" altLang="en-US" sz="1600"/>
            </a:br>
            <a:r>
              <a:rPr lang="ja-JP" altLang="en-US" sz="1600"/>
              <a:t>→ </a:t>
            </a:r>
            <a:r>
              <a:rPr lang="en-US" sz="1600" dirty="0"/>
              <a:t>Parquet </a:t>
            </a:r>
            <a:r>
              <a:rPr lang="ja-JP" altLang="en-US" sz="1600"/>
              <a:t>や </a:t>
            </a:r>
            <a:r>
              <a:rPr lang="en-US" sz="1600" dirty="0"/>
              <a:t>ORC </a:t>
            </a:r>
            <a:r>
              <a:rPr lang="ja-JP" altLang="en-US" sz="1600"/>
              <a:t>はこのようなケースではあまり適していないと言えます。</a:t>
            </a:r>
            <a:endParaRPr lang="en-JP" sz="1600" dirty="0"/>
          </a:p>
        </p:txBody>
      </p:sp>
      <p:sp>
        <p:nvSpPr>
          <p:cNvPr id="12" name="Slide Number Placeholder 11">
            <a:extLst>
              <a:ext uri="{FF2B5EF4-FFF2-40B4-BE49-F238E27FC236}">
                <a16:creationId xmlns:a16="http://schemas.microsoft.com/office/drawing/2014/main" id="{8E7FEF33-A96F-8283-81BB-BEA6C6F26886}"/>
              </a:ext>
            </a:extLst>
          </p:cNvPr>
          <p:cNvSpPr>
            <a:spLocks noGrp="1"/>
          </p:cNvSpPr>
          <p:nvPr>
            <p:ph type="sldNum" sz="quarter" idx="12"/>
          </p:nvPr>
        </p:nvSpPr>
        <p:spPr/>
        <p:txBody>
          <a:bodyPr/>
          <a:lstStyle/>
          <a:p>
            <a:fld id="{520D4680-3C5B-EB48-BF72-7F3061D1D72A}" type="slidenum">
              <a:rPr lang="en-JP" smtClean="0"/>
              <a:t>16</a:t>
            </a:fld>
            <a:endParaRPr lang="en-JP"/>
          </a:p>
        </p:txBody>
      </p:sp>
    </p:spTree>
    <p:extLst>
      <p:ext uri="{BB962C8B-B14F-4D97-AF65-F5344CB8AC3E}">
        <p14:creationId xmlns:p14="http://schemas.microsoft.com/office/powerpoint/2010/main" val="348826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AD29D6-33B0-9651-7810-601F07650D53}"/>
              </a:ext>
            </a:extLst>
          </p:cNvPr>
          <p:cNvSpPr txBox="1"/>
          <p:nvPr/>
        </p:nvSpPr>
        <p:spPr>
          <a:xfrm>
            <a:off x="384717" y="411924"/>
            <a:ext cx="6099716" cy="369332"/>
          </a:xfrm>
          <a:prstGeom prst="rect">
            <a:avLst/>
          </a:prstGeom>
          <a:noFill/>
        </p:spPr>
        <p:txBody>
          <a:bodyPr wrap="square">
            <a:spAutoFit/>
          </a:bodyPr>
          <a:lstStyle/>
          <a:p>
            <a:r>
              <a:rPr lang="ja-JP" altLang="en-US"/>
              <a:t>読み取り性能（</a:t>
            </a:r>
            <a:r>
              <a:rPr lang="en-US" dirty="0"/>
              <a:t>Read Performance）</a:t>
            </a:r>
            <a:endParaRPr lang="en-JP" dirty="0"/>
          </a:p>
        </p:txBody>
      </p:sp>
      <p:sp>
        <p:nvSpPr>
          <p:cNvPr id="7" name="TextBox 6">
            <a:extLst>
              <a:ext uri="{FF2B5EF4-FFF2-40B4-BE49-F238E27FC236}">
                <a16:creationId xmlns:a16="http://schemas.microsoft.com/office/drawing/2014/main" id="{63BEFE78-268F-884C-5827-6D8B802F90E7}"/>
              </a:ext>
            </a:extLst>
          </p:cNvPr>
          <p:cNvSpPr txBox="1"/>
          <p:nvPr/>
        </p:nvSpPr>
        <p:spPr>
          <a:xfrm>
            <a:off x="505523" y="1019204"/>
            <a:ext cx="11301761" cy="646331"/>
          </a:xfrm>
          <a:prstGeom prst="rect">
            <a:avLst/>
          </a:prstGeom>
          <a:noFill/>
        </p:spPr>
        <p:txBody>
          <a:bodyPr wrap="square">
            <a:spAutoFit/>
          </a:bodyPr>
          <a:lstStyle/>
          <a:p>
            <a:r>
              <a:rPr lang="ja-JP" altLang="en-US"/>
              <a:t>図に示されているように、</a:t>
            </a:r>
            <a:r>
              <a:rPr lang="en-US" dirty="0"/>
              <a:t>TsFile </a:t>
            </a:r>
            <a:r>
              <a:rPr lang="ja-JP" altLang="en-US"/>
              <a:t>の読み取り性能はすべてのテストにおいて他の競合フォーマットよりも明らかに優れています。</a:t>
            </a:r>
            <a:endParaRPr lang="en-JP" dirty="0"/>
          </a:p>
        </p:txBody>
      </p:sp>
      <p:sp>
        <p:nvSpPr>
          <p:cNvPr id="8" name="正方形/長方形 6">
            <a:extLst>
              <a:ext uri="{FF2B5EF4-FFF2-40B4-BE49-F238E27FC236}">
                <a16:creationId xmlns:a16="http://schemas.microsoft.com/office/drawing/2014/main" id="{1BDD3683-C2FE-164A-E3FE-454E1D61EEAF}"/>
              </a:ext>
            </a:extLst>
          </p:cNvPr>
          <p:cNvSpPr/>
          <p:nvPr/>
        </p:nvSpPr>
        <p:spPr>
          <a:xfrm>
            <a:off x="505523" y="994680"/>
            <a:ext cx="11180954" cy="6452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Rounded Rectangle 13">
            <a:extLst>
              <a:ext uri="{FF2B5EF4-FFF2-40B4-BE49-F238E27FC236}">
                <a16:creationId xmlns:a16="http://schemas.microsoft.com/office/drawing/2014/main" id="{72D398BE-5E8A-E2F8-2080-F233FC54ABD1}"/>
              </a:ext>
            </a:extLst>
          </p:cNvPr>
          <p:cNvSpPr/>
          <p:nvPr/>
        </p:nvSpPr>
        <p:spPr>
          <a:xfrm>
            <a:off x="1131847" y="2738087"/>
            <a:ext cx="5603490" cy="343457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ja-JP" altLang="en-US" sz="1600"/>
              <a:t>図に示されているように、</a:t>
            </a:r>
            <a:r>
              <a:rPr lang="en-US" sz="1600" dirty="0"/>
              <a:t>TsFile </a:t>
            </a:r>
            <a:r>
              <a:rPr lang="ja-JP" altLang="en-US" sz="1600"/>
              <a:t>の読み取り性能はすべてのテストにおいて他の競合フォーマットよりも明らかに優れています。</a:t>
            </a:r>
            <a:endParaRPr lang="mn-MN" altLang="ja-JP" sz="1600" dirty="0"/>
          </a:p>
          <a:p>
            <a:br>
              <a:rPr lang="ja-JP" altLang="en-US" sz="1600"/>
            </a:br>
            <a:r>
              <a:rPr lang="ja-JP" altLang="en-US" sz="1600"/>
              <a:t>この結果は、</a:t>
            </a:r>
            <a:r>
              <a:rPr lang="en-US" sz="1600" dirty="0"/>
              <a:t>TsFile </a:t>
            </a:r>
            <a:r>
              <a:rPr lang="ja-JP" altLang="en-US" sz="1600"/>
              <a:t>に格納されているインデックスや統計情報を考慮すれば、驚くべきことではありません。</a:t>
            </a:r>
          </a:p>
          <a:p>
            <a:r>
              <a:rPr lang="ja-JP" altLang="en-US" sz="1600"/>
              <a:t>このような大幅に低い読み取り時間コストは、</a:t>
            </a:r>
            <a:br>
              <a:rPr lang="ja-JP" altLang="en-US" sz="1600"/>
            </a:br>
            <a:r>
              <a:rPr lang="ja-JP" altLang="en-US" sz="1600"/>
              <a:t>→ 時系列データに特化したファイルフォーマットを開発する必要性を改めて証明しています</a:t>
            </a:r>
            <a:r>
              <a:rPr lang="mn-MN" altLang="ja-JP" sz="1600" dirty="0"/>
              <a:t>.</a:t>
            </a:r>
            <a:endParaRPr lang="ja-JP" altLang="en-US" sz="1600"/>
          </a:p>
        </p:txBody>
      </p:sp>
      <p:sp>
        <p:nvSpPr>
          <p:cNvPr id="15" name="Rounded Rectangle 14">
            <a:extLst>
              <a:ext uri="{FF2B5EF4-FFF2-40B4-BE49-F238E27FC236}">
                <a16:creationId xmlns:a16="http://schemas.microsoft.com/office/drawing/2014/main" id="{152AE5E1-1CB1-5716-B796-80F902898B97}"/>
              </a:ext>
            </a:extLst>
          </p:cNvPr>
          <p:cNvSpPr/>
          <p:nvPr/>
        </p:nvSpPr>
        <p:spPr>
          <a:xfrm>
            <a:off x="8168269" y="2878871"/>
            <a:ext cx="3072160" cy="315300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ORC </a:t>
            </a:r>
            <a:r>
              <a:rPr lang="ja-JP" altLang="en-US"/>
              <a:t>は 赤黒木（</a:t>
            </a:r>
            <a:r>
              <a:rPr lang="en-US" dirty="0"/>
              <a:t>red-black tree）</a:t>
            </a:r>
            <a:r>
              <a:rPr lang="ja-JP" altLang="en-US"/>
              <a:t>に基づく辞書エンコーディングを使用しており、</a:t>
            </a:r>
            <a:br>
              <a:rPr lang="ja-JP" altLang="en-US"/>
            </a:br>
            <a:r>
              <a:rPr lang="ja-JP" altLang="en-US"/>
              <a:t>　→ 計算コストが高く、パフォーマンスが低下します。</a:t>
            </a:r>
            <a:endParaRPr lang="en-JP" dirty="0"/>
          </a:p>
        </p:txBody>
      </p:sp>
      <p:sp>
        <p:nvSpPr>
          <p:cNvPr id="16" name="Slide Number Placeholder 15">
            <a:extLst>
              <a:ext uri="{FF2B5EF4-FFF2-40B4-BE49-F238E27FC236}">
                <a16:creationId xmlns:a16="http://schemas.microsoft.com/office/drawing/2014/main" id="{EDEB243B-774B-D5F0-825E-F810BFCCEE34}"/>
              </a:ext>
            </a:extLst>
          </p:cNvPr>
          <p:cNvSpPr>
            <a:spLocks noGrp="1"/>
          </p:cNvSpPr>
          <p:nvPr>
            <p:ph type="sldNum" sz="quarter" idx="12"/>
          </p:nvPr>
        </p:nvSpPr>
        <p:spPr/>
        <p:txBody>
          <a:bodyPr/>
          <a:lstStyle/>
          <a:p>
            <a:fld id="{520D4680-3C5B-EB48-BF72-7F3061D1D72A}" type="slidenum">
              <a:rPr lang="en-JP" smtClean="0"/>
              <a:t>17</a:t>
            </a:fld>
            <a:endParaRPr lang="en-JP"/>
          </a:p>
        </p:txBody>
      </p:sp>
    </p:spTree>
    <p:extLst>
      <p:ext uri="{BB962C8B-B14F-4D97-AF65-F5344CB8AC3E}">
        <p14:creationId xmlns:p14="http://schemas.microsoft.com/office/powerpoint/2010/main" val="346951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EA6874-F1A9-72A6-E90E-54882E6FB7A8}"/>
              </a:ext>
            </a:extLst>
          </p:cNvPr>
          <p:cNvPicPr>
            <a:picLocks noChangeAspect="1"/>
          </p:cNvPicPr>
          <p:nvPr/>
        </p:nvPicPr>
        <p:blipFill>
          <a:blip r:embed="rId2"/>
          <a:stretch>
            <a:fillRect/>
          </a:stretch>
        </p:blipFill>
        <p:spPr>
          <a:xfrm>
            <a:off x="7660886" y="240715"/>
            <a:ext cx="3189249" cy="592803"/>
          </a:xfrm>
          <a:prstGeom prst="rect">
            <a:avLst/>
          </a:prstGeom>
        </p:spPr>
      </p:pic>
      <p:pic>
        <p:nvPicPr>
          <p:cNvPr id="6" name="Picture 5">
            <a:extLst>
              <a:ext uri="{FF2B5EF4-FFF2-40B4-BE49-F238E27FC236}">
                <a16:creationId xmlns:a16="http://schemas.microsoft.com/office/drawing/2014/main" id="{9BCC9806-CE5A-9785-C561-BD5450A0D3B9}"/>
              </a:ext>
            </a:extLst>
          </p:cNvPr>
          <p:cNvPicPr>
            <a:picLocks noChangeAspect="1"/>
          </p:cNvPicPr>
          <p:nvPr/>
        </p:nvPicPr>
        <p:blipFill>
          <a:blip r:embed="rId3"/>
          <a:stretch>
            <a:fillRect/>
          </a:stretch>
        </p:blipFill>
        <p:spPr>
          <a:xfrm>
            <a:off x="8027794" y="3112820"/>
            <a:ext cx="2910469" cy="892060"/>
          </a:xfrm>
          <a:prstGeom prst="rect">
            <a:avLst/>
          </a:prstGeom>
        </p:spPr>
      </p:pic>
      <p:pic>
        <p:nvPicPr>
          <p:cNvPr id="7" name="Picture 6">
            <a:extLst>
              <a:ext uri="{FF2B5EF4-FFF2-40B4-BE49-F238E27FC236}">
                <a16:creationId xmlns:a16="http://schemas.microsoft.com/office/drawing/2014/main" id="{B94EE6A1-D4C7-63E9-4899-6F6D1961122B}"/>
              </a:ext>
            </a:extLst>
          </p:cNvPr>
          <p:cNvPicPr>
            <a:picLocks noChangeAspect="1"/>
          </p:cNvPicPr>
          <p:nvPr/>
        </p:nvPicPr>
        <p:blipFill>
          <a:blip r:embed="rId4"/>
          <a:stretch>
            <a:fillRect/>
          </a:stretch>
        </p:blipFill>
        <p:spPr>
          <a:xfrm>
            <a:off x="7143564" y="5483541"/>
            <a:ext cx="3330343" cy="1133744"/>
          </a:xfrm>
          <a:prstGeom prst="rect">
            <a:avLst/>
          </a:prstGeom>
        </p:spPr>
      </p:pic>
      <p:sp>
        <p:nvSpPr>
          <p:cNvPr id="9" name="TextBox 8">
            <a:extLst>
              <a:ext uri="{FF2B5EF4-FFF2-40B4-BE49-F238E27FC236}">
                <a16:creationId xmlns:a16="http://schemas.microsoft.com/office/drawing/2014/main" id="{C729EE55-85EC-FFF8-0DB4-ED2CC6650776}"/>
              </a:ext>
            </a:extLst>
          </p:cNvPr>
          <p:cNvSpPr txBox="1"/>
          <p:nvPr/>
        </p:nvSpPr>
        <p:spPr>
          <a:xfrm>
            <a:off x="822617" y="4666599"/>
            <a:ext cx="6099716" cy="923330"/>
          </a:xfrm>
          <a:prstGeom prst="rect">
            <a:avLst/>
          </a:prstGeom>
          <a:noFill/>
        </p:spPr>
        <p:txBody>
          <a:bodyPr wrap="square">
            <a:spAutoFit/>
          </a:bodyPr>
          <a:lstStyle/>
          <a:p>
            <a:r>
              <a:rPr lang="en-US" dirty="0"/>
              <a:t>IoTDB </a:t>
            </a:r>
            <a:r>
              <a:rPr lang="ja-JP" altLang="en-US"/>
              <a:t>を </a:t>
            </a:r>
            <a:r>
              <a:rPr lang="en-US" dirty="0"/>
              <a:t>InfluxDB、TimescaleDB、</a:t>
            </a:r>
            <a:r>
              <a:rPr lang="ja-JP" altLang="en-US"/>
              <a:t>および </a:t>
            </a:r>
            <a:r>
              <a:rPr lang="en-US" dirty="0"/>
              <a:t>KairosDB </a:t>
            </a:r>
            <a:r>
              <a:rPr lang="ja-JP" altLang="en-US"/>
              <a:t>と比較し、</a:t>
            </a:r>
            <a:br>
              <a:rPr lang="ja-JP" altLang="en-US"/>
            </a:br>
            <a:r>
              <a:rPr lang="ja-JP" altLang="en-US"/>
              <a:t>書き込み性能およびクエリ性能の観点から評価を行いました。</a:t>
            </a:r>
            <a:endParaRPr lang="en-JP" dirty="0"/>
          </a:p>
        </p:txBody>
      </p:sp>
      <p:sp>
        <p:nvSpPr>
          <p:cNvPr id="13" name="TextBox 12">
            <a:extLst>
              <a:ext uri="{FF2B5EF4-FFF2-40B4-BE49-F238E27FC236}">
                <a16:creationId xmlns:a16="http://schemas.microsoft.com/office/drawing/2014/main" id="{C5E79DED-B7CB-2394-10C4-5F9F70E4E52C}"/>
              </a:ext>
            </a:extLst>
          </p:cNvPr>
          <p:cNvSpPr txBox="1"/>
          <p:nvPr/>
        </p:nvSpPr>
        <p:spPr>
          <a:xfrm>
            <a:off x="7527073" y="1056374"/>
            <a:ext cx="4176130" cy="1815882"/>
          </a:xfrm>
          <a:prstGeom prst="rect">
            <a:avLst/>
          </a:prstGeom>
          <a:noFill/>
        </p:spPr>
        <p:txBody>
          <a:bodyPr wrap="square">
            <a:spAutoFit/>
          </a:bodyPr>
          <a:lstStyle/>
          <a:p>
            <a:r>
              <a:rPr lang="en-US" sz="1600" dirty="0"/>
              <a:t>InfluxDB </a:t>
            </a:r>
            <a:r>
              <a:rPr lang="ja-JP" altLang="en-US" sz="1600"/>
              <a:t>では、時系列データを </a:t>
            </a:r>
            <a:r>
              <a:rPr lang="en-US" altLang="ja-JP" sz="1600" dirty="0"/>
              <a:t>1</a:t>
            </a:r>
            <a:r>
              <a:rPr lang="ja-JP" altLang="en-US" sz="1600"/>
              <a:t>つの </a:t>
            </a:r>
            <a:r>
              <a:rPr lang="en-US" sz="1600" dirty="0"/>
              <a:t>measurement（</a:t>
            </a:r>
            <a:r>
              <a:rPr lang="ja-JP" altLang="en-US" sz="1600"/>
              <a:t>計測値）と</a:t>
            </a:r>
            <a:r>
              <a:rPr lang="en-US" altLang="ja-JP" sz="1600" dirty="0"/>
              <a:t>1</a:t>
            </a:r>
            <a:r>
              <a:rPr lang="ja-JP" altLang="en-US" sz="1600"/>
              <a:t>つの </a:t>
            </a:r>
            <a:r>
              <a:rPr lang="en-US" sz="1600" dirty="0"/>
              <a:t>tag（</a:t>
            </a:r>
            <a:r>
              <a:rPr lang="ja-JP" altLang="en-US" sz="1600"/>
              <a:t>タグ） として保存します。</a:t>
            </a:r>
            <a:br>
              <a:rPr lang="ja-JP" altLang="en-US" sz="1600"/>
            </a:br>
            <a:r>
              <a:rPr lang="ja-JP" altLang="en-US" sz="1600"/>
              <a:t>→ デフォルトの保持ポリシー（</a:t>
            </a:r>
            <a:r>
              <a:rPr lang="en-US" sz="1600" dirty="0"/>
              <a:t>retention policy）</a:t>
            </a:r>
            <a:r>
              <a:rPr lang="ja-JP" altLang="en-US" sz="1600"/>
              <a:t>は無制限の保存期間で、</a:t>
            </a:r>
            <a:br>
              <a:rPr lang="ja-JP" altLang="en-US" sz="1600"/>
            </a:br>
            <a:r>
              <a:rPr lang="ja-JP" altLang="en-US" sz="1600"/>
              <a:t>→ これにより、</a:t>
            </a:r>
            <a:r>
              <a:rPr lang="en-US" altLang="ja-JP" sz="1600" dirty="0"/>
              <a:t>1</a:t>
            </a:r>
            <a:r>
              <a:rPr lang="ja-JP" altLang="en-US" sz="1600"/>
              <a:t>週間単位のシャード（</a:t>
            </a:r>
            <a:r>
              <a:rPr lang="en-US" sz="1600" dirty="0"/>
              <a:t>shard） </a:t>
            </a:r>
            <a:r>
              <a:rPr lang="ja-JP" altLang="en-US" sz="1600"/>
              <a:t>が生成されます</a:t>
            </a:r>
            <a:endParaRPr lang="en-JP" sz="1600" dirty="0"/>
          </a:p>
        </p:txBody>
      </p:sp>
      <p:sp>
        <p:nvSpPr>
          <p:cNvPr id="14" name="矢印: 折線 6">
            <a:extLst>
              <a:ext uri="{FF2B5EF4-FFF2-40B4-BE49-F238E27FC236}">
                <a16:creationId xmlns:a16="http://schemas.microsoft.com/office/drawing/2014/main" id="{B32CB4EE-A555-CB97-87BB-94510E794195}"/>
              </a:ext>
            </a:extLst>
          </p:cNvPr>
          <p:cNvSpPr/>
          <p:nvPr/>
        </p:nvSpPr>
        <p:spPr>
          <a:xfrm rot="7314410">
            <a:off x="10676682" y="516573"/>
            <a:ext cx="573081" cy="517974"/>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TextBox 15">
            <a:extLst>
              <a:ext uri="{FF2B5EF4-FFF2-40B4-BE49-F238E27FC236}">
                <a16:creationId xmlns:a16="http://schemas.microsoft.com/office/drawing/2014/main" id="{878E0815-4658-3F3E-2E3B-0118D3851713}"/>
              </a:ext>
            </a:extLst>
          </p:cNvPr>
          <p:cNvSpPr txBox="1"/>
          <p:nvPr/>
        </p:nvSpPr>
        <p:spPr>
          <a:xfrm>
            <a:off x="7794702" y="4004880"/>
            <a:ext cx="3915936" cy="1323439"/>
          </a:xfrm>
          <a:prstGeom prst="rect">
            <a:avLst/>
          </a:prstGeom>
          <a:noFill/>
        </p:spPr>
        <p:txBody>
          <a:bodyPr wrap="square">
            <a:spAutoFit/>
          </a:bodyPr>
          <a:lstStyle/>
          <a:p>
            <a:r>
              <a:rPr lang="en-US" sz="1600" dirty="0"/>
              <a:t>TimescaleDB </a:t>
            </a:r>
            <a:r>
              <a:rPr lang="ja-JP" altLang="en-US" sz="1600"/>
              <a:t>では、次のような手順で構成しています：</a:t>
            </a:r>
          </a:p>
          <a:p>
            <a:pPr>
              <a:buFont typeface="+mj-lt"/>
              <a:buAutoNum type="arabicPeriod"/>
            </a:pPr>
            <a:r>
              <a:rPr lang="ja-JP" altLang="en-US" sz="1600"/>
              <a:t>時刻（</a:t>
            </a:r>
            <a:r>
              <a:rPr lang="en-US" sz="1600" dirty="0"/>
              <a:t>time）、</a:t>
            </a:r>
            <a:r>
              <a:rPr lang="ja-JP" altLang="en-US" sz="1600"/>
              <a:t>シリーズ</a:t>
            </a:r>
            <a:r>
              <a:rPr lang="en-US" sz="1600" dirty="0"/>
              <a:t>ID（series ID）、</a:t>
            </a:r>
            <a:r>
              <a:rPr lang="ja-JP" altLang="en-US" sz="1600"/>
              <a:t>およびメトリック列（</a:t>
            </a:r>
            <a:r>
              <a:rPr lang="en-US" sz="1600" dirty="0"/>
              <a:t>metrics） </a:t>
            </a:r>
            <a:r>
              <a:rPr lang="ja-JP" altLang="en-US" sz="1600"/>
              <a:t>を含む通常のテーブルを作成します。</a:t>
            </a:r>
          </a:p>
        </p:txBody>
      </p:sp>
      <p:sp>
        <p:nvSpPr>
          <p:cNvPr id="17" name="矢印: 折線 6">
            <a:extLst>
              <a:ext uri="{FF2B5EF4-FFF2-40B4-BE49-F238E27FC236}">
                <a16:creationId xmlns:a16="http://schemas.microsoft.com/office/drawing/2014/main" id="{63AB0F1B-8CFC-E5C6-5F1A-0AEB3CCC04AF}"/>
              </a:ext>
            </a:extLst>
          </p:cNvPr>
          <p:cNvSpPr/>
          <p:nvPr/>
        </p:nvSpPr>
        <p:spPr>
          <a:xfrm rot="9320095">
            <a:off x="10792770" y="5277685"/>
            <a:ext cx="438259" cy="563720"/>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8" name="Picture 17">
            <a:extLst>
              <a:ext uri="{FF2B5EF4-FFF2-40B4-BE49-F238E27FC236}">
                <a16:creationId xmlns:a16="http://schemas.microsoft.com/office/drawing/2014/main" id="{306FCC41-680C-B3F5-CF39-75E9C925E32B}"/>
              </a:ext>
            </a:extLst>
          </p:cNvPr>
          <p:cNvPicPr>
            <a:picLocks noChangeAspect="1"/>
          </p:cNvPicPr>
          <p:nvPr/>
        </p:nvPicPr>
        <p:blipFill>
          <a:blip r:embed="rId5"/>
          <a:stretch>
            <a:fillRect/>
          </a:stretch>
        </p:blipFill>
        <p:spPr>
          <a:xfrm>
            <a:off x="425527" y="537116"/>
            <a:ext cx="6985000" cy="3225800"/>
          </a:xfrm>
          <a:prstGeom prst="rect">
            <a:avLst/>
          </a:prstGeom>
        </p:spPr>
      </p:pic>
      <p:sp>
        <p:nvSpPr>
          <p:cNvPr id="19" name="Slide Number Placeholder 18">
            <a:extLst>
              <a:ext uri="{FF2B5EF4-FFF2-40B4-BE49-F238E27FC236}">
                <a16:creationId xmlns:a16="http://schemas.microsoft.com/office/drawing/2014/main" id="{652450CB-8853-B62F-6D0A-2AB9CA381C88}"/>
              </a:ext>
            </a:extLst>
          </p:cNvPr>
          <p:cNvSpPr>
            <a:spLocks noGrp="1"/>
          </p:cNvSpPr>
          <p:nvPr>
            <p:ph type="sldNum" sz="quarter" idx="12"/>
          </p:nvPr>
        </p:nvSpPr>
        <p:spPr/>
        <p:txBody>
          <a:bodyPr/>
          <a:lstStyle/>
          <a:p>
            <a:fld id="{520D4680-3C5B-EB48-BF72-7F3061D1D72A}" type="slidenum">
              <a:rPr lang="en-JP" smtClean="0"/>
              <a:t>18</a:t>
            </a:fld>
            <a:endParaRPr lang="en-JP"/>
          </a:p>
        </p:txBody>
      </p:sp>
    </p:spTree>
    <p:extLst>
      <p:ext uri="{BB962C8B-B14F-4D97-AF65-F5344CB8AC3E}">
        <p14:creationId xmlns:p14="http://schemas.microsoft.com/office/powerpoint/2010/main" val="174825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9F2F97-1DC9-4DCF-483A-2B72D9E1A9F8}"/>
              </a:ext>
            </a:extLst>
          </p:cNvPr>
          <p:cNvSpPr txBox="1"/>
          <p:nvPr/>
        </p:nvSpPr>
        <p:spPr>
          <a:xfrm>
            <a:off x="730405" y="501133"/>
            <a:ext cx="6099716" cy="369332"/>
          </a:xfrm>
          <a:prstGeom prst="rect">
            <a:avLst/>
          </a:prstGeom>
          <a:noFill/>
        </p:spPr>
        <p:txBody>
          <a:bodyPr wrap="square">
            <a:spAutoFit/>
          </a:bodyPr>
          <a:lstStyle/>
          <a:p>
            <a:r>
              <a:rPr lang="ja-JP" altLang="en-US" b="1"/>
              <a:t>書き込み性能（</a:t>
            </a:r>
            <a:r>
              <a:rPr lang="en-US" b="1" dirty="0"/>
              <a:t>Write Performance）</a:t>
            </a:r>
            <a:endParaRPr lang="en-JP" b="1" dirty="0"/>
          </a:p>
        </p:txBody>
      </p:sp>
      <p:sp>
        <p:nvSpPr>
          <p:cNvPr id="8" name="TextBox 7">
            <a:extLst>
              <a:ext uri="{FF2B5EF4-FFF2-40B4-BE49-F238E27FC236}">
                <a16:creationId xmlns:a16="http://schemas.microsoft.com/office/drawing/2014/main" id="{2FAE1409-ED8B-991C-3B36-4DCD2AE59937}"/>
              </a:ext>
            </a:extLst>
          </p:cNvPr>
          <p:cNvSpPr txBox="1"/>
          <p:nvPr/>
        </p:nvSpPr>
        <p:spPr>
          <a:xfrm>
            <a:off x="730404" y="1582341"/>
            <a:ext cx="10275849" cy="2308324"/>
          </a:xfrm>
          <a:prstGeom prst="rect">
            <a:avLst/>
          </a:prstGeom>
          <a:noFill/>
        </p:spPr>
        <p:txBody>
          <a:bodyPr wrap="square">
            <a:spAutoFit/>
          </a:bodyPr>
          <a:lstStyle/>
          <a:p>
            <a:r>
              <a:rPr lang="ja-JP" altLang="en-US"/>
              <a:t>図</a:t>
            </a:r>
            <a:r>
              <a:rPr lang="en-US" altLang="ja-JP" dirty="0"/>
              <a:t>2(</a:t>
            </a:r>
            <a:r>
              <a:rPr lang="en-US" dirty="0"/>
              <a:t>a)</a:t>
            </a:r>
            <a:r>
              <a:rPr lang="ja-JP" altLang="en-US"/>
              <a:t>および図</a:t>
            </a:r>
            <a:r>
              <a:rPr lang="en-US" altLang="ja-JP" dirty="0"/>
              <a:t>2(</a:t>
            </a:r>
            <a:r>
              <a:rPr lang="en-US" dirty="0"/>
              <a:t>b)</a:t>
            </a:r>
            <a:r>
              <a:rPr lang="ja-JP" altLang="en-US"/>
              <a:t>は、それぞれ書き込みレイテンシとスループットを示しています。</a:t>
            </a:r>
          </a:p>
          <a:p>
            <a:r>
              <a:rPr lang="ja-JP" altLang="en-US"/>
              <a:t>全体的に、</a:t>
            </a:r>
            <a:r>
              <a:rPr lang="en-US" dirty="0"/>
              <a:t>IoTDB</a:t>
            </a:r>
            <a:r>
              <a:rPr lang="ja-JP" altLang="en-US"/>
              <a:t>はほぼすべてのテストにおいて優れた性能を示しており、</a:t>
            </a:r>
            <a:br>
              <a:rPr lang="ja-JP" altLang="en-US"/>
            </a:br>
            <a:r>
              <a:rPr lang="ja-JP" altLang="en-US"/>
              <a:t>→ より高い書き込みスループット、</a:t>
            </a:r>
            <a:br>
              <a:rPr lang="ja-JP" altLang="en-US"/>
            </a:br>
            <a:r>
              <a:rPr lang="ja-JP" altLang="en-US"/>
              <a:t>→ より低い書き込みレイテンシを実現しています。</a:t>
            </a:r>
          </a:p>
          <a:p>
            <a:r>
              <a:rPr lang="ja-JP" altLang="en-US"/>
              <a:t>しかし、図</a:t>
            </a:r>
            <a:r>
              <a:rPr lang="en-US" altLang="ja-JP" dirty="0"/>
              <a:t>20</a:t>
            </a:r>
            <a:r>
              <a:rPr lang="ja-JP" altLang="en-US"/>
              <a:t>における</a:t>
            </a:r>
            <a:r>
              <a:rPr lang="en-US" dirty="0"/>
              <a:t>TY-vehicle</a:t>
            </a:r>
            <a:r>
              <a:rPr lang="ja-JP" altLang="en-US"/>
              <a:t>データセットでは、</a:t>
            </a:r>
            <a:r>
              <a:rPr lang="en-US" dirty="0"/>
              <a:t>IoTDB</a:t>
            </a:r>
            <a:r>
              <a:rPr lang="ja-JP" altLang="en-US"/>
              <a:t>と</a:t>
            </a:r>
            <a:r>
              <a:rPr lang="en-US" dirty="0"/>
              <a:t>InfluxDB</a:t>
            </a:r>
            <a:r>
              <a:rPr lang="ja-JP" altLang="en-US"/>
              <a:t>の間に明確な差は見られません。</a:t>
            </a:r>
          </a:p>
          <a:p>
            <a:r>
              <a:rPr lang="ja-JP" altLang="en-US"/>
              <a:t>その理由は、このデータセットに文字列（</a:t>
            </a:r>
            <a:r>
              <a:rPr lang="en-US" dirty="0"/>
              <a:t>string）</a:t>
            </a:r>
            <a:r>
              <a:rPr lang="ja-JP" altLang="en-US"/>
              <a:t>データが多く含まれており、</a:t>
            </a:r>
            <a:br>
              <a:rPr lang="ja-JP" altLang="en-US"/>
            </a:br>
            <a:r>
              <a:rPr lang="ja-JP" altLang="en-US"/>
              <a:t>→ 両システムともにこの種のデータに特化していないため、</a:t>
            </a:r>
            <a:br>
              <a:rPr lang="ja-JP" altLang="en-US"/>
            </a:br>
            <a:r>
              <a:rPr lang="ja-JP" altLang="en-US"/>
              <a:t>→ 性能差が小さくなっているためです。</a:t>
            </a:r>
          </a:p>
        </p:txBody>
      </p:sp>
      <p:sp>
        <p:nvSpPr>
          <p:cNvPr id="10" name="TextBox 9">
            <a:extLst>
              <a:ext uri="{FF2B5EF4-FFF2-40B4-BE49-F238E27FC236}">
                <a16:creationId xmlns:a16="http://schemas.microsoft.com/office/drawing/2014/main" id="{6EF2AF2D-555C-1A8D-F1C7-335440F91A65}"/>
              </a:ext>
            </a:extLst>
          </p:cNvPr>
          <p:cNvSpPr txBox="1"/>
          <p:nvPr/>
        </p:nvSpPr>
        <p:spPr>
          <a:xfrm>
            <a:off x="730404" y="4352329"/>
            <a:ext cx="10275849" cy="923330"/>
          </a:xfrm>
          <a:prstGeom prst="rect">
            <a:avLst/>
          </a:prstGeom>
          <a:noFill/>
        </p:spPr>
        <p:txBody>
          <a:bodyPr wrap="square">
            <a:spAutoFit/>
          </a:bodyPr>
          <a:lstStyle/>
          <a:p>
            <a:r>
              <a:rPr lang="en-US" dirty="0"/>
              <a:t>IoTDB</a:t>
            </a:r>
            <a:r>
              <a:rPr lang="ja-JP" altLang="en-US"/>
              <a:t>および</a:t>
            </a:r>
            <a:r>
              <a:rPr lang="en-US" dirty="0"/>
              <a:t>InfluxDB </a:t>
            </a:r>
            <a:r>
              <a:rPr lang="ja-JP" altLang="en-US"/>
              <a:t>はどちらも 時系列データに最適化されたストレージ実装 を採用しているため、</a:t>
            </a:r>
            <a:br>
              <a:rPr lang="ja-JP" altLang="en-US"/>
            </a:br>
            <a:r>
              <a:rPr lang="ja-JP" altLang="en-US"/>
              <a:t>→ </a:t>
            </a:r>
            <a:r>
              <a:rPr lang="en-US" dirty="0"/>
              <a:t>TimescaleDB（PostgreSQL</a:t>
            </a:r>
            <a:r>
              <a:rPr lang="ja-JP" altLang="en-US"/>
              <a:t>ベース） や </a:t>
            </a:r>
            <a:r>
              <a:rPr lang="en-US" dirty="0"/>
              <a:t>KairosDB（Cassandra</a:t>
            </a:r>
            <a:r>
              <a:rPr lang="ja-JP" altLang="en-US"/>
              <a:t>ベース） と比較して、</a:t>
            </a:r>
            <a:br>
              <a:rPr lang="ja-JP" altLang="en-US"/>
            </a:br>
            <a:r>
              <a:rPr lang="ja-JP" altLang="en-US"/>
              <a:t>→ 時系列データの取り込みにより適していると言えます。</a:t>
            </a:r>
            <a:endParaRPr lang="en-JP" dirty="0"/>
          </a:p>
        </p:txBody>
      </p:sp>
      <p:sp>
        <p:nvSpPr>
          <p:cNvPr id="11" name="Slide Number Placeholder 10">
            <a:extLst>
              <a:ext uri="{FF2B5EF4-FFF2-40B4-BE49-F238E27FC236}">
                <a16:creationId xmlns:a16="http://schemas.microsoft.com/office/drawing/2014/main" id="{BD4FB9A3-8FF2-1373-825E-57C36D077889}"/>
              </a:ext>
            </a:extLst>
          </p:cNvPr>
          <p:cNvSpPr>
            <a:spLocks noGrp="1"/>
          </p:cNvSpPr>
          <p:nvPr>
            <p:ph type="sldNum" sz="quarter" idx="12"/>
          </p:nvPr>
        </p:nvSpPr>
        <p:spPr/>
        <p:txBody>
          <a:bodyPr/>
          <a:lstStyle/>
          <a:p>
            <a:fld id="{520D4680-3C5B-EB48-BF72-7F3061D1D72A}" type="slidenum">
              <a:rPr lang="en-JP" smtClean="0"/>
              <a:t>19</a:t>
            </a:fld>
            <a:endParaRPr lang="en-JP"/>
          </a:p>
        </p:txBody>
      </p:sp>
    </p:spTree>
    <p:extLst>
      <p:ext uri="{BB962C8B-B14F-4D97-AF65-F5344CB8AC3E}">
        <p14:creationId xmlns:p14="http://schemas.microsoft.com/office/powerpoint/2010/main" val="1144238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47A3F8E-53A8-3665-C1CB-D40E5C10244E}"/>
              </a:ext>
            </a:extLst>
          </p:cNvPr>
          <p:cNvSpPr txBox="1"/>
          <p:nvPr/>
        </p:nvSpPr>
        <p:spPr>
          <a:xfrm>
            <a:off x="853622" y="4255538"/>
            <a:ext cx="5123986" cy="923330"/>
          </a:xfrm>
          <a:prstGeom prst="rect">
            <a:avLst/>
          </a:prstGeom>
          <a:noFill/>
        </p:spPr>
        <p:txBody>
          <a:bodyPr wrap="square">
            <a:spAutoFit/>
          </a:bodyPr>
          <a:lstStyle/>
          <a:p>
            <a:r>
              <a:rPr lang="en-US" b="1" dirty="0"/>
              <a:t>IoTDB(BACK)</a:t>
            </a:r>
            <a:r>
              <a:rPr lang="en-US" dirty="0"/>
              <a:t>：</a:t>
            </a:r>
            <a:r>
              <a:rPr lang="ja-JP" altLang="en-US"/>
              <a:t>提案する後方ソート方式</a:t>
            </a:r>
          </a:p>
          <a:p>
            <a:r>
              <a:rPr lang="en-US" b="1" dirty="0"/>
              <a:t>IoTDB(BACK-PAR)</a:t>
            </a:r>
            <a:r>
              <a:rPr lang="en-US" dirty="0"/>
              <a:t>：</a:t>
            </a:r>
            <a:r>
              <a:rPr lang="ja-JP" altLang="en-US"/>
              <a:t>その並列最適化バージョン</a:t>
            </a:r>
          </a:p>
          <a:p>
            <a:r>
              <a:rPr lang="en-US" b="1" dirty="0"/>
              <a:t>IoTDB(TIM)</a:t>
            </a:r>
            <a:r>
              <a:rPr lang="en-US" dirty="0"/>
              <a:t>：TIM</a:t>
            </a:r>
            <a:r>
              <a:rPr lang="ja-JP" altLang="en-US"/>
              <a:t>ソート </a:t>
            </a:r>
            <a:r>
              <a:rPr lang="en-US" altLang="ja-JP" dirty="0"/>
              <a:t> </a:t>
            </a:r>
            <a:r>
              <a:rPr lang="ja-JP" altLang="en-US"/>
              <a:t>に基づく従来の方式</a:t>
            </a:r>
          </a:p>
        </p:txBody>
      </p:sp>
      <p:sp>
        <p:nvSpPr>
          <p:cNvPr id="8" name="四角形: 角を丸くする 7">
            <a:extLst>
              <a:ext uri="{FF2B5EF4-FFF2-40B4-BE49-F238E27FC236}">
                <a16:creationId xmlns:a16="http://schemas.microsoft.com/office/drawing/2014/main" id="{E279A821-E1C2-494B-2C26-6E129804CD2B}"/>
              </a:ext>
            </a:extLst>
          </p:cNvPr>
          <p:cNvSpPr/>
          <p:nvPr/>
        </p:nvSpPr>
        <p:spPr>
          <a:xfrm>
            <a:off x="6504880" y="1876831"/>
            <a:ext cx="3849257" cy="3716667"/>
          </a:xfrm>
          <a:prstGeom prst="roundRect">
            <a:avLst/>
          </a:prstGeom>
          <a:noFill/>
          <a:ln w="38100">
            <a:solidFill>
              <a:srgbClr val="0000FF"/>
            </a:solidFill>
          </a:ln>
        </p:spPr>
        <p:style>
          <a:lnRef idx="2">
            <a:schemeClr val="accent6"/>
          </a:lnRef>
          <a:fillRef idx="1">
            <a:schemeClr val="lt1"/>
          </a:fillRef>
          <a:effectRef idx="0">
            <a:schemeClr val="accent6"/>
          </a:effectRef>
          <a:fontRef idx="minor">
            <a:schemeClr val="dk1"/>
          </a:fontRef>
        </p:style>
        <p:txBody>
          <a:bodyPr rtlCol="0" anchor="t"/>
          <a:lstStyle/>
          <a:p>
            <a:pPr marL="571500" lvl="1" indent="0">
              <a:buNone/>
            </a:pPr>
            <a:endParaRPr lang="en-US" altLang="ja-JP" sz="2000" dirty="0"/>
          </a:p>
        </p:txBody>
      </p:sp>
      <p:sp>
        <p:nvSpPr>
          <p:cNvPr id="10" name="TextBox 9">
            <a:extLst>
              <a:ext uri="{FF2B5EF4-FFF2-40B4-BE49-F238E27FC236}">
                <a16:creationId xmlns:a16="http://schemas.microsoft.com/office/drawing/2014/main" id="{18CF306F-696C-2D8A-C517-C2F44F09FDD5}"/>
              </a:ext>
            </a:extLst>
          </p:cNvPr>
          <p:cNvSpPr txBox="1"/>
          <p:nvPr/>
        </p:nvSpPr>
        <p:spPr>
          <a:xfrm>
            <a:off x="6769013" y="2304003"/>
            <a:ext cx="3100485" cy="2862322"/>
          </a:xfrm>
          <a:prstGeom prst="rect">
            <a:avLst/>
          </a:prstGeom>
          <a:noFill/>
        </p:spPr>
        <p:txBody>
          <a:bodyPr wrap="square">
            <a:spAutoFit/>
          </a:bodyPr>
          <a:lstStyle/>
          <a:p>
            <a:r>
              <a:rPr lang="en-US" dirty="0"/>
              <a:t>IoTDB(BACK) </a:t>
            </a:r>
            <a:r>
              <a:rPr lang="ja-JP" altLang="en-US"/>
              <a:t>はベースラインの </a:t>
            </a:r>
            <a:r>
              <a:rPr lang="en-US" dirty="0"/>
              <a:t>IoTDB(TIM) </a:t>
            </a:r>
            <a:r>
              <a:rPr lang="ja-JP" altLang="en-US"/>
              <a:t>よりも</a:t>
            </a:r>
            <a:br>
              <a:rPr lang="ja-JP" altLang="en-US"/>
            </a:br>
            <a:r>
              <a:rPr lang="ja-JP" altLang="en-US"/>
              <a:t>→ 書き込みスループットが高く、レイテンシが低い ことが確認されました。</a:t>
            </a:r>
          </a:p>
          <a:p>
            <a:r>
              <a:rPr lang="ja-JP" altLang="en-US"/>
              <a:t>さらに、並列最適化を施した </a:t>
            </a:r>
            <a:r>
              <a:rPr lang="en-US" dirty="0"/>
              <a:t>IoTDB(BACK-PAR) </a:t>
            </a:r>
            <a:r>
              <a:rPr lang="ja-JP" altLang="en-US"/>
              <a:t>は</a:t>
            </a:r>
            <a:br>
              <a:rPr lang="ja-JP" altLang="en-US"/>
            </a:br>
            <a:r>
              <a:rPr lang="ja-JP" altLang="en-US"/>
              <a:t>→ パフォーマンスを</a:t>
            </a:r>
            <a:r>
              <a:rPr lang="en-US" altLang="ja-JP" dirty="0"/>
              <a:t>10〜20% </a:t>
            </a:r>
            <a:r>
              <a:rPr lang="ja-JP" altLang="en-US"/>
              <a:t>追加で向上させることができました。</a:t>
            </a:r>
          </a:p>
        </p:txBody>
      </p:sp>
      <p:sp>
        <p:nvSpPr>
          <p:cNvPr id="12" name="TextBox 11">
            <a:extLst>
              <a:ext uri="{FF2B5EF4-FFF2-40B4-BE49-F238E27FC236}">
                <a16:creationId xmlns:a16="http://schemas.microsoft.com/office/drawing/2014/main" id="{A5ED9343-C160-030F-FA63-C206142AFC89}"/>
              </a:ext>
            </a:extLst>
          </p:cNvPr>
          <p:cNvSpPr txBox="1"/>
          <p:nvPr/>
        </p:nvSpPr>
        <p:spPr>
          <a:xfrm>
            <a:off x="472293" y="433995"/>
            <a:ext cx="6255834" cy="369332"/>
          </a:xfrm>
          <a:prstGeom prst="rect">
            <a:avLst/>
          </a:prstGeom>
          <a:noFill/>
        </p:spPr>
        <p:txBody>
          <a:bodyPr wrap="square">
            <a:spAutoFit/>
          </a:bodyPr>
          <a:lstStyle/>
          <a:p>
            <a:r>
              <a:rPr lang="ja-JP" altLang="en-US" b="1"/>
              <a:t>ソート評価（</a:t>
            </a:r>
            <a:r>
              <a:rPr lang="en-US" b="1" dirty="0"/>
              <a:t>Sorting Evaluation）</a:t>
            </a:r>
            <a:endParaRPr lang="en-JP" b="1" dirty="0"/>
          </a:p>
        </p:txBody>
      </p:sp>
      <p:sp>
        <p:nvSpPr>
          <p:cNvPr id="13" name="角丸四角形吹き出し 19">
            <a:extLst>
              <a:ext uri="{FF2B5EF4-FFF2-40B4-BE49-F238E27FC236}">
                <a16:creationId xmlns:a16="http://schemas.microsoft.com/office/drawing/2014/main" id="{45A6BDA9-7FE4-F095-01B5-4E986849E616}"/>
              </a:ext>
            </a:extLst>
          </p:cNvPr>
          <p:cNvSpPr/>
          <p:nvPr/>
        </p:nvSpPr>
        <p:spPr>
          <a:xfrm>
            <a:off x="624468" y="1507185"/>
            <a:ext cx="5263376" cy="1452776"/>
          </a:xfrm>
          <a:prstGeom prst="wedgeRoundRectCallout">
            <a:avLst>
              <a:gd name="adj1" fmla="val -3607"/>
              <a:gd name="adj2" fmla="val 78801"/>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rPr>
              <a:t>遅延到着データに対する後方ソート（</a:t>
            </a:r>
            <a:r>
              <a:rPr lang="en-US" sz="2000" dirty="0">
                <a:solidFill>
                  <a:schemeClr val="tx1"/>
                </a:solidFill>
              </a:rPr>
              <a:t>backward sort）</a:t>
            </a:r>
            <a:r>
              <a:rPr lang="ja-JP" altLang="en-US" sz="2000">
                <a:solidFill>
                  <a:schemeClr val="tx1"/>
                </a:solidFill>
              </a:rPr>
              <a:t>手法について、</a:t>
            </a:r>
            <a:br>
              <a:rPr lang="ja-JP" altLang="en-US" sz="2000">
                <a:solidFill>
                  <a:schemeClr val="tx1"/>
                </a:solidFill>
              </a:rPr>
            </a:br>
            <a:r>
              <a:rPr lang="ja-JP" altLang="en-US" sz="2000">
                <a:solidFill>
                  <a:schemeClr val="tx1"/>
                </a:solidFill>
              </a:rPr>
              <a:t>図に示すような実験を行いました。</a:t>
            </a:r>
            <a:endParaRPr lang="en-JP" sz="2000" dirty="0">
              <a:solidFill>
                <a:schemeClr val="tx1"/>
              </a:solidFill>
            </a:endParaRPr>
          </a:p>
          <a:p>
            <a:pPr algn="ctr"/>
            <a:endParaRPr kumimoji="1" lang="ja-JP" altLang="en-US" sz="2000">
              <a:solidFill>
                <a:schemeClr val="tx1"/>
              </a:solidFill>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FF65D210-4D0E-1E11-CFAC-5567259A01E0}"/>
              </a:ext>
            </a:extLst>
          </p:cNvPr>
          <p:cNvSpPr>
            <a:spLocks noGrp="1"/>
          </p:cNvSpPr>
          <p:nvPr>
            <p:ph type="sldNum" sz="quarter" idx="12"/>
          </p:nvPr>
        </p:nvSpPr>
        <p:spPr/>
        <p:txBody>
          <a:bodyPr/>
          <a:lstStyle/>
          <a:p>
            <a:fld id="{520D4680-3C5B-EB48-BF72-7F3061D1D72A}" type="slidenum">
              <a:rPr lang="en-JP" smtClean="0"/>
              <a:t>20</a:t>
            </a:fld>
            <a:endParaRPr lang="en-JP"/>
          </a:p>
        </p:txBody>
      </p:sp>
    </p:spTree>
    <p:extLst>
      <p:ext uri="{BB962C8B-B14F-4D97-AF65-F5344CB8AC3E}">
        <p14:creationId xmlns:p14="http://schemas.microsoft.com/office/powerpoint/2010/main" val="314127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2C162D-9434-1507-3BD7-41C6E8AA2BC5}"/>
              </a:ext>
            </a:extLst>
          </p:cNvPr>
          <p:cNvPicPr>
            <a:picLocks noChangeAspect="1"/>
          </p:cNvPicPr>
          <p:nvPr/>
        </p:nvPicPr>
        <p:blipFill>
          <a:blip r:embed="rId2"/>
          <a:stretch>
            <a:fillRect/>
          </a:stretch>
        </p:blipFill>
        <p:spPr>
          <a:xfrm>
            <a:off x="745118" y="2569117"/>
            <a:ext cx="4562862" cy="2946400"/>
          </a:xfrm>
          <a:prstGeom prst="rect">
            <a:avLst/>
          </a:prstGeom>
        </p:spPr>
      </p:pic>
      <p:pic>
        <p:nvPicPr>
          <p:cNvPr id="6" name="Picture 5">
            <a:extLst>
              <a:ext uri="{FF2B5EF4-FFF2-40B4-BE49-F238E27FC236}">
                <a16:creationId xmlns:a16="http://schemas.microsoft.com/office/drawing/2014/main" id="{1B82D58E-92C5-3218-1274-6595C42B2A8F}"/>
              </a:ext>
            </a:extLst>
          </p:cNvPr>
          <p:cNvPicPr>
            <a:picLocks noChangeAspect="1"/>
          </p:cNvPicPr>
          <p:nvPr/>
        </p:nvPicPr>
        <p:blipFill>
          <a:blip r:embed="rId3"/>
          <a:stretch>
            <a:fillRect/>
          </a:stretch>
        </p:blipFill>
        <p:spPr>
          <a:xfrm>
            <a:off x="745118" y="1849244"/>
            <a:ext cx="4660900" cy="508000"/>
          </a:xfrm>
          <a:prstGeom prst="rect">
            <a:avLst/>
          </a:prstGeom>
        </p:spPr>
      </p:pic>
      <p:sp>
        <p:nvSpPr>
          <p:cNvPr id="8" name="TextBox 7">
            <a:extLst>
              <a:ext uri="{FF2B5EF4-FFF2-40B4-BE49-F238E27FC236}">
                <a16:creationId xmlns:a16="http://schemas.microsoft.com/office/drawing/2014/main" id="{FBB942B3-0418-2A5B-4C27-F9C59FEA367F}"/>
              </a:ext>
            </a:extLst>
          </p:cNvPr>
          <p:cNvSpPr txBox="1"/>
          <p:nvPr/>
        </p:nvSpPr>
        <p:spPr>
          <a:xfrm>
            <a:off x="745118" y="973151"/>
            <a:ext cx="4785887" cy="369332"/>
          </a:xfrm>
          <a:prstGeom prst="rect">
            <a:avLst/>
          </a:prstGeom>
          <a:noFill/>
        </p:spPr>
        <p:txBody>
          <a:bodyPr wrap="square">
            <a:spAutoFit/>
          </a:bodyPr>
          <a:lstStyle/>
          <a:p>
            <a:r>
              <a:rPr lang="en-US" dirty="0"/>
              <a:t>Time Range Query</a:t>
            </a:r>
            <a:endParaRPr lang="en-JP" dirty="0"/>
          </a:p>
        </p:txBody>
      </p:sp>
      <p:sp>
        <p:nvSpPr>
          <p:cNvPr id="10" name="TextBox 9">
            <a:extLst>
              <a:ext uri="{FF2B5EF4-FFF2-40B4-BE49-F238E27FC236}">
                <a16:creationId xmlns:a16="http://schemas.microsoft.com/office/drawing/2014/main" id="{A05A9A24-F74F-31AA-E455-504FBADE635B}"/>
              </a:ext>
            </a:extLst>
          </p:cNvPr>
          <p:cNvSpPr txBox="1"/>
          <p:nvPr/>
        </p:nvSpPr>
        <p:spPr>
          <a:xfrm>
            <a:off x="6478859" y="1166842"/>
            <a:ext cx="5151862" cy="4524315"/>
          </a:xfrm>
          <a:prstGeom prst="rect">
            <a:avLst/>
          </a:prstGeom>
          <a:noFill/>
        </p:spPr>
        <p:txBody>
          <a:bodyPr wrap="square">
            <a:spAutoFit/>
          </a:bodyPr>
          <a:lstStyle/>
          <a:p>
            <a:r>
              <a:rPr lang="ja-JP" altLang="en-US"/>
              <a:t>図に示されているように、クエリ対象の時間範囲が小さい場合、</a:t>
            </a:r>
            <a:r>
              <a:rPr lang="en-US" dirty="0"/>
              <a:t>IoTDB</a:t>
            </a:r>
            <a:r>
              <a:rPr lang="ja-JP" altLang="en-US"/>
              <a:t>のクエリ遅延は他と比べて高くなります。</a:t>
            </a:r>
            <a:endParaRPr lang="mn-MN" altLang="ja-JP" dirty="0"/>
          </a:p>
          <a:p>
            <a:br>
              <a:rPr lang="ja-JP" altLang="en-US"/>
            </a:br>
            <a:r>
              <a:rPr lang="ja-JP" altLang="en-US"/>
              <a:t>これは、</a:t>
            </a:r>
            <a:r>
              <a:rPr lang="en-US" dirty="0"/>
              <a:t>IoTDB</a:t>
            </a:r>
            <a:r>
              <a:rPr lang="ja-JP" altLang="en-US"/>
              <a:t>の </a:t>
            </a:r>
            <a:r>
              <a:rPr lang="en-US" dirty="0"/>
              <a:t>I/O</a:t>
            </a:r>
            <a:r>
              <a:rPr lang="ja-JP" altLang="en-US"/>
              <a:t>単位がチャンク（</a:t>
            </a:r>
            <a:r>
              <a:rPr lang="en-US" dirty="0"/>
              <a:t>chunk） </a:t>
            </a:r>
            <a:r>
              <a:rPr lang="ja-JP" altLang="en-US"/>
              <a:t>であり、デフォルトのチャンクサイズが </a:t>
            </a:r>
            <a:r>
              <a:rPr lang="en-US" altLang="ja-JP" dirty="0"/>
              <a:t>64</a:t>
            </a:r>
            <a:r>
              <a:rPr lang="en-US" dirty="0"/>
              <a:t>KB</a:t>
            </a:r>
            <a:r>
              <a:rPr lang="ja-JP" altLang="en-US"/>
              <a:t>以上 に設定されているためです。</a:t>
            </a:r>
            <a:endParaRPr lang="mn-MN" altLang="ja-JP" dirty="0"/>
          </a:p>
          <a:p>
            <a:br>
              <a:rPr lang="ja-JP" altLang="en-US"/>
            </a:br>
            <a:r>
              <a:rPr lang="ja-JP" altLang="en-US"/>
              <a:t>そのため、クエリで要求される時間範囲が小さくても、</a:t>
            </a:r>
            <a:r>
              <a:rPr lang="en-US" dirty="0"/>
              <a:t>IoTDB</a:t>
            </a:r>
            <a:r>
              <a:rPr lang="ja-JP" altLang="en-US"/>
              <a:t>は チャンク全体を読み込み、データページを展開する必要がある ため、</a:t>
            </a:r>
            <a:br>
              <a:rPr lang="ja-JP" altLang="en-US"/>
            </a:br>
            <a:r>
              <a:rPr lang="ja-JP" altLang="en-US"/>
              <a:t>本来必要とされる以上のデータを読み込むことになります。</a:t>
            </a:r>
            <a:endParaRPr lang="mn-MN" altLang="ja-JP" dirty="0"/>
          </a:p>
          <a:p>
            <a:endParaRPr lang="ja-JP" altLang="en-US"/>
          </a:p>
          <a:p>
            <a:r>
              <a:rPr lang="ja-JP" altLang="en-US"/>
              <a:t>それでも、読み込むデータが多い割に クエリ遅延は許容範囲内 に収まっています。</a:t>
            </a:r>
          </a:p>
        </p:txBody>
      </p:sp>
      <p:sp>
        <p:nvSpPr>
          <p:cNvPr id="11" name="Slide Number Placeholder 10">
            <a:extLst>
              <a:ext uri="{FF2B5EF4-FFF2-40B4-BE49-F238E27FC236}">
                <a16:creationId xmlns:a16="http://schemas.microsoft.com/office/drawing/2014/main" id="{3B45E708-CF8D-0635-D8D6-4231FB5E0C6F}"/>
              </a:ext>
            </a:extLst>
          </p:cNvPr>
          <p:cNvSpPr>
            <a:spLocks noGrp="1"/>
          </p:cNvSpPr>
          <p:nvPr>
            <p:ph type="sldNum" sz="quarter" idx="12"/>
          </p:nvPr>
        </p:nvSpPr>
        <p:spPr/>
        <p:txBody>
          <a:bodyPr/>
          <a:lstStyle/>
          <a:p>
            <a:fld id="{520D4680-3C5B-EB48-BF72-7F3061D1D72A}" type="slidenum">
              <a:rPr lang="en-JP" smtClean="0"/>
              <a:t>21</a:t>
            </a:fld>
            <a:endParaRPr lang="en-JP"/>
          </a:p>
        </p:txBody>
      </p:sp>
    </p:spTree>
    <p:extLst>
      <p:ext uri="{BB962C8B-B14F-4D97-AF65-F5344CB8AC3E}">
        <p14:creationId xmlns:p14="http://schemas.microsoft.com/office/powerpoint/2010/main" val="1062354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66CFBB-A3AA-0360-FB67-A1FAE75A6B1C}"/>
              </a:ext>
            </a:extLst>
          </p:cNvPr>
          <p:cNvSpPr txBox="1"/>
          <p:nvPr/>
        </p:nvSpPr>
        <p:spPr>
          <a:xfrm>
            <a:off x="485079" y="3630602"/>
            <a:ext cx="6099716" cy="2585323"/>
          </a:xfrm>
          <a:prstGeom prst="rect">
            <a:avLst/>
          </a:prstGeom>
          <a:noFill/>
        </p:spPr>
        <p:txBody>
          <a:bodyPr wrap="square">
            <a:spAutoFit/>
          </a:bodyPr>
          <a:lstStyle/>
          <a:p>
            <a:r>
              <a:rPr lang="ja-JP" altLang="en-US"/>
              <a:t>ダウンサンプリングクエリ（</a:t>
            </a:r>
            <a:r>
              <a:rPr lang="en-US" dirty="0"/>
              <a:t>Downsampling Query）</a:t>
            </a:r>
          </a:p>
          <a:p>
            <a:r>
              <a:rPr lang="en-US" dirty="0"/>
              <a:t>IoTDB</a:t>
            </a:r>
            <a:r>
              <a:rPr lang="ja-JP" altLang="en-US"/>
              <a:t>は、ページレベル、チャンクレベル、ファイルレベルといった複数の統計情報を保持しています。</a:t>
            </a:r>
            <a:br>
              <a:rPr lang="ja-JP" altLang="en-US"/>
            </a:br>
            <a:r>
              <a:rPr lang="ja-JP" altLang="en-US"/>
              <a:t>そのため、サンプリング間隔が大きくなるにつれて、</a:t>
            </a:r>
            <a:br>
              <a:rPr lang="ja-JP" altLang="en-US"/>
            </a:br>
            <a:r>
              <a:rPr lang="ja-JP" altLang="en-US"/>
              <a:t>より上位レベルの統計情報を利用してクエリを処理できるようになります。</a:t>
            </a:r>
          </a:p>
          <a:p>
            <a:r>
              <a:rPr lang="ja-JP" altLang="en-US"/>
              <a:t>その結果、ディスクからチャンクを読み込んだり、ページをデコードしたりする必要がなくなり、</a:t>
            </a:r>
            <a:br>
              <a:rPr lang="ja-JP" altLang="en-US"/>
            </a:br>
            <a:r>
              <a:rPr lang="ja-JP" altLang="en-US"/>
              <a:t>遅延が大幅に削減されます（図</a:t>
            </a:r>
            <a:r>
              <a:rPr lang="en-US" altLang="ja-JP" dirty="0"/>
              <a:t>(</a:t>
            </a:r>
            <a:r>
              <a:rPr lang="en-US" dirty="0"/>
              <a:t>d) </a:t>
            </a:r>
            <a:r>
              <a:rPr lang="ja-JP" altLang="en-US"/>
              <a:t>参照）。</a:t>
            </a:r>
          </a:p>
        </p:txBody>
      </p:sp>
      <p:pic>
        <p:nvPicPr>
          <p:cNvPr id="6" name="Picture 5">
            <a:extLst>
              <a:ext uri="{FF2B5EF4-FFF2-40B4-BE49-F238E27FC236}">
                <a16:creationId xmlns:a16="http://schemas.microsoft.com/office/drawing/2014/main" id="{E577BA45-243F-CA91-667F-FDA0F2192FBA}"/>
              </a:ext>
            </a:extLst>
          </p:cNvPr>
          <p:cNvPicPr>
            <a:picLocks noChangeAspect="1"/>
          </p:cNvPicPr>
          <p:nvPr/>
        </p:nvPicPr>
        <p:blipFill>
          <a:blip r:embed="rId2"/>
          <a:stretch>
            <a:fillRect/>
          </a:stretch>
        </p:blipFill>
        <p:spPr>
          <a:xfrm>
            <a:off x="626636" y="760402"/>
            <a:ext cx="5283509" cy="2870200"/>
          </a:xfrm>
          <a:prstGeom prst="rect">
            <a:avLst/>
          </a:prstGeom>
        </p:spPr>
      </p:pic>
      <p:pic>
        <p:nvPicPr>
          <p:cNvPr id="7" name="Picture 6">
            <a:extLst>
              <a:ext uri="{FF2B5EF4-FFF2-40B4-BE49-F238E27FC236}">
                <a16:creationId xmlns:a16="http://schemas.microsoft.com/office/drawing/2014/main" id="{DD58C2B5-8A5D-9E3A-7A8A-C0E60B24E970}"/>
              </a:ext>
            </a:extLst>
          </p:cNvPr>
          <p:cNvPicPr>
            <a:picLocks noChangeAspect="1"/>
          </p:cNvPicPr>
          <p:nvPr/>
        </p:nvPicPr>
        <p:blipFill>
          <a:blip r:embed="rId3"/>
          <a:stretch>
            <a:fillRect/>
          </a:stretch>
        </p:blipFill>
        <p:spPr>
          <a:xfrm>
            <a:off x="937940" y="252402"/>
            <a:ext cx="4660900" cy="508000"/>
          </a:xfrm>
          <a:prstGeom prst="rect">
            <a:avLst/>
          </a:prstGeom>
        </p:spPr>
      </p:pic>
      <p:pic>
        <p:nvPicPr>
          <p:cNvPr id="8" name="Picture 7">
            <a:extLst>
              <a:ext uri="{FF2B5EF4-FFF2-40B4-BE49-F238E27FC236}">
                <a16:creationId xmlns:a16="http://schemas.microsoft.com/office/drawing/2014/main" id="{F1A8FD9E-6492-5436-11FD-3D070668B8DC}"/>
              </a:ext>
            </a:extLst>
          </p:cNvPr>
          <p:cNvPicPr>
            <a:picLocks noChangeAspect="1"/>
          </p:cNvPicPr>
          <p:nvPr/>
        </p:nvPicPr>
        <p:blipFill>
          <a:blip r:embed="rId4"/>
          <a:stretch>
            <a:fillRect/>
          </a:stretch>
        </p:blipFill>
        <p:spPr>
          <a:xfrm>
            <a:off x="7854485" y="3429000"/>
            <a:ext cx="3530600" cy="2933700"/>
          </a:xfrm>
          <a:prstGeom prst="rect">
            <a:avLst/>
          </a:prstGeom>
        </p:spPr>
      </p:pic>
      <p:sp>
        <p:nvSpPr>
          <p:cNvPr id="9" name="角丸四角形吹き出し 19">
            <a:extLst>
              <a:ext uri="{FF2B5EF4-FFF2-40B4-BE49-F238E27FC236}">
                <a16:creationId xmlns:a16="http://schemas.microsoft.com/office/drawing/2014/main" id="{0B230890-552F-E370-49B4-AD87CBDFBACB}"/>
              </a:ext>
            </a:extLst>
          </p:cNvPr>
          <p:cNvSpPr/>
          <p:nvPr/>
        </p:nvSpPr>
        <p:spPr>
          <a:xfrm>
            <a:off x="6221449" y="410803"/>
            <a:ext cx="5263376" cy="2449175"/>
          </a:xfrm>
          <a:prstGeom prst="wedgeRoundRectCallout">
            <a:avLst>
              <a:gd name="adj1" fmla="val -3607"/>
              <a:gd name="adj2" fmla="val 78801"/>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j-ea"/>
                <a:ea typeface="+mj-ea"/>
              </a:rPr>
              <a:t>図</a:t>
            </a:r>
            <a:r>
              <a:rPr lang="en-US" altLang="ja-JP" sz="2000" dirty="0">
                <a:solidFill>
                  <a:schemeClr val="tx1"/>
                </a:solidFill>
                <a:latin typeface="+mj-ea"/>
                <a:ea typeface="+mj-ea"/>
              </a:rPr>
              <a:t>(</a:t>
            </a:r>
            <a:r>
              <a:rPr lang="en-US" sz="2000" dirty="0">
                <a:solidFill>
                  <a:schemeClr val="tx1"/>
                </a:solidFill>
                <a:latin typeface="+mj-ea"/>
                <a:ea typeface="+mj-ea"/>
              </a:rPr>
              <a:t>b) </a:t>
            </a:r>
            <a:r>
              <a:rPr lang="ja-JP" altLang="en-US" sz="2000">
                <a:solidFill>
                  <a:schemeClr val="tx1"/>
                </a:solidFill>
                <a:latin typeface="+mj-ea"/>
                <a:ea typeface="+mj-ea"/>
              </a:rPr>
              <a:t>において、クエリ対象のセンサ数が少ない場合、</a:t>
            </a:r>
            <a:r>
              <a:rPr lang="en-US" sz="2000" dirty="0">
                <a:solidFill>
                  <a:schemeClr val="tx1"/>
                </a:solidFill>
                <a:latin typeface="+mj-ea"/>
                <a:ea typeface="+mj-ea"/>
              </a:rPr>
              <a:t>IoTDB</a:t>
            </a:r>
            <a:r>
              <a:rPr lang="ja-JP" altLang="en-US" sz="2000">
                <a:solidFill>
                  <a:schemeClr val="tx1"/>
                </a:solidFill>
                <a:latin typeface="+mj-ea"/>
                <a:ea typeface="+mj-ea"/>
              </a:rPr>
              <a:t>の性能向上はあまり見られません。</a:t>
            </a:r>
            <a:br>
              <a:rPr lang="ja-JP" altLang="en-US" sz="2000">
                <a:solidFill>
                  <a:schemeClr val="tx1"/>
                </a:solidFill>
                <a:latin typeface="+mj-ea"/>
                <a:ea typeface="+mj-ea"/>
              </a:rPr>
            </a:br>
            <a:r>
              <a:rPr lang="ja-JP" altLang="en-US" sz="2000">
                <a:solidFill>
                  <a:schemeClr val="tx1"/>
                </a:solidFill>
                <a:latin typeface="+mj-ea"/>
                <a:ea typeface="+mj-ea"/>
              </a:rPr>
              <a:t>これは、各時系列に対して新しいスレッドを起動する必要があるためであり、</a:t>
            </a:r>
            <a:br>
              <a:rPr lang="ja-JP" altLang="en-US" sz="2000">
                <a:solidFill>
                  <a:schemeClr val="tx1"/>
                </a:solidFill>
                <a:latin typeface="+mj-ea"/>
                <a:ea typeface="+mj-ea"/>
              </a:rPr>
            </a:br>
            <a:r>
              <a:rPr lang="ja-JP" altLang="en-US" sz="2000">
                <a:solidFill>
                  <a:schemeClr val="tx1"/>
                </a:solidFill>
                <a:latin typeface="+mj-ea"/>
                <a:ea typeface="+mj-ea"/>
              </a:rPr>
              <a:t>この手法は 多数の系列がクエリ対象となる場合に効果的 です。</a:t>
            </a:r>
          </a:p>
        </p:txBody>
      </p:sp>
      <p:sp>
        <p:nvSpPr>
          <p:cNvPr id="10" name="Slide Number Placeholder 9">
            <a:extLst>
              <a:ext uri="{FF2B5EF4-FFF2-40B4-BE49-F238E27FC236}">
                <a16:creationId xmlns:a16="http://schemas.microsoft.com/office/drawing/2014/main" id="{E08F8D74-4840-6AB5-3AAF-4292177CBDF9}"/>
              </a:ext>
            </a:extLst>
          </p:cNvPr>
          <p:cNvSpPr>
            <a:spLocks noGrp="1"/>
          </p:cNvSpPr>
          <p:nvPr>
            <p:ph type="sldNum" sz="quarter" idx="12"/>
          </p:nvPr>
        </p:nvSpPr>
        <p:spPr/>
        <p:txBody>
          <a:bodyPr/>
          <a:lstStyle/>
          <a:p>
            <a:fld id="{520D4680-3C5B-EB48-BF72-7F3061D1D72A}" type="slidenum">
              <a:rPr lang="en-JP" smtClean="0"/>
              <a:t>22</a:t>
            </a:fld>
            <a:endParaRPr lang="en-JP"/>
          </a:p>
        </p:txBody>
      </p:sp>
    </p:spTree>
    <p:extLst>
      <p:ext uri="{BB962C8B-B14F-4D97-AF65-F5344CB8AC3E}">
        <p14:creationId xmlns:p14="http://schemas.microsoft.com/office/powerpoint/2010/main" val="3196312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2ED6AE-A5E2-E404-7F85-2E429F7F34ED}"/>
              </a:ext>
            </a:extLst>
          </p:cNvPr>
          <p:cNvPicPr>
            <a:picLocks noChangeAspect="1"/>
          </p:cNvPicPr>
          <p:nvPr/>
        </p:nvPicPr>
        <p:blipFill>
          <a:blip r:embed="rId2"/>
          <a:stretch>
            <a:fillRect/>
          </a:stretch>
        </p:blipFill>
        <p:spPr>
          <a:xfrm>
            <a:off x="156426" y="2398905"/>
            <a:ext cx="6883400" cy="3086100"/>
          </a:xfrm>
          <a:prstGeom prst="rect">
            <a:avLst/>
          </a:prstGeom>
        </p:spPr>
      </p:pic>
      <p:sp>
        <p:nvSpPr>
          <p:cNvPr id="6" name="TextBox 5">
            <a:extLst>
              <a:ext uri="{FF2B5EF4-FFF2-40B4-BE49-F238E27FC236}">
                <a16:creationId xmlns:a16="http://schemas.microsoft.com/office/drawing/2014/main" id="{1F6CA554-5CB8-832F-BA52-2DEA594C4935}"/>
              </a:ext>
            </a:extLst>
          </p:cNvPr>
          <p:cNvSpPr txBox="1"/>
          <p:nvPr/>
        </p:nvSpPr>
        <p:spPr>
          <a:xfrm>
            <a:off x="416002" y="498231"/>
            <a:ext cx="6099716" cy="1477328"/>
          </a:xfrm>
          <a:prstGeom prst="rect">
            <a:avLst/>
          </a:prstGeom>
          <a:noFill/>
        </p:spPr>
        <p:txBody>
          <a:bodyPr wrap="square">
            <a:spAutoFit/>
          </a:bodyPr>
          <a:lstStyle/>
          <a:p>
            <a:r>
              <a:rPr lang="en-JP" dirty="0">
                <a:latin typeface="Yu Mincho" panose="02020400000000000000" pitchFamily="18" charset="-128"/>
                <a:ea typeface="Yu Mincho" panose="02020400000000000000" pitchFamily="18" charset="-128"/>
              </a:rPr>
              <a:t> 機械学習クエリ（Machine Learning Queries）</a:t>
            </a:r>
            <a:endParaRPr lang="mn-MN" dirty="0">
              <a:latin typeface="Yu Mincho" panose="02020400000000000000" pitchFamily="18" charset="-128"/>
              <a:ea typeface="Yu Mincho" panose="02020400000000000000" pitchFamily="18" charset="-128"/>
            </a:endParaRPr>
          </a:p>
          <a:p>
            <a:endParaRPr lang="en-JP" dirty="0">
              <a:latin typeface="Yu Mincho" panose="02020400000000000000" pitchFamily="18" charset="-128"/>
              <a:ea typeface="Yu Mincho" panose="02020400000000000000" pitchFamily="18" charset="-128"/>
            </a:endParaRPr>
          </a:p>
          <a:p>
            <a:pPr algn="just"/>
            <a:r>
              <a:rPr lang="en-JP" dirty="0">
                <a:latin typeface="Yu Mincho" panose="02020400000000000000" pitchFamily="18" charset="-128"/>
                <a:ea typeface="Yu Mincho" panose="02020400000000000000" pitchFamily="18" charset="-128"/>
              </a:rPr>
              <a:t>ARモデルに加えて、ARIMAモデルに対するクエリも評価し、IoTDBがさまざまな種類の機械学習クエリ最適化をサポートできることを示します。</a:t>
            </a:r>
          </a:p>
        </p:txBody>
      </p:sp>
      <p:sp>
        <p:nvSpPr>
          <p:cNvPr id="8" name="TextBox 7">
            <a:extLst>
              <a:ext uri="{FF2B5EF4-FFF2-40B4-BE49-F238E27FC236}">
                <a16:creationId xmlns:a16="http://schemas.microsoft.com/office/drawing/2014/main" id="{B7C9772E-B989-B915-ECEB-101CF09FABB2}"/>
              </a:ext>
            </a:extLst>
          </p:cNvPr>
          <p:cNvSpPr txBox="1"/>
          <p:nvPr/>
        </p:nvSpPr>
        <p:spPr>
          <a:xfrm>
            <a:off x="7627433" y="790592"/>
            <a:ext cx="4408141" cy="2862322"/>
          </a:xfrm>
          <a:prstGeom prst="rect">
            <a:avLst/>
          </a:prstGeom>
          <a:noFill/>
        </p:spPr>
        <p:txBody>
          <a:bodyPr wrap="square">
            <a:spAutoFit/>
          </a:bodyPr>
          <a:lstStyle/>
          <a:p>
            <a:r>
              <a:rPr lang="ja-JP" altLang="en-US"/>
              <a:t>実験結果によると：</a:t>
            </a:r>
            <a:endParaRPr lang="mn-MN" altLang="ja-JP" dirty="0"/>
          </a:p>
          <a:p>
            <a:endParaRPr lang="ja-JP" altLang="en-US"/>
          </a:p>
          <a:p>
            <a:pPr>
              <a:buFont typeface="Arial" panose="020B0604020202020204" pitchFamily="34" charset="0"/>
              <a:buChar char="•"/>
            </a:pPr>
            <a:r>
              <a:rPr lang="ja-JP" altLang="en-US"/>
              <a:t>書き込みレイテンシは</a:t>
            </a:r>
            <a:r>
              <a:rPr lang="en-US" altLang="ja-JP" dirty="0"/>
              <a:t>10%</a:t>
            </a:r>
            <a:r>
              <a:rPr lang="ja-JP" altLang="en-US"/>
              <a:t>未満の増加にとどまり、</a:t>
            </a:r>
          </a:p>
          <a:p>
            <a:pPr>
              <a:buFont typeface="Arial" panose="020B0604020202020204" pitchFamily="34" charset="0"/>
              <a:buChar char="•"/>
            </a:pPr>
            <a:r>
              <a:rPr lang="ja-JP" altLang="en-US"/>
              <a:t>追加のストレージコストはほとんどありません。</a:t>
            </a:r>
          </a:p>
          <a:p>
            <a:pPr>
              <a:buFont typeface="Arial" panose="020B0604020202020204" pitchFamily="34" charset="0"/>
              <a:buChar char="•"/>
            </a:pPr>
            <a:r>
              <a:rPr lang="ja-JP" altLang="en-US"/>
              <a:t>一方で、高度な</a:t>
            </a:r>
            <a:r>
              <a:rPr lang="en-US" dirty="0"/>
              <a:t>LSM-AR</a:t>
            </a:r>
            <a:r>
              <a:rPr lang="ja-JP" altLang="en-US"/>
              <a:t>および</a:t>
            </a:r>
            <a:r>
              <a:rPr lang="en-US" dirty="0"/>
              <a:t>LSM-ARIMA</a:t>
            </a:r>
            <a:r>
              <a:rPr lang="ja-JP" altLang="en-US"/>
              <a:t>のクエリレイテンシは、</a:t>
            </a:r>
            <a:br>
              <a:rPr lang="ja-JP" altLang="en-US"/>
            </a:br>
            <a:r>
              <a:rPr lang="ja-JP" altLang="en-US"/>
              <a:t>従来の</a:t>
            </a:r>
            <a:r>
              <a:rPr lang="en-US" dirty="0"/>
              <a:t>AR</a:t>
            </a:r>
            <a:r>
              <a:rPr lang="ja-JP" altLang="en-US"/>
              <a:t>および</a:t>
            </a:r>
            <a:r>
              <a:rPr lang="en-US" dirty="0"/>
              <a:t>ARIMA</a:t>
            </a:r>
            <a:r>
              <a:rPr lang="ja-JP" altLang="en-US"/>
              <a:t>クエリと比較して、約</a:t>
            </a:r>
            <a:r>
              <a:rPr lang="en-US" altLang="ja-JP" dirty="0"/>
              <a:t>10</a:t>
            </a:r>
            <a:r>
              <a:rPr lang="ja-JP" altLang="en-US"/>
              <a:t>分の</a:t>
            </a:r>
            <a:r>
              <a:rPr lang="en-US" altLang="ja-JP" dirty="0"/>
              <a:t>1</a:t>
            </a:r>
            <a:r>
              <a:rPr lang="ja-JP" altLang="en-US"/>
              <a:t>に短縮されました。</a:t>
            </a:r>
          </a:p>
        </p:txBody>
      </p:sp>
      <p:sp>
        <p:nvSpPr>
          <p:cNvPr id="9" name="吹き出し: 角を丸めた四角形 1093">
            <a:extLst>
              <a:ext uri="{FF2B5EF4-FFF2-40B4-BE49-F238E27FC236}">
                <a16:creationId xmlns:a16="http://schemas.microsoft.com/office/drawing/2014/main" id="{974530C0-BAF6-A39F-6DC7-935433386AE2}"/>
              </a:ext>
            </a:extLst>
          </p:cNvPr>
          <p:cNvSpPr/>
          <p:nvPr/>
        </p:nvSpPr>
        <p:spPr>
          <a:xfrm>
            <a:off x="6381904" y="4749814"/>
            <a:ext cx="4724711" cy="1849523"/>
          </a:xfrm>
          <a:prstGeom prst="wedgeRoundRectCallout">
            <a:avLst>
              <a:gd name="adj1" fmla="val 20957"/>
              <a:gd name="adj2" fmla="val -99729"/>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図</a:t>
            </a:r>
            <a:r>
              <a:rPr lang="en-US" altLang="ja-JP" dirty="0">
                <a:solidFill>
                  <a:schemeClr val="tx1"/>
                </a:solidFill>
              </a:rPr>
              <a:t>(</a:t>
            </a:r>
            <a:r>
              <a:rPr lang="en-US" dirty="0">
                <a:solidFill>
                  <a:schemeClr val="tx1"/>
                </a:solidFill>
              </a:rPr>
              <a:t>b)</a:t>
            </a:r>
            <a:r>
              <a:rPr lang="ja-JP" altLang="en-US">
                <a:solidFill>
                  <a:schemeClr val="tx1"/>
                </a:solidFill>
              </a:rPr>
              <a:t>においてデータポイント数がおよそ</a:t>
            </a:r>
            <a:r>
              <a:rPr lang="en-US" altLang="ja-JP" dirty="0">
                <a:solidFill>
                  <a:schemeClr val="tx1"/>
                </a:solidFill>
              </a:rPr>
              <a:t>0.9×10⁶</a:t>
            </a:r>
            <a:r>
              <a:rPr lang="ja-JP" altLang="en-US">
                <a:solidFill>
                  <a:schemeClr val="tx1"/>
                </a:solidFill>
              </a:rPr>
              <a:t>付近では、</a:t>
            </a:r>
            <a:br>
              <a:rPr lang="ja-JP" altLang="en-US">
                <a:solidFill>
                  <a:schemeClr val="tx1"/>
                </a:solidFill>
              </a:rPr>
            </a:br>
            <a:r>
              <a:rPr lang="ja-JP" altLang="en-US">
                <a:solidFill>
                  <a:schemeClr val="tx1"/>
                </a:solidFill>
              </a:rPr>
              <a:t>ストレージの増加が緩やかになっていることがわかります。</a:t>
            </a:r>
            <a:br>
              <a:rPr lang="ja-JP" altLang="en-US">
                <a:solidFill>
                  <a:schemeClr val="tx1"/>
                </a:solidFill>
              </a:rPr>
            </a:br>
            <a:r>
              <a:rPr lang="ja-JP" altLang="en-US">
                <a:solidFill>
                  <a:schemeClr val="tx1"/>
                </a:solidFill>
              </a:rPr>
              <a:t>これは、この範囲のデータに重複が多く含まれているためであり、</a:t>
            </a:r>
            <a:br>
              <a:rPr lang="ja-JP" altLang="en-US">
                <a:solidFill>
                  <a:schemeClr val="tx1"/>
                </a:solidFill>
              </a:rPr>
            </a:br>
            <a:r>
              <a:rPr lang="ja-JP" altLang="en-US">
                <a:solidFill>
                  <a:schemeClr val="tx1"/>
                </a:solidFill>
              </a:rPr>
              <a:t>より高い圧縮効率が得られた結果です。</a:t>
            </a:r>
            <a:endParaRPr kumimoji="1" lang="ja-JP" altLang="en-US">
              <a:solidFill>
                <a:schemeClr val="tx1"/>
              </a:solidFill>
            </a:endParaRPr>
          </a:p>
        </p:txBody>
      </p:sp>
      <p:sp>
        <p:nvSpPr>
          <p:cNvPr id="10" name="Slide Number Placeholder 9">
            <a:extLst>
              <a:ext uri="{FF2B5EF4-FFF2-40B4-BE49-F238E27FC236}">
                <a16:creationId xmlns:a16="http://schemas.microsoft.com/office/drawing/2014/main" id="{F06328FD-9D3C-1952-3FA2-8E41869D23B8}"/>
              </a:ext>
            </a:extLst>
          </p:cNvPr>
          <p:cNvSpPr>
            <a:spLocks noGrp="1"/>
          </p:cNvSpPr>
          <p:nvPr>
            <p:ph type="sldNum" sz="quarter" idx="12"/>
          </p:nvPr>
        </p:nvSpPr>
        <p:spPr/>
        <p:txBody>
          <a:bodyPr/>
          <a:lstStyle/>
          <a:p>
            <a:fld id="{520D4680-3C5B-EB48-BF72-7F3061D1D72A}" type="slidenum">
              <a:rPr lang="en-JP" smtClean="0"/>
              <a:t>23</a:t>
            </a:fld>
            <a:endParaRPr lang="en-JP"/>
          </a:p>
        </p:txBody>
      </p:sp>
    </p:spTree>
    <p:extLst>
      <p:ext uri="{BB962C8B-B14F-4D97-AF65-F5344CB8AC3E}">
        <p14:creationId xmlns:p14="http://schemas.microsoft.com/office/powerpoint/2010/main" val="114218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041397-7DE8-498F-538A-081A506C7E4F}"/>
              </a:ext>
            </a:extLst>
          </p:cNvPr>
          <p:cNvSpPr txBox="1"/>
          <p:nvPr/>
        </p:nvSpPr>
        <p:spPr>
          <a:xfrm>
            <a:off x="317810" y="356168"/>
            <a:ext cx="6099716" cy="369332"/>
          </a:xfrm>
          <a:prstGeom prst="rect">
            <a:avLst/>
          </a:prstGeom>
          <a:noFill/>
        </p:spPr>
        <p:txBody>
          <a:bodyPr wrap="square">
            <a:spAutoFit/>
          </a:bodyPr>
          <a:lstStyle/>
          <a:p>
            <a:r>
              <a:rPr lang="en-US" dirty="0"/>
              <a:t>Advanced TsFile Synchronization</a:t>
            </a:r>
            <a:endParaRPr lang="en-JP" dirty="0"/>
          </a:p>
        </p:txBody>
      </p:sp>
      <p:pic>
        <p:nvPicPr>
          <p:cNvPr id="6" name="Picture 5">
            <a:extLst>
              <a:ext uri="{FF2B5EF4-FFF2-40B4-BE49-F238E27FC236}">
                <a16:creationId xmlns:a16="http://schemas.microsoft.com/office/drawing/2014/main" id="{DFDCC9EB-31EF-3CF9-C21A-E1E4E0D50AB3}"/>
              </a:ext>
            </a:extLst>
          </p:cNvPr>
          <p:cNvPicPr>
            <a:picLocks noChangeAspect="1"/>
          </p:cNvPicPr>
          <p:nvPr/>
        </p:nvPicPr>
        <p:blipFill>
          <a:blip r:embed="rId2"/>
          <a:stretch>
            <a:fillRect/>
          </a:stretch>
        </p:blipFill>
        <p:spPr>
          <a:xfrm>
            <a:off x="317810" y="1268761"/>
            <a:ext cx="6769100" cy="2692400"/>
          </a:xfrm>
          <a:prstGeom prst="rect">
            <a:avLst/>
          </a:prstGeom>
        </p:spPr>
      </p:pic>
      <p:sp>
        <p:nvSpPr>
          <p:cNvPr id="8" name="TextBox 7">
            <a:extLst>
              <a:ext uri="{FF2B5EF4-FFF2-40B4-BE49-F238E27FC236}">
                <a16:creationId xmlns:a16="http://schemas.microsoft.com/office/drawing/2014/main" id="{B6962562-3491-8B7A-187C-4B4F52D7FD0A}"/>
              </a:ext>
            </a:extLst>
          </p:cNvPr>
          <p:cNvSpPr txBox="1"/>
          <p:nvPr/>
        </p:nvSpPr>
        <p:spPr>
          <a:xfrm>
            <a:off x="786162" y="4193508"/>
            <a:ext cx="6099716" cy="2031325"/>
          </a:xfrm>
          <a:prstGeom prst="rect">
            <a:avLst/>
          </a:prstGeom>
          <a:noFill/>
        </p:spPr>
        <p:txBody>
          <a:bodyPr wrap="square">
            <a:spAutoFit/>
          </a:bodyPr>
          <a:lstStyle/>
          <a:p>
            <a:r>
              <a:rPr lang="ja-JP" altLang="en-US"/>
              <a:t>図</a:t>
            </a:r>
            <a:r>
              <a:rPr lang="en-US" altLang="ja-JP" dirty="0"/>
              <a:t>(</a:t>
            </a:r>
            <a:r>
              <a:rPr lang="en-US" dirty="0"/>
              <a:t>a)</a:t>
            </a:r>
            <a:r>
              <a:rPr lang="ja-JP" altLang="en-US"/>
              <a:t>に示されているように、細粒度のチャンクベースの</a:t>
            </a:r>
            <a:r>
              <a:rPr lang="en-US" dirty="0"/>
              <a:t>TsFile</a:t>
            </a:r>
            <a:r>
              <a:rPr lang="ja-JP" altLang="en-US"/>
              <a:t>同期方式は、</a:t>
            </a:r>
            <a:br>
              <a:rPr lang="ja-JP" altLang="en-US"/>
            </a:br>
            <a:r>
              <a:rPr lang="ja-JP" altLang="en-US"/>
              <a:t>ファイルベースの転送を行う従来手法と比較して、最大で</a:t>
            </a:r>
            <a:r>
              <a:rPr lang="en-US" altLang="ja-JP" dirty="0"/>
              <a:t>10</a:t>
            </a:r>
            <a:r>
              <a:rPr lang="ja-JP" altLang="en-US"/>
              <a:t>倍の時間短縮を実現しています。</a:t>
            </a:r>
          </a:p>
          <a:p>
            <a:r>
              <a:rPr lang="ja-JP" altLang="en-US"/>
              <a:t>インデックスのスキップ、チャンクのグルーピングおよび圧縮によって帯域幅の使用が削減され、同期時間が大幅に短縮されました。</a:t>
            </a:r>
          </a:p>
        </p:txBody>
      </p:sp>
      <p:sp>
        <p:nvSpPr>
          <p:cNvPr id="10" name="TextBox 9">
            <a:extLst>
              <a:ext uri="{FF2B5EF4-FFF2-40B4-BE49-F238E27FC236}">
                <a16:creationId xmlns:a16="http://schemas.microsoft.com/office/drawing/2014/main" id="{81529D62-C978-68F2-8B71-7AB9D1E1B805}"/>
              </a:ext>
            </a:extLst>
          </p:cNvPr>
          <p:cNvSpPr txBox="1"/>
          <p:nvPr/>
        </p:nvSpPr>
        <p:spPr>
          <a:xfrm>
            <a:off x="7370957" y="1580801"/>
            <a:ext cx="3930804" cy="2585323"/>
          </a:xfrm>
          <a:prstGeom prst="rect">
            <a:avLst/>
          </a:prstGeom>
          <a:noFill/>
        </p:spPr>
        <p:txBody>
          <a:bodyPr wrap="square">
            <a:spAutoFit/>
          </a:bodyPr>
          <a:lstStyle/>
          <a:p>
            <a:r>
              <a:rPr lang="ja-JP" altLang="en-US"/>
              <a:t>チャンクベースの</a:t>
            </a:r>
            <a:r>
              <a:rPr lang="en-US" dirty="0"/>
              <a:t>TsFile</a:t>
            </a:r>
            <a:r>
              <a:rPr lang="ja-JP" altLang="en-US"/>
              <a:t>同期は、図</a:t>
            </a:r>
            <a:r>
              <a:rPr lang="en-US" altLang="ja-JP" dirty="0"/>
              <a:t>(</a:t>
            </a:r>
            <a:r>
              <a:rPr lang="en-US" dirty="0"/>
              <a:t>b)</a:t>
            </a:r>
            <a:r>
              <a:rPr lang="ja-JP" altLang="en-US"/>
              <a:t>に示すように、</a:t>
            </a:r>
            <a:br>
              <a:rPr lang="ja-JP" altLang="en-US"/>
            </a:br>
            <a:r>
              <a:rPr lang="ja-JP" altLang="en-US"/>
              <a:t>クエリ性能を約</a:t>
            </a:r>
            <a:r>
              <a:rPr lang="en-US" altLang="ja-JP" dirty="0"/>
              <a:t>30%</a:t>
            </a:r>
            <a:r>
              <a:rPr lang="ja-JP" altLang="en-US"/>
              <a:t>向上させる結果も得られました。</a:t>
            </a:r>
          </a:p>
          <a:p>
            <a:r>
              <a:rPr lang="ja-JP" altLang="en-US"/>
              <a:t>この利点は、</a:t>
            </a:r>
            <a:r>
              <a:rPr lang="en-US" dirty="0"/>
              <a:t>TsFile</a:t>
            </a:r>
            <a:r>
              <a:rPr lang="ja-JP" altLang="en-US"/>
              <a:t>同期中に同一の時系列チャンクを再構成することで</a:t>
            </a:r>
            <a:br>
              <a:rPr lang="ja-JP" altLang="en-US"/>
            </a:br>
            <a:r>
              <a:rPr lang="ja-JP" altLang="en-US"/>
              <a:t>データ局所性（</a:t>
            </a:r>
            <a:r>
              <a:rPr lang="en-US" dirty="0"/>
              <a:t>data locality）</a:t>
            </a:r>
            <a:r>
              <a:rPr lang="ja-JP" altLang="en-US"/>
              <a:t>が向上することによって生まれる副次的な効果です</a:t>
            </a:r>
          </a:p>
        </p:txBody>
      </p:sp>
      <p:sp>
        <p:nvSpPr>
          <p:cNvPr id="11" name="四角形: 角を丸くする 7">
            <a:extLst>
              <a:ext uri="{FF2B5EF4-FFF2-40B4-BE49-F238E27FC236}">
                <a16:creationId xmlns:a16="http://schemas.microsoft.com/office/drawing/2014/main" id="{1CFE99F8-3FE6-C9DF-B314-5899025B8EDF}"/>
              </a:ext>
            </a:extLst>
          </p:cNvPr>
          <p:cNvSpPr/>
          <p:nvPr/>
        </p:nvSpPr>
        <p:spPr>
          <a:xfrm>
            <a:off x="7411730" y="1118548"/>
            <a:ext cx="3849257" cy="3716667"/>
          </a:xfrm>
          <a:prstGeom prst="roundRect">
            <a:avLst/>
          </a:prstGeom>
          <a:noFill/>
          <a:ln w="38100">
            <a:solidFill>
              <a:srgbClr val="0000FF"/>
            </a:solidFill>
          </a:ln>
        </p:spPr>
        <p:style>
          <a:lnRef idx="2">
            <a:schemeClr val="accent6"/>
          </a:lnRef>
          <a:fillRef idx="1">
            <a:schemeClr val="lt1"/>
          </a:fillRef>
          <a:effectRef idx="0">
            <a:schemeClr val="accent6"/>
          </a:effectRef>
          <a:fontRef idx="minor">
            <a:schemeClr val="dk1"/>
          </a:fontRef>
        </p:style>
        <p:txBody>
          <a:bodyPr rtlCol="0" anchor="t"/>
          <a:lstStyle/>
          <a:p>
            <a:pPr marL="571500" lvl="1" indent="0">
              <a:buNone/>
            </a:pPr>
            <a:endParaRPr lang="en-US" altLang="ja-JP" sz="2000" dirty="0"/>
          </a:p>
        </p:txBody>
      </p:sp>
      <p:sp>
        <p:nvSpPr>
          <p:cNvPr id="12" name="Slide Number Placeholder 11">
            <a:extLst>
              <a:ext uri="{FF2B5EF4-FFF2-40B4-BE49-F238E27FC236}">
                <a16:creationId xmlns:a16="http://schemas.microsoft.com/office/drawing/2014/main" id="{CD4EC555-7724-2F9B-4C31-EB40319E3BEE}"/>
              </a:ext>
            </a:extLst>
          </p:cNvPr>
          <p:cNvSpPr>
            <a:spLocks noGrp="1"/>
          </p:cNvSpPr>
          <p:nvPr>
            <p:ph type="sldNum" sz="quarter" idx="12"/>
          </p:nvPr>
        </p:nvSpPr>
        <p:spPr/>
        <p:txBody>
          <a:bodyPr/>
          <a:lstStyle/>
          <a:p>
            <a:fld id="{520D4680-3C5B-EB48-BF72-7F3061D1D72A}" type="slidenum">
              <a:rPr lang="en-JP" smtClean="0"/>
              <a:t>24</a:t>
            </a:fld>
            <a:endParaRPr lang="en-JP"/>
          </a:p>
        </p:txBody>
      </p:sp>
    </p:spTree>
    <p:extLst>
      <p:ext uri="{BB962C8B-B14F-4D97-AF65-F5344CB8AC3E}">
        <p14:creationId xmlns:p14="http://schemas.microsoft.com/office/powerpoint/2010/main" val="632355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C307D42-641A-C2FF-52D3-504025C332B2}"/>
              </a:ext>
            </a:extLst>
          </p:cNvPr>
          <p:cNvSpPr txBox="1"/>
          <p:nvPr/>
        </p:nvSpPr>
        <p:spPr>
          <a:xfrm>
            <a:off x="395870" y="634949"/>
            <a:ext cx="6099716" cy="369332"/>
          </a:xfrm>
          <a:prstGeom prst="rect">
            <a:avLst/>
          </a:prstGeom>
          <a:noFill/>
        </p:spPr>
        <p:txBody>
          <a:bodyPr wrap="square">
            <a:spAutoFit/>
          </a:bodyPr>
          <a:lstStyle/>
          <a:p>
            <a:r>
              <a:rPr lang="en-JP" b="1" dirty="0"/>
              <a:t>File storage</a:t>
            </a:r>
            <a:r>
              <a:rPr lang="ja-JP" altLang="en-US" b="1"/>
              <a:t>と</a:t>
            </a:r>
            <a:r>
              <a:rPr lang="en-US" b="1" dirty="0"/>
              <a:t>IoT</a:t>
            </a:r>
            <a:r>
              <a:rPr lang="ja-JP" altLang="en-US" b="1"/>
              <a:t>に適した</a:t>
            </a:r>
            <a:r>
              <a:rPr lang="en-US" altLang="ja-JP" b="1" dirty="0"/>
              <a:t>format</a:t>
            </a:r>
            <a:endParaRPr lang="en-JP" b="1" dirty="0"/>
          </a:p>
        </p:txBody>
      </p:sp>
      <p:sp>
        <p:nvSpPr>
          <p:cNvPr id="15" name="Rectangle 14">
            <a:extLst>
              <a:ext uri="{FF2B5EF4-FFF2-40B4-BE49-F238E27FC236}">
                <a16:creationId xmlns:a16="http://schemas.microsoft.com/office/drawing/2014/main" id="{9470363B-7A3B-733F-04E2-B9AE3A12F54B}"/>
              </a:ext>
            </a:extLst>
          </p:cNvPr>
          <p:cNvSpPr/>
          <p:nvPr/>
        </p:nvSpPr>
        <p:spPr>
          <a:xfrm>
            <a:off x="245327" y="1349968"/>
            <a:ext cx="6250259" cy="158347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ja-JP" dirty="0"/>
              <a:t>big data</a:t>
            </a:r>
            <a:r>
              <a:rPr lang="ja-JP" altLang="en-US"/>
              <a:t>向けのフォーマットは</a:t>
            </a:r>
            <a:r>
              <a:rPr lang="en-US" dirty="0"/>
              <a:t>IoT</a:t>
            </a:r>
            <a:r>
              <a:rPr lang="ja-JP" altLang="en-US"/>
              <a:t>に不向き</a:t>
            </a:r>
          </a:p>
          <a:p>
            <a:pPr>
              <a:buFont typeface="Arial" panose="020B0604020202020204" pitchFamily="34" charset="0"/>
              <a:buChar char="•"/>
            </a:pPr>
            <a:r>
              <a:rPr lang="en-US" dirty="0"/>
              <a:t>Parquet、Avro、ORCFile</a:t>
            </a:r>
            <a:r>
              <a:rPr lang="ja-JP" altLang="en-US"/>
              <a:t>などは</a:t>
            </a:r>
            <a:r>
              <a:rPr lang="en-US" dirty="0"/>
              <a:t>IoT</a:t>
            </a:r>
            <a:r>
              <a:rPr lang="ja-JP" altLang="en-US"/>
              <a:t>向けに設計されていない</a:t>
            </a:r>
          </a:p>
          <a:p>
            <a:pPr>
              <a:buFont typeface="Arial" panose="020B0604020202020204" pitchFamily="34" charset="0"/>
              <a:buChar char="•"/>
            </a:pPr>
            <a:r>
              <a:rPr lang="en-US" dirty="0"/>
              <a:t>IoT</a:t>
            </a:r>
            <a:r>
              <a:rPr lang="ja-JP" altLang="en-US"/>
              <a:t>に特有の時系列データや動的なスキーマを考慮していない</a:t>
            </a:r>
          </a:p>
        </p:txBody>
      </p:sp>
      <p:sp>
        <p:nvSpPr>
          <p:cNvPr id="16" name="Rectangle 15">
            <a:extLst>
              <a:ext uri="{FF2B5EF4-FFF2-40B4-BE49-F238E27FC236}">
                <a16:creationId xmlns:a16="http://schemas.microsoft.com/office/drawing/2014/main" id="{ABAB73F4-47C7-5EFC-03F7-9ECDECE98A70}"/>
              </a:ext>
            </a:extLst>
          </p:cNvPr>
          <p:cNvSpPr/>
          <p:nvPr/>
        </p:nvSpPr>
        <p:spPr>
          <a:xfrm>
            <a:off x="2471853" y="3279129"/>
            <a:ext cx="7248293" cy="158347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TsFile</a:t>
            </a:r>
            <a:r>
              <a:rPr lang="ja-JP" altLang="en-US"/>
              <a:t>の利点</a:t>
            </a:r>
          </a:p>
          <a:p>
            <a:pPr>
              <a:buFont typeface="Arial" panose="020B0604020202020204" pitchFamily="34" charset="0"/>
              <a:buChar char="•"/>
            </a:pPr>
            <a:r>
              <a:rPr lang="en-US" dirty="0"/>
              <a:t>deviceId</a:t>
            </a:r>
            <a:r>
              <a:rPr lang="ja-JP" altLang="en-US"/>
              <a:t>や</a:t>
            </a:r>
            <a:r>
              <a:rPr lang="en-US" dirty="0"/>
              <a:t>measurementId</a:t>
            </a:r>
            <a:r>
              <a:rPr lang="ja-JP" altLang="en-US"/>
              <a:t>をメタデータに保存 → 保存スペースを節約</a:t>
            </a:r>
          </a:p>
          <a:p>
            <a:pPr>
              <a:buFont typeface="Arial" panose="020B0604020202020204" pitchFamily="34" charset="0"/>
              <a:buChar char="•"/>
            </a:pPr>
            <a:r>
              <a:rPr lang="en-US" dirty="0"/>
              <a:t>seriesId</a:t>
            </a:r>
            <a:r>
              <a:rPr lang="ja-JP" altLang="en-US"/>
              <a:t>のインデックスにより高速なアクセスが可能</a:t>
            </a:r>
          </a:p>
          <a:p>
            <a:pPr>
              <a:buFont typeface="Arial" panose="020B0604020202020204" pitchFamily="34" charset="0"/>
              <a:buChar char="•"/>
            </a:pPr>
            <a:r>
              <a:rPr lang="en-US" dirty="0"/>
              <a:t>Parquet</a:t>
            </a:r>
            <a:r>
              <a:rPr lang="ja-JP" altLang="en-US"/>
              <a:t>と比較して書き込みスループットが高く、保存コストが低い</a:t>
            </a:r>
          </a:p>
        </p:txBody>
      </p:sp>
      <p:sp>
        <p:nvSpPr>
          <p:cNvPr id="17" name="Rectangle 16">
            <a:extLst>
              <a:ext uri="{FF2B5EF4-FFF2-40B4-BE49-F238E27FC236}">
                <a16:creationId xmlns:a16="http://schemas.microsoft.com/office/drawing/2014/main" id="{71F48435-EC48-DE1A-B5C7-048BFB475D94}"/>
              </a:ext>
            </a:extLst>
          </p:cNvPr>
          <p:cNvSpPr/>
          <p:nvPr/>
        </p:nvSpPr>
        <p:spPr>
          <a:xfrm>
            <a:off x="6813395" y="1349968"/>
            <a:ext cx="5252224" cy="158347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Parquet</a:t>
            </a:r>
            <a:r>
              <a:rPr lang="ja-JP" altLang="en-US"/>
              <a:t>および</a:t>
            </a:r>
            <a:r>
              <a:rPr lang="en-US" dirty="0"/>
              <a:t>ORC</a:t>
            </a:r>
            <a:r>
              <a:rPr lang="ja-JP" altLang="en-US"/>
              <a:t>の弱点</a:t>
            </a:r>
          </a:p>
          <a:p>
            <a:pPr>
              <a:buFont typeface="Arial" panose="020B0604020202020204" pitchFamily="34" charset="0"/>
              <a:buChar char="•"/>
            </a:pPr>
            <a:r>
              <a:rPr lang="en-US" dirty="0"/>
              <a:t>ID</a:t>
            </a:r>
            <a:r>
              <a:rPr lang="ja-JP" altLang="en-US"/>
              <a:t>を通常の列として保存 → 冗長なデータが発生</a:t>
            </a:r>
          </a:p>
          <a:p>
            <a:pPr>
              <a:buFont typeface="Arial" panose="020B0604020202020204" pitchFamily="34" charset="0"/>
              <a:buChar char="•"/>
            </a:pPr>
            <a:r>
              <a:rPr lang="en-US" dirty="0"/>
              <a:t>Dictionary encoding</a:t>
            </a:r>
            <a:r>
              <a:rPr lang="ja-JP" altLang="en-US"/>
              <a:t>の制限あり（</a:t>
            </a:r>
            <a:r>
              <a:rPr lang="en-US" altLang="ja-JP" dirty="0"/>
              <a:t>1</a:t>
            </a:r>
            <a:r>
              <a:rPr lang="en-US" dirty="0"/>
              <a:t>MB</a:t>
            </a:r>
            <a:r>
              <a:rPr lang="ja-JP" altLang="en-US"/>
              <a:t>まで）</a:t>
            </a:r>
          </a:p>
          <a:p>
            <a:pPr>
              <a:buFont typeface="Arial" panose="020B0604020202020204" pitchFamily="34" charset="0"/>
              <a:buChar char="•"/>
            </a:pPr>
            <a:r>
              <a:rPr lang="ja-JP" altLang="en-US"/>
              <a:t>全メタデータの読み込みが必要 → 探索時間は </a:t>
            </a:r>
            <a:r>
              <a:rPr lang="en-US" dirty="0"/>
              <a:t>O(n)</a:t>
            </a:r>
          </a:p>
        </p:txBody>
      </p:sp>
      <p:sp>
        <p:nvSpPr>
          <p:cNvPr id="18" name="Rectangle 17">
            <a:extLst>
              <a:ext uri="{FF2B5EF4-FFF2-40B4-BE49-F238E27FC236}">
                <a16:creationId xmlns:a16="http://schemas.microsoft.com/office/drawing/2014/main" id="{08447C37-C308-9BA9-3653-EEBA7BED34A7}"/>
              </a:ext>
            </a:extLst>
          </p:cNvPr>
          <p:cNvSpPr/>
          <p:nvPr/>
        </p:nvSpPr>
        <p:spPr>
          <a:xfrm>
            <a:off x="501804" y="5174166"/>
            <a:ext cx="5993782" cy="146081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TsFile</a:t>
            </a:r>
            <a:r>
              <a:rPr lang="ja-JP" altLang="en-US"/>
              <a:t>のパフォーマンス</a:t>
            </a:r>
          </a:p>
          <a:p>
            <a:pPr>
              <a:buFont typeface="Arial" panose="020B0604020202020204" pitchFamily="34" charset="0"/>
              <a:buChar char="•"/>
            </a:pPr>
            <a:r>
              <a:rPr lang="ja-JP" altLang="en-US"/>
              <a:t>ツリー構造のメタデータインデックス → 探索時間は </a:t>
            </a:r>
            <a:r>
              <a:rPr lang="en-US" dirty="0"/>
              <a:t>O(</a:t>
            </a:r>
            <a:r>
              <a:rPr lang="en-US" dirty="0" err="1"/>
              <a:t>logn</a:t>
            </a:r>
            <a:r>
              <a:rPr lang="en-US" dirty="0"/>
              <a:t>)</a:t>
            </a:r>
          </a:p>
          <a:p>
            <a:pPr>
              <a:buFont typeface="Arial" panose="020B0604020202020204" pitchFamily="34" charset="0"/>
              <a:buChar char="•"/>
            </a:pPr>
            <a:r>
              <a:rPr lang="ja-JP" altLang="en-US"/>
              <a:t>図</a:t>
            </a:r>
            <a:r>
              <a:rPr lang="en-US" altLang="ja-JP" dirty="0"/>
              <a:t>18</a:t>
            </a:r>
            <a:r>
              <a:rPr lang="ja-JP" altLang="en-US"/>
              <a:t>より → </a:t>
            </a:r>
            <a:r>
              <a:rPr lang="en-US" dirty="0"/>
              <a:t>TsFile</a:t>
            </a:r>
            <a:r>
              <a:rPr lang="ja-JP" altLang="en-US"/>
              <a:t>は最速の読み取り性能を示す</a:t>
            </a:r>
          </a:p>
        </p:txBody>
      </p:sp>
      <p:sp>
        <p:nvSpPr>
          <p:cNvPr id="19" name="Rectangle 18">
            <a:extLst>
              <a:ext uri="{FF2B5EF4-FFF2-40B4-BE49-F238E27FC236}">
                <a16:creationId xmlns:a16="http://schemas.microsoft.com/office/drawing/2014/main" id="{9D5120E7-3DD1-AF9C-6DA3-35FCE6C4F69A}"/>
              </a:ext>
            </a:extLst>
          </p:cNvPr>
          <p:cNvSpPr/>
          <p:nvPr/>
        </p:nvSpPr>
        <p:spPr>
          <a:xfrm>
            <a:off x="6824546" y="5174166"/>
            <a:ext cx="5241074" cy="146081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rPr>
              <a:t>損失圧縮技術との比較（</a:t>
            </a:r>
            <a:r>
              <a:rPr lang="en-US" dirty="0">
                <a:solidFill>
                  <a:schemeClr val="tx1"/>
                </a:solidFill>
              </a:rPr>
              <a:t>TVStore、MOST、BUFF）</a:t>
            </a:r>
          </a:p>
          <a:p>
            <a:pPr>
              <a:buFont typeface="Arial" panose="020B0604020202020204" pitchFamily="34" charset="0"/>
              <a:buChar char="•"/>
            </a:pPr>
            <a:r>
              <a:rPr lang="ja-JP" altLang="en-US">
                <a:solidFill>
                  <a:schemeClr val="tx1"/>
                </a:solidFill>
              </a:rPr>
              <a:t>上記は損失圧縮を使用</a:t>
            </a:r>
          </a:p>
          <a:p>
            <a:pPr>
              <a:buFont typeface="Arial" panose="020B0604020202020204" pitchFamily="34" charset="0"/>
              <a:buChar char="•"/>
            </a:pPr>
            <a:r>
              <a:rPr lang="en-US" dirty="0">
                <a:solidFill>
                  <a:schemeClr val="tx1"/>
                </a:solidFill>
              </a:rPr>
              <a:t>TsFile</a:t>
            </a:r>
            <a:r>
              <a:rPr lang="ja-JP" altLang="en-US">
                <a:solidFill>
                  <a:schemeClr val="tx1"/>
                </a:solidFill>
              </a:rPr>
              <a:t>はロスレス圧縮で保存コストがさらに低い</a:t>
            </a:r>
            <a:r>
              <a:rPr lang="en-US" dirty="0">
                <a:solidFill>
                  <a:schemeClr val="tx1"/>
                </a:solidFill>
              </a:rPr>
              <a:t>BUFF</a:t>
            </a:r>
            <a:r>
              <a:rPr lang="ja-JP" altLang="en-US">
                <a:solidFill>
                  <a:schemeClr val="tx1"/>
                </a:solidFill>
              </a:rPr>
              <a:t>よりも少ないストレージを実現</a:t>
            </a:r>
          </a:p>
        </p:txBody>
      </p:sp>
      <p:sp>
        <p:nvSpPr>
          <p:cNvPr id="20" name="Slide Number Placeholder 19">
            <a:extLst>
              <a:ext uri="{FF2B5EF4-FFF2-40B4-BE49-F238E27FC236}">
                <a16:creationId xmlns:a16="http://schemas.microsoft.com/office/drawing/2014/main" id="{4FC7A82A-0708-BAEA-3624-EC712F464819}"/>
              </a:ext>
            </a:extLst>
          </p:cNvPr>
          <p:cNvSpPr>
            <a:spLocks noGrp="1"/>
          </p:cNvSpPr>
          <p:nvPr>
            <p:ph type="sldNum" sz="quarter" idx="12"/>
          </p:nvPr>
        </p:nvSpPr>
        <p:spPr/>
        <p:txBody>
          <a:bodyPr/>
          <a:lstStyle/>
          <a:p>
            <a:fld id="{520D4680-3C5B-EB48-BF72-7F3061D1D72A}" type="slidenum">
              <a:rPr lang="en-JP" smtClean="0"/>
              <a:t>25</a:t>
            </a:fld>
            <a:endParaRPr lang="en-JP"/>
          </a:p>
        </p:txBody>
      </p:sp>
    </p:spTree>
    <p:extLst>
      <p:ext uri="{BB962C8B-B14F-4D97-AF65-F5344CB8AC3E}">
        <p14:creationId xmlns:p14="http://schemas.microsoft.com/office/powerpoint/2010/main" val="2549671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7CBEC6-27D3-AC9B-83EB-48C6C8656284}"/>
              </a:ext>
            </a:extLst>
          </p:cNvPr>
          <p:cNvSpPr txBox="1"/>
          <p:nvPr/>
        </p:nvSpPr>
        <p:spPr>
          <a:xfrm>
            <a:off x="395870" y="634949"/>
            <a:ext cx="6099716" cy="369332"/>
          </a:xfrm>
          <a:prstGeom prst="rect">
            <a:avLst/>
          </a:prstGeom>
          <a:noFill/>
        </p:spPr>
        <p:txBody>
          <a:bodyPr wrap="square">
            <a:spAutoFit/>
          </a:bodyPr>
          <a:lstStyle/>
          <a:p>
            <a:r>
              <a:rPr lang="en-US" b="1" dirty="0"/>
              <a:t>Time Series Database</a:t>
            </a:r>
            <a:endParaRPr lang="en-JP" b="1" dirty="0"/>
          </a:p>
        </p:txBody>
      </p:sp>
      <p:sp>
        <p:nvSpPr>
          <p:cNvPr id="5" name="Rectangle 4">
            <a:extLst>
              <a:ext uri="{FF2B5EF4-FFF2-40B4-BE49-F238E27FC236}">
                <a16:creationId xmlns:a16="http://schemas.microsoft.com/office/drawing/2014/main" id="{875DAB65-8F7C-402D-2235-68B204D34992}"/>
              </a:ext>
            </a:extLst>
          </p:cNvPr>
          <p:cNvSpPr/>
          <p:nvPr/>
        </p:nvSpPr>
        <p:spPr>
          <a:xfrm>
            <a:off x="395870" y="1461815"/>
            <a:ext cx="6250259" cy="294325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dirty="0"/>
              <a:t>IoT</a:t>
            </a:r>
            <a:r>
              <a:rPr lang="ja-JP" altLang="en-US"/>
              <a:t>に適したデータベースの選択</a:t>
            </a:r>
          </a:p>
          <a:p>
            <a:pPr>
              <a:buFont typeface="Arial" panose="020B0604020202020204" pitchFamily="34" charset="0"/>
              <a:buChar char="•"/>
            </a:pPr>
            <a:r>
              <a:rPr lang="en-US" dirty="0"/>
              <a:t>InfluxDB、TimescaleDB、KairosDB</a:t>
            </a:r>
            <a:r>
              <a:rPr lang="ja-JP" altLang="en-US"/>
              <a:t>などの実運用で使われている</a:t>
            </a:r>
            <a:r>
              <a:rPr lang="en-US" dirty="0"/>
              <a:t>DB</a:t>
            </a:r>
            <a:r>
              <a:rPr lang="ja-JP" altLang="en-US"/>
              <a:t>を中心に比較。</a:t>
            </a:r>
          </a:p>
          <a:p>
            <a:pPr>
              <a:buFont typeface="Arial" panose="020B0604020202020204" pitchFamily="34" charset="0"/>
              <a:buChar char="•"/>
            </a:pPr>
            <a:r>
              <a:rPr lang="en-US" dirty="0"/>
              <a:t>Gorilla、Beringei、ByteSeries、Monarch</a:t>
            </a:r>
            <a:r>
              <a:rPr lang="ja-JP" altLang="en-US"/>
              <a:t>などのインメモリ型は、製造業ですべての履歴データを保存するにはコストが高すぎる。</a:t>
            </a:r>
          </a:p>
          <a:p>
            <a:pPr>
              <a:buFont typeface="Arial" panose="020B0604020202020204" pitchFamily="34" charset="0"/>
              <a:buChar char="•"/>
            </a:pPr>
            <a:r>
              <a:rPr lang="en-US" dirty="0"/>
              <a:t>ModelarDB、MostDB</a:t>
            </a:r>
            <a:r>
              <a:rPr lang="ja-JP" altLang="en-US"/>
              <a:t>などのモデルベース型は精度が損なわれる </a:t>
            </a:r>
            <a:r>
              <a:rPr lang="en-US" altLang="ja-JP" dirty="0"/>
              <a:t>(</a:t>
            </a:r>
            <a:r>
              <a:rPr lang="en-US" dirty="0"/>
              <a:t>lossy)**</a:t>
            </a:r>
            <a:r>
              <a:rPr lang="ja-JP" altLang="en-US"/>
              <a:t>ため、産業用途の厳密なモニタリングには不向き。</a:t>
            </a:r>
          </a:p>
        </p:txBody>
      </p:sp>
      <p:sp>
        <p:nvSpPr>
          <p:cNvPr id="7" name="Rectangle 6">
            <a:extLst>
              <a:ext uri="{FF2B5EF4-FFF2-40B4-BE49-F238E27FC236}">
                <a16:creationId xmlns:a16="http://schemas.microsoft.com/office/drawing/2014/main" id="{1DD51054-DECB-10A8-2D54-A73F15BF7E6B}"/>
              </a:ext>
            </a:extLst>
          </p:cNvPr>
          <p:cNvSpPr/>
          <p:nvPr/>
        </p:nvSpPr>
        <p:spPr>
          <a:xfrm>
            <a:off x="6813396" y="1473637"/>
            <a:ext cx="5252224" cy="294325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InfluxDB vs IoTDB</a:t>
            </a:r>
          </a:p>
          <a:p>
            <a:pPr>
              <a:buFont typeface="Arial" panose="020B0604020202020204" pitchFamily="34" charset="0"/>
              <a:buChar char="•"/>
            </a:pPr>
            <a:r>
              <a:rPr lang="en-US" dirty="0"/>
              <a:t>InfluxDB</a:t>
            </a:r>
            <a:r>
              <a:rPr lang="ja-JP" altLang="en-US"/>
              <a:t>は</a:t>
            </a:r>
            <a:r>
              <a:rPr lang="en-US" dirty="0"/>
              <a:t>TSM-tree</a:t>
            </a:r>
            <a:r>
              <a:rPr lang="ja-JP" altLang="en-US"/>
              <a:t>を使用するが、チャンク単位の統計情報しか持たない。</a:t>
            </a:r>
          </a:p>
          <a:p>
            <a:pPr>
              <a:buFont typeface="Arial" panose="020B0604020202020204" pitchFamily="34" charset="0"/>
              <a:buChar char="•"/>
            </a:pPr>
            <a:r>
              <a:rPr lang="en-US" dirty="0"/>
              <a:t>IoTDB</a:t>
            </a:r>
            <a:r>
              <a:rPr lang="ja-JP" altLang="en-US"/>
              <a:t>は遅延データの分離技術を導入し、ファイル単位でデバイス・センサー階層の統計情報を保持 → 大規模データにおいて高速なクエリを実現。</a:t>
            </a:r>
          </a:p>
          <a:p>
            <a:endParaRPr lang="en-US" dirty="0"/>
          </a:p>
        </p:txBody>
      </p:sp>
      <p:sp>
        <p:nvSpPr>
          <p:cNvPr id="8" name="Rectangle 7">
            <a:extLst>
              <a:ext uri="{FF2B5EF4-FFF2-40B4-BE49-F238E27FC236}">
                <a16:creationId xmlns:a16="http://schemas.microsoft.com/office/drawing/2014/main" id="{63A3D467-2963-771D-8481-53AA64238C6B}"/>
              </a:ext>
            </a:extLst>
          </p:cNvPr>
          <p:cNvSpPr/>
          <p:nvPr/>
        </p:nvSpPr>
        <p:spPr>
          <a:xfrm>
            <a:off x="501804" y="5174166"/>
            <a:ext cx="5993782" cy="146081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TsFile</a:t>
            </a:r>
            <a:r>
              <a:rPr lang="ja-JP" altLang="en-US"/>
              <a:t>のパフォーマンス</a:t>
            </a:r>
          </a:p>
          <a:p>
            <a:pPr>
              <a:buFont typeface="Arial" panose="020B0604020202020204" pitchFamily="34" charset="0"/>
              <a:buChar char="•"/>
            </a:pPr>
            <a:r>
              <a:rPr lang="ja-JP" altLang="en-US"/>
              <a:t>ツリー構造のメタデータインデックス → 探索時間は </a:t>
            </a:r>
            <a:r>
              <a:rPr lang="en-US" dirty="0"/>
              <a:t>O(</a:t>
            </a:r>
            <a:r>
              <a:rPr lang="en-US" dirty="0" err="1"/>
              <a:t>logn</a:t>
            </a:r>
            <a:r>
              <a:rPr lang="en-US" dirty="0"/>
              <a:t>)</a:t>
            </a:r>
          </a:p>
          <a:p>
            <a:pPr>
              <a:buFont typeface="Arial" panose="020B0604020202020204" pitchFamily="34" charset="0"/>
              <a:buChar char="•"/>
            </a:pPr>
            <a:r>
              <a:rPr lang="ja-JP" altLang="en-US"/>
              <a:t>図</a:t>
            </a:r>
            <a:r>
              <a:rPr lang="en-US" altLang="ja-JP" dirty="0"/>
              <a:t>18</a:t>
            </a:r>
            <a:r>
              <a:rPr lang="ja-JP" altLang="en-US"/>
              <a:t>より → </a:t>
            </a:r>
            <a:r>
              <a:rPr lang="en-US" dirty="0"/>
              <a:t>TsFile</a:t>
            </a:r>
            <a:r>
              <a:rPr lang="ja-JP" altLang="en-US"/>
              <a:t>は最速の読み取り性能を示す</a:t>
            </a:r>
          </a:p>
        </p:txBody>
      </p:sp>
      <p:sp>
        <p:nvSpPr>
          <p:cNvPr id="9" name="Rectangle 8">
            <a:extLst>
              <a:ext uri="{FF2B5EF4-FFF2-40B4-BE49-F238E27FC236}">
                <a16:creationId xmlns:a16="http://schemas.microsoft.com/office/drawing/2014/main" id="{33EC2E6E-1891-02BA-35BA-685A80DC071A}"/>
              </a:ext>
            </a:extLst>
          </p:cNvPr>
          <p:cNvSpPr/>
          <p:nvPr/>
        </p:nvSpPr>
        <p:spPr>
          <a:xfrm>
            <a:off x="6824546" y="5174166"/>
            <a:ext cx="5241074" cy="146081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rPr>
              <a:t>損失圧縮技術との比較（</a:t>
            </a:r>
            <a:r>
              <a:rPr lang="en-US" dirty="0">
                <a:solidFill>
                  <a:schemeClr val="tx1"/>
                </a:solidFill>
              </a:rPr>
              <a:t>TVStore、MOST、BUFF）</a:t>
            </a:r>
          </a:p>
          <a:p>
            <a:pPr>
              <a:buFont typeface="Arial" panose="020B0604020202020204" pitchFamily="34" charset="0"/>
              <a:buChar char="•"/>
            </a:pPr>
            <a:r>
              <a:rPr lang="ja-JP" altLang="en-US">
                <a:solidFill>
                  <a:schemeClr val="tx1"/>
                </a:solidFill>
              </a:rPr>
              <a:t>上記は損失圧縮を使用</a:t>
            </a:r>
          </a:p>
          <a:p>
            <a:pPr>
              <a:buFont typeface="Arial" panose="020B0604020202020204" pitchFamily="34" charset="0"/>
              <a:buChar char="•"/>
            </a:pPr>
            <a:r>
              <a:rPr lang="en-US" dirty="0">
                <a:solidFill>
                  <a:schemeClr val="tx1"/>
                </a:solidFill>
              </a:rPr>
              <a:t>TsFile</a:t>
            </a:r>
            <a:r>
              <a:rPr lang="ja-JP" altLang="en-US">
                <a:solidFill>
                  <a:schemeClr val="tx1"/>
                </a:solidFill>
              </a:rPr>
              <a:t>はロスレス圧縮で保存コストがさらに低い</a:t>
            </a:r>
            <a:r>
              <a:rPr lang="en-US" dirty="0">
                <a:solidFill>
                  <a:schemeClr val="tx1"/>
                </a:solidFill>
              </a:rPr>
              <a:t>BUFF</a:t>
            </a:r>
            <a:r>
              <a:rPr lang="ja-JP" altLang="en-US">
                <a:solidFill>
                  <a:schemeClr val="tx1"/>
                </a:solidFill>
              </a:rPr>
              <a:t>よりも少ないストレージを実現</a:t>
            </a:r>
          </a:p>
        </p:txBody>
      </p:sp>
      <p:sp>
        <p:nvSpPr>
          <p:cNvPr id="10" name="Slide Number Placeholder 9">
            <a:extLst>
              <a:ext uri="{FF2B5EF4-FFF2-40B4-BE49-F238E27FC236}">
                <a16:creationId xmlns:a16="http://schemas.microsoft.com/office/drawing/2014/main" id="{132A0333-8115-6CF6-592B-6FF2612AAEE2}"/>
              </a:ext>
            </a:extLst>
          </p:cNvPr>
          <p:cNvSpPr>
            <a:spLocks noGrp="1"/>
          </p:cNvSpPr>
          <p:nvPr>
            <p:ph type="sldNum" sz="quarter" idx="12"/>
          </p:nvPr>
        </p:nvSpPr>
        <p:spPr/>
        <p:txBody>
          <a:bodyPr/>
          <a:lstStyle/>
          <a:p>
            <a:fld id="{520D4680-3C5B-EB48-BF72-7F3061D1D72A}" type="slidenum">
              <a:rPr lang="en-JP" smtClean="0"/>
              <a:t>26</a:t>
            </a:fld>
            <a:endParaRPr lang="en-JP"/>
          </a:p>
        </p:txBody>
      </p:sp>
    </p:spTree>
    <p:extLst>
      <p:ext uri="{BB962C8B-B14F-4D97-AF65-F5344CB8AC3E}">
        <p14:creationId xmlns:p14="http://schemas.microsoft.com/office/powerpoint/2010/main" val="105997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7223DD-3EBA-AA16-BF1B-BF59A615B5CF}"/>
              </a:ext>
            </a:extLst>
          </p:cNvPr>
          <p:cNvSpPr/>
          <p:nvPr/>
        </p:nvSpPr>
        <p:spPr>
          <a:xfrm>
            <a:off x="490652" y="836341"/>
            <a:ext cx="6601523" cy="28101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TimescaleDB</a:t>
            </a:r>
          </a:p>
          <a:p>
            <a:pPr>
              <a:buFont typeface="Arial" panose="020B0604020202020204" pitchFamily="34" charset="0"/>
              <a:buChar char="•"/>
            </a:pPr>
            <a:r>
              <a:rPr lang="en-US" dirty="0"/>
              <a:t>PostgreSQL</a:t>
            </a:r>
            <a:r>
              <a:rPr lang="ja-JP" altLang="en-US"/>
              <a:t>をベースとした拡張モジュールで、完全な</a:t>
            </a:r>
            <a:r>
              <a:rPr lang="en-US" dirty="0"/>
              <a:t>SQL</a:t>
            </a:r>
            <a:r>
              <a:rPr lang="ja-JP" altLang="en-US"/>
              <a:t>対応。</a:t>
            </a:r>
          </a:p>
          <a:p>
            <a:pPr>
              <a:buFont typeface="Arial" panose="020B0604020202020204" pitchFamily="34" charset="0"/>
              <a:buChar char="•"/>
            </a:pPr>
            <a:r>
              <a:rPr lang="ja-JP" altLang="en-US"/>
              <a:t>ただし、</a:t>
            </a:r>
            <a:r>
              <a:rPr lang="en-US" altLang="ja-JP" dirty="0"/>
              <a:t>1</a:t>
            </a:r>
            <a:r>
              <a:rPr lang="ja-JP" altLang="en-US"/>
              <a:t>テーブルあたり</a:t>
            </a:r>
            <a:r>
              <a:rPr lang="en-US" altLang="ja-JP" dirty="0"/>
              <a:t>1600</a:t>
            </a:r>
            <a:r>
              <a:rPr lang="ja-JP" altLang="en-US"/>
              <a:t>列の制限があり、多数のセンサーを持つ</a:t>
            </a:r>
            <a:r>
              <a:rPr lang="en-US" dirty="0"/>
              <a:t>IoT</a:t>
            </a:r>
            <a:r>
              <a:rPr lang="ja-JP" altLang="en-US"/>
              <a:t>環境には不十分。</a:t>
            </a:r>
          </a:p>
          <a:p>
            <a:pPr>
              <a:buFont typeface="Arial" panose="020B0604020202020204" pitchFamily="34" charset="0"/>
              <a:buChar char="•"/>
            </a:pPr>
            <a:r>
              <a:rPr lang="ja-JP" altLang="en-US"/>
              <a:t>行ベースの構造のためアライメントクエリには適しているが、クエリコストは行数に比例して増加。</a:t>
            </a:r>
          </a:p>
          <a:p>
            <a:pPr>
              <a:buFont typeface="Arial" panose="020B0604020202020204" pitchFamily="34" charset="0"/>
              <a:buChar char="•"/>
            </a:pPr>
            <a:r>
              <a:rPr lang="ja-JP" altLang="en-US"/>
              <a:t>図</a:t>
            </a:r>
            <a:r>
              <a:rPr lang="en-US" altLang="ja-JP" dirty="0"/>
              <a:t>21(</a:t>
            </a:r>
            <a:r>
              <a:rPr lang="en-US" dirty="0"/>
              <a:t>b)</a:t>
            </a:r>
            <a:r>
              <a:rPr lang="ja-JP" altLang="en-US"/>
              <a:t>では、大量のシリーズがある場合に</a:t>
            </a:r>
            <a:r>
              <a:rPr lang="en-US" altLang="ja-JP" dirty="0"/>
              <a:t>2</a:t>
            </a:r>
            <a:r>
              <a:rPr lang="ja-JP" altLang="en-US"/>
              <a:t>番目に良い性能を示す。</a:t>
            </a:r>
          </a:p>
        </p:txBody>
      </p:sp>
      <p:sp>
        <p:nvSpPr>
          <p:cNvPr id="6" name="Rectangle 5">
            <a:extLst>
              <a:ext uri="{FF2B5EF4-FFF2-40B4-BE49-F238E27FC236}">
                <a16:creationId xmlns:a16="http://schemas.microsoft.com/office/drawing/2014/main" id="{D9B5EE33-19D2-ED6E-1687-1703FA3409C8}"/>
              </a:ext>
            </a:extLst>
          </p:cNvPr>
          <p:cNvSpPr/>
          <p:nvPr/>
        </p:nvSpPr>
        <p:spPr>
          <a:xfrm>
            <a:off x="5185317" y="4081347"/>
            <a:ext cx="5854390" cy="233060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KairosDB</a:t>
            </a:r>
          </a:p>
          <a:p>
            <a:pPr>
              <a:buFont typeface="Arial" panose="020B0604020202020204" pitchFamily="34" charset="0"/>
              <a:buChar char="•"/>
            </a:pPr>
            <a:r>
              <a:rPr lang="en-US" dirty="0">
                <a:solidFill>
                  <a:schemeClr val="tx1"/>
                </a:solidFill>
              </a:rPr>
              <a:t>NoSQL</a:t>
            </a:r>
            <a:r>
              <a:rPr lang="ja-JP" altLang="en-US">
                <a:solidFill>
                  <a:schemeClr val="tx1"/>
                </a:solidFill>
              </a:rPr>
              <a:t>の</a:t>
            </a:r>
            <a:r>
              <a:rPr lang="en-US" dirty="0">
                <a:solidFill>
                  <a:schemeClr val="tx1"/>
                </a:solidFill>
              </a:rPr>
              <a:t>Cassandra</a:t>
            </a:r>
            <a:r>
              <a:rPr lang="ja-JP" altLang="en-US">
                <a:solidFill>
                  <a:schemeClr val="tx1"/>
                </a:solidFill>
              </a:rPr>
              <a:t>上で動作し、</a:t>
            </a:r>
            <a:r>
              <a:rPr lang="en-US" dirty="0">
                <a:solidFill>
                  <a:schemeClr val="tx1"/>
                </a:solidFill>
              </a:rPr>
              <a:t>REST API</a:t>
            </a:r>
            <a:r>
              <a:rPr lang="ja-JP" altLang="en-US">
                <a:solidFill>
                  <a:schemeClr val="tx1"/>
                </a:solidFill>
              </a:rPr>
              <a:t>経由で</a:t>
            </a:r>
            <a:r>
              <a:rPr lang="en-US" dirty="0">
                <a:solidFill>
                  <a:schemeClr val="tx1"/>
                </a:solidFill>
              </a:rPr>
              <a:t>JSON</a:t>
            </a:r>
            <a:r>
              <a:rPr lang="ja-JP" altLang="en-US">
                <a:solidFill>
                  <a:schemeClr val="tx1"/>
                </a:solidFill>
              </a:rPr>
              <a:t>形式のデータを送信 → 解析に時間がかかる。</a:t>
            </a:r>
          </a:p>
          <a:p>
            <a:pPr>
              <a:buFont typeface="Arial" panose="020B0604020202020204" pitchFamily="34" charset="0"/>
              <a:buChar char="•"/>
            </a:pPr>
            <a:r>
              <a:rPr lang="en-US" dirty="0">
                <a:solidFill>
                  <a:schemeClr val="tx1"/>
                </a:solidFill>
              </a:rPr>
              <a:t>IoTDB</a:t>
            </a:r>
            <a:r>
              <a:rPr lang="ja-JP" altLang="en-US">
                <a:solidFill>
                  <a:schemeClr val="tx1"/>
                </a:solidFill>
              </a:rPr>
              <a:t>は</a:t>
            </a:r>
            <a:r>
              <a:rPr lang="en-US" dirty="0">
                <a:solidFill>
                  <a:schemeClr val="tx1"/>
                </a:solidFill>
              </a:rPr>
              <a:t>insertTablet()</a:t>
            </a:r>
            <a:r>
              <a:rPr lang="ja-JP" altLang="en-US">
                <a:solidFill>
                  <a:schemeClr val="tx1"/>
                </a:solidFill>
              </a:rPr>
              <a:t>を用いて書き込み効率を向上。</a:t>
            </a:r>
          </a:p>
          <a:p>
            <a:pPr>
              <a:buFont typeface="Arial" panose="020B0604020202020204" pitchFamily="34" charset="0"/>
              <a:buChar char="•"/>
            </a:pPr>
            <a:r>
              <a:rPr lang="ja-JP" altLang="en-US">
                <a:solidFill>
                  <a:schemeClr val="tx1"/>
                </a:solidFill>
              </a:rPr>
              <a:t>図</a:t>
            </a:r>
            <a:r>
              <a:rPr lang="en-US" altLang="ja-JP" dirty="0">
                <a:solidFill>
                  <a:schemeClr val="tx1"/>
                </a:solidFill>
              </a:rPr>
              <a:t>20</a:t>
            </a:r>
            <a:r>
              <a:rPr lang="ja-JP" altLang="en-US">
                <a:solidFill>
                  <a:schemeClr val="tx1"/>
                </a:solidFill>
              </a:rPr>
              <a:t>より、</a:t>
            </a:r>
            <a:r>
              <a:rPr lang="en-US" dirty="0">
                <a:solidFill>
                  <a:schemeClr val="tx1"/>
                </a:solidFill>
              </a:rPr>
              <a:t>IoTDB</a:t>
            </a:r>
            <a:r>
              <a:rPr lang="ja-JP" altLang="en-US">
                <a:solidFill>
                  <a:schemeClr val="tx1"/>
                </a:solidFill>
              </a:rPr>
              <a:t>は</a:t>
            </a:r>
            <a:r>
              <a:rPr lang="en-US" dirty="0">
                <a:solidFill>
                  <a:schemeClr val="tx1"/>
                </a:solidFill>
              </a:rPr>
              <a:t>KairosDB</a:t>
            </a:r>
            <a:r>
              <a:rPr lang="ja-JP" altLang="en-US">
                <a:solidFill>
                  <a:schemeClr val="tx1"/>
                </a:solidFill>
              </a:rPr>
              <a:t>よりも優れた書き込み性能を示す。</a:t>
            </a:r>
          </a:p>
          <a:p>
            <a:pPr>
              <a:buFont typeface="Arial" panose="020B0604020202020204" pitchFamily="34" charset="0"/>
              <a:buChar char="•"/>
            </a:pPr>
            <a:r>
              <a:rPr lang="ja-JP" altLang="en-US">
                <a:solidFill>
                  <a:schemeClr val="tx1"/>
                </a:solidFill>
              </a:rPr>
              <a:t>また、</a:t>
            </a:r>
            <a:r>
              <a:rPr lang="en-US" dirty="0">
                <a:solidFill>
                  <a:schemeClr val="tx1"/>
                </a:solidFill>
              </a:rPr>
              <a:t>KairosDB</a:t>
            </a:r>
            <a:r>
              <a:rPr lang="ja-JP" altLang="en-US">
                <a:solidFill>
                  <a:schemeClr val="tx1"/>
                </a:solidFill>
              </a:rPr>
              <a:t>は書き込みを非同期で処理するため、データ損失のリスクがある。</a:t>
            </a:r>
          </a:p>
        </p:txBody>
      </p:sp>
      <p:sp>
        <p:nvSpPr>
          <p:cNvPr id="8" name="Slide Number Placeholder 7">
            <a:extLst>
              <a:ext uri="{FF2B5EF4-FFF2-40B4-BE49-F238E27FC236}">
                <a16:creationId xmlns:a16="http://schemas.microsoft.com/office/drawing/2014/main" id="{965ACD3A-46A5-947F-8726-3AF206264C9F}"/>
              </a:ext>
            </a:extLst>
          </p:cNvPr>
          <p:cNvSpPr>
            <a:spLocks noGrp="1"/>
          </p:cNvSpPr>
          <p:nvPr>
            <p:ph type="sldNum" sz="quarter" idx="12"/>
          </p:nvPr>
        </p:nvSpPr>
        <p:spPr/>
        <p:txBody>
          <a:bodyPr/>
          <a:lstStyle/>
          <a:p>
            <a:fld id="{520D4680-3C5B-EB48-BF72-7F3061D1D72A}" type="slidenum">
              <a:rPr lang="en-JP" smtClean="0"/>
              <a:t>27</a:t>
            </a:fld>
            <a:endParaRPr lang="en-JP"/>
          </a:p>
        </p:txBody>
      </p:sp>
    </p:spTree>
    <p:extLst>
      <p:ext uri="{BB962C8B-B14F-4D97-AF65-F5344CB8AC3E}">
        <p14:creationId xmlns:p14="http://schemas.microsoft.com/office/powerpoint/2010/main" val="2047892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A906EC-2DDE-CD94-23D4-E273E7C7B64B}"/>
              </a:ext>
            </a:extLst>
          </p:cNvPr>
          <p:cNvSpPr txBox="1"/>
          <p:nvPr/>
        </p:nvSpPr>
        <p:spPr>
          <a:xfrm>
            <a:off x="886522" y="549962"/>
            <a:ext cx="8625468" cy="3139321"/>
          </a:xfrm>
          <a:prstGeom prst="rect">
            <a:avLst/>
          </a:prstGeom>
          <a:noFill/>
        </p:spPr>
        <p:txBody>
          <a:bodyPr wrap="square">
            <a:spAutoFit/>
          </a:bodyPr>
          <a:lstStyle/>
          <a:p>
            <a:r>
              <a:rPr kumimoji="1" lang="ja-JP" altLang="en-US" sz="1800" b="1">
                <a:latin typeface="+mn-ea"/>
              </a:rPr>
              <a:t>まとめ</a:t>
            </a:r>
            <a:endParaRPr lang="en-US" altLang="ja-JP" b="1" dirty="0">
              <a:latin typeface="+mn-ea"/>
            </a:endParaRPr>
          </a:p>
          <a:p>
            <a:pPr algn="just"/>
            <a:endParaRPr lang="ja-JP" altLang="en-US">
              <a:latin typeface="+mn-ea"/>
            </a:endParaRPr>
          </a:p>
          <a:p>
            <a:pPr algn="just"/>
            <a:r>
              <a:rPr lang="ja-JP" altLang="en-US">
                <a:latin typeface="+mn-ea"/>
              </a:rPr>
              <a:t>本論文では、</a:t>
            </a:r>
            <a:r>
              <a:rPr lang="en-US" dirty="0">
                <a:latin typeface="+mn-ea"/>
              </a:rPr>
              <a:t>IoT</a:t>
            </a:r>
            <a:r>
              <a:rPr lang="ja-JP" altLang="en-US">
                <a:latin typeface="+mn-ea"/>
              </a:rPr>
              <a:t>アプリケーション向けにリアルタイムクエリとビッグデータ分析の両方をサポートするために特別に設計された、オープンアーキテクチャの新しい時系列管理システム </a:t>
            </a:r>
            <a:r>
              <a:rPr lang="en-US" dirty="0">
                <a:latin typeface="+mn-ea"/>
              </a:rPr>
              <a:t>Apache IoTDB </a:t>
            </a:r>
            <a:r>
              <a:rPr lang="ja-JP" altLang="en-US">
                <a:latin typeface="+mn-ea"/>
              </a:rPr>
              <a:t>を提案しました。</a:t>
            </a:r>
            <a:endParaRPr lang="mn-MN" altLang="ja-JP" dirty="0">
              <a:latin typeface="+mn-ea"/>
            </a:endParaRPr>
          </a:p>
          <a:p>
            <a:pPr algn="just"/>
            <a:endParaRPr lang="ja-JP" altLang="en-US">
              <a:latin typeface="+mn-ea"/>
            </a:endParaRPr>
          </a:p>
          <a:p>
            <a:pPr algn="just"/>
            <a:r>
              <a:rPr lang="mn-MN" altLang="ja-JP" dirty="0">
                <a:latin typeface="+mn-ea"/>
              </a:rPr>
              <a:t>  </a:t>
            </a:r>
            <a:r>
              <a:rPr lang="ja-JP" altLang="en-US">
                <a:latin typeface="+mn-ea"/>
              </a:rPr>
              <a:t>本システムには、時間と値をカラム型で格納する新しい時系列ファイル形式「</a:t>
            </a:r>
            <a:r>
              <a:rPr lang="en-US" dirty="0">
                <a:latin typeface="+mn-ea"/>
              </a:rPr>
              <a:t>TsFile」 </a:t>
            </a:r>
            <a:r>
              <a:rPr lang="ja-JP" altLang="en-US">
                <a:latin typeface="+mn-ea"/>
              </a:rPr>
              <a:t>が含まれており、</a:t>
            </a:r>
            <a:r>
              <a:rPr lang="en-US" dirty="0">
                <a:latin typeface="+mn-ea"/>
              </a:rPr>
              <a:t>NULL</a:t>
            </a:r>
            <a:r>
              <a:rPr lang="ja-JP" altLang="en-US">
                <a:latin typeface="+mn-ea"/>
              </a:rPr>
              <a:t>値を回避し、効果的な圧縮を実現しています。特筆すべきは、高価な</a:t>
            </a:r>
            <a:r>
              <a:rPr lang="en-US" dirty="0">
                <a:latin typeface="+mn-ea"/>
              </a:rPr>
              <a:t>ETL</a:t>
            </a:r>
            <a:r>
              <a:rPr lang="ja-JP" altLang="en-US">
                <a:latin typeface="+mn-ea"/>
              </a:rPr>
              <a:t>処理を必要とせずに、同じ</a:t>
            </a:r>
            <a:r>
              <a:rPr lang="en-US" dirty="0">
                <a:latin typeface="+mn-ea"/>
              </a:rPr>
              <a:t>TsFile</a:t>
            </a:r>
            <a:r>
              <a:rPr lang="ja-JP" altLang="en-US">
                <a:latin typeface="+mn-ea"/>
              </a:rPr>
              <a:t>をエンドデバイスで書き込み、エッジサーバのデータベースでクエリし、クラウドのビッグデータシステムで分析することが可能である点です。</a:t>
            </a:r>
          </a:p>
        </p:txBody>
      </p:sp>
      <p:sp>
        <p:nvSpPr>
          <p:cNvPr id="7" name="TextBox 6">
            <a:extLst>
              <a:ext uri="{FF2B5EF4-FFF2-40B4-BE49-F238E27FC236}">
                <a16:creationId xmlns:a16="http://schemas.microsoft.com/office/drawing/2014/main" id="{DF83B96D-0FB9-E4C6-C91E-302A378A331F}"/>
              </a:ext>
            </a:extLst>
          </p:cNvPr>
          <p:cNvSpPr txBox="1"/>
          <p:nvPr/>
        </p:nvSpPr>
        <p:spPr>
          <a:xfrm>
            <a:off x="1020337" y="3908722"/>
            <a:ext cx="9495263" cy="1477328"/>
          </a:xfrm>
          <a:prstGeom prst="rect">
            <a:avLst/>
          </a:prstGeom>
          <a:noFill/>
        </p:spPr>
        <p:txBody>
          <a:bodyPr wrap="square">
            <a:spAutoFit/>
          </a:bodyPr>
          <a:lstStyle/>
          <a:p>
            <a:r>
              <a:rPr lang="ja-JP" altLang="en-US">
                <a:latin typeface="+mn-ea"/>
              </a:rPr>
              <a:t>数百万の時系列を管理</a:t>
            </a:r>
          </a:p>
          <a:p>
            <a:r>
              <a:rPr lang="ja-JP" altLang="en-US">
                <a:latin typeface="+mn-ea"/>
              </a:rPr>
              <a:t>テラバイト級（</a:t>
            </a:r>
            <a:r>
              <a:rPr lang="en-US" dirty="0">
                <a:latin typeface="+mn-ea"/>
              </a:rPr>
              <a:t>TB）</a:t>
            </a:r>
            <a:r>
              <a:rPr lang="ja-JP" altLang="en-US">
                <a:latin typeface="+mn-ea"/>
              </a:rPr>
              <a:t>のデータを処理</a:t>
            </a:r>
          </a:p>
          <a:p>
            <a:r>
              <a:rPr lang="ja-JP" altLang="en-US">
                <a:latin typeface="+mn-ea"/>
              </a:rPr>
              <a:t>毎秒</a:t>
            </a:r>
            <a:r>
              <a:rPr lang="en-US" altLang="ja-JP" dirty="0">
                <a:latin typeface="+mn-ea"/>
              </a:rPr>
              <a:t>1,000</a:t>
            </a:r>
            <a:r>
              <a:rPr lang="ja-JP" altLang="en-US">
                <a:latin typeface="+mn-ea"/>
              </a:rPr>
              <a:t>万ポイントの挿入</a:t>
            </a:r>
          </a:p>
          <a:p>
            <a:r>
              <a:rPr lang="en-US" altLang="ja-JP" dirty="0">
                <a:latin typeface="+mn-ea"/>
              </a:rPr>
              <a:t>1</a:t>
            </a:r>
            <a:r>
              <a:rPr lang="ja-JP" altLang="en-US">
                <a:latin typeface="+mn-ea"/>
              </a:rPr>
              <a:t>日分（</a:t>
            </a:r>
            <a:r>
              <a:rPr lang="en-US" altLang="ja-JP" dirty="0">
                <a:latin typeface="+mn-ea"/>
              </a:rPr>
              <a:t>10</a:t>
            </a:r>
            <a:r>
              <a:rPr lang="ja-JP" altLang="en-US">
                <a:latin typeface="+mn-ea"/>
              </a:rPr>
              <a:t>万ポイント）のデータ選択を</a:t>
            </a:r>
            <a:r>
              <a:rPr lang="en-US" altLang="ja-JP" dirty="0">
                <a:latin typeface="+mn-ea"/>
              </a:rPr>
              <a:t>100</a:t>
            </a:r>
            <a:r>
              <a:rPr lang="ja-JP" altLang="en-US">
                <a:latin typeface="+mn-ea"/>
              </a:rPr>
              <a:t>ミリ秒以内に実行</a:t>
            </a:r>
          </a:p>
          <a:p>
            <a:r>
              <a:rPr lang="en-US" altLang="ja-JP" dirty="0">
                <a:latin typeface="+mn-ea"/>
              </a:rPr>
              <a:t>3</a:t>
            </a:r>
            <a:r>
              <a:rPr lang="ja-JP" altLang="en-US">
                <a:latin typeface="+mn-ea"/>
              </a:rPr>
              <a:t>年間（</a:t>
            </a:r>
            <a:r>
              <a:rPr lang="en-US" altLang="ja-JP" dirty="0">
                <a:latin typeface="+mn-ea"/>
              </a:rPr>
              <a:t>1,000</a:t>
            </a:r>
            <a:r>
              <a:rPr lang="ja-JP" altLang="en-US">
                <a:latin typeface="+mn-ea"/>
              </a:rPr>
              <a:t>万ポイント超）の集計を</a:t>
            </a:r>
            <a:r>
              <a:rPr lang="en-US" altLang="ja-JP" dirty="0">
                <a:latin typeface="+mn-ea"/>
              </a:rPr>
              <a:t>100</a:t>
            </a:r>
            <a:r>
              <a:rPr lang="ja-JP" altLang="en-US">
                <a:latin typeface="+mn-ea"/>
              </a:rPr>
              <a:t>ミリ秒以内に実行可能</a:t>
            </a:r>
          </a:p>
        </p:txBody>
      </p:sp>
      <p:sp>
        <p:nvSpPr>
          <p:cNvPr id="8" name="Slide Number Placeholder 7">
            <a:extLst>
              <a:ext uri="{FF2B5EF4-FFF2-40B4-BE49-F238E27FC236}">
                <a16:creationId xmlns:a16="http://schemas.microsoft.com/office/drawing/2014/main" id="{E08FA30A-266F-C897-A42F-F3E919344B2C}"/>
              </a:ext>
            </a:extLst>
          </p:cNvPr>
          <p:cNvSpPr>
            <a:spLocks noGrp="1"/>
          </p:cNvSpPr>
          <p:nvPr>
            <p:ph type="sldNum" sz="quarter" idx="12"/>
          </p:nvPr>
        </p:nvSpPr>
        <p:spPr/>
        <p:txBody>
          <a:bodyPr/>
          <a:lstStyle/>
          <a:p>
            <a:fld id="{520D4680-3C5B-EB48-BF72-7F3061D1D72A}" type="slidenum">
              <a:rPr lang="en-JP" smtClean="0"/>
              <a:t>28</a:t>
            </a:fld>
            <a:endParaRPr lang="en-JP"/>
          </a:p>
        </p:txBody>
      </p:sp>
    </p:spTree>
    <p:extLst>
      <p:ext uri="{BB962C8B-B14F-4D97-AF65-F5344CB8AC3E}">
        <p14:creationId xmlns:p14="http://schemas.microsoft.com/office/powerpoint/2010/main" val="130185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10445</TotalTime>
  <Words>3318</Words>
  <Application>Microsoft Macintosh PowerPoint</Application>
  <PresentationFormat>Widescreen</PresentationFormat>
  <Paragraphs>253</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Meiryo</vt:lpstr>
      <vt:lpstr>Meiryo</vt:lpstr>
      <vt:lpstr>游ゴシック</vt:lpstr>
      <vt:lpstr>游ゴシック Light</vt:lpstr>
      <vt:lpstr>Yu Mincho</vt:lpstr>
      <vt:lpstr>YuMincho +36p Kana Medium</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主に以下の4種類のクエリタイプを考慮しています 1/2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4</cp:revision>
  <dcterms:created xsi:type="dcterms:W3CDTF">2025-05-21T02:45:27Z</dcterms:created>
  <dcterms:modified xsi:type="dcterms:W3CDTF">2025-05-28T08:50:43Z</dcterms:modified>
</cp:coreProperties>
</file>