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20"/>
  </p:notesMasterIdLst>
  <p:sldIdLst>
    <p:sldId id="256" r:id="rId2"/>
    <p:sldId id="272" r:id="rId3"/>
    <p:sldId id="257" r:id="rId4"/>
    <p:sldId id="258" r:id="rId5"/>
    <p:sldId id="273" r:id="rId6"/>
    <p:sldId id="259" r:id="rId7"/>
    <p:sldId id="269" r:id="rId8"/>
    <p:sldId id="270" r:id="rId9"/>
    <p:sldId id="260" r:id="rId10"/>
    <p:sldId id="268" r:id="rId11"/>
    <p:sldId id="264" r:id="rId12"/>
    <p:sldId id="261" r:id="rId13"/>
    <p:sldId id="271" r:id="rId14"/>
    <p:sldId id="262" r:id="rId15"/>
    <p:sldId id="263"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38"/>
    <p:restoredTop sz="79614"/>
  </p:normalViewPr>
  <p:slideViewPr>
    <p:cSldViewPr snapToGrid="0">
      <p:cViewPr>
        <p:scale>
          <a:sx n="80" d="100"/>
          <a:sy n="80" d="100"/>
        </p:scale>
        <p:origin x="2624" y="6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369A86-D3BC-1F45-824B-012E6E48AED4}" type="datetimeFigureOut">
              <a:rPr lang="en-JP" smtClean="0"/>
              <a:t>2025/12/17</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F6E4DC-9BF0-B044-8E6E-65888F61EE07}" type="slidenum">
              <a:rPr lang="en-JP" smtClean="0"/>
              <a:t>‹#›</a:t>
            </a:fld>
            <a:endParaRPr lang="en-JP"/>
          </a:p>
        </p:txBody>
      </p:sp>
    </p:spTree>
    <p:extLst>
      <p:ext uri="{BB962C8B-B14F-4D97-AF65-F5344CB8AC3E}">
        <p14:creationId xmlns:p14="http://schemas.microsoft.com/office/powerpoint/2010/main" val="2616981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10</a:t>
            </a:fld>
            <a:endParaRPr lang="en-JP"/>
          </a:p>
        </p:txBody>
      </p:sp>
    </p:spTree>
    <p:extLst>
      <p:ext uri="{BB962C8B-B14F-4D97-AF65-F5344CB8AC3E}">
        <p14:creationId xmlns:p14="http://schemas.microsoft.com/office/powerpoint/2010/main" val="3529007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i="0" dirty="0">
                <a:effectLst/>
              </a:rPr>
              <a:t>SQL</a:t>
            </a:r>
            <a:r>
              <a:rPr lang="ja-JP" altLang="en-US" b="0" i="0">
                <a:effectLst/>
              </a:rPr>
              <a:t>インジェクションや</a:t>
            </a:r>
            <a:r>
              <a:rPr lang="en-US" b="0" i="0" dirty="0">
                <a:effectLst/>
              </a:rPr>
              <a:t>XSS</a:t>
            </a:r>
            <a:r>
              <a:rPr lang="ja-JP" altLang="en-US" b="0" i="0">
                <a:effectLst/>
              </a:rPr>
              <a:t>など、実際にどうやって情報が取られるか体験した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ログイン画面で特別な文字を入れて、パスワードを見ることができた</a:t>
            </a:r>
            <a:endParaRPr lang="ja-JP" altLang="en-US"/>
          </a:p>
          <a:p>
            <a:pPr>
              <a:buFont typeface="Arial" panose="020B0604020202020204" pitchFamily="34" charset="0"/>
              <a:buChar char="•"/>
            </a:pPr>
            <a:r>
              <a:rPr lang="ja-JP" altLang="en-US" b="0" i="0">
                <a:effectLst/>
              </a:rPr>
              <a:t>正しい権限管理や暗号化の大切さがわかった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他人のデータを見られないようにすること</a:t>
            </a:r>
            <a:endParaRPr lang="ja-JP" altLang="en-US"/>
          </a:p>
          <a:p>
            <a:pPr>
              <a:buFont typeface="Arial" panose="020B0604020202020204" pitchFamily="34" charset="0"/>
              <a:buChar char="•"/>
            </a:pPr>
            <a:r>
              <a:rPr lang="ja-JP" altLang="en-US" b="0" i="0">
                <a:effectLst/>
              </a:rPr>
              <a:t>攻撃がどう行われるかを知ることで、防御の方法も学べた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入力値のチェックや</a:t>
            </a:r>
            <a:r>
              <a:rPr lang="en-US" b="0" i="0" dirty="0">
                <a:effectLst/>
              </a:rPr>
              <a:t>Prepared Statement</a:t>
            </a:r>
            <a:r>
              <a:rPr lang="ja-JP" altLang="en-US" b="0" i="0">
                <a:effectLst/>
              </a:rPr>
              <a:t>の必要性</a:t>
            </a:r>
            <a:endParaRPr lang="ja-JP" altLang="en-US"/>
          </a:p>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13</a:t>
            </a:fld>
            <a:endParaRPr lang="en-JP"/>
          </a:p>
        </p:txBody>
      </p:sp>
    </p:spTree>
    <p:extLst>
      <p:ext uri="{BB962C8B-B14F-4D97-AF65-F5344CB8AC3E}">
        <p14:creationId xmlns:p14="http://schemas.microsoft.com/office/powerpoint/2010/main" val="369710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15</a:t>
            </a:fld>
            <a:endParaRPr lang="en-JP"/>
          </a:p>
        </p:txBody>
      </p:sp>
    </p:spTree>
    <p:extLst>
      <p:ext uri="{BB962C8B-B14F-4D97-AF65-F5344CB8AC3E}">
        <p14:creationId xmlns:p14="http://schemas.microsoft.com/office/powerpoint/2010/main" val="185191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17</a:t>
            </a:fld>
            <a:endParaRPr lang="en-JP"/>
          </a:p>
        </p:txBody>
      </p:sp>
    </p:spTree>
    <p:extLst>
      <p:ext uri="{BB962C8B-B14F-4D97-AF65-F5344CB8AC3E}">
        <p14:creationId xmlns:p14="http://schemas.microsoft.com/office/powerpoint/2010/main" val="2231184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627C08-DF52-8C45-9BA4-F4B5E97AEB1F}" type="datetime1">
              <a:rPr lang="en-US" smtClean="0"/>
              <a:t>12/17/25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lvl1pPr>
              <a:defRPr sz="2000">
                <a:solidFill>
                  <a:schemeClr val="tx1"/>
                </a:solidFill>
                <a:latin typeface="Meiryo" panose="020B0604030504040204" pitchFamily="34" charset="-128"/>
                <a:ea typeface="Meiryo" panose="020B0604030504040204" pitchFamily="34" charset="-128"/>
              </a:defRPr>
            </a:lvl1pPr>
          </a:lstStyle>
          <a:p>
            <a:fld id="{4E09ECC2-A487-A54F-A842-0926C7D6AD98}" type="slidenum">
              <a:rPr lang="en-JP" smtClean="0"/>
              <a:pPr/>
              <a:t>‹#›</a:t>
            </a:fld>
            <a:endParaRPr lang="en-JP" dirty="0"/>
          </a:p>
        </p:txBody>
      </p:sp>
    </p:spTree>
    <p:extLst>
      <p:ext uri="{BB962C8B-B14F-4D97-AF65-F5344CB8AC3E}">
        <p14:creationId xmlns:p14="http://schemas.microsoft.com/office/powerpoint/2010/main" val="3368784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1FBE37-63B9-7F4C-AFC7-6F1C25EFC183}" type="datetime1">
              <a:rPr lang="en-US" smtClean="0"/>
              <a:t>12/17/25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3350885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A8BD5C-CB6F-2C4F-8F10-EF4371BD6292}" type="datetime1">
              <a:rPr lang="en-US" smtClean="0"/>
              <a:t>12/17/25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284981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ACB3C7-A6C5-DD46-9F56-D94BC507DD14}" type="datetime1">
              <a:rPr lang="en-US" smtClean="0"/>
              <a:t>12/17/25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3209287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BBAB89-FE0F-2E48-A52B-E6B0B8A165C4}" type="datetime1">
              <a:rPr lang="en-US" smtClean="0"/>
              <a:t>12/17/25</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2428704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27760C-CD1A-E642-AEEA-472C5E9531F2}" type="datetime1">
              <a:rPr lang="en-US" smtClean="0"/>
              <a:t>12/17/25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2796660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1C5BA0-8335-4F47-A289-B90AF24262D7}" type="datetime1">
              <a:rPr lang="en-US" smtClean="0"/>
              <a:t>12/17/25</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2933877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B97CC3-BB4B-D842-BCC9-E5493B6A53CC}" type="datetime1">
              <a:rPr lang="en-US" smtClean="0"/>
              <a:t>12/17/25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2657539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0F6736-C61A-5343-BC06-A3CC2F357C0C}" type="datetime1">
              <a:rPr lang="en-US" smtClean="0"/>
              <a:t>12/17/25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1289311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DD5EB0-E57B-1648-ADB5-4360A895EF6E}" type="datetime1">
              <a:rPr lang="en-US" smtClean="0"/>
              <a:t>12/17/25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217984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23A9A1-EFF0-964A-9818-4F62E0E3E3A9}" type="datetime1">
              <a:rPr lang="en-US" smtClean="0"/>
              <a:t>12/17/25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4E09ECC2-A487-A54F-A842-0926C7D6AD98}" type="slidenum">
              <a:rPr lang="en-JP" smtClean="0"/>
              <a:t>‹#›</a:t>
            </a:fld>
            <a:endParaRPr lang="en-JP"/>
          </a:p>
        </p:txBody>
      </p:sp>
    </p:spTree>
    <p:extLst>
      <p:ext uri="{BB962C8B-B14F-4D97-AF65-F5344CB8AC3E}">
        <p14:creationId xmlns:p14="http://schemas.microsoft.com/office/powerpoint/2010/main" val="51938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41B3F-6C05-F043-92FC-C51A6619FCA6}" type="datetime1">
              <a:rPr lang="en-US" smtClean="0"/>
              <a:t>12/17/25</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2000">
                <a:solidFill>
                  <a:schemeClr val="tx1"/>
                </a:solidFill>
                <a:latin typeface="Meiryo" panose="020B0604030504040204" pitchFamily="34" charset="-128"/>
                <a:ea typeface="Meiryo" panose="020B0604030504040204" pitchFamily="34" charset="-128"/>
              </a:defRPr>
            </a:lvl1pPr>
          </a:lstStyle>
          <a:p>
            <a:fld id="{4E09ECC2-A487-A54F-A842-0926C7D6AD98}" type="slidenum">
              <a:rPr lang="en-JP" smtClean="0"/>
              <a:pPr/>
              <a:t>‹#›</a:t>
            </a:fld>
            <a:endParaRPr lang="en-JP" dirty="0"/>
          </a:p>
        </p:txBody>
      </p:sp>
    </p:spTree>
    <p:extLst>
      <p:ext uri="{BB962C8B-B14F-4D97-AF65-F5344CB8AC3E}">
        <p14:creationId xmlns:p14="http://schemas.microsoft.com/office/powerpoint/2010/main" val="6451948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94AA6-2F00-D1E1-95A4-67BF8FB22490}"/>
              </a:ext>
            </a:extLst>
          </p:cNvPr>
          <p:cNvSpPr>
            <a:spLocks noGrp="1"/>
          </p:cNvSpPr>
          <p:nvPr>
            <p:ph type="ctrTitle"/>
          </p:nvPr>
        </p:nvSpPr>
        <p:spPr>
          <a:xfrm>
            <a:off x="333203" y="2156686"/>
            <a:ext cx="8070961" cy="1055384"/>
          </a:xfrm>
        </p:spPr>
        <p:txBody>
          <a:bodyPr>
            <a:normAutofit fontScale="90000"/>
          </a:bodyPr>
          <a:lstStyle/>
          <a:p>
            <a:r>
              <a:rPr lang="en-US" b="1" i="0" dirty="0">
                <a:effectLst/>
                <a:latin typeface="Times New Roman" panose="02020603050405020304" pitchFamily="18" charset="0"/>
                <a:cs typeface="Times New Roman" panose="02020603050405020304" pitchFamily="18" charset="0"/>
              </a:rPr>
              <a:t>Cybersecurity We</a:t>
            </a:r>
            <a:r>
              <a:rPr lang="en-US" b="1" dirty="0">
                <a:latin typeface="Times New Roman" panose="02020603050405020304" pitchFamily="18" charset="0"/>
                <a:cs typeface="Times New Roman" panose="02020603050405020304" pitchFamily="18" charset="0"/>
              </a:rPr>
              <a:t>b</a:t>
            </a:r>
            <a:r>
              <a:rPr lang="en-US" b="1" i="0" dirty="0">
                <a:effectLst/>
                <a:latin typeface="Times New Roman" panose="02020603050405020304" pitchFamily="18" charset="0"/>
                <a:cs typeface="Times New Roman" panose="02020603050405020304" pitchFamily="18" charset="0"/>
              </a:rPr>
              <a:t>_Page</a:t>
            </a:r>
            <a:br>
              <a:rPr lang="mn-MN" b="1" i="0" dirty="0">
                <a:effectLst/>
                <a:latin typeface="Times New Roman" panose="02020603050405020304" pitchFamily="18" charset="0"/>
                <a:cs typeface="Times New Roman" panose="02020603050405020304" pitchFamily="18" charset="0"/>
              </a:rPr>
            </a:br>
            <a:r>
              <a:rPr lang="en-US" b="1" i="0" dirty="0">
                <a:effectLst/>
                <a:latin typeface="Times New Roman" panose="02020603050405020304" pitchFamily="18" charset="0"/>
                <a:cs typeface="Times New Roman" panose="02020603050405020304" pitchFamily="18" charset="0"/>
              </a:rPr>
              <a:t>Best Practices</a:t>
            </a:r>
            <a:endParaRPr lang="en-JP"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00973EB-2DEE-FF9E-D8E0-E4E1446D3E7A}"/>
              </a:ext>
            </a:extLst>
          </p:cNvPr>
          <p:cNvSpPr>
            <a:spLocks noGrp="1"/>
          </p:cNvSpPr>
          <p:nvPr>
            <p:ph type="subTitle" idx="1"/>
          </p:nvPr>
        </p:nvSpPr>
        <p:spPr>
          <a:xfrm>
            <a:off x="939684" y="3785169"/>
            <a:ext cx="6858000" cy="2383428"/>
          </a:xfrm>
        </p:spPr>
        <p:txBody>
          <a:bodyPr>
            <a:normAutofit/>
          </a:bodyPr>
          <a:lstStyle/>
          <a:p>
            <a:r>
              <a:rPr lang="ja-JP" altLang="en-US" sz="2100">
                <a:latin typeface="Meiryo" panose="020B0604030504040204" pitchFamily="34" charset="-128"/>
                <a:ea typeface="Meiryo" panose="020B0604030504040204" pitchFamily="34" charset="-128"/>
                <a:cs typeface="Times New Roman" panose="02020603050405020304" pitchFamily="18" charset="0"/>
              </a:rPr>
              <a:t>公益財団法人 九州先端科学技術研究所</a:t>
            </a:r>
          </a:p>
          <a:p>
            <a:r>
              <a:rPr lang="en-US" sz="2100" dirty="0">
                <a:latin typeface="Meiryo" panose="020B0604030504040204" pitchFamily="34" charset="-128"/>
                <a:ea typeface="Meiryo" panose="020B0604030504040204" pitchFamily="34" charset="-128"/>
                <a:cs typeface="Times New Roman" panose="02020603050405020304" pitchFamily="18" charset="0"/>
              </a:rPr>
              <a:t>Institute of Systems, Information Technologies and Nanotechnologies (ISIT) </a:t>
            </a:r>
            <a:r>
              <a:rPr lang="mn-MN" sz="2100" dirty="0">
                <a:latin typeface="Meiryo" panose="020B0604030504040204" pitchFamily="34" charset="-128"/>
                <a:ea typeface="Meiryo" panose="020B0604030504040204" pitchFamily="34" charset="-128"/>
                <a:cs typeface="Times New Roman" panose="02020603050405020304" pitchFamily="18" charset="0"/>
              </a:rPr>
              <a:t>=</a:t>
            </a:r>
            <a:r>
              <a:rPr lang="en-US" sz="2100" dirty="0">
                <a:latin typeface="Meiryo" panose="020B0604030504040204" pitchFamily="34" charset="-128"/>
                <a:ea typeface="Meiryo" panose="020B0604030504040204" pitchFamily="34" charset="-128"/>
                <a:cs typeface="Times New Roman" panose="02020603050405020304" pitchFamily="18" charset="0"/>
              </a:rPr>
              <a:t>&gt; </a:t>
            </a:r>
            <a:r>
              <a:rPr lang="en-US" sz="2100" dirty="0">
                <a:solidFill>
                  <a:srgbClr val="C00000"/>
                </a:solidFill>
                <a:latin typeface="Meiryo" panose="020B0604030504040204" pitchFamily="34" charset="-128"/>
                <a:ea typeface="Meiryo" panose="020B0604030504040204" pitchFamily="34" charset="-128"/>
                <a:cs typeface="Times New Roman" panose="02020603050405020304" pitchFamily="18" charset="0"/>
              </a:rPr>
              <a:t>Internship student </a:t>
            </a:r>
            <a:endParaRPr lang="mn-MN" sz="2100"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a:p>
            <a:endParaRPr lang="en-US" sz="2100" dirty="0">
              <a:latin typeface="Meiryo" panose="020B0604030504040204" pitchFamily="34" charset="-128"/>
              <a:ea typeface="Meiryo" panose="020B0604030504040204" pitchFamily="34" charset="-128"/>
              <a:cs typeface="Times New Roman" panose="02020603050405020304" pitchFamily="18" charset="0"/>
            </a:endParaRPr>
          </a:p>
          <a:p>
            <a:r>
              <a:rPr lang="ja-JP" altLang="en-US" sz="2100">
                <a:latin typeface="Meiryo" panose="020B0604030504040204" pitchFamily="34" charset="-128"/>
                <a:ea typeface="Meiryo" panose="020B0604030504040204" pitchFamily="34" charset="-128"/>
              </a:rPr>
              <a:t>発表者　：</a:t>
            </a:r>
            <a:r>
              <a:rPr lang="en-US" altLang="ja-JP" sz="2100" dirty="0">
                <a:latin typeface="Meiryo" panose="020B0604030504040204" pitchFamily="34" charset="-128"/>
                <a:ea typeface="Meiryo" panose="020B0604030504040204" pitchFamily="34" charset="-128"/>
              </a:rPr>
              <a:t>DAVAAKHUU   UNDARMAA</a:t>
            </a:r>
          </a:p>
          <a:p>
            <a:endParaRPr lang="en-JP" sz="2100" dirty="0">
              <a:latin typeface="Meiryo" panose="020B0604030504040204" pitchFamily="34" charset="-128"/>
              <a:ea typeface="Meiryo" panose="020B0604030504040204" pitchFamily="34" charset="-128"/>
            </a:endParaRPr>
          </a:p>
        </p:txBody>
      </p:sp>
      <p:pic>
        <p:nvPicPr>
          <p:cNvPr id="4" name="Picture 3">
            <a:extLst>
              <a:ext uri="{FF2B5EF4-FFF2-40B4-BE49-F238E27FC236}">
                <a16:creationId xmlns:a16="http://schemas.microsoft.com/office/drawing/2014/main" id="{6E27C076-9C1C-4988-B949-DBC9AC78CB9A}"/>
              </a:ext>
            </a:extLst>
          </p:cNvPr>
          <p:cNvPicPr>
            <a:picLocks noChangeAspect="1"/>
          </p:cNvPicPr>
          <p:nvPr/>
        </p:nvPicPr>
        <p:blipFill>
          <a:blip r:embed="rId2"/>
          <a:stretch>
            <a:fillRect/>
          </a:stretch>
        </p:blipFill>
        <p:spPr>
          <a:xfrm>
            <a:off x="8023538" y="284049"/>
            <a:ext cx="886262" cy="748685"/>
          </a:xfrm>
          <a:prstGeom prst="rect">
            <a:avLst/>
          </a:prstGeom>
        </p:spPr>
      </p:pic>
    </p:spTree>
    <p:extLst>
      <p:ext uri="{BB962C8B-B14F-4D97-AF65-F5344CB8AC3E}">
        <p14:creationId xmlns:p14="http://schemas.microsoft.com/office/powerpoint/2010/main" val="29602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39B-5FD9-BB4D-F85D-04629D771571}"/>
              </a:ext>
            </a:extLst>
          </p:cNvPr>
          <p:cNvSpPr>
            <a:spLocks noGrp="1"/>
          </p:cNvSpPr>
          <p:nvPr>
            <p:ph type="title"/>
          </p:nvPr>
        </p:nvSpPr>
        <p:spPr>
          <a:xfrm>
            <a:off x="876076" y="681037"/>
            <a:ext cx="7886700" cy="1325563"/>
          </a:xfrm>
        </p:spPr>
        <p:txBody>
          <a:bodyPr>
            <a:normAutofit/>
          </a:bodyPr>
          <a:lstStyle/>
          <a:p>
            <a:r>
              <a:rPr lang="ja-JP" altLang="en-US" sz="3200" b="1">
                <a:latin typeface="Meiryo" panose="020B0604030504040204" pitchFamily="34" charset="-128"/>
                <a:ea typeface="Meiryo" panose="020B0604030504040204" pitchFamily="34" charset="-128"/>
              </a:rPr>
              <a:t>目次</a:t>
            </a:r>
            <a:endParaRPr lang="en-JP" sz="32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63B889F5-006B-58E7-D13F-DB79A2D817C5}"/>
              </a:ext>
            </a:extLst>
          </p:cNvPr>
          <p:cNvSpPr>
            <a:spLocks noGrp="1"/>
          </p:cNvSpPr>
          <p:nvPr>
            <p:ph idx="1"/>
          </p:nvPr>
        </p:nvSpPr>
        <p:spPr/>
        <p:txBody>
          <a:bodyPr>
            <a:normAutofit/>
          </a:bodyPr>
          <a:lstStyle/>
          <a:p>
            <a:pPr marL="761981" indent="-548626">
              <a:lnSpc>
                <a:spcPct val="150000"/>
              </a:lnSpc>
              <a:spcBef>
                <a:spcPts val="0"/>
              </a:spcBef>
              <a:buSzPts val="2800"/>
              <a:buFont typeface="Wingdings" pitchFamily="2" charset="2"/>
              <a:buChar char="§"/>
            </a:pPr>
            <a:r>
              <a:rPr lang="ja-JP" altLang="en-US" sz="2800">
                <a:latin typeface="Meiryo" panose="020B0604030504040204" pitchFamily="34" charset="-128"/>
                <a:ea typeface="Meiryo" panose="020B0604030504040204" pitchFamily="34" charset="-128"/>
              </a:rPr>
              <a:t>インターンシップで</a:t>
            </a:r>
            <a:r>
              <a:rPr lang="en-US" altLang="ja-JP" sz="2800" dirty="0">
                <a:latin typeface="Meiryo" panose="020B0604030504040204" pitchFamily="34" charset="-128"/>
                <a:ea typeface="Meiryo" panose="020B0604030504040204" pitchFamily="34" charset="-128"/>
              </a:rPr>
              <a:t>3</a:t>
            </a:r>
            <a:r>
              <a:rPr lang="ja-JP" altLang="en-US" sz="2800">
                <a:latin typeface="Meiryo" panose="020B0604030504040204" pitchFamily="34" charset="-128"/>
                <a:ea typeface="Meiryo" panose="020B0604030504040204" pitchFamily="34" charset="-128"/>
              </a:rPr>
              <a:t>つの活動</a:t>
            </a:r>
            <a:endParaRPr lang="en-US" altLang="ja-JP" sz="2800" dirty="0">
              <a:solidFill>
                <a:srgbClr val="C00000"/>
              </a:solidFill>
              <a:latin typeface="Meiryo UI" panose="020B0604030504040204" pitchFamily="50" charset="-128"/>
              <a:ea typeface="Meiryo UI" panose="020B0604030504040204" pitchFamily="50" charset="-128"/>
            </a:endParaRPr>
          </a:p>
          <a:p>
            <a:pPr marL="761981" indent="-548626">
              <a:lnSpc>
                <a:spcPct val="150000"/>
              </a:lnSpc>
              <a:spcBef>
                <a:spcPts val="0"/>
              </a:spcBef>
              <a:buSzPts val="2800"/>
              <a:buFont typeface="Wingdings" pitchFamily="2" charset="2"/>
              <a:buChar char="§"/>
            </a:pPr>
            <a:r>
              <a:rPr lang="en-US" sz="2800" i="0" dirty="0">
                <a:effectLst/>
                <a:latin typeface="Meiryo" panose="020B0604030504040204" pitchFamily="34" charset="-128"/>
                <a:ea typeface="Meiryo" panose="020B0604030504040204" pitchFamily="34" charset="-128"/>
              </a:rPr>
              <a:t>Traffic Eye_Log Analyzer</a:t>
            </a:r>
          </a:p>
          <a:p>
            <a:pPr marL="761981" indent="-548626">
              <a:lnSpc>
                <a:spcPct val="150000"/>
              </a:lnSpc>
              <a:spcBef>
                <a:spcPts val="0"/>
              </a:spcBef>
              <a:buSzPts val="2800"/>
              <a:buFont typeface="Wingdings" pitchFamily="2" charset="2"/>
              <a:buChar char="§"/>
            </a:pPr>
            <a:r>
              <a:rPr lang="en-US" dirty="0">
                <a:latin typeface="Meiryo" panose="020B0604030504040204" pitchFamily="34" charset="-128"/>
                <a:ea typeface="Meiryo" panose="020B0604030504040204" pitchFamily="34" charset="-128"/>
              </a:rPr>
              <a:t>Web</a:t>
            </a:r>
            <a:r>
              <a:rPr lang="ja-JP" altLang="en-US">
                <a:latin typeface="Meiryo" panose="020B0604030504040204" pitchFamily="34" charset="-128"/>
                <a:ea typeface="Meiryo" panose="020B0604030504040204" pitchFamily="34" charset="-128"/>
              </a:rPr>
              <a:t>アプリケーションの構築</a:t>
            </a:r>
            <a:endParaRPr lang="en-US" altLang="ja-JP" sz="2800" dirty="0">
              <a:latin typeface="Meiryo UI" panose="020B0604030504040204" pitchFamily="50" charset="-128"/>
              <a:ea typeface="Meiryo UI" panose="020B0604030504040204" pitchFamily="50" charset="-128"/>
            </a:endParaRPr>
          </a:p>
          <a:p>
            <a:pPr marL="761981" indent="-548626">
              <a:lnSpc>
                <a:spcPct val="150000"/>
              </a:lnSpc>
              <a:spcBef>
                <a:spcPts val="0"/>
              </a:spcBef>
              <a:buSzPts val="2800"/>
              <a:buFont typeface="Wingdings" pitchFamily="2" charset="2"/>
              <a:buChar char="§"/>
            </a:pPr>
            <a:r>
              <a:rPr lang="en-US" b="0" i="0" dirty="0">
                <a:effectLst/>
                <a:latin typeface="Meiryo" panose="020B0604030504040204" pitchFamily="34" charset="-128"/>
                <a:ea typeface="Meiryo" panose="020B0604030504040204" pitchFamily="34" charset="-128"/>
              </a:rPr>
              <a:t>Damn Vulnerable Web Application</a:t>
            </a:r>
          </a:p>
          <a:p>
            <a:pPr marL="761981" indent="-548626">
              <a:lnSpc>
                <a:spcPct val="150000"/>
              </a:lnSpc>
              <a:spcBef>
                <a:spcPts val="0"/>
              </a:spcBef>
              <a:buSzPts val="2800"/>
              <a:buFont typeface="Wingdings" pitchFamily="2" charset="2"/>
              <a:buChar char="§"/>
            </a:pPr>
            <a:r>
              <a:rPr lang="ja-JP" altLang="en-US" sz="2800" i="0">
                <a:effectLst/>
                <a:latin typeface="Meiryo" panose="020B0604030504040204" pitchFamily="34" charset="-128"/>
                <a:ea typeface="Meiryo" panose="020B0604030504040204" pitchFamily="34" charset="-128"/>
              </a:rPr>
              <a:t>インターンシップで学んだこと</a:t>
            </a:r>
            <a:endParaRPr lang="en-US" altLang="ja-JP" sz="2800" i="0" dirty="0">
              <a:effectLst/>
              <a:latin typeface="Meiryo" panose="020B0604030504040204" pitchFamily="34" charset="-128"/>
              <a:ea typeface="Meiryo" panose="020B0604030504040204" pitchFamily="34" charset="-128"/>
            </a:endParaRPr>
          </a:p>
          <a:p>
            <a:pPr marL="761981" indent="-548626">
              <a:lnSpc>
                <a:spcPct val="150000"/>
              </a:lnSpc>
              <a:spcBef>
                <a:spcPts val="0"/>
              </a:spcBef>
              <a:buSzPts val="2800"/>
              <a:buFont typeface="Wingdings" pitchFamily="2" charset="2"/>
              <a:buChar char="§"/>
            </a:pPr>
            <a:r>
              <a:rPr lang="ja-JP" altLang="en-US">
                <a:latin typeface="Meiryo" panose="020B0604030504040204" pitchFamily="34" charset="-128"/>
                <a:ea typeface="Meiryo" panose="020B0604030504040204" pitchFamily="34" charset="-128"/>
              </a:rPr>
              <a:t>まとめ</a:t>
            </a:r>
            <a:endParaRPr lang="en-US" altLang="ja-JP" sz="2800" dirty="0">
              <a:latin typeface="Meiryo UI" panose="020B0604030504040204" pitchFamily="50" charset="-128"/>
              <a:ea typeface="Meiryo UI" panose="020B0604030504040204" pitchFamily="50" charset="-128"/>
            </a:endParaRPr>
          </a:p>
          <a:p>
            <a:endParaRPr lang="en-JP" sz="2800" dirty="0">
              <a:latin typeface="Meiryo UI" panose="020B0604030504040204" pitchFamily="50" charset="-128"/>
              <a:ea typeface="Meiryo UI" panose="020B0604030504040204" pitchFamily="50" charset="-128"/>
            </a:endParaRPr>
          </a:p>
          <a:p>
            <a:endParaRPr lang="en-JP" dirty="0"/>
          </a:p>
        </p:txBody>
      </p:sp>
      <p:sp>
        <p:nvSpPr>
          <p:cNvPr id="4" name="Slide Number Placeholder 3">
            <a:extLst>
              <a:ext uri="{FF2B5EF4-FFF2-40B4-BE49-F238E27FC236}">
                <a16:creationId xmlns:a16="http://schemas.microsoft.com/office/drawing/2014/main" id="{157E00C2-DF12-52D0-7769-37D6D24CE252}"/>
              </a:ext>
            </a:extLst>
          </p:cNvPr>
          <p:cNvSpPr>
            <a:spLocks noGrp="1"/>
          </p:cNvSpPr>
          <p:nvPr>
            <p:ph type="sldNum" sz="quarter" idx="12"/>
          </p:nvPr>
        </p:nvSpPr>
        <p:spPr/>
        <p:txBody>
          <a:bodyPr/>
          <a:lstStyle/>
          <a:p>
            <a:fld id="{4E09ECC2-A487-A54F-A842-0926C7D6AD98}" type="slidenum">
              <a:rPr lang="en-JP" smtClean="0"/>
              <a:t>1</a:t>
            </a:fld>
            <a:endParaRPr lang="en-JP"/>
          </a:p>
        </p:txBody>
      </p:sp>
    </p:spTree>
    <p:extLst>
      <p:ext uri="{BB962C8B-B14F-4D97-AF65-F5344CB8AC3E}">
        <p14:creationId xmlns:p14="http://schemas.microsoft.com/office/powerpoint/2010/main" val="685935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2E5F8E-F96B-E2F2-A546-46C71417CDA7}"/>
              </a:ext>
            </a:extLst>
          </p:cNvPr>
          <p:cNvSpPr txBox="1"/>
          <p:nvPr/>
        </p:nvSpPr>
        <p:spPr>
          <a:xfrm>
            <a:off x="619124" y="820017"/>
            <a:ext cx="7430229"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私はインターンシップで</a:t>
            </a:r>
            <a:r>
              <a:rPr lang="en-US" altLang="ja-JP" sz="2400" b="1" dirty="0">
                <a:latin typeface="Meiryo" panose="020B0604030504040204" pitchFamily="34" charset="-128"/>
                <a:ea typeface="Meiryo" panose="020B0604030504040204" pitchFamily="34" charset="-128"/>
              </a:rPr>
              <a:t>3</a:t>
            </a:r>
            <a:r>
              <a:rPr lang="ja-JP" altLang="en-US" sz="2400" b="1">
                <a:latin typeface="Meiryo" panose="020B0604030504040204" pitchFamily="34" charset="-128"/>
                <a:ea typeface="Meiryo" panose="020B0604030504040204" pitchFamily="34" charset="-128"/>
              </a:rPr>
              <a:t>つの活動を行いました</a:t>
            </a:r>
            <a:r>
              <a:rPr lang="en-US" altLang="ja-JP" sz="2400" b="1"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CBBEDD0C-5E81-F99E-1E2C-96E98C9673A8}"/>
              </a:ext>
            </a:extLst>
          </p:cNvPr>
          <p:cNvSpPr txBox="1"/>
          <p:nvPr/>
        </p:nvSpPr>
        <p:spPr>
          <a:xfrm>
            <a:off x="501780" y="1891953"/>
            <a:ext cx="7905750" cy="3624069"/>
          </a:xfrm>
          <a:prstGeom prst="rect">
            <a:avLst/>
          </a:prstGeom>
          <a:noFill/>
        </p:spPr>
        <p:txBody>
          <a:bodyPr wrap="square">
            <a:spAutoFit/>
          </a:bodyPr>
          <a:lstStyle/>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「ネットワークセキュリティ分析ツール」を作成しました。ログ解析を行いました</a:t>
            </a:r>
            <a:r>
              <a:rPr lang="mn-MN" altLang="ja-JP" sz="2400" dirty="0">
                <a:latin typeface="Meiryo" panose="020B0604030504040204" pitchFamily="34" charset="-128"/>
                <a:ea typeface="Meiryo" panose="020B0604030504040204" pitchFamily="34" charset="-128"/>
                <a:cs typeface="Times New Roman" panose="02020603050405020304" pitchFamily="18" charset="0"/>
              </a:rPr>
              <a:t>.</a:t>
            </a:r>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テスト用の</a:t>
            </a:r>
            <a:r>
              <a:rPr lang="en-US" sz="2400" dirty="0">
                <a:latin typeface="Meiryo" panose="020B0604030504040204" pitchFamily="34" charset="-128"/>
                <a:ea typeface="Meiryo" panose="020B0604030504040204" pitchFamily="34" charset="-128"/>
                <a:cs typeface="Times New Roman" panose="02020603050405020304" pitchFamily="18" charset="0"/>
              </a:rPr>
              <a:t>Web</a:t>
            </a:r>
            <a:r>
              <a:rPr lang="ja-JP" altLang="en-US" sz="2400">
                <a:latin typeface="Meiryo" panose="020B0604030504040204" pitchFamily="34" charset="-128"/>
                <a:ea typeface="Meiryo" panose="020B0604030504040204" pitchFamily="34" charset="-128"/>
                <a:cs typeface="Times New Roman" panose="02020603050405020304" pitchFamily="18" charset="0"/>
              </a:rPr>
              <a:t>サイトを作成して、攻撃からの守り方の基本を学びました</a:t>
            </a:r>
            <a:r>
              <a:rPr lang="mn-MN" altLang="ja-JP" sz="2400" dirty="0">
                <a:latin typeface="Meiryo" panose="020B0604030504040204" pitchFamily="34" charset="-128"/>
                <a:ea typeface="Meiryo" panose="020B0604030504040204" pitchFamily="34" charset="-128"/>
                <a:cs typeface="Times New Roman" panose="02020603050405020304" pitchFamily="18" charset="0"/>
              </a:rPr>
              <a:t>.</a:t>
            </a:r>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endParaRPr lang="en-US" sz="24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cs typeface="Times New Roman" panose="02020603050405020304" pitchFamily="18" charset="0"/>
              </a:rPr>
              <a:t>DVWA</a:t>
            </a:r>
            <a:r>
              <a:rPr lang="ja-JP" altLang="en-US" sz="2400">
                <a:latin typeface="Meiryo" panose="020B0604030504040204" pitchFamily="34" charset="-128"/>
                <a:ea typeface="Meiryo" panose="020B0604030504040204" pitchFamily="34" charset="-128"/>
                <a:cs typeface="Times New Roman" panose="02020603050405020304" pitchFamily="18" charset="0"/>
              </a:rPr>
              <a:t>というウェブ攻撃のパターンを学べるテスト用プログラムを使用していろいろな攻撃パターンで攻撃させながら、その基本を学びました</a:t>
            </a:r>
            <a:r>
              <a:rPr lang="mn-MN" altLang="ja-JP" sz="2400" dirty="0">
                <a:latin typeface="Meiryo" panose="020B0604030504040204" pitchFamily="34" charset="-128"/>
                <a:ea typeface="Meiryo" panose="020B0604030504040204" pitchFamily="34" charset="-128"/>
                <a:cs typeface="Times New Roman" panose="02020603050405020304" pitchFamily="18" charset="0"/>
              </a:rPr>
              <a:t>.</a:t>
            </a:r>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endParaRPr lang="en-JP" sz="1350" dirty="0"/>
          </a:p>
        </p:txBody>
      </p:sp>
      <p:sp>
        <p:nvSpPr>
          <p:cNvPr id="3" name="Slide Number Placeholder 2">
            <a:extLst>
              <a:ext uri="{FF2B5EF4-FFF2-40B4-BE49-F238E27FC236}">
                <a16:creationId xmlns:a16="http://schemas.microsoft.com/office/drawing/2014/main" id="{1A751744-5138-F108-47FF-24D3D9394E77}"/>
              </a:ext>
            </a:extLst>
          </p:cNvPr>
          <p:cNvSpPr>
            <a:spLocks noGrp="1"/>
          </p:cNvSpPr>
          <p:nvPr>
            <p:ph type="sldNum" sz="quarter" idx="12"/>
          </p:nvPr>
        </p:nvSpPr>
        <p:spPr/>
        <p:txBody>
          <a:bodyPr/>
          <a:lstStyle/>
          <a:p>
            <a:fld id="{4E09ECC2-A487-A54F-A842-0926C7D6AD98}" type="slidenum">
              <a:rPr lang="en-JP" smtClean="0"/>
              <a:t>2</a:t>
            </a:fld>
            <a:endParaRPr lang="en-JP"/>
          </a:p>
        </p:txBody>
      </p:sp>
    </p:spTree>
    <p:extLst>
      <p:ext uri="{BB962C8B-B14F-4D97-AF65-F5344CB8AC3E}">
        <p14:creationId xmlns:p14="http://schemas.microsoft.com/office/powerpoint/2010/main" val="151441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71C59A5-3702-D05B-8078-9BA436EABCB7}"/>
              </a:ext>
            </a:extLst>
          </p:cNvPr>
          <p:cNvSpPr>
            <a:spLocks noGrp="1"/>
          </p:cNvSpPr>
          <p:nvPr>
            <p:ph type="sldNum" sz="quarter" idx="12"/>
          </p:nvPr>
        </p:nvSpPr>
        <p:spPr>
          <a:xfrm>
            <a:off x="6468708" y="6281047"/>
            <a:ext cx="2057400" cy="365125"/>
          </a:xfrm>
        </p:spPr>
        <p:txBody>
          <a:bodyPr/>
          <a:lstStyle/>
          <a:p>
            <a:fld id="{4E09ECC2-A487-A54F-A842-0926C7D6AD98}" type="slidenum">
              <a:rPr lang="en-JP" smtClean="0"/>
              <a:t>3</a:t>
            </a:fld>
            <a:endParaRPr lang="en-JP"/>
          </a:p>
        </p:txBody>
      </p:sp>
      <p:sp>
        <p:nvSpPr>
          <p:cNvPr id="4" name="Rounded Rectangle 3">
            <a:extLst>
              <a:ext uri="{FF2B5EF4-FFF2-40B4-BE49-F238E27FC236}">
                <a16:creationId xmlns:a16="http://schemas.microsoft.com/office/drawing/2014/main" id="{BE41569B-F52D-84CD-2DEC-41C21EA444CB}"/>
              </a:ext>
            </a:extLst>
          </p:cNvPr>
          <p:cNvSpPr/>
          <p:nvPr/>
        </p:nvSpPr>
        <p:spPr>
          <a:xfrm>
            <a:off x="1592130" y="1276639"/>
            <a:ext cx="5613883" cy="92511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i="0" dirty="0">
                <a:effectLst/>
                <a:latin typeface="Meiryo" panose="020B0604030504040204" pitchFamily="34" charset="-128"/>
                <a:ea typeface="Meiryo" panose="020B0604030504040204" pitchFamily="34" charset="-128"/>
              </a:rPr>
              <a:t>My chosen topic</a:t>
            </a:r>
            <a:endParaRPr lang="mn-MN" sz="2400" b="1" i="0" dirty="0">
              <a:effectLst/>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0850D773-DC57-5CF8-8CF6-C4E1AF58C0FF}"/>
              </a:ext>
            </a:extLst>
          </p:cNvPr>
          <p:cNvSpPr/>
          <p:nvPr/>
        </p:nvSpPr>
        <p:spPr>
          <a:xfrm>
            <a:off x="365223" y="3292310"/>
            <a:ext cx="3733800" cy="1422177"/>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dirty="0">
              <a:solidFill>
                <a:schemeClr val="tx1"/>
              </a:solidFill>
              <a:effectLst/>
              <a:latin typeface="Meiryo" panose="020B0604030504040204" pitchFamily="34" charset="-128"/>
              <a:ea typeface="Meiryo" panose="020B0604030504040204" pitchFamily="34" charset="-128"/>
            </a:endParaRPr>
          </a:p>
          <a:p>
            <a:pPr algn="ctr"/>
            <a:r>
              <a:rPr lang="en-US" sz="2400" b="0" i="0" dirty="0">
                <a:solidFill>
                  <a:schemeClr val="tx1"/>
                </a:solidFill>
                <a:effectLst/>
                <a:latin typeface="Meiryo" panose="020B0604030504040204" pitchFamily="34" charset="-128"/>
                <a:ea typeface="Meiryo" panose="020B0604030504040204" pitchFamily="34" charset="-128"/>
              </a:rPr>
              <a:t>Traffic Eye_Log Analyzer</a:t>
            </a:r>
          </a:p>
          <a:p>
            <a:pPr algn="ctr"/>
            <a:endParaRPr lang="en-JP" sz="2400"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C5685323-12C3-2D76-8BB8-2FA3A46411D3}"/>
              </a:ext>
            </a:extLst>
          </p:cNvPr>
          <p:cNvSpPr/>
          <p:nvPr/>
        </p:nvSpPr>
        <p:spPr>
          <a:xfrm>
            <a:off x="4485467" y="3279995"/>
            <a:ext cx="3733800" cy="143449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0" i="0" dirty="0">
                <a:solidFill>
                  <a:schemeClr val="tx1"/>
                </a:solidFill>
                <a:effectLst/>
                <a:latin typeface="Meiryo" panose="020B0604030504040204" pitchFamily="34" charset="-128"/>
                <a:ea typeface="Meiryo" panose="020B0604030504040204" pitchFamily="34" charset="-128"/>
              </a:rPr>
              <a:t>Web</a:t>
            </a:r>
            <a:r>
              <a:rPr lang="ja-JP" altLang="en-US" sz="2400" b="0" i="0">
                <a:solidFill>
                  <a:schemeClr val="tx1"/>
                </a:solidFill>
                <a:effectLst/>
                <a:latin typeface="Meiryo" panose="020B0604030504040204" pitchFamily="34" charset="-128"/>
                <a:ea typeface="Meiryo" panose="020B0604030504040204" pitchFamily="34" charset="-128"/>
              </a:rPr>
              <a:t>ページ上でのアクセス制御方法について調査</a:t>
            </a:r>
            <a:endParaRPr lang="ja-JP" altLang="en-US" sz="2400">
              <a:solidFill>
                <a:schemeClr val="tx1"/>
              </a:solidFill>
              <a:effectLst/>
              <a:latin typeface="Meiryo" panose="020B0604030504040204" pitchFamily="34" charset="-128"/>
              <a:ea typeface="Meiryo" panose="020B0604030504040204" pitchFamily="34" charset="-128"/>
            </a:endParaRPr>
          </a:p>
        </p:txBody>
      </p:sp>
      <p:cxnSp>
        <p:nvCxnSpPr>
          <p:cNvPr id="8" name="Straight Connector 7">
            <a:extLst>
              <a:ext uri="{FF2B5EF4-FFF2-40B4-BE49-F238E27FC236}">
                <a16:creationId xmlns:a16="http://schemas.microsoft.com/office/drawing/2014/main" id="{AD22DAAD-6823-BEF8-AC96-EC69E33D1A3E}"/>
              </a:ext>
            </a:extLst>
          </p:cNvPr>
          <p:cNvCxnSpPr>
            <a:cxnSpLocks/>
          </p:cNvCxnSpPr>
          <p:nvPr/>
        </p:nvCxnSpPr>
        <p:spPr>
          <a:xfrm>
            <a:off x="4292245" y="2205800"/>
            <a:ext cx="0" cy="448506"/>
          </a:xfrm>
          <a:prstGeom prst="line">
            <a:avLst/>
          </a:prstGeom>
          <a:ln w="44450">
            <a:solidFill>
              <a:schemeClr val="accent1">
                <a:alpha val="88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D7228F-92CF-CD85-4747-32CF913EC499}"/>
              </a:ext>
            </a:extLst>
          </p:cNvPr>
          <p:cNvCxnSpPr>
            <a:cxnSpLocks/>
          </p:cNvCxnSpPr>
          <p:nvPr/>
        </p:nvCxnSpPr>
        <p:spPr>
          <a:xfrm>
            <a:off x="2027027" y="2675088"/>
            <a:ext cx="4474994" cy="22253"/>
          </a:xfrm>
          <a:prstGeom prst="line">
            <a:avLst/>
          </a:prstGeom>
          <a:ln w="44450">
            <a:solidFill>
              <a:schemeClr val="accent1">
                <a:alpha val="8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8343F9-5832-F2CE-55EF-8D4426FDB97B}"/>
              </a:ext>
            </a:extLst>
          </p:cNvPr>
          <p:cNvCxnSpPr>
            <a:cxnSpLocks/>
          </p:cNvCxnSpPr>
          <p:nvPr/>
        </p:nvCxnSpPr>
        <p:spPr>
          <a:xfrm flipV="1">
            <a:off x="2023539" y="2697341"/>
            <a:ext cx="3488" cy="594969"/>
          </a:xfrm>
          <a:prstGeom prst="line">
            <a:avLst/>
          </a:prstGeom>
          <a:ln w="44450">
            <a:solidFill>
              <a:schemeClr val="accent1">
                <a:alpha val="88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EFF859-E62F-A018-06C5-C59F1475D7EA}"/>
              </a:ext>
            </a:extLst>
          </p:cNvPr>
          <p:cNvCxnSpPr>
            <a:cxnSpLocks/>
          </p:cNvCxnSpPr>
          <p:nvPr/>
        </p:nvCxnSpPr>
        <p:spPr>
          <a:xfrm flipV="1">
            <a:off x="6502021" y="2697341"/>
            <a:ext cx="0" cy="558595"/>
          </a:xfrm>
          <a:prstGeom prst="line">
            <a:avLst/>
          </a:prstGeom>
          <a:ln w="44450">
            <a:solidFill>
              <a:schemeClr val="accent1">
                <a:alpha val="88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164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D9AFAE-ACDB-D16D-1BC8-9FAEFF07F00E}"/>
              </a:ext>
            </a:extLst>
          </p:cNvPr>
          <p:cNvSpPr>
            <a:spLocks noGrp="1"/>
          </p:cNvSpPr>
          <p:nvPr>
            <p:ph type="sldNum" sz="quarter" idx="12"/>
          </p:nvPr>
        </p:nvSpPr>
        <p:spPr/>
        <p:txBody>
          <a:bodyPr/>
          <a:lstStyle/>
          <a:p>
            <a:fld id="{4E09ECC2-A487-A54F-A842-0926C7D6AD98}" type="slidenum">
              <a:rPr lang="en-JP" smtClean="0"/>
              <a:t>4</a:t>
            </a:fld>
            <a:endParaRPr lang="en-JP" dirty="0"/>
          </a:p>
        </p:txBody>
      </p:sp>
      <p:pic>
        <p:nvPicPr>
          <p:cNvPr id="5" name="Picture 4">
            <a:extLst>
              <a:ext uri="{FF2B5EF4-FFF2-40B4-BE49-F238E27FC236}">
                <a16:creationId xmlns:a16="http://schemas.microsoft.com/office/drawing/2014/main" id="{5C53061F-A2F5-72C2-DAAE-84692BD0026F}"/>
              </a:ext>
            </a:extLst>
          </p:cNvPr>
          <p:cNvPicPr>
            <a:picLocks noChangeAspect="1"/>
          </p:cNvPicPr>
          <p:nvPr/>
        </p:nvPicPr>
        <p:blipFill>
          <a:blip r:embed="rId2"/>
          <a:stretch>
            <a:fillRect/>
          </a:stretch>
        </p:blipFill>
        <p:spPr>
          <a:xfrm>
            <a:off x="298717" y="1579921"/>
            <a:ext cx="8546565" cy="3280606"/>
          </a:xfrm>
          <a:prstGeom prst="rect">
            <a:avLst/>
          </a:prstGeom>
        </p:spPr>
      </p:pic>
      <p:sp>
        <p:nvSpPr>
          <p:cNvPr id="7" name="TextBox 6">
            <a:extLst>
              <a:ext uri="{FF2B5EF4-FFF2-40B4-BE49-F238E27FC236}">
                <a16:creationId xmlns:a16="http://schemas.microsoft.com/office/drawing/2014/main" id="{30EAFAFD-DA5F-F646-489B-171776468979}"/>
              </a:ext>
            </a:extLst>
          </p:cNvPr>
          <p:cNvSpPr txBox="1"/>
          <p:nvPr/>
        </p:nvSpPr>
        <p:spPr>
          <a:xfrm>
            <a:off x="667287" y="775247"/>
            <a:ext cx="7295881" cy="646331"/>
          </a:xfrm>
          <a:prstGeom prst="rect">
            <a:avLst/>
          </a:prstGeom>
          <a:noFill/>
        </p:spPr>
        <p:txBody>
          <a:bodyPr wrap="square">
            <a:spAutoFit/>
          </a:bodyPr>
          <a:lstStyle/>
          <a:p>
            <a:r>
              <a:rPr lang="ja-JP" altLang="en-US" sz="1800" i="0">
                <a:effectLst/>
                <a:latin typeface="Meiryo" panose="020B0604030504040204" pitchFamily="34" charset="-128"/>
                <a:ea typeface="Meiryo" panose="020B0604030504040204" pitchFamily="34" charset="-128"/>
              </a:rPr>
              <a:t>実際に稼働しているサーバーのログ分析に取り組んでもらう</a:t>
            </a:r>
            <a:endParaRPr lang="mn-MN" altLang="ja-JP" sz="1800" i="0" dirty="0">
              <a:effectLst/>
              <a:latin typeface="Meiryo" panose="020B0604030504040204" pitchFamily="34" charset="-128"/>
              <a:ea typeface="Meiryo" panose="020B0604030504040204" pitchFamily="34" charset="-128"/>
            </a:endParaRPr>
          </a:p>
          <a:p>
            <a:r>
              <a:rPr lang="ja-JP" altLang="en-US" sz="1800" i="0">
                <a:effectLst/>
                <a:latin typeface="Meiryo" panose="020B0604030504040204" pitchFamily="34" charset="-128"/>
                <a:ea typeface="Meiryo" panose="020B0604030504040204" pitchFamily="34" charset="-128"/>
              </a:rPr>
              <a:t>１日間かけて手作業にて分析をしました</a:t>
            </a:r>
            <a:r>
              <a:rPr lang="en-US" altLang="ja-JP" sz="1800" dirty="0">
                <a:latin typeface="Meiryo" panose="020B0604030504040204" pitchFamily="34" charset="-128"/>
                <a:ea typeface="Meiryo" panose="020B0604030504040204" pitchFamily="34" charset="-128"/>
              </a:rPr>
              <a:t>.</a:t>
            </a:r>
            <a:r>
              <a:rPr lang="en-US" altLang="ja-JP" dirty="0">
                <a:latin typeface="Meiryo" panose="020B0604030504040204" pitchFamily="34" charset="-128"/>
                <a:ea typeface="Meiryo" panose="020B0604030504040204" pitchFamily="34" charset="-128"/>
              </a:rPr>
              <a:t>(</a:t>
            </a:r>
            <a:r>
              <a:rPr lang="en-US" sz="1800" b="0" i="0" u="none" strike="noStrike" dirty="0" err="1">
                <a:solidFill>
                  <a:srgbClr val="000000"/>
                </a:solidFill>
                <a:effectLst/>
                <a:latin typeface="Arial" panose="020B0604020202020204" pitchFamily="34" charset="0"/>
              </a:rPr>
              <a:t>Powershell</a:t>
            </a:r>
            <a:r>
              <a:rPr lang="en-US" sz="1800" b="0" i="0" u="none" strike="noStrike" dirty="0">
                <a:solidFill>
                  <a:srgbClr val="000000"/>
                </a:solidFill>
                <a:effectLst/>
                <a:latin typeface="Arial" panose="020B0604020202020204" pitchFamily="34" charset="0"/>
              </a:rPr>
              <a:t> </a:t>
            </a:r>
            <a:r>
              <a:rPr lang="en-US" b="0" i="0" u="none" strike="noStrike" dirty="0">
                <a:solidFill>
                  <a:srgbClr val="000000"/>
                </a:solidFill>
                <a:effectLst/>
                <a:latin typeface="Meiryo" panose="020B0604030504040204" pitchFamily="34" charset="-128"/>
                <a:ea typeface="Meiryo" panose="020B0604030504040204" pitchFamily="34" charset="-128"/>
              </a:rPr>
              <a:t>)</a:t>
            </a:r>
            <a:r>
              <a:rPr lang="en-US" altLang="ja-JP" sz="1800" dirty="0">
                <a:latin typeface="Meiryo" panose="020B0604030504040204" pitchFamily="34" charset="-128"/>
                <a:ea typeface="Meiryo" panose="020B0604030504040204" pitchFamily="34" charset="-128"/>
              </a:rPr>
              <a:t>.</a:t>
            </a:r>
            <a:endParaRPr lang="ja-JP" altLang="en-US" sz="1800">
              <a:effectLst/>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22907F9-9C39-4F9C-B617-8EFAF78FD9A7}"/>
              </a:ext>
            </a:extLst>
          </p:cNvPr>
          <p:cNvSpPr txBox="1"/>
          <p:nvPr/>
        </p:nvSpPr>
        <p:spPr>
          <a:xfrm>
            <a:off x="542790" y="5133151"/>
            <a:ext cx="7185429" cy="646331"/>
          </a:xfrm>
          <a:prstGeom prst="rect">
            <a:avLst/>
          </a:prstGeom>
          <a:noFill/>
        </p:spPr>
        <p:txBody>
          <a:bodyPr wrap="square">
            <a:spAutoFit/>
          </a:bodyPr>
          <a:lstStyle/>
          <a:p>
            <a:r>
              <a:rPr lang="ja-JP" altLang="en-US" sz="1800" i="0">
                <a:solidFill>
                  <a:schemeClr val="accent1">
                    <a:lumMod val="75000"/>
                  </a:schemeClr>
                </a:solidFill>
                <a:effectLst/>
                <a:latin typeface="Meiryo" panose="020B0604030504040204" pitchFamily="34" charset="-128"/>
                <a:ea typeface="Meiryo" panose="020B0604030504040204" pitchFamily="34" charset="-128"/>
              </a:rPr>
              <a:t>その大変さから、「このサーバーのログ分析を自動化できないか」</a:t>
            </a:r>
            <a:r>
              <a:rPr lang="ja-JP" altLang="en-US">
                <a:solidFill>
                  <a:schemeClr val="accent1">
                    <a:lumMod val="75000"/>
                  </a:schemeClr>
                </a:solidFill>
                <a:latin typeface="Meiryo" panose="020B0604030504040204" pitchFamily="34" charset="-128"/>
                <a:ea typeface="Meiryo" panose="020B0604030504040204" pitchFamily="34" charset="-128"/>
              </a:rPr>
              <a:t> と考えました</a:t>
            </a:r>
            <a:endParaRPr lang="ja-JP" altLang="en-US" sz="1800" dirty="0">
              <a:solidFill>
                <a:schemeClr val="accent1">
                  <a:lumMod val="75000"/>
                </a:schemeClr>
              </a:solidFill>
              <a:effectLst/>
              <a:latin typeface="Meiryo" panose="020B0604030504040204" pitchFamily="34" charset="-128"/>
              <a:ea typeface="Meiryo" panose="020B0604030504040204" pitchFamily="34" charset="-128"/>
            </a:endParaRPr>
          </a:p>
        </p:txBody>
      </p:sp>
      <p:sp>
        <p:nvSpPr>
          <p:cNvPr id="13" name="Down Arrow 12">
            <a:extLst>
              <a:ext uri="{FF2B5EF4-FFF2-40B4-BE49-F238E27FC236}">
                <a16:creationId xmlns:a16="http://schemas.microsoft.com/office/drawing/2014/main" id="{7D9DC17D-F792-E05C-EB7D-6F24FF62DCE7}"/>
              </a:ext>
            </a:extLst>
          </p:cNvPr>
          <p:cNvSpPr/>
          <p:nvPr/>
        </p:nvSpPr>
        <p:spPr>
          <a:xfrm>
            <a:off x="5801128" y="1401683"/>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964388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79A1D-55B1-1187-1FA0-AD002EDF12CD}"/>
              </a:ext>
            </a:extLst>
          </p:cNvPr>
          <p:cNvSpPr>
            <a:spLocks noGrp="1"/>
          </p:cNvSpPr>
          <p:nvPr>
            <p:ph type="title"/>
          </p:nvPr>
        </p:nvSpPr>
        <p:spPr>
          <a:xfrm>
            <a:off x="455886" y="366998"/>
            <a:ext cx="7886700" cy="1325563"/>
          </a:xfrm>
        </p:spPr>
        <p:txBody>
          <a:bodyPr>
            <a:normAutofit/>
          </a:bodyPr>
          <a:lstStyle/>
          <a:p>
            <a:r>
              <a:rPr lang="ja-JP" altLang="en-US" sz="2800" b="1" i="0">
                <a:effectLst/>
                <a:latin typeface="Meiryo" panose="020B0604030504040204" pitchFamily="34" charset="-128"/>
                <a:ea typeface="Meiryo" panose="020B0604030504040204" pitchFamily="34" charset="-128"/>
              </a:rPr>
              <a:t>選んだ理由 </a:t>
            </a:r>
            <a:r>
              <a:rPr lang="en-US" altLang="ja-JP" sz="2800" b="1" i="0" dirty="0">
                <a:effectLst/>
                <a:latin typeface="Meiryo" panose="020B0604030504040204" pitchFamily="34" charset="-128"/>
                <a:ea typeface="Meiryo" panose="020B0604030504040204" pitchFamily="34" charset="-128"/>
              </a:rPr>
              <a:t>(</a:t>
            </a:r>
            <a:r>
              <a:rPr lang="en-US" sz="2800" b="1" i="0" dirty="0">
                <a:effectLst/>
                <a:latin typeface="Meiryo" panose="020B0604030504040204" pitchFamily="34" charset="-128"/>
                <a:ea typeface="Meiryo" panose="020B0604030504040204" pitchFamily="34" charset="-128"/>
              </a:rPr>
              <a:t>Reason for choosing)</a:t>
            </a:r>
            <a:endParaRPr lang="en-JP" sz="2800"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2E661774-B9D9-6F03-0808-801BD2C6D8BD}"/>
              </a:ext>
            </a:extLst>
          </p:cNvPr>
          <p:cNvSpPr>
            <a:spLocks noGrp="1"/>
          </p:cNvSpPr>
          <p:nvPr>
            <p:ph idx="1"/>
          </p:nvPr>
        </p:nvSpPr>
        <p:spPr>
          <a:xfrm>
            <a:off x="455886" y="1648864"/>
            <a:ext cx="7886700" cy="4896545"/>
          </a:xfrm>
        </p:spPr>
        <p:txBody>
          <a:bodyPr>
            <a:normAutofit/>
          </a:bodyPr>
          <a:lstStyle/>
          <a:p>
            <a:r>
              <a:rPr lang="ja-JP" altLang="en-US" sz="2400" i="0" dirty="0">
                <a:effectLst/>
                <a:latin typeface="Meiryo" panose="020B0604030504040204" pitchFamily="34" charset="-128"/>
                <a:ea typeface="Meiryo" panose="020B0604030504040204" pitchFamily="34" charset="-128"/>
              </a:rPr>
              <a:t>私は「ネットワークセキュリティ分析ツール」を作成</a:t>
            </a:r>
            <a:r>
              <a:rPr lang="ja-JP" altLang="en-US" sz="2400" i="0">
                <a:effectLst/>
                <a:latin typeface="Meiryo" panose="020B0604030504040204" pitchFamily="34" charset="-128"/>
                <a:ea typeface="Meiryo" panose="020B0604030504040204" pitchFamily="34" charset="-128"/>
              </a:rPr>
              <a:t>しました。</a:t>
            </a:r>
            <a:endParaRPr lang="ja-JP" altLang="en-US" sz="2400" dirty="0">
              <a:effectLst/>
              <a:latin typeface="Meiryo" panose="020B0604030504040204" pitchFamily="34" charset="-128"/>
              <a:ea typeface="Meiryo" panose="020B0604030504040204" pitchFamily="34" charset="-128"/>
            </a:endParaRPr>
          </a:p>
          <a:p>
            <a:r>
              <a:rPr lang="ja-JP" altLang="en-US" sz="2400" i="0" dirty="0">
                <a:effectLst/>
                <a:latin typeface="Meiryo" panose="020B0604030504040204" pitchFamily="34" charset="-128"/>
                <a:ea typeface="Meiryo" panose="020B0604030504040204" pitchFamily="34" charset="-128"/>
              </a:rPr>
              <a:t>そして実際の</a:t>
            </a:r>
            <a:r>
              <a:rPr lang="en-US" altLang="ja-JP" sz="2400" i="0" dirty="0">
                <a:effectLst/>
                <a:latin typeface="Meiryo" panose="020B0604030504040204" pitchFamily="34" charset="-128"/>
                <a:ea typeface="Meiryo" panose="020B0604030504040204" pitchFamily="34" charset="-128"/>
              </a:rPr>
              <a:t>6</a:t>
            </a:r>
            <a:r>
              <a:rPr lang="ja-JP" altLang="en-US" sz="2400" i="0" dirty="0">
                <a:effectLst/>
                <a:latin typeface="Meiryo" panose="020B0604030504040204" pitchFamily="34" charset="-128"/>
                <a:ea typeface="Meiryo" panose="020B0604030504040204" pitchFamily="34" charset="-128"/>
              </a:rPr>
              <a:t>日間のログの分析</a:t>
            </a:r>
            <a:r>
              <a:rPr lang="ja-JP" altLang="en-US" sz="2400" i="0">
                <a:effectLst/>
                <a:latin typeface="Meiryo" panose="020B0604030504040204" pitchFamily="34" charset="-128"/>
                <a:ea typeface="Meiryo" panose="020B0604030504040204" pitchFamily="34" charset="-128"/>
              </a:rPr>
              <a:t>を行いました</a:t>
            </a:r>
            <a:r>
              <a:rPr lang="en-US" altLang="ja-JP" sz="2400" i="0" dirty="0">
                <a:effectLst/>
                <a:latin typeface="Meiryo" panose="020B0604030504040204" pitchFamily="34" charset="-128"/>
                <a:ea typeface="Meiryo" panose="020B0604030504040204" pitchFamily="34" charset="-128"/>
              </a:rPr>
              <a:t>.</a:t>
            </a:r>
            <a:endParaRPr lang="ja-JP" altLang="en-US" sz="2400" dirty="0">
              <a:effectLst/>
              <a:latin typeface="Meiryo" panose="020B0604030504040204" pitchFamily="34" charset="-128"/>
              <a:ea typeface="Meiryo" panose="020B0604030504040204" pitchFamily="34" charset="-128"/>
            </a:endParaRPr>
          </a:p>
          <a:p>
            <a:r>
              <a:rPr lang="ja-JP" altLang="en-US" sz="2400" i="0" dirty="0">
                <a:effectLst/>
                <a:latin typeface="Meiryo" panose="020B0604030504040204" pitchFamily="34" charset="-128"/>
                <a:ea typeface="Meiryo" panose="020B0604030504040204" pitchFamily="34" charset="-128"/>
              </a:rPr>
              <a:t>まず私は実際のログを手作業で</a:t>
            </a:r>
            <a:r>
              <a:rPr lang="ja-JP" altLang="en-US" sz="2400" i="0">
                <a:effectLst/>
                <a:latin typeface="Meiryo" panose="020B0604030504040204" pitchFamily="34" charset="-128"/>
                <a:ea typeface="Meiryo" panose="020B0604030504040204" pitchFamily="34" charset="-128"/>
              </a:rPr>
              <a:t>分析しました</a:t>
            </a:r>
            <a:r>
              <a:rPr lang="en-US" altLang="ja-JP" sz="2400" i="0" dirty="0">
                <a:effectLst/>
                <a:latin typeface="Meiryo" panose="020B0604030504040204" pitchFamily="34" charset="-128"/>
                <a:ea typeface="Meiryo" panose="020B0604030504040204" pitchFamily="34" charset="-128"/>
              </a:rPr>
              <a:t>.</a:t>
            </a:r>
            <a:endParaRPr lang="ja-JP" altLang="en-US" sz="2400" dirty="0">
              <a:effectLst/>
              <a:latin typeface="Meiryo" panose="020B0604030504040204" pitchFamily="34" charset="-128"/>
              <a:ea typeface="Meiryo" panose="020B0604030504040204" pitchFamily="34" charset="-128"/>
            </a:endParaRPr>
          </a:p>
          <a:p>
            <a:r>
              <a:rPr lang="ja-JP" altLang="en-US" sz="2400" i="0" dirty="0">
                <a:effectLst/>
                <a:latin typeface="Meiryo" panose="020B0604030504040204" pitchFamily="34" charset="-128"/>
                <a:ea typeface="Meiryo" panose="020B0604030504040204" pitchFamily="34" charset="-128"/>
              </a:rPr>
              <a:t>１日間かけて手作業にて分析</a:t>
            </a:r>
            <a:r>
              <a:rPr lang="ja-JP" altLang="en-US" sz="2400" i="0">
                <a:effectLst/>
                <a:latin typeface="Meiryo" panose="020B0604030504040204" pitchFamily="34" charset="-128"/>
                <a:ea typeface="Meiryo" panose="020B0604030504040204" pitchFamily="34" charset="-128"/>
              </a:rPr>
              <a:t>をしました</a:t>
            </a:r>
            <a:r>
              <a:rPr lang="en-US" altLang="ja-JP" sz="2400" dirty="0">
                <a:latin typeface="Meiryo" panose="020B0604030504040204" pitchFamily="34" charset="-128"/>
                <a:ea typeface="Meiryo" panose="020B0604030504040204" pitchFamily="34" charset="-128"/>
              </a:rPr>
              <a:t>. </a:t>
            </a:r>
            <a:r>
              <a:rPr lang="ja-JP" altLang="en-US" sz="2400" i="0">
                <a:effectLst/>
                <a:latin typeface="Meiryo" panose="020B0604030504040204" pitchFamily="34" charset="-128"/>
                <a:ea typeface="Meiryo" panose="020B0604030504040204" pitchFamily="34" charset="-128"/>
              </a:rPr>
              <a:t>大変でした</a:t>
            </a:r>
            <a:r>
              <a:rPr lang="en-US" altLang="ja-JP" sz="2400" dirty="0">
                <a:latin typeface="Meiryo" panose="020B0604030504040204" pitchFamily="34" charset="-128"/>
                <a:ea typeface="Meiryo" panose="020B0604030504040204" pitchFamily="34" charset="-128"/>
              </a:rPr>
              <a:t>.</a:t>
            </a:r>
            <a:endParaRPr lang="ja-JP" altLang="en-US" sz="2400" dirty="0">
              <a:effectLst/>
              <a:latin typeface="Meiryo" panose="020B0604030504040204" pitchFamily="34" charset="-128"/>
              <a:ea typeface="Meiryo" panose="020B0604030504040204" pitchFamily="34" charset="-128"/>
            </a:endParaRPr>
          </a:p>
          <a:p>
            <a:r>
              <a:rPr lang="ja-JP" altLang="en-US" sz="2400" i="0" dirty="0">
                <a:effectLst/>
                <a:latin typeface="Meiryo" panose="020B0604030504040204" pitchFamily="34" charset="-128"/>
                <a:ea typeface="Meiryo" panose="020B0604030504040204" pitchFamily="34" charset="-128"/>
              </a:rPr>
              <a:t>その苦労を考えてツールを作れないかと考えて なんと！</a:t>
            </a:r>
            <a:endParaRPr lang="ja-JP" altLang="en-US" sz="2400" dirty="0">
              <a:effectLst/>
              <a:latin typeface="Meiryo" panose="020B0604030504040204" pitchFamily="34" charset="-128"/>
              <a:ea typeface="Meiryo" panose="020B0604030504040204" pitchFamily="34" charset="-128"/>
            </a:endParaRPr>
          </a:p>
          <a:p>
            <a:r>
              <a:rPr lang="ja-JP" altLang="en-US" sz="2400" i="0" dirty="0">
                <a:effectLst/>
                <a:latin typeface="Meiryo" panose="020B0604030504040204" pitchFamily="34" charset="-128"/>
                <a:ea typeface="Meiryo" panose="020B0604030504040204" pitchFamily="34" charset="-128"/>
              </a:rPr>
              <a:t>「ネットワークセキュリティ分析ツール」を作成</a:t>
            </a:r>
            <a:r>
              <a:rPr lang="ja-JP" altLang="en-US" sz="2400" i="0">
                <a:effectLst/>
                <a:latin typeface="Meiryo" panose="020B0604030504040204" pitchFamily="34" charset="-128"/>
                <a:ea typeface="Meiryo" panose="020B0604030504040204" pitchFamily="34" charset="-128"/>
              </a:rPr>
              <a:t>しました。</a:t>
            </a:r>
            <a:endParaRPr lang="en-US" altLang="ja-JP" sz="2400" i="0" dirty="0">
              <a:effectLst/>
              <a:latin typeface="Meiryo" panose="020B0604030504040204" pitchFamily="34" charset="-128"/>
              <a:ea typeface="Meiryo" panose="020B0604030504040204" pitchFamily="34" charset="-128"/>
            </a:endParaRPr>
          </a:p>
          <a:p>
            <a:pPr marL="0" indent="0">
              <a:buNone/>
            </a:pPr>
            <a:endParaRPr lang="en-US" altLang="ja-JP" sz="2400" i="0" dirty="0">
              <a:effectLst/>
              <a:latin typeface="Meiryo" panose="020B0604030504040204" pitchFamily="34" charset="-128"/>
              <a:ea typeface="Meiryo" panose="020B0604030504040204" pitchFamily="34" charset="-128"/>
            </a:endParaRPr>
          </a:p>
          <a:p>
            <a:endParaRPr lang="en-JP" dirty="0"/>
          </a:p>
        </p:txBody>
      </p:sp>
      <p:sp>
        <p:nvSpPr>
          <p:cNvPr id="4" name="Slide Number Placeholder 3">
            <a:extLst>
              <a:ext uri="{FF2B5EF4-FFF2-40B4-BE49-F238E27FC236}">
                <a16:creationId xmlns:a16="http://schemas.microsoft.com/office/drawing/2014/main" id="{78DB661E-A581-B590-F89D-828355662C80}"/>
              </a:ext>
            </a:extLst>
          </p:cNvPr>
          <p:cNvSpPr>
            <a:spLocks noGrp="1"/>
          </p:cNvSpPr>
          <p:nvPr>
            <p:ph type="sldNum" sz="quarter" idx="12"/>
          </p:nvPr>
        </p:nvSpPr>
        <p:spPr/>
        <p:txBody>
          <a:bodyPr/>
          <a:lstStyle/>
          <a:p>
            <a:fld id="{4E09ECC2-A487-A54F-A842-0926C7D6AD98}" type="slidenum">
              <a:rPr lang="en-JP" smtClean="0"/>
              <a:t>5</a:t>
            </a:fld>
            <a:endParaRPr lang="en-JP"/>
          </a:p>
        </p:txBody>
      </p:sp>
      <p:sp>
        <p:nvSpPr>
          <p:cNvPr id="5" name="TextBox 4">
            <a:extLst>
              <a:ext uri="{FF2B5EF4-FFF2-40B4-BE49-F238E27FC236}">
                <a16:creationId xmlns:a16="http://schemas.microsoft.com/office/drawing/2014/main" id="{300A6510-5A66-3E41-61A4-2A0C053744DD}"/>
              </a:ext>
            </a:extLst>
          </p:cNvPr>
          <p:cNvSpPr txBox="1"/>
          <p:nvPr/>
        </p:nvSpPr>
        <p:spPr>
          <a:xfrm>
            <a:off x="628650" y="5961342"/>
            <a:ext cx="6816860" cy="646331"/>
          </a:xfrm>
          <a:prstGeom prst="rect">
            <a:avLst/>
          </a:prstGeom>
          <a:noFill/>
          <a:ln>
            <a:solidFill>
              <a:schemeClr val="accent2">
                <a:lumMod val="75000"/>
              </a:schemeClr>
            </a:solidFill>
          </a:ln>
        </p:spPr>
        <p:txBody>
          <a:bodyPr wrap="square">
            <a:spAutoFit/>
          </a:bodyPr>
          <a:lstStyle/>
          <a:p>
            <a:pPr marL="0" indent="0">
              <a:buNone/>
            </a:pPr>
            <a:r>
              <a:rPr lang="ja-JP" altLang="en-US" sz="1800" i="0">
                <a:effectLst/>
                <a:latin typeface="Meiryo" panose="020B0604030504040204" pitchFamily="34" charset="-128"/>
                <a:ea typeface="Meiryo" panose="020B0604030504040204" pitchFamily="34" charset="-128"/>
              </a:rPr>
              <a:t>その名前は</a:t>
            </a:r>
            <a:endParaRPr lang="ja-JP" altLang="en-US" sz="1800">
              <a:effectLst/>
              <a:latin typeface="Meiryo" panose="020B0604030504040204" pitchFamily="34" charset="-128"/>
              <a:ea typeface="Meiryo" panose="020B0604030504040204" pitchFamily="34" charset="-128"/>
            </a:endParaRPr>
          </a:p>
          <a:p>
            <a:r>
              <a:rPr lang="ja-JP" altLang="en-US" sz="1800" i="0">
                <a:effectLst/>
                <a:latin typeface="Meiryo" panose="020B0604030504040204" pitchFamily="34" charset="-128"/>
                <a:ea typeface="Meiryo" panose="020B0604030504040204" pitchFamily="34" charset="-128"/>
              </a:rPr>
              <a:t>「</a:t>
            </a:r>
            <a:r>
              <a:rPr lang="en-US" sz="1800" i="0" dirty="0">
                <a:solidFill>
                  <a:srgbClr val="C00000"/>
                </a:solidFill>
                <a:effectLst/>
                <a:latin typeface="Meiryo" panose="020B0604030504040204" pitchFamily="34" charset="-128"/>
                <a:ea typeface="Meiryo" panose="020B0604030504040204" pitchFamily="34" charset="-128"/>
              </a:rPr>
              <a:t>Traffic Eye_Log analyzer</a:t>
            </a:r>
            <a:r>
              <a:rPr lang="en-US" sz="1800" i="0" dirty="0">
                <a:effectLst/>
                <a:latin typeface="Meiryo" panose="020B0604030504040204" pitchFamily="34" charset="-128"/>
                <a:ea typeface="Meiryo" panose="020B0604030504040204" pitchFamily="34" charset="-128"/>
              </a:rPr>
              <a:t>」</a:t>
            </a:r>
            <a:r>
              <a:rPr lang="ja-JP" altLang="en-US" sz="1800" i="0">
                <a:effectLst/>
                <a:latin typeface="Meiryo" panose="020B0604030504040204" pitchFamily="34" charset="-128"/>
                <a:ea typeface="Meiryo" panose="020B0604030504040204" pitchFamily="34" charset="-128"/>
              </a:rPr>
              <a:t>です</a:t>
            </a:r>
            <a:r>
              <a:rPr lang="mn-MN" altLang="ja-JP" sz="1800" i="0" dirty="0">
                <a:effectLst/>
                <a:latin typeface="Meiryo" panose="020B0604030504040204" pitchFamily="34" charset="-128"/>
                <a:ea typeface="Meiryo" panose="020B0604030504040204" pitchFamily="34" charset="-128"/>
              </a:rPr>
              <a:t>. </a:t>
            </a:r>
            <a:r>
              <a:rPr lang="ja-JP" altLang="en-US" sz="1800" i="0">
                <a:effectLst/>
                <a:latin typeface="Meiryo" panose="020B0604030504040204" pitchFamily="34" charset="-128"/>
                <a:ea typeface="Meiryo" panose="020B0604030504040204" pitchFamily="34" charset="-128"/>
              </a:rPr>
              <a:t>サーバーログ解析システム</a:t>
            </a:r>
            <a:endParaRPr lang="ja-JP" altLang="en-US" sz="1800" dirty="0">
              <a:effectLst/>
              <a:latin typeface="Meiryo" panose="020B0604030504040204" pitchFamily="34" charset="-128"/>
              <a:ea typeface="Meiryo" panose="020B0604030504040204" pitchFamily="34" charset="-128"/>
            </a:endParaRPr>
          </a:p>
        </p:txBody>
      </p:sp>
      <p:sp>
        <p:nvSpPr>
          <p:cNvPr id="6" name="Down Arrow 5">
            <a:extLst>
              <a:ext uri="{FF2B5EF4-FFF2-40B4-BE49-F238E27FC236}">
                <a16:creationId xmlns:a16="http://schemas.microsoft.com/office/drawing/2014/main" id="{7A3F6B28-2E6C-A7FA-D11B-96A22574D11B}"/>
              </a:ext>
            </a:extLst>
          </p:cNvPr>
          <p:cNvSpPr/>
          <p:nvPr/>
        </p:nvSpPr>
        <p:spPr>
          <a:xfrm>
            <a:off x="1247729" y="5355856"/>
            <a:ext cx="272425" cy="491683"/>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Tree>
    <p:extLst>
      <p:ext uri="{BB962C8B-B14F-4D97-AF65-F5344CB8AC3E}">
        <p14:creationId xmlns:p14="http://schemas.microsoft.com/office/powerpoint/2010/main" val="3483356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008A5-755A-0524-9B12-C10865EC57CD}"/>
              </a:ext>
            </a:extLst>
          </p:cNvPr>
          <p:cNvSpPr>
            <a:spLocks noGrp="1"/>
          </p:cNvSpPr>
          <p:nvPr>
            <p:ph idx="1"/>
          </p:nvPr>
        </p:nvSpPr>
        <p:spPr>
          <a:xfrm>
            <a:off x="425933" y="462109"/>
            <a:ext cx="8579784" cy="1380153"/>
          </a:xfrm>
        </p:spPr>
        <p:txBody>
          <a:bodyPr>
            <a:normAutofit/>
          </a:bodyPr>
          <a:lstStyle/>
          <a:p>
            <a:pPr marL="0" indent="0">
              <a:buNone/>
            </a:pPr>
            <a:r>
              <a:rPr lang="en-US" sz="2000" i="0" dirty="0">
                <a:effectLst/>
                <a:latin typeface="Meiryo" panose="020B0604030504040204" pitchFamily="34" charset="-128"/>
                <a:ea typeface="Meiryo" panose="020B0604030504040204" pitchFamily="34" charset="-128"/>
              </a:rPr>
              <a:t>Traffic Eye_Log Analyzer</a:t>
            </a:r>
            <a:r>
              <a:rPr lang="ja-JP" altLang="en-US" sz="2000" i="0">
                <a:effectLst/>
                <a:latin typeface="Meiryo" panose="020B0604030504040204" pitchFamily="34" charset="-128"/>
                <a:ea typeface="Meiryo" panose="020B0604030504040204" pitchFamily="34" charset="-128"/>
              </a:rPr>
              <a:t>は、ログを自動で解析し、グラフで可視化することで、疑わしい</a:t>
            </a:r>
            <a:r>
              <a:rPr lang="en-US" sz="2000" i="0" dirty="0">
                <a:effectLst/>
                <a:latin typeface="Meiryo" panose="020B0604030504040204" pitchFamily="34" charset="-128"/>
                <a:ea typeface="Meiryo" panose="020B0604030504040204" pitchFamily="34" charset="-128"/>
              </a:rPr>
              <a:t>IP</a:t>
            </a:r>
            <a:r>
              <a:rPr lang="ja-JP" altLang="en-US" sz="2000" i="0">
                <a:effectLst/>
                <a:latin typeface="Meiryo" panose="020B0604030504040204" pitchFamily="34" charset="-128"/>
                <a:ea typeface="Meiryo" panose="020B0604030504040204" pitchFamily="34" charset="-128"/>
              </a:rPr>
              <a:t>や高負荷を迅速に特定し、管理者の作業時間を節約し、セキュリティを向上させます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01A5292F-962A-0AED-3C2E-B51E20D1C92E}"/>
              </a:ext>
            </a:extLst>
          </p:cNvPr>
          <p:cNvSpPr>
            <a:spLocks noGrp="1"/>
          </p:cNvSpPr>
          <p:nvPr>
            <p:ph type="sldNum" sz="quarter" idx="12"/>
          </p:nvPr>
        </p:nvSpPr>
        <p:spPr/>
        <p:txBody>
          <a:bodyPr/>
          <a:lstStyle/>
          <a:p>
            <a:fld id="{4E09ECC2-A487-A54F-A842-0926C7D6AD98}" type="slidenum">
              <a:rPr lang="en-JP" smtClean="0"/>
              <a:t>6</a:t>
            </a:fld>
            <a:endParaRPr lang="en-JP"/>
          </a:p>
        </p:txBody>
      </p:sp>
      <p:pic>
        <p:nvPicPr>
          <p:cNvPr id="5" name="Picture 4">
            <a:extLst>
              <a:ext uri="{FF2B5EF4-FFF2-40B4-BE49-F238E27FC236}">
                <a16:creationId xmlns:a16="http://schemas.microsoft.com/office/drawing/2014/main" id="{E9646336-6A68-AA39-B12A-FE77C7F12F26}"/>
              </a:ext>
            </a:extLst>
          </p:cNvPr>
          <p:cNvPicPr>
            <a:picLocks noChangeAspect="1"/>
          </p:cNvPicPr>
          <p:nvPr/>
        </p:nvPicPr>
        <p:blipFill>
          <a:blip r:embed="rId2"/>
          <a:stretch>
            <a:fillRect/>
          </a:stretch>
        </p:blipFill>
        <p:spPr>
          <a:xfrm>
            <a:off x="256617" y="1984714"/>
            <a:ext cx="3858185" cy="3721100"/>
          </a:xfrm>
          <a:prstGeom prst="rect">
            <a:avLst/>
          </a:prstGeom>
        </p:spPr>
      </p:pic>
      <p:sp>
        <p:nvSpPr>
          <p:cNvPr id="7" name="TextBox 6">
            <a:extLst>
              <a:ext uri="{FF2B5EF4-FFF2-40B4-BE49-F238E27FC236}">
                <a16:creationId xmlns:a16="http://schemas.microsoft.com/office/drawing/2014/main" id="{771E4AA6-4BC5-7245-9CB1-DC2251F961CD}"/>
              </a:ext>
            </a:extLst>
          </p:cNvPr>
          <p:cNvSpPr txBox="1"/>
          <p:nvPr/>
        </p:nvSpPr>
        <p:spPr>
          <a:xfrm>
            <a:off x="3915177" y="2610005"/>
            <a:ext cx="4972206" cy="2246769"/>
          </a:xfrm>
          <a:prstGeom prst="rect">
            <a:avLst/>
          </a:prstGeom>
          <a:noFill/>
        </p:spPr>
        <p:txBody>
          <a:bodyPr wrap="square">
            <a:spAutoFit/>
          </a:bodyPr>
          <a:lstStyle/>
          <a:p>
            <a:r>
              <a:rPr lang="ja-JP" altLang="en-US" sz="2000" b="1" i="0">
                <a:effectLst/>
                <a:latin typeface="Meiryo" panose="020B0604030504040204" pitchFamily="34" charset="-128"/>
                <a:ea typeface="Meiryo" panose="020B0604030504040204" pitchFamily="34" charset="-128"/>
              </a:rPr>
              <a:t>主な特徴 </a:t>
            </a:r>
            <a:r>
              <a:rPr lang="en-US" altLang="ja-JP" sz="2000" b="1" i="0" dirty="0">
                <a:effectLst/>
                <a:latin typeface="Meiryo" panose="020B0604030504040204" pitchFamily="34" charset="-128"/>
                <a:ea typeface="Meiryo" panose="020B0604030504040204" pitchFamily="34" charset="-128"/>
              </a:rPr>
              <a:t>1</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ログファイルの読み込み </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サーバーの </a:t>
            </a:r>
            <a:r>
              <a:rPr lang="en-US" sz="2000" dirty="0">
                <a:latin typeface="Meiryo" panose="020B0604030504040204" pitchFamily="34" charset="-128"/>
                <a:ea typeface="Meiryo" panose="020B0604030504040204" pitchFamily="34" charset="-128"/>
              </a:rPr>
              <a:t>access.log </a:t>
            </a:r>
            <a:r>
              <a:rPr lang="ja-JP" altLang="en-US" sz="2000">
                <a:latin typeface="Meiryo" panose="020B0604030504040204" pitchFamily="34" charset="-128"/>
                <a:ea typeface="Meiryo" panose="020B0604030504040204" pitchFamily="34" charset="-128"/>
              </a:rPr>
              <a:t>や </a:t>
            </a:r>
            <a:r>
              <a:rPr lang="en-US" sz="2000" dirty="0">
                <a:latin typeface="Meiryo" panose="020B0604030504040204" pitchFamily="34" charset="-128"/>
                <a:ea typeface="Meiryo" panose="020B0604030504040204" pitchFamily="34" charset="-128"/>
              </a:rPr>
              <a:t>error.log </a:t>
            </a:r>
            <a:r>
              <a:rPr lang="ja-JP" altLang="en-US" sz="2000">
                <a:latin typeface="Meiryo" panose="020B0604030504040204" pitchFamily="34" charset="-128"/>
                <a:ea typeface="Meiryo" panose="020B0604030504040204" pitchFamily="34" charset="-128"/>
              </a:rPr>
              <a:t>を読み込む。</a:t>
            </a:r>
          </a:p>
          <a:p>
            <a:r>
              <a:rPr lang="ja-JP" altLang="en-US" sz="2000">
                <a:latin typeface="Meiryo" panose="020B0604030504040204" pitchFamily="34" charset="-128"/>
                <a:ea typeface="Meiryo" panose="020B0604030504040204" pitchFamily="34" charset="-128"/>
              </a:rPr>
              <a:t>データ処理 </a:t>
            </a:r>
            <a:r>
              <a:rPr lang="en-US" altLang="ja-JP"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IP</a:t>
            </a:r>
            <a:r>
              <a:rPr lang="ja-JP" altLang="en-US" sz="2000">
                <a:latin typeface="Meiryo" panose="020B0604030504040204" pitchFamily="34" charset="-128"/>
                <a:ea typeface="Meiryo" panose="020B0604030504040204" pitchFamily="34" charset="-128"/>
              </a:rPr>
              <a:t>アドレス、リクエストタイプ（</a:t>
            </a:r>
            <a:r>
              <a:rPr lang="en-US" sz="2000" dirty="0">
                <a:latin typeface="Meiryo" panose="020B0604030504040204" pitchFamily="34" charset="-128"/>
                <a:ea typeface="Meiryo" panose="020B0604030504040204" pitchFamily="34" charset="-128"/>
              </a:rPr>
              <a:t>GET、POST</a:t>
            </a:r>
            <a:r>
              <a:rPr lang="ja-JP" altLang="en-US" sz="2000">
                <a:latin typeface="Meiryo" panose="020B0604030504040204" pitchFamily="34" charset="-128"/>
                <a:ea typeface="Meiryo" panose="020B0604030504040204" pitchFamily="34" charset="-128"/>
              </a:rPr>
              <a:t>など）、リクエスト時間、ステータスコード（</a:t>
            </a:r>
            <a:r>
              <a:rPr lang="en-US" altLang="ja-JP" sz="2000" dirty="0">
                <a:latin typeface="Meiryo" panose="020B0604030504040204" pitchFamily="34" charset="-128"/>
                <a:ea typeface="Meiryo" panose="020B0604030504040204" pitchFamily="34" charset="-128"/>
              </a:rPr>
              <a:t>200</a:t>
            </a:r>
            <a:r>
              <a:rPr lang="ja-JP" altLang="en-US" sz="2000">
                <a:latin typeface="Meiryo" panose="020B0604030504040204" pitchFamily="34" charset="-128"/>
                <a:ea typeface="Meiryo" panose="020B0604030504040204" pitchFamily="34" charset="-128"/>
              </a:rPr>
              <a:t>、</a:t>
            </a:r>
            <a:r>
              <a:rPr lang="en-US" altLang="ja-JP" sz="2000" dirty="0">
                <a:latin typeface="Meiryo" panose="020B0604030504040204" pitchFamily="34" charset="-128"/>
                <a:ea typeface="Meiryo" panose="020B0604030504040204" pitchFamily="34" charset="-128"/>
              </a:rPr>
              <a:t>404</a:t>
            </a:r>
            <a:r>
              <a:rPr lang="ja-JP" altLang="en-US" sz="2000">
                <a:latin typeface="Meiryo" panose="020B0604030504040204" pitchFamily="34" charset="-128"/>
                <a:ea typeface="Meiryo" panose="020B0604030504040204" pitchFamily="34" charset="-128"/>
              </a:rPr>
              <a:t>、</a:t>
            </a:r>
            <a:r>
              <a:rPr lang="en-US" altLang="ja-JP" sz="2000" dirty="0">
                <a:latin typeface="Meiryo" panose="020B0604030504040204" pitchFamily="34" charset="-128"/>
                <a:ea typeface="Meiryo" panose="020B0604030504040204" pitchFamily="34" charset="-128"/>
              </a:rPr>
              <a:t>500</a:t>
            </a:r>
            <a:r>
              <a:rPr lang="ja-JP" altLang="en-US" sz="2000">
                <a:latin typeface="Meiryo" panose="020B0604030504040204" pitchFamily="34" charset="-128"/>
                <a:ea typeface="Meiryo" panose="020B0604030504040204" pitchFamily="34" charset="-128"/>
              </a:rPr>
              <a:t>など）を解析</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165865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C6D8F-A6E7-824D-BFF0-DD3341C03EA4}"/>
              </a:ext>
            </a:extLst>
          </p:cNvPr>
          <p:cNvSpPr>
            <a:spLocks noGrp="1"/>
          </p:cNvSpPr>
          <p:nvPr>
            <p:ph idx="1"/>
          </p:nvPr>
        </p:nvSpPr>
        <p:spPr>
          <a:xfrm>
            <a:off x="488801" y="405616"/>
            <a:ext cx="7886700" cy="2929255"/>
          </a:xfrm>
        </p:spPr>
        <p:txBody>
          <a:bodyPr>
            <a:normAutofit lnSpcReduction="10000"/>
          </a:bodyPr>
          <a:lstStyle/>
          <a:p>
            <a:pPr marL="0" indent="0">
              <a:buNone/>
            </a:pPr>
            <a:r>
              <a:rPr lang="ja-JP" altLang="en-US" sz="2000" b="1" i="0">
                <a:effectLst/>
                <a:latin typeface="Meiryo" panose="020B0604030504040204" pitchFamily="34" charset="-128"/>
                <a:ea typeface="Meiryo" panose="020B0604030504040204" pitchFamily="34" charset="-128"/>
              </a:rPr>
              <a:t>主な特徴 </a:t>
            </a:r>
            <a:r>
              <a:rPr lang="en-US" altLang="ja-JP" sz="2000" b="1" i="0" dirty="0">
                <a:effectLst/>
                <a:latin typeface="Meiryo" panose="020B0604030504040204" pitchFamily="34" charset="-128"/>
                <a:ea typeface="Meiryo" panose="020B0604030504040204" pitchFamily="34" charset="-128"/>
              </a:rPr>
              <a:t>2</a:t>
            </a:r>
          </a:p>
          <a:p>
            <a:pPr marL="0" indent="0">
              <a:buNone/>
            </a:pPr>
            <a:endParaRPr lang="en-US" altLang="ja-JP" sz="2000" b="1" i="0" dirty="0">
              <a:effectLst/>
              <a:latin typeface="Meiryo" panose="020B0604030504040204" pitchFamily="34" charset="-128"/>
              <a:ea typeface="Meiryo" panose="020B0604030504040204" pitchFamily="34" charset="-128"/>
            </a:endParaRPr>
          </a:p>
          <a:p>
            <a:r>
              <a:rPr lang="en-US" sz="2000" b="0" i="0" dirty="0">
                <a:effectLst/>
                <a:latin typeface="Meiryo" panose="020B0604030504040204" pitchFamily="34" charset="-128"/>
                <a:ea typeface="Meiryo" panose="020B0604030504040204" pitchFamily="34" charset="-128"/>
              </a:rPr>
              <a:t>total number of distinct IP addresses </a:t>
            </a:r>
            <a:r>
              <a:rPr lang="ja-JP" altLang="en-US" sz="2000" b="0" i="0">
                <a:effectLst/>
                <a:latin typeface="Meiryo" panose="020B0604030504040204" pitchFamily="34" charset="-128"/>
                <a:ea typeface="Meiryo" panose="020B0604030504040204" pitchFamily="34" charset="-128"/>
              </a:rPr>
              <a:t>総ユニーク</a:t>
            </a:r>
            <a:r>
              <a:rPr lang="en-US" sz="2000" b="0" i="0" dirty="0">
                <a:effectLst/>
                <a:latin typeface="Meiryo" panose="020B0604030504040204" pitchFamily="34" charset="-128"/>
                <a:ea typeface="Meiryo" panose="020B0604030504040204" pitchFamily="34" charset="-128"/>
              </a:rPr>
              <a:t>IP</a:t>
            </a:r>
            <a:r>
              <a:rPr lang="ja-JP" altLang="en-US" sz="2000" b="0" i="0">
                <a:effectLst/>
                <a:latin typeface="Meiryo" panose="020B0604030504040204" pitchFamily="34" charset="-128"/>
                <a:ea typeface="Meiryo" panose="020B0604030504040204" pitchFamily="34" charset="-128"/>
              </a:rPr>
              <a:t>数</a:t>
            </a:r>
            <a:endParaRPr lang="ja-JP" altLang="en-US" sz="2000">
              <a:effectLst/>
              <a:latin typeface="Meiryo" panose="020B0604030504040204" pitchFamily="34" charset="-128"/>
              <a:ea typeface="Meiryo" panose="020B0604030504040204" pitchFamily="34" charset="-128"/>
            </a:endParaRPr>
          </a:p>
          <a:p>
            <a:r>
              <a:rPr lang="ja-JP" altLang="en-US" sz="2000" b="0" i="0">
                <a:effectLst/>
                <a:latin typeface="Meiryo" panose="020B0604030504040204" pitchFamily="34" charset="-128"/>
                <a:ea typeface="Meiryo" panose="020B0604030504040204" pitchFamily="34" charset="-128"/>
              </a:rPr>
              <a:t>最大リクエスト数を送信した</a:t>
            </a:r>
            <a:r>
              <a:rPr lang="en-US" sz="2000" b="0" i="0" dirty="0">
                <a:effectLst/>
                <a:latin typeface="Meiryo" panose="020B0604030504040204" pitchFamily="34" charset="-128"/>
                <a:ea typeface="Meiryo" panose="020B0604030504040204" pitchFamily="34" charset="-128"/>
              </a:rPr>
              <a:t>IP</a:t>
            </a:r>
            <a:endParaRPr lang="en-US" sz="2000" dirty="0">
              <a:effectLst/>
              <a:latin typeface="Meiryo" panose="020B0604030504040204" pitchFamily="34" charset="-128"/>
              <a:ea typeface="Meiryo" panose="020B0604030504040204" pitchFamily="34" charset="-128"/>
            </a:endParaRPr>
          </a:p>
          <a:p>
            <a:r>
              <a:rPr lang="ja-JP" altLang="en-US" sz="2000" b="0" i="0">
                <a:effectLst/>
                <a:latin typeface="Meiryo" panose="020B0604030504040204" pitchFamily="34" charset="-128"/>
                <a:ea typeface="Meiryo" panose="020B0604030504040204" pitchFamily="34" charset="-128"/>
              </a:rPr>
              <a:t>最もアクセスされた</a:t>
            </a:r>
            <a:r>
              <a:rPr lang="en-US" sz="2000" b="0" i="0" dirty="0">
                <a:effectLst/>
                <a:latin typeface="Meiryo" panose="020B0604030504040204" pitchFamily="34" charset="-128"/>
                <a:ea typeface="Meiryo" panose="020B0604030504040204" pitchFamily="34" charset="-128"/>
              </a:rPr>
              <a:t>URL</a:t>
            </a:r>
            <a:endParaRPr lang="en-US" sz="2000" dirty="0">
              <a:effectLst/>
              <a:latin typeface="Meiryo" panose="020B0604030504040204" pitchFamily="34" charset="-128"/>
              <a:ea typeface="Meiryo" panose="020B0604030504040204" pitchFamily="34" charset="-128"/>
            </a:endParaRPr>
          </a:p>
          <a:p>
            <a:r>
              <a:rPr lang="ja-JP" altLang="en-US" sz="2000" b="0" i="0">
                <a:effectLst/>
                <a:latin typeface="Meiryo" panose="020B0604030504040204" pitchFamily="34" charset="-128"/>
                <a:ea typeface="Meiryo" panose="020B0604030504040204" pitchFamily="34" charset="-128"/>
              </a:rPr>
              <a:t>日別・時間別・分別トラフィックのグラフ</a:t>
            </a:r>
            <a:endParaRPr lang="ja-JP" altLang="en-US" sz="2000">
              <a:effectLst/>
              <a:latin typeface="Meiryo" panose="020B0604030504040204" pitchFamily="34" charset="-128"/>
              <a:ea typeface="Meiryo" panose="020B0604030504040204" pitchFamily="34" charset="-128"/>
            </a:endParaRPr>
          </a:p>
          <a:p>
            <a:r>
              <a:rPr lang="ja-JP" altLang="en-US" sz="2000" b="0" i="0">
                <a:effectLst/>
                <a:latin typeface="Meiryo" panose="020B0604030504040204" pitchFamily="34" charset="-128"/>
                <a:ea typeface="Meiryo" panose="020B0604030504040204" pitchFamily="34" charset="-128"/>
              </a:rPr>
              <a:t>可視化 </a:t>
            </a:r>
            <a:r>
              <a:rPr lang="en-US" altLang="ja-JP" sz="2000" b="0" i="0" dirty="0">
                <a:effectLst/>
                <a:latin typeface="Meiryo" panose="020B0604030504040204" pitchFamily="34" charset="-128"/>
                <a:ea typeface="Meiryo" panose="020B0604030504040204" pitchFamily="34" charset="-128"/>
              </a:rPr>
              <a:t>– </a:t>
            </a:r>
            <a:r>
              <a:rPr lang="ja-JP" altLang="en-US" sz="2000" b="0" i="0">
                <a:effectLst/>
                <a:latin typeface="Meiryo" panose="020B0604030504040204" pitchFamily="34" charset="-128"/>
                <a:ea typeface="Meiryo" panose="020B0604030504040204" pitchFamily="34" charset="-128"/>
              </a:rPr>
              <a:t>横棒グラフ、縦棒グラフ、円グラフ、折れ線グラフでデータを見やすく表示</a:t>
            </a:r>
            <a:endParaRPr lang="ja-JP" altLang="en-US" sz="2000">
              <a:effectLst/>
              <a:latin typeface="Meiryo" panose="020B0604030504040204" pitchFamily="34" charset="-128"/>
              <a:ea typeface="Meiryo" panose="020B0604030504040204" pitchFamily="34" charset="-128"/>
            </a:endParaRPr>
          </a:p>
          <a:p>
            <a:endParaRPr lang="en-JP" dirty="0"/>
          </a:p>
        </p:txBody>
      </p:sp>
      <p:sp>
        <p:nvSpPr>
          <p:cNvPr id="4" name="Slide Number Placeholder 3">
            <a:extLst>
              <a:ext uri="{FF2B5EF4-FFF2-40B4-BE49-F238E27FC236}">
                <a16:creationId xmlns:a16="http://schemas.microsoft.com/office/drawing/2014/main" id="{BDA6C37F-C048-72F7-5A77-EC3D5FDB97E6}"/>
              </a:ext>
            </a:extLst>
          </p:cNvPr>
          <p:cNvSpPr>
            <a:spLocks noGrp="1"/>
          </p:cNvSpPr>
          <p:nvPr>
            <p:ph type="sldNum" sz="quarter" idx="12"/>
          </p:nvPr>
        </p:nvSpPr>
        <p:spPr/>
        <p:txBody>
          <a:bodyPr/>
          <a:lstStyle/>
          <a:p>
            <a:fld id="{4E09ECC2-A487-A54F-A842-0926C7D6AD98}" type="slidenum">
              <a:rPr lang="en-JP" smtClean="0"/>
              <a:t>7</a:t>
            </a:fld>
            <a:endParaRPr lang="en-JP"/>
          </a:p>
        </p:txBody>
      </p:sp>
      <p:sp>
        <p:nvSpPr>
          <p:cNvPr id="6" name="TextBox 5">
            <a:extLst>
              <a:ext uri="{FF2B5EF4-FFF2-40B4-BE49-F238E27FC236}">
                <a16:creationId xmlns:a16="http://schemas.microsoft.com/office/drawing/2014/main" id="{D46BA06D-433D-7988-D331-1F9371A9F432}"/>
              </a:ext>
            </a:extLst>
          </p:cNvPr>
          <p:cNvSpPr txBox="1"/>
          <p:nvPr/>
        </p:nvSpPr>
        <p:spPr>
          <a:xfrm>
            <a:off x="661595" y="3681471"/>
            <a:ext cx="4572000" cy="400110"/>
          </a:xfrm>
          <a:prstGeom prst="rect">
            <a:avLst/>
          </a:prstGeom>
          <a:noFill/>
        </p:spPr>
        <p:txBody>
          <a:bodyPr wrap="square">
            <a:spAutoFit/>
          </a:bodyPr>
          <a:lstStyle/>
          <a:p>
            <a:r>
              <a:rPr lang="ja-JP" altLang="en-US" sz="2000" b="1" i="0">
                <a:effectLst/>
                <a:latin typeface="Meiryo" panose="020B0604030504040204" pitchFamily="34" charset="-128"/>
                <a:ea typeface="Meiryo" panose="020B0604030504040204" pitchFamily="34" charset="-128"/>
              </a:rPr>
              <a:t>主な特徴 </a:t>
            </a:r>
            <a:r>
              <a:rPr lang="en-US" altLang="ja-JP" sz="2000" b="1" i="0" dirty="0">
                <a:effectLst/>
                <a:latin typeface="Meiryo" panose="020B0604030504040204" pitchFamily="34" charset="-128"/>
                <a:ea typeface="Meiryo" panose="020B0604030504040204" pitchFamily="34" charset="-128"/>
              </a:rPr>
              <a:t>3</a:t>
            </a:r>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A4880331-BF4D-98D9-FB3E-96CF6229DED5}"/>
              </a:ext>
            </a:extLst>
          </p:cNvPr>
          <p:cNvSpPr txBox="1"/>
          <p:nvPr/>
        </p:nvSpPr>
        <p:spPr>
          <a:xfrm>
            <a:off x="898264" y="4397403"/>
            <a:ext cx="5172336" cy="1631216"/>
          </a:xfrm>
          <a:prstGeom prst="rect">
            <a:avLst/>
          </a:prstGeom>
          <a:noFill/>
        </p:spPr>
        <p:txBody>
          <a:bodyPr wrap="square">
            <a:spAutoFit/>
          </a:bodyPr>
          <a:lstStyle/>
          <a:p>
            <a:pPr marL="285750" indent="-285750">
              <a:buFont typeface="Arial" panose="020B0604020202020204" pitchFamily="34" charset="0"/>
              <a:buChar char="•"/>
            </a:pPr>
            <a:r>
              <a:rPr lang="ja-JP" altLang="en-US" sz="2000" b="0" i="0">
                <a:solidFill>
                  <a:srgbClr val="222222"/>
                </a:solidFill>
                <a:effectLst/>
                <a:latin typeface="Meiryo" panose="020B0604030504040204" pitchFamily="34" charset="-128"/>
                <a:ea typeface="Meiryo" panose="020B0604030504040204" pitchFamily="34" charset="-128"/>
              </a:rPr>
              <a:t>セ</a:t>
            </a:r>
            <a:r>
              <a:rPr lang="ja-JP" altLang="en-US" sz="2000" b="0" i="0">
                <a:effectLst/>
                <a:latin typeface="Meiryo" panose="020B0604030504040204" pitchFamily="34" charset="-128"/>
                <a:ea typeface="Meiryo" panose="020B0604030504040204" pitchFamily="34" charset="-128"/>
              </a:rPr>
              <a:t>キュリティ分析 </a:t>
            </a:r>
            <a:endParaRPr lang="ja-JP" altLang="en-US" sz="20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b="0" i="0">
                <a:effectLst/>
                <a:latin typeface="Meiryo" panose="020B0604030504040204" pitchFamily="34" charset="-128"/>
                <a:ea typeface="Meiryo" panose="020B0604030504040204" pitchFamily="34" charset="-128"/>
              </a:rPr>
              <a:t>繰り返しリクエストを送る</a:t>
            </a:r>
            <a:r>
              <a:rPr lang="en-US" sz="2000" b="0" i="0" dirty="0">
                <a:effectLst/>
                <a:latin typeface="Meiryo" panose="020B0604030504040204" pitchFamily="34" charset="-128"/>
                <a:ea typeface="Meiryo" panose="020B0604030504040204" pitchFamily="34" charset="-128"/>
              </a:rPr>
              <a:t>IP</a:t>
            </a:r>
            <a:r>
              <a:rPr lang="ja-JP" altLang="en-US" sz="2000" b="0" i="0">
                <a:effectLst/>
                <a:latin typeface="Meiryo" panose="020B0604030504040204" pitchFamily="34" charset="-128"/>
                <a:ea typeface="Meiryo" panose="020B0604030504040204" pitchFamily="34" charset="-128"/>
              </a:rPr>
              <a:t>の特定</a:t>
            </a:r>
            <a:endParaRPr lang="ja-JP" altLang="en-US" sz="20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b="0" i="0">
                <a:effectLst/>
                <a:latin typeface="Meiryo" panose="020B0604030504040204" pitchFamily="34" charset="-128"/>
                <a:ea typeface="Meiryo" panose="020B0604030504040204" pitchFamily="34" charset="-128"/>
              </a:rPr>
              <a:t>過剰リクエスト</a:t>
            </a:r>
            <a:r>
              <a:rPr lang="en-US" sz="2000" b="0" i="0" dirty="0">
                <a:effectLst/>
                <a:latin typeface="Meiryo" panose="020B0604030504040204" pitchFamily="34" charset="-128"/>
                <a:ea typeface="Meiryo" panose="020B0604030504040204" pitchFamily="34" charset="-128"/>
              </a:rPr>
              <a:t>IP</a:t>
            </a:r>
            <a:r>
              <a:rPr lang="ja-JP" altLang="en-US" sz="2000" b="0" i="0">
                <a:effectLst/>
                <a:latin typeface="Meiryo" panose="020B0604030504040204" pitchFamily="34" charset="-128"/>
                <a:ea typeface="Meiryo" panose="020B0604030504040204" pitchFamily="34" charset="-128"/>
              </a:rPr>
              <a:t>のブロック提案</a:t>
            </a:r>
            <a:endParaRPr lang="ja-JP" altLang="en-US" sz="20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b="0" i="0">
                <a:effectLst/>
                <a:latin typeface="Meiryo" panose="020B0604030504040204" pitchFamily="34" charset="-128"/>
                <a:ea typeface="Meiryo" panose="020B0604030504040204" pitchFamily="34" charset="-128"/>
              </a:rPr>
              <a:t>ブルートフォース</a:t>
            </a:r>
            <a:r>
              <a:rPr lang="en-US" altLang="ja-JP" sz="2000" dirty="0">
                <a:latin typeface="Meiryo" panose="020B0604030504040204" pitchFamily="34" charset="-128"/>
                <a:ea typeface="Meiryo" panose="020B0604030504040204" pitchFamily="34" charset="-128"/>
              </a:rPr>
              <a:t>(</a:t>
            </a:r>
            <a:r>
              <a:rPr lang="en-US" sz="2000" b="0" i="0" dirty="0">
                <a:solidFill>
                  <a:srgbClr val="222222"/>
                </a:solidFill>
                <a:effectLst/>
                <a:latin typeface="Helvetica Neue" panose="02000503000000020004" pitchFamily="2" charset="0"/>
              </a:rPr>
              <a:t>brute force</a:t>
            </a:r>
            <a:r>
              <a:rPr lang="en-US" sz="2000" dirty="0">
                <a:solidFill>
                  <a:srgbClr val="222222"/>
                </a:solidFill>
                <a:latin typeface="Meiryo" panose="020B0604030504040204" pitchFamily="34" charset="-128"/>
                <a:ea typeface="Meiryo" panose="020B0604030504040204" pitchFamily="34" charset="-128"/>
              </a:rPr>
              <a:t>)</a:t>
            </a:r>
            <a:r>
              <a:rPr lang="ja-JP" altLang="en-US" sz="2000" b="0" i="0">
                <a:effectLst/>
                <a:latin typeface="Meiryo" panose="020B0604030504040204" pitchFamily="34" charset="-128"/>
                <a:ea typeface="Meiryo" panose="020B0604030504040204" pitchFamily="34" charset="-128"/>
              </a:rPr>
              <a:t>攻撃などの兆候検出</a:t>
            </a:r>
            <a:endParaRPr lang="ja-JP" altLang="en-US" sz="2000">
              <a:effectLst/>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182687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B1CB-8079-E882-CA2A-7994CA267341}"/>
              </a:ext>
            </a:extLst>
          </p:cNvPr>
          <p:cNvSpPr txBox="1"/>
          <p:nvPr/>
        </p:nvSpPr>
        <p:spPr>
          <a:xfrm>
            <a:off x="306590" y="376825"/>
            <a:ext cx="7340471" cy="369332"/>
          </a:xfrm>
          <a:prstGeom prst="rect">
            <a:avLst/>
          </a:prstGeom>
          <a:noFill/>
        </p:spPr>
        <p:txBody>
          <a:bodyPr wrap="none" rtlCol="0">
            <a:spAutoFit/>
          </a:bodyPr>
          <a:lstStyle/>
          <a:p>
            <a:r>
              <a:rPr lang="ja-JP" altLang="en-US" dirty="0">
                <a:latin typeface="Meiryo" panose="020B0604030504040204" pitchFamily="34" charset="-128"/>
                <a:ea typeface="Meiryo" panose="020B0604030504040204" pitchFamily="34" charset="-128"/>
              </a:rPr>
              <a:t>これが私が作成した、プログラム</a:t>
            </a:r>
            <a:r>
              <a:rPr lang="ja-JP" altLang="en-US">
                <a:latin typeface="Meiryo" panose="020B0604030504040204" pitchFamily="34" charset="-128"/>
                <a:ea typeface="Meiryo" panose="020B0604030504040204" pitchFamily="34" charset="-128"/>
              </a:rPr>
              <a:t>の画面　いろいろ</a:t>
            </a:r>
            <a:r>
              <a:rPr lang="ja-JP" altLang="en-US" dirty="0">
                <a:latin typeface="Meiryo" panose="020B0604030504040204" pitchFamily="34" charset="-128"/>
                <a:ea typeface="Meiryo" panose="020B0604030504040204" pitchFamily="34" charset="-128"/>
              </a:rPr>
              <a:t>な分析</a:t>
            </a:r>
            <a:r>
              <a:rPr lang="ja-JP" altLang="en-US">
                <a:latin typeface="Meiryo" panose="020B0604030504040204" pitchFamily="34" charset="-128"/>
                <a:ea typeface="Meiryo" panose="020B0604030504040204" pitchFamily="34" charset="-128"/>
              </a:rPr>
              <a:t>が行えます</a:t>
            </a:r>
            <a:endParaRPr lang="en-JP" dirty="0">
              <a:latin typeface="Meiryo" panose="020B0604030504040204" pitchFamily="34" charset="-128"/>
              <a:ea typeface="Meiryo" panose="020B0604030504040204" pitchFamily="34" charset="-128"/>
            </a:endParaRPr>
          </a:p>
        </p:txBody>
      </p:sp>
      <p:pic>
        <p:nvPicPr>
          <p:cNvPr id="3" name="2025-09-08 12-29-59">
            <a:hlinkClick r:id="" action="ppaction://media"/>
            <a:extLst>
              <a:ext uri="{FF2B5EF4-FFF2-40B4-BE49-F238E27FC236}">
                <a16:creationId xmlns:a16="http://schemas.microsoft.com/office/drawing/2014/main" id="{746AC4A3-2612-986C-DCD5-EC4436FE1D3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38460"/>
            <a:ext cx="9144000" cy="5512235"/>
          </a:xfrm>
          <a:prstGeom prst="rect">
            <a:avLst/>
          </a:prstGeom>
        </p:spPr>
      </p:pic>
      <p:sp>
        <p:nvSpPr>
          <p:cNvPr id="2" name="Slide Number Placeholder 1">
            <a:extLst>
              <a:ext uri="{FF2B5EF4-FFF2-40B4-BE49-F238E27FC236}">
                <a16:creationId xmlns:a16="http://schemas.microsoft.com/office/drawing/2014/main" id="{78F9A59B-7E01-7590-CB29-FE85AC5D36C9}"/>
              </a:ext>
            </a:extLst>
          </p:cNvPr>
          <p:cNvSpPr>
            <a:spLocks noGrp="1"/>
          </p:cNvSpPr>
          <p:nvPr>
            <p:ph type="sldNum" sz="quarter" idx="12"/>
          </p:nvPr>
        </p:nvSpPr>
        <p:spPr/>
        <p:txBody>
          <a:bodyPr/>
          <a:lstStyle/>
          <a:p>
            <a:fld id="{4E09ECC2-A487-A54F-A842-0926C7D6AD98}" type="slidenum">
              <a:rPr lang="en-JP" smtClean="0"/>
              <a:t>8</a:t>
            </a:fld>
            <a:endParaRPr lang="en-JP"/>
          </a:p>
        </p:txBody>
      </p:sp>
    </p:spTree>
    <p:extLst>
      <p:ext uri="{BB962C8B-B14F-4D97-AF65-F5344CB8AC3E}">
        <p14:creationId xmlns:p14="http://schemas.microsoft.com/office/powerpoint/2010/main" val="104135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64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F609E-4C2A-FB51-D3D2-B6B5763AA1A0}"/>
              </a:ext>
            </a:extLst>
          </p:cNvPr>
          <p:cNvSpPr>
            <a:spLocks noGrp="1"/>
          </p:cNvSpPr>
          <p:nvPr>
            <p:ph idx="1"/>
          </p:nvPr>
        </p:nvSpPr>
        <p:spPr>
          <a:xfrm>
            <a:off x="535716" y="1081107"/>
            <a:ext cx="7886700" cy="4351338"/>
          </a:xfrm>
        </p:spPr>
        <p:txBody>
          <a:bodyPr/>
          <a:lstStyle/>
          <a:p>
            <a:pPr marL="0" indent="0">
              <a:buNone/>
            </a:pPr>
            <a:r>
              <a:rPr lang="en-US" b="1" dirty="0">
                <a:latin typeface="Meiryo" panose="020B0604030504040204" pitchFamily="34" charset="-128"/>
                <a:ea typeface="Meiryo" panose="020B0604030504040204" pitchFamily="34" charset="-128"/>
              </a:rPr>
              <a:t>Web</a:t>
            </a:r>
            <a:r>
              <a:rPr lang="ja-JP" altLang="en-US" b="1">
                <a:latin typeface="Meiryo" panose="020B0604030504040204" pitchFamily="34" charset="-128"/>
                <a:ea typeface="Meiryo" panose="020B0604030504040204" pitchFamily="34" charset="-128"/>
              </a:rPr>
              <a:t>アプリケーションの構築</a:t>
            </a:r>
          </a:p>
          <a:p>
            <a:pPr marL="0" indent="0">
              <a:buNone/>
            </a:pPr>
            <a:endParaRPr lang="ja-JP" altLang="en-US">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テスト用の</a:t>
            </a:r>
            <a:r>
              <a:rPr lang="en-US" dirty="0">
                <a:latin typeface="Meiryo" panose="020B0604030504040204" pitchFamily="34" charset="-128"/>
                <a:ea typeface="Meiryo" panose="020B0604030504040204" pitchFamily="34" charset="-128"/>
              </a:rPr>
              <a:t>Web</a:t>
            </a:r>
            <a:r>
              <a:rPr lang="ja-JP" altLang="en-US">
                <a:latin typeface="Meiryo" panose="020B0604030504040204" pitchFamily="34" charset="-128"/>
                <a:ea typeface="Meiryo" panose="020B0604030504040204" pitchFamily="34" charset="-128"/>
              </a:rPr>
              <a:t>サイトを作成して、攻撃から守り方の基本を学びました</a:t>
            </a:r>
            <a:r>
              <a:rPr lang="mn-MN" altLang="ja-JP" dirty="0">
                <a:latin typeface="Meiryo" panose="020B0604030504040204" pitchFamily="34" charset="-128"/>
                <a:ea typeface="Meiryo" panose="020B0604030504040204" pitchFamily="34" charset="-128"/>
              </a:rPr>
              <a:t>.</a:t>
            </a:r>
            <a:endParaRPr lang="en-US" altLang="ja-JP" dirty="0">
              <a:latin typeface="Meiryo" panose="020B0604030504040204" pitchFamily="34" charset="-128"/>
              <a:ea typeface="Meiryo" panose="020B0604030504040204" pitchFamily="34" charset="-128"/>
            </a:endParaRPr>
          </a:p>
          <a:p>
            <a:pPr marL="0" indent="0">
              <a:buNone/>
            </a:pPr>
            <a:endParaRPr lang="ja-JP" altLang="en-US">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これにより、単なる理論的な学習に留まらず、実際の動作環境に近い形でセキュリティ上の課題を検証できる環境を整えた</a:t>
            </a:r>
            <a:r>
              <a:rPr lang="mn-MN"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 </a:t>
            </a:r>
            <a:endParaRPr lang="en-JP"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C2CDB8CD-A085-B483-6EFC-27C2EAF36E42}"/>
              </a:ext>
            </a:extLst>
          </p:cNvPr>
          <p:cNvSpPr>
            <a:spLocks noGrp="1"/>
          </p:cNvSpPr>
          <p:nvPr>
            <p:ph type="sldNum" sz="quarter" idx="12"/>
          </p:nvPr>
        </p:nvSpPr>
        <p:spPr/>
        <p:txBody>
          <a:bodyPr/>
          <a:lstStyle/>
          <a:p>
            <a:fld id="{4E09ECC2-A487-A54F-A842-0926C7D6AD98}" type="slidenum">
              <a:rPr lang="en-JP" smtClean="0"/>
              <a:t>9</a:t>
            </a:fld>
            <a:endParaRPr lang="en-JP"/>
          </a:p>
        </p:txBody>
      </p:sp>
    </p:spTree>
    <p:extLst>
      <p:ext uri="{BB962C8B-B14F-4D97-AF65-F5344CB8AC3E}">
        <p14:creationId xmlns:p14="http://schemas.microsoft.com/office/powerpoint/2010/main" val="3737193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230373-7EFD-C870-5178-A249013363CA}"/>
              </a:ext>
            </a:extLst>
          </p:cNvPr>
          <p:cNvSpPr>
            <a:spLocks noGrp="1"/>
          </p:cNvSpPr>
          <p:nvPr>
            <p:ph type="sldNum" sz="quarter" idx="12"/>
          </p:nvPr>
        </p:nvSpPr>
        <p:spPr/>
        <p:txBody>
          <a:bodyPr/>
          <a:lstStyle/>
          <a:p>
            <a:fld id="{4E09ECC2-A487-A54F-A842-0926C7D6AD98}" type="slidenum">
              <a:rPr lang="en-JP" smtClean="0"/>
              <a:t>10</a:t>
            </a:fld>
            <a:endParaRPr lang="en-JP"/>
          </a:p>
        </p:txBody>
      </p:sp>
      <p:sp>
        <p:nvSpPr>
          <p:cNvPr id="5" name="TextBox 4">
            <a:extLst>
              <a:ext uri="{FF2B5EF4-FFF2-40B4-BE49-F238E27FC236}">
                <a16:creationId xmlns:a16="http://schemas.microsoft.com/office/drawing/2014/main" id="{B4047613-1DDB-6005-ABA2-2F25FDA1E1F8}"/>
              </a:ext>
            </a:extLst>
          </p:cNvPr>
          <p:cNvSpPr txBox="1"/>
          <p:nvPr/>
        </p:nvSpPr>
        <p:spPr>
          <a:xfrm>
            <a:off x="190500" y="627945"/>
            <a:ext cx="9207500" cy="5293757"/>
          </a:xfrm>
          <a:prstGeom prst="rect">
            <a:avLst/>
          </a:prstGeom>
          <a:noFill/>
        </p:spPr>
        <p:txBody>
          <a:bodyPr wrap="square">
            <a:spAutoFit/>
          </a:bodyPr>
          <a:lstStyle/>
          <a:p>
            <a:r>
              <a:rPr lang="en-JP" sz="2000" b="1" dirty="0">
                <a:latin typeface="Meiryo" panose="020B0604030504040204" pitchFamily="34" charset="-128"/>
                <a:ea typeface="Meiryo" panose="020B0604030504040204" pitchFamily="34" charset="-128"/>
              </a:rPr>
              <a:t> ウェブサーバーでよくある攻撃</a:t>
            </a:r>
            <a:endParaRPr lang="mn-MN" sz="2000" b="1"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SQLインジェクション</a:t>
            </a:r>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ウェブサイトの入力欄に悪意のある文字を入れて、</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データベースの情報を盗む攻撃</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2000" dirty="0">
                <a:solidFill>
                  <a:srgbClr val="C00000"/>
                </a:solidFill>
                <a:latin typeface="Meiryo" panose="020B0604030504040204" pitchFamily="34" charset="-128"/>
                <a:ea typeface="Meiryo" panose="020B0604030504040204" pitchFamily="34" charset="-128"/>
              </a:rPr>
              <a:t>Cross-site scripting</a:t>
            </a:r>
            <a:r>
              <a:rPr lang="en-JP" sz="2000" dirty="0">
                <a:solidFill>
                  <a:srgbClr val="C00000"/>
                </a:solidFill>
                <a:latin typeface="Meiryo" panose="020B0604030504040204" pitchFamily="34" charset="-128"/>
                <a:ea typeface="Meiryo" panose="020B0604030504040204" pitchFamily="34" charset="-128"/>
              </a:rPr>
              <a:t>（XSS</a:t>
            </a:r>
            <a:r>
              <a:rPr lang="en-JP" sz="2000" dirty="0">
                <a:solidFill>
                  <a:schemeClr val="tx2">
                    <a:lumMod val="50000"/>
                  </a:schemeClr>
                </a:solidFill>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他の人のブラウザで勝手にコードを動かして情報を盗む</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 </a:t>
            </a:r>
            <a:r>
              <a:rPr lang="en-US" sz="2000" dirty="0">
                <a:solidFill>
                  <a:srgbClr val="C00000"/>
                </a:solidFill>
                <a:latin typeface="Meiryo" panose="020B0604030504040204" pitchFamily="34" charset="-128"/>
                <a:ea typeface="Meiryo" panose="020B0604030504040204" pitchFamily="34" charset="-128"/>
              </a:rPr>
              <a:t>Cross site request </a:t>
            </a:r>
            <a:r>
              <a:rPr lang="en-JP" sz="2000" dirty="0">
                <a:solidFill>
                  <a:srgbClr val="C00000"/>
                </a:solidFill>
                <a:latin typeface="Meiryo" panose="020B0604030504040204" pitchFamily="34" charset="-128"/>
                <a:ea typeface="Meiryo" panose="020B0604030504040204" pitchFamily="34" charset="-128"/>
              </a:rPr>
              <a:t>（CSRF）</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ユーザーの許可なしに、ウェブサイトにリクエストを送る攻撃</a:t>
            </a:r>
          </a:p>
          <a:p>
            <a:endParaRPr lang="en-JP" sz="2000" dirty="0">
              <a:solidFill>
                <a:srgbClr val="C0000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 認証の破損（Broken Authentication</a:t>
            </a:r>
            <a:r>
              <a:rPr lang="en-JP" sz="2000" dirty="0">
                <a:latin typeface="Meiryo" panose="020B0604030504040204" pitchFamily="34" charset="-128"/>
                <a:ea typeface="Meiryo" panose="020B0604030504040204" pitchFamily="34" charset="-128"/>
              </a:rPr>
              <a:t>）</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パスワードが弱い、セッション管理が悪いことで発生する脆弱性</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機密データの漏えい（Sensitive Data Exposure）</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HTTPS未使用、データが暗号化されていないことが原因で情報が漏れる</a:t>
            </a:r>
          </a:p>
        </p:txBody>
      </p:sp>
    </p:spTree>
    <p:extLst>
      <p:ext uri="{BB962C8B-B14F-4D97-AF65-F5344CB8AC3E}">
        <p14:creationId xmlns:p14="http://schemas.microsoft.com/office/powerpoint/2010/main" val="772377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FD5A-C2D0-C0E3-4BB3-F86E2E9E8F61}"/>
              </a:ext>
            </a:extLst>
          </p:cNvPr>
          <p:cNvSpPr>
            <a:spLocks noGrp="1"/>
          </p:cNvSpPr>
          <p:nvPr>
            <p:ph type="title"/>
          </p:nvPr>
        </p:nvSpPr>
        <p:spPr>
          <a:xfrm>
            <a:off x="-12701" y="149224"/>
            <a:ext cx="8862163" cy="492124"/>
          </a:xfrm>
        </p:spPr>
        <p:txBody>
          <a:bodyPr>
            <a:normAutofit fontScale="90000"/>
          </a:bodyPr>
          <a:lstStyle/>
          <a:p>
            <a:br>
              <a:rPr lang="en-US" altLang="ja-JP" sz="2000" i="0" dirty="0">
                <a:effectLst/>
                <a:latin typeface="Meiryo" panose="020B0604030504040204" pitchFamily="34" charset="-128"/>
                <a:ea typeface="Meiryo" panose="020B0604030504040204" pitchFamily="34" charset="-128"/>
              </a:rPr>
            </a:b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ページへの攻撃テストを実施するために，自身でこのような</a:t>
            </a: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ページを作成してみました</a:t>
            </a:r>
            <a:r>
              <a:rPr lang="mn-MN" altLang="ja-JP" sz="2000" dirty="0">
                <a:solidFill>
                  <a:srgbClr val="222222"/>
                </a:solidFill>
                <a:latin typeface="Meiryo" panose="020B0604030504040204" pitchFamily="34" charset="-128"/>
                <a:ea typeface="Meiryo" panose="020B0604030504040204" pitchFamily="34" charset="-128"/>
              </a:rPr>
              <a:t>.</a:t>
            </a:r>
            <a:endParaRPr lang="en-US" sz="2000" dirty="0">
              <a:latin typeface="Meiryo" panose="020B0604030504040204" pitchFamily="34" charset="-128"/>
              <a:ea typeface="Meiryo" panose="020B0604030504040204" pitchFamily="34" charset="-128"/>
            </a:endParaRPr>
          </a:p>
        </p:txBody>
      </p:sp>
      <p:pic>
        <p:nvPicPr>
          <p:cNvPr id="4" name="2025-09-08 12-47-26">
            <a:hlinkClick r:id="" action="ppaction://media"/>
            <a:extLst>
              <a:ext uri="{FF2B5EF4-FFF2-40B4-BE49-F238E27FC236}">
                <a16:creationId xmlns:a16="http://schemas.microsoft.com/office/drawing/2014/main" id="{D3259A91-67C4-33E3-79FB-D6DAA75B97F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780960"/>
            <a:ext cx="8862164" cy="5492838"/>
          </a:xfrm>
          <a:prstGeom prst="rect">
            <a:avLst/>
          </a:prstGeom>
        </p:spPr>
      </p:pic>
      <p:sp>
        <p:nvSpPr>
          <p:cNvPr id="3" name="Slide Number Placeholder 2">
            <a:extLst>
              <a:ext uri="{FF2B5EF4-FFF2-40B4-BE49-F238E27FC236}">
                <a16:creationId xmlns:a16="http://schemas.microsoft.com/office/drawing/2014/main" id="{8A88E5A1-D732-E911-E369-8A3D0B52DD84}"/>
              </a:ext>
            </a:extLst>
          </p:cNvPr>
          <p:cNvSpPr>
            <a:spLocks noGrp="1"/>
          </p:cNvSpPr>
          <p:nvPr>
            <p:ph type="sldNum" sz="quarter" idx="12"/>
          </p:nvPr>
        </p:nvSpPr>
        <p:spPr/>
        <p:txBody>
          <a:bodyPr/>
          <a:lstStyle/>
          <a:p>
            <a:fld id="{4E09ECC2-A487-A54F-A842-0926C7D6AD98}" type="slidenum">
              <a:rPr lang="en-JP" smtClean="0"/>
              <a:t>11</a:t>
            </a:fld>
            <a:endParaRPr lang="en-JP"/>
          </a:p>
        </p:txBody>
      </p:sp>
    </p:spTree>
    <p:extLst>
      <p:ext uri="{BB962C8B-B14F-4D97-AF65-F5344CB8AC3E}">
        <p14:creationId xmlns:p14="http://schemas.microsoft.com/office/powerpoint/2010/main" val="17464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5EB8-0F9F-88D8-5935-F6216DDEDF44}"/>
              </a:ext>
            </a:extLst>
          </p:cNvPr>
          <p:cNvSpPr>
            <a:spLocks noGrp="1"/>
          </p:cNvSpPr>
          <p:nvPr>
            <p:ph type="title"/>
          </p:nvPr>
        </p:nvSpPr>
        <p:spPr>
          <a:xfrm>
            <a:off x="314325" y="2350949"/>
            <a:ext cx="8515350" cy="1325563"/>
          </a:xfrm>
        </p:spPr>
        <p:txBody>
          <a:bodyPr>
            <a:normAutofit fontScale="90000"/>
          </a:bodyPr>
          <a:lstStyle/>
          <a:p>
            <a:r>
              <a:rPr lang="en-US" sz="3200" b="0" i="0" dirty="0">
                <a:effectLst/>
                <a:latin typeface="Meiryo" panose="020B0604030504040204" pitchFamily="34" charset="-128"/>
                <a:ea typeface="Meiryo" panose="020B0604030504040204" pitchFamily="34" charset="-128"/>
              </a:rPr>
              <a:t>  DVWA = Damn Vulnerable Web Application</a:t>
            </a:r>
            <a:br>
              <a:rPr lang="mn-MN" sz="2000" b="0" i="0" dirty="0">
                <a:effectLst/>
                <a:latin typeface="Meiryo" panose="020B0604030504040204" pitchFamily="34" charset="-128"/>
                <a:ea typeface="Meiryo" panose="020B0604030504040204" pitchFamily="34" charset="-128"/>
              </a:rPr>
            </a:br>
            <a:endParaRPr lang="en-JP" sz="3600" dirty="0"/>
          </a:p>
        </p:txBody>
      </p:sp>
      <p:sp>
        <p:nvSpPr>
          <p:cNvPr id="3" name="Content Placeholder 2">
            <a:extLst>
              <a:ext uri="{FF2B5EF4-FFF2-40B4-BE49-F238E27FC236}">
                <a16:creationId xmlns:a16="http://schemas.microsoft.com/office/drawing/2014/main" id="{D23BBD65-B03E-CE56-20A7-4E9AA29473DD}"/>
              </a:ext>
            </a:extLst>
          </p:cNvPr>
          <p:cNvSpPr>
            <a:spLocks noGrp="1"/>
          </p:cNvSpPr>
          <p:nvPr>
            <p:ph idx="1"/>
          </p:nvPr>
        </p:nvSpPr>
        <p:spPr>
          <a:xfrm>
            <a:off x="479425" y="3429000"/>
            <a:ext cx="7886700" cy="2498727"/>
          </a:xfrm>
        </p:spPr>
        <p:txBody>
          <a:bodyPr/>
          <a:lstStyle/>
          <a:p>
            <a:pPr marL="0" indent="0">
              <a:buNone/>
            </a:pPr>
            <a:endParaRPr lang="en-US" dirty="0">
              <a:latin typeface="Meiryo" panose="020B0604030504040204" pitchFamily="34" charset="-128"/>
              <a:ea typeface="Meiryo" panose="020B0604030504040204" pitchFamily="34" charset="-128"/>
            </a:endParaRPr>
          </a:p>
          <a:p>
            <a:pPr>
              <a:buFont typeface="Arial" panose="020B0604020202020204" pitchFamily="34" charset="0"/>
              <a:buChar char="•"/>
            </a:pPr>
            <a:r>
              <a:rPr lang="en-US" b="0" i="0" dirty="0">
                <a:effectLst/>
                <a:latin typeface="Meiryo" panose="020B0604030504040204" pitchFamily="34" charset="-128"/>
                <a:ea typeface="Meiryo" panose="020B0604030504040204" pitchFamily="34" charset="-128"/>
              </a:rPr>
              <a:t>「</a:t>
            </a:r>
            <a:r>
              <a:rPr lang="ja-JP" altLang="en-US" b="0" i="0">
                <a:effectLst/>
                <a:latin typeface="Meiryo" panose="020B0604030504040204" pitchFamily="34" charset="-128"/>
                <a:ea typeface="Meiryo" panose="020B0604030504040204" pitchFamily="34" charset="-128"/>
              </a:rPr>
              <a:t>弱いウェブサイト」のテスト用アプリ</a:t>
            </a:r>
            <a:endParaRPr lang="ja-JP" altLang="en-US">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b="0" i="0">
                <a:effectLst/>
                <a:latin typeface="Meiryo" panose="020B0604030504040204" pitchFamily="34" charset="-128"/>
                <a:ea typeface="Meiryo" panose="020B0604030504040204" pitchFamily="34" charset="-128"/>
              </a:rPr>
              <a:t>目的</a:t>
            </a:r>
            <a:r>
              <a:rPr lang="en-US" altLang="ja-JP" b="0" i="0" dirty="0">
                <a:effectLst/>
                <a:latin typeface="Meiryo" panose="020B0604030504040204" pitchFamily="34" charset="-128"/>
                <a:ea typeface="Meiryo" panose="020B0604030504040204" pitchFamily="34" charset="-128"/>
              </a:rPr>
              <a:t>: </a:t>
            </a:r>
            <a:r>
              <a:rPr lang="ja-JP" altLang="en-US" b="0" i="0">
                <a:effectLst/>
                <a:latin typeface="Meiryo" panose="020B0604030504040204" pitchFamily="34" charset="-128"/>
                <a:ea typeface="Meiryo" panose="020B0604030504040204" pitchFamily="34" charset="-128"/>
              </a:rPr>
              <a:t>ウェブの危険を安全に学ぶこと</a:t>
            </a:r>
            <a:endParaRPr lang="ja-JP" altLang="en-US">
              <a:latin typeface="Meiryo" panose="020B0604030504040204" pitchFamily="34" charset="-128"/>
              <a:ea typeface="Meiryo" panose="020B0604030504040204" pitchFamily="34" charset="-128"/>
            </a:endParaRPr>
          </a:p>
          <a:p>
            <a:r>
              <a:rPr lang="ja-JP" altLang="en-US" b="0" i="0">
                <a:effectLst/>
                <a:latin typeface="Meiryo" panose="020B0604030504040204" pitchFamily="34" charset="-128"/>
                <a:ea typeface="Meiryo" panose="020B0604030504040204" pitchFamily="34" charset="-128"/>
              </a:rPr>
              <a:t>ユーザーの名前やパスワードに簡単にアクセスできる</a:t>
            </a:r>
            <a:endParaRPr lang="en-JP" dirty="0">
              <a:latin typeface="Meiryo" panose="020B0604030504040204" pitchFamily="34" charset="-128"/>
              <a:ea typeface="Meiryo" panose="020B0604030504040204" pitchFamily="34" charset="-128"/>
            </a:endParaRPr>
          </a:p>
          <a:p>
            <a:endParaRPr lang="en-JP" dirty="0"/>
          </a:p>
        </p:txBody>
      </p:sp>
      <p:sp>
        <p:nvSpPr>
          <p:cNvPr id="4" name="Slide Number Placeholder 3">
            <a:extLst>
              <a:ext uri="{FF2B5EF4-FFF2-40B4-BE49-F238E27FC236}">
                <a16:creationId xmlns:a16="http://schemas.microsoft.com/office/drawing/2014/main" id="{3AC276B1-8B4F-4BE1-BDDA-758F102F62B3}"/>
              </a:ext>
            </a:extLst>
          </p:cNvPr>
          <p:cNvSpPr>
            <a:spLocks noGrp="1"/>
          </p:cNvSpPr>
          <p:nvPr>
            <p:ph type="sldNum" sz="quarter" idx="12"/>
          </p:nvPr>
        </p:nvSpPr>
        <p:spPr/>
        <p:txBody>
          <a:bodyPr/>
          <a:lstStyle/>
          <a:p>
            <a:fld id="{4E09ECC2-A487-A54F-A842-0926C7D6AD98}" type="slidenum">
              <a:rPr lang="en-JP" smtClean="0"/>
              <a:t>12</a:t>
            </a:fld>
            <a:endParaRPr lang="en-JP"/>
          </a:p>
        </p:txBody>
      </p:sp>
      <p:sp>
        <p:nvSpPr>
          <p:cNvPr id="5" name="TextBox 4">
            <a:extLst>
              <a:ext uri="{FF2B5EF4-FFF2-40B4-BE49-F238E27FC236}">
                <a16:creationId xmlns:a16="http://schemas.microsoft.com/office/drawing/2014/main" id="{FB45C203-8E72-0665-DE64-2EC8F164A708}"/>
              </a:ext>
            </a:extLst>
          </p:cNvPr>
          <p:cNvSpPr txBox="1"/>
          <p:nvPr/>
        </p:nvSpPr>
        <p:spPr>
          <a:xfrm>
            <a:off x="479425" y="513733"/>
            <a:ext cx="8035925" cy="1569660"/>
          </a:xfrm>
          <a:prstGeom prst="rect">
            <a:avLst/>
          </a:prstGeom>
          <a:noFill/>
        </p:spPr>
        <p:txBody>
          <a:bodyPr wrap="square" rtlCol="0">
            <a:spAutoFit/>
          </a:bodyPr>
          <a:lstStyle/>
          <a:p>
            <a:pPr algn="l" rtl="0"/>
            <a:r>
              <a:rPr lang="ja-JP" altLang="en-US" sz="2400" b="0" i="0">
                <a:solidFill>
                  <a:srgbClr val="222222"/>
                </a:solidFill>
                <a:effectLst/>
                <a:latin typeface="Meiryo" panose="020B0604030504040204" pitchFamily="34" charset="-128"/>
                <a:ea typeface="Meiryo" panose="020B0604030504040204" pitchFamily="34" charset="-128"/>
              </a:rPr>
              <a:t>しかし，準備や開発に時間がかかるため，</a:t>
            </a:r>
            <a:r>
              <a:rPr lang="en-US" sz="2400" b="0" i="0" dirty="0">
                <a:solidFill>
                  <a:srgbClr val="222222"/>
                </a:solidFill>
                <a:effectLst/>
                <a:latin typeface="Meiryo" panose="020B0604030504040204" pitchFamily="34" charset="-128"/>
                <a:ea typeface="Meiryo" panose="020B0604030504040204" pitchFamily="34" charset="-128"/>
              </a:rPr>
              <a:t>Web</a:t>
            </a:r>
            <a:r>
              <a:rPr lang="ja-JP" altLang="en-US" sz="2400" b="0" i="0">
                <a:solidFill>
                  <a:srgbClr val="222222"/>
                </a:solidFill>
                <a:effectLst/>
                <a:latin typeface="Meiryo" panose="020B0604030504040204" pitchFamily="34" charset="-128"/>
                <a:ea typeface="Meiryo" panose="020B0604030504040204" pitchFamily="34" charset="-128"/>
              </a:rPr>
              <a:t>セキュリティを学ぶための脆弱な</a:t>
            </a:r>
            <a:r>
              <a:rPr lang="en-US" sz="2400" b="0" i="0" dirty="0">
                <a:solidFill>
                  <a:srgbClr val="222222"/>
                </a:solidFill>
                <a:effectLst/>
                <a:latin typeface="Meiryo" panose="020B0604030504040204" pitchFamily="34" charset="-128"/>
                <a:ea typeface="Meiryo" panose="020B0604030504040204" pitchFamily="34" charset="-128"/>
              </a:rPr>
              <a:t>Web</a:t>
            </a:r>
            <a:r>
              <a:rPr lang="ja-JP" altLang="en-US" sz="2400" b="0" i="0">
                <a:solidFill>
                  <a:srgbClr val="222222"/>
                </a:solidFill>
                <a:effectLst/>
                <a:latin typeface="Meiryo" panose="020B0604030504040204" pitchFamily="34" charset="-128"/>
                <a:ea typeface="Meiryo" panose="020B0604030504040204" pitchFamily="34" charset="-128"/>
              </a:rPr>
              <a:t>サイト</a:t>
            </a:r>
            <a:r>
              <a:rPr lang="en-US" sz="2400" b="0" i="0" dirty="0">
                <a:solidFill>
                  <a:srgbClr val="222222"/>
                </a:solidFill>
                <a:effectLst/>
                <a:latin typeface="Meiryo" panose="020B0604030504040204" pitchFamily="34" charset="-128"/>
                <a:ea typeface="Meiryo" panose="020B0604030504040204" pitchFamily="34" charset="-128"/>
              </a:rPr>
              <a:t>DVWA</a:t>
            </a:r>
            <a:r>
              <a:rPr lang="ja-JP" altLang="en-US" sz="2400" b="0" i="0">
                <a:solidFill>
                  <a:srgbClr val="222222"/>
                </a:solidFill>
                <a:effectLst/>
                <a:latin typeface="Meiryo" panose="020B0604030504040204" pitchFamily="34" charset="-128"/>
                <a:ea typeface="Meiryo" panose="020B0604030504040204" pitchFamily="34" charset="-128"/>
              </a:rPr>
              <a:t>を用いて実験しました</a:t>
            </a:r>
            <a:r>
              <a:rPr lang="en-US" altLang="ja-JP" sz="2400" dirty="0">
                <a:solidFill>
                  <a:srgbClr val="222222"/>
                </a:solidFill>
                <a:latin typeface="Meiryo" panose="020B0604030504040204" pitchFamily="34" charset="-128"/>
                <a:ea typeface="Meiryo" panose="020B0604030504040204" pitchFamily="34" charset="-128"/>
              </a:rPr>
              <a:t>.</a:t>
            </a:r>
            <a:endParaRPr lang="ja-JP" altLang="en-US" sz="2400" b="0" i="0">
              <a:solidFill>
                <a:srgbClr val="222222"/>
              </a:solidFill>
              <a:effectLst/>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6" name="Down Arrow 5">
            <a:extLst>
              <a:ext uri="{FF2B5EF4-FFF2-40B4-BE49-F238E27FC236}">
                <a16:creationId xmlns:a16="http://schemas.microsoft.com/office/drawing/2014/main" id="{F7C2B5E2-B719-613C-B5E0-C18B02460DE6}"/>
              </a:ext>
            </a:extLst>
          </p:cNvPr>
          <p:cNvSpPr/>
          <p:nvPr/>
        </p:nvSpPr>
        <p:spPr>
          <a:xfrm>
            <a:off x="1968500" y="1456621"/>
            <a:ext cx="660400" cy="61422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539918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5086-01FF-7448-2FAE-57A1BE43216C}"/>
              </a:ext>
            </a:extLst>
          </p:cNvPr>
          <p:cNvSpPr>
            <a:spLocks noGrp="1"/>
          </p:cNvSpPr>
          <p:nvPr>
            <p:ph type="title"/>
          </p:nvPr>
        </p:nvSpPr>
        <p:spPr>
          <a:xfrm>
            <a:off x="230617" y="207965"/>
            <a:ext cx="7886700" cy="717194"/>
          </a:xfrm>
        </p:spPr>
        <p:txBody>
          <a:bodyPr>
            <a:normAutofit/>
          </a:bodyPr>
          <a:lstStyle/>
          <a:p>
            <a:r>
              <a:rPr lang="en-US" sz="2000" b="0" i="0" dirty="0">
                <a:effectLst/>
                <a:latin typeface="Meiryo" panose="020B0604030504040204" pitchFamily="34" charset="-128"/>
                <a:ea typeface="Meiryo" panose="020B0604030504040204" pitchFamily="34" charset="-128"/>
              </a:rPr>
              <a:t>DVWA = Damn Vulnerable Web Application</a:t>
            </a:r>
            <a:r>
              <a:rPr lang="ja-JP" altLang="en-US" sz="2000" i="0">
                <a:effectLst/>
                <a:latin typeface="Meiryo" panose="020B0604030504040204" pitchFamily="34" charset="-128"/>
                <a:ea typeface="Meiryo" panose="020B0604030504040204" pitchFamily="34" charset="-128"/>
              </a:rPr>
              <a:t>の画面</a:t>
            </a:r>
            <a:endParaRPr lang="en-US" sz="2000" dirty="0"/>
          </a:p>
        </p:txBody>
      </p:sp>
      <p:pic>
        <p:nvPicPr>
          <p:cNvPr id="4" name="2025-09-08 13-00-44">
            <a:hlinkClick r:id="" action="ppaction://media"/>
            <a:extLst>
              <a:ext uri="{FF2B5EF4-FFF2-40B4-BE49-F238E27FC236}">
                <a16:creationId xmlns:a16="http://schemas.microsoft.com/office/drawing/2014/main" id="{19CB4C95-DBFD-22B7-200B-98FE9E3B3B2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0617" y="1077503"/>
            <a:ext cx="8708988" cy="4989810"/>
          </a:xfrm>
        </p:spPr>
      </p:pic>
      <p:sp>
        <p:nvSpPr>
          <p:cNvPr id="3" name="Slide Number Placeholder 2">
            <a:extLst>
              <a:ext uri="{FF2B5EF4-FFF2-40B4-BE49-F238E27FC236}">
                <a16:creationId xmlns:a16="http://schemas.microsoft.com/office/drawing/2014/main" id="{057C8094-C9F2-C151-E49E-5C9B267ACBC5}"/>
              </a:ext>
            </a:extLst>
          </p:cNvPr>
          <p:cNvSpPr>
            <a:spLocks noGrp="1"/>
          </p:cNvSpPr>
          <p:nvPr>
            <p:ph type="sldNum" sz="quarter" idx="12"/>
          </p:nvPr>
        </p:nvSpPr>
        <p:spPr/>
        <p:txBody>
          <a:bodyPr/>
          <a:lstStyle/>
          <a:p>
            <a:fld id="{4E09ECC2-A487-A54F-A842-0926C7D6AD98}" type="slidenum">
              <a:rPr lang="en-JP" smtClean="0"/>
              <a:t>13</a:t>
            </a:fld>
            <a:endParaRPr lang="en-JP"/>
          </a:p>
        </p:txBody>
      </p:sp>
    </p:spTree>
    <p:extLst>
      <p:ext uri="{BB962C8B-B14F-4D97-AF65-F5344CB8AC3E}">
        <p14:creationId xmlns:p14="http://schemas.microsoft.com/office/powerpoint/2010/main" val="155130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86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9C34-233C-DE8A-0F8B-75F2922A921E}"/>
              </a:ext>
            </a:extLst>
          </p:cNvPr>
          <p:cNvSpPr>
            <a:spLocks noGrp="1"/>
          </p:cNvSpPr>
          <p:nvPr>
            <p:ph type="title"/>
          </p:nvPr>
        </p:nvSpPr>
        <p:spPr>
          <a:xfrm>
            <a:off x="202765" y="120086"/>
            <a:ext cx="6972586" cy="737164"/>
          </a:xfrm>
        </p:spPr>
        <p:txBody>
          <a:bodyPr>
            <a:normAutofit/>
          </a:bodyPr>
          <a:lstStyle/>
          <a:p>
            <a:r>
              <a:rPr lang="en-US" sz="2400" dirty="0">
                <a:latin typeface="Times New Roman" panose="02020603050405020304" pitchFamily="18" charset="0"/>
                <a:cs typeface="Times New Roman" panose="02020603050405020304" pitchFamily="18" charset="0"/>
              </a:rPr>
              <a:t>Web_Server_Dashboard</a:t>
            </a:r>
            <a:r>
              <a:rPr lang="en-US" sz="2400" dirty="0">
                <a:latin typeface="Meiryo" panose="020B0604030504040204" pitchFamily="34" charset="-128"/>
                <a:ea typeface="Meiryo" panose="020B0604030504040204" pitchFamily="34" charset="-128"/>
                <a:cs typeface="Times New Roman" panose="02020603050405020304" pitchFamily="18" charset="0"/>
              </a:rPr>
              <a:t>の</a:t>
            </a:r>
            <a:r>
              <a:rPr lang="ja-JP" altLang="en-US" sz="2400">
                <a:latin typeface="Meiryo" panose="020B0604030504040204" pitchFamily="34" charset="-128"/>
                <a:ea typeface="Meiryo" panose="020B0604030504040204" pitchFamily="34" charset="-128"/>
              </a:rPr>
              <a:t>プログラムの画面</a:t>
            </a:r>
            <a:endParaRPr lang="en-US" sz="2400"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2025-09-08 12-55-31">
            <a:hlinkClick r:id="" action="ppaction://media"/>
            <a:extLst>
              <a:ext uri="{FF2B5EF4-FFF2-40B4-BE49-F238E27FC236}">
                <a16:creationId xmlns:a16="http://schemas.microsoft.com/office/drawing/2014/main" id="{641C6F83-F420-FF70-7333-E150C44EDD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57250"/>
            <a:ext cx="9144000" cy="5143500"/>
          </a:xfrm>
          <a:prstGeom prst="rect">
            <a:avLst/>
          </a:prstGeom>
        </p:spPr>
      </p:pic>
      <p:sp>
        <p:nvSpPr>
          <p:cNvPr id="3" name="Slide Number Placeholder 2">
            <a:extLst>
              <a:ext uri="{FF2B5EF4-FFF2-40B4-BE49-F238E27FC236}">
                <a16:creationId xmlns:a16="http://schemas.microsoft.com/office/drawing/2014/main" id="{DFC8A261-351E-AB2E-3AD2-C420A11F4127}"/>
              </a:ext>
            </a:extLst>
          </p:cNvPr>
          <p:cNvSpPr>
            <a:spLocks noGrp="1"/>
          </p:cNvSpPr>
          <p:nvPr>
            <p:ph type="sldNum" sz="quarter" idx="12"/>
          </p:nvPr>
        </p:nvSpPr>
        <p:spPr/>
        <p:txBody>
          <a:bodyPr/>
          <a:lstStyle/>
          <a:p>
            <a:fld id="{4E09ECC2-A487-A54F-A842-0926C7D6AD98}" type="slidenum">
              <a:rPr lang="en-JP" smtClean="0"/>
              <a:t>14</a:t>
            </a:fld>
            <a:endParaRPr lang="en-JP"/>
          </a:p>
        </p:txBody>
      </p:sp>
    </p:spTree>
    <p:extLst>
      <p:ext uri="{BB962C8B-B14F-4D97-AF65-F5344CB8AC3E}">
        <p14:creationId xmlns:p14="http://schemas.microsoft.com/office/powerpoint/2010/main" val="337228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E9CC-49A5-0481-ACD5-B0B46BD76A83}"/>
              </a:ext>
            </a:extLst>
          </p:cNvPr>
          <p:cNvSpPr>
            <a:spLocks noGrp="1"/>
          </p:cNvSpPr>
          <p:nvPr>
            <p:ph type="title"/>
          </p:nvPr>
        </p:nvSpPr>
        <p:spPr>
          <a:xfrm>
            <a:off x="628650" y="365127"/>
            <a:ext cx="7886700" cy="624578"/>
          </a:xfrm>
        </p:spPr>
        <p:txBody>
          <a:bodyPr>
            <a:normAutofit/>
          </a:bodyPr>
          <a:lstStyle/>
          <a:p>
            <a:r>
              <a:rPr lang="ja-JP" altLang="en-US" sz="2800" b="1" i="0">
                <a:effectLst/>
                <a:latin typeface="Meiryo" panose="020B0604030504040204" pitchFamily="34" charset="-128"/>
                <a:ea typeface="Meiryo" panose="020B0604030504040204" pitchFamily="34" charset="-128"/>
              </a:rPr>
              <a:t>インターンシップで学んだこと</a:t>
            </a:r>
            <a:endParaRPr lang="en-JP" sz="28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93977AA-1C2D-98E5-E2ED-98D72561E26F}"/>
              </a:ext>
            </a:extLst>
          </p:cNvPr>
          <p:cNvSpPr>
            <a:spLocks noGrp="1"/>
          </p:cNvSpPr>
          <p:nvPr>
            <p:ph idx="1"/>
          </p:nvPr>
        </p:nvSpPr>
        <p:spPr>
          <a:xfrm>
            <a:off x="628650" y="1497359"/>
            <a:ext cx="7886700" cy="4351338"/>
          </a:xfrm>
        </p:spPr>
        <p:txBody>
          <a:bodyPr>
            <a:normAutofit/>
          </a:bodyPr>
          <a:lstStyle/>
          <a:p>
            <a:pPr marL="0" indent="0">
              <a:buNone/>
            </a:pPr>
            <a:r>
              <a:rPr lang="ja-JP" altLang="en-US">
                <a:latin typeface="Meiryo" panose="020B0604030504040204" pitchFamily="34" charset="-128"/>
                <a:ea typeface="Meiryo" panose="020B0604030504040204" pitchFamily="34" charset="-128"/>
              </a:rPr>
              <a:t>専門的なスキル</a:t>
            </a:r>
            <a:endParaRPr lang="mn-MN" altLang="ja-JP" dirty="0">
              <a:latin typeface="Meiryo" panose="020B0604030504040204" pitchFamily="34" charset="-128"/>
              <a:ea typeface="Meiryo" panose="020B0604030504040204" pitchFamily="34" charset="-128"/>
            </a:endParaRPr>
          </a:p>
          <a:p>
            <a:pPr marL="0" indent="0">
              <a:buNone/>
            </a:pPr>
            <a:endParaRPr lang="ja-JP" altLang="en-US">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ウェブ開発、サーバー監視、プログラミング、</a:t>
            </a:r>
            <a:r>
              <a:rPr lang="en-US" dirty="0">
                <a:latin typeface="Meiryo" panose="020B0604030504040204" pitchFamily="34" charset="-128"/>
                <a:ea typeface="Meiryo" panose="020B0604030504040204" pitchFamily="34" charset="-128"/>
              </a:rPr>
              <a:t>ＷＢＳ　</a:t>
            </a:r>
            <a:r>
              <a:rPr lang="ja-JP" altLang="en-US">
                <a:latin typeface="Meiryo" panose="020B0604030504040204" pitchFamily="34" charset="-128"/>
                <a:ea typeface="Meiryo" panose="020B0604030504040204" pitchFamily="34" charset="-128"/>
              </a:rPr>
              <a:t>データベースの基礎を学んだ</a:t>
            </a:r>
          </a:p>
          <a:p>
            <a:r>
              <a:rPr lang="en-US" dirty="0">
                <a:latin typeface="Meiryo" panose="020B0604030504040204" pitchFamily="34" charset="-128"/>
                <a:ea typeface="Meiryo" panose="020B0604030504040204" pitchFamily="34" charset="-128"/>
              </a:rPr>
              <a:t>DVWA</a:t>
            </a:r>
            <a:r>
              <a:rPr lang="ja-JP" altLang="en-US">
                <a:latin typeface="Meiryo" panose="020B0604030504040204" pitchFamily="34" charset="-128"/>
                <a:ea typeface="Meiryo" panose="020B0604030504040204" pitchFamily="34" charset="-128"/>
              </a:rPr>
              <a:t>での攻撃テストやサーバーログの確認など、実践的な経験を積んだ</a:t>
            </a:r>
          </a:p>
          <a:p>
            <a:r>
              <a:rPr lang="ja-JP" altLang="en-US">
                <a:latin typeface="Meiryo" panose="020B0604030504040204" pitchFamily="34" charset="-128"/>
                <a:ea typeface="Meiryo" panose="020B0604030504040204" pitchFamily="34" charset="-128"/>
              </a:rPr>
              <a:t>問題が発生した時に、自分で調べて解決する能力を身につけた</a:t>
            </a:r>
            <a:endParaRPr lang="en-JP"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49C55EAE-14DF-F876-06DC-589D26E902DA}"/>
              </a:ext>
            </a:extLst>
          </p:cNvPr>
          <p:cNvSpPr>
            <a:spLocks noGrp="1"/>
          </p:cNvSpPr>
          <p:nvPr>
            <p:ph type="sldNum" sz="quarter" idx="12"/>
          </p:nvPr>
        </p:nvSpPr>
        <p:spPr/>
        <p:txBody>
          <a:bodyPr/>
          <a:lstStyle/>
          <a:p>
            <a:fld id="{4E09ECC2-A487-A54F-A842-0926C7D6AD98}" type="slidenum">
              <a:rPr lang="en-JP" smtClean="0"/>
              <a:t>15</a:t>
            </a:fld>
            <a:endParaRPr lang="en-JP"/>
          </a:p>
        </p:txBody>
      </p:sp>
    </p:spTree>
    <p:extLst>
      <p:ext uri="{BB962C8B-B14F-4D97-AF65-F5344CB8AC3E}">
        <p14:creationId xmlns:p14="http://schemas.microsoft.com/office/powerpoint/2010/main" val="924723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CDC9-45E7-DF94-D6EA-ECF4F2E5EA45}"/>
              </a:ext>
            </a:extLst>
          </p:cNvPr>
          <p:cNvSpPr>
            <a:spLocks noGrp="1"/>
          </p:cNvSpPr>
          <p:nvPr>
            <p:ph type="title"/>
          </p:nvPr>
        </p:nvSpPr>
        <p:spPr/>
        <p:txBody>
          <a:bodyPr>
            <a:noAutofit/>
          </a:bodyPr>
          <a:lstStyle/>
          <a:p>
            <a:r>
              <a:rPr lang="ja-JP" altLang="en-US" sz="2800" b="0" i="0">
                <a:effectLst/>
                <a:latin typeface="Meiryo" panose="020B0604030504040204" pitchFamily="34" charset="-128"/>
                <a:ea typeface="Meiryo" panose="020B0604030504040204" pitchFamily="34" charset="-128"/>
              </a:rPr>
              <a:t>ソフトスキル（個人の視点で学んだこと）</a:t>
            </a:r>
            <a:br>
              <a:rPr lang="ja-JP" altLang="en-US" sz="2800">
                <a:effectLst/>
                <a:latin typeface="Meiryo" panose="020B0604030504040204" pitchFamily="34" charset="-128"/>
                <a:ea typeface="Meiryo" panose="020B0604030504040204" pitchFamily="34" charset="-128"/>
              </a:rPr>
            </a:br>
            <a:endParaRPr lang="en-JP" sz="28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3D2D5AF1-D783-8944-AF0B-F02B78D498B0}"/>
              </a:ext>
            </a:extLst>
          </p:cNvPr>
          <p:cNvSpPr>
            <a:spLocks noGrp="1"/>
          </p:cNvSpPr>
          <p:nvPr>
            <p:ph type="sldNum" sz="quarter" idx="12"/>
          </p:nvPr>
        </p:nvSpPr>
        <p:spPr/>
        <p:txBody>
          <a:bodyPr/>
          <a:lstStyle/>
          <a:p>
            <a:fld id="{4E09ECC2-A487-A54F-A842-0926C7D6AD98}" type="slidenum">
              <a:rPr lang="en-JP" smtClean="0"/>
              <a:t>16</a:t>
            </a:fld>
            <a:endParaRPr lang="en-JP"/>
          </a:p>
        </p:txBody>
      </p:sp>
      <p:sp>
        <p:nvSpPr>
          <p:cNvPr id="8" name="Rounded Rectangle 7">
            <a:extLst>
              <a:ext uri="{FF2B5EF4-FFF2-40B4-BE49-F238E27FC236}">
                <a16:creationId xmlns:a16="http://schemas.microsoft.com/office/drawing/2014/main" id="{6F78BD22-2902-AC42-6637-04D43EB78EFA}"/>
              </a:ext>
            </a:extLst>
          </p:cNvPr>
          <p:cNvSpPr/>
          <p:nvPr/>
        </p:nvSpPr>
        <p:spPr>
          <a:xfrm>
            <a:off x="548639" y="1290918"/>
            <a:ext cx="7648687" cy="213808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ja-JP" altLang="en-US" sz="2000" b="1">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b="1">
                <a:solidFill>
                  <a:schemeClr val="accent1">
                    <a:lumMod val="50000"/>
                  </a:schemeClr>
                </a:solidFill>
                <a:latin typeface="Meiryo" panose="020B0604030504040204" pitchFamily="34" charset="-128"/>
                <a:ea typeface="Meiryo" panose="020B0604030504040204" pitchFamily="34" charset="-128"/>
              </a:rPr>
              <a:t>ホウレンソウの重要性を実感</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　→ 報告・連絡・相談を意識して実践する習慣が身についた</a:t>
            </a:r>
            <a:endParaRPr lang="mn-MN" altLang="ja-JP" sz="20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b="1">
                <a:solidFill>
                  <a:schemeClr val="accent1">
                    <a:lumMod val="50000"/>
                  </a:schemeClr>
                </a:solidFill>
                <a:latin typeface="Meiryo" panose="020B0604030504040204" pitchFamily="34" charset="-128"/>
                <a:ea typeface="Meiryo" panose="020B0604030504040204" pitchFamily="34" charset="-128"/>
              </a:rPr>
              <a:t>分かりやすく簡潔に伝える力が向上</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　→ 情報を要点だけでまとめて説明することを心がけた</a:t>
            </a:r>
          </a:p>
        </p:txBody>
      </p:sp>
      <p:sp>
        <p:nvSpPr>
          <p:cNvPr id="9" name="Rounded Rectangle 8">
            <a:extLst>
              <a:ext uri="{FF2B5EF4-FFF2-40B4-BE49-F238E27FC236}">
                <a16:creationId xmlns:a16="http://schemas.microsoft.com/office/drawing/2014/main" id="{B8A0E85A-4D82-A44E-519D-B2BFD16236D5}"/>
              </a:ext>
            </a:extLst>
          </p:cNvPr>
          <p:cNvSpPr/>
          <p:nvPr/>
        </p:nvSpPr>
        <p:spPr>
          <a:xfrm>
            <a:off x="548638" y="3971514"/>
            <a:ext cx="7648687" cy="221517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mn-MN" altLang="ja-JP" sz="2000" b="1" dirty="0"/>
          </a:p>
          <a:p>
            <a:r>
              <a:rPr lang="ja-JP" altLang="en-US" sz="2000" b="1">
                <a:solidFill>
                  <a:schemeClr val="accent1">
                    <a:lumMod val="50000"/>
                  </a:schemeClr>
                </a:solidFill>
                <a:latin typeface="Meiryo" panose="020B0604030504040204" pitchFamily="34" charset="-128"/>
                <a:ea typeface="Meiryo" panose="020B0604030504040204" pitchFamily="34" charset="-128"/>
              </a:rPr>
              <a:t>期限内にタスクをやり遂げる意識が向上</a:t>
            </a:r>
            <a:br>
              <a:rPr lang="ja-JP" altLang="en-US" sz="2000"/>
            </a:br>
            <a:r>
              <a:rPr lang="ja-JP" altLang="en-US" sz="2000"/>
              <a:t>　</a:t>
            </a:r>
            <a:r>
              <a:rPr lang="ja-JP" altLang="en-US" sz="2000">
                <a:latin typeface="Meiryo" panose="020B0604030504040204" pitchFamily="34" charset="-128"/>
                <a:ea typeface="Meiryo" panose="020B0604030504040204" pitchFamily="34" charset="-128"/>
              </a:rPr>
              <a:t>→ 任された仕事を責任を持って計画的に進めるようになった</a:t>
            </a:r>
            <a:endParaRPr lang="mn-MN" altLang="ja-JP" sz="2000" dirty="0">
              <a:latin typeface="Meiryo" panose="020B0604030504040204" pitchFamily="34" charset="-128"/>
              <a:ea typeface="Meiryo" panose="020B0604030504040204" pitchFamily="34" charset="-128"/>
            </a:endParaRPr>
          </a:p>
          <a:p>
            <a:endParaRPr lang="ja-JP" altLang="en-US" sz="2000" b="1">
              <a:solidFill>
                <a:schemeClr val="accent1">
                  <a:lumMod val="50000"/>
                </a:schemeClr>
              </a:solidFill>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b="1">
                <a:solidFill>
                  <a:schemeClr val="accent1">
                    <a:lumMod val="50000"/>
                  </a:schemeClr>
                </a:solidFill>
                <a:latin typeface="Meiryo" panose="020B0604030504040204" pitchFamily="34" charset="-128"/>
                <a:ea typeface="Meiryo" panose="020B0604030504040204" pitchFamily="34" charset="-128"/>
              </a:rPr>
              <a:t>課題に直面したときの改善提案ができるようになった</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　→ 自分で調べ、解決策を考え、提案する力が成長</a:t>
            </a:r>
          </a:p>
        </p:txBody>
      </p:sp>
    </p:spTree>
    <p:extLst>
      <p:ext uri="{BB962C8B-B14F-4D97-AF65-F5344CB8AC3E}">
        <p14:creationId xmlns:p14="http://schemas.microsoft.com/office/powerpoint/2010/main" val="874564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016980-B336-F7F7-4E91-33F9D3BDF7EB}"/>
              </a:ext>
            </a:extLst>
          </p:cNvPr>
          <p:cNvSpPr>
            <a:spLocks noGrp="1"/>
          </p:cNvSpPr>
          <p:nvPr>
            <p:ph type="sldNum" sz="quarter" idx="12"/>
          </p:nvPr>
        </p:nvSpPr>
        <p:spPr/>
        <p:txBody>
          <a:bodyPr/>
          <a:lstStyle/>
          <a:p>
            <a:fld id="{4E09ECC2-A487-A54F-A842-0926C7D6AD98}" type="slidenum">
              <a:rPr lang="en-JP" smtClean="0"/>
              <a:t>17</a:t>
            </a:fld>
            <a:endParaRPr lang="en-JP"/>
          </a:p>
        </p:txBody>
      </p:sp>
      <p:sp>
        <p:nvSpPr>
          <p:cNvPr id="12" name="TextBox 11">
            <a:extLst>
              <a:ext uri="{FF2B5EF4-FFF2-40B4-BE49-F238E27FC236}">
                <a16:creationId xmlns:a16="http://schemas.microsoft.com/office/drawing/2014/main" id="{0FA2E4B9-C55D-73A4-1E22-ED2346D0A8D5}"/>
              </a:ext>
            </a:extLst>
          </p:cNvPr>
          <p:cNvSpPr txBox="1"/>
          <p:nvPr/>
        </p:nvSpPr>
        <p:spPr>
          <a:xfrm>
            <a:off x="564776" y="537947"/>
            <a:ext cx="4572000" cy="600164"/>
          </a:xfrm>
          <a:prstGeom prst="rect">
            <a:avLst/>
          </a:prstGeom>
          <a:noFill/>
        </p:spPr>
        <p:txBody>
          <a:bodyPr wrap="square">
            <a:spAutoFit/>
          </a:bodyPr>
          <a:lstStyle/>
          <a:p>
            <a:pPr marL="213355">
              <a:lnSpc>
                <a:spcPct val="150000"/>
              </a:lnSpc>
              <a:spcBef>
                <a:spcPts val="0"/>
              </a:spcBef>
              <a:buSzPts val="2800"/>
            </a:pPr>
            <a:r>
              <a:rPr lang="ja-JP" altLang="en-US" sz="2400" b="1">
                <a:latin typeface="Meiryo" panose="020B0604030504040204" pitchFamily="34" charset="-128"/>
                <a:ea typeface="Meiryo" panose="020B0604030504040204" pitchFamily="34" charset="-128"/>
              </a:rPr>
              <a:t>まとめ</a:t>
            </a:r>
            <a:endParaRPr lang="en-US" altLang="ja-JP" sz="2400" b="1" dirty="0">
              <a:latin typeface="Meiryo UI" panose="020B0604030504040204" pitchFamily="50" charset="-128"/>
              <a:ea typeface="Meiryo UI" panose="020B0604030504040204" pitchFamily="50" charset="-128"/>
            </a:endParaRPr>
          </a:p>
        </p:txBody>
      </p:sp>
      <p:sp>
        <p:nvSpPr>
          <p:cNvPr id="14" name="TextBox 13">
            <a:extLst>
              <a:ext uri="{FF2B5EF4-FFF2-40B4-BE49-F238E27FC236}">
                <a16:creationId xmlns:a16="http://schemas.microsoft.com/office/drawing/2014/main" id="{00D6359B-2C18-5E5A-7D76-9A15A2EA20CB}"/>
              </a:ext>
            </a:extLst>
          </p:cNvPr>
          <p:cNvSpPr txBox="1"/>
          <p:nvPr/>
        </p:nvSpPr>
        <p:spPr>
          <a:xfrm>
            <a:off x="615874" y="1554847"/>
            <a:ext cx="7912251" cy="3477875"/>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今回のインターンシップでは、</a:t>
            </a:r>
            <a:endParaRPr lang="mn-MN" altLang="ja-JP" sz="20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Traffic Eye </a:t>
            </a:r>
            <a:r>
              <a:rPr lang="ja-JP" altLang="en-US" sz="2000">
                <a:latin typeface="Meiryo" panose="020B0604030504040204" pitchFamily="34" charset="-128"/>
                <a:ea typeface="Meiryo" panose="020B0604030504040204" pitchFamily="34" charset="-128"/>
              </a:rPr>
              <a:t>を用いたログ分析、</a:t>
            </a:r>
            <a:r>
              <a:rPr lang="en-US" sz="2000" dirty="0">
                <a:latin typeface="Meiryo" panose="020B0604030504040204" pitchFamily="34" charset="-128"/>
                <a:ea typeface="Meiryo" panose="020B0604030504040204" pitchFamily="34" charset="-128"/>
              </a:rPr>
              <a:t>Web</a:t>
            </a:r>
            <a:r>
              <a:rPr lang="ja-JP" altLang="en-US" sz="2000">
                <a:latin typeface="Meiryo" panose="020B0604030504040204" pitchFamily="34" charset="-128"/>
                <a:ea typeface="Meiryo" panose="020B0604030504040204" pitchFamily="34" charset="-128"/>
              </a:rPr>
              <a:t>アプリケーションの構築、そして </a:t>
            </a:r>
            <a:r>
              <a:rPr lang="en-US" sz="2000" dirty="0">
                <a:latin typeface="Meiryo" panose="020B0604030504040204" pitchFamily="34" charset="-128"/>
                <a:ea typeface="Meiryo" panose="020B0604030504040204" pitchFamily="34" charset="-128"/>
              </a:rPr>
              <a:t>DVWA </a:t>
            </a:r>
            <a:r>
              <a:rPr lang="ja-JP" altLang="en-US" sz="2000">
                <a:latin typeface="Meiryo" panose="020B0604030504040204" pitchFamily="34" charset="-128"/>
                <a:ea typeface="Meiryo" panose="020B0604030504040204" pitchFamily="34" charset="-128"/>
              </a:rPr>
              <a:t>を使った脆弱性攻撃の体験という３つの活動を通して、セキュリティ運用の理解を深めることができました</a:t>
            </a:r>
            <a:r>
              <a:rPr lang="mn-MN" altLang="ja-JP" sz="2000" dirty="0">
                <a:latin typeface="Meiryo" panose="020B0604030504040204" pitchFamily="34" charset="-128"/>
                <a:ea typeface="Meiryo" panose="020B0604030504040204" pitchFamily="34" charset="-128"/>
              </a:rPr>
              <a:t>.</a:t>
            </a:r>
          </a:p>
          <a:p>
            <a:endParaRPr lang="mn-MN" altLang="ja-JP" sz="20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実践的な環境で学ぶことで、攻撃と防御の仕組み、そして安全なアプリケーション開発に必要な基礎を身につけることができました</a:t>
            </a:r>
            <a:r>
              <a:rPr lang="mn-MN" altLang="ja-JP" sz="2000" dirty="0">
                <a:latin typeface="Meiryo" panose="020B0604030504040204" pitchFamily="34" charset="-128"/>
                <a:ea typeface="Meiryo" panose="020B0604030504040204" pitchFamily="34" charset="-128"/>
              </a:rPr>
              <a:t>.</a:t>
            </a:r>
          </a:p>
          <a:p>
            <a:endParaRPr lang="mn-MN" altLang="ja-JP" sz="2000" dirty="0">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r>
              <a:rPr lang="mn-MN" altLang="ja-JP" sz="2000" dirty="0">
                <a:latin typeface="Meiryo" panose="020B0604030504040204" pitchFamily="34" charset="-128"/>
                <a:ea typeface="Meiryo" panose="020B0604030504040204" pitchFamily="34" charset="-128"/>
              </a:rPr>
              <a:t>   </a:t>
            </a:r>
            <a:r>
              <a:rPr lang="ja-JP" altLang="en-US" sz="2000">
                <a:solidFill>
                  <a:schemeClr val="accent1">
                    <a:lumMod val="75000"/>
                  </a:schemeClr>
                </a:solidFill>
                <a:latin typeface="Meiryo" panose="020B0604030504040204" pitchFamily="34" charset="-128"/>
                <a:ea typeface="Meiryo" panose="020B0604030504040204" pitchFamily="34" charset="-128"/>
              </a:rPr>
              <a:t>このような機会を与えていただき、誠にありがとうございました</a:t>
            </a:r>
            <a:r>
              <a:rPr lang="mn-MN" altLang="ja-JP" sz="2000" dirty="0">
                <a:solidFill>
                  <a:schemeClr val="accent1">
                    <a:lumMod val="75000"/>
                  </a:schemeClr>
                </a:solidFill>
                <a:latin typeface="Meiryo" panose="020B0604030504040204" pitchFamily="34" charset="-128"/>
                <a:ea typeface="Meiryo" panose="020B0604030504040204" pitchFamily="34" charset="-128"/>
              </a:rPr>
              <a:t>.</a:t>
            </a:r>
            <a:endParaRPr lang="en-JP" sz="2000" dirty="0">
              <a:solidFill>
                <a:schemeClr val="accent1">
                  <a:lumMod val="75000"/>
                </a:schemeClr>
              </a:solidFill>
              <a:latin typeface="Meiryo" panose="020B0604030504040204" pitchFamily="34" charset="-128"/>
              <a:ea typeface="Meiryo" panose="020B0604030504040204" pitchFamily="34" charset="-128"/>
            </a:endParaRPr>
          </a:p>
        </p:txBody>
      </p:sp>
      <p:pic>
        <p:nvPicPr>
          <p:cNvPr id="2" name="Picture 1">
            <a:extLst>
              <a:ext uri="{FF2B5EF4-FFF2-40B4-BE49-F238E27FC236}">
                <a16:creationId xmlns:a16="http://schemas.microsoft.com/office/drawing/2014/main" id="{E606F068-58D0-3876-5128-A0F623FD4312}"/>
              </a:ext>
            </a:extLst>
          </p:cNvPr>
          <p:cNvPicPr>
            <a:picLocks noChangeAspect="1"/>
          </p:cNvPicPr>
          <p:nvPr/>
        </p:nvPicPr>
        <p:blipFill>
          <a:blip r:embed="rId3"/>
          <a:stretch>
            <a:fillRect/>
          </a:stretch>
        </p:blipFill>
        <p:spPr>
          <a:xfrm>
            <a:off x="5136776" y="5206144"/>
            <a:ext cx="2943180" cy="600164"/>
          </a:xfrm>
          <a:prstGeom prst="rect">
            <a:avLst/>
          </a:prstGeom>
        </p:spPr>
      </p:pic>
    </p:spTree>
    <p:extLst>
      <p:ext uri="{BB962C8B-B14F-4D97-AF65-F5344CB8AC3E}">
        <p14:creationId xmlns:p14="http://schemas.microsoft.com/office/powerpoint/2010/main" val="27405036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10218</TotalTime>
  <Words>1037</Words>
  <Application>Microsoft Macintosh PowerPoint</Application>
  <PresentationFormat>On-screen Show (4:3)</PresentationFormat>
  <Paragraphs>132</Paragraphs>
  <Slides>18</Slides>
  <Notes>4</Notes>
  <HiddenSlides>0</HiddenSlides>
  <MMClips>4</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Meiryo</vt:lpstr>
      <vt:lpstr>Meiryo UI</vt:lpstr>
      <vt:lpstr>Arial</vt:lpstr>
      <vt:lpstr>Calibri</vt:lpstr>
      <vt:lpstr>Calibri Light</vt:lpstr>
      <vt:lpstr>Helvetica Neue</vt:lpstr>
      <vt:lpstr>Times New Roman</vt:lpstr>
      <vt:lpstr>Wingdings</vt:lpstr>
      <vt:lpstr>Office Theme</vt:lpstr>
      <vt:lpstr>Cybersecurity Web_Page Best Practices</vt:lpstr>
      <vt:lpstr>目次</vt:lpstr>
      <vt:lpstr>PowerPoint Presentation</vt:lpstr>
      <vt:lpstr>PowerPoint Presentation</vt:lpstr>
      <vt:lpstr>PowerPoint Presentation</vt:lpstr>
      <vt:lpstr>選んだ理由 (Reason for choosing)</vt:lpstr>
      <vt:lpstr>PowerPoint Presentation</vt:lpstr>
      <vt:lpstr>PowerPoint Presentation</vt:lpstr>
      <vt:lpstr>PowerPoint Presentation</vt:lpstr>
      <vt:lpstr>PowerPoint Presentation</vt:lpstr>
      <vt:lpstr>PowerPoint Presentation</vt:lpstr>
      <vt:lpstr> Webページへの攻撃テストを実施するために，自身でこのようなWebページを作成してみました.</vt:lpstr>
      <vt:lpstr>  DVWA = Damn Vulnerable Web Application </vt:lpstr>
      <vt:lpstr>DVWA = Damn Vulnerable Web Applicationの画面</vt:lpstr>
      <vt:lpstr>Web_Server_Dashboardのプログラムの画面</vt:lpstr>
      <vt:lpstr>インターンシップで学んだこと</vt:lpstr>
      <vt:lpstr>ソフトスキル（個人の視点で学んだこと）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Web_Page Best Practices</dc:title>
  <dc:creator>undarmaa581@gmail.com</dc:creator>
  <cp:lastModifiedBy>undarmaa581@gmail.com</cp:lastModifiedBy>
  <cp:revision>25</cp:revision>
  <dcterms:created xsi:type="dcterms:W3CDTF">2025-12-08T05:04:51Z</dcterms:created>
  <dcterms:modified xsi:type="dcterms:W3CDTF">2025-12-18T09:07:14Z</dcterms:modified>
</cp:coreProperties>
</file>