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60" r:id="rId1"/>
  </p:sldMasterIdLst>
  <p:notesMasterIdLst>
    <p:notesMasterId r:id="rId33"/>
  </p:notesMasterIdLst>
  <p:sldIdLst>
    <p:sldId id="256" r:id="rId2"/>
    <p:sldId id="257" r:id="rId3"/>
    <p:sldId id="258" r:id="rId4"/>
    <p:sldId id="259" r:id="rId5"/>
    <p:sldId id="280" r:id="rId6"/>
    <p:sldId id="281" r:id="rId7"/>
    <p:sldId id="283" r:id="rId8"/>
    <p:sldId id="279" r:id="rId9"/>
    <p:sldId id="284" r:id="rId10"/>
    <p:sldId id="260" r:id="rId11"/>
    <p:sldId id="285" r:id="rId12"/>
    <p:sldId id="261" r:id="rId13"/>
    <p:sldId id="262" r:id="rId14"/>
    <p:sldId id="286" r:id="rId15"/>
    <p:sldId id="263" r:id="rId16"/>
    <p:sldId id="289" r:id="rId17"/>
    <p:sldId id="290" r:id="rId18"/>
    <p:sldId id="287" r:id="rId19"/>
    <p:sldId id="264" r:id="rId20"/>
    <p:sldId id="265" r:id="rId21"/>
    <p:sldId id="288" r:id="rId22"/>
    <p:sldId id="266" r:id="rId23"/>
    <p:sldId id="267" r:id="rId24"/>
    <p:sldId id="268" r:id="rId25"/>
    <p:sldId id="291" r:id="rId26"/>
    <p:sldId id="278" r:id="rId27"/>
    <p:sldId id="277" r:id="rId28"/>
    <p:sldId id="292" r:id="rId29"/>
    <p:sldId id="293" r:id="rId30"/>
    <p:sldId id="294" r:id="rId31"/>
    <p:sldId id="295" r:id="rId3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938"/>
    <p:restoredTop sz="92493"/>
  </p:normalViewPr>
  <p:slideViewPr>
    <p:cSldViewPr snapToGrid="0">
      <p:cViewPr varScale="1">
        <p:scale>
          <a:sx n="116" d="100"/>
          <a:sy n="116" d="100"/>
        </p:scale>
        <p:origin x="1752"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JP"/>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131318-6373-F948-859A-93FC5E297E9A}" type="datetimeFigureOut">
              <a:rPr lang="en-JP" smtClean="0"/>
              <a:t>2026/01/28</a:t>
            </a:fld>
            <a:endParaRPr lang="en-JP"/>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JP"/>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JP"/>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49AB56-CE06-1F4A-B272-291AECC6115A}" type="slidenum">
              <a:rPr lang="en-JP" smtClean="0"/>
              <a:t>‹#›</a:t>
            </a:fld>
            <a:endParaRPr lang="en-JP"/>
          </a:p>
        </p:txBody>
      </p:sp>
    </p:spTree>
    <p:extLst>
      <p:ext uri="{BB962C8B-B14F-4D97-AF65-F5344CB8AC3E}">
        <p14:creationId xmlns:p14="http://schemas.microsoft.com/office/powerpoint/2010/main" val="1885952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jisho.org/search/%E9%80%A3%E9%8E%96" TargetMode="External"/><Relationship Id="rId2" Type="http://schemas.openxmlformats.org/officeDocument/2006/relationships/slide" Target="../slides/slide5.xml"/><Relationship Id="rId1" Type="http://schemas.openxmlformats.org/officeDocument/2006/relationships/notesMaster" Target="../notesMasters/notesMaster1.xml"/><Relationship Id="rId4" Type="http://schemas.openxmlformats.org/officeDocument/2006/relationships/hyperlink" Target="https://jisho.org/search/%E6%A7%8B%E9%80%A0"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jisho.org/search/%E5%AE%8C%E5%85%A8" TargetMode="External"/><Relationship Id="rId2" Type="http://schemas.openxmlformats.org/officeDocument/2006/relationships/slide" Target="../slides/slide25.xml"/><Relationship Id="rId1" Type="http://schemas.openxmlformats.org/officeDocument/2006/relationships/notesMaster" Target="../notesMasters/notesMaster1.xml"/><Relationship Id="rId4" Type="http://schemas.openxmlformats.org/officeDocument/2006/relationships/hyperlink" Target="https://jisho.org/search/%E5%96%AA%E5%A4%B1" TargetMode="Externa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jisho.org/search/%E5%BE%B9%E5%BA%95" TargetMode="External"/><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jisho.org/search/%E5%BE%93%E6%A5%AD%E5%93%A1" TargetMode="External"/><Relationship Id="rId2" Type="http://schemas.openxmlformats.org/officeDocument/2006/relationships/slide" Target="../slides/slide27.xml"/><Relationship Id="rId1" Type="http://schemas.openxmlformats.org/officeDocument/2006/relationships/notesMaster" Target="../notesMasters/notesMaster1.xml"/><Relationship Id="rId5" Type="http://schemas.openxmlformats.org/officeDocument/2006/relationships/hyperlink" Target="https://jisho.org/search/%E9%80%80%E8%81%B7" TargetMode="External"/><Relationship Id="rId4" Type="http://schemas.openxmlformats.org/officeDocument/2006/relationships/hyperlink" Target="https://jisho.org/search/%E3%81%AE" TargetMode="Externa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jisho.org/search/%E4%BD%B5%E7%94%A8" TargetMode="External"/><Relationship Id="rId2" Type="http://schemas.openxmlformats.org/officeDocument/2006/relationships/slide" Target="../slides/slide30.xml"/><Relationship Id="rId1" Type="http://schemas.openxmlformats.org/officeDocument/2006/relationships/notesMaster" Target="../notesMasters/notesMaster1.xml"/><Relationship Id="rId4" Type="http://schemas.openxmlformats.org/officeDocument/2006/relationships/hyperlink" Target="https://jisho.org/search/%E6%8E%A8%E5%A5%A8" TargetMode="Externa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jisho.org/search/%E5%A4%9A%E5%B1%A4" TargetMode="External"/><Relationship Id="rId2" Type="http://schemas.openxmlformats.org/officeDocument/2006/relationships/slide" Target="../slides/slide31.xml"/><Relationship Id="rId1" Type="http://schemas.openxmlformats.org/officeDocument/2006/relationships/notesMaster" Target="../notesMasters/notesMaster1.xml"/><Relationship Id="rId4" Type="http://schemas.openxmlformats.org/officeDocument/2006/relationships/hyperlink" Target="https://jisho.org/search/%E9%98%B2%E5%BE%A1"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ja-JP" altLang="en-US" b="0" i="0">
                <a:solidFill>
                  <a:srgbClr val="222222"/>
                </a:solidFill>
                <a:effectLst/>
                <a:latin typeface="Source Han Sans"/>
              </a:rPr>
              <a:t>れんさ</a:t>
            </a:r>
            <a:r>
              <a:rPr lang="en-US" altLang="ja-JP" b="0" i="0" dirty="0">
                <a:solidFill>
                  <a:srgbClr val="222222"/>
                </a:solidFill>
                <a:effectLst/>
                <a:latin typeface="Source Han Sans"/>
              </a:rPr>
              <a:t> </a:t>
            </a:r>
            <a:r>
              <a:rPr lang="ja-JP" altLang="en-US" b="0" i="0" u="none" strike="noStrike">
                <a:solidFill>
                  <a:srgbClr val="3A251C"/>
                </a:solidFill>
                <a:effectLst/>
                <a:latin typeface="Source Han Sans"/>
                <a:hlinkClick r:id="rId3"/>
              </a:rPr>
              <a:t>連鎖</a:t>
            </a:r>
            <a:endParaRPr lang="ja-JP" altLang="en-US" b="0" i="0">
              <a:solidFill>
                <a:srgbClr val="222222"/>
              </a:solidFill>
              <a:effectLst/>
              <a:latin typeface="Source Han Sans"/>
            </a:endParaRPr>
          </a:p>
          <a:p>
            <a:pPr algn="l">
              <a:buFont typeface="Arial" panose="020B0604020202020204" pitchFamily="34" charset="0"/>
              <a:buChar char="•"/>
            </a:pPr>
            <a:r>
              <a:rPr lang="ja-JP" altLang="en-US" b="0" i="0">
                <a:solidFill>
                  <a:srgbClr val="222222"/>
                </a:solidFill>
                <a:effectLst/>
                <a:latin typeface="Source Han Sans"/>
              </a:rPr>
              <a:t> こうぞう</a:t>
            </a:r>
            <a:r>
              <a:rPr lang="en-US" altLang="ja-JP" b="0" i="0" dirty="0">
                <a:solidFill>
                  <a:srgbClr val="222222"/>
                </a:solidFill>
                <a:effectLst/>
                <a:latin typeface="Source Han Sans"/>
              </a:rPr>
              <a:t> </a:t>
            </a:r>
            <a:r>
              <a:rPr lang="ja-JP" altLang="en-US" b="0" i="0" u="none" strike="noStrike">
                <a:solidFill>
                  <a:srgbClr val="3A251C"/>
                </a:solidFill>
                <a:effectLst/>
                <a:latin typeface="Source Han Sans"/>
                <a:hlinkClick r:id="rId4"/>
              </a:rPr>
              <a:t>構造</a:t>
            </a:r>
            <a:endParaRPr lang="ja-JP" altLang="en-US" b="0" i="0">
              <a:solidFill>
                <a:srgbClr val="222222"/>
              </a:solidFill>
              <a:effectLst/>
              <a:latin typeface="Source Han Sans"/>
            </a:endParaRPr>
          </a:p>
          <a:p>
            <a:endParaRPr lang="en-JP" dirty="0"/>
          </a:p>
        </p:txBody>
      </p:sp>
      <p:sp>
        <p:nvSpPr>
          <p:cNvPr id="4" name="Slide Number Placeholder 3"/>
          <p:cNvSpPr>
            <a:spLocks noGrp="1"/>
          </p:cNvSpPr>
          <p:nvPr>
            <p:ph type="sldNum" sz="quarter" idx="5"/>
          </p:nvPr>
        </p:nvSpPr>
        <p:spPr/>
        <p:txBody>
          <a:bodyPr/>
          <a:lstStyle/>
          <a:p>
            <a:fld id="{2F49AB56-CE06-1F4A-B272-291AECC6115A}" type="slidenum">
              <a:rPr lang="en-JP" smtClean="0"/>
              <a:t>4</a:t>
            </a:fld>
            <a:endParaRPr lang="en-JP"/>
          </a:p>
        </p:txBody>
      </p:sp>
    </p:spTree>
    <p:extLst>
      <p:ext uri="{BB962C8B-B14F-4D97-AF65-F5344CB8AC3E}">
        <p14:creationId xmlns:p14="http://schemas.microsoft.com/office/powerpoint/2010/main" val="4839560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だんかい</a:t>
            </a:r>
            <a:r>
              <a:rPr lang="en-US" altLang="ja-JP" b="0" i="0" dirty="0">
                <a:solidFill>
                  <a:srgbClr val="222222"/>
                </a:solidFill>
                <a:effectLst/>
                <a:latin typeface="Source Han Sans"/>
              </a:rPr>
              <a:t>-</a:t>
            </a:r>
            <a:r>
              <a:rPr lang="ja-JP" altLang="en-US" b="0" i="0">
                <a:solidFill>
                  <a:srgbClr val="222222"/>
                </a:solidFill>
                <a:effectLst/>
                <a:latin typeface="Source Han Sans"/>
              </a:rPr>
              <a:t>段階</a:t>
            </a:r>
            <a:r>
              <a:rPr lang="en-US" altLang="ja-JP" b="0" i="0" dirty="0">
                <a:solidFill>
                  <a:srgbClr val="222222"/>
                </a:solidFill>
                <a:effectLst/>
                <a:latin typeface="Source Han Sans"/>
              </a:rPr>
              <a:t> ,</a:t>
            </a:r>
            <a:r>
              <a:rPr lang="ja-JP" altLang="en-US" b="0" i="0">
                <a:solidFill>
                  <a:srgbClr val="222222"/>
                </a:solidFill>
                <a:effectLst/>
                <a:latin typeface="Source Han Sans"/>
              </a:rPr>
              <a:t> せいのう</a:t>
            </a:r>
            <a:r>
              <a:rPr lang="en-US" altLang="ja-JP" b="0" i="0" dirty="0">
                <a:solidFill>
                  <a:srgbClr val="222222"/>
                </a:solidFill>
                <a:effectLst/>
                <a:latin typeface="Source Han Sans"/>
              </a:rPr>
              <a:t>-</a:t>
            </a:r>
            <a:r>
              <a:rPr lang="ja-JP" altLang="en-US" b="0" i="0">
                <a:solidFill>
                  <a:srgbClr val="222222"/>
                </a:solidFill>
                <a:effectLst/>
                <a:latin typeface="Source Han Sans"/>
              </a:rPr>
              <a:t>性能</a:t>
            </a:r>
            <a:r>
              <a:rPr lang="en-US" altLang="ja-JP" b="0" i="0" dirty="0">
                <a:solidFill>
                  <a:srgbClr val="222222"/>
                </a:solidFill>
                <a:effectLst/>
                <a:latin typeface="Source Han Sans"/>
              </a:rPr>
              <a:t>,</a:t>
            </a:r>
            <a:r>
              <a:rPr lang="ja-JP" altLang="en-US" b="0" i="0">
                <a:solidFill>
                  <a:srgbClr val="222222"/>
                </a:solidFill>
                <a:effectLst/>
                <a:latin typeface="Source Han Sans"/>
              </a:rPr>
              <a:t> りょうりつ</a:t>
            </a:r>
            <a:r>
              <a:rPr lang="en-US" altLang="ja-JP" b="0" i="0" dirty="0">
                <a:solidFill>
                  <a:srgbClr val="222222"/>
                </a:solidFill>
                <a:effectLst/>
                <a:latin typeface="Source Han Sans"/>
              </a:rPr>
              <a:t>-</a:t>
            </a:r>
            <a:r>
              <a:rPr lang="ja-JP" altLang="en-US" b="0" i="0">
                <a:solidFill>
                  <a:srgbClr val="222222"/>
                </a:solidFill>
                <a:effectLst/>
                <a:latin typeface="Source Han Sans"/>
              </a:rPr>
              <a:t>両立</a:t>
            </a:r>
            <a:r>
              <a:rPr lang="en-US" altLang="ja-JP" b="0" i="0" dirty="0">
                <a:solidFill>
                  <a:srgbClr val="222222"/>
                </a:solidFill>
                <a:effectLst/>
                <a:latin typeface="Source Han Sans"/>
              </a:rPr>
              <a:t>,</a:t>
            </a:r>
            <a:r>
              <a:rPr lang="ja-JP" altLang="en-US" b="0" i="0">
                <a:solidFill>
                  <a:srgbClr val="222222"/>
                </a:solidFill>
                <a:effectLst/>
                <a:latin typeface="Source Han Sans"/>
              </a:rPr>
              <a:t> きょうゆう</a:t>
            </a:r>
            <a:r>
              <a:rPr lang="en-US" altLang="ja-JP" b="0" i="0" dirty="0">
                <a:solidFill>
                  <a:srgbClr val="222222"/>
                </a:solidFill>
                <a:effectLst/>
                <a:latin typeface="Source Han Sans"/>
              </a:rPr>
              <a:t>-</a:t>
            </a:r>
            <a:r>
              <a:rPr lang="ja-JP" altLang="en-US" b="0" i="0">
                <a:solidFill>
                  <a:srgbClr val="222222"/>
                </a:solidFill>
                <a:effectLst/>
                <a:latin typeface="Source Han Sans"/>
              </a:rPr>
              <a:t>共有</a:t>
            </a:r>
            <a:r>
              <a:rPr lang="en-US" altLang="ja-JP" b="0" i="0" dirty="0">
                <a:solidFill>
                  <a:srgbClr val="222222"/>
                </a:solidFill>
                <a:effectLst/>
                <a:latin typeface="Source Han Sans"/>
              </a:rPr>
              <a:t>,</a:t>
            </a:r>
            <a:endParaRPr lang="en-JP" dirty="0"/>
          </a:p>
        </p:txBody>
      </p:sp>
      <p:sp>
        <p:nvSpPr>
          <p:cNvPr id="4" name="Slide Number Placeholder 3"/>
          <p:cNvSpPr>
            <a:spLocks noGrp="1"/>
          </p:cNvSpPr>
          <p:nvPr>
            <p:ph type="sldNum" sz="quarter" idx="5"/>
          </p:nvPr>
        </p:nvSpPr>
        <p:spPr/>
        <p:txBody>
          <a:bodyPr/>
          <a:lstStyle/>
          <a:p>
            <a:fld id="{2F49AB56-CE06-1F4A-B272-291AECC6115A}" type="slidenum">
              <a:rPr lang="en-JP" smtClean="0"/>
              <a:t>5</a:t>
            </a:fld>
            <a:endParaRPr lang="en-JP"/>
          </a:p>
        </p:txBody>
      </p:sp>
    </p:spTree>
    <p:extLst>
      <p:ext uri="{BB962C8B-B14F-4D97-AF65-F5344CB8AC3E}">
        <p14:creationId xmlns:p14="http://schemas.microsoft.com/office/powerpoint/2010/main" val="8369591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そくど</a:t>
            </a:r>
            <a:r>
              <a:rPr lang="en-US" altLang="ja-JP" b="0" i="0" dirty="0">
                <a:solidFill>
                  <a:srgbClr val="222222"/>
                </a:solidFill>
                <a:effectLst/>
                <a:latin typeface="Source Han Sans"/>
              </a:rPr>
              <a:t>-</a:t>
            </a:r>
            <a:r>
              <a:rPr lang="ja-JP" altLang="en-US" b="0" i="0">
                <a:solidFill>
                  <a:srgbClr val="222222"/>
                </a:solidFill>
                <a:effectLst/>
                <a:latin typeface="Source Han Sans"/>
              </a:rPr>
              <a:t>速度</a:t>
            </a:r>
            <a:r>
              <a:rPr lang="en-US" altLang="ja-JP" b="0" i="0" dirty="0">
                <a:solidFill>
                  <a:srgbClr val="222222"/>
                </a:solidFill>
                <a:effectLst/>
                <a:latin typeface="Source Han Sans"/>
              </a:rPr>
              <a:t>,</a:t>
            </a:r>
            <a:r>
              <a:rPr lang="ja-JP" altLang="en-US" b="0" i="0">
                <a:solidFill>
                  <a:srgbClr val="222222"/>
                </a:solidFill>
                <a:effectLst/>
                <a:latin typeface="Source Han Sans"/>
              </a:rPr>
              <a:t> ほんぶん</a:t>
            </a:r>
            <a:r>
              <a:rPr lang="en-US" altLang="ja-JP" b="0" i="0" dirty="0">
                <a:solidFill>
                  <a:srgbClr val="222222"/>
                </a:solidFill>
                <a:effectLst/>
                <a:latin typeface="Source Han Sans"/>
              </a:rPr>
              <a:t>-</a:t>
            </a:r>
            <a:r>
              <a:rPr lang="ja-JP" altLang="en-US" b="0" i="0">
                <a:solidFill>
                  <a:srgbClr val="222222"/>
                </a:solidFill>
                <a:effectLst/>
                <a:latin typeface="Source Han Sans"/>
              </a:rPr>
              <a:t>本文</a:t>
            </a:r>
            <a:r>
              <a:rPr lang="en-US" altLang="ja-JP" b="0" i="0" dirty="0">
                <a:solidFill>
                  <a:srgbClr val="222222"/>
                </a:solidFill>
                <a:effectLst/>
                <a:latin typeface="Source Han Sans"/>
              </a:rPr>
              <a:t>,</a:t>
            </a:r>
            <a:r>
              <a:rPr lang="ja-JP" altLang="en-US" b="0" i="0">
                <a:solidFill>
                  <a:srgbClr val="222222"/>
                </a:solidFill>
                <a:effectLst/>
                <a:latin typeface="Source Han Sans"/>
              </a:rPr>
              <a:t> ほご</a:t>
            </a:r>
            <a:r>
              <a:rPr lang="en-US" altLang="ja-JP" b="0" i="0" dirty="0">
                <a:solidFill>
                  <a:srgbClr val="222222"/>
                </a:solidFill>
                <a:effectLst/>
                <a:latin typeface="Source Han Sans"/>
              </a:rPr>
              <a:t>-</a:t>
            </a:r>
            <a:r>
              <a:rPr lang="ja-JP" altLang="en-US" b="0" i="0">
                <a:solidFill>
                  <a:srgbClr val="222222"/>
                </a:solidFill>
                <a:effectLst/>
                <a:latin typeface="Source Han Sans"/>
              </a:rPr>
              <a:t>保護</a:t>
            </a:r>
            <a:endParaRPr lang="en-JP" dirty="0"/>
          </a:p>
        </p:txBody>
      </p:sp>
      <p:sp>
        <p:nvSpPr>
          <p:cNvPr id="4" name="Slide Number Placeholder 3"/>
          <p:cNvSpPr>
            <a:spLocks noGrp="1"/>
          </p:cNvSpPr>
          <p:nvPr>
            <p:ph type="sldNum" sz="quarter" idx="5"/>
          </p:nvPr>
        </p:nvSpPr>
        <p:spPr/>
        <p:txBody>
          <a:bodyPr/>
          <a:lstStyle/>
          <a:p>
            <a:fld id="{2F49AB56-CE06-1F4A-B272-291AECC6115A}" type="slidenum">
              <a:rPr lang="en-JP" smtClean="0"/>
              <a:t>6</a:t>
            </a:fld>
            <a:endParaRPr lang="en-JP"/>
          </a:p>
        </p:txBody>
      </p:sp>
    </p:spTree>
    <p:extLst>
      <p:ext uri="{BB962C8B-B14F-4D97-AF65-F5344CB8AC3E}">
        <p14:creationId xmlns:p14="http://schemas.microsoft.com/office/powerpoint/2010/main" val="23598254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effectLst/>
                <a:latin typeface="MS Mincho" panose="02020609040205080304" pitchFamily="49" charset="-128"/>
                <a:ea typeface="MS Mincho" panose="02020609040205080304" pitchFamily="49" charset="-128"/>
                <a:cs typeface="Times New Roman" panose="02020603050405020304" pitchFamily="18" charset="0"/>
              </a:rPr>
              <a:t>example.jp</a:t>
            </a:r>
            <a:r>
              <a:rPr lang="ja-JP" sz="1800">
                <a:effectLst/>
                <a:latin typeface="Cambria" panose="02040503050406030204" pitchFamily="18" charset="0"/>
                <a:ea typeface="MS Mincho" panose="02020609040205080304" pitchFamily="49" charset="-128"/>
                <a:cs typeface="Times New Roman" panose="02020603050405020304" pitchFamily="18" charset="0"/>
              </a:rPr>
              <a:t>ドメイン配下に，</a:t>
            </a:r>
            <a:r>
              <a:rPr lang="en-US" sz="1800" dirty="0">
                <a:effectLst/>
                <a:latin typeface="MS Mincho" panose="02020609040205080304" pitchFamily="49" charset="-128"/>
                <a:ea typeface="MS Mincho" panose="02020609040205080304" pitchFamily="49" charset="-128"/>
                <a:cs typeface="Times New Roman" panose="02020603050405020304" pitchFamily="18" charset="0"/>
              </a:rPr>
              <a:t>DNS</a:t>
            </a:r>
            <a:r>
              <a:rPr lang="ja-JP" sz="1800">
                <a:effectLst/>
                <a:latin typeface="Cambria" panose="02040503050406030204" pitchFamily="18" charset="0"/>
                <a:ea typeface="MS Mincho" panose="02020609040205080304" pitchFamily="49" charset="-128"/>
                <a:cs typeface="Times New Roman" panose="02020603050405020304" pitchFamily="18" charset="0"/>
              </a:rPr>
              <a:t>サーバ（</a:t>
            </a:r>
            <a:r>
              <a:rPr lang="en-US" sz="1800" dirty="0" err="1">
                <a:effectLst/>
                <a:latin typeface="MS Mincho" panose="02020609040205080304" pitchFamily="49" charset="-128"/>
                <a:ea typeface="MS Mincho" panose="02020609040205080304" pitchFamily="49" charset="-128"/>
                <a:cs typeface="Times New Roman" panose="02020603050405020304" pitchFamily="18" charset="0"/>
              </a:rPr>
              <a:t>localdns.example.jp</a:t>
            </a:r>
            <a:r>
              <a:rPr lang="ja-JP" sz="1800">
                <a:effectLst/>
                <a:latin typeface="Cambria" panose="02040503050406030204" pitchFamily="18" charset="0"/>
                <a:ea typeface="MS Mincho" panose="02020609040205080304" pitchFamily="49" charset="-128"/>
                <a:cs typeface="Times New Roman" panose="02020603050405020304" pitchFamily="18" charset="0"/>
              </a:rPr>
              <a:t>），</a:t>
            </a:r>
            <a:r>
              <a:rPr lang="en-US" sz="1800" dirty="0">
                <a:effectLst/>
                <a:latin typeface="MS Mincho" panose="02020609040205080304" pitchFamily="49" charset="-128"/>
                <a:ea typeface="MS Mincho" panose="02020609040205080304" pitchFamily="49" charset="-128"/>
                <a:cs typeface="Times New Roman" panose="02020603050405020304" pitchFamily="18" charset="0"/>
              </a:rPr>
              <a:t>Private CA</a:t>
            </a:r>
            <a:r>
              <a:rPr lang="ja-JP" sz="1800">
                <a:effectLst/>
                <a:latin typeface="Cambria" panose="02040503050406030204" pitchFamily="18" charset="0"/>
                <a:ea typeface="MS Mincho" panose="02020609040205080304" pitchFamily="49" charset="-128"/>
                <a:cs typeface="Times New Roman" panose="02020603050405020304" pitchFamily="18" charset="0"/>
              </a:rPr>
              <a:t>サーバ（</a:t>
            </a:r>
            <a:r>
              <a:rPr lang="en-US" sz="1800" dirty="0">
                <a:effectLst/>
                <a:latin typeface="MS Mincho" panose="02020609040205080304" pitchFamily="49" charset="-128"/>
                <a:ea typeface="MS Mincho" panose="02020609040205080304" pitchFamily="49" charset="-128"/>
                <a:cs typeface="Times New Roman" panose="02020603050405020304" pitchFamily="18" charset="0"/>
              </a:rPr>
              <a:t>pki.example.jp</a:t>
            </a:r>
            <a:r>
              <a:rPr lang="ja-JP" sz="1800">
                <a:effectLst/>
                <a:latin typeface="Cambria" panose="02040503050406030204" pitchFamily="18" charset="0"/>
                <a:ea typeface="MS Mincho" panose="02020609040205080304" pitchFamily="49" charset="-128"/>
                <a:cs typeface="Times New Roman" panose="02020603050405020304" pitchFamily="18" charset="0"/>
              </a:rPr>
              <a:t>），</a:t>
            </a:r>
            <a:r>
              <a:rPr lang="en-US" sz="1800" dirty="0">
                <a:effectLst/>
                <a:latin typeface="MS Mincho" panose="02020609040205080304" pitchFamily="49" charset="-128"/>
                <a:ea typeface="MS Mincho" panose="02020609040205080304" pitchFamily="49" charset="-128"/>
                <a:cs typeface="Times New Roman" panose="02020603050405020304" pitchFamily="18" charset="0"/>
              </a:rPr>
              <a:t>Web</a:t>
            </a:r>
            <a:r>
              <a:rPr lang="ja-JP" sz="1800">
                <a:effectLst/>
                <a:latin typeface="Cambria" panose="02040503050406030204" pitchFamily="18" charset="0"/>
                <a:ea typeface="MS Mincho" panose="02020609040205080304" pitchFamily="49" charset="-128"/>
                <a:cs typeface="Times New Roman" panose="02020603050405020304" pitchFamily="18" charset="0"/>
              </a:rPr>
              <a:t>サーバ（</a:t>
            </a:r>
            <a:r>
              <a:rPr lang="en-US" sz="1800" dirty="0">
                <a:effectLst/>
                <a:latin typeface="MS Mincho" panose="02020609040205080304" pitchFamily="49" charset="-128"/>
                <a:ea typeface="MS Mincho" panose="02020609040205080304" pitchFamily="49" charset="-128"/>
                <a:cs typeface="Times New Roman" panose="02020603050405020304" pitchFamily="18" charset="0"/>
              </a:rPr>
              <a:t>www1.example.jp</a:t>
            </a:r>
            <a:r>
              <a:rPr lang="ja-JP" sz="1800">
                <a:effectLst/>
                <a:latin typeface="Cambria" panose="02040503050406030204" pitchFamily="18" charset="0"/>
                <a:ea typeface="MS Mincho" panose="02020609040205080304" pitchFamily="49" charset="-128"/>
                <a:cs typeface="Times New Roman" panose="02020603050405020304" pitchFamily="18" charset="0"/>
              </a:rPr>
              <a:t>）を配置し，すべて同一ネットワークセグメント（</a:t>
            </a:r>
            <a:r>
              <a:rPr lang="en-US" sz="1800" dirty="0">
                <a:effectLst/>
                <a:latin typeface="MS Mincho" panose="02020609040205080304" pitchFamily="49" charset="-128"/>
                <a:ea typeface="MS Mincho" panose="02020609040205080304" pitchFamily="49" charset="-128"/>
                <a:cs typeface="Times New Roman" panose="02020603050405020304" pitchFamily="18" charset="0"/>
              </a:rPr>
              <a:t>10.0.0.0/24</a:t>
            </a:r>
            <a:r>
              <a:rPr lang="ja-JP" sz="1800">
                <a:effectLst/>
                <a:latin typeface="Cambria" panose="02040503050406030204" pitchFamily="18" charset="0"/>
                <a:ea typeface="MS Mincho" panose="02020609040205080304" pitchFamily="49" charset="-128"/>
                <a:cs typeface="Times New Roman" panose="02020603050405020304" pitchFamily="18" charset="0"/>
              </a:rPr>
              <a:t>）上で構成した。クライアントとして</a:t>
            </a:r>
            <a:r>
              <a:rPr lang="en-US" sz="1800" dirty="0">
                <a:effectLst/>
                <a:latin typeface="MS Mincho" panose="02020609040205080304" pitchFamily="49" charset="-128"/>
                <a:ea typeface="MS Mincho" panose="02020609040205080304" pitchFamily="49" charset="-128"/>
                <a:cs typeface="Times New Roman" panose="02020603050405020304" pitchFamily="18" charset="0"/>
              </a:rPr>
              <a:t>Ubuntu</a:t>
            </a:r>
            <a:r>
              <a:rPr lang="ja-JP" sz="1800">
                <a:effectLst/>
                <a:latin typeface="Cambria" panose="02040503050406030204" pitchFamily="18" charset="0"/>
                <a:ea typeface="MS Mincho" panose="02020609040205080304" pitchFamily="49" charset="-128"/>
                <a:cs typeface="Times New Roman" panose="02020603050405020304" pitchFamily="18" charset="0"/>
              </a:rPr>
              <a:t>ノート</a:t>
            </a:r>
            <a:r>
              <a:rPr lang="en-US" sz="1800" dirty="0">
                <a:effectLst/>
                <a:latin typeface="MS Mincho" panose="02020609040205080304" pitchFamily="49" charset="-128"/>
                <a:ea typeface="MS Mincho" panose="02020609040205080304" pitchFamily="49" charset="-128"/>
                <a:cs typeface="Times New Roman" panose="02020603050405020304" pitchFamily="18" charset="0"/>
              </a:rPr>
              <a:t>PC</a:t>
            </a:r>
            <a:r>
              <a:rPr lang="ja-JP" sz="1800">
                <a:effectLst/>
                <a:latin typeface="Cambria" panose="02040503050406030204" pitchFamily="18" charset="0"/>
                <a:ea typeface="MS Mincho" panose="02020609040205080304" pitchFamily="49" charset="-128"/>
                <a:cs typeface="Times New Roman" panose="02020603050405020304" pitchFamily="18" charset="0"/>
              </a:rPr>
              <a:t>を用い，無線</a:t>
            </a:r>
            <a:r>
              <a:rPr lang="en-US" sz="1800" dirty="0">
                <a:effectLst/>
                <a:latin typeface="MS Mincho" panose="02020609040205080304" pitchFamily="49" charset="-128"/>
                <a:ea typeface="MS Mincho" panose="02020609040205080304" pitchFamily="49" charset="-128"/>
                <a:cs typeface="Times New Roman" panose="02020603050405020304" pitchFamily="18" charset="0"/>
              </a:rPr>
              <a:t>LAN</a:t>
            </a:r>
            <a:r>
              <a:rPr lang="ja-JP" sz="1800">
                <a:effectLst/>
                <a:latin typeface="Cambria" panose="02040503050406030204" pitchFamily="18" charset="0"/>
                <a:ea typeface="MS Mincho" panose="02020609040205080304" pitchFamily="49" charset="-128"/>
                <a:cs typeface="Times New Roman" panose="02020603050405020304" pitchFamily="18" charset="0"/>
              </a:rPr>
              <a:t>（</a:t>
            </a:r>
            <a:r>
              <a:rPr lang="en-US" sz="1800" dirty="0" err="1">
                <a:effectLst/>
                <a:latin typeface="MS Mincho" panose="02020609040205080304" pitchFamily="49" charset="-128"/>
                <a:ea typeface="MS Mincho" panose="02020609040205080304" pitchFamily="49" charset="-128"/>
                <a:cs typeface="Times New Roman" panose="02020603050405020304" pitchFamily="18" charset="0"/>
              </a:rPr>
              <a:t>SecurityLab</a:t>
            </a:r>
            <a:r>
              <a:rPr lang="ja-JP" sz="1800">
                <a:effectLst/>
                <a:latin typeface="Cambria" panose="02040503050406030204" pitchFamily="18" charset="0"/>
                <a:ea typeface="MS Mincho" panose="02020609040205080304" pitchFamily="49" charset="-128"/>
                <a:cs typeface="Times New Roman" panose="02020603050405020304" pitchFamily="18" charset="0"/>
              </a:rPr>
              <a:t>）を介して演習用ネットワークに接続した。</a:t>
            </a:r>
            <a:endParaRPr lang="en-JP"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n-JP" dirty="0"/>
          </a:p>
        </p:txBody>
      </p:sp>
      <p:sp>
        <p:nvSpPr>
          <p:cNvPr id="4" name="Slide Number Placeholder 3"/>
          <p:cNvSpPr>
            <a:spLocks noGrp="1"/>
          </p:cNvSpPr>
          <p:nvPr>
            <p:ph type="sldNum" sz="quarter" idx="5"/>
          </p:nvPr>
        </p:nvSpPr>
        <p:spPr/>
        <p:txBody>
          <a:bodyPr/>
          <a:lstStyle/>
          <a:p>
            <a:fld id="{2F49AB56-CE06-1F4A-B272-291AECC6115A}" type="slidenum">
              <a:rPr lang="en-JP" smtClean="0"/>
              <a:t>7</a:t>
            </a:fld>
            <a:endParaRPr lang="en-JP"/>
          </a:p>
        </p:txBody>
      </p:sp>
    </p:spTree>
    <p:extLst>
      <p:ext uri="{BB962C8B-B14F-4D97-AF65-F5344CB8AC3E}">
        <p14:creationId xmlns:p14="http://schemas.microsoft.com/office/powerpoint/2010/main" val="41738275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そうふ</a:t>
            </a:r>
            <a:r>
              <a:rPr lang="en-US" altLang="ja-JP" b="0" i="0" dirty="0">
                <a:solidFill>
                  <a:srgbClr val="222222"/>
                </a:solidFill>
                <a:effectLst/>
                <a:latin typeface="Source Han Sans"/>
              </a:rPr>
              <a:t>-</a:t>
            </a:r>
            <a:r>
              <a:rPr lang="ja-JP" altLang="en-US" b="0" i="0">
                <a:solidFill>
                  <a:srgbClr val="222222"/>
                </a:solidFill>
                <a:effectLst/>
                <a:latin typeface="Source Han Sans"/>
              </a:rPr>
              <a:t>送付</a:t>
            </a:r>
            <a:r>
              <a:rPr lang="en-US" altLang="ja-JP" b="0" i="0" dirty="0">
                <a:solidFill>
                  <a:srgbClr val="222222"/>
                </a:solidFill>
                <a:effectLst/>
                <a:latin typeface="Source Han Sans"/>
              </a:rPr>
              <a:t>,</a:t>
            </a:r>
            <a:r>
              <a:rPr lang="ja-JP" altLang="en-US" b="0" i="0">
                <a:solidFill>
                  <a:srgbClr val="222222"/>
                </a:solidFill>
                <a:effectLst/>
                <a:latin typeface="Source Han Sans"/>
              </a:rPr>
              <a:t> してい</a:t>
            </a:r>
            <a:r>
              <a:rPr lang="en-US" altLang="ja-JP" b="0" i="0" dirty="0">
                <a:solidFill>
                  <a:srgbClr val="222222"/>
                </a:solidFill>
                <a:effectLst/>
                <a:latin typeface="Source Han Sans"/>
              </a:rPr>
              <a:t>-</a:t>
            </a:r>
            <a:r>
              <a:rPr lang="ja-JP" altLang="en-US" b="0" i="0">
                <a:solidFill>
                  <a:srgbClr val="222222"/>
                </a:solidFill>
                <a:effectLst/>
                <a:latin typeface="Source Han Sans"/>
              </a:rPr>
              <a:t>指定</a:t>
            </a:r>
            <a:r>
              <a:rPr lang="en-US" altLang="ja-JP" b="0" i="0" dirty="0">
                <a:solidFill>
                  <a:srgbClr val="222222"/>
                </a:solidFill>
                <a:effectLst/>
                <a:latin typeface="Source Han Sans"/>
              </a:rPr>
              <a:t>,</a:t>
            </a:r>
            <a:r>
              <a:rPr lang="ja-JP" altLang="en-US" b="0" i="0">
                <a:solidFill>
                  <a:srgbClr val="222222"/>
                </a:solidFill>
                <a:effectLst/>
                <a:latin typeface="Source Han Sans"/>
              </a:rPr>
              <a:t> かくりつ</a:t>
            </a:r>
            <a:r>
              <a:rPr lang="en-US" altLang="ja-JP" b="0" i="0" dirty="0">
                <a:solidFill>
                  <a:srgbClr val="222222"/>
                </a:solidFill>
                <a:effectLst/>
                <a:latin typeface="Source Han Sans"/>
              </a:rPr>
              <a:t>-</a:t>
            </a:r>
            <a:r>
              <a:rPr lang="ja-JP" altLang="en-US" b="0" i="0">
                <a:solidFill>
                  <a:srgbClr val="222222"/>
                </a:solidFill>
                <a:effectLst/>
                <a:latin typeface="Source Han Sans"/>
              </a:rPr>
              <a:t>確立</a:t>
            </a:r>
            <a:endParaRPr lang="en-JP" dirty="0"/>
          </a:p>
        </p:txBody>
      </p:sp>
      <p:sp>
        <p:nvSpPr>
          <p:cNvPr id="4" name="Slide Number Placeholder 3"/>
          <p:cNvSpPr>
            <a:spLocks noGrp="1"/>
          </p:cNvSpPr>
          <p:nvPr>
            <p:ph type="sldNum" sz="quarter" idx="5"/>
          </p:nvPr>
        </p:nvSpPr>
        <p:spPr/>
        <p:txBody>
          <a:bodyPr/>
          <a:lstStyle/>
          <a:p>
            <a:fld id="{2F49AB56-CE06-1F4A-B272-291AECC6115A}" type="slidenum">
              <a:rPr lang="en-JP" smtClean="0"/>
              <a:t>8</a:t>
            </a:fld>
            <a:endParaRPr lang="en-JP"/>
          </a:p>
        </p:txBody>
      </p:sp>
    </p:spTree>
    <p:extLst>
      <p:ext uri="{BB962C8B-B14F-4D97-AF65-F5344CB8AC3E}">
        <p14:creationId xmlns:p14="http://schemas.microsoft.com/office/powerpoint/2010/main" val="19483770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にんしょうきょく</a:t>
            </a:r>
            <a:r>
              <a:rPr lang="en-US" altLang="ja-JP" b="0" i="0" dirty="0">
                <a:solidFill>
                  <a:srgbClr val="222222"/>
                </a:solidFill>
                <a:effectLst/>
                <a:latin typeface="Source Han Sans"/>
              </a:rPr>
              <a:t>-</a:t>
            </a:r>
            <a:r>
              <a:rPr lang="ja-JP" altLang="en-US" b="0" i="0">
                <a:solidFill>
                  <a:srgbClr val="222222"/>
                </a:solidFill>
                <a:effectLst/>
                <a:latin typeface="Source Han Sans"/>
              </a:rPr>
              <a:t>認証局</a:t>
            </a:r>
            <a:r>
              <a:rPr lang="en-US" altLang="ja-JP" b="0" i="0" dirty="0">
                <a:solidFill>
                  <a:srgbClr val="222222"/>
                </a:solidFill>
                <a:effectLst/>
                <a:latin typeface="Source Han Sans"/>
              </a:rPr>
              <a:t>,</a:t>
            </a:r>
            <a:r>
              <a:rPr lang="ja-JP" altLang="en-US" b="0" i="0">
                <a:solidFill>
                  <a:srgbClr val="222222"/>
                </a:solidFill>
                <a:effectLst/>
                <a:latin typeface="Source Han Sans"/>
              </a:rPr>
              <a:t> しょめい署名</a:t>
            </a:r>
            <a:r>
              <a:rPr lang="en-US" altLang="ja-JP" b="0" i="0" dirty="0">
                <a:solidFill>
                  <a:srgbClr val="222222"/>
                </a:solidFill>
                <a:effectLst/>
                <a:latin typeface="Source Han Sans"/>
              </a:rPr>
              <a:t>, </a:t>
            </a:r>
            <a:r>
              <a:rPr lang="ja-JP" altLang="en-US" b="0" i="0">
                <a:solidFill>
                  <a:srgbClr val="222222"/>
                </a:solidFill>
                <a:effectLst/>
                <a:latin typeface="Source Han Sans"/>
              </a:rPr>
              <a:t>しょうめいしょ証明書</a:t>
            </a:r>
            <a:r>
              <a:rPr lang="en-US" altLang="ja-JP" b="0" i="0" dirty="0">
                <a:solidFill>
                  <a:srgbClr val="222222"/>
                </a:solidFill>
                <a:effectLst/>
                <a:latin typeface="Source Han Sans"/>
              </a:rPr>
              <a:t>, </a:t>
            </a:r>
            <a:r>
              <a:rPr lang="ja-JP" altLang="en-US" b="0" i="0">
                <a:solidFill>
                  <a:srgbClr val="222222"/>
                </a:solidFill>
                <a:effectLst/>
                <a:latin typeface="Source Han Sans"/>
              </a:rPr>
              <a:t>こんかん</a:t>
            </a:r>
            <a:r>
              <a:rPr lang="en-US" altLang="ja-JP" b="0" i="0" dirty="0">
                <a:solidFill>
                  <a:srgbClr val="222222"/>
                </a:solidFill>
                <a:effectLst/>
                <a:latin typeface="Source Han Sans"/>
              </a:rPr>
              <a:t>-</a:t>
            </a:r>
            <a:r>
              <a:rPr lang="ja-JP" altLang="en-US" b="0" i="0">
                <a:solidFill>
                  <a:srgbClr val="222222"/>
                </a:solidFill>
                <a:effectLst/>
                <a:latin typeface="Source Han Sans"/>
              </a:rPr>
              <a:t>根幹</a:t>
            </a:r>
            <a:r>
              <a:rPr lang="en-US" altLang="ja-JP" b="0" i="0" dirty="0">
                <a:solidFill>
                  <a:srgbClr val="222222"/>
                </a:solidFill>
                <a:effectLst/>
                <a:latin typeface="Source Han Sans"/>
              </a:rPr>
              <a:t>,</a:t>
            </a:r>
            <a:r>
              <a:rPr lang="ja-JP" altLang="en-US" b="0" i="0">
                <a:solidFill>
                  <a:srgbClr val="222222"/>
                </a:solidFill>
                <a:effectLst/>
                <a:latin typeface="Source Han Sans"/>
              </a:rPr>
              <a:t> げんじゅう</a:t>
            </a:r>
            <a:r>
              <a:rPr lang="en-US" altLang="ja-JP" b="0" i="0" dirty="0">
                <a:solidFill>
                  <a:srgbClr val="222222"/>
                </a:solidFill>
                <a:effectLst/>
                <a:latin typeface="Source Han Sans"/>
              </a:rPr>
              <a:t>-</a:t>
            </a:r>
            <a:r>
              <a:rPr lang="ja-JP" altLang="en-US" b="0" i="0">
                <a:solidFill>
                  <a:srgbClr val="222222"/>
                </a:solidFill>
                <a:effectLst/>
                <a:latin typeface="Source Han Sans"/>
              </a:rPr>
              <a:t>厳重</a:t>
            </a:r>
            <a:r>
              <a:rPr lang="en-US" altLang="ja-JP" b="0" i="0" dirty="0">
                <a:solidFill>
                  <a:srgbClr val="222222"/>
                </a:solidFill>
                <a:effectLst/>
                <a:latin typeface="Source Han Sans"/>
              </a:rPr>
              <a:t>,</a:t>
            </a:r>
            <a:r>
              <a:rPr lang="ja-JP" altLang="en-US" b="0" i="0">
                <a:solidFill>
                  <a:srgbClr val="222222"/>
                </a:solidFill>
                <a:effectLst/>
                <a:latin typeface="Source Han Sans"/>
              </a:rPr>
              <a:t> かくほ</a:t>
            </a:r>
            <a:r>
              <a:rPr lang="en-US" altLang="ja-JP" b="0" i="0" dirty="0">
                <a:solidFill>
                  <a:srgbClr val="222222"/>
                </a:solidFill>
                <a:effectLst/>
                <a:latin typeface="Source Han Sans"/>
              </a:rPr>
              <a:t>-</a:t>
            </a:r>
            <a:r>
              <a:rPr lang="ja-JP" altLang="en-US" b="0" i="0">
                <a:solidFill>
                  <a:srgbClr val="222222"/>
                </a:solidFill>
                <a:effectLst/>
                <a:latin typeface="Source Han Sans"/>
              </a:rPr>
              <a:t>確保</a:t>
            </a:r>
            <a:r>
              <a:rPr lang="en-US" altLang="ja-JP" b="0" i="0" dirty="0">
                <a:solidFill>
                  <a:srgbClr val="222222"/>
                </a:solidFill>
                <a:effectLst/>
                <a:latin typeface="Source Han Sans"/>
              </a:rPr>
              <a:t>, </a:t>
            </a:r>
            <a:r>
              <a:rPr lang="ja-JP" altLang="en-US" b="0" i="0">
                <a:solidFill>
                  <a:srgbClr val="222222"/>
                </a:solidFill>
                <a:effectLst/>
                <a:latin typeface="Source Han Sans"/>
              </a:rPr>
              <a:t>ほうかい</a:t>
            </a:r>
            <a:r>
              <a:rPr lang="en-US" altLang="ja-JP" b="0" i="0" dirty="0">
                <a:solidFill>
                  <a:srgbClr val="222222"/>
                </a:solidFill>
                <a:effectLst/>
                <a:latin typeface="Source Han Sans"/>
              </a:rPr>
              <a:t>-</a:t>
            </a:r>
            <a:r>
              <a:rPr lang="ja-JP" altLang="en-US" b="0" i="0">
                <a:solidFill>
                  <a:srgbClr val="222222"/>
                </a:solidFill>
                <a:effectLst/>
                <a:latin typeface="Source Han Sans"/>
              </a:rPr>
              <a:t>崩壊</a:t>
            </a:r>
            <a:r>
              <a:rPr lang="en-US" altLang="ja-JP" b="0" i="0" dirty="0">
                <a:solidFill>
                  <a:srgbClr val="222222"/>
                </a:solidFill>
                <a:effectLst/>
                <a:latin typeface="Source Han Sans"/>
              </a:rPr>
              <a:t>, </a:t>
            </a:r>
            <a:r>
              <a:rPr lang="ja-JP" altLang="en-US" b="0" i="0">
                <a:solidFill>
                  <a:srgbClr val="222222"/>
                </a:solidFill>
                <a:effectLst/>
                <a:latin typeface="Source Han Sans"/>
              </a:rPr>
              <a:t>きょうりょく</a:t>
            </a:r>
            <a:r>
              <a:rPr lang="en-US" altLang="ja-JP" b="0" i="0" dirty="0">
                <a:solidFill>
                  <a:srgbClr val="222222"/>
                </a:solidFill>
                <a:effectLst/>
                <a:latin typeface="Source Han Sans"/>
              </a:rPr>
              <a:t>-</a:t>
            </a:r>
            <a:r>
              <a:rPr lang="ja-JP" altLang="en-US" b="0" i="0">
                <a:solidFill>
                  <a:srgbClr val="222222"/>
                </a:solidFill>
                <a:effectLst/>
                <a:latin typeface="Source Han Sans"/>
              </a:rPr>
              <a:t>強力</a:t>
            </a:r>
            <a:endParaRPr lang="en-JP" dirty="0"/>
          </a:p>
        </p:txBody>
      </p:sp>
      <p:sp>
        <p:nvSpPr>
          <p:cNvPr id="4" name="Slide Number Placeholder 3"/>
          <p:cNvSpPr>
            <a:spLocks noGrp="1"/>
          </p:cNvSpPr>
          <p:nvPr>
            <p:ph type="sldNum" sz="quarter" idx="5"/>
          </p:nvPr>
        </p:nvSpPr>
        <p:spPr/>
        <p:txBody>
          <a:bodyPr/>
          <a:lstStyle/>
          <a:p>
            <a:fld id="{2F49AB56-CE06-1F4A-B272-291AECC6115A}" type="slidenum">
              <a:rPr lang="en-JP" smtClean="0"/>
              <a:t>9</a:t>
            </a:fld>
            <a:endParaRPr lang="en-JP"/>
          </a:p>
        </p:txBody>
      </p:sp>
    </p:spTree>
    <p:extLst>
      <p:ext uri="{BB962C8B-B14F-4D97-AF65-F5344CB8AC3E}">
        <p14:creationId xmlns:p14="http://schemas.microsoft.com/office/powerpoint/2010/main" val="3116998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ひょうじ</a:t>
            </a:r>
            <a:r>
              <a:rPr lang="en-US" altLang="ja-JP" b="0" i="0" dirty="0">
                <a:solidFill>
                  <a:srgbClr val="222222"/>
                </a:solidFill>
                <a:effectLst/>
                <a:latin typeface="Source Han Sans"/>
              </a:rPr>
              <a:t>-</a:t>
            </a:r>
            <a:r>
              <a:rPr lang="ja-JP" altLang="en-US" b="0" i="0">
                <a:solidFill>
                  <a:srgbClr val="222222"/>
                </a:solidFill>
                <a:effectLst/>
                <a:latin typeface="Source Han Sans"/>
              </a:rPr>
              <a:t>表示</a:t>
            </a:r>
            <a:r>
              <a:rPr lang="en-US" altLang="ja-JP" b="0" i="0" dirty="0">
                <a:solidFill>
                  <a:srgbClr val="222222"/>
                </a:solidFill>
                <a:effectLst/>
                <a:latin typeface="Source Han Sans"/>
              </a:rPr>
              <a:t>,</a:t>
            </a:r>
            <a:r>
              <a:rPr lang="ja-JP" altLang="en-US" b="0" i="0">
                <a:solidFill>
                  <a:srgbClr val="222222"/>
                </a:solidFill>
                <a:effectLst/>
                <a:latin typeface="Source Han Sans"/>
              </a:rPr>
              <a:t> てんそう</a:t>
            </a:r>
            <a:r>
              <a:rPr lang="en-US" altLang="ja-JP" b="0" i="0" dirty="0">
                <a:solidFill>
                  <a:srgbClr val="222222"/>
                </a:solidFill>
                <a:effectLst/>
                <a:latin typeface="Source Han Sans"/>
              </a:rPr>
              <a:t>-</a:t>
            </a:r>
            <a:r>
              <a:rPr lang="ja-JP" altLang="en-US" b="0" i="0">
                <a:solidFill>
                  <a:srgbClr val="222222"/>
                </a:solidFill>
                <a:effectLst/>
                <a:latin typeface="Source Han Sans"/>
              </a:rPr>
              <a:t>転送</a:t>
            </a:r>
            <a:r>
              <a:rPr lang="en-US" altLang="ja-JP" b="0" i="0" dirty="0">
                <a:solidFill>
                  <a:srgbClr val="222222"/>
                </a:solidFill>
                <a:effectLst/>
                <a:latin typeface="Source Han Sans"/>
              </a:rPr>
              <a:t>,</a:t>
            </a:r>
            <a:r>
              <a:rPr lang="ja-JP" altLang="en-US" b="0" i="0">
                <a:solidFill>
                  <a:srgbClr val="222222"/>
                </a:solidFill>
                <a:effectLst/>
                <a:latin typeface="Source Han Sans"/>
              </a:rPr>
              <a:t> せいび</a:t>
            </a:r>
            <a:r>
              <a:rPr lang="en-US" altLang="ja-JP" b="0" i="0" dirty="0">
                <a:solidFill>
                  <a:srgbClr val="222222"/>
                </a:solidFill>
                <a:effectLst/>
                <a:latin typeface="Source Han Sans"/>
              </a:rPr>
              <a:t>-</a:t>
            </a:r>
            <a:r>
              <a:rPr lang="ja-JP" altLang="en-US" b="0" i="0">
                <a:solidFill>
                  <a:srgbClr val="222222"/>
                </a:solidFill>
                <a:effectLst/>
                <a:latin typeface="Source Han Sans"/>
              </a:rPr>
              <a:t>整備</a:t>
            </a:r>
            <a:r>
              <a:rPr lang="en-US" altLang="ja-JP" b="0" i="0" dirty="0">
                <a:solidFill>
                  <a:srgbClr val="222222"/>
                </a:solidFill>
                <a:effectLst/>
                <a:latin typeface="Source Han Sans"/>
              </a:rPr>
              <a:t>,</a:t>
            </a:r>
            <a:r>
              <a:rPr lang="ja-JP" altLang="en-US" b="0" i="0">
                <a:solidFill>
                  <a:srgbClr val="222222"/>
                </a:solidFill>
                <a:effectLst/>
                <a:latin typeface="Source Han Sans"/>
              </a:rPr>
              <a:t> にんしき認識</a:t>
            </a:r>
            <a:r>
              <a:rPr lang="en-US" altLang="ja-JP" b="0" i="0" dirty="0">
                <a:solidFill>
                  <a:srgbClr val="222222"/>
                </a:solidFill>
                <a:effectLst/>
                <a:latin typeface="Source Han Sans"/>
              </a:rPr>
              <a:t>, </a:t>
            </a:r>
            <a:r>
              <a:rPr lang="ja-JP" altLang="en-US" b="0" i="0">
                <a:solidFill>
                  <a:srgbClr val="222222"/>
                </a:solidFill>
                <a:effectLst/>
                <a:latin typeface="Source Han Sans"/>
              </a:rPr>
              <a:t>かくのう</a:t>
            </a:r>
            <a:r>
              <a:rPr lang="en-US" altLang="ja-JP" b="0" i="0" dirty="0">
                <a:solidFill>
                  <a:srgbClr val="222222"/>
                </a:solidFill>
                <a:effectLst/>
                <a:latin typeface="Source Han Sans"/>
              </a:rPr>
              <a:t>-</a:t>
            </a:r>
            <a:r>
              <a:rPr lang="ja-JP" altLang="en-US" b="0" i="0">
                <a:solidFill>
                  <a:srgbClr val="222222"/>
                </a:solidFill>
                <a:effectLst/>
                <a:latin typeface="Source Han Sans"/>
              </a:rPr>
              <a:t>格納</a:t>
            </a:r>
            <a:r>
              <a:rPr lang="en-US" altLang="ja-JP" b="0" i="0" dirty="0">
                <a:solidFill>
                  <a:srgbClr val="222222"/>
                </a:solidFill>
                <a:effectLst/>
                <a:latin typeface="Source Han Sans"/>
              </a:rPr>
              <a:t>,</a:t>
            </a:r>
            <a:endParaRPr lang="en-JP" dirty="0"/>
          </a:p>
        </p:txBody>
      </p:sp>
      <p:sp>
        <p:nvSpPr>
          <p:cNvPr id="4" name="Slide Number Placeholder 3"/>
          <p:cNvSpPr>
            <a:spLocks noGrp="1"/>
          </p:cNvSpPr>
          <p:nvPr>
            <p:ph type="sldNum" sz="quarter" idx="5"/>
          </p:nvPr>
        </p:nvSpPr>
        <p:spPr/>
        <p:txBody>
          <a:bodyPr/>
          <a:lstStyle/>
          <a:p>
            <a:fld id="{2F49AB56-CE06-1F4A-B272-291AECC6115A}" type="slidenum">
              <a:rPr lang="en-JP" smtClean="0"/>
              <a:t>10</a:t>
            </a:fld>
            <a:endParaRPr lang="en-JP"/>
          </a:p>
        </p:txBody>
      </p:sp>
    </p:spTree>
    <p:extLst>
      <p:ext uri="{BB962C8B-B14F-4D97-AF65-F5344CB8AC3E}">
        <p14:creationId xmlns:p14="http://schemas.microsoft.com/office/powerpoint/2010/main" val="9054481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Apache </a:t>
            </a:r>
            <a:r>
              <a:rPr lang="ja-JP" altLang="en-US"/>
              <a:t>が公開するディレクトリ（</a:t>
            </a:r>
            <a:r>
              <a:rPr lang="en-US" dirty="0" err="1"/>
              <a:t>DocumentRoot</a:t>
            </a:r>
            <a:r>
              <a:rPr lang="en-US" dirty="0"/>
              <a:t>）</a:t>
            </a:r>
            <a:r>
              <a:rPr lang="ja-JP" altLang="en-US"/>
              <a:t>に</a:t>
            </a:r>
            <a:br>
              <a:rPr lang="ja-JP" altLang="en-US"/>
            </a:br>
            <a:r>
              <a:rPr lang="en-US" dirty="0"/>
              <a:t>Web </a:t>
            </a:r>
            <a:r>
              <a:rPr lang="ja-JP" altLang="en-US"/>
              <a:t>コンテンツを配置するためにコピーを行った。</a:t>
            </a:r>
            <a:endParaRPr lang="en-JP" dirty="0"/>
          </a:p>
          <a:p>
            <a:endParaRPr lang="en-JP" dirty="0"/>
          </a:p>
        </p:txBody>
      </p:sp>
      <p:sp>
        <p:nvSpPr>
          <p:cNvPr id="4" name="Slide Number Placeholder 3"/>
          <p:cNvSpPr>
            <a:spLocks noGrp="1"/>
          </p:cNvSpPr>
          <p:nvPr>
            <p:ph type="sldNum" sz="quarter" idx="5"/>
          </p:nvPr>
        </p:nvSpPr>
        <p:spPr/>
        <p:txBody>
          <a:bodyPr/>
          <a:lstStyle/>
          <a:p>
            <a:fld id="{2F49AB56-CE06-1F4A-B272-291AECC6115A}" type="slidenum">
              <a:rPr lang="en-JP" smtClean="0"/>
              <a:t>16</a:t>
            </a:fld>
            <a:endParaRPr lang="en-JP"/>
          </a:p>
        </p:txBody>
      </p:sp>
    </p:spTree>
    <p:extLst>
      <p:ext uri="{BB962C8B-B14F-4D97-AF65-F5344CB8AC3E}">
        <p14:creationId xmlns:p14="http://schemas.microsoft.com/office/powerpoint/2010/main" val="30245340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へんしゅう</a:t>
            </a:r>
            <a:r>
              <a:rPr lang="en-US" altLang="ja-JP" b="0" i="0" dirty="0">
                <a:solidFill>
                  <a:srgbClr val="222222"/>
                </a:solidFill>
                <a:effectLst/>
                <a:latin typeface="Source Han Sans"/>
              </a:rPr>
              <a:t>-</a:t>
            </a:r>
            <a:r>
              <a:rPr lang="ja-JP" altLang="en-US" b="0" i="0">
                <a:solidFill>
                  <a:srgbClr val="222222"/>
                </a:solidFill>
                <a:effectLst/>
                <a:latin typeface="Source Han Sans"/>
              </a:rPr>
              <a:t>編集</a:t>
            </a:r>
            <a:r>
              <a:rPr lang="en-US" altLang="ja-JP" b="0" i="0" dirty="0">
                <a:solidFill>
                  <a:srgbClr val="222222"/>
                </a:solidFill>
                <a:effectLst/>
                <a:latin typeface="Source Han Sans"/>
              </a:rPr>
              <a:t>, </a:t>
            </a:r>
            <a:endParaRPr lang="en-JP" dirty="0"/>
          </a:p>
        </p:txBody>
      </p:sp>
      <p:sp>
        <p:nvSpPr>
          <p:cNvPr id="4" name="Slide Number Placeholder 3"/>
          <p:cNvSpPr>
            <a:spLocks noGrp="1"/>
          </p:cNvSpPr>
          <p:nvPr>
            <p:ph type="sldNum" sz="quarter" idx="5"/>
          </p:nvPr>
        </p:nvSpPr>
        <p:spPr/>
        <p:txBody>
          <a:bodyPr/>
          <a:lstStyle/>
          <a:p>
            <a:fld id="{2F49AB56-CE06-1F4A-B272-291AECC6115A}" type="slidenum">
              <a:rPr lang="en-JP" smtClean="0"/>
              <a:t>18</a:t>
            </a:fld>
            <a:endParaRPr lang="en-JP"/>
          </a:p>
        </p:txBody>
      </p:sp>
    </p:spTree>
    <p:extLst>
      <p:ext uri="{BB962C8B-B14F-4D97-AF65-F5344CB8AC3E}">
        <p14:creationId xmlns:p14="http://schemas.microsoft.com/office/powerpoint/2010/main" val="40195651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ごかんせい</a:t>
            </a:r>
            <a:r>
              <a:rPr lang="en-US" altLang="ja-JP" b="0" i="0" dirty="0">
                <a:solidFill>
                  <a:srgbClr val="222222"/>
                </a:solidFill>
                <a:effectLst/>
                <a:latin typeface="Source Han Sans"/>
              </a:rPr>
              <a:t>-</a:t>
            </a:r>
            <a:r>
              <a:rPr lang="ja-JP" altLang="en-US" b="0" i="0">
                <a:solidFill>
                  <a:srgbClr val="222222"/>
                </a:solidFill>
                <a:effectLst/>
                <a:latin typeface="Source Han Sans"/>
              </a:rPr>
              <a:t>互換性</a:t>
            </a:r>
            <a:r>
              <a:rPr lang="en-US" altLang="ja-JP" b="0" i="0" dirty="0">
                <a:solidFill>
                  <a:srgbClr val="222222"/>
                </a:solidFill>
                <a:effectLst/>
                <a:latin typeface="Source Han Sans"/>
              </a:rPr>
              <a:t>, </a:t>
            </a:r>
            <a:r>
              <a:rPr lang="ja-JP" altLang="en-US" b="0" i="0">
                <a:solidFill>
                  <a:srgbClr val="222222"/>
                </a:solidFill>
                <a:effectLst/>
                <a:latin typeface="Source Han Sans"/>
              </a:rPr>
              <a:t>こうりょ</a:t>
            </a:r>
            <a:r>
              <a:rPr lang="en-US" altLang="ja-JP" b="0" i="0" dirty="0">
                <a:solidFill>
                  <a:srgbClr val="222222"/>
                </a:solidFill>
                <a:effectLst/>
                <a:latin typeface="Source Han Sans"/>
              </a:rPr>
              <a:t>-</a:t>
            </a:r>
            <a:r>
              <a:rPr lang="ja-JP" altLang="en-US" b="0" i="0">
                <a:solidFill>
                  <a:srgbClr val="222222"/>
                </a:solidFill>
                <a:effectLst/>
                <a:latin typeface="Source Han Sans"/>
              </a:rPr>
              <a:t>考慮</a:t>
            </a:r>
            <a:r>
              <a:rPr lang="en-US" altLang="ja-JP" b="0" i="0" dirty="0">
                <a:solidFill>
                  <a:srgbClr val="222222"/>
                </a:solidFill>
                <a:effectLst/>
                <a:latin typeface="Source Han Sans"/>
              </a:rPr>
              <a:t>, </a:t>
            </a:r>
            <a:endParaRPr lang="en-JP" dirty="0"/>
          </a:p>
        </p:txBody>
      </p:sp>
      <p:sp>
        <p:nvSpPr>
          <p:cNvPr id="4" name="Slide Number Placeholder 3"/>
          <p:cNvSpPr>
            <a:spLocks noGrp="1"/>
          </p:cNvSpPr>
          <p:nvPr>
            <p:ph type="sldNum" sz="quarter" idx="5"/>
          </p:nvPr>
        </p:nvSpPr>
        <p:spPr/>
        <p:txBody>
          <a:bodyPr/>
          <a:lstStyle/>
          <a:p>
            <a:fld id="{2F49AB56-CE06-1F4A-B272-291AECC6115A}" type="slidenum">
              <a:rPr lang="en-JP" smtClean="0"/>
              <a:t>20</a:t>
            </a:fld>
            <a:endParaRPr lang="en-JP"/>
          </a:p>
        </p:txBody>
      </p:sp>
    </p:spTree>
    <p:extLst>
      <p:ext uri="{BB962C8B-B14F-4D97-AF65-F5344CB8AC3E}">
        <p14:creationId xmlns:p14="http://schemas.microsoft.com/office/powerpoint/2010/main" val="9267350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けいこく</a:t>
            </a:r>
            <a:r>
              <a:rPr lang="en-US" altLang="ja-JP" b="0" i="0" dirty="0">
                <a:solidFill>
                  <a:srgbClr val="222222"/>
                </a:solidFill>
                <a:effectLst/>
                <a:latin typeface="Source Han Sans"/>
              </a:rPr>
              <a:t>-</a:t>
            </a:r>
            <a:r>
              <a:rPr lang="ja-JP" altLang="en-US" b="0" i="0">
                <a:solidFill>
                  <a:srgbClr val="222222"/>
                </a:solidFill>
                <a:effectLst/>
                <a:latin typeface="Source Han Sans"/>
              </a:rPr>
              <a:t>警告</a:t>
            </a:r>
            <a:r>
              <a:rPr lang="en-US" altLang="ja-JP" b="0" i="0" dirty="0">
                <a:solidFill>
                  <a:srgbClr val="222222"/>
                </a:solidFill>
                <a:effectLst/>
                <a:latin typeface="Source Han Sans"/>
              </a:rPr>
              <a:t> warning, </a:t>
            </a:r>
            <a:r>
              <a:rPr lang="ja-JP" altLang="en-US" b="0" i="0">
                <a:solidFill>
                  <a:srgbClr val="222222"/>
                </a:solidFill>
                <a:effectLst/>
                <a:latin typeface="Source Han Sans"/>
              </a:rPr>
              <a:t>かいしょう</a:t>
            </a:r>
            <a:r>
              <a:rPr lang="en-US" altLang="ja-JP" b="0" i="0" dirty="0">
                <a:solidFill>
                  <a:srgbClr val="222222"/>
                </a:solidFill>
                <a:effectLst/>
                <a:latin typeface="Source Han Sans"/>
              </a:rPr>
              <a:t>-</a:t>
            </a:r>
            <a:r>
              <a:rPr lang="ja-JP" altLang="en-US" b="0" i="0">
                <a:solidFill>
                  <a:srgbClr val="222222"/>
                </a:solidFill>
                <a:effectLst/>
                <a:latin typeface="Source Han Sans"/>
              </a:rPr>
              <a:t>解消</a:t>
            </a:r>
            <a:r>
              <a:rPr lang="en-US" altLang="ja-JP" b="0" i="0" dirty="0">
                <a:solidFill>
                  <a:srgbClr val="222222"/>
                </a:solidFill>
                <a:effectLst/>
                <a:latin typeface="Source Han Sans"/>
              </a:rPr>
              <a:t>,</a:t>
            </a:r>
            <a:endParaRPr lang="en-JP" dirty="0"/>
          </a:p>
        </p:txBody>
      </p:sp>
      <p:sp>
        <p:nvSpPr>
          <p:cNvPr id="4" name="Slide Number Placeholder 3"/>
          <p:cNvSpPr>
            <a:spLocks noGrp="1"/>
          </p:cNvSpPr>
          <p:nvPr>
            <p:ph type="sldNum" sz="quarter" idx="5"/>
          </p:nvPr>
        </p:nvSpPr>
        <p:spPr/>
        <p:txBody>
          <a:bodyPr/>
          <a:lstStyle/>
          <a:p>
            <a:fld id="{2F49AB56-CE06-1F4A-B272-291AECC6115A}" type="slidenum">
              <a:rPr lang="en-JP" smtClean="0"/>
              <a:t>21</a:t>
            </a:fld>
            <a:endParaRPr lang="en-JP"/>
          </a:p>
        </p:txBody>
      </p:sp>
    </p:spTree>
    <p:extLst>
      <p:ext uri="{BB962C8B-B14F-4D97-AF65-F5344CB8AC3E}">
        <p14:creationId xmlns:p14="http://schemas.microsoft.com/office/powerpoint/2010/main" val="31573162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じゅうなん</a:t>
            </a:r>
            <a:r>
              <a:rPr lang="en-US" altLang="ja-JP" b="0" i="0" dirty="0">
                <a:solidFill>
                  <a:srgbClr val="222222"/>
                </a:solidFill>
                <a:effectLst/>
                <a:latin typeface="Source Han Sans"/>
              </a:rPr>
              <a:t>-</a:t>
            </a:r>
            <a:r>
              <a:rPr lang="ja-JP" altLang="en-US" b="0" i="0">
                <a:solidFill>
                  <a:srgbClr val="222222"/>
                </a:solidFill>
                <a:effectLst/>
                <a:latin typeface="Source Han Sans"/>
              </a:rPr>
              <a:t>柔軟</a:t>
            </a:r>
            <a:r>
              <a:rPr lang="en-US" altLang="ja-JP" b="0" i="0" dirty="0">
                <a:solidFill>
                  <a:srgbClr val="222222"/>
                </a:solidFill>
                <a:effectLst/>
                <a:latin typeface="Source Han Sans"/>
              </a:rPr>
              <a:t>, </a:t>
            </a:r>
            <a:r>
              <a:rPr lang="ja-JP" altLang="en-US" b="0" i="0">
                <a:solidFill>
                  <a:srgbClr val="222222"/>
                </a:solidFill>
                <a:effectLst/>
                <a:latin typeface="Source Han Sans"/>
              </a:rPr>
              <a:t>かくほ</a:t>
            </a:r>
            <a:r>
              <a:rPr lang="en-US" altLang="ja-JP" b="0" i="0" dirty="0">
                <a:solidFill>
                  <a:srgbClr val="222222"/>
                </a:solidFill>
                <a:effectLst/>
                <a:latin typeface="Source Han Sans"/>
              </a:rPr>
              <a:t>-</a:t>
            </a:r>
            <a:r>
              <a:rPr lang="ja-JP" altLang="en-US" b="0" i="0">
                <a:solidFill>
                  <a:srgbClr val="222222"/>
                </a:solidFill>
                <a:effectLst/>
                <a:latin typeface="Source Han Sans"/>
              </a:rPr>
              <a:t>確保</a:t>
            </a:r>
            <a:r>
              <a:rPr lang="en-US" altLang="ja-JP" b="0" i="0" dirty="0">
                <a:solidFill>
                  <a:srgbClr val="222222"/>
                </a:solidFill>
                <a:effectLst/>
                <a:latin typeface="Source Han Sans"/>
              </a:rPr>
              <a:t>, </a:t>
            </a:r>
            <a:r>
              <a:rPr lang="ja-JP" altLang="en-US" b="0" i="0">
                <a:solidFill>
                  <a:srgbClr val="222222"/>
                </a:solidFill>
                <a:effectLst/>
                <a:latin typeface="Source Han Sans"/>
              </a:rPr>
              <a:t>げんてい限定</a:t>
            </a:r>
            <a:r>
              <a:rPr lang="en-US" altLang="ja-JP" b="0" i="0" dirty="0">
                <a:solidFill>
                  <a:srgbClr val="222222"/>
                </a:solidFill>
                <a:effectLst/>
                <a:latin typeface="Source Han Sans"/>
              </a:rPr>
              <a:t>, </a:t>
            </a:r>
            <a:r>
              <a:rPr lang="ja-JP" altLang="en-US" b="0" i="0">
                <a:solidFill>
                  <a:srgbClr val="222222"/>
                </a:solidFill>
                <a:effectLst/>
                <a:latin typeface="Source Han Sans"/>
              </a:rPr>
              <a:t>りべんせい</a:t>
            </a:r>
            <a:r>
              <a:rPr lang="en-US" altLang="ja-JP" b="0" i="0" dirty="0">
                <a:solidFill>
                  <a:srgbClr val="222222"/>
                </a:solidFill>
                <a:effectLst/>
                <a:latin typeface="Source Han Sans"/>
              </a:rPr>
              <a:t>-</a:t>
            </a:r>
            <a:r>
              <a:rPr lang="ja-JP" altLang="en-US" b="0" i="0">
                <a:solidFill>
                  <a:srgbClr val="222222"/>
                </a:solidFill>
                <a:effectLst/>
                <a:latin typeface="Source Han Sans"/>
              </a:rPr>
              <a:t>利便性</a:t>
            </a:r>
            <a:r>
              <a:rPr lang="en-US" altLang="ja-JP" b="0" i="0" dirty="0">
                <a:solidFill>
                  <a:srgbClr val="222222"/>
                </a:solidFill>
                <a:effectLst/>
                <a:latin typeface="Source Han Sans"/>
              </a:rPr>
              <a:t>,</a:t>
            </a:r>
            <a:r>
              <a:rPr lang="ja-JP" altLang="en-US" b="0" i="0">
                <a:solidFill>
                  <a:srgbClr val="222222"/>
                </a:solidFill>
                <a:effectLst/>
                <a:latin typeface="Source Han Sans"/>
              </a:rPr>
              <a:t> かんぜん完全</a:t>
            </a:r>
            <a:r>
              <a:rPr lang="en-US" altLang="ja-JP" b="0" i="0" dirty="0">
                <a:solidFill>
                  <a:srgbClr val="222222"/>
                </a:solidFill>
                <a:effectLst/>
                <a:latin typeface="Source Han Sans"/>
              </a:rPr>
              <a:t>,</a:t>
            </a:r>
            <a:r>
              <a:rPr lang="ja-JP" altLang="en-US" b="0" i="0">
                <a:solidFill>
                  <a:srgbClr val="222222"/>
                </a:solidFill>
                <a:effectLst/>
                <a:latin typeface="Source Han Sans"/>
              </a:rPr>
              <a:t> いぞん</a:t>
            </a:r>
            <a:r>
              <a:rPr lang="en-US" altLang="ja-JP" b="0" i="0" dirty="0">
                <a:solidFill>
                  <a:srgbClr val="222222"/>
                </a:solidFill>
                <a:effectLst/>
                <a:latin typeface="Source Han Sans"/>
              </a:rPr>
              <a:t>-</a:t>
            </a:r>
            <a:r>
              <a:rPr lang="ja-JP" altLang="en-US" b="0" i="0">
                <a:solidFill>
                  <a:srgbClr val="222222"/>
                </a:solidFill>
                <a:effectLst/>
                <a:latin typeface="Source Han Sans"/>
              </a:rPr>
              <a:t>依存</a:t>
            </a:r>
            <a:r>
              <a:rPr lang="en-US" altLang="ja-JP" b="0" i="0" dirty="0">
                <a:solidFill>
                  <a:srgbClr val="222222"/>
                </a:solidFill>
                <a:effectLst/>
                <a:latin typeface="Source Han Sans"/>
              </a:rPr>
              <a:t>,</a:t>
            </a:r>
            <a:r>
              <a:rPr lang="ja-JP" altLang="en-US" b="0" i="0">
                <a:solidFill>
                  <a:srgbClr val="222222"/>
                </a:solidFill>
                <a:effectLst/>
                <a:latin typeface="Source Han Sans"/>
              </a:rPr>
              <a:t> はいふ配布</a:t>
            </a:r>
            <a:endParaRPr lang="en-JP" dirty="0"/>
          </a:p>
        </p:txBody>
      </p:sp>
      <p:sp>
        <p:nvSpPr>
          <p:cNvPr id="4" name="Slide Number Placeholder 3"/>
          <p:cNvSpPr>
            <a:spLocks noGrp="1"/>
          </p:cNvSpPr>
          <p:nvPr>
            <p:ph type="sldNum" sz="quarter" idx="5"/>
          </p:nvPr>
        </p:nvSpPr>
        <p:spPr/>
        <p:txBody>
          <a:bodyPr/>
          <a:lstStyle/>
          <a:p>
            <a:fld id="{2F49AB56-CE06-1F4A-B272-291AECC6115A}" type="slidenum">
              <a:rPr lang="en-JP" smtClean="0"/>
              <a:t>22</a:t>
            </a:fld>
            <a:endParaRPr lang="en-JP"/>
          </a:p>
        </p:txBody>
      </p:sp>
    </p:spTree>
    <p:extLst>
      <p:ext uri="{BB962C8B-B14F-4D97-AF65-F5344CB8AC3E}">
        <p14:creationId xmlns:p14="http://schemas.microsoft.com/office/powerpoint/2010/main" val="9725151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にせ</a:t>
            </a:r>
            <a:r>
              <a:rPr lang="en-US" altLang="ja-JP" b="0" i="0" dirty="0">
                <a:solidFill>
                  <a:srgbClr val="222222"/>
                </a:solidFill>
                <a:effectLst/>
                <a:latin typeface="Source Han Sans"/>
              </a:rPr>
              <a:t>-</a:t>
            </a:r>
            <a:r>
              <a:rPr lang="ja-JP" altLang="en-US" b="0" i="0">
                <a:solidFill>
                  <a:srgbClr val="222222"/>
                </a:solidFill>
                <a:effectLst/>
                <a:latin typeface="Source Han Sans"/>
              </a:rPr>
              <a:t>偽</a:t>
            </a:r>
            <a:r>
              <a:rPr lang="en-US" altLang="ja-JP" b="0" i="0" dirty="0">
                <a:solidFill>
                  <a:srgbClr val="222222"/>
                </a:solidFill>
                <a:effectLst/>
                <a:latin typeface="Source Han Sans"/>
              </a:rPr>
              <a:t>,</a:t>
            </a:r>
            <a:r>
              <a:rPr lang="ja-JP" altLang="en-US" b="0" i="0">
                <a:solidFill>
                  <a:srgbClr val="222222"/>
                </a:solidFill>
                <a:effectLst/>
                <a:latin typeface="Source Han Sans"/>
              </a:rPr>
              <a:t> せいき</a:t>
            </a:r>
            <a:r>
              <a:rPr lang="en-US" altLang="ja-JP" b="0" i="0" dirty="0">
                <a:solidFill>
                  <a:srgbClr val="222222"/>
                </a:solidFill>
                <a:effectLst/>
                <a:latin typeface="Source Han Sans"/>
              </a:rPr>
              <a:t>-</a:t>
            </a:r>
            <a:r>
              <a:rPr lang="ja-JP" altLang="en-US" b="0" i="0">
                <a:solidFill>
                  <a:srgbClr val="222222"/>
                </a:solidFill>
                <a:effectLst/>
                <a:latin typeface="Source Han Sans"/>
              </a:rPr>
              <a:t>正規</a:t>
            </a:r>
            <a:r>
              <a:rPr lang="en-US" altLang="ja-JP" b="0" i="0" dirty="0">
                <a:solidFill>
                  <a:srgbClr val="222222"/>
                </a:solidFill>
                <a:effectLst/>
                <a:latin typeface="Source Han Sans"/>
              </a:rPr>
              <a:t>, </a:t>
            </a:r>
            <a:r>
              <a:rPr lang="ja-JP" altLang="en-US" b="0" i="0">
                <a:solidFill>
                  <a:srgbClr val="222222"/>
                </a:solidFill>
                <a:effectLst/>
                <a:latin typeface="Source Han Sans"/>
              </a:rPr>
              <a:t>とうちょう</a:t>
            </a:r>
            <a:r>
              <a:rPr lang="en-US" altLang="ja-JP" b="0" i="0" dirty="0">
                <a:solidFill>
                  <a:srgbClr val="222222"/>
                </a:solidFill>
                <a:effectLst/>
                <a:latin typeface="Source Han Sans"/>
              </a:rPr>
              <a:t>-</a:t>
            </a:r>
            <a:r>
              <a:rPr lang="ja-JP" altLang="en-US" b="0" i="0">
                <a:solidFill>
                  <a:srgbClr val="222222"/>
                </a:solidFill>
                <a:effectLst/>
                <a:latin typeface="Source Han Sans"/>
              </a:rPr>
              <a:t>盗聴</a:t>
            </a:r>
            <a:endParaRPr lang="en-JP" dirty="0"/>
          </a:p>
        </p:txBody>
      </p:sp>
      <p:sp>
        <p:nvSpPr>
          <p:cNvPr id="4" name="Slide Number Placeholder 3"/>
          <p:cNvSpPr>
            <a:spLocks noGrp="1"/>
          </p:cNvSpPr>
          <p:nvPr>
            <p:ph type="sldNum" sz="quarter" idx="5"/>
          </p:nvPr>
        </p:nvSpPr>
        <p:spPr/>
        <p:txBody>
          <a:bodyPr/>
          <a:lstStyle/>
          <a:p>
            <a:fld id="{2F49AB56-CE06-1F4A-B272-291AECC6115A}" type="slidenum">
              <a:rPr lang="en-JP" smtClean="0"/>
              <a:t>23</a:t>
            </a:fld>
            <a:endParaRPr lang="en-JP"/>
          </a:p>
        </p:txBody>
      </p:sp>
    </p:spTree>
    <p:extLst>
      <p:ext uri="{BB962C8B-B14F-4D97-AF65-F5344CB8AC3E}">
        <p14:creationId xmlns:p14="http://schemas.microsoft.com/office/powerpoint/2010/main" val="2989332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ja-JP" altLang="en-US" b="0" i="0">
                <a:solidFill>
                  <a:srgbClr val="222222"/>
                </a:solidFill>
                <a:effectLst/>
                <a:latin typeface="Source Han Sans"/>
              </a:rPr>
              <a:t>かんぜん</a:t>
            </a:r>
            <a:r>
              <a:rPr lang="ja-JP" altLang="en-US" b="0" i="0" u="none" strike="noStrike">
                <a:solidFill>
                  <a:srgbClr val="3A251C"/>
                </a:solidFill>
                <a:effectLst/>
                <a:latin typeface="Source Han Sans"/>
                <a:hlinkClick r:id="rId3"/>
              </a:rPr>
              <a:t>完全</a:t>
            </a:r>
            <a:r>
              <a:rPr lang="ja-JP" altLang="en-US" b="0" i="0">
                <a:solidFill>
                  <a:srgbClr val="222222"/>
                </a:solidFill>
                <a:effectLst/>
                <a:latin typeface="Source Han Sans"/>
              </a:rPr>
              <a:t>そうしつ</a:t>
            </a:r>
            <a:r>
              <a:rPr lang="ja-JP" altLang="en-US" b="0" i="0" u="none" strike="noStrike">
                <a:solidFill>
                  <a:srgbClr val="3A251C"/>
                </a:solidFill>
                <a:effectLst/>
                <a:latin typeface="Source Han Sans"/>
                <a:hlinkClick r:id="rId4"/>
              </a:rPr>
              <a:t>喪失</a:t>
            </a:r>
            <a:r>
              <a:rPr lang="en-US" altLang="ja-JP" b="0" i="0" u="none" strike="noStrike" dirty="0">
                <a:solidFill>
                  <a:srgbClr val="3A251C"/>
                </a:solidFill>
                <a:effectLst/>
                <a:latin typeface="Source Han Sans"/>
              </a:rPr>
              <a:t>, </a:t>
            </a:r>
            <a:r>
              <a:rPr lang="ja-JP" altLang="en-US" b="0" i="0">
                <a:solidFill>
                  <a:srgbClr val="222222"/>
                </a:solidFill>
                <a:effectLst/>
                <a:latin typeface="Source Han Sans"/>
              </a:rPr>
              <a:t>こきゃく顧客</a:t>
            </a:r>
            <a:r>
              <a:rPr lang="en-US" altLang="ja-JP" b="0" i="0" dirty="0">
                <a:solidFill>
                  <a:srgbClr val="222222"/>
                </a:solidFill>
                <a:effectLst/>
                <a:latin typeface="Source Han Sans"/>
              </a:rPr>
              <a:t>, </a:t>
            </a:r>
            <a:r>
              <a:rPr lang="ja-JP" altLang="en-US" b="0" i="0">
                <a:solidFill>
                  <a:srgbClr val="222222"/>
                </a:solidFill>
                <a:effectLst/>
                <a:latin typeface="Source Han Sans"/>
              </a:rPr>
              <a:t>むこう</a:t>
            </a:r>
            <a:r>
              <a:rPr lang="en-US" altLang="ja-JP" b="0" i="0" dirty="0">
                <a:solidFill>
                  <a:srgbClr val="222222"/>
                </a:solidFill>
                <a:effectLst/>
                <a:latin typeface="Source Han Sans"/>
              </a:rPr>
              <a:t>-</a:t>
            </a:r>
            <a:r>
              <a:rPr lang="ja-JP" altLang="en-US" b="0" i="0">
                <a:solidFill>
                  <a:srgbClr val="222222"/>
                </a:solidFill>
                <a:effectLst/>
                <a:latin typeface="Source Han Sans"/>
              </a:rPr>
              <a:t>無効</a:t>
            </a:r>
          </a:p>
          <a:p>
            <a:endParaRPr lang="en-JP" dirty="0"/>
          </a:p>
        </p:txBody>
      </p:sp>
      <p:sp>
        <p:nvSpPr>
          <p:cNvPr id="4" name="Slide Number Placeholder 3"/>
          <p:cNvSpPr>
            <a:spLocks noGrp="1"/>
          </p:cNvSpPr>
          <p:nvPr>
            <p:ph type="sldNum" sz="quarter" idx="5"/>
          </p:nvPr>
        </p:nvSpPr>
        <p:spPr/>
        <p:txBody>
          <a:bodyPr/>
          <a:lstStyle/>
          <a:p>
            <a:fld id="{2F49AB56-CE06-1F4A-B272-291AECC6115A}" type="slidenum">
              <a:rPr lang="en-JP" smtClean="0"/>
              <a:t>24</a:t>
            </a:fld>
            <a:endParaRPr lang="en-JP"/>
          </a:p>
        </p:txBody>
      </p:sp>
    </p:spTree>
    <p:extLst>
      <p:ext uri="{BB962C8B-B14F-4D97-AF65-F5344CB8AC3E}">
        <p14:creationId xmlns:p14="http://schemas.microsoft.com/office/powerpoint/2010/main" val="12522137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ja-JP" altLang="en-US" b="0" i="0">
                <a:solidFill>
                  <a:srgbClr val="222222"/>
                </a:solidFill>
                <a:effectLst/>
                <a:latin typeface="Source Han Sans"/>
              </a:rPr>
              <a:t>ほかん</a:t>
            </a:r>
            <a:r>
              <a:rPr lang="en-US" altLang="ja-JP" b="0" i="0" dirty="0">
                <a:solidFill>
                  <a:srgbClr val="222222"/>
                </a:solidFill>
                <a:effectLst/>
                <a:latin typeface="Source Han Sans"/>
              </a:rPr>
              <a:t>-</a:t>
            </a:r>
            <a:r>
              <a:rPr lang="ja-JP" altLang="en-US" b="0" i="0">
                <a:solidFill>
                  <a:srgbClr val="222222"/>
                </a:solidFill>
                <a:effectLst/>
                <a:latin typeface="Source Han Sans"/>
              </a:rPr>
              <a:t>保管</a:t>
            </a:r>
            <a:r>
              <a:rPr lang="en-US" altLang="ja-JP" b="0" i="0" dirty="0">
                <a:solidFill>
                  <a:srgbClr val="222222"/>
                </a:solidFill>
                <a:effectLst/>
                <a:latin typeface="Source Han Sans"/>
              </a:rPr>
              <a:t>,</a:t>
            </a:r>
            <a:r>
              <a:rPr lang="ja-JP" altLang="en-US" b="0" i="0">
                <a:solidFill>
                  <a:srgbClr val="222222"/>
                </a:solidFill>
                <a:effectLst/>
                <a:latin typeface="Source Han Sans"/>
              </a:rPr>
              <a:t> しっこうかん</a:t>
            </a:r>
            <a:r>
              <a:rPr lang="en-US" altLang="ja-JP" b="0" i="0" dirty="0">
                <a:solidFill>
                  <a:srgbClr val="222222"/>
                </a:solidFill>
                <a:effectLst/>
                <a:latin typeface="Source Han Sans"/>
              </a:rPr>
              <a:t>-</a:t>
            </a:r>
            <a:r>
              <a:rPr lang="ja-JP" altLang="en-US" b="0" i="0">
                <a:solidFill>
                  <a:srgbClr val="222222"/>
                </a:solidFill>
                <a:effectLst/>
                <a:latin typeface="Source Han Sans"/>
              </a:rPr>
              <a:t>失効管あや</a:t>
            </a:r>
            <a:r>
              <a:rPr lang="ja-JP" altLang="en-US" b="0" i="0">
                <a:solidFill>
                  <a:srgbClr val="FFFFFF"/>
                </a:solidFill>
                <a:effectLst/>
                <a:latin typeface="Source Han Sans"/>
              </a:rPr>
              <a:t>の</a:t>
            </a:r>
            <a:r>
              <a:rPr lang="en-US" altLang="ja-JP" b="0" i="0" u="none" strike="noStrike" dirty="0">
                <a:solidFill>
                  <a:srgbClr val="333333"/>
                </a:solidFill>
                <a:effectLst/>
                <a:latin typeface="Source Han Sans"/>
              </a:rPr>
              <a:t>-</a:t>
            </a:r>
            <a:r>
              <a:rPr lang="ja-JP" altLang="en-US" b="0" i="0">
                <a:solidFill>
                  <a:srgbClr val="222222"/>
                </a:solidFill>
                <a:effectLst/>
                <a:latin typeface="Source Han Sans"/>
              </a:rPr>
              <a:t>てってい</a:t>
            </a:r>
            <a:r>
              <a:rPr lang="ja-JP" altLang="en-US" b="0" i="0" u="none" strike="noStrike">
                <a:solidFill>
                  <a:srgbClr val="3A251C"/>
                </a:solidFill>
                <a:effectLst/>
                <a:latin typeface="Source Han Sans"/>
                <a:hlinkClick r:id="rId3"/>
              </a:rPr>
              <a:t>徹底</a:t>
            </a:r>
            <a:endParaRPr lang="ja-JP" altLang="en-US" b="0" i="0">
              <a:solidFill>
                <a:srgbClr val="222222"/>
              </a:solidFill>
              <a:effectLst/>
              <a:latin typeface="Source Han Sans"/>
            </a:endParaRPr>
          </a:p>
          <a:p>
            <a:endParaRPr lang="en-JP" dirty="0"/>
          </a:p>
        </p:txBody>
      </p:sp>
      <p:sp>
        <p:nvSpPr>
          <p:cNvPr id="4" name="Slide Number Placeholder 3"/>
          <p:cNvSpPr>
            <a:spLocks noGrp="1"/>
          </p:cNvSpPr>
          <p:nvPr>
            <p:ph type="sldNum" sz="quarter" idx="5"/>
          </p:nvPr>
        </p:nvSpPr>
        <p:spPr/>
        <p:txBody>
          <a:bodyPr/>
          <a:lstStyle/>
          <a:p>
            <a:fld id="{2F49AB56-CE06-1F4A-B272-291AECC6115A}" type="slidenum">
              <a:rPr lang="en-JP" smtClean="0"/>
              <a:t>25</a:t>
            </a:fld>
            <a:endParaRPr lang="en-JP"/>
          </a:p>
        </p:txBody>
      </p:sp>
    </p:spTree>
    <p:extLst>
      <p:ext uri="{BB962C8B-B14F-4D97-AF65-F5344CB8AC3E}">
        <p14:creationId xmlns:p14="http://schemas.microsoft.com/office/powerpoint/2010/main" val="9379321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ja-JP" altLang="en-US" b="0" i="0">
                <a:solidFill>
                  <a:srgbClr val="222222"/>
                </a:solidFill>
                <a:effectLst/>
                <a:latin typeface="Source Han Sans"/>
              </a:rPr>
              <a:t>ろうえい漏洩</a:t>
            </a:r>
            <a:r>
              <a:rPr lang="en-US" altLang="ja-JP" b="0" i="0" dirty="0">
                <a:solidFill>
                  <a:srgbClr val="222222"/>
                </a:solidFill>
                <a:effectLst/>
                <a:latin typeface="Source Han Sans"/>
              </a:rPr>
              <a:t>, </a:t>
            </a:r>
            <a:r>
              <a:rPr lang="ja-JP" altLang="en-US" b="0" i="0">
                <a:solidFill>
                  <a:srgbClr val="222222"/>
                </a:solidFill>
                <a:effectLst/>
                <a:latin typeface="Source Han Sans"/>
              </a:rPr>
              <a:t>しんがい侵害</a:t>
            </a:r>
            <a:r>
              <a:rPr lang="en-US" altLang="ja-JP" b="0" i="0" dirty="0">
                <a:solidFill>
                  <a:srgbClr val="222222"/>
                </a:solidFill>
                <a:effectLst/>
                <a:latin typeface="Source Han Sans"/>
              </a:rPr>
              <a:t>-</a:t>
            </a:r>
            <a:r>
              <a:rPr lang="en-US" b="0" i="0" dirty="0">
                <a:solidFill>
                  <a:srgbClr val="222222"/>
                </a:solidFill>
                <a:effectLst/>
                <a:latin typeface="Helvetica Neue" panose="02000503000000020004" pitchFamily="2" charset="0"/>
              </a:rPr>
              <a:t>infringement,</a:t>
            </a:r>
            <a:r>
              <a:rPr lang="ja-JP" altLang="en-US" b="0" i="0">
                <a:solidFill>
                  <a:srgbClr val="222222"/>
                </a:solidFill>
                <a:effectLst/>
                <a:latin typeface="Source Han Sans"/>
              </a:rPr>
              <a:t> じゅうぎょういん</a:t>
            </a:r>
            <a:r>
              <a:rPr lang="ja-JP" altLang="en-US" b="0" i="0" u="none" strike="noStrike">
                <a:solidFill>
                  <a:srgbClr val="3A251C"/>
                </a:solidFill>
                <a:effectLst/>
                <a:latin typeface="Source Han Sans"/>
                <a:hlinkClick r:id="rId3"/>
              </a:rPr>
              <a:t>従業員</a:t>
            </a:r>
            <a:r>
              <a:rPr lang="ja-JP" altLang="en-US" b="0" i="0">
                <a:solidFill>
                  <a:srgbClr val="222222"/>
                </a:solidFill>
                <a:effectLst/>
                <a:latin typeface="Source Han Sans"/>
              </a:rPr>
              <a:t> </a:t>
            </a:r>
            <a:r>
              <a:rPr lang="ja-JP" altLang="en-US" b="0" i="0" u="none" strike="noStrike">
                <a:solidFill>
                  <a:srgbClr val="FF0000"/>
                </a:solidFill>
                <a:effectLst/>
                <a:latin typeface="Source Han Sans"/>
                <a:hlinkClick r:id="rId4"/>
              </a:rPr>
              <a:t>の</a:t>
            </a:r>
            <a:r>
              <a:rPr lang="en-US" altLang="ja-JP" b="0" i="0" u="none" strike="noStrike" dirty="0">
                <a:solidFill>
                  <a:srgbClr val="222222"/>
                </a:solidFill>
                <a:effectLst/>
                <a:latin typeface="Source Han Sans"/>
              </a:rPr>
              <a:t> </a:t>
            </a:r>
            <a:r>
              <a:rPr lang="ja-JP" altLang="en-US" b="0" i="0">
                <a:solidFill>
                  <a:srgbClr val="222222"/>
                </a:solidFill>
                <a:effectLst/>
                <a:latin typeface="Source Han Sans"/>
              </a:rPr>
              <a:t>たいしょく</a:t>
            </a:r>
            <a:r>
              <a:rPr lang="ja-JP" altLang="en-US" b="0" i="0" u="none" strike="noStrike">
                <a:solidFill>
                  <a:srgbClr val="3A251C"/>
                </a:solidFill>
                <a:effectLst/>
                <a:latin typeface="Source Han Sans"/>
                <a:hlinkClick r:id="rId5"/>
              </a:rPr>
              <a:t>退職</a:t>
            </a:r>
            <a:r>
              <a:rPr lang="en-US" altLang="ja-JP" b="0" i="0" u="none" strike="noStrike" dirty="0">
                <a:solidFill>
                  <a:srgbClr val="3A251C"/>
                </a:solidFill>
                <a:effectLst/>
                <a:latin typeface="Source Han Sans"/>
              </a:rPr>
              <a:t> , </a:t>
            </a:r>
            <a:r>
              <a:rPr lang="ja-JP" altLang="en-US" b="0" i="0">
                <a:solidFill>
                  <a:srgbClr val="222222"/>
                </a:solidFill>
                <a:effectLst/>
                <a:latin typeface="Source Han Sans"/>
              </a:rPr>
              <a:t>むこう</a:t>
            </a:r>
            <a:r>
              <a:rPr lang="en-US" altLang="ja-JP" b="0" i="0" dirty="0">
                <a:solidFill>
                  <a:srgbClr val="222222"/>
                </a:solidFill>
                <a:effectLst/>
                <a:latin typeface="Source Han Sans"/>
              </a:rPr>
              <a:t>-</a:t>
            </a:r>
            <a:r>
              <a:rPr lang="ja-JP" altLang="en-US" b="0" i="0">
                <a:solidFill>
                  <a:srgbClr val="222222"/>
                </a:solidFill>
                <a:effectLst/>
                <a:latin typeface="Source Han Sans"/>
              </a:rPr>
              <a:t>無効</a:t>
            </a:r>
          </a:p>
          <a:p>
            <a:r>
              <a:rPr lang="ja-JP" altLang="en-US" b="0" i="0">
                <a:solidFill>
                  <a:srgbClr val="222222"/>
                </a:solidFill>
                <a:effectLst/>
                <a:latin typeface="Source Han Sans"/>
              </a:rPr>
              <a:t>しっこう</a:t>
            </a:r>
            <a:r>
              <a:rPr lang="en-US" altLang="ja-JP" b="0" i="0" dirty="0">
                <a:solidFill>
                  <a:srgbClr val="222222"/>
                </a:solidFill>
                <a:effectLst/>
                <a:latin typeface="Source Han Sans"/>
              </a:rPr>
              <a:t>-</a:t>
            </a:r>
            <a:r>
              <a:rPr lang="ja-JP" altLang="en-US" b="0" i="0">
                <a:solidFill>
                  <a:srgbClr val="222222"/>
                </a:solidFill>
                <a:effectLst/>
                <a:latin typeface="Source Han Sans"/>
              </a:rPr>
              <a:t>失効</a:t>
            </a:r>
            <a:r>
              <a:rPr lang="en-US" altLang="ja-JP" b="0" i="0" dirty="0">
                <a:solidFill>
                  <a:srgbClr val="222222"/>
                </a:solidFill>
                <a:effectLst/>
                <a:latin typeface="Source Han Sans"/>
              </a:rPr>
              <a:t>,</a:t>
            </a:r>
            <a:r>
              <a:rPr lang="ja-JP" altLang="en-US" b="0" i="0">
                <a:solidFill>
                  <a:srgbClr val="222222"/>
                </a:solidFill>
                <a:effectLst/>
                <a:latin typeface="Source Han Sans"/>
              </a:rPr>
              <a:t> </a:t>
            </a:r>
            <a:r>
              <a:rPr lang="mn-MN" b="0" i="0" dirty="0">
                <a:solidFill>
                  <a:srgbClr val="252525"/>
                </a:solidFill>
                <a:effectLst/>
                <a:latin typeface="Roboto" panose="020F0502020204030204" pitchFamily="34" charset="0"/>
              </a:rPr>
              <a:t>хугацаа дуусах</a:t>
            </a:r>
            <a:r>
              <a:rPr lang="en-US" b="0" i="0" dirty="0">
                <a:solidFill>
                  <a:srgbClr val="252525"/>
                </a:solidFill>
                <a:effectLst/>
                <a:latin typeface="Roboto" panose="020F0502020204030204" pitchFamily="34" charset="0"/>
              </a:rPr>
              <a:t> </a:t>
            </a:r>
            <a:r>
              <a:rPr lang="ja-JP" altLang="en-US" b="0" i="0">
                <a:solidFill>
                  <a:srgbClr val="222222"/>
                </a:solidFill>
                <a:effectLst/>
                <a:latin typeface="Source Han Sans"/>
              </a:rPr>
              <a:t>けいぞく</a:t>
            </a:r>
            <a:r>
              <a:rPr lang="en-US" altLang="ja-JP" b="0" i="0" dirty="0">
                <a:solidFill>
                  <a:srgbClr val="222222"/>
                </a:solidFill>
                <a:effectLst/>
                <a:latin typeface="Source Han Sans"/>
              </a:rPr>
              <a:t>-</a:t>
            </a:r>
            <a:r>
              <a:rPr lang="ja-JP" altLang="en-US" b="0" i="0">
                <a:solidFill>
                  <a:srgbClr val="222222"/>
                </a:solidFill>
                <a:effectLst/>
                <a:latin typeface="Source Han Sans"/>
              </a:rPr>
              <a:t>継続</a:t>
            </a:r>
            <a:r>
              <a:rPr lang="en-US" altLang="ja-JP" b="0" i="0" dirty="0">
                <a:solidFill>
                  <a:srgbClr val="222222"/>
                </a:solidFill>
                <a:effectLst/>
                <a:latin typeface="Source Han Sans"/>
              </a:rPr>
              <a:t>, </a:t>
            </a:r>
            <a:r>
              <a:rPr lang="ja-JP" altLang="en-US" b="0" i="0">
                <a:solidFill>
                  <a:srgbClr val="222222"/>
                </a:solidFill>
                <a:effectLst/>
                <a:latin typeface="Source Han Sans"/>
              </a:rPr>
              <a:t>しんこく</a:t>
            </a:r>
            <a:r>
              <a:rPr lang="en-US" altLang="ja-JP" b="0" i="0" dirty="0">
                <a:solidFill>
                  <a:srgbClr val="222222"/>
                </a:solidFill>
                <a:effectLst/>
                <a:latin typeface="Source Han Sans"/>
              </a:rPr>
              <a:t>-</a:t>
            </a:r>
            <a:r>
              <a:rPr lang="ja-JP" altLang="en-US" b="0" i="0">
                <a:solidFill>
                  <a:srgbClr val="222222"/>
                </a:solidFill>
                <a:effectLst/>
                <a:latin typeface="Source Han Sans"/>
              </a:rPr>
              <a:t>深刻</a:t>
            </a:r>
            <a:r>
              <a:rPr lang="en-US" altLang="ja-JP" b="0" i="0" dirty="0">
                <a:solidFill>
                  <a:srgbClr val="222222"/>
                </a:solidFill>
                <a:effectLst/>
                <a:latin typeface="Source Han Sans"/>
              </a:rPr>
              <a:t>,</a:t>
            </a:r>
            <a:endParaRPr lang="en-JP" dirty="0"/>
          </a:p>
        </p:txBody>
      </p:sp>
      <p:sp>
        <p:nvSpPr>
          <p:cNvPr id="4" name="Slide Number Placeholder 3"/>
          <p:cNvSpPr>
            <a:spLocks noGrp="1"/>
          </p:cNvSpPr>
          <p:nvPr>
            <p:ph type="sldNum" sz="quarter" idx="5"/>
          </p:nvPr>
        </p:nvSpPr>
        <p:spPr/>
        <p:txBody>
          <a:bodyPr/>
          <a:lstStyle/>
          <a:p>
            <a:fld id="{2F49AB56-CE06-1F4A-B272-291AECC6115A}" type="slidenum">
              <a:rPr lang="en-JP" smtClean="0"/>
              <a:t>26</a:t>
            </a:fld>
            <a:endParaRPr lang="en-JP"/>
          </a:p>
        </p:txBody>
      </p:sp>
    </p:spTree>
    <p:extLst>
      <p:ext uri="{BB962C8B-B14F-4D97-AF65-F5344CB8AC3E}">
        <p14:creationId xmlns:p14="http://schemas.microsoft.com/office/powerpoint/2010/main" val="31449352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げんざい現在</a:t>
            </a:r>
            <a:r>
              <a:rPr lang="en-US" altLang="ja-JP" b="0" i="0" dirty="0">
                <a:solidFill>
                  <a:srgbClr val="222222"/>
                </a:solidFill>
                <a:effectLst/>
                <a:latin typeface="Source Han Sans"/>
              </a:rPr>
              <a:t>,  </a:t>
            </a:r>
            <a:r>
              <a:rPr lang="ja-JP" altLang="en-US" b="0" i="0">
                <a:solidFill>
                  <a:srgbClr val="222222"/>
                </a:solidFill>
                <a:effectLst/>
                <a:latin typeface="Source Han Sans"/>
              </a:rPr>
              <a:t>きどう</a:t>
            </a:r>
            <a:r>
              <a:rPr lang="en-US" altLang="ja-JP" b="0" i="0" dirty="0">
                <a:solidFill>
                  <a:srgbClr val="222222"/>
                </a:solidFill>
                <a:effectLst/>
                <a:latin typeface="Source Han Sans"/>
              </a:rPr>
              <a:t>-</a:t>
            </a:r>
            <a:r>
              <a:rPr lang="ja-JP" altLang="en-US" b="0" i="0">
                <a:solidFill>
                  <a:srgbClr val="222222"/>
                </a:solidFill>
                <a:effectLst/>
                <a:latin typeface="Source Han Sans"/>
              </a:rPr>
              <a:t>起動</a:t>
            </a:r>
            <a:r>
              <a:rPr lang="en-US" altLang="ja-JP" b="0" i="0" dirty="0">
                <a:solidFill>
                  <a:srgbClr val="222222"/>
                </a:solidFill>
                <a:effectLst/>
                <a:latin typeface="Source Han Sans"/>
              </a:rPr>
              <a:t>, </a:t>
            </a:r>
            <a:r>
              <a:rPr lang="ja-JP" altLang="en-US" b="0" i="0">
                <a:solidFill>
                  <a:srgbClr val="222222"/>
                </a:solidFill>
                <a:effectLst/>
                <a:latin typeface="Source Han Sans"/>
              </a:rPr>
              <a:t>すぐ優れる</a:t>
            </a:r>
            <a:r>
              <a:rPr lang="en-US" altLang="ja-JP" b="0" i="0" dirty="0">
                <a:solidFill>
                  <a:srgbClr val="222222"/>
                </a:solidFill>
                <a:effectLst/>
                <a:latin typeface="Source Han Sans"/>
              </a:rPr>
              <a:t>-to be better, </a:t>
            </a:r>
            <a:endParaRPr lang="en-JP" dirty="0"/>
          </a:p>
        </p:txBody>
      </p:sp>
      <p:sp>
        <p:nvSpPr>
          <p:cNvPr id="4" name="Slide Number Placeholder 3"/>
          <p:cNvSpPr>
            <a:spLocks noGrp="1"/>
          </p:cNvSpPr>
          <p:nvPr>
            <p:ph type="sldNum" sz="quarter" idx="5"/>
          </p:nvPr>
        </p:nvSpPr>
        <p:spPr/>
        <p:txBody>
          <a:bodyPr/>
          <a:lstStyle/>
          <a:p>
            <a:fld id="{2F49AB56-CE06-1F4A-B272-291AECC6115A}" type="slidenum">
              <a:rPr lang="en-JP" smtClean="0"/>
              <a:t>28</a:t>
            </a:fld>
            <a:endParaRPr lang="en-JP"/>
          </a:p>
        </p:txBody>
      </p:sp>
    </p:spTree>
    <p:extLst>
      <p:ext uri="{BB962C8B-B14F-4D97-AF65-F5344CB8AC3E}">
        <p14:creationId xmlns:p14="http://schemas.microsoft.com/office/powerpoint/2010/main" val="32529565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ja-JP" altLang="en-US" b="0" i="0">
                <a:solidFill>
                  <a:srgbClr val="222222"/>
                </a:solidFill>
                <a:effectLst/>
                <a:latin typeface="Source Han Sans"/>
              </a:rPr>
              <a:t>へいよう</a:t>
            </a:r>
            <a:r>
              <a:rPr lang="ja-JP" altLang="en-US" b="0" i="0" u="none" strike="noStrike">
                <a:solidFill>
                  <a:srgbClr val="3A251C"/>
                </a:solidFill>
                <a:effectLst/>
                <a:latin typeface="Source Han Sans"/>
                <a:hlinkClick r:id="rId3"/>
              </a:rPr>
              <a:t>併用</a:t>
            </a:r>
            <a:endParaRPr lang="ja-JP" altLang="en-US" b="0" i="0">
              <a:solidFill>
                <a:srgbClr val="222222"/>
              </a:solidFill>
              <a:effectLst/>
              <a:latin typeface="Source Han Sans"/>
            </a:endParaRPr>
          </a:p>
          <a:p>
            <a:pPr algn="l">
              <a:buFont typeface="Arial" panose="020B0604020202020204" pitchFamily="34" charset="0"/>
              <a:buChar char="•"/>
            </a:pPr>
            <a:r>
              <a:rPr lang="ja-JP" altLang="en-US" b="0" i="0">
                <a:solidFill>
                  <a:srgbClr val="222222"/>
                </a:solidFill>
                <a:effectLst/>
                <a:latin typeface="Source Han Sans"/>
              </a:rPr>
              <a:t> すいしょう</a:t>
            </a:r>
            <a:r>
              <a:rPr lang="ja-JP" altLang="en-US" b="0" i="0" u="none" strike="noStrike">
                <a:solidFill>
                  <a:srgbClr val="3A251C"/>
                </a:solidFill>
                <a:effectLst/>
                <a:latin typeface="Source Han Sans"/>
                <a:hlinkClick r:id="rId4"/>
              </a:rPr>
              <a:t>推奨</a:t>
            </a:r>
            <a:r>
              <a:rPr lang="en-US" altLang="ja-JP" b="0" i="0" u="none" strike="noStrike" dirty="0">
                <a:solidFill>
                  <a:srgbClr val="3A251C"/>
                </a:solidFill>
                <a:effectLst/>
                <a:latin typeface="Source Han Sans"/>
              </a:rPr>
              <a:t> ,</a:t>
            </a:r>
            <a:r>
              <a:rPr lang="ja-JP" altLang="en-US" b="0" i="0">
                <a:solidFill>
                  <a:srgbClr val="222222"/>
                </a:solidFill>
                <a:effectLst/>
                <a:latin typeface="Source Han Sans"/>
              </a:rPr>
              <a:t> さいてき</a:t>
            </a:r>
            <a:r>
              <a:rPr lang="en-US" altLang="ja-JP" b="0" i="0" dirty="0">
                <a:solidFill>
                  <a:srgbClr val="222222"/>
                </a:solidFill>
                <a:effectLst/>
                <a:latin typeface="Source Han Sans"/>
              </a:rPr>
              <a:t>-</a:t>
            </a:r>
            <a:r>
              <a:rPr lang="ja-JP" altLang="en-US" b="0" i="0">
                <a:solidFill>
                  <a:srgbClr val="222222"/>
                </a:solidFill>
                <a:effectLst/>
                <a:latin typeface="Source Han Sans"/>
              </a:rPr>
              <a:t>最適</a:t>
            </a:r>
          </a:p>
          <a:p>
            <a:endParaRPr lang="en-JP" dirty="0"/>
          </a:p>
        </p:txBody>
      </p:sp>
      <p:sp>
        <p:nvSpPr>
          <p:cNvPr id="4" name="Slide Number Placeholder 3"/>
          <p:cNvSpPr>
            <a:spLocks noGrp="1"/>
          </p:cNvSpPr>
          <p:nvPr>
            <p:ph type="sldNum" sz="quarter" idx="5"/>
          </p:nvPr>
        </p:nvSpPr>
        <p:spPr/>
        <p:txBody>
          <a:bodyPr/>
          <a:lstStyle/>
          <a:p>
            <a:fld id="{2F49AB56-CE06-1F4A-B272-291AECC6115A}" type="slidenum">
              <a:rPr lang="en-JP" smtClean="0"/>
              <a:t>29</a:t>
            </a:fld>
            <a:endParaRPr lang="en-JP"/>
          </a:p>
        </p:txBody>
      </p:sp>
    </p:spTree>
    <p:extLst>
      <p:ext uri="{BB962C8B-B14F-4D97-AF65-F5344CB8AC3E}">
        <p14:creationId xmlns:p14="http://schemas.microsoft.com/office/powerpoint/2010/main" val="12936165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ja-JP" altLang="en-US" b="0" i="0">
                <a:solidFill>
                  <a:srgbClr val="222222"/>
                </a:solidFill>
                <a:effectLst/>
                <a:latin typeface="Source Han Sans"/>
              </a:rPr>
              <a:t>けいこく</a:t>
            </a:r>
            <a:r>
              <a:rPr lang="en-US" altLang="ja-JP" b="0" i="0" dirty="0">
                <a:solidFill>
                  <a:srgbClr val="222222"/>
                </a:solidFill>
                <a:effectLst/>
                <a:latin typeface="Source Han Sans"/>
              </a:rPr>
              <a:t>-</a:t>
            </a:r>
            <a:r>
              <a:rPr lang="ja-JP" altLang="en-US" b="0" i="0">
                <a:solidFill>
                  <a:srgbClr val="222222"/>
                </a:solidFill>
                <a:effectLst/>
                <a:latin typeface="Source Han Sans"/>
              </a:rPr>
              <a:t>警告</a:t>
            </a:r>
            <a:r>
              <a:rPr lang="en-US" altLang="ja-JP" b="0" i="0" dirty="0">
                <a:solidFill>
                  <a:srgbClr val="222222"/>
                </a:solidFill>
                <a:effectLst/>
                <a:latin typeface="Source Han Sans"/>
              </a:rPr>
              <a:t>,</a:t>
            </a:r>
            <a:r>
              <a:rPr lang="ja-JP" altLang="en-US" b="0" i="0">
                <a:solidFill>
                  <a:srgbClr val="222222"/>
                </a:solidFill>
                <a:effectLst/>
                <a:latin typeface="Source Han Sans"/>
              </a:rPr>
              <a:t> ろうえい</a:t>
            </a:r>
            <a:r>
              <a:rPr lang="en-US" altLang="ja-JP" b="0" i="0" dirty="0">
                <a:solidFill>
                  <a:srgbClr val="222222"/>
                </a:solidFill>
                <a:effectLst/>
                <a:latin typeface="Source Han Sans"/>
              </a:rPr>
              <a:t>-</a:t>
            </a:r>
            <a:r>
              <a:rPr lang="ja-JP" altLang="en-US" b="0" i="0">
                <a:solidFill>
                  <a:srgbClr val="222222"/>
                </a:solidFill>
                <a:effectLst/>
                <a:latin typeface="Source Han Sans"/>
              </a:rPr>
              <a:t>漏洩</a:t>
            </a:r>
            <a:r>
              <a:rPr lang="en-US" altLang="ja-JP" b="0" i="0" dirty="0">
                <a:solidFill>
                  <a:srgbClr val="222222"/>
                </a:solidFill>
                <a:effectLst/>
                <a:latin typeface="Source Han Sans"/>
              </a:rPr>
              <a:t>,</a:t>
            </a:r>
            <a:r>
              <a:rPr lang="ja-JP" altLang="en-US" b="0" i="0">
                <a:solidFill>
                  <a:srgbClr val="222222"/>
                </a:solidFill>
                <a:effectLst/>
                <a:latin typeface="Source Han Sans"/>
              </a:rPr>
              <a:t> たそう</a:t>
            </a:r>
            <a:r>
              <a:rPr lang="en-US" altLang="ja-JP" b="0" i="0" dirty="0">
                <a:solidFill>
                  <a:srgbClr val="222222"/>
                </a:solidFill>
                <a:effectLst/>
                <a:latin typeface="Source Han Sans"/>
              </a:rPr>
              <a:t>-</a:t>
            </a:r>
            <a:r>
              <a:rPr lang="ja-JP" altLang="en-US" b="0" i="0" u="none" strike="noStrike">
                <a:solidFill>
                  <a:srgbClr val="3A251C"/>
                </a:solidFill>
                <a:effectLst/>
                <a:latin typeface="Source Han Sans"/>
                <a:hlinkClick r:id="rId3"/>
              </a:rPr>
              <a:t>多層</a:t>
            </a:r>
            <a:r>
              <a:rPr lang="en-US" altLang="ja-JP" b="0" i="0" u="none" strike="noStrike" dirty="0">
                <a:solidFill>
                  <a:srgbClr val="222222"/>
                </a:solidFill>
                <a:effectLst/>
                <a:latin typeface="Source Han Sans"/>
              </a:rPr>
              <a:t> </a:t>
            </a:r>
            <a:r>
              <a:rPr lang="ja-JP" altLang="en-US" b="0" i="0">
                <a:solidFill>
                  <a:srgbClr val="222222"/>
                </a:solidFill>
                <a:effectLst/>
                <a:latin typeface="Source Han Sans"/>
              </a:rPr>
              <a:t>ぼうぎょ</a:t>
            </a:r>
            <a:r>
              <a:rPr lang="ja-JP" altLang="en-US" b="0" i="0" u="none" strike="noStrike">
                <a:solidFill>
                  <a:srgbClr val="3A251C"/>
                </a:solidFill>
                <a:effectLst/>
                <a:latin typeface="Source Han Sans"/>
                <a:hlinkClick r:id="rId4"/>
              </a:rPr>
              <a:t>防御</a:t>
            </a:r>
            <a:r>
              <a:rPr lang="en-US" altLang="ja-JP" b="0" i="0" u="none" strike="noStrike" dirty="0">
                <a:solidFill>
                  <a:srgbClr val="3A251C"/>
                </a:solidFill>
                <a:effectLst/>
                <a:latin typeface="Source Han Sans"/>
              </a:rPr>
              <a:t>, </a:t>
            </a:r>
            <a:r>
              <a:rPr lang="ja-JP" altLang="en-US" b="0" i="0">
                <a:solidFill>
                  <a:srgbClr val="222222"/>
                </a:solidFill>
                <a:effectLst/>
                <a:latin typeface="Source Han Sans"/>
              </a:rPr>
              <a:t>しょうとりひき</a:t>
            </a:r>
            <a:r>
              <a:rPr lang="en-US" altLang="ja-JP" b="0" i="0" dirty="0">
                <a:solidFill>
                  <a:srgbClr val="222222"/>
                </a:solidFill>
                <a:effectLst/>
                <a:latin typeface="Source Han Sans"/>
              </a:rPr>
              <a:t>-</a:t>
            </a:r>
            <a:r>
              <a:rPr lang="ja-JP" altLang="en-US" b="0" i="0">
                <a:solidFill>
                  <a:srgbClr val="222222"/>
                </a:solidFill>
                <a:effectLst/>
                <a:latin typeface="Source Han Sans"/>
              </a:rPr>
              <a:t>商取引</a:t>
            </a:r>
            <a:r>
              <a:rPr lang="en-US" altLang="ja-JP" b="0" i="0" dirty="0">
                <a:solidFill>
                  <a:srgbClr val="222222"/>
                </a:solidFill>
                <a:effectLst/>
                <a:latin typeface="Source Han Sans"/>
              </a:rPr>
              <a:t>, </a:t>
            </a:r>
            <a:r>
              <a:rPr lang="ja-JP" altLang="en-US" b="0" i="0">
                <a:solidFill>
                  <a:srgbClr val="222222"/>
                </a:solidFill>
                <a:effectLst/>
                <a:latin typeface="Source Han Sans"/>
              </a:rPr>
              <a:t>げんだい</a:t>
            </a:r>
            <a:r>
              <a:rPr lang="en-US" altLang="ja-JP" b="0" i="0" dirty="0">
                <a:solidFill>
                  <a:srgbClr val="222222"/>
                </a:solidFill>
                <a:effectLst/>
                <a:latin typeface="Source Han Sans"/>
              </a:rPr>
              <a:t>-</a:t>
            </a:r>
            <a:r>
              <a:rPr lang="ja-JP" altLang="en-US" b="0" i="0">
                <a:solidFill>
                  <a:srgbClr val="222222"/>
                </a:solidFill>
                <a:effectLst/>
                <a:latin typeface="Source Han Sans"/>
              </a:rPr>
              <a:t>現代</a:t>
            </a:r>
            <a:r>
              <a:rPr lang="en-US" altLang="ja-JP" b="0" i="0" dirty="0">
                <a:solidFill>
                  <a:srgbClr val="222222"/>
                </a:solidFill>
                <a:effectLst/>
                <a:latin typeface="Source Han Sans"/>
              </a:rPr>
              <a:t>,</a:t>
            </a:r>
            <a:r>
              <a:rPr lang="ja-JP" altLang="en-US" b="0" i="0">
                <a:solidFill>
                  <a:srgbClr val="222222"/>
                </a:solidFill>
                <a:effectLst/>
                <a:latin typeface="Source Han Sans"/>
              </a:rPr>
              <a:t> けいぞくてき</a:t>
            </a:r>
            <a:r>
              <a:rPr lang="en-US" altLang="ja-JP" b="0" i="0" dirty="0">
                <a:solidFill>
                  <a:srgbClr val="222222"/>
                </a:solidFill>
                <a:effectLst/>
                <a:latin typeface="Source Han Sans"/>
              </a:rPr>
              <a:t>-</a:t>
            </a:r>
            <a:r>
              <a:rPr lang="ja-JP" altLang="en-US" b="0" i="0">
                <a:solidFill>
                  <a:srgbClr val="222222"/>
                </a:solidFill>
                <a:effectLst/>
                <a:latin typeface="Source Han Sans"/>
              </a:rPr>
              <a:t>継続的</a:t>
            </a:r>
          </a:p>
          <a:p>
            <a:endParaRPr lang="en-JP" dirty="0"/>
          </a:p>
        </p:txBody>
      </p:sp>
      <p:sp>
        <p:nvSpPr>
          <p:cNvPr id="4" name="Slide Number Placeholder 3"/>
          <p:cNvSpPr>
            <a:spLocks noGrp="1"/>
          </p:cNvSpPr>
          <p:nvPr>
            <p:ph type="sldNum" sz="quarter" idx="5"/>
          </p:nvPr>
        </p:nvSpPr>
        <p:spPr/>
        <p:txBody>
          <a:bodyPr/>
          <a:lstStyle/>
          <a:p>
            <a:fld id="{2F49AB56-CE06-1F4A-B272-291AECC6115A}" type="slidenum">
              <a:rPr lang="en-JP" smtClean="0"/>
              <a:t>30</a:t>
            </a:fld>
            <a:endParaRPr lang="en-JP"/>
          </a:p>
        </p:txBody>
      </p:sp>
    </p:spTree>
    <p:extLst>
      <p:ext uri="{BB962C8B-B14F-4D97-AF65-F5344CB8AC3E}">
        <p14:creationId xmlns:p14="http://schemas.microsoft.com/office/powerpoint/2010/main" val="37223880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703835-3F5C-CF4E-9C9A-C599779E6F3A}" type="datetime1">
              <a:rPr lang="en-US" smtClean="0"/>
              <a:t>1/28/26</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B37FC626-4DBB-F044-A20D-82FDEAFAFBD6}" type="slidenum">
              <a:rPr lang="en-JP" smtClean="0"/>
              <a:t>‹#›</a:t>
            </a:fld>
            <a:endParaRPr lang="en-JP"/>
          </a:p>
        </p:txBody>
      </p:sp>
    </p:spTree>
    <p:extLst>
      <p:ext uri="{BB962C8B-B14F-4D97-AF65-F5344CB8AC3E}">
        <p14:creationId xmlns:p14="http://schemas.microsoft.com/office/powerpoint/2010/main" val="16892041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317D242-3EF7-F949-B13F-2F9E360C99D0}" type="datetime1">
              <a:rPr lang="en-US" smtClean="0"/>
              <a:t>1/28/26</a:t>
            </a:fld>
            <a:endParaRPr lang="en-JP"/>
          </a:p>
        </p:txBody>
      </p:sp>
      <p:sp>
        <p:nvSpPr>
          <p:cNvPr id="5" name="Footer Placeholder 4"/>
          <p:cNvSpPr>
            <a:spLocks noGrp="1"/>
          </p:cNvSpPr>
          <p:nvPr>
            <p:ph type="ftr" sz="quarter" idx="11"/>
          </p:nvPr>
        </p:nvSpPr>
        <p:spPr/>
        <p:txBody>
          <a:bodyPr/>
          <a:lstStyle/>
          <a:p>
            <a:endParaRPr lang="en-JP" dirty="0"/>
          </a:p>
        </p:txBody>
      </p:sp>
      <p:sp>
        <p:nvSpPr>
          <p:cNvPr id="6" name="Slide Number Placeholder 5"/>
          <p:cNvSpPr>
            <a:spLocks noGrp="1"/>
          </p:cNvSpPr>
          <p:nvPr>
            <p:ph type="sldNum" sz="quarter" idx="12"/>
          </p:nvPr>
        </p:nvSpPr>
        <p:spPr>
          <a:noFill/>
        </p:spPr>
        <p:txBody>
          <a:bodyPr/>
          <a:lstStyle>
            <a:lvl1pPr>
              <a:defRPr sz="1800">
                <a:solidFill>
                  <a:schemeClr val="tx1"/>
                </a:solidFill>
                <a:latin typeface="Meiryo" panose="020B0604030504040204" pitchFamily="34" charset="-128"/>
                <a:ea typeface="Meiryo" panose="020B0604030504040204" pitchFamily="34" charset="-128"/>
              </a:defRPr>
            </a:lvl1pPr>
          </a:lstStyle>
          <a:p>
            <a:r>
              <a:rPr lang="en-US" dirty="0"/>
              <a:t>/</a:t>
            </a:r>
            <a:r>
              <a:rPr lang="mn-MN" dirty="0"/>
              <a:t>#</a:t>
            </a:r>
            <a:endParaRPr lang="en-JP" dirty="0"/>
          </a:p>
        </p:txBody>
      </p:sp>
    </p:spTree>
    <p:extLst>
      <p:ext uri="{BB962C8B-B14F-4D97-AF65-F5344CB8AC3E}">
        <p14:creationId xmlns:p14="http://schemas.microsoft.com/office/powerpoint/2010/main" val="26837583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231F003-EDEE-5F40-B887-54C983B5D4B7}" type="datetime1">
              <a:rPr lang="en-US" smtClean="0"/>
              <a:t>1/28/26</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B37FC626-4DBB-F044-A20D-82FDEAFAFBD6}" type="slidenum">
              <a:rPr lang="en-JP" smtClean="0"/>
              <a:t>‹#›</a:t>
            </a:fld>
            <a:endParaRPr lang="en-JP"/>
          </a:p>
        </p:txBody>
      </p:sp>
    </p:spTree>
    <p:extLst>
      <p:ext uri="{BB962C8B-B14F-4D97-AF65-F5344CB8AC3E}">
        <p14:creationId xmlns:p14="http://schemas.microsoft.com/office/powerpoint/2010/main" val="21025620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1E30862-BF5F-1F49-BBBA-E12B1821ECEB}" type="datetime1">
              <a:rPr lang="en-US" smtClean="0"/>
              <a:t>1/28/26</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B37FC626-4DBB-F044-A20D-82FDEAFAFBD6}" type="slidenum">
              <a:rPr lang="en-JP" smtClean="0"/>
              <a:t>‹#›</a:t>
            </a:fld>
            <a:endParaRPr lang="en-JP"/>
          </a:p>
        </p:txBody>
      </p:sp>
    </p:spTree>
    <p:extLst>
      <p:ext uri="{BB962C8B-B14F-4D97-AF65-F5344CB8AC3E}">
        <p14:creationId xmlns:p14="http://schemas.microsoft.com/office/powerpoint/2010/main" val="707819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B8EA3BF-AE91-4F46-AE35-BE52B6FE46F6}" type="datetime1">
              <a:rPr lang="en-US" smtClean="0"/>
              <a:t>1/28/26</a:t>
            </a:fld>
            <a:endParaRPr lang="en-JP"/>
          </a:p>
        </p:txBody>
      </p:sp>
      <p:sp>
        <p:nvSpPr>
          <p:cNvPr id="8" name="Footer Placeholder 7"/>
          <p:cNvSpPr>
            <a:spLocks noGrp="1"/>
          </p:cNvSpPr>
          <p:nvPr>
            <p:ph type="ftr" sz="quarter" idx="11"/>
          </p:nvPr>
        </p:nvSpPr>
        <p:spPr/>
        <p:txBody>
          <a:bodyPr/>
          <a:lstStyle/>
          <a:p>
            <a:endParaRPr lang="en-JP"/>
          </a:p>
        </p:txBody>
      </p:sp>
      <p:sp>
        <p:nvSpPr>
          <p:cNvPr id="9" name="Slide Number Placeholder 8"/>
          <p:cNvSpPr>
            <a:spLocks noGrp="1"/>
          </p:cNvSpPr>
          <p:nvPr>
            <p:ph type="sldNum" sz="quarter" idx="12"/>
          </p:nvPr>
        </p:nvSpPr>
        <p:spPr/>
        <p:txBody>
          <a:bodyPr/>
          <a:lstStyle/>
          <a:p>
            <a:fld id="{B37FC626-4DBB-F044-A20D-82FDEAFAFBD6}" type="slidenum">
              <a:rPr lang="en-JP" smtClean="0"/>
              <a:t>‹#›</a:t>
            </a:fld>
            <a:endParaRPr lang="en-JP"/>
          </a:p>
        </p:txBody>
      </p:sp>
    </p:spTree>
    <p:extLst>
      <p:ext uri="{BB962C8B-B14F-4D97-AF65-F5344CB8AC3E}">
        <p14:creationId xmlns:p14="http://schemas.microsoft.com/office/powerpoint/2010/main" val="35429984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A2C1BBE-90DF-EB4F-B2CB-F6141732BDE0}" type="datetime1">
              <a:rPr lang="en-US" smtClean="0"/>
              <a:t>1/28/26</a:t>
            </a:fld>
            <a:endParaRPr lang="en-JP"/>
          </a:p>
        </p:txBody>
      </p:sp>
      <p:sp>
        <p:nvSpPr>
          <p:cNvPr id="4" name="Footer Placeholder 3"/>
          <p:cNvSpPr>
            <a:spLocks noGrp="1"/>
          </p:cNvSpPr>
          <p:nvPr>
            <p:ph type="ftr" sz="quarter" idx="11"/>
          </p:nvPr>
        </p:nvSpPr>
        <p:spPr/>
        <p:txBody>
          <a:bodyPr/>
          <a:lstStyle/>
          <a:p>
            <a:endParaRPr lang="en-JP"/>
          </a:p>
        </p:txBody>
      </p:sp>
      <p:sp>
        <p:nvSpPr>
          <p:cNvPr id="5" name="Slide Number Placeholder 4"/>
          <p:cNvSpPr>
            <a:spLocks noGrp="1"/>
          </p:cNvSpPr>
          <p:nvPr>
            <p:ph type="sldNum" sz="quarter" idx="12"/>
          </p:nvPr>
        </p:nvSpPr>
        <p:spPr/>
        <p:txBody>
          <a:bodyPr/>
          <a:lstStyle/>
          <a:p>
            <a:fld id="{B37FC626-4DBB-F044-A20D-82FDEAFAFBD6}" type="slidenum">
              <a:rPr lang="en-JP" smtClean="0"/>
              <a:t>‹#›</a:t>
            </a:fld>
            <a:endParaRPr lang="en-JP"/>
          </a:p>
        </p:txBody>
      </p:sp>
    </p:spTree>
    <p:extLst>
      <p:ext uri="{BB962C8B-B14F-4D97-AF65-F5344CB8AC3E}">
        <p14:creationId xmlns:p14="http://schemas.microsoft.com/office/powerpoint/2010/main" val="27543288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851E89-D999-E64F-8BB5-F714F6CD3B2F}" type="datetime1">
              <a:rPr lang="en-US" smtClean="0"/>
              <a:t>1/28/26</a:t>
            </a:fld>
            <a:endParaRPr lang="en-JP"/>
          </a:p>
        </p:txBody>
      </p:sp>
      <p:sp>
        <p:nvSpPr>
          <p:cNvPr id="3" name="Footer Placeholder 2"/>
          <p:cNvSpPr>
            <a:spLocks noGrp="1"/>
          </p:cNvSpPr>
          <p:nvPr>
            <p:ph type="ftr" sz="quarter" idx="11"/>
          </p:nvPr>
        </p:nvSpPr>
        <p:spPr/>
        <p:txBody>
          <a:bodyPr/>
          <a:lstStyle/>
          <a:p>
            <a:endParaRPr lang="en-JP"/>
          </a:p>
        </p:txBody>
      </p:sp>
      <p:sp>
        <p:nvSpPr>
          <p:cNvPr id="4" name="Slide Number Placeholder 3"/>
          <p:cNvSpPr>
            <a:spLocks noGrp="1"/>
          </p:cNvSpPr>
          <p:nvPr>
            <p:ph type="sldNum" sz="quarter" idx="12"/>
          </p:nvPr>
        </p:nvSpPr>
        <p:spPr/>
        <p:txBody>
          <a:bodyPr/>
          <a:lstStyle/>
          <a:p>
            <a:fld id="{B37FC626-4DBB-F044-A20D-82FDEAFAFBD6}" type="slidenum">
              <a:rPr lang="en-JP" smtClean="0"/>
              <a:t>‹#›</a:t>
            </a:fld>
            <a:endParaRPr lang="en-JP"/>
          </a:p>
        </p:txBody>
      </p:sp>
    </p:spTree>
    <p:extLst>
      <p:ext uri="{BB962C8B-B14F-4D97-AF65-F5344CB8AC3E}">
        <p14:creationId xmlns:p14="http://schemas.microsoft.com/office/powerpoint/2010/main" val="3321911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8C153F0-249A-3447-8028-AB6992D44EC6}" type="datetime1">
              <a:rPr lang="en-US" smtClean="0"/>
              <a:t>1/28/26</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B37FC626-4DBB-F044-A20D-82FDEAFAFBD6}" type="slidenum">
              <a:rPr lang="en-JP" smtClean="0"/>
              <a:t>‹#›</a:t>
            </a:fld>
            <a:endParaRPr lang="en-JP"/>
          </a:p>
        </p:txBody>
      </p:sp>
    </p:spTree>
    <p:extLst>
      <p:ext uri="{BB962C8B-B14F-4D97-AF65-F5344CB8AC3E}">
        <p14:creationId xmlns:p14="http://schemas.microsoft.com/office/powerpoint/2010/main" val="29655071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C27D9C1-A3D5-3940-A7C0-E95CA56C98A2}" type="datetime1">
              <a:rPr lang="en-US" smtClean="0"/>
              <a:t>1/28/26</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B37FC626-4DBB-F044-A20D-82FDEAFAFBD6}" type="slidenum">
              <a:rPr lang="en-JP" smtClean="0"/>
              <a:t>‹#›</a:t>
            </a:fld>
            <a:endParaRPr lang="en-JP"/>
          </a:p>
        </p:txBody>
      </p:sp>
    </p:spTree>
    <p:extLst>
      <p:ext uri="{BB962C8B-B14F-4D97-AF65-F5344CB8AC3E}">
        <p14:creationId xmlns:p14="http://schemas.microsoft.com/office/powerpoint/2010/main" val="24957780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23DC68-3BD8-9C42-8677-ED6F58DA71E8}" type="datetime1">
              <a:rPr lang="en-US" smtClean="0"/>
              <a:t>1/28/26</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B37FC626-4DBB-F044-A20D-82FDEAFAFBD6}" type="slidenum">
              <a:rPr lang="en-JP" smtClean="0"/>
              <a:t>‹#›</a:t>
            </a:fld>
            <a:endParaRPr lang="en-JP"/>
          </a:p>
        </p:txBody>
      </p:sp>
    </p:spTree>
    <p:extLst>
      <p:ext uri="{BB962C8B-B14F-4D97-AF65-F5344CB8AC3E}">
        <p14:creationId xmlns:p14="http://schemas.microsoft.com/office/powerpoint/2010/main" val="34172858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871644-916D-DB40-AE94-7EDFC7AD2CC0}" type="datetime1">
              <a:rPr lang="en-US" smtClean="0"/>
              <a:t>1/28/26</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B37FC626-4DBB-F044-A20D-82FDEAFAFBD6}" type="slidenum">
              <a:rPr lang="en-JP" smtClean="0"/>
              <a:t>‹#›</a:t>
            </a:fld>
            <a:endParaRPr lang="en-JP"/>
          </a:p>
        </p:txBody>
      </p:sp>
    </p:spTree>
    <p:extLst>
      <p:ext uri="{BB962C8B-B14F-4D97-AF65-F5344CB8AC3E}">
        <p14:creationId xmlns:p14="http://schemas.microsoft.com/office/powerpoint/2010/main" val="12636095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B0DBE4-ED81-E041-A899-F2BFFD43FB01}" type="datetime1">
              <a:rPr lang="en-US" smtClean="0"/>
              <a:t>1/28/26</a:t>
            </a:fld>
            <a:endParaRPr lang="en-JP"/>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JP"/>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7FC626-4DBB-F044-A20D-82FDEAFAFBD6}" type="slidenum">
              <a:rPr lang="en-JP" smtClean="0"/>
              <a:t>‹#›</a:t>
            </a:fld>
            <a:endParaRPr lang="en-JP"/>
          </a:p>
        </p:txBody>
      </p:sp>
    </p:spTree>
    <p:extLst>
      <p:ext uri="{BB962C8B-B14F-4D97-AF65-F5344CB8AC3E}">
        <p14:creationId xmlns:p14="http://schemas.microsoft.com/office/powerpoint/2010/main" val="3403120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346FD78-93D6-C5A7-4890-29DBB745FEAC}"/>
              </a:ext>
            </a:extLst>
          </p:cNvPr>
          <p:cNvSpPr txBox="1"/>
          <p:nvPr/>
        </p:nvSpPr>
        <p:spPr>
          <a:xfrm>
            <a:off x="249978" y="1597453"/>
            <a:ext cx="8295702" cy="1200329"/>
          </a:xfrm>
          <a:prstGeom prst="rect">
            <a:avLst/>
          </a:prstGeom>
          <a:noFill/>
        </p:spPr>
        <p:txBody>
          <a:bodyPr wrap="square">
            <a:spAutoFit/>
          </a:bodyPr>
          <a:lstStyle/>
          <a:p>
            <a:pPr algn="ctr"/>
            <a:r>
              <a:rPr lang="en-US" sz="3600" dirty="0">
                <a:latin typeface="Meiryo" panose="020B0604030504040204" pitchFamily="34" charset="-128"/>
                <a:ea typeface="Meiryo" panose="020B0604030504040204" pitchFamily="34" charset="-128"/>
              </a:rPr>
              <a:t>PKI</a:t>
            </a:r>
            <a:r>
              <a:rPr lang="ja-JP" altLang="en-US" sz="3600">
                <a:latin typeface="Meiryo" panose="020B0604030504040204" pitchFamily="34" charset="-128"/>
                <a:ea typeface="Meiryo" panose="020B0604030504040204" pitchFamily="34" charset="-128"/>
              </a:rPr>
              <a:t>に基づくデータ暗号化基盤の</a:t>
            </a:r>
            <a:br>
              <a:rPr lang="mn-MN" altLang="ja-JP" sz="3600" dirty="0">
                <a:latin typeface="Meiryo" panose="020B0604030504040204" pitchFamily="34" charset="-128"/>
                <a:ea typeface="Meiryo" panose="020B0604030504040204" pitchFamily="34" charset="-128"/>
              </a:rPr>
            </a:br>
            <a:r>
              <a:rPr lang="ja-JP" altLang="en-US" sz="3600">
                <a:latin typeface="Meiryo" panose="020B0604030504040204" pitchFamily="34" charset="-128"/>
                <a:ea typeface="Meiryo" panose="020B0604030504040204" pitchFamily="34" charset="-128"/>
              </a:rPr>
              <a:t>構築とセキュリティ評価</a:t>
            </a:r>
            <a:endParaRPr lang="en-JP" sz="3600" dirty="0"/>
          </a:p>
        </p:txBody>
      </p:sp>
      <p:sp>
        <p:nvSpPr>
          <p:cNvPr id="13" name="TextBox 12">
            <a:extLst>
              <a:ext uri="{FF2B5EF4-FFF2-40B4-BE49-F238E27FC236}">
                <a16:creationId xmlns:a16="http://schemas.microsoft.com/office/drawing/2014/main" id="{B32E87BD-FF74-7ACA-4DCE-F197EB5E3B13}"/>
              </a:ext>
            </a:extLst>
          </p:cNvPr>
          <p:cNvSpPr txBox="1"/>
          <p:nvPr/>
        </p:nvSpPr>
        <p:spPr>
          <a:xfrm>
            <a:off x="1233234" y="4136418"/>
            <a:ext cx="6329190" cy="1200329"/>
          </a:xfrm>
          <a:prstGeom prst="rect">
            <a:avLst/>
          </a:prstGeom>
          <a:noFill/>
        </p:spPr>
        <p:txBody>
          <a:bodyPr wrap="square">
            <a:spAutoFit/>
          </a:bodyPr>
          <a:lstStyle/>
          <a:p>
            <a:r>
              <a:rPr lang="ja-JP" altLang="en-US">
                <a:latin typeface="Meiryo" panose="020B0604030504040204" pitchFamily="34" charset="-128"/>
                <a:ea typeface="Meiryo" panose="020B0604030504040204" pitchFamily="34" charset="-128"/>
              </a:rPr>
              <a:t>授業 </a:t>
            </a:r>
            <a:r>
              <a:rPr lang="ja-JP" altLang="en-US" sz="1800">
                <a:latin typeface="Meiryo" panose="020B0604030504040204" pitchFamily="34" charset="-128"/>
                <a:ea typeface="Meiryo" panose="020B0604030504040204" pitchFamily="34" charset="-128"/>
              </a:rPr>
              <a:t>　　：</a:t>
            </a:r>
            <a:r>
              <a:rPr lang="ja-JP" sz="1800">
                <a:effectLst/>
                <a:latin typeface="Meiryo" panose="020B0604030504040204" pitchFamily="34" charset="-128"/>
                <a:ea typeface="Meiryo" panose="020B0604030504040204" pitchFamily="34" charset="-128"/>
                <a:cs typeface="Times New Roman" panose="02020603050405020304" pitchFamily="18" charset="0"/>
              </a:rPr>
              <a:t>セキュリティ実践演習第一</a:t>
            </a:r>
            <a:r>
              <a:rPr lang="en-US" sz="1800" dirty="0">
                <a:effectLst/>
                <a:latin typeface="Meiryo" panose="020B0604030504040204" pitchFamily="34" charset="-128"/>
                <a:ea typeface="Meiryo" panose="020B0604030504040204" pitchFamily="34" charset="-128"/>
                <a:cs typeface="Times New Roman" panose="02020603050405020304" pitchFamily="18" charset="0"/>
              </a:rPr>
              <a:t>(2025</a:t>
            </a:r>
            <a:r>
              <a:rPr lang="ja-JP" sz="1800">
                <a:effectLst/>
                <a:latin typeface="Meiryo" panose="020B0604030504040204" pitchFamily="34" charset="-128"/>
                <a:ea typeface="Meiryo" panose="020B0604030504040204" pitchFamily="34" charset="-128"/>
                <a:cs typeface="Times New Roman" panose="02020603050405020304" pitchFamily="18" charset="0"/>
              </a:rPr>
              <a:t>年度後期集中</a:t>
            </a:r>
            <a:r>
              <a:rPr lang="en-US" sz="1800" dirty="0">
                <a:effectLst/>
                <a:latin typeface="Meiryo" panose="020B0604030504040204" pitchFamily="34" charset="-128"/>
                <a:ea typeface="Meiryo" panose="020B0604030504040204" pitchFamily="34" charset="-128"/>
                <a:cs typeface="Times New Roman" panose="02020603050405020304" pitchFamily="18" charset="0"/>
              </a:rPr>
              <a:t>)</a:t>
            </a:r>
            <a:endParaRPr lang="en-US" altLang="ja-JP" sz="1800" dirty="0">
              <a:latin typeface="Meiryo" panose="020B0604030504040204" pitchFamily="34" charset="-128"/>
              <a:ea typeface="Meiryo" panose="020B0604030504040204" pitchFamily="34" charset="-128"/>
            </a:endParaRPr>
          </a:p>
          <a:p>
            <a:r>
              <a:rPr lang="ja-JP" altLang="en-US" sz="1800">
                <a:latin typeface="Meiryo" panose="020B0604030504040204" pitchFamily="34" charset="-128"/>
                <a:ea typeface="Meiryo" panose="020B0604030504040204" pitchFamily="34" charset="-128"/>
              </a:rPr>
              <a:t>発表者　：</a:t>
            </a:r>
            <a:r>
              <a:rPr lang="en-US" altLang="ja-JP" sz="1800" dirty="0">
                <a:latin typeface="Meiryo" panose="020B0604030504040204" pitchFamily="34" charset="-128"/>
                <a:ea typeface="Meiryo" panose="020B0604030504040204" pitchFamily="34" charset="-128"/>
              </a:rPr>
              <a:t>DAVAAKHUU   UNDARMAA</a:t>
            </a:r>
          </a:p>
          <a:p>
            <a:r>
              <a:rPr lang="ja-JP" altLang="en-US" sz="1800">
                <a:latin typeface="Meiryo" panose="020B0604030504040204" pitchFamily="34" charset="-128"/>
                <a:ea typeface="Meiryo" panose="020B0604030504040204" pitchFamily="34" charset="-128"/>
              </a:rPr>
              <a:t>発表日　： </a:t>
            </a:r>
            <a:r>
              <a:rPr lang="en-US" altLang="ja-JP" sz="1800" dirty="0">
                <a:latin typeface="Meiryo" panose="020B0604030504040204" pitchFamily="34" charset="-128"/>
                <a:ea typeface="Meiryo" panose="020B0604030504040204" pitchFamily="34" charset="-128"/>
              </a:rPr>
              <a:t>202</a:t>
            </a:r>
            <a:r>
              <a:rPr lang="mn-MN" altLang="ja-JP" dirty="0">
                <a:latin typeface="Meiryo" panose="020B0604030504040204" pitchFamily="34" charset="-128"/>
                <a:ea typeface="Meiryo" panose="020B0604030504040204" pitchFamily="34" charset="-128"/>
              </a:rPr>
              <a:t>6</a:t>
            </a:r>
            <a:r>
              <a:rPr lang="ja-JP" altLang="en-US" sz="1800">
                <a:latin typeface="Meiryo" panose="020B0604030504040204" pitchFamily="34" charset="-128"/>
                <a:ea typeface="Meiryo" panose="020B0604030504040204" pitchFamily="34" charset="-128"/>
              </a:rPr>
              <a:t>年</a:t>
            </a:r>
            <a:r>
              <a:rPr lang="en-US" altLang="ja-JP" sz="1800" dirty="0">
                <a:latin typeface="Meiryo" panose="020B0604030504040204" pitchFamily="34" charset="-128"/>
                <a:ea typeface="Meiryo" panose="020B0604030504040204" pitchFamily="34" charset="-128"/>
              </a:rPr>
              <a:t>1</a:t>
            </a:r>
            <a:r>
              <a:rPr lang="ja-JP" altLang="en-US" sz="1800">
                <a:latin typeface="Meiryo" panose="020B0604030504040204" pitchFamily="34" charset="-128"/>
                <a:ea typeface="Meiryo" panose="020B0604030504040204" pitchFamily="34" charset="-128"/>
              </a:rPr>
              <a:t>月</a:t>
            </a:r>
            <a:r>
              <a:rPr lang="mn-MN" altLang="ja-JP" sz="1800" dirty="0">
                <a:latin typeface="Meiryo" panose="020B0604030504040204" pitchFamily="34" charset="-128"/>
                <a:ea typeface="Meiryo" panose="020B0604030504040204" pitchFamily="34" charset="-128"/>
              </a:rPr>
              <a:t>7</a:t>
            </a:r>
            <a:r>
              <a:rPr lang="ja-JP" altLang="en-US" sz="1800">
                <a:latin typeface="Meiryo" panose="020B0604030504040204" pitchFamily="34" charset="-128"/>
                <a:ea typeface="Meiryo" panose="020B0604030504040204" pitchFamily="34" charset="-128"/>
              </a:rPr>
              <a:t>日</a:t>
            </a:r>
            <a:endParaRPr lang="en-US" altLang="ja-JP" sz="1800" dirty="0">
              <a:latin typeface="Meiryo" panose="020B0604030504040204" pitchFamily="34" charset="-128"/>
              <a:ea typeface="Meiryo" panose="020B0604030504040204" pitchFamily="34" charset="-128"/>
            </a:endParaRPr>
          </a:p>
          <a:p>
            <a:r>
              <a:rPr lang="ja-JP" altLang="en-US" sz="1800">
                <a:latin typeface="Meiryo" panose="020B0604030504040204" pitchFamily="34" charset="-128"/>
                <a:ea typeface="Meiryo" panose="020B0604030504040204" pitchFamily="34" charset="-128"/>
              </a:rPr>
              <a:t>会場　　：</a:t>
            </a:r>
            <a:r>
              <a:rPr lang="en-US" altLang="ja-JP" dirty="0">
                <a:latin typeface="Meiryo" panose="020B0604030504040204" pitchFamily="34" charset="-128"/>
                <a:ea typeface="Meiryo" panose="020B0604030504040204" pitchFamily="34" charset="-128"/>
              </a:rPr>
              <a:t>Core3</a:t>
            </a:r>
            <a:endParaRPr lang="en-US" altLang="ja-JP" sz="1800"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8413677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7950AA3A-0B8F-EAC2-9E10-5CE07276B9A5}"/>
              </a:ext>
            </a:extLst>
          </p:cNvPr>
          <p:cNvSpPr txBox="1"/>
          <p:nvPr/>
        </p:nvSpPr>
        <p:spPr>
          <a:xfrm>
            <a:off x="1028187" y="656428"/>
            <a:ext cx="4574787" cy="461665"/>
          </a:xfrm>
          <a:prstGeom prst="rect">
            <a:avLst/>
          </a:prstGeom>
          <a:noFill/>
        </p:spPr>
        <p:txBody>
          <a:bodyPr wrap="square">
            <a:spAutoFit/>
          </a:bodyPr>
          <a:lstStyle/>
          <a:p>
            <a:r>
              <a:rPr lang="ja-JP" altLang="en-US" sz="2400" b="1">
                <a:latin typeface="Meiryo" panose="020B0604030504040204" pitchFamily="34" charset="-128"/>
                <a:ea typeface="Meiryo" panose="020B0604030504040204" pitchFamily="34" charset="-128"/>
              </a:rPr>
              <a:t>目次</a:t>
            </a:r>
            <a:endParaRPr lang="en-US" altLang="ja-JP" sz="2400" b="1" dirty="0">
              <a:latin typeface="Meiryo" panose="020B0604030504040204" pitchFamily="34" charset="-128"/>
              <a:ea typeface="Meiryo" panose="020B0604030504040204" pitchFamily="34" charset="-128"/>
            </a:endParaRPr>
          </a:p>
        </p:txBody>
      </p:sp>
      <p:sp>
        <p:nvSpPr>
          <p:cNvPr id="14" name="Slide Number Placeholder 13">
            <a:extLst>
              <a:ext uri="{FF2B5EF4-FFF2-40B4-BE49-F238E27FC236}">
                <a16:creationId xmlns:a16="http://schemas.microsoft.com/office/drawing/2014/main" id="{8DE179E4-9AB2-704A-BCFD-452BB90B560E}"/>
              </a:ext>
            </a:extLst>
          </p:cNvPr>
          <p:cNvSpPr>
            <a:spLocks noGrp="1"/>
          </p:cNvSpPr>
          <p:nvPr>
            <p:ph type="sldNum" sz="quarter" idx="12"/>
          </p:nvPr>
        </p:nvSpPr>
        <p:spPr/>
        <p:txBody>
          <a:bodyPr/>
          <a:lstStyle/>
          <a:p>
            <a:fld id="{B37FC626-4DBB-F044-A20D-82FDEAFAFBD6}" type="slidenum">
              <a:rPr lang="en-JP" smtClean="0"/>
              <a:t>1</a:t>
            </a:fld>
            <a:endParaRPr lang="en-JP"/>
          </a:p>
        </p:txBody>
      </p:sp>
      <p:sp>
        <p:nvSpPr>
          <p:cNvPr id="16" name="TextBox 15">
            <a:extLst>
              <a:ext uri="{FF2B5EF4-FFF2-40B4-BE49-F238E27FC236}">
                <a16:creationId xmlns:a16="http://schemas.microsoft.com/office/drawing/2014/main" id="{B7035146-B115-BAE0-21CF-A01728407FFD}"/>
              </a:ext>
            </a:extLst>
          </p:cNvPr>
          <p:cNvSpPr txBox="1"/>
          <p:nvPr/>
        </p:nvSpPr>
        <p:spPr>
          <a:xfrm>
            <a:off x="599642" y="1215592"/>
            <a:ext cx="6887008" cy="4985980"/>
          </a:xfrm>
          <a:prstGeom prst="rect">
            <a:avLst/>
          </a:prstGeom>
          <a:noFill/>
        </p:spPr>
        <p:txBody>
          <a:bodyPr wrap="square">
            <a:spAutoFit/>
          </a:bodyPr>
          <a:lstStyle/>
          <a:p>
            <a:pPr marL="214313" indent="-214313">
              <a:buFont typeface="Wingdings" pitchFamily="2" charset="2"/>
              <a:buChar char="§"/>
            </a:pPr>
            <a:endParaRPr lang="en-JP" sz="2000" dirty="0">
              <a:latin typeface="Meiryo" panose="020B0604030504040204" pitchFamily="34" charset="-128"/>
              <a:ea typeface="Meiryo" panose="020B0604030504040204" pitchFamily="34" charset="-128"/>
              <a:cs typeface="Times New Roman" panose="02020603050405020304" pitchFamily="18" charset="0"/>
            </a:endParaRPr>
          </a:p>
          <a:p>
            <a:pPr marL="342900" indent="-342900">
              <a:buFont typeface="Wingdings" pitchFamily="2" charset="2"/>
              <a:buChar char="§"/>
            </a:pPr>
            <a:r>
              <a:rPr lang="en-US" sz="2000" dirty="0">
                <a:latin typeface="Meiryo" panose="020B0604030504040204" pitchFamily="34" charset="-128"/>
                <a:ea typeface="Meiryo" panose="020B0604030504040204" pitchFamily="34" charset="-128"/>
                <a:cs typeface="Times New Roman" panose="02020603050405020304" pitchFamily="18" charset="0"/>
              </a:rPr>
              <a:t>PKI</a:t>
            </a:r>
            <a:r>
              <a:rPr lang="ja-JP" altLang="en-US" sz="2000">
                <a:latin typeface="Meiryo" panose="020B0604030504040204" pitchFamily="34" charset="-128"/>
                <a:ea typeface="Meiryo" panose="020B0604030504040204" pitchFamily="34" charset="-128"/>
                <a:cs typeface="Times New Roman" panose="02020603050405020304" pitchFamily="18" charset="0"/>
              </a:rPr>
              <a:t>とデータ暗号化の関係</a:t>
            </a:r>
            <a:endParaRPr lang="mn-MN" altLang="ja-JP" sz="2000" dirty="0">
              <a:latin typeface="Meiryo" panose="020B0604030504040204" pitchFamily="34" charset="-128"/>
              <a:ea typeface="Meiryo" panose="020B0604030504040204" pitchFamily="34" charset="-128"/>
              <a:cs typeface="Times New Roman" panose="02020603050405020304" pitchFamily="18" charset="0"/>
            </a:endParaRPr>
          </a:p>
          <a:p>
            <a:endParaRPr lang="en-US" altLang="ja-JP" sz="2000" dirty="0">
              <a:latin typeface="Meiryo" panose="020B0604030504040204" pitchFamily="34" charset="-128"/>
              <a:ea typeface="Meiryo" panose="020B0604030504040204" pitchFamily="34" charset="-128"/>
              <a:cs typeface="Times New Roman" panose="02020603050405020304" pitchFamily="18" charset="0"/>
            </a:endParaRPr>
          </a:p>
          <a:p>
            <a:pPr marL="342900" indent="-342900">
              <a:buFont typeface="Wingdings" pitchFamily="2" charset="2"/>
              <a:buChar char="§"/>
            </a:pPr>
            <a:r>
              <a:rPr lang="en-JP" sz="2000" dirty="0">
                <a:latin typeface="Meiryo" panose="020B0604030504040204" pitchFamily="34" charset="-128"/>
                <a:ea typeface="Meiryo" panose="020B0604030504040204" pitchFamily="34" charset="-128"/>
              </a:rPr>
              <a:t>TLS通信における暗号化方式の使い分け</a:t>
            </a:r>
            <a:endParaRPr lang="mn-MN" sz="2000" dirty="0">
              <a:latin typeface="Meiryo" panose="020B0604030504040204" pitchFamily="34" charset="-128"/>
              <a:ea typeface="Meiryo" panose="020B0604030504040204" pitchFamily="34" charset="-128"/>
            </a:endParaRPr>
          </a:p>
          <a:p>
            <a:endParaRPr lang="en-US" altLang="ja-JP" sz="2000" dirty="0">
              <a:latin typeface="Meiryo" panose="020B0604030504040204" pitchFamily="34" charset="-128"/>
              <a:ea typeface="Meiryo" panose="020B0604030504040204" pitchFamily="34" charset="-128"/>
              <a:cs typeface="Times New Roman" panose="02020603050405020304" pitchFamily="18" charset="0"/>
            </a:endParaRPr>
          </a:p>
          <a:p>
            <a:pPr marL="342900" indent="-342900">
              <a:buFont typeface="Wingdings" pitchFamily="2" charset="2"/>
              <a:buChar char="§"/>
            </a:pPr>
            <a:r>
              <a:rPr lang="ja-JP" altLang="en-US" sz="2000">
                <a:latin typeface="Meiryo" panose="020B0604030504040204" pitchFamily="34" charset="-128"/>
                <a:ea typeface="Meiryo" panose="020B0604030504040204" pitchFamily="34" charset="-128"/>
                <a:cs typeface="Times New Roman" panose="02020603050405020304" pitchFamily="18" charset="0"/>
              </a:rPr>
              <a:t>演習で構築した</a:t>
            </a:r>
            <a:r>
              <a:rPr lang="en-US" sz="2000" dirty="0">
                <a:latin typeface="Meiryo" panose="020B0604030504040204" pitchFamily="34" charset="-128"/>
                <a:ea typeface="Meiryo" panose="020B0604030504040204" pitchFamily="34" charset="-128"/>
                <a:cs typeface="Times New Roman" panose="02020603050405020304" pitchFamily="18" charset="0"/>
              </a:rPr>
              <a:t>Private CA</a:t>
            </a:r>
            <a:r>
              <a:rPr lang="ja-JP" altLang="en-US" sz="2000">
                <a:latin typeface="Meiryo" panose="020B0604030504040204" pitchFamily="34" charset="-128"/>
                <a:ea typeface="Meiryo" panose="020B0604030504040204" pitchFamily="34" charset="-128"/>
                <a:cs typeface="Times New Roman" panose="02020603050405020304" pitchFamily="18" charset="0"/>
              </a:rPr>
              <a:t>構成</a:t>
            </a:r>
            <a:endParaRPr lang="en-US" altLang="ja-JP" sz="2000" dirty="0">
              <a:latin typeface="Meiryo" panose="020B0604030504040204" pitchFamily="34" charset="-128"/>
              <a:ea typeface="Meiryo" panose="020B0604030504040204" pitchFamily="34" charset="-128"/>
              <a:cs typeface="Times New Roman" panose="02020603050405020304" pitchFamily="18" charset="0"/>
            </a:endParaRPr>
          </a:p>
          <a:p>
            <a:endParaRPr lang="en-US" altLang="ja-JP" sz="2000" dirty="0">
              <a:latin typeface="Meiryo" panose="020B0604030504040204" pitchFamily="34" charset="-128"/>
              <a:ea typeface="Meiryo" panose="020B0604030504040204" pitchFamily="34" charset="-128"/>
              <a:cs typeface="Times New Roman" panose="02020603050405020304" pitchFamily="18" charset="0"/>
            </a:endParaRPr>
          </a:p>
          <a:p>
            <a:pPr marL="342900" indent="-342900">
              <a:buFont typeface="Wingdings" pitchFamily="2" charset="2"/>
              <a:buChar char="§"/>
            </a:pPr>
            <a:r>
              <a:rPr lang="ja-JP" sz="2000">
                <a:effectLst/>
                <a:latin typeface="Meiryo" panose="020B0604030504040204" pitchFamily="34" charset="-128"/>
                <a:ea typeface="Meiryo" panose="020B0604030504040204" pitchFamily="34" charset="-128"/>
                <a:cs typeface="Times New Roman" panose="02020603050405020304" pitchFamily="18" charset="0"/>
              </a:rPr>
              <a:t>サーバ証明書による暗号化通信の確認</a:t>
            </a:r>
            <a:endParaRPr lang="en-JP" sz="2000" dirty="0">
              <a:effectLst/>
              <a:latin typeface="Meiryo" panose="020B0604030504040204" pitchFamily="34" charset="-128"/>
              <a:ea typeface="Meiryo" panose="020B0604030504040204" pitchFamily="34" charset="-128"/>
              <a:cs typeface="Times New Roman" panose="02020603050405020304" pitchFamily="18" charset="0"/>
            </a:endParaRPr>
          </a:p>
          <a:p>
            <a:pPr marL="342900" indent="-342900">
              <a:buFont typeface="Wingdings" pitchFamily="2" charset="2"/>
              <a:buChar char="§"/>
            </a:pPr>
            <a:endParaRPr lang="ja-JP" altLang="en-US" sz="2000">
              <a:latin typeface="Meiryo" panose="020B0604030504040204" pitchFamily="34" charset="-128"/>
              <a:ea typeface="Meiryo" panose="020B0604030504040204" pitchFamily="34" charset="-128"/>
              <a:cs typeface="Times New Roman" panose="02020603050405020304" pitchFamily="18" charset="0"/>
            </a:endParaRPr>
          </a:p>
          <a:p>
            <a:pPr marL="342900" indent="-342900">
              <a:buFont typeface="Wingdings" pitchFamily="2" charset="2"/>
              <a:buChar char="§"/>
            </a:pPr>
            <a:r>
              <a:rPr lang="en-US" sz="2000" dirty="0">
                <a:latin typeface="Meiryo" panose="020B0604030504040204" pitchFamily="34" charset="-128"/>
                <a:ea typeface="Meiryo" panose="020B0604030504040204" pitchFamily="34" charset="-128"/>
                <a:cs typeface="Times New Roman" panose="02020603050405020304" pitchFamily="18" charset="0"/>
              </a:rPr>
              <a:t>Private CA</a:t>
            </a:r>
            <a:r>
              <a:rPr lang="ja-JP" altLang="en-US" sz="2000">
                <a:latin typeface="Meiryo" panose="020B0604030504040204" pitchFamily="34" charset="-128"/>
                <a:ea typeface="Meiryo" panose="020B0604030504040204" pitchFamily="34" charset="-128"/>
                <a:cs typeface="Times New Roman" panose="02020603050405020304" pitchFamily="18" charset="0"/>
              </a:rPr>
              <a:t>の利点と欠点</a:t>
            </a:r>
            <a:endParaRPr lang="en-US" altLang="ja-JP" sz="2000" dirty="0">
              <a:latin typeface="Meiryo" panose="020B0604030504040204" pitchFamily="34" charset="-128"/>
              <a:ea typeface="Meiryo" panose="020B0604030504040204" pitchFamily="34" charset="-128"/>
              <a:cs typeface="Times New Roman" panose="02020603050405020304" pitchFamily="18" charset="0"/>
            </a:endParaRPr>
          </a:p>
          <a:p>
            <a:pPr marL="342900" indent="-342900">
              <a:buFont typeface="Wingdings" pitchFamily="2" charset="2"/>
              <a:buChar char="§"/>
            </a:pPr>
            <a:endParaRPr lang="ja-JP" altLang="en-US" sz="2000">
              <a:latin typeface="Meiryo" panose="020B0604030504040204" pitchFamily="34" charset="-128"/>
              <a:ea typeface="Meiryo" panose="020B0604030504040204" pitchFamily="34" charset="-128"/>
              <a:cs typeface="Times New Roman" panose="02020603050405020304" pitchFamily="18" charset="0"/>
            </a:endParaRPr>
          </a:p>
          <a:p>
            <a:pPr marL="342900" indent="-342900">
              <a:buFont typeface="Wingdings" pitchFamily="2" charset="2"/>
              <a:buChar char="§"/>
            </a:pPr>
            <a:r>
              <a:rPr lang="en-US" sz="2000" dirty="0">
                <a:latin typeface="Meiryo" panose="020B0604030504040204" pitchFamily="34" charset="-128"/>
                <a:ea typeface="Meiryo" panose="020B0604030504040204" pitchFamily="34" charset="-128"/>
                <a:cs typeface="Times New Roman" panose="02020603050405020304" pitchFamily="18" charset="0"/>
              </a:rPr>
              <a:t>CA</a:t>
            </a:r>
            <a:r>
              <a:rPr lang="ja-JP" altLang="en-US" sz="2000">
                <a:latin typeface="Meiryo" panose="020B0604030504040204" pitchFamily="34" charset="-128"/>
                <a:ea typeface="Meiryo" panose="020B0604030504040204" pitchFamily="34" charset="-128"/>
                <a:cs typeface="Times New Roman" panose="02020603050405020304" pitchFamily="18" charset="0"/>
              </a:rPr>
              <a:t>秘密鍵漏洩の影響と対策</a:t>
            </a:r>
            <a:endParaRPr lang="en-US" altLang="ja-JP" sz="2000" dirty="0">
              <a:latin typeface="Meiryo" panose="020B0604030504040204" pitchFamily="34" charset="-128"/>
              <a:ea typeface="Meiryo" panose="020B0604030504040204" pitchFamily="34" charset="-128"/>
              <a:cs typeface="Times New Roman" panose="02020603050405020304" pitchFamily="18" charset="0"/>
            </a:endParaRPr>
          </a:p>
          <a:p>
            <a:pPr marL="342900" indent="-342900">
              <a:buFont typeface="Wingdings" pitchFamily="2" charset="2"/>
              <a:buChar char="§"/>
            </a:pPr>
            <a:endParaRPr lang="ja-JP" altLang="en-US" sz="2000">
              <a:latin typeface="Meiryo" panose="020B0604030504040204" pitchFamily="34" charset="-128"/>
              <a:ea typeface="Meiryo" panose="020B0604030504040204" pitchFamily="34" charset="-128"/>
              <a:cs typeface="Times New Roman" panose="02020603050405020304" pitchFamily="18" charset="0"/>
            </a:endParaRPr>
          </a:p>
          <a:p>
            <a:pPr marL="342900" indent="-342900">
              <a:buFont typeface="Wingdings" pitchFamily="2" charset="2"/>
              <a:buChar char="§"/>
            </a:pPr>
            <a:r>
              <a:rPr lang="ja-JP" altLang="en-US" sz="2000">
                <a:latin typeface="Meiryo" panose="020B0604030504040204" pitchFamily="34" charset="-128"/>
                <a:ea typeface="Meiryo" panose="020B0604030504040204" pitchFamily="34" charset="-128"/>
                <a:cs typeface="Times New Roman" panose="02020603050405020304" pitchFamily="18" charset="0"/>
              </a:rPr>
              <a:t>実運用を想定した考察</a:t>
            </a:r>
            <a:endParaRPr lang="en-US" altLang="ja-JP" sz="2000" dirty="0">
              <a:latin typeface="Meiryo" panose="020B0604030504040204" pitchFamily="34" charset="-128"/>
              <a:ea typeface="Meiryo" panose="020B0604030504040204" pitchFamily="34" charset="-128"/>
              <a:cs typeface="Times New Roman" panose="02020603050405020304" pitchFamily="18" charset="0"/>
            </a:endParaRPr>
          </a:p>
          <a:p>
            <a:pPr marL="342900" indent="-342900">
              <a:buFont typeface="Wingdings" pitchFamily="2" charset="2"/>
              <a:buChar char="§"/>
            </a:pPr>
            <a:endParaRPr lang="ja-JP" altLang="en-US" sz="2000">
              <a:latin typeface="Meiryo" panose="020B0604030504040204" pitchFamily="34" charset="-128"/>
              <a:ea typeface="Meiryo" panose="020B0604030504040204" pitchFamily="34" charset="-128"/>
              <a:cs typeface="Times New Roman" panose="02020603050405020304" pitchFamily="18" charset="0"/>
            </a:endParaRPr>
          </a:p>
          <a:p>
            <a:pPr marL="342900" indent="-342900">
              <a:buFont typeface="Wingdings" pitchFamily="2" charset="2"/>
              <a:buChar char="§"/>
            </a:pPr>
            <a:r>
              <a:rPr lang="ja-JP" altLang="en-US" sz="2000">
                <a:latin typeface="Meiryo" panose="020B0604030504040204" pitchFamily="34" charset="-128"/>
                <a:ea typeface="Meiryo" panose="020B0604030504040204" pitchFamily="34" charset="-128"/>
                <a:cs typeface="Times New Roman" panose="02020603050405020304" pitchFamily="18" charset="0"/>
              </a:rPr>
              <a:t>まとめ</a:t>
            </a:r>
            <a:endParaRPr lang="en-JP" sz="2000" dirty="0">
              <a:latin typeface="Meiryo" panose="020B0604030504040204" pitchFamily="34" charset="-128"/>
              <a:ea typeface="Meiryo" panose="020B0604030504040204" pitchFamily="34" charset="-128"/>
              <a:cs typeface="Times New Roman" panose="02020603050405020304" pitchFamily="18" charset="0"/>
            </a:endParaRPr>
          </a:p>
        </p:txBody>
      </p:sp>
    </p:spTree>
    <p:extLst>
      <p:ext uri="{BB962C8B-B14F-4D97-AF65-F5344CB8AC3E}">
        <p14:creationId xmlns:p14="http://schemas.microsoft.com/office/powerpoint/2010/main" val="32114883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0E3C3A-801C-ACC7-4548-98D12A68BD57}"/>
              </a:ext>
            </a:extLst>
          </p:cNvPr>
          <p:cNvPicPr>
            <a:picLocks noChangeAspect="1"/>
          </p:cNvPicPr>
          <p:nvPr/>
        </p:nvPicPr>
        <p:blipFill>
          <a:blip r:embed="rId2"/>
          <a:stretch>
            <a:fillRect/>
          </a:stretch>
        </p:blipFill>
        <p:spPr>
          <a:xfrm>
            <a:off x="779057" y="1144738"/>
            <a:ext cx="7347128" cy="4452616"/>
          </a:xfrm>
          <a:prstGeom prst="rect">
            <a:avLst/>
          </a:prstGeom>
        </p:spPr>
      </p:pic>
      <p:sp>
        <p:nvSpPr>
          <p:cNvPr id="6" name="TextBox 5">
            <a:extLst>
              <a:ext uri="{FF2B5EF4-FFF2-40B4-BE49-F238E27FC236}">
                <a16:creationId xmlns:a16="http://schemas.microsoft.com/office/drawing/2014/main" id="{2286EA61-67E2-18EF-CF7E-6EFD3D62B768}"/>
              </a:ext>
            </a:extLst>
          </p:cNvPr>
          <p:cNvSpPr txBox="1"/>
          <p:nvPr/>
        </p:nvSpPr>
        <p:spPr>
          <a:xfrm>
            <a:off x="108857" y="636907"/>
            <a:ext cx="8017328" cy="707886"/>
          </a:xfrm>
          <a:prstGeom prst="rect">
            <a:avLst/>
          </a:prstGeom>
          <a:noFill/>
        </p:spPr>
        <p:txBody>
          <a:bodyPr wrap="square">
            <a:spAutoFit/>
          </a:bodyPr>
          <a:lstStyle/>
          <a:p>
            <a:r>
              <a:rPr lang="en-US" sz="2000" dirty="0">
                <a:latin typeface="Meiryo" panose="020B0604030504040204" pitchFamily="34" charset="-128"/>
                <a:ea typeface="Meiryo" panose="020B0604030504040204" pitchFamily="34" charset="-128"/>
                <a:cs typeface="Times New Roman" panose="02020603050405020304" pitchFamily="18" charset="0"/>
              </a:rPr>
              <a:t>PKI（Public Key Infrastructure） </a:t>
            </a:r>
            <a:r>
              <a:rPr lang="ja-JP" altLang="en-US" sz="2000">
                <a:latin typeface="Meiryo" panose="020B0604030504040204" pitchFamily="34" charset="-128"/>
                <a:ea typeface="Meiryo" panose="020B0604030504040204" pitchFamily="34" charset="-128"/>
                <a:cs typeface="Times New Roman" panose="02020603050405020304" pitchFamily="18" charset="0"/>
              </a:rPr>
              <a:t>とは，公開鍵暗号を用いて 通信相手の真正性を保証し，安全な通信を実現するための基盤 である</a:t>
            </a:r>
            <a:r>
              <a:rPr lang="en-US" altLang="ja-JP" sz="2000" dirty="0">
                <a:latin typeface="Meiryo" panose="020B0604030504040204" pitchFamily="34" charset="-128"/>
                <a:ea typeface="Meiryo" panose="020B0604030504040204" pitchFamily="34" charset="-128"/>
                <a:cs typeface="Times New Roman" panose="02020603050405020304" pitchFamily="18" charset="0"/>
              </a:rPr>
              <a:t>.</a:t>
            </a:r>
            <a:endParaRPr lang="en-JP" sz="2000" dirty="0">
              <a:latin typeface="Meiryo" panose="020B0604030504040204" pitchFamily="34" charset="-128"/>
              <a:ea typeface="Meiryo" panose="020B0604030504040204" pitchFamily="34" charset="-128"/>
              <a:cs typeface="Times New Roman" panose="02020603050405020304" pitchFamily="18" charset="0"/>
            </a:endParaRPr>
          </a:p>
        </p:txBody>
      </p:sp>
      <p:sp>
        <p:nvSpPr>
          <p:cNvPr id="7" name="Slide Number Placeholder 6">
            <a:extLst>
              <a:ext uri="{FF2B5EF4-FFF2-40B4-BE49-F238E27FC236}">
                <a16:creationId xmlns:a16="http://schemas.microsoft.com/office/drawing/2014/main" id="{88B7060B-9402-1365-5D99-FE33B433D23D}"/>
              </a:ext>
            </a:extLst>
          </p:cNvPr>
          <p:cNvSpPr>
            <a:spLocks noGrp="1"/>
          </p:cNvSpPr>
          <p:nvPr>
            <p:ph type="sldNum" sz="quarter" idx="12"/>
          </p:nvPr>
        </p:nvSpPr>
        <p:spPr/>
        <p:txBody>
          <a:bodyPr/>
          <a:lstStyle/>
          <a:p>
            <a:fld id="{B37FC626-4DBB-F044-A20D-82FDEAFAFBD6}" type="slidenum">
              <a:rPr lang="en-JP" smtClean="0"/>
              <a:t>2</a:t>
            </a:fld>
            <a:endParaRPr lang="en-JP" dirty="0"/>
          </a:p>
        </p:txBody>
      </p:sp>
      <p:sp>
        <p:nvSpPr>
          <p:cNvPr id="10" name="TextBox 9">
            <a:extLst>
              <a:ext uri="{FF2B5EF4-FFF2-40B4-BE49-F238E27FC236}">
                <a16:creationId xmlns:a16="http://schemas.microsoft.com/office/drawing/2014/main" id="{B01B9870-892D-E6D4-7990-57DEB0478771}"/>
              </a:ext>
            </a:extLst>
          </p:cNvPr>
          <p:cNvSpPr txBox="1"/>
          <p:nvPr/>
        </p:nvSpPr>
        <p:spPr>
          <a:xfrm>
            <a:off x="228600" y="6075145"/>
            <a:ext cx="5954486" cy="553998"/>
          </a:xfrm>
          <a:prstGeom prst="rect">
            <a:avLst/>
          </a:prstGeom>
          <a:noFill/>
        </p:spPr>
        <p:txBody>
          <a:bodyPr wrap="square">
            <a:spAutoFit/>
          </a:bodyPr>
          <a:lstStyle/>
          <a:p>
            <a:r>
              <a:rPr lang="en-JP" sz="1400" dirty="0">
                <a:latin typeface="Times New Roman" panose="02020603050405020304" pitchFamily="18" charset="0"/>
                <a:cs typeface="Times New Roman" panose="02020603050405020304" pitchFamily="18" charset="0"/>
              </a:rPr>
              <a:t>https://doubleoctopus.com/security-wiki/digital-certificates/public-key-infrastructure</a:t>
            </a:r>
            <a:r>
              <a:rPr lang="en-JP" sz="1600" dirty="0">
                <a:latin typeface="Times New Roman" panose="02020603050405020304" pitchFamily="18" charset="0"/>
                <a:cs typeface="Times New Roman" panose="02020603050405020304" pitchFamily="18" charset="0"/>
              </a:rPr>
              <a:t>/</a:t>
            </a:r>
          </a:p>
        </p:txBody>
      </p:sp>
      <p:sp>
        <p:nvSpPr>
          <p:cNvPr id="12" name="TextBox 11">
            <a:extLst>
              <a:ext uri="{FF2B5EF4-FFF2-40B4-BE49-F238E27FC236}">
                <a16:creationId xmlns:a16="http://schemas.microsoft.com/office/drawing/2014/main" id="{82E162F6-7868-C394-DCE7-546C8B0E79D7}"/>
              </a:ext>
            </a:extLst>
          </p:cNvPr>
          <p:cNvSpPr txBox="1"/>
          <p:nvPr/>
        </p:nvSpPr>
        <p:spPr>
          <a:xfrm>
            <a:off x="108857" y="90357"/>
            <a:ext cx="4572000" cy="400110"/>
          </a:xfrm>
          <a:prstGeom prst="rect">
            <a:avLst/>
          </a:prstGeom>
          <a:noFill/>
        </p:spPr>
        <p:txBody>
          <a:bodyPr wrap="square">
            <a:spAutoFit/>
          </a:bodyPr>
          <a:lstStyle/>
          <a:p>
            <a:pPr marL="342900" indent="-342900">
              <a:buFont typeface="Wingdings" pitchFamily="2" charset="2"/>
              <a:buChar char="§"/>
            </a:pPr>
            <a:r>
              <a:rPr lang="en-US" sz="2000" b="1" dirty="0">
                <a:solidFill>
                  <a:srgbClr val="C00000"/>
                </a:solidFill>
                <a:latin typeface="Meiryo" panose="020B0604030504040204" pitchFamily="34" charset="-128"/>
                <a:ea typeface="Meiryo" panose="020B0604030504040204" pitchFamily="34" charset="-128"/>
                <a:cs typeface="Times New Roman" panose="02020603050405020304" pitchFamily="18" charset="0"/>
              </a:rPr>
              <a:t>PKI</a:t>
            </a:r>
            <a:r>
              <a:rPr lang="ja-JP" altLang="en-US" sz="2000" b="1">
                <a:solidFill>
                  <a:srgbClr val="C00000"/>
                </a:solidFill>
                <a:latin typeface="Meiryo" panose="020B0604030504040204" pitchFamily="34" charset="-128"/>
                <a:ea typeface="Meiryo" panose="020B0604030504040204" pitchFamily="34" charset="-128"/>
                <a:cs typeface="Times New Roman" panose="02020603050405020304" pitchFamily="18" charset="0"/>
              </a:rPr>
              <a:t>とデータ暗号化の関係</a:t>
            </a:r>
            <a:endParaRPr lang="en-US" altLang="ja-JP" sz="2000" b="1" dirty="0">
              <a:solidFill>
                <a:srgbClr val="C00000"/>
              </a:solidFill>
              <a:latin typeface="Meiryo" panose="020B0604030504040204" pitchFamily="34" charset="-128"/>
              <a:ea typeface="Meiryo" panose="020B0604030504040204" pitchFamily="34" charset="-128"/>
              <a:cs typeface="Times New Roman" panose="02020603050405020304" pitchFamily="18" charset="0"/>
            </a:endParaRPr>
          </a:p>
        </p:txBody>
      </p:sp>
    </p:spTree>
    <p:extLst>
      <p:ext uri="{BB962C8B-B14F-4D97-AF65-F5344CB8AC3E}">
        <p14:creationId xmlns:p14="http://schemas.microsoft.com/office/powerpoint/2010/main" val="23374255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a:extLst>
              <a:ext uri="{FF2B5EF4-FFF2-40B4-BE49-F238E27FC236}">
                <a16:creationId xmlns:a16="http://schemas.microsoft.com/office/drawing/2014/main" id="{B415DA4B-8C42-C904-75A2-26035837C59E}"/>
              </a:ext>
            </a:extLst>
          </p:cNvPr>
          <p:cNvSpPr/>
          <p:nvPr/>
        </p:nvSpPr>
        <p:spPr>
          <a:xfrm>
            <a:off x="375590" y="1600200"/>
            <a:ext cx="4027714" cy="2252668"/>
          </a:xfrm>
          <a:prstGeom prst="round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600">
                <a:solidFill>
                  <a:srgbClr val="C00000"/>
                </a:solidFill>
                <a:latin typeface="Meiryo" panose="020B0604030504040204" pitchFamily="34" charset="-128"/>
                <a:ea typeface="Meiryo" panose="020B0604030504040204" pitchFamily="34" charset="-128"/>
              </a:rPr>
              <a:t>認証局（</a:t>
            </a:r>
            <a:r>
              <a:rPr lang="en-US" sz="1600" dirty="0">
                <a:solidFill>
                  <a:srgbClr val="C00000"/>
                </a:solidFill>
                <a:latin typeface="Meiryo" panose="020B0604030504040204" pitchFamily="34" charset="-128"/>
                <a:ea typeface="Meiryo" panose="020B0604030504040204" pitchFamily="34" charset="-128"/>
              </a:rPr>
              <a:t>CA：Certificate Authority）</a:t>
            </a:r>
            <a:endParaRPr lang="mn-MN" sz="1600" dirty="0">
              <a:solidFill>
                <a:srgbClr val="C00000"/>
              </a:solidFill>
              <a:latin typeface="Meiryo" panose="020B0604030504040204" pitchFamily="34" charset="-128"/>
              <a:ea typeface="Meiryo" panose="020B0604030504040204" pitchFamily="34" charset="-128"/>
            </a:endParaRPr>
          </a:p>
          <a:p>
            <a:pPr algn="ctr"/>
            <a:endParaRPr lang="en-US" sz="1600" dirty="0">
              <a:solidFill>
                <a:srgbClr val="C00000"/>
              </a:solidFill>
              <a:latin typeface="Meiryo" panose="020B0604030504040204" pitchFamily="34" charset="-128"/>
              <a:ea typeface="Meiryo" panose="020B0604030504040204" pitchFamily="34" charset="-128"/>
            </a:endParaRPr>
          </a:p>
          <a:p>
            <a:pPr marL="214313" indent="-214313">
              <a:buFont typeface="Arial" panose="020B0604020202020204" pitchFamily="34" charset="0"/>
              <a:buChar char="•"/>
            </a:pPr>
            <a:r>
              <a:rPr lang="ja-JP" altLang="en-US" sz="1600">
                <a:latin typeface="Meiryo" panose="020B0604030504040204" pitchFamily="34" charset="-128"/>
                <a:ea typeface="Meiryo" panose="020B0604030504040204" pitchFamily="34" charset="-128"/>
              </a:rPr>
              <a:t>証明書を発行・管理する信頼された第三者機関</a:t>
            </a:r>
          </a:p>
          <a:p>
            <a:pPr marL="214313" indent="-214313">
              <a:buFont typeface="Arial" panose="020B0604020202020204" pitchFamily="34" charset="0"/>
              <a:buChar char="•"/>
            </a:pPr>
            <a:r>
              <a:rPr lang="ja-JP" altLang="en-US" sz="1600">
                <a:latin typeface="Meiryo" panose="020B0604030504040204" pitchFamily="34" charset="-128"/>
                <a:ea typeface="Meiryo" panose="020B0604030504040204" pitchFamily="34" charset="-128"/>
              </a:rPr>
              <a:t>サーバやユーザの公開鍵が正当であることを保証</a:t>
            </a:r>
          </a:p>
          <a:p>
            <a:pPr marL="214313" indent="-214313">
              <a:buFont typeface="Arial" panose="020B0604020202020204" pitchFamily="34" charset="0"/>
              <a:buChar char="•"/>
            </a:pPr>
            <a:r>
              <a:rPr lang="ja-JP" altLang="en-US" sz="1600">
                <a:latin typeface="Meiryo" panose="020B0604030504040204" pitchFamily="34" charset="-128"/>
                <a:ea typeface="Meiryo" panose="020B0604030504040204" pitchFamily="34" charset="-128"/>
              </a:rPr>
              <a:t>秘密鍵を用いて証明書に電子署名を行う</a:t>
            </a:r>
            <a:endParaRPr lang="en-JP" sz="1600" dirty="0">
              <a:latin typeface="Meiryo" panose="020B0604030504040204" pitchFamily="34" charset="-128"/>
              <a:ea typeface="Meiryo" panose="020B0604030504040204" pitchFamily="34" charset="-128"/>
            </a:endParaRPr>
          </a:p>
        </p:txBody>
      </p:sp>
      <p:sp>
        <p:nvSpPr>
          <p:cNvPr id="10" name="Rounded Rectangle 9">
            <a:extLst>
              <a:ext uri="{FF2B5EF4-FFF2-40B4-BE49-F238E27FC236}">
                <a16:creationId xmlns:a16="http://schemas.microsoft.com/office/drawing/2014/main" id="{625900E2-16A5-7BC8-2634-74212AAD1C30}"/>
              </a:ext>
            </a:extLst>
          </p:cNvPr>
          <p:cNvSpPr/>
          <p:nvPr/>
        </p:nvSpPr>
        <p:spPr>
          <a:xfrm>
            <a:off x="4713514" y="1600200"/>
            <a:ext cx="4027714" cy="2252668"/>
          </a:xfrm>
          <a:prstGeom prst="roundRect">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600">
                <a:solidFill>
                  <a:srgbClr val="C00000"/>
                </a:solidFill>
                <a:latin typeface="Meiryo" panose="020B0604030504040204" pitchFamily="34" charset="-128"/>
                <a:ea typeface="Meiryo" panose="020B0604030504040204" pitchFamily="34" charset="-128"/>
              </a:rPr>
              <a:t>サーバ証明書（</a:t>
            </a:r>
            <a:r>
              <a:rPr lang="en-US" altLang="ja-JP" sz="1600" dirty="0">
                <a:solidFill>
                  <a:srgbClr val="C00000"/>
                </a:solidFill>
                <a:latin typeface="Meiryo" panose="020B0604030504040204" pitchFamily="34" charset="-128"/>
                <a:ea typeface="Meiryo" panose="020B0604030504040204" pitchFamily="34" charset="-128"/>
              </a:rPr>
              <a:t>Server Certificate</a:t>
            </a:r>
            <a:r>
              <a:rPr lang="ja-JP" altLang="en-US" sz="1600">
                <a:latin typeface="Meiryo" panose="020B0604030504040204" pitchFamily="34" charset="-128"/>
                <a:ea typeface="Meiryo" panose="020B0604030504040204" pitchFamily="34" charset="-128"/>
              </a:rPr>
              <a:t>）</a:t>
            </a:r>
            <a:endParaRPr lang="en-US" altLang="ja-JP" sz="1600" dirty="0">
              <a:latin typeface="Meiryo" panose="020B0604030504040204" pitchFamily="34" charset="-128"/>
              <a:ea typeface="Meiryo" panose="020B0604030504040204" pitchFamily="34" charset="-128"/>
            </a:endParaRPr>
          </a:p>
          <a:p>
            <a:pPr algn="ctr"/>
            <a:endParaRPr lang="ja-JP" altLang="en-US" sz="1600">
              <a:latin typeface="Meiryo" panose="020B0604030504040204" pitchFamily="34" charset="-128"/>
              <a:ea typeface="Meiryo" panose="020B0604030504040204" pitchFamily="34" charset="-128"/>
            </a:endParaRPr>
          </a:p>
          <a:p>
            <a:pPr marL="214313" indent="-214313">
              <a:buFont typeface="Arial" panose="020B0604020202020204" pitchFamily="34" charset="0"/>
              <a:buChar char="•"/>
            </a:pPr>
            <a:r>
              <a:rPr lang="en-US" altLang="ja-JP" sz="1600" dirty="0">
                <a:latin typeface="Meiryo" panose="020B0604030504040204" pitchFamily="34" charset="-128"/>
                <a:ea typeface="Meiryo" panose="020B0604030504040204" pitchFamily="34" charset="-128"/>
              </a:rPr>
              <a:t>Web</a:t>
            </a:r>
            <a:r>
              <a:rPr lang="ja-JP" altLang="en-US" sz="1600">
                <a:latin typeface="Meiryo" panose="020B0604030504040204" pitchFamily="34" charset="-128"/>
                <a:ea typeface="Meiryo" panose="020B0604030504040204" pitchFamily="34" charset="-128"/>
              </a:rPr>
              <a:t>サーバの身元（正当性）を証明する電子証明書</a:t>
            </a:r>
          </a:p>
          <a:p>
            <a:pPr marL="214313" indent="-214313">
              <a:buFont typeface="Arial" panose="020B0604020202020204" pitchFamily="34" charset="0"/>
              <a:buChar char="•"/>
            </a:pPr>
            <a:r>
              <a:rPr lang="ja-JP" altLang="en-US" sz="1600">
                <a:latin typeface="Meiryo" panose="020B0604030504040204" pitchFamily="34" charset="-128"/>
                <a:ea typeface="Meiryo" panose="020B0604030504040204" pitchFamily="34" charset="-128"/>
              </a:rPr>
              <a:t>サーバの公開鍵とドメイン名（</a:t>
            </a:r>
            <a:r>
              <a:rPr lang="en-US" altLang="ja-JP" sz="1600" dirty="0">
                <a:latin typeface="Meiryo" panose="020B0604030504040204" pitchFamily="34" charset="-128"/>
                <a:ea typeface="Meiryo" panose="020B0604030504040204" pitchFamily="34" charset="-128"/>
              </a:rPr>
              <a:t>CN</a:t>
            </a:r>
            <a:r>
              <a:rPr lang="ja-JP" altLang="en-US" sz="1600">
                <a:latin typeface="Meiryo" panose="020B0604030504040204" pitchFamily="34" charset="-128"/>
                <a:ea typeface="Meiryo" panose="020B0604030504040204" pitchFamily="34" charset="-128"/>
              </a:rPr>
              <a:t>）を含む</a:t>
            </a:r>
          </a:p>
          <a:p>
            <a:pPr marL="214313" indent="-214313">
              <a:buFont typeface="Arial" panose="020B0604020202020204" pitchFamily="34" charset="0"/>
              <a:buChar char="•"/>
            </a:pPr>
            <a:r>
              <a:rPr lang="en-US" altLang="ja-JP" sz="1600" dirty="0">
                <a:latin typeface="Meiryo" panose="020B0604030504040204" pitchFamily="34" charset="-128"/>
                <a:ea typeface="Meiryo" panose="020B0604030504040204" pitchFamily="34" charset="-128"/>
              </a:rPr>
              <a:t>CA </a:t>
            </a:r>
            <a:r>
              <a:rPr lang="ja-JP" altLang="en-US" sz="1600">
                <a:latin typeface="Meiryo" panose="020B0604030504040204" pitchFamily="34" charset="-128"/>
                <a:ea typeface="Meiryo" panose="020B0604030504040204" pitchFamily="34" charset="-128"/>
              </a:rPr>
              <a:t>によって署名されている</a:t>
            </a:r>
            <a:endParaRPr lang="en-JP" sz="1600" dirty="0">
              <a:latin typeface="Meiryo" panose="020B0604030504040204" pitchFamily="34" charset="-128"/>
              <a:ea typeface="Meiryo" panose="020B0604030504040204" pitchFamily="34" charset="-128"/>
            </a:endParaRPr>
          </a:p>
        </p:txBody>
      </p:sp>
      <p:sp>
        <p:nvSpPr>
          <p:cNvPr id="11" name="Rounded Rectangle 10">
            <a:extLst>
              <a:ext uri="{FF2B5EF4-FFF2-40B4-BE49-F238E27FC236}">
                <a16:creationId xmlns:a16="http://schemas.microsoft.com/office/drawing/2014/main" id="{B1BC9AE6-BFE7-5988-DD62-FF86CA38C697}"/>
              </a:ext>
            </a:extLst>
          </p:cNvPr>
          <p:cNvSpPr/>
          <p:nvPr/>
        </p:nvSpPr>
        <p:spPr>
          <a:xfrm>
            <a:off x="1774436" y="4403337"/>
            <a:ext cx="5257736" cy="1708925"/>
          </a:xfrm>
          <a:prstGeom prst="roundRect">
            <a:avLst/>
          </a:prstGeom>
          <a:solidFill>
            <a:schemeClr val="accent4">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600">
                <a:solidFill>
                  <a:srgbClr val="C00000"/>
                </a:solidFill>
                <a:latin typeface="Meiryo" panose="020B0604030504040204" pitchFamily="34" charset="-128"/>
                <a:ea typeface="Meiryo" panose="020B0604030504040204" pitchFamily="34" charset="-128"/>
              </a:rPr>
              <a:t>公開鍵・秘密鍵（</a:t>
            </a:r>
            <a:r>
              <a:rPr lang="en-US" altLang="ja-JP" sz="1600" dirty="0">
                <a:solidFill>
                  <a:srgbClr val="C00000"/>
                </a:solidFill>
                <a:latin typeface="Meiryo" panose="020B0604030504040204" pitchFamily="34" charset="-128"/>
                <a:ea typeface="Meiryo" panose="020B0604030504040204" pitchFamily="34" charset="-128"/>
              </a:rPr>
              <a:t>Public / Private Key</a:t>
            </a:r>
            <a:r>
              <a:rPr lang="ja-JP" altLang="en-US" sz="1600">
                <a:solidFill>
                  <a:srgbClr val="C00000"/>
                </a:solidFill>
                <a:latin typeface="Meiryo" panose="020B0604030504040204" pitchFamily="34" charset="-128"/>
                <a:ea typeface="Meiryo" panose="020B0604030504040204" pitchFamily="34" charset="-128"/>
              </a:rPr>
              <a:t>）</a:t>
            </a:r>
            <a:endParaRPr lang="mn-MN" altLang="ja-JP" sz="1600" dirty="0">
              <a:solidFill>
                <a:srgbClr val="C00000"/>
              </a:solidFill>
              <a:latin typeface="Meiryo" panose="020B0604030504040204" pitchFamily="34" charset="-128"/>
              <a:ea typeface="Meiryo" panose="020B0604030504040204" pitchFamily="34" charset="-128"/>
            </a:endParaRPr>
          </a:p>
          <a:p>
            <a:endParaRPr lang="ja-JP" altLang="en-US" sz="1600">
              <a:solidFill>
                <a:srgbClr val="C00000"/>
              </a:solidFill>
              <a:latin typeface="Meiryo" panose="020B0604030504040204" pitchFamily="34" charset="-128"/>
              <a:ea typeface="Meiryo" panose="020B0604030504040204" pitchFamily="34" charset="-128"/>
            </a:endParaRPr>
          </a:p>
          <a:p>
            <a:pPr marL="214313" indent="-214313">
              <a:buFont typeface="Arial" panose="020B0604020202020204" pitchFamily="34" charset="0"/>
              <a:buChar char="•"/>
            </a:pPr>
            <a:r>
              <a:rPr lang="ja-JP" altLang="en-US" sz="1600">
                <a:latin typeface="Meiryo" panose="020B0604030504040204" pitchFamily="34" charset="-128"/>
                <a:ea typeface="Meiryo" panose="020B0604030504040204" pitchFamily="34" charset="-128"/>
              </a:rPr>
              <a:t>公開鍵：暗号化や署名検証に使用（誰でも取得可能）</a:t>
            </a:r>
          </a:p>
          <a:p>
            <a:pPr marL="214313" indent="-214313">
              <a:buFont typeface="Arial" panose="020B0604020202020204" pitchFamily="34" charset="0"/>
              <a:buChar char="•"/>
            </a:pPr>
            <a:r>
              <a:rPr lang="ja-JP" altLang="en-US" sz="1600">
                <a:latin typeface="Meiryo" panose="020B0604030504040204" pitchFamily="34" charset="-128"/>
                <a:ea typeface="Meiryo" panose="020B0604030504040204" pitchFamily="34" charset="-128"/>
              </a:rPr>
              <a:t>秘密鍵：復号や電子署名に使用（所有者のみ保持</a:t>
            </a:r>
            <a:endParaRPr lang="en-JP" sz="1600" dirty="0">
              <a:latin typeface="Meiryo" panose="020B0604030504040204" pitchFamily="34" charset="-128"/>
              <a:ea typeface="Meiryo" panose="020B0604030504040204" pitchFamily="34" charset="-128"/>
            </a:endParaRPr>
          </a:p>
        </p:txBody>
      </p:sp>
      <p:sp>
        <p:nvSpPr>
          <p:cNvPr id="14" name="TextBox 13">
            <a:extLst>
              <a:ext uri="{FF2B5EF4-FFF2-40B4-BE49-F238E27FC236}">
                <a16:creationId xmlns:a16="http://schemas.microsoft.com/office/drawing/2014/main" id="{9E81DE51-090E-2DBE-CE82-63FACACAFBB7}"/>
              </a:ext>
            </a:extLst>
          </p:cNvPr>
          <p:cNvSpPr txBox="1"/>
          <p:nvPr/>
        </p:nvSpPr>
        <p:spPr>
          <a:xfrm>
            <a:off x="212302" y="545683"/>
            <a:ext cx="5883697" cy="400110"/>
          </a:xfrm>
          <a:prstGeom prst="rect">
            <a:avLst/>
          </a:prstGeom>
          <a:noFill/>
        </p:spPr>
        <p:txBody>
          <a:bodyPr wrap="square">
            <a:spAutoFit/>
          </a:bodyPr>
          <a:lstStyle/>
          <a:p>
            <a:pPr marL="342900" indent="-342900">
              <a:buFont typeface="Wingdings" pitchFamily="2" charset="2"/>
              <a:buChar char="§"/>
            </a:pPr>
            <a:r>
              <a:rPr lang="en-JP" sz="2000" b="1" dirty="0">
                <a:solidFill>
                  <a:srgbClr val="C00000"/>
                </a:solidFill>
                <a:latin typeface="Meiryo" panose="020B0604030504040204" pitchFamily="34" charset="-128"/>
                <a:ea typeface="Meiryo" panose="020B0604030504040204" pitchFamily="34" charset="-128"/>
              </a:rPr>
              <a:t>PKIを構成する要素とその役割</a:t>
            </a:r>
            <a:r>
              <a:rPr lang="mn-MN" sz="2000" b="1" dirty="0">
                <a:solidFill>
                  <a:srgbClr val="C00000"/>
                </a:solidFill>
                <a:latin typeface="Meiryo" panose="020B0604030504040204" pitchFamily="34" charset="-128"/>
                <a:ea typeface="Meiryo" panose="020B0604030504040204" pitchFamily="34" charset="-128"/>
              </a:rPr>
              <a:t> </a:t>
            </a:r>
            <a:r>
              <a:rPr lang="en-US" sz="2000" b="1" dirty="0">
                <a:solidFill>
                  <a:srgbClr val="C00000"/>
                </a:solidFill>
                <a:latin typeface="Meiryo" panose="020B0604030504040204" pitchFamily="34" charset="-128"/>
                <a:ea typeface="Meiryo" panose="020B0604030504040204" pitchFamily="34" charset="-128"/>
              </a:rPr>
              <a:t>1/2</a:t>
            </a:r>
            <a:endParaRPr lang="en-JP" sz="2000" b="1" dirty="0">
              <a:solidFill>
                <a:srgbClr val="C00000"/>
              </a:solidFill>
              <a:latin typeface="Meiryo" panose="020B0604030504040204" pitchFamily="34" charset="-128"/>
              <a:ea typeface="Meiryo" panose="020B0604030504040204" pitchFamily="34" charset="-128"/>
            </a:endParaRPr>
          </a:p>
        </p:txBody>
      </p:sp>
      <p:sp>
        <p:nvSpPr>
          <p:cNvPr id="15" name="Slide Number Placeholder 14">
            <a:extLst>
              <a:ext uri="{FF2B5EF4-FFF2-40B4-BE49-F238E27FC236}">
                <a16:creationId xmlns:a16="http://schemas.microsoft.com/office/drawing/2014/main" id="{D1123D14-C660-1230-9CFF-ABE832627FC8}"/>
              </a:ext>
            </a:extLst>
          </p:cNvPr>
          <p:cNvSpPr>
            <a:spLocks noGrp="1"/>
          </p:cNvSpPr>
          <p:nvPr>
            <p:ph type="sldNum" sz="quarter" idx="12"/>
          </p:nvPr>
        </p:nvSpPr>
        <p:spPr/>
        <p:txBody>
          <a:bodyPr/>
          <a:lstStyle/>
          <a:p>
            <a:fld id="{B37FC626-4DBB-F044-A20D-82FDEAFAFBD6}" type="slidenum">
              <a:rPr lang="en-JP" smtClean="0"/>
              <a:t>3</a:t>
            </a:fld>
            <a:endParaRPr lang="en-JP"/>
          </a:p>
        </p:txBody>
      </p:sp>
    </p:spTree>
    <p:extLst>
      <p:ext uri="{BB962C8B-B14F-4D97-AF65-F5344CB8AC3E}">
        <p14:creationId xmlns:p14="http://schemas.microsoft.com/office/powerpoint/2010/main" val="4808932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F8B3F59D-31DE-5801-4791-88432CDA5636}"/>
              </a:ext>
            </a:extLst>
          </p:cNvPr>
          <p:cNvSpPr/>
          <p:nvPr/>
        </p:nvSpPr>
        <p:spPr>
          <a:xfrm>
            <a:off x="473528" y="1518911"/>
            <a:ext cx="3943350" cy="3347003"/>
          </a:xfrm>
          <a:prstGeom prst="round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600">
                <a:solidFill>
                  <a:srgbClr val="C00000"/>
                </a:solidFill>
                <a:latin typeface="Meiryo" panose="020B0604030504040204" pitchFamily="34" charset="-128"/>
                <a:ea typeface="Meiryo" panose="020B0604030504040204" pitchFamily="34" charset="-128"/>
              </a:rPr>
              <a:t>ルート証明書</a:t>
            </a:r>
            <a:endParaRPr lang="en-US" altLang="ja-JP" sz="1600" dirty="0">
              <a:solidFill>
                <a:srgbClr val="C00000"/>
              </a:solidFill>
              <a:latin typeface="Meiryo" panose="020B0604030504040204" pitchFamily="34" charset="-128"/>
              <a:ea typeface="Meiryo" panose="020B0604030504040204" pitchFamily="34" charset="-128"/>
            </a:endParaRPr>
          </a:p>
          <a:p>
            <a:pPr algn="ctr"/>
            <a:r>
              <a:rPr lang="ja-JP" altLang="en-US" sz="1600">
                <a:solidFill>
                  <a:srgbClr val="C00000"/>
                </a:solidFill>
                <a:latin typeface="Meiryo" panose="020B0604030504040204" pitchFamily="34" charset="-128"/>
                <a:ea typeface="Meiryo" panose="020B0604030504040204" pitchFamily="34" charset="-128"/>
              </a:rPr>
              <a:t>（</a:t>
            </a:r>
            <a:r>
              <a:rPr lang="en-US" sz="1600" dirty="0">
                <a:solidFill>
                  <a:srgbClr val="C00000"/>
                </a:solidFill>
                <a:latin typeface="Meiryo" panose="020B0604030504040204" pitchFamily="34" charset="-128"/>
                <a:ea typeface="Meiryo" panose="020B0604030504040204" pitchFamily="34" charset="-128"/>
              </a:rPr>
              <a:t>Root Certificate）</a:t>
            </a:r>
          </a:p>
          <a:p>
            <a:pPr algn="ctr"/>
            <a:endParaRPr lang="en-US" sz="1600" dirty="0">
              <a:solidFill>
                <a:srgbClr val="C00000"/>
              </a:solidFill>
              <a:latin typeface="Meiryo" panose="020B0604030504040204" pitchFamily="34" charset="-128"/>
              <a:ea typeface="Meiryo" panose="020B0604030504040204" pitchFamily="34" charset="-128"/>
            </a:endParaRPr>
          </a:p>
          <a:p>
            <a:pPr marL="214313" indent="-214313">
              <a:buFont typeface="Arial" panose="020B0604020202020204" pitchFamily="34" charset="0"/>
              <a:buChar char="•"/>
            </a:pPr>
            <a:r>
              <a:rPr lang="en-US" sz="1600" dirty="0">
                <a:latin typeface="Meiryo" panose="020B0604030504040204" pitchFamily="34" charset="-128"/>
                <a:ea typeface="Meiryo" panose="020B0604030504040204" pitchFamily="34" charset="-128"/>
              </a:rPr>
              <a:t>CA</a:t>
            </a:r>
            <a:r>
              <a:rPr lang="ja-JP" altLang="en-US" sz="1600">
                <a:latin typeface="Meiryo" panose="020B0604030504040204" pitchFamily="34" charset="-128"/>
                <a:ea typeface="Meiryo" panose="020B0604030504040204" pitchFamily="34" charset="-128"/>
              </a:rPr>
              <a:t>自身を証明する最上位の証明書</a:t>
            </a:r>
            <a:endParaRPr lang="en-US" altLang="ja-JP" sz="1600" dirty="0">
              <a:latin typeface="Meiryo" panose="020B0604030504040204" pitchFamily="34" charset="-128"/>
              <a:ea typeface="Meiryo" panose="020B0604030504040204" pitchFamily="34" charset="-128"/>
            </a:endParaRPr>
          </a:p>
          <a:p>
            <a:endParaRPr lang="ja-JP" altLang="en-US" sz="1600">
              <a:latin typeface="Meiryo" panose="020B0604030504040204" pitchFamily="34" charset="-128"/>
              <a:ea typeface="Meiryo" panose="020B0604030504040204" pitchFamily="34" charset="-128"/>
            </a:endParaRPr>
          </a:p>
          <a:p>
            <a:pPr marL="214313" indent="-214313">
              <a:buFont typeface="Arial" panose="020B0604020202020204" pitchFamily="34" charset="0"/>
              <a:buChar char="•"/>
            </a:pPr>
            <a:r>
              <a:rPr lang="en-US" sz="1600" dirty="0">
                <a:latin typeface="Meiryo" panose="020B0604030504040204" pitchFamily="34" charset="-128"/>
                <a:ea typeface="Meiryo" panose="020B0604030504040204" pitchFamily="34" charset="-128"/>
              </a:rPr>
              <a:t>OS</a:t>
            </a:r>
            <a:r>
              <a:rPr lang="ja-JP" altLang="en-US" sz="1600">
                <a:latin typeface="Meiryo" panose="020B0604030504040204" pitchFamily="34" charset="-128"/>
                <a:ea typeface="Meiryo" panose="020B0604030504040204" pitchFamily="34" charset="-128"/>
              </a:rPr>
              <a:t>や</a:t>
            </a:r>
            <a:r>
              <a:rPr lang="en-US" sz="1600" dirty="0">
                <a:latin typeface="Meiryo" panose="020B0604030504040204" pitchFamily="34" charset="-128"/>
                <a:ea typeface="Meiryo" panose="020B0604030504040204" pitchFamily="34" charset="-128"/>
              </a:rPr>
              <a:t>Web</a:t>
            </a:r>
            <a:r>
              <a:rPr lang="ja-JP" altLang="en-US" sz="1600">
                <a:latin typeface="Meiryo" panose="020B0604030504040204" pitchFamily="34" charset="-128"/>
                <a:ea typeface="Meiryo" panose="020B0604030504040204" pitchFamily="34" charset="-128"/>
              </a:rPr>
              <a:t>ブラウザの信頼ストアに登録されている</a:t>
            </a:r>
            <a:r>
              <a:rPr lang="en-US" altLang="ja-JP" sz="1600" dirty="0">
                <a:latin typeface="Meiryo" panose="020B0604030504040204" pitchFamily="34" charset="-128"/>
                <a:ea typeface="Meiryo" panose="020B0604030504040204" pitchFamily="34" charset="-128"/>
              </a:rPr>
              <a:t>.</a:t>
            </a:r>
          </a:p>
          <a:p>
            <a:pPr marL="214313" indent="-214313">
              <a:buFont typeface="Arial" panose="020B0604020202020204" pitchFamily="34" charset="0"/>
              <a:buChar char="•"/>
            </a:pPr>
            <a:endParaRPr lang="ja-JP" altLang="en-US" sz="1600">
              <a:latin typeface="Meiryo" panose="020B0604030504040204" pitchFamily="34" charset="-128"/>
              <a:ea typeface="Meiryo" panose="020B0604030504040204" pitchFamily="34" charset="-128"/>
            </a:endParaRPr>
          </a:p>
          <a:p>
            <a:pPr marL="214313" indent="-214313">
              <a:buFont typeface="Arial" panose="020B0604020202020204" pitchFamily="34" charset="0"/>
              <a:buChar char="•"/>
            </a:pPr>
            <a:r>
              <a:rPr lang="ja-JP" altLang="en-US" sz="1600">
                <a:latin typeface="Meiryo" panose="020B0604030504040204" pitchFamily="34" charset="-128"/>
                <a:ea typeface="Meiryo" panose="020B0604030504040204" pitchFamily="34" charset="-128"/>
              </a:rPr>
              <a:t>証明書チェーンの起点となる</a:t>
            </a:r>
            <a:r>
              <a:rPr lang="en-US" altLang="ja-JP" sz="1600" dirty="0">
                <a:latin typeface="Meiryo" panose="020B0604030504040204" pitchFamily="34" charset="-128"/>
                <a:ea typeface="Meiryo" panose="020B0604030504040204" pitchFamily="34" charset="-128"/>
              </a:rPr>
              <a:t>.</a:t>
            </a:r>
            <a:endParaRPr lang="en-JP" sz="1600" dirty="0">
              <a:latin typeface="Meiryo" panose="020B0604030504040204" pitchFamily="34" charset="-128"/>
              <a:ea typeface="Meiryo" panose="020B0604030504040204" pitchFamily="34" charset="-128"/>
            </a:endParaRPr>
          </a:p>
        </p:txBody>
      </p:sp>
      <p:sp>
        <p:nvSpPr>
          <p:cNvPr id="5" name="Rounded Rectangle 4">
            <a:extLst>
              <a:ext uri="{FF2B5EF4-FFF2-40B4-BE49-F238E27FC236}">
                <a16:creationId xmlns:a16="http://schemas.microsoft.com/office/drawing/2014/main" id="{AB33E748-8CFC-652F-13FA-25C6FB34A760}"/>
              </a:ext>
            </a:extLst>
          </p:cNvPr>
          <p:cNvSpPr/>
          <p:nvPr/>
        </p:nvSpPr>
        <p:spPr>
          <a:xfrm>
            <a:off x="4572000" y="1518911"/>
            <a:ext cx="3943350" cy="3423203"/>
          </a:xfrm>
          <a:prstGeom prst="roundRect">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altLang="ja-JP" sz="1600" dirty="0">
                <a:solidFill>
                  <a:srgbClr val="C00000"/>
                </a:solidFill>
                <a:latin typeface="Meiryo" panose="020B0604030504040204" pitchFamily="34" charset="-128"/>
                <a:ea typeface="Meiryo" panose="020B0604030504040204" pitchFamily="34" charset="-128"/>
              </a:rPr>
              <a:t>   </a:t>
            </a:r>
            <a:r>
              <a:rPr lang="ja-JP" altLang="en-US" sz="1600">
                <a:solidFill>
                  <a:srgbClr val="C00000"/>
                </a:solidFill>
                <a:latin typeface="Meiryo" panose="020B0604030504040204" pitchFamily="34" charset="-128"/>
                <a:ea typeface="Meiryo" panose="020B0604030504040204" pitchFamily="34" charset="-128"/>
              </a:rPr>
              <a:t>証明書チェーン</a:t>
            </a:r>
            <a:endParaRPr lang="en-US" altLang="ja-JP" sz="1600" dirty="0">
              <a:solidFill>
                <a:srgbClr val="C00000"/>
              </a:solidFill>
              <a:latin typeface="Meiryo" panose="020B0604030504040204" pitchFamily="34" charset="-128"/>
              <a:ea typeface="Meiryo" panose="020B0604030504040204" pitchFamily="34" charset="-128"/>
            </a:endParaRPr>
          </a:p>
          <a:p>
            <a:pPr algn="ctr"/>
            <a:r>
              <a:rPr lang="ja-JP" altLang="en-US" sz="1600">
                <a:solidFill>
                  <a:srgbClr val="C00000"/>
                </a:solidFill>
                <a:latin typeface="Meiryo" panose="020B0604030504040204" pitchFamily="34" charset="-128"/>
                <a:ea typeface="Meiryo" panose="020B0604030504040204" pitchFamily="34" charset="-128"/>
              </a:rPr>
              <a:t>（</a:t>
            </a:r>
            <a:r>
              <a:rPr lang="en-US" altLang="ja-JP" sz="1600" dirty="0">
                <a:solidFill>
                  <a:srgbClr val="C00000"/>
                </a:solidFill>
                <a:latin typeface="Meiryo" panose="020B0604030504040204" pitchFamily="34" charset="-128"/>
                <a:ea typeface="Meiryo" panose="020B0604030504040204" pitchFamily="34" charset="-128"/>
              </a:rPr>
              <a:t>Certificate Chain</a:t>
            </a:r>
            <a:r>
              <a:rPr lang="ja-JP" altLang="en-US" sz="1600">
                <a:solidFill>
                  <a:srgbClr val="C00000"/>
                </a:solidFill>
                <a:latin typeface="Meiryo" panose="020B0604030504040204" pitchFamily="34" charset="-128"/>
                <a:ea typeface="Meiryo" panose="020B0604030504040204" pitchFamily="34" charset="-128"/>
              </a:rPr>
              <a:t>）</a:t>
            </a:r>
            <a:endParaRPr lang="en-US" altLang="ja-JP" sz="1600" dirty="0">
              <a:solidFill>
                <a:srgbClr val="C00000"/>
              </a:solidFill>
              <a:latin typeface="Meiryo" panose="020B0604030504040204" pitchFamily="34" charset="-128"/>
              <a:ea typeface="Meiryo" panose="020B0604030504040204" pitchFamily="34" charset="-128"/>
            </a:endParaRPr>
          </a:p>
          <a:p>
            <a:pPr algn="ctr"/>
            <a:endParaRPr lang="en-US" altLang="ja-JP" sz="1600" dirty="0">
              <a:solidFill>
                <a:srgbClr val="C00000"/>
              </a:solidFill>
              <a:latin typeface="Meiryo" panose="020B0604030504040204" pitchFamily="34" charset="-128"/>
              <a:ea typeface="Meiryo" panose="020B0604030504040204" pitchFamily="34" charset="-128"/>
            </a:endParaRPr>
          </a:p>
          <a:p>
            <a:pPr algn="ctr"/>
            <a:endParaRPr lang="ja-JP" altLang="en-US" sz="1600">
              <a:solidFill>
                <a:srgbClr val="C00000"/>
              </a:solidFill>
              <a:latin typeface="Meiryo" panose="020B0604030504040204" pitchFamily="34" charset="-128"/>
              <a:ea typeface="Meiryo" panose="020B0604030504040204" pitchFamily="34" charset="-128"/>
            </a:endParaRPr>
          </a:p>
          <a:p>
            <a:pPr marL="214313" indent="-214313">
              <a:buFont typeface="Arial" panose="020B0604020202020204" pitchFamily="34" charset="0"/>
              <a:buChar char="•"/>
            </a:pPr>
            <a:r>
              <a:rPr lang="ja-JP" altLang="en-US" sz="1600">
                <a:latin typeface="Meiryo" panose="020B0604030504040204" pitchFamily="34" charset="-128"/>
                <a:ea typeface="Meiryo" panose="020B0604030504040204" pitchFamily="34" charset="-128"/>
              </a:rPr>
              <a:t>サーバ証明書 → 中間</a:t>
            </a:r>
            <a:r>
              <a:rPr lang="en-US" altLang="ja-JP" sz="1600" dirty="0">
                <a:latin typeface="Meiryo" panose="020B0604030504040204" pitchFamily="34" charset="-128"/>
                <a:ea typeface="Meiryo" panose="020B0604030504040204" pitchFamily="34" charset="-128"/>
              </a:rPr>
              <a:t>CA</a:t>
            </a:r>
            <a:r>
              <a:rPr lang="ja-JP" altLang="en-US" sz="1600">
                <a:latin typeface="Meiryo" panose="020B0604030504040204" pitchFamily="34" charset="-128"/>
                <a:ea typeface="Meiryo" panose="020B0604030504040204" pitchFamily="34" charset="-128"/>
              </a:rPr>
              <a:t>証明書 → ルート証明書 の連鎖構造</a:t>
            </a:r>
            <a:endParaRPr lang="en-US" altLang="ja-JP" sz="1600" dirty="0">
              <a:latin typeface="Meiryo" panose="020B0604030504040204" pitchFamily="34" charset="-128"/>
              <a:ea typeface="Meiryo" panose="020B0604030504040204" pitchFamily="34" charset="-128"/>
            </a:endParaRPr>
          </a:p>
          <a:p>
            <a:pPr marL="214313" indent="-214313">
              <a:buFont typeface="Arial" panose="020B0604020202020204" pitchFamily="34" charset="0"/>
              <a:buChar char="•"/>
            </a:pPr>
            <a:endParaRPr lang="ja-JP" altLang="en-US" sz="1600">
              <a:latin typeface="Meiryo" panose="020B0604030504040204" pitchFamily="34" charset="-128"/>
              <a:ea typeface="Meiryo" panose="020B0604030504040204" pitchFamily="34" charset="-128"/>
            </a:endParaRPr>
          </a:p>
          <a:p>
            <a:pPr marL="214313" indent="-214313">
              <a:buFont typeface="Arial" panose="020B0604020202020204" pitchFamily="34" charset="0"/>
              <a:buChar char="•"/>
            </a:pPr>
            <a:r>
              <a:rPr lang="ja-JP" altLang="en-US" sz="1600">
                <a:latin typeface="Meiryo" panose="020B0604030504040204" pitchFamily="34" charset="-128"/>
                <a:ea typeface="Meiryo" panose="020B0604030504040204" pitchFamily="34" charset="-128"/>
              </a:rPr>
              <a:t>クライアントはチェーンを検証して信頼性を判断</a:t>
            </a:r>
            <a:endParaRPr lang="en-JP" sz="1600" dirty="0">
              <a:latin typeface="Meiryo" panose="020B0604030504040204" pitchFamily="34" charset="-128"/>
              <a:ea typeface="Meiryo" panose="020B0604030504040204" pitchFamily="34" charset="-128"/>
            </a:endParaRPr>
          </a:p>
        </p:txBody>
      </p:sp>
      <p:sp>
        <p:nvSpPr>
          <p:cNvPr id="9" name="Slide Number Placeholder 8">
            <a:extLst>
              <a:ext uri="{FF2B5EF4-FFF2-40B4-BE49-F238E27FC236}">
                <a16:creationId xmlns:a16="http://schemas.microsoft.com/office/drawing/2014/main" id="{9C7E6BE3-A55D-5ADA-D482-479ED60DE301}"/>
              </a:ext>
            </a:extLst>
          </p:cNvPr>
          <p:cNvSpPr>
            <a:spLocks noGrp="1"/>
          </p:cNvSpPr>
          <p:nvPr>
            <p:ph type="sldNum" sz="quarter" idx="12"/>
          </p:nvPr>
        </p:nvSpPr>
        <p:spPr/>
        <p:txBody>
          <a:bodyPr/>
          <a:lstStyle/>
          <a:p>
            <a:fld id="{B37FC626-4DBB-F044-A20D-82FDEAFAFBD6}" type="slidenum">
              <a:rPr lang="en-JP" smtClean="0"/>
              <a:t>4</a:t>
            </a:fld>
            <a:endParaRPr lang="en-JP"/>
          </a:p>
        </p:txBody>
      </p:sp>
      <p:sp>
        <p:nvSpPr>
          <p:cNvPr id="11" name="TextBox 10">
            <a:extLst>
              <a:ext uri="{FF2B5EF4-FFF2-40B4-BE49-F238E27FC236}">
                <a16:creationId xmlns:a16="http://schemas.microsoft.com/office/drawing/2014/main" id="{A2EFA8E0-1252-8966-15E6-280B03757B4D}"/>
              </a:ext>
            </a:extLst>
          </p:cNvPr>
          <p:cNvSpPr txBox="1"/>
          <p:nvPr/>
        </p:nvSpPr>
        <p:spPr>
          <a:xfrm>
            <a:off x="598714" y="547272"/>
            <a:ext cx="4974771" cy="400110"/>
          </a:xfrm>
          <a:prstGeom prst="rect">
            <a:avLst/>
          </a:prstGeom>
          <a:noFill/>
        </p:spPr>
        <p:txBody>
          <a:bodyPr wrap="square">
            <a:spAutoFit/>
          </a:bodyPr>
          <a:lstStyle/>
          <a:p>
            <a:pPr marL="342900" indent="-342900">
              <a:buFont typeface="Wingdings" pitchFamily="2" charset="2"/>
              <a:buChar char="§"/>
            </a:pPr>
            <a:r>
              <a:rPr lang="en-JP" sz="2000" b="1" dirty="0">
                <a:solidFill>
                  <a:srgbClr val="C00000"/>
                </a:solidFill>
                <a:latin typeface="Meiryo" panose="020B0604030504040204" pitchFamily="34" charset="-128"/>
                <a:ea typeface="Meiryo" panose="020B0604030504040204" pitchFamily="34" charset="-128"/>
              </a:rPr>
              <a:t>PKIを構成する要素とその役割</a:t>
            </a:r>
            <a:r>
              <a:rPr lang="mn-MN" sz="2000" b="1" dirty="0">
                <a:solidFill>
                  <a:srgbClr val="C00000"/>
                </a:solidFill>
                <a:latin typeface="Meiryo" panose="020B0604030504040204" pitchFamily="34" charset="-128"/>
                <a:ea typeface="Meiryo" panose="020B0604030504040204" pitchFamily="34" charset="-128"/>
              </a:rPr>
              <a:t> </a:t>
            </a:r>
            <a:r>
              <a:rPr lang="en-US" sz="2000" b="1" dirty="0">
                <a:solidFill>
                  <a:srgbClr val="C00000"/>
                </a:solidFill>
                <a:latin typeface="Meiryo" panose="020B0604030504040204" pitchFamily="34" charset="-128"/>
                <a:ea typeface="Meiryo" panose="020B0604030504040204" pitchFamily="34" charset="-128"/>
              </a:rPr>
              <a:t>2/2</a:t>
            </a:r>
            <a:endParaRPr lang="en-JP" sz="2000" b="1" dirty="0">
              <a:solidFill>
                <a:srgbClr val="C00000"/>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37974421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D840CDA-D1D7-B2B2-F86C-0C5935737B86}"/>
              </a:ext>
            </a:extLst>
          </p:cNvPr>
          <p:cNvSpPr>
            <a:spLocks noGrp="1"/>
          </p:cNvSpPr>
          <p:nvPr>
            <p:ph type="sldNum" sz="quarter" idx="12"/>
          </p:nvPr>
        </p:nvSpPr>
        <p:spPr/>
        <p:txBody>
          <a:bodyPr/>
          <a:lstStyle/>
          <a:p>
            <a:r>
              <a:rPr lang="mn-MN" dirty="0"/>
              <a:t>5</a:t>
            </a:r>
            <a:endParaRPr lang="en-JP" dirty="0"/>
          </a:p>
        </p:txBody>
      </p:sp>
      <p:sp>
        <p:nvSpPr>
          <p:cNvPr id="6" name="TextBox 5">
            <a:extLst>
              <a:ext uri="{FF2B5EF4-FFF2-40B4-BE49-F238E27FC236}">
                <a16:creationId xmlns:a16="http://schemas.microsoft.com/office/drawing/2014/main" id="{7068F242-E7BB-0F8F-D4FC-DE398BD85C8D}"/>
              </a:ext>
            </a:extLst>
          </p:cNvPr>
          <p:cNvSpPr txBox="1"/>
          <p:nvPr/>
        </p:nvSpPr>
        <p:spPr>
          <a:xfrm>
            <a:off x="379186" y="552901"/>
            <a:ext cx="8240485" cy="3200876"/>
          </a:xfrm>
          <a:prstGeom prst="rect">
            <a:avLst/>
          </a:prstGeom>
          <a:noFill/>
        </p:spPr>
        <p:txBody>
          <a:bodyPr wrap="square">
            <a:spAutoFit/>
          </a:bodyPr>
          <a:lstStyle/>
          <a:p>
            <a:r>
              <a:rPr lang="en-JP" dirty="0">
                <a:latin typeface="Meiryo" panose="020B0604030504040204" pitchFamily="34" charset="-128"/>
                <a:ea typeface="Meiryo" panose="020B0604030504040204" pitchFamily="34" charset="-128"/>
              </a:rPr>
              <a:t>TLS通信では，公開鍵暗号方式 と 共通鍵暗号方式 を通信の段階に応じて使い分けることで，安全性と処理性能の両立 を実現している。</a:t>
            </a:r>
            <a:endParaRPr lang="mn-MN" dirty="0">
              <a:latin typeface="Meiryo" panose="020B0604030504040204" pitchFamily="34" charset="-128"/>
              <a:ea typeface="Meiryo" panose="020B0604030504040204" pitchFamily="34" charset="-128"/>
            </a:endParaRPr>
          </a:p>
          <a:p>
            <a:endParaRPr lang="mn-MN" dirty="0">
              <a:solidFill>
                <a:srgbClr val="92D050"/>
              </a:solidFill>
              <a:latin typeface="Meiryo" panose="020B0604030504040204" pitchFamily="34" charset="-128"/>
              <a:ea typeface="Meiryo" panose="020B0604030504040204" pitchFamily="34" charset="-128"/>
            </a:endParaRPr>
          </a:p>
          <a:p>
            <a:pPr marL="285750" indent="-285750">
              <a:buFont typeface="Wingdings" pitchFamily="2" charset="2"/>
              <a:buChar char="Ø"/>
            </a:pPr>
            <a:r>
              <a:rPr lang="en-JP" dirty="0">
                <a:solidFill>
                  <a:srgbClr val="92D050"/>
                </a:solidFill>
                <a:latin typeface="Meiryo" panose="020B0604030504040204" pitchFamily="34" charset="-128"/>
                <a:ea typeface="Meiryo" panose="020B0604030504040204" pitchFamily="34" charset="-128"/>
              </a:rPr>
              <a:t>TLSハンドシェイク段階（公開鍵暗号の利用）</a:t>
            </a:r>
          </a:p>
          <a:p>
            <a:r>
              <a:rPr lang="en-JP" dirty="0">
                <a:latin typeface="Meiryo" panose="020B0604030504040204" pitchFamily="34" charset="-128"/>
                <a:ea typeface="Meiryo" panose="020B0604030504040204" pitchFamily="34" charset="-128"/>
              </a:rPr>
              <a:t>通信開始時の TLSハンドシェイク では，公開鍵暗号方式が用いられる。</a:t>
            </a: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クライアントは，サーバから送信された サーバ証明書 を検証</a:t>
            </a: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証明書に含まれる サーバの公開鍵 を用いて，</a:t>
            </a: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共通鍵（セッション鍵）を安全に共有</a:t>
            </a:r>
          </a:p>
          <a:p>
            <a:r>
              <a:rPr lang="en-JP" dirty="0">
                <a:latin typeface="Meiryo" panose="020B0604030504040204" pitchFamily="34" charset="-128"/>
                <a:ea typeface="Meiryo" panose="020B0604030504040204" pitchFamily="34" charset="-128"/>
              </a:rPr>
              <a:t>この段階では，RSA や ECDHE などの公開鍵暗号アルゴリズムが使用される</a:t>
            </a:r>
          </a:p>
          <a:p>
            <a:endParaRPr lang="mn-MN" sz="2000" dirty="0">
              <a:latin typeface="Meiryo" panose="020B0604030504040204" pitchFamily="34" charset="-128"/>
              <a:ea typeface="Meiryo" panose="020B0604030504040204" pitchFamily="34" charset="-128"/>
            </a:endParaRPr>
          </a:p>
          <a:p>
            <a:endParaRPr lang="en-JP" sz="2000" dirty="0">
              <a:latin typeface="Meiryo" panose="020B0604030504040204" pitchFamily="34" charset="-128"/>
              <a:ea typeface="Meiryo" panose="020B0604030504040204" pitchFamily="34" charset="-128"/>
            </a:endParaRPr>
          </a:p>
        </p:txBody>
      </p:sp>
      <p:sp>
        <p:nvSpPr>
          <p:cNvPr id="8" name="TextBox 7">
            <a:extLst>
              <a:ext uri="{FF2B5EF4-FFF2-40B4-BE49-F238E27FC236}">
                <a16:creationId xmlns:a16="http://schemas.microsoft.com/office/drawing/2014/main" id="{0356948E-9DDA-EB01-8561-180123ECF2EF}"/>
              </a:ext>
            </a:extLst>
          </p:cNvPr>
          <p:cNvSpPr txBox="1"/>
          <p:nvPr/>
        </p:nvSpPr>
        <p:spPr>
          <a:xfrm>
            <a:off x="87085" y="152791"/>
            <a:ext cx="6106885" cy="400110"/>
          </a:xfrm>
          <a:prstGeom prst="rect">
            <a:avLst/>
          </a:prstGeom>
          <a:noFill/>
        </p:spPr>
        <p:txBody>
          <a:bodyPr wrap="square">
            <a:spAutoFit/>
          </a:bodyPr>
          <a:lstStyle/>
          <a:p>
            <a:pPr marL="342900" indent="-342900">
              <a:buFont typeface="Wingdings" pitchFamily="2" charset="2"/>
              <a:buChar char="§"/>
            </a:pPr>
            <a:r>
              <a:rPr lang="en-JP" sz="2000" b="1" dirty="0">
                <a:solidFill>
                  <a:srgbClr val="C00000"/>
                </a:solidFill>
                <a:latin typeface="Meiryo" panose="020B0604030504040204" pitchFamily="34" charset="-128"/>
                <a:ea typeface="Meiryo" panose="020B0604030504040204" pitchFamily="34" charset="-128"/>
              </a:rPr>
              <a:t>TLS通信における暗号化方式の使い分け 1/2</a:t>
            </a:r>
            <a:endParaRPr lang="en-US" altLang="ja-JP" sz="2000" b="1" dirty="0">
              <a:solidFill>
                <a:srgbClr val="C00000"/>
              </a:solidFill>
              <a:latin typeface="Meiryo" panose="020B0604030504040204" pitchFamily="34" charset="-128"/>
              <a:ea typeface="Meiryo" panose="020B0604030504040204" pitchFamily="34" charset="-128"/>
              <a:cs typeface="Times New Roman" panose="02020603050405020304" pitchFamily="18" charset="0"/>
            </a:endParaRPr>
          </a:p>
        </p:txBody>
      </p:sp>
      <p:sp>
        <p:nvSpPr>
          <p:cNvPr id="12" name="TextBox 11">
            <a:extLst>
              <a:ext uri="{FF2B5EF4-FFF2-40B4-BE49-F238E27FC236}">
                <a16:creationId xmlns:a16="http://schemas.microsoft.com/office/drawing/2014/main" id="{FE3DF628-C9C9-F952-962A-B763ABDD470C}"/>
              </a:ext>
            </a:extLst>
          </p:cNvPr>
          <p:cNvSpPr txBox="1"/>
          <p:nvPr/>
        </p:nvSpPr>
        <p:spPr>
          <a:xfrm>
            <a:off x="379186" y="6445210"/>
            <a:ext cx="4572000" cy="276999"/>
          </a:xfrm>
          <a:prstGeom prst="rect">
            <a:avLst/>
          </a:prstGeom>
          <a:noFill/>
        </p:spPr>
        <p:txBody>
          <a:bodyPr wrap="square">
            <a:spAutoFit/>
          </a:bodyPr>
          <a:lstStyle/>
          <a:p>
            <a:r>
              <a:rPr lang="en-JP" sz="1200" dirty="0">
                <a:latin typeface="Times New Roman" panose="02020603050405020304" pitchFamily="18" charset="0"/>
                <a:cs typeface="Times New Roman" panose="02020603050405020304" pitchFamily="18" charset="0"/>
              </a:rPr>
              <a:t>https://itinfranote.com/ssl-handshake/</a:t>
            </a:r>
          </a:p>
        </p:txBody>
      </p:sp>
      <p:pic>
        <p:nvPicPr>
          <p:cNvPr id="13" name="Picture 12">
            <a:extLst>
              <a:ext uri="{FF2B5EF4-FFF2-40B4-BE49-F238E27FC236}">
                <a16:creationId xmlns:a16="http://schemas.microsoft.com/office/drawing/2014/main" id="{EFE7DD14-D15C-1669-F93F-E800E807C62B}"/>
              </a:ext>
            </a:extLst>
          </p:cNvPr>
          <p:cNvPicPr>
            <a:picLocks noChangeAspect="1"/>
          </p:cNvPicPr>
          <p:nvPr/>
        </p:nvPicPr>
        <p:blipFill>
          <a:blip r:embed="rId3"/>
          <a:stretch>
            <a:fillRect/>
          </a:stretch>
        </p:blipFill>
        <p:spPr>
          <a:xfrm>
            <a:off x="653141" y="3244334"/>
            <a:ext cx="7012215" cy="2576356"/>
          </a:xfrm>
          <a:prstGeom prst="rect">
            <a:avLst/>
          </a:prstGeom>
        </p:spPr>
      </p:pic>
    </p:spTree>
    <p:extLst>
      <p:ext uri="{BB962C8B-B14F-4D97-AF65-F5344CB8AC3E}">
        <p14:creationId xmlns:p14="http://schemas.microsoft.com/office/powerpoint/2010/main" val="36352730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1E77066-D283-3DF4-B0F2-97526273361E}"/>
              </a:ext>
            </a:extLst>
          </p:cNvPr>
          <p:cNvSpPr>
            <a:spLocks noGrp="1"/>
          </p:cNvSpPr>
          <p:nvPr>
            <p:ph type="sldNum" sz="quarter" idx="12"/>
          </p:nvPr>
        </p:nvSpPr>
        <p:spPr/>
        <p:txBody>
          <a:bodyPr/>
          <a:lstStyle/>
          <a:p>
            <a:r>
              <a:rPr lang="en-JP" dirty="0"/>
              <a:t>6</a:t>
            </a:r>
          </a:p>
        </p:txBody>
      </p:sp>
      <p:sp>
        <p:nvSpPr>
          <p:cNvPr id="6" name="TextBox 5">
            <a:extLst>
              <a:ext uri="{FF2B5EF4-FFF2-40B4-BE49-F238E27FC236}">
                <a16:creationId xmlns:a16="http://schemas.microsoft.com/office/drawing/2014/main" id="{3E3E629B-911B-B75D-2975-EA2F6C002C65}"/>
              </a:ext>
            </a:extLst>
          </p:cNvPr>
          <p:cNvSpPr txBox="1"/>
          <p:nvPr/>
        </p:nvSpPr>
        <p:spPr>
          <a:xfrm>
            <a:off x="326570" y="749494"/>
            <a:ext cx="8199665" cy="2308324"/>
          </a:xfrm>
          <a:prstGeom prst="rect">
            <a:avLst/>
          </a:prstGeom>
          <a:noFill/>
        </p:spPr>
        <p:txBody>
          <a:bodyPr wrap="square">
            <a:spAutoFit/>
          </a:bodyPr>
          <a:lstStyle/>
          <a:p>
            <a:pPr marL="285750" indent="-285750">
              <a:buFont typeface="Wingdings" pitchFamily="2" charset="2"/>
              <a:buChar char="Ø"/>
            </a:pPr>
            <a:r>
              <a:rPr lang="en-JP" dirty="0">
                <a:solidFill>
                  <a:srgbClr val="92D050"/>
                </a:solidFill>
                <a:latin typeface="Meiryo" panose="020B0604030504040204" pitchFamily="34" charset="-128"/>
                <a:ea typeface="Meiryo" panose="020B0604030504040204" pitchFamily="34" charset="-128"/>
              </a:rPr>
              <a:t>暗号化通信段階（共通鍵暗号の利用）</a:t>
            </a:r>
          </a:p>
          <a:p>
            <a:endParaRPr lang="en-JP" dirty="0">
              <a:latin typeface="Meiryo" panose="020B0604030504040204" pitchFamily="34" charset="-128"/>
              <a:ea typeface="Meiryo" panose="020B0604030504040204" pitchFamily="34" charset="-128"/>
            </a:endParaRPr>
          </a:p>
          <a:p>
            <a:r>
              <a:rPr lang="en-JP" dirty="0">
                <a:latin typeface="Meiryo" panose="020B0604030504040204" pitchFamily="34" charset="-128"/>
                <a:ea typeface="Meiryo" panose="020B0604030504040204" pitchFamily="34" charset="-128"/>
              </a:rPr>
              <a:t>TLSハンドシェイク完了後は，共通鍵暗号方式 によって実際のデータ通信が行われる</a:t>
            </a:r>
            <a:r>
              <a:rPr lang="mn-MN" dirty="0">
                <a:latin typeface="Meiryo" panose="020B0604030504040204" pitchFamily="34" charset="-128"/>
                <a:ea typeface="Meiryo" panose="020B0604030504040204" pitchFamily="34" charset="-128"/>
              </a:rPr>
              <a:t>.</a:t>
            </a:r>
            <a:endParaRPr lang="en-JP"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共有されたセッション鍵を用いて通信データを暗号化</a:t>
            </a: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AES などの共通鍵暗号アルゴリズムが使用される</a:t>
            </a: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共通鍵暗号は 処理速度が高速 であり，大量のデータ通信に適している</a:t>
            </a:r>
          </a:p>
          <a:p>
            <a:r>
              <a:rPr lang="en-JP" dirty="0">
                <a:latin typeface="Meiryo" panose="020B0604030504040204" pitchFamily="34" charset="-128"/>
                <a:ea typeface="Meiryo" panose="020B0604030504040204" pitchFamily="34" charset="-128"/>
              </a:rPr>
              <a:t>(HTTPS通信の本文データは，すべて共通鍵暗号で保護される</a:t>
            </a:r>
            <a:r>
              <a:rPr lang="mn-MN" dirty="0">
                <a:latin typeface="Meiryo" panose="020B0604030504040204" pitchFamily="34" charset="-128"/>
                <a:ea typeface="Meiryo" panose="020B0604030504040204" pitchFamily="34" charset="-128"/>
              </a:rPr>
              <a:t>.</a:t>
            </a:r>
            <a:r>
              <a:rPr lang="en-JP" dirty="0">
                <a:latin typeface="Meiryo" panose="020B0604030504040204" pitchFamily="34" charset="-128"/>
                <a:ea typeface="Meiryo" panose="020B0604030504040204" pitchFamily="34" charset="-128"/>
              </a:rPr>
              <a:t>)</a:t>
            </a:r>
          </a:p>
        </p:txBody>
      </p:sp>
      <p:sp>
        <p:nvSpPr>
          <p:cNvPr id="8" name="TextBox 7">
            <a:extLst>
              <a:ext uri="{FF2B5EF4-FFF2-40B4-BE49-F238E27FC236}">
                <a16:creationId xmlns:a16="http://schemas.microsoft.com/office/drawing/2014/main" id="{0AEAE57C-E9D6-C15C-B0CE-CBF39AA75260}"/>
              </a:ext>
            </a:extLst>
          </p:cNvPr>
          <p:cNvSpPr txBox="1"/>
          <p:nvPr/>
        </p:nvSpPr>
        <p:spPr>
          <a:xfrm>
            <a:off x="0" y="184314"/>
            <a:ext cx="6457950" cy="400110"/>
          </a:xfrm>
          <a:prstGeom prst="rect">
            <a:avLst/>
          </a:prstGeom>
          <a:noFill/>
        </p:spPr>
        <p:txBody>
          <a:bodyPr wrap="square">
            <a:spAutoFit/>
          </a:bodyPr>
          <a:lstStyle/>
          <a:p>
            <a:pPr marL="342900" indent="-342900">
              <a:buFont typeface="Wingdings" pitchFamily="2" charset="2"/>
              <a:buChar char="§"/>
            </a:pPr>
            <a:r>
              <a:rPr lang="en-JP" sz="2000" b="1" dirty="0">
                <a:solidFill>
                  <a:srgbClr val="C00000"/>
                </a:solidFill>
                <a:latin typeface="Meiryo" panose="020B0604030504040204" pitchFamily="34" charset="-128"/>
                <a:ea typeface="Meiryo" panose="020B0604030504040204" pitchFamily="34" charset="-128"/>
              </a:rPr>
              <a:t>TLS通信における暗号化方式の使い分け 2/2</a:t>
            </a:r>
            <a:endParaRPr lang="en-US" altLang="ja-JP" sz="2000" b="1" dirty="0">
              <a:solidFill>
                <a:srgbClr val="C00000"/>
              </a:solidFill>
              <a:latin typeface="Meiryo" panose="020B0604030504040204" pitchFamily="34" charset="-128"/>
              <a:ea typeface="Meiryo" panose="020B0604030504040204" pitchFamily="34" charset="-128"/>
              <a:cs typeface="Times New Roman" panose="02020603050405020304" pitchFamily="18" charset="0"/>
            </a:endParaRPr>
          </a:p>
        </p:txBody>
      </p:sp>
      <p:pic>
        <p:nvPicPr>
          <p:cNvPr id="10" name="Picture 9">
            <a:extLst>
              <a:ext uri="{FF2B5EF4-FFF2-40B4-BE49-F238E27FC236}">
                <a16:creationId xmlns:a16="http://schemas.microsoft.com/office/drawing/2014/main" id="{57D202A7-019B-F0C6-1F0C-3E35CA3711FF}"/>
              </a:ext>
            </a:extLst>
          </p:cNvPr>
          <p:cNvPicPr>
            <a:picLocks noChangeAspect="1"/>
          </p:cNvPicPr>
          <p:nvPr/>
        </p:nvPicPr>
        <p:blipFill>
          <a:blip r:embed="rId3"/>
          <a:stretch>
            <a:fillRect/>
          </a:stretch>
        </p:blipFill>
        <p:spPr>
          <a:xfrm>
            <a:off x="525236" y="3123517"/>
            <a:ext cx="7541078" cy="3232834"/>
          </a:xfrm>
          <a:prstGeom prst="rect">
            <a:avLst/>
          </a:prstGeom>
        </p:spPr>
      </p:pic>
      <p:sp>
        <p:nvSpPr>
          <p:cNvPr id="12" name="TextBox 11">
            <a:extLst>
              <a:ext uri="{FF2B5EF4-FFF2-40B4-BE49-F238E27FC236}">
                <a16:creationId xmlns:a16="http://schemas.microsoft.com/office/drawing/2014/main" id="{EE11B385-570B-A507-8AB6-3C1109A0F7C4}"/>
              </a:ext>
            </a:extLst>
          </p:cNvPr>
          <p:cNvSpPr txBox="1"/>
          <p:nvPr/>
        </p:nvSpPr>
        <p:spPr>
          <a:xfrm>
            <a:off x="326570" y="6437534"/>
            <a:ext cx="4593770" cy="276999"/>
          </a:xfrm>
          <a:prstGeom prst="rect">
            <a:avLst/>
          </a:prstGeom>
          <a:noFill/>
        </p:spPr>
        <p:txBody>
          <a:bodyPr wrap="square">
            <a:spAutoFit/>
          </a:bodyPr>
          <a:lstStyle/>
          <a:p>
            <a:r>
              <a:rPr lang="en-JP" sz="1200" dirty="0">
                <a:latin typeface="Times New Roman" panose="02020603050405020304" pitchFamily="18" charset="0"/>
                <a:cs typeface="Times New Roman" panose="02020603050405020304" pitchFamily="18" charset="0"/>
              </a:rPr>
              <a:t>https://itinfranote.com/ssl-handshake/</a:t>
            </a:r>
          </a:p>
        </p:txBody>
      </p:sp>
    </p:spTree>
    <p:extLst>
      <p:ext uri="{BB962C8B-B14F-4D97-AF65-F5344CB8AC3E}">
        <p14:creationId xmlns:p14="http://schemas.microsoft.com/office/powerpoint/2010/main" val="28994143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94667D8-3112-733A-9D55-431CF09A1CF2}"/>
              </a:ext>
            </a:extLst>
          </p:cNvPr>
          <p:cNvSpPr txBox="1"/>
          <p:nvPr/>
        </p:nvSpPr>
        <p:spPr>
          <a:xfrm>
            <a:off x="977176" y="810616"/>
            <a:ext cx="7598162" cy="369332"/>
          </a:xfrm>
          <a:prstGeom prst="rect">
            <a:avLst/>
          </a:prstGeom>
          <a:noFill/>
        </p:spPr>
        <p:txBody>
          <a:bodyPr wrap="square">
            <a:spAutoFit/>
          </a:bodyPr>
          <a:lstStyle/>
          <a:p>
            <a:pPr marL="342900" indent="-342900">
              <a:buFont typeface="Wingdings" pitchFamily="2" charset="2"/>
              <a:buChar char="Ø"/>
            </a:pPr>
            <a:r>
              <a:rPr lang="ja-JP" altLang="en-US">
                <a:solidFill>
                  <a:srgbClr val="92D050"/>
                </a:solidFill>
                <a:latin typeface="Meiryo" panose="020B0604030504040204" pitchFamily="34" charset="-128"/>
                <a:ea typeface="Meiryo" panose="020B0604030504040204" pitchFamily="34" charset="-128"/>
              </a:rPr>
              <a:t>システム構成</a:t>
            </a:r>
            <a:endParaRPr lang="en-JP" dirty="0">
              <a:solidFill>
                <a:srgbClr val="92D050"/>
              </a:solidFill>
              <a:latin typeface="Meiryo" panose="020B0604030504040204" pitchFamily="34" charset="-128"/>
              <a:ea typeface="Meiryo" panose="020B0604030504040204" pitchFamily="34" charset="-128"/>
            </a:endParaRPr>
          </a:p>
        </p:txBody>
      </p:sp>
      <p:sp>
        <p:nvSpPr>
          <p:cNvPr id="6" name="Rounded Rectangle 5">
            <a:extLst>
              <a:ext uri="{FF2B5EF4-FFF2-40B4-BE49-F238E27FC236}">
                <a16:creationId xmlns:a16="http://schemas.microsoft.com/office/drawing/2014/main" id="{316A2AA4-FEB1-98AD-07A6-BB6A81F27491}"/>
              </a:ext>
            </a:extLst>
          </p:cNvPr>
          <p:cNvSpPr/>
          <p:nvPr/>
        </p:nvSpPr>
        <p:spPr>
          <a:xfrm>
            <a:off x="5235756" y="1682117"/>
            <a:ext cx="3115492" cy="140099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mn-MN" sz="1350" dirty="0">
              <a:solidFill>
                <a:srgbClr val="C00000"/>
              </a:solidFill>
              <a:latin typeface="Meiryo" panose="020B0604030504040204" pitchFamily="34" charset="-128"/>
              <a:ea typeface="Meiryo" panose="020B0604030504040204" pitchFamily="34" charset="-128"/>
            </a:endParaRPr>
          </a:p>
          <a:p>
            <a:pPr algn="ctr"/>
            <a:r>
              <a:rPr lang="en-US" sz="1350" dirty="0">
                <a:solidFill>
                  <a:srgbClr val="C00000"/>
                </a:solidFill>
                <a:latin typeface="Meiryo" panose="020B0604030504040204" pitchFamily="34" charset="-128"/>
                <a:ea typeface="Meiryo" panose="020B0604030504040204" pitchFamily="34" charset="-128"/>
              </a:rPr>
              <a:t>pki.example.jp</a:t>
            </a:r>
          </a:p>
          <a:p>
            <a:pPr algn="ctr"/>
            <a:r>
              <a:rPr lang="en-US" sz="1350" dirty="0">
                <a:solidFill>
                  <a:srgbClr val="C00000"/>
                </a:solidFill>
                <a:latin typeface="Meiryo" panose="020B0604030504040204" pitchFamily="34" charset="-128"/>
                <a:ea typeface="Meiryo" panose="020B0604030504040204" pitchFamily="34" charset="-128"/>
              </a:rPr>
              <a:t>(Private Ca)</a:t>
            </a:r>
          </a:p>
          <a:p>
            <a:pPr marL="214313" indent="-214313" algn="ctr">
              <a:buFont typeface="Arial" panose="020B0604020202020204" pitchFamily="34" charset="0"/>
              <a:buChar char="•"/>
            </a:pPr>
            <a:r>
              <a:rPr lang="en-US" sz="1350" dirty="0">
                <a:latin typeface="Meiryo" panose="020B0604030504040204" pitchFamily="34" charset="-128"/>
                <a:ea typeface="Meiryo" panose="020B0604030504040204" pitchFamily="34" charset="-128"/>
              </a:rPr>
              <a:t>OpenSSL</a:t>
            </a:r>
          </a:p>
          <a:p>
            <a:pPr marL="214313" indent="-214313" algn="ctr">
              <a:buFont typeface="Arial" panose="020B0604020202020204" pitchFamily="34" charset="0"/>
              <a:buChar char="•"/>
            </a:pPr>
            <a:r>
              <a:rPr lang="en-US" sz="1350" dirty="0">
                <a:latin typeface="Meiryo" panose="020B0604030504040204" pitchFamily="34" charset="-128"/>
                <a:ea typeface="Meiryo" panose="020B0604030504040204" pitchFamily="34" charset="-128"/>
              </a:rPr>
              <a:t>CA</a:t>
            </a:r>
            <a:r>
              <a:rPr lang="ja-JP" altLang="en-US" sz="1350">
                <a:latin typeface="Meiryo" panose="020B0604030504040204" pitchFamily="34" charset="-128"/>
                <a:ea typeface="Meiryo" panose="020B0604030504040204" pitchFamily="34" charset="-128"/>
              </a:rPr>
              <a:t>秘密鍵</a:t>
            </a:r>
            <a:endParaRPr lang="en-US" altLang="ja-JP" sz="1350" dirty="0">
              <a:latin typeface="Meiryo" panose="020B0604030504040204" pitchFamily="34" charset="-128"/>
              <a:ea typeface="Meiryo" panose="020B0604030504040204" pitchFamily="34" charset="-128"/>
            </a:endParaRPr>
          </a:p>
          <a:p>
            <a:pPr marL="214313" indent="-214313" algn="ctr">
              <a:buFont typeface="Arial" panose="020B0604020202020204" pitchFamily="34" charset="0"/>
              <a:buChar char="•"/>
            </a:pPr>
            <a:r>
              <a:rPr lang="ja-JP" altLang="en-US" sz="1350">
                <a:latin typeface="Meiryo" panose="020B0604030504040204" pitchFamily="34" charset="-128"/>
                <a:ea typeface="Meiryo" panose="020B0604030504040204" pitchFamily="34" charset="-128"/>
              </a:rPr>
              <a:t>ルート証明</a:t>
            </a:r>
            <a:endParaRPr lang="en-US" altLang="ja-JP" sz="1350" dirty="0">
              <a:latin typeface="Meiryo" panose="020B0604030504040204" pitchFamily="34" charset="-128"/>
              <a:ea typeface="Meiryo" panose="020B0604030504040204" pitchFamily="34" charset="-128"/>
            </a:endParaRPr>
          </a:p>
          <a:p>
            <a:pPr marL="214313" indent="-214313" algn="ctr">
              <a:buFont typeface="Arial" panose="020B0604020202020204" pitchFamily="34" charset="0"/>
              <a:buChar char="•"/>
            </a:pPr>
            <a:r>
              <a:rPr lang="ja-JP" altLang="en-US" sz="1350">
                <a:latin typeface="Meiryo" panose="020B0604030504040204" pitchFamily="34" charset="-128"/>
                <a:ea typeface="Meiryo" panose="020B0604030504040204" pitchFamily="34" charset="-128"/>
              </a:rPr>
              <a:t>証明書</a:t>
            </a:r>
            <a:r>
              <a:rPr lang="en-US" sz="1350" dirty="0">
                <a:latin typeface="Meiryo" panose="020B0604030504040204" pitchFamily="34" charset="-128"/>
                <a:ea typeface="Meiryo" panose="020B0604030504040204" pitchFamily="34" charset="-128"/>
              </a:rPr>
              <a:t>DB</a:t>
            </a:r>
          </a:p>
          <a:p>
            <a:pPr marL="214313" indent="-214313" algn="ctr">
              <a:buFont typeface="Arial" panose="020B0604020202020204" pitchFamily="34" charset="0"/>
              <a:buChar char="•"/>
            </a:pPr>
            <a:endParaRPr lang="en-JP" sz="1350" dirty="0">
              <a:latin typeface="Meiryo" panose="020B0604030504040204" pitchFamily="34" charset="-128"/>
              <a:ea typeface="Meiryo" panose="020B0604030504040204" pitchFamily="34" charset="-128"/>
            </a:endParaRPr>
          </a:p>
        </p:txBody>
      </p:sp>
      <p:sp>
        <p:nvSpPr>
          <p:cNvPr id="7" name="Rounded Rectangle 6">
            <a:extLst>
              <a:ext uri="{FF2B5EF4-FFF2-40B4-BE49-F238E27FC236}">
                <a16:creationId xmlns:a16="http://schemas.microsoft.com/office/drawing/2014/main" id="{92AAB95C-879B-D725-3D68-5B44025492FC}"/>
              </a:ext>
            </a:extLst>
          </p:cNvPr>
          <p:cNvSpPr/>
          <p:nvPr/>
        </p:nvSpPr>
        <p:spPr>
          <a:xfrm>
            <a:off x="466997" y="1699805"/>
            <a:ext cx="3115492" cy="140099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350" dirty="0">
                <a:solidFill>
                  <a:srgbClr val="C00000"/>
                </a:solidFill>
                <a:latin typeface="Meiryo" panose="020B0604030504040204" pitchFamily="34" charset="-128"/>
                <a:ea typeface="Meiryo" panose="020B0604030504040204" pitchFamily="34" charset="-128"/>
              </a:rPr>
              <a:t> www1.example.jp</a:t>
            </a:r>
          </a:p>
          <a:p>
            <a:pPr algn="ctr"/>
            <a:r>
              <a:rPr lang="en-US" sz="1350" dirty="0">
                <a:solidFill>
                  <a:srgbClr val="C00000"/>
                </a:solidFill>
                <a:latin typeface="Meiryo" panose="020B0604030504040204" pitchFamily="34" charset="-128"/>
                <a:ea typeface="Meiryo" panose="020B0604030504040204" pitchFamily="34" charset="-128"/>
              </a:rPr>
              <a:t> (Web</a:t>
            </a:r>
            <a:r>
              <a:rPr lang="ja-JP" altLang="en-US" sz="1350">
                <a:solidFill>
                  <a:srgbClr val="C00000"/>
                </a:solidFill>
                <a:latin typeface="Meiryo" panose="020B0604030504040204" pitchFamily="34" charset="-128"/>
                <a:ea typeface="Meiryo" panose="020B0604030504040204" pitchFamily="34" charset="-128"/>
              </a:rPr>
              <a:t>サーバ</a:t>
            </a:r>
            <a:r>
              <a:rPr lang="en-US" altLang="ja-JP" sz="1350" dirty="0">
                <a:solidFill>
                  <a:srgbClr val="C00000"/>
                </a:solidFill>
                <a:latin typeface="Meiryo" panose="020B0604030504040204" pitchFamily="34" charset="-128"/>
                <a:ea typeface="Meiryo" panose="020B0604030504040204" pitchFamily="34" charset="-128"/>
              </a:rPr>
              <a:t>)</a:t>
            </a:r>
            <a:endParaRPr lang="en-US" sz="1350" dirty="0">
              <a:solidFill>
                <a:srgbClr val="C00000"/>
              </a:solidFill>
              <a:latin typeface="Meiryo" panose="020B0604030504040204" pitchFamily="34" charset="-128"/>
              <a:ea typeface="Meiryo" panose="020B0604030504040204" pitchFamily="34" charset="-128"/>
            </a:endParaRPr>
          </a:p>
          <a:p>
            <a:pPr marL="214313" indent="-214313" algn="ctr">
              <a:buFont typeface="Arial" panose="020B0604020202020204" pitchFamily="34" charset="0"/>
              <a:buChar char="•"/>
            </a:pPr>
            <a:r>
              <a:rPr lang="en-US" sz="1350" dirty="0">
                <a:latin typeface="Meiryo" panose="020B0604030504040204" pitchFamily="34" charset="-128"/>
                <a:ea typeface="Meiryo" panose="020B0604030504040204" pitchFamily="34" charset="-128"/>
              </a:rPr>
              <a:t>Apache httpd</a:t>
            </a:r>
          </a:p>
          <a:p>
            <a:pPr marL="214313" indent="-214313" algn="ctr">
              <a:buFont typeface="Arial" panose="020B0604020202020204" pitchFamily="34" charset="0"/>
              <a:buChar char="•"/>
            </a:pPr>
            <a:r>
              <a:rPr lang="ja-JP" altLang="en-US" sz="1350">
                <a:latin typeface="Meiryo" panose="020B0604030504040204" pitchFamily="34" charset="-128"/>
                <a:ea typeface="Meiryo" panose="020B0604030504040204" pitchFamily="34" charset="-128"/>
              </a:rPr>
              <a:t>サーバ証明書</a:t>
            </a:r>
            <a:endParaRPr lang="en-US" altLang="ja-JP" sz="1350" dirty="0">
              <a:latin typeface="Meiryo" panose="020B0604030504040204" pitchFamily="34" charset="-128"/>
              <a:ea typeface="Meiryo" panose="020B0604030504040204" pitchFamily="34" charset="-128"/>
            </a:endParaRPr>
          </a:p>
          <a:p>
            <a:pPr marL="214313" indent="-214313" algn="ctr">
              <a:buFont typeface="Arial" panose="020B0604020202020204" pitchFamily="34" charset="0"/>
              <a:buChar char="•"/>
            </a:pPr>
            <a:r>
              <a:rPr lang="ja-JP" altLang="en-US" sz="1350">
                <a:latin typeface="Meiryo" panose="020B0604030504040204" pitchFamily="34" charset="-128"/>
                <a:ea typeface="Meiryo" panose="020B0604030504040204" pitchFamily="34" charset="-128"/>
              </a:rPr>
              <a:t>サーバ秘密鍵</a:t>
            </a:r>
            <a:endParaRPr lang="en-JP" sz="1350" dirty="0">
              <a:latin typeface="Meiryo" panose="020B0604030504040204" pitchFamily="34" charset="-128"/>
              <a:ea typeface="Meiryo" panose="020B0604030504040204" pitchFamily="34" charset="-128"/>
            </a:endParaRPr>
          </a:p>
        </p:txBody>
      </p:sp>
      <p:sp>
        <p:nvSpPr>
          <p:cNvPr id="8" name="Rounded Rectangle 7">
            <a:extLst>
              <a:ext uri="{FF2B5EF4-FFF2-40B4-BE49-F238E27FC236}">
                <a16:creationId xmlns:a16="http://schemas.microsoft.com/office/drawing/2014/main" id="{723F219E-4BA7-915E-9055-C637A4142F86}"/>
              </a:ext>
            </a:extLst>
          </p:cNvPr>
          <p:cNvSpPr/>
          <p:nvPr/>
        </p:nvSpPr>
        <p:spPr>
          <a:xfrm>
            <a:off x="1319348" y="4193177"/>
            <a:ext cx="5799909" cy="140099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ja-JP" altLang="en-US" sz="1350">
                <a:solidFill>
                  <a:srgbClr val="C00000"/>
                </a:solidFill>
                <a:latin typeface="Meiryo" panose="020B0604030504040204" pitchFamily="34" charset="-128"/>
                <a:ea typeface="Meiryo" panose="020B0604030504040204" pitchFamily="34" charset="-128"/>
              </a:rPr>
              <a:t>クライアント </a:t>
            </a:r>
            <a:r>
              <a:rPr lang="en-US" altLang="ja-JP" sz="1350" dirty="0">
                <a:solidFill>
                  <a:srgbClr val="C00000"/>
                </a:solidFill>
                <a:latin typeface="Meiryo" panose="020B0604030504040204" pitchFamily="34" charset="-128"/>
                <a:ea typeface="Meiryo" panose="020B0604030504040204" pitchFamily="34" charset="-128"/>
              </a:rPr>
              <a:t>(</a:t>
            </a:r>
            <a:r>
              <a:rPr lang="en-US" sz="1350" dirty="0">
                <a:solidFill>
                  <a:srgbClr val="C00000"/>
                </a:solidFill>
                <a:latin typeface="Meiryo" panose="020B0604030504040204" pitchFamily="34" charset="-128"/>
                <a:ea typeface="Meiryo" panose="020B0604030504040204" pitchFamily="34" charset="-128"/>
              </a:rPr>
              <a:t>Ubuntu / Web</a:t>
            </a:r>
            <a:r>
              <a:rPr lang="ja-JP" altLang="en-US" sz="1350">
                <a:solidFill>
                  <a:srgbClr val="C00000"/>
                </a:solidFill>
                <a:latin typeface="Meiryo" panose="020B0604030504040204" pitchFamily="34" charset="-128"/>
                <a:ea typeface="Meiryo" panose="020B0604030504040204" pitchFamily="34" charset="-128"/>
              </a:rPr>
              <a:t>ブラウザ</a:t>
            </a:r>
            <a:r>
              <a:rPr lang="en-US" altLang="ja-JP" sz="1350" dirty="0">
                <a:solidFill>
                  <a:srgbClr val="C00000"/>
                </a:solidFill>
                <a:latin typeface="Meiryo" panose="020B0604030504040204" pitchFamily="34" charset="-128"/>
                <a:ea typeface="Meiryo" panose="020B0604030504040204" pitchFamily="34" charset="-128"/>
              </a:rPr>
              <a:t>) </a:t>
            </a:r>
          </a:p>
          <a:p>
            <a:pPr marL="214313" indent="-214313" algn="ctr">
              <a:buFont typeface="Arial" panose="020B0604020202020204" pitchFamily="34" charset="0"/>
              <a:buChar char="•"/>
            </a:pPr>
            <a:r>
              <a:rPr lang="en-US" sz="1350" dirty="0">
                <a:latin typeface="Meiryo" panose="020B0604030504040204" pitchFamily="34" charset="-128"/>
                <a:ea typeface="Meiryo" panose="020B0604030504040204" pitchFamily="34" charset="-128"/>
              </a:rPr>
              <a:t>CA</a:t>
            </a:r>
            <a:r>
              <a:rPr lang="ja-JP" altLang="en-US" sz="1350">
                <a:latin typeface="Meiryo" panose="020B0604030504040204" pitchFamily="34" charset="-128"/>
                <a:ea typeface="Meiryo" panose="020B0604030504040204" pitchFamily="34" charset="-128"/>
              </a:rPr>
              <a:t>証明書を信頼ストアにインポート </a:t>
            </a:r>
            <a:endParaRPr lang="en-US" altLang="ja-JP" sz="1350" dirty="0">
              <a:latin typeface="Meiryo" panose="020B0604030504040204" pitchFamily="34" charset="-128"/>
              <a:ea typeface="Meiryo" panose="020B0604030504040204" pitchFamily="34" charset="-128"/>
            </a:endParaRPr>
          </a:p>
          <a:p>
            <a:pPr marL="214313" indent="-214313" algn="ctr">
              <a:buFont typeface="Arial" panose="020B0604020202020204" pitchFamily="34" charset="0"/>
              <a:buChar char="•"/>
            </a:pPr>
            <a:r>
              <a:rPr lang="ja-JP" altLang="en-US" sz="1350">
                <a:latin typeface="Meiryo" panose="020B0604030504040204" pitchFamily="34" charset="-128"/>
                <a:ea typeface="Meiryo" panose="020B0604030504040204" pitchFamily="34" charset="-128"/>
              </a:rPr>
              <a:t>証明書チェーンの検証 </a:t>
            </a:r>
            <a:endParaRPr lang="en-US" altLang="ja-JP" sz="1350" dirty="0">
              <a:latin typeface="Meiryo" panose="020B0604030504040204" pitchFamily="34" charset="-128"/>
              <a:ea typeface="Meiryo" panose="020B0604030504040204" pitchFamily="34" charset="-128"/>
            </a:endParaRPr>
          </a:p>
          <a:p>
            <a:pPr marL="214313" indent="-214313" algn="ctr">
              <a:buFont typeface="Arial" panose="020B0604020202020204" pitchFamily="34" charset="0"/>
              <a:buChar char="•"/>
            </a:pPr>
            <a:r>
              <a:rPr lang="en-US" altLang="ja-JP" sz="1350" dirty="0">
                <a:latin typeface="Meiryo" panose="020B0604030504040204" pitchFamily="34" charset="-128"/>
                <a:ea typeface="Meiryo" panose="020B0604030504040204" pitchFamily="34" charset="-128"/>
              </a:rPr>
              <a:t> </a:t>
            </a:r>
            <a:r>
              <a:rPr lang="en-US" sz="1350" dirty="0">
                <a:latin typeface="Meiryo" panose="020B0604030504040204" pitchFamily="34" charset="-128"/>
                <a:ea typeface="Meiryo" panose="020B0604030504040204" pitchFamily="34" charset="-128"/>
              </a:rPr>
              <a:t>TLS handshake・</a:t>
            </a:r>
            <a:r>
              <a:rPr lang="ja-JP" altLang="en-US" sz="1350">
                <a:latin typeface="Meiryo" panose="020B0604030504040204" pitchFamily="34" charset="-128"/>
                <a:ea typeface="Meiryo" panose="020B0604030504040204" pitchFamily="34" charset="-128"/>
              </a:rPr>
              <a:t>暗号化通信 </a:t>
            </a:r>
            <a:endParaRPr lang="en-JP" sz="1350" dirty="0">
              <a:latin typeface="Meiryo" panose="020B0604030504040204" pitchFamily="34" charset="-128"/>
              <a:ea typeface="Meiryo" panose="020B0604030504040204" pitchFamily="34" charset="-128"/>
            </a:endParaRPr>
          </a:p>
        </p:txBody>
      </p:sp>
      <p:cxnSp>
        <p:nvCxnSpPr>
          <p:cNvPr id="9" name="Straight Arrow Connector 8">
            <a:extLst>
              <a:ext uri="{FF2B5EF4-FFF2-40B4-BE49-F238E27FC236}">
                <a16:creationId xmlns:a16="http://schemas.microsoft.com/office/drawing/2014/main" id="{FAE8B698-D8CB-A541-5E98-A9C76E11CEF3}"/>
              </a:ext>
            </a:extLst>
          </p:cNvPr>
          <p:cNvCxnSpPr/>
          <p:nvPr/>
        </p:nvCxnSpPr>
        <p:spPr>
          <a:xfrm>
            <a:off x="3654335" y="1964327"/>
            <a:ext cx="14499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F7A3713F-3264-3361-FB7A-3A64E3A61E2F}"/>
              </a:ext>
            </a:extLst>
          </p:cNvPr>
          <p:cNvCxnSpPr>
            <a:cxnSpLocks/>
          </p:cNvCxnSpPr>
          <p:nvPr/>
        </p:nvCxnSpPr>
        <p:spPr>
          <a:xfrm flipH="1">
            <a:off x="3582488" y="2640330"/>
            <a:ext cx="1521824"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F627ACB8-8267-5339-B4D1-FB42D591C014}"/>
              </a:ext>
            </a:extLst>
          </p:cNvPr>
          <p:cNvSpPr txBox="1"/>
          <p:nvPr/>
        </p:nvSpPr>
        <p:spPr>
          <a:xfrm>
            <a:off x="3977640" y="1748790"/>
            <a:ext cx="798617" cy="300082"/>
          </a:xfrm>
          <a:prstGeom prst="rect">
            <a:avLst/>
          </a:prstGeom>
          <a:noFill/>
        </p:spPr>
        <p:txBody>
          <a:bodyPr wrap="none" rtlCol="0">
            <a:spAutoFit/>
          </a:bodyPr>
          <a:lstStyle/>
          <a:p>
            <a:r>
              <a:rPr lang="en-US" sz="1350" dirty="0"/>
              <a:t>CSR</a:t>
            </a:r>
            <a:r>
              <a:rPr lang="ja-JP" altLang="en-US" sz="1350"/>
              <a:t>送信</a:t>
            </a:r>
            <a:endParaRPr lang="en-JP" sz="1350" dirty="0"/>
          </a:p>
        </p:txBody>
      </p:sp>
      <p:sp>
        <p:nvSpPr>
          <p:cNvPr id="12" name="TextBox 11">
            <a:extLst>
              <a:ext uri="{FF2B5EF4-FFF2-40B4-BE49-F238E27FC236}">
                <a16:creationId xmlns:a16="http://schemas.microsoft.com/office/drawing/2014/main" id="{DF10AEB6-904A-958C-C04A-46BD9800E90C}"/>
              </a:ext>
            </a:extLst>
          </p:cNvPr>
          <p:cNvSpPr txBox="1"/>
          <p:nvPr/>
        </p:nvSpPr>
        <p:spPr>
          <a:xfrm>
            <a:off x="3582489" y="2689314"/>
            <a:ext cx="1964327" cy="300082"/>
          </a:xfrm>
          <a:prstGeom prst="rect">
            <a:avLst/>
          </a:prstGeom>
          <a:noFill/>
        </p:spPr>
        <p:txBody>
          <a:bodyPr wrap="square">
            <a:spAutoFit/>
          </a:bodyPr>
          <a:lstStyle/>
          <a:p>
            <a:r>
              <a:rPr lang="ja-JP" altLang="en-US" sz="1350"/>
              <a:t>サーバ証明書発行</a:t>
            </a:r>
            <a:endParaRPr lang="en-JP" sz="1350" dirty="0"/>
          </a:p>
        </p:txBody>
      </p:sp>
      <p:cxnSp>
        <p:nvCxnSpPr>
          <p:cNvPr id="13" name="Straight Arrow Connector 12">
            <a:extLst>
              <a:ext uri="{FF2B5EF4-FFF2-40B4-BE49-F238E27FC236}">
                <a16:creationId xmlns:a16="http://schemas.microsoft.com/office/drawing/2014/main" id="{9C741B0C-6212-CD6D-EF8C-51F8DA12B7DA}"/>
              </a:ext>
            </a:extLst>
          </p:cNvPr>
          <p:cNvCxnSpPr>
            <a:cxnSpLocks/>
            <a:stCxn id="7" idx="2"/>
          </p:cNvCxnSpPr>
          <p:nvPr/>
        </p:nvCxnSpPr>
        <p:spPr>
          <a:xfrm>
            <a:off x="2024743" y="3100796"/>
            <a:ext cx="0" cy="10746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E8AB7275-148E-017E-61E7-B43738207504}"/>
              </a:ext>
            </a:extLst>
          </p:cNvPr>
          <p:cNvCxnSpPr>
            <a:cxnSpLocks/>
          </p:cNvCxnSpPr>
          <p:nvPr/>
        </p:nvCxnSpPr>
        <p:spPr>
          <a:xfrm>
            <a:off x="6106886" y="3100796"/>
            <a:ext cx="0" cy="10746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1F9EC672-856C-AC1A-B337-BFDADE68236F}"/>
              </a:ext>
            </a:extLst>
          </p:cNvPr>
          <p:cNvSpPr txBox="1"/>
          <p:nvPr/>
        </p:nvSpPr>
        <p:spPr>
          <a:xfrm>
            <a:off x="1974128" y="3429000"/>
            <a:ext cx="1141364" cy="300082"/>
          </a:xfrm>
          <a:prstGeom prst="rect">
            <a:avLst/>
          </a:prstGeom>
          <a:noFill/>
        </p:spPr>
        <p:txBody>
          <a:bodyPr wrap="square">
            <a:spAutoFit/>
          </a:bodyPr>
          <a:lstStyle/>
          <a:p>
            <a:r>
              <a:rPr lang="en-US" sz="1350" dirty="0"/>
              <a:t>HTTPS</a:t>
            </a:r>
            <a:r>
              <a:rPr lang="ja-JP" altLang="en-US" sz="1350"/>
              <a:t>通信 </a:t>
            </a:r>
            <a:endParaRPr lang="en-JP" sz="1350" dirty="0"/>
          </a:p>
        </p:txBody>
      </p:sp>
      <p:sp>
        <p:nvSpPr>
          <p:cNvPr id="16" name="TextBox 15">
            <a:extLst>
              <a:ext uri="{FF2B5EF4-FFF2-40B4-BE49-F238E27FC236}">
                <a16:creationId xmlns:a16="http://schemas.microsoft.com/office/drawing/2014/main" id="{5462E71E-20B1-D4CC-2210-6B6704CBE170}"/>
              </a:ext>
            </a:extLst>
          </p:cNvPr>
          <p:cNvSpPr txBox="1"/>
          <p:nvPr/>
        </p:nvSpPr>
        <p:spPr>
          <a:xfrm>
            <a:off x="6106886" y="3385793"/>
            <a:ext cx="1373232" cy="300082"/>
          </a:xfrm>
          <a:prstGeom prst="rect">
            <a:avLst/>
          </a:prstGeom>
          <a:noFill/>
        </p:spPr>
        <p:txBody>
          <a:bodyPr wrap="square">
            <a:spAutoFit/>
          </a:bodyPr>
          <a:lstStyle/>
          <a:p>
            <a:r>
              <a:rPr lang="en-US" sz="1350" dirty="0"/>
              <a:t>CA</a:t>
            </a:r>
            <a:r>
              <a:rPr lang="ja-JP" altLang="en-US" sz="1350"/>
              <a:t>証明書配布</a:t>
            </a:r>
            <a:endParaRPr lang="en-JP" sz="1350" dirty="0"/>
          </a:p>
        </p:txBody>
      </p:sp>
      <p:sp>
        <p:nvSpPr>
          <p:cNvPr id="17" name="Slide Number Placeholder 16">
            <a:extLst>
              <a:ext uri="{FF2B5EF4-FFF2-40B4-BE49-F238E27FC236}">
                <a16:creationId xmlns:a16="http://schemas.microsoft.com/office/drawing/2014/main" id="{454A9CA2-3F77-0A8D-AAF5-89C9A8859101}"/>
              </a:ext>
            </a:extLst>
          </p:cNvPr>
          <p:cNvSpPr>
            <a:spLocks noGrp="1"/>
          </p:cNvSpPr>
          <p:nvPr>
            <p:ph type="sldNum" sz="quarter" idx="12"/>
          </p:nvPr>
        </p:nvSpPr>
        <p:spPr/>
        <p:txBody>
          <a:bodyPr/>
          <a:lstStyle/>
          <a:p>
            <a:fld id="{B37FC626-4DBB-F044-A20D-82FDEAFAFBD6}" type="slidenum">
              <a:rPr lang="en-JP" smtClean="0"/>
              <a:t>7</a:t>
            </a:fld>
            <a:endParaRPr lang="en-JP"/>
          </a:p>
        </p:txBody>
      </p:sp>
      <p:sp>
        <p:nvSpPr>
          <p:cNvPr id="19" name="TextBox 18">
            <a:extLst>
              <a:ext uri="{FF2B5EF4-FFF2-40B4-BE49-F238E27FC236}">
                <a16:creationId xmlns:a16="http://schemas.microsoft.com/office/drawing/2014/main" id="{24151EA2-E662-E0F0-246B-F5A34846F07F}"/>
              </a:ext>
            </a:extLst>
          </p:cNvPr>
          <p:cNvSpPr txBox="1"/>
          <p:nvPr/>
        </p:nvSpPr>
        <p:spPr>
          <a:xfrm>
            <a:off x="204257" y="120491"/>
            <a:ext cx="4572000" cy="400110"/>
          </a:xfrm>
          <a:prstGeom prst="rect">
            <a:avLst/>
          </a:prstGeom>
          <a:noFill/>
        </p:spPr>
        <p:txBody>
          <a:bodyPr wrap="square">
            <a:spAutoFit/>
          </a:bodyPr>
          <a:lstStyle/>
          <a:p>
            <a:pPr marL="285750" indent="-285750">
              <a:buFont typeface="Wingdings" pitchFamily="2" charset="2"/>
              <a:buChar char="§"/>
            </a:pPr>
            <a:r>
              <a:rPr lang="en-JP" sz="2000" b="1" dirty="0">
                <a:solidFill>
                  <a:srgbClr val="C00000"/>
                </a:solidFill>
                <a:latin typeface="Meiryo" panose="020B0604030504040204" pitchFamily="34" charset="-128"/>
                <a:ea typeface="Meiryo" panose="020B0604030504040204" pitchFamily="34" charset="-128"/>
              </a:rPr>
              <a:t> 演習で構築したPrivate CA構成</a:t>
            </a:r>
          </a:p>
        </p:txBody>
      </p:sp>
    </p:spTree>
    <p:extLst>
      <p:ext uri="{BB962C8B-B14F-4D97-AF65-F5344CB8AC3E}">
        <p14:creationId xmlns:p14="http://schemas.microsoft.com/office/powerpoint/2010/main" val="25584588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995B08B-CA1B-CE94-FB1E-1421EA4CF97E}"/>
              </a:ext>
            </a:extLst>
          </p:cNvPr>
          <p:cNvSpPr>
            <a:spLocks noGrp="1"/>
          </p:cNvSpPr>
          <p:nvPr>
            <p:ph type="sldNum" sz="quarter" idx="12"/>
          </p:nvPr>
        </p:nvSpPr>
        <p:spPr/>
        <p:txBody>
          <a:bodyPr/>
          <a:lstStyle/>
          <a:p>
            <a:r>
              <a:rPr lang="en-JP" dirty="0"/>
              <a:t>8</a:t>
            </a:r>
          </a:p>
        </p:txBody>
      </p:sp>
      <p:sp>
        <p:nvSpPr>
          <p:cNvPr id="10" name="TextBox 9">
            <a:extLst>
              <a:ext uri="{FF2B5EF4-FFF2-40B4-BE49-F238E27FC236}">
                <a16:creationId xmlns:a16="http://schemas.microsoft.com/office/drawing/2014/main" id="{AB99FA98-1FFE-2F6E-DE4A-FECC37805912}"/>
              </a:ext>
            </a:extLst>
          </p:cNvPr>
          <p:cNvSpPr txBox="1"/>
          <p:nvPr/>
        </p:nvSpPr>
        <p:spPr>
          <a:xfrm>
            <a:off x="272142" y="189897"/>
            <a:ext cx="4572000" cy="400110"/>
          </a:xfrm>
          <a:prstGeom prst="rect">
            <a:avLst/>
          </a:prstGeom>
          <a:noFill/>
        </p:spPr>
        <p:txBody>
          <a:bodyPr wrap="square">
            <a:spAutoFit/>
          </a:bodyPr>
          <a:lstStyle/>
          <a:p>
            <a:pPr marL="342900" indent="-342900">
              <a:buFont typeface="Wingdings" pitchFamily="2" charset="2"/>
              <a:buChar char="Ø"/>
            </a:pPr>
            <a:r>
              <a:rPr lang="ja-JP" altLang="en-US" sz="2000" b="1">
                <a:solidFill>
                  <a:srgbClr val="92D050"/>
                </a:solidFill>
                <a:latin typeface="Meiryo" panose="020B0604030504040204" pitchFamily="34" charset="-128"/>
                <a:ea typeface="Meiryo" panose="020B0604030504040204" pitchFamily="34" charset="-128"/>
              </a:rPr>
              <a:t>システム構成と処理フロー</a:t>
            </a:r>
            <a:endParaRPr lang="en-JP" sz="2000" b="1" dirty="0">
              <a:solidFill>
                <a:srgbClr val="92D050"/>
              </a:solidFill>
              <a:latin typeface="Meiryo" panose="020B0604030504040204" pitchFamily="34" charset="-128"/>
              <a:ea typeface="Meiryo" panose="020B0604030504040204" pitchFamily="34" charset="-128"/>
            </a:endParaRPr>
          </a:p>
        </p:txBody>
      </p:sp>
      <p:sp>
        <p:nvSpPr>
          <p:cNvPr id="15" name="Rounded Rectangular Callout 14">
            <a:extLst>
              <a:ext uri="{FF2B5EF4-FFF2-40B4-BE49-F238E27FC236}">
                <a16:creationId xmlns:a16="http://schemas.microsoft.com/office/drawing/2014/main" id="{7632C972-6616-FD65-06C8-E76BFF91BBCD}"/>
              </a:ext>
            </a:extLst>
          </p:cNvPr>
          <p:cNvSpPr/>
          <p:nvPr/>
        </p:nvSpPr>
        <p:spPr>
          <a:xfrm>
            <a:off x="272142" y="979715"/>
            <a:ext cx="3722916" cy="1719942"/>
          </a:xfrm>
          <a:prstGeom prst="wedgeRoundRectCallout">
            <a:avLst/>
          </a:prstGeom>
        </p:spPr>
        <p:style>
          <a:lnRef idx="2">
            <a:schemeClr val="accent6"/>
          </a:lnRef>
          <a:fillRef idx="1">
            <a:schemeClr val="lt1"/>
          </a:fillRef>
          <a:effectRef idx="0">
            <a:schemeClr val="accent6"/>
          </a:effectRef>
          <a:fontRef idx="minor">
            <a:schemeClr val="dk1"/>
          </a:fontRef>
        </p:style>
        <p:txBody>
          <a:bodyPr rtlCol="0" anchor="ctr"/>
          <a:lstStyle/>
          <a:p>
            <a:pPr marL="228600" algn="ctr">
              <a:lnSpc>
                <a:spcPct val="115000"/>
              </a:lnSpc>
              <a:spcAft>
                <a:spcPts val="1000"/>
              </a:spcAft>
            </a:pPr>
            <a:r>
              <a:rPr lang="en-US" sz="1400" dirty="0">
                <a:effectLst/>
                <a:latin typeface="Meiryo" panose="020B0604030504040204" pitchFamily="34" charset="-128"/>
                <a:ea typeface="Meiryo" panose="020B0604030504040204" pitchFamily="34" charset="-128"/>
                <a:cs typeface="MS Mincho" panose="02020609040205080304" pitchFamily="49" charset="-128"/>
              </a:rPr>
              <a:t>[準備段階]</a:t>
            </a:r>
            <a:endParaRPr lang="en-JP" sz="1400" dirty="0">
              <a:effectLst/>
              <a:latin typeface="Meiryo" panose="020B0604030504040204" pitchFamily="34" charset="-128"/>
              <a:ea typeface="Meiryo" panose="020B0604030504040204" pitchFamily="34" charset="-128"/>
              <a:cs typeface="Times New Roman" panose="02020603050405020304" pitchFamily="18" charset="0"/>
            </a:endParaRPr>
          </a:p>
          <a:p>
            <a:pPr marL="228600">
              <a:lnSpc>
                <a:spcPct val="115000"/>
              </a:lnSpc>
              <a:spcAft>
                <a:spcPts val="1000"/>
              </a:spcAft>
            </a:pPr>
            <a:r>
              <a:rPr lang="en-US" sz="1400" dirty="0">
                <a:effectLst/>
                <a:latin typeface="Meiryo" panose="020B0604030504040204" pitchFamily="34" charset="-128"/>
                <a:ea typeface="Meiryo" panose="020B0604030504040204" pitchFamily="34" charset="-128"/>
                <a:cs typeface="MS Mincho" panose="02020609040205080304" pitchFamily="49" charset="-128"/>
              </a:rPr>
              <a:t>  1. </a:t>
            </a:r>
            <a:r>
              <a:rPr lang="en-US" sz="1400" dirty="0" err="1">
                <a:effectLst/>
                <a:latin typeface="Meiryo" panose="020B0604030504040204" pitchFamily="34" charset="-128"/>
                <a:ea typeface="Meiryo" panose="020B0604030504040204" pitchFamily="34" charset="-128"/>
                <a:cs typeface="MS Mincho" panose="02020609040205080304" pitchFamily="49" charset="-128"/>
              </a:rPr>
              <a:t>CAサーバ</a:t>
            </a:r>
            <a:r>
              <a:rPr lang="en-US" sz="1400" dirty="0">
                <a:effectLst/>
                <a:latin typeface="Meiryo" panose="020B0604030504040204" pitchFamily="34" charset="-128"/>
                <a:ea typeface="Meiryo" panose="020B0604030504040204" pitchFamily="34" charset="-128"/>
                <a:cs typeface="MS Mincho" panose="02020609040205080304" pitchFamily="49" charset="-128"/>
              </a:rPr>
              <a:t>: </a:t>
            </a:r>
            <a:r>
              <a:rPr lang="en-US" sz="1400" dirty="0" err="1">
                <a:effectLst/>
                <a:latin typeface="Meiryo" panose="020B0604030504040204" pitchFamily="34" charset="-128"/>
                <a:ea typeface="Meiryo" panose="020B0604030504040204" pitchFamily="34" charset="-128"/>
                <a:cs typeface="MS Mincho" panose="02020609040205080304" pitchFamily="49" charset="-128"/>
              </a:rPr>
              <a:t>CA秘密鍵の生成</a:t>
            </a:r>
            <a:r>
              <a:rPr lang="en-US" sz="1400" dirty="0">
                <a:effectLst/>
                <a:latin typeface="Meiryo" panose="020B0604030504040204" pitchFamily="34" charset="-128"/>
                <a:ea typeface="Meiryo" panose="020B0604030504040204" pitchFamily="34" charset="-128"/>
                <a:cs typeface="MS Mincho" panose="02020609040205080304" pitchFamily="49" charset="-128"/>
              </a:rPr>
              <a:t> </a:t>
            </a:r>
            <a:endParaRPr lang="en-JP" sz="1400" dirty="0">
              <a:effectLst/>
              <a:latin typeface="Meiryo" panose="020B0604030504040204" pitchFamily="34" charset="-128"/>
              <a:ea typeface="Meiryo" panose="020B0604030504040204" pitchFamily="34" charset="-128"/>
              <a:cs typeface="Times New Roman" panose="02020603050405020304" pitchFamily="18" charset="0"/>
            </a:endParaRPr>
          </a:p>
          <a:p>
            <a:pPr marL="228600">
              <a:lnSpc>
                <a:spcPct val="115000"/>
              </a:lnSpc>
              <a:spcAft>
                <a:spcPts val="1000"/>
              </a:spcAft>
            </a:pPr>
            <a:r>
              <a:rPr lang="en-US" sz="1400" dirty="0">
                <a:effectLst/>
                <a:latin typeface="Meiryo" panose="020B0604030504040204" pitchFamily="34" charset="-128"/>
                <a:ea typeface="Meiryo" panose="020B0604030504040204" pitchFamily="34" charset="-128"/>
                <a:cs typeface="MS Mincho" panose="02020609040205080304" pitchFamily="49" charset="-128"/>
              </a:rPr>
              <a:t>  2. CA</a:t>
            </a:r>
            <a:r>
              <a:rPr lang="ja-JP" sz="1400">
                <a:effectLst/>
                <a:latin typeface="Meiryo" panose="020B0604030504040204" pitchFamily="34" charset="-128"/>
                <a:ea typeface="Meiryo" panose="020B0604030504040204" pitchFamily="34" charset="-128"/>
                <a:cs typeface="MS Mincho" panose="02020609040205080304" pitchFamily="49" charset="-128"/>
              </a:rPr>
              <a:t>サーバ</a:t>
            </a:r>
            <a:r>
              <a:rPr lang="en-US" sz="1400" dirty="0">
                <a:effectLst/>
                <a:latin typeface="Meiryo" panose="020B0604030504040204" pitchFamily="34" charset="-128"/>
                <a:ea typeface="Meiryo" panose="020B0604030504040204" pitchFamily="34" charset="-128"/>
                <a:cs typeface="MS Mincho" panose="02020609040205080304" pitchFamily="49" charset="-128"/>
              </a:rPr>
              <a:t>: </a:t>
            </a:r>
            <a:r>
              <a:rPr lang="ja-JP" sz="1400">
                <a:effectLst/>
                <a:latin typeface="Meiryo" panose="020B0604030504040204" pitchFamily="34" charset="-128"/>
                <a:ea typeface="Meiryo" panose="020B0604030504040204" pitchFamily="34" charset="-128"/>
                <a:cs typeface="MS Mincho" panose="02020609040205080304" pitchFamily="49" charset="-128"/>
              </a:rPr>
              <a:t>ルート証明書の作成 </a:t>
            </a:r>
            <a:endParaRPr lang="en-JP" sz="1400" dirty="0">
              <a:effectLst/>
              <a:latin typeface="Meiryo" panose="020B0604030504040204" pitchFamily="34" charset="-128"/>
              <a:ea typeface="Meiryo" panose="020B0604030504040204" pitchFamily="34" charset="-128"/>
              <a:cs typeface="Times New Roman" panose="02020603050405020304" pitchFamily="18" charset="0"/>
            </a:endParaRPr>
          </a:p>
          <a:p>
            <a:pPr marL="228600">
              <a:lnSpc>
                <a:spcPct val="115000"/>
              </a:lnSpc>
              <a:spcAft>
                <a:spcPts val="1000"/>
              </a:spcAft>
            </a:pPr>
            <a:r>
              <a:rPr lang="en-US" sz="1400" dirty="0">
                <a:effectLst/>
                <a:latin typeface="Meiryo" panose="020B0604030504040204" pitchFamily="34" charset="-128"/>
                <a:ea typeface="Meiryo" panose="020B0604030504040204" pitchFamily="34" charset="-128"/>
                <a:cs typeface="MS Mincho" panose="02020609040205080304" pitchFamily="49" charset="-128"/>
              </a:rPr>
              <a:t>  3. </a:t>
            </a:r>
            <a:r>
              <a:rPr lang="en-US" sz="1400" dirty="0" err="1">
                <a:effectLst/>
                <a:latin typeface="Meiryo" panose="020B0604030504040204" pitchFamily="34" charset="-128"/>
                <a:ea typeface="Meiryo" panose="020B0604030504040204" pitchFamily="34" charset="-128"/>
                <a:cs typeface="MS Mincho" panose="02020609040205080304" pitchFamily="49" charset="-128"/>
              </a:rPr>
              <a:t>Webサーバ</a:t>
            </a:r>
            <a:r>
              <a:rPr lang="en-US" sz="1400" dirty="0">
                <a:effectLst/>
                <a:latin typeface="Meiryo" panose="020B0604030504040204" pitchFamily="34" charset="-128"/>
                <a:ea typeface="Meiryo" panose="020B0604030504040204" pitchFamily="34" charset="-128"/>
                <a:cs typeface="MS Mincho" panose="02020609040205080304" pitchFamily="49" charset="-128"/>
              </a:rPr>
              <a:t>: </a:t>
            </a:r>
            <a:r>
              <a:rPr lang="en-US" sz="1400" dirty="0" err="1">
                <a:effectLst/>
                <a:latin typeface="Meiryo" panose="020B0604030504040204" pitchFamily="34" charset="-128"/>
                <a:ea typeface="Meiryo" panose="020B0604030504040204" pitchFamily="34" charset="-128"/>
                <a:cs typeface="MS Mincho" panose="02020609040205080304" pitchFamily="49" charset="-128"/>
              </a:rPr>
              <a:t>サーバ秘密鍵の生成</a:t>
            </a:r>
            <a:endParaRPr lang="en-US" sz="1400" dirty="0">
              <a:effectLst/>
              <a:latin typeface="Meiryo" panose="020B0604030504040204" pitchFamily="34" charset="-128"/>
              <a:ea typeface="Meiryo" panose="020B0604030504040204" pitchFamily="34" charset="-128"/>
              <a:cs typeface="MS Mincho" panose="02020609040205080304" pitchFamily="49" charset="-128"/>
            </a:endParaRPr>
          </a:p>
        </p:txBody>
      </p:sp>
      <p:sp>
        <p:nvSpPr>
          <p:cNvPr id="16" name="Rounded Rectangular Callout 15">
            <a:extLst>
              <a:ext uri="{FF2B5EF4-FFF2-40B4-BE49-F238E27FC236}">
                <a16:creationId xmlns:a16="http://schemas.microsoft.com/office/drawing/2014/main" id="{459A1BB7-54FB-8D0A-0019-B5D86350DCD6}"/>
              </a:ext>
            </a:extLst>
          </p:cNvPr>
          <p:cNvSpPr/>
          <p:nvPr/>
        </p:nvSpPr>
        <p:spPr>
          <a:xfrm>
            <a:off x="4539344" y="919239"/>
            <a:ext cx="4332514" cy="1894505"/>
          </a:xfrm>
          <a:prstGeom prst="wedgeRoundRectCallout">
            <a:avLst/>
          </a:prstGeom>
        </p:spPr>
        <p:style>
          <a:lnRef idx="2">
            <a:schemeClr val="accent6"/>
          </a:lnRef>
          <a:fillRef idx="1">
            <a:schemeClr val="lt1"/>
          </a:fillRef>
          <a:effectRef idx="0">
            <a:schemeClr val="accent6"/>
          </a:effectRef>
          <a:fontRef idx="minor">
            <a:schemeClr val="dk1"/>
          </a:fontRef>
        </p:style>
        <p:txBody>
          <a:bodyPr rtlCol="0" anchor="ctr"/>
          <a:lstStyle/>
          <a:p>
            <a:pPr marL="228600">
              <a:lnSpc>
                <a:spcPct val="115000"/>
              </a:lnSpc>
              <a:spcAft>
                <a:spcPts val="1000"/>
              </a:spcAft>
            </a:pPr>
            <a:endParaRPr lang="en-US" sz="1200" dirty="0">
              <a:effectLst/>
              <a:latin typeface="Meiryo" panose="020B0604030504040204" pitchFamily="34" charset="-128"/>
              <a:ea typeface="Meiryo" panose="020B0604030504040204" pitchFamily="34" charset="-128"/>
              <a:cs typeface="MS Mincho" panose="02020609040205080304" pitchFamily="49" charset="-128"/>
            </a:endParaRPr>
          </a:p>
          <a:p>
            <a:pPr marL="228600" algn="ctr">
              <a:lnSpc>
                <a:spcPct val="115000"/>
              </a:lnSpc>
              <a:spcAft>
                <a:spcPts val="1000"/>
              </a:spcAft>
            </a:pPr>
            <a:r>
              <a:rPr lang="en-US" sz="1200" dirty="0">
                <a:effectLst/>
                <a:latin typeface="Meiryo" panose="020B0604030504040204" pitchFamily="34" charset="-128"/>
                <a:ea typeface="Meiryo" panose="020B0604030504040204" pitchFamily="34" charset="-128"/>
                <a:cs typeface="MS Mincho" panose="02020609040205080304" pitchFamily="49" charset="-128"/>
              </a:rPr>
              <a:t>[</a:t>
            </a:r>
            <a:r>
              <a:rPr lang="en-US" sz="1200" dirty="0" err="1">
                <a:effectLst/>
                <a:latin typeface="Meiryo" panose="020B0604030504040204" pitchFamily="34" charset="-128"/>
                <a:ea typeface="Meiryo" panose="020B0604030504040204" pitchFamily="34" charset="-128"/>
                <a:cs typeface="MS Mincho" panose="02020609040205080304" pitchFamily="49" charset="-128"/>
              </a:rPr>
              <a:t>証明書発行段階</a:t>
            </a:r>
            <a:r>
              <a:rPr lang="en-US" sz="1200" dirty="0">
                <a:effectLst/>
                <a:latin typeface="Meiryo" panose="020B0604030504040204" pitchFamily="34" charset="-128"/>
                <a:ea typeface="Meiryo" panose="020B0604030504040204" pitchFamily="34" charset="-128"/>
                <a:cs typeface="MS Mincho" panose="02020609040205080304" pitchFamily="49" charset="-128"/>
              </a:rPr>
              <a:t>]</a:t>
            </a:r>
            <a:endParaRPr lang="en-JP" sz="1200" dirty="0">
              <a:effectLst/>
              <a:latin typeface="Meiryo" panose="020B0604030504040204" pitchFamily="34" charset="-128"/>
              <a:ea typeface="Meiryo" panose="020B0604030504040204" pitchFamily="34" charset="-128"/>
              <a:cs typeface="Times New Roman" panose="02020603050405020304" pitchFamily="18" charset="0"/>
            </a:endParaRPr>
          </a:p>
          <a:p>
            <a:pPr marL="228600">
              <a:lnSpc>
                <a:spcPct val="115000"/>
              </a:lnSpc>
              <a:spcAft>
                <a:spcPts val="1000"/>
              </a:spcAft>
            </a:pPr>
            <a:r>
              <a:rPr lang="en-US" sz="1200" dirty="0">
                <a:effectLst/>
                <a:latin typeface="Meiryo" panose="020B0604030504040204" pitchFamily="34" charset="-128"/>
                <a:ea typeface="Meiryo" panose="020B0604030504040204" pitchFamily="34" charset="-128"/>
                <a:cs typeface="MS Mincho" panose="02020609040205080304" pitchFamily="49" charset="-128"/>
              </a:rPr>
              <a:t>  4. </a:t>
            </a:r>
            <a:r>
              <a:rPr lang="en-US" sz="1200" dirty="0" err="1">
                <a:effectLst/>
                <a:latin typeface="Meiryo" panose="020B0604030504040204" pitchFamily="34" charset="-128"/>
                <a:ea typeface="Meiryo" panose="020B0604030504040204" pitchFamily="34" charset="-128"/>
                <a:cs typeface="MS Mincho" panose="02020609040205080304" pitchFamily="49" charset="-128"/>
              </a:rPr>
              <a:t>Webサーバ</a:t>
            </a:r>
            <a:r>
              <a:rPr lang="en-US" sz="1200" dirty="0">
                <a:effectLst/>
                <a:latin typeface="Meiryo" panose="020B0604030504040204" pitchFamily="34" charset="-128"/>
                <a:ea typeface="Meiryo" panose="020B0604030504040204" pitchFamily="34" charset="-128"/>
                <a:cs typeface="MS Mincho" panose="02020609040205080304" pitchFamily="49" charset="-128"/>
              </a:rPr>
              <a:t> → </a:t>
            </a:r>
            <a:r>
              <a:rPr lang="en-US" sz="1200" dirty="0" err="1">
                <a:effectLst/>
                <a:latin typeface="Meiryo" panose="020B0604030504040204" pitchFamily="34" charset="-128"/>
                <a:ea typeface="Meiryo" panose="020B0604030504040204" pitchFamily="34" charset="-128"/>
                <a:cs typeface="MS Mincho" panose="02020609040205080304" pitchFamily="49" charset="-128"/>
              </a:rPr>
              <a:t>CAサーバ</a:t>
            </a:r>
            <a:r>
              <a:rPr lang="en-US" sz="1200" dirty="0">
                <a:effectLst/>
                <a:latin typeface="Meiryo" panose="020B0604030504040204" pitchFamily="34" charset="-128"/>
                <a:ea typeface="Meiryo" panose="020B0604030504040204" pitchFamily="34" charset="-128"/>
                <a:cs typeface="MS Mincho" panose="02020609040205080304" pitchFamily="49" charset="-128"/>
              </a:rPr>
              <a:t>: </a:t>
            </a:r>
            <a:r>
              <a:rPr lang="en-US" sz="1200" dirty="0" err="1">
                <a:effectLst/>
                <a:latin typeface="Meiryo" panose="020B0604030504040204" pitchFamily="34" charset="-128"/>
                <a:ea typeface="Meiryo" panose="020B0604030504040204" pitchFamily="34" charset="-128"/>
                <a:cs typeface="MS Mincho" panose="02020609040205080304" pitchFamily="49" charset="-128"/>
              </a:rPr>
              <a:t>CSR送信</a:t>
            </a:r>
            <a:r>
              <a:rPr lang="en-US" sz="1200" dirty="0">
                <a:effectLst/>
                <a:latin typeface="Meiryo" panose="020B0604030504040204" pitchFamily="34" charset="-128"/>
                <a:ea typeface="Meiryo" panose="020B0604030504040204" pitchFamily="34" charset="-128"/>
                <a:cs typeface="MS Mincho" panose="02020609040205080304" pitchFamily="49" charset="-128"/>
              </a:rPr>
              <a:t> </a:t>
            </a:r>
            <a:endParaRPr lang="en-JP" sz="1200" dirty="0">
              <a:effectLst/>
              <a:latin typeface="Meiryo" panose="020B0604030504040204" pitchFamily="34" charset="-128"/>
              <a:ea typeface="Meiryo" panose="020B0604030504040204" pitchFamily="34" charset="-128"/>
              <a:cs typeface="Times New Roman" panose="02020603050405020304" pitchFamily="18" charset="0"/>
            </a:endParaRPr>
          </a:p>
          <a:p>
            <a:pPr marL="228600">
              <a:lnSpc>
                <a:spcPct val="115000"/>
              </a:lnSpc>
              <a:spcAft>
                <a:spcPts val="1000"/>
              </a:spcAft>
            </a:pPr>
            <a:r>
              <a:rPr lang="en-US" sz="1200" dirty="0">
                <a:effectLst/>
                <a:latin typeface="Meiryo" panose="020B0604030504040204" pitchFamily="34" charset="-128"/>
                <a:ea typeface="Meiryo" panose="020B0604030504040204" pitchFamily="34" charset="-128"/>
                <a:cs typeface="MS Mincho" panose="02020609040205080304" pitchFamily="49" charset="-128"/>
              </a:rPr>
              <a:t>  5. CA</a:t>
            </a:r>
            <a:r>
              <a:rPr lang="ja-JP" sz="1200">
                <a:effectLst/>
                <a:latin typeface="Meiryo" panose="020B0604030504040204" pitchFamily="34" charset="-128"/>
                <a:ea typeface="Meiryo" panose="020B0604030504040204" pitchFamily="34" charset="-128"/>
                <a:cs typeface="MS Mincho" panose="02020609040205080304" pitchFamily="49" charset="-128"/>
              </a:rPr>
              <a:t>サーバ</a:t>
            </a:r>
            <a:r>
              <a:rPr lang="en-US" sz="1200" dirty="0">
                <a:effectLst/>
                <a:latin typeface="Meiryo" panose="020B0604030504040204" pitchFamily="34" charset="-128"/>
                <a:ea typeface="Meiryo" panose="020B0604030504040204" pitchFamily="34" charset="-128"/>
                <a:cs typeface="MS Mincho" panose="02020609040205080304" pitchFamily="49" charset="-128"/>
              </a:rPr>
              <a:t>: </a:t>
            </a:r>
            <a:r>
              <a:rPr lang="ja-JP" sz="1200">
                <a:effectLst/>
                <a:latin typeface="Meiryo" panose="020B0604030504040204" pitchFamily="34" charset="-128"/>
                <a:ea typeface="Meiryo" panose="020B0604030504040204" pitchFamily="34" charset="-128"/>
                <a:cs typeface="MS Mincho" panose="02020609040205080304" pitchFamily="49" charset="-128"/>
              </a:rPr>
              <a:t>本人確認・審査</a:t>
            </a:r>
            <a:endParaRPr lang="en-JP" sz="1200" dirty="0">
              <a:effectLst/>
              <a:latin typeface="Meiryo" panose="020B0604030504040204" pitchFamily="34" charset="-128"/>
              <a:ea typeface="Meiryo" panose="020B0604030504040204" pitchFamily="34" charset="-128"/>
              <a:cs typeface="Times New Roman" panose="02020603050405020304" pitchFamily="18" charset="0"/>
            </a:endParaRPr>
          </a:p>
          <a:p>
            <a:pPr marL="228600">
              <a:lnSpc>
                <a:spcPct val="115000"/>
              </a:lnSpc>
              <a:spcAft>
                <a:spcPts val="1000"/>
              </a:spcAft>
            </a:pPr>
            <a:r>
              <a:rPr lang="en-US" sz="1200" dirty="0">
                <a:effectLst/>
                <a:latin typeface="Meiryo" panose="020B0604030504040204" pitchFamily="34" charset="-128"/>
                <a:ea typeface="Meiryo" panose="020B0604030504040204" pitchFamily="34" charset="-128"/>
                <a:cs typeface="MS Mincho" panose="02020609040205080304" pitchFamily="49" charset="-128"/>
              </a:rPr>
              <a:t>  6. CA</a:t>
            </a:r>
            <a:r>
              <a:rPr lang="ja-JP" sz="1200">
                <a:effectLst/>
                <a:latin typeface="Meiryo" panose="020B0604030504040204" pitchFamily="34" charset="-128"/>
                <a:ea typeface="Meiryo" panose="020B0604030504040204" pitchFamily="34" charset="-128"/>
                <a:cs typeface="MS Mincho" panose="02020609040205080304" pitchFamily="49" charset="-128"/>
              </a:rPr>
              <a:t>サーバ</a:t>
            </a:r>
            <a:r>
              <a:rPr lang="en-US" sz="1200" dirty="0">
                <a:effectLst/>
                <a:latin typeface="Meiryo" panose="020B0604030504040204" pitchFamily="34" charset="-128"/>
                <a:ea typeface="Meiryo" panose="020B0604030504040204" pitchFamily="34" charset="-128"/>
                <a:cs typeface="MS Mincho" panose="02020609040205080304" pitchFamily="49" charset="-128"/>
              </a:rPr>
              <a:t>: CSR</a:t>
            </a:r>
            <a:r>
              <a:rPr lang="ja-JP" sz="1200">
                <a:effectLst/>
                <a:latin typeface="Meiryo" panose="020B0604030504040204" pitchFamily="34" charset="-128"/>
                <a:ea typeface="Meiryo" panose="020B0604030504040204" pitchFamily="34" charset="-128"/>
                <a:cs typeface="MS Mincho" panose="02020609040205080304" pitchFamily="49" charset="-128"/>
              </a:rPr>
              <a:t>に署名してサーバ証明書発行 </a:t>
            </a:r>
            <a:endParaRPr lang="en-JP" sz="1200" dirty="0">
              <a:effectLst/>
              <a:latin typeface="Meiryo" panose="020B0604030504040204" pitchFamily="34" charset="-128"/>
              <a:ea typeface="Meiryo" panose="020B0604030504040204" pitchFamily="34" charset="-128"/>
              <a:cs typeface="Times New Roman" panose="02020603050405020304" pitchFamily="18" charset="0"/>
            </a:endParaRPr>
          </a:p>
          <a:p>
            <a:pPr marL="228600">
              <a:lnSpc>
                <a:spcPct val="115000"/>
              </a:lnSpc>
              <a:spcAft>
                <a:spcPts val="1000"/>
              </a:spcAft>
            </a:pPr>
            <a:r>
              <a:rPr lang="en-US" sz="1200" dirty="0">
                <a:effectLst/>
                <a:latin typeface="Meiryo" panose="020B0604030504040204" pitchFamily="34" charset="-128"/>
                <a:ea typeface="Meiryo" panose="020B0604030504040204" pitchFamily="34" charset="-128"/>
                <a:cs typeface="MS Mincho" panose="02020609040205080304" pitchFamily="49" charset="-128"/>
              </a:rPr>
              <a:t>  7. CA</a:t>
            </a:r>
            <a:r>
              <a:rPr lang="ja-JP" sz="1200">
                <a:effectLst/>
                <a:latin typeface="Meiryo" panose="020B0604030504040204" pitchFamily="34" charset="-128"/>
                <a:ea typeface="Meiryo" panose="020B0604030504040204" pitchFamily="34" charset="-128"/>
                <a:cs typeface="MS Mincho" panose="02020609040205080304" pitchFamily="49" charset="-128"/>
              </a:rPr>
              <a:t>サーバ →</a:t>
            </a:r>
            <a:r>
              <a:rPr lang="en-US" sz="1200" dirty="0">
                <a:effectLst/>
                <a:latin typeface="Meiryo" panose="020B0604030504040204" pitchFamily="34" charset="-128"/>
                <a:ea typeface="Meiryo" panose="020B0604030504040204" pitchFamily="34" charset="-128"/>
                <a:cs typeface="MS Mincho" panose="02020609040205080304" pitchFamily="49" charset="-128"/>
              </a:rPr>
              <a:t> Web</a:t>
            </a:r>
            <a:r>
              <a:rPr lang="ja-JP" sz="1200">
                <a:effectLst/>
                <a:latin typeface="Meiryo" panose="020B0604030504040204" pitchFamily="34" charset="-128"/>
                <a:ea typeface="Meiryo" panose="020B0604030504040204" pitchFamily="34" charset="-128"/>
                <a:cs typeface="MS Mincho" panose="02020609040205080304" pitchFamily="49" charset="-128"/>
              </a:rPr>
              <a:t>サーバ</a:t>
            </a:r>
            <a:r>
              <a:rPr lang="en-US" sz="1200" dirty="0">
                <a:effectLst/>
                <a:latin typeface="Meiryo" panose="020B0604030504040204" pitchFamily="34" charset="-128"/>
                <a:ea typeface="Meiryo" panose="020B0604030504040204" pitchFamily="34" charset="-128"/>
                <a:cs typeface="MS Mincho" panose="02020609040205080304" pitchFamily="49" charset="-128"/>
              </a:rPr>
              <a:t>: </a:t>
            </a:r>
            <a:r>
              <a:rPr lang="ja-JP" sz="1200">
                <a:effectLst/>
                <a:latin typeface="Meiryo" panose="020B0604030504040204" pitchFamily="34" charset="-128"/>
                <a:ea typeface="Meiryo" panose="020B0604030504040204" pitchFamily="34" charset="-128"/>
                <a:cs typeface="MS Mincho" panose="02020609040205080304" pitchFamily="49" charset="-128"/>
              </a:rPr>
              <a:t>サーバ証明書送付</a:t>
            </a:r>
            <a:endParaRPr lang="en-JP" sz="1200" dirty="0">
              <a:effectLst/>
              <a:latin typeface="Meiryo" panose="020B0604030504040204" pitchFamily="34" charset="-128"/>
              <a:ea typeface="Meiryo" panose="020B0604030504040204" pitchFamily="34" charset="-128"/>
              <a:cs typeface="Times New Roman" panose="02020603050405020304" pitchFamily="18" charset="0"/>
            </a:endParaRPr>
          </a:p>
          <a:p>
            <a:pPr marL="228600">
              <a:lnSpc>
                <a:spcPct val="115000"/>
              </a:lnSpc>
              <a:spcAft>
                <a:spcPts val="1000"/>
              </a:spcAft>
            </a:pPr>
            <a:endParaRPr lang="en-JP" sz="1200" dirty="0">
              <a:effectLst/>
              <a:latin typeface="Meiryo" panose="020B0604030504040204" pitchFamily="34" charset="-128"/>
              <a:ea typeface="Meiryo" panose="020B0604030504040204" pitchFamily="34" charset="-128"/>
              <a:cs typeface="Times New Roman" panose="02020603050405020304" pitchFamily="18" charset="0"/>
            </a:endParaRPr>
          </a:p>
        </p:txBody>
      </p:sp>
      <p:sp>
        <p:nvSpPr>
          <p:cNvPr id="17" name="Rounded Rectangular Callout 16">
            <a:extLst>
              <a:ext uri="{FF2B5EF4-FFF2-40B4-BE49-F238E27FC236}">
                <a16:creationId xmlns:a16="http://schemas.microsoft.com/office/drawing/2014/main" id="{2E18FD71-D88D-6DC9-3635-78A1489BB724}"/>
              </a:ext>
            </a:extLst>
          </p:cNvPr>
          <p:cNvSpPr/>
          <p:nvPr/>
        </p:nvSpPr>
        <p:spPr>
          <a:xfrm>
            <a:off x="146957" y="3428999"/>
            <a:ext cx="3848102" cy="2123027"/>
          </a:xfrm>
          <a:prstGeom prst="wedgeRoundRectCallout">
            <a:avLst/>
          </a:prstGeom>
        </p:spPr>
        <p:style>
          <a:lnRef idx="2">
            <a:schemeClr val="accent6"/>
          </a:lnRef>
          <a:fillRef idx="1">
            <a:schemeClr val="lt1"/>
          </a:fillRef>
          <a:effectRef idx="0">
            <a:schemeClr val="accent6"/>
          </a:effectRef>
          <a:fontRef idx="minor">
            <a:schemeClr val="dk1"/>
          </a:fontRef>
        </p:style>
        <p:txBody>
          <a:bodyPr rtlCol="0" anchor="ctr"/>
          <a:lstStyle/>
          <a:p>
            <a:pPr marL="228600" algn="ctr">
              <a:lnSpc>
                <a:spcPct val="115000"/>
              </a:lnSpc>
              <a:spcAft>
                <a:spcPts val="1000"/>
              </a:spcAft>
            </a:pPr>
            <a:r>
              <a:rPr lang="en-US" sz="1400" dirty="0">
                <a:effectLst/>
                <a:latin typeface="Meiryo" panose="020B0604030504040204" pitchFamily="34" charset="-128"/>
                <a:ea typeface="Meiryo" panose="020B0604030504040204" pitchFamily="34" charset="-128"/>
                <a:cs typeface="MS Mincho" panose="02020609040205080304" pitchFamily="49" charset="-128"/>
              </a:rPr>
              <a:t>[</a:t>
            </a:r>
            <a:r>
              <a:rPr lang="ja-JP" sz="1400">
                <a:effectLst/>
                <a:latin typeface="Meiryo" panose="020B0604030504040204" pitchFamily="34" charset="-128"/>
                <a:ea typeface="Meiryo" panose="020B0604030504040204" pitchFamily="34" charset="-128"/>
                <a:cs typeface="MS Mincho" panose="02020609040205080304" pitchFamily="49" charset="-128"/>
              </a:rPr>
              <a:t>配備段階</a:t>
            </a:r>
            <a:r>
              <a:rPr lang="en-US" sz="1400" dirty="0">
                <a:effectLst/>
                <a:latin typeface="Meiryo" panose="020B0604030504040204" pitchFamily="34" charset="-128"/>
                <a:ea typeface="Meiryo" panose="020B0604030504040204" pitchFamily="34" charset="-128"/>
                <a:cs typeface="MS Mincho" panose="02020609040205080304" pitchFamily="49" charset="-128"/>
              </a:rPr>
              <a:t>]</a:t>
            </a:r>
            <a:endParaRPr lang="en-JP" sz="1400" dirty="0">
              <a:effectLst/>
              <a:latin typeface="Meiryo" panose="020B0604030504040204" pitchFamily="34" charset="-128"/>
              <a:ea typeface="Meiryo" panose="020B0604030504040204" pitchFamily="34" charset="-128"/>
              <a:cs typeface="Times New Roman" panose="02020603050405020304" pitchFamily="18" charset="0"/>
            </a:endParaRPr>
          </a:p>
          <a:p>
            <a:pPr marL="228600">
              <a:lnSpc>
                <a:spcPct val="115000"/>
              </a:lnSpc>
              <a:spcAft>
                <a:spcPts val="1000"/>
              </a:spcAft>
            </a:pPr>
            <a:r>
              <a:rPr lang="en-US" sz="1400" dirty="0">
                <a:effectLst/>
                <a:latin typeface="Meiryo" panose="020B0604030504040204" pitchFamily="34" charset="-128"/>
                <a:ea typeface="Meiryo" panose="020B0604030504040204" pitchFamily="34" charset="-128"/>
                <a:cs typeface="MS Mincho" panose="02020609040205080304" pitchFamily="49" charset="-128"/>
              </a:rPr>
              <a:t>  8. Web</a:t>
            </a:r>
            <a:r>
              <a:rPr lang="ja-JP" sz="1400">
                <a:effectLst/>
                <a:latin typeface="Meiryo" panose="020B0604030504040204" pitchFamily="34" charset="-128"/>
                <a:ea typeface="Meiryo" panose="020B0604030504040204" pitchFamily="34" charset="-128"/>
                <a:cs typeface="MS Mincho" panose="02020609040205080304" pitchFamily="49" charset="-128"/>
              </a:rPr>
              <a:t>サーバ</a:t>
            </a:r>
            <a:r>
              <a:rPr lang="en-US" sz="1400" dirty="0">
                <a:effectLst/>
                <a:latin typeface="Meiryo" panose="020B0604030504040204" pitchFamily="34" charset="-128"/>
                <a:ea typeface="Meiryo" panose="020B0604030504040204" pitchFamily="34" charset="-128"/>
                <a:cs typeface="MS Mincho" panose="02020609040205080304" pitchFamily="49" charset="-128"/>
              </a:rPr>
              <a:t>: Apache</a:t>
            </a:r>
            <a:r>
              <a:rPr lang="ja-JP" sz="1400">
                <a:effectLst/>
                <a:latin typeface="Meiryo" panose="020B0604030504040204" pitchFamily="34" charset="-128"/>
                <a:ea typeface="Meiryo" panose="020B0604030504040204" pitchFamily="34" charset="-128"/>
                <a:cs typeface="MS Mincho" panose="02020609040205080304" pitchFamily="49" charset="-128"/>
              </a:rPr>
              <a:t>設定ファイルに証明書を指定</a:t>
            </a:r>
            <a:endParaRPr lang="en-JP" sz="1400" dirty="0">
              <a:effectLst/>
              <a:latin typeface="Meiryo" panose="020B0604030504040204" pitchFamily="34" charset="-128"/>
              <a:ea typeface="Meiryo" panose="020B0604030504040204" pitchFamily="34" charset="-128"/>
              <a:cs typeface="Times New Roman" panose="02020603050405020304" pitchFamily="18" charset="0"/>
            </a:endParaRPr>
          </a:p>
          <a:p>
            <a:pPr marL="228600">
              <a:lnSpc>
                <a:spcPct val="115000"/>
              </a:lnSpc>
              <a:spcAft>
                <a:spcPts val="1000"/>
              </a:spcAft>
            </a:pPr>
            <a:r>
              <a:rPr lang="en-US" sz="1400" dirty="0">
                <a:effectLst/>
                <a:latin typeface="Meiryo" panose="020B0604030504040204" pitchFamily="34" charset="-128"/>
                <a:ea typeface="Meiryo" panose="020B0604030504040204" pitchFamily="34" charset="-128"/>
                <a:cs typeface="MS Mincho" panose="02020609040205080304" pitchFamily="49" charset="-128"/>
              </a:rPr>
              <a:t>  9. Web</a:t>
            </a:r>
            <a:r>
              <a:rPr lang="ja-JP" sz="1400">
                <a:effectLst/>
                <a:latin typeface="Meiryo" panose="020B0604030504040204" pitchFamily="34" charset="-128"/>
                <a:ea typeface="Meiryo" panose="020B0604030504040204" pitchFamily="34" charset="-128"/>
                <a:cs typeface="MS Mincho" panose="02020609040205080304" pitchFamily="49" charset="-128"/>
              </a:rPr>
              <a:t>サーバ</a:t>
            </a:r>
            <a:r>
              <a:rPr lang="en-US" sz="1400" dirty="0">
                <a:effectLst/>
                <a:latin typeface="Meiryo" panose="020B0604030504040204" pitchFamily="34" charset="-128"/>
                <a:ea typeface="Meiryo" panose="020B0604030504040204" pitchFamily="34" charset="-128"/>
                <a:cs typeface="MS Mincho" panose="02020609040205080304" pitchFamily="49" charset="-128"/>
              </a:rPr>
              <a:t>: httpd</a:t>
            </a:r>
            <a:r>
              <a:rPr lang="ja-JP" sz="1400">
                <a:effectLst/>
                <a:latin typeface="Meiryo" panose="020B0604030504040204" pitchFamily="34" charset="-128"/>
                <a:ea typeface="Meiryo" panose="020B0604030504040204" pitchFamily="34" charset="-128"/>
                <a:cs typeface="MS Mincho" panose="02020609040205080304" pitchFamily="49" charset="-128"/>
              </a:rPr>
              <a:t>サービス再起動</a:t>
            </a:r>
            <a:endParaRPr lang="en-JP" sz="1400" dirty="0">
              <a:effectLst/>
              <a:latin typeface="Meiryo" panose="020B0604030504040204" pitchFamily="34" charset="-128"/>
              <a:ea typeface="Meiryo" panose="020B0604030504040204" pitchFamily="34" charset="-128"/>
              <a:cs typeface="Times New Roman" panose="02020603050405020304" pitchFamily="18" charset="0"/>
            </a:endParaRPr>
          </a:p>
          <a:p>
            <a:pPr marL="228600">
              <a:lnSpc>
                <a:spcPct val="115000"/>
              </a:lnSpc>
              <a:spcAft>
                <a:spcPts val="1000"/>
              </a:spcAft>
            </a:pPr>
            <a:r>
              <a:rPr lang="en-US" sz="1400" dirty="0">
                <a:effectLst/>
                <a:latin typeface="Meiryo" panose="020B0604030504040204" pitchFamily="34" charset="-128"/>
                <a:ea typeface="Meiryo" panose="020B0604030504040204" pitchFamily="34" charset="-128"/>
                <a:cs typeface="MS Mincho" panose="02020609040205080304" pitchFamily="49" charset="-128"/>
              </a:rPr>
              <a:t> 10. </a:t>
            </a:r>
            <a:r>
              <a:rPr lang="ja-JP" sz="1400">
                <a:effectLst/>
                <a:latin typeface="Meiryo" panose="020B0604030504040204" pitchFamily="34" charset="-128"/>
                <a:ea typeface="Meiryo" panose="020B0604030504040204" pitchFamily="34" charset="-128"/>
                <a:cs typeface="MS Mincho" panose="02020609040205080304" pitchFamily="49" charset="-128"/>
              </a:rPr>
              <a:t>クライアント</a:t>
            </a:r>
            <a:r>
              <a:rPr lang="en-US" sz="1400" dirty="0">
                <a:effectLst/>
                <a:latin typeface="Meiryo" panose="020B0604030504040204" pitchFamily="34" charset="-128"/>
                <a:ea typeface="Meiryo" panose="020B0604030504040204" pitchFamily="34" charset="-128"/>
                <a:cs typeface="MS Mincho" panose="02020609040205080304" pitchFamily="49" charset="-128"/>
              </a:rPr>
              <a:t>: CA</a:t>
            </a:r>
            <a:r>
              <a:rPr lang="ja-JP" sz="1400">
                <a:effectLst/>
                <a:latin typeface="Meiryo" panose="020B0604030504040204" pitchFamily="34" charset="-128"/>
                <a:ea typeface="Meiryo" panose="020B0604030504040204" pitchFamily="34" charset="-128"/>
                <a:cs typeface="MS Mincho" panose="02020609040205080304" pitchFamily="49" charset="-128"/>
              </a:rPr>
              <a:t>証明書</a:t>
            </a:r>
            <a:r>
              <a:rPr lang="en-US" sz="1400" dirty="0">
                <a:effectLst/>
                <a:latin typeface="Meiryo" panose="020B0604030504040204" pitchFamily="34" charset="-128"/>
                <a:ea typeface="Meiryo" panose="020B0604030504040204" pitchFamily="34" charset="-128"/>
                <a:cs typeface="MS Mincho" panose="02020609040205080304" pitchFamily="49" charset="-128"/>
              </a:rPr>
              <a:t>(</a:t>
            </a:r>
            <a:r>
              <a:rPr lang="ja-JP" sz="1400">
                <a:effectLst/>
                <a:latin typeface="Meiryo" panose="020B0604030504040204" pitchFamily="34" charset="-128"/>
                <a:ea typeface="Meiryo" panose="020B0604030504040204" pitchFamily="34" charset="-128"/>
                <a:cs typeface="MS Mincho" panose="02020609040205080304" pitchFamily="49" charset="-128"/>
              </a:rPr>
              <a:t>ルート証明書</a:t>
            </a:r>
            <a:r>
              <a:rPr lang="en-US" sz="1400" dirty="0">
                <a:effectLst/>
                <a:latin typeface="Meiryo" panose="020B0604030504040204" pitchFamily="34" charset="-128"/>
                <a:ea typeface="Meiryo" panose="020B0604030504040204" pitchFamily="34" charset="-128"/>
                <a:cs typeface="MS Mincho" panose="02020609040205080304" pitchFamily="49" charset="-128"/>
              </a:rPr>
              <a:t>)</a:t>
            </a:r>
            <a:r>
              <a:rPr lang="ja-JP" sz="1400">
                <a:effectLst/>
                <a:latin typeface="Meiryo" panose="020B0604030504040204" pitchFamily="34" charset="-128"/>
                <a:ea typeface="Meiryo" panose="020B0604030504040204" pitchFamily="34" charset="-128"/>
                <a:cs typeface="MS Mincho" panose="02020609040205080304" pitchFamily="49" charset="-128"/>
              </a:rPr>
              <a:t>を信頼ストアにインポート</a:t>
            </a:r>
            <a:endParaRPr lang="en-JP" sz="1400" dirty="0">
              <a:latin typeface="Meiryo" panose="020B0604030504040204" pitchFamily="34" charset="-128"/>
              <a:ea typeface="Meiryo" panose="020B0604030504040204" pitchFamily="34" charset="-128"/>
            </a:endParaRPr>
          </a:p>
          <a:p>
            <a:pPr marL="228600">
              <a:lnSpc>
                <a:spcPct val="115000"/>
              </a:lnSpc>
              <a:spcAft>
                <a:spcPts val="1000"/>
              </a:spcAft>
            </a:pPr>
            <a:endParaRPr lang="en-JP" sz="1200" dirty="0">
              <a:effectLst/>
              <a:latin typeface="Meiryo" panose="020B0604030504040204" pitchFamily="34" charset="-128"/>
              <a:ea typeface="Meiryo" panose="020B0604030504040204" pitchFamily="34" charset="-128"/>
              <a:cs typeface="Times New Roman" panose="02020603050405020304" pitchFamily="18" charset="0"/>
            </a:endParaRPr>
          </a:p>
        </p:txBody>
      </p:sp>
      <p:sp>
        <p:nvSpPr>
          <p:cNvPr id="18" name="Rounded Rectangular Callout 17">
            <a:extLst>
              <a:ext uri="{FF2B5EF4-FFF2-40B4-BE49-F238E27FC236}">
                <a16:creationId xmlns:a16="http://schemas.microsoft.com/office/drawing/2014/main" id="{5BBF46CD-9F49-56D9-4128-C25F50582733}"/>
              </a:ext>
            </a:extLst>
          </p:cNvPr>
          <p:cNvSpPr/>
          <p:nvPr/>
        </p:nvSpPr>
        <p:spPr>
          <a:xfrm>
            <a:off x="4865917" y="3402046"/>
            <a:ext cx="4005941" cy="2089672"/>
          </a:xfrm>
          <a:prstGeom prst="wedgeRoundRectCallout">
            <a:avLst/>
          </a:prstGeom>
        </p:spPr>
        <p:style>
          <a:lnRef idx="2">
            <a:schemeClr val="accent6"/>
          </a:lnRef>
          <a:fillRef idx="1">
            <a:schemeClr val="lt1"/>
          </a:fillRef>
          <a:effectRef idx="0">
            <a:schemeClr val="accent6"/>
          </a:effectRef>
          <a:fontRef idx="minor">
            <a:schemeClr val="dk1"/>
          </a:fontRef>
        </p:style>
        <p:txBody>
          <a:bodyPr rtlCol="0" anchor="ctr"/>
          <a:lstStyle/>
          <a:p>
            <a:pPr marL="228600">
              <a:lnSpc>
                <a:spcPct val="115000"/>
              </a:lnSpc>
              <a:spcAft>
                <a:spcPts val="1000"/>
              </a:spcAft>
            </a:pPr>
            <a:r>
              <a:rPr lang="en-US" sz="1200" dirty="0">
                <a:effectLst/>
                <a:latin typeface="Meiryo" panose="020B0604030504040204" pitchFamily="34" charset="-128"/>
                <a:ea typeface="Meiryo" panose="020B0604030504040204" pitchFamily="34" charset="-128"/>
                <a:cs typeface="MS Mincho" panose="02020609040205080304" pitchFamily="49" charset="-128"/>
              </a:rPr>
              <a:t>[</a:t>
            </a:r>
            <a:r>
              <a:rPr lang="ja-JP" sz="1200">
                <a:effectLst/>
                <a:latin typeface="Meiryo" panose="020B0604030504040204" pitchFamily="34" charset="-128"/>
                <a:ea typeface="Meiryo" panose="020B0604030504040204" pitchFamily="34" charset="-128"/>
                <a:cs typeface="MS Mincho" panose="02020609040205080304" pitchFamily="49" charset="-128"/>
              </a:rPr>
              <a:t>運用段階</a:t>
            </a:r>
            <a:r>
              <a:rPr lang="en-US" sz="1200" dirty="0">
                <a:effectLst/>
                <a:latin typeface="Meiryo" panose="020B0604030504040204" pitchFamily="34" charset="-128"/>
                <a:ea typeface="Meiryo" panose="020B0604030504040204" pitchFamily="34" charset="-128"/>
                <a:cs typeface="MS Mincho" panose="02020609040205080304" pitchFamily="49" charset="-128"/>
              </a:rPr>
              <a:t>]</a:t>
            </a:r>
            <a:endParaRPr lang="en-JP" sz="1200" dirty="0">
              <a:effectLst/>
              <a:latin typeface="Meiryo" panose="020B0604030504040204" pitchFamily="34" charset="-128"/>
              <a:ea typeface="Meiryo" panose="020B0604030504040204" pitchFamily="34" charset="-128"/>
              <a:cs typeface="Times New Roman" panose="02020603050405020304" pitchFamily="18" charset="0"/>
            </a:endParaRPr>
          </a:p>
          <a:p>
            <a:pPr marL="228600">
              <a:lnSpc>
                <a:spcPct val="115000"/>
              </a:lnSpc>
              <a:spcAft>
                <a:spcPts val="1000"/>
              </a:spcAft>
            </a:pPr>
            <a:r>
              <a:rPr lang="en-US" sz="1200" dirty="0">
                <a:effectLst/>
                <a:latin typeface="Meiryo" panose="020B0604030504040204" pitchFamily="34" charset="-128"/>
                <a:ea typeface="Meiryo" panose="020B0604030504040204" pitchFamily="34" charset="-128"/>
                <a:cs typeface="MS Mincho" panose="02020609040205080304" pitchFamily="49" charset="-128"/>
              </a:rPr>
              <a:t> 11. </a:t>
            </a:r>
            <a:r>
              <a:rPr lang="ja-JP" sz="1200">
                <a:effectLst/>
                <a:latin typeface="Meiryo" panose="020B0604030504040204" pitchFamily="34" charset="-128"/>
                <a:ea typeface="Meiryo" panose="020B0604030504040204" pitchFamily="34" charset="-128"/>
                <a:cs typeface="MS Mincho" panose="02020609040205080304" pitchFamily="49" charset="-128"/>
              </a:rPr>
              <a:t>クライアント →</a:t>
            </a:r>
            <a:r>
              <a:rPr lang="en-US" sz="1200" dirty="0">
                <a:effectLst/>
                <a:latin typeface="Meiryo" panose="020B0604030504040204" pitchFamily="34" charset="-128"/>
                <a:ea typeface="Meiryo" panose="020B0604030504040204" pitchFamily="34" charset="-128"/>
                <a:cs typeface="MS Mincho" panose="02020609040205080304" pitchFamily="49" charset="-128"/>
              </a:rPr>
              <a:t> Web</a:t>
            </a:r>
            <a:r>
              <a:rPr lang="ja-JP" sz="1200">
                <a:effectLst/>
                <a:latin typeface="Meiryo" panose="020B0604030504040204" pitchFamily="34" charset="-128"/>
                <a:ea typeface="Meiryo" panose="020B0604030504040204" pitchFamily="34" charset="-128"/>
                <a:cs typeface="MS Mincho" panose="02020609040205080304" pitchFamily="49" charset="-128"/>
              </a:rPr>
              <a:t>サーバ</a:t>
            </a:r>
            <a:r>
              <a:rPr lang="en-US" sz="1200" dirty="0">
                <a:effectLst/>
                <a:latin typeface="Meiryo" panose="020B0604030504040204" pitchFamily="34" charset="-128"/>
                <a:ea typeface="Meiryo" panose="020B0604030504040204" pitchFamily="34" charset="-128"/>
                <a:cs typeface="MS Mincho" panose="02020609040205080304" pitchFamily="49" charset="-128"/>
              </a:rPr>
              <a:t>: HTTPS</a:t>
            </a:r>
            <a:r>
              <a:rPr lang="ja-JP" sz="1200">
                <a:effectLst/>
                <a:latin typeface="Meiryo" panose="020B0604030504040204" pitchFamily="34" charset="-128"/>
                <a:ea typeface="Meiryo" panose="020B0604030504040204" pitchFamily="34" charset="-128"/>
                <a:cs typeface="MS Mincho" panose="02020609040205080304" pitchFamily="49" charset="-128"/>
              </a:rPr>
              <a:t>接続</a:t>
            </a:r>
            <a:r>
              <a:rPr lang="en-US" sz="1200" dirty="0">
                <a:effectLst/>
                <a:latin typeface="Meiryo" panose="020B0604030504040204" pitchFamily="34" charset="-128"/>
                <a:ea typeface="Meiryo" panose="020B0604030504040204" pitchFamily="34" charset="-128"/>
                <a:cs typeface="MS Mincho" panose="02020609040205080304" pitchFamily="49" charset="-128"/>
              </a:rPr>
              <a:t> (https://www1.example.jp/)</a:t>
            </a:r>
            <a:endParaRPr lang="en-JP" sz="1200" dirty="0">
              <a:effectLst/>
              <a:latin typeface="Meiryo" panose="020B0604030504040204" pitchFamily="34" charset="-128"/>
              <a:ea typeface="Meiryo" panose="020B0604030504040204" pitchFamily="34" charset="-128"/>
              <a:cs typeface="Times New Roman" panose="02020603050405020304" pitchFamily="18" charset="0"/>
            </a:endParaRPr>
          </a:p>
          <a:p>
            <a:pPr marL="228600">
              <a:lnSpc>
                <a:spcPct val="115000"/>
              </a:lnSpc>
              <a:spcAft>
                <a:spcPts val="1000"/>
              </a:spcAft>
            </a:pPr>
            <a:r>
              <a:rPr lang="en-US" sz="1200" dirty="0">
                <a:effectLst/>
                <a:latin typeface="Meiryo" panose="020B0604030504040204" pitchFamily="34" charset="-128"/>
                <a:ea typeface="Meiryo" panose="020B0604030504040204" pitchFamily="34" charset="-128"/>
                <a:cs typeface="MS Mincho" panose="02020609040205080304" pitchFamily="49" charset="-128"/>
              </a:rPr>
              <a:t> 12. TLS handshake: 証明書チェーン検証</a:t>
            </a:r>
            <a:endParaRPr lang="en-JP" sz="1200" dirty="0">
              <a:effectLst/>
              <a:latin typeface="Meiryo" panose="020B0604030504040204" pitchFamily="34" charset="-128"/>
              <a:ea typeface="Meiryo" panose="020B0604030504040204" pitchFamily="34" charset="-128"/>
              <a:cs typeface="Times New Roman" panose="02020603050405020304" pitchFamily="18" charset="0"/>
            </a:endParaRPr>
          </a:p>
          <a:p>
            <a:pPr marL="228600">
              <a:lnSpc>
                <a:spcPct val="115000"/>
              </a:lnSpc>
              <a:spcAft>
                <a:spcPts val="1000"/>
              </a:spcAft>
            </a:pPr>
            <a:r>
              <a:rPr lang="en-US" sz="1200" dirty="0">
                <a:effectLst/>
                <a:latin typeface="Meiryo" panose="020B0604030504040204" pitchFamily="34" charset="-128"/>
                <a:ea typeface="Meiryo" panose="020B0604030504040204" pitchFamily="34" charset="-128"/>
                <a:cs typeface="MS Mincho" panose="02020609040205080304" pitchFamily="49" charset="-128"/>
              </a:rPr>
              <a:t> 13. 暗号化通信の確立</a:t>
            </a:r>
            <a:endParaRPr lang="en-JP" sz="1200" dirty="0">
              <a:effectLst/>
              <a:latin typeface="Meiryo" panose="020B0604030504040204" pitchFamily="34" charset="-128"/>
              <a:ea typeface="Meiryo" panose="020B0604030504040204" pitchFamily="34" charset="-128"/>
              <a:cs typeface="Times New Roman" panose="02020603050405020304" pitchFamily="18" charset="0"/>
            </a:endParaRPr>
          </a:p>
          <a:p>
            <a:pPr marL="228600">
              <a:lnSpc>
                <a:spcPct val="115000"/>
              </a:lnSpc>
              <a:spcAft>
                <a:spcPts val="1000"/>
              </a:spcAft>
            </a:pPr>
            <a:endParaRPr lang="en-JP" sz="1200" dirty="0">
              <a:effectLst/>
              <a:latin typeface="Meiryo" panose="020B0604030504040204" pitchFamily="34" charset="-128"/>
              <a:ea typeface="Meiryo" panose="020B0604030504040204" pitchFamily="34" charset="-128"/>
              <a:cs typeface="Times New Roman" panose="02020603050405020304" pitchFamily="18" charset="0"/>
            </a:endParaRPr>
          </a:p>
        </p:txBody>
      </p:sp>
    </p:spTree>
    <p:extLst>
      <p:ext uri="{BB962C8B-B14F-4D97-AF65-F5344CB8AC3E}">
        <p14:creationId xmlns:p14="http://schemas.microsoft.com/office/powerpoint/2010/main" val="13139428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743E13C-2945-1B73-3EC8-43E6E3D9684E}"/>
              </a:ext>
            </a:extLst>
          </p:cNvPr>
          <p:cNvSpPr>
            <a:spLocks noGrp="1"/>
          </p:cNvSpPr>
          <p:nvPr>
            <p:ph type="sldNum" sz="quarter" idx="12"/>
          </p:nvPr>
        </p:nvSpPr>
        <p:spPr/>
        <p:txBody>
          <a:bodyPr/>
          <a:lstStyle/>
          <a:p>
            <a:fld id="{B37FC626-4DBB-F044-A20D-82FDEAFAFBD6}" type="slidenum">
              <a:rPr lang="en-JP" smtClean="0"/>
              <a:t>9</a:t>
            </a:fld>
            <a:endParaRPr lang="en-JP"/>
          </a:p>
        </p:txBody>
      </p:sp>
      <p:sp>
        <p:nvSpPr>
          <p:cNvPr id="8" name="TextBox 7">
            <a:extLst>
              <a:ext uri="{FF2B5EF4-FFF2-40B4-BE49-F238E27FC236}">
                <a16:creationId xmlns:a16="http://schemas.microsoft.com/office/drawing/2014/main" id="{B8665F77-8C24-2CA8-9E93-E1AD08B1C2D3}"/>
              </a:ext>
            </a:extLst>
          </p:cNvPr>
          <p:cNvSpPr txBox="1"/>
          <p:nvPr/>
        </p:nvSpPr>
        <p:spPr>
          <a:xfrm>
            <a:off x="0" y="162873"/>
            <a:ext cx="4572000" cy="446276"/>
          </a:xfrm>
          <a:prstGeom prst="rect">
            <a:avLst/>
          </a:prstGeom>
          <a:noFill/>
        </p:spPr>
        <p:txBody>
          <a:bodyPr wrap="square">
            <a:spAutoFit/>
          </a:bodyPr>
          <a:lstStyle/>
          <a:p>
            <a:pPr marL="742950" lvl="1" indent="-285750">
              <a:lnSpc>
                <a:spcPct val="115000"/>
              </a:lnSpc>
              <a:buFont typeface="Wingdings" pitchFamily="2" charset="2"/>
              <a:buChar char=""/>
            </a:pPr>
            <a:r>
              <a:rPr lang="en-US" sz="2000" b="1"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CA</a:t>
            </a:r>
            <a:r>
              <a:rPr lang="ja-JP" sz="2000" b="1">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用秘密鍵の生成</a:t>
            </a:r>
            <a:endParaRPr lang="en-JP" sz="2000" b="1"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endParaRPr>
          </a:p>
        </p:txBody>
      </p:sp>
      <p:sp>
        <p:nvSpPr>
          <p:cNvPr id="10" name="TextBox 9">
            <a:extLst>
              <a:ext uri="{FF2B5EF4-FFF2-40B4-BE49-F238E27FC236}">
                <a16:creationId xmlns:a16="http://schemas.microsoft.com/office/drawing/2014/main" id="{5A8B4CC0-47FB-7E70-0605-A957CCE7A09D}"/>
              </a:ext>
            </a:extLst>
          </p:cNvPr>
          <p:cNvSpPr txBox="1"/>
          <p:nvPr/>
        </p:nvSpPr>
        <p:spPr>
          <a:xfrm>
            <a:off x="381000" y="696409"/>
            <a:ext cx="8134350" cy="1200329"/>
          </a:xfrm>
          <a:prstGeom prst="rect">
            <a:avLst/>
          </a:prstGeom>
          <a:noFill/>
        </p:spPr>
        <p:txBody>
          <a:bodyPr wrap="square">
            <a:spAutoFit/>
          </a:bodyPr>
          <a:lstStyle/>
          <a:p>
            <a:r>
              <a:rPr lang="en-JP" dirty="0">
                <a:latin typeface="Meiryo" panose="020B0604030504040204" pitchFamily="34" charset="-128"/>
                <a:ea typeface="Meiryo" panose="020B0604030504040204" pitchFamily="34" charset="-128"/>
              </a:rPr>
              <a:t>・認証局（CA）が証明書に署名するための秘密鍵を生成</a:t>
            </a:r>
          </a:p>
          <a:p>
            <a:r>
              <a:rPr lang="en-JP" dirty="0">
                <a:latin typeface="Meiryo" panose="020B0604030504040204" pitchFamily="34" charset="-128"/>
                <a:ea typeface="Meiryo" panose="020B0604030504040204" pitchFamily="34" charset="-128"/>
              </a:rPr>
              <a:t>・この鍵はCAの信頼性の根幹となるため，最も厳重に管理</a:t>
            </a:r>
          </a:p>
          <a:p>
            <a:r>
              <a:rPr lang="en-JP" dirty="0">
                <a:latin typeface="Meiryo" panose="020B0604030504040204" pitchFamily="34" charset="-128"/>
                <a:ea typeface="Meiryo" panose="020B0604030504040204" pitchFamily="34" charset="-128"/>
              </a:rPr>
              <a:t>・RSA 4096ビットを使用し，高い安全性を確保</a:t>
            </a:r>
          </a:p>
          <a:p>
            <a:r>
              <a:rPr lang="en-JP" dirty="0">
                <a:latin typeface="Meiryo" panose="020B0604030504040204" pitchFamily="34" charset="-128"/>
                <a:ea typeface="Meiryo" panose="020B0604030504040204" pitchFamily="34" charset="-128"/>
              </a:rPr>
              <a:t>・秘密鍵はパスフレーズ付きで暗号化して保存</a:t>
            </a:r>
          </a:p>
        </p:txBody>
      </p:sp>
      <p:sp>
        <p:nvSpPr>
          <p:cNvPr id="12" name="TextBox 11">
            <a:extLst>
              <a:ext uri="{FF2B5EF4-FFF2-40B4-BE49-F238E27FC236}">
                <a16:creationId xmlns:a16="http://schemas.microsoft.com/office/drawing/2014/main" id="{427B175C-CB79-EFE4-0FDA-E9DBBFF542A9}"/>
              </a:ext>
            </a:extLst>
          </p:cNvPr>
          <p:cNvSpPr txBox="1"/>
          <p:nvPr/>
        </p:nvSpPr>
        <p:spPr>
          <a:xfrm>
            <a:off x="511629" y="2051640"/>
            <a:ext cx="4572000" cy="369332"/>
          </a:xfrm>
          <a:prstGeom prst="rect">
            <a:avLst/>
          </a:prstGeom>
          <a:noFill/>
        </p:spPr>
        <p:txBody>
          <a:bodyPr wrap="square">
            <a:spAutoFit/>
          </a:bodyPr>
          <a:lstStyle/>
          <a:p>
            <a:r>
              <a:rPr lang="en-JP" dirty="0">
                <a:solidFill>
                  <a:srgbClr val="FFC000"/>
                </a:solidFill>
              </a:rPr>
              <a:t>openssl genrsa -aes256 -out ca.key.pem</a:t>
            </a:r>
            <a:r>
              <a:rPr lang="mn-MN" dirty="0">
                <a:solidFill>
                  <a:srgbClr val="FFC000"/>
                </a:solidFill>
              </a:rPr>
              <a:t> </a:t>
            </a:r>
            <a:r>
              <a:rPr lang="en-US" dirty="0">
                <a:solidFill>
                  <a:srgbClr val="FFC000"/>
                </a:solidFill>
              </a:rPr>
              <a:t>2048</a:t>
            </a:r>
            <a:endParaRPr lang="en-JP" dirty="0">
              <a:solidFill>
                <a:srgbClr val="FFC000"/>
              </a:solidFill>
            </a:endParaRPr>
          </a:p>
        </p:txBody>
      </p:sp>
      <p:sp>
        <p:nvSpPr>
          <p:cNvPr id="14" name="TextBox 13">
            <a:extLst>
              <a:ext uri="{FF2B5EF4-FFF2-40B4-BE49-F238E27FC236}">
                <a16:creationId xmlns:a16="http://schemas.microsoft.com/office/drawing/2014/main" id="{C581E929-BA0F-8F37-01EF-E7D5CE464F39}"/>
              </a:ext>
            </a:extLst>
          </p:cNvPr>
          <p:cNvSpPr txBox="1"/>
          <p:nvPr/>
        </p:nvSpPr>
        <p:spPr>
          <a:xfrm>
            <a:off x="511628" y="4036827"/>
            <a:ext cx="6444342" cy="646331"/>
          </a:xfrm>
          <a:prstGeom prst="rect">
            <a:avLst/>
          </a:prstGeom>
          <a:noFill/>
        </p:spPr>
        <p:txBody>
          <a:bodyPr wrap="square">
            <a:spAutoFit/>
          </a:bodyPr>
          <a:lstStyle/>
          <a:p>
            <a:r>
              <a:rPr lang="en-JP" dirty="0">
                <a:latin typeface="Meiryo" panose="020B0604030504040204" pitchFamily="34" charset="-128"/>
                <a:ea typeface="Meiryo" panose="020B0604030504040204" pitchFamily="34" charset="-128"/>
              </a:rPr>
              <a:t>この鍵が漏えいすると全証明書の信頼性が崩壊するため，</a:t>
            </a:r>
          </a:p>
          <a:p>
            <a:r>
              <a:rPr lang="en-JP" dirty="0">
                <a:latin typeface="Meiryo" panose="020B0604030504040204" pitchFamily="34" charset="-128"/>
                <a:ea typeface="Meiryo" panose="020B0604030504040204" pitchFamily="34" charset="-128"/>
              </a:rPr>
              <a:t>強力な暗号化と厳重な管理が必要である</a:t>
            </a:r>
            <a:r>
              <a:rPr lang="mn-MN" dirty="0">
                <a:latin typeface="Meiryo" panose="020B0604030504040204" pitchFamily="34" charset="-128"/>
                <a:ea typeface="Meiryo" panose="020B0604030504040204" pitchFamily="34" charset="-128"/>
              </a:rPr>
              <a:t>.</a:t>
            </a:r>
            <a:endParaRPr lang="en-JP" dirty="0">
              <a:latin typeface="Meiryo" panose="020B0604030504040204" pitchFamily="34" charset="-128"/>
              <a:ea typeface="Meiryo" panose="020B0604030504040204" pitchFamily="34" charset="-128"/>
            </a:endParaRPr>
          </a:p>
        </p:txBody>
      </p:sp>
      <p:sp>
        <p:nvSpPr>
          <p:cNvPr id="16" name="TextBox 15">
            <a:extLst>
              <a:ext uri="{FF2B5EF4-FFF2-40B4-BE49-F238E27FC236}">
                <a16:creationId xmlns:a16="http://schemas.microsoft.com/office/drawing/2014/main" id="{3C4724EB-5118-F66D-545A-36E4E1739935}"/>
              </a:ext>
            </a:extLst>
          </p:cNvPr>
          <p:cNvSpPr txBox="1"/>
          <p:nvPr/>
        </p:nvSpPr>
        <p:spPr>
          <a:xfrm>
            <a:off x="261257" y="5329489"/>
            <a:ext cx="6945085" cy="646331"/>
          </a:xfrm>
          <a:prstGeom prst="rect">
            <a:avLst/>
          </a:prstGeom>
          <a:noFill/>
        </p:spPr>
        <p:txBody>
          <a:bodyPr wrap="square">
            <a:spAutoFit/>
          </a:bodyPr>
          <a:lstStyle/>
          <a:p>
            <a:endParaRPr lang="en-JP" dirty="0"/>
          </a:p>
          <a:p>
            <a:r>
              <a:rPr lang="en-JP" dirty="0"/>
              <a:t>CA用の秘密鍵（ca.key）と自己署名証明書（ca.crt）を生成した</a:t>
            </a:r>
            <a:r>
              <a:rPr lang="mn-MN" dirty="0"/>
              <a:t>.</a:t>
            </a:r>
            <a:endParaRPr lang="en-JP" dirty="0"/>
          </a:p>
        </p:txBody>
      </p:sp>
      <p:sp>
        <p:nvSpPr>
          <p:cNvPr id="17" name="Down Arrow 16">
            <a:extLst>
              <a:ext uri="{FF2B5EF4-FFF2-40B4-BE49-F238E27FC236}">
                <a16:creationId xmlns:a16="http://schemas.microsoft.com/office/drawing/2014/main" id="{C108E3F3-E07E-75FA-844C-590B7A758720}"/>
              </a:ext>
            </a:extLst>
          </p:cNvPr>
          <p:cNvSpPr/>
          <p:nvPr/>
        </p:nvSpPr>
        <p:spPr>
          <a:xfrm>
            <a:off x="3047869" y="4873417"/>
            <a:ext cx="97972" cy="456072"/>
          </a:xfrm>
          <a:prstGeom prst="downArrow">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9" name="TextBox 18">
            <a:extLst>
              <a:ext uri="{FF2B5EF4-FFF2-40B4-BE49-F238E27FC236}">
                <a16:creationId xmlns:a16="http://schemas.microsoft.com/office/drawing/2014/main" id="{BA05A2CD-0F30-0702-8B3C-C9B6C905DE80}"/>
              </a:ext>
            </a:extLst>
          </p:cNvPr>
          <p:cNvSpPr txBox="1"/>
          <p:nvPr/>
        </p:nvSpPr>
        <p:spPr>
          <a:xfrm>
            <a:off x="511628" y="2551837"/>
            <a:ext cx="6346372" cy="1200329"/>
          </a:xfrm>
          <a:prstGeom prst="rect">
            <a:avLst/>
          </a:prstGeom>
          <a:noFill/>
        </p:spPr>
        <p:txBody>
          <a:bodyPr wrap="square">
            <a:spAutoFit/>
          </a:bodyPr>
          <a:lstStyle/>
          <a:p>
            <a:r>
              <a:rPr lang="en-JP" dirty="0">
                <a:solidFill>
                  <a:srgbClr val="FFC000"/>
                </a:solidFill>
                <a:latin typeface="Meiryo" panose="020B0604030504040204" pitchFamily="34" charset="-128"/>
                <a:ea typeface="Meiryo" panose="020B0604030504040204" pitchFamily="34" charset="-128"/>
              </a:rPr>
              <a:t>genrsa</a:t>
            </a:r>
            <a:r>
              <a:rPr lang="en-JP" dirty="0">
                <a:latin typeface="Meiryo" panose="020B0604030504040204" pitchFamily="34" charset="-128"/>
                <a:ea typeface="Meiryo" panose="020B0604030504040204" pitchFamily="34" charset="-128"/>
              </a:rPr>
              <a:t>→ RSA方式の秘密鍵を生成</a:t>
            </a:r>
          </a:p>
          <a:p>
            <a:r>
              <a:rPr lang="en-JP" dirty="0">
                <a:solidFill>
                  <a:srgbClr val="FFC000"/>
                </a:solidFill>
                <a:latin typeface="Meiryo" panose="020B0604030504040204" pitchFamily="34" charset="-128"/>
                <a:ea typeface="Meiryo" panose="020B0604030504040204" pitchFamily="34" charset="-128"/>
              </a:rPr>
              <a:t>2048</a:t>
            </a:r>
            <a:r>
              <a:rPr lang="en-JP" dirty="0">
                <a:latin typeface="Meiryo" panose="020B0604030504040204" pitchFamily="34" charset="-128"/>
                <a:ea typeface="Meiryo" panose="020B0604030504040204" pitchFamily="34" charset="-128"/>
              </a:rPr>
              <a:t>→ 鍵長4096ビット（安全性、ルートCA向け）</a:t>
            </a:r>
          </a:p>
          <a:p>
            <a:r>
              <a:rPr lang="en-JP" dirty="0">
                <a:solidFill>
                  <a:srgbClr val="FFC000"/>
                </a:solidFill>
                <a:latin typeface="Meiryo" panose="020B0604030504040204" pitchFamily="34" charset="-128"/>
                <a:ea typeface="Meiryo" panose="020B0604030504040204" pitchFamily="34" charset="-128"/>
              </a:rPr>
              <a:t>-aes256</a:t>
            </a:r>
            <a:r>
              <a:rPr lang="en-JP" dirty="0">
                <a:latin typeface="Meiryo" panose="020B0604030504040204" pitchFamily="34" charset="-128"/>
                <a:ea typeface="Meiryo" panose="020B0604030504040204" pitchFamily="34" charset="-128"/>
              </a:rPr>
              <a:t>→ 秘密鍵をAES-256で暗号化（漏えい対策）</a:t>
            </a:r>
          </a:p>
          <a:p>
            <a:r>
              <a:rPr lang="en-JP" dirty="0">
                <a:solidFill>
                  <a:srgbClr val="FFC000"/>
                </a:solidFill>
                <a:latin typeface="Meiryo" panose="020B0604030504040204" pitchFamily="34" charset="-128"/>
                <a:ea typeface="Meiryo" panose="020B0604030504040204" pitchFamily="34" charset="-128"/>
              </a:rPr>
              <a:t>ca.key.pem</a:t>
            </a:r>
            <a:r>
              <a:rPr lang="en-JP" dirty="0">
                <a:latin typeface="Meiryo" panose="020B0604030504040204" pitchFamily="34" charset="-128"/>
                <a:ea typeface="Meiryo" panose="020B0604030504040204" pitchFamily="34" charset="-128"/>
              </a:rPr>
              <a:t>→ CAの秘密鍵ファイル</a:t>
            </a:r>
          </a:p>
        </p:txBody>
      </p:sp>
      <p:sp>
        <p:nvSpPr>
          <p:cNvPr id="20" name="正方形/長方形 9">
            <a:extLst>
              <a:ext uri="{FF2B5EF4-FFF2-40B4-BE49-F238E27FC236}">
                <a16:creationId xmlns:a16="http://schemas.microsoft.com/office/drawing/2014/main" id="{B086DFAD-0552-D47F-2EF5-AEACD23DE661}"/>
              </a:ext>
            </a:extLst>
          </p:cNvPr>
          <p:cNvSpPr/>
          <p:nvPr/>
        </p:nvSpPr>
        <p:spPr>
          <a:xfrm>
            <a:off x="261257" y="5576413"/>
            <a:ext cx="6596743" cy="418295"/>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3" name="TextBox 2">
            <a:extLst>
              <a:ext uri="{FF2B5EF4-FFF2-40B4-BE49-F238E27FC236}">
                <a16:creationId xmlns:a16="http://schemas.microsoft.com/office/drawing/2014/main" id="{A51C6776-F0BE-DE93-2257-45A925EE5B6A}"/>
              </a:ext>
            </a:extLst>
          </p:cNvPr>
          <p:cNvSpPr txBox="1"/>
          <p:nvPr/>
        </p:nvSpPr>
        <p:spPr>
          <a:xfrm>
            <a:off x="261257" y="6325795"/>
            <a:ext cx="7417500" cy="338554"/>
          </a:xfrm>
          <a:prstGeom prst="rect">
            <a:avLst/>
          </a:prstGeom>
          <a:noFill/>
        </p:spPr>
        <p:txBody>
          <a:bodyPr wrap="square">
            <a:spAutoFit/>
          </a:bodyPr>
          <a:lstStyle/>
          <a:p>
            <a:r>
              <a:rPr lang="en-JP" sz="1600" dirty="0">
                <a:latin typeface="Times New Roman" panose="02020603050405020304" pitchFamily="18" charset="0"/>
                <a:cs typeface="Times New Roman" panose="02020603050405020304" pitchFamily="18" charset="0"/>
              </a:rPr>
              <a:t>https://docs.openssl.org/master/man1/openssl-ocsp/#ocsp-client</a:t>
            </a:r>
          </a:p>
        </p:txBody>
      </p:sp>
    </p:spTree>
    <p:extLst>
      <p:ext uri="{BB962C8B-B14F-4D97-AF65-F5344CB8AC3E}">
        <p14:creationId xmlns:p14="http://schemas.microsoft.com/office/powerpoint/2010/main" val="3763759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7C8C313-4071-45A2-6A78-025DA749EAF7}"/>
              </a:ext>
            </a:extLst>
          </p:cNvPr>
          <p:cNvSpPr>
            <a:spLocks noGrp="1"/>
          </p:cNvSpPr>
          <p:nvPr>
            <p:ph type="sldNum" sz="quarter" idx="12"/>
          </p:nvPr>
        </p:nvSpPr>
        <p:spPr/>
        <p:txBody>
          <a:bodyPr/>
          <a:lstStyle/>
          <a:p>
            <a:r>
              <a:rPr lang="en-US"/>
              <a:t>/</a:t>
            </a:r>
            <a:r>
              <a:rPr lang="mn-MN"/>
              <a:t>#</a:t>
            </a:r>
            <a:endParaRPr lang="en-JP" dirty="0"/>
          </a:p>
        </p:txBody>
      </p:sp>
      <p:sp>
        <p:nvSpPr>
          <p:cNvPr id="6" name="TextBox 5">
            <a:extLst>
              <a:ext uri="{FF2B5EF4-FFF2-40B4-BE49-F238E27FC236}">
                <a16:creationId xmlns:a16="http://schemas.microsoft.com/office/drawing/2014/main" id="{C3BADF3E-5DA2-188A-BF46-12F455F7ECA7}"/>
              </a:ext>
            </a:extLst>
          </p:cNvPr>
          <p:cNvSpPr txBox="1"/>
          <p:nvPr/>
        </p:nvSpPr>
        <p:spPr>
          <a:xfrm>
            <a:off x="272143" y="146828"/>
            <a:ext cx="4572000" cy="446276"/>
          </a:xfrm>
          <a:prstGeom prst="rect">
            <a:avLst/>
          </a:prstGeom>
          <a:noFill/>
        </p:spPr>
        <p:txBody>
          <a:bodyPr wrap="square">
            <a:spAutoFit/>
          </a:bodyPr>
          <a:lstStyle/>
          <a:p>
            <a:pPr marL="285750" indent="-285750">
              <a:lnSpc>
                <a:spcPct val="115000"/>
              </a:lnSpc>
              <a:spcAft>
                <a:spcPts val="1000"/>
              </a:spcAft>
              <a:buFont typeface="Wingdings" pitchFamily="2" charset="2"/>
              <a:buChar char="Ø"/>
            </a:pPr>
            <a:r>
              <a:rPr lang="en-JP" sz="2000" b="1"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CA</a:t>
            </a:r>
            <a:r>
              <a:rPr lang="ja-JP" sz="2000" b="1">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公開証明書の配布</a:t>
            </a:r>
            <a:endParaRPr lang="en-JP" sz="2000" b="1"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endParaRPr>
          </a:p>
        </p:txBody>
      </p:sp>
      <p:sp>
        <p:nvSpPr>
          <p:cNvPr id="8" name="TextBox 7">
            <a:extLst>
              <a:ext uri="{FF2B5EF4-FFF2-40B4-BE49-F238E27FC236}">
                <a16:creationId xmlns:a16="http://schemas.microsoft.com/office/drawing/2014/main" id="{C0270B0E-EF18-8B3E-3EF0-8E257FCF85AE}"/>
              </a:ext>
            </a:extLst>
          </p:cNvPr>
          <p:cNvSpPr txBox="1"/>
          <p:nvPr/>
        </p:nvSpPr>
        <p:spPr>
          <a:xfrm>
            <a:off x="272143" y="746637"/>
            <a:ext cx="8014607" cy="1647118"/>
          </a:xfrm>
          <a:prstGeom prst="rect">
            <a:avLst/>
          </a:prstGeom>
          <a:noFill/>
        </p:spPr>
        <p:txBody>
          <a:bodyPr wrap="square">
            <a:spAutoFit/>
          </a:bodyPr>
          <a:lstStyle/>
          <a:p>
            <a:pPr>
              <a:lnSpc>
                <a:spcPct val="115000"/>
              </a:lnSpc>
              <a:spcAft>
                <a:spcPts val="1000"/>
              </a:spcAft>
            </a:pPr>
            <a:r>
              <a:rPr lang="en-JP" sz="1800" dirty="0">
                <a:solidFill>
                  <a:srgbClr val="FFC000"/>
                </a:solidFill>
                <a:effectLst/>
                <a:latin typeface="Meiryo" panose="020B0604030504040204" pitchFamily="34" charset="-128"/>
                <a:ea typeface="Meiryo" panose="020B0604030504040204" pitchFamily="34" charset="-128"/>
                <a:cs typeface="Times New Roman" panose="02020603050405020304" pitchFamily="18" charset="0"/>
              </a:rPr>
              <a:t>cat ~/easy-rsa/pki/ca.crt</a:t>
            </a:r>
            <a:endParaRPr lang="en-JP" sz="1600" dirty="0">
              <a:effectLst/>
              <a:latin typeface="Meiryo" panose="020B0604030504040204" pitchFamily="34" charset="-128"/>
              <a:ea typeface="Meiryo" panose="020B0604030504040204" pitchFamily="34" charset="-128"/>
              <a:cs typeface="Times New Roman" panose="02020603050405020304" pitchFamily="18" charset="0"/>
            </a:endParaRPr>
          </a:p>
          <a:p>
            <a:r>
              <a:rPr lang="ja-JP" sz="1800">
                <a:effectLst/>
                <a:latin typeface="Meiryo" panose="020B0604030504040204" pitchFamily="34" charset="-128"/>
                <a:ea typeface="Meiryo" panose="020B0604030504040204" pitchFamily="34" charset="-128"/>
                <a:cs typeface="Times New Roman" panose="02020603050405020304" pitchFamily="18" charset="0"/>
              </a:rPr>
              <a:t>表示された「</a:t>
            </a:r>
            <a:r>
              <a:rPr lang="en-JP" sz="1800" dirty="0">
                <a:effectLst/>
                <a:latin typeface="Meiryo" panose="020B0604030504040204" pitchFamily="34" charset="-128"/>
                <a:ea typeface="Meiryo" panose="020B0604030504040204" pitchFamily="34" charset="-128"/>
                <a:cs typeface="Times New Roman" panose="02020603050405020304" pitchFamily="18" charset="0"/>
              </a:rPr>
              <a:t>BEGIN CERTIFICATE</a:t>
            </a:r>
            <a:r>
              <a:rPr lang="ja-JP" sz="1800">
                <a:effectLst/>
                <a:latin typeface="Meiryo" panose="020B0604030504040204" pitchFamily="34" charset="-128"/>
                <a:ea typeface="Meiryo" panose="020B0604030504040204" pitchFamily="34" charset="-128"/>
                <a:cs typeface="Times New Roman" panose="02020603050405020304" pitchFamily="18" charset="0"/>
              </a:rPr>
              <a:t>」から「</a:t>
            </a:r>
            <a:r>
              <a:rPr lang="en-JP" sz="1800" dirty="0">
                <a:effectLst/>
                <a:latin typeface="Meiryo" panose="020B0604030504040204" pitchFamily="34" charset="-128"/>
                <a:ea typeface="Meiryo" panose="020B0604030504040204" pitchFamily="34" charset="-128"/>
                <a:cs typeface="Times New Roman" panose="02020603050405020304" pitchFamily="18" charset="0"/>
              </a:rPr>
              <a:t>END CERTIFICATE</a:t>
            </a:r>
            <a:r>
              <a:rPr lang="ja-JP" sz="1800">
                <a:effectLst/>
                <a:latin typeface="Meiryo" panose="020B0604030504040204" pitchFamily="34" charset="-128"/>
                <a:ea typeface="Meiryo" panose="020B0604030504040204" pitchFamily="34" charset="-128"/>
                <a:cs typeface="Times New Roman" panose="02020603050405020304" pitchFamily="18" charset="0"/>
              </a:rPr>
              <a:t>」までの内容をすべてコピーし，</a:t>
            </a:r>
            <a:r>
              <a:rPr lang="en-JP" sz="1800" dirty="0">
                <a:effectLst/>
                <a:latin typeface="Meiryo" panose="020B0604030504040204" pitchFamily="34" charset="-128"/>
                <a:ea typeface="Meiryo" panose="020B0604030504040204" pitchFamily="34" charset="-128"/>
                <a:cs typeface="Times New Roman" panose="02020603050405020304" pitchFamily="18" charset="0"/>
              </a:rPr>
              <a:t>Web</a:t>
            </a:r>
            <a:r>
              <a:rPr lang="ja-JP" sz="1800">
                <a:effectLst/>
                <a:latin typeface="Meiryo" panose="020B0604030504040204" pitchFamily="34" charset="-128"/>
                <a:ea typeface="Meiryo" panose="020B0604030504040204" pitchFamily="34" charset="-128"/>
                <a:cs typeface="Times New Roman" panose="02020603050405020304" pitchFamily="18" charset="0"/>
              </a:rPr>
              <a:t>サーバ（</a:t>
            </a:r>
            <a:r>
              <a:rPr lang="en-JP" sz="1800" dirty="0">
                <a:effectLst/>
                <a:latin typeface="Meiryo" panose="020B0604030504040204" pitchFamily="34" charset="-128"/>
                <a:ea typeface="Meiryo" panose="020B0604030504040204" pitchFamily="34" charset="-128"/>
                <a:cs typeface="Times New Roman" panose="02020603050405020304" pitchFamily="18" charset="0"/>
              </a:rPr>
              <a:t>www1.example.jp</a:t>
            </a:r>
            <a:r>
              <a:rPr lang="ja-JP" sz="1800">
                <a:effectLst/>
                <a:latin typeface="Meiryo" panose="020B0604030504040204" pitchFamily="34" charset="-128"/>
                <a:ea typeface="Meiryo" panose="020B0604030504040204" pitchFamily="34" charset="-128"/>
                <a:cs typeface="Times New Roman" panose="02020603050405020304" pitchFamily="18" charset="0"/>
              </a:rPr>
              <a:t>）へ転送した。これにより，</a:t>
            </a:r>
            <a:r>
              <a:rPr lang="en-JP" sz="1800" dirty="0">
                <a:effectLst/>
                <a:latin typeface="Meiryo" panose="020B0604030504040204" pitchFamily="34" charset="-128"/>
                <a:ea typeface="Meiryo" panose="020B0604030504040204" pitchFamily="34" charset="-128"/>
                <a:cs typeface="Times New Roman" panose="02020603050405020304" pitchFamily="18" charset="0"/>
              </a:rPr>
              <a:t>Web</a:t>
            </a:r>
            <a:r>
              <a:rPr lang="ja-JP" sz="1800">
                <a:effectLst/>
                <a:latin typeface="Meiryo" panose="020B0604030504040204" pitchFamily="34" charset="-128"/>
                <a:ea typeface="Meiryo" panose="020B0604030504040204" pitchFamily="34" charset="-128"/>
                <a:cs typeface="Times New Roman" panose="02020603050405020304" pitchFamily="18" charset="0"/>
              </a:rPr>
              <a:t>サーバ側で</a:t>
            </a:r>
            <a:r>
              <a:rPr lang="en-JP" sz="1800" dirty="0">
                <a:effectLst/>
                <a:latin typeface="Meiryo" panose="020B0604030504040204" pitchFamily="34" charset="-128"/>
                <a:ea typeface="Meiryo" panose="020B0604030504040204" pitchFamily="34" charset="-128"/>
                <a:cs typeface="Times New Roman" panose="02020603050405020304" pitchFamily="18" charset="0"/>
              </a:rPr>
              <a:t>Private CA</a:t>
            </a:r>
            <a:r>
              <a:rPr lang="ja-JP" sz="1800">
                <a:effectLst/>
                <a:latin typeface="Meiryo" panose="020B0604030504040204" pitchFamily="34" charset="-128"/>
                <a:ea typeface="Meiryo" panose="020B0604030504040204" pitchFamily="34" charset="-128"/>
                <a:cs typeface="Times New Roman" panose="02020603050405020304" pitchFamily="18" charset="0"/>
              </a:rPr>
              <a:t>によって発行された証明書を信頼できるようになり，</a:t>
            </a:r>
            <a:r>
              <a:rPr lang="en-JP" sz="1800" dirty="0">
                <a:effectLst/>
                <a:latin typeface="Meiryo" panose="020B0604030504040204" pitchFamily="34" charset="-128"/>
                <a:ea typeface="Meiryo" panose="020B0604030504040204" pitchFamily="34" charset="-128"/>
                <a:cs typeface="Times New Roman" panose="02020603050405020304" pitchFamily="18" charset="0"/>
              </a:rPr>
              <a:t>HTTPS</a:t>
            </a:r>
            <a:r>
              <a:rPr lang="ja-JP" sz="1800">
                <a:effectLst/>
                <a:latin typeface="Meiryo" panose="020B0604030504040204" pitchFamily="34" charset="-128"/>
                <a:ea typeface="Meiryo" panose="020B0604030504040204" pitchFamily="34" charset="-128"/>
                <a:cs typeface="Times New Roman" panose="02020603050405020304" pitchFamily="18" charset="0"/>
              </a:rPr>
              <a:t>通信の基盤が整備された。</a:t>
            </a:r>
            <a:r>
              <a:rPr lang="en-JP" dirty="0">
                <a:effectLst/>
                <a:latin typeface="Meiryo" panose="020B0604030504040204" pitchFamily="34" charset="-128"/>
                <a:ea typeface="Meiryo" panose="020B0604030504040204" pitchFamily="34" charset="-128"/>
              </a:rPr>
              <a:t> </a:t>
            </a:r>
            <a:endParaRPr lang="en-JP" dirty="0">
              <a:latin typeface="Meiryo" panose="020B0604030504040204" pitchFamily="34" charset="-128"/>
              <a:ea typeface="Meiryo" panose="020B0604030504040204" pitchFamily="34" charset="-128"/>
            </a:endParaRPr>
          </a:p>
        </p:txBody>
      </p:sp>
      <p:sp>
        <p:nvSpPr>
          <p:cNvPr id="9" name="Down Arrow 8">
            <a:extLst>
              <a:ext uri="{FF2B5EF4-FFF2-40B4-BE49-F238E27FC236}">
                <a16:creationId xmlns:a16="http://schemas.microsoft.com/office/drawing/2014/main" id="{B005A138-7275-EF9C-FCC2-8615DFAA72EB}"/>
              </a:ext>
            </a:extLst>
          </p:cNvPr>
          <p:cNvSpPr/>
          <p:nvPr/>
        </p:nvSpPr>
        <p:spPr>
          <a:xfrm>
            <a:off x="3396343" y="2484770"/>
            <a:ext cx="97972" cy="456072"/>
          </a:xfrm>
          <a:prstGeom prst="downArrow">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1" name="TextBox 10">
            <a:extLst>
              <a:ext uri="{FF2B5EF4-FFF2-40B4-BE49-F238E27FC236}">
                <a16:creationId xmlns:a16="http://schemas.microsoft.com/office/drawing/2014/main" id="{AF56826E-C71C-2689-A1DD-5E8F8A44F58B}"/>
              </a:ext>
            </a:extLst>
          </p:cNvPr>
          <p:cNvSpPr txBox="1"/>
          <p:nvPr/>
        </p:nvSpPr>
        <p:spPr>
          <a:xfrm>
            <a:off x="272143" y="3241917"/>
            <a:ext cx="8567057" cy="2585323"/>
          </a:xfrm>
          <a:prstGeom prst="rect">
            <a:avLst/>
          </a:prstGeom>
          <a:noFill/>
        </p:spPr>
        <p:txBody>
          <a:bodyPr wrap="square">
            <a:spAutoFit/>
          </a:bodyPr>
          <a:lstStyle/>
          <a:p>
            <a:r>
              <a:rPr lang="en-JP" dirty="0">
                <a:latin typeface="Meiryo" panose="020B0604030504040204" pitchFamily="34" charset="-128"/>
                <a:ea typeface="Meiryo" panose="020B0604030504040204" pitchFamily="34" charset="-128"/>
              </a:rPr>
              <a:t>Private CA公開証明書の登録</a:t>
            </a:r>
          </a:p>
          <a:p>
            <a:r>
              <a:rPr lang="en-JP" dirty="0">
                <a:latin typeface="Meiryo" panose="020B0604030504040204" pitchFamily="34" charset="-128"/>
                <a:ea typeface="Meiryo" panose="020B0604030504040204" pitchFamily="34" charset="-128"/>
              </a:rPr>
              <a:t>本手順では，Private CAで作成したCA公開証明書（ca.crt）を，Webサーバ（www1.example.jp）側に登録し，Private CAを信頼できる認証局として認識させる設定</a:t>
            </a:r>
          </a:p>
          <a:p>
            <a:r>
              <a:rPr lang="en-JP" dirty="0">
                <a:solidFill>
                  <a:srgbClr val="FFC000"/>
                </a:solidFill>
                <a:latin typeface="Meiryo" panose="020B0604030504040204" pitchFamily="34" charset="-128"/>
                <a:ea typeface="Meiryo" panose="020B0604030504040204" pitchFamily="34" charset="-128"/>
              </a:rPr>
              <a:t>sudo cp /tmp/ca.crt /etc/pki/ca-trust/source/anchors/</a:t>
            </a:r>
          </a:p>
          <a:p>
            <a:r>
              <a:rPr lang="en-JP" dirty="0">
                <a:solidFill>
                  <a:srgbClr val="FFC000"/>
                </a:solidFill>
                <a:latin typeface="Meiryo" panose="020B0604030504040204" pitchFamily="34" charset="-128"/>
                <a:ea typeface="Meiryo" panose="020B0604030504040204" pitchFamily="34" charset="-128"/>
              </a:rPr>
              <a:t>sudo update-ca-trust</a:t>
            </a:r>
          </a:p>
          <a:p>
            <a:r>
              <a:rPr lang="en-JP" dirty="0">
                <a:latin typeface="Meiryo" panose="020B0604030504040204" pitchFamily="34" charset="-128"/>
                <a:ea typeface="Meiryo" panose="020B0604030504040204" pitchFamily="34" charset="-128"/>
              </a:rPr>
              <a:t>コマンドは，Private CAの公開証明書（ca.crt）を，RHEL系Linuxにおける信頼された認証局証明書の格納ディレクトリである. このディレクトリに配置された証明書は，「信頼されたCA」として扱われる対象となる。</a:t>
            </a:r>
          </a:p>
        </p:txBody>
      </p:sp>
      <p:sp>
        <p:nvSpPr>
          <p:cNvPr id="12" name="正方形/長方形 9">
            <a:extLst>
              <a:ext uri="{FF2B5EF4-FFF2-40B4-BE49-F238E27FC236}">
                <a16:creationId xmlns:a16="http://schemas.microsoft.com/office/drawing/2014/main" id="{5C41CF1F-FFBB-D97F-378F-7AE6C153BE71}"/>
              </a:ext>
            </a:extLst>
          </p:cNvPr>
          <p:cNvSpPr/>
          <p:nvPr/>
        </p:nvSpPr>
        <p:spPr>
          <a:xfrm>
            <a:off x="272143" y="3226915"/>
            <a:ext cx="3222172" cy="317712"/>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Tree>
    <p:extLst>
      <p:ext uri="{BB962C8B-B14F-4D97-AF65-F5344CB8AC3E}">
        <p14:creationId xmlns:p14="http://schemas.microsoft.com/office/powerpoint/2010/main" val="7135879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BCAE890-6F08-3BC0-D488-BBA2ED0B1E23}"/>
              </a:ext>
            </a:extLst>
          </p:cNvPr>
          <p:cNvSpPr>
            <a:spLocks noGrp="1"/>
          </p:cNvSpPr>
          <p:nvPr>
            <p:ph type="sldNum" sz="quarter" idx="12"/>
          </p:nvPr>
        </p:nvSpPr>
        <p:spPr/>
        <p:txBody>
          <a:bodyPr/>
          <a:lstStyle/>
          <a:p>
            <a:fld id="{B37FC626-4DBB-F044-A20D-82FDEAFAFBD6}" type="slidenum">
              <a:rPr lang="en-JP" smtClean="0"/>
              <a:t>11</a:t>
            </a:fld>
            <a:endParaRPr lang="en-JP"/>
          </a:p>
        </p:txBody>
      </p:sp>
      <p:sp>
        <p:nvSpPr>
          <p:cNvPr id="6" name="TextBox 5">
            <a:extLst>
              <a:ext uri="{FF2B5EF4-FFF2-40B4-BE49-F238E27FC236}">
                <a16:creationId xmlns:a16="http://schemas.microsoft.com/office/drawing/2014/main" id="{B49B4F11-BD4C-E2BC-6753-EB838E80DFC9}"/>
              </a:ext>
            </a:extLst>
          </p:cNvPr>
          <p:cNvSpPr txBox="1"/>
          <p:nvPr/>
        </p:nvSpPr>
        <p:spPr>
          <a:xfrm>
            <a:off x="-1" y="179484"/>
            <a:ext cx="5083629" cy="446276"/>
          </a:xfrm>
          <a:prstGeom prst="rect">
            <a:avLst/>
          </a:prstGeom>
          <a:noFill/>
        </p:spPr>
        <p:txBody>
          <a:bodyPr wrap="square">
            <a:spAutoFit/>
          </a:bodyPr>
          <a:lstStyle/>
          <a:p>
            <a:pPr marL="742950" lvl="1" indent="-285750">
              <a:lnSpc>
                <a:spcPct val="115000"/>
              </a:lnSpc>
              <a:spcAft>
                <a:spcPts val="1000"/>
              </a:spcAft>
              <a:buFont typeface="Wingdings" pitchFamily="2" charset="2"/>
              <a:buChar char=""/>
            </a:pPr>
            <a:r>
              <a:rPr lang="ja-JP" sz="2000" b="1">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サーバ証明書署名要求</a:t>
            </a:r>
            <a:r>
              <a:rPr lang="en-US" sz="2000" b="1"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(CSR)</a:t>
            </a:r>
            <a:r>
              <a:rPr lang="ja-JP" sz="2000" b="1">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の作成</a:t>
            </a:r>
            <a:endParaRPr lang="en-JP" sz="2000" b="1"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endParaRPr>
          </a:p>
        </p:txBody>
      </p:sp>
      <p:sp>
        <p:nvSpPr>
          <p:cNvPr id="8" name="TextBox 7">
            <a:extLst>
              <a:ext uri="{FF2B5EF4-FFF2-40B4-BE49-F238E27FC236}">
                <a16:creationId xmlns:a16="http://schemas.microsoft.com/office/drawing/2014/main" id="{78643871-F9C3-89E2-57C0-D4F81015E421}"/>
              </a:ext>
            </a:extLst>
          </p:cNvPr>
          <p:cNvSpPr txBox="1"/>
          <p:nvPr/>
        </p:nvSpPr>
        <p:spPr>
          <a:xfrm>
            <a:off x="380999" y="763565"/>
            <a:ext cx="5954487" cy="1200329"/>
          </a:xfrm>
          <a:prstGeom prst="rect">
            <a:avLst/>
          </a:prstGeom>
          <a:noFill/>
        </p:spPr>
        <p:txBody>
          <a:bodyPr wrap="square">
            <a:spAutoFit/>
          </a:bodyPr>
          <a:lstStyle/>
          <a:p>
            <a:r>
              <a:rPr lang="en-JP" dirty="0">
                <a:latin typeface="Meiryo" panose="020B0604030504040204" pitchFamily="34" charset="-128"/>
                <a:ea typeface="Meiryo" panose="020B0604030504040204" pitchFamily="34" charset="-128"/>
              </a:rPr>
              <a:t>・Webサーバ側で秘密鍵とCSRを生成</a:t>
            </a:r>
          </a:p>
          <a:p>
            <a:r>
              <a:rPr lang="en-JP" dirty="0">
                <a:latin typeface="Meiryo" panose="020B0604030504040204" pitchFamily="34" charset="-128"/>
                <a:ea typeface="Meiryo" panose="020B0604030504040204" pitchFamily="34" charset="-128"/>
              </a:rPr>
              <a:t>・CSRにはサーバの公開鍵と識別情報を含む</a:t>
            </a:r>
          </a:p>
          <a:p>
            <a:r>
              <a:rPr lang="en-JP" dirty="0">
                <a:latin typeface="Meiryo" panose="020B0604030504040204" pitchFamily="34" charset="-128"/>
                <a:ea typeface="Meiryo" panose="020B0604030504040204" pitchFamily="34" charset="-128"/>
              </a:rPr>
              <a:t>・Common Name（CN）にFQDNを指定</a:t>
            </a:r>
          </a:p>
          <a:p>
            <a:r>
              <a:rPr lang="en-JP" dirty="0">
                <a:latin typeface="Meiryo" panose="020B0604030504040204" pitchFamily="34" charset="-128"/>
                <a:ea typeface="Meiryo" panose="020B0604030504040204" pitchFamily="34" charset="-128"/>
              </a:rPr>
              <a:t>・秘密鍵はサーバ外へ送信しない</a:t>
            </a:r>
          </a:p>
        </p:txBody>
      </p:sp>
      <p:sp>
        <p:nvSpPr>
          <p:cNvPr id="10" name="TextBox 9">
            <a:extLst>
              <a:ext uri="{FF2B5EF4-FFF2-40B4-BE49-F238E27FC236}">
                <a16:creationId xmlns:a16="http://schemas.microsoft.com/office/drawing/2014/main" id="{FD8247E7-8574-3F9B-5AAC-0F8A7627B889}"/>
              </a:ext>
            </a:extLst>
          </p:cNvPr>
          <p:cNvSpPr txBox="1"/>
          <p:nvPr/>
        </p:nvSpPr>
        <p:spPr>
          <a:xfrm>
            <a:off x="522513" y="2040307"/>
            <a:ext cx="6248400" cy="410882"/>
          </a:xfrm>
          <a:prstGeom prst="rect">
            <a:avLst/>
          </a:prstGeom>
          <a:noFill/>
        </p:spPr>
        <p:txBody>
          <a:bodyPr wrap="square">
            <a:spAutoFit/>
          </a:bodyPr>
          <a:lstStyle/>
          <a:p>
            <a:pPr>
              <a:lnSpc>
                <a:spcPct val="115000"/>
              </a:lnSpc>
              <a:spcAft>
                <a:spcPts val="1000"/>
              </a:spcAft>
            </a:pPr>
            <a:r>
              <a:rPr lang="mn-MN" sz="1800" dirty="0">
                <a:solidFill>
                  <a:srgbClr val="FFC000"/>
                </a:solidFill>
                <a:effectLst/>
                <a:latin typeface="Meiryo" panose="020B0604030504040204" pitchFamily="34" charset="-128"/>
                <a:ea typeface="Meiryo" panose="020B0604030504040204" pitchFamily="34" charset="-128"/>
                <a:cs typeface="Times New Roman" panose="02020603050405020304" pitchFamily="18" charset="0"/>
              </a:rPr>
              <a:t>openssl req -new -key www1.key -out www1.csr</a:t>
            </a:r>
            <a:endParaRPr lang="en-JP" sz="1600" dirty="0">
              <a:effectLst/>
              <a:latin typeface="Meiryo" panose="020B0604030504040204" pitchFamily="34" charset="-128"/>
              <a:ea typeface="Meiryo" panose="020B0604030504040204" pitchFamily="34" charset="-128"/>
              <a:cs typeface="Times New Roman" panose="02020603050405020304" pitchFamily="18" charset="0"/>
            </a:endParaRPr>
          </a:p>
        </p:txBody>
      </p:sp>
      <p:sp>
        <p:nvSpPr>
          <p:cNvPr id="14" name="TextBox 13">
            <a:extLst>
              <a:ext uri="{FF2B5EF4-FFF2-40B4-BE49-F238E27FC236}">
                <a16:creationId xmlns:a16="http://schemas.microsoft.com/office/drawing/2014/main" id="{DA0DC741-850E-DFF0-C8CD-91A89D21F910}"/>
              </a:ext>
            </a:extLst>
          </p:cNvPr>
          <p:cNvSpPr txBox="1"/>
          <p:nvPr/>
        </p:nvSpPr>
        <p:spPr>
          <a:xfrm>
            <a:off x="522514" y="2499390"/>
            <a:ext cx="7434944" cy="1477328"/>
          </a:xfrm>
          <a:prstGeom prst="rect">
            <a:avLst/>
          </a:prstGeom>
          <a:noFill/>
        </p:spPr>
        <p:txBody>
          <a:bodyPr wrap="square">
            <a:spAutoFit/>
          </a:bodyPr>
          <a:lstStyle/>
          <a:p>
            <a:r>
              <a:rPr lang="en-JP" dirty="0">
                <a:solidFill>
                  <a:srgbClr val="FFC000"/>
                </a:solidFill>
              </a:rPr>
              <a:t>openssl req</a:t>
            </a:r>
            <a:r>
              <a:rPr lang="mn-MN" dirty="0">
                <a:solidFill>
                  <a:srgbClr val="FFC000"/>
                </a:solidFill>
              </a:rPr>
              <a:t> </a:t>
            </a:r>
            <a:r>
              <a:rPr lang="en-JP" dirty="0"/>
              <a:t>→ 証明書署名要求（CSR）を作成するためのコマンド</a:t>
            </a:r>
          </a:p>
          <a:p>
            <a:r>
              <a:rPr lang="en-JP" dirty="0">
                <a:solidFill>
                  <a:srgbClr val="FFC000"/>
                </a:solidFill>
              </a:rPr>
              <a:t>-new</a:t>
            </a:r>
            <a:r>
              <a:rPr lang="en-JP" dirty="0"/>
              <a:t>→ 新規にCSRを生成することを指定</a:t>
            </a:r>
          </a:p>
          <a:p>
            <a:r>
              <a:rPr lang="en-JP" dirty="0">
                <a:solidFill>
                  <a:srgbClr val="FFC000"/>
                </a:solidFill>
              </a:rPr>
              <a:t>-key www1.key</a:t>
            </a:r>
            <a:r>
              <a:rPr lang="mn-MN" dirty="0">
                <a:solidFill>
                  <a:srgbClr val="FFC000"/>
                </a:solidFill>
              </a:rPr>
              <a:t> </a:t>
            </a:r>
            <a:r>
              <a:rPr lang="en-JP" dirty="0"/>
              <a:t>→ 事前に生成したWebサーバの秘密鍵を使用</a:t>
            </a:r>
          </a:p>
          <a:p>
            <a:r>
              <a:rPr lang="en-JP" dirty="0"/>
              <a:t>（この秘密鍵に対応する公開鍵がCSRに含まれる）</a:t>
            </a:r>
          </a:p>
          <a:p>
            <a:r>
              <a:rPr lang="en-JP" dirty="0">
                <a:solidFill>
                  <a:srgbClr val="FFC000"/>
                </a:solidFill>
              </a:rPr>
              <a:t>-out www1.csr</a:t>
            </a:r>
            <a:r>
              <a:rPr lang="en-JP" dirty="0"/>
              <a:t>→ 作成されたCSRを www1.csr ファイルとして出力</a:t>
            </a:r>
          </a:p>
        </p:txBody>
      </p:sp>
      <p:sp>
        <p:nvSpPr>
          <p:cNvPr id="16" name="TextBox 15">
            <a:extLst>
              <a:ext uri="{FF2B5EF4-FFF2-40B4-BE49-F238E27FC236}">
                <a16:creationId xmlns:a16="http://schemas.microsoft.com/office/drawing/2014/main" id="{32806D38-7CE1-EDBA-3F61-CF88DECC67CC}"/>
              </a:ext>
            </a:extLst>
          </p:cNvPr>
          <p:cNvSpPr txBox="1"/>
          <p:nvPr/>
        </p:nvSpPr>
        <p:spPr>
          <a:xfrm>
            <a:off x="261256" y="5499803"/>
            <a:ext cx="8621487" cy="646331"/>
          </a:xfrm>
          <a:prstGeom prst="rect">
            <a:avLst/>
          </a:prstGeom>
          <a:noFill/>
        </p:spPr>
        <p:txBody>
          <a:bodyPr wrap="square">
            <a:spAutoFit/>
          </a:bodyPr>
          <a:lstStyle/>
          <a:p>
            <a:r>
              <a:rPr lang="mn-MN" altLang="ja-JP" dirty="0">
                <a:latin typeface="Meiryo" panose="020B0604030504040204" pitchFamily="34" charset="-128"/>
                <a:ea typeface="Meiryo" panose="020B0604030504040204" pitchFamily="34" charset="-128"/>
              </a:rPr>
              <a:t>  </a:t>
            </a:r>
            <a:r>
              <a:rPr lang="ja-JP" altLang="en-US">
                <a:latin typeface="Meiryo" panose="020B0604030504040204" pitchFamily="34" charset="-128"/>
                <a:ea typeface="Meiryo" panose="020B0604030504040204" pitchFamily="34" charset="-128"/>
              </a:rPr>
              <a:t>サーバ自身が公開鍵と識別情報をまとめ，</a:t>
            </a:r>
          </a:p>
          <a:p>
            <a:r>
              <a:rPr lang="ja-JP" altLang="en-US">
                <a:latin typeface="Meiryo" panose="020B0604030504040204" pitchFamily="34" charset="-128"/>
                <a:ea typeface="Meiryo" panose="020B0604030504040204" pitchFamily="34" charset="-128"/>
              </a:rPr>
              <a:t>「この鍵に証明書を発行」と</a:t>
            </a:r>
            <a:r>
              <a:rPr lang="en-US" dirty="0">
                <a:latin typeface="Meiryo" panose="020B0604030504040204" pitchFamily="34" charset="-128"/>
                <a:ea typeface="Meiryo" panose="020B0604030504040204" pitchFamily="34" charset="-128"/>
              </a:rPr>
              <a:t>CA</a:t>
            </a:r>
            <a:r>
              <a:rPr lang="ja-JP" altLang="en-US">
                <a:latin typeface="Meiryo" panose="020B0604030504040204" pitchFamily="34" charset="-128"/>
                <a:ea typeface="Meiryo" panose="020B0604030504040204" pitchFamily="34" charset="-128"/>
              </a:rPr>
              <a:t>に依頼するための</a:t>
            </a:r>
            <a:r>
              <a:rPr lang="en-US" dirty="0">
                <a:latin typeface="Meiryo" panose="020B0604030504040204" pitchFamily="34" charset="-128"/>
                <a:ea typeface="Meiryo" panose="020B0604030504040204" pitchFamily="34" charset="-128"/>
              </a:rPr>
              <a:t>CSR（</a:t>
            </a:r>
            <a:r>
              <a:rPr lang="ja-JP" altLang="en-US">
                <a:latin typeface="Meiryo" panose="020B0604030504040204" pitchFamily="34" charset="-128"/>
                <a:ea typeface="Meiryo" panose="020B0604030504040204" pitchFamily="34" charset="-128"/>
              </a:rPr>
              <a:t>証明書署名要求）を作成</a:t>
            </a:r>
            <a:endParaRPr lang="en-JP" dirty="0">
              <a:latin typeface="Meiryo" panose="020B0604030504040204" pitchFamily="34" charset="-128"/>
              <a:ea typeface="Meiryo" panose="020B0604030504040204" pitchFamily="34" charset="-128"/>
            </a:endParaRPr>
          </a:p>
        </p:txBody>
      </p:sp>
      <p:pic>
        <p:nvPicPr>
          <p:cNvPr id="17" name="Picture 16">
            <a:extLst>
              <a:ext uri="{FF2B5EF4-FFF2-40B4-BE49-F238E27FC236}">
                <a16:creationId xmlns:a16="http://schemas.microsoft.com/office/drawing/2014/main" id="{B3F0A8EE-8AE9-BFF9-B04E-810DF4C4598F}"/>
              </a:ext>
            </a:extLst>
          </p:cNvPr>
          <p:cNvPicPr>
            <a:picLocks noChangeAspect="1"/>
          </p:cNvPicPr>
          <p:nvPr/>
        </p:nvPicPr>
        <p:blipFill>
          <a:blip r:embed="rId2"/>
          <a:stretch>
            <a:fillRect/>
          </a:stretch>
        </p:blipFill>
        <p:spPr>
          <a:xfrm>
            <a:off x="653143" y="4644891"/>
            <a:ext cx="6400800" cy="509905"/>
          </a:xfrm>
          <a:prstGeom prst="rect">
            <a:avLst/>
          </a:prstGeom>
        </p:spPr>
      </p:pic>
      <p:sp>
        <p:nvSpPr>
          <p:cNvPr id="18" name="Down Arrow 17">
            <a:extLst>
              <a:ext uri="{FF2B5EF4-FFF2-40B4-BE49-F238E27FC236}">
                <a16:creationId xmlns:a16="http://schemas.microsoft.com/office/drawing/2014/main" id="{251D9ED6-770F-8D94-46DD-0CE45C034C00}"/>
              </a:ext>
            </a:extLst>
          </p:cNvPr>
          <p:cNvSpPr/>
          <p:nvPr/>
        </p:nvSpPr>
        <p:spPr>
          <a:xfrm>
            <a:off x="3271156" y="4097326"/>
            <a:ext cx="179615" cy="341074"/>
          </a:xfrm>
          <a:prstGeom prst="downArrow">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9" name="正方形/長方形 9">
            <a:extLst>
              <a:ext uri="{FF2B5EF4-FFF2-40B4-BE49-F238E27FC236}">
                <a16:creationId xmlns:a16="http://schemas.microsoft.com/office/drawing/2014/main" id="{02A878BF-B2FB-DE30-99D8-71E78141C918}"/>
              </a:ext>
            </a:extLst>
          </p:cNvPr>
          <p:cNvSpPr/>
          <p:nvPr/>
        </p:nvSpPr>
        <p:spPr>
          <a:xfrm>
            <a:off x="653143" y="4644891"/>
            <a:ext cx="6400800" cy="509904"/>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Tree>
    <p:extLst>
      <p:ext uri="{BB962C8B-B14F-4D97-AF65-F5344CB8AC3E}">
        <p14:creationId xmlns:p14="http://schemas.microsoft.com/office/powerpoint/2010/main" val="20663080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6191362-52C3-BBBC-66A0-3A1961B1E6EA}"/>
              </a:ext>
            </a:extLst>
          </p:cNvPr>
          <p:cNvSpPr>
            <a:spLocks noGrp="1"/>
          </p:cNvSpPr>
          <p:nvPr>
            <p:ph type="sldNum" sz="quarter" idx="12"/>
          </p:nvPr>
        </p:nvSpPr>
        <p:spPr/>
        <p:txBody>
          <a:bodyPr/>
          <a:lstStyle/>
          <a:p>
            <a:fld id="{B37FC626-4DBB-F044-A20D-82FDEAFAFBD6}" type="slidenum">
              <a:rPr lang="en-JP" smtClean="0"/>
              <a:t>12</a:t>
            </a:fld>
            <a:endParaRPr lang="en-JP"/>
          </a:p>
        </p:txBody>
      </p:sp>
      <p:sp>
        <p:nvSpPr>
          <p:cNvPr id="6" name="TextBox 5">
            <a:extLst>
              <a:ext uri="{FF2B5EF4-FFF2-40B4-BE49-F238E27FC236}">
                <a16:creationId xmlns:a16="http://schemas.microsoft.com/office/drawing/2014/main" id="{66E576E1-1A90-06C3-A2E6-902988FACDC7}"/>
              </a:ext>
            </a:extLst>
          </p:cNvPr>
          <p:cNvSpPr txBox="1"/>
          <p:nvPr/>
        </p:nvSpPr>
        <p:spPr>
          <a:xfrm>
            <a:off x="-193222" y="71160"/>
            <a:ext cx="6136822" cy="446276"/>
          </a:xfrm>
          <a:prstGeom prst="rect">
            <a:avLst/>
          </a:prstGeom>
          <a:noFill/>
        </p:spPr>
        <p:txBody>
          <a:bodyPr wrap="square">
            <a:spAutoFit/>
          </a:bodyPr>
          <a:lstStyle/>
          <a:p>
            <a:pPr marL="742950" lvl="1" indent="-285750">
              <a:lnSpc>
                <a:spcPct val="115000"/>
              </a:lnSpc>
              <a:spcAft>
                <a:spcPts val="1000"/>
              </a:spcAft>
              <a:buFont typeface="Wingdings" pitchFamily="2" charset="2"/>
              <a:buChar char=""/>
            </a:pPr>
            <a:r>
              <a:rPr lang="en-US" sz="2000" b="1"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CA</a:t>
            </a:r>
            <a:r>
              <a:rPr lang="ja-JP" sz="2000" b="1">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によるサーバ証明書の署名</a:t>
            </a:r>
            <a:r>
              <a:rPr lang="en-US" altLang="ja-JP" sz="2000" b="1"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 </a:t>
            </a:r>
            <a:r>
              <a:rPr lang="mn-MN" altLang="ja-JP" sz="2000" b="1" dirty="0">
                <a:solidFill>
                  <a:srgbClr val="92D050"/>
                </a:solidFill>
                <a:latin typeface="Meiryo" panose="020B0604030504040204" pitchFamily="34" charset="-128"/>
                <a:ea typeface="Meiryo" panose="020B0604030504040204" pitchFamily="34" charset="-128"/>
                <a:cs typeface="Times New Roman" panose="02020603050405020304" pitchFamily="18" charset="0"/>
              </a:rPr>
              <a:t>1</a:t>
            </a:r>
            <a:r>
              <a:rPr lang="en-US" altLang="ja-JP" sz="2000" b="1" dirty="0">
                <a:solidFill>
                  <a:srgbClr val="92D050"/>
                </a:solidFill>
                <a:latin typeface="Meiryo" panose="020B0604030504040204" pitchFamily="34" charset="-128"/>
                <a:ea typeface="Meiryo" panose="020B0604030504040204" pitchFamily="34" charset="-128"/>
                <a:cs typeface="Times New Roman" panose="02020603050405020304" pitchFamily="18" charset="0"/>
              </a:rPr>
              <a:t>/2</a:t>
            </a:r>
            <a:endParaRPr lang="en-JP" sz="2000" b="1"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endParaRPr>
          </a:p>
        </p:txBody>
      </p:sp>
      <p:sp>
        <p:nvSpPr>
          <p:cNvPr id="8" name="TextBox 7">
            <a:extLst>
              <a:ext uri="{FF2B5EF4-FFF2-40B4-BE49-F238E27FC236}">
                <a16:creationId xmlns:a16="http://schemas.microsoft.com/office/drawing/2014/main" id="{D3447BE0-DF7C-B0E9-D9A3-AA23A10BBB3D}"/>
              </a:ext>
            </a:extLst>
          </p:cNvPr>
          <p:cNvSpPr txBox="1"/>
          <p:nvPr/>
        </p:nvSpPr>
        <p:spPr>
          <a:xfrm>
            <a:off x="416379" y="632936"/>
            <a:ext cx="5734050" cy="923330"/>
          </a:xfrm>
          <a:prstGeom prst="rect">
            <a:avLst/>
          </a:prstGeom>
          <a:noFill/>
        </p:spPr>
        <p:txBody>
          <a:bodyPr wrap="square">
            <a:spAutoFit/>
          </a:bodyPr>
          <a:lstStyle/>
          <a:p>
            <a:r>
              <a:rPr lang="en-JP" dirty="0">
                <a:latin typeface="Meiryo" panose="020B0604030504040204" pitchFamily="34" charset="-128"/>
                <a:ea typeface="Meiryo" panose="020B0604030504040204" pitchFamily="34" charset="-128"/>
              </a:rPr>
              <a:t>・CAがCSRの内容を確認し，正当であることを検証</a:t>
            </a:r>
          </a:p>
          <a:p>
            <a:r>
              <a:rPr lang="en-JP" dirty="0">
                <a:latin typeface="Meiryo" panose="020B0604030504040204" pitchFamily="34" charset="-128"/>
                <a:ea typeface="Meiryo" panose="020B0604030504040204" pitchFamily="34" charset="-128"/>
              </a:rPr>
              <a:t>・CAの秘密鍵を用いてサーバ証明書に署名</a:t>
            </a:r>
          </a:p>
          <a:p>
            <a:r>
              <a:rPr lang="en-JP" dirty="0">
                <a:latin typeface="Meiryo" panose="020B0604030504040204" pitchFamily="34" charset="-128"/>
                <a:ea typeface="Meiryo" panose="020B0604030504040204" pitchFamily="34" charset="-128"/>
              </a:rPr>
              <a:t>・これにより，サーバの公開鍵の正当性が保証される</a:t>
            </a:r>
          </a:p>
        </p:txBody>
      </p:sp>
      <p:sp>
        <p:nvSpPr>
          <p:cNvPr id="10" name="TextBox 9">
            <a:extLst>
              <a:ext uri="{FF2B5EF4-FFF2-40B4-BE49-F238E27FC236}">
                <a16:creationId xmlns:a16="http://schemas.microsoft.com/office/drawing/2014/main" id="{599261F0-CB11-88D6-2115-E20F430BBA93}"/>
              </a:ext>
            </a:extLst>
          </p:cNvPr>
          <p:cNvSpPr txBox="1"/>
          <p:nvPr/>
        </p:nvSpPr>
        <p:spPr>
          <a:xfrm>
            <a:off x="536121" y="1704535"/>
            <a:ext cx="7149192" cy="857671"/>
          </a:xfrm>
          <a:prstGeom prst="rect">
            <a:avLst/>
          </a:prstGeom>
          <a:noFill/>
        </p:spPr>
        <p:txBody>
          <a:bodyPr wrap="square">
            <a:spAutoFit/>
          </a:bodyPr>
          <a:lstStyle/>
          <a:p>
            <a:pPr>
              <a:lnSpc>
                <a:spcPct val="115000"/>
              </a:lnSpc>
              <a:spcAft>
                <a:spcPts val="1000"/>
              </a:spcAft>
            </a:pPr>
            <a:r>
              <a:rPr lang="mn-MN" sz="1800" dirty="0">
                <a:solidFill>
                  <a:srgbClr val="FFC000"/>
                </a:solidFill>
                <a:effectLst/>
                <a:latin typeface="Meiryo" panose="020B0604030504040204" pitchFamily="34" charset="-128"/>
                <a:ea typeface="Meiryo" panose="020B0604030504040204" pitchFamily="34" charset="-128"/>
                <a:cs typeface="Times New Roman" panose="02020603050405020304" pitchFamily="18" charset="0"/>
              </a:rPr>
              <a:t>./easyrsa import-req /tmp/www1.csr www1</a:t>
            </a:r>
            <a:endParaRPr lang="en-JP" sz="1600" dirty="0">
              <a:effectLst/>
              <a:latin typeface="Meiryo" panose="020B0604030504040204" pitchFamily="34" charset="-128"/>
              <a:ea typeface="Meiryo" panose="020B0604030504040204" pitchFamily="34" charset="-128"/>
              <a:cs typeface="Times New Roman" panose="02020603050405020304" pitchFamily="18" charset="0"/>
            </a:endParaRPr>
          </a:p>
          <a:p>
            <a:pPr>
              <a:lnSpc>
                <a:spcPct val="115000"/>
              </a:lnSpc>
              <a:spcAft>
                <a:spcPts val="1000"/>
              </a:spcAft>
            </a:pPr>
            <a:r>
              <a:rPr lang="mn-MN" sz="1800" dirty="0">
                <a:solidFill>
                  <a:srgbClr val="FFC000"/>
                </a:solidFill>
                <a:effectLst/>
                <a:latin typeface="Meiryo" panose="020B0604030504040204" pitchFamily="34" charset="-128"/>
                <a:ea typeface="Meiryo" panose="020B0604030504040204" pitchFamily="34" charset="-128"/>
                <a:cs typeface="Times New Roman" panose="02020603050405020304" pitchFamily="18" charset="0"/>
              </a:rPr>
              <a:t>./easyrsa sign-req server www1</a:t>
            </a:r>
            <a:endParaRPr lang="en-JP" sz="1600" dirty="0">
              <a:effectLst/>
              <a:latin typeface="Meiryo" panose="020B0604030504040204" pitchFamily="34" charset="-128"/>
              <a:ea typeface="Meiryo" panose="020B0604030504040204" pitchFamily="34" charset="-128"/>
              <a:cs typeface="Times New Roman" panose="02020603050405020304" pitchFamily="18" charset="0"/>
            </a:endParaRPr>
          </a:p>
        </p:txBody>
      </p:sp>
      <p:sp>
        <p:nvSpPr>
          <p:cNvPr id="12" name="TextBox 11">
            <a:extLst>
              <a:ext uri="{FF2B5EF4-FFF2-40B4-BE49-F238E27FC236}">
                <a16:creationId xmlns:a16="http://schemas.microsoft.com/office/drawing/2014/main" id="{E5F3B961-5D8F-1B04-B325-236BB235B2D6}"/>
              </a:ext>
            </a:extLst>
          </p:cNvPr>
          <p:cNvSpPr txBox="1"/>
          <p:nvPr/>
        </p:nvSpPr>
        <p:spPr>
          <a:xfrm>
            <a:off x="518432" y="2920692"/>
            <a:ext cx="7867649" cy="923330"/>
          </a:xfrm>
          <a:prstGeom prst="rect">
            <a:avLst/>
          </a:prstGeom>
          <a:noFill/>
        </p:spPr>
        <p:txBody>
          <a:bodyPr wrap="square">
            <a:spAutoFit/>
          </a:bodyPr>
          <a:lstStyle/>
          <a:p>
            <a:r>
              <a:rPr lang="en-US" dirty="0">
                <a:solidFill>
                  <a:srgbClr val="FFC000"/>
                </a:solidFill>
                <a:latin typeface="Meiryo" panose="020B0604030504040204" pitchFamily="34" charset="-128"/>
                <a:ea typeface="Meiryo" panose="020B0604030504040204" pitchFamily="34" charset="-128"/>
              </a:rPr>
              <a:t>import-req</a:t>
            </a:r>
            <a:r>
              <a:rPr lang="en-US" dirty="0">
                <a:latin typeface="Meiryo" panose="020B0604030504040204" pitchFamily="34" charset="-128"/>
                <a:ea typeface="Meiryo" panose="020B0604030504040204" pitchFamily="34" charset="-128"/>
              </a:rPr>
              <a:t>→ Web</a:t>
            </a:r>
            <a:r>
              <a:rPr lang="ja-JP" altLang="en-US">
                <a:latin typeface="Meiryo" panose="020B0604030504040204" pitchFamily="34" charset="-128"/>
                <a:ea typeface="Meiryo" panose="020B0604030504040204" pitchFamily="34" charset="-128"/>
              </a:rPr>
              <a:t>サーバから送信された </a:t>
            </a:r>
            <a:r>
              <a:rPr lang="en-US" dirty="0">
                <a:latin typeface="Meiryo" panose="020B0604030504040204" pitchFamily="34" charset="-128"/>
                <a:ea typeface="Meiryo" panose="020B0604030504040204" pitchFamily="34" charset="-128"/>
              </a:rPr>
              <a:t>CSR </a:t>
            </a:r>
            <a:r>
              <a:rPr lang="ja-JP" altLang="en-US">
                <a:latin typeface="Meiryo" panose="020B0604030504040204" pitchFamily="34" charset="-128"/>
                <a:ea typeface="Meiryo" panose="020B0604030504040204" pitchFamily="34" charset="-128"/>
              </a:rPr>
              <a:t>を </a:t>
            </a:r>
            <a:r>
              <a:rPr lang="en-US" dirty="0">
                <a:latin typeface="Meiryo" panose="020B0604030504040204" pitchFamily="34" charset="-128"/>
                <a:ea typeface="Meiryo" panose="020B0604030504040204" pitchFamily="34" charset="-128"/>
              </a:rPr>
              <a:t>CA </a:t>
            </a:r>
            <a:r>
              <a:rPr lang="ja-JP" altLang="en-US">
                <a:latin typeface="Meiryo" panose="020B0604030504040204" pitchFamily="34" charset="-128"/>
                <a:ea typeface="Meiryo" panose="020B0604030504040204" pitchFamily="34" charset="-128"/>
              </a:rPr>
              <a:t>環境に取り込む</a:t>
            </a:r>
          </a:p>
          <a:p>
            <a:r>
              <a:rPr lang="en-US" altLang="ja-JP" dirty="0">
                <a:solidFill>
                  <a:srgbClr val="FFC000"/>
                </a:solidFill>
                <a:latin typeface="Meiryo" panose="020B0604030504040204" pitchFamily="34" charset="-128"/>
                <a:ea typeface="Meiryo" panose="020B0604030504040204" pitchFamily="34" charset="-128"/>
              </a:rPr>
              <a:t>/</a:t>
            </a:r>
            <a:r>
              <a:rPr lang="en-US" dirty="0" err="1">
                <a:solidFill>
                  <a:srgbClr val="FFC000"/>
                </a:solidFill>
                <a:latin typeface="Meiryo" panose="020B0604030504040204" pitchFamily="34" charset="-128"/>
                <a:ea typeface="Meiryo" panose="020B0604030504040204" pitchFamily="34" charset="-128"/>
              </a:rPr>
              <a:t>tmp</a:t>
            </a:r>
            <a:r>
              <a:rPr lang="en-US" dirty="0">
                <a:solidFill>
                  <a:srgbClr val="FFC000"/>
                </a:solidFill>
                <a:latin typeface="Meiryo" panose="020B0604030504040204" pitchFamily="34" charset="-128"/>
                <a:ea typeface="Meiryo" panose="020B0604030504040204" pitchFamily="34" charset="-128"/>
              </a:rPr>
              <a:t>/www1.csr</a:t>
            </a:r>
            <a:r>
              <a:rPr lang="en-US" dirty="0">
                <a:latin typeface="Meiryo" panose="020B0604030504040204" pitchFamily="34" charset="-128"/>
                <a:ea typeface="Meiryo" panose="020B0604030504040204" pitchFamily="34" charset="-128"/>
              </a:rPr>
              <a:t>→ </a:t>
            </a:r>
            <a:r>
              <a:rPr lang="ja-JP" altLang="en-US">
                <a:latin typeface="Meiryo" panose="020B0604030504040204" pitchFamily="34" charset="-128"/>
                <a:ea typeface="Meiryo" panose="020B0604030504040204" pitchFamily="34" charset="-128"/>
              </a:rPr>
              <a:t>サーバ側で作成された証明書署名要求ファイル</a:t>
            </a:r>
          </a:p>
          <a:p>
            <a:r>
              <a:rPr lang="en-US" dirty="0">
                <a:solidFill>
                  <a:srgbClr val="FFC000"/>
                </a:solidFill>
                <a:latin typeface="Meiryo" panose="020B0604030504040204" pitchFamily="34" charset="-128"/>
                <a:ea typeface="Meiryo" panose="020B0604030504040204" pitchFamily="34" charset="-128"/>
              </a:rPr>
              <a:t>www1</a:t>
            </a:r>
            <a:r>
              <a:rPr lang="en-US" dirty="0">
                <a:latin typeface="Meiryo" panose="020B0604030504040204" pitchFamily="34" charset="-128"/>
                <a:ea typeface="Meiryo" panose="020B0604030504040204" pitchFamily="34" charset="-128"/>
              </a:rPr>
              <a:t>→ CA</a:t>
            </a:r>
            <a:r>
              <a:rPr lang="ja-JP" altLang="en-US">
                <a:latin typeface="Meiryo" panose="020B0604030504040204" pitchFamily="34" charset="-128"/>
                <a:ea typeface="Meiryo" panose="020B0604030504040204" pitchFamily="34" charset="-128"/>
              </a:rPr>
              <a:t>内部で管理する証明書名（識別用）</a:t>
            </a:r>
          </a:p>
        </p:txBody>
      </p:sp>
      <p:sp>
        <p:nvSpPr>
          <p:cNvPr id="13" name="Down Arrow 12">
            <a:extLst>
              <a:ext uri="{FF2B5EF4-FFF2-40B4-BE49-F238E27FC236}">
                <a16:creationId xmlns:a16="http://schemas.microsoft.com/office/drawing/2014/main" id="{DFDB8E25-4039-6678-B2DD-E54CF293565B}"/>
              </a:ext>
            </a:extLst>
          </p:cNvPr>
          <p:cNvSpPr/>
          <p:nvPr/>
        </p:nvSpPr>
        <p:spPr>
          <a:xfrm>
            <a:off x="3193596" y="4002257"/>
            <a:ext cx="179615" cy="341074"/>
          </a:xfrm>
          <a:prstGeom prst="downArrow">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5" name="TextBox 14">
            <a:extLst>
              <a:ext uri="{FF2B5EF4-FFF2-40B4-BE49-F238E27FC236}">
                <a16:creationId xmlns:a16="http://schemas.microsoft.com/office/drawing/2014/main" id="{6227E19A-81F8-D304-90CE-310004DB1E05}"/>
              </a:ext>
            </a:extLst>
          </p:cNvPr>
          <p:cNvSpPr txBox="1"/>
          <p:nvPr/>
        </p:nvSpPr>
        <p:spPr>
          <a:xfrm>
            <a:off x="536121" y="4659801"/>
            <a:ext cx="7671708" cy="646331"/>
          </a:xfrm>
          <a:prstGeom prst="rect">
            <a:avLst/>
          </a:prstGeom>
          <a:noFill/>
        </p:spPr>
        <p:txBody>
          <a:bodyPr wrap="square">
            <a:spAutoFit/>
          </a:bodyPr>
          <a:lstStyle/>
          <a:p>
            <a:r>
              <a:rPr lang="en-JP" dirty="0">
                <a:latin typeface="Meiryo" panose="020B0604030504040204" pitchFamily="34" charset="-128"/>
                <a:ea typeface="Meiryo" panose="020B0604030504040204" pitchFamily="34" charset="-128"/>
              </a:rPr>
              <a:t>Webサーバで作成されたCSRをCAサーバに取り込み，証明書発行のための準備を行った。</a:t>
            </a:r>
          </a:p>
        </p:txBody>
      </p:sp>
      <p:sp>
        <p:nvSpPr>
          <p:cNvPr id="16" name="正方形/長方形 9">
            <a:extLst>
              <a:ext uri="{FF2B5EF4-FFF2-40B4-BE49-F238E27FC236}">
                <a16:creationId xmlns:a16="http://schemas.microsoft.com/office/drawing/2014/main" id="{AABB63ED-A1DA-A780-0E76-67CDB1301EB1}"/>
              </a:ext>
            </a:extLst>
          </p:cNvPr>
          <p:cNvSpPr/>
          <p:nvPr/>
        </p:nvSpPr>
        <p:spPr>
          <a:xfrm>
            <a:off x="594632" y="4659801"/>
            <a:ext cx="7554686" cy="646330"/>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Tree>
    <p:extLst>
      <p:ext uri="{BB962C8B-B14F-4D97-AF65-F5344CB8AC3E}">
        <p14:creationId xmlns:p14="http://schemas.microsoft.com/office/powerpoint/2010/main" val="3300707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A6AEA05-299D-11DE-BA1A-FE5FFDAF9328}"/>
              </a:ext>
            </a:extLst>
          </p:cNvPr>
          <p:cNvSpPr>
            <a:spLocks noGrp="1"/>
          </p:cNvSpPr>
          <p:nvPr>
            <p:ph type="sldNum" sz="quarter" idx="12"/>
          </p:nvPr>
        </p:nvSpPr>
        <p:spPr/>
        <p:txBody>
          <a:bodyPr/>
          <a:lstStyle/>
          <a:p>
            <a:r>
              <a:rPr lang="en-JP" dirty="0"/>
              <a:t>13</a:t>
            </a:r>
          </a:p>
        </p:txBody>
      </p:sp>
      <p:sp>
        <p:nvSpPr>
          <p:cNvPr id="6" name="TextBox 5">
            <a:extLst>
              <a:ext uri="{FF2B5EF4-FFF2-40B4-BE49-F238E27FC236}">
                <a16:creationId xmlns:a16="http://schemas.microsoft.com/office/drawing/2014/main" id="{505B4073-2317-5B62-B655-DEE1E7385F37}"/>
              </a:ext>
            </a:extLst>
          </p:cNvPr>
          <p:cNvSpPr txBox="1"/>
          <p:nvPr/>
        </p:nvSpPr>
        <p:spPr>
          <a:xfrm>
            <a:off x="-315687" y="0"/>
            <a:ext cx="5222421" cy="446276"/>
          </a:xfrm>
          <a:prstGeom prst="rect">
            <a:avLst/>
          </a:prstGeom>
          <a:noFill/>
        </p:spPr>
        <p:txBody>
          <a:bodyPr wrap="square">
            <a:spAutoFit/>
          </a:bodyPr>
          <a:lstStyle/>
          <a:p>
            <a:pPr marL="742950" lvl="1" indent="-285750">
              <a:lnSpc>
                <a:spcPct val="115000"/>
              </a:lnSpc>
              <a:spcAft>
                <a:spcPts val="1000"/>
              </a:spcAft>
              <a:buFont typeface="Wingdings" pitchFamily="2" charset="2"/>
              <a:buChar char=""/>
            </a:pPr>
            <a:r>
              <a:rPr lang="en-US" sz="2000" b="1"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CA</a:t>
            </a:r>
            <a:r>
              <a:rPr lang="ja-JP" sz="2000" b="1">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によるサーバ証明書の署名</a:t>
            </a:r>
            <a:r>
              <a:rPr lang="en-US" altLang="ja-JP" sz="2000" b="1"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 2</a:t>
            </a:r>
            <a:r>
              <a:rPr lang="en-US" altLang="ja-JP" sz="2000" b="1" dirty="0">
                <a:solidFill>
                  <a:srgbClr val="92D050"/>
                </a:solidFill>
                <a:latin typeface="Meiryo" panose="020B0604030504040204" pitchFamily="34" charset="-128"/>
                <a:ea typeface="Meiryo" panose="020B0604030504040204" pitchFamily="34" charset="-128"/>
                <a:cs typeface="Times New Roman" panose="02020603050405020304" pitchFamily="18" charset="0"/>
              </a:rPr>
              <a:t>/2</a:t>
            </a:r>
            <a:endParaRPr lang="en-JP" sz="2000" b="1"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endParaRPr>
          </a:p>
        </p:txBody>
      </p:sp>
      <p:sp>
        <p:nvSpPr>
          <p:cNvPr id="8" name="TextBox 7">
            <a:extLst>
              <a:ext uri="{FF2B5EF4-FFF2-40B4-BE49-F238E27FC236}">
                <a16:creationId xmlns:a16="http://schemas.microsoft.com/office/drawing/2014/main" id="{B51738DE-9F1D-4530-ACBA-46BE5CFEE3BE}"/>
              </a:ext>
            </a:extLst>
          </p:cNvPr>
          <p:cNvSpPr txBox="1"/>
          <p:nvPr/>
        </p:nvSpPr>
        <p:spPr>
          <a:xfrm>
            <a:off x="176893" y="921230"/>
            <a:ext cx="4729842" cy="410882"/>
          </a:xfrm>
          <a:prstGeom prst="rect">
            <a:avLst/>
          </a:prstGeom>
          <a:noFill/>
        </p:spPr>
        <p:txBody>
          <a:bodyPr wrap="square">
            <a:spAutoFit/>
          </a:bodyPr>
          <a:lstStyle/>
          <a:p>
            <a:pPr>
              <a:lnSpc>
                <a:spcPct val="115000"/>
              </a:lnSpc>
              <a:spcAft>
                <a:spcPts val="1000"/>
              </a:spcAft>
            </a:pPr>
            <a:r>
              <a:rPr lang="mn-MN" sz="1800" dirty="0">
                <a:solidFill>
                  <a:srgbClr val="FFC000"/>
                </a:solidFill>
                <a:effectLst/>
                <a:latin typeface="Meiryo" panose="020B0604030504040204" pitchFamily="34" charset="-128"/>
                <a:ea typeface="Meiryo" panose="020B0604030504040204" pitchFamily="34" charset="-128"/>
                <a:cs typeface="Times New Roman" panose="02020603050405020304" pitchFamily="18" charset="0"/>
              </a:rPr>
              <a:t>./easyrsa sign-req server www1</a:t>
            </a:r>
            <a:endParaRPr lang="en-JP" sz="1600" dirty="0">
              <a:effectLst/>
              <a:latin typeface="Meiryo" panose="020B0604030504040204" pitchFamily="34" charset="-128"/>
              <a:ea typeface="Meiryo" panose="020B0604030504040204" pitchFamily="34" charset="-128"/>
              <a:cs typeface="Times New Roman" panose="02020603050405020304" pitchFamily="18" charset="0"/>
            </a:endParaRPr>
          </a:p>
        </p:txBody>
      </p:sp>
      <p:sp>
        <p:nvSpPr>
          <p:cNvPr id="10" name="TextBox 9">
            <a:extLst>
              <a:ext uri="{FF2B5EF4-FFF2-40B4-BE49-F238E27FC236}">
                <a16:creationId xmlns:a16="http://schemas.microsoft.com/office/drawing/2014/main" id="{5DE8CA5A-85FE-DA83-27EE-97F1A0A9DD89}"/>
              </a:ext>
            </a:extLst>
          </p:cNvPr>
          <p:cNvSpPr txBox="1"/>
          <p:nvPr/>
        </p:nvSpPr>
        <p:spPr>
          <a:xfrm>
            <a:off x="340179" y="551898"/>
            <a:ext cx="4729842" cy="369332"/>
          </a:xfrm>
          <a:prstGeom prst="rect">
            <a:avLst/>
          </a:prstGeom>
          <a:noFill/>
        </p:spPr>
        <p:txBody>
          <a:bodyPr wrap="square">
            <a:spAutoFit/>
          </a:bodyPr>
          <a:lstStyle/>
          <a:p>
            <a:r>
              <a:rPr lang="en-JP" dirty="0">
                <a:latin typeface="Meiryo" panose="020B0604030504040204" pitchFamily="34" charset="-128"/>
                <a:ea typeface="Meiryo" panose="020B0604030504040204" pitchFamily="34" charset="-128"/>
              </a:rPr>
              <a:t>サーバ証明書の署名（sign）</a:t>
            </a:r>
          </a:p>
        </p:txBody>
      </p:sp>
      <p:sp>
        <p:nvSpPr>
          <p:cNvPr id="12" name="TextBox 11">
            <a:extLst>
              <a:ext uri="{FF2B5EF4-FFF2-40B4-BE49-F238E27FC236}">
                <a16:creationId xmlns:a16="http://schemas.microsoft.com/office/drawing/2014/main" id="{B6F8EB78-5138-1869-715F-99E5F03192E8}"/>
              </a:ext>
            </a:extLst>
          </p:cNvPr>
          <p:cNvSpPr txBox="1"/>
          <p:nvPr/>
        </p:nvSpPr>
        <p:spPr>
          <a:xfrm>
            <a:off x="258535" y="1332112"/>
            <a:ext cx="7840436" cy="923330"/>
          </a:xfrm>
          <a:prstGeom prst="rect">
            <a:avLst/>
          </a:prstGeom>
          <a:noFill/>
        </p:spPr>
        <p:txBody>
          <a:bodyPr wrap="square">
            <a:spAutoFit/>
          </a:bodyPr>
          <a:lstStyle/>
          <a:p>
            <a:r>
              <a:rPr lang="en-JP" dirty="0">
                <a:solidFill>
                  <a:srgbClr val="FFC000"/>
                </a:solidFill>
                <a:latin typeface="Meiryo" panose="020B0604030504040204" pitchFamily="34" charset="-128"/>
                <a:ea typeface="Meiryo" panose="020B0604030504040204" pitchFamily="34" charset="-128"/>
              </a:rPr>
              <a:t>sign-req</a:t>
            </a:r>
            <a:r>
              <a:rPr lang="en-JP" dirty="0">
                <a:latin typeface="Meiryo" panose="020B0604030504040204" pitchFamily="34" charset="-128"/>
                <a:ea typeface="Meiryo" panose="020B0604030504040204" pitchFamily="34" charset="-128"/>
              </a:rPr>
              <a:t>→ CSRに対してCAの秘密鍵で署名を行う</a:t>
            </a:r>
          </a:p>
          <a:p>
            <a:r>
              <a:rPr lang="en-JP" dirty="0">
                <a:solidFill>
                  <a:srgbClr val="FFC000"/>
                </a:solidFill>
                <a:latin typeface="Meiryo" panose="020B0604030504040204" pitchFamily="34" charset="-128"/>
                <a:ea typeface="Meiryo" panose="020B0604030504040204" pitchFamily="34" charset="-128"/>
              </a:rPr>
              <a:t>server</a:t>
            </a:r>
            <a:r>
              <a:rPr lang="en-JP" dirty="0">
                <a:latin typeface="Meiryo" panose="020B0604030504040204" pitchFamily="34" charset="-128"/>
                <a:ea typeface="Meiryo" panose="020B0604030504040204" pitchFamily="34" charset="-128"/>
              </a:rPr>
              <a:t>→ サーバ証明書として発行することを指定（TLS Webサーバ用）</a:t>
            </a:r>
          </a:p>
          <a:p>
            <a:r>
              <a:rPr lang="en-JP" dirty="0">
                <a:solidFill>
                  <a:srgbClr val="FFC000"/>
                </a:solidFill>
                <a:latin typeface="Meiryo" panose="020B0604030504040204" pitchFamily="34" charset="-128"/>
                <a:ea typeface="Meiryo" panose="020B0604030504040204" pitchFamily="34" charset="-128"/>
              </a:rPr>
              <a:t>www1</a:t>
            </a:r>
            <a:r>
              <a:rPr lang="en-JP" dirty="0">
                <a:latin typeface="Meiryo" panose="020B0604030504040204" pitchFamily="34" charset="-128"/>
                <a:ea typeface="Meiryo" panose="020B0604030504040204" pitchFamily="34" charset="-128"/>
              </a:rPr>
              <a:t>→ 先ほど取り込んだCSRの名前</a:t>
            </a:r>
          </a:p>
        </p:txBody>
      </p:sp>
      <p:pic>
        <p:nvPicPr>
          <p:cNvPr id="13" name="Picture 12">
            <a:extLst>
              <a:ext uri="{FF2B5EF4-FFF2-40B4-BE49-F238E27FC236}">
                <a16:creationId xmlns:a16="http://schemas.microsoft.com/office/drawing/2014/main" id="{039ECF23-C400-0020-1029-915D068A78E0}"/>
              </a:ext>
            </a:extLst>
          </p:cNvPr>
          <p:cNvPicPr>
            <a:picLocks noChangeAspect="1"/>
          </p:cNvPicPr>
          <p:nvPr/>
        </p:nvPicPr>
        <p:blipFill>
          <a:blip r:embed="rId2"/>
          <a:stretch>
            <a:fillRect/>
          </a:stretch>
        </p:blipFill>
        <p:spPr>
          <a:xfrm>
            <a:off x="340179" y="2491979"/>
            <a:ext cx="8030935" cy="2210650"/>
          </a:xfrm>
          <a:prstGeom prst="rect">
            <a:avLst/>
          </a:prstGeom>
        </p:spPr>
      </p:pic>
      <p:sp>
        <p:nvSpPr>
          <p:cNvPr id="15" name="TextBox 14">
            <a:extLst>
              <a:ext uri="{FF2B5EF4-FFF2-40B4-BE49-F238E27FC236}">
                <a16:creationId xmlns:a16="http://schemas.microsoft.com/office/drawing/2014/main" id="{68D9F3FD-D528-96D3-0E44-9F0E92B6FB87}"/>
              </a:ext>
            </a:extLst>
          </p:cNvPr>
          <p:cNvSpPr txBox="1"/>
          <p:nvPr/>
        </p:nvSpPr>
        <p:spPr>
          <a:xfrm>
            <a:off x="340179" y="5525888"/>
            <a:ext cx="7029450" cy="646331"/>
          </a:xfrm>
          <a:prstGeom prst="rect">
            <a:avLst/>
          </a:prstGeom>
          <a:noFill/>
        </p:spPr>
        <p:txBody>
          <a:bodyPr wrap="square">
            <a:spAutoFit/>
          </a:bodyPr>
          <a:lstStyle/>
          <a:p>
            <a:r>
              <a:rPr lang="en-JP" dirty="0">
                <a:latin typeface="Meiryo" panose="020B0604030504040204" pitchFamily="34" charset="-128"/>
                <a:ea typeface="Meiryo" panose="020B0604030504040204" pitchFamily="34" charset="-128"/>
              </a:rPr>
              <a:t>CSRの内容を確認した上で，CAの秘密鍵を用いて署名を行い，</a:t>
            </a:r>
          </a:p>
          <a:p>
            <a:r>
              <a:rPr lang="en-JP" dirty="0">
                <a:latin typeface="Meiryo" panose="020B0604030504040204" pitchFamily="34" charset="-128"/>
                <a:ea typeface="Meiryo" panose="020B0604030504040204" pitchFamily="34" charset="-128"/>
              </a:rPr>
              <a:t>正式なサーバ証明書を発行した。</a:t>
            </a:r>
          </a:p>
        </p:txBody>
      </p:sp>
      <p:sp>
        <p:nvSpPr>
          <p:cNvPr id="16" name="Down Arrow 15">
            <a:extLst>
              <a:ext uri="{FF2B5EF4-FFF2-40B4-BE49-F238E27FC236}">
                <a16:creationId xmlns:a16="http://schemas.microsoft.com/office/drawing/2014/main" id="{ECA8EDDB-8301-D3AD-413E-FCE0DBF5B0EE}"/>
              </a:ext>
            </a:extLst>
          </p:cNvPr>
          <p:cNvSpPr/>
          <p:nvPr/>
        </p:nvSpPr>
        <p:spPr>
          <a:xfrm>
            <a:off x="3520168" y="5000682"/>
            <a:ext cx="179615" cy="341074"/>
          </a:xfrm>
          <a:prstGeom prst="downArrow">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7" name="正方形/長方形 9">
            <a:extLst>
              <a:ext uri="{FF2B5EF4-FFF2-40B4-BE49-F238E27FC236}">
                <a16:creationId xmlns:a16="http://schemas.microsoft.com/office/drawing/2014/main" id="{A4EE2064-1911-7C83-CCA0-4BB28D0D391E}"/>
              </a:ext>
            </a:extLst>
          </p:cNvPr>
          <p:cNvSpPr/>
          <p:nvPr/>
        </p:nvSpPr>
        <p:spPr>
          <a:xfrm>
            <a:off x="340178" y="2513073"/>
            <a:ext cx="8030935" cy="2189555"/>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Tree>
    <p:extLst>
      <p:ext uri="{BB962C8B-B14F-4D97-AF65-F5344CB8AC3E}">
        <p14:creationId xmlns:p14="http://schemas.microsoft.com/office/powerpoint/2010/main" val="30374253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8D68C42-DB88-45A8-9E01-76D95C4BCDB6}"/>
              </a:ext>
            </a:extLst>
          </p:cNvPr>
          <p:cNvSpPr>
            <a:spLocks noGrp="1"/>
          </p:cNvSpPr>
          <p:nvPr>
            <p:ph type="sldNum" sz="quarter" idx="12"/>
          </p:nvPr>
        </p:nvSpPr>
        <p:spPr/>
        <p:txBody>
          <a:bodyPr/>
          <a:lstStyle/>
          <a:p>
            <a:fld id="{B37FC626-4DBB-F044-A20D-82FDEAFAFBD6}" type="slidenum">
              <a:rPr lang="en-JP" smtClean="0"/>
              <a:t>14</a:t>
            </a:fld>
            <a:endParaRPr lang="en-JP"/>
          </a:p>
        </p:txBody>
      </p:sp>
      <p:sp>
        <p:nvSpPr>
          <p:cNvPr id="6" name="TextBox 5">
            <a:extLst>
              <a:ext uri="{FF2B5EF4-FFF2-40B4-BE49-F238E27FC236}">
                <a16:creationId xmlns:a16="http://schemas.microsoft.com/office/drawing/2014/main" id="{01B75596-2421-11CE-8F05-7F024B17B908}"/>
              </a:ext>
            </a:extLst>
          </p:cNvPr>
          <p:cNvSpPr txBox="1"/>
          <p:nvPr/>
        </p:nvSpPr>
        <p:spPr>
          <a:xfrm>
            <a:off x="337456" y="174562"/>
            <a:ext cx="7195458" cy="400110"/>
          </a:xfrm>
          <a:prstGeom prst="rect">
            <a:avLst/>
          </a:prstGeom>
          <a:noFill/>
        </p:spPr>
        <p:txBody>
          <a:bodyPr wrap="square">
            <a:spAutoFit/>
          </a:bodyPr>
          <a:lstStyle/>
          <a:p>
            <a:pPr marL="285750" indent="-285750">
              <a:buFont typeface="Wingdings" pitchFamily="2" charset="2"/>
              <a:buChar char="Ø"/>
            </a:pPr>
            <a:r>
              <a:rPr lang="en-US" sz="2000" b="1"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Web</a:t>
            </a:r>
            <a:r>
              <a:rPr lang="ja-JP" sz="2000" b="1">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サーバ</a:t>
            </a:r>
            <a:r>
              <a:rPr lang="en-US" sz="2000" b="1"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(Apache httpd)</a:t>
            </a:r>
            <a:r>
              <a:rPr lang="ja-JP" sz="2000" b="1">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への証明書設定</a:t>
            </a:r>
            <a:r>
              <a:rPr lang="ja-JP" altLang="en-US" sz="2000" b="1">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　１</a:t>
            </a:r>
            <a:r>
              <a:rPr lang="en-US" altLang="ja-JP" sz="2000" b="1"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/3</a:t>
            </a:r>
            <a:r>
              <a:rPr lang="en-JP" sz="2000" b="1" dirty="0">
                <a:solidFill>
                  <a:srgbClr val="92D050"/>
                </a:solidFill>
                <a:effectLst/>
                <a:latin typeface="Meiryo" panose="020B0604030504040204" pitchFamily="34" charset="-128"/>
                <a:ea typeface="Meiryo" panose="020B0604030504040204" pitchFamily="34" charset="-128"/>
              </a:rPr>
              <a:t> </a:t>
            </a:r>
            <a:endParaRPr lang="en-JP" sz="2000" b="1" dirty="0">
              <a:solidFill>
                <a:srgbClr val="92D050"/>
              </a:solidFill>
              <a:latin typeface="Meiryo" panose="020B0604030504040204" pitchFamily="34" charset="-128"/>
              <a:ea typeface="Meiryo" panose="020B0604030504040204" pitchFamily="34" charset="-128"/>
            </a:endParaRPr>
          </a:p>
        </p:txBody>
      </p:sp>
      <p:sp>
        <p:nvSpPr>
          <p:cNvPr id="8" name="TextBox 7">
            <a:extLst>
              <a:ext uri="{FF2B5EF4-FFF2-40B4-BE49-F238E27FC236}">
                <a16:creationId xmlns:a16="http://schemas.microsoft.com/office/drawing/2014/main" id="{3DC390FB-0A68-F23E-0061-7B6FE4DDC686}"/>
              </a:ext>
            </a:extLst>
          </p:cNvPr>
          <p:cNvSpPr txBox="1"/>
          <p:nvPr/>
        </p:nvSpPr>
        <p:spPr>
          <a:xfrm>
            <a:off x="337456" y="745036"/>
            <a:ext cx="7053942" cy="1015663"/>
          </a:xfrm>
          <a:prstGeom prst="rect">
            <a:avLst/>
          </a:prstGeom>
          <a:noFill/>
        </p:spPr>
        <p:txBody>
          <a:bodyPr wrap="square">
            <a:spAutoFit/>
          </a:bodyPr>
          <a:lstStyle/>
          <a:p>
            <a:r>
              <a:rPr lang="en-JP" sz="2000" dirty="0">
                <a:latin typeface="Meiryo" panose="020B0604030504040204" pitchFamily="34" charset="-128"/>
                <a:ea typeface="Meiryo" panose="020B0604030504040204" pitchFamily="34" charset="-128"/>
              </a:rPr>
              <a:t>・発行されたサーバ証明書と秘密鍵をApacheに設定</a:t>
            </a:r>
          </a:p>
          <a:p>
            <a:r>
              <a:rPr lang="en-JP" sz="2000" dirty="0">
                <a:latin typeface="Meiryo" panose="020B0604030504040204" pitchFamily="34" charset="-128"/>
                <a:ea typeface="Meiryo" panose="020B0604030504040204" pitchFamily="34" charset="-128"/>
              </a:rPr>
              <a:t>・mod_sslを利用してHTTPS通信を有効化</a:t>
            </a:r>
          </a:p>
          <a:p>
            <a:r>
              <a:rPr lang="en-JP" sz="2000" dirty="0">
                <a:latin typeface="Meiryo" panose="020B0604030504040204" pitchFamily="34" charset="-128"/>
                <a:ea typeface="Meiryo" panose="020B0604030504040204" pitchFamily="34" charset="-128"/>
              </a:rPr>
              <a:t>・証明書，秘密鍵，CA証明書を設定ファイルに指定</a:t>
            </a:r>
          </a:p>
        </p:txBody>
      </p:sp>
      <p:sp>
        <p:nvSpPr>
          <p:cNvPr id="10" name="TextBox 9">
            <a:extLst>
              <a:ext uri="{FF2B5EF4-FFF2-40B4-BE49-F238E27FC236}">
                <a16:creationId xmlns:a16="http://schemas.microsoft.com/office/drawing/2014/main" id="{CE0A34A2-AD30-3A09-F6BB-975C8B864532}"/>
              </a:ext>
            </a:extLst>
          </p:cNvPr>
          <p:cNvSpPr txBox="1"/>
          <p:nvPr/>
        </p:nvSpPr>
        <p:spPr>
          <a:xfrm>
            <a:off x="413655" y="1931063"/>
            <a:ext cx="7532914" cy="923330"/>
          </a:xfrm>
          <a:prstGeom prst="rect">
            <a:avLst/>
          </a:prstGeom>
          <a:noFill/>
        </p:spPr>
        <p:txBody>
          <a:bodyPr wrap="square">
            <a:spAutoFit/>
          </a:bodyPr>
          <a:lstStyle/>
          <a:p>
            <a:pPr marL="285750" indent="-285750">
              <a:buFont typeface="Courier New" panose="02070309020205020404" pitchFamily="49" charset="0"/>
              <a:buChar char="o"/>
            </a:pPr>
            <a:r>
              <a:rPr lang="en-JP" dirty="0">
                <a:latin typeface="Meiryo" panose="020B0604030504040204" pitchFamily="34" charset="-128"/>
                <a:ea typeface="Meiryo" panose="020B0604030504040204" pitchFamily="34" charset="-128"/>
              </a:rPr>
              <a:t>httpd サービスの起動確認</a:t>
            </a:r>
          </a:p>
          <a:p>
            <a:r>
              <a:rPr lang="en-JP" sz="1800" dirty="0">
                <a:solidFill>
                  <a:srgbClr val="FFC000"/>
                </a:solidFill>
                <a:effectLst/>
                <a:latin typeface="Meiryo" panose="020B0604030504040204" pitchFamily="34" charset="-128"/>
                <a:ea typeface="Meiryo" panose="020B0604030504040204" pitchFamily="34" charset="-128"/>
                <a:cs typeface="Times New Roman" panose="02020603050405020304" pitchFamily="18" charset="0"/>
              </a:rPr>
              <a:t>sudo systemctl start httpd</a:t>
            </a:r>
            <a:r>
              <a:rPr lang="en-JP" dirty="0">
                <a:solidFill>
                  <a:srgbClr val="FFC000"/>
                </a:solidFill>
                <a:latin typeface="Meiryo" panose="020B0604030504040204" pitchFamily="34" charset="-128"/>
                <a:ea typeface="Meiryo" panose="020B0604030504040204" pitchFamily="34" charset="-128"/>
                <a:cs typeface="Times New Roman" panose="02020603050405020304" pitchFamily="18" charset="0"/>
              </a:rPr>
              <a:t>→</a:t>
            </a:r>
            <a:r>
              <a:rPr lang="en-JP" dirty="0">
                <a:latin typeface="Meiryo" panose="020B0604030504040204" pitchFamily="34" charset="-128"/>
                <a:ea typeface="Meiryo" panose="020B0604030504040204" pitchFamily="34" charset="-128"/>
              </a:rPr>
              <a:t>Apache httpd サービスを起動し，</a:t>
            </a:r>
          </a:p>
          <a:p>
            <a:r>
              <a:rPr lang="en-JP" dirty="0">
                <a:latin typeface="Meiryo" panose="020B0604030504040204" pitchFamily="34" charset="-128"/>
                <a:ea typeface="Meiryo" panose="020B0604030504040204" pitchFamily="34" charset="-128"/>
              </a:rPr>
              <a:t>Webサーバがリクエストを受け付けられる状態</a:t>
            </a:r>
          </a:p>
        </p:txBody>
      </p:sp>
      <p:pic>
        <p:nvPicPr>
          <p:cNvPr id="13" name="Picture 12">
            <a:extLst>
              <a:ext uri="{FF2B5EF4-FFF2-40B4-BE49-F238E27FC236}">
                <a16:creationId xmlns:a16="http://schemas.microsoft.com/office/drawing/2014/main" id="{B58090A5-D1AB-26FC-827D-1410F68F39A3}"/>
              </a:ext>
            </a:extLst>
          </p:cNvPr>
          <p:cNvPicPr>
            <a:picLocks noChangeAspect="1"/>
          </p:cNvPicPr>
          <p:nvPr/>
        </p:nvPicPr>
        <p:blipFill>
          <a:blip r:embed="rId2"/>
          <a:stretch>
            <a:fillRect/>
          </a:stretch>
        </p:blipFill>
        <p:spPr>
          <a:xfrm>
            <a:off x="533400" y="2874692"/>
            <a:ext cx="7772400" cy="3238272"/>
          </a:xfrm>
          <a:prstGeom prst="rect">
            <a:avLst/>
          </a:prstGeom>
        </p:spPr>
      </p:pic>
      <p:sp>
        <p:nvSpPr>
          <p:cNvPr id="14" name="正方形/長方形 9">
            <a:extLst>
              <a:ext uri="{FF2B5EF4-FFF2-40B4-BE49-F238E27FC236}">
                <a16:creationId xmlns:a16="http://schemas.microsoft.com/office/drawing/2014/main" id="{28EADA13-51DA-B091-4908-1A4707612605}"/>
              </a:ext>
            </a:extLst>
          </p:cNvPr>
          <p:cNvSpPr/>
          <p:nvPr/>
        </p:nvSpPr>
        <p:spPr>
          <a:xfrm>
            <a:off x="533401" y="2874692"/>
            <a:ext cx="7772400" cy="3238272"/>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15" name="Down Arrow 14">
            <a:extLst>
              <a:ext uri="{FF2B5EF4-FFF2-40B4-BE49-F238E27FC236}">
                <a16:creationId xmlns:a16="http://schemas.microsoft.com/office/drawing/2014/main" id="{719BA562-2A09-D836-D85C-0C25C23A52BD}"/>
              </a:ext>
            </a:extLst>
          </p:cNvPr>
          <p:cNvSpPr/>
          <p:nvPr/>
        </p:nvSpPr>
        <p:spPr>
          <a:xfrm>
            <a:off x="1136196" y="6342364"/>
            <a:ext cx="179615" cy="341074"/>
          </a:xfrm>
          <a:prstGeom prst="downArrow">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7" name="TextBox 16">
            <a:extLst>
              <a:ext uri="{FF2B5EF4-FFF2-40B4-BE49-F238E27FC236}">
                <a16:creationId xmlns:a16="http://schemas.microsoft.com/office/drawing/2014/main" id="{36CA51B4-8A7F-D09F-9112-38B396F16A74}"/>
              </a:ext>
            </a:extLst>
          </p:cNvPr>
          <p:cNvSpPr txBox="1"/>
          <p:nvPr/>
        </p:nvSpPr>
        <p:spPr>
          <a:xfrm>
            <a:off x="1480457" y="6328235"/>
            <a:ext cx="4572000" cy="369332"/>
          </a:xfrm>
          <a:prstGeom prst="rect">
            <a:avLst/>
          </a:prstGeom>
          <a:noFill/>
        </p:spPr>
        <p:txBody>
          <a:bodyPr wrap="square">
            <a:spAutoFit/>
          </a:bodyPr>
          <a:lstStyle/>
          <a:p>
            <a:r>
              <a:rPr lang="en-US" dirty="0">
                <a:latin typeface="Meiryo" panose="020B0604030504040204" pitchFamily="34" charset="-128"/>
                <a:ea typeface="Meiryo" panose="020B0604030504040204" pitchFamily="34" charset="-128"/>
              </a:rPr>
              <a:t>firewall</a:t>
            </a:r>
            <a:endParaRPr lang="en-JP"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37918446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301EDA4-A755-8F2A-4901-08FD20088A5C}"/>
              </a:ext>
            </a:extLst>
          </p:cNvPr>
          <p:cNvSpPr>
            <a:spLocks noGrp="1"/>
          </p:cNvSpPr>
          <p:nvPr>
            <p:ph type="sldNum" sz="quarter" idx="12"/>
          </p:nvPr>
        </p:nvSpPr>
        <p:spPr/>
        <p:txBody>
          <a:bodyPr/>
          <a:lstStyle/>
          <a:p>
            <a:r>
              <a:rPr lang="en-US" dirty="0"/>
              <a:t>15</a:t>
            </a:r>
            <a:endParaRPr lang="en-JP" dirty="0"/>
          </a:p>
        </p:txBody>
      </p:sp>
      <p:sp>
        <p:nvSpPr>
          <p:cNvPr id="6" name="TextBox 5">
            <a:extLst>
              <a:ext uri="{FF2B5EF4-FFF2-40B4-BE49-F238E27FC236}">
                <a16:creationId xmlns:a16="http://schemas.microsoft.com/office/drawing/2014/main" id="{CBCFBC88-F56B-71C6-ACCF-44EADFBF186E}"/>
              </a:ext>
            </a:extLst>
          </p:cNvPr>
          <p:cNvSpPr txBox="1"/>
          <p:nvPr/>
        </p:nvSpPr>
        <p:spPr>
          <a:xfrm>
            <a:off x="319540" y="145992"/>
            <a:ext cx="5978978" cy="369332"/>
          </a:xfrm>
          <a:prstGeom prst="rect">
            <a:avLst/>
          </a:prstGeom>
          <a:noFill/>
        </p:spPr>
        <p:txBody>
          <a:bodyPr wrap="square">
            <a:spAutoFit/>
          </a:bodyPr>
          <a:lstStyle/>
          <a:p>
            <a:pPr marL="285750" indent="-285750">
              <a:buFont typeface="Wingdings" pitchFamily="2" charset="2"/>
              <a:buChar char="Ø"/>
            </a:pPr>
            <a:r>
              <a:rPr lang="en-US" b="1" dirty="0">
                <a:solidFill>
                  <a:srgbClr val="92D050"/>
                </a:solidFill>
                <a:latin typeface="Meiryo" panose="020B0604030504040204" pitchFamily="34" charset="-128"/>
                <a:ea typeface="Meiryo" panose="020B0604030504040204" pitchFamily="34" charset="-128"/>
              </a:rPr>
              <a:t>firewall </a:t>
            </a:r>
            <a:r>
              <a:rPr lang="ja-JP" altLang="en-US" b="1">
                <a:solidFill>
                  <a:srgbClr val="92D050"/>
                </a:solidFill>
                <a:latin typeface="Meiryo" panose="020B0604030504040204" pitchFamily="34" charset="-128"/>
                <a:ea typeface="Meiryo" panose="020B0604030504040204" pitchFamily="34" charset="-128"/>
              </a:rPr>
              <a:t>の設定（</a:t>
            </a:r>
            <a:r>
              <a:rPr lang="en-US" b="1" dirty="0">
                <a:solidFill>
                  <a:srgbClr val="92D050"/>
                </a:solidFill>
                <a:latin typeface="Meiryo" panose="020B0604030504040204" pitchFamily="34" charset="-128"/>
                <a:ea typeface="Meiryo" panose="020B0604030504040204" pitchFamily="34" charset="-128"/>
              </a:rPr>
              <a:t>HTTP / HTTPS </a:t>
            </a:r>
            <a:r>
              <a:rPr lang="ja-JP" altLang="en-US" b="1">
                <a:solidFill>
                  <a:srgbClr val="92D050"/>
                </a:solidFill>
                <a:latin typeface="Meiryo" panose="020B0604030504040204" pitchFamily="34" charset="-128"/>
                <a:ea typeface="Meiryo" panose="020B0604030504040204" pitchFamily="34" charset="-128"/>
              </a:rPr>
              <a:t>通信の許可）</a:t>
            </a:r>
            <a:endParaRPr lang="en-JP" b="1" dirty="0">
              <a:solidFill>
                <a:srgbClr val="92D050"/>
              </a:solidFill>
              <a:latin typeface="Meiryo" panose="020B0604030504040204" pitchFamily="34" charset="-128"/>
              <a:ea typeface="Meiryo" panose="020B0604030504040204" pitchFamily="34" charset="-128"/>
            </a:endParaRPr>
          </a:p>
        </p:txBody>
      </p:sp>
      <p:sp>
        <p:nvSpPr>
          <p:cNvPr id="8" name="TextBox 7">
            <a:extLst>
              <a:ext uri="{FF2B5EF4-FFF2-40B4-BE49-F238E27FC236}">
                <a16:creationId xmlns:a16="http://schemas.microsoft.com/office/drawing/2014/main" id="{C6498FE9-D57E-A990-76C2-15E95155874D}"/>
              </a:ext>
            </a:extLst>
          </p:cNvPr>
          <p:cNvSpPr txBox="1"/>
          <p:nvPr/>
        </p:nvSpPr>
        <p:spPr>
          <a:xfrm>
            <a:off x="420233" y="518224"/>
            <a:ext cx="7119257" cy="584775"/>
          </a:xfrm>
          <a:prstGeom prst="rect">
            <a:avLst/>
          </a:prstGeom>
          <a:noFill/>
        </p:spPr>
        <p:txBody>
          <a:bodyPr wrap="square">
            <a:spAutoFit/>
          </a:bodyPr>
          <a:lstStyle/>
          <a:p>
            <a:r>
              <a:rPr lang="en-JP" sz="1600" dirty="0">
                <a:latin typeface="Meiryo" panose="020B0604030504040204" pitchFamily="34" charset="-128"/>
                <a:ea typeface="Meiryo" panose="020B0604030504040204" pitchFamily="34" charset="-128"/>
              </a:rPr>
              <a:t>Webサーバが外部からの HTTP / HTTPS アクセスを受け付けられるようにするため，firewall において必要なポートを許可</a:t>
            </a:r>
          </a:p>
        </p:txBody>
      </p:sp>
      <p:sp>
        <p:nvSpPr>
          <p:cNvPr id="10" name="TextBox 9">
            <a:extLst>
              <a:ext uri="{FF2B5EF4-FFF2-40B4-BE49-F238E27FC236}">
                <a16:creationId xmlns:a16="http://schemas.microsoft.com/office/drawing/2014/main" id="{256A4B20-F3FD-BB67-6F4F-4F20B74AFF94}"/>
              </a:ext>
            </a:extLst>
          </p:cNvPr>
          <p:cNvSpPr txBox="1"/>
          <p:nvPr/>
        </p:nvSpPr>
        <p:spPr>
          <a:xfrm>
            <a:off x="465361" y="1054076"/>
            <a:ext cx="6912430" cy="369332"/>
          </a:xfrm>
          <a:prstGeom prst="rect">
            <a:avLst/>
          </a:prstGeom>
          <a:noFill/>
        </p:spPr>
        <p:txBody>
          <a:bodyPr wrap="square">
            <a:spAutoFit/>
          </a:bodyPr>
          <a:lstStyle/>
          <a:p>
            <a:r>
              <a:rPr lang="en-JP" dirty="0">
                <a:solidFill>
                  <a:srgbClr val="FFC000"/>
                </a:solidFill>
                <a:latin typeface="Meiryo" panose="020B0604030504040204" pitchFamily="34" charset="-128"/>
                <a:ea typeface="Meiryo" panose="020B0604030504040204" pitchFamily="34" charset="-128"/>
              </a:rPr>
              <a:t>sudo firewall-cmd --permanent --add-service=http/ htts</a:t>
            </a:r>
          </a:p>
        </p:txBody>
      </p:sp>
      <p:sp>
        <p:nvSpPr>
          <p:cNvPr id="12" name="TextBox 11">
            <a:extLst>
              <a:ext uri="{FF2B5EF4-FFF2-40B4-BE49-F238E27FC236}">
                <a16:creationId xmlns:a16="http://schemas.microsoft.com/office/drawing/2014/main" id="{3382090A-942C-3EEE-98FB-1CA69E7721A7}"/>
              </a:ext>
            </a:extLst>
          </p:cNvPr>
          <p:cNvSpPr txBox="1"/>
          <p:nvPr/>
        </p:nvSpPr>
        <p:spPr>
          <a:xfrm>
            <a:off x="517066" y="3263613"/>
            <a:ext cx="7916637" cy="584775"/>
          </a:xfrm>
          <a:prstGeom prst="rect">
            <a:avLst/>
          </a:prstGeom>
          <a:noFill/>
        </p:spPr>
        <p:txBody>
          <a:bodyPr wrap="square">
            <a:spAutoFit/>
          </a:bodyPr>
          <a:lstStyle/>
          <a:p>
            <a:r>
              <a:rPr lang="en-JP" sz="1600" dirty="0">
                <a:latin typeface="Meiryo" panose="020B0604030504040204" pitchFamily="34" charset="-128"/>
                <a:ea typeface="Meiryo" panose="020B0604030504040204" pitchFamily="34" charset="-128"/>
              </a:rPr>
              <a:t>HTTP 通信（TCP 80番ポート） （TCP 443番ポート を firewalで</a:t>
            </a:r>
          </a:p>
          <a:p>
            <a:r>
              <a:rPr lang="en-JP" sz="1600" dirty="0">
                <a:latin typeface="Meiryo" panose="020B0604030504040204" pitchFamily="34" charset="-128"/>
                <a:ea typeface="Meiryo" panose="020B0604030504040204" pitchFamily="34" charset="-128"/>
              </a:rPr>
              <a:t>許可した.</a:t>
            </a:r>
          </a:p>
        </p:txBody>
      </p:sp>
      <p:pic>
        <p:nvPicPr>
          <p:cNvPr id="13" name="Picture 12">
            <a:extLst>
              <a:ext uri="{FF2B5EF4-FFF2-40B4-BE49-F238E27FC236}">
                <a16:creationId xmlns:a16="http://schemas.microsoft.com/office/drawing/2014/main" id="{01AAD28D-4033-3756-5CC5-4AF5079766AF}"/>
              </a:ext>
            </a:extLst>
          </p:cNvPr>
          <p:cNvPicPr>
            <a:picLocks noChangeAspect="1"/>
          </p:cNvPicPr>
          <p:nvPr/>
        </p:nvPicPr>
        <p:blipFill>
          <a:blip r:embed="rId2"/>
          <a:stretch>
            <a:fillRect/>
          </a:stretch>
        </p:blipFill>
        <p:spPr>
          <a:xfrm>
            <a:off x="503911" y="3838372"/>
            <a:ext cx="6912429" cy="1831263"/>
          </a:xfrm>
          <a:prstGeom prst="rect">
            <a:avLst/>
          </a:prstGeom>
        </p:spPr>
      </p:pic>
      <p:sp>
        <p:nvSpPr>
          <p:cNvPr id="15" name="正方形/長方形 9">
            <a:extLst>
              <a:ext uri="{FF2B5EF4-FFF2-40B4-BE49-F238E27FC236}">
                <a16:creationId xmlns:a16="http://schemas.microsoft.com/office/drawing/2014/main" id="{1D605EE4-8372-0A40-0365-7D2F541D0F62}"/>
              </a:ext>
            </a:extLst>
          </p:cNvPr>
          <p:cNvSpPr/>
          <p:nvPr/>
        </p:nvSpPr>
        <p:spPr>
          <a:xfrm>
            <a:off x="517066" y="3838191"/>
            <a:ext cx="6912429" cy="1831263"/>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20" name="TextBox 19">
            <a:extLst>
              <a:ext uri="{FF2B5EF4-FFF2-40B4-BE49-F238E27FC236}">
                <a16:creationId xmlns:a16="http://schemas.microsoft.com/office/drawing/2014/main" id="{49162232-C41B-2A27-AF09-457FB38BFB43}"/>
              </a:ext>
            </a:extLst>
          </p:cNvPr>
          <p:cNvSpPr txBox="1"/>
          <p:nvPr/>
        </p:nvSpPr>
        <p:spPr>
          <a:xfrm>
            <a:off x="555169" y="5850094"/>
            <a:ext cx="8153401" cy="369332"/>
          </a:xfrm>
          <a:prstGeom prst="rect">
            <a:avLst/>
          </a:prstGeom>
          <a:noFill/>
        </p:spPr>
        <p:txBody>
          <a:bodyPr wrap="square">
            <a:spAutoFit/>
          </a:bodyPr>
          <a:lstStyle/>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firewall 設定を再読み込みし，追加したルールを即時反映させた.</a:t>
            </a:r>
          </a:p>
        </p:txBody>
      </p:sp>
      <p:sp>
        <p:nvSpPr>
          <p:cNvPr id="22" name="TextBox 21">
            <a:extLst>
              <a:ext uri="{FF2B5EF4-FFF2-40B4-BE49-F238E27FC236}">
                <a16:creationId xmlns:a16="http://schemas.microsoft.com/office/drawing/2014/main" id="{019A134D-47C0-14B0-69B1-7F735FCDC96A}"/>
              </a:ext>
            </a:extLst>
          </p:cNvPr>
          <p:cNvSpPr txBox="1"/>
          <p:nvPr/>
        </p:nvSpPr>
        <p:spPr>
          <a:xfrm>
            <a:off x="555169" y="6171685"/>
            <a:ext cx="6389914" cy="369332"/>
          </a:xfrm>
          <a:prstGeom prst="rect">
            <a:avLst/>
          </a:prstGeom>
          <a:noFill/>
        </p:spPr>
        <p:txBody>
          <a:bodyPr wrap="square">
            <a:spAutoFit/>
          </a:bodyPr>
          <a:lstStyle/>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現在許可されているサービスおよびポートを確認した.</a:t>
            </a:r>
          </a:p>
        </p:txBody>
      </p:sp>
      <p:pic>
        <p:nvPicPr>
          <p:cNvPr id="23" name="Picture 22">
            <a:extLst>
              <a:ext uri="{FF2B5EF4-FFF2-40B4-BE49-F238E27FC236}">
                <a16:creationId xmlns:a16="http://schemas.microsoft.com/office/drawing/2014/main" id="{99F40FD0-95EA-410B-36CB-C3FE1278E97E}"/>
              </a:ext>
            </a:extLst>
          </p:cNvPr>
          <p:cNvPicPr>
            <a:picLocks noChangeAspect="1"/>
          </p:cNvPicPr>
          <p:nvPr/>
        </p:nvPicPr>
        <p:blipFill>
          <a:blip r:embed="rId3"/>
          <a:stretch>
            <a:fillRect/>
          </a:stretch>
        </p:blipFill>
        <p:spPr>
          <a:xfrm>
            <a:off x="555168" y="1554707"/>
            <a:ext cx="6861172" cy="1657941"/>
          </a:xfrm>
          <a:prstGeom prst="rect">
            <a:avLst/>
          </a:prstGeom>
        </p:spPr>
      </p:pic>
      <p:sp>
        <p:nvSpPr>
          <p:cNvPr id="27" name="正方形/長方形 9">
            <a:extLst>
              <a:ext uri="{FF2B5EF4-FFF2-40B4-BE49-F238E27FC236}">
                <a16:creationId xmlns:a16="http://schemas.microsoft.com/office/drawing/2014/main" id="{677BBA1B-4CC2-4691-6608-69DEE99E354A}"/>
              </a:ext>
            </a:extLst>
          </p:cNvPr>
          <p:cNvSpPr/>
          <p:nvPr/>
        </p:nvSpPr>
        <p:spPr>
          <a:xfrm>
            <a:off x="555168" y="1554526"/>
            <a:ext cx="6874327" cy="1658122"/>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Tree>
    <p:extLst>
      <p:ext uri="{BB962C8B-B14F-4D97-AF65-F5344CB8AC3E}">
        <p14:creationId xmlns:p14="http://schemas.microsoft.com/office/powerpoint/2010/main" val="20998725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05D3448-AE29-5302-6670-DE40A6EA47F8}"/>
              </a:ext>
            </a:extLst>
          </p:cNvPr>
          <p:cNvSpPr>
            <a:spLocks noGrp="1"/>
          </p:cNvSpPr>
          <p:nvPr>
            <p:ph type="sldNum" sz="quarter" idx="12"/>
          </p:nvPr>
        </p:nvSpPr>
        <p:spPr/>
        <p:txBody>
          <a:bodyPr/>
          <a:lstStyle/>
          <a:p>
            <a:r>
              <a:rPr lang="en-US"/>
              <a:t>/</a:t>
            </a:r>
            <a:r>
              <a:rPr lang="mn-MN"/>
              <a:t>#</a:t>
            </a:r>
            <a:endParaRPr lang="en-JP" dirty="0"/>
          </a:p>
        </p:txBody>
      </p:sp>
      <p:sp>
        <p:nvSpPr>
          <p:cNvPr id="6" name="TextBox 5">
            <a:extLst>
              <a:ext uri="{FF2B5EF4-FFF2-40B4-BE49-F238E27FC236}">
                <a16:creationId xmlns:a16="http://schemas.microsoft.com/office/drawing/2014/main" id="{48417F54-7A48-F789-7AE3-212488A23101}"/>
              </a:ext>
            </a:extLst>
          </p:cNvPr>
          <p:cNvSpPr txBox="1"/>
          <p:nvPr/>
        </p:nvSpPr>
        <p:spPr>
          <a:xfrm>
            <a:off x="383719" y="594054"/>
            <a:ext cx="8175172" cy="923330"/>
          </a:xfrm>
          <a:prstGeom prst="rect">
            <a:avLst/>
          </a:prstGeom>
          <a:noFill/>
        </p:spPr>
        <p:txBody>
          <a:bodyPr wrap="square">
            <a:spAutoFit/>
          </a:bodyPr>
          <a:lstStyle/>
          <a:p>
            <a:r>
              <a:rPr lang="en-JP" dirty="0"/>
              <a:t>Apache のドキュメントルートである /var/www/html 以下に，自身で作成した index.html を配置した。その後，Web ブラウザからアクセスし，作成した HTML コンテンツが正しく表示されることを確認した.</a:t>
            </a:r>
          </a:p>
        </p:txBody>
      </p:sp>
      <p:sp>
        <p:nvSpPr>
          <p:cNvPr id="8" name="TextBox 7">
            <a:extLst>
              <a:ext uri="{FF2B5EF4-FFF2-40B4-BE49-F238E27FC236}">
                <a16:creationId xmlns:a16="http://schemas.microsoft.com/office/drawing/2014/main" id="{42CE5787-2085-AB14-E57F-3E5A2E9AD07D}"/>
              </a:ext>
            </a:extLst>
          </p:cNvPr>
          <p:cNvSpPr txBox="1"/>
          <p:nvPr/>
        </p:nvSpPr>
        <p:spPr>
          <a:xfrm>
            <a:off x="261256" y="182156"/>
            <a:ext cx="6074229" cy="400110"/>
          </a:xfrm>
          <a:prstGeom prst="rect">
            <a:avLst/>
          </a:prstGeom>
          <a:noFill/>
        </p:spPr>
        <p:txBody>
          <a:bodyPr wrap="square">
            <a:spAutoFit/>
          </a:bodyPr>
          <a:lstStyle/>
          <a:p>
            <a:pPr marL="285750" indent="-285750">
              <a:buFont typeface="Wingdings" pitchFamily="2" charset="2"/>
              <a:buChar char="Ø"/>
            </a:pPr>
            <a:r>
              <a:rPr lang="en-JP" sz="2000" b="1"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html </a:t>
            </a:r>
            <a:r>
              <a:rPr lang="ja-JP" sz="2000" b="1">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へのファイル配置と動作確認</a:t>
            </a:r>
            <a:endParaRPr lang="en-JP" sz="2000" b="1"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endParaRPr>
          </a:p>
        </p:txBody>
      </p:sp>
      <p:sp>
        <p:nvSpPr>
          <p:cNvPr id="10" name="TextBox 9">
            <a:extLst>
              <a:ext uri="{FF2B5EF4-FFF2-40B4-BE49-F238E27FC236}">
                <a16:creationId xmlns:a16="http://schemas.microsoft.com/office/drawing/2014/main" id="{F4DE9EAC-A9EE-3C3F-AC04-E52812214FB7}"/>
              </a:ext>
            </a:extLst>
          </p:cNvPr>
          <p:cNvSpPr txBox="1"/>
          <p:nvPr/>
        </p:nvSpPr>
        <p:spPr>
          <a:xfrm>
            <a:off x="383719" y="1543373"/>
            <a:ext cx="4572000" cy="369332"/>
          </a:xfrm>
          <a:prstGeom prst="rect">
            <a:avLst/>
          </a:prstGeom>
          <a:noFill/>
        </p:spPr>
        <p:txBody>
          <a:bodyPr wrap="square">
            <a:spAutoFit/>
          </a:bodyPr>
          <a:lstStyle/>
          <a:p>
            <a:r>
              <a:rPr lang="en-JP" dirty="0">
                <a:solidFill>
                  <a:srgbClr val="FFC000"/>
                </a:solidFill>
              </a:rPr>
              <a:t>sudo cp index.html /var/www/html/</a:t>
            </a:r>
          </a:p>
        </p:txBody>
      </p:sp>
      <p:pic>
        <p:nvPicPr>
          <p:cNvPr id="11" name="Picture 10">
            <a:extLst>
              <a:ext uri="{FF2B5EF4-FFF2-40B4-BE49-F238E27FC236}">
                <a16:creationId xmlns:a16="http://schemas.microsoft.com/office/drawing/2014/main" id="{CC4A79B0-2837-C640-4276-83667BF7D3D3}"/>
              </a:ext>
            </a:extLst>
          </p:cNvPr>
          <p:cNvPicPr>
            <a:picLocks noChangeAspect="1"/>
          </p:cNvPicPr>
          <p:nvPr/>
        </p:nvPicPr>
        <p:blipFill>
          <a:blip r:embed="rId3"/>
          <a:stretch>
            <a:fillRect/>
          </a:stretch>
        </p:blipFill>
        <p:spPr>
          <a:xfrm>
            <a:off x="438145" y="1998283"/>
            <a:ext cx="6591300" cy="1341478"/>
          </a:xfrm>
          <a:prstGeom prst="rect">
            <a:avLst/>
          </a:prstGeom>
        </p:spPr>
      </p:pic>
      <p:sp>
        <p:nvSpPr>
          <p:cNvPr id="12" name="Down Arrow 11">
            <a:extLst>
              <a:ext uri="{FF2B5EF4-FFF2-40B4-BE49-F238E27FC236}">
                <a16:creationId xmlns:a16="http://schemas.microsoft.com/office/drawing/2014/main" id="{A5C802FF-DB5B-7662-A183-7928CDD73284}"/>
              </a:ext>
            </a:extLst>
          </p:cNvPr>
          <p:cNvSpPr/>
          <p:nvPr/>
        </p:nvSpPr>
        <p:spPr>
          <a:xfrm>
            <a:off x="5936796" y="3994826"/>
            <a:ext cx="179615" cy="341074"/>
          </a:xfrm>
          <a:prstGeom prst="downArrow">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pic>
        <p:nvPicPr>
          <p:cNvPr id="14" name="Picture 13">
            <a:extLst>
              <a:ext uri="{FF2B5EF4-FFF2-40B4-BE49-F238E27FC236}">
                <a16:creationId xmlns:a16="http://schemas.microsoft.com/office/drawing/2014/main" id="{D9270809-5620-C442-A35B-BF4EF2085EEF}"/>
              </a:ext>
            </a:extLst>
          </p:cNvPr>
          <p:cNvPicPr>
            <a:picLocks noChangeAspect="1"/>
          </p:cNvPicPr>
          <p:nvPr/>
        </p:nvPicPr>
        <p:blipFill>
          <a:blip r:embed="rId4"/>
          <a:stretch>
            <a:fillRect/>
          </a:stretch>
        </p:blipFill>
        <p:spPr>
          <a:xfrm>
            <a:off x="438145" y="4102322"/>
            <a:ext cx="4076700" cy="1727200"/>
          </a:xfrm>
          <a:prstGeom prst="rect">
            <a:avLst/>
          </a:prstGeom>
        </p:spPr>
      </p:pic>
      <p:pic>
        <p:nvPicPr>
          <p:cNvPr id="15" name="Picture 14">
            <a:extLst>
              <a:ext uri="{FF2B5EF4-FFF2-40B4-BE49-F238E27FC236}">
                <a16:creationId xmlns:a16="http://schemas.microsoft.com/office/drawing/2014/main" id="{43555FC3-D47C-6D3D-B1E0-3B2131723455}"/>
              </a:ext>
            </a:extLst>
          </p:cNvPr>
          <p:cNvPicPr>
            <a:picLocks noChangeAspect="1"/>
          </p:cNvPicPr>
          <p:nvPr/>
        </p:nvPicPr>
        <p:blipFill>
          <a:blip r:embed="rId5"/>
          <a:stretch>
            <a:fillRect/>
          </a:stretch>
        </p:blipFill>
        <p:spPr>
          <a:xfrm>
            <a:off x="4977490" y="4515072"/>
            <a:ext cx="3765550" cy="901700"/>
          </a:xfrm>
          <a:prstGeom prst="rect">
            <a:avLst/>
          </a:prstGeom>
        </p:spPr>
      </p:pic>
      <p:sp>
        <p:nvSpPr>
          <p:cNvPr id="17" name="TextBox 16">
            <a:extLst>
              <a:ext uri="{FF2B5EF4-FFF2-40B4-BE49-F238E27FC236}">
                <a16:creationId xmlns:a16="http://schemas.microsoft.com/office/drawing/2014/main" id="{D4F3FCA9-9FAE-2344-4F15-B3FCE329E3F9}"/>
              </a:ext>
            </a:extLst>
          </p:cNvPr>
          <p:cNvSpPr txBox="1"/>
          <p:nvPr/>
        </p:nvSpPr>
        <p:spPr>
          <a:xfrm>
            <a:off x="383719" y="3490675"/>
            <a:ext cx="8760281" cy="369332"/>
          </a:xfrm>
          <a:prstGeom prst="rect">
            <a:avLst/>
          </a:prstGeom>
          <a:noFill/>
        </p:spPr>
        <p:txBody>
          <a:bodyPr wrap="square">
            <a:spAutoFit/>
          </a:bodyPr>
          <a:lstStyle/>
          <a:p>
            <a:r>
              <a:rPr lang="en-US" dirty="0" err="1"/>
              <a:t>index.html</a:t>
            </a:r>
            <a:r>
              <a:rPr lang="en-US" dirty="0"/>
              <a:t> </a:t>
            </a:r>
            <a:r>
              <a:rPr lang="ja-JP" altLang="en-US"/>
              <a:t>を配置し，</a:t>
            </a:r>
            <a:r>
              <a:rPr lang="en-US" dirty="0"/>
              <a:t>Web </a:t>
            </a:r>
            <a:r>
              <a:rPr lang="ja-JP" altLang="en-US"/>
              <a:t>サーバが正常にコンテンツを配信できることを確認した</a:t>
            </a:r>
            <a:r>
              <a:rPr lang="en-US" altLang="ja-JP" dirty="0"/>
              <a:t>.</a:t>
            </a:r>
            <a:endParaRPr lang="en-JP" dirty="0"/>
          </a:p>
        </p:txBody>
      </p:sp>
      <p:sp>
        <p:nvSpPr>
          <p:cNvPr id="2" name="正方形/長方形 9">
            <a:extLst>
              <a:ext uri="{FF2B5EF4-FFF2-40B4-BE49-F238E27FC236}">
                <a16:creationId xmlns:a16="http://schemas.microsoft.com/office/drawing/2014/main" id="{DC9B8ADD-64BE-E033-0BD3-B2DF0819ADFD}"/>
              </a:ext>
            </a:extLst>
          </p:cNvPr>
          <p:cNvSpPr/>
          <p:nvPr/>
        </p:nvSpPr>
        <p:spPr>
          <a:xfrm>
            <a:off x="438146" y="2028744"/>
            <a:ext cx="6591299" cy="1311017"/>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3" name="正方形/長方形 9">
            <a:extLst>
              <a:ext uri="{FF2B5EF4-FFF2-40B4-BE49-F238E27FC236}">
                <a16:creationId xmlns:a16="http://schemas.microsoft.com/office/drawing/2014/main" id="{21782A7A-484B-5CF7-B6F4-CE59AD460C74}"/>
              </a:ext>
            </a:extLst>
          </p:cNvPr>
          <p:cNvSpPr/>
          <p:nvPr/>
        </p:nvSpPr>
        <p:spPr>
          <a:xfrm>
            <a:off x="438146" y="4102321"/>
            <a:ext cx="4076699" cy="1727199"/>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Tree>
    <p:extLst>
      <p:ext uri="{BB962C8B-B14F-4D97-AF65-F5344CB8AC3E}">
        <p14:creationId xmlns:p14="http://schemas.microsoft.com/office/powerpoint/2010/main" val="7879403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FB4562F-E368-9234-875C-1F798FB2E4C7}"/>
              </a:ext>
            </a:extLst>
          </p:cNvPr>
          <p:cNvSpPr>
            <a:spLocks noGrp="1"/>
          </p:cNvSpPr>
          <p:nvPr>
            <p:ph type="sldNum" sz="quarter" idx="12"/>
          </p:nvPr>
        </p:nvSpPr>
        <p:spPr/>
        <p:txBody>
          <a:bodyPr/>
          <a:lstStyle/>
          <a:p>
            <a:r>
              <a:rPr lang="en-US" dirty="0"/>
              <a:t>15</a:t>
            </a:r>
            <a:endParaRPr lang="en-JP" dirty="0"/>
          </a:p>
        </p:txBody>
      </p:sp>
      <p:sp>
        <p:nvSpPr>
          <p:cNvPr id="6" name="TextBox 5">
            <a:extLst>
              <a:ext uri="{FF2B5EF4-FFF2-40B4-BE49-F238E27FC236}">
                <a16:creationId xmlns:a16="http://schemas.microsoft.com/office/drawing/2014/main" id="{F20EE8BA-FB42-1B19-A38F-22F30A57BBC5}"/>
              </a:ext>
            </a:extLst>
          </p:cNvPr>
          <p:cNvSpPr txBox="1"/>
          <p:nvPr/>
        </p:nvSpPr>
        <p:spPr>
          <a:xfrm>
            <a:off x="-1" y="90492"/>
            <a:ext cx="6457951" cy="400110"/>
          </a:xfrm>
          <a:prstGeom prst="rect">
            <a:avLst/>
          </a:prstGeom>
          <a:noFill/>
        </p:spPr>
        <p:txBody>
          <a:bodyPr wrap="square">
            <a:spAutoFit/>
          </a:bodyPr>
          <a:lstStyle/>
          <a:p>
            <a:pPr marL="285750" indent="-285750">
              <a:buFont typeface="Wingdings" pitchFamily="2" charset="2"/>
              <a:buChar char="Ø"/>
            </a:pPr>
            <a:r>
              <a:rPr lang="en-US" sz="2000" b="1"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Web</a:t>
            </a:r>
            <a:r>
              <a:rPr lang="ja-JP" sz="2000" b="1">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サーバ</a:t>
            </a:r>
            <a:r>
              <a:rPr lang="en-US" sz="2000" b="1"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(Apache httpd)</a:t>
            </a:r>
            <a:r>
              <a:rPr lang="ja-JP" sz="2000" b="1">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への証明書設定</a:t>
            </a:r>
            <a:r>
              <a:rPr lang="ja-JP" altLang="en-US" sz="2000" b="1">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　</a:t>
            </a:r>
            <a:r>
              <a:rPr lang="en-US" altLang="ja-JP" sz="2000" b="1"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2/3</a:t>
            </a:r>
            <a:r>
              <a:rPr lang="en-JP" sz="2000" b="1" dirty="0">
                <a:solidFill>
                  <a:srgbClr val="92D050"/>
                </a:solidFill>
                <a:effectLst/>
                <a:latin typeface="Meiryo" panose="020B0604030504040204" pitchFamily="34" charset="-128"/>
                <a:ea typeface="Meiryo" panose="020B0604030504040204" pitchFamily="34" charset="-128"/>
              </a:rPr>
              <a:t> </a:t>
            </a:r>
            <a:endParaRPr lang="en-JP" sz="2000" b="1" dirty="0">
              <a:solidFill>
                <a:srgbClr val="92D050"/>
              </a:solidFill>
              <a:latin typeface="Meiryo" panose="020B0604030504040204" pitchFamily="34" charset="-128"/>
              <a:ea typeface="Meiryo" panose="020B0604030504040204" pitchFamily="34" charset="-128"/>
            </a:endParaRPr>
          </a:p>
        </p:txBody>
      </p:sp>
      <p:pic>
        <p:nvPicPr>
          <p:cNvPr id="7" name="Picture 6">
            <a:extLst>
              <a:ext uri="{FF2B5EF4-FFF2-40B4-BE49-F238E27FC236}">
                <a16:creationId xmlns:a16="http://schemas.microsoft.com/office/drawing/2014/main" id="{05AFBAF2-C5DC-055D-3AC2-B5B8E704282E}"/>
              </a:ext>
            </a:extLst>
          </p:cNvPr>
          <p:cNvPicPr>
            <a:picLocks noChangeAspect="1"/>
          </p:cNvPicPr>
          <p:nvPr/>
        </p:nvPicPr>
        <p:blipFill>
          <a:blip r:embed="rId2"/>
          <a:stretch>
            <a:fillRect/>
          </a:stretch>
        </p:blipFill>
        <p:spPr>
          <a:xfrm>
            <a:off x="413658" y="1942415"/>
            <a:ext cx="7652656" cy="2873997"/>
          </a:xfrm>
          <a:prstGeom prst="rect">
            <a:avLst/>
          </a:prstGeom>
        </p:spPr>
      </p:pic>
      <p:sp>
        <p:nvSpPr>
          <p:cNvPr id="9" name="TextBox 8">
            <a:extLst>
              <a:ext uri="{FF2B5EF4-FFF2-40B4-BE49-F238E27FC236}">
                <a16:creationId xmlns:a16="http://schemas.microsoft.com/office/drawing/2014/main" id="{097B3BEF-79F1-BF91-D5D4-6F5961482E9E}"/>
              </a:ext>
            </a:extLst>
          </p:cNvPr>
          <p:cNvSpPr txBox="1"/>
          <p:nvPr/>
        </p:nvSpPr>
        <p:spPr>
          <a:xfrm>
            <a:off x="413658" y="5019595"/>
            <a:ext cx="8401050" cy="1200329"/>
          </a:xfrm>
          <a:prstGeom prst="rect">
            <a:avLst/>
          </a:prstGeom>
          <a:noFill/>
        </p:spPr>
        <p:txBody>
          <a:bodyPr wrap="square">
            <a:spAutoFit/>
          </a:bodyPr>
          <a:lstStyle/>
          <a:p>
            <a:r>
              <a:rPr lang="en-JP" dirty="0">
                <a:latin typeface="Meiryo" panose="020B0604030504040204" pitchFamily="34" charset="-128"/>
                <a:ea typeface="Meiryo" panose="020B0604030504040204" pitchFamily="34" charset="-128"/>
              </a:rPr>
              <a:t>秘密鍵のコピー</a:t>
            </a:r>
          </a:p>
          <a:p>
            <a:r>
              <a:rPr lang="en-JP" dirty="0">
                <a:solidFill>
                  <a:srgbClr val="FFC000"/>
                </a:solidFill>
                <a:latin typeface="Meiryo" panose="020B0604030504040204" pitchFamily="34" charset="-128"/>
                <a:ea typeface="Meiryo" panose="020B0604030504040204" pitchFamily="34" charset="-128"/>
              </a:rPr>
              <a:t>sudo cp www1.key /etc/pki/tls/www1/</a:t>
            </a:r>
          </a:p>
          <a:p>
            <a:r>
              <a:rPr lang="en-JP" dirty="0">
                <a:latin typeface="Meiryo" panose="020B0604030504040204" pitchFamily="34" charset="-128"/>
                <a:ea typeface="Meiryo" panose="020B0604030504040204" pitchFamily="34" charset="-128"/>
              </a:rPr>
              <a:t>サーバ証明書と対になる秘密鍵を配置し，TLS通信で使用できるようにした。</a:t>
            </a:r>
          </a:p>
          <a:p>
            <a:r>
              <a:rPr lang="en-JP" dirty="0">
                <a:latin typeface="Meiryo" panose="020B0604030504040204" pitchFamily="34" charset="-128"/>
                <a:ea typeface="Meiryo" panose="020B0604030504040204" pitchFamily="34" charset="-128"/>
              </a:rPr>
              <a:t> 秘密鍵は外部に漏えいしないよう，アクセス権限の管理が重要である。</a:t>
            </a:r>
          </a:p>
        </p:txBody>
      </p:sp>
      <p:sp>
        <p:nvSpPr>
          <p:cNvPr id="11" name="TextBox 10">
            <a:extLst>
              <a:ext uri="{FF2B5EF4-FFF2-40B4-BE49-F238E27FC236}">
                <a16:creationId xmlns:a16="http://schemas.microsoft.com/office/drawing/2014/main" id="{F829BC8B-A2A4-65B2-702D-7C6DEDA28102}"/>
              </a:ext>
            </a:extLst>
          </p:cNvPr>
          <p:cNvSpPr txBox="1"/>
          <p:nvPr/>
        </p:nvSpPr>
        <p:spPr>
          <a:xfrm>
            <a:off x="332015" y="616344"/>
            <a:ext cx="7516586" cy="1200329"/>
          </a:xfrm>
          <a:prstGeom prst="rect">
            <a:avLst/>
          </a:prstGeom>
          <a:noFill/>
        </p:spPr>
        <p:txBody>
          <a:bodyPr wrap="square">
            <a:spAutoFit/>
          </a:bodyPr>
          <a:lstStyle/>
          <a:p>
            <a:r>
              <a:rPr lang="en-JP" dirty="0">
                <a:latin typeface="Meiryo" panose="020B0604030504040204" pitchFamily="34" charset="-128"/>
                <a:ea typeface="Meiryo" panose="020B0604030504040204" pitchFamily="34" charset="-128"/>
              </a:rPr>
              <a:t>サーバ証明書のコピー</a:t>
            </a:r>
          </a:p>
          <a:p>
            <a:r>
              <a:rPr lang="en-JP" dirty="0">
                <a:solidFill>
                  <a:srgbClr val="FFC000"/>
                </a:solidFill>
                <a:latin typeface="Meiryo" panose="020B0604030504040204" pitchFamily="34" charset="-128"/>
                <a:ea typeface="Meiryo" panose="020B0604030504040204" pitchFamily="34" charset="-128"/>
              </a:rPr>
              <a:t>sudo cp /tmp/www1.crt /etc/pki/tls/www1/</a:t>
            </a:r>
          </a:p>
          <a:p>
            <a:r>
              <a:rPr lang="en-JP" dirty="0">
                <a:latin typeface="Meiryo" panose="020B0604030504040204" pitchFamily="34" charset="-128"/>
                <a:ea typeface="Meiryo" panose="020B0604030504040204" pitchFamily="34" charset="-128"/>
              </a:rPr>
              <a:t>CA によって署名されたサーバ証明書（www1.crt）を，</a:t>
            </a:r>
          </a:p>
          <a:p>
            <a:r>
              <a:rPr lang="en-JP" dirty="0">
                <a:latin typeface="Meiryo" panose="020B0604030504040204" pitchFamily="34" charset="-128"/>
                <a:ea typeface="Meiryo" panose="020B0604030504040204" pitchFamily="34" charset="-128"/>
              </a:rPr>
              <a:t>Apache が参照する証明書</a:t>
            </a:r>
            <a:r>
              <a:rPr lang="en-US" dirty="0">
                <a:latin typeface="Meiryo" panose="020B0604030504040204" pitchFamily="34" charset="-128"/>
                <a:ea typeface="Meiryo" panose="020B0604030504040204" pitchFamily="34" charset="-128"/>
              </a:rPr>
              <a:t>directory</a:t>
            </a:r>
            <a:r>
              <a:rPr lang="en-JP" dirty="0">
                <a:latin typeface="Meiryo" panose="020B0604030504040204" pitchFamily="34" charset="-128"/>
                <a:ea typeface="Meiryo" panose="020B0604030504040204" pitchFamily="34" charset="-128"/>
              </a:rPr>
              <a:t>に配置した。</a:t>
            </a:r>
          </a:p>
        </p:txBody>
      </p:sp>
      <p:sp>
        <p:nvSpPr>
          <p:cNvPr id="12" name="正方形/長方形 9">
            <a:extLst>
              <a:ext uri="{FF2B5EF4-FFF2-40B4-BE49-F238E27FC236}">
                <a16:creationId xmlns:a16="http://schemas.microsoft.com/office/drawing/2014/main" id="{B4F72128-9A82-F358-8913-50700EF68F16}"/>
              </a:ext>
            </a:extLst>
          </p:cNvPr>
          <p:cNvSpPr/>
          <p:nvPr/>
        </p:nvSpPr>
        <p:spPr>
          <a:xfrm>
            <a:off x="413658" y="3379412"/>
            <a:ext cx="7652656" cy="1105501"/>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Tree>
    <p:extLst>
      <p:ext uri="{BB962C8B-B14F-4D97-AF65-F5344CB8AC3E}">
        <p14:creationId xmlns:p14="http://schemas.microsoft.com/office/powerpoint/2010/main" val="14277014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E1432D1-3F15-6557-F3B6-B9520AE795CC}"/>
              </a:ext>
            </a:extLst>
          </p:cNvPr>
          <p:cNvSpPr>
            <a:spLocks noGrp="1"/>
          </p:cNvSpPr>
          <p:nvPr>
            <p:ph type="sldNum" sz="quarter" idx="12"/>
          </p:nvPr>
        </p:nvSpPr>
        <p:spPr/>
        <p:txBody>
          <a:bodyPr/>
          <a:lstStyle/>
          <a:p>
            <a:fld id="{B37FC626-4DBB-F044-A20D-82FDEAFAFBD6}" type="slidenum">
              <a:rPr lang="en-JP" smtClean="0"/>
              <a:t>18</a:t>
            </a:fld>
            <a:endParaRPr lang="en-JP"/>
          </a:p>
        </p:txBody>
      </p:sp>
      <p:sp>
        <p:nvSpPr>
          <p:cNvPr id="6" name="TextBox 5">
            <a:extLst>
              <a:ext uri="{FF2B5EF4-FFF2-40B4-BE49-F238E27FC236}">
                <a16:creationId xmlns:a16="http://schemas.microsoft.com/office/drawing/2014/main" id="{5424EBF2-06C6-C9D3-90D2-E3753AFCBB09}"/>
              </a:ext>
            </a:extLst>
          </p:cNvPr>
          <p:cNvSpPr txBox="1"/>
          <p:nvPr/>
        </p:nvSpPr>
        <p:spPr>
          <a:xfrm>
            <a:off x="511629" y="657720"/>
            <a:ext cx="4572000" cy="369332"/>
          </a:xfrm>
          <a:prstGeom prst="rect">
            <a:avLst/>
          </a:prstGeom>
          <a:noFill/>
        </p:spPr>
        <p:txBody>
          <a:bodyPr wrap="square">
            <a:spAutoFit/>
          </a:bodyPr>
          <a:lstStyle/>
          <a:p>
            <a:pPr marL="285750" indent="-285750">
              <a:buFont typeface="Courier New" panose="02070309020205020404" pitchFamily="49" charset="0"/>
              <a:buChar char="o"/>
            </a:pPr>
            <a:r>
              <a:rPr lang="en-JP" dirty="0">
                <a:latin typeface="Meiryo" panose="020B0604030504040204" pitchFamily="34" charset="-128"/>
                <a:ea typeface="Meiryo" panose="020B0604030504040204" pitchFamily="34" charset="-128"/>
              </a:rPr>
              <a:t>Apache設定ファイルの編集</a:t>
            </a:r>
          </a:p>
        </p:txBody>
      </p:sp>
      <p:sp>
        <p:nvSpPr>
          <p:cNvPr id="8" name="TextBox 7">
            <a:extLst>
              <a:ext uri="{FF2B5EF4-FFF2-40B4-BE49-F238E27FC236}">
                <a16:creationId xmlns:a16="http://schemas.microsoft.com/office/drawing/2014/main" id="{6AE37DF3-900F-3F23-B234-D71FEF72BEE0}"/>
              </a:ext>
            </a:extLst>
          </p:cNvPr>
          <p:cNvSpPr txBox="1"/>
          <p:nvPr/>
        </p:nvSpPr>
        <p:spPr>
          <a:xfrm>
            <a:off x="130628" y="155806"/>
            <a:ext cx="7195457" cy="400110"/>
          </a:xfrm>
          <a:prstGeom prst="rect">
            <a:avLst/>
          </a:prstGeom>
          <a:noFill/>
        </p:spPr>
        <p:txBody>
          <a:bodyPr wrap="square">
            <a:spAutoFit/>
          </a:bodyPr>
          <a:lstStyle/>
          <a:p>
            <a:pPr marL="285750" indent="-285750">
              <a:buFont typeface="Wingdings" pitchFamily="2" charset="2"/>
              <a:buChar char="Ø"/>
            </a:pPr>
            <a:r>
              <a:rPr lang="en-US" sz="2000" b="1"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Web</a:t>
            </a:r>
            <a:r>
              <a:rPr lang="ja-JP" sz="2000" b="1">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サーバ</a:t>
            </a:r>
            <a:r>
              <a:rPr lang="en-US" sz="2000" b="1"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(Apache httpd)</a:t>
            </a:r>
            <a:r>
              <a:rPr lang="ja-JP" sz="2000" b="1">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への証明書設定</a:t>
            </a:r>
            <a:r>
              <a:rPr lang="en-US" altLang="ja-JP" sz="2000" b="1" dirty="0">
                <a:solidFill>
                  <a:srgbClr val="92D050"/>
                </a:solidFill>
                <a:latin typeface="Meiryo" panose="020B0604030504040204" pitchFamily="34" charset="-128"/>
                <a:ea typeface="Meiryo" panose="020B0604030504040204" pitchFamily="34" charset="-128"/>
                <a:cs typeface="Times New Roman" panose="02020603050405020304" pitchFamily="18" charset="0"/>
              </a:rPr>
              <a:t> 3</a:t>
            </a:r>
            <a:r>
              <a:rPr lang="en-US" altLang="ja-JP" sz="2000" b="1"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/3</a:t>
            </a:r>
            <a:r>
              <a:rPr lang="en-JP" sz="2000" b="1" dirty="0">
                <a:solidFill>
                  <a:srgbClr val="92D050"/>
                </a:solidFill>
                <a:effectLst/>
                <a:latin typeface="Meiryo" panose="020B0604030504040204" pitchFamily="34" charset="-128"/>
                <a:ea typeface="Meiryo" panose="020B0604030504040204" pitchFamily="34" charset="-128"/>
              </a:rPr>
              <a:t> </a:t>
            </a:r>
            <a:endParaRPr lang="en-JP" sz="2000" b="1" dirty="0">
              <a:solidFill>
                <a:srgbClr val="92D050"/>
              </a:solidFill>
              <a:latin typeface="Meiryo" panose="020B0604030504040204" pitchFamily="34" charset="-128"/>
              <a:ea typeface="Meiryo" panose="020B0604030504040204" pitchFamily="34" charset="-128"/>
            </a:endParaRPr>
          </a:p>
        </p:txBody>
      </p:sp>
      <p:sp>
        <p:nvSpPr>
          <p:cNvPr id="10" name="TextBox 9">
            <a:extLst>
              <a:ext uri="{FF2B5EF4-FFF2-40B4-BE49-F238E27FC236}">
                <a16:creationId xmlns:a16="http://schemas.microsoft.com/office/drawing/2014/main" id="{37A06F59-6E5A-F95F-3D7C-5F6BCBA18A40}"/>
              </a:ext>
            </a:extLst>
          </p:cNvPr>
          <p:cNvSpPr txBox="1"/>
          <p:nvPr/>
        </p:nvSpPr>
        <p:spPr>
          <a:xfrm>
            <a:off x="391885" y="1156424"/>
            <a:ext cx="4572000" cy="369332"/>
          </a:xfrm>
          <a:prstGeom prst="rect">
            <a:avLst/>
          </a:prstGeom>
          <a:noFill/>
        </p:spPr>
        <p:txBody>
          <a:bodyPr wrap="square">
            <a:spAutoFit/>
          </a:bodyPr>
          <a:lstStyle/>
          <a:p>
            <a:r>
              <a:rPr lang="en-JP" dirty="0">
                <a:solidFill>
                  <a:srgbClr val="FFC000"/>
                </a:solidFill>
                <a:latin typeface="Meiryo" panose="020B0604030504040204" pitchFamily="34" charset="-128"/>
                <a:ea typeface="Meiryo" panose="020B0604030504040204" pitchFamily="34" charset="-128"/>
              </a:rPr>
              <a:t>sudo vi /etc/httpd/conf.d/ssl.conf</a:t>
            </a:r>
          </a:p>
        </p:txBody>
      </p:sp>
      <p:sp>
        <p:nvSpPr>
          <p:cNvPr id="13" name="TextBox 12">
            <a:extLst>
              <a:ext uri="{FF2B5EF4-FFF2-40B4-BE49-F238E27FC236}">
                <a16:creationId xmlns:a16="http://schemas.microsoft.com/office/drawing/2014/main" id="{90B11ACD-2291-4A3C-9111-041258F1D882}"/>
              </a:ext>
            </a:extLst>
          </p:cNvPr>
          <p:cNvSpPr txBox="1"/>
          <p:nvPr/>
        </p:nvSpPr>
        <p:spPr>
          <a:xfrm>
            <a:off x="391885" y="1520831"/>
            <a:ext cx="7369629" cy="646331"/>
          </a:xfrm>
          <a:prstGeom prst="rect">
            <a:avLst/>
          </a:prstGeom>
          <a:noFill/>
        </p:spPr>
        <p:txBody>
          <a:bodyPr wrap="square">
            <a:spAutoFit/>
          </a:bodyPr>
          <a:lstStyle/>
          <a:p>
            <a:r>
              <a:rPr lang="en-US" dirty="0">
                <a:latin typeface="Meiryo" panose="020B0604030504040204" pitchFamily="34" charset="-128"/>
                <a:ea typeface="Meiryo" panose="020B0604030504040204" pitchFamily="34" charset="-128"/>
              </a:rPr>
              <a:t>SSL/TLS</a:t>
            </a:r>
            <a:r>
              <a:rPr lang="ja-JP" altLang="en-US">
                <a:latin typeface="Meiryo" panose="020B0604030504040204" pitchFamily="34" charset="-128"/>
                <a:ea typeface="Meiryo" panose="020B0604030504040204" pitchFamily="34" charset="-128"/>
              </a:rPr>
              <a:t>通信を有効化するため，</a:t>
            </a:r>
            <a:r>
              <a:rPr lang="en-US" dirty="0">
                <a:latin typeface="Meiryo" panose="020B0604030504040204" pitchFamily="34" charset="-128"/>
                <a:ea typeface="Meiryo" panose="020B0604030504040204" pitchFamily="34" charset="-128"/>
              </a:rPr>
              <a:t>Apache </a:t>
            </a:r>
            <a:r>
              <a:rPr lang="ja-JP" altLang="en-US">
                <a:latin typeface="Meiryo" panose="020B0604030504040204" pitchFamily="34" charset="-128"/>
                <a:ea typeface="Meiryo" panose="020B0604030504040204" pitchFamily="34" charset="-128"/>
              </a:rPr>
              <a:t>の設定ファイルを編集し，以下の項目を設定した</a:t>
            </a:r>
            <a:r>
              <a:rPr lang="en-US" altLang="ja-JP" dirty="0">
                <a:latin typeface="Meiryo" panose="020B0604030504040204" pitchFamily="34" charset="-128"/>
                <a:ea typeface="Meiryo" panose="020B0604030504040204" pitchFamily="34" charset="-128"/>
              </a:rPr>
              <a:t>.</a:t>
            </a:r>
            <a:endParaRPr lang="ja-JP" altLang="en-US">
              <a:latin typeface="Meiryo" panose="020B0604030504040204" pitchFamily="34" charset="-128"/>
              <a:ea typeface="Meiryo" panose="020B0604030504040204" pitchFamily="34" charset="-128"/>
            </a:endParaRPr>
          </a:p>
        </p:txBody>
      </p:sp>
      <p:sp>
        <p:nvSpPr>
          <p:cNvPr id="15" name="TextBox 14">
            <a:extLst>
              <a:ext uri="{FF2B5EF4-FFF2-40B4-BE49-F238E27FC236}">
                <a16:creationId xmlns:a16="http://schemas.microsoft.com/office/drawing/2014/main" id="{1B494F96-360F-0432-2868-3FFB26A3D11A}"/>
              </a:ext>
            </a:extLst>
          </p:cNvPr>
          <p:cNvSpPr txBox="1"/>
          <p:nvPr/>
        </p:nvSpPr>
        <p:spPr>
          <a:xfrm>
            <a:off x="511629" y="4195843"/>
            <a:ext cx="4572000" cy="584775"/>
          </a:xfrm>
          <a:prstGeom prst="rect">
            <a:avLst/>
          </a:prstGeom>
          <a:noFill/>
        </p:spPr>
        <p:txBody>
          <a:bodyPr wrap="square">
            <a:spAutoFit/>
          </a:bodyPr>
          <a:lstStyle/>
          <a:p>
            <a:pPr>
              <a:buFont typeface="Arial" panose="020B0604020202020204" pitchFamily="34" charset="0"/>
              <a:buChar char="•"/>
            </a:pPr>
            <a:r>
              <a:rPr lang="en-US" sz="1600" dirty="0">
                <a:latin typeface="Meiryo" panose="020B0604030504040204" pitchFamily="34" charset="-128"/>
                <a:ea typeface="Meiryo" panose="020B0604030504040204" pitchFamily="34" charset="-128"/>
              </a:rPr>
              <a:t>SSLCertificateFile（</a:t>
            </a:r>
            <a:r>
              <a:rPr lang="ja-JP" altLang="en-US" sz="1600">
                <a:latin typeface="Meiryo" panose="020B0604030504040204" pitchFamily="34" charset="-128"/>
                <a:ea typeface="Meiryo" panose="020B0604030504040204" pitchFamily="34" charset="-128"/>
              </a:rPr>
              <a:t>サーバ証明書）</a:t>
            </a:r>
          </a:p>
          <a:p>
            <a:pPr>
              <a:buFont typeface="Arial" panose="020B0604020202020204" pitchFamily="34" charset="0"/>
              <a:buChar char="•"/>
            </a:pPr>
            <a:r>
              <a:rPr lang="en-US" sz="1600" dirty="0">
                <a:latin typeface="Meiryo" panose="020B0604030504040204" pitchFamily="34" charset="-128"/>
                <a:ea typeface="Meiryo" panose="020B0604030504040204" pitchFamily="34" charset="-128"/>
              </a:rPr>
              <a:t>SSLCertificateKeyFile（</a:t>
            </a:r>
            <a:r>
              <a:rPr lang="ja-JP" altLang="en-US" sz="1600">
                <a:latin typeface="Meiryo" panose="020B0604030504040204" pitchFamily="34" charset="-128"/>
                <a:ea typeface="Meiryo" panose="020B0604030504040204" pitchFamily="34" charset="-128"/>
              </a:rPr>
              <a:t>秘密鍵）</a:t>
            </a:r>
          </a:p>
        </p:txBody>
      </p:sp>
      <p:pic>
        <p:nvPicPr>
          <p:cNvPr id="19" name="Picture 18">
            <a:extLst>
              <a:ext uri="{FF2B5EF4-FFF2-40B4-BE49-F238E27FC236}">
                <a16:creationId xmlns:a16="http://schemas.microsoft.com/office/drawing/2014/main" id="{C39A51B5-522C-AD3E-C50D-428780C40078}"/>
              </a:ext>
            </a:extLst>
          </p:cNvPr>
          <p:cNvPicPr>
            <a:picLocks noChangeAspect="1"/>
          </p:cNvPicPr>
          <p:nvPr/>
        </p:nvPicPr>
        <p:blipFill>
          <a:blip r:embed="rId3"/>
          <a:stretch>
            <a:fillRect/>
          </a:stretch>
        </p:blipFill>
        <p:spPr>
          <a:xfrm>
            <a:off x="511629" y="2263974"/>
            <a:ext cx="7772400" cy="1845080"/>
          </a:xfrm>
          <a:prstGeom prst="rect">
            <a:avLst/>
          </a:prstGeom>
        </p:spPr>
      </p:pic>
      <p:sp>
        <p:nvSpPr>
          <p:cNvPr id="20" name="Down Arrow 19">
            <a:extLst>
              <a:ext uri="{FF2B5EF4-FFF2-40B4-BE49-F238E27FC236}">
                <a16:creationId xmlns:a16="http://schemas.microsoft.com/office/drawing/2014/main" id="{09273853-0269-CE3C-45B4-A4C46988DF32}"/>
              </a:ext>
            </a:extLst>
          </p:cNvPr>
          <p:cNvSpPr/>
          <p:nvPr/>
        </p:nvSpPr>
        <p:spPr>
          <a:xfrm>
            <a:off x="1045028" y="5189470"/>
            <a:ext cx="179615" cy="341074"/>
          </a:xfrm>
          <a:prstGeom prst="downArrow">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pic>
        <p:nvPicPr>
          <p:cNvPr id="21" name="Picture 20">
            <a:extLst>
              <a:ext uri="{FF2B5EF4-FFF2-40B4-BE49-F238E27FC236}">
                <a16:creationId xmlns:a16="http://schemas.microsoft.com/office/drawing/2014/main" id="{7EC7DBFD-9A24-822D-FD08-9D74B8F5AB15}"/>
              </a:ext>
            </a:extLst>
          </p:cNvPr>
          <p:cNvPicPr>
            <a:picLocks noChangeAspect="1"/>
          </p:cNvPicPr>
          <p:nvPr/>
        </p:nvPicPr>
        <p:blipFill>
          <a:blip r:embed="rId4"/>
          <a:stretch>
            <a:fillRect/>
          </a:stretch>
        </p:blipFill>
        <p:spPr>
          <a:xfrm>
            <a:off x="1883229" y="4820700"/>
            <a:ext cx="6400800" cy="1061720"/>
          </a:xfrm>
          <a:prstGeom prst="rect">
            <a:avLst/>
          </a:prstGeom>
        </p:spPr>
      </p:pic>
      <p:sp>
        <p:nvSpPr>
          <p:cNvPr id="25" name="TextBox 24">
            <a:extLst>
              <a:ext uri="{FF2B5EF4-FFF2-40B4-BE49-F238E27FC236}">
                <a16:creationId xmlns:a16="http://schemas.microsoft.com/office/drawing/2014/main" id="{F6F56EFA-7497-B625-F70B-552C7896A6FC}"/>
              </a:ext>
            </a:extLst>
          </p:cNvPr>
          <p:cNvSpPr txBox="1"/>
          <p:nvPr/>
        </p:nvSpPr>
        <p:spPr>
          <a:xfrm>
            <a:off x="277587" y="5959384"/>
            <a:ext cx="7663542" cy="658642"/>
          </a:xfrm>
          <a:prstGeom prst="rect">
            <a:avLst/>
          </a:prstGeom>
          <a:noFill/>
        </p:spPr>
        <p:txBody>
          <a:bodyPr wrap="square">
            <a:spAutoFit/>
          </a:bodyPr>
          <a:lstStyle/>
          <a:p>
            <a:pPr>
              <a:lnSpc>
                <a:spcPct val="115000"/>
              </a:lnSpc>
              <a:spcAft>
                <a:spcPts val="1000"/>
              </a:spcAft>
            </a:pPr>
            <a:r>
              <a:rPr lang="ja-JP" sz="1600">
                <a:effectLst/>
                <a:latin typeface="Meiryo" panose="020B0604030504040204" pitchFamily="34" charset="-128"/>
                <a:ea typeface="Meiryo" panose="020B0604030504040204" pitchFamily="34" charset="-128"/>
                <a:cs typeface="Times New Roman" panose="02020603050405020304" pitchFamily="18" charset="0"/>
              </a:rPr>
              <a:t>ブラウザから</a:t>
            </a:r>
            <a:r>
              <a:rPr lang="en-US" sz="1600" dirty="0">
                <a:effectLst/>
                <a:latin typeface="Meiryo" panose="020B0604030504040204" pitchFamily="34" charset="-128"/>
                <a:ea typeface="Meiryo" panose="020B0604030504040204" pitchFamily="34" charset="-128"/>
                <a:cs typeface="Times New Roman" panose="02020603050405020304" pitchFamily="18" charset="0"/>
              </a:rPr>
              <a:t> www1.example.jp </a:t>
            </a:r>
            <a:r>
              <a:rPr lang="ja-JP" sz="1600">
                <a:effectLst/>
                <a:latin typeface="Meiryo" panose="020B0604030504040204" pitchFamily="34" charset="-128"/>
                <a:ea typeface="Meiryo" panose="020B0604030504040204" pitchFamily="34" charset="-128"/>
                <a:cs typeface="Times New Roman" panose="02020603050405020304" pitchFamily="18" charset="0"/>
              </a:rPr>
              <a:t>にアクセスしたところ、</a:t>
            </a:r>
            <a:r>
              <a:rPr lang="en-US" sz="1600" dirty="0">
                <a:effectLst/>
                <a:latin typeface="Meiryo" panose="020B0604030504040204" pitchFamily="34" charset="-128"/>
                <a:ea typeface="Meiryo" panose="020B0604030504040204" pitchFamily="34" charset="-128"/>
                <a:cs typeface="Times New Roman" panose="02020603050405020304" pitchFamily="18" charset="0"/>
              </a:rPr>
              <a:t>Apache </a:t>
            </a:r>
            <a:r>
              <a:rPr lang="ja-JP" sz="1600">
                <a:effectLst/>
                <a:latin typeface="Meiryo" panose="020B0604030504040204" pitchFamily="34" charset="-128"/>
                <a:ea typeface="Meiryo" panose="020B0604030504040204" pitchFamily="34" charset="-128"/>
                <a:cs typeface="Times New Roman" panose="02020603050405020304" pitchFamily="18" charset="0"/>
              </a:rPr>
              <a:t>の</a:t>
            </a:r>
            <a:r>
              <a:rPr lang="en-US" sz="1600" dirty="0">
                <a:effectLst/>
                <a:latin typeface="Meiryo" panose="020B0604030504040204" pitchFamily="34" charset="-128"/>
                <a:ea typeface="Meiryo" panose="020B0604030504040204" pitchFamily="34" charset="-128"/>
                <a:cs typeface="Times New Roman" panose="02020603050405020304" pitchFamily="18" charset="0"/>
              </a:rPr>
              <a:t> Test Page </a:t>
            </a:r>
            <a:r>
              <a:rPr lang="ja-JP" sz="1600">
                <a:effectLst/>
                <a:latin typeface="Meiryo" panose="020B0604030504040204" pitchFamily="34" charset="-128"/>
                <a:ea typeface="Meiryo" panose="020B0604030504040204" pitchFamily="34" charset="-128"/>
                <a:cs typeface="Times New Roman" panose="02020603050405020304" pitchFamily="18" charset="0"/>
              </a:rPr>
              <a:t>が表示され、</a:t>
            </a:r>
            <a:r>
              <a:rPr lang="en-US" sz="1600" dirty="0">
                <a:effectLst/>
                <a:latin typeface="Meiryo" panose="020B0604030504040204" pitchFamily="34" charset="-128"/>
                <a:ea typeface="Meiryo" panose="020B0604030504040204" pitchFamily="34" charset="-128"/>
                <a:cs typeface="Times New Roman" panose="02020603050405020304" pitchFamily="18" charset="0"/>
              </a:rPr>
              <a:t>Web </a:t>
            </a:r>
            <a:r>
              <a:rPr lang="ja-JP" sz="1600">
                <a:effectLst/>
                <a:latin typeface="Meiryo" panose="020B0604030504040204" pitchFamily="34" charset="-128"/>
                <a:ea typeface="Meiryo" panose="020B0604030504040204" pitchFamily="34" charset="-128"/>
                <a:cs typeface="Times New Roman" panose="02020603050405020304" pitchFamily="18" charset="0"/>
              </a:rPr>
              <a:t>サーバが正常に動作していることを確認した</a:t>
            </a:r>
            <a:r>
              <a:rPr lang="en-US" sz="1600" dirty="0">
                <a:effectLst/>
                <a:latin typeface="Meiryo" panose="020B0604030504040204" pitchFamily="34" charset="-128"/>
                <a:ea typeface="Meiryo" panose="020B0604030504040204" pitchFamily="34" charset="-128"/>
                <a:cs typeface="Times New Roman" panose="02020603050405020304" pitchFamily="18" charset="0"/>
              </a:rPr>
              <a:t>.</a:t>
            </a:r>
            <a:endParaRPr lang="en-JP" sz="1600" dirty="0">
              <a:effectLst/>
              <a:latin typeface="Meiryo" panose="020B0604030504040204" pitchFamily="34" charset="-128"/>
              <a:ea typeface="Meiryo" panose="020B0604030504040204" pitchFamily="34" charset="-128"/>
              <a:cs typeface="Times New Roman" panose="02020603050405020304" pitchFamily="18" charset="0"/>
            </a:endParaRPr>
          </a:p>
        </p:txBody>
      </p:sp>
      <p:sp>
        <p:nvSpPr>
          <p:cNvPr id="26" name="正方形/長方形 9">
            <a:extLst>
              <a:ext uri="{FF2B5EF4-FFF2-40B4-BE49-F238E27FC236}">
                <a16:creationId xmlns:a16="http://schemas.microsoft.com/office/drawing/2014/main" id="{B7A7D167-837C-7BA0-0FBC-1EC1AF821413}"/>
              </a:ext>
            </a:extLst>
          </p:cNvPr>
          <p:cNvSpPr/>
          <p:nvPr/>
        </p:nvSpPr>
        <p:spPr>
          <a:xfrm>
            <a:off x="511629" y="2270585"/>
            <a:ext cx="7772400" cy="1796575"/>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27" name="正方形/長方形 9">
            <a:extLst>
              <a:ext uri="{FF2B5EF4-FFF2-40B4-BE49-F238E27FC236}">
                <a16:creationId xmlns:a16="http://schemas.microsoft.com/office/drawing/2014/main" id="{1C9269E6-0DC1-0B7F-D635-01646C95B57F}"/>
              </a:ext>
            </a:extLst>
          </p:cNvPr>
          <p:cNvSpPr/>
          <p:nvPr/>
        </p:nvSpPr>
        <p:spPr>
          <a:xfrm>
            <a:off x="1883229" y="4793979"/>
            <a:ext cx="6400800" cy="1088441"/>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Tree>
    <p:extLst>
      <p:ext uri="{BB962C8B-B14F-4D97-AF65-F5344CB8AC3E}">
        <p14:creationId xmlns:p14="http://schemas.microsoft.com/office/powerpoint/2010/main" val="1439491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B6017F6-F49E-6E66-C0C8-39E0F61CD854}"/>
              </a:ext>
            </a:extLst>
          </p:cNvPr>
          <p:cNvSpPr>
            <a:spLocks noGrp="1"/>
          </p:cNvSpPr>
          <p:nvPr>
            <p:ph type="sldNum" sz="quarter" idx="12"/>
          </p:nvPr>
        </p:nvSpPr>
        <p:spPr/>
        <p:txBody>
          <a:bodyPr/>
          <a:lstStyle/>
          <a:p>
            <a:fld id="{B37FC626-4DBB-F044-A20D-82FDEAFAFBD6}" type="slidenum">
              <a:rPr lang="en-JP" smtClean="0"/>
              <a:t>19</a:t>
            </a:fld>
            <a:endParaRPr lang="en-JP"/>
          </a:p>
        </p:txBody>
      </p:sp>
      <p:sp>
        <p:nvSpPr>
          <p:cNvPr id="6" name="TextBox 5">
            <a:extLst>
              <a:ext uri="{FF2B5EF4-FFF2-40B4-BE49-F238E27FC236}">
                <a16:creationId xmlns:a16="http://schemas.microsoft.com/office/drawing/2014/main" id="{A44D160A-D44A-DEE2-996A-7B38879FE5CB}"/>
              </a:ext>
            </a:extLst>
          </p:cNvPr>
          <p:cNvSpPr txBox="1"/>
          <p:nvPr/>
        </p:nvSpPr>
        <p:spPr>
          <a:xfrm>
            <a:off x="152399" y="152401"/>
            <a:ext cx="5442857" cy="446276"/>
          </a:xfrm>
          <a:prstGeom prst="rect">
            <a:avLst/>
          </a:prstGeom>
          <a:noFill/>
        </p:spPr>
        <p:txBody>
          <a:bodyPr wrap="square">
            <a:spAutoFit/>
          </a:bodyPr>
          <a:lstStyle/>
          <a:p>
            <a:pPr marL="342900" lvl="0" indent="-342900">
              <a:lnSpc>
                <a:spcPct val="115000"/>
              </a:lnSpc>
              <a:spcAft>
                <a:spcPts val="1000"/>
              </a:spcAft>
              <a:buFont typeface="Wingdings" pitchFamily="2" charset="2"/>
              <a:buChar char=""/>
            </a:pPr>
            <a:r>
              <a:rPr lang="ja-JP" sz="2000" b="1">
                <a:solidFill>
                  <a:srgbClr val="C00000"/>
                </a:solidFill>
                <a:effectLst/>
                <a:latin typeface="Meiryo" panose="020B0604030504040204" pitchFamily="34" charset="-128"/>
                <a:ea typeface="Meiryo" panose="020B0604030504040204" pitchFamily="34" charset="-128"/>
                <a:cs typeface="Times New Roman" panose="02020603050405020304" pitchFamily="18" charset="0"/>
              </a:rPr>
              <a:t>サーバ証明書による暗号化通信の確認</a:t>
            </a:r>
            <a:endParaRPr lang="en-JP" sz="2000" b="1" dirty="0">
              <a:solidFill>
                <a:srgbClr val="C00000"/>
              </a:solidFill>
              <a:effectLst/>
              <a:latin typeface="Meiryo" panose="020B0604030504040204" pitchFamily="34" charset="-128"/>
              <a:ea typeface="Meiryo" panose="020B0604030504040204" pitchFamily="34" charset="-128"/>
              <a:cs typeface="Times New Roman" panose="02020603050405020304" pitchFamily="18" charset="0"/>
            </a:endParaRPr>
          </a:p>
        </p:txBody>
      </p:sp>
      <p:sp>
        <p:nvSpPr>
          <p:cNvPr id="8" name="TextBox 7">
            <a:extLst>
              <a:ext uri="{FF2B5EF4-FFF2-40B4-BE49-F238E27FC236}">
                <a16:creationId xmlns:a16="http://schemas.microsoft.com/office/drawing/2014/main" id="{866D9AE6-2B29-9CBF-427A-208A218C249B}"/>
              </a:ext>
            </a:extLst>
          </p:cNvPr>
          <p:cNvSpPr txBox="1"/>
          <p:nvPr/>
        </p:nvSpPr>
        <p:spPr>
          <a:xfrm>
            <a:off x="500743" y="598677"/>
            <a:ext cx="4572000" cy="369332"/>
          </a:xfrm>
          <a:prstGeom prst="rect">
            <a:avLst/>
          </a:prstGeom>
          <a:noFill/>
        </p:spPr>
        <p:txBody>
          <a:bodyPr wrap="square">
            <a:spAutoFit/>
          </a:bodyPr>
          <a:lstStyle/>
          <a:p>
            <a:pPr marL="285750" indent="-285750">
              <a:buFont typeface="Wingdings" pitchFamily="2" charset="2"/>
              <a:buChar char="Ø"/>
            </a:pPr>
            <a:r>
              <a:rPr lang="en-JP" dirty="0">
                <a:solidFill>
                  <a:srgbClr val="92D050"/>
                </a:solidFill>
                <a:latin typeface="Meiryo" panose="020B0604030504040204" pitchFamily="34" charset="-128"/>
                <a:ea typeface="Meiryo" panose="020B0604030504040204" pitchFamily="34" charset="-128"/>
              </a:rPr>
              <a:t>証明書の発行者（Issuer）</a:t>
            </a:r>
          </a:p>
        </p:txBody>
      </p:sp>
      <p:pic>
        <p:nvPicPr>
          <p:cNvPr id="9" name="Picture 8">
            <a:extLst>
              <a:ext uri="{FF2B5EF4-FFF2-40B4-BE49-F238E27FC236}">
                <a16:creationId xmlns:a16="http://schemas.microsoft.com/office/drawing/2014/main" id="{FFB54A04-6A4A-09BC-3E14-E4F5DE354972}"/>
              </a:ext>
            </a:extLst>
          </p:cNvPr>
          <p:cNvPicPr>
            <a:picLocks noChangeAspect="1"/>
          </p:cNvPicPr>
          <p:nvPr/>
        </p:nvPicPr>
        <p:blipFill>
          <a:blip r:embed="rId2"/>
          <a:stretch>
            <a:fillRect/>
          </a:stretch>
        </p:blipFill>
        <p:spPr>
          <a:xfrm>
            <a:off x="500743" y="2156415"/>
            <a:ext cx="8540186" cy="2600765"/>
          </a:xfrm>
          <a:prstGeom prst="rect">
            <a:avLst/>
          </a:prstGeom>
        </p:spPr>
      </p:pic>
      <p:sp>
        <p:nvSpPr>
          <p:cNvPr id="10" name="Rectangle 1">
            <a:extLst>
              <a:ext uri="{FF2B5EF4-FFF2-40B4-BE49-F238E27FC236}">
                <a16:creationId xmlns:a16="http://schemas.microsoft.com/office/drawing/2014/main" id="{A2D2B55F-4671-3E6F-BBE4-385CDBB2CBF1}"/>
              </a:ext>
            </a:extLst>
          </p:cNvPr>
          <p:cNvSpPr>
            <a:spLocks noChangeArrowheads="1"/>
          </p:cNvSpPr>
          <p:nvPr/>
        </p:nvSpPr>
        <p:spPr bwMode="auto">
          <a:xfrm>
            <a:off x="470807" y="900493"/>
            <a:ext cx="817245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ja-JP" sz="1600" b="0" i="0" u="none" strike="noStrike" cap="none" normalizeH="0" baseline="0" dirty="0">
                <a:ln>
                  <a:noFill/>
                </a:ln>
                <a:solidFill>
                  <a:schemeClr val="tx1"/>
                </a:solidFill>
                <a:effectLst/>
                <a:latin typeface="Meiryo" panose="020B0604030504040204" pitchFamily="34" charset="-128"/>
                <a:ea typeface="Meiryo" panose="020B0604030504040204" pitchFamily="34" charset="-128"/>
                <a:cs typeface="Times New Roman" panose="02020603050405020304" pitchFamily="18" charset="0"/>
              </a:rPr>
              <a:t>Issuer: </a:t>
            </a:r>
            <a:r>
              <a:rPr kumimoji="0" lang="en-US" altLang="ja-JP" sz="1600" b="0" i="0" u="none" strike="noStrike" cap="none" normalizeH="0" baseline="0" dirty="0">
                <a:ln>
                  <a:noFill/>
                </a:ln>
                <a:solidFill>
                  <a:srgbClr val="FFC000"/>
                </a:solidFill>
                <a:effectLst/>
                <a:latin typeface="Meiryo" panose="020B0604030504040204" pitchFamily="34" charset="-128"/>
                <a:ea typeface="Meiryo" panose="020B0604030504040204" pitchFamily="34" charset="-128"/>
                <a:cs typeface="Times New Roman" panose="02020603050405020304" pitchFamily="18" charset="0"/>
              </a:rPr>
              <a:t>CN=Easy-RSA CA, O=Oita University, C=JP</a:t>
            </a:r>
            <a:endParaRPr kumimoji="0" lang="en-US" altLang="ja-JP" sz="1600" b="0" i="0" u="none" strike="noStrike" cap="none" normalizeH="0" baseline="0" dirty="0">
              <a:ln>
                <a:noFill/>
              </a:ln>
              <a:solidFill>
                <a:schemeClr val="tx1"/>
              </a:solidFill>
              <a:effectLst/>
              <a:latin typeface="Meiryo" panose="020B0604030504040204" pitchFamily="34" charset="-128"/>
              <a:ea typeface="Meiryo" panose="020B0604030504040204" pitchFamily="34" charset="-128"/>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ja-JP" sz="1600" b="0" i="0" u="none" strike="noStrike" cap="none" normalizeH="0" baseline="0" dirty="0">
                <a:ln>
                  <a:noFill/>
                </a:ln>
                <a:solidFill>
                  <a:schemeClr val="tx1"/>
                </a:solidFill>
                <a:effectLst/>
                <a:latin typeface="Meiryo" panose="020B0604030504040204" pitchFamily="34" charset="-128"/>
                <a:ea typeface="Meiryo" panose="020B0604030504040204" pitchFamily="34" charset="-128"/>
                <a:cs typeface="Times New Roman" panose="02020603050405020304" pitchFamily="18" charset="0"/>
              </a:rPr>
              <a:t>Using configuration from ... </a:t>
            </a:r>
            <a:r>
              <a:rPr kumimoji="0" lang="en-US" altLang="ja-JP" sz="1600" b="0" i="0" u="none" strike="noStrike" cap="none" normalizeH="0" baseline="0" dirty="0" err="1">
                <a:ln>
                  <a:noFill/>
                </a:ln>
                <a:solidFill>
                  <a:schemeClr val="tx1"/>
                </a:solidFill>
                <a:effectLst/>
                <a:latin typeface="Meiryo" panose="020B0604030504040204" pitchFamily="34" charset="-128"/>
                <a:ea typeface="Meiryo" panose="020B0604030504040204" pitchFamily="34" charset="-128"/>
                <a:cs typeface="Times New Roman" panose="02020603050405020304" pitchFamily="18" charset="0"/>
              </a:rPr>
              <a:t>ca.key</a:t>
            </a:r>
            <a:r>
              <a:rPr kumimoji="0" lang="mn-MN" altLang="ja-JP" sz="1600" b="0" i="0" u="none" strike="noStrike" cap="none" normalizeH="0" baseline="0" dirty="0">
                <a:ln>
                  <a:noFill/>
                </a:ln>
                <a:solidFill>
                  <a:schemeClr val="tx1"/>
                </a:solidFill>
                <a:effectLst/>
                <a:latin typeface="Meiryo" panose="020B0604030504040204" pitchFamily="34" charset="-128"/>
                <a:ea typeface="Meiryo" panose="020B0604030504040204" pitchFamily="34" charset="-128"/>
                <a:cs typeface="Times New Roman" panose="02020603050405020304" pitchFamily="18" charset="0"/>
              </a:rPr>
              <a:t>_</a:t>
            </a:r>
            <a:r>
              <a:rPr kumimoji="0" lang="en-US" altLang="ja-JP" sz="1600" b="0" i="0" u="none" strike="noStrike" cap="none" normalizeH="0" baseline="0" dirty="0">
                <a:ln>
                  <a:noFill/>
                </a:ln>
                <a:solidFill>
                  <a:schemeClr val="tx1"/>
                </a:solidFill>
                <a:effectLst/>
                <a:latin typeface="Meiryo" panose="020B0604030504040204" pitchFamily="34" charset="-128"/>
                <a:ea typeface="Meiryo" panose="020B0604030504040204" pitchFamily="34" charset="-128"/>
                <a:cs typeface="Times New Roman" panose="02020603050405020304" pitchFamily="18" charset="0"/>
              </a:rPr>
              <a:t> Enter pass phrase for ... </a:t>
            </a:r>
            <a:r>
              <a:rPr kumimoji="0" lang="en-US" altLang="ja-JP" sz="1600" b="0" i="0" u="none" strike="noStrike" cap="none" normalizeH="0" baseline="0" dirty="0" err="1">
                <a:ln>
                  <a:noFill/>
                </a:ln>
                <a:solidFill>
                  <a:schemeClr val="tx1"/>
                </a:solidFill>
                <a:effectLst/>
                <a:latin typeface="Meiryo" panose="020B0604030504040204" pitchFamily="34" charset="-128"/>
                <a:ea typeface="Meiryo" panose="020B0604030504040204" pitchFamily="34" charset="-128"/>
                <a:cs typeface="Times New Roman" panose="02020603050405020304" pitchFamily="18" charset="0"/>
              </a:rPr>
              <a:t>ca.key</a:t>
            </a:r>
            <a:r>
              <a:rPr lang="mn-MN" altLang="ja-JP" sz="1600" dirty="0">
                <a:latin typeface="Meiryo" panose="020B0604030504040204" pitchFamily="34" charset="-128"/>
                <a:ea typeface="Meiryo" panose="020B0604030504040204" pitchFamily="34" charset="-128"/>
              </a:rPr>
              <a:t> </a:t>
            </a:r>
            <a:r>
              <a:rPr kumimoji="0" lang="ja-JP" altLang="en-US" sz="1600" b="0" i="0" u="none" strike="noStrike" cap="none" normalizeH="0" baseline="0">
                <a:ln>
                  <a:noFill/>
                </a:ln>
                <a:solidFill>
                  <a:schemeClr val="tx1"/>
                </a:solidFill>
                <a:effectLst/>
                <a:latin typeface="Meiryo" panose="020B0604030504040204" pitchFamily="34" charset="-128"/>
                <a:ea typeface="Meiryo" panose="020B0604030504040204" pitchFamily="34" charset="-128"/>
                <a:cs typeface="Times New Roman" panose="02020603050405020304" pitchFamily="18" charset="0"/>
              </a:rPr>
              <a:t>このことは、サーバ証明書作成時に </a:t>
            </a:r>
            <a:r>
              <a:rPr kumimoji="0" lang="en-US" altLang="ja-JP" sz="1600" b="0" i="0" u="none" strike="noStrike" cap="none" normalizeH="0" baseline="0" dirty="0">
                <a:ln>
                  <a:noFill/>
                </a:ln>
                <a:solidFill>
                  <a:schemeClr val="tx1"/>
                </a:solidFill>
                <a:effectLst/>
                <a:latin typeface="Meiryo" panose="020B0604030504040204" pitchFamily="34" charset="-128"/>
                <a:ea typeface="Meiryo" panose="020B0604030504040204" pitchFamily="34" charset="-128"/>
                <a:cs typeface="Times New Roman" panose="02020603050405020304" pitchFamily="18" charset="0"/>
              </a:rPr>
              <a:t>CA </a:t>
            </a:r>
            <a:r>
              <a:rPr kumimoji="0" lang="ja-JP" altLang="en-US" sz="1600" b="0" i="0" u="none" strike="noStrike" cap="none" normalizeH="0" baseline="0">
                <a:ln>
                  <a:noFill/>
                </a:ln>
                <a:solidFill>
                  <a:schemeClr val="tx1"/>
                </a:solidFill>
                <a:effectLst/>
                <a:latin typeface="Meiryo" panose="020B0604030504040204" pitchFamily="34" charset="-128"/>
                <a:ea typeface="Meiryo" panose="020B0604030504040204" pitchFamily="34" charset="-128"/>
                <a:cs typeface="Times New Roman" panose="02020603050405020304" pitchFamily="18" charset="0"/>
              </a:rPr>
              <a:t>の秘密鍵（</a:t>
            </a:r>
            <a:r>
              <a:rPr kumimoji="0" lang="en-US" altLang="ja-JP" sz="1600" b="0" i="0" u="none" strike="noStrike" cap="none" normalizeH="0" baseline="0" dirty="0" err="1">
                <a:ln>
                  <a:noFill/>
                </a:ln>
                <a:solidFill>
                  <a:schemeClr val="tx1"/>
                </a:solidFill>
                <a:effectLst/>
                <a:latin typeface="Meiryo" panose="020B0604030504040204" pitchFamily="34" charset="-128"/>
                <a:ea typeface="Meiryo" panose="020B0604030504040204" pitchFamily="34" charset="-128"/>
                <a:cs typeface="Times New Roman" panose="02020603050405020304" pitchFamily="18" charset="0"/>
              </a:rPr>
              <a:t>ca.key</a:t>
            </a:r>
            <a:r>
              <a:rPr kumimoji="0" lang="ja-JP" altLang="en-US" sz="1600" b="0" i="0" u="none" strike="noStrike" cap="none" normalizeH="0" baseline="0">
                <a:ln>
                  <a:noFill/>
                </a:ln>
                <a:solidFill>
                  <a:schemeClr val="tx1"/>
                </a:solidFill>
                <a:effectLst/>
                <a:latin typeface="Meiryo" panose="020B0604030504040204" pitchFamily="34" charset="-128"/>
                <a:ea typeface="Meiryo" panose="020B0604030504040204" pitchFamily="34" charset="-128"/>
                <a:cs typeface="Times New Roman" panose="02020603050405020304" pitchFamily="18" charset="0"/>
              </a:rPr>
              <a:t>）を用いて署名が行われているログから確認できる</a:t>
            </a:r>
            <a:endParaRPr kumimoji="0" lang="mn-MN" altLang="ja-JP" sz="1600" b="0" i="0" u="none" strike="noStrike" cap="none" normalizeH="0" baseline="0" dirty="0">
              <a:ln>
                <a:noFill/>
              </a:ln>
              <a:solidFill>
                <a:schemeClr val="tx1"/>
              </a:solidFill>
              <a:effectLst/>
              <a:latin typeface="Meiryo" panose="020B0604030504040204" pitchFamily="34" charset="-128"/>
              <a:ea typeface="Meiryo" panose="020B0604030504040204" pitchFamily="34" charset="-128"/>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sz="1600" b="1" dirty="0"/>
              <a:t>CN=Example Private CA</a:t>
            </a:r>
            <a:r>
              <a:rPr lang="en-US" sz="1600" dirty="0"/>
              <a:t>（</a:t>
            </a:r>
            <a:r>
              <a:rPr lang="ja-JP" altLang="en-US" sz="1600"/>
              <a:t>演習で構築した </a:t>
            </a:r>
            <a:r>
              <a:rPr lang="en-US" sz="1600" dirty="0"/>
              <a:t>Private CA）</a:t>
            </a:r>
            <a:r>
              <a:rPr lang="ja-JP" altLang="en-US" sz="1600"/>
              <a:t>である</a:t>
            </a:r>
            <a:r>
              <a:rPr lang="mn-MN" altLang="ja-JP" sz="1600" dirty="0"/>
              <a:t>.</a:t>
            </a:r>
            <a:endParaRPr kumimoji="0" lang="ja-JP" altLang="en-US" sz="1600" b="0" i="0" u="none" strike="noStrike" cap="none" normalizeH="0" baseline="0">
              <a:ln>
                <a:noFill/>
              </a:ln>
              <a:solidFill>
                <a:schemeClr val="tx1"/>
              </a:solidFill>
              <a:effectLst/>
              <a:latin typeface="Meiryo" panose="020B0604030504040204" pitchFamily="34" charset="-128"/>
              <a:ea typeface="Meiryo" panose="020B0604030504040204" pitchFamily="34" charset="-128"/>
            </a:endParaRPr>
          </a:p>
        </p:txBody>
      </p:sp>
      <p:sp>
        <p:nvSpPr>
          <p:cNvPr id="12" name="TextBox 11">
            <a:extLst>
              <a:ext uri="{FF2B5EF4-FFF2-40B4-BE49-F238E27FC236}">
                <a16:creationId xmlns:a16="http://schemas.microsoft.com/office/drawing/2014/main" id="{94E63C19-E75F-BAE8-FB37-9543D6B45B1C}"/>
              </a:ext>
            </a:extLst>
          </p:cNvPr>
          <p:cNvSpPr txBox="1"/>
          <p:nvPr/>
        </p:nvSpPr>
        <p:spPr>
          <a:xfrm>
            <a:off x="413658" y="5061169"/>
            <a:ext cx="4572000" cy="369332"/>
          </a:xfrm>
          <a:prstGeom prst="rect">
            <a:avLst/>
          </a:prstGeom>
          <a:noFill/>
        </p:spPr>
        <p:txBody>
          <a:bodyPr wrap="square">
            <a:spAutoFit/>
          </a:bodyPr>
          <a:lstStyle/>
          <a:p>
            <a:pPr marL="285750" indent="-285750">
              <a:buFont typeface="Wingdings" pitchFamily="2" charset="2"/>
              <a:buChar char="Ø"/>
            </a:pPr>
            <a:r>
              <a:rPr lang="en-JP" dirty="0">
                <a:solidFill>
                  <a:srgbClr val="92D050"/>
                </a:solidFill>
              </a:rPr>
              <a:t>有効期限（Validity）</a:t>
            </a:r>
          </a:p>
        </p:txBody>
      </p:sp>
      <p:sp>
        <p:nvSpPr>
          <p:cNvPr id="14" name="TextBox 13">
            <a:extLst>
              <a:ext uri="{FF2B5EF4-FFF2-40B4-BE49-F238E27FC236}">
                <a16:creationId xmlns:a16="http://schemas.microsoft.com/office/drawing/2014/main" id="{D74DA243-737C-6479-F64D-366B324BC284}"/>
              </a:ext>
            </a:extLst>
          </p:cNvPr>
          <p:cNvSpPr txBox="1"/>
          <p:nvPr/>
        </p:nvSpPr>
        <p:spPr>
          <a:xfrm>
            <a:off x="413658" y="5518102"/>
            <a:ext cx="7598229" cy="1176219"/>
          </a:xfrm>
          <a:prstGeom prst="rect">
            <a:avLst/>
          </a:prstGeom>
          <a:noFill/>
        </p:spPr>
        <p:txBody>
          <a:bodyPr wrap="square">
            <a:spAutoFit/>
          </a:bodyPr>
          <a:lstStyle/>
          <a:p>
            <a:pPr>
              <a:lnSpc>
                <a:spcPct val="115000"/>
              </a:lnSpc>
              <a:spcAft>
                <a:spcPts val="1000"/>
              </a:spcAft>
            </a:pPr>
            <a:r>
              <a:rPr lang="ja-JP" sz="1800">
                <a:effectLst/>
                <a:latin typeface="Meiryo" panose="020B0604030504040204" pitchFamily="34" charset="-128"/>
                <a:ea typeface="Meiryo" panose="020B0604030504040204" pitchFamily="34" charset="-128"/>
                <a:cs typeface="Times New Roman" panose="02020603050405020304" pitchFamily="18" charset="0"/>
              </a:rPr>
              <a:t>サーバ証明書の有効期限は以下の通りである</a:t>
            </a:r>
            <a:endParaRPr lang="en-JP" sz="1600" dirty="0">
              <a:effectLst/>
              <a:latin typeface="Meiryo" panose="020B0604030504040204" pitchFamily="34" charset="-128"/>
              <a:ea typeface="Meiryo" panose="020B0604030504040204" pitchFamily="34" charset="-128"/>
              <a:cs typeface="Times New Roman" panose="02020603050405020304" pitchFamily="18" charset="0"/>
            </a:endParaRPr>
          </a:p>
          <a:p>
            <a:pPr>
              <a:lnSpc>
                <a:spcPct val="115000"/>
              </a:lnSpc>
              <a:spcAft>
                <a:spcPts val="1000"/>
              </a:spcAft>
            </a:pPr>
            <a:r>
              <a:rPr lang="en-US" sz="1800" dirty="0">
                <a:solidFill>
                  <a:srgbClr val="FFC000"/>
                </a:solidFill>
                <a:effectLst/>
                <a:latin typeface="Meiryo" panose="020B0604030504040204" pitchFamily="34" charset="-128"/>
                <a:ea typeface="Meiryo" panose="020B0604030504040204" pitchFamily="34" charset="-128"/>
                <a:cs typeface="Times New Roman" panose="02020603050405020304" pitchFamily="18" charset="0"/>
              </a:rPr>
              <a:t>[</a:t>
            </a:r>
            <a:r>
              <a:rPr lang="en-JP" sz="1800" dirty="0">
                <a:solidFill>
                  <a:srgbClr val="FFC000"/>
                </a:solidFill>
                <a:effectLst/>
                <a:latin typeface="Meiryo" panose="020B0604030504040204" pitchFamily="34" charset="-128"/>
                <a:ea typeface="Meiryo" panose="020B0604030504040204" pitchFamily="34" charset="-128"/>
                <a:cs typeface="Times New Roman" panose="02020603050405020304" pitchFamily="18" charset="0"/>
              </a:rPr>
              <a:t>Certificate is to be certified until Mar 28 04:27:21 2028 GMT (825 days) </a:t>
            </a:r>
            <a:r>
              <a:rPr lang="en-US" sz="1800" dirty="0">
                <a:solidFill>
                  <a:srgbClr val="FFC000"/>
                </a:solidFill>
                <a:effectLst/>
                <a:latin typeface="Meiryo" panose="020B0604030504040204" pitchFamily="34" charset="-128"/>
                <a:ea typeface="Meiryo" panose="020B0604030504040204" pitchFamily="34" charset="-128"/>
                <a:cs typeface="Times New Roman" panose="02020603050405020304" pitchFamily="18" charset="0"/>
              </a:rPr>
              <a:t>] </a:t>
            </a:r>
            <a:r>
              <a:rPr lang="en-US" sz="1800" dirty="0" err="1">
                <a:effectLst/>
                <a:latin typeface="Meiryo" panose="020B0604030504040204" pitchFamily="34" charset="-128"/>
                <a:ea typeface="Meiryo" panose="020B0604030504040204" pitchFamily="34" charset="-128"/>
                <a:cs typeface="Times New Roman" panose="02020603050405020304" pitchFamily="18" charset="0"/>
              </a:rPr>
              <a:t>つまり、本証明書は発行日から約</a:t>
            </a:r>
            <a:r>
              <a:rPr lang="en-US" sz="1800" dirty="0">
                <a:effectLst/>
                <a:latin typeface="Meiryo" panose="020B0604030504040204" pitchFamily="34" charset="-128"/>
                <a:ea typeface="Meiryo" panose="020B0604030504040204" pitchFamily="34" charset="-128"/>
                <a:cs typeface="Times New Roman" panose="02020603050405020304" pitchFamily="18" charset="0"/>
              </a:rPr>
              <a:t> 825 </a:t>
            </a:r>
            <a:r>
              <a:rPr lang="en-US" sz="1800" dirty="0" err="1">
                <a:effectLst/>
                <a:latin typeface="Meiryo" panose="020B0604030504040204" pitchFamily="34" charset="-128"/>
                <a:ea typeface="Meiryo" panose="020B0604030504040204" pitchFamily="34" charset="-128"/>
                <a:cs typeface="Times New Roman" panose="02020603050405020304" pitchFamily="18" charset="0"/>
              </a:rPr>
              <a:t>日間有効である</a:t>
            </a:r>
            <a:endParaRPr lang="en-JP" sz="1600" dirty="0">
              <a:effectLst/>
              <a:latin typeface="Meiryo" panose="020B0604030504040204" pitchFamily="34" charset="-128"/>
              <a:ea typeface="Meiryo" panose="020B0604030504040204" pitchFamily="34" charset="-128"/>
              <a:cs typeface="Times New Roman" panose="02020603050405020304" pitchFamily="18" charset="0"/>
            </a:endParaRPr>
          </a:p>
        </p:txBody>
      </p:sp>
      <p:sp>
        <p:nvSpPr>
          <p:cNvPr id="15" name="正方形/長方形 9">
            <a:extLst>
              <a:ext uri="{FF2B5EF4-FFF2-40B4-BE49-F238E27FC236}">
                <a16:creationId xmlns:a16="http://schemas.microsoft.com/office/drawing/2014/main" id="{19A9A38D-1255-EAF4-51CA-08CC18B8C516}"/>
              </a:ext>
            </a:extLst>
          </p:cNvPr>
          <p:cNvSpPr/>
          <p:nvPr/>
        </p:nvSpPr>
        <p:spPr>
          <a:xfrm>
            <a:off x="500743" y="4446374"/>
            <a:ext cx="8142514" cy="310805"/>
          </a:xfrm>
          <a:prstGeom prst="rect">
            <a:avLst/>
          </a:prstGeom>
          <a:noFill/>
          <a:ln w="317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16" name="Down Arrow 15">
            <a:extLst>
              <a:ext uri="{FF2B5EF4-FFF2-40B4-BE49-F238E27FC236}">
                <a16:creationId xmlns:a16="http://schemas.microsoft.com/office/drawing/2014/main" id="{8874FD9D-24F4-C8F0-4560-B9842A3D6457}"/>
              </a:ext>
            </a:extLst>
          </p:cNvPr>
          <p:cNvSpPr/>
          <p:nvPr/>
        </p:nvSpPr>
        <p:spPr>
          <a:xfrm rot="10800000">
            <a:off x="6278335" y="5347565"/>
            <a:ext cx="179615" cy="341074"/>
          </a:xfrm>
          <a:prstGeom prst="downArrow">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7" name="正方形/長方形 9">
            <a:extLst>
              <a:ext uri="{FF2B5EF4-FFF2-40B4-BE49-F238E27FC236}">
                <a16:creationId xmlns:a16="http://schemas.microsoft.com/office/drawing/2014/main" id="{26AB6B61-E3EE-2905-CD58-9978CE39F57F}"/>
              </a:ext>
            </a:extLst>
          </p:cNvPr>
          <p:cNvSpPr/>
          <p:nvPr/>
        </p:nvSpPr>
        <p:spPr>
          <a:xfrm>
            <a:off x="500742" y="2156415"/>
            <a:ext cx="8142513" cy="2202359"/>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Tree>
    <p:extLst>
      <p:ext uri="{BB962C8B-B14F-4D97-AF65-F5344CB8AC3E}">
        <p14:creationId xmlns:p14="http://schemas.microsoft.com/office/powerpoint/2010/main" val="32391406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97073EC-C28D-579E-989D-AC086A2E7A50}"/>
              </a:ext>
            </a:extLst>
          </p:cNvPr>
          <p:cNvSpPr>
            <a:spLocks noGrp="1"/>
          </p:cNvSpPr>
          <p:nvPr>
            <p:ph type="sldNum" sz="quarter" idx="12"/>
          </p:nvPr>
        </p:nvSpPr>
        <p:spPr/>
        <p:txBody>
          <a:bodyPr/>
          <a:lstStyle/>
          <a:p>
            <a:r>
              <a:rPr lang="en-US" dirty="0"/>
              <a:t>20</a:t>
            </a:r>
            <a:endParaRPr lang="en-JP" dirty="0"/>
          </a:p>
        </p:txBody>
      </p:sp>
      <p:sp>
        <p:nvSpPr>
          <p:cNvPr id="6" name="TextBox 5">
            <a:extLst>
              <a:ext uri="{FF2B5EF4-FFF2-40B4-BE49-F238E27FC236}">
                <a16:creationId xmlns:a16="http://schemas.microsoft.com/office/drawing/2014/main" id="{7B6D8BE7-3C53-8301-3DAC-ACBD499DE9D9}"/>
              </a:ext>
            </a:extLst>
          </p:cNvPr>
          <p:cNvSpPr txBox="1"/>
          <p:nvPr/>
        </p:nvSpPr>
        <p:spPr>
          <a:xfrm>
            <a:off x="315684" y="195841"/>
            <a:ext cx="4572000" cy="410882"/>
          </a:xfrm>
          <a:prstGeom prst="rect">
            <a:avLst/>
          </a:prstGeom>
          <a:noFill/>
        </p:spPr>
        <p:txBody>
          <a:bodyPr wrap="square">
            <a:spAutoFit/>
          </a:bodyPr>
          <a:lstStyle/>
          <a:p>
            <a:pPr marL="285750" lvl="0" indent="-285750">
              <a:lnSpc>
                <a:spcPct val="115000"/>
              </a:lnSpc>
              <a:spcAft>
                <a:spcPts val="1000"/>
              </a:spcAft>
              <a:buFont typeface="Wingdings" pitchFamily="2" charset="2"/>
              <a:buChar char="Ø"/>
            </a:pPr>
            <a:r>
              <a:rPr lang="ja-JP" b="1">
                <a:solidFill>
                  <a:srgbClr val="92D050"/>
                </a:solidFill>
                <a:effectLst/>
                <a:latin typeface="Meiryo" panose="020B0604030504040204" pitchFamily="34" charset="-128"/>
                <a:ea typeface="Meiryo" panose="020B0604030504040204" pitchFamily="34" charset="-128"/>
                <a:cs typeface="MS Mincho" panose="02020609040205080304" pitchFamily="49" charset="-128"/>
              </a:rPr>
              <a:t>使用されている暗号アルゴリズム</a:t>
            </a:r>
            <a:endParaRPr lang="en-JP"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endParaRPr>
          </a:p>
        </p:txBody>
      </p:sp>
      <p:pic>
        <p:nvPicPr>
          <p:cNvPr id="7" name="Picture 6">
            <a:extLst>
              <a:ext uri="{FF2B5EF4-FFF2-40B4-BE49-F238E27FC236}">
                <a16:creationId xmlns:a16="http://schemas.microsoft.com/office/drawing/2014/main" id="{C896A9A8-01E4-FED9-EBC4-7F3135616D20}"/>
              </a:ext>
            </a:extLst>
          </p:cNvPr>
          <p:cNvPicPr>
            <a:picLocks noChangeAspect="1"/>
          </p:cNvPicPr>
          <p:nvPr/>
        </p:nvPicPr>
        <p:blipFill>
          <a:blip r:embed="rId3"/>
          <a:stretch>
            <a:fillRect/>
          </a:stretch>
        </p:blipFill>
        <p:spPr>
          <a:xfrm>
            <a:off x="500743" y="2443108"/>
            <a:ext cx="7434940" cy="2314072"/>
          </a:xfrm>
          <a:prstGeom prst="rect">
            <a:avLst/>
          </a:prstGeom>
        </p:spPr>
      </p:pic>
      <p:sp>
        <p:nvSpPr>
          <p:cNvPr id="9" name="TextBox 8">
            <a:extLst>
              <a:ext uri="{FF2B5EF4-FFF2-40B4-BE49-F238E27FC236}">
                <a16:creationId xmlns:a16="http://schemas.microsoft.com/office/drawing/2014/main" id="{535A2C29-870C-C155-155C-22D95C365EF4}"/>
              </a:ext>
            </a:extLst>
          </p:cNvPr>
          <p:cNvSpPr txBox="1"/>
          <p:nvPr/>
        </p:nvSpPr>
        <p:spPr>
          <a:xfrm>
            <a:off x="315684" y="817247"/>
            <a:ext cx="7467602" cy="649409"/>
          </a:xfrm>
          <a:prstGeom prst="rect">
            <a:avLst/>
          </a:prstGeom>
          <a:noFill/>
        </p:spPr>
        <p:txBody>
          <a:bodyPr wrap="square">
            <a:spAutoFit/>
          </a:bodyPr>
          <a:lstStyle/>
          <a:p>
            <a:pPr>
              <a:lnSpc>
                <a:spcPct val="115000"/>
              </a:lnSpc>
              <a:spcAft>
                <a:spcPts val="1000"/>
              </a:spcAft>
            </a:pPr>
            <a:r>
              <a:rPr lang="ja-JP" sz="1600">
                <a:effectLst/>
                <a:latin typeface="Meiryo" panose="020B0604030504040204" pitchFamily="34" charset="-128"/>
                <a:ea typeface="Meiryo" panose="020B0604030504040204" pitchFamily="34" charset="-128"/>
                <a:cs typeface="MS Mincho" panose="02020609040205080304" pitchFamily="49" charset="-128"/>
              </a:rPr>
              <a:t>本演習では互換性と実運用を考慮し，署名用ハッシュ関数として</a:t>
            </a:r>
            <a:r>
              <a:rPr lang="en-JP" sz="1600" dirty="0">
                <a:effectLst/>
                <a:latin typeface="Meiryo" panose="020B0604030504040204" pitchFamily="34" charset="-128"/>
                <a:ea typeface="Meiryo" panose="020B0604030504040204" pitchFamily="34" charset="-128"/>
                <a:cs typeface="MS Mincho" panose="02020609040205080304" pitchFamily="49" charset="-128"/>
              </a:rPr>
              <a:t> SHA-</a:t>
            </a:r>
            <a:r>
              <a:rPr lang="en-US" sz="1600" dirty="0">
                <a:effectLst/>
                <a:latin typeface="Meiryo" panose="020B0604030504040204" pitchFamily="34" charset="-128"/>
                <a:ea typeface="Meiryo" panose="020B0604030504040204" pitchFamily="34" charset="-128"/>
                <a:cs typeface="MS Mincho" panose="02020609040205080304" pitchFamily="49" charset="-128"/>
              </a:rPr>
              <a:t>256 </a:t>
            </a:r>
            <a:r>
              <a:rPr lang="ja-JP" sz="1600">
                <a:effectLst/>
                <a:latin typeface="Meiryo" panose="020B0604030504040204" pitchFamily="34" charset="-128"/>
                <a:ea typeface="Meiryo" panose="020B0604030504040204" pitchFamily="34" charset="-128"/>
                <a:cs typeface="MS Mincho" panose="02020609040205080304" pitchFamily="49" charset="-128"/>
              </a:rPr>
              <a:t>を使用した</a:t>
            </a:r>
            <a:r>
              <a:rPr lang="en-US" altLang="ja-JP" sz="1600" dirty="0">
                <a:latin typeface="Meiryo" panose="020B0604030504040204" pitchFamily="34" charset="-128"/>
                <a:ea typeface="Meiryo" panose="020B0604030504040204" pitchFamily="34" charset="-128"/>
                <a:cs typeface="MS Mincho" panose="02020609040205080304" pitchFamily="49" charset="-128"/>
              </a:rPr>
              <a:t>.</a:t>
            </a:r>
            <a:r>
              <a:rPr lang="ja-JP" sz="1600">
                <a:effectLst/>
                <a:latin typeface="Meiryo" panose="020B0604030504040204" pitchFamily="34" charset="-128"/>
                <a:ea typeface="Meiryo" panose="020B0604030504040204" pitchFamily="34" charset="-128"/>
                <a:cs typeface="MS Mincho" panose="02020609040205080304" pitchFamily="49" charset="-128"/>
              </a:rPr>
              <a:t> </a:t>
            </a:r>
            <a:r>
              <a:rPr lang="en-US" sz="1600" dirty="0">
                <a:effectLst/>
                <a:latin typeface="Meiryo" panose="020B0604030504040204" pitchFamily="34" charset="-128"/>
                <a:ea typeface="Meiryo" panose="020B0604030504040204" pitchFamily="34" charset="-128"/>
                <a:cs typeface="MS Mincho" panose="02020609040205080304" pitchFamily="49" charset="-128"/>
              </a:rPr>
              <a:t>easy-</a:t>
            </a:r>
            <a:r>
              <a:rPr lang="en-US" sz="1600" dirty="0" err="1">
                <a:effectLst/>
                <a:latin typeface="Meiryo" panose="020B0604030504040204" pitchFamily="34" charset="-128"/>
                <a:ea typeface="Meiryo" panose="020B0604030504040204" pitchFamily="34" charset="-128"/>
                <a:cs typeface="MS Mincho" panose="02020609040205080304" pitchFamily="49" charset="-128"/>
              </a:rPr>
              <a:t>rsa</a:t>
            </a:r>
            <a:r>
              <a:rPr lang="en-US" sz="1600" dirty="0">
                <a:effectLst/>
                <a:latin typeface="Meiryo" panose="020B0604030504040204" pitchFamily="34" charset="-128"/>
                <a:ea typeface="Meiryo" panose="020B0604030504040204" pitchFamily="34" charset="-128"/>
                <a:cs typeface="MS Mincho" panose="02020609040205080304" pitchFamily="49" charset="-128"/>
              </a:rPr>
              <a:t> </a:t>
            </a:r>
            <a:r>
              <a:rPr lang="ja-JP" sz="1600">
                <a:effectLst/>
                <a:latin typeface="Meiryo" panose="020B0604030504040204" pitchFamily="34" charset="-128"/>
                <a:ea typeface="Meiryo" panose="020B0604030504040204" pitchFamily="34" charset="-128"/>
                <a:cs typeface="MS Mincho" panose="02020609040205080304" pitchFamily="49" charset="-128"/>
              </a:rPr>
              <a:t>の設定ファイルにおいて以下の暗号設定を用いた</a:t>
            </a:r>
            <a:r>
              <a:rPr lang="en-US" altLang="ja-JP" sz="1600" dirty="0">
                <a:effectLst/>
                <a:latin typeface="Cambria" panose="02040503050406030204" pitchFamily="18" charset="0"/>
                <a:ea typeface="MS Mincho" panose="02020609040205080304" pitchFamily="49" charset="-128"/>
                <a:cs typeface="MS Mincho" panose="02020609040205080304" pitchFamily="49" charset="-128"/>
              </a:rPr>
              <a:t>.</a:t>
            </a:r>
            <a:endParaRPr lang="en-JP" sz="1600" dirty="0">
              <a:effectLst/>
              <a:latin typeface="Cambria" panose="02040503050406030204" pitchFamily="18" charset="0"/>
              <a:ea typeface="MS Mincho" panose="02020609040205080304" pitchFamily="49" charset="-128"/>
              <a:cs typeface="Times New Roman" panose="02020603050405020304" pitchFamily="18" charset="0"/>
            </a:endParaRPr>
          </a:p>
        </p:txBody>
      </p:sp>
      <p:sp>
        <p:nvSpPr>
          <p:cNvPr id="11" name="TextBox 10">
            <a:extLst>
              <a:ext uri="{FF2B5EF4-FFF2-40B4-BE49-F238E27FC236}">
                <a16:creationId xmlns:a16="http://schemas.microsoft.com/office/drawing/2014/main" id="{274CAA04-E12B-E700-195B-6B68344653B7}"/>
              </a:ext>
            </a:extLst>
          </p:cNvPr>
          <p:cNvSpPr txBox="1"/>
          <p:nvPr/>
        </p:nvSpPr>
        <p:spPr>
          <a:xfrm>
            <a:off x="468082" y="5294970"/>
            <a:ext cx="8003721" cy="584775"/>
          </a:xfrm>
          <a:prstGeom prst="rect">
            <a:avLst/>
          </a:prstGeom>
          <a:noFill/>
        </p:spPr>
        <p:txBody>
          <a:bodyPr wrap="square">
            <a:spAutoFit/>
          </a:bodyPr>
          <a:lstStyle/>
          <a:p>
            <a:r>
              <a:rPr lang="ja-JP" sz="1600">
                <a:solidFill>
                  <a:srgbClr val="000000"/>
                </a:solidFill>
                <a:effectLst/>
                <a:latin typeface="Meiryo" panose="020B0604030504040204" pitchFamily="34" charset="-128"/>
                <a:ea typeface="Meiryo" panose="020B0604030504040204" pitchFamily="34" charset="-128"/>
                <a:cs typeface="MS Mincho" panose="02020609040205080304" pitchFamily="49" charset="-128"/>
              </a:rPr>
              <a:t>本演習では</a:t>
            </a:r>
            <a:r>
              <a:rPr lang="en-US" sz="1600" dirty="0">
                <a:solidFill>
                  <a:srgbClr val="000000"/>
                </a:solidFill>
                <a:effectLst/>
                <a:latin typeface="Meiryo" panose="020B0604030504040204" pitchFamily="34" charset="-128"/>
                <a:ea typeface="Meiryo" panose="020B0604030504040204" pitchFamily="34" charset="-128"/>
                <a:cs typeface="MS Mincho" panose="02020609040205080304" pitchFamily="49" charset="-128"/>
              </a:rPr>
              <a:t> easy-</a:t>
            </a:r>
            <a:r>
              <a:rPr lang="en-US" sz="1600" dirty="0" err="1">
                <a:solidFill>
                  <a:srgbClr val="000000"/>
                </a:solidFill>
                <a:effectLst/>
                <a:latin typeface="Meiryo" panose="020B0604030504040204" pitchFamily="34" charset="-128"/>
                <a:ea typeface="Meiryo" panose="020B0604030504040204" pitchFamily="34" charset="-128"/>
                <a:cs typeface="MS Mincho" panose="02020609040205080304" pitchFamily="49" charset="-128"/>
              </a:rPr>
              <a:t>rsa</a:t>
            </a:r>
            <a:r>
              <a:rPr lang="en-US" sz="1600" dirty="0">
                <a:solidFill>
                  <a:srgbClr val="000000"/>
                </a:solidFill>
                <a:effectLst/>
                <a:latin typeface="Meiryo" panose="020B0604030504040204" pitchFamily="34" charset="-128"/>
                <a:ea typeface="Meiryo" panose="020B0604030504040204" pitchFamily="34" charset="-128"/>
                <a:cs typeface="MS Mincho" panose="02020609040205080304" pitchFamily="49" charset="-128"/>
              </a:rPr>
              <a:t> </a:t>
            </a:r>
            <a:r>
              <a:rPr lang="ja-JP" sz="1600">
                <a:solidFill>
                  <a:srgbClr val="000000"/>
                </a:solidFill>
                <a:effectLst/>
                <a:latin typeface="Meiryo" panose="020B0604030504040204" pitchFamily="34" charset="-128"/>
                <a:ea typeface="Meiryo" panose="020B0604030504040204" pitchFamily="34" charset="-128"/>
                <a:cs typeface="MS Mincho" panose="02020609040205080304" pitchFamily="49" charset="-128"/>
              </a:rPr>
              <a:t>の設定において，署名アルゴリズムとして</a:t>
            </a:r>
            <a:r>
              <a:rPr lang="en-US" sz="1600" dirty="0">
                <a:solidFill>
                  <a:srgbClr val="000000"/>
                </a:solidFill>
                <a:effectLst/>
                <a:latin typeface="Meiryo" panose="020B0604030504040204" pitchFamily="34" charset="-128"/>
                <a:ea typeface="Meiryo" panose="020B0604030504040204" pitchFamily="34" charset="-128"/>
                <a:cs typeface="MS Mincho" panose="02020609040205080304" pitchFamily="49" charset="-128"/>
              </a:rPr>
              <a:t> ED25519 </a:t>
            </a:r>
            <a:r>
              <a:rPr lang="ja-JP" sz="1600">
                <a:solidFill>
                  <a:srgbClr val="000000"/>
                </a:solidFill>
                <a:effectLst/>
                <a:latin typeface="Meiryo" panose="020B0604030504040204" pitchFamily="34" charset="-128"/>
                <a:ea typeface="Meiryo" panose="020B0604030504040204" pitchFamily="34" charset="-128"/>
                <a:cs typeface="MS Mincho" panose="02020609040205080304" pitchFamily="49" charset="-128"/>
              </a:rPr>
              <a:t>が使用されており，ハッシュ関数には</a:t>
            </a:r>
            <a:r>
              <a:rPr lang="en-US" sz="1600" dirty="0">
                <a:solidFill>
                  <a:srgbClr val="000000"/>
                </a:solidFill>
                <a:effectLst/>
                <a:latin typeface="Meiryo" panose="020B0604030504040204" pitchFamily="34" charset="-128"/>
                <a:ea typeface="Meiryo" panose="020B0604030504040204" pitchFamily="34" charset="-128"/>
                <a:cs typeface="MS Mincho" panose="02020609040205080304" pitchFamily="49" charset="-128"/>
              </a:rPr>
              <a:t> SHA-256 </a:t>
            </a:r>
            <a:r>
              <a:rPr lang="ja-JP" sz="1600">
                <a:solidFill>
                  <a:srgbClr val="000000"/>
                </a:solidFill>
                <a:effectLst/>
                <a:latin typeface="Meiryo" panose="020B0604030504040204" pitchFamily="34" charset="-128"/>
                <a:ea typeface="Meiryo" panose="020B0604030504040204" pitchFamily="34" charset="-128"/>
                <a:cs typeface="MS Mincho" panose="02020609040205080304" pitchFamily="49" charset="-128"/>
              </a:rPr>
              <a:t>が用いられている</a:t>
            </a:r>
            <a:r>
              <a:rPr lang="en-JP" sz="1600" dirty="0">
                <a:effectLst/>
                <a:latin typeface="Meiryo" panose="020B0604030504040204" pitchFamily="34" charset="-128"/>
                <a:ea typeface="Meiryo" panose="020B0604030504040204" pitchFamily="34" charset="-128"/>
              </a:rPr>
              <a:t> </a:t>
            </a:r>
            <a:r>
              <a:rPr lang="en-JP" sz="1600" dirty="0">
                <a:latin typeface="Meiryo" panose="020B0604030504040204" pitchFamily="34" charset="-128"/>
                <a:ea typeface="Meiryo" panose="020B0604030504040204" pitchFamily="34" charset="-128"/>
              </a:rPr>
              <a:t>.</a:t>
            </a:r>
          </a:p>
        </p:txBody>
      </p:sp>
      <p:sp>
        <p:nvSpPr>
          <p:cNvPr id="13" name="TextBox 12">
            <a:extLst>
              <a:ext uri="{FF2B5EF4-FFF2-40B4-BE49-F238E27FC236}">
                <a16:creationId xmlns:a16="http://schemas.microsoft.com/office/drawing/2014/main" id="{85F161F3-F631-C4C3-9445-26AA95EE3FF5}"/>
              </a:ext>
            </a:extLst>
          </p:cNvPr>
          <p:cNvSpPr txBox="1"/>
          <p:nvPr/>
        </p:nvSpPr>
        <p:spPr>
          <a:xfrm>
            <a:off x="468083" y="1540895"/>
            <a:ext cx="5736773" cy="716093"/>
          </a:xfrm>
          <a:prstGeom prst="rect">
            <a:avLst/>
          </a:prstGeom>
          <a:noFill/>
        </p:spPr>
        <p:txBody>
          <a:bodyPr wrap="square">
            <a:spAutoFit/>
          </a:bodyPr>
          <a:lstStyle/>
          <a:p>
            <a:pPr marL="323850" indent="-285750">
              <a:lnSpc>
                <a:spcPct val="115000"/>
              </a:lnSpc>
              <a:spcAft>
                <a:spcPts val="1000"/>
              </a:spcAft>
              <a:buFont typeface="Arial" panose="020B0604020202020204" pitchFamily="34" charset="0"/>
              <a:buChar char="•"/>
            </a:pPr>
            <a:r>
              <a:rPr lang="ja-JP" sz="1400">
                <a:solidFill>
                  <a:srgbClr val="FFC000"/>
                </a:solidFill>
                <a:effectLst/>
                <a:latin typeface="Meiryo" panose="020B0604030504040204" pitchFamily="34" charset="-128"/>
                <a:ea typeface="Meiryo" panose="020B0604030504040204" pitchFamily="34" charset="-128"/>
                <a:cs typeface="Times New Roman" panose="02020603050405020304" pitchFamily="18" charset="0"/>
              </a:rPr>
              <a:t>署名アルゴリズム</a:t>
            </a:r>
            <a:r>
              <a:rPr lang="en-US" sz="1400" dirty="0">
                <a:solidFill>
                  <a:srgbClr val="FFC000"/>
                </a:solidFill>
                <a:effectLst/>
                <a:latin typeface="Meiryo" panose="020B0604030504040204" pitchFamily="34" charset="-128"/>
                <a:ea typeface="Meiryo" panose="020B0604030504040204" pitchFamily="34" charset="-128"/>
                <a:cs typeface="Times New Roman" panose="02020603050405020304" pitchFamily="18" charset="0"/>
              </a:rPr>
              <a:t>: ED25519</a:t>
            </a:r>
            <a:endParaRPr lang="en-JP" sz="1400" dirty="0">
              <a:effectLst/>
              <a:latin typeface="Meiryo" panose="020B0604030504040204" pitchFamily="34" charset="-128"/>
              <a:ea typeface="Meiryo" panose="020B0604030504040204" pitchFamily="34" charset="-128"/>
              <a:cs typeface="Times New Roman" panose="02020603050405020304" pitchFamily="18" charset="0"/>
            </a:endParaRPr>
          </a:p>
          <a:p>
            <a:pPr marL="323850" indent="-285750">
              <a:lnSpc>
                <a:spcPct val="115000"/>
              </a:lnSpc>
              <a:spcAft>
                <a:spcPts val="1000"/>
              </a:spcAft>
              <a:buFont typeface="Arial" panose="020B0604020202020204" pitchFamily="34" charset="0"/>
              <a:buChar char="•"/>
            </a:pPr>
            <a:r>
              <a:rPr lang="ja-JP" sz="1400">
                <a:solidFill>
                  <a:srgbClr val="FFC000"/>
                </a:solidFill>
                <a:effectLst/>
                <a:latin typeface="Meiryo" panose="020B0604030504040204" pitchFamily="34" charset="-128"/>
                <a:ea typeface="Meiryo" panose="020B0604030504040204" pitchFamily="34" charset="-128"/>
                <a:cs typeface="Times New Roman" panose="02020603050405020304" pitchFamily="18" charset="0"/>
              </a:rPr>
              <a:t>ハッシュ</a:t>
            </a:r>
            <a:r>
              <a:rPr lang="en-US" sz="1400" dirty="0">
                <a:solidFill>
                  <a:srgbClr val="FFC000"/>
                </a:solidFill>
                <a:effectLst/>
                <a:latin typeface="Meiryo" panose="020B0604030504040204" pitchFamily="34" charset="-128"/>
                <a:ea typeface="Meiryo" panose="020B0604030504040204" pitchFamily="34" charset="-128"/>
                <a:cs typeface="Times New Roman" panose="02020603050405020304" pitchFamily="18" charset="0"/>
              </a:rPr>
              <a:t>: SHA-</a:t>
            </a:r>
            <a:r>
              <a:rPr lang="mn-MN" sz="1400" dirty="0">
                <a:solidFill>
                  <a:srgbClr val="FFC000"/>
                </a:solidFill>
                <a:effectLst/>
                <a:latin typeface="Meiryo" panose="020B0604030504040204" pitchFamily="34" charset="-128"/>
                <a:ea typeface="Meiryo" panose="020B0604030504040204" pitchFamily="34" charset="-128"/>
                <a:cs typeface="Times New Roman" panose="02020603050405020304" pitchFamily="18" charset="0"/>
              </a:rPr>
              <a:t>256</a:t>
            </a:r>
            <a:endParaRPr lang="en-JP" sz="1400" dirty="0">
              <a:effectLst/>
              <a:latin typeface="Meiryo" panose="020B0604030504040204" pitchFamily="34" charset="-128"/>
              <a:ea typeface="Meiryo" panose="020B0604030504040204" pitchFamily="34" charset="-128"/>
              <a:cs typeface="Times New Roman" panose="02020603050405020304" pitchFamily="18" charset="0"/>
            </a:endParaRPr>
          </a:p>
        </p:txBody>
      </p:sp>
      <p:sp>
        <p:nvSpPr>
          <p:cNvPr id="15" name="正方形/長方形 9">
            <a:extLst>
              <a:ext uri="{FF2B5EF4-FFF2-40B4-BE49-F238E27FC236}">
                <a16:creationId xmlns:a16="http://schemas.microsoft.com/office/drawing/2014/main" id="{BB9F312D-C30F-185F-FBB5-6375A006CDDB}"/>
              </a:ext>
            </a:extLst>
          </p:cNvPr>
          <p:cNvSpPr/>
          <p:nvPr/>
        </p:nvSpPr>
        <p:spPr>
          <a:xfrm>
            <a:off x="500743" y="2432942"/>
            <a:ext cx="7434940" cy="2324238"/>
          </a:xfrm>
          <a:prstGeom prst="rect">
            <a:avLst/>
          </a:prstGeom>
          <a:noFill/>
          <a:ln w="317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Tree>
    <p:extLst>
      <p:ext uri="{BB962C8B-B14F-4D97-AF65-F5344CB8AC3E}">
        <p14:creationId xmlns:p14="http://schemas.microsoft.com/office/powerpoint/2010/main" val="7271462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3E81F96-1DFB-522C-6073-12C1DBBA9335}"/>
              </a:ext>
            </a:extLst>
          </p:cNvPr>
          <p:cNvSpPr>
            <a:spLocks noGrp="1"/>
          </p:cNvSpPr>
          <p:nvPr>
            <p:ph type="sldNum" sz="quarter" idx="12"/>
          </p:nvPr>
        </p:nvSpPr>
        <p:spPr/>
        <p:txBody>
          <a:bodyPr/>
          <a:lstStyle/>
          <a:p>
            <a:fld id="{B37FC626-4DBB-F044-A20D-82FDEAFAFBD6}" type="slidenum">
              <a:rPr lang="en-JP" smtClean="0"/>
              <a:t>21</a:t>
            </a:fld>
            <a:endParaRPr lang="en-JP"/>
          </a:p>
        </p:txBody>
      </p:sp>
      <p:sp>
        <p:nvSpPr>
          <p:cNvPr id="6" name="TextBox 5">
            <a:extLst>
              <a:ext uri="{FF2B5EF4-FFF2-40B4-BE49-F238E27FC236}">
                <a16:creationId xmlns:a16="http://schemas.microsoft.com/office/drawing/2014/main" id="{A04F1C92-ABAC-B247-8A9B-817D6D097609}"/>
              </a:ext>
            </a:extLst>
          </p:cNvPr>
          <p:cNvSpPr txBox="1"/>
          <p:nvPr/>
        </p:nvSpPr>
        <p:spPr>
          <a:xfrm>
            <a:off x="293913" y="158821"/>
            <a:ext cx="8567057" cy="923330"/>
          </a:xfrm>
          <a:prstGeom prst="rect">
            <a:avLst/>
          </a:prstGeom>
          <a:noFill/>
        </p:spPr>
        <p:txBody>
          <a:bodyPr wrap="square">
            <a:spAutoFit/>
          </a:bodyPr>
          <a:lstStyle/>
          <a:p>
            <a:pPr marL="285750" indent="-285750">
              <a:buFont typeface="Arial" panose="020B0604020202020204" pitchFamily="34" charset="0"/>
              <a:buChar char="•"/>
            </a:pPr>
            <a:r>
              <a:rPr lang="en-JP" dirty="0">
                <a:solidFill>
                  <a:srgbClr val="C00000"/>
                </a:solidFill>
                <a:latin typeface="Meiryo" panose="020B0604030504040204" pitchFamily="34" charset="-128"/>
                <a:ea typeface="Meiryo" panose="020B0604030504040204" pitchFamily="34" charset="-128"/>
              </a:rPr>
              <a:t>Webブラウザでアクセスした際に，「警告」が表示された理由を，PKIの信頼モデルの観点から説明</a:t>
            </a:r>
            <a:endParaRPr lang="mn-MN" dirty="0">
              <a:solidFill>
                <a:srgbClr val="C00000"/>
              </a:solidFill>
              <a:latin typeface="Meiryo" panose="020B0604030504040204" pitchFamily="34" charset="-128"/>
              <a:ea typeface="Meiryo" panose="020B0604030504040204" pitchFamily="34" charset="-128"/>
            </a:endParaRPr>
          </a:p>
          <a:p>
            <a:endParaRPr lang="en-JP" dirty="0">
              <a:solidFill>
                <a:srgbClr val="C00000"/>
              </a:solidFill>
              <a:latin typeface="Meiryo" panose="020B0604030504040204" pitchFamily="34" charset="-128"/>
              <a:ea typeface="Meiryo" panose="020B0604030504040204" pitchFamily="34" charset="-128"/>
            </a:endParaRPr>
          </a:p>
        </p:txBody>
      </p:sp>
      <p:sp>
        <p:nvSpPr>
          <p:cNvPr id="8" name="TextBox 7">
            <a:extLst>
              <a:ext uri="{FF2B5EF4-FFF2-40B4-BE49-F238E27FC236}">
                <a16:creationId xmlns:a16="http://schemas.microsoft.com/office/drawing/2014/main" id="{7D418CFC-4386-D1F5-60C4-73C3042D33DA}"/>
              </a:ext>
            </a:extLst>
          </p:cNvPr>
          <p:cNvSpPr txBox="1"/>
          <p:nvPr/>
        </p:nvSpPr>
        <p:spPr>
          <a:xfrm>
            <a:off x="533399" y="897485"/>
            <a:ext cx="5693229" cy="338554"/>
          </a:xfrm>
          <a:prstGeom prst="rect">
            <a:avLst/>
          </a:prstGeom>
          <a:noFill/>
        </p:spPr>
        <p:txBody>
          <a:bodyPr wrap="square">
            <a:spAutoFit/>
          </a:bodyPr>
          <a:lstStyle/>
          <a:p>
            <a:pPr marL="285750" indent="-285750">
              <a:buFont typeface="Wingdings" pitchFamily="2" charset="2"/>
              <a:buChar char="Ø"/>
            </a:pPr>
            <a:r>
              <a:rPr lang="en-JP" sz="1600" dirty="0">
                <a:solidFill>
                  <a:srgbClr val="92D050"/>
                </a:solidFill>
                <a:latin typeface="Meiryo" panose="020B0604030504040204" pitchFamily="34" charset="-128"/>
                <a:ea typeface="Meiryo" panose="020B0604030504040204" pitchFamily="34" charset="-128"/>
              </a:rPr>
              <a:t>警告 (NET::ERR_CERT_AUTHORITY_INVALID)</a:t>
            </a:r>
          </a:p>
        </p:txBody>
      </p:sp>
      <p:sp>
        <p:nvSpPr>
          <p:cNvPr id="10" name="TextBox 9">
            <a:extLst>
              <a:ext uri="{FF2B5EF4-FFF2-40B4-BE49-F238E27FC236}">
                <a16:creationId xmlns:a16="http://schemas.microsoft.com/office/drawing/2014/main" id="{8A5999CA-6910-88C6-33EA-D060B6BBF005}"/>
              </a:ext>
            </a:extLst>
          </p:cNvPr>
          <p:cNvSpPr txBox="1"/>
          <p:nvPr/>
        </p:nvSpPr>
        <p:spPr>
          <a:xfrm>
            <a:off x="609600" y="1351393"/>
            <a:ext cx="8164286" cy="830997"/>
          </a:xfrm>
          <a:prstGeom prst="rect">
            <a:avLst/>
          </a:prstGeom>
          <a:noFill/>
        </p:spPr>
        <p:txBody>
          <a:bodyPr wrap="square">
            <a:spAutoFit/>
          </a:bodyPr>
          <a:lstStyle/>
          <a:p>
            <a:pPr marL="285750" indent="-285750">
              <a:buFont typeface="Arial" panose="020B0604020202020204" pitchFamily="34" charset="0"/>
              <a:buChar char="•"/>
            </a:pPr>
            <a:r>
              <a:rPr lang="en-JP" sz="1600" dirty="0">
                <a:latin typeface="Meiryo" panose="020B0604030504040204" pitchFamily="34" charset="-128"/>
                <a:ea typeface="Meiryo" panose="020B0604030504040204" pitchFamily="34" charset="-128"/>
              </a:rPr>
              <a:t>Webブラウザで警告が表示された理由は，本Webサーバの証明書が Private CA によって署名されており，その CA のルート証明書がブラウザの信頼ストアに登録されていないためである</a:t>
            </a:r>
            <a:r>
              <a:rPr lang="mn-MN" sz="1600" dirty="0">
                <a:latin typeface="Meiryo" panose="020B0604030504040204" pitchFamily="34" charset="-128"/>
                <a:ea typeface="Meiryo" panose="020B0604030504040204" pitchFamily="34" charset="-128"/>
              </a:rPr>
              <a:t>.</a:t>
            </a:r>
            <a:endParaRPr lang="en-JP" sz="1600" dirty="0">
              <a:latin typeface="Meiryo" panose="020B0604030504040204" pitchFamily="34" charset="-128"/>
              <a:ea typeface="Meiryo" panose="020B0604030504040204" pitchFamily="34" charset="-128"/>
            </a:endParaRPr>
          </a:p>
        </p:txBody>
      </p:sp>
      <p:pic>
        <p:nvPicPr>
          <p:cNvPr id="11" name="Picture 10">
            <a:extLst>
              <a:ext uri="{FF2B5EF4-FFF2-40B4-BE49-F238E27FC236}">
                <a16:creationId xmlns:a16="http://schemas.microsoft.com/office/drawing/2014/main" id="{0049269B-6B90-C310-2454-6C263A0F3181}"/>
              </a:ext>
            </a:extLst>
          </p:cNvPr>
          <p:cNvPicPr>
            <a:picLocks noChangeAspect="1"/>
          </p:cNvPicPr>
          <p:nvPr/>
        </p:nvPicPr>
        <p:blipFill>
          <a:blip r:embed="rId3"/>
          <a:stretch>
            <a:fillRect/>
          </a:stretch>
        </p:blipFill>
        <p:spPr>
          <a:xfrm>
            <a:off x="533399" y="3007473"/>
            <a:ext cx="4890407" cy="3336276"/>
          </a:xfrm>
          <a:prstGeom prst="rect">
            <a:avLst/>
          </a:prstGeom>
        </p:spPr>
      </p:pic>
      <p:sp>
        <p:nvSpPr>
          <p:cNvPr id="13" name="TextBox 12">
            <a:extLst>
              <a:ext uri="{FF2B5EF4-FFF2-40B4-BE49-F238E27FC236}">
                <a16:creationId xmlns:a16="http://schemas.microsoft.com/office/drawing/2014/main" id="{8CA62CA9-1692-AD53-949E-A2B96E029838}"/>
              </a:ext>
            </a:extLst>
          </p:cNvPr>
          <p:cNvSpPr txBox="1"/>
          <p:nvPr/>
        </p:nvSpPr>
        <p:spPr>
          <a:xfrm>
            <a:off x="598715" y="2205020"/>
            <a:ext cx="8011886" cy="1077218"/>
          </a:xfrm>
          <a:prstGeom prst="rect">
            <a:avLst/>
          </a:prstGeom>
          <a:noFill/>
        </p:spPr>
        <p:txBody>
          <a:bodyPr wrap="square">
            <a:spAutoFit/>
          </a:bodyPr>
          <a:lstStyle/>
          <a:p>
            <a:pPr marL="285750" indent="-285750">
              <a:buFont typeface="Arial" panose="020B0604020202020204" pitchFamily="34" charset="0"/>
              <a:buChar char="•"/>
            </a:pPr>
            <a:r>
              <a:rPr lang="ja-JP" altLang="en-US" sz="1600">
                <a:latin typeface="Meiryo" panose="020B0604030504040204" pitchFamily="34" charset="-128"/>
                <a:ea typeface="Meiryo" panose="020B0604030504040204" pitchFamily="34" charset="-128"/>
              </a:rPr>
              <a:t>本警告を解消するためには、</a:t>
            </a:r>
            <a:r>
              <a:rPr lang="en-US" sz="1600" dirty="0">
                <a:latin typeface="Meiryo" panose="020B0604030504040204" pitchFamily="34" charset="-128"/>
                <a:ea typeface="Meiryo" panose="020B0604030504040204" pitchFamily="34" charset="-128"/>
              </a:rPr>
              <a:t>Private CA </a:t>
            </a:r>
            <a:r>
              <a:rPr lang="ja-JP" altLang="en-US" sz="1600">
                <a:latin typeface="Meiryo" panose="020B0604030504040204" pitchFamily="34" charset="-128"/>
                <a:ea typeface="Meiryo" panose="020B0604030504040204" pitchFamily="34" charset="-128"/>
              </a:rPr>
              <a:t>のルート証明書（</a:t>
            </a:r>
            <a:r>
              <a:rPr lang="en-US" sz="1600" dirty="0">
                <a:latin typeface="Meiryo" panose="020B0604030504040204" pitchFamily="34" charset="-128"/>
                <a:ea typeface="Meiryo" panose="020B0604030504040204" pitchFamily="34" charset="-128"/>
              </a:rPr>
              <a:t>ca.crt）</a:t>
            </a:r>
            <a:r>
              <a:rPr lang="ja-JP" altLang="en-US" sz="1600">
                <a:latin typeface="Meiryo" panose="020B0604030504040204" pitchFamily="34" charset="-128"/>
                <a:ea typeface="Meiryo" panose="020B0604030504040204" pitchFamily="34" charset="-128"/>
              </a:rPr>
              <a:t>をクライアント端末の信頼ストアに登録する必要があった。</a:t>
            </a:r>
            <a:endParaRPr lang="mn-MN" altLang="ja-JP" sz="16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1600">
                <a:latin typeface="Meiryo" panose="020B0604030504040204" pitchFamily="34" charset="-128"/>
                <a:ea typeface="Meiryo" panose="020B0604030504040204" pitchFamily="34" charset="-128"/>
              </a:rPr>
              <a:t>実際に </a:t>
            </a:r>
            <a:r>
              <a:rPr lang="en-US" sz="1600" dirty="0">
                <a:latin typeface="Meiryo" panose="020B0604030504040204" pitchFamily="34" charset="-128"/>
                <a:ea typeface="Meiryo" panose="020B0604030504040204" pitchFamily="34" charset="-128"/>
              </a:rPr>
              <a:t>ca.crt </a:t>
            </a:r>
            <a:r>
              <a:rPr lang="ja-JP" altLang="en-US" sz="1600">
                <a:latin typeface="Meiryo" panose="020B0604030504040204" pitchFamily="34" charset="-128"/>
                <a:ea typeface="Meiryo" panose="020B0604030504040204" pitchFamily="34" charset="-128"/>
              </a:rPr>
              <a:t>を </a:t>
            </a:r>
            <a:r>
              <a:rPr lang="en-US" sz="1600" dirty="0">
                <a:latin typeface="Meiryo" panose="020B0604030504040204" pitchFamily="34" charset="-128"/>
                <a:ea typeface="Meiryo" panose="020B0604030504040204" pitchFamily="34" charset="-128"/>
              </a:rPr>
              <a:t>OS </a:t>
            </a:r>
            <a:r>
              <a:rPr lang="ja-JP" altLang="en-US" sz="1600">
                <a:latin typeface="Meiryo" panose="020B0604030504040204" pitchFamily="34" charset="-128"/>
                <a:ea typeface="Meiryo" panose="020B0604030504040204" pitchFamily="34" charset="-128"/>
              </a:rPr>
              <a:t>または </a:t>
            </a:r>
            <a:r>
              <a:rPr lang="en-US" sz="1600" dirty="0">
                <a:latin typeface="Meiryo" panose="020B0604030504040204" pitchFamily="34" charset="-128"/>
                <a:ea typeface="Meiryo" panose="020B0604030504040204" pitchFamily="34" charset="-128"/>
              </a:rPr>
              <a:t>Web </a:t>
            </a:r>
            <a:r>
              <a:rPr lang="ja-JP" altLang="en-US" sz="1600">
                <a:latin typeface="Meiryo" panose="020B0604030504040204" pitchFamily="34" charset="-128"/>
                <a:ea typeface="Meiryo" panose="020B0604030504040204" pitchFamily="34" charset="-128"/>
              </a:rPr>
              <a:t>ブラウザへインポートすることで、証明書チェーンの検証が可能となり</a:t>
            </a:r>
            <a:r>
              <a:rPr lang="en-US" sz="1600" dirty="0">
                <a:latin typeface="Meiryo" panose="020B0604030504040204" pitchFamily="34" charset="-128"/>
                <a:ea typeface="Meiryo" panose="020B0604030504040204" pitchFamily="34" charset="-128"/>
              </a:rPr>
              <a:t>ERR_CERT_AUTHORITY_INVALID </a:t>
            </a:r>
            <a:r>
              <a:rPr lang="ja-JP" altLang="en-US" sz="1600">
                <a:latin typeface="Meiryo" panose="020B0604030504040204" pitchFamily="34" charset="-128"/>
                <a:ea typeface="Meiryo" panose="020B0604030504040204" pitchFamily="34" charset="-128"/>
              </a:rPr>
              <a:t>は解消される。</a:t>
            </a:r>
            <a:endParaRPr lang="en-JP" sz="1600" dirty="0">
              <a:latin typeface="Meiryo" panose="020B0604030504040204" pitchFamily="34" charset="-128"/>
              <a:ea typeface="Meiryo" panose="020B0604030504040204" pitchFamily="34" charset="-128"/>
            </a:endParaRPr>
          </a:p>
        </p:txBody>
      </p:sp>
      <p:sp>
        <p:nvSpPr>
          <p:cNvPr id="15" name="TextBox 14">
            <a:extLst>
              <a:ext uri="{FF2B5EF4-FFF2-40B4-BE49-F238E27FC236}">
                <a16:creationId xmlns:a16="http://schemas.microsoft.com/office/drawing/2014/main" id="{958EF998-25DD-98D5-B354-C635DEAB5D65}"/>
              </a:ext>
            </a:extLst>
          </p:cNvPr>
          <p:cNvSpPr txBox="1"/>
          <p:nvPr/>
        </p:nvSpPr>
        <p:spPr>
          <a:xfrm>
            <a:off x="5353050" y="4552806"/>
            <a:ext cx="4267199" cy="738664"/>
          </a:xfrm>
          <a:prstGeom prst="rect">
            <a:avLst/>
          </a:prstGeom>
          <a:noFill/>
        </p:spPr>
        <p:txBody>
          <a:bodyPr wrap="square">
            <a:spAutoFit/>
          </a:bodyPr>
          <a:lstStyle/>
          <a:p>
            <a:pPr marL="285750" indent="-285750">
              <a:buFont typeface="Arial" panose="020B0604020202020204" pitchFamily="34" charset="0"/>
              <a:buChar char="•"/>
            </a:pPr>
            <a:r>
              <a:rPr lang="en-US" sz="1400" dirty="0">
                <a:solidFill>
                  <a:srgbClr val="FFC000"/>
                </a:solidFill>
                <a:latin typeface="Meiryo" panose="020B0604030504040204" pitchFamily="34" charset="-128"/>
                <a:ea typeface="Meiryo" panose="020B0604030504040204" pitchFamily="34" charset="-128"/>
              </a:rPr>
              <a:t>sudo cp ca.crt /usr/local/share/ca-certificates/</a:t>
            </a:r>
          </a:p>
          <a:p>
            <a:pPr marL="285750" indent="-285750">
              <a:buFont typeface="Arial" panose="020B0604020202020204" pitchFamily="34" charset="0"/>
              <a:buChar char="•"/>
            </a:pPr>
            <a:r>
              <a:rPr lang="en-US" sz="1400" dirty="0">
                <a:solidFill>
                  <a:srgbClr val="FFC000"/>
                </a:solidFill>
                <a:latin typeface="Meiryo" panose="020B0604030504040204" pitchFamily="34" charset="-128"/>
                <a:ea typeface="Meiryo" panose="020B0604030504040204" pitchFamily="34" charset="-128"/>
              </a:rPr>
              <a:t>sudo update-ca-certificates</a:t>
            </a:r>
          </a:p>
        </p:txBody>
      </p:sp>
    </p:spTree>
    <p:extLst>
      <p:ext uri="{BB962C8B-B14F-4D97-AF65-F5344CB8AC3E}">
        <p14:creationId xmlns:p14="http://schemas.microsoft.com/office/powerpoint/2010/main" val="23275809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5A2972C-1297-8527-4F7E-A363EF5C2D23}"/>
              </a:ext>
            </a:extLst>
          </p:cNvPr>
          <p:cNvSpPr>
            <a:spLocks noGrp="1"/>
          </p:cNvSpPr>
          <p:nvPr>
            <p:ph type="sldNum" sz="quarter" idx="12"/>
          </p:nvPr>
        </p:nvSpPr>
        <p:spPr/>
        <p:txBody>
          <a:bodyPr/>
          <a:lstStyle/>
          <a:p>
            <a:fld id="{B37FC626-4DBB-F044-A20D-82FDEAFAFBD6}" type="slidenum">
              <a:rPr lang="en-JP" smtClean="0"/>
              <a:t>22</a:t>
            </a:fld>
            <a:endParaRPr lang="en-JP"/>
          </a:p>
        </p:txBody>
      </p:sp>
      <p:sp>
        <p:nvSpPr>
          <p:cNvPr id="6" name="TextBox 5">
            <a:extLst>
              <a:ext uri="{FF2B5EF4-FFF2-40B4-BE49-F238E27FC236}">
                <a16:creationId xmlns:a16="http://schemas.microsoft.com/office/drawing/2014/main" id="{5B1F2F34-40E9-E2E2-0263-517236BD7762}"/>
              </a:ext>
            </a:extLst>
          </p:cNvPr>
          <p:cNvSpPr txBox="1"/>
          <p:nvPr/>
        </p:nvSpPr>
        <p:spPr>
          <a:xfrm>
            <a:off x="261257" y="308206"/>
            <a:ext cx="5812972" cy="369332"/>
          </a:xfrm>
          <a:prstGeom prst="rect">
            <a:avLst/>
          </a:prstGeom>
          <a:noFill/>
        </p:spPr>
        <p:txBody>
          <a:bodyPr wrap="square">
            <a:spAutoFit/>
          </a:bodyPr>
          <a:lstStyle/>
          <a:p>
            <a:pPr marL="285750" indent="-285750">
              <a:buFont typeface="Arial" panose="020B0604020202020204" pitchFamily="34" charset="0"/>
              <a:buChar char="•"/>
            </a:pPr>
            <a:r>
              <a:rPr lang="en-US" dirty="0">
                <a:solidFill>
                  <a:srgbClr val="C00000"/>
                </a:solidFill>
                <a:latin typeface="Meiryo" panose="020B0604030504040204" pitchFamily="34" charset="-128"/>
                <a:ea typeface="Meiryo" panose="020B0604030504040204" pitchFamily="34" charset="-128"/>
              </a:rPr>
              <a:t>Private CA</a:t>
            </a:r>
            <a:r>
              <a:rPr lang="ja-JP" altLang="en-US">
                <a:solidFill>
                  <a:srgbClr val="C00000"/>
                </a:solidFill>
                <a:latin typeface="Meiryo" panose="020B0604030504040204" pitchFamily="34" charset="-128"/>
                <a:ea typeface="Meiryo" panose="020B0604030504040204" pitchFamily="34" charset="-128"/>
              </a:rPr>
              <a:t>運用におけるセキュリティ上の課題</a:t>
            </a:r>
            <a:endParaRPr lang="en-JP" dirty="0">
              <a:solidFill>
                <a:srgbClr val="C00000"/>
              </a:solidFill>
              <a:latin typeface="Meiryo" panose="020B0604030504040204" pitchFamily="34" charset="-128"/>
              <a:ea typeface="Meiryo" panose="020B0604030504040204" pitchFamily="34" charset="-128"/>
            </a:endParaRPr>
          </a:p>
        </p:txBody>
      </p:sp>
      <p:sp>
        <p:nvSpPr>
          <p:cNvPr id="8" name="TextBox 7">
            <a:extLst>
              <a:ext uri="{FF2B5EF4-FFF2-40B4-BE49-F238E27FC236}">
                <a16:creationId xmlns:a16="http://schemas.microsoft.com/office/drawing/2014/main" id="{AEAFAB2C-5399-70B8-0C60-03A76EDF78B0}"/>
              </a:ext>
            </a:extLst>
          </p:cNvPr>
          <p:cNvSpPr txBox="1"/>
          <p:nvPr/>
        </p:nvSpPr>
        <p:spPr>
          <a:xfrm>
            <a:off x="631372" y="778200"/>
            <a:ext cx="4572000" cy="410882"/>
          </a:xfrm>
          <a:prstGeom prst="rect">
            <a:avLst/>
          </a:prstGeom>
          <a:noFill/>
        </p:spPr>
        <p:txBody>
          <a:bodyPr wrap="square">
            <a:spAutoFit/>
          </a:bodyPr>
          <a:lstStyle/>
          <a:p>
            <a:pPr marL="342900" lvl="0" indent="-342900" algn="just">
              <a:lnSpc>
                <a:spcPct val="115000"/>
              </a:lnSpc>
              <a:spcAft>
                <a:spcPts val="1000"/>
              </a:spcAft>
              <a:buFont typeface="Wingdings" pitchFamily="2" charset="2"/>
              <a:buChar char="Ø"/>
            </a:pPr>
            <a:r>
              <a:rPr lang="en-US" altLang="ja-JP" sz="1800"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Private CA</a:t>
            </a:r>
            <a:r>
              <a:rPr lang="ja-JP" altLang="en-US" sz="180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運用における利点・欠点</a:t>
            </a:r>
            <a:endParaRPr lang="en-JP" sz="1600"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endParaRPr>
          </a:p>
        </p:txBody>
      </p:sp>
      <p:graphicFrame>
        <p:nvGraphicFramePr>
          <p:cNvPr id="9" name="Table 8">
            <a:extLst>
              <a:ext uri="{FF2B5EF4-FFF2-40B4-BE49-F238E27FC236}">
                <a16:creationId xmlns:a16="http://schemas.microsoft.com/office/drawing/2014/main" id="{22FC1557-0CDD-D29A-1FFB-383AE5C3D4C4}"/>
              </a:ext>
            </a:extLst>
          </p:cNvPr>
          <p:cNvGraphicFramePr>
            <a:graphicFrameLocks noGrp="1"/>
          </p:cNvGraphicFramePr>
          <p:nvPr>
            <p:extLst>
              <p:ext uri="{D42A27DB-BD31-4B8C-83A1-F6EECF244321}">
                <p14:modId xmlns:p14="http://schemas.microsoft.com/office/powerpoint/2010/main" val="1564688452"/>
              </p:ext>
            </p:extLst>
          </p:nvPr>
        </p:nvGraphicFramePr>
        <p:xfrm>
          <a:off x="519792" y="1189082"/>
          <a:ext cx="7992835" cy="3849703"/>
        </p:xfrm>
        <a:graphic>
          <a:graphicData uri="http://schemas.openxmlformats.org/drawingml/2006/table">
            <a:tbl>
              <a:tblPr>
                <a:tableStyleId>{8A107856-5554-42FB-B03E-39F5DBC370BA}</a:tableStyleId>
              </a:tblPr>
              <a:tblGrid>
                <a:gridCol w="1745847">
                  <a:extLst>
                    <a:ext uri="{9D8B030D-6E8A-4147-A177-3AD203B41FA5}">
                      <a16:colId xmlns:a16="http://schemas.microsoft.com/office/drawing/2014/main" val="2427299741"/>
                    </a:ext>
                  </a:extLst>
                </a:gridCol>
                <a:gridCol w="3582710">
                  <a:extLst>
                    <a:ext uri="{9D8B030D-6E8A-4147-A177-3AD203B41FA5}">
                      <a16:colId xmlns:a16="http://schemas.microsoft.com/office/drawing/2014/main" val="2389570068"/>
                    </a:ext>
                  </a:extLst>
                </a:gridCol>
                <a:gridCol w="2664278">
                  <a:extLst>
                    <a:ext uri="{9D8B030D-6E8A-4147-A177-3AD203B41FA5}">
                      <a16:colId xmlns:a16="http://schemas.microsoft.com/office/drawing/2014/main" val="1546416896"/>
                    </a:ext>
                  </a:extLst>
                </a:gridCol>
              </a:tblGrid>
              <a:tr h="375581">
                <a:tc>
                  <a:txBody>
                    <a:bodyPr/>
                    <a:lstStyle/>
                    <a:p>
                      <a:r>
                        <a:rPr lang="ja-JP" altLang="en-US" b="0">
                          <a:latin typeface="Meiryo" panose="020B0604030504040204" pitchFamily="34" charset="-128"/>
                          <a:ea typeface="Meiryo" panose="020B0604030504040204" pitchFamily="34" charset="-128"/>
                        </a:rPr>
                        <a:t>観点</a:t>
                      </a:r>
                    </a:p>
                  </a:txBody>
                  <a:tcPr anchor="ctr"/>
                </a:tc>
                <a:tc>
                  <a:txBody>
                    <a:bodyPr/>
                    <a:lstStyle/>
                    <a:p>
                      <a:r>
                        <a:rPr lang="ja-JP" altLang="en-US" b="0">
                          <a:latin typeface="Meiryo" panose="020B0604030504040204" pitchFamily="34" charset="-128"/>
                          <a:ea typeface="Meiryo" panose="020B0604030504040204" pitchFamily="34" charset="-128"/>
                        </a:rPr>
                        <a:t>利点（メリット）</a:t>
                      </a:r>
                    </a:p>
                  </a:txBody>
                  <a:tcPr anchor="ctr"/>
                </a:tc>
                <a:tc>
                  <a:txBody>
                    <a:bodyPr/>
                    <a:lstStyle/>
                    <a:p>
                      <a:r>
                        <a:rPr lang="ja-JP" altLang="en-US" b="0">
                          <a:latin typeface="Meiryo" panose="020B0604030504040204" pitchFamily="34" charset="-128"/>
                          <a:ea typeface="Meiryo" panose="020B0604030504040204" pitchFamily="34" charset="-128"/>
                        </a:rPr>
                        <a:t>欠点（デメリット）</a:t>
                      </a:r>
                    </a:p>
                  </a:txBody>
                  <a:tcPr anchor="ctr"/>
                </a:tc>
                <a:extLst>
                  <a:ext uri="{0D108BD9-81ED-4DB2-BD59-A6C34878D82A}">
                    <a16:rowId xmlns:a16="http://schemas.microsoft.com/office/drawing/2014/main" val="3705316989"/>
                  </a:ext>
                </a:extLst>
              </a:tr>
              <a:tr h="938952">
                <a:tc>
                  <a:txBody>
                    <a:bodyPr/>
                    <a:lstStyle/>
                    <a:p>
                      <a:r>
                        <a:rPr lang="ja-JP" altLang="en-US" b="0">
                          <a:latin typeface="Meiryo" panose="020B0604030504040204" pitchFamily="34" charset="-128"/>
                          <a:ea typeface="Meiryo" panose="020B0604030504040204" pitchFamily="34" charset="-128"/>
                        </a:rPr>
                        <a:t>セキュリティ</a:t>
                      </a:r>
                    </a:p>
                  </a:txBody>
                  <a:tcPr anchor="ctr"/>
                </a:tc>
                <a:tc>
                  <a:txBody>
                    <a:bodyPr/>
                    <a:lstStyle/>
                    <a:p>
                      <a:r>
                        <a:rPr lang="ja-JP" altLang="en-US" b="0">
                          <a:latin typeface="Meiryo" panose="020B0604030504040204" pitchFamily="34" charset="-128"/>
                          <a:ea typeface="Meiryo" panose="020B0604030504040204" pitchFamily="34" charset="-128"/>
                        </a:rPr>
                        <a:t>・組織内で証明書を完全に管理できる・外部 </a:t>
                      </a:r>
                      <a:r>
                        <a:rPr lang="en-US" b="0" dirty="0">
                          <a:latin typeface="Meiryo" panose="020B0604030504040204" pitchFamily="34" charset="-128"/>
                          <a:ea typeface="Meiryo" panose="020B0604030504040204" pitchFamily="34" charset="-128"/>
                        </a:rPr>
                        <a:t>CA </a:t>
                      </a:r>
                      <a:r>
                        <a:rPr lang="ja-JP" altLang="en-US" b="0">
                          <a:latin typeface="Meiryo" panose="020B0604030504040204" pitchFamily="34" charset="-128"/>
                          <a:ea typeface="Meiryo" panose="020B0604030504040204" pitchFamily="34" charset="-128"/>
                        </a:rPr>
                        <a:t>に依存しないため情報漏洩リスクが低い</a:t>
                      </a:r>
                    </a:p>
                  </a:txBody>
                  <a:tcPr anchor="ctr"/>
                </a:tc>
                <a:tc>
                  <a:txBody>
                    <a:bodyPr/>
                    <a:lstStyle/>
                    <a:p>
                      <a:r>
                        <a:rPr lang="en-US" b="0">
                          <a:latin typeface="Meiryo" panose="020B0604030504040204" pitchFamily="34" charset="-128"/>
                          <a:ea typeface="Meiryo" panose="020B0604030504040204" pitchFamily="34" charset="-128"/>
                        </a:rPr>
                        <a:t>・CA</a:t>
                      </a:r>
                      <a:r>
                        <a:rPr lang="ja-JP" altLang="en-US" b="0">
                          <a:latin typeface="Meiryo" panose="020B0604030504040204" pitchFamily="34" charset="-128"/>
                          <a:ea typeface="Meiryo" panose="020B0604030504040204" pitchFamily="34" charset="-128"/>
                        </a:rPr>
                        <a:t>秘密鍵の管理不備が致命的なリスクになる</a:t>
                      </a:r>
                    </a:p>
                  </a:txBody>
                  <a:tcPr anchor="ctr"/>
                </a:tc>
                <a:extLst>
                  <a:ext uri="{0D108BD9-81ED-4DB2-BD59-A6C34878D82A}">
                    <a16:rowId xmlns:a16="http://schemas.microsoft.com/office/drawing/2014/main" val="1564788932"/>
                  </a:ext>
                </a:extLst>
              </a:tr>
              <a:tr h="938952">
                <a:tc>
                  <a:txBody>
                    <a:bodyPr/>
                    <a:lstStyle/>
                    <a:p>
                      <a:r>
                        <a:rPr lang="ja-JP" altLang="en-US" b="0">
                          <a:latin typeface="Meiryo" panose="020B0604030504040204" pitchFamily="34" charset="-128"/>
                          <a:ea typeface="Meiryo" panose="020B0604030504040204" pitchFamily="34" charset="-128"/>
                        </a:rPr>
                        <a:t>運用コスト</a:t>
                      </a:r>
                    </a:p>
                  </a:txBody>
                  <a:tcPr anchor="ctr"/>
                </a:tc>
                <a:tc>
                  <a:txBody>
                    <a:bodyPr/>
                    <a:lstStyle/>
                    <a:p>
                      <a:r>
                        <a:rPr lang="ja-JP" altLang="en-US" b="0">
                          <a:latin typeface="Meiryo" panose="020B0604030504040204" pitchFamily="34" charset="-128"/>
                          <a:ea typeface="Meiryo" panose="020B0604030504040204" pitchFamily="34" charset="-128"/>
                        </a:rPr>
                        <a:t>・商用 </a:t>
                      </a:r>
                      <a:r>
                        <a:rPr lang="en-US" b="0">
                          <a:latin typeface="Meiryo" panose="020B0604030504040204" pitchFamily="34" charset="-128"/>
                          <a:ea typeface="Meiryo" panose="020B0604030504040204" pitchFamily="34" charset="-128"/>
                        </a:rPr>
                        <a:t>CA </a:t>
                      </a:r>
                      <a:r>
                        <a:rPr lang="ja-JP" altLang="en-US" b="0">
                          <a:latin typeface="Meiryo" panose="020B0604030504040204" pitchFamily="34" charset="-128"/>
                          <a:ea typeface="Meiryo" panose="020B0604030504040204" pitchFamily="34" charset="-128"/>
                        </a:rPr>
                        <a:t>の証明書費用が不要・大量発行でも追加コストなし</a:t>
                      </a:r>
                    </a:p>
                  </a:txBody>
                  <a:tcPr anchor="ctr"/>
                </a:tc>
                <a:tc>
                  <a:txBody>
                    <a:bodyPr/>
                    <a:lstStyle/>
                    <a:p>
                      <a:r>
                        <a:rPr lang="en-US" b="0" dirty="0">
                          <a:latin typeface="Meiryo" panose="020B0604030504040204" pitchFamily="34" charset="-128"/>
                          <a:ea typeface="Meiryo" panose="020B0604030504040204" pitchFamily="34" charset="-128"/>
                        </a:rPr>
                        <a:t>・CA</a:t>
                      </a:r>
                      <a:r>
                        <a:rPr lang="ja-JP" altLang="en-US" b="0">
                          <a:latin typeface="Meiryo" panose="020B0604030504040204" pitchFamily="34" charset="-128"/>
                          <a:ea typeface="Meiryo" panose="020B0604030504040204" pitchFamily="34" charset="-128"/>
                        </a:rPr>
                        <a:t>サーバ構築・運用に人的コストが必要</a:t>
                      </a:r>
                    </a:p>
                  </a:txBody>
                  <a:tcPr anchor="ctr"/>
                </a:tc>
                <a:extLst>
                  <a:ext uri="{0D108BD9-81ED-4DB2-BD59-A6C34878D82A}">
                    <a16:rowId xmlns:a16="http://schemas.microsoft.com/office/drawing/2014/main" val="4157830632"/>
                  </a:ext>
                </a:extLst>
              </a:tr>
              <a:tr h="657266">
                <a:tc>
                  <a:txBody>
                    <a:bodyPr/>
                    <a:lstStyle/>
                    <a:p>
                      <a:r>
                        <a:rPr lang="ja-JP" altLang="en-US" b="0">
                          <a:latin typeface="Meiryo" panose="020B0604030504040204" pitchFamily="34" charset="-128"/>
                          <a:ea typeface="Meiryo" panose="020B0604030504040204" pitchFamily="34" charset="-128"/>
                        </a:rPr>
                        <a:t>信頼性</a:t>
                      </a:r>
                    </a:p>
                  </a:txBody>
                  <a:tcPr anchor="ctr"/>
                </a:tc>
                <a:tc>
                  <a:txBody>
                    <a:bodyPr/>
                    <a:lstStyle/>
                    <a:p>
                      <a:r>
                        <a:rPr lang="ja-JP" altLang="en-US" b="0">
                          <a:latin typeface="Meiryo" panose="020B0604030504040204" pitchFamily="34" charset="-128"/>
                          <a:ea typeface="Meiryo" panose="020B0604030504040204" pitchFamily="34" charset="-128"/>
                        </a:rPr>
                        <a:t>・内部システム間では高い信頼性を確保可能</a:t>
                      </a:r>
                    </a:p>
                  </a:txBody>
                  <a:tcPr anchor="ctr"/>
                </a:tc>
                <a:tc>
                  <a:txBody>
                    <a:bodyPr/>
                    <a:lstStyle/>
                    <a:p>
                      <a:r>
                        <a:rPr lang="ja-JP" altLang="en-US" b="0">
                          <a:latin typeface="Meiryo" panose="020B0604030504040204" pitchFamily="34" charset="-128"/>
                          <a:ea typeface="Meiryo" panose="020B0604030504040204" pitchFamily="34" charset="-128"/>
                        </a:rPr>
                        <a:t>・外部ユーザやブラウザからは信頼されない</a:t>
                      </a:r>
                    </a:p>
                  </a:txBody>
                  <a:tcPr anchor="ctr"/>
                </a:tc>
                <a:extLst>
                  <a:ext uri="{0D108BD9-81ED-4DB2-BD59-A6C34878D82A}">
                    <a16:rowId xmlns:a16="http://schemas.microsoft.com/office/drawing/2014/main" val="3645093347"/>
                  </a:ext>
                </a:extLst>
              </a:tr>
              <a:tr h="938952">
                <a:tc>
                  <a:txBody>
                    <a:bodyPr/>
                    <a:lstStyle/>
                    <a:p>
                      <a:r>
                        <a:rPr lang="ja-JP" altLang="en-US" b="0">
                          <a:latin typeface="Meiryo" panose="020B0604030504040204" pitchFamily="34" charset="-128"/>
                          <a:ea typeface="Meiryo" panose="020B0604030504040204" pitchFamily="34" charset="-128"/>
                        </a:rPr>
                        <a:t>利便性</a:t>
                      </a:r>
                    </a:p>
                  </a:txBody>
                  <a:tcPr anchor="ctr"/>
                </a:tc>
                <a:tc>
                  <a:txBody>
                    <a:bodyPr/>
                    <a:lstStyle/>
                    <a:p>
                      <a:r>
                        <a:rPr lang="ja-JP" altLang="en-US" b="0">
                          <a:latin typeface="Meiryo" panose="020B0604030504040204" pitchFamily="34" charset="-128"/>
                          <a:ea typeface="Meiryo" panose="020B0604030504040204" pitchFamily="34" charset="-128"/>
                        </a:rPr>
                        <a:t>・証明書の発行・更新を柔軟に制御できる</a:t>
                      </a:r>
                    </a:p>
                  </a:txBody>
                  <a:tcPr anchor="ctr"/>
                </a:tc>
                <a:tc>
                  <a:txBody>
                    <a:bodyPr/>
                    <a:lstStyle/>
                    <a:p>
                      <a:r>
                        <a:rPr lang="ja-JP" altLang="en-US" b="0">
                          <a:latin typeface="Meiryo" panose="020B0604030504040204" pitchFamily="34" charset="-128"/>
                          <a:ea typeface="Meiryo" panose="020B0604030504040204" pitchFamily="34" charset="-128"/>
                        </a:rPr>
                        <a:t>・クライアントごとにルート証明書の配布が必要</a:t>
                      </a:r>
                    </a:p>
                  </a:txBody>
                  <a:tcPr anchor="ctr"/>
                </a:tc>
                <a:extLst>
                  <a:ext uri="{0D108BD9-81ED-4DB2-BD59-A6C34878D82A}">
                    <a16:rowId xmlns:a16="http://schemas.microsoft.com/office/drawing/2014/main" val="4222126822"/>
                  </a:ext>
                </a:extLst>
              </a:tr>
            </a:tbl>
          </a:graphicData>
        </a:graphic>
      </p:graphicFrame>
      <p:sp>
        <p:nvSpPr>
          <p:cNvPr id="11" name="TextBox 10">
            <a:extLst>
              <a:ext uri="{FF2B5EF4-FFF2-40B4-BE49-F238E27FC236}">
                <a16:creationId xmlns:a16="http://schemas.microsoft.com/office/drawing/2014/main" id="{6AAD9595-9D2E-BCC3-3775-0CE3199D2F48}"/>
              </a:ext>
            </a:extLst>
          </p:cNvPr>
          <p:cNvSpPr txBox="1"/>
          <p:nvPr/>
        </p:nvSpPr>
        <p:spPr>
          <a:xfrm>
            <a:off x="493939" y="5282069"/>
            <a:ext cx="8156122" cy="830997"/>
          </a:xfrm>
          <a:prstGeom prst="rect">
            <a:avLst/>
          </a:prstGeom>
          <a:noFill/>
        </p:spPr>
        <p:txBody>
          <a:bodyPr wrap="square">
            <a:spAutoFit/>
          </a:bodyPr>
          <a:lstStyle/>
          <a:p>
            <a:r>
              <a:rPr lang="en-JP" sz="1600" dirty="0">
                <a:latin typeface="Meiryo" panose="020B0604030504040204" pitchFamily="34" charset="-128"/>
                <a:ea typeface="Meiryo" panose="020B0604030504040204" pitchFamily="34" charset="-128"/>
              </a:rPr>
              <a:t>Private CA は，組織内部のシステムにおいて高いセキュリティと柔軟な運用を実現できる一方，信頼性の確保や運用管理の負担が課題となる。そのため，学内システムや社内ネットワークなど限定された環境での利用に適している</a:t>
            </a:r>
            <a:r>
              <a:rPr lang="en-US" sz="1600" dirty="0">
                <a:latin typeface="Meiryo" panose="020B0604030504040204" pitchFamily="34" charset="-128"/>
                <a:ea typeface="Meiryo" panose="020B0604030504040204" pitchFamily="34" charset="-128"/>
              </a:rPr>
              <a:t>.</a:t>
            </a:r>
            <a:endParaRPr lang="en-JP" sz="1600"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16375919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377E269-F8B6-613B-5B09-4FEBB36143E7}"/>
              </a:ext>
            </a:extLst>
          </p:cNvPr>
          <p:cNvSpPr>
            <a:spLocks noGrp="1"/>
          </p:cNvSpPr>
          <p:nvPr>
            <p:ph type="sldNum" sz="quarter" idx="12"/>
          </p:nvPr>
        </p:nvSpPr>
        <p:spPr/>
        <p:txBody>
          <a:bodyPr/>
          <a:lstStyle/>
          <a:p>
            <a:fld id="{B37FC626-4DBB-F044-A20D-82FDEAFAFBD6}" type="slidenum">
              <a:rPr lang="en-JP" smtClean="0"/>
              <a:t>23</a:t>
            </a:fld>
            <a:endParaRPr lang="en-JP"/>
          </a:p>
        </p:txBody>
      </p:sp>
      <p:sp>
        <p:nvSpPr>
          <p:cNvPr id="6" name="TextBox 5">
            <a:extLst>
              <a:ext uri="{FF2B5EF4-FFF2-40B4-BE49-F238E27FC236}">
                <a16:creationId xmlns:a16="http://schemas.microsoft.com/office/drawing/2014/main" id="{EC56D13A-BB42-9D04-7BFB-694DF2BBCC23}"/>
              </a:ext>
            </a:extLst>
          </p:cNvPr>
          <p:cNvSpPr txBox="1"/>
          <p:nvPr/>
        </p:nvSpPr>
        <p:spPr>
          <a:xfrm>
            <a:off x="424543" y="259697"/>
            <a:ext cx="6847114" cy="446276"/>
          </a:xfrm>
          <a:prstGeom prst="rect">
            <a:avLst/>
          </a:prstGeom>
          <a:noFill/>
        </p:spPr>
        <p:txBody>
          <a:bodyPr wrap="square">
            <a:spAutoFit/>
          </a:bodyPr>
          <a:lstStyle/>
          <a:p>
            <a:pPr marL="285750" indent="-285750" algn="just">
              <a:lnSpc>
                <a:spcPct val="115000"/>
              </a:lnSpc>
              <a:spcAft>
                <a:spcPts val="1000"/>
              </a:spcAft>
              <a:buFont typeface="Arial" panose="020B0604020202020204" pitchFamily="34" charset="0"/>
              <a:buChar char="•"/>
            </a:pPr>
            <a:r>
              <a:rPr lang="en-US" sz="2000" b="1" dirty="0">
                <a:solidFill>
                  <a:srgbClr val="C00000"/>
                </a:solidFill>
                <a:effectLst/>
                <a:latin typeface="Meiryo" panose="020B0604030504040204" pitchFamily="34" charset="-128"/>
                <a:ea typeface="Meiryo" panose="020B0604030504040204" pitchFamily="34" charset="-128"/>
                <a:cs typeface="Times New Roman" panose="02020603050405020304" pitchFamily="18" charset="0"/>
              </a:rPr>
              <a:t>CA</a:t>
            </a:r>
            <a:r>
              <a:rPr lang="ja-JP" altLang="en-US" sz="2000" b="1">
                <a:solidFill>
                  <a:srgbClr val="C00000"/>
                </a:solidFill>
                <a:effectLst/>
                <a:latin typeface="Meiryo" panose="020B0604030504040204" pitchFamily="34" charset="-128"/>
                <a:ea typeface="Meiryo" panose="020B0604030504040204" pitchFamily="34" charset="-128"/>
                <a:cs typeface="Times New Roman" panose="02020603050405020304" pitchFamily="18" charset="0"/>
              </a:rPr>
              <a:t>秘密鍵漏えい時の影響と対策</a:t>
            </a:r>
          </a:p>
        </p:txBody>
      </p:sp>
      <p:sp>
        <p:nvSpPr>
          <p:cNvPr id="8" name="TextBox 7">
            <a:extLst>
              <a:ext uri="{FF2B5EF4-FFF2-40B4-BE49-F238E27FC236}">
                <a16:creationId xmlns:a16="http://schemas.microsoft.com/office/drawing/2014/main" id="{7AFCC5C1-E134-CD91-C9D1-25192A87C4AF}"/>
              </a:ext>
            </a:extLst>
          </p:cNvPr>
          <p:cNvSpPr txBox="1"/>
          <p:nvPr/>
        </p:nvSpPr>
        <p:spPr>
          <a:xfrm>
            <a:off x="424543" y="897848"/>
            <a:ext cx="6259286" cy="375487"/>
          </a:xfrm>
          <a:prstGeom prst="rect">
            <a:avLst/>
          </a:prstGeom>
          <a:noFill/>
        </p:spPr>
        <p:txBody>
          <a:bodyPr wrap="square">
            <a:spAutoFit/>
          </a:bodyPr>
          <a:lstStyle/>
          <a:p>
            <a:pPr marL="285750" indent="-285750" algn="just">
              <a:lnSpc>
                <a:spcPct val="115000"/>
              </a:lnSpc>
              <a:spcAft>
                <a:spcPts val="1000"/>
              </a:spcAft>
              <a:buFont typeface="Wingdings" pitchFamily="2" charset="2"/>
              <a:buChar char="Ø"/>
            </a:pPr>
            <a:r>
              <a:rPr lang="en-US" sz="1600"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CA</a:t>
            </a:r>
            <a:r>
              <a:rPr lang="ja-JP" altLang="en-US" sz="160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の秘密鍵が漏えいした場合の影響（具体例）</a:t>
            </a:r>
            <a:r>
              <a:rPr lang="mn-MN" altLang="ja-JP" sz="1600" dirty="0">
                <a:solidFill>
                  <a:srgbClr val="92D050"/>
                </a:solidFill>
                <a:latin typeface="Meiryo" panose="020B0604030504040204" pitchFamily="34" charset="-128"/>
                <a:ea typeface="Meiryo" panose="020B0604030504040204" pitchFamily="34" charset="-128"/>
                <a:cs typeface="Times New Roman" panose="02020603050405020304" pitchFamily="18" charset="0"/>
              </a:rPr>
              <a:t>1</a:t>
            </a:r>
            <a:r>
              <a:rPr lang="en-US" altLang="ja-JP" sz="1600" dirty="0">
                <a:solidFill>
                  <a:srgbClr val="92D050"/>
                </a:solidFill>
                <a:latin typeface="Meiryo" panose="020B0604030504040204" pitchFamily="34" charset="-128"/>
                <a:ea typeface="Meiryo" panose="020B0604030504040204" pitchFamily="34" charset="-128"/>
                <a:cs typeface="Times New Roman" panose="02020603050405020304" pitchFamily="18" charset="0"/>
              </a:rPr>
              <a:t>/2</a:t>
            </a:r>
            <a:endParaRPr lang="en-JP" sz="1600"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endParaRPr>
          </a:p>
        </p:txBody>
      </p:sp>
      <p:sp>
        <p:nvSpPr>
          <p:cNvPr id="10" name="TextBox 9">
            <a:extLst>
              <a:ext uri="{FF2B5EF4-FFF2-40B4-BE49-F238E27FC236}">
                <a16:creationId xmlns:a16="http://schemas.microsoft.com/office/drawing/2014/main" id="{FBC5ED83-0B16-021E-7CF4-83F573E9CB37}"/>
              </a:ext>
            </a:extLst>
          </p:cNvPr>
          <p:cNvSpPr txBox="1"/>
          <p:nvPr/>
        </p:nvSpPr>
        <p:spPr>
          <a:xfrm>
            <a:off x="424543" y="1546003"/>
            <a:ext cx="8469085" cy="3970318"/>
          </a:xfrm>
          <a:prstGeom prst="rect">
            <a:avLst/>
          </a:prstGeom>
          <a:noFill/>
        </p:spPr>
        <p:txBody>
          <a:bodyPr wrap="square">
            <a:spAutoFit/>
          </a:bodyPr>
          <a:lstStyle/>
          <a:p>
            <a:r>
              <a:rPr lang="en-JP" dirty="0">
                <a:latin typeface="Meiryo" panose="020B0604030504040204" pitchFamily="34" charset="-128"/>
                <a:ea typeface="Meiryo" panose="020B0604030504040204" pitchFamily="34" charset="-128"/>
              </a:rPr>
              <a:t>想定される影響</a:t>
            </a:r>
          </a:p>
          <a:p>
            <a:endParaRPr lang="en-JP" dirty="0">
              <a:latin typeface="Meiryo" panose="020B0604030504040204" pitchFamily="34" charset="-128"/>
              <a:ea typeface="Meiryo" panose="020B0604030504040204" pitchFamily="34" charset="-128"/>
            </a:endParaRPr>
          </a:p>
          <a:p>
            <a:r>
              <a:rPr lang="en-JP" dirty="0">
                <a:latin typeface="Meiryo" panose="020B0604030504040204" pitchFamily="34" charset="-128"/>
                <a:ea typeface="Meiryo" panose="020B0604030504040204" pitchFamily="34" charset="-128"/>
              </a:rPr>
              <a:t>偽の証明書を発行される</a:t>
            </a: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攻撃者が正規の CA と同じ権限で証明書を作成可能</a:t>
            </a: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なりすましサーバ（偽サイト）が作成される</a:t>
            </a:r>
          </a:p>
          <a:p>
            <a:pPr marL="285750" indent="-285750">
              <a:buFont typeface="Arial" panose="020B0604020202020204" pitchFamily="34" charset="0"/>
              <a:buChar char="•"/>
            </a:pPr>
            <a:endParaRPr lang="en-JP" dirty="0">
              <a:latin typeface="Meiryo" panose="020B0604030504040204" pitchFamily="34" charset="-128"/>
              <a:ea typeface="Meiryo" panose="020B0604030504040204" pitchFamily="34" charset="-128"/>
            </a:endParaRPr>
          </a:p>
          <a:p>
            <a:r>
              <a:rPr lang="en-JP" dirty="0">
                <a:latin typeface="Meiryo" panose="020B0604030504040204" pitchFamily="34" charset="-128"/>
                <a:ea typeface="Meiryo" panose="020B0604030504040204" pitchFamily="34" charset="-128"/>
              </a:rPr>
              <a:t>中間者攻撃（MITM）が成立</a:t>
            </a:r>
            <a:endParaRPr lang="mn-MN" dirty="0">
              <a:latin typeface="Meiryo" panose="020B0604030504040204" pitchFamily="34" charset="-128"/>
              <a:ea typeface="Meiryo" panose="020B0604030504040204" pitchFamily="34" charset="-128"/>
            </a:endParaRPr>
          </a:p>
          <a:p>
            <a:r>
              <a:rPr lang="en-US" altLang="ja-JP" dirty="0">
                <a:solidFill>
                  <a:srgbClr val="92D050"/>
                </a:solidFill>
                <a:latin typeface="Meiryo" panose="020B0604030504040204" pitchFamily="34" charset="-128"/>
                <a:ea typeface="Meiryo" panose="020B0604030504040204" pitchFamily="34" charset="-128"/>
              </a:rPr>
              <a:t>[</a:t>
            </a:r>
            <a:r>
              <a:rPr lang="ja-JP" altLang="en-US">
                <a:solidFill>
                  <a:srgbClr val="92D050"/>
                </a:solidFill>
                <a:latin typeface="Meiryo" panose="020B0604030504040204" pitchFamily="34" charset="-128"/>
                <a:ea typeface="Meiryo" panose="020B0604030504040204" pitchFamily="34" charset="-128"/>
              </a:rPr>
              <a:t>クライアント</a:t>
            </a:r>
            <a:r>
              <a:rPr lang="en-US" altLang="ja-JP" dirty="0">
                <a:solidFill>
                  <a:srgbClr val="92D050"/>
                </a:solidFill>
                <a:latin typeface="Meiryo" panose="020B0604030504040204" pitchFamily="34" charset="-128"/>
                <a:ea typeface="Meiryo" panose="020B0604030504040204" pitchFamily="34" charset="-128"/>
              </a:rPr>
              <a:t>] </a:t>
            </a:r>
            <a:r>
              <a:rPr lang="en-US" altLang="ja-JP" dirty="0">
                <a:latin typeface="Meiryo" panose="020B0604030504040204" pitchFamily="34" charset="-128"/>
                <a:ea typeface="Meiryo" panose="020B0604030504040204" pitchFamily="34" charset="-128"/>
              </a:rPr>
              <a:t>←</a:t>
            </a:r>
            <a:r>
              <a:rPr lang="en-US" altLang="ja-JP" dirty="0">
                <a:solidFill>
                  <a:srgbClr val="92D050"/>
                </a:solidFill>
                <a:latin typeface="Meiryo" panose="020B0604030504040204" pitchFamily="34" charset="-128"/>
                <a:ea typeface="Meiryo" panose="020B0604030504040204" pitchFamily="34" charset="-128"/>
              </a:rPr>
              <a:t> </a:t>
            </a:r>
            <a:r>
              <a:rPr lang="ja-JP" altLang="en-US">
                <a:solidFill>
                  <a:srgbClr val="92D050"/>
                </a:solidFill>
                <a:latin typeface="Meiryo" panose="020B0604030504040204" pitchFamily="34" charset="-128"/>
                <a:ea typeface="Meiryo" panose="020B0604030504040204" pitchFamily="34" charset="-128"/>
              </a:rPr>
              <a:t>偽証明書 </a:t>
            </a:r>
            <a:r>
              <a:rPr lang="ja-JP" altLang="en-US">
                <a:latin typeface="Meiryo" panose="020B0604030504040204" pitchFamily="34" charset="-128"/>
                <a:ea typeface="Meiryo" panose="020B0604030504040204" pitchFamily="34" charset="-128"/>
              </a:rPr>
              <a:t>→ </a:t>
            </a:r>
            <a:r>
              <a:rPr lang="en-US" altLang="ja-JP" dirty="0">
                <a:latin typeface="Meiryo" panose="020B0604030504040204" pitchFamily="34" charset="-128"/>
                <a:ea typeface="Meiryo" panose="020B0604030504040204" pitchFamily="34" charset="-128"/>
              </a:rPr>
              <a:t>[</a:t>
            </a:r>
            <a:r>
              <a:rPr lang="ja-JP" altLang="en-US">
                <a:solidFill>
                  <a:srgbClr val="C00000"/>
                </a:solidFill>
                <a:latin typeface="Meiryo" panose="020B0604030504040204" pitchFamily="34" charset="-128"/>
                <a:ea typeface="Meiryo" panose="020B0604030504040204" pitchFamily="34" charset="-128"/>
              </a:rPr>
              <a:t>攻撃者</a:t>
            </a:r>
            <a:r>
              <a:rPr lang="en-US" altLang="ja-JP" dirty="0">
                <a:latin typeface="Meiryo" panose="020B0604030504040204" pitchFamily="34" charset="-128"/>
                <a:ea typeface="Meiryo" panose="020B0604030504040204" pitchFamily="34" charset="-128"/>
              </a:rPr>
              <a:t>] ← </a:t>
            </a:r>
            <a:r>
              <a:rPr lang="ja-JP" altLang="en-US">
                <a:solidFill>
                  <a:srgbClr val="92D050"/>
                </a:solidFill>
                <a:latin typeface="Meiryo" panose="020B0604030504040204" pitchFamily="34" charset="-128"/>
                <a:ea typeface="Meiryo" panose="020B0604030504040204" pitchFamily="34" charset="-128"/>
              </a:rPr>
              <a:t>正規証明書 </a:t>
            </a:r>
            <a:r>
              <a:rPr lang="ja-JP" altLang="en-US">
                <a:latin typeface="Meiryo" panose="020B0604030504040204" pitchFamily="34" charset="-128"/>
                <a:ea typeface="Meiryo" panose="020B0604030504040204" pitchFamily="34" charset="-128"/>
              </a:rPr>
              <a:t>→ </a:t>
            </a:r>
            <a:r>
              <a:rPr lang="en-US" altLang="ja-JP" dirty="0">
                <a:latin typeface="Meiryo" panose="020B0604030504040204" pitchFamily="34" charset="-128"/>
                <a:ea typeface="Meiryo" panose="020B0604030504040204" pitchFamily="34" charset="-128"/>
              </a:rPr>
              <a:t>[</a:t>
            </a:r>
            <a:r>
              <a:rPr lang="ja-JP" altLang="en-US">
                <a:solidFill>
                  <a:srgbClr val="92D050"/>
                </a:solidFill>
                <a:latin typeface="Meiryo" panose="020B0604030504040204" pitchFamily="34" charset="-128"/>
                <a:ea typeface="Meiryo" panose="020B0604030504040204" pitchFamily="34" charset="-128"/>
              </a:rPr>
              <a:t>正規サーバ</a:t>
            </a:r>
            <a:r>
              <a:rPr lang="en-US" altLang="ja-JP" dirty="0">
                <a:latin typeface="Meiryo" panose="020B0604030504040204" pitchFamily="34" charset="-128"/>
                <a:ea typeface="Meiryo" panose="020B0604030504040204" pitchFamily="34" charset="-128"/>
              </a:rPr>
              <a:t>]</a:t>
            </a:r>
            <a:endParaRPr lang="mn-MN" altLang="ja-JP"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a:latin typeface="Meiryo" panose="020B0604030504040204" pitchFamily="34" charset="-128"/>
                <a:ea typeface="Meiryo" panose="020B0604030504040204" pitchFamily="34" charset="-128"/>
              </a:rPr>
              <a:t>すべての通信を盗聴・改ざん可能</a:t>
            </a:r>
            <a:r>
              <a:rPr lang="en-US" altLang="ja-JP" dirty="0">
                <a:latin typeface="Meiryo" panose="020B0604030504040204" pitchFamily="34" charset="-128"/>
                <a:ea typeface="Meiryo" panose="020B0604030504040204" pitchFamily="34" charset="-128"/>
              </a:rPr>
              <a:t>, </a:t>
            </a:r>
            <a:r>
              <a:rPr lang="ja-JP" altLang="en-US">
                <a:latin typeface="Meiryo" panose="020B0604030504040204" pitchFamily="34" charset="-128"/>
                <a:ea typeface="Meiryo" panose="020B0604030504040204" pitchFamily="34" charset="-128"/>
              </a:rPr>
              <a:t>ログイン情報、個人情報、業務データ</a:t>
            </a:r>
            <a:endParaRPr lang="en-JP"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利用者は正規サーバと誤認し，通信内容を盗聴・改ざんされる</a:t>
            </a: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PKI全体の信頼性が失われる</a:t>
            </a:r>
          </a:p>
          <a:p>
            <a:endParaRPr lang="en-JP" dirty="0">
              <a:latin typeface="Meiryo" panose="020B0604030504040204" pitchFamily="34" charset="-128"/>
              <a:ea typeface="Meiryo" panose="020B0604030504040204" pitchFamily="34" charset="-128"/>
            </a:endParaRPr>
          </a:p>
          <a:p>
            <a:r>
              <a:rPr lang="en-JP" dirty="0">
                <a:latin typeface="Meiryo" panose="020B0604030504040204" pitchFamily="34" charset="-128"/>
                <a:ea typeface="Meiryo" panose="020B0604030504040204" pitchFamily="34" charset="-128"/>
              </a:rPr>
              <a:t>その CA が発行した すべての証明書が無効</a:t>
            </a: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学内・社内システム全体に影響が及ぶ</a:t>
            </a:r>
          </a:p>
        </p:txBody>
      </p:sp>
    </p:spTree>
    <p:extLst>
      <p:ext uri="{BB962C8B-B14F-4D97-AF65-F5344CB8AC3E}">
        <p14:creationId xmlns:p14="http://schemas.microsoft.com/office/powerpoint/2010/main" val="7354808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6EE4C4E-E91D-2DA4-1442-EC28E5104392}"/>
              </a:ext>
            </a:extLst>
          </p:cNvPr>
          <p:cNvSpPr>
            <a:spLocks noGrp="1"/>
          </p:cNvSpPr>
          <p:nvPr>
            <p:ph type="sldNum" sz="quarter" idx="12"/>
          </p:nvPr>
        </p:nvSpPr>
        <p:spPr/>
        <p:txBody>
          <a:bodyPr/>
          <a:lstStyle/>
          <a:p>
            <a:r>
              <a:rPr lang="en-US" dirty="0"/>
              <a:t>24</a:t>
            </a:r>
            <a:endParaRPr lang="en-JP" dirty="0"/>
          </a:p>
        </p:txBody>
      </p:sp>
      <p:sp>
        <p:nvSpPr>
          <p:cNvPr id="6" name="TextBox 5">
            <a:extLst>
              <a:ext uri="{FF2B5EF4-FFF2-40B4-BE49-F238E27FC236}">
                <a16:creationId xmlns:a16="http://schemas.microsoft.com/office/drawing/2014/main" id="{B892C560-7CC5-5204-4130-69059D40EF62}"/>
              </a:ext>
            </a:extLst>
          </p:cNvPr>
          <p:cNvSpPr txBox="1"/>
          <p:nvPr/>
        </p:nvSpPr>
        <p:spPr>
          <a:xfrm>
            <a:off x="643615" y="703612"/>
            <a:ext cx="6120493" cy="5078313"/>
          </a:xfrm>
          <a:prstGeom prst="rect">
            <a:avLst/>
          </a:prstGeom>
          <a:noFill/>
        </p:spPr>
        <p:txBody>
          <a:bodyPr wrap="square">
            <a:spAutoFit/>
          </a:bodyPr>
          <a:lstStyle/>
          <a:p>
            <a:endParaRPr lang="en-JP" dirty="0">
              <a:latin typeface="Meiryo" panose="020B0604030504040204" pitchFamily="34" charset="-128"/>
              <a:ea typeface="Meiryo" panose="020B0604030504040204" pitchFamily="34" charset="-128"/>
            </a:endParaRPr>
          </a:p>
          <a:p>
            <a:r>
              <a:rPr lang="en-JP" dirty="0">
                <a:solidFill>
                  <a:srgbClr val="FFC000"/>
                </a:solidFill>
                <a:latin typeface="Meiryo" panose="020B0604030504040204" pitchFamily="34" charset="-128"/>
                <a:ea typeface="Meiryo" panose="020B0604030504040204" pitchFamily="34" charset="-128"/>
              </a:rPr>
              <a:t>組織への影響</a:t>
            </a:r>
          </a:p>
          <a:p>
            <a:endParaRPr lang="en-JP" dirty="0">
              <a:latin typeface="Meiryo" panose="020B0604030504040204" pitchFamily="34" charset="-128"/>
              <a:ea typeface="Meiryo" panose="020B0604030504040204" pitchFamily="34" charset="-128"/>
            </a:endParaRPr>
          </a:p>
          <a:p>
            <a:r>
              <a:rPr lang="en-JP" dirty="0">
                <a:latin typeface="Meiryo" panose="020B0604030504040204" pitchFamily="34" charset="-128"/>
                <a:ea typeface="Meiryo" panose="020B0604030504040204" pitchFamily="34" charset="-128"/>
              </a:rPr>
              <a:t>1. 信頼の完全喪失</a:t>
            </a:r>
          </a:p>
          <a:p>
            <a:r>
              <a:rPr lang="en-JP" dirty="0">
                <a:latin typeface="Meiryo" panose="020B0604030504040204" pitchFamily="34" charset="-128"/>
                <a:ea typeface="Meiryo" panose="020B0604030504040204" pitchFamily="34" charset="-128"/>
              </a:rPr>
              <a:t>過去に発行した全証明書が疑わしくなる</a:t>
            </a:r>
          </a:p>
          <a:p>
            <a:r>
              <a:rPr lang="en-JP" dirty="0">
                <a:latin typeface="Meiryo" panose="020B0604030504040204" pitchFamily="34" charset="-128"/>
                <a:ea typeface="Meiryo" panose="020B0604030504040204" pitchFamily="34" charset="-128"/>
              </a:rPr>
              <a:t>顧客・取引先からの信頼失墜</a:t>
            </a:r>
          </a:p>
          <a:p>
            <a:endParaRPr lang="en-JP" dirty="0">
              <a:latin typeface="Meiryo" panose="020B0604030504040204" pitchFamily="34" charset="-128"/>
              <a:ea typeface="Meiryo" panose="020B0604030504040204" pitchFamily="34" charset="-128"/>
            </a:endParaRPr>
          </a:p>
          <a:p>
            <a:endParaRPr lang="en-JP" dirty="0">
              <a:latin typeface="Meiryo" panose="020B0604030504040204" pitchFamily="34" charset="-128"/>
              <a:ea typeface="Meiryo" panose="020B0604030504040204" pitchFamily="34" charset="-128"/>
            </a:endParaRPr>
          </a:p>
          <a:p>
            <a:r>
              <a:rPr lang="en-JP" dirty="0">
                <a:latin typeface="Meiryo" panose="020B0604030504040204" pitchFamily="34" charset="-128"/>
                <a:ea typeface="Meiryo" panose="020B0604030504040204" pitchFamily="34" charset="-128"/>
              </a:rPr>
              <a:t>2. 全証明書の無効化と再発行</a:t>
            </a:r>
          </a:p>
          <a:p>
            <a:r>
              <a:rPr lang="en-JP" dirty="0">
                <a:latin typeface="Meiryo" panose="020B0604030504040204" pitchFamily="34" charset="-128"/>
                <a:ea typeface="Meiryo" panose="020B0604030504040204" pitchFamily="34" charset="-128"/>
              </a:rPr>
              <a:t>数百〜数千枚の証明書を即座に失効</a:t>
            </a:r>
          </a:p>
          <a:p>
            <a:r>
              <a:rPr lang="en-JP" dirty="0">
                <a:latin typeface="Meiryo" panose="020B0604030504040204" pitchFamily="34" charset="-128"/>
                <a:ea typeface="Meiryo" panose="020B0604030504040204" pitchFamily="34" charset="-128"/>
              </a:rPr>
              <a:t>全システムへの再配布（膨大な作業量）</a:t>
            </a:r>
          </a:p>
          <a:p>
            <a:r>
              <a:rPr lang="en-JP" dirty="0">
                <a:latin typeface="Meiryo" panose="020B0604030504040204" pitchFamily="34" charset="-128"/>
                <a:ea typeface="Meiryo" panose="020B0604030504040204" pitchFamily="34" charset="-128"/>
              </a:rPr>
              <a:t>サービス停止または制限</a:t>
            </a:r>
          </a:p>
          <a:p>
            <a:endParaRPr lang="en-JP" dirty="0">
              <a:latin typeface="Meiryo" panose="020B0604030504040204" pitchFamily="34" charset="-128"/>
              <a:ea typeface="Meiryo" panose="020B0604030504040204" pitchFamily="34" charset="-128"/>
            </a:endParaRPr>
          </a:p>
          <a:p>
            <a:endParaRPr lang="en-JP" dirty="0">
              <a:latin typeface="Meiryo" panose="020B0604030504040204" pitchFamily="34" charset="-128"/>
              <a:ea typeface="Meiryo" panose="020B0604030504040204" pitchFamily="34" charset="-128"/>
            </a:endParaRPr>
          </a:p>
          <a:p>
            <a:r>
              <a:rPr lang="en-JP" dirty="0">
                <a:latin typeface="Meiryo" panose="020B0604030504040204" pitchFamily="34" charset="-128"/>
                <a:ea typeface="Meiryo" panose="020B0604030504040204" pitchFamily="34" charset="-128"/>
              </a:rPr>
              <a:t>3. 法的・規制上の影響</a:t>
            </a:r>
          </a:p>
          <a:p>
            <a:r>
              <a:rPr lang="en-JP" dirty="0">
                <a:latin typeface="Meiryo" panose="020B0604030504040204" pitchFamily="34" charset="-128"/>
                <a:ea typeface="Meiryo" panose="020B0604030504040204" pitchFamily="34" charset="-128"/>
              </a:rPr>
              <a:t>個人情報保護法違反の可能性</a:t>
            </a:r>
          </a:p>
          <a:p>
            <a:r>
              <a:rPr lang="en-JP" dirty="0">
                <a:latin typeface="Meiryo" panose="020B0604030504040204" pitchFamily="34" charset="-128"/>
                <a:ea typeface="Meiryo" panose="020B0604030504040204" pitchFamily="34" charset="-128"/>
              </a:rPr>
              <a:t>GDPR: 最大2,000万ユーロまたは売上4%の制裁金</a:t>
            </a:r>
          </a:p>
          <a:p>
            <a:r>
              <a:rPr lang="en-JP" dirty="0">
                <a:latin typeface="Meiryo" panose="020B0604030504040204" pitchFamily="34" charset="-128"/>
                <a:ea typeface="Meiryo" panose="020B0604030504040204" pitchFamily="34" charset="-128"/>
              </a:rPr>
              <a:t>株主代表訴訟、損害賠償請求</a:t>
            </a:r>
          </a:p>
        </p:txBody>
      </p:sp>
      <p:sp>
        <p:nvSpPr>
          <p:cNvPr id="8" name="TextBox 7">
            <a:extLst>
              <a:ext uri="{FF2B5EF4-FFF2-40B4-BE49-F238E27FC236}">
                <a16:creationId xmlns:a16="http://schemas.microsoft.com/office/drawing/2014/main" id="{70E0BCC0-3599-9BFC-8119-FEBD5D35AF05}"/>
              </a:ext>
            </a:extLst>
          </p:cNvPr>
          <p:cNvSpPr txBox="1"/>
          <p:nvPr/>
        </p:nvSpPr>
        <p:spPr>
          <a:xfrm>
            <a:off x="468085" y="292730"/>
            <a:ext cx="6120493" cy="410882"/>
          </a:xfrm>
          <a:prstGeom prst="rect">
            <a:avLst/>
          </a:prstGeom>
          <a:noFill/>
        </p:spPr>
        <p:txBody>
          <a:bodyPr wrap="square">
            <a:spAutoFit/>
          </a:bodyPr>
          <a:lstStyle/>
          <a:p>
            <a:pPr marL="285750" indent="-285750" algn="just">
              <a:lnSpc>
                <a:spcPct val="115000"/>
              </a:lnSpc>
              <a:spcAft>
                <a:spcPts val="1000"/>
              </a:spcAft>
              <a:buFont typeface="Wingdings" pitchFamily="2" charset="2"/>
              <a:buChar char="Ø"/>
            </a:pPr>
            <a:r>
              <a:rPr lang="en-US" sz="1800"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CA</a:t>
            </a:r>
            <a:r>
              <a:rPr lang="ja-JP" altLang="en-US" sz="180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の秘密鍵が漏えいした場合の影響</a:t>
            </a:r>
            <a:r>
              <a:rPr lang="en-US" altLang="ja-JP" dirty="0">
                <a:solidFill>
                  <a:srgbClr val="92D050"/>
                </a:solidFill>
                <a:latin typeface="Meiryo" panose="020B0604030504040204" pitchFamily="34" charset="-128"/>
                <a:ea typeface="Meiryo" panose="020B0604030504040204" pitchFamily="34" charset="-128"/>
                <a:cs typeface="Times New Roman" panose="02020603050405020304" pitchFamily="18" charset="0"/>
              </a:rPr>
              <a:t> </a:t>
            </a:r>
            <a:r>
              <a:rPr lang="en-US" altLang="ja-JP"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2</a:t>
            </a:r>
            <a:r>
              <a:rPr lang="en-US" altLang="ja-JP" sz="1800" dirty="0">
                <a:solidFill>
                  <a:srgbClr val="92D050"/>
                </a:solidFill>
                <a:latin typeface="Meiryo" panose="020B0604030504040204" pitchFamily="34" charset="-128"/>
                <a:ea typeface="Meiryo" panose="020B0604030504040204" pitchFamily="34" charset="-128"/>
                <a:cs typeface="Times New Roman" panose="02020603050405020304" pitchFamily="18" charset="0"/>
              </a:rPr>
              <a:t>/2</a:t>
            </a:r>
            <a:endParaRPr lang="en-JP" sz="1800"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endParaRPr>
          </a:p>
        </p:txBody>
      </p:sp>
    </p:spTree>
    <p:extLst>
      <p:ext uri="{BB962C8B-B14F-4D97-AF65-F5344CB8AC3E}">
        <p14:creationId xmlns:p14="http://schemas.microsoft.com/office/powerpoint/2010/main" val="37624778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8F87987-6968-3441-DA34-793EE05BCEF0}"/>
              </a:ext>
            </a:extLst>
          </p:cNvPr>
          <p:cNvSpPr>
            <a:spLocks noGrp="1"/>
          </p:cNvSpPr>
          <p:nvPr>
            <p:ph type="sldNum" sz="quarter" idx="12"/>
          </p:nvPr>
        </p:nvSpPr>
        <p:spPr/>
        <p:txBody>
          <a:bodyPr/>
          <a:lstStyle/>
          <a:p>
            <a:fld id="{B37FC626-4DBB-F044-A20D-82FDEAFAFBD6}" type="slidenum">
              <a:rPr lang="en-JP" smtClean="0"/>
              <a:t>25</a:t>
            </a:fld>
            <a:endParaRPr lang="en-JP"/>
          </a:p>
        </p:txBody>
      </p:sp>
      <p:sp>
        <p:nvSpPr>
          <p:cNvPr id="6" name="TextBox 5">
            <a:extLst>
              <a:ext uri="{FF2B5EF4-FFF2-40B4-BE49-F238E27FC236}">
                <a16:creationId xmlns:a16="http://schemas.microsoft.com/office/drawing/2014/main" id="{075EF973-B46E-D021-87CB-8875F34E8F6E}"/>
              </a:ext>
            </a:extLst>
          </p:cNvPr>
          <p:cNvSpPr txBox="1"/>
          <p:nvPr/>
        </p:nvSpPr>
        <p:spPr>
          <a:xfrm>
            <a:off x="315684" y="482378"/>
            <a:ext cx="6142266" cy="400110"/>
          </a:xfrm>
          <a:prstGeom prst="rect">
            <a:avLst/>
          </a:prstGeom>
          <a:noFill/>
        </p:spPr>
        <p:txBody>
          <a:bodyPr wrap="square">
            <a:spAutoFit/>
          </a:bodyPr>
          <a:lstStyle/>
          <a:p>
            <a:pPr marL="285750" indent="-285750">
              <a:buFont typeface="Wingdings" pitchFamily="2" charset="2"/>
              <a:buChar char="Ø"/>
            </a:pPr>
            <a:r>
              <a:rPr lang="en-JP" sz="2000" dirty="0">
                <a:solidFill>
                  <a:srgbClr val="92D050"/>
                </a:solidFill>
                <a:latin typeface="Meiryo" panose="020B0604030504040204" pitchFamily="34" charset="-128"/>
                <a:ea typeface="Meiryo" panose="020B0604030504040204" pitchFamily="34" charset="-128"/>
              </a:rPr>
              <a:t>CA秘密鍵漏えいを防ぐための対策（複数提示）</a:t>
            </a:r>
          </a:p>
        </p:txBody>
      </p:sp>
      <p:sp>
        <p:nvSpPr>
          <p:cNvPr id="8" name="TextBox 7">
            <a:extLst>
              <a:ext uri="{FF2B5EF4-FFF2-40B4-BE49-F238E27FC236}">
                <a16:creationId xmlns:a16="http://schemas.microsoft.com/office/drawing/2014/main" id="{8DA5060B-0B0E-98AD-7919-A5B31DFBAE55}"/>
              </a:ext>
            </a:extLst>
          </p:cNvPr>
          <p:cNvSpPr txBox="1"/>
          <p:nvPr/>
        </p:nvSpPr>
        <p:spPr>
          <a:xfrm>
            <a:off x="595992" y="1218762"/>
            <a:ext cx="7304315" cy="4801314"/>
          </a:xfrm>
          <a:prstGeom prst="rect">
            <a:avLst/>
          </a:prstGeom>
          <a:noFill/>
        </p:spPr>
        <p:txBody>
          <a:bodyPr wrap="square">
            <a:spAutoFit/>
          </a:bodyPr>
          <a:lstStyle/>
          <a:p>
            <a:r>
              <a:rPr lang="en-JP" dirty="0">
                <a:solidFill>
                  <a:srgbClr val="FFC000"/>
                </a:solidFill>
                <a:latin typeface="Meiryo" panose="020B0604030504040204" pitchFamily="34" charset="-128"/>
                <a:ea typeface="Meiryo" panose="020B0604030504040204" pitchFamily="34" charset="-128"/>
              </a:rPr>
              <a:t>対策</a:t>
            </a:r>
            <a:r>
              <a:rPr lang="en-US" altLang="ja-JP" dirty="0">
                <a:solidFill>
                  <a:srgbClr val="FFC000"/>
                </a:solidFill>
                <a:latin typeface="Meiryo" panose="020B0604030504040204" pitchFamily="34" charset="-128"/>
                <a:ea typeface="Meiryo" panose="020B0604030504040204" pitchFamily="34" charset="-128"/>
              </a:rPr>
              <a:t>1</a:t>
            </a:r>
            <a:r>
              <a:rPr lang="en-JP" dirty="0">
                <a:solidFill>
                  <a:srgbClr val="FFC000"/>
                </a:solidFill>
                <a:latin typeface="Meiryo" panose="020B0604030504040204" pitchFamily="34" charset="-128"/>
                <a:ea typeface="Meiryo" panose="020B0604030504040204" pitchFamily="34" charset="-128"/>
              </a:rPr>
              <a:t>：CA秘密鍵の厳重管理</a:t>
            </a:r>
            <a:endParaRPr lang="en-JP" dirty="0">
              <a:latin typeface="Meiryo" panose="020B0604030504040204" pitchFamily="34" charset="-128"/>
              <a:ea typeface="Meiryo" panose="020B0604030504040204" pitchFamily="34" charset="-128"/>
            </a:endParaRPr>
          </a:p>
          <a:p>
            <a:r>
              <a:rPr lang="en-JP" dirty="0">
                <a:latin typeface="Meiryo" panose="020B0604030504040204" pitchFamily="34" charset="-128"/>
                <a:ea typeface="Meiryo" panose="020B0604030504040204" pitchFamily="34" charset="-128"/>
              </a:rPr>
              <a:t>CA秘密鍵を オフライン環境 に保管</a:t>
            </a:r>
          </a:p>
          <a:p>
            <a:r>
              <a:rPr lang="en-JP" dirty="0">
                <a:latin typeface="Meiryo" panose="020B0604030504040204" pitchFamily="34" charset="-128"/>
                <a:ea typeface="Meiryo" panose="020B0604030504040204" pitchFamily="34" charset="-128"/>
              </a:rPr>
              <a:t>ファイルアクセス権限を最小限に制限</a:t>
            </a:r>
          </a:p>
          <a:p>
            <a:r>
              <a:rPr lang="en-JP" dirty="0">
                <a:latin typeface="Meiryo" panose="020B0604030504040204" pitchFamily="34" charset="-128"/>
                <a:ea typeface="Meiryo" panose="020B0604030504040204" pitchFamily="34" charset="-128"/>
              </a:rPr>
              <a:t>強力なパスフレーズで暗号化</a:t>
            </a:r>
          </a:p>
          <a:p>
            <a:endParaRPr lang="en-JP" dirty="0">
              <a:latin typeface="Meiryo" panose="020B0604030504040204" pitchFamily="34" charset="-128"/>
              <a:ea typeface="Meiryo" panose="020B0604030504040204" pitchFamily="34" charset="-128"/>
            </a:endParaRPr>
          </a:p>
          <a:p>
            <a:r>
              <a:rPr lang="en-JP" dirty="0">
                <a:solidFill>
                  <a:srgbClr val="FFC000"/>
                </a:solidFill>
                <a:latin typeface="Meiryo" panose="020B0604030504040204" pitchFamily="34" charset="-128"/>
                <a:ea typeface="Meiryo" panose="020B0604030504040204" pitchFamily="34" charset="-128"/>
              </a:rPr>
              <a:t>対策2：HSM（Hardware Security Module）の利用</a:t>
            </a:r>
            <a:endParaRPr lang="en-JP" dirty="0">
              <a:latin typeface="Meiryo" panose="020B0604030504040204" pitchFamily="34" charset="-128"/>
              <a:ea typeface="Meiryo" panose="020B0604030504040204" pitchFamily="34" charset="-128"/>
            </a:endParaRPr>
          </a:p>
          <a:p>
            <a:r>
              <a:rPr lang="en-JP" dirty="0">
                <a:latin typeface="Meiryo" panose="020B0604030504040204" pitchFamily="34" charset="-128"/>
                <a:ea typeface="Meiryo" panose="020B0604030504040204" pitchFamily="34" charset="-128"/>
              </a:rPr>
              <a:t>秘密鍵を ハードウェア内で安全に保管</a:t>
            </a:r>
          </a:p>
          <a:p>
            <a:r>
              <a:rPr lang="en-JP" dirty="0">
                <a:latin typeface="Meiryo" panose="020B0604030504040204" pitchFamily="34" charset="-128"/>
                <a:ea typeface="Meiryo" panose="020B0604030504040204" pitchFamily="34" charset="-128"/>
              </a:rPr>
              <a:t>鍵を外部に取り出せない構造</a:t>
            </a:r>
          </a:p>
          <a:p>
            <a:r>
              <a:rPr lang="en-JP" dirty="0">
                <a:latin typeface="Meiryo" panose="020B0604030504040204" pitchFamily="34" charset="-128"/>
                <a:ea typeface="Meiryo" panose="020B0604030504040204" pitchFamily="34" charset="-128"/>
              </a:rPr>
              <a:t>商用CAや重要システムで一般的</a:t>
            </a:r>
          </a:p>
          <a:p>
            <a:endParaRPr lang="en-JP" dirty="0">
              <a:latin typeface="Meiryo" panose="020B0604030504040204" pitchFamily="34" charset="-128"/>
              <a:ea typeface="Meiryo" panose="020B0604030504040204" pitchFamily="34" charset="-128"/>
            </a:endParaRPr>
          </a:p>
          <a:p>
            <a:r>
              <a:rPr lang="en-JP" dirty="0">
                <a:solidFill>
                  <a:srgbClr val="FFC000"/>
                </a:solidFill>
                <a:latin typeface="Meiryo" panose="020B0604030504040204" pitchFamily="34" charset="-128"/>
                <a:ea typeface="Meiryo" panose="020B0604030504040204" pitchFamily="34" charset="-128"/>
              </a:rPr>
              <a:t>対策3：有効期限・失効管理の徹底</a:t>
            </a:r>
          </a:p>
          <a:p>
            <a:r>
              <a:rPr lang="en-JP" dirty="0">
                <a:latin typeface="Meiryo" panose="020B0604030504040204" pitchFamily="34" charset="-128"/>
                <a:ea typeface="Meiryo" panose="020B0604030504040204" pitchFamily="34" charset="-128"/>
              </a:rPr>
              <a:t>CA証明書・サーバ証明書の 有効期限を適切に設定</a:t>
            </a:r>
          </a:p>
          <a:p>
            <a:r>
              <a:rPr lang="en-JP" dirty="0">
                <a:latin typeface="Meiryo" panose="020B0604030504040204" pitchFamily="34" charset="-128"/>
                <a:ea typeface="Meiryo" panose="020B0604030504040204" pitchFamily="34" charset="-128"/>
              </a:rPr>
              <a:t>CRL / OCSP による証明書失効管理を実装</a:t>
            </a:r>
          </a:p>
          <a:p>
            <a:endParaRPr lang="en-JP" dirty="0">
              <a:solidFill>
                <a:srgbClr val="FFC000"/>
              </a:solidFill>
              <a:latin typeface="Meiryo" panose="020B0604030504040204" pitchFamily="34" charset="-128"/>
              <a:ea typeface="Meiryo" panose="020B0604030504040204" pitchFamily="34" charset="-128"/>
            </a:endParaRPr>
          </a:p>
          <a:p>
            <a:r>
              <a:rPr lang="en-JP" dirty="0">
                <a:solidFill>
                  <a:srgbClr val="FFC000"/>
                </a:solidFill>
                <a:latin typeface="Meiryo" panose="020B0604030504040204" pitchFamily="34" charset="-128"/>
                <a:ea typeface="Meiryo" panose="020B0604030504040204" pitchFamily="34" charset="-128"/>
              </a:rPr>
              <a:t>対策4：役割分離と監査</a:t>
            </a:r>
          </a:p>
          <a:p>
            <a:r>
              <a:rPr lang="en-JP" dirty="0">
                <a:latin typeface="Meiryo" panose="020B0604030504040204" pitchFamily="34" charset="-128"/>
                <a:ea typeface="Meiryo" panose="020B0604030504040204" pitchFamily="34" charset="-128"/>
              </a:rPr>
              <a:t>CA管理者を限定（権限分離）</a:t>
            </a:r>
          </a:p>
          <a:p>
            <a:r>
              <a:rPr lang="en-JP" dirty="0">
                <a:latin typeface="Meiryo" panose="020B0604030504040204" pitchFamily="34" charset="-128"/>
                <a:ea typeface="Meiryo" panose="020B0604030504040204" pitchFamily="34" charset="-128"/>
              </a:rPr>
              <a:t>操作ログの記録・定期監査を実施</a:t>
            </a:r>
          </a:p>
        </p:txBody>
      </p:sp>
    </p:spTree>
    <p:extLst>
      <p:ext uri="{BB962C8B-B14F-4D97-AF65-F5344CB8AC3E}">
        <p14:creationId xmlns:p14="http://schemas.microsoft.com/office/powerpoint/2010/main" val="36720362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3A44CD0-19A5-19CC-BEE8-5682F8FA2903}"/>
              </a:ext>
            </a:extLst>
          </p:cNvPr>
          <p:cNvSpPr>
            <a:spLocks noGrp="1"/>
          </p:cNvSpPr>
          <p:nvPr>
            <p:ph type="sldNum" sz="quarter" idx="12"/>
          </p:nvPr>
        </p:nvSpPr>
        <p:spPr/>
        <p:txBody>
          <a:bodyPr/>
          <a:lstStyle/>
          <a:p>
            <a:fld id="{B37FC626-4DBB-F044-A20D-82FDEAFAFBD6}" type="slidenum">
              <a:rPr lang="en-JP" smtClean="0"/>
              <a:t>26</a:t>
            </a:fld>
            <a:endParaRPr lang="en-JP"/>
          </a:p>
        </p:txBody>
      </p:sp>
      <p:sp>
        <p:nvSpPr>
          <p:cNvPr id="6" name="TextBox 5">
            <a:extLst>
              <a:ext uri="{FF2B5EF4-FFF2-40B4-BE49-F238E27FC236}">
                <a16:creationId xmlns:a16="http://schemas.microsoft.com/office/drawing/2014/main" id="{FC26628F-42C7-0019-4EF5-269365ED7BD7}"/>
              </a:ext>
            </a:extLst>
          </p:cNvPr>
          <p:cNvSpPr txBox="1"/>
          <p:nvPr/>
        </p:nvSpPr>
        <p:spPr>
          <a:xfrm>
            <a:off x="269914" y="250501"/>
            <a:ext cx="4572000" cy="400110"/>
          </a:xfrm>
          <a:prstGeom prst="rect">
            <a:avLst/>
          </a:prstGeom>
          <a:noFill/>
        </p:spPr>
        <p:txBody>
          <a:bodyPr wrap="square">
            <a:spAutoFit/>
          </a:bodyPr>
          <a:lstStyle/>
          <a:p>
            <a:pPr marL="342900" indent="-342900">
              <a:buFont typeface="Wingdings" pitchFamily="2" charset="2"/>
              <a:buChar char="§"/>
            </a:pPr>
            <a:r>
              <a:rPr lang="ja-JP" altLang="en-US" sz="2000" b="1">
                <a:solidFill>
                  <a:srgbClr val="C00000"/>
                </a:solidFill>
                <a:latin typeface="Meiryo" panose="020B0604030504040204" pitchFamily="34" charset="-128"/>
                <a:ea typeface="Meiryo" panose="020B0604030504040204" pitchFamily="34" charset="-128"/>
                <a:cs typeface="Times New Roman" panose="02020603050405020304" pitchFamily="18" charset="0"/>
              </a:rPr>
              <a:t>実運用を想定した考察</a:t>
            </a:r>
            <a:endParaRPr lang="en-US" altLang="ja-JP" sz="2000" b="1" dirty="0">
              <a:solidFill>
                <a:srgbClr val="C00000"/>
              </a:solidFill>
              <a:latin typeface="Meiryo" panose="020B0604030504040204" pitchFamily="34" charset="-128"/>
              <a:ea typeface="Meiryo" panose="020B0604030504040204" pitchFamily="34" charset="-128"/>
              <a:cs typeface="Times New Roman" panose="02020603050405020304" pitchFamily="18" charset="0"/>
            </a:endParaRPr>
          </a:p>
        </p:txBody>
      </p:sp>
      <p:sp>
        <p:nvSpPr>
          <p:cNvPr id="8" name="TextBox 7">
            <a:extLst>
              <a:ext uri="{FF2B5EF4-FFF2-40B4-BE49-F238E27FC236}">
                <a16:creationId xmlns:a16="http://schemas.microsoft.com/office/drawing/2014/main" id="{F9BD25B7-2A1D-FB15-7173-DB36D6732C63}"/>
              </a:ext>
            </a:extLst>
          </p:cNvPr>
          <p:cNvSpPr txBox="1"/>
          <p:nvPr/>
        </p:nvSpPr>
        <p:spPr>
          <a:xfrm>
            <a:off x="934369" y="1356003"/>
            <a:ext cx="6281679" cy="3693319"/>
          </a:xfrm>
          <a:prstGeom prst="rect">
            <a:avLst/>
          </a:prstGeom>
          <a:noFill/>
        </p:spPr>
        <p:txBody>
          <a:bodyPr wrap="square">
            <a:spAutoFit/>
          </a:bodyPr>
          <a:lstStyle/>
          <a:p>
            <a:r>
              <a:rPr lang="en-JP" dirty="0"/>
              <a:t>なぜ失効が必要か</a:t>
            </a:r>
          </a:p>
          <a:p>
            <a:endParaRPr lang="en-JP" dirty="0"/>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秘密鍵の漏洩</a:t>
            </a: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証明書情報の誤り</a:t>
            </a: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従業員の退職</a:t>
            </a: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サーバ侵害</a:t>
            </a:r>
            <a:endParaRPr lang="mn-MN" dirty="0">
              <a:latin typeface="Meiryo" panose="020B0604030504040204" pitchFamily="34" charset="-128"/>
              <a:ea typeface="Meiryo" panose="020B0604030504040204" pitchFamily="34" charset="-128"/>
            </a:endParaRPr>
          </a:p>
          <a:p>
            <a:endParaRPr lang="en-JP" dirty="0">
              <a:latin typeface="Meiryo" panose="020B0604030504040204" pitchFamily="34" charset="-128"/>
              <a:ea typeface="Meiryo" panose="020B0604030504040204" pitchFamily="34" charset="-128"/>
            </a:endParaRPr>
          </a:p>
          <a:p>
            <a:r>
              <a:rPr lang="en-JP" dirty="0">
                <a:latin typeface="Meiryo" panose="020B0604030504040204" pitchFamily="34" charset="-128"/>
                <a:ea typeface="Meiryo" panose="020B0604030504040204" pitchFamily="34" charset="-128"/>
              </a:rPr>
              <a:t>問題点</a:t>
            </a:r>
          </a:p>
          <a:p>
            <a:endParaRPr lang="en-JP" dirty="0">
              <a:latin typeface="Meiryo" panose="020B0604030504040204" pitchFamily="34" charset="-128"/>
              <a:ea typeface="Meiryo" panose="020B0604030504040204" pitchFamily="34" charset="-128"/>
            </a:endParaRPr>
          </a:p>
          <a:p>
            <a:r>
              <a:rPr lang="en-JP" dirty="0">
                <a:latin typeface="Meiryo" panose="020B0604030504040204" pitchFamily="34" charset="-128"/>
                <a:ea typeface="Meiryo" panose="020B0604030504040204" pitchFamily="34" charset="-128"/>
              </a:rPr>
              <a:t>失効管理が不十分</a:t>
            </a:r>
          </a:p>
          <a:p>
            <a:r>
              <a:rPr lang="en-JP" dirty="0">
                <a:latin typeface="Meiryo" panose="020B0604030504040204" pitchFamily="34" charset="-128"/>
                <a:ea typeface="Meiryo" panose="020B0604030504040204" pitchFamily="34" charset="-128"/>
              </a:rPr>
              <a:t>→ 無効な証明書が「有効」と判断され続ける</a:t>
            </a:r>
          </a:p>
          <a:p>
            <a:endParaRPr lang="en-JP" dirty="0">
              <a:latin typeface="Meiryo" panose="020B0604030504040204" pitchFamily="34" charset="-128"/>
              <a:ea typeface="Meiryo" panose="020B0604030504040204" pitchFamily="34" charset="-128"/>
            </a:endParaRPr>
          </a:p>
          <a:p>
            <a:endParaRPr lang="en-JP" dirty="0">
              <a:latin typeface="Meiryo" panose="020B0604030504040204" pitchFamily="34" charset="-128"/>
              <a:ea typeface="Meiryo" panose="020B0604030504040204" pitchFamily="34" charset="-128"/>
            </a:endParaRPr>
          </a:p>
        </p:txBody>
      </p:sp>
      <p:sp>
        <p:nvSpPr>
          <p:cNvPr id="10" name="TextBox 9">
            <a:extLst>
              <a:ext uri="{FF2B5EF4-FFF2-40B4-BE49-F238E27FC236}">
                <a16:creationId xmlns:a16="http://schemas.microsoft.com/office/drawing/2014/main" id="{7850A60F-F700-F66E-367E-4EEEF420136E}"/>
              </a:ext>
            </a:extLst>
          </p:cNvPr>
          <p:cNvSpPr txBox="1"/>
          <p:nvPr/>
        </p:nvSpPr>
        <p:spPr>
          <a:xfrm>
            <a:off x="600420" y="818641"/>
            <a:ext cx="4572000" cy="369332"/>
          </a:xfrm>
          <a:prstGeom prst="rect">
            <a:avLst/>
          </a:prstGeom>
          <a:noFill/>
        </p:spPr>
        <p:txBody>
          <a:bodyPr wrap="square">
            <a:spAutoFit/>
          </a:bodyPr>
          <a:lstStyle/>
          <a:p>
            <a:pPr marL="285750" indent="-285750">
              <a:buFont typeface="Wingdings" pitchFamily="2" charset="2"/>
              <a:buChar char="Ø"/>
            </a:pPr>
            <a:r>
              <a:rPr lang="en-JP" dirty="0">
                <a:solidFill>
                  <a:srgbClr val="92D050"/>
                </a:solidFill>
                <a:latin typeface="Meiryo" panose="020B0604030504040204" pitchFamily="34" charset="-128"/>
                <a:ea typeface="Meiryo" panose="020B0604030504040204" pitchFamily="34" charset="-128"/>
              </a:rPr>
              <a:t>証明書失効の必要性</a:t>
            </a:r>
          </a:p>
        </p:txBody>
      </p:sp>
      <p:sp>
        <p:nvSpPr>
          <p:cNvPr id="11" name="正方形/長方形 9">
            <a:extLst>
              <a:ext uri="{FF2B5EF4-FFF2-40B4-BE49-F238E27FC236}">
                <a16:creationId xmlns:a16="http://schemas.microsoft.com/office/drawing/2014/main" id="{39D8BC1C-CCA3-505D-D5E9-7EA1C103A8CB}"/>
              </a:ext>
            </a:extLst>
          </p:cNvPr>
          <p:cNvSpPr/>
          <p:nvPr/>
        </p:nvSpPr>
        <p:spPr>
          <a:xfrm>
            <a:off x="934369" y="3238958"/>
            <a:ext cx="7001314" cy="1518221"/>
          </a:xfrm>
          <a:prstGeom prst="rect">
            <a:avLst/>
          </a:prstGeom>
          <a:noFill/>
          <a:ln w="317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13" name="TextBox 12">
            <a:extLst>
              <a:ext uri="{FF2B5EF4-FFF2-40B4-BE49-F238E27FC236}">
                <a16:creationId xmlns:a16="http://schemas.microsoft.com/office/drawing/2014/main" id="{1B1EFB64-8946-BFB5-A36E-D49D85EF2D18}"/>
              </a:ext>
            </a:extLst>
          </p:cNvPr>
          <p:cNvSpPr txBox="1"/>
          <p:nvPr/>
        </p:nvSpPr>
        <p:spPr>
          <a:xfrm>
            <a:off x="934369" y="5703158"/>
            <a:ext cx="7174045" cy="646331"/>
          </a:xfrm>
          <a:prstGeom prst="rect">
            <a:avLst/>
          </a:prstGeom>
          <a:noFill/>
        </p:spPr>
        <p:txBody>
          <a:bodyPr wrap="square">
            <a:spAutoFit/>
          </a:bodyPr>
          <a:lstStyle/>
          <a:p>
            <a:r>
              <a:rPr lang="en-JP" dirty="0">
                <a:latin typeface="Meiryo" panose="020B0604030504040204" pitchFamily="34" charset="-128"/>
                <a:ea typeface="Meiryo" panose="020B0604030504040204" pitchFamily="34" charset="-128"/>
              </a:rPr>
              <a:t>証明書が侵害された場合でも、失効されなければ通信は継続され、深刻なセキュリティリスクとなります。</a:t>
            </a:r>
          </a:p>
        </p:txBody>
      </p:sp>
      <p:sp>
        <p:nvSpPr>
          <p:cNvPr id="14" name="Down Arrow 13">
            <a:extLst>
              <a:ext uri="{FF2B5EF4-FFF2-40B4-BE49-F238E27FC236}">
                <a16:creationId xmlns:a16="http://schemas.microsoft.com/office/drawing/2014/main" id="{48213DA2-CF71-F398-84A6-8CDDA0720018}"/>
              </a:ext>
            </a:extLst>
          </p:cNvPr>
          <p:cNvSpPr/>
          <p:nvPr/>
        </p:nvSpPr>
        <p:spPr>
          <a:xfrm>
            <a:off x="1364812" y="5143469"/>
            <a:ext cx="179615" cy="341074"/>
          </a:xfrm>
          <a:prstGeom prst="downArrow">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Tree>
    <p:extLst>
      <p:ext uri="{BB962C8B-B14F-4D97-AF65-F5344CB8AC3E}">
        <p14:creationId xmlns:p14="http://schemas.microsoft.com/office/powerpoint/2010/main" val="36797658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CFCC4DB-F707-5C61-D733-F1EC0AA3EA00}"/>
              </a:ext>
            </a:extLst>
          </p:cNvPr>
          <p:cNvSpPr>
            <a:spLocks noGrp="1"/>
          </p:cNvSpPr>
          <p:nvPr>
            <p:ph type="sldNum" sz="quarter" idx="12"/>
          </p:nvPr>
        </p:nvSpPr>
        <p:spPr/>
        <p:txBody>
          <a:bodyPr/>
          <a:lstStyle/>
          <a:p>
            <a:r>
              <a:rPr lang="en-US" dirty="0"/>
              <a:t>27</a:t>
            </a:r>
            <a:endParaRPr lang="en-JP" dirty="0"/>
          </a:p>
        </p:txBody>
      </p:sp>
      <p:sp>
        <p:nvSpPr>
          <p:cNvPr id="6" name="TextBox 5">
            <a:extLst>
              <a:ext uri="{FF2B5EF4-FFF2-40B4-BE49-F238E27FC236}">
                <a16:creationId xmlns:a16="http://schemas.microsoft.com/office/drawing/2014/main" id="{D4B23B81-7280-1A67-7A28-A8B820BE20A2}"/>
              </a:ext>
            </a:extLst>
          </p:cNvPr>
          <p:cNvSpPr txBox="1"/>
          <p:nvPr/>
        </p:nvSpPr>
        <p:spPr>
          <a:xfrm>
            <a:off x="707833" y="1053328"/>
            <a:ext cx="7728333" cy="1200329"/>
          </a:xfrm>
          <a:prstGeom prst="rect">
            <a:avLst/>
          </a:prstGeom>
          <a:noFill/>
        </p:spPr>
        <p:txBody>
          <a:bodyPr wrap="square">
            <a:spAutoFit/>
          </a:bodyPr>
          <a:lstStyle/>
          <a:p>
            <a:r>
              <a:rPr lang="en-JP" dirty="0">
                <a:latin typeface="Meiryo" panose="020B0604030504040204" pitchFamily="34" charset="-128"/>
                <a:ea typeface="Meiryo" panose="020B0604030504040204" pitchFamily="34" charset="-128"/>
              </a:rPr>
              <a:t>CRL方式の概要</a:t>
            </a: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CAが 失効証明書一覧を定期公開</a:t>
            </a: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クライアントが一覧を取得して確認</a:t>
            </a:r>
          </a:p>
          <a:p>
            <a:endParaRPr lang="en-JP" dirty="0"/>
          </a:p>
        </p:txBody>
      </p:sp>
      <p:sp>
        <p:nvSpPr>
          <p:cNvPr id="8" name="TextBox 7">
            <a:extLst>
              <a:ext uri="{FF2B5EF4-FFF2-40B4-BE49-F238E27FC236}">
                <a16:creationId xmlns:a16="http://schemas.microsoft.com/office/drawing/2014/main" id="{F32BDC3C-0215-42A5-FED5-1446048E7853}"/>
              </a:ext>
            </a:extLst>
          </p:cNvPr>
          <p:cNvSpPr txBox="1"/>
          <p:nvPr/>
        </p:nvSpPr>
        <p:spPr>
          <a:xfrm>
            <a:off x="318655" y="2028624"/>
            <a:ext cx="8253500" cy="2308324"/>
          </a:xfrm>
          <a:prstGeom prst="rect">
            <a:avLst/>
          </a:prstGeom>
          <a:noFill/>
        </p:spPr>
        <p:txBody>
          <a:bodyPr wrap="square">
            <a:spAutoFit/>
          </a:bodyPr>
          <a:lstStyle/>
          <a:p>
            <a:r>
              <a:rPr lang="ja-JP" altLang="en-US">
                <a:latin typeface="Meiryo" panose="020B0604030504040204" pitchFamily="34" charset="-128"/>
                <a:ea typeface="Meiryo" panose="020B0604030504040204" pitchFamily="34" charset="-128"/>
              </a:rPr>
              <a:t> </a:t>
            </a:r>
            <a:endParaRPr lang="en-US" altLang="ja-JP" dirty="0">
              <a:latin typeface="Meiryo" panose="020B0604030504040204" pitchFamily="34" charset="-128"/>
              <a:ea typeface="Meiryo" panose="020B0604030504040204" pitchFamily="34" charset="-128"/>
            </a:endParaRPr>
          </a:p>
          <a:p>
            <a:r>
              <a:rPr lang="ja-JP" altLang="en-US">
                <a:solidFill>
                  <a:srgbClr val="92D050"/>
                </a:solidFill>
                <a:latin typeface="Meiryo" panose="020B0604030504040204" pitchFamily="34" charset="-128"/>
                <a:ea typeface="Meiryo" panose="020B0604030504040204" pitchFamily="34" charset="-128"/>
              </a:rPr>
              <a:t>仕組み</a:t>
            </a:r>
            <a:r>
              <a:rPr lang="en-US" altLang="ja-JP" dirty="0">
                <a:solidFill>
                  <a:srgbClr val="92D050"/>
                </a:solidFill>
                <a:latin typeface="Meiryo" panose="020B0604030504040204" pitchFamily="34" charset="-128"/>
                <a:ea typeface="Meiryo" panose="020B0604030504040204" pitchFamily="34" charset="-128"/>
              </a:rPr>
              <a:t>: </a:t>
            </a:r>
            <a:r>
              <a:rPr lang="ja-JP" altLang="en-US">
                <a:latin typeface="Meiryo" panose="020B0604030504040204" pitchFamily="34" charset="-128"/>
                <a:ea typeface="Meiryo" panose="020B0604030504040204" pitchFamily="34" charset="-128"/>
              </a:rPr>
              <a:t>証明書には、</a:t>
            </a:r>
            <a:r>
              <a:rPr lang="en-US" dirty="0">
                <a:latin typeface="Meiryo" panose="020B0604030504040204" pitchFamily="34" charset="-128"/>
                <a:ea typeface="Meiryo" panose="020B0604030504040204" pitchFamily="34" charset="-128"/>
              </a:rPr>
              <a:t>CRL</a:t>
            </a:r>
            <a:r>
              <a:rPr lang="ja-JP" altLang="en-US">
                <a:latin typeface="Meiryo" panose="020B0604030504040204" pitchFamily="34" charset="-128"/>
                <a:ea typeface="Meiryo" panose="020B0604030504040204" pitchFamily="34" charset="-128"/>
              </a:rPr>
              <a:t>配布ポイント（</a:t>
            </a:r>
            <a:r>
              <a:rPr lang="en-US" dirty="0">
                <a:latin typeface="Meiryo" panose="020B0604030504040204" pitchFamily="34" charset="-128"/>
                <a:ea typeface="Meiryo" panose="020B0604030504040204" pitchFamily="34" charset="-128"/>
              </a:rPr>
              <a:t>CDP）</a:t>
            </a:r>
            <a:r>
              <a:rPr lang="ja-JP" altLang="en-US">
                <a:latin typeface="Meiryo" panose="020B0604030504040204" pitchFamily="34" charset="-128"/>
                <a:ea typeface="Meiryo" panose="020B0604030504040204" pitchFamily="34" charset="-128"/>
              </a:rPr>
              <a:t>の</a:t>
            </a:r>
            <a:r>
              <a:rPr lang="en-US" dirty="0">
                <a:latin typeface="Meiryo" panose="020B0604030504040204" pitchFamily="34" charset="-128"/>
                <a:ea typeface="Meiryo" panose="020B0604030504040204" pitchFamily="34" charset="-128"/>
              </a:rPr>
              <a:t>URL</a:t>
            </a:r>
            <a:r>
              <a:rPr lang="ja-JP" altLang="en-US">
                <a:latin typeface="Meiryo" panose="020B0604030504040204" pitchFamily="34" charset="-128"/>
                <a:ea typeface="Meiryo" panose="020B0604030504040204" pitchFamily="34" charset="-128"/>
              </a:rPr>
              <a:t>が含まれる。クライアントは定期的に</a:t>
            </a:r>
            <a:r>
              <a:rPr lang="en-US" dirty="0">
                <a:latin typeface="Meiryo" panose="020B0604030504040204" pitchFamily="34" charset="-128"/>
                <a:ea typeface="Meiryo" panose="020B0604030504040204" pitchFamily="34" charset="-128"/>
              </a:rPr>
              <a:t>CRL</a:t>
            </a:r>
            <a:r>
              <a:rPr lang="ja-JP" altLang="en-US">
                <a:latin typeface="Meiryo" panose="020B0604030504040204" pitchFamily="34" charset="-128"/>
                <a:ea typeface="Meiryo" panose="020B0604030504040204" pitchFamily="34" charset="-128"/>
              </a:rPr>
              <a:t>をダウンロードし、証明書のシリアル番号がリストに含まれているかを確認</a:t>
            </a:r>
            <a:endParaRPr lang="mn-MN" altLang="ja-JP" dirty="0">
              <a:latin typeface="Meiryo" panose="020B0604030504040204" pitchFamily="34" charset="-128"/>
              <a:ea typeface="Meiryo" panose="020B0604030504040204" pitchFamily="34" charset="-128"/>
            </a:endParaRPr>
          </a:p>
          <a:p>
            <a:endParaRPr lang="mn-MN" altLang="ja-JP" dirty="0">
              <a:latin typeface="Meiryo" panose="020B0604030504040204" pitchFamily="34" charset="-128"/>
              <a:ea typeface="Meiryo" panose="020B0604030504040204" pitchFamily="34" charset="-128"/>
            </a:endParaRPr>
          </a:p>
          <a:p>
            <a:r>
              <a:rPr lang="ja-JP" altLang="en-US">
                <a:latin typeface="Meiryo" panose="020B0604030504040204" pitchFamily="34" charset="-128"/>
                <a:ea typeface="Meiryo" panose="020B0604030504040204" pitchFamily="34" charset="-128"/>
              </a:rPr>
              <a:t> </a:t>
            </a:r>
            <a:endParaRPr lang="en-US" altLang="ja-JP" dirty="0">
              <a:latin typeface="Meiryo" panose="020B0604030504040204" pitchFamily="34" charset="-128"/>
              <a:ea typeface="Meiryo" panose="020B0604030504040204" pitchFamily="34" charset="-128"/>
            </a:endParaRPr>
          </a:p>
          <a:p>
            <a:r>
              <a:rPr lang="ja-JP" altLang="en-US">
                <a:solidFill>
                  <a:srgbClr val="92D050"/>
                </a:solidFill>
                <a:latin typeface="Meiryo" panose="020B0604030504040204" pitchFamily="34" charset="-128"/>
                <a:ea typeface="Meiryo" panose="020B0604030504040204" pitchFamily="34" charset="-128"/>
              </a:rPr>
              <a:t>設定例</a:t>
            </a:r>
            <a:r>
              <a:rPr lang="en-US" altLang="ja-JP" dirty="0">
                <a:solidFill>
                  <a:srgbClr val="92D050"/>
                </a:solidFill>
                <a:latin typeface="Meiryo" panose="020B0604030504040204" pitchFamily="34" charset="-128"/>
                <a:ea typeface="Meiryo" panose="020B0604030504040204" pitchFamily="34" charset="-128"/>
              </a:rPr>
              <a:t>:  </a:t>
            </a:r>
            <a:r>
              <a:rPr lang="en-US" dirty="0">
                <a:latin typeface="Meiryo" panose="020B0604030504040204" pitchFamily="34" charset="-128"/>
                <a:ea typeface="Meiryo" panose="020B0604030504040204" pitchFamily="34" charset="-128"/>
              </a:rPr>
              <a:t>bash# CRL</a:t>
            </a:r>
            <a:r>
              <a:rPr lang="ja-JP" altLang="en-US">
                <a:latin typeface="Meiryo" panose="020B0604030504040204" pitchFamily="34" charset="-128"/>
                <a:ea typeface="Meiryo" panose="020B0604030504040204" pitchFamily="34" charset="-128"/>
              </a:rPr>
              <a:t>生成 </a:t>
            </a:r>
            <a:r>
              <a:rPr lang="en-US" dirty="0">
                <a:solidFill>
                  <a:srgbClr val="FFC000"/>
                </a:solidFill>
                <a:latin typeface="Meiryo" panose="020B0604030504040204" pitchFamily="34" charset="-128"/>
                <a:ea typeface="Meiryo" panose="020B0604030504040204" pitchFamily="34" charset="-128"/>
              </a:rPr>
              <a:t>openssl ca -gencrl -out ca.crl -crldays 1 </a:t>
            </a:r>
            <a:r>
              <a:rPr lang="ja-JP" altLang="en-US">
                <a:solidFill>
                  <a:srgbClr val="FFC000"/>
                </a:solidFill>
                <a:latin typeface="Meiryo" panose="020B0604030504040204" pitchFamily="34" charset="-128"/>
                <a:ea typeface="Meiryo" panose="020B0604030504040204" pitchFamily="34" charset="-128"/>
              </a:rPr>
              <a:t>証明書に</a:t>
            </a:r>
            <a:r>
              <a:rPr lang="en-US" dirty="0">
                <a:solidFill>
                  <a:srgbClr val="FFC000"/>
                </a:solidFill>
                <a:latin typeface="Meiryo" panose="020B0604030504040204" pitchFamily="34" charset="-128"/>
                <a:ea typeface="Meiryo" panose="020B0604030504040204" pitchFamily="34" charset="-128"/>
              </a:rPr>
              <a:t>CDP</a:t>
            </a:r>
            <a:r>
              <a:rPr lang="ja-JP" altLang="en-US">
                <a:solidFill>
                  <a:srgbClr val="FFC000"/>
                </a:solidFill>
                <a:latin typeface="Meiryo" panose="020B0604030504040204" pitchFamily="34" charset="-128"/>
                <a:ea typeface="Meiryo" panose="020B0604030504040204" pitchFamily="34" charset="-128"/>
              </a:rPr>
              <a:t>設定 </a:t>
            </a:r>
            <a:r>
              <a:rPr lang="en-US" dirty="0">
                <a:solidFill>
                  <a:srgbClr val="FFC000"/>
                </a:solidFill>
                <a:latin typeface="Meiryo" panose="020B0604030504040204" pitchFamily="34" charset="-128"/>
                <a:ea typeface="Meiryo" panose="020B0604030504040204" pitchFamily="34" charset="-128"/>
              </a:rPr>
              <a:t>crlDistributionPoints = URI:http://crl.example.com/ca.crl</a:t>
            </a:r>
            <a:endParaRPr lang="en-JP" dirty="0">
              <a:solidFill>
                <a:srgbClr val="FFC000"/>
              </a:solidFill>
              <a:latin typeface="Meiryo" panose="020B0604030504040204" pitchFamily="34" charset="-128"/>
              <a:ea typeface="Meiryo" panose="020B0604030504040204" pitchFamily="34" charset="-128"/>
            </a:endParaRPr>
          </a:p>
        </p:txBody>
      </p:sp>
      <p:sp>
        <p:nvSpPr>
          <p:cNvPr id="10" name="TextBox 9">
            <a:extLst>
              <a:ext uri="{FF2B5EF4-FFF2-40B4-BE49-F238E27FC236}">
                <a16:creationId xmlns:a16="http://schemas.microsoft.com/office/drawing/2014/main" id="{DDD56E8F-A655-2A9E-A7BC-A81A34A0805C}"/>
              </a:ext>
            </a:extLst>
          </p:cNvPr>
          <p:cNvSpPr txBox="1"/>
          <p:nvPr/>
        </p:nvSpPr>
        <p:spPr>
          <a:xfrm>
            <a:off x="468217" y="382703"/>
            <a:ext cx="4572000" cy="400110"/>
          </a:xfrm>
          <a:prstGeom prst="rect">
            <a:avLst/>
          </a:prstGeom>
          <a:noFill/>
        </p:spPr>
        <p:txBody>
          <a:bodyPr wrap="square">
            <a:spAutoFit/>
          </a:bodyPr>
          <a:lstStyle/>
          <a:p>
            <a:pPr marL="285750" indent="-285750">
              <a:buFont typeface="Wingdings" pitchFamily="2" charset="2"/>
              <a:buChar char="Ø"/>
            </a:pPr>
            <a:r>
              <a:rPr lang="en-US" sz="2000" dirty="0">
                <a:solidFill>
                  <a:srgbClr val="92D050"/>
                </a:solidFill>
                <a:latin typeface="Times New Roman" panose="02020603050405020304" pitchFamily="18" charset="0"/>
                <a:cs typeface="Times New Roman" panose="02020603050405020304" pitchFamily="18" charset="0"/>
              </a:rPr>
              <a:t>CRL（Certificate Revocation List)</a:t>
            </a:r>
            <a:endParaRPr lang="en-JP" sz="2000" dirty="0">
              <a:solidFill>
                <a:srgbClr val="92D050"/>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A9FCB9F8-9D00-0BA3-EBFC-8F2606DEFCC3}"/>
              </a:ext>
            </a:extLst>
          </p:cNvPr>
          <p:cNvSpPr txBox="1"/>
          <p:nvPr/>
        </p:nvSpPr>
        <p:spPr>
          <a:xfrm>
            <a:off x="454645" y="4854729"/>
            <a:ext cx="7981521" cy="646331"/>
          </a:xfrm>
          <a:prstGeom prst="rect">
            <a:avLst/>
          </a:prstGeom>
          <a:noFill/>
        </p:spPr>
        <p:txBody>
          <a:bodyPr wrap="square">
            <a:spAutoFit/>
          </a:bodyPr>
          <a:lstStyle/>
          <a:p>
            <a:pPr marL="285750" indent="-285750">
              <a:buFont typeface="Wingdings" pitchFamily="2" charset="2"/>
              <a:buChar char="v"/>
            </a:pPr>
            <a:r>
              <a:rPr lang="en-JP" dirty="0">
                <a:latin typeface="Meiryo" panose="020B0604030504040204" pitchFamily="34" charset="-128"/>
                <a:ea typeface="Meiryo" panose="020B0604030504040204" pitchFamily="34" charset="-128"/>
              </a:rPr>
              <a:t>CRLは最も基本的な失効管理方式であり、多くの環境で利用されて</a:t>
            </a:r>
          </a:p>
          <a:p>
            <a:r>
              <a:rPr lang="en-JP" dirty="0">
                <a:latin typeface="Meiryo" panose="020B0604030504040204" pitchFamily="34" charset="-128"/>
                <a:ea typeface="Meiryo" panose="020B0604030504040204" pitchFamily="34" charset="-128"/>
              </a:rPr>
              <a:t>います</a:t>
            </a:r>
          </a:p>
        </p:txBody>
      </p:sp>
    </p:spTree>
    <p:extLst>
      <p:ext uri="{BB962C8B-B14F-4D97-AF65-F5344CB8AC3E}">
        <p14:creationId xmlns:p14="http://schemas.microsoft.com/office/powerpoint/2010/main" val="10477883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B050E24-C2F1-2474-B1A2-B9CB31074230}"/>
              </a:ext>
            </a:extLst>
          </p:cNvPr>
          <p:cNvSpPr>
            <a:spLocks noGrp="1"/>
          </p:cNvSpPr>
          <p:nvPr>
            <p:ph type="sldNum" sz="quarter" idx="12"/>
          </p:nvPr>
        </p:nvSpPr>
        <p:spPr/>
        <p:txBody>
          <a:bodyPr/>
          <a:lstStyle/>
          <a:p>
            <a:r>
              <a:rPr lang="en-US" dirty="0"/>
              <a:t>28</a:t>
            </a:r>
            <a:endParaRPr lang="en-JP" dirty="0"/>
          </a:p>
        </p:txBody>
      </p:sp>
      <p:sp>
        <p:nvSpPr>
          <p:cNvPr id="6" name="TextBox 5">
            <a:extLst>
              <a:ext uri="{FF2B5EF4-FFF2-40B4-BE49-F238E27FC236}">
                <a16:creationId xmlns:a16="http://schemas.microsoft.com/office/drawing/2014/main" id="{B1650A5F-A992-5F1C-5B34-4D913B79B8FB}"/>
              </a:ext>
            </a:extLst>
          </p:cNvPr>
          <p:cNvSpPr txBox="1"/>
          <p:nvPr/>
        </p:nvSpPr>
        <p:spPr>
          <a:xfrm>
            <a:off x="421050" y="1446593"/>
            <a:ext cx="7995836" cy="4247317"/>
          </a:xfrm>
          <a:prstGeom prst="rect">
            <a:avLst/>
          </a:prstGeom>
          <a:noFill/>
        </p:spPr>
        <p:txBody>
          <a:bodyPr wrap="square">
            <a:spAutoFit/>
          </a:bodyPr>
          <a:lstStyle/>
          <a:p>
            <a:pPr marL="285750" indent="-285750">
              <a:buFont typeface="Arial" panose="020B0604020202020204" pitchFamily="34" charset="0"/>
              <a:buChar char="•"/>
            </a:pPr>
            <a:r>
              <a:rPr lang="ja-JP" altLang="en-US">
                <a:latin typeface="Meiryo" panose="020B0604030504040204" pitchFamily="34" charset="-128"/>
                <a:ea typeface="Meiryo" panose="020B0604030504040204" pitchFamily="34" charset="-128"/>
              </a:rPr>
              <a:t>方式 </a:t>
            </a:r>
            <a:r>
              <a:rPr lang="en-US" dirty="0">
                <a:latin typeface="Meiryo" panose="020B0604030504040204" pitchFamily="34" charset="-128"/>
                <a:ea typeface="Meiryo" panose="020B0604030504040204" pitchFamily="34" charset="-128"/>
              </a:rPr>
              <a:t>OCSP</a:t>
            </a:r>
            <a:r>
              <a:rPr lang="ja-JP" altLang="en-US">
                <a:latin typeface="Meiryo" panose="020B0604030504040204" pitchFamily="34" charset="-128"/>
                <a:ea typeface="Meiryo" panose="020B0604030504040204" pitchFamily="34" charset="-128"/>
              </a:rPr>
              <a:t>は、リアルタイムで証明書の状態を問い合わせるプロトコルである</a:t>
            </a:r>
            <a:r>
              <a:rPr lang="en-US" altLang="ja-JP" dirty="0">
                <a:latin typeface="Meiryo" panose="020B0604030504040204" pitchFamily="34" charset="-128"/>
                <a:ea typeface="Meiryo" panose="020B0604030504040204" pitchFamily="34" charset="-128"/>
              </a:rPr>
              <a:t>.</a:t>
            </a:r>
            <a:r>
              <a:rPr lang="ja-JP" altLang="en-US"/>
              <a:t>応答：</a:t>
            </a:r>
            <a:r>
              <a:rPr lang="en-US" dirty="0">
                <a:latin typeface="Meiryo" panose="020B0604030504040204" pitchFamily="34" charset="-128"/>
                <a:ea typeface="Meiryo" panose="020B0604030504040204" pitchFamily="34" charset="-128"/>
              </a:rPr>
              <a:t>Good / Revoked / Unknown</a:t>
            </a:r>
          </a:p>
          <a:p>
            <a:endParaRPr lang="en-US" altLang="ja-JP"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endParaRPr lang="en-US" altLang="ja-JP"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a:latin typeface="Meiryo" panose="020B0604030504040204" pitchFamily="34" charset="-128"/>
                <a:ea typeface="Meiryo" panose="020B0604030504040204" pitchFamily="34" charset="-128"/>
              </a:rPr>
              <a:t>仕組み</a:t>
            </a:r>
            <a:r>
              <a:rPr lang="en-US" altLang="ja-JP" dirty="0">
                <a:latin typeface="Meiryo" panose="020B0604030504040204" pitchFamily="34" charset="-128"/>
                <a:ea typeface="Meiryo" panose="020B0604030504040204" pitchFamily="34" charset="-128"/>
              </a:rPr>
              <a:t>:</a:t>
            </a:r>
            <a:r>
              <a:rPr lang="ja-JP" altLang="en-US">
                <a:latin typeface="Meiryo" panose="020B0604030504040204" pitchFamily="34" charset="-128"/>
                <a:ea typeface="Meiryo" panose="020B0604030504040204" pitchFamily="34" charset="-128"/>
              </a:rPr>
              <a:t>クライアントは</a:t>
            </a:r>
            <a:r>
              <a:rPr lang="en-US" dirty="0">
                <a:latin typeface="Meiryo" panose="020B0604030504040204" pitchFamily="34" charset="-128"/>
                <a:ea typeface="Meiryo" panose="020B0604030504040204" pitchFamily="34" charset="-128"/>
              </a:rPr>
              <a:t>OCSP</a:t>
            </a:r>
            <a:r>
              <a:rPr lang="ja-JP" altLang="en-US">
                <a:latin typeface="Meiryo" panose="020B0604030504040204" pitchFamily="34" charset="-128"/>
                <a:ea typeface="Meiryo" panose="020B0604030504040204" pitchFamily="34" charset="-128"/>
              </a:rPr>
              <a:t>レスポンダに証明書のシリアル番号を送信し、レスポンダが現在の状態（</a:t>
            </a:r>
            <a:r>
              <a:rPr lang="en-US" dirty="0">
                <a:latin typeface="Meiryo" panose="020B0604030504040204" pitchFamily="34" charset="-128"/>
                <a:ea typeface="Meiryo" panose="020B0604030504040204" pitchFamily="34" charset="-128"/>
              </a:rPr>
              <a:t>Good/Revoked/Unknown）</a:t>
            </a:r>
            <a:r>
              <a:rPr lang="ja-JP" altLang="en-US">
                <a:latin typeface="Meiryo" panose="020B0604030504040204" pitchFamily="34" charset="-128"/>
                <a:ea typeface="Meiryo" panose="020B0604030504040204" pitchFamily="34" charset="-128"/>
              </a:rPr>
              <a:t>を返答する</a:t>
            </a:r>
            <a:r>
              <a:rPr lang="en-US" altLang="ja-JP" dirty="0">
                <a:latin typeface="Meiryo" panose="020B0604030504040204" pitchFamily="34" charset="-128"/>
                <a:ea typeface="Meiryo" panose="020B0604030504040204" pitchFamily="34" charset="-128"/>
              </a:rPr>
              <a:t>.</a:t>
            </a:r>
          </a:p>
          <a:p>
            <a:pPr marL="285750" indent="-285750">
              <a:buFont typeface="Arial" panose="020B0604020202020204" pitchFamily="34" charset="0"/>
              <a:buChar char="•"/>
            </a:pPr>
            <a:endParaRPr lang="mn-MN" altLang="ja-JP"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endParaRPr lang="mn-MN" altLang="ja-JP"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a:latin typeface="Meiryo" panose="020B0604030504040204" pitchFamily="34" charset="-128"/>
                <a:ea typeface="Meiryo" panose="020B0604030504040204" pitchFamily="34" charset="-128"/>
              </a:rPr>
              <a:t>設定例</a:t>
            </a:r>
            <a:r>
              <a:rPr lang="en-US" altLang="ja-JP" dirty="0">
                <a:latin typeface="Meiryo" panose="020B0604030504040204" pitchFamily="34" charset="-128"/>
                <a:ea typeface="Meiryo" panose="020B0604030504040204" pitchFamily="34" charset="-128"/>
              </a:rPr>
              <a:t>:  </a:t>
            </a:r>
            <a:r>
              <a:rPr lang="en-US" dirty="0">
                <a:latin typeface="Meiryo" panose="020B0604030504040204" pitchFamily="34" charset="-128"/>
                <a:ea typeface="Meiryo" panose="020B0604030504040204" pitchFamily="34" charset="-128"/>
              </a:rPr>
              <a:t>bash# OCSP</a:t>
            </a:r>
            <a:r>
              <a:rPr lang="ja-JP" altLang="en-US">
                <a:latin typeface="Meiryo" panose="020B0604030504040204" pitchFamily="34" charset="-128"/>
                <a:ea typeface="Meiryo" panose="020B0604030504040204" pitchFamily="34" charset="-128"/>
              </a:rPr>
              <a:t>レスポンダ起動 </a:t>
            </a:r>
            <a:r>
              <a:rPr lang="en-US" dirty="0">
                <a:latin typeface="Meiryo" panose="020B0604030504040204" pitchFamily="34" charset="-128"/>
                <a:ea typeface="Meiryo" panose="020B0604030504040204" pitchFamily="34" charset="-128"/>
              </a:rPr>
              <a:t>openssl ocsp -port 8080 \ -index index.txt \ -CA ca-cert.pem \ -rsigner ocsp-cert.pem </a:t>
            </a:r>
          </a:p>
          <a:p>
            <a:pPr marL="285750" indent="-285750">
              <a:buFont typeface="Arial" panose="020B0604020202020204" pitchFamily="34" charset="0"/>
              <a:buChar char="•"/>
            </a:pPr>
            <a:endParaRPr lang="en-US"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endParaRPr lang="en-US" altLang="ja-JP"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a:latin typeface="Meiryo" panose="020B0604030504040204" pitchFamily="34" charset="-128"/>
                <a:ea typeface="Meiryo" panose="020B0604030504040204" pitchFamily="34" charset="-128"/>
              </a:rPr>
              <a:t>証明書に</a:t>
            </a:r>
            <a:r>
              <a:rPr lang="en-US" dirty="0">
                <a:latin typeface="Meiryo" panose="020B0604030504040204" pitchFamily="34" charset="-128"/>
                <a:ea typeface="Meiryo" panose="020B0604030504040204" pitchFamily="34" charset="-128"/>
              </a:rPr>
              <a:t>OCSP</a:t>
            </a:r>
            <a:r>
              <a:rPr lang="ja-JP" altLang="en-US">
                <a:latin typeface="Meiryo" panose="020B0604030504040204" pitchFamily="34" charset="-128"/>
                <a:ea typeface="Meiryo" panose="020B0604030504040204" pitchFamily="34" charset="-128"/>
              </a:rPr>
              <a:t>設定 </a:t>
            </a:r>
            <a:r>
              <a:rPr lang="en-US" dirty="0">
                <a:latin typeface="Meiryo" panose="020B0604030504040204" pitchFamily="34" charset="-128"/>
                <a:ea typeface="Meiryo" panose="020B0604030504040204" pitchFamily="34" charset="-128"/>
              </a:rPr>
              <a:t>authorityInfoAccess = OCSP;URI:http://ocsp.example.com:8080 </a:t>
            </a:r>
            <a:r>
              <a:rPr lang="ja-JP" altLang="en-US">
                <a:latin typeface="Meiryo" panose="020B0604030504040204" pitchFamily="34" charset="-128"/>
                <a:ea typeface="Meiryo" panose="020B0604030504040204" pitchFamily="34" charset="-128"/>
              </a:rPr>
              <a:t>利点</a:t>
            </a:r>
            <a:r>
              <a:rPr lang="en-US" altLang="ja-JP" dirty="0">
                <a:latin typeface="Meiryo" panose="020B0604030504040204" pitchFamily="34" charset="-128"/>
                <a:ea typeface="Meiryo" panose="020B0604030504040204" pitchFamily="34" charset="-128"/>
              </a:rPr>
              <a:t>:</a:t>
            </a:r>
            <a:r>
              <a:rPr lang="ja-JP" altLang="en-US">
                <a:latin typeface="Meiryo" panose="020B0604030504040204" pitchFamily="34" charset="-128"/>
                <a:ea typeface="Meiryo" panose="020B0604030504040204" pitchFamily="34" charset="-128"/>
              </a:rPr>
              <a:t>リアルタイム性が高く、スケーラビリティに優れ、ネットワーク効率が良い</a:t>
            </a:r>
            <a:r>
              <a:rPr lang="en-US" altLang="ja-JP" dirty="0">
                <a:latin typeface="Meiryo" panose="020B0604030504040204" pitchFamily="34" charset="-128"/>
                <a:ea typeface="Meiryo" panose="020B0604030504040204" pitchFamily="34" charset="-128"/>
              </a:rPr>
              <a:t>.</a:t>
            </a:r>
            <a:endParaRPr lang="en-JP" dirty="0">
              <a:latin typeface="Meiryo" panose="020B0604030504040204" pitchFamily="34" charset="-128"/>
              <a:ea typeface="Meiryo" panose="020B0604030504040204" pitchFamily="34" charset="-128"/>
            </a:endParaRPr>
          </a:p>
        </p:txBody>
      </p:sp>
      <p:sp>
        <p:nvSpPr>
          <p:cNvPr id="8" name="TextBox 7">
            <a:extLst>
              <a:ext uri="{FF2B5EF4-FFF2-40B4-BE49-F238E27FC236}">
                <a16:creationId xmlns:a16="http://schemas.microsoft.com/office/drawing/2014/main" id="{4253E31C-EA26-03C6-0E97-F21674B268C7}"/>
              </a:ext>
            </a:extLst>
          </p:cNvPr>
          <p:cNvSpPr txBox="1"/>
          <p:nvPr/>
        </p:nvSpPr>
        <p:spPr>
          <a:xfrm>
            <a:off x="611435" y="448804"/>
            <a:ext cx="5293605" cy="369332"/>
          </a:xfrm>
          <a:prstGeom prst="rect">
            <a:avLst/>
          </a:prstGeom>
          <a:noFill/>
        </p:spPr>
        <p:txBody>
          <a:bodyPr wrap="square">
            <a:spAutoFit/>
          </a:bodyPr>
          <a:lstStyle/>
          <a:p>
            <a:pPr marL="285750" indent="-285750">
              <a:buFont typeface="Wingdings" pitchFamily="2" charset="2"/>
              <a:buChar char="Ø"/>
            </a:pPr>
            <a:r>
              <a:rPr lang="en-US" b="1" dirty="0">
                <a:solidFill>
                  <a:srgbClr val="92D050"/>
                </a:solidFill>
                <a:latin typeface="Times New Roman" panose="02020603050405020304" pitchFamily="18" charset="0"/>
                <a:cs typeface="Times New Roman" panose="02020603050405020304" pitchFamily="18" charset="0"/>
              </a:rPr>
              <a:t>OCSP（Online Certificate Status Protocol</a:t>
            </a:r>
            <a:endParaRPr lang="en-JP" b="1" dirty="0">
              <a:solidFill>
                <a:srgbClr val="92D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28755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9557644-5B1C-B961-8AEB-FCB7F7F040F9}"/>
              </a:ext>
            </a:extLst>
          </p:cNvPr>
          <p:cNvSpPr>
            <a:spLocks noGrp="1"/>
          </p:cNvSpPr>
          <p:nvPr>
            <p:ph type="sldNum" sz="quarter" idx="12"/>
          </p:nvPr>
        </p:nvSpPr>
        <p:spPr/>
        <p:txBody>
          <a:bodyPr/>
          <a:lstStyle/>
          <a:p>
            <a:r>
              <a:rPr lang="en-US" dirty="0"/>
              <a:t>29</a:t>
            </a:r>
            <a:endParaRPr lang="en-JP" dirty="0"/>
          </a:p>
        </p:txBody>
      </p:sp>
      <p:sp>
        <p:nvSpPr>
          <p:cNvPr id="8" name="TextBox 7">
            <a:extLst>
              <a:ext uri="{FF2B5EF4-FFF2-40B4-BE49-F238E27FC236}">
                <a16:creationId xmlns:a16="http://schemas.microsoft.com/office/drawing/2014/main" id="{6A3DAA5B-DB08-11B2-35ED-1B744355CAEE}"/>
              </a:ext>
            </a:extLst>
          </p:cNvPr>
          <p:cNvSpPr txBox="1"/>
          <p:nvPr/>
        </p:nvSpPr>
        <p:spPr>
          <a:xfrm>
            <a:off x="510907" y="2165858"/>
            <a:ext cx="8544958" cy="1477328"/>
          </a:xfrm>
          <a:prstGeom prst="rect">
            <a:avLst/>
          </a:prstGeom>
          <a:noFill/>
        </p:spPr>
        <p:txBody>
          <a:bodyPr wrap="square">
            <a:spAutoFit/>
          </a:bodyPr>
          <a:lstStyle/>
          <a:p>
            <a:pPr marL="285750" indent="-285750">
              <a:buFont typeface="Wingdings" pitchFamily="2" charset="2"/>
              <a:buChar char="§"/>
            </a:pPr>
            <a:r>
              <a:rPr lang="en-JP" dirty="0">
                <a:latin typeface="Meiryo" panose="020B0604030504040204" pitchFamily="34" charset="-128"/>
                <a:ea typeface="Meiryo" panose="020B0604030504040204" pitchFamily="34" charset="-128"/>
              </a:rPr>
              <a:t>小規模環境（〜100証明書）ではCRLのみで十分である</a:t>
            </a:r>
          </a:p>
          <a:p>
            <a:pPr marL="285750" indent="-285750">
              <a:buFont typeface="Wingdings" pitchFamily="2" charset="2"/>
              <a:buChar char="§"/>
            </a:pPr>
            <a:endParaRPr lang="en-JP" dirty="0">
              <a:latin typeface="Meiryo" panose="020B0604030504040204" pitchFamily="34" charset="-128"/>
              <a:ea typeface="Meiryo" panose="020B0604030504040204" pitchFamily="34" charset="-128"/>
            </a:endParaRPr>
          </a:p>
          <a:p>
            <a:pPr marL="285750" indent="-285750">
              <a:buFont typeface="Wingdings" pitchFamily="2" charset="2"/>
              <a:buChar char="§"/>
            </a:pPr>
            <a:r>
              <a:rPr lang="en-JP" dirty="0">
                <a:latin typeface="Meiryo" panose="020B0604030504040204" pitchFamily="34" charset="-128"/>
                <a:ea typeface="Meiryo" panose="020B0604030504040204" pitchFamily="34" charset="-128"/>
              </a:rPr>
              <a:t>中規模環境（100〜1000証明書）ではCRL + OCSPの併用が推奨される</a:t>
            </a:r>
          </a:p>
          <a:p>
            <a:pPr marL="285750" indent="-285750">
              <a:buFont typeface="Wingdings" pitchFamily="2" charset="2"/>
              <a:buChar char="§"/>
            </a:pPr>
            <a:endParaRPr lang="en-JP" dirty="0">
              <a:latin typeface="Meiryo" panose="020B0604030504040204" pitchFamily="34" charset="-128"/>
              <a:ea typeface="Meiryo" panose="020B0604030504040204" pitchFamily="34" charset="-128"/>
            </a:endParaRPr>
          </a:p>
          <a:p>
            <a:pPr marL="285750" indent="-285750">
              <a:buFont typeface="Wingdings" pitchFamily="2" charset="2"/>
              <a:buChar char="§"/>
            </a:pPr>
            <a:r>
              <a:rPr lang="en-JP" dirty="0">
                <a:latin typeface="Meiryo" panose="020B0604030504040204" pitchFamily="34" charset="-128"/>
                <a:ea typeface="Meiryo" panose="020B0604030504040204" pitchFamily="34" charset="-128"/>
              </a:rPr>
              <a:t>大規模環境（1000証明書以上）ではOCSP + OCSP Staplingが最適である</a:t>
            </a:r>
            <a:endParaRPr lang="en-US" dirty="0">
              <a:latin typeface="Meiryo" panose="020B0604030504040204" pitchFamily="34" charset="-128"/>
              <a:ea typeface="Meiryo" panose="020B0604030504040204" pitchFamily="34" charset="-128"/>
            </a:endParaRPr>
          </a:p>
        </p:txBody>
      </p:sp>
      <p:sp>
        <p:nvSpPr>
          <p:cNvPr id="10" name="TextBox 9">
            <a:extLst>
              <a:ext uri="{FF2B5EF4-FFF2-40B4-BE49-F238E27FC236}">
                <a16:creationId xmlns:a16="http://schemas.microsoft.com/office/drawing/2014/main" id="{5BEED4EF-CA22-E55B-F77B-AD38272F60D1}"/>
              </a:ext>
            </a:extLst>
          </p:cNvPr>
          <p:cNvSpPr txBox="1"/>
          <p:nvPr/>
        </p:nvSpPr>
        <p:spPr>
          <a:xfrm>
            <a:off x="1327534" y="922529"/>
            <a:ext cx="4572000" cy="400110"/>
          </a:xfrm>
          <a:prstGeom prst="rect">
            <a:avLst/>
          </a:prstGeom>
          <a:noFill/>
        </p:spPr>
        <p:txBody>
          <a:bodyPr wrap="square">
            <a:spAutoFit/>
          </a:bodyPr>
          <a:lstStyle/>
          <a:p>
            <a:pPr marL="285750" indent="-285750">
              <a:buFont typeface="Wingdings" pitchFamily="2" charset="2"/>
              <a:buChar char="Ø"/>
            </a:pPr>
            <a:r>
              <a:rPr lang="en-JP" sz="2000" dirty="0">
                <a:solidFill>
                  <a:srgbClr val="92D050"/>
                </a:solidFill>
                <a:latin typeface="Meiryo" panose="020B0604030504040204" pitchFamily="34" charset="-128"/>
                <a:ea typeface="Meiryo" panose="020B0604030504040204" pitchFamily="34" charset="-128"/>
              </a:rPr>
              <a:t>実装推奨 </a:t>
            </a:r>
          </a:p>
        </p:txBody>
      </p:sp>
    </p:spTree>
    <p:extLst>
      <p:ext uri="{BB962C8B-B14F-4D97-AF65-F5344CB8AC3E}">
        <p14:creationId xmlns:p14="http://schemas.microsoft.com/office/powerpoint/2010/main" val="41056994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9BEBC2E-B6C2-052B-C771-6EF594FC3BC0}"/>
              </a:ext>
            </a:extLst>
          </p:cNvPr>
          <p:cNvSpPr>
            <a:spLocks noGrp="1"/>
          </p:cNvSpPr>
          <p:nvPr>
            <p:ph type="sldNum" sz="quarter" idx="12"/>
          </p:nvPr>
        </p:nvSpPr>
        <p:spPr/>
        <p:txBody>
          <a:bodyPr/>
          <a:lstStyle/>
          <a:p>
            <a:r>
              <a:rPr lang="en-US" dirty="0"/>
              <a:t>30</a:t>
            </a:r>
            <a:endParaRPr lang="en-JP" dirty="0"/>
          </a:p>
        </p:txBody>
      </p:sp>
      <p:sp>
        <p:nvSpPr>
          <p:cNvPr id="8" name="TextBox 7">
            <a:extLst>
              <a:ext uri="{FF2B5EF4-FFF2-40B4-BE49-F238E27FC236}">
                <a16:creationId xmlns:a16="http://schemas.microsoft.com/office/drawing/2014/main" id="{A11207F3-5175-91F5-8EB3-5D4BB203CDAD}"/>
              </a:ext>
            </a:extLst>
          </p:cNvPr>
          <p:cNvSpPr txBox="1"/>
          <p:nvPr/>
        </p:nvSpPr>
        <p:spPr>
          <a:xfrm>
            <a:off x="435166" y="371686"/>
            <a:ext cx="4572000" cy="400110"/>
          </a:xfrm>
          <a:prstGeom prst="rect">
            <a:avLst/>
          </a:prstGeom>
          <a:noFill/>
        </p:spPr>
        <p:txBody>
          <a:bodyPr wrap="square">
            <a:spAutoFit/>
          </a:bodyPr>
          <a:lstStyle/>
          <a:p>
            <a:pPr marL="342900" indent="-342900">
              <a:buFont typeface="Wingdings" pitchFamily="2" charset="2"/>
              <a:buChar char="§"/>
            </a:pPr>
            <a:r>
              <a:rPr lang="ja-JP" altLang="en-US" sz="2000" b="1">
                <a:solidFill>
                  <a:srgbClr val="C00000"/>
                </a:solidFill>
                <a:latin typeface="Meiryo" panose="020B0604030504040204" pitchFamily="34" charset="-128"/>
                <a:ea typeface="Meiryo" panose="020B0604030504040204" pitchFamily="34" charset="-128"/>
                <a:cs typeface="Times New Roman" panose="02020603050405020304" pitchFamily="18" charset="0"/>
              </a:rPr>
              <a:t>まとめ</a:t>
            </a:r>
            <a:endParaRPr lang="en-JP" sz="2000" b="1" dirty="0">
              <a:solidFill>
                <a:srgbClr val="C00000"/>
              </a:solidFill>
              <a:latin typeface="Meiryo" panose="020B0604030504040204" pitchFamily="34" charset="-128"/>
              <a:ea typeface="Meiryo" panose="020B0604030504040204" pitchFamily="34" charset="-128"/>
              <a:cs typeface="Times New Roman" panose="02020603050405020304" pitchFamily="18" charset="0"/>
            </a:endParaRPr>
          </a:p>
        </p:txBody>
      </p:sp>
      <p:sp>
        <p:nvSpPr>
          <p:cNvPr id="10" name="TextBox 9">
            <a:extLst>
              <a:ext uri="{FF2B5EF4-FFF2-40B4-BE49-F238E27FC236}">
                <a16:creationId xmlns:a16="http://schemas.microsoft.com/office/drawing/2014/main" id="{62D71416-2493-6CB1-A761-E1C55E5E3796}"/>
              </a:ext>
            </a:extLst>
          </p:cNvPr>
          <p:cNvSpPr txBox="1"/>
          <p:nvPr/>
        </p:nvSpPr>
        <p:spPr>
          <a:xfrm>
            <a:off x="274733" y="1618146"/>
            <a:ext cx="8240617" cy="3139321"/>
          </a:xfrm>
          <a:prstGeom prst="rect">
            <a:avLst/>
          </a:prstGeom>
          <a:noFill/>
        </p:spPr>
        <p:txBody>
          <a:bodyPr wrap="square">
            <a:spAutoFit/>
          </a:bodyPr>
          <a:lstStyle/>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本演習では、PKIに基づくデータ暗号化基盤について、理論と実践の両面から学習した.</a:t>
            </a:r>
            <a:endParaRPr lang="mn-MN"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endParaRPr lang="en-JP"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Private CAの構築やサーバ証明書の発行を通じて、PKIが「信頼」を技術的に実現する仕組みであることを理解した.</a:t>
            </a:r>
            <a:endParaRPr lang="mn-MN"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endParaRPr lang="en-JP"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証明書警告やCA秘密鍵漏洩といったシナリオを考察することで、信頼モデルと多層防御の重要性を認識した.</a:t>
            </a:r>
            <a:endParaRPr lang="mn-MN"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endParaRPr lang="en-JP"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PKIはHTTPS、電子商取引、クラウドなど現代の安全な通信を支える基盤技術であり、今後も継続的な学習と実践が必要であると感じた.</a:t>
            </a:r>
          </a:p>
        </p:txBody>
      </p:sp>
    </p:spTree>
    <p:extLst>
      <p:ext uri="{BB962C8B-B14F-4D97-AF65-F5344CB8AC3E}">
        <p14:creationId xmlns:p14="http://schemas.microsoft.com/office/powerpoint/2010/main" val="382575693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2511</TotalTime>
  <Words>2968</Words>
  <Application>Microsoft Macintosh PowerPoint</Application>
  <PresentationFormat>On-screen Show (4:3)</PresentationFormat>
  <Paragraphs>417</Paragraphs>
  <Slides>31</Slides>
  <Notes>19</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31</vt:i4>
      </vt:variant>
    </vt:vector>
  </HeadingPairs>
  <TitlesOfParts>
    <vt:vector size="44" baseType="lpstr">
      <vt:lpstr>Meiryo</vt:lpstr>
      <vt:lpstr>MS Mincho</vt:lpstr>
      <vt:lpstr>Source Han Sans</vt:lpstr>
      <vt:lpstr>Arial</vt:lpstr>
      <vt:lpstr>Calibri</vt:lpstr>
      <vt:lpstr>Calibri Light</vt:lpstr>
      <vt:lpstr>Cambria</vt:lpstr>
      <vt:lpstr>Courier New</vt:lpstr>
      <vt:lpstr>Helvetica Neue</vt:lpstr>
      <vt:lpstr>Roboto</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Private CA構築演習とPKIによる暗号化通信の理解 </dc:title>
  <dc:creator>undarmaa581@gmail.com</dc:creator>
  <cp:lastModifiedBy>undarmaa581@gmail.com</cp:lastModifiedBy>
  <cp:revision>27</cp:revision>
  <dcterms:created xsi:type="dcterms:W3CDTF">2026-01-05T10:15:23Z</dcterms:created>
  <dcterms:modified xsi:type="dcterms:W3CDTF">2026-01-28T01:56:19Z</dcterms:modified>
</cp:coreProperties>
</file>