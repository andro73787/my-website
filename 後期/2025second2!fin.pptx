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1" r:id="rId1"/>
    <p:sldMasterId id="2147483696" r:id="rId2"/>
    <p:sldMasterId id="2147483709" r:id="rId3"/>
    <p:sldMasterId id="2147483734" r:id="rId4"/>
  </p:sldMasterIdLst>
  <p:notesMasterIdLst>
    <p:notesMasterId r:id="rId56"/>
  </p:notesMasterIdLst>
  <p:sldIdLst>
    <p:sldId id="256" r:id="rId5"/>
    <p:sldId id="331" r:id="rId6"/>
    <p:sldId id="257" r:id="rId7"/>
    <p:sldId id="284" r:id="rId8"/>
    <p:sldId id="290" r:id="rId9"/>
    <p:sldId id="303" r:id="rId10"/>
    <p:sldId id="302" r:id="rId11"/>
    <p:sldId id="297" r:id="rId12"/>
    <p:sldId id="300" r:id="rId13"/>
    <p:sldId id="301" r:id="rId14"/>
    <p:sldId id="314" r:id="rId15"/>
    <p:sldId id="292" r:id="rId16"/>
    <p:sldId id="311" r:id="rId17"/>
    <p:sldId id="299" r:id="rId18"/>
    <p:sldId id="319" r:id="rId19"/>
    <p:sldId id="298" r:id="rId20"/>
    <p:sldId id="291" r:id="rId21"/>
    <p:sldId id="318" r:id="rId22"/>
    <p:sldId id="332" r:id="rId23"/>
    <p:sldId id="321" r:id="rId24"/>
    <p:sldId id="333" r:id="rId25"/>
    <p:sldId id="320" r:id="rId26"/>
    <p:sldId id="322" r:id="rId27"/>
    <p:sldId id="323" r:id="rId28"/>
    <p:sldId id="324" r:id="rId29"/>
    <p:sldId id="325" r:id="rId30"/>
    <p:sldId id="326" r:id="rId31"/>
    <p:sldId id="327" r:id="rId32"/>
    <p:sldId id="312" r:id="rId33"/>
    <p:sldId id="334" r:id="rId34"/>
    <p:sldId id="335" r:id="rId35"/>
    <p:sldId id="309" r:id="rId36"/>
    <p:sldId id="310" r:id="rId37"/>
    <p:sldId id="329" r:id="rId38"/>
    <p:sldId id="263" r:id="rId39"/>
    <p:sldId id="289" r:id="rId40"/>
    <p:sldId id="272" r:id="rId41"/>
    <p:sldId id="313" r:id="rId42"/>
    <p:sldId id="287" r:id="rId43"/>
    <p:sldId id="315" r:id="rId44"/>
    <p:sldId id="293" r:id="rId45"/>
    <p:sldId id="265" r:id="rId46"/>
    <p:sldId id="330" r:id="rId47"/>
    <p:sldId id="268" r:id="rId48"/>
    <p:sldId id="305" r:id="rId49"/>
    <p:sldId id="317" r:id="rId50"/>
    <p:sldId id="328" r:id="rId51"/>
    <p:sldId id="308" r:id="rId52"/>
    <p:sldId id="261" r:id="rId53"/>
    <p:sldId id="304" r:id="rId54"/>
    <p:sldId id="316" r:id="rId55"/>
  </p:sldIdLst>
  <p:sldSz cx="10972800" cy="8229600" type="B4JIS"/>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ndarmaa581@gmail.com" initials="" lastIdx="1" clrIdx="0">
    <p:extLst>
      <p:ext uri="{19B8F6BF-5375-455C-9EA6-DF929625EA0E}">
        <p15:presenceInfo xmlns:p15="http://schemas.microsoft.com/office/powerpoint/2012/main" userId="2e6f2e16084452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9"/>
    <p:restoredTop sz="71545"/>
  </p:normalViewPr>
  <p:slideViewPr>
    <p:cSldViewPr snapToGrid="0">
      <p:cViewPr>
        <p:scale>
          <a:sx n="64" d="100"/>
          <a:sy n="64" d="100"/>
        </p:scale>
        <p:origin x="3136" y="456"/>
      </p:cViewPr>
      <p:guideLst/>
    </p:cSldViewPr>
  </p:slideViewPr>
  <p:outlineViewPr>
    <p:cViewPr>
      <p:scale>
        <a:sx n="33" d="100"/>
        <a:sy n="33" d="100"/>
      </p:scale>
      <p:origin x="0" y="-144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3A8D3-39B6-4047-9EAA-4F4C30A589C2}" type="datetimeFigureOut">
              <a:rPr lang="en-JP" smtClean="0"/>
              <a:t>2025/11/23</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1F159-79E2-E24F-9993-34E52B426EB4}" type="slidenum">
              <a:rPr lang="en-JP" smtClean="0"/>
              <a:t>‹#›</a:t>
            </a:fld>
            <a:endParaRPr lang="en-JP"/>
          </a:p>
        </p:txBody>
      </p:sp>
    </p:spTree>
    <p:extLst>
      <p:ext uri="{BB962C8B-B14F-4D97-AF65-F5344CB8AC3E}">
        <p14:creationId xmlns:p14="http://schemas.microsoft.com/office/powerpoint/2010/main" val="1343570786"/>
      </p:ext>
    </p:extLst>
  </p:cSld>
  <p:clrMap bg1="lt1" tx1="dk1" bg2="lt2" tx2="dk2" accent1="accent1" accent2="accent2" accent3="accent3" accent4="accent4" accent5="accent5" accent6="accent6" hlink="hlink" folHlink="folHlink"/>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1437787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2896478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altLang="ja-JP" sz="4000" dirty="0"/>
              <a:t>2025 </a:t>
            </a:r>
            <a:r>
              <a:rPr lang="ja-JP" altLang="en-US" sz="4000"/>
              <a:t>年に </a:t>
            </a:r>
            <a:r>
              <a:rPr lang="en-US" altLang="ja-JP" sz="4000" dirty="0"/>
              <a:t>198 </a:t>
            </a:r>
            <a:r>
              <a:rPr lang="ja-JP" altLang="en-US" sz="4000"/>
              <a:t>億に到達し、その後も増加を続けて </a:t>
            </a:r>
            <a:r>
              <a:rPr lang="en-US" altLang="ja-JP" sz="4000" dirty="0"/>
              <a:t>2034 </a:t>
            </a:r>
            <a:r>
              <a:rPr lang="ja-JP" altLang="en-US" sz="4000"/>
              <a:t>年には </a:t>
            </a:r>
            <a:r>
              <a:rPr lang="en-US" altLang="ja-JP" sz="4000" dirty="0"/>
              <a:t>406 </a:t>
            </a:r>
            <a:r>
              <a:rPr lang="ja-JP" altLang="en-US" sz="4000"/>
              <a:t>億に達すると予測されています</a:t>
            </a:r>
            <a:r>
              <a:rPr lang="en-JP" sz="3600" dirty="0">
                <a:solidFill>
                  <a:schemeClr val="tx1"/>
                </a:solidFill>
                <a:latin typeface="Meiryo" panose="020B0604030504040204" pitchFamily="34" charset="-128"/>
                <a:ea typeface="Meiryo" panose="020B0604030504040204" pitchFamily="34" charset="-128"/>
              </a:rPr>
              <a:t>。</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3600" dirty="0">
                <a:solidFill>
                  <a:schemeClr val="tx1"/>
                </a:solidFill>
                <a:latin typeface="Meiryo" panose="020B0604030504040204" pitchFamily="34" charset="-128"/>
                <a:ea typeface="Meiryo" panose="020B0604030504040204" pitchFamily="34" charset="-128"/>
              </a:rPr>
              <a:t>しかし、2025年時点で、前年から平均 11.86% 増加し、世界中で 177 億件の IoT 接続があると報告されています。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a:t>
            </a:fld>
            <a:endParaRPr lang="en-JP"/>
          </a:p>
        </p:txBody>
      </p:sp>
    </p:spTree>
    <p:extLst>
      <p:ext uri="{BB962C8B-B14F-4D97-AF65-F5344CB8AC3E}">
        <p14:creationId xmlns:p14="http://schemas.microsoft.com/office/powerpoint/2010/main" val="25315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a:t>
            </a:fld>
            <a:endParaRPr lang="en-JP"/>
          </a:p>
        </p:txBody>
      </p:sp>
    </p:spTree>
    <p:extLst>
      <p:ext uri="{BB962C8B-B14F-4D97-AF65-F5344CB8AC3E}">
        <p14:creationId xmlns:p14="http://schemas.microsoft.com/office/powerpoint/2010/main" val="39757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Machine Learning（機械学習）とは、コンピュータが明確なプログラムを書かなくても、</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データや経験から自動的に学習し、パターンを見つけたり、将来の結果を予測したりする技術です。</a:t>
            </a:r>
          </a:p>
          <a:p>
            <a:r>
              <a:rPr lang="en-JP" sz="1600" dirty="0">
                <a:latin typeface="Meiryo" panose="020B0604030504040204" pitchFamily="34" charset="-128"/>
                <a:ea typeface="Meiryo" panose="020B0604030504040204" pitchFamily="34" charset="-128"/>
              </a:rPr>
              <a:t>予測ー</a:t>
            </a:r>
            <a:r>
              <a:rPr lang="ja-JP" altLang="en-US" b="0" i="0">
                <a:solidFill>
                  <a:srgbClr val="222222"/>
                </a:solidFill>
                <a:effectLst/>
                <a:latin typeface="Source Han Sans"/>
              </a:rPr>
              <a:t>よそく</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5</a:t>
            </a:fld>
            <a:endParaRPr lang="en-JP"/>
          </a:p>
        </p:txBody>
      </p:sp>
    </p:spTree>
    <p:extLst>
      <p:ext uri="{BB962C8B-B14F-4D97-AF65-F5344CB8AC3E}">
        <p14:creationId xmlns:p14="http://schemas.microsoft.com/office/powerpoint/2010/main" val="156831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中継</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ちゅうけい</a:t>
            </a:r>
            <a:r>
              <a:rPr lang="en-US" altLang="ja-JP" b="0" i="0" dirty="0">
                <a:solidFill>
                  <a:srgbClr val="222222"/>
                </a:solidFill>
                <a:effectLst/>
                <a:latin typeface="Source Han Sans"/>
              </a:rPr>
              <a:t>-center ,</a:t>
            </a:r>
            <a:r>
              <a:rPr lang="ja-JP" altLang="en-US" sz="1600">
                <a:latin typeface="Meiryo" panose="020B0604030504040204" pitchFamily="34" charset="-128"/>
                <a:ea typeface="Meiryo" panose="020B0604030504040204" pitchFamily="34" charset="-128"/>
              </a:rPr>
              <a:t>保護</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ほご</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中間</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ちゅうかん</a:t>
            </a:r>
            <a:r>
              <a:rPr lang="en-US" altLang="ja-JP" b="0" i="0" dirty="0">
                <a:solidFill>
                  <a:srgbClr val="222222"/>
                </a:solidFill>
                <a:effectLst/>
                <a:latin typeface="Source Han Sans"/>
              </a:rPr>
              <a:t>,</a:t>
            </a:r>
            <a:r>
              <a:rPr lang="ja-JP" altLang="en-US" sz="1600">
                <a:latin typeface="Meiryo" panose="020B0604030504040204" pitchFamily="34" charset="-128"/>
                <a:ea typeface="Meiryo" panose="020B0604030504040204" pitchFamily="34" charset="-128"/>
                <a:cs typeface="Times New Roman" panose="02020603050405020304" pitchFamily="18" charset="0"/>
              </a:rPr>
              <a:t>中心的</a:t>
            </a:r>
            <a:r>
              <a:rPr lang="en-US" altLang="ja-JP" sz="1600" dirty="0">
                <a:latin typeface="Meiryo" panose="020B0604030504040204" pitchFamily="34" charset="-128"/>
                <a:ea typeface="Meiryo" panose="020B0604030504040204" pitchFamily="34" charset="-128"/>
                <a:cs typeface="Times New Roman" panose="02020603050405020304" pitchFamily="18" charset="0"/>
              </a:rPr>
              <a:t>-</a:t>
            </a:r>
            <a:r>
              <a:rPr lang="ja-JP" altLang="en-US" b="0" i="0">
                <a:solidFill>
                  <a:srgbClr val="222222"/>
                </a:solidFill>
                <a:effectLst/>
                <a:latin typeface="Source Han Sans"/>
              </a:rPr>
              <a:t>ちゅうしんてき</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8</a:t>
            </a:fld>
            <a:endParaRPr lang="en-JP"/>
          </a:p>
        </p:txBody>
      </p:sp>
    </p:spTree>
    <p:extLst>
      <p:ext uri="{BB962C8B-B14F-4D97-AF65-F5344CB8AC3E}">
        <p14:creationId xmlns:p14="http://schemas.microsoft.com/office/powerpoint/2010/main" val="1924349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solidFill>
                  <a:schemeClr val="tx1"/>
                </a:solidFill>
                <a:latin typeface="Meiryo" panose="020B0604030504040204" pitchFamily="34" charset="-128"/>
                <a:ea typeface="Meiryo" panose="020B0604030504040204" pitchFamily="34" charset="-128"/>
              </a:rPr>
              <a:t>拡張-</a:t>
            </a:r>
            <a:r>
              <a:rPr lang="ja-JP" altLang="en-US" b="0" i="0">
                <a:solidFill>
                  <a:srgbClr val="222222"/>
                </a:solidFill>
                <a:effectLst/>
                <a:latin typeface="Source Han Sans"/>
              </a:rPr>
              <a:t>かくちょう</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転送</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てんそう</a:t>
            </a:r>
            <a:r>
              <a:rPr lang="en-US" altLang="ja-JP" b="0" i="0" dirty="0">
                <a:solidFill>
                  <a:srgbClr val="222222"/>
                </a:solidFill>
                <a:effectLst/>
                <a:latin typeface="Source Han Sans"/>
              </a:rPr>
              <a:t> –transfer ,</a:t>
            </a:r>
            <a:r>
              <a:rPr lang="en-JP" sz="1600" dirty="0">
                <a:solidFill>
                  <a:schemeClr val="tx1"/>
                </a:solidFill>
                <a:latin typeface="Meiryo" panose="020B0604030504040204" pitchFamily="34" charset="-128"/>
                <a:ea typeface="Meiryo" panose="020B0604030504040204" pitchFamily="34" charset="-128"/>
              </a:rPr>
              <a:t> 確保-</a:t>
            </a:r>
            <a:r>
              <a:rPr lang="ja-JP" altLang="en-US" b="0" i="0">
                <a:solidFill>
                  <a:srgbClr val="222222"/>
                </a:solidFill>
                <a:effectLst/>
                <a:latin typeface="Source Han Sans"/>
              </a:rPr>
              <a:t>かくほ</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保護</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ほご</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運用</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うんよう</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9</a:t>
            </a:fld>
            <a:endParaRPr lang="en-JP"/>
          </a:p>
        </p:txBody>
      </p:sp>
    </p:spTree>
    <p:extLst>
      <p:ext uri="{BB962C8B-B14F-4D97-AF65-F5344CB8AC3E}">
        <p14:creationId xmlns:p14="http://schemas.microsoft.com/office/powerpoint/2010/main" val="306959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10</a:t>
            </a:fld>
            <a:endParaRPr lang="en-JP"/>
          </a:p>
        </p:txBody>
      </p:sp>
    </p:spTree>
    <p:extLst>
      <p:ext uri="{BB962C8B-B14F-4D97-AF65-F5344CB8AC3E}">
        <p14:creationId xmlns:p14="http://schemas.microsoft.com/office/powerpoint/2010/main" val="3093647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latin typeface="Meiryo" panose="020B0604030504040204" pitchFamily="34" charset="-128"/>
                <a:ea typeface="Meiryo" panose="020B0604030504040204" pitchFamily="34" charset="-128"/>
              </a:rPr>
              <a:t>構築-</a:t>
            </a:r>
            <a:r>
              <a:rPr lang="ja-JP" altLang="en-US" b="0" i="0">
                <a:solidFill>
                  <a:srgbClr val="222222"/>
                </a:solidFill>
                <a:effectLst/>
                <a:latin typeface="Source Han Sans"/>
              </a:rPr>
              <a:t>こうちく</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競合-</a:t>
            </a:r>
            <a:r>
              <a:rPr lang="ja-JP" altLang="en-US" b="0" i="0">
                <a:solidFill>
                  <a:srgbClr val="222222"/>
                </a:solidFill>
                <a:effectLst/>
                <a:latin typeface="Source Han Sans"/>
              </a:rPr>
              <a:t>きょうごう</a:t>
            </a:r>
            <a:r>
              <a:rPr lang="en-US" altLang="ja-JP" b="0" i="0" dirty="0">
                <a:solidFill>
                  <a:srgbClr val="222222"/>
                </a:solidFill>
                <a:effectLst/>
                <a:latin typeface="Source Han Sans"/>
              </a:rPr>
              <a:t>, </a:t>
            </a:r>
            <a:r>
              <a:rPr lang="ja-JP" altLang="en-US" b="0" i="0">
                <a:solidFill>
                  <a:srgbClr val="252525"/>
                </a:solidFill>
                <a:effectLst/>
                <a:latin typeface="Roboto" panose="02000000000000000000" pitchFamily="2" charset="0"/>
              </a:rPr>
              <a:t>じつ うんよう</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11</a:t>
            </a:fld>
            <a:endParaRPr lang="en-JP"/>
          </a:p>
        </p:txBody>
      </p:sp>
    </p:spTree>
    <p:extLst>
      <p:ext uri="{BB962C8B-B14F-4D97-AF65-F5344CB8AC3E}">
        <p14:creationId xmlns:p14="http://schemas.microsoft.com/office/powerpoint/2010/main" val="222990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12</a:t>
            </a:fld>
            <a:endParaRPr lang="en-JP"/>
          </a:p>
        </p:txBody>
      </p:sp>
    </p:spTree>
    <p:extLst>
      <p:ext uri="{BB962C8B-B14F-4D97-AF65-F5344CB8AC3E}">
        <p14:creationId xmlns:p14="http://schemas.microsoft.com/office/powerpoint/2010/main" val="2336247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solidFill>
                  <a:schemeClr val="tx1"/>
                </a:solidFill>
                <a:latin typeface="Meiryo" panose="020B0604030504040204" pitchFamily="34" charset="-128"/>
                <a:ea typeface="Meiryo" panose="020B0604030504040204" pitchFamily="34" charset="-128"/>
              </a:rPr>
              <a:t>独自性</a:t>
            </a:r>
            <a:r>
              <a:rPr lang="en-US" altLang="ja-JP" sz="1600" dirty="0">
                <a:solidFill>
                  <a:schemeClr val="tx1"/>
                </a:solidFill>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どくじせい</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観測</a:t>
            </a:r>
            <a:r>
              <a:rPr lang="en-US" altLang="ja-JP" sz="1600" b="0" i="0" dirty="0">
                <a:solidFill>
                  <a:srgbClr val="222222"/>
                </a:solidFill>
                <a:effectLst/>
                <a:latin typeface="Source Han Sans"/>
                <a:ea typeface="Meiryo" panose="020B0604030504040204" pitchFamily="34" charset="-128"/>
              </a:rPr>
              <a:t>-</a:t>
            </a:r>
            <a:r>
              <a:rPr lang="ja-JP" altLang="en-US" sz="1600" b="0" i="0">
                <a:solidFill>
                  <a:srgbClr val="222222"/>
                </a:solidFill>
                <a:effectLst/>
                <a:latin typeface="Source Han Sans"/>
                <a:ea typeface="Meiryo" panose="020B0604030504040204" pitchFamily="34" charset="-128"/>
              </a:rPr>
              <a:t>かんそく</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13</a:t>
            </a:fld>
            <a:endParaRPr lang="en-JP"/>
          </a:p>
        </p:txBody>
      </p:sp>
    </p:spTree>
    <p:extLst>
      <p:ext uri="{BB962C8B-B14F-4D97-AF65-F5344CB8AC3E}">
        <p14:creationId xmlns:p14="http://schemas.microsoft.com/office/powerpoint/2010/main" val="4247055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2000">
                <a:latin typeface="Meiryo" panose="020B0604030504040204" pitchFamily="34" charset="-128"/>
                <a:ea typeface="Meiryo" panose="020B0604030504040204" pitchFamily="34" charset="-128"/>
              </a:rPr>
              <a:t>軽量・高速・高精度を同時に実現した </a:t>
            </a:r>
            <a:r>
              <a:rPr lang="en-US" sz="2000" dirty="0">
                <a:latin typeface="Meiryo" panose="020B0604030504040204" pitchFamily="34" charset="-128"/>
                <a:ea typeface="Meiryo" panose="020B0604030504040204" pitchFamily="34" charset="-128"/>
              </a:rPr>
              <a:t>IoT </a:t>
            </a:r>
            <a:r>
              <a:rPr lang="ja-JP" altLang="en-US" sz="2000">
                <a:latin typeface="Meiryo" panose="020B0604030504040204" pitchFamily="34" charset="-128"/>
                <a:ea typeface="Meiryo" panose="020B0604030504040204" pitchFamily="34" charset="-128"/>
              </a:rPr>
              <a:t>向けネットワーク侵入検知システムとして</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、既存研究よりも低負荷で実用性が高い点が最大の独自性である。</a:t>
            </a:r>
          </a:p>
          <a:p>
            <a:endParaRPr lang="ja-JP" altLang="en-US">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14</a:t>
            </a:fld>
            <a:endParaRPr lang="en-JP"/>
          </a:p>
        </p:txBody>
      </p:sp>
    </p:spTree>
    <p:extLst>
      <p:ext uri="{BB962C8B-B14F-4D97-AF65-F5344CB8AC3E}">
        <p14:creationId xmlns:p14="http://schemas.microsoft.com/office/powerpoint/2010/main" val="538103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15</a:t>
            </a:fld>
            <a:endParaRPr lang="en-JP"/>
          </a:p>
        </p:txBody>
      </p:sp>
    </p:spTree>
    <p:extLst>
      <p:ext uri="{BB962C8B-B14F-4D97-AF65-F5344CB8AC3E}">
        <p14:creationId xmlns:p14="http://schemas.microsoft.com/office/powerpoint/2010/main" val="3506518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Realguard IDS</a:t>
            </a:r>
            <a:r>
              <a:rPr lang="ja-JP" altLang="en-US"/>
              <a:t>は、</a:t>
            </a:r>
            <a:r>
              <a:rPr lang="en-US" dirty="0"/>
              <a:t>IoT</a:t>
            </a:r>
            <a:r>
              <a:rPr lang="ja-JP" altLang="en-US"/>
              <a:t>ゲートウェイ上で動作する軽量なネットワーク侵入検知システムであり、</a:t>
            </a:r>
            <a:endParaRPr lang="mn-MN" altLang="ja-JP" dirty="0"/>
          </a:p>
          <a:p>
            <a:r>
              <a:rPr lang="ja-JP" altLang="en-US"/>
              <a:t>本章ではそのアーキテクチャ概要、特徴量抽出方法、および攻撃検知モデルについて説明する</a:t>
            </a:r>
            <a:endParaRPr lang="mn-MN" altLang="ja-JP" dirty="0"/>
          </a:p>
          <a:p>
            <a:endParaRPr lang="mn-MN" altLang="ja-JP" dirty="0"/>
          </a:p>
          <a:p>
            <a:r>
              <a:rPr lang="ja-JP" altLang="en-US">
                <a:solidFill>
                  <a:schemeClr val="tx1"/>
                </a:solidFill>
                <a:latin typeface="Meiryo" panose="020B0604030504040204" pitchFamily="34" charset="-128"/>
                <a:ea typeface="Meiryo" panose="020B0604030504040204" pitchFamily="34" charset="-128"/>
              </a:rPr>
              <a:t>通過</a:t>
            </a:r>
            <a:r>
              <a:rPr lang="mn-MN" altLang="ja-JP" dirty="0">
                <a:solidFill>
                  <a:schemeClr val="tx1"/>
                </a:solidFill>
                <a:latin typeface="Meiryo" panose="020B0604030504040204" pitchFamily="34" charset="-128"/>
                <a:ea typeface="Meiryo" panose="020B0604030504040204" pitchFamily="34" charset="-128"/>
              </a:rPr>
              <a:t> </a:t>
            </a:r>
            <a:r>
              <a:rPr lang="ja-JP" altLang="en-US" b="0" i="0">
                <a:solidFill>
                  <a:srgbClr val="222222"/>
                </a:solidFill>
                <a:effectLst/>
                <a:latin typeface="Source Han Sans"/>
              </a:rPr>
              <a:t>つうか</a:t>
            </a:r>
            <a:r>
              <a:rPr lang="mn-MN" altLang="ja-JP" b="0" i="0" dirty="0">
                <a:solidFill>
                  <a:srgbClr val="222222"/>
                </a:solidFill>
                <a:effectLst/>
                <a:latin typeface="Source Han Sans"/>
              </a:rPr>
              <a:t> , </a:t>
            </a:r>
            <a:r>
              <a:rPr lang="ja-JP" altLang="en-US" b="0" i="0">
                <a:solidFill>
                  <a:srgbClr val="222222"/>
                </a:solidFill>
                <a:effectLst/>
                <a:latin typeface="Source Han Sans"/>
              </a:rPr>
              <a:t>後続</a:t>
            </a:r>
            <a:r>
              <a:rPr lang="mn-MN" altLang="ja-JP" b="0" i="0" dirty="0">
                <a:solidFill>
                  <a:srgbClr val="222222"/>
                </a:solidFill>
                <a:effectLst/>
                <a:latin typeface="Source Han Sans"/>
              </a:rPr>
              <a:t> </a:t>
            </a:r>
            <a:r>
              <a:rPr lang="ja-JP" altLang="en-US" b="0" i="0">
                <a:solidFill>
                  <a:srgbClr val="222222"/>
                </a:solidFill>
                <a:effectLst/>
                <a:latin typeface="Source Han Sans"/>
              </a:rPr>
              <a:t>こうぞく、原始ーげんし</a:t>
            </a:r>
            <a:endParaRPr lang="mn-MN" altLang="ja-JP" dirty="0"/>
          </a:p>
        </p:txBody>
      </p:sp>
      <p:sp>
        <p:nvSpPr>
          <p:cNvPr id="4" name="Slide Number Placeholder 3"/>
          <p:cNvSpPr>
            <a:spLocks noGrp="1"/>
          </p:cNvSpPr>
          <p:nvPr>
            <p:ph type="sldNum" sz="quarter" idx="5"/>
          </p:nvPr>
        </p:nvSpPr>
        <p:spPr/>
        <p:txBody>
          <a:bodyPr/>
          <a:lstStyle/>
          <a:p>
            <a:fld id="{5741F159-79E2-E24F-9993-34E52B426EB4}" type="slidenum">
              <a:rPr lang="en-JP" smtClean="0"/>
              <a:t>16</a:t>
            </a:fld>
            <a:endParaRPr lang="en-JP"/>
          </a:p>
        </p:txBody>
      </p:sp>
    </p:spTree>
    <p:extLst>
      <p:ext uri="{BB962C8B-B14F-4D97-AF65-F5344CB8AC3E}">
        <p14:creationId xmlns:p14="http://schemas.microsoft.com/office/powerpoint/2010/main" val="331136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solidFill>
                  <a:schemeClr val="tx1"/>
                </a:solidFill>
                <a:latin typeface="Meiryo" panose="020B0604030504040204" pitchFamily="34" charset="-128"/>
                <a:ea typeface="Meiryo" panose="020B0604030504040204" pitchFamily="34" charset="-128"/>
              </a:rPr>
              <a:t>保存ー</a:t>
            </a:r>
            <a:r>
              <a:rPr lang="ja-JP" altLang="en-US" b="0" i="0">
                <a:solidFill>
                  <a:srgbClr val="222222"/>
                </a:solidFill>
                <a:effectLst/>
                <a:latin typeface="Source Han Sans"/>
              </a:rPr>
              <a:t>ほぞん、</a:t>
            </a:r>
            <a:r>
              <a:rPr lang="ja-JP" altLang="en-US" sz="1600">
                <a:solidFill>
                  <a:schemeClr val="tx1"/>
                </a:solidFill>
                <a:latin typeface="Meiryo" panose="020B0604030504040204" pitchFamily="34" charset="-128"/>
                <a:ea typeface="Meiryo" panose="020B0604030504040204" pitchFamily="34" charset="-128"/>
              </a:rPr>
              <a:t>不審ー</a:t>
            </a:r>
            <a:r>
              <a:rPr lang="ja-JP" altLang="en-US" b="0" i="0">
                <a:solidFill>
                  <a:srgbClr val="222222"/>
                </a:solidFill>
                <a:effectLst/>
                <a:latin typeface="Source Han Sans"/>
              </a:rPr>
              <a:t>ふしん、</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17</a:t>
            </a:fld>
            <a:endParaRPr lang="en-JP"/>
          </a:p>
        </p:txBody>
      </p:sp>
    </p:spTree>
    <p:extLst>
      <p:ext uri="{BB962C8B-B14F-4D97-AF65-F5344CB8AC3E}">
        <p14:creationId xmlns:p14="http://schemas.microsoft.com/office/powerpoint/2010/main" val="4249711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LASSO</a:t>
            </a:r>
            <a:r>
              <a:rPr lang="ja-JP" altLang="en-US"/>
              <a:t>は、多くの特徴量の中から最も重要な</a:t>
            </a:r>
            <a:r>
              <a:rPr lang="en-US" altLang="ja-JP" dirty="0"/>
              <a:t>36</a:t>
            </a:r>
            <a:r>
              <a:rPr lang="ja-JP" altLang="en-US"/>
              <a:t>個を自動的に選択し、</a:t>
            </a:r>
            <a:endParaRPr lang="mn-MN" altLang="ja-JP" dirty="0"/>
          </a:p>
          <a:p>
            <a:r>
              <a:rPr lang="ja-JP" altLang="en-US"/>
              <a:t>残りの特徴量は不要とみなすアルゴリズムである。これにより、</a:t>
            </a:r>
            <a:endParaRPr lang="mn-MN" altLang="ja-JP" dirty="0"/>
          </a:p>
          <a:p>
            <a:r>
              <a:rPr lang="ja-JP" altLang="en-US"/>
              <a:t>モデルは高速かつ高精度に動作できる。</a:t>
            </a:r>
            <a:endParaRPr lang="en-US" altLang="ja-JP" dirty="0"/>
          </a:p>
          <a:p>
            <a:r>
              <a:rPr lang="ja-JP" altLang="en-US" sz="1600">
                <a:latin typeface="Meiryo" panose="020B0604030504040204" pitchFamily="34" charset="-128"/>
                <a:ea typeface="Meiryo" panose="020B0604030504040204" pitchFamily="34" charset="-128"/>
              </a:rPr>
              <a:t>到着ー</a:t>
            </a:r>
            <a:r>
              <a:rPr lang="ja-JP" altLang="en-US" b="0" i="0">
                <a:solidFill>
                  <a:srgbClr val="222222"/>
                </a:solidFill>
                <a:effectLst/>
                <a:latin typeface="Source Han Sans"/>
              </a:rPr>
              <a:t>とうちゃくー</a:t>
            </a:r>
            <a:r>
              <a:rPr lang="en-US" b="0" i="0" dirty="0">
                <a:solidFill>
                  <a:srgbClr val="222222"/>
                </a:solidFill>
                <a:effectLst/>
                <a:latin typeface="Helvetica Neue" panose="02000503000000020004" pitchFamily="2" charset="0"/>
              </a:rPr>
              <a:t>arrival</a:t>
            </a:r>
            <a:r>
              <a:rPr lang="ja-JP" altLang="en-US" b="0" i="0">
                <a:solidFill>
                  <a:srgbClr val="222222"/>
                </a:solidFill>
                <a:effectLst/>
                <a:latin typeface="Helvetica Neue" panose="02000503000000020004" pitchFamily="2" charset="0"/>
              </a:rPr>
              <a:t>　、</a:t>
            </a:r>
            <a:r>
              <a:rPr lang="ja-JP" altLang="en-US" b="0" i="0">
                <a:solidFill>
                  <a:srgbClr val="222222"/>
                </a:solidFill>
                <a:effectLst/>
                <a:latin typeface="Source Han Sans"/>
              </a:rPr>
              <a:t>すうちー</a:t>
            </a:r>
            <a:r>
              <a:rPr lang="ja-JP" altLang="en-US" sz="1600">
                <a:latin typeface="Meiryo" panose="020B0604030504040204" pitchFamily="34" charset="-128"/>
                <a:ea typeface="Meiryo" panose="020B0604030504040204" pitchFamily="34" charset="-128"/>
              </a:rPr>
              <a:t>数値、</a:t>
            </a:r>
            <a:endParaRPr lang="en-US" altLang="ja-JP" sz="1600"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19</a:t>
            </a:fld>
            <a:endParaRPr lang="en-JP"/>
          </a:p>
        </p:txBody>
      </p:sp>
    </p:spTree>
    <p:extLst>
      <p:ext uri="{BB962C8B-B14F-4D97-AF65-F5344CB8AC3E}">
        <p14:creationId xmlns:p14="http://schemas.microsoft.com/office/powerpoint/2010/main" val="1549056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主要ー</a:t>
            </a:r>
            <a:r>
              <a:rPr lang="ja-JP" altLang="en-US" b="0" i="0">
                <a:solidFill>
                  <a:srgbClr val="222222"/>
                </a:solidFill>
                <a:effectLst/>
                <a:latin typeface="Source Han Sans"/>
              </a:rPr>
              <a:t>しゅよう　</a:t>
            </a:r>
            <a:r>
              <a:rPr lang="en-JP" sz="1600" b="1" dirty="0">
                <a:latin typeface="Meiryo" panose="020B0604030504040204" pitchFamily="34" charset="-128"/>
                <a:ea typeface="Meiryo" panose="020B0604030504040204" pitchFamily="34" charset="-128"/>
              </a:rPr>
              <a:t>統計ー</a:t>
            </a:r>
            <a:r>
              <a:rPr lang="ja-JP" altLang="en-US" b="0" i="0">
                <a:solidFill>
                  <a:srgbClr val="222222"/>
                </a:solidFill>
                <a:effectLst/>
                <a:latin typeface="Source Han Sans"/>
              </a:rPr>
              <a:t>とうけい</a:t>
            </a:r>
            <a:r>
              <a:rPr lang="ja-JP" altLang="en-US" sz="1600"/>
              <a:t>。</a:t>
            </a:r>
            <a:br>
              <a:rPr lang="ja-JP" altLang="en-US" sz="1600"/>
            </a:br>
            <a:r>
              <a:rPr lang="ja-JP" altLang="en-US" sz="1600"/>
              <a:t>これにより、高速で多数のネットワーク特徴を同時に抽出することが可能になる。</a:t>
            </a:r>
            <a:r>
              <a:rPr lang="en-US" sz="1600" dirty="0">
                <a:latin typeface="Meiryo" panose="020B0604030504040204" pitchFamily="34" charset="-128"/>
                <a:ea typeface="Meiryo" panose="020B0604030504040204" pitchFamily="34" charset="-128"/>
              </a:rPr>
              <a:t>Incremental Statistics（</a:t>
            </a:r>
            <a:r>
              <a:rPr lang="ja-JP" altLang="en-US" sz="1600">
                <a:latin typeface="Meiryo" panose="020B0604030504040204" pitchFamily="34" charset="-128"/>
                <a:ea typeface="Meiryo" panose="020B0604030504040204" pitchFamily="34" charset="-128"/>
              </a:rPr>
              <a:t>増分統計）</a:t>
            </a:r>
            <a:endParaRPr lang="en-JP" sz="1600" dirty="0">
              <a:latin typeface="Meiryo" panose="020B0604030504040204" pitchFamily="34" charset="-128"/>
              <a:ea typeface="Meiryo" panose="020B0604030504040204" pitchFamily="34" charset="-128"/>
            </a:endParaRPr>
          </a:p>
          <a:p>
            <a:endParaRPr lang="en-US" altLang="ja-JP" b="0" i="0" dirty="0">
              <a:solidFill>
                <a:srgbClr val="222222"/>
              </a:solidFill>
              <a:effectLst/>
              <a:latin typeface="Source Han Sans"/>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21</a:t>
            </a:fld>
            <a:endParaRPr lang="en-JP"/>
          </a:p>
        </p:txBody>
      </p:sp>
    </p:spTree>
    <p:extLst>
      <p:ext uri="{BB962C8B-B14F-4D97-AF65-F5344CB8AC3E}">
        <p14:creationId xmlns:p14="http://schemas.microsoft.com/office/powerpoint/2010/main" val="1933527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9600" b="0" i="0">
                <a:solidFill>
                  <a:srgbClr val="222222"/>
                </a:solidFill>
                <a:effectLst/>
                <a:latin typeface="Meiryo" panose="020B0604030504040204" pitchFamily="34" charset="-128"/>
                <a:ea typeface="Meiryo" panose="020B0604030504040204" pitchFamily="34" charset="-128"/>
              </a:rPr>
              <a:t>げんすいりつ</a:t>
            </a:r>
            <a:r>
              <a:rPr lang="en-US" altLang="ja-JP" sz="9600" b="0" i="0" dirty="0">
                <a:solidFill>
                  <a:srgbClr val="222222"/>
                </a:solidFill>
                <a:effectLst/>
                <a:latin typeface="Meiryo" panose="020B0604030504040204" pitchFamily="34" charset="-128"/>
                <a:ea typeface="Meiryo" panose="020B0604030504040204" pitchFamily="34" charset="-128"/>
              </a:rPr>
              <a:t>-</a:t>
            </a:r>
            <a:r>
              <a:rPr lang="ja-JP" altLang="en-US" sz="9600" b="0">
                <a:latin typeface="Meiryo" panose="020B0604030504040204" pitchFamily="34" charset="-128"/>
                <a:ea typeface="Meiryo" panose="020B0604030504040204" pitchFamily="34" charset="-128"/>
              </a:rPr>
              <a:t>減衰率　、減衰ー</a:t>
            </a:r>
            <a:r>
              <a:rPr lang="ja-JP" altLang="en-US" sz="9600" b="0" i="0">
                <a:solidFill>
                  <a:srgbClr val="222222"/>
                </a:solidFill>
                <a:effectLst/>
                <a:latin typeface="Source Han Sans"/>
              </a:rPr>
              <a:t>げんすい、</a:t>
            </a:r>
            <a:r>
              <a:rPr lang="ja-JP" altLang="en-US" sz="9600">
                <a:latin typeface="Meiryo" panose="020B0604030504040204" pitchFamily="34" charset="-128"/>
                <a:ea typeface="Meiryo" panose="020B0604030504040204" pitchFamily="34" charset="-128"/>
              </a:rPr>
              <a:t>優先ー</a:t>
            </a:r>
            <a:r>
              <a:rPr lang="ja-JP" altLang="en-US" sz="9600" b="0" i="0">
                <a:solidFill>
                  <a:srgbClr val="222222"/>
                </a:solidFill>
                <a:effectLst/>
                <a:latin typeface="Source Han Sans"/>
              </a:rPr>
              <a:t>ゆうせん　</a:t>
            </a:r>
            <a:r>
              <a:rPr lang="en-US" altLang="ja-JP" sz="9600" b="0" i="0" dirty="0" err="1">
                <a:solidFill>
                  <a:srgbClr val="222222"/>
                </a:solidFill>
                <a:effectLst/>
                <a:latin typeface="Source Han Sans"/>
              </a:rPr>
              <a:t>dawu</a:t>
            </a:r>
            <a:r>
              <a:rPr lang="en-US" altLang="ja-JP" sz="9600" b="0" i="0" dirty="0">
                <a:solidFill>
                  <a:srgbClr val="222222"/>
                </a:solidFill>
                <a:effectLst/>
                <a:latin typeface="Source Han Sans"/>
              </a:rPr>
              <a:t> </a:t>
            </a:r>
            <a:r>
              <a:rPr lang="en-US" altLang="ja-JP" sz="9600" b="0" i="0" dirty="0" err="1">
                <a:solidFill>
                  <a:srgbClr val="222222"/>
                </a:solidFill>
                <a:effectLst/>
                <a:latin typeface="Source Han Sans"/>
              </a:rPr>
              <a:t>erh</a:t>
            </a:r>
            <a:r>
              <a:rPr lang="en-US" altLang="ja-JP" sz="9600" b="0" i="0" dirty="0">
                <a:solidFill>
                  <a:srgbClr val="222222"/>
                </a:solidFill>
                <a:effectLst/>
                <a:latin typeface="Source Han Sans"/>
              </a:rPr>
              <a:t> </a:t>
            </a:r>
            <a:endParaRPr lang="en-US" altLang="ja-JP" sz="9600" b="0" dirty="0">
              <a:latin typeface="Meiryo" panose="020B0604030504040204" pitchFamily="34" charset="-128"/>
              <a:ea typeface="Meiryo" panose="020B0604030504040204" pitchFamily="34" charset="-128"/>
            </a:endParaRPr>
          </a:p>
          <a:p>
            <a:r>
              <a:rPr lang="ja-JP" altLang="en-US" sz="9600">
                <a:solidFill>
                  <a:schemeClr val="tx1"/>
                </a:solidFill>
              </a:rPr>
              <a:t>配列</a:t>
            </a:r>
            <a:r>
              <a:rPr lang="en-US" altLang="ja-JP" sz="9600" b="0" dirty="0">
                <a:solidFill>
                  <a:schemeClr val="tx1"/>
                </a:solidFill>
                <a:latin typeface="Meiryo" panose="020B0604030504040204" pitchFamily="34" charset="-128"/>
                <a:ea typeface="Meiryo" panose="020B0604030504040204" pitchFamily="34" charset="-128"/>
              </a:rPr>
              <a:t>-</a:t>
            </a:r>
            <a:r>
              <a:rPr lang="ja-JP" altLang="en-US" sz="9600" b="0" i="0">
                <a:solidFill>
                  <a:srgbClr val="222222"/>
                </a:solidFill>
                <a:effectLst/>
                <a:latin typeface="Source Han Sans"/>
              </a:rPr>
              <a:t>はいれつ</a:t>
            </a:r>
            <a:endParaRPr lang="en-JP" sz="9600" b="0"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22</a:t>
            </a:fld>
            <a:endParaRPr lang="en-JP"/>
          </a:p>
        </p:txBody>
      </p:sp>
    </p:spTree>
    <p:extLst>
      <p:ext uri="{BB962C8B-B14F-4D97-AF65-F5344CB8AC3E}">
        <p14:creationId xmlns:p14="http://schemas.microsoft.com/office/powerpoint/2010/main" val="1790285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かんそく</a:t>
            </a:r>
            <a:r>
              <a:rPr lang="en-US" altLang="ja-JP" b="0" i="0" dirty="0">
                <a:solidFill>
                  <a:srgbClr val="222222"/>
                </a:solidFill>
                <a:effectLst/>
                <a:latin typeface="Source Han Sans"/>
              </a:rPr>
              <a:t>, </a:t>
            </a:r>
            <a:r>
              <a:rPr lang="ja-JP" altLang="en-US" b="0" i="0">
                <a:solidFill>
                  <a:srgbClr val="222222"/>
                </a:solidFill>
                <a:effectLst/>
                <a:latin typeface="Source Han Sans"/>
              </a:rPr>
              <a:t>はいれつ</a:t>
            </a:r>
            <a:r>
              <a:rPr lang="ja-JP" altLang="en-US" sz="1600" b="1">
                <a:latin typeface="Meiryo" panose="020B0604030504040204" pitchFamily="34" charset="-128"/>
                <a:ea typeface="Meiryo" panose="020B0604030504040204" pitchFamily="34" charset="-128"/>
              </a:rPr>
              <a:t>配列</a:t>
            </a:r>
            <a:r>
              <a:rPr lang="en-US" altLang="ja-JP" sz="1600" b="1" dirty="0">
                <a:latin typeface="Meiryo" panose="020B0604030504040204" pitchFamily="34" charset="-128"/>
                <a:ea typeface="Meiryo" panose="020B0604030504040204" pitchFamily="34" charset="-128"/>
              </a:rPr>
              <a:t> </a:t>
            </a:r>
          </a:p>
          <a:p>
            <a:r>
              <a:rPr lang="ja-JP" altLang="en-US" b="0" i="0">
                <a:solidFill>
                  <a:srgbClr val="222222"/>
                </a:solidFill>
                <a:effectLst/>
                <a:latin typeface="Source Han Sans"/>
              </a:rPr>
              <a:t>公式</a:t>
            </a:r>
            <a:r>
              <a:rPr lang="en-US" altLang="ja-JP" sz="1600" b="1" i="0" dirty="0">
                <a:solidFill>
                  <a:srgbClr val="222222"/>
                </a:solidFill>
                <a:effectLst/>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こうしき</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23</a:t>
            </a:fld>
            <a:endParaRPr lang="en-JP"/>
          </a:p>
        </p:txBody>
      </p:sp>
    </p:spTree>
    <p:extLst>
      <p:ext uri="{BB962C8B-B14F-4D97-AF65-F5344CB8AC3E}">
        <p14:creationId xmlns:p14="http://schemas.microsoft.com/office/powerpoint/2010/main" val="3880604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加算</a:t>
            </a:r>
            <a:r>
              <a:rPr lang="en-US" altLang="ja-JP" sz="1600" dirty="0">
                <a:latin typeface="Meiryo" panose="020B0604030504040204" pitchFamily="34" charset="-128"/>
                <a:ea typeface="Meiryo" panose="020B0604030504040204" pitchFamily="34" charset="-128"/>
              </a:rPr>
              <a:t>-</a:t>
            </a:r>
            <a:r>
              <a:rPr lang="en-US" altLang="ja-JP" sz="1600" dirty="0" err="1">
                <a:latin typeface="Meiryo" panose="020B0604030504040204" pitchFamily="34" charset="-128"/>
                <a:ea typeface="Meiryo" panose="020B0604030504040204" pitchFamily="34" charset="-128"/>
              </a:rPr>
              <a:t>kansan</a:t>
            </a:r>
            <a:r>
              <a:rPr lang="en-US" altLang="ja-JP" sz="16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減衰</a:t>
            </a:r>
            <a:r>
              <a:rPr lang="en-US" altLang="ja-JP" sz="20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げんすい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24</a:t>
            </a:fld>
            <a:endParaRPr lang="en-JP"/>
          </a:p>
        </p:txBody>
      </p:sp>
    </p:spTree>
    <p:extLst>
      <p:ext uri="{BB962C8B-B14F-4D97-AF65-F5344CB8AC3E}">
        <p14:creationId xmlns:p14="http://schemas.microsoft.com/office/powerpoint/2010/main" val="2008616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初期値（しょきち</a:t>
            </a:r>
            <a:r>
              <a:rPr lang="en-US" altLang="ja-JP" dirty="0"/>
              <a:t>, </a:t>
            </a:r>
            <a:r>
              <a:rPr lang="en-US" dirty="0" err="1"/>
              <a:t>Shokichi</a:t>
            </a:r>
            <a:r>
              <a:rPr lang="en-US" dirty="0"/>
              <a:t>）</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25</a:t>
            </a:fld>
            <a:endParaRPr lang="en-JP"/>
          </a:p>
        </p:txBody>
      </p:sp>
    </p:spTree>
    <p:extLst>
      <p:ext uri="{BB962C8B-B14F-4D97-AF65-F5344CB8AC3E}">
        <p14:creationId xmlns:p14="http://schemas.microsoft.com/office/powerpoint/2010/main" val="3307519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即時</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そくじ</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realtime</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最小限</a:t>
            </a:r>
            <a:r>
              <a:rPr lang="en-US" altLang="ja-JP" sz="1600" b="0" i="0" dirty="0">
                <a:solidFill>
                  <a:srgbClr val="222222"/>
                </a:solidFill>
                <a:effectLst/>
                <a:latin typeface="Source Han Sans"/>
                <a:ea typeface="Meiryo" panose="020B0604030504040204" pitchFamily="34" charset="-128"/>
              </a:rPr>
              <a:t>-</a:t>
            </a:r>
          </a:p>
          <a:p>
            <a:r>
              <a:rPr lang="ja-JP" altLang="en-US" sz="1600" b="0">
                <a:solidFill>
                  <a:srgbClr val="C00000"/>
                </a:solidFill>
                <a:latin typeface="Meiryo" panose="020B0604030504040204" pitchFamily="34" charset="-128"/>
                <a:ea typeface="Meiryo" panose="020B0604030504040204" pitchFamily="34" charset="-128"/>
              </a:rPr>
              <a:t>減衰</a:t>
            </a:r>
            <a:r>
              <a:rPr lang="en-US" altLang="ja-JP" sz="1600" b="0" i="0" dirty="0">
                <a:solidFill>
                  <a:srgbClr val="222222"/>
                </a:solidFill>
                <a:effectLst/>
                <a:latin typeface="Source Han Sans"/>
                <a:ea typeface="Meiryo" panose="020B0604030504040204" pitchFamily="34" charset="-128"/>
              </a:rPr>
              <a:t>-</a:t>
            </a:r>
          </a:p>
          <a:p>
            <a:r>
              <a:rPr lang="ja-JP" altLang="en-US" sz="1600">
                <a:latin typeface="Meiryo" panose="020B0604030504040204" pitchFamily="34" charset="-128"/>
                <a:ea typeface="Meiryo" panose="020B0604030504040204" pitchFamily="34" charset="-128"/>
              </a:rPr>
              <a:t>重み</a:t>
            </a:r>
            <a:r>
              <a:rPr lang="en-US" altLang="ja-JP" sz="1600" b="0" i="0" dirty="0">
                <a:solidFill>
                  <a:srgbClr val="222222"/>
                </a:solidFill>
                <a:effectLst/>
                <a:latin typeface="Source Han Sans"/>
                <a:ea typeface="Meiryo" panose="020B0604030504040204" pitchFamily="34" charset="-128"/>
              </a:rPr>
              <a:t>- </a:t>
            </a:r>
          </a:p>
          <a:p>
            <a:r>
              <a:rPr lang="ja-JP" altLang="en-US" sz="1600">
                <a:latin typeface="Meiryo" panose="020B0604030504040204" pitchFamily="34" charset="-128"/>
                <a:ea typeface="Meiryo" panose="020B0604030504040204" pitchFamily="34" charset="-128"/>
              </a:rPr>
              <a:t>減らし</a:t>
            </a:r>
            <a:endParaRPr lang="en-US" altLang="ja-JP" sz="1600" b="0" i="0" dirty="0">
              <a:solidFill>
                <a:srgbClr val="222222"/>
              </a:solidFill>
              <a:effectLst/>
              <a:latin typeface="Source Han Sans"/>
              <a:ea typeface="Meiryo" panose="020B0604030504040204" pitchFamily="34" charset="-128"/>
            </a:endParaRP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27</a:t>
            </a:fld>
            <a:endParaRPr lang="en-JP"/>
          </a:p>
        </p:txBody>
      </p:sp>
    </p:spTree>
    <p:extLst>
      <p:ext uri="{BB962C8B-B14F-4D97-AF65-F5344CB8AC3E}">
        <p14:creationId xmlns:p14="http://schemas.microsoft.com/office/powerpoint/2010/main" val="1222246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28</a:t>
            </a:fld>
            <a:endParaRPr lang="en-JP"/>
          </a:p>
        </p:txBody>
      </p:sp>
    </p:spTree>
    <p:extLst>
      <p:ext uri="{BB962C8B-B14F-4D97-AF65-F5344CB8AC3E}">
        <p14:creationId xmlns:p14="http://schemas.microsoft.com/office/powerpoint/2010/main" val="1167288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dirty="0" err="1"/>
              <a:t>Keras</a:t>
            </a:r>
            <a:r>
              <a:rPr lang="en-US" dirty="0"/>
              <a:t> 2.4.3 </a:t>
            </a:r>
            <a:r>
              <a:rPr lang="ja-JP" altLang="en-US"/>
              <a:t>と </a:t>
            </a:r>
            <a:r>
              <a:rPr lang="en-US" dirty="0" err="1"/>
              <a:t>Tensorflow</a:t>
            </a:r>
            <a:r>
              <a:rPr lang="en-US" dirty="0"/>
              <a:t> 2.4.0 </a:t>
            </a:r>
            <a:r>
              <a:rPr lang="ja-JP" altLang="en-US"/>
              <a:t>をインストール → 攻撃検出モデルを実行</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30</a:t>
            </a:fld>
            <a:endParaRPr lang="en-JP"/>
          </a:p>
        </p:txBody>
      </p:sp>
    </p:spTree>
    <p:extLst>
      <p:ext uri="{BB962C8B-B14F-4D97-AF65-F5344CB8AC3E}">
        <p14:creationId xmlns:p14="http://schemas.microsoft.com/office/powerpoint/2010/main" val="2209222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2400"/>
              <a:t>これは、</a:t>
            </a:r>
            <a:r>
              <a:rPr lang="en-US" sz="2400" dirty="0"/>
              <a:t>Realguard</a:t>
            </a:r>
            <a:r>
              <a:rPr lang="ja-JP" altLang="en-US" sz="2400"/>
              <a:t>システムが攻撃を含むネットワークトラフィックを高い精度で検出できることを示している。これは、提案する攻撃検知モデルの利点である。</a:t>
            </a:r>
            <a:endParaRPr lang="en-JP" sz="2400" dirty="0"/>
          </a:p>
        </p:txBody>
      </p:sp>
      <p:sp>
        <p:nvSpPr>
          <p:cNvPr id="4" name="Slide Number Placeholder 3"/>
          <p:cNvSpPr>
            <a:spLocks noGrp="1"/>
          </p:cNvSpPr>
          <p:nvPr>
            <p:ph type="sldNum" sz="quarter" idx="5"/>
          </p:nvPr>
        </p:nvSpPr>
        <p:spPr/>
        <p:txBody>
          <a:bodyPr/>
          <a:lstStyle/>
          <a:p>
            <a:fld id="{5741F159-79E2-E24F-9993-34E52B426EB4}" type="slidenum">
              <a:rPr lang="en-JP" smtClean="0"/>
              <a:t>31</a:t>
            </a:fld>
            <a:endParaRPr lang="en-JP"/>
          </a:p>
        </p:txBody>
      </p:sp>
    </p:spTree>
    <p:extLst>
      <p:ext uri="{BB962C8B-B14F-4D97-AF65-F5344CB8AC3E}">
        <p14:creationId xmlns:p14="http://schemas.microsoft.com/office/powerpoint/2010/main" val="331250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TPR:</a:t>
            </a:r>
            <a:r>
              <a:rPr lang="en-US" dirty="0"/>
              <a:t> </a:t>
            </a:r>
            <a:r>
              <a:rPr lang="mn-MN" dirty="0"/>
              <a:t>Систем зөв ажилласан тохиолдол (</a:t>
            </a:r>
            <a:r>
              <a:rPr lang="en-US" dirty="0"/>
              <a:t>correct detection)</a:t>
            </a:r>
            <a:r>
              <a:rPr lang="mn-MN" dirty="0"/>
              <a:t> </a:t>
            </a:r>
            <a:r>
              <a:rPr lang="en-US" b="1" dirty="0"/>
              <a:t>TN:</a:t>
            </a:r>
            <a:r>
              <a:rPr lang="en-US" dirty="0"/>
              <a:t> </a:t>
            </a:r>
            <a:r>
              <a:rPr lang="mn-MN" dirty="0"/>
              <a:t>Халдлага бишийг зөв “аюулгүй” гэж үнэлсэн </a:t>
            </a:r>
            <a:r>
              <a:rPr lang="en-US" b="1" dirty="0"/>
              <a:t>FP:</a:t>
            </a:r>
            <a:r>
              <a:rPr lang="en-US" dirty="0"/>
              <a:t> </a:t>
            </a:r>
            <a:r>
              <a:rPr lang="mn-MN" dirty="0"/>
              <a:t>Систем “</a:t>
            </a:r>
            <a:r>
              <a:rPr lang="en-US" dirty="0"/>
              <a:t>false alarm” </a:t>
            </a:r>
            <a:r>
              <a:rPr lang="mn-MN" dirty="0"/>
              <a:t>гаргасан</a:t>
            </a:r>
          </a:p>
          <a:p>
            <a:r>
              <a:rPr lang="en-US" b="1" dirty="0"/>
              <a:t>FN:</a:t>
            </a:r>
            <a:r>
              <a:rPr lang="en-US" dirty="0"/>
              <a:t> </a:t>
            </a:r>
            <a:r>
              <a:rPr lang="mn-MN" dirty="0"/>
              <a:t>Систем халдлагыг өнгөрөөсөн, илрүүлээгүй</a:t>
            </a:r>
          </a:p>
          <a:p>
            <a:r>
              <a:rPr lang="en-US" dirty="0"/>
              <a:t>Accuracy </a:t>
            </a:r>
            <a:r>
              <a:rPr lang="ja-JP" altLang="en-US"/>
              <a:t>は、正しく分類されたすべてのケースの割合、つまりシステムが正しく動作した総ケースに対する比率である。</a:t>
            </a:r>
            <a:endParaRPr lang="mn-MN" dirty="0"/>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32</a:t>
            </a:fld>
            <a:endParaRPr lang="en-JP"/>
          </a:p>
        </p:txBody>
      </p:sp>
    </p:spTree>
    <p:extLst>
      <p:ext uri="{BB962C8B-B14F-4D97-AF65-F5344CB8AC3E}">
        <p14:creationId xmlns:p14="http://schemas.microsoft.com/office/powerpoint/2010/main" val="2199819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err="1"/>
              <a:t>Mlbasedids</a:t>
            </a:r>
            <a:r>
              <a:rPr lang="ja-JP" altLang="en-US"/>
              <a:t>の</a:t>
            </a:r>
            <a:r>
              <a:rPr lang="en-JP" dirty="0"/>
              <a:t>精度</a:t>
            </a:r>
            <a:r>
              <a:rPr lang="ja-JP" altLang="en-US"/>
              <a:t>　　</a:t>
            </a:r>
            <a:r>
              <a:rPr lang="en-US" sz="1600"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1600">
                <a:latin typeface="Meiryo" panose="020B0604030504040204" pitchFamily="34" charset="-128"/>
                <a:ea typeface="Meiryo" panose="020B0604030504040204" pitchFamily="34" charset="-128"/>
                <a:cs typeface="Times New Roman" panose="02020603050405020304" pitchFamily="18" charset="0"/>
              </a:rPr>
              <a:t>ベースの</a:t>
            </a:r>
            <a:r>
              <a:rPr lang="en-US" sz="1600" dirty="0" err="1">
                <a:latin typeface="Meiryo" panose="020B0604030504040204" pitchFamily="34" charset="-128"/>
                <a:ea typeface="Meiryo" panose="020B0604030504040204" pitchFamily="34" charset="-128"/>
                <a:cs typeface="Times New Roman" panose="02020603050405020304" pitchFamily="18" charset="0"/>
              </a:rPr>
              <a:t>IDSの精度比較</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35</a:t>
            </a:fld>
            <a:endParaRPr lang="en-JP"/>
          </a:p>
        </p:txBody>
      </p:sp>
    </p:spTree>
    <p:extLst>
      <p:ext uri="{BB962C8B-B14F-4D97-AF65-F5344CB8AC3E}">
        <p14:creationId xmlns:p14="http://schemas.microsoft.com/office/powerpoint/2010/main" val="1547898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37</a:t>
            </a:fld>
            <a:endParaRPr lang="en-JP"/>
          </a:p>
        </p:txBody>
      </p:sp>
    </p:spTree>
    <p:extLst>
      <p:ext uri="{BB962C8B-B14F-4D97-AF65-F5344CB8AC3E}">
        <p14:creationId xmlns:p14="http://schemas.microsoft.com/office/powerpoint/2010/main" val="38273955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速度</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そくど</a:t>
            </a:r>
            <a:r>
              <a:rPr lang="en-US" altLang="ja-JP" b="0" i="0" dirty="0">
                <a:solidFill>
                  <a:srgbClr val="222222"/>
                </a:solidFill>
                <a:effectLst/>
                <a:latin typeface="Source Han Sans"/>
              </a:rPr>
              <a:t>-speed ,</a:t>
            </a:r>
            <a:r>
              <a:rPr lang="ja-JP" altLang="en-US" sz="1600">
                <a:latin typeface="Meiryo" panose="020B0604030504040204" pitchFamily="34" charset="-128"/>
                <a:ea typeface="Meiryo" panose="020B0604030504040204" pitchFamily="34" charset="-128"/>
              </a:rPr>
              <a:t>消費量</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しょうひりょう</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競合</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きょうごう</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orsoldoon</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38</a:t>
            </a:fld>
            <a:endParaRPr lang="en-JP"/>
          </a:p>
        </p:txBody>
      </p:sp>
    </p:spTree>
    <p:extLst>
      <p:ext uri="{BB962C8B-B14F-4D97-AF65-F5344CB8AC3E}">
        <p14:creationId xmlns:p14="http://schemas.microsoft.com/office/powerpoint/2010/main" val="3116636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39</a:t>
            </a:fld>
            <a:endParaRPr lang="en-JP"/>
          </a:p>
        </p:txBody>
      </p:sp>
    </p:spTree>
    <p:extLst>
      <p:ext uri="{BB962C8B-B14F-4D97-AF65-F5344CB8AC3E}">
        <p14:creationId xmlns:p14="http://schemas.microsoft.com/office/powerpoint/2010/main" val="2489557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eiryo" panose="020B0604030504040204" pitchFamily="34" charset="-128"/>
                <a:ea typeface="Meiryo" panose="020B0604030504040204" pitchFamily="34" charset="-128"/>
                <a:cs typeface="Times New Roman" panose="02020603050405020304" pitchFamily="18" charset="0"/>
              </a:rPr>
              <a:t>増分統計</a:t>
            </a:r>
            <a:r>
              <a:rPr lang="en-US" altLang="ja-JP" dirty="0">
                <a:latin typeface="Meiryo" panose="020B0604030504040204" pitchFamily="34" charset="-128"/>
                <a:ea typeface="Meiryo" panose="020B0604030504040204" pitchFamily="34" charset="-128"/>
                <a:cs typeface="Times New Roman" panose="02020603050405020304" pitchFamily="18" charset="0"/>
              </a:rPr>
              <a:t>-</a:t>
            </a:r>
            <a:r>
              <a:rPr lang="ja-JP" altLang="en-US" b="0" i="0">
                <a:solidFill>
                  <a:srgbClr val="222222"/>
                </a:solidFill>
                <a:effectLst/>
                <a:latin typeface="Source Han Sans"/>
              </a:rPr>
              <a:t>ぞうぶん</a:t>
            </a:r>
            <a:r>
              <a:rPr lang="en-US" altLang="ja-JP" b="0" i="0" dirty="0">
                <a:solidFill>
                  <a:srgbClr val="222222"/>
                </a:solidFill>
                <a:effectLst/>
                <a:latin typeface="Source Han Sans"/>
              </a:rPr>
              <a:t> </a:t>
            </a:r>
            <a:r>
              <a:rPr lang="ja-JP" altLang="en-US" b="0" i="0">
                <a:solidFill>
                  <a:srgbClr val="222222"/>
                </a:solidFill>
                <a:effectLst/>
                <a:latin typeface="Source Han Sans"/>
              </a:rPr>
              <a:t>とうけい</a:t>
            </a:r>
            <a:r>
              <a:rPr lang="en-US" altLang="ja-JP" b="0" i="0" dirty="0">
                <a:solidFill>
                  <a:srgbClr val="222222"/>
                </a:solidFill>
                <a:effectLst/>
                <a:latin typeface="Source Han Sans"/>
              </a:rPr>
              <a:t>,</a:t>
            </a:r>
            <a:r>
              <a:rPr lang="ja-JP" altLang="en-US">
                <a:latin typeface="Meiryo" panose="020B0604030504040204" pitchFamily="34" charset="-128"/>
                <a:ea typeface="Meiryo" panose="020B0604030504040204" pitchFamily="34" charset="-128"/>
                <a:cs typeface="Times New Roman" panose="02020603050405020304" pitchFamily="18" charset="0"/>
              </a:rPr>
              <a:t>活かし</a:t>
            </a:r>
            <a:r>
              <a:rPr lang="en-US" altLang="ja-JP" dirty="0">
                <a:latin typeface="Meiryo" panose="020B0604030504040204" pitchFamily="34" charset="-128"/>
                <a:ea typeface="Meiryo" panose="020B0604030504040204" pitchFamily="34" charset="-128"/>
                <a:cs typeface="Times New Roman" panose="02020603050405020304" pitchFamily="18" charset="0"/>
              </a:rPr>
              <a:t>-</a:t>
            </a:r>
            <a:r>
              <a:rPr lang="ja-JP" altLang="en-US">
                <a:latin typeface="Meiryo" panose="020B0604030504040204" pitchFamily="34" charset="-128"/>
                <a:ea typeface="Meiryo" panose="020B0604030504040204" pitchFamily="34" charset="-128"/>
                <a:cs typeface="Times New Roman" panose="02020603050405020304" pitchFamily="18" charset="0"/>
              </a:rPr>
              <a:t>いかす</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40</a:t>
            </a:fld>
            <a:endParaRPr lang="en-JP"/>
          </a:p>
        </p:txBody>
      </p:sp>
    </p:spTree>
    <p:extLst>
      <p:ext uri="{BB962C8B-B14F-4D97-AF65-F5344CB8AC3E}">
        <p14:creationId xmlns:p14="http://schemas.microsoft.com/office/powerpoint/2010/main" val="1463441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endParaRPr lang="en-US" altLang="ja-JP" sz="1600" dirty="0">
              <a:solidFill>
                <a:srgbClr val="000000"/>
              </a:solidFill>
              <a:latin typeface="Meiryo" panose="020B0604030504040204" pitchFamily="34" charset="-128"/>
              <a:ea typeface="Meiryo" panose="020B0604030504040204" pitchFamily="34" charset="-128"/>
            </a:endParaRPr>
          </a:p>
          <a:p>
            <a:pPr marL="0" marR="0" lvl="0" indent="0" algn="l" defTabSz="1097280" rtl="0" eaLnBrk="1" fontAlgn="auto" latinLnBrk="0" hangingPunct="1">
              <a:lnSpc>
                <a:spcPct val="100000"/>
              </a:lnSpc>
              <a:spcBef>
                <a:spcPts val="0"/>
              </a:spcBef>
              <a:spcAft>
                <a:spcPts val="0"/>
              </a:spcAft>
              <a:buClrTx/>
              <a:buSzTx/>
              <a:buFontTx/>
              <a:buNone/>
              <a:tabLst/>
              <a:defRPr/>
            </a:pPr>
            <a:r>
              <a:rPr lang="ja-JP" altLang="en-US" sz="1800">
                <a:solidFill>
                  <a:srgbClr val="212121"/>
                </a:solidFill>
                <a:effectLst/>
                <a:latin typeface="MS"/>
              </a:rPr>
              <a:t>自身の研究では，</a:t>
            </a:r>
            <a:r>
              <a:rPr lang="en-US" sz="1800" dirty="0">
                <a:solidFill>
                  <a:srgbClr val="212121"/>
                </a:solidFill>
                <a:effectLst/>
                <a:latin typeface="MS"/>
              </a:rPr>
              <a:t>CoAP/DTLS </a:t>
            </a:r>
            <a:r>
              <a:rPr lang="ja-JP" altLang="en-US" sz="1800">
                <a:solidFill>
                  <a:srgbClr val="212121"/>
                </a:solidFill>
                <a:effectLst/>
                <a:latin typeface="MS"/>
              </a:rPr>
              <a:t>による </a:t>
            </a:r>
            <a:r>
              <a:rPr lang="en-US" sz="1800" dirty="0">
                <a:solidFill>
                  <a:srgbClr val="212121"/>
                </a:solidFill>
                <a:effectLst/>
                <a:latin typeface="MS"/>
              </a:rPr>
              <a:t>IoT </a:t>
            </a:r>
            <a:r>
              <a:rPr lang="ja-JP" altLang="en-US" sz="1800">
                <a:solidFill>
                  <a:srgbClr val="212121"/>
                </a:solidFill>
                <a:effectLst/>
                <a:latin typeface="MS"/>
              </a:rPr>
              <a:t>通信を対象とし，</a:t>
            </a:r>
            <a:r>
              <a:rPr lang="en-US" sz="1800" dirty="0">
                <a:solidFill>
                  <a:srgbClr val="212121"/>
                </a:solidFill>
                <a:effectLst/>
                <a:latin typeface="MS"/>
              </a:rPr>
              <a:t>UDP </a:t>
            </a:r>
            <a:r>
              <a:rPr lang="ja-JP" altLang="en-US" sz="1800">
                <a:solidFill>
                  <a:srgbClr val="212121"/>
                </a:solidFill>
                <a:effectLst/>
                <a:latin typeface="MS"/>
              </a:rPr>
              <a:t>プロト コルの軽量なハンドシェイクや再送制御を悪用する攻撃を想定して，</a:t>
            </a:r>
            <a:r>
              <a:rPr lang="en-US" sz="1800" dirty="0">
                <a:solidFill>
                  <a:srgbClr val="212121"/>
                </a:solidFill>
                <a:effectLst/>
                <a:latin typeface="MS"/>
              </a:rPr>
              <a:t>CoAP/DTLS </a:t>
            </a:r>
            <a:r>
              <a:rPr lang="ja-JP" altLang="en-US" sz="1800">
                <a:solidFill>
                  <a:srgbClr val="212121"/>
                </a:solidFill>
                <a:effectLst/>
                <a:latin typeface="MS"/>
              </a:rPr>
              <a:t>に特化した機械 学習ベース</a:t>
            </a:r>
            <a:r>
              <a:rPr lang="en-US" sz="1800" dirty="0">
                <a:solidFill>
                  <a:srgbClr val="212121"/>
                </a:solidFill>
                <a:effectLst/>
                <a:latin typeface="MS"/>
              </a:rPr>
              <a:t>IDS</a:t>
            </a:r>
            <a:r>
              <a:rPr lang="ja-JP" altLang="en-US" sz="1800">
                <a:solidFill>
                  <a:srgbClr val="212121"/>
                </a:solidFill>
                <a:effectLst/>
                <a:latin typeface="MS"/>
              </a:rPr>
              <a:t>に取り組んでいる</a:t>
            </a:r>
            <a:r>
              <a:rPr lang="en-US" altLang="ja-JP" sz="1800" dirty="0">
                <a:solidFill>
                  <a:srgbClr val="212121"/>
                </a:solidFill>
                <a:effectLst/>
                <a:latin typeface="MS"/>
              </a:rPr>
              <a:t>.</a:t>
            </a:r>
            <a:r>
              <a:rPr lang="en-US" sz="1800" dirty="0">
                <a:solidFill>
                  <a:srgbClr val="212121"/>
                </a:solidFill>
                <a:effectLst/>
                <a:latin typeface="MS"/>
              </a:rPr>
              <a:t>Realguard</a:t>
            </a:r>
            <a:r>
              <a:rPr lang="ja-JP" altLang="en-US" sz="1800">
                <a:solidFill>
                  <a:srgbClr val="212121"/>
                </a:solidFill>
                <a:effectLst/>
                <a:latin typeface="MS"/>
              </a:rPr>
              <a:t>のシステムアーキテクチャや軽量な機械学習ベー スの </a:t>
            </a:r>
            <a:r>
              <a:rPr lang="en-US" sz="1800" dirty="0">
                <a:solidFill>
                  <a:srgbClr val="212121"/>
                </a:solidFill>
                <a:effectLst/>
                <a:latin typeface="MS"/>
              </a:rPr>
              <a:t>IDS </a:t>
            </a:r>
            <a:r>
              <a:rPr lang="ja-JP" altLang="en-US" sz="1800">
                <a:solidFill>
                  <a:srgbClr val="212121"/>
                </a:solidFill>
                <a:effectLst/>
                <a:latin typeface="MS"/>
              </a:rPr>
              <a:t>を参考にする</a:t>
            </a:r>
            <a:r>
              <a:rPr lang="en-US" altLang="ja-JP" sz="1800" dirty="0">
                <a:solidFill>
                  <a:srgbClr val="212121"/>
                </a:solidFill>
                <a:effectLst/>
                <a:latin typeface="MS"/>
              </a:rPr>
              <a:t>. </a:t>
            </a:r>
            <a:endParaRPr lang="ja-JP" altLang="en-US" sz="2000"/>
          </a:p>
          <a:p>
            <a:pPr marL="0" marR="0" lvl="0" indent="0" algn="l" defTabSz="1097280" rtl="0" eaLnBrk="1" fontAlgn="auto" latinLnBrk="0" hangingPunct="1">
              <a:lnSpc>
                <a:spcPct val="100000"/>
              </a:lnSpc>
              <a:spcBef>
                <a:spcPts val="0"/>
              </a:spcBef>
              <a:spcAft>
                <a:spcPts val="0"/>
              </a:spcAft>
              <a:buClrTx/>
              <a:buSzTx/>
              <a:buFontTx/>
              <a:buNone/>
              <a:tabLst/>
              <a:defRPr/>
            </a:pPr>
            <a:endParaRPr lang="en-US" altLang="ja-JP" sz="1600" dirty="0">
              <a:solidFill>
                <a:srgbClr val="000000"/>
              </a:solidFill>
              <a:latin typeface="Meiryo" panose="020B0604030504040204" pitchFamily="34" charset="-128"/>
              <a:ea typeface="Meiryo" panose="020B0604030504040204" pitchFamily="34" charset="-128"/>
            </a:endParaRPr>
          </a:p>
          <a:p>
            <a:pPr marL="0" marR="0" lvl="0" indent="0" algn="l" defTabSz="1097280" rtl="0" eaLnBrk="1" fontAlgn="auto" latinLnBrk="0" hangingPunct="1">
              <a:lnSpc>
                <a:spcPct val="100000"/>
              </a:lnSpc>
              <a:spcBef>
                <a:spcPts val="0"/>
              </a:spcBef>
              <a:spcAft>
                <a:spcPts val="0"/>
              </a:spcAft>
              <a:buClrTx/>
              <a:buSzTx/>
              <a:buFontTx/>
              <a:buNone/>
              <a:tabLst/>
              <a:defRPr/>
            </a:pPr>
            <a:r>
              <a:rPr lang="ja-JP" altLang="en-US" sz="1600">
                <a:solidFill>
                  <a:srgbClr val="000000"/>
                </a:solidFill>
                <a:latin typeface="Meiryo" panose="020B0604030504040204" pitchFamily="34" charset="-128"/>
                <a:ea typeface="Meiryo" panose="020B0604030504040204" pitchFamily="34" charset="-128"/>
              </a:rPr>
              <a:t>正常／悪意のあるトラフィックを区別するために、軽量な機械学習手法を用いて</a:t>
            </a:r>
            <a:r>
              <a:rPr lang="en-US" sz="1600" dirty="0">
                <a:solidFill>
                  <a:srgbClr val="000000"/>
                </a:solidFill>
                <a:latin typeface="Meiryo" panose="020B0604030504040204" pitchFamily="34" charset="-128"/>
                <a:ea typeface="Meiryo" panose="020B0604030504040204" pitchFamily="34" charset="-128"/>
              </a:rPr>
              <a:t>IDS</a:t>
            </a:r>
            <a:r>
              <a:rPr lang="ja-JP" altLang="en-US" sz="1600">
                <a:solidFill>
                  <a:srgbClr val="000000"/>
                </a:solidFill>
                <a:latin typeface="Meiryo" panose="020B0604030504040204" pitchFamily="34" charset="-128"/>
                <a:ea typeface="Meiryo" panose="020B0604030504040204" pitchFamily="34" charset="-128"/>
              </a:rPr>
              <a:t>を開発・実装することを考えております。</a:t>
            </a:r>
            <a:endParaRPr lang="en-JP" sz="1600" dirty="0">
              <a:latin typeface="Meiryo" panose="020B0604030504040204" pitchFamily="34" charset="-128"/>
              <a:ea typeface="Meiryo" panose="020B0604030504040204" pitchFamily="34" charset="-128"/>
            </a:endParaRPr>
          </a:p>
          <a:p>
            <a:r>
              <a:rPr lang="en-US" sz="1800" b="0" i="0" u="none" strike="noStrike" dirty="0">
                <a:solidFill>
                  <a:srgbClr val="000000"/>
                </a:solidFill>
                <a:effectLst/>
                <a:latin typeface="Times New Roman" panose="02020603050405020304" pitchFamily="18" charset="0"/>
              </a:rPr>
              <a:t>IoT</a:t>
            </a:r>
            <a:r>
              <a:rPr lang="ja-JP" altLang="en-US" sz="1800" b="0" i="0" u="none" strike="noStrike">
                <a:solidFill>
                  <a:srgbClr val="000000"/>
                </a:solidFill>
                <a:effectLst/>
                <a:latin typeface="Times New Roman" panose="02020603050405020304" pitchFamily="18" charset="0"/>
              </a:rPr>
              <a:t>環境における二層セキュリティアーキテクチャの研究開発環境。</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第一層で機械学習ベースの</a:t>
            </a:r>
            <a:r>
              <a:rPr lang="en-US" sz="1800" b="0" i="0" u="none" strike="noStrike" dirty="0">
                <a:solidFill>
                  <a:srgbClr val="000000"/>
                </a:solidFill>
                <a:effectLst/>
                <a:latin typeface="Times New Roman" panose="02020603050405020304" pitchFamily="18" charset="0"/>
              </a:rPr>
              <a:t>IDS</a:t>
            </a:r>
            <a:r>
              <a:rPr lang="ja-JP" altLang="en-US" sz="1800" b="0" i="0" u="none" strike="noStrike">
                <a:solidFill>
                  <a:srgbClr val="000000"/>
                </a:solidFill>
                <a:effectLst/>
                <a:latin typeface="Times New Roman" panose="02020603050405020304" pitchFamily="18" charset="0"/>
              </a:rPr>
              <a:t>が全トラフィックを分析し攻撃を検知・遮断</a:t>
            </a:r>
            <a:r>
              <a:rPr lang="en-US" altLang="ja-JP" sz="1800" b="0" i="0" u="none" strike="noStrike" dirty="0">
                <a:solidFill>
                  <a:srgbClr val="000000"/>
                </a:solidFill>
                <a:effectLst/>
                <a:latin typeface="Times New Roman" panose="02020603050405020304" pitchFamily="18" charset="0"/>
              </a:rPr>
              <a:t>(</a:t>
            </a:r>
            <a:r>
              <a:rPr lang="ja-JP" altLang="en-US" sz="1800" b="0" i="0" u="none" strike="noStrike">
                <a:solidFill>
                  <a:srgbClr val="222222"/>
                </a:solidFill>
                <a:effectLst/>
                <a:latin typeface="Times New Roman" panose="02020603050405020304" pitchFamily="18" charset="0"/>
              </a:rPr>
              <a:t>しゃだん</a:t>
            </a:r>
            <a:r>
              <a:rPr lang="en-US" altLang="ja-JP" sz="1800" b="0" i="0" u="none" strike="noStrike" dirty="0">
                <a:solidFill>
                  <a:srgbClr val="222222"/>
                </a:solidFill>
                <a:effectLst/>
                <a:latin typeface="Times New Roman" panose="02020603050405020304" pitchFamily="18" charset="0"/>
              </a:rPr>
              <a:t>)</a:t>
            </a:r>
            <a:r>
              <a:rPr lang="ja-JP" altLang="en-US" sz="1800" b="0" i="0" u="none" strike="noStrike">
                <a:solidFill>
                  <a:srgbClr val="000000"/>
                </a:solidFill>
                <a:effectLst/>
                <a:latin typeface="Times New Roman" panose="02020603050405020304" pitchFamily="18" charset="0"/>
              </a:rPr>
              <a:t>、</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第二層で正常と判定されたトラフィックのみが</a:t>
            </a:r>
            <a:r>
              <a:rPr lang="en-US" sz="1800" b="0" i="0" u="none" strike="noStrike" dirty="0">
                <a:solidFill>
                  <a:srgbClr val="000000"/>
                </a:solidFill>
                <a:effectLst/>
                <a:latin typeface="Times New Roman" panose="02020603050405020304" pitchFamily="18" charset="0"/>
              </a:rPr>
              <a:t>CoAP-DTLS</a:t>
            </a:r>
            <a:r>
              <a:rPr lang="ja-JP" altLang="en-US" sz="1800" b="0" i="0" u="none" strike="noStrike">
                <a:solidFill>
                  <a:srgbClr val="000000"/>
                </a:solidFill>
                <a:effectLst/>
                <a:latin typeface="Times New Roman" panose="02020603050405020304" pitchFamily="18" charset="0"/>
              </a:rPr>
              <a:t>プロトコルで暗号化通信を行う。</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現在は開発段階で、</a:t>
            </a:r>
            <a:r>
              <a:rPr lang="en-US" sz="1800" b="0" i="0" u="none" strike="noStrike" dirty="0">
                <a:solidFill>
                  <a:srgbClr val="000000"/>
                </a:solidFill>
                <a:effectLst/>
                <a:latin typeface="Times New Roman" panose="02020603050405020304" pitchFamily="18" charset="0"/>
              </a:rPr>
              <a:t>Raspberry Pi 3</a:t>
            </a:r>
            <a:r>
              <a:rPr lang="ja-JP" altLang="en-US" sz="1800" b="0" i="0" u="none" strike="noStrike">
                <a:solidFill>
                  <a:srgbClr val="000000"/>
                </a:solidFill>
                <a:effectLst/>
                <a:latin typeface="Times New Roman" panose="02020603050405020304" pitchFamily="18" charset="0"/>
              </a:rPr>
              <a:t>台と</a:t>
            </a:r>
            <a:r>
              <a:rPr lang="en-US" sz="1800" b="0" i="0" u="none" strike="noStrike" dirty="0">
                <a:solidFill>
                  <a:srgbClr val="000000"/>
                </a:solidFill>
                <a:effectLst/>
                <a:latin typeface="Times New Roman" panose="02020603050405020304" pitchFamily="18" charset="0"/>
              </a:rPr>
              <a:t>Ubuntu Server</a:t>
            </a:r>
            <a:r>
              <a:rPr lang="ja-JP" altLang="en-US" sz="1800" b="0" i="0" u="none" strike="noStrike">
                <a:solidFill>
                  <a:srgbClr val="000000"/>
                </a:solidFill>
                <a:effectLst/>
                <a:latin typeface="Times New Roman" panose="02020603050405020304" pitchFamily="18" charset="0"/>
              </a:rPr>
              <a:t>で構成され、手動による構成管理を実施している。</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41</a:t>
            </a:fld>
            <a:endParaRPr lang="en-JP"/>
          </a:p>
        </p:txBody>
      </p:sp>
    </p:spTree>
    <p:extLst>
      <p:ext uri="{BB962C8B-B14F-4D97-AF65-F5344CB8AC3E}">
        <p14:creationId xmlns:p14="http://schemas.microsoft.com/office/powerpoint/2010/main" val="17315352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b="1" dirty="0">
                <a:effectLst/>
              </a:rPr>
              <a:t>Blocked List (BL)</a:t>
            </a:r>
            <a:r>
              <a:rPr lang="ja-JP" altLang="en-US">
                <a:effectLst/>
              </a:rPr>
              <a:t>通信を許可されない悪意のある</a:t>
            </a:r>
            <a:r>
              <a:rPr lang="en-US" dirty="0">
                <a:effectLst/>
              </a:rPr>
              <a:t>IP</a:t>
            </a:r>
            <a:r>
              <a:rPr lang="ja-JP" altLang="en-US">
                <a:effectLst/>
              </a:rPr>
              <a:t>アドレスのリスト。パケットを</a:t>
            </a:r>
            <a:r>
              <a:rPr lang="ja-JP" altLang="en-US" b="1">
                <a:effectLst/>
              </a:rPr>
              <a:t>即時破棄</a:t>
            </a:r>
            <a:endParaRPr lang="en-US" altLang="ja-JP" b="1" dirty="0">
              <a:effectLst/>
            </a:endParaRPr>
          </a:p>
          <a:p>
            <a:r>
              <a:rPr lang="en-US" b="1" dirty="0">
                <a:effectLst/>
              </a:rPr>
              <a:t>Suspicious List (SL)</a:t>
            </a:r>
            <a:r>
              <a:rPr lang="ja-JP" altLang="en-US">
                <a:effectLst/>
              </a:rPr>
              <a:t>攻撃（</a:t>
            </a:r>
            <a:r>
              <a:rPr lang="en-US" dirty="0">
                <a:effectLst/>
              </a:rPr>
              <a:t>DoS</a:t>
            </a:r>
            <a:r>
              <a:rPr lang="ja-JP" altLang="en-US">
                <a:effectLst/>
              </a:rPr>
              <a:t>など）の可能性がある</a:t>
            </a:r>
            <a:r>
              <a:rPr lang="en-US" dirty="0">
                <a:effectLst/>
              </a:rPr>
              <a:t>IP</a:t>
            </a:r>
            <a:r>
              <a:rPr lang="ja-JP" altLang="en-US">
                <a:effectLst/>
              </a:rPr>
              <a:t>アドレスのリスト。パケットを</a:t>
            </a:r>
            <a:r>
              <a:rPr lang="ja-JP" altLang="en-US" b="1">
                <a:effectLst/>
              </a:rPr>
              <a:t>監視・検証</a:t>
            </a:r>
            <a:endParaRPr lang="en-US" altLang="ja-JP" b="1" dirty="0">
              <a:effectLst/>
            </a:endParaRPr>
          </a:p>
          <a:p>
            <a:r>
              <a:rPr lang="en-US" b="1" dirty="0">
                <a:effectLst/>
              </a:rPr>
              <a:t>Trusted List (TL)</a:t>
            </a:r>
            <a:r>
              <a:rPr lang="ja-JP" altLang="en-US">
                <a:effectLst/>
              </a:rPr>
              <a:t>信頼できる安全な</a:t>
            </a:r>
            <a:r>
              <a:rPr lang="en-US" dirty="0">
                <a:effectLst/>
              </a:rPr>
              <a:t>IP</a:t>
            </a:r>
            <a:r>
              <a:rPr lang="ja-JP" altLang="en-US">
                <a:effectLst/>
              </a:rPr>
              <a:t>アドレスのリスト。パケットを</a:t>
            </a:r>
            <a:r>
              <a:rPr lang="ja-JP" altLang="en-US" b="1">
                <a:effectLst/>
              </a:rPr>
              <a:t>許可</a:t>
            </a:r>
            <a:endParaRPr lang="en-US" altLang="ja-JP"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i="0">
                <a:solidFill>
                  <a:srgbClr val="404040"/>
                </a:solidFill>
                <a:effectLst/>
                <a:latin typeface="quote-cjk-patch"/>
              </a:rPr>
              <a:t>攻撃（</a:t>
            </a:r>
            <a:r>
              <a:rPr lang="en-US" b="0" i="0" dirty="0">
                <a:solidFill>
                  <a:srgbClr val="404040"/>
                </a:solidFill>
                <a:effectLst/>
                <a:latin typeface="quote-cjk-patch"/>
              </a:rPr>
              <a:t>DoS</a:t>
            </a:r>
            <a:r>
              <a:rPr lang="ja-JP" altLang="en-US" b="0" i="0">
                <a:solidFill>
                  <a:srgbClr val="404040"/>
                </a:solidFill>
                <a:effectLst/>
                <a:latin typeface="quote-cjk-patch"/>
              </a:rPr>
              <a:t>など）の可能性がある</a:t>
            </a:r>
            <a:r>
              <a:rPr lang="en-US" b="0" i="0" dirty="0">
                <a:solidFill>
                  <a:srgbClr val="404040"/>
                </a:solidFill>
                <a:effectLst/>
                <a:latin typeface="quote-cjk-patch"/>
              </a:rPr>
              <a:t>IP</a:t>
            </a:r>
            <a:r>
              <a:rPr lang="ja-JP" altLang="en-US" b="0" i="0">
                <a:solidFill>
                  <a:srgbClr val="404040"/>
                </a:solidFill>
                <a:effectLst/>
                <a:latin typeface="quote-cjk-patch"/>
              </a:rPr>
              <a:t>アドレスのリスト</a:t>
            </a:r>
            <a:r>
              <a:rPr lang="en-US" altLang="ja-JP" b="0" i="0" dirty="0">
                <a:solidFill>
                  <a:srgbClr val="404040"/>
                </a:solidFill>
                <a:effectLst/>
                <a:latin typeface="quote-cjk-patch"/>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0" i="0" dirty="0">
                <a:solidFill>
                  <a:srgbClr val="404040"/>
                </a:solidFill>
                <a:effectLst/>
                <a:latin typeface="quote-cjk-patch"/>
              </a:rPr>
              <a:t>(</a:t>
            </a:r>
            <a:r>
              <a:rPr lang="ja-JP" altLang="en-US" sz="1200" b="0" i="0">
                <a:solidFill>
                  <a:srgbClr val="404040"/>
                </a:solidFill>
                <a:effectLst/>
                <a:latin typeface="quote-cjk-patch"/>
              </a:rPr>
              <a:t>クライアントが</a:t>
            </a:r>
            <a:r>
              <a:rPr lang="en-US" sz="1200" b="0" i="0" dirty="0">
                <a:solidFill>
                  <a:srgbClr val="404040"/>
                </a:solidFill>
                <a:effectLst/>
                <a:latin typeface="quote-cjk-patch"/>
              </a:rPr>
              <a:t>DTLS</a:t>
            </a:r>
            <a:r>
              <a:rPr lang="ja-JP" altLang="en-US" sz="1200" b="0" i="0">
                <a:solidFill>
                  <a:srgbClr val="404040"/>
                </a:solidFill>
                <a:effectLst/>
                <a:latin typeface="quote-cjk-patch"/>
              </a:rPr>
              <a:t>通信を開始する際、</a:t>
            </a:r>
            <a:r>
              <a:rPr lang="ja-JP" altLang="en-US" sz="1200" b="1" i="0">
                <a:solidFill>
                  <a:srgbClr val="404040"/>
                </a:solidFill>
                <a:effectLst/>
                <a:latin typeface="quote-cjk-patch"/>
              </a:rPr>
              <a:t>認証要求（</a:t>
            </a:r>
            <a:r>
              <a:rPr lang="en-US" sz="1200" b="1" i="0" dirty="0">
                <a:solidFill>
                  <a:srgbClr val="404040"/>
                </a:solidFill>
                <a:effectLst/>
                <a:latin typeface="quote-cjk-patch"/>
              </a:rPr>
              <a:t>AuthREQ）</a:t>
            </a:r>
            <a:r>
              <a:rPr lang="ja-JP" altLang="en-US" sz="1200" b="0" i="0">
                <a:solidFill>
                  <a:srgbClr val="404040"/>
                </a:solidFill>
                <a:effectLst/>
                <a:latin typeface="quote-cjk-patch"/>
              </a:rPr>
              <a:t>を</a:t>
            </a:r>
            <a:r>
              <a:rPr lang="en-US" sz="1200" b="0" i="0" dirty="0">
                <a:solidFill>
                  <a:srgbClr val="404040"/>
                </a:solidFill>
                <a:effectLst/>
                <a:latin typeface="quote-cjk-patch"/>
              </a:rPr>
              <a:t>Trusted Party（TP）</a:t>
            </a:r>
            <a:r>
              <a:rPr lang="ja-JP" altLang="en-US" sz="1200" b="0" i="0">
                <a:solidFill>
                  <a:srgbClr val="404040"/>
                </a:solidFill>
                <a:effectLst/>
                <a:latin typeface="quote-cjk-patch"/>
              </a:rPr>
              <a:t>に送信</a:t>
            </a:r>
            <a:r>
              <a:rPr lang="en-US" altLang="ja-JP" sz="1200" b="0" i="0" dirty="0">
                <a:solidFill>
                  <a:srgbClr val="404040"/>
                </a:solidFill>
                <a:effectLst/>
                <a:latin typeface="quote-cjk-patch"/>
              </a:rPr>
              <a:t> )</a:t>
            </a:r>
            <a:endParaRPr lang="ja-JP" altLang="en-US" sz="1200" i="0" kern="1200">
              <a:solidFill>
                <a:srgbClr val="404040"/>
              </a:solidFill>
              <a:effectLst/>
              <a:latin typeface="+mj-ea"/>
              <a:ea typeface="+mn-ea"/>
              <a:cs typeface="+mn-cs"/>
            </a:endParaRPr>
          </a:p>
          <a:p>
            <a:pPr rtl="0">
              <a:spcBef>
                <a:spcPts val="0"/>
              </a:spcBef>
              <a:spcAft>
                <a:spcPts val="0"/>
              </a:spcAft>
            </a:pPr>
            <a:r>
              <a:rPr lang="ja-JP" altLang="en-US" sz="1600" b="0" i="0" u="none" strike="noStrike">
                <a:solidFill>
                  <a:srgbClr val="000000"/>
                </a:solidFill>
                <a:effectLst/>
                <a:latin typeface="Calibri" panose="020F0502020204030204" pitchFamily="34" charset="0"/>
              </a:rPr>
              <a:t>医師の診断結果：</a:t>
            </a:r>
            <a:endParaRPr lang="ja-JP" altLang="en-US" b="0">
              <a:effectLst/>
            </a:endParaRPr>
          </a:p>
          <a:p>
            <a:pPr rtl="0">
              <a:spcBef>
                <a:spcPts val="0"/>
              </a:spcBef>
              <a:spcAft>
                <a:spcPts val="0"/>
              </a:spcAft>
            </a:pPr>
            <a:r>
              <a:rPr lang="en-US" altLang="ja-JP" sz="1600" b="0" i="0" u="none" strike="noStrike" dirty="0">
                <a:solidFill>
                  <a:srgbClr val="FF0000"/>
                </a:solidFill>
                <a:effectLst/>
                <a:latin typeface="Calibri" panose="020F0502020204030204" pitchFamily="34" charset="0"/>
              </a:rPr>
              <a:t>38</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を病気と正しく診断（</a:t>
            </a:r>
            <a:r>
              <a:rPr lang="en-US" sz="1600" b="0" i="0" u="none" strike="noStrike" dirty="0" err="1">
                <a:solidFill>
                  <a:srgbClr val="FF0000"/>
                </a:solidFill>
                <a:effectLst/>
                <a:latin typeface="Calibri" panose="020F0502020204030204" pitchFamily="34" charset="0"/>
              </a:rPr>
              <a:t>TP）True</a:t>
            </a:r>
            <a:r>
              <a:rPr lang="en-US" sz="1600" b="0" i="0" u="none" strike="noStrike" dirty="0">
                <a:solidFill>
                  <a:srgbClr val="FF0000"/>
                </a:solidFill>
                <a:effectLst/>
                <a:latin typeface="Calibri" panose="020F0502020204030204" pitchFamily="34" charset="0"/>
              </a:rPr>
              <a:t> positives</a:t>
            </a:r>
            <a:endParaRPr lang="en-US" b="0" dirty="0">
              <a:effectLst/>
            </a:endParaRPr>
          </a:p>
          <a:p>
            <a:pPr rtl="0">
              <a:spcBef>
                <a:spcPts val="0"/>
              </a:spcBef>
              <a:spcAft>
                <a:spcPts val="0"/>
              </a:spcAft>
            </a:pPr>
            <a:r>
              <a:rPr lang="en-US" sz="1600" b="0" i="0" u="none" strike="noStrike" dirty="0">
                <a:solidFill>
                  <a:srgbClr val="FF0000"/>
                </a:solidFill>
                <a:effectLst/>
                <a:latin typeface="Calibri" panose="020F0502020204030204" pitchFamily="34" charset="0"/>
              </a:rPr>
              <a:t>2</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の病気を見逃した（</a:t>
            </a:r>
            <a:r>
              <a:rPr lang="en-US" sz="1600" b="0" i="0" u="none" strike="noStrike" dirty="0">
                <a:solidFill>
                  <a:srgbClr val="FF0000"/>
                </a:solidFill>
                <a:effectLst/>
                <a:latin typeface="Calibri" panose="020F0502020204030204" pitchFamily="34" charset="0"/>
              </a:rPr>
              <a:t>FN） False positives</a:t>
            </a:r>
            <a:endParaRPr lang="en-US" b="0" dirty="0">
              <a:effectLst/>
            </a:endParaRPr>
          </a:p>
          <a:p>
            <a:pPr rtl="0">
              <a:spcBef>
                <a:spcPts val="0"/>
              </a:spcBef>
              <a:spcAft>
                <a:spcPts val="0"/>
              </a:spcAft>
            </a:pPr>
            <a:r>
              <a:rPr lang="en-US" sz="1600" b="0" i="0" u="none" strike="noStrike" dirty="0">
                <a:solidFill>
                  <a:srgbClr val="FF0000"/>
                </a:solidFill>
                <a:effectLst/>
                <a:latin typeface="Calibri" panose="020F0502020204030204" pitchFamily="34" charset="0"/>
              </a:rPr>
              <a:t>55</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を健康と正しく判定（</a:t>
            </a:r>
            <a:r>
              <a:rPr lang="en-US" sz="1600" b="0" i="0" u="none" strike="noStrike" dirty="0" err="1">
                <a:solidFill>
                  <a:srgbClr val="FF0000"/>
                </a:solidFill>
                <a:effectLst/>
                <a:latin typeface="Calibri" panose="020F0502020204030204" pitchFamily="34" charset="0"/>
              </a:rPr>
              <a:t>TN）True</a:t>
            </a:r>
            <a:r>
              <a:rPr lang="en-US" sz="1600" b="0" i="0" u="none" strike="noStrike" dirty="0">
                <a:solidFill>
                  <a:srgbClr val="FF0000"/>
                </a:solidFill>
                <a:effectLst/>
                <a:latin typeface="Calibri" panose="020F0502020204030204" pitchFamily="34" charset="0"/>
              </a:rPr>
              <a:t> negatives</a:t>
            </a:r>
            <a:endParaRPr lang="en-US" b="0" dirty="0">
              <a:effectLst/>
            </a:endParaRPr>
          </a:p>
          <a:p>
            <a:r>
              <a:rPr lang="en-US" sz="1600" b="0" i="0" u="none" strike="noStrike" dirty="0">
                <a:solidFill>
                  <a:srgbClr val="FF0000"/>
                </a:solidFill>
                <a:effectLst/>
                <a:latin typeface="Calibri" panose="020F0502020204030204" pitchFamily="34" charset="0"/>
              </a:rPr>
              <a:t>5</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を誤って病気と判定（</a:t>
            </a:r>
            <a:r>
              <a:rPr lang="en-US" sz="1600" b="0" i="0" u="none" strike="noStrike" dirty="0" err="1">
                <a:solidFill>
                  <a:srgbClr val="FF0000"/>
                </a:solidFill>
                <a:effectLst/>
                <a:latin typeface="Calibri" panose="020F0502020204030204" pitchFamily="34" charset="0"/>
              </a:rPr>
              <a:t>FP）False</a:t>
            </a:r>
            <a:r>
              <a:rPr lang="en-US" sz="1600" b="0" i="0" u="none" strike="noStrike" dirty="0">
                <a:solidFill>
                  <a:srgbClr val="FF0000"/>
                </a:solidFill>
                <a:effectLst/>
                <a:latin typeface="Calibri" panose="020F0502020204030204" pitchFamily="34" charset="0"/>
              </a:rPr>
              <a:t> negatives </a:t>
            </a:r>
            <a:endParaRPr lang="en-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43</a:t>
            </a:fld>
            <a:endParaRPr lang="en-JP"/>
          </a:p>
        </p:txBody>
      </p:sp>
    </p:spTree>
    <p:extLst>
      <p:ext uri="{BB962C8B-B14F-4D97-AF65-F5344CB8AC3E}">
        <p14:creationId xmlns:p14="http://schemas.microsoft.com/office/powerpoint/2010/main" val="3182411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latin typeface="Meiryo" panose="020B0604030504040204" pitchFamily="34" charset="-128"/>
                <a:ea typeface="Meiryo" panose="020B0604030504040204" pitchFamily="34" charset="-128"/>
              </a:rPr>
              <a:t>単純</a:t>
            </a:r>
            <a:r>
              <a:rPr lang="en-US"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たんじゅん</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simple; plain; </a:t>
            </a:r>
            <a:r>
              <a:rPr lang="ja-JP" altLang="en-US" sz="1600">
                <a:latin typeface="Meiryo" panose="020B0604030504040204" pitchFamily="34" charset="-128"/>
                <a:ea typeface="Meiryo" panose="020B0604030504040204" pitchFamily="34" charset="-128"/>
              </a:rPr>
              <a:t>入力層</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保持</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ほじ、</a:t>
            </a:r>
            <a:r>
              <a:rPr lang="ja-JP" altLang="en-US" b="0" i="0">
                <a:solidFill>
                  <a:srgbClr val="222222"/>
                </a:solidFill>
                <a:effectLst/>
                <a:latin typeface="Source Han Sans"/>
              </a:rPr>
              <a:t>隠れーかくれー</a:t>
            </a:r>
            <a:r>
              <a:rPr lang="en-US" altLang="ja-JP" b="0" i="0" dirty="0" err="1">
                <a:solidFill>
                  <a:srgbClr val="222222"/>
                </a:solidFill>
                <a:effectLst/>
                <a:latin typeface="Source Han Sans"/>
              </a:rPr>
              <a:t>hidder</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圧縮</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あっしゅく</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効率的</a:t>
            </a:r>
            <a:r>
              <a:rPr lang="en-US" altLang="ja-JP"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こうりつてき</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effict</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44</a:t>
            </a:fld>
            <a:endParaRPr lang="en-JP"/>
          </a:p>
        </p:txBody>
      </p:sp>
    </p:spTree>
    <p:extLst>
      <p:ext uri="{BB962C8B-B14F-4D97-AF65-F5344CB8AC3E}">
        <p14:creationId xmlns:p14="http://schemas.microsoft.com/office/powerpoint/2010/main" val="21568094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3600" b="1">
                <a:latin typeface="Meiryo" panose="020B0604030504040204" pitchFamily="34" charset="-128"/>
                <a:ea typeface="Meiryo" panose="020B0604030504040204" pitchFamily="34" charset="-128"/>
              </a:rPr>
              <a:t>絞り込むー</a:t>
            </a:r>
            <a:r>
              <a:rPr lang="ja-JP" altLang="en-US" sz="3600" b="1" i="0">
                <a:solidFill>
                  <a:srgbClr val="222222"/>
                </a:solidFill>
                <a:effectLst/>
                <a:latin typeface="Source Han Sans"/>
              </a:rPr>
              <a:t>しぼりこむ、</a:t>
            </a:r>
            <a:r>
              <a:rPr lang="ja-JP" altLang="en-US" sz="3600">
                <a:latin typeface="Meiryo" panose="020B0604030504040204" pitchFamily="34" charset="-128"/>
                <a:ea typeface="Meiryo" panose="020B0604030504040204" pitchFamily="34" charset="-128"/>
              </a:rPr>
              <a:t>考慮ー</a:t>
            </a:r>
            <a:r>
              <a:rPr lang="ja-JP" altLang="en-US" sz="4000" b="0" i="0">
                <a:solidFill>
                  <a:srgbClr val="222222"/>
                </a:solidFill>
                <a:effectLst/>
                <a:latin typeface="Source Han Sans"/>
              </a:rPr>
              <a:t>こうりょ</a:t>
            </a:r>
            <a:r>
              <a:rPr lang="en-US" altLang="ja-JP" sz="4000" b="0" i="0" dirty="0">
                <a:solidFill>
                  <a:srgbClr val="222222"/>
                </a:solidFill>
                <a:effectLst/>
                <a:latin typeface="Source Han Sans"/>
              </a:rPr>
              <a:t>- </a:t>
            </a:r>
            <a:r>
              <a:rPr lang="en-US" altLang="ja-JP" sz="4000" b="0" i="0" dirty="0" err="1">
                <a:solidFill>
                  <a:srgbClr val="222222"/>
                </a:solidFill>
                <a:effectLst/>
                <a:latin typeface="Source Han Sans"/>
              </a:rPr>
              <a:t>consedr</a:t>
            </a:r>
            <a:r>
              <a:rPr lang="en-US" altLang="ja-JP" sz="4000" b="0" i="0" dirty="0">
                <a:solidFill>
                  <a:srgbClr val="222222"/>
                </a:solidFill>
                <a:effectLst/>
                <a:latin typeface="Source Han Sans"/>
              </a:rPr>
              <a:t>,</a:t>
            </a:r>
            <a:r>
              <a:rPr lang="ja-JP" altLang="en-US" sz="4000">
                <a:latin typeface="Meiryo" panose="020B0604030504040204" pitchFamily="34" charset="-128"/>
                <a:ea typeface="Meiryo" panose="020B0604030504040204" pitchFamily="34" charset="-128"/>
              </a:rPr>
              <a:t>保持</a:t>
            </a:r>
            <a:r>
              <a:rPr lang="en-US" altLang="ja-JP" sz="4000" dirty="0">
                <a:latin typeface="Meiryo" panose="020B0604030504040204" pitchFamily="34" charset="-128"/>
                <a:ea typeface="Meiryo" panose="020B0604030504040204" pitchFamily="34" charset="-128"/>
              </a:rPr>
              <a:t>-</a:t>
            </a:r>
            <a:r>
              <a:rPr lang="ja-JP" altLang="en-US" sz="4000" b="0" i="0">
                <a:solidFill>
                  <a:srgbClr val="222222"/>
                </a:solidFill>
                <a:effectLst/>
                <a:latin typeface="Source Han Sans"/>
              </a:rPr>
              <a:t>ほじ</a:t>
            </a:r>
            <a:r>
              <a:rPr lang="en-US" altLang="ja-JP" sz="4000" b="0" i="0" dirty="0">
                <a:solidFill>
                  <a:srgbClr val="222222"/>
                </a:solidFill>
                <a:effectLst/>
                <a:latin typeface="Source Han Sans"/>
              </a:rPr>
              <a:t> </a:t>
            </a:r>
            <a:r>
              <a:rPr lang="mn-MN" altLang="ja-JP" sz="4000" b="0" i="0" dirty="0">
                <a:solidFill>
                  <a:srgbClr val="222222"/>
                </a:solidFill>
                <a:effectLst/>
                <a:latin typeface="Source Han Sans"/>
              </a:rPr>
              <a:t>хадгалах </a:t>
            </a:r>
            <a:endParaRPr lang="en-JP" sz="3600" b="1" dirty="0"/>
          </a:p>
        </p:txBody>
      </p:sp>
      <p:sp>
        <p:nvSpPr>
          <p:cNvPr id="4" name="Slide Number Placeholder 3"/>
          <p:cNvSpPr>
            <a:spLocks noGrp="1"/>
          </p:cNvSpPr>
          <p:nvPr>
            <p:ph type="sldNum" sz="quarter" idx="5"/>
          </p:nvPr>
        </p:nvSpPr>
        <p:spPr/>
        <p:txBody>
          <a:bodyPr/>
          <a:lstStyle/>
          <a:p>
            <a:fld id="{5741F159-79E2-E24F-9993-34E52B426EB4}" type="slidenum">
              <a:rPr lang="en-JP" smtClean="0"/>
              <a:t>45</a:t>
            </a:fld>
            <a:endParaRPr lang="en-JP"/>
          </a:p>
        </p:txBody>
      </p:sp>
    </p:spTree>
    <p:extLst>
      <p:ext uri="{BB962C8B-B14F-4D97-AF65-F5344CB8AC3E}">
        <p14:creationId xmlns:p14="http://schemas.microsoft.com/office/powerpoint/2010/main" val="7251396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効果的</a:t>
            </a:r>
            <a:r>
              <a:rPr lang="en-US" altLang="ja-JP" b="0" i="0" dirty="0">
                <a:solidFill>
                  <a:srgbClr val="222222"/>
                </a:solidFill>
                <a:effectLst/>
                <a:latin typeface="Source Han Sans"/>
              </a:rPr>
              <a:t>-</a:t>
            </a:r>
            <a:r>
              <a:rPr lang="ja-JP" altLang="en-US" b="0" i="0">
                <a:solidFill>
                  <a:srgbClr val="222222"/>
                </a:solidFill>
                <a:effectLst/>
                <a:latin typeface="Source Han Sans"/>
              </a:rPr>
              <a:t>こうかてき</a:t>
            </a:r>
            <a:r>
              <a:rPr lang="en-US" altLang="ja-JP" b="0" i="0" dirty="0">
                <a:solidFill>
                  <a:srgbClr val="222222"/>
                </a:solidFill>
                <a:effectLst/>
                <a:latin typeface="Source Han Sans"/>
              </a:rPr>
              <a:t>,</a:t>
            </a:r>
            <a:r>
              <a:rPr lang="ja-JP" altLang="en-US" sz="1600">
                <a:latin typeface="Meiryo" panose="020B0604030504040204" pitchFamily="34" charset="-128"/>
                <a:ea typeface="Meiryo" panose="020B0604030504040204" pitchFamily="34" charset="-128"/>
              </a:rPr>
              <a:t>捉える</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とらえるー</a:t>
            </a:r>
            <a:r>
              <a:rPr lang="mn-MN" altLang="ja-JP" b="0" i="0" dirty="0">
                <a:solidFill>
                  <a:srgbClr val="222222"/>
                </a:solidFill>
                <a:effectLst/>
                <a:latin typeface="Source Han Sans"/>
              </a:rPr>
              <a:t>бариж авах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49</a:t>
            </a:fld>
            <a:endParaRPr lang="en-JP"/>
          </a:p>
        </p:txBody>
      </p:sp>
    </p:spTree>
    <p:extLst>
      <p:ext uri="{BB962C8B-B14F-4D97-AF65-F5344CB8AC3E}">
        <p14:creationId xmlns:p14="http://schemas.microsoft.com/office/powerpoint/2010/main" val="1646915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7B03B-5E2A-77A9-F150-37D5239C5653}"/>
              </a:ext>
            </a:extLst>
          </p:cNvPr>
          <p:cNvSpPr>
            <a:spLocks noGrp="1"/>
          </p:cNvSpPr>
          <p:nvPr>
            <p:ph type="ctrTitle"/>
          </p:nvPr>
        </p:nvSpPr>
        <p:spPr>
          <a:xfrm>
            <a:off x="1371600" y="1346200"/>
            <a:ext cx="8229600" cy="2865438"/>
          </a:xfr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B86A6E60-F716-96DB-3A90-434F833A544D}"/>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C38BDA30-DADE-FC20-E9BC-02B5AFE60C7D}"/>
              </a:ext>
            </a:extLst>
          </p:cNvPr>
          <p:cNvSpPr>
            <a:spLocks noGrp="1"/>
          </p:cNvSpPr>
          <p:nvPr>
            <p:ph type="dt" sz="half" idx="10"/>
          </p:nvPr>
        </p:nvSpPr>
        <p:spPr/>
        <p:txBody>
          <a:bodyPr/>
          <a:lstStyle/>
          <a:p>
            <a:fld id="{61328C06-48E9-3D41-B8CF-A482EEBDC039}" type="datetime1">
              <a:rPr lang="en-US" smtClean="0"/>
              <a:t>11/23/25</a:t>
            </a:fld>
            <a:endParaRPr lang="en-JP"/>
          </a:p>
        </p:txBody>
      </p:sp>
      <p:sp>
        <p:nvSpPr>
          <p:cNvPr id="5" name="Footer Placeholder 4">
            <a:extLst>
              <a:ext uri="{FF2B5EF4-FFF2-40B4-BE49-F238E27FC236}">
                <a16:creationId xmlns:a16="http://schemas.microsoft.com/office/drawing/2014/main" id="{03C18956-EA74-B435-56C2-1DDEB644594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5FDD552-916C-04C8-F4CC-5BC7D9A72414}"/>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950595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1934-A847-B48D-6CE4-16A37D475923}"/>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C234E95F-1CBE-52F6-70E2-799B57A36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B2E4EEC-2B4F-E761-EED8-D27E518747E7}"/>
              </a:ext>
            </a:extLst>
          </p:cNvPr>
          <p:cNvSpPr>
            <a:spLocks noGrp="1"/>
          </p:cNvSpPr>
          <p:nvPr>
            <p:ph type="dt" sz="half" idx="10"/>
          </p:nvPr>
        </p:nvSpPr>
        <p:spPr/>
        <p:txBody>
          <a:bodyPr/>
          <a:lstStyle/>
          <a:p>
            <a:fld id="{519F83F4-DE50-AA43-B82E-9FB2DBC2CE5F}" type="datetime1">
              <a:rPr lang="en-US" smtClean="0"/>
              <a:t>11/23/25</a:t>
            </a:fld>
            <a:endParaRPr lang="en-JP"/>
          </a:p>
        </p:txBody>
      </p:sp>
      <p:sp>
        <p:nvSpPr>
          <p:cNvPr id="5" name="Footer Placeholder 4">
            <a:extLst>
              <a:ext uri="{FF2B5EF4-FFF2-40B4-BE49-F238E27FC236}">
                <a16:creationId xmlns:a16="http://schemas.microsoft.com/office/drawing/2014/main" id="{9623E2A1-971F-5FA2-3606-1C7A29095394}"/>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DF3B993B-3651-7B04-7ABD-DBA3D9D66911}"/>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012563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C3A3-3A3A-C2F6-83D2-2D9C269C3B70}"/>
              </a:ext>
            </a:extLst>
          </p:cNvPr>
          <p:cNvSpPr>
            <a:spLocks noGrp="1"/>
          </p:cNvSpPr>
          <p:nvPr>
            <p:ph type="title"/>
          </p:nvPr>
        </p:nvSpPr>
        <p:spPr>
          <a:xfrm>
            <a:off x="748904" y="2051050"/>
            <a:ext cx="9464278" cy="3424238"/>
          </a:xfr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3E792E6B-8BC8-CBB8-0624-26FDF0B32D85}"/>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784564-0AAD-C96B-087C-EF767B21BC24}"/>
              </a:ext>
            </a:extLst>
          </p:cNvPr>
          <p:cNvSpPr>
            <a:spLocks noGrp="1"/>
          </p:cNvSpPr>
          <p:nvPr>
            <p:ph type="dt" sz="half" idx="10"/>
          </p:nvPr>
        </p:nvSpPr>
        <p:spPr/>
        <p:txBody>
          <a:bodyPr/>
          <a:lstStyle/>
          <a:p>
            <a:fld id="{F21D197D-D0CC-F048-B58E-231C07808BA0}" type="datetime1">
              <a:rPr lang="en-US" smtClean="0"/>
              <a:t>11/23/25</a:t>
            </a:fld>
            <a:endParaRPr lang="en-JP"/>
          </a:p>
        </p:txBody>
      </p:sp>
      <p:sp>
        <p:nvSpPr>
          <p:cNvPr id="5" name="Footer Placeholder 4">
            <a:extLst>
              <a:ext uri="{FF2B5EF4-FFF2-40B4-BE49-F238E27FC236}">
                <a16:creationId xmlns:a16="http://schemas.microsoft.com/office/drawing/2014/main" id="{EF39C993-FFFA-B8E2-CA0A-920E8E62307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18A688E-0D0F-4DE9-AC25-2D31DAA4848A}"/>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151737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3165-4B66-38FA-5B4F-176A35D83DFE}"/>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A34D8226-C265-D591-C4B9-D39856755C6A}"/>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D882C145-31AC-2055-1579-9B6D14C2C547}"/>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421EC17D-6CAD-A7AA-0B3E-9B5CCF0CA048}"/>
              </a:ext>
            </a:extLst>
          </p:cNvPr>
          <p:cNvSpPr>
            <a:spLocks noGrp="1"/>
          </p:cNvSpPr>
          <p:nvPr>
            <p:ph type="dt" sz="half" idx="10"/>
          </p:nvPr>
        </p:nvSpPr>
        <p:spPr/>
        <p:txBody>
          <a:bodyPr/>
          <a:lstStyle/>
          <a:p>
            <a:fld id="{06FF62DD-CB3C-F24A-AAD4-E369697FCC23}" type="datetime1">
              <a:rPr lang="en-US" smtClean="0"/>
              <a:t>11/23/25</a:t>
            </a:fld>
            <a:endParaRPr lang="en-JP"/>
          </a:p>
        </p:txBody>
      </p:sp>
      <p:sp>
        <p:nvSpPr>
          <p:cNvPr id="6" name="Footer Placeholder 5">
            <a:extLst>
              <a:ext uri="{FF2B5EF4-FFF2-40B4-BE49-F238E27FC236}">
                <a16:creationId xmlns:a16="http://schemas.microsoft.com/office/drawing/2014/main" id="{9F163C0B-702D-DB6B-FBDE-AC82F0ECA896}"/>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AC28D42-6D39-CDB9-411F-015F25F7BC7D}"/>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813531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7A9B-B0B9-6C6B-BDA1-C287D3537FAF}"/>
              </a:ext>
            </a:extLst>
          </p:cNvPr>
          <p:cNvSpPr>
            <a:spLocks noGrp="1"/>
          </p:cNvSpPr>
          <p:nvPr>
            <p:ph type="title"/>
          </p:nvPr>
        </p:nvSpPr>
        <p:spPr>
          <a:xfrm>
            <a:off x="756048" y="438150"/>
            <a:ext cx="9464278" cy="1590675"/>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92825807-BD9F-D6FB-9A9C-962B17831081}"/>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DFEAA-6307-69A1-859E-F5E4BF053948}"/>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06B50131-C410-E45E-D8B4-2A9790914E55}"/>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F1D5A9F-EACE-C594-B90B-BB943554B896}"/>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A2190691-23DC-D60C-EE7A-665DB192A5CF}"/>
              </a:ext>
            </a:extLst>
          </p:cNvPr>
          <p:cNvSpPr>
            <a:spLocks noGrp="1"/>
          </p:cNvSpPr>
          <p:nvPr>
            <p:ph type="dt" sz="half" idx="10"/>
          </p:nvPr>
        </p:nvSpPr>
        <p:spPr/>
        <p:txBody>
          <a:bodyPr/>
          <a:lstStyle/>
          <a:p>
            <a:fld id="{1FEDFEE4-FFD8-7447-8582-A5A29728C4CD}" type="datetime1">
              <a:rPr lang="en-US" smtClean="0"/>
              <a:t>11/23/25</a:t>
            </a:fld>
            <a:endParaRPr lang="en-JP"/>
          </a:p>
        </p:txBody>
      </p:sp>
      <p:sp>
        <p:nvSpPr>
          <p:cNvPr id="8" name="Footer Placeholder 7">
            <a:extLst>
              <a:ext uri="{FF2B5EF4-FFF2-40B4-BE49-F238E27FC236}">
                <a16:creationId xmlns:a16="http://schemas.microsoft.com/office/drawing/2014/main" id="{1ADF6F75-E32C-5736-CE6C-F6A7EA782908}"/>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BBD5A1E5-2095-694C-ECF7-DDC76BC4A34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5599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E106-BA8D-D14C-C286-0AC9CD593DB1}"/>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43FA72F0-97EC-ED19-1C0D-9046FCBDAA41}"/>
              </a:ext>
            </a:extLst>
          </p:cNvPr>
          <p:cNvSpPr>
            <a:spLocks noGrp="1"/>
          </p:cNvSpPr>
          <p:nvPr>
            <p:ph type="dt" sz="half" idx="10"/>
          </p:nvPr>
        </p:nvSpPr>
        <p:spPr/>
        <p:txBody>
          <a:bodyPr/>
          <a:lstStyle/>
          <a:p>
            <a:fld id="{5930D4F9-2C49-8E45-BFDA-CD39570DA728}" type="datetime1">
              <a:rPr lang="en-US" smtClean="0"/>
              <a:t>11/23/25</a:t>
            </a:fld>
            <a:endParaRPr lang="en-JP"/>
          </a:p>
        </p:txBody>
      </p:sp>
      <p:sp>
        <p:nvSpPr>
          <p:cNvPr id="4" name="Footer Placeholder 3">
            <a:extLst>
              <a:ext uri="{FF2B5EF4-FFF2-40B4-BE49-F238E27FC236}">
                <a16:creationId xmlns:a16="http://schemas.microsoft.com/office/drawing/2014/main" id="{43F42B98-859B-0EBD-6CF8-0DF9D7D548DC}"/>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D16724F9-FC87-DEE7-6876-59FACF21454A}"/>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1640721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C9E265-8A1E-126F-5C09-5B90BBBA2F01}"/>
              </a:ext>
            </a:extLst>
          </p:cNvPr>
          <p:cNvSpPr>
            <a:spLocks noGrp="1"/>
          </p:cNvSpPr>
          <p:nvPr>
            <p:ph type="dt" sz="half" idx="10"/>
          </p:nvPr>
        </p:nvSpPr>
        <p:spPr/>
        <p:txBody>
          <a:bodyPr/>
          <a:lstStyle/>
          <a:p>
            <a:fld id="{757332B6-23BC-A545-9485-49BA085B001C}" type="datetime1">
              <a:rPr lang="en-US" smtClean="0"/>
              <a:t>11/23/25</a:t>
            </a:fld>
            <a:endParaRPr lang="en-JP"/>
          </a:p>
        </p:txBody>
      </p:sp>
      <p:sp>
        <p:nvSpPr>
          <p:cNvPr id="3" name="Footer Placeholder 2">
            <a:extLst>
              <a:ext uri="{FF2B5EF4-FFF2-40B4-BE49-F238E27FC236}">
                <a16:creationId xmlns:a16="http://schemas.microsoft.com/office/drawing/2014/main" id="{D91D7992-22A0-90BB-44C7-10E26C9F4051}"/>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55525659-485B-B3CA-F00A-EDF5BEAA681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35704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55BC7-BD6B-A930-277F-682F6703F8F4}"/>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A0C9D9AE-E11E-FBFB-D17C-3CF7F8D4118A}"/>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123DE840-B659-5F6C-6DB6-1B13EB87C28F}"/>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1015BB6-495B-3247-0770-5162FBF9B2DA}"/>
              </a:ext>
            </a:extLst>
          </p:cNvPr>
          <p:cNvSpPr>
            <a:spLocks noGrp="1"/>
          </p:cNvSpPr>
          <p:nvPr>
            <p:ph type="dt" sz="half" idx="10"/>
          </p:nvPr>
        </p:nvSpPr>
        <p:spPr/>
        <p:txBody>
          <a:bodyPr/>
          <a:lstStyle/>
          <a:p>
            <a:fld id="{F2DFA13E-4FAB-3E4C-BC59-E1BABF76900F}" type="datetime1">
              <a:rPr lang="en-US" smtClean="0"/>
              <a:t>11/23/25</a:t>
            </a:fld>
            <a:endParaRPr lang="en-JP"/>
          </a:p>
        </p:txBody>
      </p:sp>
      <p:sp>
        <p:nvSpPr>
          <p:cNvPr id="6" name="Footer Placeholder 5">
            <a:extLst>
              <a:ext uri="{FF2B5EF4-FFF2-40B4-BE49-F238E27FC236}">
                <a16:creationId xmlns:a16="http://schemas.microsoft.com/office/drawing/2014/main" id="{BE357993-BBB3-8E85-57E3-881361EDB99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846DB4-EB93-D0C3-E8F3-19449977C8E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10641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B935-CF5B-C4FA-7B4E-4A6705BED847}"/>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6825753A-43E0-4269-75EE-5BFFEAD0084B}"/>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480E8D53-EC37-454D-1279-19C246053A02}"/>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4948F2-B487-B672-415B-702FFBC9C010}"/>
              </a:ext>
            </a:extLst>
          </p:cNvPr>
          <p:cNvSpPr>
            <a:spLocks noGrp="1"/>
          </p:cNvSpPr>
          <p:nvPr>
            <p:ph type="dt" sz="half" idx="10"/>
          </p:nvPr>
        </p:nvSpPr>
        <p:spPr/>
        <p:txBody>
          <a:bodyPr/>
          <a:lstStyle/>
          <a:p>
            <a:fld id="{A12C9FA1-CBF0-4443-95B6-4B7CEF8AD802}" type="datetime1">
              <a:rPr lang="en-US" smtClean="0"/>
              <a:t>11/23/25</a:t>
            </a:fld>
            <a:endParaRPr lang="en-JP"/>
          </a:p>
        </p:txBody>
      </p:sp>
      <p:sp>
        <p:nvSpPr>
          <p:cNvPr id="6" name="Footer Placeholder 5">
            <a:extLst>
              <a:ext uri="{FF2B5EF4-FFF2-40B4-BE49-F238E27FC236}">
                <a16:creationId xmlns:a16="http://schemas.microsoft.com/office/drawing/2014/main" id="{AAB5A789-2675-555A-1BD7-6111FE7FB97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DE42CC77-6121-73B5-78C8-6F03DF49D81B}"/>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36760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F83B-878C-E82A-C7B3-B1CD3B165B9E}"/>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1445F162-E4DD-976B-F27C-CD7320E09F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CFBE042-E800-5342-9186-9E8DE3590A18}"/>
              </a:ext>
            </a:extLst>
          </p:cNvPr>
          <p:cNvSpPr>
            <a:spLocks noGrp="1"/>
          </p:cNvSpPr>
          <p:nvPr>
            <p:ph type="dt" sz="half" idx="10"/>
          </p:nvPr>
        </p:nvSpPr>
        <p:spPr/>
        <p:txBody>
          <a:bodyPr/>
          <a:lstStyle/>
          <a:p>
            <a:fld id="{1D08A058-A285-284D-9662-57855FD4B561}" type="datetime1">
              <a:rPr lang="en-US" smtClean="0"/>
              <a:t>11/23/25</a:t>
            </a:fld>
            <a:endParaRPr lang="en-JP"/>
          </a:p>
        </p:txBody>
      </p:sp>
      <p:sp>
        <p:nvSpPr>
          <p:cNvPr id="5" name="Footer Placeholder 4">
            <a:extLst>
              <a:ext uri="{FF2B5EF4-FFF2-40B4-BE49-F238E27FC236}">
                <a16:creationId xmlns:a16="http://schemas.microsoft.com/office/drawing/2014/main" id="{8BCF1388-5E1D-61AE-0901-08487A4431C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8B988250-6BCF-229B-85F6-AEEDFD31F30D}"/>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57626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68CD8E-A27C-4CD8-A6CB-B8ACA12D1CBF}"/>
              </a:ext>
            </a:extLst>
          </p:cNvPr>
          <p:cNvSpPr>
            <a:spLocks noGrp="1"/>
          </p:cNvSpPr>
          <p:nvPr>
            <p:ph type="title" orient="vert"/>
          </p:nvPr>
        </p:nvSpPr>
        <p:spPr>
          <a:xfrm>
            <a:off x="7852172" y="438150"/>
            <a:ext cx="2365772" cy="697388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711C54F-BF1E-7916-6850-78EE07FA4380}"/>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DB7C8C6-94AE-15B8-53E2-10B0752C1591}"/>
              </a:ext>
            </a:extLst>
          </p:cNvPr>
          <p:cNvSpPr>
            <a:spLocks noGrp="1"/>
          </p:cNvSpPr>
          <p:nvPr>
            <p:ph type="dt" sz="half" idx="10"/>
          </p:nvPr>
        </p:nvSpPr>
        <p:spPr/>
        <p:txBody>
          <a:bodyPr/>
          <a:lstStyle/>
          <a:p>
            <a:fld id="{ED6FDC0C-2B4B-E346-A163-DC157A58588E}" type="datetime1">
              <a:rPr lang="en-US" smtClean="0"/>
              <a:t>11/23/25</a:t>
            </a:fld>
            <a:endParaRPr lang="en-JP"/>
          </a:p>
        </p:txBody>
      </p:sp>
      <p:sp>
        <p:nvSpPr>
          <p:cNvPr id="5" name="Footer Placeholder 4">
            <a:extLst>
              <a:ext uri="{FF2B5EF4-FFF2-40B4-BE49-F238E27FC236}">
                <a16:creationId xmlns:a16="http://schemas.microsoft.com/office/drawing/2014/main" id="{32F97973-C064-1B20-C51A-A6B877C5D695}"/>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B17C5FD-CA9A-5BDA-726D-149EE1577F6F}"/>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18203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19F4-B37F-8A25-15D9-75692BC94C37}"/>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446C4BC-5165-4048-B82E-3BBC4C00076D}"/>
              </a:ext>
            </a:extLst>
          </p:cNvPr>
          <p:cNvSpPr>
            <a:spLocks noGrp="1"/>
          </p:cNvSpPr>
          <p:nvPr>
            <p:ph type="dt" sz="half" idx="10"/>
          </p:nvPr>
        </p:nvSpPr>
        <p:spPr/>
        <p:txBody>
          <a:bodyPr/>
          <a:lstStyle>
            <a:lvl1pPr>
              <a:defRPr/>
            </a:lvl1pPr>
          </a:lstStyle>
          <a:p>
            <a:fld id="{D4EDE61E-AAF1-884D-ABF0-FC33E23748E8}" type="datetime1">
              <a:rPr lang="en-US" smtClean="0"/>
              <a:t>11/23/25</a:t>
            </a:fld>
            <a:endParaRPr lang="en-JP" dirty="0"/>
          </a:p>
        </p:txBody>
      </p:sp>
      <p:sp>
        <p:nvSpPr>
          <p:cNvPr id="4" name="Footer Placeholder 3">
            <a:extLst>
              <a:ext uri="{FF2B5EF4-FFF2-40B4-BE49-F238E27FC236}">
                <a16:creationId xmlns:a16="http://schemas.microsoft.com/office/drawing/2014/main" id="{D0E4AD2E-4CE1-65C4-32F4-585D92B20E74}"/>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9C6F8AA2-B45D-83B0-0159-73C9F7FFE252}"/>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759758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B486-E7E6-D675-4DA2-ED562A88673C}"/>
              </a:ext>
            </a:extLst>
          </p:cNvPr>
          <p:cNvSpPr>
            <a:spLocks noGrp="1"/>
          </p:cNvSpPr>
          <p:nvPr>
            <p:ph type="ctrTitle"/>
          </p:nvPr>
        </p:nvSpPr>
        <p:spPr>
          <a:xfrm>
            <a:off x="1371600" y="1346200"/>
            <a:ext cx="8229600" cy="2865438"/>
          </a:xfrm>
          <a:prstGeom prst="rect">
            <a:avLst/>
          </a:prstGeo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6517B56D-63D2-5361-47AB-2F3DA32B2A45}"/>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56E90878-4674-F697-B5AF-810D856A2BF8}"/>
              </a:ext>
            </a:extLst>
          </p:cNvPr>
          <p:cNvSpPr>
            <a:spLocks noGrp="1"/>
          </p:cNvSpPr>
          <p:nvPr>
            <p:ph type="dt" sz="half" idx="10"/>
          </p:nvPr>
        </p:nvSpPr>
        <p:spPr/>
        <p:txBody>
          <a:bodyPr/>
          <a:lstStyle/>
          <a:p>
            <a:fld id="{96881B2D-D5E5-8B4D-8C39-64C71D19A01A}" type="datetime1">
              <a:rPr lang="en-US" smtClean="0"/>
              <a:t>11/23/25</a:t>
            </a:fld>
            <a:endParaRPr lang="en-JP"/>
          </a:p>
        </p:txBody>
      </p:sp>
      <p:sp>
        <p:nvSpPr>
          <p:cNvPr id="5" name="Footer Placeholder 4">
            <a:extLst>
              <a:ext uri="{FF2B5EF4-FFF2-40B4-BE49-F238E27FC236}">
                <a16:creationId xmlns:a16="http://schemas.microsoft.com/office/drawing/2014/main" id="{C5932F67-5918-95D1-FC3F-1E9367021E5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945DF42-1E65-E9E8-8829-7BAC4FDAB427}"/>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4012333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6204B-7F65-A14A-5C65-581FAC0B210E}"/>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A3F43BF4-84FB-EC1E-C713-ACF8207AC7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CE13CD54-2628-1132-FF83-57438FB753D7}"/>
              </a:ext>
            </a:extLst>
          </p:cNvPr>
          <p:cNvSpPr>
            <a:spLocks noGrp="1"/>
          </p:cNvSpPr>
          <p:nvPr>
            <p:ph type="dt" sz="half" idx="10"/>
          </p:nvPr>
        </p:nvSpPr>
        <p:spPr/>
        <p:txBody>
          <a:bodyPr/>
          <a:lstStyle/>
          <a:p>
            <a:fld id="{8F4F45A9-6E4D-2A42-9A35-4CDBDC80A5D5}" type="datetime1">
              <a:rPr lang="en-US" smtClean="0"/>
              <a:t>11/23/25</a:t>
            </a:fld>
            <a:endParaRPr lang="en-JP"/>
          </a:p>
        </p:txBody>
      </p:sp>
      <p:sp>
        <p:nvSpPr>
          <p:cNvPr id="5" name="Footer Placeholder 4">
            <a:extLst>
              <a:ext uri="{FF2B5EF4-FFF2-40B4-BE49-F238E27FC236}">
                <a16:creationId xmlns:a16="http://schemas.microsoft.com/office/drawing/2014/main" id="{7A7BA0A3-A09A-4B43-2CFE-7DAA3A5EC5E0}"/>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DFB7D9C-E569-09D2-A1E4-C91D91FDDAC9}"/>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291083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2732-45C7-9FB9-9A02-6E34877E56A2}"/>
              </a:ext>
            </a:extLst>
          </p:cNvPr>
          <p:cNvSpPr>
            <a:spLocks noGrp="1"/>
          </p:cNvSpPr>
          <p:nvPr>
            <p:ph type="title"/>
          </p:nvPr>
        </p:nvSpPr>
        <p:spPr>
          <a:xfrm>
            <a:off x="748904" y="2051050"/>
            <a:ext cx="9464278" cy="3424238"/>
          </a:xfrm>
          <a:prstGeom prst="rect">
            <a:avLst/>
          </a:prstGeo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729CFC36-F9F0-3091-1F4F-0B811466DA42}"/>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CEFF21-0828-1873-7BFB-448D8592D6FB}"/>
              </a:ext>
            </a:extLst>
          </p:cNvPr>
          <p:cNvSpPr>
            <a:spLocks noGrp="1"/>
          </p:cNvSpPr>
          <p:nvPr>
            <p:ph type="dt" sz="half" idx="10"/>
          </p:nvPr>
        </p:nvSpPr>
        <p:spPr/>
        <p:txBody>
          <a:bodyPr/>
          <a:lstStyle/>
          <a:p>
            <a:fld id="{F7B47C1D-4419-C442-9E02-FB0318C3BA24}" type="datetime1">
              <a:rPr lang="en-US" smtClean="0"/>
              <a:t>11/23/25</a:t>
            </a:fld>
            <a:endParaRPr lang="en-JP"/>
          </a:p>
        </p:txBody>
      </p:sp>
      <p:sp>
        <p:nvSpPr>
          <p:cNvPr id="5" name="Footer Placeholder 4">
            <a:extLst>
              <a:ext uri="{FF2B5EF4-FFF2-40B4-BE49-F238E27FC236}">
                <a16:creationId xmlns:a16="http://schemas.microsoft.com/office/drawing/2014/main" id="{23F46096-70EA-83C4-7C7D-B274AA1DAB8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B9C0163C-18CC-F808-A373-42F6F907ECD4}"/>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1835340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EB90-98F6-A59A-2FD3-C52B7DFC3B4F}"/>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7318E10E-0A69-950E-AF1E-3E44D67C79E8}"/>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689CDD09-D6C4-FD93-43B3-67664781A3E6}"/>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9BD1D200-87AA-9A83-C3FF-18EA03766553}"/>
              </a:ext>
            </a:extLst>
          </p:cNvPr>
          <p:cNvSpPr>
            <a:spLocks noGrp="1"/>
          </p:cNvSpPr>
          <p:nvPr>
            <p:ph type="dt" sz="half" idx="10"/>
          </p:nvPr>
        </p:nvSpPr>
        <p:spPr/>
        <p:txBody>
          <a:bodyPr/>
          <a:lstStyle/>
          <a:p>
            <a:fld id="{6EF169BD-8218-DC4E-97C2-155B71896995}" type="datetime1">
              <a:rPr lang="en-US" smtClean="0"/>
              <a:t>11/23/25</a:t>
            </a:fld>
            <a:endParaRPr lang="en-JP"/>
          </a:p>
        </p:txBody>
      </p:sp>
      <p:sp>
        <p:nvSpPr>
          <p:cNvPr id="6" name="Footer Placeholder 5">
            <a:extLst>
              <a:ext uri="{FF2B5EF4-FFF2-40B4-BE49-F238E27FC236}">
                <a16:creationId xmlns:a16="http://schemas.microsoft.com/office/drawing/2014/main" id="{2C917384-8C6C-F224-1552-DD2D39F1189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1878D5-76AC-2AB1-254E-B4C230DB7070}"/>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6034113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DF09-6E74-9EEF-0E9B-9FF8D30F87C1}"/>
              </a:ext>
            </a:extLst>
          </p:cNvPr>
          <p:cNvSpPr>
            <a:spLocks noGrp="1"/>
          </p:cNvSpPr>
          <p:nvPr>
            <p:ph type="title"/>
          </p:nvPr>
        </p:nvSpPr>
        <p:spPr>
          <a:xfrm>
            <a:off x="756048" y="438150"/>
            <a:ext cx="9464278" cy="1590675"/>
          </a:xfrm>
          <a:prstGeom prst="rect">
            <a:avLst/>
          </a:prstGeo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C1CD155E-AC72-3CF6-5AF5-C3AFB9010AE3}"/>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38AF9F2-A00A-A751-1CF5-A1C78B9BC364}"/>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492830FB-6277-AD9D-2EC4-FB33A7E3627D}"/>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5E510-8C54-9436-1524-452BFF14EA28}"/>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5EDE775A-DBFA-FAED-0BFC-60FB80911F02}"/>
              </a:ext>
            </a:extLst>
          </p:cNvPr>
          <p:cNvSpPr>
            <a:spLocks noGrp="1"/>
          </p:cNvSpPr>
          <p:nvPr>
            <p:ph type="dt" sz="half" idx="10"/>
          </p:nvPr>
        </p:nvSpPr>
        <p:spPr/>
        <p:txBody>
          <a:bodyPr/>
          <a:lstStyle/>
          <a:p>
            <a:fld id="{5E8997C4-E9A3-3F42-B5F2-2B4E142B59BC}" type="datetime1">
              <a:rPr lang="en-US" smtClean="0"/>
              <a:t>11/23/25</a:t>
            </a:fld>
            <a:endParaRPr lang="en-JP"/>
          </a:p>
        </p:txBody>
      </p:sp>
      <p:sp>
        <p:nvSpPr>
          <p:cNvPr id="8" name="Footer Placeholder 7">
            <a:extLst>
              <a:ext uri="{FF2B5EF4-FFF2-40B4-BE49-F238E27FC236}">
                <a16:creationId xmlns:a16="http://schemas.microsoft.com/office/drawing/2014/main" id="{EB0A908A-87FC-B2DF-1F3F-3BEA56646025}"/>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34D52DAB-9ABD-731C-8315-7E72037D1257}"/>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142210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8019B-34F2-1877-AEA1-329AAC5E7FCC}"/>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D185E48-F416-E30C-752E-4919D04AA92B}"/>
              </a:ext>
            </a:extLst>
          </p:cNvPr>
          <p:cNvSpPr>
            <a:spLocks noGrp="1"/>
          </p:cNvSpPr>
          <p:nvPr>
            <p:ph type="dt" sz="half" idx="10"/>
          </p:nvPr>
        </p:nvSpPr>
        <p:spPr/>
        <p:txBody>
          <a:bodyPr/>
          <a:lstStyle/>
          <a:p>
            <a:fld id="{99C473E3-22E1-674E-8FFD-3809CC987FB2}" type="datetime1">
              <a:rPr lang="en-US" smtClean="0"/>
              <a:t>11/23/25</a:t>
            </a:fld>
            <a:endParaRPr lang="en-JP"/>
          </a:p>
        </p:txBody>
      </p:sp>
      <p:sp>
        <p:nvSpPr>
          <p:cNvPr id="4" name="Footer Placeholder 3">
            <a:extLst>
              <a:ext uri="{FF2B5EF4-FFF2-40B4-BE49-F238E27FC236}">
                <a16:creationId xmlns:a16="http://schemas.microsoft.com/office/drawing/2014/main" id="{738D77CA-379D-64F3-830F-543076A0E112}"/>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2C53A1D9-0F70-687E-D1D3-46EDE42117AE}"/>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941499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245BD9-2CFC-B9BA-5395-014CC76BA219}"/>
              </a:ext>
            </a:extLst>
          </p:cNvPr>
          <p:cNvSpPr>
            <a:spLocks noGrp="1"/>
          </p:cNvSpPr>
          <p:nvPr>
            <p:ph type="dt" sz="half" idx="10"/>
          </p:nvPr>
        </p:nvSpPr>
        <p:spPr/>
        <p:txBody>
          <a:bodyPr/>
          <a:lstStyle/>
          <a:p>
            <a:fld id="{A3E2C550-90C0-1F49-B4B0-D11C91DA19ED}" type="datetime1">
              <a:rPr lang="en-US" smtClean="0"/>
              <a:t>11/23/25</a:t>
            </a:fld>
            <a:endParaRPr lang="en-JP"/>
          </a:p>
        </p:txBody>
      </p:sp>
      <p:sp>
        <p:nvSpPr>
          <p:cNvPr id="3" name="Footer Placeholder 2">
            <a:extLst>
              <a:ext uri="{FF2B5EF4-FFF2-40B4-BE49-F238E27FC236}">
                <a16:creationId xmlns:a16="http://schemas.microsoft.com/office/drawing/2014/main" id="{4E794B1C-749F-866A-0AA4-0B57BFFD1246}"/>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98FF7E6F-2A42-2D07-AE3B-9F6CD09376DD}"/>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250617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86CAA-AC40-283D-313F-7BB784CF9F53}"/>
              </a:ext>
            </a:extLst>
          </p:cNvPr>
          <p:cNvSpPr>
            <a:spLocks noGrp="1"/>
          </p:cNvSpPr>
          <p:nvPr>
            <p:ph type="title"/>
          </p:nvPr>
        </p:nvSpPr>
        <p:spPr>
          <a:xfrm>
            <a:off x="756047" y="549275"/>
            <a:ext cx="3538538" cy="1919288"/>
          </a:xfrm>
          <a:prstGeom prst="rect">
            <a:avLst/>
          </a:prstGeo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7079D07E-C75F-7E29-F7B9-A676C89D91B2}"/>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3B7E8002-B3AA-3F49-8DE8-04D509247DE8}"/>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8974855-190C-5440-11A1-8E4EFC5C2186}"/>
              </a:ext>
            </a:extLst>
          </p:cNvPr>
          <p:cNvSpPr>
            <a:spLocks noGrp="1"/>
          </p:cNvSpPr>
          <p:nvPr>
            <p:ph type="dt" sz="half" idx="10"/>
          </p:nvPr>
        </p:nvSpPr>
        <p:spPr/>
        <p:txBody>
          <a:bodyPr/>
          <a:lstStyle/>
          <a:p>
            <a:fld id="{EE2F8BC0-DEE5-4541-B0CC-18CDD0E66A34}" type="datetime1">
              <a:rPr lang="en-US" smtClean="0"/>
              <a:t>11/23/25</a:t>
            </a:fld>
            <a:endParaRPr lang="en-JP"/>
          </a:p>
        </p:txBody>
      </p:sp>
      <p:sp>
        <p:nvSpPr>
          <p:cNvPr id="6" name="Footer Placeholder 5">
            <a:extLst>
              <a:ext uri="{FF2B5EF4-FFF2-40B4-BE49-F238E27FC236}">
                <a16:creationId xmlns:a16="http://schemas.microsoft.com/office/drawing/2014/main" id="{2F3BB797-9E5E-D15C-7A1B-C20A2E18ED5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D4D14BB5-C07B-B57D-A3B8-FE2FC01CDDA1}"/>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465270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3BA2C-9A5A-B384-BDF9-D27E6BE8FF12}"/>
              </a:ext>
            </a:extLst>
          </p:cNvPr>
          <p:cNvSpPr>
            <a:spLocks noGrp="1"/>
          </p:cNvSpPr>
          <p:nvPr>
            <p:ph type="title"/>
          </p:nvPr>
        </p:nvSpPr>
        <p:spPr>
          <a:xfrm>
            <a:off x="756047" y="549275"/>
            <a:ext cx="3538538" cy="1919288"/>
          </a:xfrm>
          <a:prstGeom prst="rect">
            <a:avLst/>
          </a:prstGeo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E025D70-7DE4-F565-1491-EEA841A20F38}"/>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1D348444-B2F8-ED49-87C4-A2D5017B6BB5}"/>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98E227-5C9C-227A-8D27-BE359B1D91CF}"/>
              </a:ext>
            </a:extLst>
          </p:cNvPr>
          <p:cNvSpPr>
            <a:spLocks noGrp="1"/>
          </p:cNvSpPr>
          <p:nvPr>
            <p:ph type="dt" sz="half" idx="10"/>
          </p:nvPr>
        </p:nvSpPr>
        <p:spPr/>
        <p:txBody>
          <a:bodyPr/>
          <a:lstStyle/>
          <a:p>
            <a:fld id="{DA67A7E9-D8D8-0841-82A8-8D5C509ABE46}" type="datetime1">
              <a:rPr lang="en-US" smtClean="0"/>
              <a:t>11/23/25</a:t>
            </a:fld>
            <a:endParaRPr lang="en-JP"/>
          </a:p>
        </p:txBody>
      </p:sp>
      <p:sp>
        <p:nvSpPr>
          <p:cNvPr id="6" name="Footer Placeholder 5">
            <a:extLst>
              <a:ext uri="{FF2B5EF4-FFF2-40B4-BE49-F238E27FC236}">
                <a16:creationId xmlns:a16="http://schemas.microsoft.com/office/drawing/2014/main" id="{8DD1E6F6-D04F-EAC1-758B-BFC872D86B36}"/>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AF359617-AF52-F08A-9A2F-F294A23716E6}"/>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697724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EE5D8-96AC-D912-21E6-217B7D24D73B}"/>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A84559CB-9BBE-7BCD-9B6C-157B46F03D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1924E83-40E6-6F51-51D2-B96CE5D25573}"/>
              </a:ext>
            </a:extLst>
          </p:cNvPr>
          <p:cNvSpPr>
            <a:spLocks noGrp="1"/>
          </p:cNvSpPr>
          <p:nvPr>
            <p:ph type="dt" sz="half" idx="10"/>
          </p:nvPr>
        </p:nvSpPr>
        <p:spPr/>
        <p:txBody>
          <a:bodyPr/>
          <a:lstStyle/>
          <a:p>
            <a:fld id="{3696D3CB-7821-5246-897A-370FFE78AA1C}" type="datetime1">
              <a:rPr lang="en-US" smtClean="0"/>
              <a:t>11/23/25</a:t>
            </a:fld>
            <a:endParaRPr lang="en-JP"/>
          </a:p>
        </p:txBody>
      </p:sp>
      <p:sp>
        <p:nvSpPr>
          <p:cNvPr id="5" name="Footer Placeholder 4">
            <a:extLst>
              <a:ext uri="{FF2B5EF4-FFF2-40B4-BE49-F238E27FC236}">
                <a16:creationId xmlns:a16="http://schemas.microsoft.com/office/drawing/2014/main" id="{46179D22-7437-AFBA-69C0-171B3281CFE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5427287-1FCF-BA26-A565-589C23FD1075}"/>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1062986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6421F2-005D-7D58-8776-EDAA1CB0196E}"/>
              </a:ext>
            </a:extLst>
          </p:cNvPr>
          <p:cNvSpPr>
            <a:spLocks noGrp="1"/>
          </p:cNvSpPr>
          <p:nvPr>
            <p:ph type="title" orient="vert"/>
          </p:nvPr>
        </p:nvSpPr>
        <p:spPr>
          <a:xfrm>
            <a:off x="7852172" y="438150"/>
            <a:ext cx="2365772" cy="6973888"/>
          </a:xfrm>
          <a:prstGeom prst="rect">
            <a:avLst/>
          </a:prstGeo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D76BF8E0-D45C-C232-7DCE-CD5C6C839AEF}"/>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BA755D6-32F0-C701-20C9-DD2A04F8BBDB}"/>
              </a:ext>
            </a:extLst>
          </p:cNvPr>
          <p:cNvSpPr>
            <a:spLocks noGrp="1"/>
          </p:cNvSpPr>
          <p:nvPr>
            <p:ph type="dt" sz="half" idx="10"/>
          </p:nvPr>
        </p:nvSpPr>
        <p:spPr/>
        <p:txBody>
          <a:bodyPr/>
          <a:lstStyle/>
          <a:p>
            <a:fld id="{6E6A01D9-3A44-9A44-8472-D71C81B384EF}" type="datetime1">
              <a:rPr lang="en-US" smtClean="0"/>
              <a:t>11/23/25</a:t>
            </a:fld>
            <a:endParaRPr lang="en-JP"/>
          </a:p>
        </p:txBody>
      </p:sp>
      <p:sp>
        <p:nvSpPr>
          <p:cNvPr id="5" name="Footer Placeholder 4">
            <a:extLst>
              <a:ext uri="{FF2B5EF4-FFF2-40B4-BE49-F238E27FC236}">
                <a16:creationId xmlns:a16="http://schemas.microsoft.com/office/drawing/2014/main" id="{8F61231E-D726-648E-FC50-F49B8635E4A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7EF46D5-992B-CB8D-4442-07A09D239324}"/>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987744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C52F5-CDFA-49AC-FFC1-28931DA6B24E}"/>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50412FE2-2105-46AC-05D2-9F33BA4E1B6B}"/>
              </a:ext>
            </a:extLst>
          </p:cNvPr>
          <p:cNvSpPr>
            <a:spLocks noGrp="1"/>
          </p:cNvSpPr>
          <p:nvPr>
            <p:ph type="dt" sz="half" idx="10"/>
          </p:nvPr>
        </p:nvSpPr>
        <p:spPr/>
        <p:txBody>
          <a:bodyPr/>
          <a:lstStyle/>
          <a:p>
            <a:fld id="{BD7CFB75-C1B4-8A40-9BCC-8979E61F8CFE}" type="datetime1">
              <a:rPr lang="en-US" smtClean="0"/>
              <a:t>11/23/25</a:t>
            </a:fld>
            <a:endParaRPr lang="en-JP"/>
          </a:p>
        </p:txBody>
      </p:sp>
      <p:sp>
        <p:nvSpPr>
          <p:cNvPr id="4" name="Footer Placeholder 3">
            <a:extLst>
              <a:ext uri="{FF2B5EF4-FFF2-40B4-BE49-F238E27FC236}">
                <a16:creationId xmlns:a16="http://schemas.microsoft.com/office/drawing/2014/main" id="{5898C46B-7951-528E-4449-5BF16E76035C}"/>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7113AAD1-A609-2D10-3FB6-95A891517958}"/>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20747541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F2E6-44DD-B328-322C-2A18872CDA42}"/>
              </a:ext>
            </a:extLst>
          </p:cNvPr>
          <p:cNvSpPr>
            <a:spLocks noGrp="1"/>
          </p:cNvSpPr>
          <p:nvPr>
            <p:ph type="ctrTitle"/>
          </p:nvPr>
        </p:nvSpPr>
        <p:spPr>
          <a:xfrm>
            <a:off x="1371600" y="1346200"/>
            <a:ext cx="8229600" cy="2865438"/>
          </a:xfr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8CD0C367-58A6-3597-28E2-BA2E818F6D8E}"/>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93D67042-B0A7-6D29-6A2C-7061610836C1}"/>
              </a:ext>
            </a:extLst>
          </p:cNvPr>
          <p:cNvSpPr>
            <a:spLocks noGrp="1"/>
          </p:cNvSpPr>
          <p:nvPr>
            <p:ph type="dt" sz="half" idx="10"/>
          </p:nvPr>
        </p:nvSpPr>
        <p:spPr/>
        <p:txBody>
          <a:bodyPr/>
          <a:lstStyle/>
          <a:p>
            <a:fld id="{D405EAE3-C9C9-1D4E-8614-E28BDA395A19}" type="datetime1">
              <a:rPr lang="en-US" smtClean="0"/>
              <a:t>11/23/25</a:t>
            </a:fld>
            <a:endParaRPr lang="en-JP"/>
          </a:p>
        </p:txBody>
      </p:sp>
      <p:sp>
        <p:nvSpPr>
          <p:cNvPr id="5" name="Footer Placeholder 4">
            <a:extLst>
              <a:ext uri="{FF2B5EF4-FFF2-40B4-BE49-F238E27FC236}">
                <a16:creationId xmlns:a16="http://schemas.microsoft.com/office/drawing/2014/main" id="{6DC89067-ADB8-EF9F-7C68-27FC8162D37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A5ADAD0-B40A-E867-E381-E5559CEBD9A0}"/>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4276503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F9284-2DEF-8153-8A50-7D6EEE518C37}"/>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5BA4B1F6-5627-1A9A-3632-6751D08AF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E3481591-C904-5AF9-AD6F-E8437A416BFC}"/>
              </a:ext>
            </a:extLst>
          </p:cNvPr>
          <p:cNvSpPr>
            <a:spLocks noGrp="1"/>
          </p:cNvSpPr>
          <p:nvPr>
            <p:ph type="dt" sz="half" idx="10"/>
          </p:nvPr>
        </p:nvSpPr>
        <p:spPr/>
        <p:txBody>
          <a:bodyPr/>
          <a:lstStyle/>
          <a:p>
            <a:fld id="{C9DE4E81-407D-DE44-8C24-F86098ED2E3F}" type="datetime1">
              <a:rPr lang="en-US" smtClean="0"/>
              <a:t>11/23/25</a:t>
            </a:fld>
            <a:endParaRPr lang="en-JP"/>
          </a:p>
        </p:txBody>
      </p:sp>
      <p:sp>
        <p:nvSpPr>
          <p:cNvPr id="5" name="Footer Placeholder 4">
            <a:extLst>
              <a:ext uri="{FF2B5EF4-FFF2-40B4-BE49-F238E27FC236}">
                <a16:creationId xmlns:a16="http://schemas.microsoft.com/office/drawing/2014/main" id="{E94E2106-7EB2-CE94-550E-ADDE5EBE7EA0}"/>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5D648E5E-7355-38E4-74A2-25DB718C830E}"/>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7590640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2348E-D736-B452-D519-9379E5D9183E}"/>
              </a:ext>
            </a:extLst>
          </p:cNvPr>
          <p:cNvSpPr>
            <a:spLocks noGrp="1"/>
          </p:cNvSpPr>
          <p:nvPr>
            <p:ph type="title"/>
          </p:nvPr>
        </p:nvSpPr>
        <p:spPr>
          <a:xfrm>
            <a:off x="748904" y="2051050"/>
            <a:ext cx="9464278" cy="3424238"/>
          </a:xfr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1D0B9153-DC76-FF33-69E9-C4FD63A50ED6}"/>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04CAE8-B1E8-E412-454E-BFBF10E690B1}"/>
              </a:ext>
            </a:extLst>
          </p:cNvPr>
          <p:cNvSpPr>
            <a:spLocks noGrp="1"/>
          </p:cNvSpPr>
          <p:nvPr>
            <p:ph type="dt" sz="half" idx="10"/>
          </p:nvPr>
        </p:nvSpPr>
        <p:spPr/>
        <p:txBody>
          <a:bodyPr/>
          <a:lstStyle/>
          <a:p>
            <a:fld id="{E64D267B-9CD0-EF49-9E3E-452AEF61EE4B}" type="datetime1">
              <a:rPr lang="en-US" smtClean="0"/>
              <a:t>11/23/25</a:t>
            </a:fld>
            <a:endParaRPr lang="en-JP"/>
          </a:p>
        </p:txBody>
      </p:sp>
      <p:sp>
        <p:nvSpPr>
          <p:cNvPr id="5" name="Footer Placeholder 4">
            <a:extLst>
              <a:ext uri="{FF2B5EF4-FFF2-40B4-BE49-F238E27FC236}">
                <a16:creationId xmlns:a16="http://schemas.microsoft.com/office/drawing/2014/main" id="{7E381944-C26F-8114-D701-0A7778E3189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8F182A5-3E7A-F308-20D4-6B1AE6B320C2}"/>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3119142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9479-A3BB-40AF-9563-16F4F0758955}"/>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33C8161B-C994-C511-4F18-EE2F11C2AA58}"/>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AE71853F-C0CF-232B-F046-CDB857CFC8F5}"/>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43D54220-4C15-ABFB-8541-CF5D41A8B793}"/>
              </a:ext>
            </a:extLst>
          </p:cNvPr>
          <p:cNvSpPr>
            <a:spLocks noGrp="1"/>
          </p:cNvSpPr>
          <p:nvPr>
            <p:ph type="dt" sz="half" idx="10"/>
          </p:nvPr>
        </p:nvSpPr>
        <p:spPr/>
        <p:txBody>
          <a:bodyPr/>
          <a:lstStyle/>
          <a:p>
            <a:fld id="{312272C8-242E-054B-BCAF-8577726E83C4}" type="datetime1">
              <a:rPr lang="en-US" smtClean="0"/>
              <a:t>11/23/25</a:t>
            </a:fld>
            <a:endParaRPr lang="en-JP"/>
          </a:p>
        </p:txBody>
      </p:sp>
      <p:sp>
        <p:nvSpPr>
          <p:cNvPr id="6" name="Footer Placeholder 5">
            <a:extLst>
              <a:ext uri="{FF2B5EF4-FFF2-40B4-BE49-F238E27FC236}">
                <a16:creationId xmlns:a16="http://schemas.microsoft.com/office/drawing/2014/main" id="{A396DA8F-E5B2-F3CB-0861-3EB67548C557}"/>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0350B561-28D4-9770-AD79-18C19A104607}"/>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7691448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0E54-BAE3-6C83-1934-C2B9BE73CA0D}"/>
              </a:ext>
            </a:extLst>
          </p:cNvPr>
          <p:cNvSpPr>
            <a:spLocks noGrp="1"/>
          </p:cNvSpPr>
          <p:nvPr>
            <p:ph type="title"/>
          </p:nvPr>
        </p:nvSpPr>
        <p:spPr>
          <a:xfrm>
            <a:off x="756048" y="438150"/>
            <a:ext cx="9464278" cy="1590675"/>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AA327568-E3A8-2660-0024-AA7CB0AB03FE}"/>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56838-DE89-E1CD-A89A-6EE71A24B7BE}"/>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F47F0053-A9EA-D984-B7E7-199CEE22C033}"/>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19BC5-6B57-EA04-C738-CFE9FA2098BE}"/>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15EA903D-9866-A8F7-B58A-553BA3669411}"/>
              </a:ext>
            </a:extLst>
          </p:cNvPr>
          <p:cNvSpPr>
            <a:spLocks noGrp="1"/>
          </p:cNvSpPr>
          <p:nvPr>
            <p:ph type="dt" sz="half" idx="10"/>
          </p:nvPr>
        </p:nvSpPr>
        <p:spPr/>
        <p:txBody>
          <a:bodyPr/>
          <a:lstStyle/>
          <a:p>
            <a:fld id="{9C3F6197-3FC5-324C-BDBB-3602A38385D4}" type="datetime1">
              <a:rPr lang="en-US" smtClean="0"/>
              <a:t>11/23/25</a:t>
            </a:fld>
            <a:endParaRPr lang="en-JP"/>
          </a:p>
        </p:txBody>
      </p:sp>
      <p:sp>
        <p:nvSpPr>
          <p:cNvPr id="8" name="Footer Placeholder 7">
            <a:extLst>
              <a:ext uri="{FF2B5EF4-FFF2-40B4-BE49-F238E27FC236}">
                <a16:creationId xmlns:a16="http://schemas.microsoft.com/office/drawing/2014/main" id="{C61DAD1F-CDE7-B67E-4620-42CADC721F8D}"/>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9160AD52-59BA-E0A0-60E3-C02EAB153E11}"/>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8557759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1318-C10D-F870-45EE-2E19C47C8E1F}"/>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B45F5909-9C1B-7404-B382-6C896108BC46}"/>
              </a:ext>
            </a:extLst>
          </p:cNvPr>
          <p:cNvSpPr>
            <a:spLocks noGrp="1"/>
          </p:cNvSpPr>
          <p:nvPr>
            <p:ph type="dt" sz="half" idx="10"/>
          </p:nvPr>
        </p:nvSpPr>
        <p:spPr/>
        <p:txBody>
          <a:bodyPr/>
          <a:lstStyle/>
          <a:p>
            <a:fld id="{8E2D9B82-91F1-E44C-B246-FEDB19454D51}" type="datetime1">
              <a:rPr lang="en-US" smtClean="0"/>
              <a:t>11/23/25</a:t>
            </a:fld>
            <a:endParaRPr lang="en-JP"/>
          </a:p>
        </p:txBody>
      </p:sp>
      <p:sp>
        <p:nvSpPr>
          <p:cNvPr id="4" name="Footer Placeholder 3">
            <a:extLst>
              <a:ext uri="{FF2B5EF4-FFF2-40B4-BE49-F238E27FC236}">
                <a16:creationId xmlns:a16="http://schemas.microsoft.com/office/drawing/2014/main" id="{9F2BC8FF-A46A-994C-8DC7-94CF7337BD5A}"/>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8C648D87-A3BF-C033-E88A-970DEF6BA402}"/>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40306702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6D9D58-ECBD-BB6D-1ADC-4401DCDB4F31}"/>
              </a:ext>
            </a:extLst>
          </p:cNvPr>
          <p:cNvSpPr>
            <a:spLocks noGrp="1"/>
          </p:cNvSpPr>
          <p:nvPr>
            <p:ph type="dt" sz="half" idx="10"/>
          </p:nvPr>
        </p:nvSpPr>
        <p:spPr/>
        <p:txBody>
          <a:bodyPr/>
          <a:lstStyle/>
          <a:p>
            <a:fld id="{F5D3B01F-2C5E-D34C-B604-03AC5CB7FCD1}" type="datetime1">
              <a:rPr lang="en-US" smtClean="0"/>
              <a:t>11/23/25</a:t>
            </a:fld>
            <a:endParaRPr lang="en-JP"/>
          </a:p>
        </p:txBody>
      </p:sp>
      <p:sp>
        <p:nvSpPr>
          <p:cNvPr id="3" name="Footer Placeholder 2">
            <a:extLst>
              <a:ext uri="{FF2B5EF4-FFF2-40B4-BE49-F238E27FC236}">
                <a16:creationId xmlns:a16="http://schemas.microsoft.com/office/drawing/2014/main" id="{EF0726D8-C730-4556-7F4F-12A5C0BB848D}"/>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7FDAF386-89B2-7DEA-A137-846C7DB56FCD}"/>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859564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D9F08-727E-A0B6-2EF1-43C15269514C}"/>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96094813-847F-919C-8424-F54104550BB2}"/>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F8E9BC44-9D1D-EECC-D98E-29FA513A4383}"/>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CA389DC-D12B-65DA-4288-BA19B96A6745}"/>
              </a:ext>
            </a:extLst>
          </p:cNvPr>
          <p:cNvSpPr>
            <a:spLocks noGrp="1"/>
          </p:cNvSpPr>
          <p:nvPr>
            <p:ph type="dt" sz="half" idx="10"/>
          </p:nvPr>
        </p:nvSpPr>
        <p:spPr/>
        <p:txBody>
          <a:bodyPr/>
          <a:lstStyle/>
          <a:p>
            <a:fld id="{703A0D6D-04BE-2647-B515-18E6EAFE1DBE}" type="datetime1">
              <a:rPr lang="en-US" smtClean="0"/>
              <a:t>11/23/25</a:t>
            </a:fld>
            <a:endParaRPr lang="en-JP"/>
          </a:p>
        </p:txBody>
      </p:sp>
      <p:sp>
        <p:nvSpPr>
          <p:cNvPr id="6" name="Footer Placeholder 5">
            <a:extLst>
              <a:ext uri="{FF2B5EF4-FFF2-40B4-BE49-F238E27FC236}">
                <a16:creationId xmlns:a16="http://schemas.microsoft.com/office/drawing/2014/main" id="{4D25EF9E-EB64-0F08-90A8-A7F84A28D4F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C32DB0DF-CC8E-D1C6-8ED1-17D606079E9F}"/>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2190051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09F7-955C-B9F8-1461-CE7843D1F364}"/>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8CB3ABF-1462-6370-55BE-4D92309F3DB1}"/>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55B85545-A0CE-AD88-13FB-CDF7A004BF70}"/>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6B2DAF6-0025-C98F-D979-C1ABF3E74EB1}"/>
              </a:ext>
            </a:extLst>
          </p:cNvPr>
          <p:cNvSpPr>
            <a:spLocks noGrp="1"/>
          </p:cNvSpPr>
          <p:nvPr>
            <p:ph type="dt" sz="half" idx="10"/>
          </p:nvPr>
        </p:nvSpPr>
        <p:spPr/>
        <p:txBody>
          <a:bodyPr/>
          <a:lstStyle/>
          <a:p>
            <a:fld id="{A90EFB3B-A5EA-AF41-A254-247C3988087B}" type="datetime1">
              <a:rPr lang="en-US" smtClean="0"/>
              <a:t>11/23/25</a:t>
            </a:fld>
            <a:endParaRPr lang="en-JP"/>
          </a:p>
        </p:txBody>
      </p:sp>
      <p:sp>
        <p:nvSpPr>
          <p:cNvPr id="6" name="Footer Placeholder 5">
            <a:extLst>
              <a:ext uri="{FF2B5EF4-FFF2-40B4-BE49-F238E27FC236}">
                <a16:creationId xmlns:a16="http://schemas.microsoft.com/office/drawing/2014/main" id="{8882B7F0-2F12-0322-0B3F-FA1967A8FCDD}"/>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8E7CD900-15F6-0971-230F-097CD8352450}"/>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352942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D5E7-AA96-29B6-567C-A4E5BEAE7A84}"/>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4CE908A4-3351-DD44-D8F1-DC2F16255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E959147-83CE-ECB5-D29C-B1CDA7BCCB1C}"/>
              </a:ext>
            </a:extLst>
          </p:cNvPr>
          <p:cNvSpPr>
            <a:spLocks noGrp="1"/>
          </p:cNvSpPr>
          <p:nvPr>
            <p:ph type="dt" sz="half" idx="10"/>
          </p:nvPr>
        </p:nvSpPr>
        <p:spPr/>
        <p:txBody>
          <a:bodyPr/>
          <a:lstStyle/>
          <a:p>
            <a:fld id="{48BC6443-F4A6-C64C-B0E9-3B238EA819FE}" type="datetime1">
              <a:rPr lang="en-US" smtClean="0"/>
              <a:t>11/23/25</a:t>
            </a:fld>
            <a:endParaRPr lang="en-JP"/>
          </a:p>
        </p:txBody>
      </p:sp>
      <p:sp>
        <p:nvSpPr>
          <p:cNvPr id="5" name="Footer Placeholder 4">
            <a:extLst>
              <a:ext uri="{FF2B5EF4-FFF2-40B4-BE49-F238E27FC236}">
                <a16:creationId xmlns:a16="http://schemas.microsoft.com/office/drawing/2014/main" id="{B460DBC6-DE9D-F5B1-53AD-E6B1520EACB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85064D3-889E-116E-7472-8EFB596123CC}"/>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22974166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E7053-7825-F71D-BBFF-6B9453DED73F}"/>
              </a:ext>
            </a:extLst>
          </p:cNvPr>
          <p:cNvSpPr>
            <a:spLocks noGrp="1"/>
          </p:cNvSpPr>
          <p:nvPr>
            <p:ph type="title" orient="vert"/>
          </p:nvPr>
        </p:nvSpPr>
        <p:spPr>
          <a:xfrm>
            <a:off x="7852172" y="438150"/>
            <a:ext cx="2365772" cy="697388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C85F046-A990-0CD5-091C-97B2815EAE35}"/>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372B9617-F979-D30A-CFA2-16DFEC8FC76A}"/>
              </a:ext>
            </a:extLst>
          </p:cNvPr>
          <p:cNvSpPr>
            <a:spLocks noGrp="1"/>
          </p:cNvSpPr>
          <p:nvPr>
            <p:ph type="dt" sz="half" idx="10"/>
          </p:nvPr>
        </p:nvSpPr>
        <p:spPr/>
        <p:txBody>
          <a:bodyPr/>
          <a:lstStyle/>
          <a:p>
            <a:fld id="{8DC031EA-17C8-0A4F-AE21-D45158ED2220}" type="datetime1">
              <a:rPr lang="en-US" smtClean="0"/>
              <a:t>11/23/25</a:t>
            </a:fld>
            <a:endParaRPr lang="en-JP"/>
          </a:p>
        </p:txBody>
      </p:sp>
      <p:sp>
        <p:nvSpPr>
          <p:cNvPr id="5" name="Footer Placeholder 4">
            <a:extLst>
              <a:ext uri="{FF2B5EF4-FFF2-40B4-BE49-F238E27FC236}">
                <a16:creationId xmlns:a16="http://schemas.microsoft.com/office/drawing/2014/main" id="{16A0F11A-49AB-4B5E-743C-C2A9D80264E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61B88B5-45FD-99B9-02B3-AC1CA9C62571}"/>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4042095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1346836"/>
            <a:ext cx="932688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371600" y="4322446"/>
            <a:ext cx="82296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E9765C-3D97-5540-ABF0-223CE55BA16E}"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816857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0B296-DC36-8345-8E0D-8DF03FA5664C}" type="datetime1">
              <a:rPr lang="en-US" smtClean="0"/>
              <a:pPr/>
              <a:t>11/23/25</a:t>
            </a:fld>
            <a:endParaRPr lang="en-JP" dirty="0"/>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2800">
                <a:solidFill>
                  <a:schemeClr val="tx1"/>
                </a:solidFill>
                <a:latin typeface="Meiryo" panose="020B0604030504040204" pitchFamily="34" charset="-128"/>
                <a:ea typeface="Meiryo" panose="020B0604030504040204" pitchFamily="34" charset="-128"/>
              </a:defRPr>
            </a:lvl1pPr>
          </a:lstStyle>
          <a:p>
            <a:fld id="{BB44241B-2579-694C-B40C-A1E3D5F0E4EC}" type="slidenum">
              <a:rPr lang="en-JP" smtClean="0"/>
              <a:pPr/>
              <a:t>‹#›</a:t>
            </a:fld>
            <a:endParaRPr lang="en-JP" dirty="0"/>
          </a:p>
        </p:txBody>
      </p:sp>
    </p:spTree>
    <p:extLst>
      <p:ext uri="{BB962C8B-B14F-4D97-AF65-F5344CB8AC3E}">
        <p14:creationId xmlns:p14="http://schemas.microsoft.com/office/powerpoint/2010/main" val="9228056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8666" y="2051688"/>
            <a:ext cx="946404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748666" y="5507358"/>
            <a:ext cx="9464040" cy="1800224"/>
          </a:xfrm>
        </p:spPr>
        <p:txBody>
          <a:bodyPr/>
          <a:lstStyle>
            <a:lvl1pPr marL="0" indent="0">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B76521-4FC8-764E-BB1F-57594C671824}" type="datetime1">
              <a:rPr lang="en-US" smtClean="0"/>
              <a:t>11/23/25</a:t>
            </a:fld>
            <a:endParaRPr lang="en-JP" dirty="0"/>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pPr/>
              <a:t>‹#›</a:t>
            </a:fld>
            <a:endParaRPr lang="en-JP" dirty="0"/>
          </a:p>
        </p:txBody>
      </p:sp>
    </p:spTree>
    <p:extLst>
      <p:ext uri="{BB962C8B-B14F-4D97-AF65-F5344CB8AC3E}">
        <p14:creationId xmlns:p14="http://schemas.microsoft.com/office/powerpoint/2010/main" val="21554220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54380" y="2190750"/>
            <a:ext cx="466344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54980" y="2190750"/>
            <a:ext cx="466344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CAFDF2-1198-3B4D-B568-A2E3C3AD01CE}"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7496305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5809" y="438152"/>
            <a:ext cx="946404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55810" y="2017396"/>
            <a:ext cx="46420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755810" y="3006090"/>
            <a:ext cx="4642008"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554981" y="2017396"/>
            <a:ext cx="466486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5554981" y="3006090"/>
            <a:ext cx="4664869"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2B826E-8B34-CD42-B22B-92207F7EE9A4}" type="datetime1">
              <a:rPr lang="en-US" smtClean="0"/>
              <a:t>11/23/25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924312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CB4929-3879-8141-8AAE-20EE1616273B}" type="datetime1">
              <a:rPr lang="en-US" smtClean="0"/>
              <a:t>11/23/25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480971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690B08-E463-CB4B-84C4-1A68FF584F65}" type="datetime1">
              <a:rPr lang="en-US" smtClean="0"/>
              <a:t>11/23/25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3080363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548640"/>
            <a:ext cx="353901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4664869" y="1184912"/>
            <a:ext cx="555498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55809" y="2468880"/>
            <a:ext cx="353901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59030C7-1DAA-D245-B66F-97CC5DC42346}"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805586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548640"/>
            <a:ext cx="353901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664869" y="1184912"/>
            <a:ext cx="555498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755809" y="2468880"/>
            <a:ext cx="353901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AECAC79-2202-944F-A05D-F5D8BC2531DE}"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6491579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13F2E-CB71-164B-9B7B-8EE15B11C111}"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5415362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411" y="438150"/>
            <a:ext cx="236601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54381" y="438150"/>
            <a:ext cx="696087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DD0A7-161A-564E-A576-D412E9CE08DF}"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525604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8B27D3-9C3C-69A7-EBEE-63DA64E016D8}"/>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2D02E0D0-562C-EDAE-7374-6F22CC50AF6E}"/>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EB5FF2E-3FB9-33EF-4D7E-48614A8F0787}"/>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F1AF847B-2E0D-2F4C-B677-A794587F37D6}" type="datetime1">
              <a:rPr lang="en-US" smtClean="0"/>
              <a:t>11/23/25</a:t>
            </a:fld>
            <a:endParaRPr lang="en-JP"/>
          </a:p>
        </p:txBody>
      </p:sp>
      <p:sp>
        <p:nvSpPr>
          <p:cNvPr id="5" name="Footer Placeholder 4">
            <a:extLst>
              <a:ext uri="{FF2B5EF4-FFF2-40B4-BE49-F238E27FC236}">
                <a16:creationId xmlns:a16="http://schemas.microsoft.com/office/drawing/2014/main" id="{069DE953-0E55-7A84-F14A-91EE84C82586}"/>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8F185BCA-A32E-1B1D-A537-1289087DF057}"/>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9F6B9C13-1D13-1243-A0D0-B9A0896330AC}" type="slidenum">
              <a:rPr lang="en-JP" smtClean="0"/>
              <a:t>‹#›</a:t>
            </a:fld>
            <a:endParaRPr lang="en-JP"/>
          </a:p>
        </p:txBody>
      </p:sp>
    </p:spTree>
    <p:extLst>
      <p:ext uri="{BB962C8B-B14F-4D97-AF65-F5344CB8AC3E}">
        <p14:creationId xmlns:p14="http://schemas.microsoft.com/office/powerpoint/2010/main" val="17100919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DED023-492F-F0DC-6E06-5E07114DD953}"/>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AED8022-1832-BC57-EA9F-1B5978FC4F9C}"/>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0911850F-F756-D04A-A678-2A969394E806}" type="datetime1">
              <a:rPr lang="en-US" smtClean="0"/>
              <a:t>11/23/25</a:t>
            </a:fld>
            <a:endParaRPr lang="en-JP"/>
          </a:p>
        </p:txBody>
      </p:sp>
      <p:sp>
        <p:nvSpPr>
          <p:cNvPr id="5" name="Footer Placeholder 4">
            <a:extLst>
              <a:ext uri="{FF2B5EF4-FFF2-40B4-BE49-F238E27FC236}">
                <a16:creationId xmlns:a16="http://schemas.microsoft.com/office/drawing/2014/main" id="{BC8E87C8-C564-198E-144C-DBD0290E251D}"/>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3524661F-7ACC-800F-4349-0E9B012E556D}"/>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62996F2A-F6DB-8C4D-8FEF-34A665CD3D52}" type="slidenum">
              <a:rPr lang="en-JP" smtClean="0"/>
              <a:t>‹#›</a:t>
            </a:fld>
            <a:endParaRPr lang="en-JP"/>
          </a:p>
        </p:txBody>
      </p:sp>
      <p:sp>
        <p:nvSpPr>
          <p:cNvPr id="7" name="Title Placeholder 6">
            <a:extLst>
              <a:ext uri="{FF2B5EF4-FFF2-40B4-BE49-F238E27FC236}">
                <a16:creationId xmlns:a16="http://schemas.microsoft.com/office/drawing/2014/main" id="{E2A1CFA1-CAE1-4D8F-3F30-E8A8DDA43442}"/>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Tree>
    <p:extLst>
      <p:ext uri="{BB962C8B-B14F-4D97-AF65-F5344CB8AC3E}">
        <p14:creationId xmlns:p14="http://schemas.microsoft.com/office/powerpoint/2010/main" val="2175828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940023-088D-65EA-CD4F-F232CAD5DA75}"/>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ECA183F3-FCAD-0675-E3D0-F482548A6D10}"/>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CAE8941-D270-D9AC-1D41-715AA9CB3C5E}"/>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99E0EC56-3911-0E40-A861-6727CDA1E4C2}" type="datetime1">
              <a:rPr lang="en-US" smtClean="0"/>
              <a:t>11/23/25</a:t>
            </a:fld>
            <a:endParaRPr lang="en-JP"/>
          </a:p>
        </p:txBody>
      </p:sp>
      <p:sp>
        <p:nvSpPr>
          <p:cNvPr id="5" name="Footer Placeholder 4">
            <a:extLst>
              <a:ext uri="{FF2B5EF4-FFF2-40B4-BE49-F238E27FC236}">
                <a16:creationId xmlns:a16="http://schemas.microsoft.com/office/drawing/2014/main" id="{99562580-155A-50B4-79DE-EAE97E4437C2}"/>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617589F1-3208-F1EC-F7DE-B538B5C72EBE}"/>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46CE7DEF-C53B-4347-9693-B48E6FD4D6D8}" type="slidenum">
              <a:rPr lang="en-JP" smtClean="0"/>
              <a:t>‹#›</a:t>
            </a:fld>
            <a:endParaRPr lang="en-JP"/>
          </a:p>
        </p:txBody>
      </p:sp>
    </p:spTree>
    <p:extLst>
      <p:ext uri="{BB962C8B-B14F-4D97-AF65-F5344CB8AC3E}">
        <p14:creationId xmlns:p14="http://schemas.microsoft.com/office/powerpoint/2010/main" val="240680214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4380" y="438152"/>
            <a:ext cx="946404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54380" y="2190750"/>
            <a:ext cx="946404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4380" y="7627622"/>
            <a:ext cx="246888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0758E5F3-D459-8E4F-AAD1-51A7D68ED6FF}" type="datetime1">
              <a:rPr lang="en-US" smtClean="0"/>
              <a:t>11/23/25</a:t>
            </a:fld>
            <a:endParaRPr lang="en-JP"/>
          </a:p>
        </p:txBody>
      </p:sp>
      <p:sp>
        <p:nvSpPr>
          <p:cNvPr id="5" name="Footer Placeholder 4"/>
          <p:cNvSpPr>
            <a:spLocks noGrp="1"/>
          </p:cNvSpPr>
          <p:nvPr>
            <p:ph type="ftr" sz="quarter" idx="3"/>
          </p:nvPr>
        </p:nvSpPr>
        <p:spPr>
          <a:xfrm>
            <a:off x="3634740" y="7627622"/>
            <a:ext cx="370332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7749540" y="7627622"/>
            <a:ext cx="246888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BB44241B-2579-694C-B40C-A1E3D5F0E4EC}" type="slidenum">
              <a:rPr lang="en-JP" smtClean="0"/>
              <a:t>‹#›</a:t>
            </a:fld>
            <a:endParaRPr lang="en-JP"/>
          </a:p>
        </p:txBody>
      </p:sp>
    </p:spTree>
    <p:extLst>
      <p:ext uri="{BB962C8B-B14F-4D97-AF65-F5344CB8AC3E}">
        <p14:creationId xmlns:p14="http://schemas.microsoft.com/office/powerpoint/2010/main" val="6363066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mdpi.com/journal/sensors/special_issues/CybersecurityIoT" TargetMode="Externa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hyperlink" Target="https://www.mdpi.com/journal/sensors/special_issues/CybersecurityIoT" TargetMode="External"/><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3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37.xml"/><Relationship Id="rId5" Type="http://schemas.openxmlformats.org/officeDocument/2006/relationships/image" Target="../media/image33.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6CD778-B5F1-E14A-411B-8E0AE18D20A3}"/>
              </a:ext>
            </a:extLst>
          </p:cNvPr>
          <p:cNvSpPr txBox="1"/>
          <p:nvPr/>
        </p:nvSpPr>
        <p:spPr>
          <a:xfrm>
            <a:off x="3842295" y="824920"/>
            <a:ext cx="5489744" cy="480131"/>
          </a:xfrm>
          <a:prstGeom prst="rect">
            <a:avLst/>
          </a:prstGeom>
          <a:noFill/>
        </p:spPr>
        <p:txBody>
          <a:bodyPr wrap="square">
            <a:spAutoFit/>
          </a:bodyPr>
          <a:lstStyle/>
          <a:p>
            <a:r>
              <a:rPr lang="ja-JP" altLang="en-US" sz="2520" b="1" dirty="0">
                <a:latin typeface="Meiryo" panose="020B0604030504040204" pitchFamily="34" charset="-128"/>
                <a:ea typeface="Meiryo" panose="020B0604030504040204" pitchFamily="34" charset="-128"/>
              </a:rPr>
              <a:t>談話会発表</a:t>
            </a:r>
          </a:p>
        </p:txBody>
      </p:sp>
      <p:sp>
        <p:nvSpPr>
          <p:cNvPr id="9" name="TextBox 8">
            <a:extLst>
              <a:ext uri="{FF2B5EF4-FFF2-40B4-BE49-F238E27FC236}">
                <a16:creationId xmlns:a16="http://schemas.microsoft.com/office/drawing/2014/main" id="{2B109025-35DE-BC47-916D-50FA479740D9}"/>
              </a:ext>
            </a:extLst>
          </p:cNvPr>
          <p:cNvSpPr txBox="1"/>
          <p:nvPr/>
        </p:nvSpPr>
        <p:spPr>
          <a:xfrm>
            <a:off x="1621945" y="2214043"/>
            <a:ext cx="7710094" cy="1077218"/>
          </a:xfrm>
          <a:prstGeom prst="rect">
            <a:avLst/>
          </a:prstGeom>
          <a:noFill/>
        </p:spPr>
        <p:txBody>
          <a:bodyPr wrap="square">
            <a:spAutoFit/>
          </a:bodyPr>
          <a:lstStyle/>
          <a:p>
            <a:pPr algn="ctr"/>
            <a:r>
              <a:rPr lang="en-US" sz="3200" dirty="0">
                <a:solidFill>
                  <a:srgbClr val="000000"/>
                </a:solidFill>
                <a:latin typeface="Times New Roman" panose="02020603050405020304" pitchFamily="18" charset="0"/>
                <a:cs typeface="Times New Roman" panose="02020603050405020304" pitchFamily="18" charset="0"/>
              </a:rPr>
              <a:t>Realguard: A Lightweight Network Intrusion Detection System for IoT Gateways </a:t>
            </a:r>
            <a:endParaRPr lang="en-JP" sz="32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C84762F-7835-874D-3F51-43B9F8C1F934}"/>
              </a:ext>
            </a:extLst>
          </p:cNvPr>
          <p:cNvSpPr txBox="1"/>
          <p:nvPr/>
        </p:nvSpPr>
        <p:spPr>
          <a:xfrm>
            <a:off x="2327863" y="5437517"/>
            <a:ext cx="7397162" cy="1938992"/>
          </a:xfrm>
          <a:prstGeom prst="rect">
            <a:avLst/>
          </a:prstGeom>
          <a:noFill/>
        </p:spPr>
        <p:txBody>
          <a:bodyPr wrap="square">
            <a:spAutoFit/>
          </a:bodyPr>
          <a:lstStyle/>
          <a:p>
            <a:r>
              <a:rPr lang="ja-JP" altLang="en-US" sz="2400" dirty="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dirty="0">
                <a:latin typeface="Meiryo" panose="020B0604030504040204" pitchFamily="34" charset="-128"/>
                <a:ea typeface="Meiryo" panose="020B0604030504040204" pitchFamily="34" charset="-128"/>
              </a:rPr>
              <a:t>指導教員： 池部 実 講師</a:t>
            </a:r>
            <a:r>
              <a:rPr lang="en-US" altLang="ja-JP" sz="2400" dirty="0">
                <a:latin typeface="Meiryo" panose="020B0604030504040204" pitchFamily="34" charset="-128"/>
                <a:ea typeface="Meiryo" panose="020B0604030504040204" pitchFamily="34" charset="-128"/>
              </a:rPr>
              <a:t>  </a:t>
            </a:r>
            <a:r>
              <a:rPr lang="ja-JP" altLang="en-US" sz="2400" dirty="0">
                <a:latin typeface="Meiryo" panose="020B0604030504040204" pitchFamily="34" charset="-128"/>
                <a:ea typeface="Meiryo" panose="020B0604030504040204" pitchFamily="34" charset="-128"/>
              </a:rPr>
              <a:t>吉崎 弘一 教授</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2025</a:t>
            </a:r>
            <a:r>
              <a:rPr lang="ja-JP" altLang="en-US" sz="2400">
                <a:latin typeface="Meiryo" panose="020B0604030504040204" pitchFamily="34" charset="-128"/>
                <a:ea typeface="Meiryo" panose="020B0604030504040204" pitchFamily="34" charset="-128"/>
              </a:rPr>
              <a:t>年</a:t>
            </a:r>
            <a:r>
              <a:rPr lang="en-US" altLang="ja-JP" sz="2400" dirty="0">
                <a:latin typeface="Meiryo" panose="020B0604030504040204" pitchFamily="34" charset="-128"/>
                <a:ea typeface="Meiryo" panose="020B0604030504040204" pitchFamily="34" charset="-128"/>
              </a:rPr>
              <a:t>11</a:t>
            </a:r>
            <a:r>
              <a:rPr lang="ja-JP" altLang="en-US" sz="2400">
                <a:latin typeface="Meiryo" panose="020B0604030504040204" pitchFamily="34" charset="-128"/>
                <a:ea typeface="Meiryo" panose="020B0604030504040204" pitchFamily="34" charset="-128"/>
              </a:rPr>
              <a:t>月</a:t>
            </a:r>
            <a:r>
              <a:rPr lang="mn-MN" altLang="ja-JP" sz="2400" dirty="0">
                <a:latin typeface="Meiryo" panose="020B0604030504040204" pitchFamily="34" charset="-128"/>
                <a:ea typeface="Meiryo" panose="020B0604030504040204" pitchFamily="34" charset="-128"/>
              </a:rPr>
              <a:t>27</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会場　　： セミナー</a:t>
            </a:r>
            <a:r>
              <a:rPr lang="en-US" altLang="ja-JP" sz="2400" dirty="0">
                <a:latin typeface="Meiryo" panose="020B0604030504040204" pitchFamily="34" charset="-128"/>
                <a:ea typeface="Meiryo" panose="020B0604030504040204" pitchFamily="34" charset="-128"/>
              </a:rPr>
              <a:t>1(</a:t>
            </a:r>
            <a:r>
              <a:rPr lang="ja-JP" altLang="en-US" sz="2400" dirty="0">
                <a:latin typeface="Meiryo" panose="020B0604030504040204" pitchFamily="34" charset="-128"/>
                <a:ea typeface="Meiryo" panose="020B0604030504040204" pitchFamily="34" charset="-128"/>
              </a:rPr>
              <a:t>第三講義棟</a:t>
            </a:r>
            <a:r>
              <a:rPr lang="en-US" altLang="ja-JP" sz="2400" dirty="0">
                <a:latin typeface="Meiryo" panose="020B0604030504040204" pitchFamily="34" charset="-128"/>
                <a:ea typeface="Meiryo" panose="020B0604030504040204" pitchFamily="34" charset="-128"/>
              </a:rPr>
              <a:t>)</a:t>
            </a:r>
          </a:p>
        </p:txBody>
      </p:sp>
      <p:sp>
        <p:nvSpPr>
          <p:cNvPr id="3" name="TextBox 2">
            <a:extLst>
              <a:ext uri="{FF2B5EF4-FFF2-40B4-BE49-F238E27FC236}">
                <a16:creationId xmlns:a16="http://schemas.microsoft.com/office/drawing/2014/main" id="{B557003B-EB06-46D0-6E0B-F1BEED829DC3}"/>
              </a:ext>
            </a:extLst>
          </p:cNvPr>
          <p:cNvSpPr txBox="1"/>
          <p:nvPr/>
        </p:nvSpPr>
        <p:spPr>
          <a:xfrm>
            <a:off x="3985819" y="1536829"/>
            <a:ext cx="5486400" cy="480131"/>
          </a:xfrm>
          <a:prstGeom prst="rect">
            <a:avLst/>
          </a:prstGeom>
          <a:noFill/>
        </p:spPr>
        <p:txBody>
          <a:bodyPr wrap="square">
            <a:spAutoFit/>
          </a:bodyPr>
          <a:lstStyle/>
          <a:p>
            <a:r>
              <a:rPr lang="ja-JP" altLang="en-US" sz="2520" b="1" dirty="0">
                <a:latin typeface="Meiryo" panose="020B0604030504040204" pitchFamily="34" charset="-128"/>
                <a:ea typeface="Meiryo" panose="020B0604030504040204" pitchFamily="34" charset="-128"/>
              </a:rPr>
              <a:t>論文紹介</a:t>
            </a:r>
          </a:p>
        </p:txBody>
      </p:sp>
      <p:sp>
        <p:nvSpPr>
          <p:cNvPr id="6" name="TextBox 5">
            <a:extLst>
              <a:ext uri="{FF2B5EF4-FFF2-40B4-BE49-F238E27FC236}">
                <a16:creationId xmlns:a16="http://schemas.microsoft.com/office/drawing/2014/main" id="{4C0DB68E-0AEC-F452-71C4-2FD4BA8868C1}"/>
              </a:ext>
            </a:extLst>
          </p:cNvPr>
          <p:cNvSpPr txBox="1"/>
          <p:nvPr/>
        </p:nvSpPr>
        <p:spPr>
          <a:xfrm>
            <a:off x="942976" y="3488345"/>
            <a:ext cx="8782049" cy="1477328"/>
          </a:xfrm>
          <a:prstGeom prst="rect">
            <a:avLst/>
          </a:prstGeom>
          <a:noFill/>
        </p:spPr>
        <p:txBody>
          <a:bodyPr wrap="square">
            <a:spAutoFit/>
          </a:bodyPr>
          <a:lstStyle/>
          <a:p>
            <a:pPr algn="ctr"/>
            <a:r>
              <a:rPr lang="en-US" dirty="0">
                <a:solidFill>
                  <a:srgbClr val="000000"/>
                </a:solidFill>
                <a:latin typeface="Times New Roman" panose="02020603050405020304" pitchFamily="18" charset="0"/>
                <a:cs typeface="Times New Roman" panose="02020603050405020304" pitchFamily="18" charset="0"/>
              </a:rPr>
              <a:t>Xuan-Ha Nguyen  , Xuan-Duong Nguyen , Hoang-Hai Huynh , and Kim-Hung Le </a:t>
            </a:r>
            <a:br>
              <a:rPr lang="en-US" dirty="0">
                <a:latin typeface="Times New Roman" panose="02020603050405020304" pitchFamily="18" charset="0"/>
                <a:cs typeface="Times New Roman" panose="02020603050405020304" pitchFamily="18" charset="0"/>
              </a:rPr>
            </a:br>
            <a:r>
              <a:rPr lang="en-US" dirty="0">
                <a:solidFill>
                  <a:srgbClr val="222222"/>
                </a:solidFill>
                <a:latin typeface="Times New Roman" panose="02020603050405020304" pitchFamily="18" charset="0"/>
                <a:cs typeface="Times New Roman" panose="02020603050405020304" pitchFamily="18" charset="0"/>
              </a:rPr>
              <a:t>Faculty of Computer Networks and Communications, University of Information Technology, Ho Chi Minh City 70000, Vietnam Submission received: 3 November 2021 / Accepted: 27 December 2021 / Published: 7 January </a:t>
            </a:r>
            <a:r>
              <a:rPr lang="en-US" dirty="0">
                <a:latin typeface="Times New Roman" panose="02020603050405020304" pitchFamily="18" charset="0"/>
                <a:cs typeface="Times New Roman" panose="02020603050405020304" pitchFamily="18" charset="0"/>
              </a:rPr>
              <a:t>2022 Computer Science and Engineering This article belongs to the Special Issue </a:t>
            </a:r>
            <a:r>
              <a:rPr lang="en-US"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Cybersecurity in the Internet of Things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9573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3987EF-29F6-8EA5-0BD4-C5F8C8979059}"/>
              </a:ext>
            </a:extLst>
          </p:cNvPr>
          <p:cNvSpPr>
            <a:spLocks noGrp="1"/>
          </p:cNvSpPr>
          <p:nvPr>
            <p:ph type="sldNum" sz="quarter" idx="12"/>
          </p:nvPr>
        </p:nvSpPr>
        <p:spPr/>
        <p:txBody>
          <a:bodyPr/>
          <a:lstStyle/>
          <a:p>
            <a:fld id="{BB44241B-2579-694C-B40C-A1E3D5F0E4EC}" type="slidenum">
              <a:rPr lang="en-JP" smtClean="0"/>
              <a:pPr/>
              <a:t>1</a:t>
            </a:fld>
            <a:endParaRPr lang="en-JP" dirty="0"/>
          </a:p>
        </p:txBody>
      </p:sp>
      <p:sp>
        <p:nvSpPr>
          <p:cNvPr id="6" name="TextBox 5">
            <a:extLst>
              <a:ext uri="{FF2B5EF4-FFF2-40B4-BE49-F238E27FC236}">
                <a16:creationId xmlns:a16="http://schemas.microsoft.com/office/drawing/2014/main" id="{B80D31EB-6526-4479-F950-5EA35581B417}"/>
              </a:ext>
            </a:extLst>
          </p:cNvPr>
          <p:cNvSpPr txBox="1"/>
          <p:nvPr/>
        </p:nvSpPr>
        <p:spPr>
          <a:xfrm>
            <a:off x="1285461" y="965408"/>
            <a:ext cx="5486400" cy="954107"/>
          </a:xfrm>
          <a:prstGeom prst="rect">
            <a:avLst/>
          </a:prstGeom>
          <a:noFill/>
        </p:spPr>
        <p:txBody>
          <a:bodyPr wrap="square">
            <a:spAutoFit/>
          </a:bodyPr>
          <a:lstStyle/>
          <a:p>
            <a:r>
              <a:rPr lang="ja-JP" altLang="en-US" sz="2800">
                <a:latin typeface="Meiryo" panose="020B0604030504040204" pitchFamily="34" charset="-128"/>
                <a:ea typeface="Meiryo" panose="020B0604030504040204" pitchFamily="34" charset="-128"/>
              </a:rPr>
              <a:t>紹介論文</a:t>
            </a:r>
          </a:p>
          <a:p>
            <a:endParaRPr lang="ja-JP" altLang="en-US"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B2637A79-C44C-50DF-381A-7519048B0E6B}"/>
              </a:ext>
            </a:extLst>
          </p:cNvPr>
          <p:cNvSpPr txBox="1"/>
          <p:nvPr/>
        </p:nvSpPr>
        <p:spPr>
          <a:xfrm>
            <a:off x="1099931" y="1796405"/>
            <a:ext cx="7991060" cy="830997"/>
          </a:xfrm>
          <a:prstGeom prst="rect">
            <a:avLst/>
          </a:prstGeom>
          <a:noFill/>
        </p:spPr>
        <p:txBody>
          <a:bodyPr wrap="square">
            <a:spAutoFit/>
          </a:bodyPr>
          <a:lstStyle/>
          <a:p>
            <a:pPr algn="just"/>
            <a:r>
              <a:rPr lang="en-US" sz="2400" b="1" dirty="0">
                <a:solidFill>
                  <a:srgbClr val="000000"/>
                </a:solidFill>
                <a:latin typeface="Times New Roman" panose="02020603050405020304" pitchFamily="18" charset="0"/>
                <a:cs typeface="Times New Roman" panose="02020603050405020304" pitchFamily="18" charset="0"/>
              </a:rPr>
              <a:t>Realguard: A Lightweight Network Intrusion Detection System for IoT Gateways </a:t>
            </a:r>
            <a:endParaRPr lang="en-JP"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651ED0D-955F-FC18-1AC2-B74B9B3F603D}"/>
              </a:ext>
            </a:extLst>
          </p:cNvPr>
          <p:cNvSpPr txBox="1"/>
          <p:nvPr/>
        </p:nvSpPr>
        <p:spPr>
          <a:xfrm>
            <a:off x="1504122" y="2750512"/>
            <a:ext cx="7182678" cy="3416320"/>
          </a:xfrm>
          <a:prstGeom prst="rect">
            <a:avLst/>
          </a:prstGeom>
          <a:noFill/>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Xuan-Ha Nguyen  , Xuan-Duong Nguyen , Hoang-Hai Huynh , and Kim-Hung Le </a:t>
            </a:r>
            <a:br>
              <a:rPr lang="en-US" sz="2400" dirty="0">
                <a:latin typeface="Times New Roman" panose="02020603050405020304" pitchFamily="18" charset="0"/>
                <a:cs typeface="Times New Roman" panose="02020603050405020304" pitchFamily="18" charset="0"/>
              </a:rPr>
            </a:br>
            <a:r>
              <a:rPr lang="en-US" sz="2400" dirty="0">
                <a:solidFill>
                  <a:srgbClr val="222222"/>
                </a:solidFill>
                <a:latin typeface="Times New Roman" panose="02020603050405020304" pitchFamily="18" charset="0"/>
                <a:cs typeface="Times New Roman" panose="02020603050405020304" pitchFamily="18" charset="0"/>
              </a:rPr>
              <a:t>Faculty of Computer Networks and Communications, University of Information Technology, Ho Chi Minh City 70000, Vietnam Submission received: 3 November 2021 / Accepted: 27 December 2021 / Published: 7 January </a:t>
            </a:r>
            <a:r>
              <a:rPr lang="en-US" sz="2400" dirty="0">
                <a:latin typeface="Times New Roman" panose="02020603050405020304" pitchFamily="18" charset="0"/>
                <a:cs typeface="Times New Roman" panose="02020603050405020304" pitchFamily="18" charset="0"/>
              </a:rPr>
              <a:t>2022 Computer Science and Engineering This article belongs to the Special Issue </a:t>
            </a: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Cybersecurity in the Internet of Things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63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85000" lnSpcReduction="20000"/>
          </a:bodyPr>
          <a:lstStyle/>
          <a:p>
            <a:pPr marL="571486" indent="-411470">
              <a:lnSpc>
                <a:spcPct val="150000"/>
              </a:lnSpc>
              <a:spcBef>
                <a:spcPts val="0"/>
              </a:spcBef>
              <a:buSzPts val="2800"/>
              <a:buFont typeface="Wingdings" pitchFamily="2" charset="2"/>
              <a:buChar char="§"/>
            </a:pPr>
            <a:r>
              <a:rPr lang="ja-JP" altLang="en-US" sz="3000">
                <a:solidFill>
                  <a:srgbClr val="C00000"/>
                </a:solidFill>
                <a:latin typeface="Meiryo UI" panose="020B0604030504040204" pitchFamily="50" charset="-128"/>
                <a:ea typeface="Meiryo UI" panose="020B0604030504040204" pitchFamily="50" charset="-128"/>
              </a:rPr>
              <a:t>研究背景</a:t>
            </a:r>
            <a:endParaRPr lang="mn-MN"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endParaRPr lang="ja-JP" altLang="en-US" sz="300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21607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6CF4360A-F402-6E48-BA01-8A5E455C98CB}" type="slidenum">
              <a:rPr lang="en-JP" smtClean="0"/>
              <a:t>3</a:t>
            </a:fld>
            <a:endParaRPr lang="en-JP" dirty="0"/>
          </a:p>
        </p:txBody>
      </p:sp>
      <p:sp>
        <p:nvSpPr>
          <p:cNvPr id="18" name="TextBox 17">
            <a:extLst>
              <a:ext uri="{FF2B5EF4-FFF2-40B4-BE49-F238E27FC236}">
                <a16:creationId xmlns:a16="http://schemas.microsoft.com/office/drawing/2014/main" id="{55B462AC-AE2F-E317-150D-D119D6416FF7}"/>
              </a:ext>
            </a:extLst>
          </p:cNvPr>
          <p:cNvSpPr txBox="1"/>
          <p:nvPr/>
        </p:nvSpPr>
        <p:spPr>
          <a:xfrm>
            <a:off x="268604" y="374236"/>
            <a:ext cx="10704196" cy="584775"/>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en-US" sz="3200" dirty="0">
                <a:latin typeface="Meiryo" panose="020B0604030504040204" pitchFamily="34" charset="-128"/>
                <a:ea typeface="Meiryo" panose="020B0604030504040204" pitchFamily="34" charset="-128"/>
              </a:rPr>
              <a:t>IoT</a:t>
            </a:r>
            <a:r>
              <a:rPr lang="ja-JP" altLang="en-US" sz="3200">
                <a:latin typeface="Meiryo" panose="020B0604030504040204" pitchFamily="34" charset="-128"/>
                <a:ea typeface="Meiryo" panose="020B0604030504040204" pitchFamily="34" charset="-128"/>
              </a:rPr>
              <a:t>デバイス</a:t>
            </a:r>
            <a:r>
              <a:rPr lang="ja-JP" altLang="en-US" sz="3200">
                <a:solidFill>
                  <a:schemeClr val="tx1"/>
                </a:solidFill>
                <a:latin typeface="Meiryo" panose="020B0604030504040204" pitchFamily="34" charset="-128"/>
                <a:ea typeface="Meiryo" panose="020B0604030504040204" pitchFamily="34" charset="-128"/>
              </a:rPr>
              <a:t>数の推移</a:t>
            </a:r>
            <a:endParaRPr lang="en-US" sz="3200" b="1" dirty="0">
              <a:latin typeface="Meiryo" panose="020B0604030504040204" pitchFamily="34" charset="-128"/>
              <a:ea typeface="Meiryo" panose="020B0604030504040204" pitchFamily="34" charset="-128"/>
            </a:endParaRPr>
          </a:p>
        </p:txBody>
      </p:sp>
      <p:pic>
        <p:nvPicPr>
          <p:cNvPr id="3" name="Picture 2">
            <a:extLst>
              <a:ext uri="{FF2B5EF4-FFF2-40B4-BE49-F238E27FC236}">
                <a16:creationId xmlns:a16="http://schemas.microsoft.com/office/drawing/2014/main" id="{2C50D35E-4FC7-92ED-25C0-5FDF72B7D418}"/>
              </a:ext>
            </a:extLst>
          </p:cNvPr>
          <p:cNvPicPr>
            <a:picLocks noChangeAspect="1"/>
          </p:cNvPicPr>
          <p:nvPr/>
        </p:nvPicPr>
        <p:blipFill>
          <a:blip r:embed="rId3"/>
          <a:stretch>
            <a:fillRect/>
          </a:stretch>
        </p:blipFill>
        <p:spPr>
          <a:xfrm>
            <a:off x="111322" y="834390"/>
            <a:ext cx="6607910" cy="6062356"/>
          </a:xfrm>
          <a:prstGeom prst="rect">
            <a:avLst/>
          </a:prstGeom>
        </p:spPr>
      </p:pic>
      <p:sp>
        <p:nvSpPr>
          <p:cNvPr id="13" name="TextBox 12">
            <a:extLst>
              <a:ext uri="{FF2B5EF4-FFF2-40B4-BE49-F238E27FC236}">
                <a16:creationId xmlns:a16="http://schemas.microsoft.com/office/drawing/2014/main" id="{8B053020-3255-3510-33C3-A5C17DB34F62}"/>
              </a:ext>
            </a:extLst>
          </p:cNvPr>
          <p:cNvSpPr txBox="1"/>
          <p:nvPr/>
        </p:nvSpPr>
        <p:spPr>
          <a:xfrm>
            <a:off x="268604" y="7395210"/>
            <a:ext cx="8509636" cy="369332"/>
          </a:xfrm>
          <a:prstGeom prst="rect">
            <a:avLst/>
          </a:prstGeom>
          <a:noFill/>
        </p:spPr>
        <p:txBody>
          <a:bodyPr wrap="square">
            <a:spAutoFit/>
          </a:bodyPr>
          <a:lstStyle/>
          <a:p>
            <a:r>
              <a:rPr lang="en-US" sz="1800" dirty="0"/>
              <a:t>https://teleforum.ethiotelecom.et/blogs/2100/What-are-the-Top-IoT-Security-issues</a:t>
            </a:r>
          </a:p>
        </p:txBody>
      </p:sp>
      <p:sp>
        <p:nvSpPr>
          <p:cNvPr id="8" name="角丸四角形吹き出し 83">
            <a:extLst>
              <a:ext uri="{FF2B5EF4-FFF2-40B4-BE49-F238E27FC236}">
                <a16:creationId xmlns:a16="http://schemas.microsoft.com/office/drawing/2014/main" id="{8CEB5C6A-D7B1-4783-4299-1870967C1D73}"/>
              </a:ext>
            </a:extLst>
          </p:cNvPr>
          <p:cNvSpPr/>
          <p:nvPr/>
        </p:nvSpPr>
        <p:spPr>
          <a:xfrm>
            <a:off x="7000857" y="2304653"/>
            <a:ext cx="3690318" cy="2882685"/>
          </a:xfrm>
          <a:prstGeom prst="wedgeRoundRectCallout">
            <a:avLst>
              <a:gd name="adj1" fmla="val -50516"/>
              <a:gd name="adj2" fmla="val 59435"/>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JP" sz="2800" dirty="0">
              <a:solidFill>
                <a:schemeClr val="tx1"/>
              </a:solidFill>
              <a:latin typeface="Meiryo" panose="020B0604030504040204" pitchFamily="34" charset="-128"/>
              <a:ea typeface="Meiryo" panose="020B0604030504040204" pitchFamily="34" charset="-128"/>
            </a:endParaRPr>
          </a:p>
          <a:p>
            <a:r>
              <a:rPr lang="en-US" sz="2800" dirty="0">
                <a:solidFill>
                  <a:schemeClr val="tx1"/>
                </a:solidFill>
              </a:rPr>
              <a:t>IoT </a:t>
            </a:r>
            <a:r>
              <a:rPr lang="ja-JP" altLang="en-US" sz="2800">
                <a:solidFill>
                  <a:schemeClr val="tx1"/>
                </a:solidFill>
              </a:rPr>
              <a:t>デバイス数は </a:t>
            </a:r>
            <a:r>
              <a:rPr lang="en-US" altLang="ja-JP" sz="2800" dirty="0">
                <a:solidFill>
                  <a:schemeClr val="tx1"/>
                </a:solidFill>
              </a:rPr>
              <a:t>2025 </a:t>
            </a:r>
            <a:r>
              <a:rPr lang="ja-JP" altLang="en-US" sz="2800">
                <a:solidFill>
                  <a:schemeClr val="tx1"/>
                </a:solidFill>
              </a:rPr>
              <a:t>年に </a:t>
            </a:r>
            <a:r>
              <a:rPr lang="en-US" altLang="ja-JP" sz="2800" dirty="0">
                <a:solidFill>
                  <a:schemeClr val="tx1"/>
                </a:solidFill>
              </a:rPr>
              <a:t>198 </a:t>
            </a:r>
            <a:r>
              <a:rPr lang="ja-JP" altLang="en-US" sz="2800">
                <a:solidFill>
                  <a:schemeClr val="tx1"/>
                </a:solidFill>
              </a:rPr>
              <a:t>億、</a:t>
            </a:r>
            <a:r>
              <a:rPr lang="en-US" altLang="ja-JP" sz="2800" dirty="0">
                <a:solidFill>
                  <a:schemeClr val="tx1"/>
                </a:solidFill>
              </a:rPr>
              <a:t>2034 </a:t>
            </a:r>
            <a:r>
              <a:rPr lang="ja-JP" altLang="en-US" sz="2800">
                <a:solidFill>
                  <a:schemeClr val="tx1"/>
                </a:solidFill>
              </a:rPr>
              <a:t>年には </a:t>
            </a:r>
            <a:r>
              <a:rPr lang="en-US" altLang="ja-JP" sz="2800" dirty="0">
                <a:solidFill>
                  <a:schemeClr val="tx1"/>
                </a:solidFill>
              </a:rPr>
              <a:t>406 </a:t>
            </a:r>
            <a:r>
              <a:rPr lang="ja-JP" altLang="en-US" sz="2800">
                <a:solidFill>
                  <a:schemeClr val="tx1"/>
                </a:solidFill>
              </a:rPr>
              <a:t>億まで急増すると見込まれている</a:t>
            </a:r>
            <a:endParaRPr lang="en-JP" sz="15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943554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D9E6-0DA4-1456-EA60-A439F3892696}"/>
              </a:ext>
            </a:extLst>
          </p:cNvPr>
          <p:cNvSpPr>
            <a:spLocks noGrp="1"/>
          </p:cNvSpPr>
          <p:nvPr>
            <p:ph type="sldNum" sz="quarter" idx="12"/>
          </p:nvPr>
        </p:nvSpPr>
        <p:spPr/>
        <p:txBody>
          <a:bodyPr/>
          <a:lstStyle/>
          <a:p>
            <a:fld id="{BB44241B-2579-694C-B40C-A1E3D5F0E4EC}" type="slidenum">
              <a:rPr lang="en-JP"/>
              <a:t>4</a:t>
            </a:fld>
            <a:endParaRPr lang="en-JP" dirty="0"/>
          </a:p>
        </p:txBody>
      </p:sp>
      <p:sp>
        <p:nvSpPr>
          <p:cNvPr id="11" name="TextBox 10">
            <a:extLst>
              <a:ext uri="{FF2B5EF4-FFF2-40B4-BE49-F238E27FC236}">
                <a16:creationId xmlns:a16="http://schemas.microsoft.com/office/drawing/2014/main" id="{7EEFEC73-44F1-F42C-24C0-D10ADFC43518}"/>
              </a:ext>
            </a:extLst>
          </p:cNvPr>
          <p:cNvSpPr txBox="1"/>
          <p:nvPr/>
        </p:nvSpPr>
        <p:spPr>
          <a:xfrm>
            <a:off x="302015" y="739853"/>
            <a:ext cx="10417567" cy="461665"/>
          </a:xfrm>
          <a:prstGeom prst="rect">
            <a:avLst/>
          </a:prstGeom>
          <a:noFill/>
        </p:spPr>
        <p:txBody>
          <a:bodyPr wrap="square">
            <a:spAutoFit/>
          </a:bodyPr>
          <a:lstStyle/>
          <a:p>
            <a:r>
              <a:rPr lang="ja-JP" altLang="en-US" sz="2400" b="1" dirty="0">
                <a:latin typeface="Meiryo" panose="020B0604030504040204" pitchFamily="34" charset="-128"/>
                <a:ea typeface="Meiryo" panose="020B0604030504040204" pitchFamily="34" charset="-128"/>
              </a:rPr>
              <a:t>研究</a:t>
            </a:r>
            <a:r>
              <a:rPr lang="ja-JP" altLang="en-US" sz="2400" b="1">
                <a:latin typeface="Meiryo" panose="020B0604030504040204" pitchFamily="34" charset="-128"/>
                <a:ea typeface="Meiryo" panose="020B0604030504040204" pitchFamily="34" charset="-128"/>
              </a:rPr>
              <a:t>背景</a:t>
            </a:r>
            <a:r>
              <a:rPr lang="mn-MN" altLang="ja-JP" sz="2400" b="1" dirty="0">
                <a:latin typeface="Meiryo" panose="020B0604030504040204" pitchFamily="34" charset="-128"/>
                <a:ea typeface="Meiryo" panose="020B0604030504040204" pitchFamily="34" charset="-128"/>
              </a:rPr>
              <a:t>  </a:t>
            </a:r>
            <a:r>
              <a:rPr lang="en-US" altLang="ja-JP" sz="2400" b="1" dirty="0">
                <a:latin typeface="Meiryo" panose="020B0604030504040204" pitchFamily="34" charset="-128"/>
                <a:ea typeface="Meiryo" panose="020B0604030504040204" pitchFamily="34" charset="-128"/>
              </a:rPr>
              <a:t>: </a:t>
            </a:r>
            <a:r>
              <a:rPr lang="ja-JP" altLang="en-US" sz="2400" b="1">
                <a:latin typeface="Meiryo" panose="020B0604030504040204" pitchFamily="34" charset="-128"/>
                <a:ea typeface="Meiryo" panose="020B0604030504040204" pitchFamily="34" charset="-128"/>
              </a:rPr>
              <a:t>主要な </a:t>
            </a:r>
            <a:r>
              <a:rPr lang="en-US" sz="2400" b="1" dirty="0">
                <a:latin typeface="Meiryo" panose="020B0604030504040204" pitchFamily="34" charset="-128"/>
                <a:ea typeface="Meiryo" panose="020B0604030504040204" pitchFamily="34" charset="-128"/>
              </a:rPr>
              <a:t>IoT </a:t>
            </a:r>
            <a:r>
              <a:rPr lang="ja-JP" altLang="en-US" sz="2400" b="1">
                <a:latin typeface="Meiryo" panose="020B0604030504040204" pitchFamily="34" charset="-128"/>
                <a:ea typeface="Meiryo" panose="020B0604030504040204" pitchFamily="34" charset="-128"/>
              </a:rPr>
              <a:t>セキュリティ課題</a:t>
            </a:r>
            <a:r>
              <a:rPr lang="en-US" altLang="ja-JP" sz="2400" b="1" dirty="0">
                <a:latin typeface="Meiryo" panose="020B0604030504040204" pitchFamily="34" charset="-128"/>
                <a:ea typeface="Meiryo" panose="020B0604030504040204" pitchFamily="34" charset="-128"/>
              </a:rPr>
              <a:t>  /  </a:t>
            </a:r>
            <a:r>
              <a:rPr lang="en-US" sz="2400" b="1" dirty="0">
                <a:latin typeface="Meiryo" panose="020B0604030504040204" pitchFamily="34" charset="-128"/>
                <a:ea typeface="Meiryo" panose="020B0604030504040204" pitchFamily="34" charset="-128"/>
              </a:rPr>
              <a:t>Top IoT Security Issues</a:t>
            </a:r>
          </a:p>
        </p:txBody>
      </p:sp>
      <p:sp>
        <p:nvSpPr>
          <p:cNvPr id="13" name="TextBox 12">
            <a:extLst>
              <a:ext uri="{FF2B5EF4-FFF2-40B4-BE49-F238E27FC236}">
                <a16:creationId xmlns:a16="http://schemas.microsoft.com/office/drawing/2014/main" id="{8AD17B64-844B-13C1-0F06-E64B068B3C4F}"/>
              </a:ext>
            </a:extLst>
          </p:cNvPr>
          <p:cNvSpPr txBox="1"/>
          <p:nvPr/>
        </p:nvSpPr>
        <p:spPr>
          <a:xfrm>
            <a:off x="302015" y="7565099"/>
            <a:ext cx="6360473" cy="300082"/>
          </a:xfrm>
          <a:prstGeom prst="rect">
            <a:avLst/>
          </a:prstGeom>
          <a:noFill/>
        </p:spPr>
        <p:txBody>
          <a:bodyPr wrap="square">
            <a:spAutoFit/>
          </a:bodyPr>
          <a:lstStyle/>
          <a:p>
            <a:r>
              <a:rPr lang="en-US" sz="1350" dirty="0"/>
              <a:t>https://teleforum.ethiotelecom.et/blogs/2100/What-are-the-Top-IoT-Security-issues</a:t>
            </a:r>
          </a:p>
        </p:txBody>
      </p:sp>
      <p:pic>
        <p:nvPicPr>
          <p:cNvPr id="3" name="Picture 2">
            <a:extLst>
              <a:ext uri="{FF2B5EF4-FFF2-40B4-BE49-F238E27FC236}">
                <a16:creationId xmlns:a16="http://schemas.microsoft.com/office/drawing/2014/main" id="{A5C4B734-8D3B-D059-DF9B-3E52CC13BF81}"/>
              </a:ext>
            </a:extLst>
          </p:cNvPr>
          <p:cNvPicPr>
            <a:picLocks noChangeAspect="1"/>
          </p:cNvPicPr>
          <p:nvPr/>
        </p:nvPicPr>
        <p:blipFill>
          <a:blip r:embed="rId3"/>
          <a:stretch>
            <a:fillRect/>
          </a:stretch>
        </p:blipFill>
        <p:spPr>
          <a:xfrm>
            <a:off x="114300" y="1765935"/>
            <a:ext cx="7120407" cy="5521130"/>
          </a:xfrm>
          <a:prstGeom prst="rect">
            <a:avLst/>
          </a:prstGeom>
        </p:spPr>
      </p:pic>
      <p:sp>
        <p:nvSpPr>
          <p:cNvPr id="5" name="角丸四角形吹き出し 83">
            <a:extLst>
              <a:ext uri="{FF2B5EF4-FFF2-40B4-BE49-F238E27FC236}">
                <a16:creationId xmlns:a16="http://schemas.microsoft.com/office/drawing/2014/main" id="{82D74801-424D-699C-5262-1B4FFCD24D85}"/>
              </a:ext>
            </a:extLst>
          </p:cNvPr>
          <p:cNvSpPr/>
          <p:nvPr/>
        </p:nvSpPr>
        <p:spPr>
          <a:xfrm>
            <a:off x="6879103" y="1659987"/>
            <a:ext cx="3736310" cy="5627077"/>
          </a:xfrm>
          <a:prstGeom prst="cloudCallout">
            <a:avLst>
              <a:gd name="adj1" fmla="val -71542"/>
              <a:gd name="adj2" fmla="val 2687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（Top-3 Threats）</a:t>
            </a:r>
          </a:p>
          <a:p>
            <a:endParaRPr lang="en-US" dirty="0">
              <a:solidFill>
                <a:schemeClr val="tx1"/>
              </a:solidFill>
              <a:latin typeface="Meiryo" panose="020B0604030504040204" pitchFamily="34" charset="-128"/>
              <a:ea typeface="Meiryo" panose="020B0604030504040204" pitchFamily="34" charset="-128"/>
            </a:endParaRPr>
          </a:p>
          <a:p>
            <a:r>
              <a:rPr lang="mn-MN" dirty="0">
                <a:solidFill>
                  <a:schemeClr val="tx1"/>
                </a:solidFill>
                <a:latin typeface="Meiryo" panose="020B0604030504040204" pitchFamily="34" charset="-128"/>
                <a:ea typeface="Meiryo" panose="020B0604030504040204" pitchFamily="34" charset="-128"/>
              </a:rPr>
              <a:t>1.</a:t>
            </a:r>
            <a:r>
              <a:rPr lang="en-US" dirty="0">
                <a:solidFill>
                  <a:schemeClr val="tx1"/>
                </a:solidFill>
                <a:latin typeface="Meiryo" panose="020B0604030504040204" pitchFamily="34" charset="-128"/>
                <a:ea typeface="Meiryo" panose="020B0604030504040204" pitchFamily="34" charset="-128"/>
              </a:rPr>
              <a:t>Exploits（</a:t>
            </a:r>
            <a:r>
              <a:rPr lang="ja-JP" altLang="en-US">
                <a:solidFill>
                  <a:schemeClr val="tx1"/>
                </a:solidFill>
                <a:latin typeface="Meiryo" panose="020B0604030504040204" pitchFamily="34" charset="-128"/>
                <a:ea typeface="Meiryo" panose="020B0604030504040204" pitchFamily="34" charset="-128"/>
              </a:rPr>
              <a:t>脆弱性を利用した攻撃）</a:t>
            </a:r>
            <a:endParaRPr lang="en-US" altLang="ja-JP" dirty="0">
              <a:solidFill>
                <a:schemeClr val="tx1"/>
              </a:solidFill>
              <a:latin typeface="Meiryo" panose="020B0604030504040204" pitchFamily="34" charset="-128"/>
              <a:ea typeface="Meiryo" panose="020B0604030504040204" pitchFamily="34" charset="-128"/>
            </a:endParaRPr>
          </a:p>
          <a:p>
            <a:endParaRPr lang="en-US" altLang="ja-JP" dirty="0">
              <a:solidFill>
                <a:schemeClr val="tx1"/>
              </a:solidFill>
              <a:latin typeface="Meiryo" panose="020B0604030504040204" pitchFamily="34" charset="-128"/>
              <a:ea typeface="Meiryo" panose="020B0604030504040204" pitchFamily="34" charset="-128"/>
            </a:endParaRPr>
          </a:p>
          <a:p>
            <a:r>
              <a:rPr lang="en-US" altLang="ja-JP" dirty="0">
                <a:solidFill>
                  <a:schemeClr val="tx1"/>
                </a:solidFill>
                <a:latin typeface="Meiryo" panose="020B0604030504040204" pitchFamily="34" charset="-128"/>
                <a:ea typeface="Meiryo" panose="020B0604030504040204" pitchFamily="34" charset="-128"/>
              </a:rPr>
              <a:t>2.</a:t>
            </a:r>
            <a:r>
              <a:rPr lang="ja-JP" altLang="en-US">
                <a:solidFill>
                  <a:schemeClr val="tx1"/>
                </a:solidFill>
                <a:latin typeface="Meiryo" panose="020B0604030504040204" pitchFamily="34" charset="-128"/>
                <a:ea typeface="Meiryo" panose="020B0604030504040204" pitchFamily="34" charset="-128"/>
              </a:rPr>
              <a:t>マルウェア（</a:t>
            </a:r>
            <a:r>
              <a:rPr lang="en-US" dirty="0">
                <a:solidFill>
                  <a:schemeClr val="tx1"/>
                </a:solidFill>
                <a:latin typeface="Meiryo" panose="020B0604030504040204" pitchFamily="34" charset="-128"/>
                <a:ea typeface="Meiryo" panose="020B0604030504040204" pitchFamily="34" charset="-128"/>
              </a:rPr>
              <a:t>Malware、</a:t>
            </a:r>
            <a:r>
              <a:rPr lang="ja-JP" altLang="en-US">
                <a:solidFill>
                  <a:schemeClr val="tx1"/>
                </a:solidFill>
                <a:latin typeface="Meiryo" panose="020B0604030504040204" pitchFamily="34" charset="-128"/>
                <a:ea typeface="Meiryo" panose="020B0604030504040204" pitchFamily="34" charset="-128"/>
              </a:rPr>
              <a:t>ウイルス、ボットネットなど）</a:t>
            </a:r>
            <a:endParaRPr lang="en-US" altLang="ja-JP" dirty="0">
              <a:solidFill>
                <a:schemeClr val="tx1"/>
              </a:solidFill>
              <a:latin typeface="Meiryo" panose="020B0604030504040204" pitchFamily="34" charset="-128"/>
              <a:ea typeface="Meiryo" panose="020B0604030504040204" pitchFamily="34" charset="-128"/>
            </a:endParaRPr>
          </a:p>
          <a:p>
            <a:endParaRPr lang="ja-JP" altLang="en-US">
              <a:solidFill>
                <a:schemeClr val="tx1"/>
              </a:solidFill>
              <a:latin typeface="Meiryo" panose="020B0604030504040204" pitchFamily="34" charset="-128"/>
              <a:ea typeface="Meiryo" panose="020B0604030504040204" pitchFamily="34" charset="-128"/>
            </a:endParaRPr>
          </a:p>
          <a:p>
            <a:r>
              <a:rPr lang="en-US" altLang="ja-JP" dirty="0">
                <a:solidFill>
                  <a:schemeClr val="tx1"/>
                </a:solidFill>
                <a:latin typeface="Meiryo" panose="020B0604030504040204" pitchFamily="34" charset="-128"/>
                <a:ea typeface="Meiryo" panose="020B0604030504040204" pitchFamily="34" charset="-128"/>
              </a:rPr>
              <a:t>3</a:t>
            </a:r>
            <a:r>
              <a:rPr lang="mn-MN"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パスワード関連攻撃 </a:t>
            </a:r>
            <a:r>
              <a:rPr lang="en-US"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a:t>
            </a:r>
            <a:r>
              <a:rPr lang="en-US" dirty="0">
                <a:solidFill>
                  <a:schemeClr val="tx1"/>
                </a:solidFill>
                <a:latin typeface="Meiryo" panose="020B0604030504040204" pitchFamily="34" charset="-128"/>
                <a:ea typeface="Meiryo" panose="020B0604030504040204" pitchFamily="34" charset="-128"/>
              </a:rPr>
              <a:t>Password-related attacks / Phishing）</a:t>
            </a:r>
          </a:p>
        </p:txBody>
      </p:sp>
    </p:spTree>
    <p:extLst>
      <p:ext uri="{BB962C8B-B14F-4D97-AF65-F5344CB8AC3E}">
        <p14:creationId xmlns:p14="http://schemas.microsoft.com/office/powerpoint/2010/main" val="233093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75838-8A78-616D-45AA-9C6650A43B6C}"/>
              </a:ext>
            </a:extLst>
          </p:cNvPr>
          <p:cNvSpPr>
            <a:spLocks noGrp="1"/>
          </p:cNvSpPr>
          <p:nvPr>
            <p:ph type="sldNum" sz="quarter" idx="12"/>
          </p:nvPr>
        </p:nvSpPr>
        <p:spPr/>
        <p:txBody>
          <a:bodyPr/>
          <a:lstStyle/>
          <a:p>
            <a:fld id="{BB44241B-2579-694C-B40C-A1E3D5F0E4EC}" type="slidenum">
              <a:rPr lang="en-JP" smtClean="0"/>
              <a:pPr/>
              <a:t>5</a:t>
            </a:fld>
            <a:endParaRPr lang="en-JP" dirty="0"/>
          </a:p>
        </p:txBody>
      </p:sp>
      <p:sp>
        <p:nvSpPr>
          <p:cNvPr id="7" name="TextBox 6">
            <a:extLst>
              <a:ext uri="{FF2B5EF4-FFF2-40B4-BE49-F238E27FC236}">
                <a16:creationId xmlns:a16="http://schemas.microsoft.com/office/drawing/2014/main" id="{92740277-22B8-E773-8826-079564DBD04D}"/>
              </a:ext>
            </a:extLst>
          </p:cNvPr>
          <p:cNvSpPr txBox="1"/>
          <p:nvPr/>
        </p:nvSpPr>
        <p:spPr>
          <a:xfrm>
            <a:off x="435938" y="417313"/>
            <a:ext cx="9059754" cy="584775"/>
          </a:xfrm>
          <a:prstGeom prst="rect">
            <a:avLst/>
          </a:prstGeom>
          <a:noFill/>
        </p:spPr>
        <p:txBody>
          <a:bodyPr wrap="square">
            <a:spAutoFit/>
          </a:bodyPr>
          <a:lstStyle/>
          <a:p>
            <a:pPr algn="l" fontAlgn="base"/>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機械学習</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2" name="吹き出し: 角を丸めた四角形 47">
            <a:extLst>
              <a:ext uri="{FF2B5EF4-FFF2-40B4-BE49-F238E27FC236}">
                <a16:creationId xmlns:a16="http://schemas.microsoft.com/office/drawing/2014/main" id="{6CA0EAC8-A804-BA57-E241-15B065B6DEFC}"/>
              </a:ext>
            </a:extLst>
          </p:cNvPr>
          <p:cNvSpPr/>
          <p:nvPr/>
        </p:nvSpPr>
        <p:spPr>
          <a:xfrm rot="10800000" flipV="1">
            <a:off x="7038684" y="828799"/>
            <a:ext cx="3498178" cy="1675346"/>
          </a:xfrm>
          <a:prstGeom prst="wedgeRoundRectCallout">
            <a:avLst>
              <a:gd name="adj1" fmla="val 59416"/>
              <a:gd name="adj2" fmla="val -1278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ja-JP" sz="2000" b="1" dirty="0">
                <a:solidFill>
                  <a:schemeClr val="tx1"/>
                </a:solidFill>
                <a:latin typeface="Meiryo" panose="020B0604030504040204" pitchFamily="34" charset="-128"/>
                <a:ea typeface="Meiryo" panose="020B0604030504040204" pitchFamily="34" charset="-128"/>
              </a:rPr>
              <a:t>1.</a:t>
            </a:r>
            <a:r>
              <a:rPr lang="ja-JP" altLang="en-US" sz="2000" b="1">
                <a:solidFill>
                  <a:schemeClr val="tx1"/>
                </a:solidFill>
                <a:latin typeface="Meiryo" panose="020B0604030504040204" pitchFamily="34" charset="-128"/>
                <a:ea typeface="Meiryo" panose="020B0604030504040204" pitchFamily="34" charset="-128"/>
              </a:rPr>
              <a:t>人間がプログラムしなくても、経験（データ）から学習する仕組み</a:t>
            </a:r>
            <a:endParaRPr lang="ja-JP" altLang="en-US" sz="2000">
              <a:solidFill>
                <a:schemeClr val="tx1"/>
              </a:solidFill>
              <a:latin typeface="Meiryo" panose="020B0604030504040204" pitchFamily="34" charset="-128"/>
              <a:ea typeface="Meiryo" panose="020B0604030504040204" pitchFamily="34" charset="-128"/>
            </a:endParaRPr>
          </a:p>
          <a:p>
            <a:endParaRPr lang="en-JP" sz="2000" dirty="0">
              <a:solidFill>
                <a:schemeClr val="tx1"/>
              </a:solidFill>
              <a:latin typeface="Meiryo" panose="020B0604030504040204" pitchFamily="34" charset="-128"/>
              <a:ea typeface="Meiryo" panose="020B0604030504040204" pitchFamily="34" charset="-128"/>
            </a:endParaRPr>
          </a:p>
        </p:txBody>
      </p:sp>
      <p:pic>
        <p:nvPicPr>
          <p:cNvPr id="16" name="Picture 15">
            <a:extLst>
              <a:ext uri="{FF2B5EF4-FFF2-40B4-BE49-F238E27FC236}">
                <a16:creationId xmlns:a16="http://schemas.microsoft.com/office/drawing/2014/main" id="{42BF3404-2B90-011E-68E4-21895743F707}"/>
              </a:ext>
            </a:extLst>
          </p:cNvPr>
          <p:cNvPicPr>
            <a:picLocks noChangeAspect="1"/>
          </p:cNvPicPr>
          <p:nvPr/>
        </p:nvPicPr>
        <p:blipFill>
          <a:blip r:embed="rId3"/>
          <a:stretch>
            <a:fillRect/>
          </a:stretch>
        </p:blipFill>
        <p:spPr>
          <a:xfrm>
            <a:off x="-10171" y="894365"/>
            <a:ext cx="6523513" cy="5924446"/>
          </a:xfrm>
          <a:prstGeom prst="rect">
            <a:avLst/>
          </a:prstGeom>
        </p:spPr>
      </p:pic>
      <p:sp>
        <p:nvSpPr>
          <p:cNvPr id="18" name="TextBox 17">
            <a:extLst>
              <a:ext uri="{FF2B5EF4-FFF2-40B4-BE49-F238E27FC236}">
                <a16:creationId xmlns:a16="http://schemas.microsoft.com/office/drawing/2014/main" id="{33F8C54A-C1D3-0F8A-A8BE-1F6C6FA40FE2}"/>
              </a:ext>
            </a:extLst>
          </p:cNvPr>
          <p:cNvSpPr txBox="1"/>
          <p:nvPr/>
        </p:nvSpPr>
        <p:spPr>
          <a:xfrm>
            <a:off x="260093" y="7662031"/>
            <a:ext cx="5866226" cy="369332"/>
          </a:xfrm>
          <a:prstGeom prst="rect">
            <a:avLst/>
          </a:prstGeom>
          <a:noFill/>
        </p:spPr>
        <p:txBody>
          <a:bodyPr wrap="square">
            <a:spAutoFit/>
          </a:bodyPr>
          <a:lstStyle/>
          <a:p>
            <a:r>
              <a:rPr lang="en-JP" dirty="0"/>
              <a:t>https://ischool.syracuse.edu/what-is-machine-learning/</a:t>
            </a:r>
          </a:p>
        </p:txBody>
      </p:sp>
      <p:sp>
        <p:nvSpPr>
          <p:cNvPr id="19" name="吹き出し: 角を丸めた四角形 47">
            <a:extLst>
              <a:ext uri="{FF2B5EF4-FFF2-40B4-BE49-F238E27FC236}">
                <a16:creationId xmlns:a16="http://schemas.microsoft.com/office/drawing/2014/main" id="{7653D000-6485-0111-549C-0284DE58E530}"/>
              </a:ext>
            </a:extLst>
          </p:cNvPr>
          <p:cNvSpPr/>
          <p:nvPr/>
        </p:nvSpPr>
        <p:spPr>
          <a:xfrm rot="10800000" flipV="1">
            <a:off x="6648736" y="2865429"/>
            <a:ext cx="3888125" cy="1358703"/>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ja-JP" sz="2000" b="1" dirty="0">
                <a:solidFill>
                  <a:schemeClr val="tx1"/>
                </a:solidFill>
                <a:latin typeface="Meiryo" panose="020B0604030504040204" pitchFamily="34" charset="-128"/>
                <a:ea typeface="Meiryo" panose="020B0604030504040204" pitchFamily="34" charset="-128"/>
              </a:rPr>
              <a:t>2.</a:t>
            </a:r>
            <a:r>
              <a:rPr lang="ja-JP" altLang="en-US" sz="2000" b="1">
                <a:solidFill>
                  <a:schemeClr val="tx1"/>
                </a:solidFill>
                <a:latin typeface="Meiryo" panose="020B0604030504040204" pitchFamily="34" charset="-128"/>
                <a:ea typeface="Meiryo" panose="020B0604030504040204" pitchFamily="34" charset="-128"/>
              </a:rPr>
              <a:t>画像認識・異常検知・音声認識などに広く利用される</a:t>
            </a:r>
            <a:endParaRPr lang="en-US" altLang="ja-JP" sz="2000" b="1" dirty="0">
              <a:solidFill>
                <a:schemeClr val="tx1"/>
              </a:solidFill>
              <a:latin typeface="Meiryo" panose="020B0604030504040204" pitchFamily="34" charset="-128"/>
              <a:ea typeface="Meiryo" panose="020B0604030504040204" pitchFamily="34" charset="-128"/>
            </a:endParaRPr>
          </a:p>
          <a:p>
            <a:pPr algn="ctr"/>
            <a:endParaRPr lang="ja-JP" altLang="en-US" sz="2000">
              <a:solidFill>
                <a:schemeClr val="tx1"/>
              </a:solidFill>
              <a:latin typeface="Meiryo" panose="020B0604030504040204" pitchFamily="34" charset="-128"/>
              <a:ea typeface="Meiryo" panose="020B0604030504040204" pitchFamily="34" charset="-128"/>
            </a:endParaRPr>
          </a:p>
        </p:txBody>
      </p:sp>
      <p:sp>
        <p:nvSpPr>
          <p:cNvPr id="20" name="吹き出し: 角を丸めた四角形 47">
            <a:extLst>
              <a:ext uri="{FF2B5EF4-FFF2-40B4-BE49-F238E27FC236}">
                <a16:creationId xmlns:a16="http://schemas.microsoft.com/office/drawing/2014/main" id="{68ECF0A3-0DE0-FBC1-1D18-67F734532813}"/>
              </a:ext>
            </a:extLst>
          </p:cNvPr>
          <p:cNvSpPr/>
          <p:nvPr/>
        </p:nvSpPr>
        <p:spPr>
          <a:xfrm rot="10800000" flipV="1">
            <a:off x="6981664" y="4775229"/>
            <a:ext cx="3555196" cy="1419967"/>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altLang="ja-JP" sz="2000" b="1" dirty="0">
              <a:solidFill>
                <a:schemeClr val="tx1"/>
              </a:solidFill>
              <a:latin typeface="Meiryo" panose="020B0604030504040204" pitchFamily="34" charset="-128"/>
              <a:ea typeface="Meiryo" panose="020B0604030504040204" pitchFamily="34" charset="-128"/>
            </a:endParaRPr>
          </a:p>
          <a:p>
            <a:endParaRPr lang="en-US" altLang="ja-JP" sz="2000" b="1" dirty="0">
              <a:solidFill>
                <a:schemeClr val="tx1"/>
              </a:solidFill>
              <a:latin typeface="Meiryo" panose="020B0604030504040204" pitchFamily="34" charset="-128"/>
              <a:ea typeface="Meiryo" panose="020B0604030504040204" pitchFamily="34" charset="-128"/>
            </a:endParaRPr>
          </a:p>
          <a:p>
            <a:r>
              <a:rPr lang="en-US" altLang="ja-JP" sz="2000" b="1" dirty="0">
                <a:solidFill>
                  <a:schemeClr val="tx1"/>
                </a:solidFill>
                <a:latin typeface="Meiryo" panose="020B0604030504040204" pitchFamily="34" charset="-128"/>
                <a:ea typeface="Meiryo" panose="020B0604030504040204" pitchFamily="34" charset="-128"/>
              </a:rPr>
              <a:t>3.</a:t>
            </a:r>
            <a:r>
              <a:rPr lang="ja-JP" altLang="en-US" sz="2000" b="1">
                <a:solidFill>
                  <a:schemeClr val="tx1"/>
                </a:solidFill>
                <a:latin typeface="Meiryo" panose="020B0604030504040204" pitchFamily="34" charset="-128"/>
                <a:ea typeface="Meiryo" panose="020B0604030504040204" pitchFamily="34" charset="-128"/>
              </a:rPr>
              <a:t>大量のデータ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アルゴリズム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計算資源 → 高精度な予測</a:t>
            </a:r>
            <a:endParaRPr lang="en-US" altLang="ja-JP" sz="2000" b="1" dirty="0">
              <a:solidFill>
                <a:schemeClr val="tx1"/>
              </a:solidFill>
              <a:latin typeface="Meiryo" panose="020B0604030504040204" pitchFamily="34" charset="-128"/>
              <a:ea typeface="Meiryo" panose="020B0604030504040204" pitchFamily="34" charset="-128"/>
            </a:endParaRPr>
          </a:p>
          <a:p>
            <a:endParaRPr lang="ja-JP" altLang="en-US">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F1372356-A1FC-12E3-172F-2814DF70F933}"/>
              </a:ext>
            </a:extLst>
          </p:cNvPr>
          <p:cNvSpPr txBox="1"/>
          <p:nvPr/>
        </p:nvSpPr>
        <p:spPr>
          <a:xfrm>
            <a:off x="118667" y="6888692"/>
            <a:ext cx="10418195" cy="646331"/>
          </a:xfrm>
          <a:prstGeom prst="rect">
            <a:avLst/>
          </a:prstGeom>
          <a:noFill/>
        </p:spPr>
        <p:txBody>
          <a:bodyPr wrap="square">
            <a:spAutoFit/>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800" dirty="0">
                <a:latin typeface="Meiryo" panose="020B0604030504040204" pitchFamily="34" charset="-128"/>
                <a:ea typeface="Meiryo" panose="020B0604030504040204" pitchFamily="34" charset="-128"/>
              </a:rPr>
              <a:t>Machine Learning（機械学習）とは、コンピュータが明確なプログラムを書かなくても、</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1800" dirty="0">
                <a:latin typeface="Meiryo" panose="020B0604030504040204" pitchFamily="34" charset="-128"/>
                <a:ea typeface="Meiryo" panose="020B0604030504040204" pitchFamily="34" charset="-128"/>
              </a:rPr>
              <a:t>データや経験から自動的に学習し、パターンを見つけたり、将来の結果を予測したりする技術です.</a:t>
            </a:r>
            <a:endParaRPr lang="en-JP" dirty="0"/>
          </a:p>
        </p:txBody>
      </p:sp>
    </p:spTree>
    <p:extLst>
      <p:ext uri="{BB962C8B-B14F-4D97-AF65-F5344CB8AC3E}">
        <p14:creationId xmlns:p14="http://schemas.microsoft.com/office/powerpoint/2010/main" val="299175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83B970-0980-9259-5CD0-04ED10941E5E}"/>
              </a:ext>
            </a:extLst>
          </p:cNvPr>
          <p:cNvSpPr>
            <a:spLocks noGrp="1"/>
          </p:cNvSpPr>
          <p:nvPr>
            <p:ph type="sldNum" sz="quarter" idx="12"/>
          </p:nvPr>
        </p:nvSpPr>
        <p:spPr/>
        <p:txBody>
          <a:bodyPr/>
          <a:lstStyle/>
          <a:p>
            <a:fld id="{BB44241B-2579-694C-B40C-A1E3D5F0E4EC}" type="slidenum">
              <a:rPr lang="en-JP" smtClean="0"/>
              <a:pPr/>
              <a:t>6</a:t>
            </a:fld>
            <a:endParaRPr lang="en-JP" dirty="0"/>
          </a:p>
        </p:txBody>
      </p:sp>
      <p:sp>
        <p:nvSpPr>
          <p:cNvPr id="12" name="TextBox 11">
            <a:extLst>
              <a:ext uri="{FF2B5EF4-FFF2-40B4-BE49-F238E27FC236}">
                <a16:creationId xmlns:a16="http://schemas.microsoft.com/office/drawing/2014/main" id="{AE04D7E6-1295-A698-AD09-D317E07F65DD}"/>
              </a:ext>
            </a:extLst>
          </p:cNvPr>
          <p:cNvSpPr txBox="1"/>
          <p:nvPr/>
        </p:nvSpPr>
        <p:spPr>
          <a:xfrm>
            <a:off x="528638" y="992435"/>
            <a:ext cx="6300227" cy="400110"/>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tx1"/>
                </a:solidFill>
              </a:rPr>
              <a:t>Deep Neural Network</a:t>
            </a:r>
            <a:r>
              <a:rPr lang="ja-JP" altLang="en-US" sz="2000">
                <a:latin typeface="Meiryo" panose="020B0604030504040204" pitchFamily="34" charset="-128"/>
                <a:ea typeface="Meiryo" panose="020B0604030504040204" pitchFamily="34" charset="-128"/>
              </a:rPr>
              <a:t>とは何か？</a:t>
            </a:r>
            <a:endParaRPr lang="en-JP" sz="2000" dirty="0">
              <a:latin typeface="Meiryo" panose="020B0604030504040204" pitchFamily="34" charset="-128"/>
              <a:ea typeface="Meiryo" panose="020B0604030504040204" pitchFamily="34" charset="-128"/>
            </a:endParaRPr>
          </a:p>
        </p:txBody>
      </p:sp>
      <p:sp>
        <p:nvSpPr>
          <p:cNvPr id="31" name="TextBox 30">
            <a:extLst>
              <a:ext uri="{FF2B5EF4-FFF2-40B4-BE49-F238E27FC236}">
                <a16:creationId xmlns:a16="http://schemas.microsoft.com/office/drawing/2014/main" id="{E0AFEC1B-CBED-D710-1916-DE1D7560856F}"/>
              </a:ext>
            </a:extLst>
          </p:cNvPr>
          <p:cNvSpPr txBox="1"/>
          <p:nvPr/>
        </p:nvSpPr>
        <p:spPr>
          <a:xfrm>
            <a:off x="212526" y="159423"/>
            <a:ext cx="8771454" cy="584775"/>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en-JP" sz="3200" b="1" dirty="0">
                <a:latin typeface="Meiryo" panose="020B0604030504040204" pitchFamily="34" charset="-128"/>
                <a:ea typeface="Meiryo" panose="020B0604030504040204" pitchFamily="34" charset="-128"/>
              </a:rPr>
              <a:t>Machine learning types</a:t>
            </a:r>
            <a:r>
              <a:rPr lang="mn-MN"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2/2</a:t>
            </a:r>
            <a:endParaRPr lang="mn-MN" sz="3200" b="1" dirty="0">
              <a:latin typeface="Meiryo" panose="020B0604030504040204" pitchFamily="34" charset="-128"/>
              <a:ea typeface="Meiryo" panose="020B0604030504040204" pitchFamily="34" charset="-128"/>
            </a:endParaRPr>
          </a:p>
        </p:txBody>
      </p:sp>
      <p:pic>
        <p:nvPicPr>
          <p:cNvPr id="32" name="Picture 31">
            <a:extLst>
              <a:ext uri="{FF2B5EF4-FFF2-40B4-BE49-F238E27FC236}">
                <a16:creationId xmlns:a16="http://schemas.microsoft.com/office/drawing/2014/main" id="{DF6A1BDC-933A-7249-A63A-ADE3A2C3F0B4}"/>
              </a:ext>
            </a:extLst>
          </p:cNvPr>
          <p:cNvPicPr>
            <a:picLocks noChangeAspect="1"/>
          </p:cNvPicPr>
          <p:nvPr/>
        </p:nvPicPr>
        <p:blipFill>
          <a:blip r:embed="rId2"/>
          <a:stretch>
            <a:fillRect/>
          </a:stretch>
        </p:blipFill>
        <p:spPr>
          <a:xfrm>
            <a:off x="587105" y="1767442"/>
            <a:ext cx="9647167" cy="3250610"/>
          </a:xfrm>
          <a:prstGeom prst="rect">
            <a:avLst/>
          </a:prstGeom>
        </p:spPr>
      </p:pic>
      <p:sp>
        <p:nvSpPr>
          <p:cNvPr id="34" name="TextBox 33">
            <a:extLst>
              <a:ext uri="{FF2B5EF4-FFF2-40B4-BE49-F238E27FC236}">
                <a16:creationId xmlns:a16="http://schemas.microsoft.com/office/drawing/2014/main" id="{C097DF5A-2FF0-0D04-02E7-5FBE011A6DC6}"/>
              </a:ext>
            </a:extLst>
          </p:cNvPr>
          <p:cNvSpPr txBox="1"/>
          <p:nvPr/>
        </p:nvSpPr>
        <p:spPr>
          <a:xfrm>
            <a:off x="772221" y="5338773"/>
            <a:ext cx="6590619" cy="224676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Meiryo" panose="020B0604030504040204" pitchFamily="34" charset="-128"/>
                <a:ea typeface="Meiryo" panose="020B0604030504040204" pitchFamily="34" charset="-128"/>
              </a:rPr>
              <a:t>Deep Learning</a:t>
            </a:r>
            <a:r>
              <a:rPr lang="ja-JP" altLang="en-US" sz="2000">
                <a:latin typeface="Meiryo" panose="020B0604030504040204" pitchFamily="34" charset="-128"/>
                <a:ea typeface="Meiryo" panose="020B0604030504040204" pitchFamily="34" charset="-128"/>
              </a:rPr>
              <a:t>に基づく人工ニューラルネットワーク</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複数の隠れ層（</a:t>
            </a:r>
            <a:r>
              <a:rPr lang="en-US" sz="2000" dirty="0">
                <a:latin typeface="Meiryo" panose="020B0604030504040204" pitchFamily="34" charset="-128"/>
                <a:ea typeface="Meiryo" panose="020B0604030504040204" pitchFamily="34" charset="-128"/>
              </a:rPr>
              <a:t>Hidden Layers）</a:t>
            </a:r>
            <a:r>
              <a:rPr lang="ja-JP" altLang="en-US" sz="2000">
                <a:latin typeface="Meiryo" panose="020B0604030504040204" pitchFamily="34" charset="-128"/>
                <a:ea typeface="Meiryo" panose="020B0604030504040204" pitchFamily="34" charset="-128"/>
              </a:rPr>
              <a:t>を持つ</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データの複雑なパターンや特徴を学習</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正常データと異常データを高精度で識別可能</a:t>
            </a:r>
          </a:p>
        </p:txBody>
      </p:sp>
    </p:spTree>
    <p:extLst>
      <p:ext uri="{BB962C8B-B14F-4D97-AF65-F5344CB8AC3E}">
        <p14:creationId xmlns:p14="http://schemas.microsoft.com/office/powerpoint/2010/main" val="2705928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E0EFC4-BFC1-10C3-E40D-6DEE01C7E2A1}"/>
              </a:ext>
            </a:extLst>
          </p:cNvPr>
          <p:cNvSpPr>
            <a:spLocks noGrp="1"/>
          </p:cNvSpPr>
          <p:nvPr>
            <p:ph type="sldNum" sz="quarter" idx="12"/>
          </p:nvPr>
        </p:nvSpPr>
        <p:spPr/>
        <p:txBody>
          <a:bodyPr/>
          <a:lstStyle/>
          <a:p>
            <a:fld id="{BB44241B-2579-694C-B40C-A1E3D5F0E4EC}" type="slidenum">
              <a:rPr lang="en-JP" smtClean="0"/>
              <a:t>7</a:t>
            </a:fld>
            <a:endParaRPr lang="en-JP"/>
          </a:p>
        </p:txBody>
      </p:sp>
      <p:pic>
        <p:nvPicPr>
          <p:cNvPr id="10" name="Picture 9">
            <a:extLst>
              <a:ext uri="{FF2B5EF4-FFF2-40B4-BE49-F238E27FC236}">
                <a16:creationId xmlns:a16="http://schemas.microsoft.com/office/drawing/2014/main" id="{E377031F-46E8-7BA7-9A8D-3F556DEA8DE2}"/>
              </a:ext>
            </a:extLst>
          </p:cNvPr>
          <p:cNvPicPr>
            <a:picLocks noChangeAspect="1"/>
          </p:cNvPicPr>
          <p:nvPr/>
        </p:nvPicPr>
        <p:blipFill>
          <a:blip r:embed="rId2"/>
          <a:stretch>
            <a:fillRect/>
          </a:stretch>
        </p:blipFill>
        <p:spPr>
          <a:xfrm>
            <a:off x="0" y="1"/>
            <a:ext cx="10972800" cy="7627622"/>
          </a:xfrm>
          <a:prstGeom prst="rect">
            <a:avLst/>
          </a:prstGeom>
        </p:spPr>
      </p:pic>
      <p:sp>
        <p:nvSpPr>
          <p:cNvPr id="15" name="TextBox 14">
            <a:extLst>
              <a:ext uri="{FF2B5EF4-FFF2-40B4-BE49-F238E27FC236}">
                <a16:creationId xmlns:a16="http://schemas.microsoft.com/office/drawing/2014/main" id="{7C4A4D46-49C3-7E3E-F903-BB820B6D43CA}"/>
              </a:ext>
            </a:extLst>
          </p:cNvPr>
          <p:cNvSpPr txBox="1"/>
          <p:nvPr/>
        </p:nvSpPr>
        <p:spPr>
          <a:xfrm>
            <a:off x="211250" y="891524"/>
            <a:ext cx="8109790" cy="646331"/>
          </a:xfrm>
          <a:prstGeom prst="rect">
            <a:avLst/>
          </a:prstGeom>
          <a:noFill/>
        </p:spPr>
        <p:txBody>
          <a:bodyPr wrap="square" rtlCol="0">
            <a:spAutoFit/>
          </a:bodyPr>
          <a:lstStyle/>
          <a:p>
            <a:r>
              <a:rPr lang="ja-JP" altLang="en-US" b="1">
                <a:solidFill>
                  <a:srgbClr val="C00000"/>
                </a:solidFill>
                <a:latin typeface="Meiryo" panose="020B0604030504040204" pitchFamily="34" charset="-128"/>
                <a:ea typeface="Meiryo" panose="020B0604030504040204" pitchFamily="34" charset="-128"/>
              </a:rPr>
              <a:t>ネットワークのトラ</a:t>
            </a:r>
            <a:r>
              <a:rPr lang="en-US" b="1" dirty="0">
                <a:solidFill>
                  <a:srgbClr val="C00000"/>
                </a:solidFill>
                <a:latin typeface="Meiryo" panose="020B0604030504040204" pitchFamily="34" charset="-128"/>
                <a:ea typeface="Meiryo" panose="020B0604030504040204" pitchFamily="34" charset="-128"/>
              </a:rPr>
              <a:t>NIDS</a:t>
            </a:r>
            <a:r>
              <a:rPr lang="ja-JP" altLang="en-US" b="1">
                <a:solidFill>
                  <a:srgbClr val="C00000"/>
                </a:solidFill>
                <a:latin typeface="Meiryo" panose="020B0604030504040204" pitchFamily="34" charset="-128"/>
                <a:ea typeface="Meiryo" panose="020B0604030504040204" pitchFamily="34" charset="-128"/>
              </a:rPr>
              <a:t>フィックを読み取り、監視し、攻撃、マルウェア、不正アクセスなどの異常な動作を検出するシステム</a:t>
            </a:r>
            <a:r>
              <a:rPr lang="en-US" altLang="ja-JP" b="1" dirty="0">
                <a:solidFill>
                  <a:srgbClr val="C00000"/>
                </a:solidFill>
                <a:latin typeface="Meiryo" panose="020B0604030504040204" pitchFamily="34" charset="-128"/>
                <a:ea typeface="Meiryo" panose="020B0604030504040204" pitchFamily="34" charset="-128"/>
              </a:rPr>
              <a:t>.</a:t>
            </a:r>
            <a:endParaRPr lang="en-JP" b="1" dirty="0">
              <a:solidFill>
                <a:srgbClr val="C00000"/>
              </a:solidFill>
            </a:endParaRPr>
          </a:p>
        </p:txBody>
      </p:sp>
      <p:sp>
        <p:nvSpPr>
          <p:cNvPr id="16" name="TextBox 15">
            <a:extLst>
              <a:ext uri="{FF2B5EF4-FFF2-40B4-BE49-F238E27FC236}">
                <a16:creationId xmlns:a16="http://schemas.microsoft.com/office/drawing/2014/main" id="{2B4ECC72-58FF-865D-22B1-22501DC69757}"/>
              </a:ext>
            </a:extLst>
          </p:cNvPr>
          <p:cNvSpPr txBox="1"/>
          <p:nvPr/>
        </p:nvSpPr>
        <p:spPr>
          <a:xfrm>
            <a:off x="1051560" y="220762"/>
            <a:ext cx="8869680" cy="523220"/>
          </a:xfrm>
          <a:prstGeom prst="rect">
            <a:avLst/>
          </a:prstGeom>
          <a:noFill/>
        </p:spPr>
        <p:txBody>
          <a:bodyPr wrap="square" rtlCol="0">
            <a:spAutoFit/>
          </a:bodyPr>
          <a:lstStyle/>
          <a:p>
            <a:r>
              <a:rPr lang="ja-JP" altLang="en-US" sz="2800" b="1">
                <a:latin typeface="Meiryo" panose="020B0604030504040204" pitchFamily="34" charset="-128"/>
                <a:ea typeface="Meiryo" panose="020B0604030504040204" pitchFamily="34" charset="-128"/>
              </a:rPr>
              <a:t>ネットワーク侵入検知システム（</a:t>
            </a:r>
            <a:r>
              <a:rPr lang="en-US" sz="2800" b="1" dirty="0">
                <a:latin typeface="Meiryo" panose="020B0604030504040204" pitchFamily="34" charset="-128"/>
                <a:ea typeface="Meiryo" panose="020B0604030504040204" pitchFamily="34" charset="-128"/>
              </a:rPr>
              <a:t>NIDS）</a:t>
            </a:r>
            <a:r>
              <a:rPr lang="ja-JP" altLang="mn-MN" sz="2800" b="1">
                <a:latin typeface="Meiryo" panose="020B0604030504040204" pitchFamily="34" charset="-128"/>
                <a:ea typeface="Meiryo" panose="020B0604030504040204" pitchFamily="34" charset="-128"/>
              </a:rPr>
              <a:t> ・ </a:t>
            </a:r>
            <a:r>
              <a:rPr lang="mn-MN" sz="2800" b="1" dirty="0">
                <a:latin typeface="Meiryo" panose="020B0604030504040204" pitchFamily="34" charset="-128"/>
                <a:ea typeface="Meiryo" panose="020B0604030504040204" pitchFamily="34" charset="-128"/>
              </a:rPr>
              <a:t>仕組み</a:t>
            </a:r>
            <a:endParaRPr lang="en-JP" sz="2800" b="1" dirty="0">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C6F4209F-A97E-6780-55CF-303F4E680977}"/>
              </a:ext>
            </a:extLst>
          </p:cNvPr>
          <p:cNvSpPr txBox="1"/>
          <p:nvPr/>
        </p:nvSpPr>
        <p:spPr>
          <a:xfrm>
            <a:off x="0" y="7775165"/>
            <a:ext cx="7502631" cy="369332"/>
          </a:xfrm>
          <a:prstGeom prst="rect">
            <a:avLst/>
          </a:prstGeom>
          <a:noFill/>
        </p:spPr>
        <p:txBody>
          <a:bodyPr wrap="none" rtlCol="0">
            <a:spAutoFit/>
          </a:bodyPr>
          <a:lstStyle/>
          <a:p>
            <a:r>
              <a:rPr lang="en-US" dirty="0"/>
              <a:t>https://</a:t>
            </a:r>
            <a:r>
              <a:rPr lang="en-US" dirty="0" err="1"/>
              <a:t>www.comparitech.com</a:t>
            </a:r>
            <a:r>
              <a:rPr lang="en-US" dirty="0"/>
              <a:t>/net-admin/network-intrusion-detection-tools/</a:t>
            </a:r>
            <a:endParaRPr lang="en-JP" dirty="0"/>
          </a:p>
        </p:txBody>
      </p:sp>
    </p:spTree>
    <p:extLst>
      <p:ext uri="{BB962C8B-B14F-4D97-AF65-F5344CB8AC3E}">
        <p14:creationId xmlns:p14="http://schemas.microsoft.com/office/powerpoint/2010/main" val="135490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8192F9-AD1D-040C-7043-DD87F32C2EC2}"/>
              </a:ext>
            </a:extLst>
          </p:cNvPr>
          <p:cNvSpPr>
            <a:spLocks noGrp="1"/>
          </p:cNvSpPr>
          <p:nvPr>
            <p:ph type="sldNum" sz="quarter" idx="12"/>
          </p:nvPr>
        </p:nvSpPr>
        <p:spPr/>
        <p:txBody>
          <a:bodyPr/>
          <a:lstStyle/>
          <a:p>
            <a:fld id="{BB44241B-2579-694C-B40C-A1E3D5F0E4EC}" type="slidenum">
              <a:rPr lang="en-JP" smtClean="0"/>
              <a:pPr/>
              <a:t>8</a:t>
            </a:fld>
            <a:endParaRPr lang="en-JP" dirty="0"/>
          </a:p>
        </p:txBody>
      </p:sp>
      <p:sp>
        <p:nvSpPr>
          <p:cNvPr id="8" name="TextBox 7">
            <a:extLst>
              <a:ext uri="{FF2B5EF4-FFF2-40B4-BE49-F238E27FC236}">
                <a16:creationId xmlns:a16="http://schemas.microsoft.com/office/drawing/2014/main" id="{8B4F2970-A6C3-1B99-0C7C-07F574653780}"/>
              </a:ext>
            </a:extLst>
          </p:cNvPr>
          <p:cNvSpPr txBox="1"/>
          <p:nvPr/>
        </p:nvSpPr>
        <p:spPr>
          <a:xfrm>
            <a:off x="135468" y="7765690"/>
            <a:ext cx="7772399" cy="300082"/>
          </a:xfrm>
          <a:prstGeom prst="rect">
            <a:avLst/>
          </a:prstGeom>
          <a:noFill/>
        </p:spPr>
        <p:txBody>
          <a:bodyPr wrap="square">
            <a:spAutoFit/>
          </a:bodyPr>
          <a:lstStyle/>
          <a:p>
            <a:r>
              <a:rPr lang="en-US" sz="1350" dirty="0"/>
              <a:t>https://</a:t>
            </a:r>
            <a:r>
              <a:rPr lang="en-US" sz="1350" dirty="0" err="1"/>
              <a:t>www.hashstudioz.com</a:t>
            </a:r>
            <a:r>
              <a:rPr lang="en-US" sz="1350" dirty="0"/>
              <a:t>/blog/what-role-do-</a:t>
            </a:r>
            <a:r>
              <a:rPr lang="en-US" sz="1350" dirty="0" err="1"/>
              <a:t>iot</a:t>
            </a:r>
            <a:r>
              <a:rPr lang="en-US" sz="1350" dirty="0"/>
              <a:t>-gateways-play-in-the-overall-</a:t>
            </a:r>
            <a:r>
              <a:rPr lang="en-US" sz="1350" dirty="0" err="1"/>
              <a:t>iot</a:t>
            </a:r>
            <a:r>
              <a:rPr lang="en-US" sz="1350" dirty="0"/>
              <a:t>-ecosystem/</a:t>
            </a:r>
            <a:endParaRPr lang="en-JP" sz="1350" dirty="0"/>
          </a:p>
        </p:txBody>
      </p:sp>
      <p:sp>
        <p:nvSpPr>
          <p:cNvPr id="9" name="TextBox 8">
            <a:extLst>
              <a:ext uri="{FF2B5EF4-FFF2-40B4-BE49-F238E27FC236}">
                <a16:creationId xmlns:a16="http://schemas.microsoft.com/office/drawing/2014/main" id="{110CBB40-5936-4A16-6B43-FD6CD9F9C470}"/>
              </a:ext>
            </a:extLst>
          </p:cNvPr>
          <p:cNvSpPr txBox="1"/>
          <p:nvPr/>
        </p:nvSpPr>
        <p:spPr>
          <a:xfrm>
            <a:off x="376707" y="163828"/>
            <a:ext cx="9193104" cy="646331"/>
          </a:xfrm>
          <a:prstGeom prst="rect">
            <a:avLst/>
          </a:prstGeom>
          <a:noFill/>
        </p:spPr>
        <p:txBody>
          <a:bodyPr wrap="square" rtlCol="0">
            <a:spAutoFit/>
          </a:bodyPr>
          <a:lstStyle/>
          <a:p>
            <a:pPr marL="571500" indent="-571500">
              <a:buFont typeface="Arial" panose="020B0604020202020204" pitchFamily="34" charset="0"/>
              <a:buChar char="•"/>
            </a:pPr>
            <a:r>
              <a:rPr lang="en-US" sz="3600" b="1" dirty="0">
                <a:latin typeface="Meiryo" panose="020B0604030504040204" pitchFamily="34" charset="-128"/>
                <a:ea typeface="Meiryo" panose="020B0604030504040204" pitchFamily="34" charset="-128"/>
              </a:rPr>
              <a:t>IoT</a:t>
            </a:r>
            <a:r>
              <a:rPr lang="ja-JP" altLang="en-US" sz="3600" b="1">
                <a:latin typeface="Meiryo" panose="020B0604030504040204" pitchFamily="34" charset="-128"/>
                <a:ea typeface="Meiryo" panose="020B0604030504040204" pitchFamily="34" charset="-128"/>
              </a:rPr>
              <a:t>ゲートウェイの役割と動作</a:t>
            </a:r>
            <a:endParaRPr lang="en-JP" sz="3600" b="1"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C191E21D-A453-53C9-FBEB-379C1F081DAE}"/>
              </a:ext>
            </a:extLst>
          </p:cNvPr>
          <p:cNvSpPr txBox="1"/>
          <p:nvPr/>
        </p:nvSpPr>
        <p:spPr>
          <a:xfrm>
            <a:off x="499722" y="902700"/>
            <a:ext cx="9718698"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ゲートウェイは、</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デバイスと外部ネットワーク（クラウドやインターネット）の間でデータを中継し、通信の管理・変換・保護を行う中間ノードである</a:t>
            </a:r>
            <a:r>
              <a:rPr lang="mn-MN"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21" name="Picture 20">
            <a:extLst>
              <a:ext uri="{FF2B5EF4-FFF2-40B4-BE49-F238E27FC236}">
                <a16:creationId xmlns:a16="http://schemas.microsoft.com/office/drawing/2014/main" id="{F8D4995C-6CC5-F4C7-9E97-606216BD990F}"/>
              </a:ext>
            </a:extLst>
          </p:cNvPr>
          <p:cNvPicPr>
            <a:picLocks noChangeAspect="1"/>
          </p:cNvPicPr>
          <p:nvPr/>
        </p:nvPicPr>
        <p:blipFill>
          <a:blip r:embed="rId3"/>
          <a:stretch>
            <a:fillRect/>
          </a:stretch>
        </p:blipFill>
        <p:spPr>
          <a:xfrm>
            <a:off x="608995" y="1810319"/>
            <a:ext cx="9344901" cy="3989590"/>
          </a:xfrm>
          <a:prstGeom prst="rect">
            <a:avLst/>
          </a:prstGeom>
        </p:spPr>
      </p:pic>
      <p:sp>
        <p:nvSpPr>
          <p:cNvPr id="23" name="TextBox 22">
            <a:extLst>
              <a:ext uri="{FF2B5EF4-FFF2-40B4-BE49-F238E27FC236}">
                <a16:creationId xmlns:a16="http://schemas.microsoft.com/office/drawing/2014/main" id="{01158340-30AF-F5D7-6C4D-1F7496D11617}"/>
              </a:ext>
            </a:extLst>
          </p:cNvPr>
          <p:cNvSpPr txBox="1"/>
          <p:nvPr/>
        </p:nvSpPr>
        <p:spPr>
          <a:xfrm>
            <a:off x="608995" y="6126571"/>
            <a:ext cx="643345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400">
                <a:latin typeface="Meiryo" panose="020B0604030504040204" pitchFamily="34" charset="-128"/>
                <a:ea typeface="Meiryo" panose="020B0604030504040204" pitchFamily="34" charset="-128"/>
                <a:cs typeface="Times New Roman" panose="02020603050405020304" pitchFamily="18" charset="0"/>
              </a:rPr>
              <a:t>では、ゲートウェイ上で</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パケット観測</a:t>
            </a:r>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ja-JP" altLang="en-US" sz="2400">
                <a:latin typeface="Meiryo" panose="020B0604030504040204" pitchFamily="34" charset="-128"/>
                <a:ea typeface="Meiryo" panose="020B0604030504040204" pitchFamily="34" charset="-128"/>
                <a:cs typeface="Times New Roman" panose="02020603050405020304" pitchFamily="18" charset="0"/>
              </a:rPr>
              <a:t>特徴量抽出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攻撃検知を実行する中心的な役割を持つ</a:t>
            </a:r>
          </a:p>
        </p:txBody>
      </p:sp>
    </p:spTree>
    <p:extLst>
      <p:ext uri="{BB962C8B-B14F-4D97-AF65-F5344CB8AC3E}">
        <p14:creationId xmlns:p14="http://schemas.microsoft.com/office/powerpoint/2010/main" val="215565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AFB1C-290F-19B6-B4FE-93AD02AF1C32}"/>
              </a:ext>
            </a:extLst>
          </p:cNvPr>
          <p:cNvSpPr>
            <a:spLocks noGrp="1"/>
          </p:cNvSpPr>
          <p:nvPr>
            <p:ph type="sldNum" sz="quarter" idx="12"/>
          </p:nvPr>
        </p:nvSpPr>
        <p:spPr/>
        <p:txBody>
          <a:bodyPr/>
          <a:lstStyle/>
          <a:p>
            <a:fld id="{BB44241B-2579-694C-B40C-A1E3D5F0E4EC}" type="slidenum">
              <a:rPr lang="en-JP" smtClean="0"/>
              <a:pPr/>
              <a:t>9</a:t>
            </a:fld>
            <a:endParaRPr lang="en-JP" dirty="0"/>
          </a:p>
        </p:txBody>
      </p:sp>
      <p:sp>
        <p:nvSpPr>
          <p:cNvPr id="6" name="TextBox 5">
            <a:extLst>
              <a:ext uri="{FF2B5EF4-FFF2-40B4-BE49-F238E27FC236}">
                <a16:creationId xmlns:a16="http://schemas.microsoft.com/office/drawing/2014/main" id="{92DF1983-F0AF-8414-E7F0-AD21ACCFBF71}"/>
              </a:ext>
            </a:extLst>
          </p:cNvPr>
          <p:cNvSpPr txBox="1"/>
          <p:nvPr/>
        </p:nvSpPr>
        <p:spPr>
          <a:xfrm>
            <a:off x="231913" y="301403"/>
            <a:ext cx="10845390" cy="954107"/>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Meiryo" panose="020B0604030504040204" pitchFamily="34" charset="-128"/>
                <a:ea typeface="Meiryo" panose="020B0604030504040204" pitchFamily="34" charset="-128"/>
              </a:rPr>
              <a:t>IoT</a:t>
            </a:r>
            <a:r>
              <a:rPr lang="ja-JP" altLang="en-US" sz="2800">
                <a:latin typeface="Meiryo" panose="020B0604030504040204" pitchFamily="34" charset="-128"/>
                <a:ea typeface="Meiryo" panose="020B0604030504040204" pitchFamily="34" charset="-128"/>
              </a:rPr>
              <a:t>ゲートウェイの機能と重要性</a:t>
            </a:r>
            <a:r>
              <a:rPr lang="en-US" altLang="ja-JP" sz="2800" dirty="0">
                <a:latin typeface="Meiryo" panose="020B0604030504040204" pitchFamily="34" charset="-128"/>
                <a:ea typeface="Meiryo" panose="020B0604030504040204" pitchFamily="34" charset="-128"/>
              </a:rPr>
              <a:t> </a:t>
            </a:r>
            <a:r>
              <a:rPr lang="en-US" sz="2800" dirty="0">
                <a:latin typeface="Meiryo" panose="020B0604030504040204" pitchFamily="34" charset="-128"/>
                <a:ea typeface="Meiryo" panose="020B0604030504040204" pitchFamily="34" charset="-128"/>
              </a:rPr>
              <a:t>Benefits of IoT Gateway</a:t>
            </a:r>
            <a:endParaRPr lang="en-JP"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A9DD94A1-C3F6-9778-E182-69C5CFC338E3}"/>
              </a:ext>
            </a:extLst>
          </p:cNvPr>
          <p:cNvSpPr/>
          <p:nvPr/>
        </p:nvSpPr>
        <p:spPr>
          <a:xfrm>
            <a:off x="964016" y="1255510"/>
            <a:ext cx="4690592" cy="145856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rPr>
              <a:t>1.</a:t>
            </a:r>
            <a:r>
              <a:rPr lang="en-JP" sz="2400" dirty="0">
                <a:solidFill>
                  <a:schemeClr val="tx1"/>
                </a:solidFill>
              </a:rPr>
              <a:t>Protocol Translation: デバイスとサーバー間のデータを適切なプロトコルに変換</a:t>
            </a:r>
            <a:endParaRPr lang="mn-MN" sz="2400" dirty="0">
              <a:solidFill>
                <a:schemeClr val="tx1"/>
              </a:solidFill>
            </a:endParaRPr>
          </a:p>
        </p:txBody>
      </p:sp>
      <p:sp>
        <p:nvSpPr>
          <p:cNvPr id="13" name="Rounded Rectangle 12">
            <a:extLst>
              <a:ext uri="{FF2B5EF4-FFF2-40B4-BE49-F238E27FC236}">
                <a16:creationId xmlns:a16="http://schemas.microsoft.com/office/drawing/2014/main" id="{C7816BD0-F572-54F6-68A5-6B7FAB33D25F}"/>
              </a:ext>
            </a:extLst>
          </p:cNvPr>
          <p:cNvSpPr/>
          <p:nvPr/>
        </p:nvSpPr>
        <p:spPr>
          <a:xfrm>
            <a:off x="964016" y="3091349"/>
            <a:ext cx="4690592" cy="129016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2.</a:t>
            </a:r>
            <a:r>
              <a:rPr lang="en-JP" sz="2400" dirty="0">
                <a:solidFill>
                  <a:schemeClr val="tx1"/>
                </a:solidFill>
                <a:latin typeface="Meiryo" panose="020B0604030504040204" pitchFamily="34" charset="-128"/>
                <a:ea typeface="Meiryo" panose="020B0604030504040204" pitchFamily="34" charset="-128"/>
              </a:rPr>
              <a:t>Edge Computing: 事前処理や計算をゲートウェイで実行</a:t>
            </a:r>
          </a:p>
        </p:txBody>
      </p:sp>
      <p:sp>
        <p:nvSpPr>
          <p:cNvPr id="14" name="Rounded Rectangle 13">
            <a:extLst>
              <a:ext uri="{FF2B5EF4-FFF2-40B4-BE49-F238E27FC236}">
                <a16:creationId xmlns:a16="http://schemas.microsoft.com/office/drawing/2014/main" id="{FD25F43E-6744-C534-3905-38D2A5860E19}"/>
              </a:ext>
            </a:extLst>
          </p:cNvPr>
          <p:cNvSpPr/>
          <p:nvPr/>
        </p:nvSpPr>
        <p:spPr>
          <a:xfrm>
            <a:off x="964016" y="4884761"/>
            <a:ext cx="4648200" cy="146882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3.</a:t>
            </a:r>
            <a:r>
              <a:rPr lang="en-JP" sz="2400" dirty="0">
                <a:solidFill>
                  <a:schemeClr val="tx1"/>
                </a:solidFill>
                <a:latin typeface="Meiryo" panose="020B0604030504040204" pitchFamily="34" charset="-128"/>
                <a:ea typeface="Meiryo" panose="020B0604030504040204" pitchFamily="34" charset="-128"/>
              </a:rPr>
              <a:t>Security: 暗号化、ファイアウォール、攻撃からの保護</a:t>
            </a:r>
            <a:endParaRPr lang="en-JP" sz="2400" b="1"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4784A949-15BD-4D2C-8A6A-BD8C60E156E4}"/>
              </a:ext>
            </a:extLst>
          </p:cNvPr>
          <p:cNvSpPr/>
          <p:nvPr/>
        </p:nvSpPr>
        <p:spPr>
          <a:xfrm>
            <a:off x="5911473" y="1309818"/>
            <a:ext cx="4648200" cy="140426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4.</a:t>
            </a:r>
            <a:r>
              <a:rPr lang="en-JP" sz="2400" dirty="0">
                <a:solidFill>
                  <a:schemeClr val="tx1"/>
                </a:solidFill>
                <a:latin typeface="Meiryo" panose="020B0604030504040204" pitchFamily="34" charset="-128"/>
                <a:ea typeface="Meiryo" panose="020B0604030504040204" pitchFamily="34" charset="-128"/>
              </a:rPr>
              <a:t>Scalability: ネットワークの拡張に対応可能</a:t>
            </a:r>
            <a:endParaRPr lang="en-JP" sz="2400" b="1" dirty="0">
              <a:solidFill>
                <a:schemeClr val="tx1"/>
              </a:solidFill>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80CB3FF3-7EDE-1202-0689-812691D8C65C}"/>
              </a:ext>
            </a:extLst>
          </p:cNvPr>
          <p:cNvSpPr/>
          <p:nvPr/>
        </p:nvSpPr>
        <p:spPr>
          <a:xfrm>
            <a:off x="5953867" y="3144315"/>
            <a:ext cx="4605806" cy="129016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5.</a:t>
            </a:r>
            <a:r>
              <a:rPr lang="en-JP" sz="2400" dirty="0">
                <a:solidFill>
                  <a:schemeClr val="tx1"/>
                </a:solidFill>
                <a:latin typeface="Meiryo" panose="020B0604030504040204" pitchFamily="34" charset="-128"/>
                <a:ea typeface="Meiryo" panose="020B0604030504040204" pitchFamily="34" charset="-128"/>
              </a:rPr>
              <a:t>信頼性（Reliability）: 安定したデータ転送を確保</a:t>
            </a:r>
          </a:p>
        </p:txBody>
      </p:sp>
      <p:sp>
        <p:nvSpPr>
          <p:cNvPr id="21" name="Rounded Rectangle 20">
            <a:extLst>
              <a:ext uri="{FF2B5EF4-FFF2-40B4-BE49-F238E27FC236}">
                <a16:creationId xmlns:a16="http://schemas.microsoft.com/office/drawing/2014/main" id="{6CD6F8C5-EB50-495B-59B8-46400EB55DEB}"/>
              </a:ext>
            </a:extLst>
          </p:cNvPr>
          <p:cNvSpPr/>
          <p:nvPr/>
        </p:nvSpPr>
        <p:spPr>
          <a:xfrm>
            <a:off x="5953867" y="4949330"/>
            <a:ext cx="4605806" cy="140426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sz="1350" dirty="0">
              <a:solidFill>
                <a:schemeClr val="tx1"/>
              </a:solidFill>
              <a:latin typeface="Meiryo" panose="020B0604030504040204" pitchFamily="34" charset="-128"/>
              <a:ea typeface="Meiryo" panose="020B0604030504040204" pitchFamily="34" charset="-128"/>
            </a:endParaRPr>
          </a:p>
          <a:p>
            <a:pPr algn="ctr"/>
            <a:endParaRPr lang="mn-MN" sz="2400" dirty="0">
              <a:solidFill>
                <a:schemeClr val="tx1"/>
              </a:solidFill>
              <a:latin typeface="Meiryo" panose="020B0604030504040204" pitchFamily="34" charset="-128"/>
              <a:ea typeface="Meiryo" panose="020B0604030504040204" pitchFamily="34" charset="-128"/>
            </a:endParaRPr>
          </a:p>
          <a:p>
            <a:r>
              <a:rPr lang="mn-MN" sz="2400" dirty="0">
                <a:solidFill>
                  <a:schemeClr val="tx1"/>
                </a:solidFill>
                <a:latin typeface="Meiryo" panose="020B0604030504040204" pitchFamily="34" charset="-128"/>
                <a:ea typeface="Meiryo" panose="020B0604030504040204" pitchFamily="34" charset="-128"/>
              </a:rPr>
              <a:t>6.</a:t>
            </a:r>
            <a:r>
              <a:rPr lang="en-JP" sz="2400" dirty="0">
                <a:solidFill>
                  <a:schemeClr val="tx1"/>
                </a:solidFill>
                <a:latin typeface="Meiryo" panose="020B0604030504040204" pitchFamily="34" charset="-128"/>
                <a:ea typeface="Meiryo" panose="020B0604030504040204" pitchFamily="34" charset="-128"/>
              </a:rPr>
              <a:t>経済性（Economical）: 低コストで IoT システムを運用可能</a:t>
            </a:r>
          </a:p>
          <a:p>
            <a:pPr algn="ctr"/>
            <a:endParaRPr lang="mn-MN" sz="1350" dirty="0">
              <a:solidFill>
                <a:schemeClr val="tx1"/>
              </a:solidFill>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4586E3D6-BC5F-F6E0-482B-260FF320A008}"/>
              </a:ext>
            </a:extLst>
          </p:cNvPr>
          <p:cNvSpPr txBox="1"/>
          <p:nvPr/>
        </p:nvSpPr>
        <p:spPr>
          <a:xfrm>
            <a:off x="1120770" y="7662031"/>
            <a:ext cx="6036972" cy="369332"/>
          </a:xfrm>
          <a:prstGeom prst="rect">
            <a:avLst/>
          </a:prstGeom>
          <a:noFill/>
        </p:spPr>
        <p:txBody>
          <a:bodyPr wrap="square">
            <a:spAutoFit/>
          </a:bodyPr>
          <a:lstStyle/>
          <a:p>
            <a:r>
              <a:rPr lang="en-JP" dirty="0"/>
              <a:t>https://psiborg.in/iot-gateway/</a:t>
            </a:r>
          </a:p>
        </p:txBody>
      </p:sp>
    </p:spTree>
    <p:extLst>
      <p:ext uri="{BB962C8B-B14F-4D97-AF65-F5344CB8AC3E}">
        <p14:creationId xmlns:p14="http://schemas.microsoft.com/office/powerpoint/2010/main" val="343903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研究背景</a:t>
            </a:r>
            <a:endParaRPr lang="en-US"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C00000"/>
                </a:solidFill>
                <a:latin typeface="Meiryo UI" panose="020B0604030504040204" pitchFamily="50" charset="-128"/>
                <a:ea typeface="Meiryo UI" panose="020B0604030504040204" pitchFamily="50" charset="-128"/>
              </a:rPr>
              <a:t>目的</a:t>
            </a:r>
            <a:endParaRPr lang="en-US"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endParaRPr lang="ja-JP" altLang="en-US" sz="300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まとめ・今後の</a:t>
            </a:r>
            <a:r>
              <a:rPr kumimoji="1" lang="ja-JP" altLang="en-US" sz="3000">
                <a:latin typeface="Meiryo UI" panose="020B0604030504040204" pitchFamily="50" charset="-128"/>
                <a:ea typeface="Meiryo UI" panose="020B0604030504040204" pitchFamily="50" charset="-128"/>
              </a:rPr>
              <a:t>課題</a:t>
            </a: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10</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825309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1CD180-A8CD-DFB4-B159-31234997A6FE}"/>
              </a:ext>
            </a:extLst>
          </p:cNvPr>
          <p:cNvSpPr>
            <a:spLocks noGrp="1"/>
          </p:cNvSpPr>
          <p:nvPr>
            <p:ph type="sldNum" sz="quarter" idx="12"/>
          </p:nvPr>
        </p:nvSpPr>
        <p:spPr/>
        <p:txBody>
          <a:bodyPr/>
          <a:lstStyle/>
          <a:p>
            <a:fld id="{BB44241B-2579-694C-B40C-A1E3D5F0E4EC}" type="slidenum">
              <a:rPr lang="en-JP" smtClean="0"/>
              <a:t>11</a:t>
            </a:fld>
            <a:endParaRPr lang="en-JP"/>
          </a:p>
        </p:txBody>
      </p:sp>
      <p:sp>
        <p:nvSpPr>
          <p:cNvPr id="3" name="TextBox 2">
            <a:extLst>
              <a:ext uri="{FF2B5EF4-FFF2-40B4-BE49-F238E27FC236}">
                <a16:creationId xmlns:a16="http://schemas.microsoft.com/office/drawing/2014/main" id="{46B8A281-283D-8765-4A4C-721E42956B65}"/>
              </a:ext>
            </a:extLst>
          </p:cNvPr>
          <p:cNvSpPr txBox="1"/>
          <p:nvPr/>
        </p:nvSpPr>
        <p:spPr>
          <a:xfrm>
            <a:off x="1138091" y="1338910"/>
            <a:ext cx="8831992" cy="1384995"/>
          </a:xfrm>
          <a:prstGeom prst="rect">
            <a:avLst/>
          </a:prstGeom>
          <a:noFill/>
        </p:spPr>
        <p:txBody>
          <a:bodyPr wrap="square">
            <a:spAutoFit/>
          </a:bodyPr>
          <a:lstStyle/>
          <a:p>
            <a:r>
              <a:rPr lang="en-JP" sz="2800" dirty="0">
                <a:latin typeface="Meiryo" panose="020B0604030504040204" pitchFamily="34" charset="-128"/>
                <a:ea typeface="Meiryo" panose="020B0604030504040204" pitchFamily="34" charset="-128"/>
              </a:rPr>
              <a:t>主な目標:IoT ゲートウェイ上で動作する軽量かつ高精度な攻撃検知システムを構築</a:t>
            </a:r>
            <a:r>
              <a:rPr lang="mn-MN" sz="2800" dirty="0">
                <a:latin typeface="Meiryo" panose="020B0604030504040204" pitchFamily="34" charset="-128"/>
                <a:ea typeface="Meiryo" panose="020B0604030504040204" pitchFamily="34" charset="-128"/>
              </a:rPr>
              <a:t>.</a:t>
            </a:r>
            <a:endParaRPr lang="en-JP"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B7D41A46-F1F7-DED5-4C32-5612A77C0BE3}"/>
              </a:ext>
            </a:extLst>
          </p:cNvPr>
          <p:cNvSpPr txBox="1"/>
          <p:nvPr/>
        </p:nvSpPr>
        <p:spPr>
          <a:xfrm>
            <a:off x="1004340" y="425792"/>
            <a:ext cx="5486400" cy="584775"/>
          </a:xfrm>
          <a:prstGeom prst="rect">
            <a:avLst/>
          </a:prstGeom>
          <a:noFill/>
        </p:spPr>
        <p:txBody>
          <a:bodyPr wrap="square">
            <a:spAutoFit/>
          </a:bodyPr>
          <a:lstStyle/>
          <a:p>
            <a:r>
              <a:rPr lang="ja-JP" altLang="en-US" sz="3200" b="1">
                <a:solidFill>
                  <a:srgbClr val="C00000"/>
                </a:solidFill>
                <a:latin typeface="Meiryo UI" panose="020B0604030504040204" pitchFamily="50" charset="-128"/>
                <a:ea typeface="Meiryo UI" panose="020B0604030504040204" pitchFamily="50" charset="-128"/>
              </a:rPr>
              <a:t>目的</a:t>
            </a:r>
            <a:endParaRPr lang="en-JP" sz="3200" b="1" dirty="0">
              <a:solidFill>
                <a:srgbClr val="C00000"/>
              </a:solidFill>
            </a:endParaRPr>
          </a:p>
        </p:txBody>
      </p:sp>
      <p:sp>
        <p:nvSpPr>
          <p:cNvPr id="12" name="TextBox 11">
            <a:extLst>
              <a:ext uri="{FF2B5EF4-FFF2-40B4-BE49-F238E27FC236}">
                <a16:creationId xmlns:a16="http://schemas.microsoft.com/office/drawing/2014/main" id="{295D0B2E-6FC9-8F1F-5AE1-30333CE5746F}"/>
              </a:ext>
            </a:extLst>
          </p:cNvPr>
          <p:cNvSpPr txBox="1"/>
          <p:nvPr/>
        </p:nvSpPr>
        <p:spPr>
          <a:xfrm>
            <a:off x="3889497" y="3139295"/>
            <a:ext cx="5486400" cy="461665"/>
          </a:xfrm>
          <a:prstGeom prst="rect">
            <a:avLst/>
          </a:prstGeom>
          <a:noFill/>
        </p:spPr>
        <p:txBody>
          <a:bodyPr wrap="square">
            <a:spAutoFit/>
          </a:bodyPr>
          <a:lstStyle/>
          <a:p>
            <a:r>
              <a:rPr lang="en-JP" sz="2400" b="1" dirty="0">
                <a:solidFill>
                  <a:srgbClr val="92D050"/>
                </a:solidFill>
                <a:latin typeface="Meiryo" panose="020B0604030504040204" pitchFamily="34" charset="-128"/>
                <a:ea typeface="Meiryo" panose="020B0604030504040204" pitchFamily="34" charset="-128"/>
              </a:rPr>
              <a:t>具体的な目標</a:t>
            </a:r>
          </a:p>
        </p:txBody>
      </p:sp>
      <p:sp>
        <p:nvSpPr>
          <p:cNvPr id="13" name="正方形/長方形 9">
            <a:extLst>
              <a:ext uri="{FF2B5EF4-FFF2-40B4-BE49-F238E27FC236}">
                <a16:creationId xmlns:a16="http://schemas.microsoft.com/office/drawing/2014/main" id="{B1B2DBC6-1D0F-BFC3-001A-97A826F2C599}"/>
              </a:ext>
            </a:extLst>
          </p:cNvPr>
          <p:cNvSpPr/>
          <p:nvPr/>
        </p:nvSpPr>
        <p:spPr>
          <a:xfrm>
            <a:off x="975389" y="1163629"/>
            <a:ext cx="8730313" cy="14072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 name="Rounded Rectangle 1">
            <a:extLst>
              <a:ext uri="{FF2B5EF4-FFF2-40B4-BE49-F238E27FC236}">
                <a16:creationId xmlns:a16="http://schemas.microsoft.com/office/drawing/2014/main" id="{4DBFA5EB-3F69-0AB6-8912-99A8167C9201}"/>
              </a:ext>
            </a:extLst>
          </p:cNvPr>
          <p:cNvSpPr/>
          <p:nvPr/>
        </p:nvSpPr>
        <p:spPr>
          <a:xfrm>
            <a:off x="739270" y="3876099"/>
            <a:ext cx="3250588"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科学的貢献 </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競合システムより優れる</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実運用に適した設計</a:t>
            </a:r>
          </a:p>
        </p:txBody>
      </p:sp>
      <p:sp>
        <p:nvSpPr>
          <p:cNvPr id="5" name="Rounded Rectangle 4">
            <a:extLst>
              <a:ext uri="{FF2B5EF4-FFF2-40B4-BE49-F238E27FC236}">
                <a16:creationId xmlns:a16="http://schemas.microsoft.com/office/drawing/2014/main" id="{60328799-039D-E321-E08E-E1768B04CA37}"/>
              </a:ext>
            </a:extLst>
          </p:cNvPr>
          <p:cNvSpPr/>
          <p:nvPr/>
        </p:nvSpPr>
        <p:spPr>
          <a:xfrm>
            <a:off x="4229909" y="3876099"/>
            <a:ext cx="2648356"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高精度</a:t>
            </a:r>
            <a:endParaRPr lang="mn-MN" sz="1800" dirty="0">
              <a:solidFill>
                <a:srgbClr val="92D05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99%以上の精度</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11種類の攻撃を検知 </a:t>
            </a:r>
            <a:r>
              <a:rPr lang="en-US" sz="1800" dirty="0">
                <a:solidFill>
                  <a:schemeClr val="tx1"/>
                </a:solidFill>
                <a:latin typeface="Times New Roman" panose="02020603050405020304" pitchFamily="18" charset="0"/>
                <a:cs typeface="Times New Roman" panose="02020603050405020304" pitchFamily="18" charset="0"/>
              </a:rPr>
              <a:t>false alarm </a:t>
            </a:r>
            <a:r>
              <a:rPr lang="en-JP" sz="1800" dirty="0">
                <a:solidFill>
                  <a:schemeClr val="tx1"/>
                </a:solidFill>
                <a:latin typeface="Meiryo" panose="020B0604030504040204" pitchFamily="34" charset="-128"/>
                <a:ea typeface="Meiryo" panose="020B0604030504040204" pitchFamily="34" charset="-128"/>
              </a:rPr>
              <a:t>を 最小化</a:t>
            </a:r>
            <a:endParaRPr lang="mn-MN" sz="1800"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86899EF0-1F82-8A63-3EDE-2C2D66AD9F4C}"/>
              </a:ext>
            </a:extLst>
          </p:cNvPr>
          <p:cNvSpPr/>
          <p:nvPr/>
        </p:nvSpPr>
        <p:spPr>
          <a:xfrm>
            <a:off x="7118317" y="3838632"/>
            <a:ext cx="2968667"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技術的解決策:</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軽量アーキテクチャ</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リアルタイム検知</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限られたリソースで動作可能</a:t>
            </a:r>
          </a:p>
        </p:txBody>
      </p:sp>
    </p:spTree>
    <p:extLst>
      <p:ext uri="{BB962C8B-B14F-4D97-AF65-F5344CB8AC3E}">
        <p14:creationId xmlns:p14="http://schemas.microsoft.com/office/powerpoint/2010/main" val="36554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85000" lnSpcReduction="2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solidFill>
                  <a:srgbClr val="FF0000"/>
                </a:solidFill>
                <a:latin typeface="Meiryo" panose="020B0604030504040204" pitchFamily="34" charset="-128"/>
                <a:ea typeface="Meiryo" panose="020B0604030504040204" pitchFamily="34" charset="-128"/>
              </a:rPr>
              <a:t>Realguard</a:t>
            </a:r>
            <a:endParaRPr lang="ja-JP" altLang="en-US" sz="3000">
              <a:solidFill>
                <a:srgbClr val="FF0000"/>
              </a:solidFill>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システム構成</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12</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539034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496E2-C454-7567-25B9-30434133F783}"/>
              </a:ext>
            </a:extLst>
          </p:cNvPr>
          <p:cNvSpPr>
            <a:spLocks noGrp="1"/>
          </p:cNvSpPr>
          <p:nvPr>
            <p:ph type="sldNum" sz="quarter" idx="12"/>
          </p:nvPr>
        </p:nvSpPr>
        <p:spPr/>
        <p:txBody>
          <a:bodyPr/>
          <a:lstStyle/>
          <a:p>
            <a:fld id="{BB44241B-2579-694C-B40C-A1E3D5F0E4EC}" type="slidenum">
              <a:rPr lang="en-JP" smtClean="0"/>
              <a:pPr/>
              <a:t>13</a:t>
            </a:fld>
            <a:endParaRPr lang="en-JP" dirty="0"/>
          </a:p>
        </p:txBody>
      </p:sp>
      <p:sp>
        <p:nvSpPr>
          <p:cNvPr id="7" name="TextBox 6">
            <a:extLst>
              <a:ext uri="{FF2B5EF4-FFF2-40B4-BE49-F238E27FC236}">
                <a16:creationId xmlns:a16="http://schemas.microsoft.com/office/drawing/2014/main" id="{06B749B4-DAF1-FEB6-6BF5-F93D30F2469D}"/>
              </a:ext>
            </a:extLst>
          </p:cNvPr>
          <p:cNvSpPr txBox="1"/>
          <p:nvPr/>
        </p:nvSpPr>
        <p:spPr>
          <a:xfrm>
            <a:off x="416376" y="334517"/>
            <a:ext cx="5486400" cy="769441"/>
          </a:xfrm>
          <a:prstGeom prst="rect">
            <a:avLst/>
          </a:prstGeom>
          <a:noFill/>
        </p:spPr>
        <p:txBody>
          <a:bodyPr wrap="square">
            <a:spAutoFit/>
          </a:bodyPr>
          <a:lstStyle/>
          <a:p>
            <a:pPr marL="160016">
              <a:lnSpc>
                <a:spcPct val="150000"/>
              </a:lnSpc>
              <a:buSzPts val="2800"/>
            </a:pPr>
            <a:r>
              <a:rPr lang="en-US" altLang="ja-JP" sz="3200" b="1" dirty="0">
                <a:latin typeface="Meiryo" panose="020B0604030504040204" pitchFamily="34" charset="-128"/>
                <a:ea typeface="Meiryo" panose="020B0604030504040204" pitchFamily="34" charset="-128"/>
              </a:rPr>
              <a:t>Realguard</a:t>
            </a:r>
            <a:endParaRPr lang="ja-JP" altLang="en-US" sz="3200" b="1">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43A7CDB8-0D71-C36B-352B-8D7A901B643F}"/>
              </a:ext>
            </a:extLst>
          </p:cNvPr>
          <p:cNvSpPr txBox="1"/>
          <p:nvPr/>
        </p:nvSpPr>
        <p:spPr>
          <a:xfrm>
            <a:off x="257902" y="1442713"/>
            <a:ext cx="10456996" cy="1815882"/>
          </a:xfrm>
          <a:prstGeom prst="rect">
            <a:avLst/>
          </a:prstGeom>
          <a:noFill/>
        </p:spPr>
        <p:txBody>
          <a:bodyPr wrap="square">
            <a:spAutoFit/>
          </a:bodyPr>
          <a:lstStyle/>
          <a:p>
            <a:pPr marL="342900" indent="-342900">
              <a:buFont typeface="Arial" panose="020B0604020202020204" pitchFamily="34" charset="0"/>
              <a:buChar char="•"/>
            </a:pPr>
            <a:r>
              <a:rPr lang="en-JP" sz="2800" dirty="0">
                <a:latin typeface="Meiryo" panose="020B0604030504040204" pitchFamily="34" charset="-128"/>
                <a:ea typeface="Meiryo" panose="020B0604030504040204" pitchFamily="34" charset="-128"/>
              </a:rPr>
              <a:t>Realguard は、</a:t>
            </a:r>
            <a:r>
              <a:rPr lang="en-US" sz="2800" dirty="0">
                <a:latin typeface="Meiryo" panose="020B0604030504040204" pitchFamily="34" charset="-128"/>
                <a:ea typeface="Meiryo" panose="020B0604030504040204" pitchFamily="34" charset="-128"/>
              </a:rPr>
              <a:t>Deep learning </a:t>
            </a:r>
            <a:r>
              <a:rPr lang="en-JP" sz="2800" dirty="0">
                <a:latin typeface="Meiryo" panose="020B0604030504040204" pitchFamily="34" charset="-128"/>
                <a:ea typeface="Meiryo" panose="020B0604030504040204" pitchFamily="34" charset="-128"/>
              </a:rPr>
              <a:t>に基づくネットワーク侵入検知システム（NIDS）です.</a:t>
            </a:r>
          </a:p>
          <a:p>
            <a:pPr marL="342900" indent="-342900">
              <a:buFont typeface="Arial" panose="020B0604020202020204" pitchFamily="34" charset="0"/>
              <a:buChar char="•"/>
            </a:pPr>
            <a:r>
              <a:rPr lang="en-JP" sz="2800" dirty="0">
                <a:latin typeface="Meiryo" panose="020B0604030504040204" pitchFamily="34" charset="-128"/>
                <a:ea typeface="Meiryo" panose="020B0604030504040204" pitchFamily="34" charset="-128"/>
              </a:rPr>
              <a:t>IoT 環境において、CPU や RAM が限られたデバイス上でも動作できるよう設計されている</a:t>
            </a:r>
          </a:p>
        </p:txBody>
      </p:sp>
      <p:sp>
        <p:nvSpPr>
          <p:cNvPr id="11" name="TextBox 10">
            <a:extLst>
              <a:ext uri="{FF2B5EF4-FFF2-40B4-BE49-F238E27FC236}">
                <a16:creationId xmlns:a16="http://schemas.microsoft.com/office/drawing/2014/main" id="{D2BA6349-B761-CCA6-6220-EBC036FB8D2D}"/>
              </a:ext>
            </a:extLst>
          </p:cNvPr>
          <p:cNvSpPr txBox="1"/>
          <p:nvPr/>
        </p:nvSpPr>
        <p:spPr>
          <a:xfrm>
            <a:off x="659307" y="3553327"/>
            <a:ext cx="7648670" cy="2677656"/>
          </a:xfrm>
          <a:prstGeom prst="rect">
            <a:avLst/>
          </a:prstGeom>
          <a:noFill/>
        </p:spPr>
        <p:txBody>
          <a:bodyPr wrap="square">
            <a:spAutoFit/>
          </a:bodyPr>
          <a:lstStyle/>
          <a:p>
            <a:pPr marL="457200" indent="-457200">
              <a:buFont typeface="Wingdings" pitchFamily="2" charset="2"/>
              <a:buChar char="v"/>
            </a:pPr>
            <a:endParaRPr lang="ja-JP" altLang="en-US" sz="2800">
              <a:latin typeface="Meiryo" panose="020B0604030504040204" pitchFamily="34" charset="-128"/>
              <a:ea typeface="Meiryo" panose="020B0604030504040204" pitchFamily="34" charset="-128"/>
            </a:endParaRP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ネットワークトラフィックの監視</a:t>
            </a: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特徴量（</a:t>
            </a:r>
            <a:r>
              <a:rPr lang="en-US" sz="2800" dirty="0">
                <a:latin typeface="Meiryo" panose="020B0604030504040204" pitchFamily="34" charset="-128"/>
                <a:ea typeface="Meiryo" panose="020B0604030504040204" pitchFamily="34" charset="-128"/>
              </a:rPr>
              <a:t>features）</a:t>
            </a:r>
            <a:r>
              <a:rPr lang="ja-JP" altLang="en-US" sz="2800">
                <a:latin typeface="Meiryo" panose="020B0604030504040204" pitchFamily="34" charset="-128"/>
                <a:ea typeface="Meiryo" panose="020B0604030504040204" pitchFamily="34" charset="-128"/>
              </a:rPr>
              <a:t>の抽出</a:t>
            </a:r>
          </a:p>
          <a:p>
            <a:pPr marL="457200" indent="-457200">
              <a:buFont typeface="Wingdings" pitchFamily="2" charset="2"/>
              <a:buChar char="v"/>
            </a:pPr>
            <a:r>
              <a:rPr lang="en-US" sz="2800" dirty="0">
                <a:latin typeface="Meiryo" panose="020B0604030504040204" pitchFamily="34" charset="-128"/>
                <a:ea typeface="Meiryo" panose="020B0604030504040204" pitchFamily="34" charset="-128"/>
              </a:rPr>
              <a:t>DNN </a:t>
            </a:r>
            <a:r>
              <a:rPr lang="ja-JP" altLang="en-US" sz="2800">
                <a:latin typeface="Meiryo" panose="020B0604030504040204" pitchFamily="34" charset="-128"/>
                <a:ea typeface="Meiryo" panose="020B0604030504040204" pitchFamily="34" charset="-128"/>
              </a:rPr>
              <a:t>を用いた攻撃の検知</a:t>
            </a:r>
            <a:endParaRPr lang="mn-MN" altLang="ja-JP" sz="2800" dirty="0">
              <a:latin typeface="Meiryo" panose="020B0604030504040204" pitchFamily="34" charset="-128"/>
              <a:ea typeface="Meiryo" panose="020B0604030504040204" pitchFamily="34" charset="-128"/>
            </a:endParaRP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パケットの観測・特徴量抽出・攻撃検知をゲートウェイ単体で実行</a:t>
            </a:r>
          </a:p>
        </p:txBody>
      </p:sp>
    </p:spTree>
    <p:extLst>
      <p:ext uri="{BB962C8B-B14F-4D97-AF65-F5344CB8AC3E}">
        <p14:creationId xmlns:p14="http://schemas.microsoft.com/office/powerpoint/2010/main" val="238597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43137F-DE51-79E3-F306-10634029FFD0}"/>
              </a:ext>
            </a:extLst>
          </p:cNvPr>
          <p:cNvSpPr>
            <a:spLocks noGrp="1"/>
          </p:cNvSpPr>
          <p:nvPr>
            <p:ph type="sldNum" sz="quarter" idx="12"/>
          </p:nvPr>
        </p:nvSpPr>
        <p:spPr/>
        <p:txBody>
          <a:bodyPr/>
          <a:lstStyle/>
          <a:p>
            <a:fld id="{BB44241B-2579-694C-B40C-A1E3D5F0E4EC}" type="slidenum">
              <a:rPr lang="en-JP" smtClean="0"/>
              <a:pPr/>
              <a:t>14</a:t>
            </a:fld>
            <a:endParaRPr lang="en-JP" dirty="0"/>
          </a:p>
        </p:txBody>
      </p:sp>
      <p:sp>
        <p:nvSpPr>
          <p:cNvPr id="6" name="TextBox 5">
            <a:extLst>
              <a:ext uri="{FF2B5EF4-FFF2-40B4-BE49-F238E27FC236}">
                <a16:creationId xmlns:a16="http://schemas.microsoft.com/office/drawing/2014/main" id="{08357B9A-3014-E3BE-F014-7F53EAF6749A}"/>
              </a:ext>
            </a:extLst>
          </p:cNvPr>
          <p:cNvSpPr txBox="1"/>
          <p:nvPr/>
        </p:nvSpPr>
        <p:spPr>
          <a:xfrm>
            <a:off x="535576" y="403162"/>
            <a:ext cx="5486400"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Realguard IDS </a:t>
            </a:r>
            <a:r>
              <a:rPr lang="ja-JP" altLang="en-US" sz="3200">
                <a:latin typeface="Meiryo" panose="020B0604030504040204" pitchFamily="34" charset="-128"/>
                <a:ea typeface="Meiryo" panose="020B0604030504040204" pitchFamily="34" charset="-128"/>
              </a:rPr>
              <a:t>の独自性</a:t>
            </a:r>
            <a:endParaRPr lang="en-JP" sz="3200"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14DB42AE-9026-1B20-DC64-584421762A1B}"/>
              </a:ext>
            </a:extLst>
          </p:cNvPr>
          <p:cNvSpPr/>
          <p:nvPr/>
        </p:nvSpPr>
        <p:spPr>
          <a:xfrm>
            <a:off x="996042" y="1158282"/>
            <a:ext cx="4278089" cy="264300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軽量かつリアルタイムの</a:t>
            </a:r>
            <a:r>
              <a:rPr lang="en-US" sz="2400" dirty="0">
                <a:latin typeface="Meiryo" panose="020B0604030504040204" pitchFamily="34" charset="-128"/>
                <a:ea typeface="Meiryo" panose="020B0604030504040204" pitchFamily="34" charset="-128"/>
              </a:rPr>
              <a:t>IDS</a:t>
            </a:r>
          </a:p>
          <a:p>
            <a:pPr marL="285750" indent="-285750">
              <a:buFont typeface="Arial" panose="020B0604020202020204" pitchFamily="34" charset="0"/>
              <a:buChar char="•"/>
            </a:pP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ゲートウェイ向けに最適化</a:t>
            </a:r>
          </a:p>
        </p:txBody>
      </p:sp>
      <p:sp>
        <p:nvSpPr>
          <p:cNvPr id="14" name="Rounded Rectangle 13">
            <a:extLst>
              <a:ext uri="{FF2B5EF4-FFF2-40B4-BE49-F238E27FC236}">
                <a16:creationId xmlns:a16="http://schemas.microsoft.com/office/drawing/2014/main" id="{2CEEC820-D83C-84F6-F475-B4208BC7450A}"/>
              </a:ext>
            </a:extLst>
          </p:cNvPr>
          <p:cNvSpPr/>
          <p:nvPr/>
        </p:nvSpPr>
        <p:spPr>
          <a:xfrm>
            <a:off x="5830932" y="1158282"/>
            <a:ext cx="4002134" cy="27490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2.</a:t>
            </a:r>
            <a:r>
              <a:rPr lang="ja-JP" altLang="en-US" sz="2400">
                <a:latin typeface="Meiryo" panose="020B0604030504040204" pitchFamily="34" charset="-128"/>
                <a:ea typeface="Meiryo" panose="020B0604030504040204" pitchFamily="34" charset="-128"/>
              </a:rPr>
              <a:t>効率的な特徴抽出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フロー統計ベースの軽量特徴量</a:t>
            </a:r>
            <a:endParaRPr lang="mn-MN"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高速抽出（</a:t>
            </a:r>
            <a:r>
              <a:rPr lang="en-US" sz="2400" dirty="0">
                <a:latin typeface="Meiryo" panose="020B0604030504040204" pitchFamily="34" charset="-128"/>
                <a:ea typeface="Meiryo" panose="020B0604030504040204" pitchFamily="34" charset="-128"/>
              </a:rPr>
              <a:t>Damped Incremental Statistics）</a:t>
            </a:r>
            <a:endParaRPr lang="ja-JP" altLang="en-US" sz="2400">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67C14F64-A926-25CD-9170-E9B0C5CE0C80}"/>
              </a:ext>
            </a:extLst>
          </p:cNvPr>
          <p:cNvSpPr/>
          <p:nvPr/>
        </p:nvSpPr>
        <p:spPr>
          <a:xfrm>
            <a:off x="996041" y="3999345"/>
            <a:ext cx="4310745" cy="2868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高精度な攻撃検知モデル</a:t>
            </a:r>
            <a:endParaRPr lang="mn-MN" altLang="ja-JP" sz="2400" dirty="0">
              <a:latin typeface="Meiryo" panose="020B0604030504040204" pitchFamily="34" charset="-128"/>
              <a:ea typeface="Meiryo" panose="020B0604030504040204" pitchFamily="34" charset="-128"/>
            </a:endParaRPr>
          </a:p>
          <a:p>
            <a:endParaRPr lang="mn-MN"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重要特徴量を最適化した </a:t>
            </a:r>
            <a:r>
              <a:rPr lang="en-US" sz="2400" dirty="0">
                <a:latin typeface="Meiryo" panose="020B0604030504040204" pitchFamily="34" charset="-128"/>
                <a:ea typeface="Meiryo" panose="020B0604030504040204" pitchFamily="34" charset="-128"/>
              </a:rPr>
              <a:t>DNN </a:t>
            </a:r>
            <a:r>
              <a:rPr lang="ja-JP" altLang="en-US" sz="2400">
                <a:latin typeface="Meiryo" panose="020B0604030504040204" pitchFamily="34" charset="-128"/>
                <a:ea typeface="Meiryo" panose="020B0604030504040204" pitchFamily="34" charset="-128"/>
              </a:rPr>
              <a:t>モデル</a:t>
            </a:r>
            <a:endParaRPr lang="en-JP" sz="2400" dirty="0">
              <a:latin typeface="Meiryo" panose="020B0604030504040204" pitchFamily="34" charset="-128"/>
              <a:ea typeface="Meiryo" panose="020B0604030504040204" pitchFamily="34" charset="-128"/>
            </a:endParaRPr>
          </a:p>
        </p:txBody>
      </p:sp>
      <p:sp>
        <p:nvSpPr>
          <p:cNvPr id="16" name="Alternate Process 15">
            <a:extLst>
              <a:ext uri="{FF2B5EF4-FFF2-40B4-BE49-F238E27FC236}">
                <a16:creationId xmlns:a16="http://schemas.microsoft.com/office/drawing/2014/main" id="{8AFCA90D-76F9-2531-868A-D9D5EAA5B2B3}"/>
              </a:ext>
            </a:extLst>
          </p:cNvPr>
          <p:cNvSpPr/>
          <p:nvPr/>
        </p:nvSpPr>
        <p:spPr>
          <a:xfrm>
            <a:off x="5666014" y="4077722"/>
            <a:ext cx="4167052" cy="286852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b="1" dirty="0"/>
              <a:t>4</a:t>
            </a:r>
            <a:r>
              <a:rPr lang="mn-MN" altLang="ja-JP" sz="2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マルチステージ構造による高効率処理</a:t>
            </a:r>
          </a:p>
          <a:p>
            <a:pPr>
              <a:buFont typeface="+mj-lt"/>
              <a:buAutoNum type="arabicPeriod"/>
            </a:pPr>
            <a:r>
              <a:rPr lang="en-US" sz="2400" dirty="0">
                <a:latin typeface="Times New Roman" panose="02020603050405020304" pitchFamily="18" charset="0"/>
                <a:cs typeface="Times New Roman" panose="02020603050405020304" pitchFamily="18" charset="0"/>
              </a:rPr>
              <a:t>Packet Observation</a:t>
            </a:r>
          </a:p>
          <a:p>
            <a:pPr>
              <a:buFont typeface="+mj-lt"/>
              <a:buAutoNum type="arabicPeriod"/>
            </a:pPr>
            <a:r>
              <a:rPr lang="en-US" sz="2400" dirty="0">
                <a:latin typeface="Times New Roman" panose="02020603050405020304" pitchFamily="18" charset="0"/>
                <a:cs typeface="Times New Roman" panose="02020603050405020304" pitchFamily="18" charset="0"/>
              </a:rPr>
              <a:t>Feature Extraction</a:t>
            </a:r>
          </a:p>
          <a:p>
            <a:pPr>
              <a:buFont typeface="+mj-lt"/>
              <a:buAutoNum type="arabicPeriod"/>
            </a:pPr>
            <a:r>
              <a:rPr lang="en-US" sz="2400" dirty="0">
                <a:latin typeface="Times New Roman" panose="02020603050405020304" pitchFamily="18" charset="0"/>
                <a:cs typeface="Times New Roman" panose="02020603050405020304" pitchFamily="18" charset="0"/>
              </a:rPr>
              <a:t>Attack Detection</a:t>
            </a:r>
          </a:p>
          <a:p>
            <a:pPr>
              <a:buFont typeface="+mj-lt"/>
              <a:buAutoNum type="arabicPeriod"/>
            </a:pPr>
            <a:r>
              <a:rPr lang="en-US" sz="2400" dirty="0">
                <a:latin typeface="Times New Roman" panose="02020603050405020304" pitchFamily="18" charset="0"/>
                <a:cs typeface="Times New Roman" panose="02020603050405020304" pitchFamily="18" charset="0"/>
              </a:rPr>
              <a:t>Action Manager</a:t>
            </a:r>
          </a:p>
        </p:txBody>
      </p:sp>
    </p:spTree>
    <p:extLst>
      <p:ext uri="{BB962C8B-B14F-4D97-AF65-F5344CB8AC3E}">
        <p14:creationId xmlns:p14="http://schemas.microsoft.com/office/powerpoint/2010/main" val="2124835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15</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18466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062088-FD83-FA7E-10E9-FC8313C62642}"/>
              </a:ext>
            </a:extLst>
          </p:cNvPr>
          <p:cNvSpPr>
            <a:spLocks noGrp="1"/>
          </p:cNvSpPr>
          <p:nvPr>
            <p:ph type="sldNum" sz="quarter" idx="12"/>
          </p:nvPr>
        </p:nvSpPr>
        <p:spPr/>
        <p:txBody>
          <a:bodyPr/>
          <a:lstStyle/>
          <a:p>
            <a:fld id="{BB44241B-2579-694C-B40C-A1E3D5F0E4EC}" type="slidenum">
              <a:rPr lang="en-JP" smtClean="0"/>
              <a:t>16</a:t>
            </a:fld>
            <a:endParaRPr lang="en-JP"/>
          </a:p>
        </p:txBody>
      </p:sp>
      <p:sp>
        <p:nvSpPr>
          <p:cNvPr id="7" name="角丸四角形吹き出し 83">
            <a:extLst>
              <a:ext uri="{FF2B5EF4-FFF2-40B4-BE49-F238E27FC236}">
                <a16:creationId xmlns:a16="http://schemas.microsoft.com/office/drawing/2014/main" id="{9E85A9CA-BAA6-6D22-1B08-37FA2C811B3A}"/>
              </a:ext>
            </a:extLst>
          </p:cNvPr>
          <p:cNvSpPr/>
          <p:nvPr/>
        </p:nvSpPr>
        <p:spPr>
          <a:xfrm>
            <a:off x="6031198" y="1543784"/>
            <a:ext cx="4336352" cy="2469428"/>
          </a:xfrm>
          <a:prstGeom prst="wedgeRoundRectCallout">
            <a:avLst>
              <a:gd name="adj1" fmla="val -63995"/>
              <a:gd name="adj2" fmla="val 43356"/>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b="1" dirty="0">
                <a:solidFill>
                  <a:schemeClr val="tx1"/>
                </a:solidFill>
                <a:latin typeface="Meiryo" panose="020B0604030504040204" pitchFamily="34" charset="-128"/>
                <a:ea typeface="Meiryo" panose="020B0604030504040204" pitchFamily="34" charset="-128"/>
              </a:rPr>
              <a:t>Packet Processing</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ゲートウェイを通過するネットワークパケットを収集</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メタデータ情報を抽出し、後続</a:t>
            </a:r>
            <a:endParaRPr lang="mn-MN" altLang="ja-JP" dirty="0">
              <a:solidFill>
                <a:schemeClr val="tx1"/>
              </a:solidFill>
              <a:latin typeface="Meiryo" panose="020B0604030504040204" pitchFamily="34" charset="-128"/>
              <a:ea typeface="Meiryo" panose="020B0604030504040204" pitchFamily="34" charset="-128"/>
            </a:endParaRPr>
          </a:p>
          <a:p>
            <a:r>
              <a:rPr lang="mn-MN"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処理に渡す</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役割：原始データ（パケット情報）を集める部分</a:t>
            </a:r>
          </a:p>
          <a:p>
            <a:endParaRPr lang="ja-JP" altLang="en-US">
              <a:solidFill>
                <a:schemeClr val="tx1"/>
              </a:solidFill>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020F421E-845B-2A98-ED5B-AC031CDA38C7}"/>
              </a:ext>
            </a:extLst>
          </p:cNvPr>
          <p:cNvSpPr txBox="1"/>
          <p:nvPr/>
        </p:nvSpPr>
        <p:spPr>
          <a:xfrm>
            <a:off x="508497" y="388362"/>
            <a:ext cx="9367023"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Realguard IDS </a:t>
            </a:r>
            <a:r>
              <a:rPr lang="ja-JP" altLang="en-US" sz="3200" b="1">
                <a:latin typeface="Meiryo" panose="020B0604030504040204" pitchFamily="34" charset="-128"/>
                <a:ea typeface="Meiryo" panose="020B0604030504040204" pitchFamily="34" charset="-128"/>
              </a:rPr>
              <a:t>のシステムアーキテクチャ</a:t>
            </a:r>
            <a:r>
              <a:rPr lang="en-US" altLang="ja-JP" sz="3200" b="1" dirty="0">
                <a:latin typeface="Meiryo" panose="020B0604030504040204" pitchFamily="34" charset="-128"/>
                <a:ea typeface="Meiryo" panose="020B0604030504040204" pitchFamily="34" charset="-128"/>
              </a:rPr>
              <a:t> 1/2</a:t>
            </a:r>
            <a:endParaRPr lang="en-US" sz="3200" b="1" dirty="0">
              <a:solidFill>
                <a:srgbClr val="000000"/>
              </a:solidFill>
              <a:latin typeface="Meiryo" panose="020B0604030504040204" pitchFamily="34" charset="-128"/>
              <a:ea typeface="Meiryo" panose="020B0604030504040204" pitchFamily="34" charset="-128"/>
            </a:endParaRPr>
          </a:p>
        </p:txBody>
      </p:sp>
      <p:sp>
        <p:nvSpPr>
          <p:cNvPr id="8" name="角丸四角形吹き出し 83">
            <a:extLst>
              <a:ext uri="{FF2B5EF4-FFF2-40B4-BE49-F238E27FC236}">
                <a16:creationId xmlns:a16="http://schemas.microsoft.com/office/drawing/2014/main" id="{BBA8EB72-0C13-944C-CA4B-A68588AAD94A}"/>
              </a:ext>
            </a:extLst>
          </p:cNvPr>
          <p:cNvSpPr/>
          <p:nvPr/>
        </p:nvSpPr>
        <p:spPr>
          <a:xfrm>
            <a:off x="6191794" y="4876246"/>
            <a:ext cx="4175755" cy="2076994"/>
          </a:xfrm>
          <a:prstGeom prst="wedgeRoundRectCallout">
            <a:avLst>
              <a:gd name="adj1" fmla="val -71381"/>
              <a:gd name="adj2" fmla="val 27998"/>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iryo" panose="020B0604030504040204" pitchFamily="34" charset="-128"/>
                <a:ea typeface="Meiryo" panose="020B0604030504040204" pitchFamily="34" charset="-128"/>
              </a:rPr>
              <a:t>2.</a:t>
            </a:r>
            <a:r>
              <a:rPr lang="en-US" sz="2000" b="1" dirty="0">
                <a:solidFill>
                  <a:schemeClr val="tx1"/>
                </a:solidFill>
                <a:latin typeface="Meiryo" panose="020B0604030504040204" pitchFamily="34" charset="-128"/>
                <a:ea typeface="Meiryo" panose="020B0604030504040204" pitchFamily="34" charset="-128"/>
              </a:rPr>
              <a:t> Feature Extraction</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収集したパケット情報から統計情報や特徴量を計算</a:t>
            </a:r>
          </a:p>
          <a:p>
            <a:pPr marL="285750" indent="-28575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DNN</a:t>
            </a:r>
            <a:r>
              <a:rPr lang="ja-JP" altLang="en-US" sz="2000">
                <a:solidFill>
                  <a:schemeClr val="tx1"/>
                </a:solidFill>
                <a:latin typeface="Meiryo" panose="020B0604030504040204" pitchFamily="34" charset="-128"/>
                <a:ea typeface="Meiryo" panose="020B0604030504040204" pitchFamily="34" charset="-128"/>
              </a:rPr>
              <a:t>モデルに入力可能な特徴ベクトルを生成</a:t>
            </a:r>
          </a:p>
        </p:txBody>
      </p:sp>
      <p:pic>
        <p:nvPicPr>
          <p:cNvPr id="3" name="Picture 2">
            <a:extLst>
              <a:ext uri="{FF2B5EF4-FFF2-40B4-BE49-F238E27FC236}">
                <a16:creationId xmlns:a16="http://schemas.microsoft.com/office/drawing/2014/main" id="{50E6083A-A82F-160C-5D77-AA046154CECF}"/>
              </a:ext>
            </a:extLst>
          </p:cNvPr>
          <p:cNvPicPr>
            <a:picLocks noChangeAspect="1"/>
          </p:cNvPicPr>
          <p:nvPr/>
        </p:nvPicPr>
        <p:blipFill>
          <a:blip r:embed="rId3"/>
          <a:stretch>
            <a:fillRect/>
          </a:stretch>
        </p:blipFill>
        <p:spPr>
          <a:xfrm>
            <a:off x="0" y="1564677"/>
            <a:ext cx="5342682" cy="5887408"/>
          </a:xfrm>
          <a:prstGeom prst="rect">
            <a:avLst/>
          </a:prstGeom>
        </p:spPr>
      </p:pic>
      <p:sp>
        <p:nvSpPr>
          <p:cNvPr id="10" name="TextBox 9">
            <a:extLst>
              <a:ext uri="{FF2B5EF4-FFF2-40B4-BE49-F238E27FC236}">
                <a16:creationId xmlns:a16="http://schemas.microsoft.com/office/drawing/2014/main" id="{47AB936A-536D-7F33-66FF-9532E952E206}"/>
              </a:ext>
            </a:extLst>
          </p:cNvPr>
          <p:cNvSpPr txBox="1"/>
          <p:nvPr/>
        </p:nvSpPr>
        <p:spPr>
          <a:xfrm>
            <a:off x="117591" y="7669128"/>
            <a:ext cx="7289049" cy="400110"/>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Realguard </a:t>
            </a:r>
            <a:r>
              <a:rPr lang="ja-JP" altLang="en-US" sz="2000">
                <a:latin typeface="Meiryo" panose="020B0604030504040204" pitchFamily="34" charset="-128"/>
                <a:ea typeface="Meiryo" panose="020B0604030504040204" pitchFamily="34" charset="-128"/>
              </a:rPr>
              <a:t>は </a:t>
            </a:r>
            <a:r>
              <a:rPr lang="en-US" altLang="ja-JP" sz="2000" dirty="0">
                <a:latin typeface="Meiryo" panose="020B0604030504040204" pitchFamily="34" charset="-128"/>
                <a:ea typeface="Meiryo" panose="020B0604030504040204" pitchFamily="34" charset="-128"/>
              </a:rPr>
              <a:t>4 </a:t>
            </a:r>
            <a:r>
              <a:rPr lang="ja-JP" altLang="en-US" sz="2000">
                <a:latin typeface="Meiryo" panose="020B0604030504040204" pitchFamily="34" charset="-128"/>
                <a:ea typeface="Meiryo" panose="020B0604030504040204" pitchFamily="34" charset="-128"/>
              </a:rPr>
              <a:t>つの主要コンポーネントで構成されている。</a:t>
            </a:r>
            <a:endParaRPr lang="en-JP" sz="2000" dirty="0">
              <a:latin typeface="Meiryo" panose="020B0604030504040204" pitchFamily="34" charset="-128"/>
              <a:ea typeface="Meiryo" panose="020B0604030504040204" pitchFamily="34" charset="-128"/>
            </a:endParaRPr>
          </a:p>
        </p:txBody>
      </p:sp>
      <p:sp>
        <p:nvSpPr>
          <p:cNvPr id="11" name="正方形/長方形 9">
            <a:extLst>
              <a:ext uri="{FF2B5EF4-FFF2-40B4-BE49-F238E27FC236}">
                <a16:creationId xmlns:a16="http://schemas.microsoft.com/office/drawing/2014/main" id="{173369CC-A477-DAB6-3D1E-0A621F9E7419}"/>
              </a:ext>
            </a:extLst>
          </p:cNvPr>
          <p:cNvSpPr/>
          <p:nvPr/>
        </p:nvSpPr>
        <p:spPr>
          <a:xfrm>
            <a:off x="1567543" y="3500847"/>
            <a:ext cx="927463"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5" name="正方形/長方形 9">
            <a:extLst>
              <a:ext uri="{FF2B5EF4-FFF2-40B4-BE49-F238E27FC236}">
                <a16:creationId xmlns:a16="http://schemas.microsoft.com/office/drawing/2014/main" id="{A2C7833C-FCAB-6FF1-FB5D-E5E82BFAEE59}"/>
              </a:ext>
            </a:extLst>
          </p:cNvPr>
          <p:cNvSpPr/>
          <p:nvPr/>
        </p:nvSpPr>
        <p:spPr>
          <a:xfrm>
            <a:off x="3183522" y="3509557"/>
            <a:ext cx="927463"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126804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8B96C0-D9FB-AD47-E593-B27B058237BB}"/>
              </a:ext>
            </a:extLst>
          </p:cNvPr>
          <p:cNvSpPr>
            <a:spLocks noGrp="1"/>
          </p:cNvSpPr>
          <p:nvPr>
            <p:ph type="sldNum" sz="quarter" idx="12"/>
          </p:nvPr>
        </p:nvSpPr>
        <p:spPr/>
        <p:txBody>
          <a:bodyPr/>
          <a:lstStyle/>
          <a:p>
            <a:fld id="{BB44241B-2579-694C-B40C-A1E3D5F0E4EC}" type="slidenum">
              <a:rPr lang="en-JP" smtClean="0"/>
              <a:pPr/>
              <a:t>17</a:t>
            </a:fld>
            <a:endParaRPr lang="en-JP" dirty="0"/>
          </a:p>
        </p:txBody>
      </p:sp>
      <p:pic>
        <p:nvPicPr>
          <p:cNvPr id="5" name="Picture 4">
            <a:extLst>
              <a:ext uri="{FF2B5EF4-FFF2-40B4-BE49-F238E27FC236}">
                <a16:creationId xmlns:a16="http://schemas.microsoft.com/office/drawing/2014/main" id="{8A8A6B57-CAD4-7A30-066B-5985510257BA}"/>
              </a:ext>
            </a:extLst>
          </p:cNvPr>
          <p:cNvPicPr>
            <a:picLocks noChangeAspect="1"/>
          </p:cNvPicPr>
          <p:nvPr/>
        </p:nvPicPr>
        <p:blipFill>
          <a:blip r:embed="rId3"/>
          <a:stretch>
            <a:fillRect/>
          </a:stretch>
        </p:blipFill>
        <p:spPr>
          <a:xfrm>
            <a:off x="77016" y="1110344"/>
            <a:ext cx="5210175" cy="6244045"/>
          </a:xfrm>
          <a:prstGeom prst="rect">
            <a:avLst/>
          </a:prstGeom>
        </p:spPr>
      </p:pic>
      <p:sp>
        <p:nvSpPr>
          <p:cNvPr id="8" name="角丸四角形吹き出し 83">
            <a:extLst>
              <a:ext uri="{FF2B5EF4-FFF2-40B4-BE49-F238E27FC236}">
                <a16:creationId xmlns:a16="http://schemas.microsoft.com/office/drawing/2014/main" id="{DC023362-6FE7-7BE1-B31C-CA87C328C358}"/>
              </a:ext>
            </a:extLst>
          </p:cNvPr>
          <p:cNvSpPr/>
          <p:nvPr/>
        </p:nvSpPr>
        <p:spPr>
          <a:xfrm>
            <a:off x="5904380" y="1110344"/>
            <a:ext cx="4428340" cy="2870650"/>
          </a:xfrm>
          <a:prstGeom prst="wedgeRoundRectCallout">
            <a:avLst>
              <a:gd name="adj1" fmla="val -63947"/>
              <a:gd name="adj2" fmla="val 42272"/>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Meiryo" panose="020B0604030504040204" pitchFamily="34" charset="-128"/>
                <a:ea typeface="Meiryo" panose="020B0604030504040204" pitchFamily="34" charset="-128"/>
              </a:rPr>
              <a:t>3.Attack Detection </a:t>
            </a:r>
          </a:p>
          <a:p>
            <a:pPr marL="342900" indent="-34290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FEC</a:t>
            </a:r>
            <a:r>
              <a:rPr lang="ja-JP" altLang="en-US" sz="2000">
                <a:solidFill>
                  <a:schemeClr val="tx1"/>
                </a:solidFill>
                <a:latin typeface="Meiryo" panose="020B0604030504040204" pitchFamily="34" charset="-128"/>
                <a:ea typeface="Meiryo" panose="020B0604030504040204" pitchFamily="34" charset="-128"/>
              </a:rPr>
              <a:t>で作成した特徴ベクトルからリアルタイムに異常を検知</a:t>
            </a:r>
          </a:p>
          <a:p>
            <a:pPr marL="285750" indent="-28575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DNN</a:t>
            </a:r>
            <a:r>
              <a:rPr lang="ja-JP" altLang="en-US" sz="2000">
                <a:solidFill>
                  <a:schemeClr val="tx1"/>
                </a:solidFill>
                <a:latin typeface="Meiryo" panose="020B0604030504040204" pitchFamily="34" charset="-128"/>
                <a:ea typeface="Meiryo" panose="020B0604030504040204" pitchFamily="34" charset="-128"/>
              </a:rPr>
              <a:t>モデルを使用し、</a:t>
            </a:r>
          </a:p>
          <a:p>
            <a:pPr lvl="1"/>
            <a:r>
              <a:rPr lang="ja-JP" altLang="en-US" sz="2000">
                <a:solidFill>
                  <a:schemeClr val="tx1"/>
                </a:solidFill>
                <a:latin typeface="Meiryo" panose="020B0604030504040204" pitchFamily="34" charset="-128"/>
                <a:ea typeface="Meiryo" panose="020B0604030504040204" pitchFamily="34" charset="-128"/>
              </a:rPr>
              <a:t>攻撃の有無の判断</a:t>
            </a:r>
          </a:p>
          <a:p>
            <a:pPr lvl="1"/>
            <a:r>
              <a:rPr lang="ja-JP" altLang="en-US" sz="2000">
                <a:solidFill>
                  <a:schemeClr val="tx1"/>
                </a:solidFill>
                <a:latin typeface="Meiryo" panose="020B0604030504040204" pitchFamily="34" charset="-128"/>
                <a:ea typeface="Meiryo" panose="020B0604030504040204" pitchFamily="34" charset="-128"/>
              </a:rPr>
              <a:t>攻撃の種類の特定</a:t>
            </a:r>
          </a:p>
        </p:txBody>
      </p:sp>
      <p:sp>
        <p:nvSpPr>
          <p:cNvPr id="9" name="角丸四角形吹き出し 83">
            <a:extLst>
              <a:ext uri="{FF2B5EF4-FFF2-40B4-BE49-F238E27FC236}">
                <a16:creationId xmlns:a16="http://schemas.microsoft.com/office/drawing/2014/main" id="{07AA2B0E-1151-B3BC-6DC7-9D62B04A05DF}"/>
              </a:ext>
            </a:extLst>
          </p:cNvPr>
          <p:cNvSpPr/>
          <p:nvPr/>
        </p:nvSpPr>
        <p:spPr>
          <a:xfrm>
            <a:off x="5865160" y="4627430"/>
            <a:ext cx="4467559" cy="2519615"/>
          </a:xfrm>
          <a:prstGeom prst="wedgeRoundRectCallout">
            <a:avLst>
              <a:gd name="adj1" fmla="val -61450"/>
              <a:gd name="adj2" fmla="val 2643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Meiryo" panose="020B0604030504040204" pitchFamily="34" charset="-128"/>
                <a:ea typeface="Meiryo" panose="020B0604030504040204" pitchFamily="34" charset="-128"/>
              </a:rPr>
              <a:t>4.Action Manager</a:t>
            </a:r>
          </a:p>
          <a:p>
            <a:r>
              <a:rPr lang="en-US" sz="2000" dirty="0">
                <a:solidFill>
                  <a:schemeClr val="tx1"/>
                </a:solidFill>
                <a:latin typeface="Meiryo" panose="020B0604030504040204" pitchFamily="34" charset="-128"/>
                <a:ea typeface="Meiryo" panose="020B0604030504040204" pitchFamily="34" charset="-128"/>
              </a:rPr>
              <a:t>ADC</a:t>
            </a:r>
            <a:r>
              <a:rPr lang="ja-JP" altLang="en-US" sz="2000">
                <a:solidFill>
                  <a:schemeClr val="tx1"/>
                </a:solidFill>
                <a:latin typeface="Meiryo" panose="020B0604030504040204" pitchFamily="34" charset="-128"/>
                <a:ea typeface="Meiryo" panose="020B0604030504040204" pitchFamily="34" charset="-128"/>
              </a:rPr>
              <a:t>が異常を検知した後のアクションを実行</a:t>
            </a:r>
          </a:p>
          <a:p>
            <a:r>
              <a:rPr lang="ja-JP" altLang="en-US" sz="2000">
                <a:solidFill>
                  <a:schemeClr val="tx1"/>
                </a:solidFill>
                <a:latin typeface="Meiryo" panose="020B0604030504040204" pitchFamily="34" charset="-128"/>
                <a:ea typeface="Meiryo" panose="020B0604030504040204" pitchFamily="34" charset="-128"/>
              </a:rPr>
              <a:t>対応例：</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異常トラフィックのログ保存</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不審な通信をブロック</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管理者にメール通知</a:t>
            </a:r>
            <a:endParaRPr lang="en-JP" sz="2000" dirty="0">
              <a:solidFill>
                <a:schemeClr val="tx1"/>
              </a:solidFill>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49CA42DC-DF15-151B-3226-2AB58428CF28}"/>
              </a:ext>
            </a:extLst>
          </p:cNvPr>
          <p:cNvSpPr txBox="1"/>
          <p:nvPr/>
        </p:nvSpPr>
        <p:spPr>
          <a:xfrm>
            <a:off x="355963" y="285597"/>
            <a:ext cx="9862457"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Realguard IDS </a:t>
            </a:r>
            <a:r>
              <a:rPr lang="ja-JP" altLang="en-US" sz="3200" b="1">
                <a:latin typeface="Meiryo" panose="020B0604030504040204" pitchFamily="34" charset="-128"/>
                <a:ea typeface="Meiryo" panose="020B0604030504040204" pitchFamily="34" charset="-128"/>
              </a:rPr>
              <a:t>のシステムアーキテクチャ</a:t>
            </a:r>
            <a:r>
              <a:rPr lang="en-US" altLang="ja-JP" sz="3200" b="1" dirty="0">
                <a:latin typeface="Meiryo" panose="020B0604030504040204" pitchFamily="34" charset="-128"/>
                <a:ea typeface="Meiryo" panose="020B0604030504040204" pitchFamily="34" charset="-128"/>
              </a:rPr>
              <a:t> 2/2</a:t>
            </a:r>
            <a:endParaRPr lang="en-US" sz="3200" b="1" dirty="0">
              <a:solidFill>
                <a:srgbClr val="000000"/>
              </a:solidFill>
              <a:latin typeface="Meiryo" panose="020B0604030504040204" pitchFamily="34" charset="-128"/>
              <a:ea typeface="Meiryo" panose="020B0604030504040204" pitchFamily="34" charset="-128"/>
            </a:endParaRPr>
          </a:p>
        </p:txBody>
      </p:sp>
      <p:sp>
        <p:nvSpPr>
          <p:cNvPr id="12" name="正方形/長方形 9">
            <a:extLst>
              <a:ext uri="{FF2B5EF4-FFF2-40B4-BE49-F238E27FC236}">
                <a16:creationId xmlns:a16="http://schemas.microsoft.com/office/drawing/2014/main" id="{D0F7DF4B-1F0B-1138-3ECC-F8A382F63E31}"/>
              </a:ext>
            </a:extLst>
          </p:cNvPr>
          <p:cNvSpPr/>
          <p:nvPr/>
        </p:nvSpPr>
        <p:spPr>
          <a:xfrm>
            <a:off x="2416629" y="4627430"/>
            <a:ext cx="78377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3" name="正方形/長方形 9">
            <a:extLst>
              <a:ext uri="{FF2B5EF4-FFF2-40B4-BE49-F238E27FC236}">
                <a16:creationId xmlns:a16="http://schemas.microsoft.com/office/drawing/2014/main" id="{01ADD2D7-65DD-D42C-FAE8-C38A6EB442F3}"/>
              </a:ext>
            </a:extLst>
          </p:cNvPr>
          <p:cNvSpPr/>
          <p:nvPr/>
        </p:nvSpPr>
        <p:spPr>
          <a:xfrm>
            <a:off x="2416629" y="6125304"/>
            <a:ext cx="78377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44716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705CC9-7B91-0348-D643-3D91DF9B9CF8}"/>
              </a:ext>
            </a:extLst>
          </p:cNvPr>
          <p:cNvSpPr>
            <a:spLocks noGrp="1"/>
          </p:cNvSpPr>
          <p:nvPr>
            <p:ph type="sldNum" sz="quarter" idx="12"/>
          </p:nvPr>
        </p:nvSpPr>
        <p:spPr/>
        <p:txBody>
          <a:bodyPr/>
          <a:lstStyle/>
          <a:p>
            <a:fld id="{BB44241B-2579-694C-B40C-A1E3D5F0E4EC}" type="slidenum">
              <a:rPr lang="en-JP" smtClean="0"/>
              <a:pPr/>
              <a:t>18</a:t>
            </a:fld>
            <a:endParaRPr lang="en-JP" dirty="0"/>
          </a:p>
        </p:txBody>
      </p:sp>
      <p:sp>
        <p:nvSpPr>
          <p:cNvPr id="6" name="TextBox 5">
            <a:extLst>
              <a:ext uri="{FF2B5EF4-FFF2-40B4-BE49-F238E27FC236}">
                <a16:creationId xmlns:a16="http://schemas.microsoft.com/office/drawing/2014/main" id="{214E0041-B9AF-5FF6-BAC7-7D42F76BDCA7}"/>
              </a:ext>
            </a:extLst>
          </p:cNvPr>
          <p:cNvSpPr txBox="1"/>
          <p:nvPr/>
        </p:nvSpPr>
        <p:spPr>
          <a:xfrm>
            <a:off x="914401" y="378551"/>
            <a:ext cx="5486400" cy="584775"/>
          </a:xfrm>
          <a:prstGeom prst="rect">
            <a:avLst/>
          </a:prstGeom>
          <a:noFill/>
        </p:spPr>
        <p:txBody>
          <a:bodyPr wrap="square">
            <a:spAutoFit/>
          </a:bodyPr>
          <a:lstStyle/>
          <a:p>
            <a:pPr marL="342900" indent="-342900">
              <a:buAutoNum type="arabicPeriod"/>
            </a:pPr>
            <a:r>
              <a:rPr lang="en-US" sz="3200" b="1" dirty="0">
                <a:solidFill>
                  <a:schemeClr val="tx1"/>
                </a:solidFill>
                <a:latin typeface="Meiryo" panose="020B0604030504040204" pitchFamily="34" charset="-128"/>
                <a:ea typeface="Meiryo" panose="020B0604030504040204" pitchFamily="34" charset="-128"/>
              </a:rPr>
              <a:t>Packet Processing</a:t>
            </a:r>
          </a:p>
        </p:txBody>
      </p:sp>
      <p:sp>
        <p:nvSpPr>
          <p:cNvPr id="8" name="TextBox 7">
            <a:extLst>
              <a:ext uri="{FF2B5EF4-FFF2-40B4-BE49-F238E27FC236}">
                <a16:creationId xmlns:a16="http://schemas.microsoft.com/office/drawing/2014/main" id="{D72B8040-F08D-C9BE-7BB1-8C8DB9009764}"/>
              </a:ext>
            </a:extLst>
          </p:cNvPr>
          <p:cNvSpPr txBox="1"/>
          <p:nvPr/>
        </p:nvSpPr>
        <p:spPr>
          <a:xfrm>
            <a:off x="1046921" y="1483568"/>
            <a:ext cx="6980913" cy="3785652"/>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パケットメタデータの収集</a:t>
            </a:r>
            <a:endParaRPr lang="ja-JP" altLang="en-US" sz="240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ネットワークを通過するパケットから、以下の情報を収集する：</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送信元 </a:t>
            </a:r>
            <a:r>
              <a:rPr lang="en-US" sz="2400" dirty="0">
                <a:latin typeface="Meiryo" panose="020B0604030504040204" pitchFamily="34" charset="-128"/>
                <a:ea typeface="Meiryo" panose="020B0604030504040204" pitchFamily="34" charset="-128"/>
              </a:rPr>
              <a:t>IP </a:t>
            </a:r>
            <a:r>
              <a:rPr lang="ja-JP" altLang="en-US" sz="2400">
                <a:latin typeface="Meiryo" panose="020B0604030504040204" pitchFamily="34" charset="-128"/>
                <a:ea typeface="Meiryo" panose="020B0604030504040204" pitchFamily="34" charset="-128"/>
              </a:rPr>
              <a:t>アドレス（</a:t>
            </a:r>
            <a:r>
              <a:rPr lang="en-US" sz="2400" dirty="0">
                <a:latin typeface="Meiryo" panose="020B0604030504040204" pitchFamily="34" charset="-128"/>
                <a:ea typeface="Meiryo" panose="020B0604030504040204" pitchFamily="34" charset="-128"/>
              </a:rPr>
              <a:t>Source IP）</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宛先 </a:t>
            </a:r>
            <a:r>
              <a:rPr lang="en-US" sz="2400" dirty="0">
                <a:latin typeface="Meiryo" panose="020B0604030504040204" pitchFamily="34" charset="-128"/>
                <a:ea typeface="Meiryo" panose="020B0604030504040204" pitchFamily="34" charset="-128"/>
              </a:rPr>
              <a:t>IP </a:t>
            </a:r>
            <a:r>
              <a:rPr lang="ja-JP" altLang="en-US" sz="2400">
                <a:latin typeface="Meiryo" panose="020B0604030504040204" pitchFamily="34" charset="-128"/>
                <a:ea typeface="Meiryo" panose="020B0604030504040204" pitchFamily="34" charset="-128"/>
              </a:rPr>
              <a:t>アドレス（</a:t>
            </a:r>
            <a:r>
              <a:rPr lang="en-US" sz="2400" dirty="0">
                <a:latin typeface="Meiryo" panose="020B0604030504040204" pitchFamily="34" charset="-128"/>
                <a:ea typeface="Meiryo" panose="020B0604030504040204" pitchFamily="34" charset="-128"/>
              </a:rPr>
              <a:t>Destination IP）</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ポート番号</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プロトコル種別</a:t>
            </a:r>
            <a:r>
              <a:rPr lang="mn-MN" altLang="ja-JP" sz="2400" dirty="0">
                <a:latin typeface="Meiryo" panose="020B0604030504040204" pitchFamily="34" charset="-128"/>
                <a:ea typeface="Meiryo" panose="020B0604030504040204" pitchFamily="34" charset="-128"/>
              </a:rPr>
              <a:t> </a:t>
            </a: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パケットサイズ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タイムスタンプ</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接続状態（</a:t>
            </a:r>
            <a:r>
              <a:rPr lang="en-US" sz="2400" dirty="0">
                <a:latin typeface="Meiryo" panose="020B0604030504040204" pitchFamily="34" charset="-128"/>
                <a:ea typeface="Meiryo" panose="020B0604030504040204" pitchFamily="34" charset="-128"/>
              </a:rPr>
              <a:t>Connection Status）</a:t>
            </a:r>
          </a:p>
        </p:txBody>
      </p:sp>
      <p:sp>
        <p:nvSpPr>
          <p:cNvPr id="9" name="Down Arrow 8">
            <a:extLst>
              <a:ext uri="{FF2B5EF4-FFF2-40B4-BE49-F238E27FC236}">
                <a16:creationId xmlns:a16="http://schemas.microsoft.com/office/drawing/2014/main" id="{DF958352-2F11-93F2-1715-5A82324BACC3}"/>
              </a:ext>
            </a:extLst>
          </p:cNvPr>
          <p:cNvSpPr/>
          <p:nvPr/>
        </p:nvSpPr>
        <p:spPr>
          <a:xfrm>
            <a:off x="1557746" y="6358475"/>
            <a:ext cx="705394" cy="5259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TextBox 10">
            <a:extLst>
              <a:ext uri="{FF2B5EF4-FFF2-40B4-BE49-F238E27FC236}">
                <a16:creationId xmlns:a16="http://schemas.microsoft.com/office/drawing/2014/main" id="{EF5A5DDA-CF42-7CF6-AEF4-543A3A5EFFB5}"/>
              </a:ext>
            </a:extLst>
          </p:cNvPr>
          <p:cNvSpPr txBox="1"/>
          <p:nvPr/>
        </p:nvSpPr>
        <p:spPr>
          <a:xfrm>
            <a:off x="2743200" y="6205952"/>
            <a:ext cx="5486400"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抽出されたメタデータは、さらなる処理のために </a:t>
            </a:r>
            <a:r>
              <a:rPr lang="en-US" sz="2400" dirty="0">
                <a:latin typeface="Meiryo" panose="020B0604030504040204" pitchFamily="34" charset="-128"/>
                <a:ea typeface="Meiryo" panose="020B0604030504040204" pitchFamily="34" charset="-128"/>
              </a:rPr>
              <a:t>FEC </a:t>
            </a:r>
            <a:r>
              <a:rPr lang="ja-JP" altLang="en-US" sz="2400">
                <a:latin typeface="Meiryo" panose="020B0604030504040204" pitchFamily="34" charset="-128"/>
                <a:ea typeface="Meiryo" panose="020B0604030504040204" pitchFamily="34" charset="-128"/>
              </a:rPr>
              <a:t>に送信されます</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44251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6843-8BE9-A74A-F2E4-A57288B17758}"/>
              </a:ext>
            </a:extLst>
          </p:cNvPr>
          <p:cNvSpPr>
            <a:spLocks noGrp="1"/>
          </p:cNvSpPr>
          <p:nvPr>
            <p:ph type="title"/>
          </p:nvPr>
        </p:nvSpPr>
        <p:spPr>
          <a:xfrm>
            <a:off x="391884" y="272823"/>
            <a:ext cx="9464040" cy="1192801"/>
          </a:xfrm>
        </p:spPr>
        <p:txBody>
          <a:bodyPr>
            <a:normAutofit/>
          </a:bodyPr>
          <a:lstStyle/>
          <a:p>
            <a:r>
              <a:rPr lang="en-US" sz="3600" b="1" dirty="0">
                <a:latin typeface="Meiryo" panose="020B0604030504040204" pitchFamily="34" charset="-128"/>
                <a:ea typeface="Meiryo" panose="020B0604030504040204" pitchFamily="34" charset="-128"/>
              </a:rPr>
              <a:t>Feature Extraction</a:t>
            </a:r>
            <a:r>
              <a:rPr lang="ja-JP" altLang="en-US" sz="3600" b="1">
                <a:latin typeface="Meiryo" panose="020B0604030504040204" pitchFamily="34" charset="-128"/>
                <a:ea typeface="Meiryo" panose="020B0604030504040204" pitchFamily="34" charset="-128"/>
              </a:rPr>
              <a:t>の</a:t>
            </a:r>
            <a:r>
              <a:rPr lang="en-US" sz="1100" dirty="0"/>
              <a:t> </a:t>
            </a:r>
            <a:r>
              <a:rPr lang="en-US" sz="3600" b="1" dirty="0">
                <a:latin typeface="Meiryo" panose="020B0604030504040204" pitchFamily="34" charset="-128"/>
                <a:ea typeface="Meiryo" panose="020B0604030504040204" pitchFamily="34" charset="-128"/>
              </a:rPr>
              <a:t>(Overview)</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E8369E5A-926E-1947-6D63-AA961DE14ABF}"/>
              </a:ext>
            </a:extLst>
          </p:cNvPr>
          <p:cNvSpPr>
            <a:spLocks noGrp="1"/>
          </p:cNvSpPr>
          <p:nvPr>
            <p:ph type="sldNum" sz="quarter" idx="12"/>
          </p:nvPr>
        </p:nvSpPr>
        <p:spPr/>
        <p:txBody>
          <a:bodyPr/>
          <a:lstStyle/>
          <a:p>
            <a:fld id="{BB44241B-2579-694C-B40C-A1E3D5F0E4EC}" type="slidenum">
              <a:rPr lang="en-JP" smtClean="0"/>
              <a:pPr/>
              <a:t>19</a:t>
            </a:fld>
            <a:endParaRPr lang="en-JP" dirty="0"/>
          </a:p>
        </p:txBody>
      </p:sp>
      <p:sp>
        <p:nvSpPr>
          <p:cNvPr id="6" name="TextBox 5">
            <a:extLst>
              <a:ext uri="{FF2B5EF4-FFF2-40B4-BE49-F238E27FC236}">
                <a16:creationId xmlns:a16="http://schemas.microsoft.com/office/drawing/2014/main" id="{A35BA394-D634-FC46-E7C4-9854C1640A0D}"/>
              </a:ext>
            </a:extLst>
          </p:cNvPr>
          <p:cNvSpPr txBox="1"/>
          <p:nvPr/>
        </p:nvSpPr>
        <p:spPr>
          <a:xfrm>
            <a:off x="299119" y="1425093"/>
            <a:ext cx="9464040" cy="83099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eiryo" panose="020B0604030504040204" pitchFamily="34" charset="-128"/>
                <a:ea typeface="Meiryo" panose="020B0604030504040204" pitchFamily="34" charset="-128"/>
              </a:rPr>
              <a:t>FEC </a:t>
            </a:r>
            <a:r>
              <a:rPr lang="ja-JP" altLang="en-US" sz="2400">
                <a:latin typeface="Meiryo" panose="020B0604030504040204" pitchFamily="34" charset="-128"/>
                <a:ea typeface="Meiryo" panose="020B0604030504040204" pitchFamily="34" charset="-128"/>
              </a:rPr>
              <a:t>は、ネットワークトラフィックから数値的な統計情報を抽出し、機械学習モデルに入力可能なベクトル形式へ変換する 役割</a:t>
            </a:r>
            <a:r>
              <a:rPr lang="mn-MN" altLang="ja-JP" sz="2400" dirty="0">
                <a:latin typeface="Meiryo" panose="020B0604030504040204" pitchFamily="34" charset="-128"/>
                <a:ea typeface="Meiryo" panose="020B0604030504040204" pitchFamily="34" charset="-128"/>
              </a:rPr>
              <a:t>.</a:t>
            </a:r>
            <a:endParaRPr lang="mn-MN" altLang="ja-JP" sz="2400" dirty="0"/>
          </a:p>
        </p:txBody>
      </p:sp>
      <p:sp>
        <p:nvSpPr>
          <p:cNvPr id="5" name="TextBox 4">
            <a:extLst>
              <a:ext uri="{FF2B5EF4-FFF2-40B4-BE49-F238E27FC236}">
                <a16:creationId xmlns:a16="http://schemas.microsoft.com/office/drawing/2014/main" id="{D73F15E4-6644-085B-C664-71D041A0C8D0}"/>
              </a:ext>
            </a:extLst>
          </p:cNvPr>
          <p:cNvSpPr txBox="1"/>
          <p:nvPr/>
        </p:nvSpPr>
        <p:spPr>
          <a:xfrm>
            <a:off x="651626" y="2838463"/>
            <a:ext cx="9923609" cy="3416320"/>
          </a:xfrm>
          <a:prstGeom prst="rect">
            <a:avLst/>
          </a:prstGeom>
          <a:noFill/>
        </p:spPr>
        <p:txBody>
          <a:bodyPr wrap="square">
            <a:spAutoFit/>
          </a:bodyPr>
          <a:lstStyle/>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ネットワークパケットから特徴量を抽出</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特徴量はネットワークの現在の状態を表す</a:t>
            </a:r>
            <a:endParaRPr lang="mn-MN"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異常行動の検出に使用可能</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例</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400" dirty="0">
                <a:latin typeface="Meiryo" panose="020B0604030504040204" pitchFamily="34" charset="-128"/>
                <a:ea typeface="Meiryo" panose="020B0604030504040204" pitchFamily="34" charset="-128"/>
              </a:rPr>
              <a:t>TCP SYN </a:t>
            </a:r>
            <a:r>
              <a:rPr lang="ja-JP" altLang="en-US" sz="2400">
                <a:latin typeface="Meiryo" panose="020B0604030504040204" pitchFamily="34" charset="-128"/>
                <a:ea typeface="Meiryo" panose="020B0604030504040204" pitchFamily="34" charset="-128"/>
              </a:rPr>
              <a:t>パケットの速度が高い → </a:t>
            </a:r>
            <a:r>
              <a:rPr lang="en-US" sz="2400" dirty="0">
                <a:latin typeface="Meiryo" panose="020B0604030504040204" pitchFamily="34" charset="-128"/>
                <a:ea typeface="Meiryo" panose="020B0604030504040204" pitchFamily="34" charset="-128"/>
              </a:rPr>
              <a:t>DoS </a:t>
            </a:r>
            <a:r>
              <a:rPr lang="ja-JP" altLang="en-US" sz="2400">
                <a:latin typeface="Meiryo" panose="020B0604030504040204" pitchFamily="34" charset="-128"/>
                <a:ea typeface="Meiryo" panose="020B0604030504040204" pitchFamily="34" charset="-128"/>
              </a:rPr>
              <a:t>攻撃検出</a:t>
            </a:r>
          </a:p>
          <a:p>
            <a:pPr>
              <a:buFont typeface="Arial" panose="020B0604020202020204" pitchFamily="34" charset="0"/>
              <a:buChar char="•"/>
            </a:pPr>
            <a:r>
              <a:rPr lang="en-US" sz="2400" dirty="0">
                <a:latin typeface="Meiryo" panose="020B0604030504040204" pitchFamily="34" charset="-128"/>
                <a:ea typeface="Meiryo" panose="020B0604030504040204" pitchFamily="34" charset="-128"/>
              </a:rPr>
              <a:t>SYN </a:t>
            </a:r>
            <a:r>
              <a:rPr lang="ja-JP" altLang="en-US" sz="2400">
                <a:latin typeface="Meiryo" panose="020B0604030504040204" pitchFamily="34" charset="-128"/>
                <a:ea typeface="Meiryo" panose="020B0604030504040204" pitchFamily="34" charset="-128"/>
              </a:rPr>
              <a:t>パケットが突然増加・ジッターが大きい → 中間者攻撃の可能性</a:t>
            </a:r>
          </a:p>
        </p:txBody>
      </p:sp>
    </p:spTree>
    <p:extLst>
      <p:ext uri="{BB962C8B-B14F-4D97-AF65-F5344CB8AC3E}">
        <p14:creationId xmlns:p14="http://schemas.microsoft.com/office/powerpoint/2010/main" val="192413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BFFF-1C42-1BC9-74CA-59E8A8B07B56}"/>
              </a:ext>
            </a:extLst>
          </p:cNvPr>
          <p:cNvSpPr>
            <a:spLocks noGrp="1"/>
          </p:cNvSpPr>
          <p:nvPr>
            <p:ph type="title"/>
          </p:nvPr>
        </p:nvSpPr>
        <p:spPr>
          <a:xfrm>
            <a:off x="754380" y="438152"/>
            <a:ext cx="9464040" cy="965584"/>
          </a:xfrm>
        </p:spPr>
        <p:txBody>
          <a:bodyPr>
            <a:normAutofit/>
          </a:bodyPr>
          <a:lstStyle/>
          <a:p>
            <a:r>
              <a:rPr lang="en-US" sz="4000" b="1" dirty="0">
                <a:latin typeface="Meiryo" panose="020B0604030504040204" pitchFamily="34" charset="-128"/>
                <a:ea typeface="Meiryo" panose="020B0604030504040204" pitchFamily="34" charset="-128"/>
              </a:rPr>
              <a:t>Feature Extraction</a:t>
            </a:r>
            <a:r>
              <a:rPr lang="ja-JP" altLang="en-US" sz="4000" b="1">
                <a:latin typeface="Meiryo" panose="020B0604030504040204" pitchFamily="34" charset="-128"/>
                <a:ea typeface="Meiryo" panose="020B0604030504040204" pitchFamily="34" charset="-128"/>
              </a:rPr>
              <a:t>の 流れ</a:t>
            </a:r>
            <a:endParaRPr lang="en-JP" sz="40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7DA119B6-9150-2028-4632-9D8E406E5DFA}"/>
              </a:ext>
            </a:extLst>
          </p:cNvPr>
          <p:cNvSpPr>
            <a:spLocks noGrp="1"/>
          </p:cNvSpPr>
          <p:nvPr>
            <p:ph type="sldNum" sz="quarter" idx="12"/>
          </p:nvPr>
        </p:nvSpPr>
        <p:spPr/>
        <p:txBody>
          <a:bodyPr/>
          <a:lstStyle/>
          <a:p>
            <a:fld id="{BB44241B-2579-694C-B40C-A1E3D5F0E4EC}" type="slidenum">
              <a:rPr lang="en-JP" smtClean="0"/>
              <a:pPr/>
              <a:t>20</a:t>
            </a:fld>
            <a:endParaRPr lang="en-JP" dirty="0"/>
          </a:p>
        </p:txBody>
      </p:sp>
      <p:sp>
        <p:nvSpPr>
          <p:cNvPr id="5" name="Rounded Rectangle 4">
            <a:extLst>
              <a:ext uri="{FF2B5EF4-FFF2-40B4-BE49-F238E27FC236}">
                <a16:creationId xmlns:a16="http://schemas.microsoft.com/office/drawing/2014/main" id="{F08C70B2-E604-D658-DC8A-D65FEE06083E}"/>
              </a:ext>
            </a:extLst>
          </p:cNvPr>
          <p:cNvSpPr/>
          <p:nvPr/>
        </p:nvSpPr>
        <p:spPr>
          <a:xfrm>
            <a:off x="1679045" y="2082538"/>
            <a:ext cx="1961322" cy="2275480"/>
          </a:xfrm>
          <a:prstGeom prst="round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Metadata</a:t>
            </a:r>
            <a:endParaRPr lang="en-JP" sz="2800" dirty="0"/>
          </a:p>
        </p:txBody>
      </p:sp>
      <p:sp>
        <p:nvSpPr>
          <p:cNvPr id="6" name="Rounded Rectangle 5">
            <a:extLst>
              <a:ext uri="{FF2B5EF4-FFF2-40B4-BE49-F238E27FC236}">
                <a16:creationId xmlns:a16="http://schemas.microsoft.com/office/drawing/2014/main" id="{1F000A8E-CF82-0D67-BBBD-22CD33CBD5E5}"/>
              </a:ext>
            </a:extLst>
          </p:cNvPr>
          <p:cNvSpPr/>
          <p:nvPr/>
        </p:nvSpPr>
        <p:spPr>
          <a:xfrm>
            <a:off x="4735661" y="2038888"/>
            <a:ext cx="2623931" cy="2319130"/>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Damped Incremental         Statistics</a:t>
            </a:r>
            <a:r>
              <a:rPr lang="mn-M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calculation</a:t>
            </a:r>
            <a:endParaRPr lang="en-JP" sz="2400" dirty="0">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B49D3DF1-B9BC-312B-E48D-055F37F19766}"/>
              </a:ext>
            </a:extLst>
          </p:cNvPr>
          <p:cNvSpPr/>
          <p:nvPr/>
        </p:nvSpPr>
        <p:spPr>
          <a:xfrm>
            <a:off x="8454887" y="2023070"/>
            <a:ext cx="1961322" cy="2314654"/>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Feature Vector</a:t>
            </a:r>
            <a:endParaRPr lang="en-JP" sz="2400" dirty="0">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111B646F-8201-6FCF-A5CA-BF3F3E8729E5}"/>
              </a:ext>
            </a:extLst>
          </p:cNvPr>
          <p:cNvSpPr/>
          <p:nvPr/>
        </p:nvSpPr>
        <p:spPr>
          <a:xfrm>
            <a:off x="8454887" y="5517418"/>
            <a:ext cx="1961322" cy="1378224"/>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Attack Detection Component</a:t>
            </a:r>
            <a:endParaRPr lang="en-JP" sz="2400"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E7F937DE-8C50-F037-ED92-9D3C90375948}"/>
              </a:ext>
            </a:extLst>
          </p:cNvPr>
          <p:cNvCxnSpPr>
            <a:cxnSpLocks/>
          </p:cNvCxnSpPr>
          <p:nvPr/>
        </p:nvCxnSpPr>
        <p:spPr>
          <a:xfrm>
            <a:off x="424432" y="3434761"/>
            <a:ext cx="848139"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22CE350-4126-0685-21E5-799B9AC2D3D6}"/>
              </a:ext>
            </a:extLst>
          </p:cNvPr>
          <p:cNvSpPr txBox="1"/>
          <p:nvPr/>
        </p:nvSpPr>
        <p:spPr>
          <a:xfrm>
            <a:off x="322844" y="2768079"/>
            <a:ext cx="1051313" cy="461665"/>
          </a:xfrm>
          <a:prstGeom prst="rect">
            <a:avLst/>
          </a:prstGeom>
          <a:noFill/>
        </p:spPr>
        <p:txBody>
          <a:bodyPr wrap="none" rtlCol="0">
            <a:spAutoFit/>
          </a:bodyPr>
          <a:lstStyle/>
          <a:p>
            <a:r>
              <a:rPr lang="en-JP" sz="2400" dirty="0">
                <a:latin typeface="Times New Roman" panose="02020603050405020304" pitchFamily="18" charset="0"/>
                <a:cs typeface="Times New Roman" panose="02020603050405020304" pitchFamily="18" charset="0"/>
              </a:rPr>
              <a:t>Packet</a:t>
            </a:r>
            <a:r>
              <a:rPr lang="en-JP" dirty="0">
                <a:latin typeface="Times New Roman" panose="02020603050405020304" pitchFamily="18" charset="0"/>
                <a:cs typeface="Times New Roman" panose="02020603050405020304" pitchFamily="18" charset="0"/>
              </a:rPr>
              <a:t> </a:t>
            </a:r>
          </a:p>
        </p:txBody>
      </p:sp>
      <p:cxnSp>
        <p:nvCxnSpPr>
          <p:cNvPr id="13" name="Straight Arrow Connector 12">
            <a:extLst>
              <a:ext uri="{FF2B5EF4-FFF2-40B4-BE49-F238E27FC236}">
                <a16:creationId xmlns:a16="http://schemas.microsoft.com/office/drawing/2014/main" id="{7D3CDE0A-DB1E-4D95-FD79-99781ECD09E5}"/>
              </a:ext>
            </a:extLst>
          </p:cNvPr>
          <p:cNvCxnSpPr>
            <a:cxnSpLocks/>
          </p:cNvCxnSpPr>
          <p:nvPr/>
        </p:nvCxnSpPr>
        <p:spPr>
          <a:xfrm>
            <a:off x="3772889" y="3434761"/>
            <a:ext cx="848139"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459945B-68EA-091C-4AA3-3EFB651B657B}"/>
              </a:ext>
            </a:extLst>
          </p:cNvPr>
          <p:cNvCxnSpPr>
            <a:cxnSpLocks/>
          </p:cNvCxnSpPr>
          <p:nvPr/>
        </p:nvCxnSpPr>
        <p:spPr>
          <a:xfrm>
            <a:off x="7606748" y="3343321"/>
            <a:ext cx="706346"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D2592A0-DBB5-FD32-2FDE-47210D80C016}"/>
              </a:ext>
            </a:extLst>
          </p:cNvPr>
          <p:cNvCxnSpPr>
            <a:cxnSpLocks/>
          </p:cNvCxnSpPr>
          <p:nvPr/>
        </p:nvCxnSpPr>
        <p:spPr>
          <a:xfrm>
            <a:off x="9468016" y="4520604"/>
            <a:ext cx="0" cy="86330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43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31E7C-475B-533D-CC4C-91C9DECCB940}"/>
              </a:ext>
            </a:extLst>
          </p:cNvPr>
          <p:cNvSpPr>
            <a:spLocks noGrp="1"/>
          </p:cNvSpPr>
          <p:nvPr>
            <p:ph type="sldNum" sz="quarter" idx="12"/>
          </p:nvPr>
        </p:nvSpPr>
        <p:spPr/>
        <p:txBody>
          <a:bodyPr/>
          <a:lstStyle/>
          <a:p>
            <a:fld id="{BB44241B-2579-694C-B40C-A1E3D5F0E4EC}" type="slidenum">
              <a:rPr lang="en-JP" smtClean="0"/>
              <a:pPr/>
              <a:t>21</a:t>
            </a:fld>
            <a:endParaRPr lang="en-JP" dirty="0"/>
          </a:p>
        </p:txBody>
      </p:sp>
      <p:sp>
        <p:nvSpPr>
          <p:cNvPr id="6" name="TextBox 5">
            <a:extLst>
              <a:ext uri="{FF2B5EF4-FFF2-40B4-BE49-F238E27FC236}">
                <a16:creationId xmlns:a16="http://schemas.microsoft.com/office/drawing/2014/main" id="{E7E45234-9184-3BB3-03F8-31D60E227861}"/>
              </a:ext>
            </a:extLst>
          </p:cNvPr>
          <p:cNvSpPr txBox="1"/>
          <p:nvPr/>
        </p:nvSpPr>
        <p:spPr>
          <a:xfrm>
            <a:off x="308611" y="-211258"/>
            <a:ext cx="9614264" cy="1384995"/>
          </a:xfrm>
          <a:prstGeom prst="rect">
            <a:avLst/>
          </a:prstGeom>
          <a:noFill/>
        </p:spPr>
        <p:txBody>
          <a:bodyPr wrap="square">
            <a:spAutoFit/>
          </a:bodyPr>
          <a:lstStyle/>
          <a:p>
            <a:endParaRPr lang="mn-MN" sz="2800" b="1" dirty="0">
              <a:latin typeface="Meiryo" panose="020B0604030504040204" pitchFamily="34" charset="-128"/>
              <a:ea typeface="Meiryo" panose="020B0604030504040204" pitchFamily="34" charset="-128"/>
            </a:endParaRPr>
          </a:p>
          <a:p>
            <a:r>
              <a:rPr lang="en-US" sz="2800" b="1" dirty="0">
                <a:latin typeface="Meiryo" panose="020B0604030504040204" pitchFamily="34" charset="-128"/>
                <a:ea typeface="Meiryo" panose="020B0604030504040204" pitchFamily="34" charset="-128"/>
              </a:rPr>
              <a:t>Feature Extraction</a:t>
            </a:r>
            <a:r>
              <a:rPr lang="mn-MN" sz="2800" b="1" dirty="0">
                <a:latin typeface="Meiryo" panose="020B0604030504040204" pitchFamily="34" charset="-128"/>
                <a:ea typeface="Meiryo" panose="020B0604030504040204" pitchFamily="34" charset="-128"/>
              </a:rPr>
              <a:t> </a:t>
            </a:r>
            <a:r>
              <a:rPr lang="ja-JP" altLang="en-US" sz="2800" b="1">
                <a:latin typeface="Meiryo" panose="020B0604030504040204" pitchFamily="34" charset="-128"/>
                <a:ea typeface="Meiryo" panose="020B0604030504040204" pitchFamily="34" charset="-128"/>
              </a:rPr>
              <a:t>の</a:t>
            </a:r>
            <a:r>
              <a:rPr lang="mn-MN" altLang="ja-JP" sz="2800" b="1" dirty="0">
                <a:latin typeface="Meiryo" panose="020B0604030504040204" pitchFamily="34" charset="-128"/>
                <a:ea typeface="Meiryo" panose="020B0604030504040204" pitchFamily="34" charset="-128"/>
              </a:rPr>
              <a:t> </a:t>
            </a:r>
            <a:r>
              <a:rPr lang="en-US" sz="2800" b="1" dirty="0">
                <a:latin typeface="Meiryo" panose="020B0604030504040204" pitchFamily="34" charset="-128"/>
                <a:ea typeface="Meiryo" panose="020B0604030504040204" pitchFamily="34" charset="-128"/>
              </a:rPr>
              <a:t>Damped Incremental Statistics – </a:t>
            </a:r>
            <a:r>
              <a:rPr lang="ja-JP" altLang="en-US" sz="2800" b="1">
                <a:latin typeface="Meiryo" panose="020B0604030504040204" pitchFamily="34" charset="-128"/>
                <a:ea typeface="Meiryo" panose="020B0604030504040204" pitchFamily="34" charset="-128"/>
              </a:rPr>
              <a:t>主要アイデア</a:t>
            </a:r>
            <a:endParaRPr lang="en-JP"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9B2B1CE3-480C-FED0-126C-757612F5AB95}"/>
              </a:ext>
            </a:extLst>
          </p:cNvPr>
          <p:cNvSpPr txBox="1"/>
          <p:nvPr/>
        </p:nvSpPr>
        <p:spPr>
          <a:xfrm>
            <a:off x="250641" y="1086845"/>
            <a:ext cx="9060726" cy="132343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Damped Incremental Statistics </a:t>
            </a:r>
            <a:r>
              <a:rPr lang="ja-JP" altLang="en-US" sz="2000">
                <a:latin typeface="Meiryo" panose="020B0604030504040204" pitchFamily="34" charset="-128"/>
                <a:ea typeface="Meiryo" panose="020B0604030504040204" pitchFamily="34" charset="-128"/>
              </a:rPr>
              <a:t>アルゴリズムは、複数セッションのパケットから統計的特徴量を効率的に抽出する手法であり、累積和と指数減衰を用いて計算コストとメモリ使用量を削減</a:t>
            </a:r>
            <a:r>
              <a:rPr lang="en-US" altLang="ja-JP" sz="2000" dirty="0">
                <a:latin typeface="Meiryo" panose="020B0604030504040204" pitchFamily="34" charset="-128"/>
                <a:ea typeface="Meiryo" panose="020B0604030504040204" pitchFamily="34" charset="-128"/>
              </a:rPr>
              <a:t>.</a:t>
            </a:r>
            <a:br>
              <a:rPr lang="ja-JP" altLang="en-US" sz="2000"/>
            </a:br>
            <a:endParaRPr lang="en-JP" sz="2000" dirty="0">
              <a:latin typeface="Meiryo" panose="020B0604030504040204" pitchFamily="34" charset="-128"/>
              <a:ea typeface="Meiryo" panose="020B0604030504040204" pitchFamily="34" charset="-128"/>
            </a:endParaRPr>
          </a:p>
        </p:txBody>
      </p:sp>
      <p:sp>
        <p:nvSpPr>
          <p:cNvPr id="12" name="Down Arrow 11">
            <a:extLst>
              <a:ext uri="{FF2B5EF4-FFF2-40B4-BE49-F238E27FC236}">
                <a16:creationId xmlns:a16="http://schemas.microsoft.com/office/drawing/2014/main" id="{01E5459E-9E6F-0ED1-AC34-8FAD45CAD786}"/>
              </a:ext>
            </a:extLst>
          </p:cNvPr>
          <p:cNvSpPr/>
          <p:nvPr/>
        </p:nvSpPr>
        <p:spPr>
          <a:xfrm rot="16200000">
            <a:off x="5265176" y="3207104"/>
            <a:ext cx="194253" cy="1162597"/>
          </a:xfrm>
          <a:prstGeom prst="downArrow">
            <a:avLst>
              <a:gd name="adj1" fmla="val 50000"/>
              <a:gd name="adj2" fmla="val 5138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JP" dirty="0"/>
          </a:p>
        </p:txBody>
      </p:sp>
      <p:sp>
        <p:nvSpPr>
          <p:cNvPr id="13" name="Triangle 12">
            <a:extLst>
              <a:ext uri="{FF2B5EF4-FFF2-40B4-BE49-F238E27FC236}">
                <a16:creationId xmlns:a16="http://schemas.microsoft.com/office/drawing/2014/main" id="{B7E7E646-12D1-0F1E-7B8B-8E216DEF2830}"/>
              </a:ext>
            </a:extLst>
          </p:cNvPr>
          <p:cNvSpPr/>
          <p:nvPr/>
        </p:nvSpPr>
        <p:spPr>
          <a:xfrm>
            <a:off x="6270172" y="2226365"/>
            <a:ext cx="3827985" cy="2099226"/>
          </a:xfrm>
          <a:prstGeom prst="triangle">
            <a:avLst>
              <a:gd name="adj" fmla="val 51433"/>
            </a:avLst>
          </a:prstGeom>
        </p:spPr>
        <p:style>
          <a:lnRef idx="1">
            <a:schemeClr val="accent2"/>
          </a:lnRef>
          <a:fillRef idx="2">
            <a:schemeClr val="accent2"/>
          </a:fillRef>
          <a:effectRef idx="1">
            <a:schemeClr val="accent2"/>
          </a:effectRef>
          <a:fontRef idx="minor">
            <a:schemeClr val="dk1"/>
          </a:fontRef>
        </p:style>
        <p:txBody>
          <a:bodyPr rtlCol="0" anchor="ctr"/>
          <a:lstStyle/>
          <a:p>
            <a:r>
              <a:rPr lang="ja-JP" altLang="en-US">
                <a:latin typeface="Meiryo" panose="020B0604030504040204" pitchFamily="34" charset="-128"/>
                <a:ea typeface="Meiryo" panose="020B0604030504040204" pitchFamily="34" charset="-128"/>
              </a:rPr>
              <a:t>すべてのデータをメモリに保持できない</a:t>
            </a:r>
            <a:r>
              <a:rPr lang="en-US" altLang="ja-JP" dirty="0">
                <a:latin typeface="Meiryo" panose="020B0604030504040204" pitchFamily="34" charset="-128"/>
                <a:ea typeface="Meiryo" panose="020B0604030504040204" pitchFamily="34" charset="-128"/>
              </a:rPr>
              <a:t>!</a:t>
            </a:r>
            <a:endParaRPr lang="ja-JP" altLang="en-US">
              <a:latin typeface="Meiryo" panose="020B0604030504040204" pitchFamily="34" charset="-128"/>
              <a:ea typeface="Meiryo" panose="020B0604030504040204" pitchFamily="34" charset="-128"/>
            </a:endParaRPr>
          </a:p>
          <a:p>
            <a:pPr algn="ctr"/>
            <a:endParaRPr lang="en-JP" dirty="0"/>
          </a:p>
        </p:txBody>
      </p:sp>
      <p:sp>
        <p:nvSpPr>
          <p:cNvPr id="14" name="TextBox 13">
            <a:extLst>
              <a:ext uri="{FF2B5EF4-FFF2-40B4-BE49-F238E27FC236}">
                <a16:creationId xmlns:a16="http://schemas.microsoft.com/office/drawing/2014/main" id="{5DF7F891-0D97-3F67-D5A2-9EAF9BC8380A}"/>
              </a:ext>
            </a:extLst>
          </p:cNvPr>
          <p:cNvSpPr txBox="1"/>
          <p:nvPr/>
        </p:nvSpPr>
        <p:spPr>
          <a:xfrm>
            <a:off x="4656247" y="2617588"/>
            <a:ext cx="2103117" cy="1323439"/>
          </a:xfrm>
          <a:prstGeom prst="rect">
            <a:avLst/>
          </a:prstGeom>
          <a:noFill/>
        </p:spPr>
        <p:txBody>
          <a:bodyPr wrap="square" rtlCol="0">
            <a:spAutoFit/>
          </a:bodyPr>
          <a:lstStyle/>
          <a:p>
            <a:r>
              <a:rPr lang="ja-JP" altLang="en-US" sz="2000">
                <a:latin typeface="Meiryo" panose="020B0604030504040204" pitchFamily="34" charset="-128"/>
                <a:ea typeface="Meiryo" panose="020B0604030504040204" pitchFamily="34" charset="-128"/>
              </a:rPr>
              <a:t>ネットワーク</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トラフィックは連続的に到着</a:t>
            </a:r>
          </a:p>
          <a:p>
            <a:endParaRPr lang="en-JP" sz="2000" dirty="0"/>
          </a:p>
        </p:txBody>
      </p:sp>
      <p:sp>
        <p:nvSpPr>
          <p:cNvPr id="17" name="Can 16">
            <a:extLst>
              <a:ext uri="{FF2B5EF4-FFF2-40B4-BE49-F238E27FC236}">
                <a16:creationId xmlns:a16="http://schemas.microsoft.com/office/drawing/2014/main" id="{765F4A86-C31B-601E-BE0F-E80423327A15}"/>
              </a:ext>
            </a:extLst>
          </p:cNvPr>
          <p:cNvSpPr/>
          <p:nvPr/>
        </p:nvSpPr>
        <p:spPr>
          <a:xfrm>
            <a:off x="5007198" y="4533982"/>
            <a:ext cx="2246812" cy="414608"/>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b="1"/>
              <a:t>解決策</a:t>
            </a:r>
            <a:endParaRPr lang="en-JP" dirty="0"/>
          </a:p>
        </p:txBody>
      </p:sp>
      <p:sp>
        <p:nvSpPr>
          <p:cNvPr id="24" name="Oval Callout 23">
            <a:extLst>
              <a:ext uri="{FF2B5EF4-FFF2-40B4-BE49-F238E27FC236}">
                <a16:creationId xmlns:a16="http://schemas.microsoft.com/office/drawing/2014/main" id="{5529FFCF-6B03-FD33-4B27-91D2549FFB72}"/>
              </a:ext>
            </a:extLst>
          </p:cNvPr>
          <p:cNvSpPr/>
          <p:nvPr/>
        </p:nvSpPr>
        <p:spPr>
          <a:xfrm>
            <a:off x="6457948" y="4741286"/>
            <a:ext cx="3464927" cy="1681563"/>
          </a:xfrm>
          <a:prstGeom prst="wedgeEllipseCallout">
            <a:avLst>
              <a:gd name="adj1" fmla="val -61788"/>
              <a:gd name="adj2" fmla="val -18886"/>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2400" b="1" dirty="0">
                <a:latin typeface="Meiryo" panose="020B0604030504040204" pitchFamily="34" charset="-128"/>
                <a:ea typeface="Meiryo" panose="020B0604030504040204" pitchFamily="34" charset="-128"/>
              </a:rPr>
              <a:t>新しいパケットが来るたび 統計のみを更新</a:t>
            </a:r>
          </a:p>
        </p:txBody>
      </p:sp>
      <p:sp>
        <p:nvSpPr>
          <p:cNvPr id="26" name="TextBox 25">
            <a:extLst>
              <a:ext uri="{FF2B5EF4-FFF2-40B4-BE49-F238E27FC236}">
                <a16:creationId xmlns:a16="http://schemas.microsoft.com/office/drawing/2014/main" id="{C608EF9B-F412-B02D-9DB3-41AAFB7F9CA2}"/>
              </a:ext>
            </a:extLst>
          </p:cNvPr>
          <p:cNvSpPr txBox="1"/>
          <p:nvPr/>
        </p:nvSpPr>
        <p:spPr>
          <a:xfrm>
            <a:off x="666205" y="6043263"/>
            <a:ext cx="5277396" cy="70788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数値データのみを保持するインクリメンタル方式</a:t>
            </a:r>
            <a:endParaRPr lang="en-JP" sz="2000" dirty="0">
              <a:latin typeface="Meiryo" panose="020B0604030504040204" pitchFamily="34" charset="-128"/>
              <a:ea typeface="Meiryo" panose="020B0604030504040204" pitchFamily="34" charset="-128"/>
            </a:endParaRPr>
          </a:p>
        </p:txBody>
      </p:sp>
      <p:sp>
        <p:nvSpPr>
          <p:cNvPr id="27" name="Down Arrow 26">
            <a:extLst>
              <a:ext uri="{FF2B5EF4-FFF2-40B4-BE49-F238E27FC236}">
                <a16:creationId xmlns:a16="http://schemas.microsoft.com/office/drawing/2014/main" id="{15B5DF83-A4C3-A972-C4E1-BB4932285C68}"/>
              </a:ext>
            </a:extLst>
          </p:cNvPr>
          <p:cNvSpPr/>
          <p:nvPr/>
        </p:nvSpPr>
        <p:spPr>
          <a:xfrm>
            <a:off x="4197281" y="4800597"/>
            <a:ext cx="194253" cy="1162597"/>
          </a:xfrm>
          <a:prstGeom prst="downArrow">
            <a:avLst>
              <a:gd name="adj1" fmla="val 50000"/>
              <a:gd name="adj2" fmla="val 5138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JP" dirty="0"/>
          </a:p>
        </p:txBody>
      </p:sp>
      <p:sp>
        <p:nvSpPr>
          <p:cNvPr id="29" name="TextBox 28">
            <a:extLst>
              <a:ext uri="{FF2B5EF4-FFF2-40B4-BE49-F238E27FC236}">
                <a16:creationId xmlns:a16="http://schemas.microsoft.com/office/drawing/2014/main" id="{2D69C2F3-4958-B213-C29A-7B82825E4EFC}"/>
              </a:ext>
            </a:extLst>
          </p:cNvPr>
          <p:cNvSpPr txBox="1"/>
          <p:nvPr/>
        </p:nvSpPr>
        <p:spPr>
          <a:xfrm>
            <a:off x="829493" y="6727483"/>
            <a:ext cx="5519056"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1 → </a:t>
            </a:r>
            <a:r>
              <a:rPr lang="ja-JP" altLang="en-US" sz="2000">
                <a:latin typeface="Meiryo" panose="020B0604030504040204" pitchFamily="34" charset="-128"/>
                <a:ea typeface="Meiryo" panose="020B0604030504040204" pitchFamily="34" charset="-128"/>
              </a:rPr>
              <a:t>統計を更新</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2 → </a:t>
            </a:r>
            <a:r>
              <a:rPr lang="ja-JP" altLang="en-US" sz="2000">
                <a:latin typeface="Meiryo" panose="020B0604030504040204" pitchFamily="34" charset="-128"/>
                <a:ea typeface="Meiryo" panose="020B0604030504040204" pitchFamily="34" charset="-128"/>
              </a:rPr>
              <a:t>統計を更新</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sz="20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AA31A02F-8247-4C61-442F-1F6CF4FA2450}"/>
              </a:ext>
            </a:extLst>
          </p:cNvPr>
          <p:cNvSpPr txBox="1"/>
          <p:nvPr/>
        </p:nvSpPr>
        <p:spPr>
          <a:xfrm>
            <a:off x="5486400" y="7154335"/>
            <a:ext cx="5486400" cy="400110"/>
          </a:xfrm>
          <a:prstGeom prst="rect">
            <a:avLst/>
          </a:prstGeom>
          <a:noFill/>
        </p:spPr>
        <p:txBody>
          <a:bodyPr wrap="square">
            <a:spAutoFit/>
          </a:bodyPr>
          <a:lstStyle/>
          <a:p>
            <a:r>
              <a:rPr lang="en-US" sz="2000" b="1" dirty="0">
                <a:solidFill>
                  <a:schemeClr val="accent2">
                    <a:lumMod val="75000"/>
                  </a:schemeClr>
                </a:solidFill>
                <a:latin typeface="Meiryo" panose="020B0604030504040204" pitchFamily="34" charset="-128"/>
                <a:ea typeface="Meiryo" panose="020B0604030504040204" pitchFamily="34" charset="-128"/>
              </a:rPr>
              <a:t>Decay Function – </a:t>
            </a:r>
            <a:r>
              <a:rPr lang="ja-JP" altLang="en-US" sz="2000" b="1">
                <a:solidFill>
                  <a:schemeClr val="accent2">
                    <a:lumMod val="75000"/>
                  </a:schemeClr>
                </a:solidFill>
                <a:latin typeface="Meiryo" panose="020B0604030504040204" pitchFamily="34" charset="-128"/>
                <a:ea typeface="Meiryo" panose="020B0604030504040204" pitchFamily="34" charset="-128"/>
              </a:rPr>
              <a:t>古いデータ</a:t>
            </a:r>
            <a:r>
              <a:rPr lang="en-US" altLang="ja-JP" sz="2000" b="1" dirty="0">
                <a:solidFill>
                  <a:schemeClr val="accent2">
                    <a:lumMod val="75000"/>
                  </a:schemeClr>
                </a:solidFill>
                <a:latin typeface="Meiryo" panose="020B0604030504040204" pitchFamily="34" charset="-128"/>
                <a:ea typeface="Meiryo" panose="020B0604030504040204" pitchFamily="34" charset="-128"/>
              </a:rPr>
              <a:t> ?</a:t>
            </a:r>
            <a:endParaRPr lang="en-JP" sz="2000" b="1" dirty="0">
              <a:solidFill>
                <a:schemeClr val="accent2">
                  <a:lumMod val="75000"/>
                </a:schemeClr>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1914E4E3-B147-E9BA-DB77-DB8AD9724897}"/>
              </a:ext>
            </a:extLst>
          </p:cNvPr>
          <p:cNvSpPr/>
          <p:nvPr/>
        </p:nvSpPr>
        <p:spPr>
          <a:xfrm>
            <a:off x="666205" y="2471840"/>
            <a:ext cx="3530372" cy="25498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ja-JP" altLang="en-US" sz="2000">
                <a:latin typeface="Meiryo" panose="020B0604030504040204" pitchFamily="34" charset="-128"/>
                <a:ea typeface="Meiryo" panose="020B0604030504040204" pitchFamily="34" charset="-128"/>
              </a:rPr>
              <a:t>従来の方法</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100</a:t>
            </a:r>
            <a:r>
              <a:rPr lang="ja-JP" altLang="en-US" sz="2000">
                <a:latin typeface="Meiryo" panose="020B0604030504040204" pitchFamily="34" charset="-128"/>
                <a:ea typeface="Meiryo" panose="020B0604030504040204" pitchFamily="34" charset="-128"/>
              </a:rPr>
              <a:t>万パケット → すべて保存 → 平均を計算</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メモリ使用量が非常に</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大きい</a:t>
            </a:r>
          </a:p>
        </p:txBody>
      </p:sp>
    </p:spTree>
    <p:extLst>
      <p:ext uri="{BB962C8B-B14F-4D97-AF65-F5344CB8AC3E}">
        <p14:creationId xmlns:p14="http://schemas.microsoft.com/office/powerpoint/2010/main" val="332516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EDECA7-057C-5DC3-BC94-2EAF3F218DC3}"/>
              </a:ext>
            </a:extLst>
          </p:cNvPr>
          <p:cNvSpPr>
            <a:spLocks noGrp="1"/>
          </p:cNvSpPr>
          <p:nvPr>
            <p:ph type="sldNum" sz="quarter" idx="12"/>
          </p:nvPr>
        </p:nvSpPr>
        <p:spPr/>
        <p:txBody>
          <a:bodyPr/>
          <a:lstStyle/>
          <a:p>
            <a:fld id="{BB44241B-2579-694C-B40C-A1E3D5F0E4EC}" type="slidenum">
              <a:rPr lang="en-JP" smtClean="0"/>
              <a:pPr/>
              <a:t>22</a:t>
            </a:fld>
            <a:endParaRPr lang="en-JP" dirty="0"/>
          </a:p>
        </p:txBody>
      </p:sp>
      <p:sp>
        <p:nvSpPr>
          <p:cNvPr id="6" name="TextBox 5">
            <a:extLst>
              <a:ext uri="{FF2B5EF4-FFF2-40B4-BE49-F238E27FC236}">
                <a16:creationId xmlns:a16="http://schemas.microsoft.com/office/drawing/2014/main" id="{D742ED94-551F-CD13-E18F-9854D5F998BB}"/>
              </a:ext>
            </a:extLst>
          </p:cNvPr>
          <p:cNvSpPr txBox="1"/>
          <p:nvPr/>
        </p:nvSpPr>
        <p:spPr>
          <a:xfrm>
            <a:off x="365757" y="372215"/>
            <a:ext cx="8804367" cy="1077218"/>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Damped Incremental Statistics</a:t>
            </a:r>
            <a:r>
              <a:rPr lang="ja-JP" altLang="en-US" sz="3200" b="1">
                <a:latin typeface="Meiryo" panose="020B0604030504040204" pitchFamily="34" charset="-128"/>
                <a:ea typeface="Meiryo" panose="020B0604030504040204" pitchFamily="34" charset="-128"/>
              </a:rPr>
              <a:t>の</a:t>
            </a:r>
            <a:endParaRPr lang="mn-MN" sz="3200" b="1" dirty="0">
              <a:latin typeface="Meiryo" panose="020B0604030504040204" pitchFamily="34" charset="-128"/>
              <a:ea typeface="Meiryo" panose="020B0604030504040204" pitchFamily="34" charset="-128"/>
            </a:endParaRPr>
          </a:p>
          <a:p>
            <a:r>
              <a:rPr lang="en-US" sz="3200" b="1" dirty="0">
                <a:latin typeface="Meiryo" panose="020B0604030504040204" pitchFamily="34" charset="-128"/>
                <a:ea typeface="Meiryo" panose="020B0604030504040204" pitchFamily="34" charset="-128"/>
              </a:rPr>
              <a:t>Decay Function – </a:t>
            </a:r>
            <a:r>
              <a:rPr lang="ja-JP" altLang="en-US" sz="3200" b="1">
                <a:latin typeface="Meiryo" panose="020B0604030504040204" pitchFamily="34" charset="-128"/>
                <a:ea typeface="Meiryo" panose="020B0604030504040204" pitchFamily="34" charset="-128"/>
              </a:rPr>
              <a:t>古いデータを減衰させる</a:t>
            </a:r>
            <a:endParaRPr lang="en-JP" sz="3200" b="1" dirty="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A3703D93-1464-6282-24A5-565AEDDB6574}"/>
              </a:ext>
            </a:extLst>
          </p:cNvPr>
          <p:cNvPicPr>
            <a:picLocks noChangeAspect="1"/>
          </p:cNvPicPr>
          <p:nvPr/>
        </p:nvPicPr>
        <p:blipFill>
          <a:blip r:embed="rId3"/>
          <a:stretch>
            <a:fillRect/>
          </a:stretch>
        </p:blipFill>
        <p:spPr>
          <a:xfrm>
            <a:off x="2413180" y="1516822"/>
            <a:ext cx="2044700" cy="1195864"/>
          </a:xfrm>
          <a:prstGeom prst="rect">
            <a:avLst/>
          </a:prstGeom>
        </p:spPr>
      </p:pic>
      <p:sp>
        <p:nvSpPr>
          <p:cNvPr id="9" name="TextBox 8">
            <a:extLst>
              <a:ext uri="{FF2B5EF4-FFF2-40B4-BE49-F238E27FC236}">
                <a16:creationId xmlns:a16="http://schemas.microsoft.com/office/drawing/2014/main" id="{6CCC828F-39D3-247C-4A30-2048FC8DB4C9}"/>
              </a:ext>
            </a:extLst>
          </p:cNvPr>
          <p:cNvSpPr txBox="1"/>
          <p:nvPr/>
        </p:nvSpPr>
        <p:spPr>
          <a:xfrm>
            <a:off x="692330" y="1951192"/>
            <a:ext cx="5486400" cy="461665"/>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Equation:</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D97BFBA6-3F58-1A4B-F272-C580D4C3F275}"/>
              </a:ext>
            </a:extLst>
          </p:cNvPr>
          <p:cNvSpPr txBox="1"/>
          <p:nvPr/>
        </p:nvSpPr>
        <p:spPr>
          <a:xfrm>
            <a:off x="5424668" y="1697023"/>
            <a:ext cx="5486400" cy="1015663"/>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Idea</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ネットワークトラフィックは急速に変化</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新しいデータを優先する</a:t>
            </a:r>
          </a:p>
        </p:txBody>
      </p:sp>
      <p:graphicFrame>
        <p:nvGraphicFramePr>
          <p:cNvPr id="12" name="Table 11">
            <a:extLst>
              <a:ext uri="{FF2B5EF4-FFF2-40B4-BE49-F238E27FC236}">
                <a16:creationId xmlns:a16="http://schemas.microsoft.com/office/drawing/2014/main" id="{3C2A9158-FC92-2A80-61E6-ED527264149A}"/>
              </a:ext>
            </a:extLst>
          </p:cNvPr>
          <p:cNvGraphicFramePr>
            <a:graphicFrameLocks noGrp="1"/>
          </p:cNvGraphicFramePr>
          <p:nvPr>
            <p:extLst>
              <p:ext uri="{D42A27DB-BD31-4B8C-83A1-F6EECF244321}">
                <p14:modId xmlns:p14="http://schemas.microsoft.com/office/powerpoint/2010/main" val="3651266595"/>
              </p:ext>
            </p:extLst>
          </p:nvPr>
        </p:nvGraphicFramePr>
        <p:xfrm>
          <a:off x="692330" y="2954896"/>
          <a:ext cx="9464676" cy="2133815"/>
        </p:xfrm>
        <a:graphic>
          <a:graphicData uri="http://schemas.openxmlformats.org/drawingml/2006/table">
            <a:tbl>
              <a:tblPr firstRow="1" firstCol="1" bandRow="1">
                <a:tableStyleId>{5C22544A-7EE6-4342-B048-85BDC9FD1C3A}</a:tableStyleId>
              </a:tblPr>
              <a:tblGrid>
                <a:gridCol w="2041388">
                  <a:extLst>
                    <a:ext uri="{9D8B030D-6E8A-4147-A177-3AD203B41FA5}">
                      <a16:colId xmlns:a16="http://schemas.microsoft.com/office/drawing/2014/main" val="3296651091"/>
                    </a:ext>
                  </a:extLst>
                </a:gridCol>
                <a:gridCol w="3654019">
                  <a:extLst>
                    <a:ext uri="{9D8B030D-6E8A-4147-A177-3AD203B41FA5}">
                      <a16:colId xmlns:a16="http://schemas.microsoft.com/office/drawing/2014/main" val="797663847"/>
                    </a:ext>
                  </a:extLst>
                </a:gridCol>
                <a:gridCol w="3769269">
                  <a:extLst>
                    <a:ext uri="{9D8B030D-6E8A-4147-A177-3AD203B41FA5}">
                      <a16:colId xmlns:a16="http://schemas.microsoft.com/office/drawing/2014/main" val="1153025432"/>
                    </a:ext>
                  </a:extLst>
                </a:gridCol>
              </a:tblGrid>
              <a:tr h="426763">
                <a:tc>
                  <a:txBody>
                    <a:bodyPr/>
                    <a:lstStyle/>
                    <a:p>
                      <a:pPr algn="ctr"/>
                      <a:r>
                        <a:rPr lang="ja-JP" sz="2000" b="1" kern="0">
                          <a:effectLst/>
                          <a:latin typeface="Meiryo" panose="020B0604030504040204" pitchFamily="34" charset="-128"/>
                          <a:ea typeface="Meiryo" panose="020B0604030504040204" pitchFamily="34" charset="-128"/>
                        </a:rPr>
                        <a:t>時間</a:t>
                      </a:r>
                      <a:r>
                        <a:rPr lang="en-JP" sz="2000" b="1" kern="0" dirty="0">
                          <a:effectLst/>
                          <a:latin typeface="Meiryo" panose="020B0604030504040204" pitchFamily="34" charset="-128"/>
                          <a:ea typeface="Meiryo" panose="020B0604030504040204" pitchFamily="34" charset="-128"/>
                        </a:rPr>
                        <a:t> (t)</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0">
                          <a:effectLst/>
                          <a:latin typeface="Meiryo" panose="020B0604030504040204" pitchFamily="34" charset="-128"/>
                          <a:ea typeface="Meiryo" panose="020B0604030504040204" pitchFamily="34" charset="-128"/>
                        </a:rPr>
                        <a:t>重み</a:t>
                      </a:r>
                      <a:r>
                        <a:rPr lang="en-JP" sz="2000" b="1" kern="0" dirty="0">
                          <a:effectLst/>
                          <a:latin typeface="Meiryo" panose="020B0604030504040204" pitchFamily="34" charset="-128"/>
                          <a:ea typeface="Meiryo" panose="020B0604030504040204" pitchFamily="34" charset="-128"/>
                        </a:rPr>
                        <a:t> (Weight)</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0">
                          <a:effectLst/>
                          <a:latin typeface="Meiryo" panose="020B0604030504040204" pitchFamily="34" charset="-128"/>
                          <a:ea typeface="Meiryo" panose="020B0604030504040204" pitchFamily="34" charset="-128"/>
                        </a:rPr>
                        <a:t>重要度</a:t>
                      </a:r>
                      <a:r>
                        <a:rPr lang="en-JP" sz="2000" b="1" kern="0">
                          <a:effectLst/>
                          <a:latin typeface="Meiryo" panose="020B0604030504040204" pitchFamily="34" charset="-128"/>
                          <a:ea typeface="Meiryo" panose="020B0604030504040204" pitchFamily="34" charset="-128"/>
                        </a:rPr>
                        <a:t> (%)</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515869063"/>
                  </a:ext>
                </a:extLst>
              </a:tr>
              <a:tr h="426763">
                <a:tc>
                  <a:txBody>
                    <a:bodyPr/>
                    <a:lstStyle/>
                    <a:p>
                      <a:pPr algn="ctr"/>
                      <a:r>
                        <a:rPr lang="ja-JP" sz="2000" b="1" kern="0">
                          <a:effectLst/>
                          <a:latin typeface="Meiryo" panose="020B0604030504040204" pitchFamily="34" charset="-128"/>
                          <a:ea typeface="Meiryo" panose="020B0604030504040204" pitchFamily="34" charset="-128"/>
                        </a:rPr>
                        <a:t>現在</a:t>
                      </a:r>
                      <a:r>
                        <a:rPr lang="en-JP" sz="2000" b="1" kern="0" dirty="0">
                          <a:effectLst/>
                          <a:latin typeface="Meiryo" panose="020B0604030504040204" pitchFamily="34" charset="-128"/>
                          <a:ea typeface="Meiryo" panose="020B0604030504040204" pitchFamily="34" charset="-128"/>
                        </a:rPr>
                        <a:t> (t=0)</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2^0 = 1.0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100%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5695741"/>
                  </a:ext>
                </a:extLst>
              </a:tr>
              <a:tr h="426763">
                <a:tc>
                  <a:txBody>
                    <a:bodyPr/>
                    <a:lstStyle/>
                    <a:p>
                      <a:pPr algn="ctr"/>
                      <a:r>
                        <a:rPr lang="en-JP" sz="2000" b="1" kern="0">
                          <a:effectLst/>
                          <a:latin typeface="Meiryo" panose="020B0604030504040204" pitchFamily="34" charset="-128"/>
                          <a:ea typeface="Meiryo" panose="020B0604030504040204" pitchFamily="34" charset="-128"/>
                        </a:rPr>
                        <a:t>1</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2^-1 = 0.5</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50%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189863648"/>
                  </a:ext>
                </a:extLst>
              </a:tr>
              <a:tr h="426763">
                <a:tc>
                  <a:txBody>
                    <a:bodyPr/>
                    <a:lstStyle/>
                    <a:p>
                      <a:pPr algn="ctr"/>
                      <a:r>
                        <a:rPr lang="en-JP" sz="2000" b="1" kern="0">
                          <a:effectLst/>
                          <a:latin typeface="Meiryo" panose="020B0604030504040204" pitchFamily="34" charset="-128"/>
                          <a:ea typeface="Meiryo" panose="020B0604030504040204" pitchFamily="34" charset="-128"/>
                        </a:rPr>
                        <a:t>2</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2^-2 = 0.25</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25%</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235653170"/>
                  </a:ext>
                </a:extLst>
              </a:tr>
              <a:tr h="426763">
                <a:tc>
                  <a:txBody>
                    <a:bodyPr/>
                    <a:lstStyle/>
                    <a:p>
                      <a:pPr algn="ctr"/>
                      <a:r>
                        <a:rPr lang="en-JP" sz="2000" b="1" kern="0">
                          <a:effectLst/>
                          <a:latin typeface="Meiryo" panose="020B0604030504040204" pitchFamily="34" charset="-128"/>
                          <a:ea typeface="Meiryo" panose="020B0604030504040204" pitchFamily="34" charset="-128"/>
                        </a:rPr>
                        <a:t>3</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2^-3 = 0.125</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12%</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43335948"/>
                  </a:ext>
                </a:extLst>
              </a:tr>
            </a:tbl>
          </a:graphicData>
        </a:graphic>
      </p:graphicFrame>
      <p:sp>
        <p:nvSpPr>
          <p:cNvPr id="16" name="TextBox 15">
            <a:extLst>
              <a:ext uri="{FF2B5EF4-FFF2-40B4-BE49-F238E27FC236}">
                <a16:creationId xmlns:a16="http://schemas.microsoft.com/office/drawing/2014/main" id="{27A4235B-D375-DDF8-D748-59CA3274528D}"/>
              </a:ext>
            </a:extLst>
          </p:cNvPr>
          <p:cNvSpPr txBox="1"/>
          <p:nvPr/>
        </p:nvSpPr>
        <p:spPr>
          <a:xfrm>
            <a:off x="692330" y="5431036"/>
            <a:ext cx="5486400" cy="707886"/>
          </a:xfrm>
          <a:prstGeom prst="rect">
            <a:avLst/>
          </a:prstGeom>
          <a:noFill/>
        </p:spPr>
        <p:txBody>
          <a:bodyPr wrap="square">
            <a:spAutoFit/>
          </a:bodyPr>
          <a:lstStyle/>
          <a:p>
            <a:r>
              <a:rPr lang="el-GR" sz="2000" b="1" dirty="0">
                <a:latin typeface="Meiryo" panose="020B0604030504040204" pitchFamily="34" charset="-128"/>
                <a:ea typeface="Meiryo" panose="020B0604030504040204" pitchFamily="34" charset="-128"/>
              </a:rPr>
              <a:t>α = </a:t>
            </a:r>
            <a:r>
              <a:rPr lang="en-US" sz="2000" b="1" dirty="0">
                <a:latin typeface="Meiryo" panose="020B0604030504040204" pitchFamily="34" charset="-128"/>
                <a:ea typeface="Meiryo" panose="020B0604030504040204" pitchFamily="34" charset="-128"/>
              </a:rPr>
              <a:t>Decay factor（</a:t>
            </a:r>
            <a:r>
              <a:rPr lang="ja-JP" altLang="en-US" sz="2000" b="1">
                <a:latin typeface="Meiryo" panose="020B0604030504040204" pitchFamily="34" charset="-128"/>
                <a:ea typeface="Meiryo" panose="020B0604030504040204" pitchFamily="34" charset="-128"/>
              </a:rPr>
              <a:t>減衰率</a:t>
            </a:r>
            <a:r>
              <a:rPr lang="ja-JP" altLang="en-US" sz="2000">
                <a:latin typeface="Meiryo" panose="020B0604030504040204" pitchFamily="34" charset="-128"/>
                <a:ea typeface="Meiryo" panose="020B0604030504040204" pitchFamily="34" charset="-128"/>
              </a:rPr>
              <a:t>）</a:t>
            </a:r>
          </a:p>
          <a:p>
            <a:r>
              <a:rPr lang="en-US" sz="2000" b="1" dirty="0">
                <a:latin typeface="Meiryo" panose="020B0604030504040204" pitchFamily="34" charset="-128"/>
                <a:ea typeface="Meiryo" panose="020B0604030504040204" pitchFamily="34" charset="-128"/>
              </a:rPr>
              <a:t>t = </a:t>
            </a:r>
            <a:r>
              <a:rPr lang="ja-JP" altLang="en-US" sz="2000" b="1">
                <a:latin typeface="Meiryo" panose="020B0604030504040204" pitchFamily="34" charset="-128"/>
                <a:ea typeface="Meiryo" panose="020B0604030504040204" pitchFamily="34" charset="-128"/>
              </a:rPr>
              <a:t>時間差</a:t>
            </a:r>
            <a:endParaRPr lang="ja-JP" altLang="en-US" sz="2000">
              <a:latin typeface="Meiryo" panose="020B0604030504040204" pitchFamily="34" charset="-128"/>
              <a:ea typeface="Meiryo" panose="020B0604030504040204" pitchFamily="34" charset="-128"/>
            </a:endParaRPr>
          </a:p>
        </p:txBody>
      </p:sp>
      <p:pic>
        <p:nvPicPr>
          <p:cNvPr id="17" name="Picture 16">
            <a:extLst>
              <a:ext uri="{FF2B5EF4-FFF2-40B4-BE49-F238E27FC236}">
                <a16:creationId xmlns:a16="http://schemas.microsoft.com/office/drawing/2014/main" id="{B9BDC86E-7151-C8C1-86FE-2A4090009010}"/>
              </a:ext>
            </a:extLst>
          </p:cNvPr>
          <p:cNvPicPr>
            <a:picLocks noChangeAspect="1"/>
          </p:cNvPicPr>
          <p:nvPr/>
        </p:nvPicPr>
        <p:blipFill>
          <a:blip r:embed="rId4"/>
          <a:stretch>
            <a:fillRect/>
          </a:stretch>
        </p:blipFill>
        <p:spPr>
          <a:xfrm>
            <a:off x="8940407" y="5627012"/>
            <a:ext cx="1216599" cy="1462308"/>
          </a:xfrm>
          <a:prstGeom prst="rect">
            <a:avLst/>
          </a:prstGeom>
        </p:spPr>
      </p:pic>
      <p:sp>
        <p:nvSpPr>
          <p:cNvPr id="18" name="Cloud Callout 17">
            <a:extLst>
              <a:ext uri="{FF2B5EF4-FFF2-40B4-BE49-F238E27FC236}">
                <a16:creationId xmlns:a16="http://schemas.microsoft.com/office/drawing/2014/main" id="{0025EC55-8947-BEBD-20A1-0F7E2BF5A7A8}"/>
              </a:ext>
            </a:extLst>
          </p:cNvPr>
          <p:cNvSpPr/>
          <p:nvPr/>
        </p:nvSpPr>
        <p:spPr>
          <a:xfrm>
            <a:off x="4666296" y="5627136"/>
            <a:ext cx="3024867" cy="2438636"/>
          </a:xfrm>
          <a:prstGeom prst="cloudCallout">
            <a:avLst>
              <a:gd name="adj1" fmla="val 81864"/>
              <a:gd name="adj2" fmla="val -29438"/>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solidFill>
                  <a:schemeClr val="tx1"/>
                </a:solidFill>
              </a:rPr>
              <a:t>Incremental Vector Array</a:t>
            </a:r>
            <a:r>
              <a:rPr lang="mn-MN" sz="2400" dirty="0">
                <a:solidFill>
                  <a:schemeClr val="tx1"/>
                </a:solidFill>
              </a:rPr>
              <a:t>(</a:t>
            </a:r>
            <a:r>
              <a:rPr lang="en-US" sz="2400" dirty="0">
                <a:solidFill>
                  <a:schemeClr val="tx1"/>
                </a:solidFill>
              </a:rPr>
              <a:t>IV</a:t>
            </a:r>
            <a:r>
              <a:rPr lang="ja-JP" altLang="en-US" sz="2400">
                <a:solidFill>
                  <a:schemeClr val="tx1"/>
                </a:solidFill>
              </a:rPr>
              <a:t>配列</a:t>
            </a:r>
            <a:r>
              <a:rPr lang="en-US" altLang="ja-JP" sz="2400" dirty="0">
                <a:solidFill>
                  <a:schemeClr val="tx1"/>
                </a:solidFill>
              </a:rPr>
              <a:t>)</a:t>
            </a:r>
            <a:r>
              <a:rPr lang="ja-JP" altLang="en-US" sz="2400">
                <a:solidFill>
                  <a:schemeClr val="tx1"/>
                </a:solidFill>
                <a:latin typeface="Meiryo" panose="020B0604030504040204" pitchFamily="34" charset="-128"/>
                <a:ea typeface="Meiryo" panose="020B0604030504040204" pitchFamily="34" charset="-128"/>
              </a:rPr>
              <a:t>何ですか？</a:t>
            </a:r>
            <a:endParaRPr lang="en-JP" sz="24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4794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095363-95F3-A2A0-DE81-2E55116C1136}"/>
              </a:ext>
            </a:extLst>
          </p:cNvPr>
          <p:cNvSpPr>
            <a:spLocks noGrp="1"/>
          </p:cNvSpPr>
          <p:nvPr>
            <p:ph type="sldNum" sz="quarter" idx="12"/>
          </p:nvPr>
        </p:nvSpPr>
        <p:spPr/>
        <p:txBody>
          <a:bodyPr/>
          <a:lstStyle/>
          <a:p>
            <a:fld id="{BB44241B-2579-694C-B40C-A1E3D5F0E4EC}" type="slidenum">
              <a:rPr lang="en-JP" smtClean="0"/>
              <a:pPr/>
              <a:t>23</a:t>
            </a:fld>
            <a:endParaRPr lang="en-JP" dirty="0"/>
          </a:p>
        </p:txBody>
      </p:sp>
      <p:sp>
        <p:nvSpPr>
          <p:cNvPr id="6" name="TextBox 5">
            <a:extLst>
              <a:ext uri="{FF2B5EF4-FFF2-40B4-BE49-F238E27FC236}">
                <a16:creationId xmlns:a16="http://schemas.microsoft.com/office/drawing/2014/main" id="{964F3112-678B-87F2-E498-202A8FBDE84C}"/>
              </a:ext>
            </a:extLst>
          </p:cNvPr>
          <p:cNvSpPr txBox="1"/>
          <p:nvPr/>
        </p:nvSpPr>
        <p:spPr>
          <a:xfrm>
            <a:off x="338498" y="141486"/>
            <a:ext cx="9601200" cy="1569660"/>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endParaRPr lang="mn-MN" altLang="ja-JP" sz="3200" b="1" dirty="0">
              <a:latin typeface="Meiryo" panose="020B0604030504040204" pitchFamily="34" charset="-128"/>
              <a:ea typeface="Meiryo" panose="020B0604030504040204" pitchFamily="34" charset="-128"/>
            </a:endParaRPr>
          </a:p>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IV</a:t>
            </a:r>
            <a:r>
              <a:rPr lang="ja-JP" altLang="en-US" sz="3200" b="1">
                <a:latin typeface="Meiryo" panose="020B0604030504040204" pitchFamily="34" charset="-128"/>
                <a:ea typeface="Meiryo" panose="020B0604030504040204" pitchFamily="34" charset="-128"/>
              </a:rPr>
              <a:t>配列 </a:t>
            </a:r>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保存する情報</a:t>
            </a:r>
            <a:endParaRPr lang="en-US" altLang="ja-JP" sz="3200" b="1" dirty="0">
              <a:latin typeface="Meiryo" panose="020B0604030504040204" pitchFamily="34" charset="-128"/>
              <a:ea typeface="Meiryo" panose="020B0604030504040204" pitchFamily="34" charset="-128"/>
            </a:endParaRPr>
          </a:p>
          <a:p>
            <a:r>
              <a:rPr lang="en-US" sz="3200" b="1" dirty="0">
                <a:latin typeface="Meiryo" panose="020B0604030504040204" pitchFamily="34" charset="-128"/>
                <a:ea typeface="Meiryo" panose="020B0604030504040204" pitchFamily="34" charset="-128"/>
                <a:cs typeface="Times New Roman" panose="02020603050405020304" pitchFamily="18" charset="0"/>
              </a:rPr>
              <a:t> </a:t>
            </a:r>
            <a:r>
              <a:rPr lang="en-US" sz="3200" dirty="0">
                <a:latin typeface="Meiryo" panose="020B0604030504040204" pitchFamily="34" charset="-128"/>
                <a:ea typeface="Meiryo" panose="020B0604030504040204" pitchFamily="34" charset="-128"/>
                <a:cs typeface="Times New Roman" panose="02020603050405020304" pitchFamily="18" charset="0"/>
              </a:rPr>
              <a:t>Information Stored per Feature</a:t>
            </a:r>
          </a:p>
        </p:txBody>
      </p:sp>
      <p:pic>
        <p:nvPicPr>
          <p:cNvPr id="7" name="Picture 6">
            <a:extLst>
              <a:ext uri="{FF2B5EF4-FFF2-40B4-BE49-F238E27FC236}">
                <a16:creationId xmlns:a16="http://schemas.microsoft.com/office/drawing/2014/main" id="{076D22F1-05A4-5BB3-80D6-B03FE889C892}"/>
              </a:ext>
            </a:extLst>
          </p:cNvPr>
          <p:cNvPicPr>
            <a:picLocks noChangeAspect="1"/>
          </p:cNvPicPr>
          <p:nvPr/>
        </p:nvPicPr>
        <p:blipFill>
          <a:blip r:embed="rId3"/>
          <a:stretch>
            <a:fillRect/>
          </a:stretch>
        </p:blipFill>
        <p:spPr>
          <a:xfrm>
            <a:off x="5941830" y="1630116"/>
            <a:ext cx="4051300" cy="939800"/>
          </a:xfrm>
          <a:prstGeom prst="rect">
            <a:avLst/>
          </a:prstGeom>
        </p:spPr>
      </p:pic>
      <p:sp>
        <p:nvSpPr>
          <p:cNvPr id="9" name="TextBox 8">
            <a:extLst>
              <a:ext uri="{FF2B5EF4-FFF2-40B4-BE49-F238E27FC236}">
                <a16:creationId xmlns:a16="http://schemas.microsoft.com/office/drawing/2014/main" id="{CFC67345-3B59-3D37-9661-B16A07CDE42D}"/>
              </a:ext>
            </a:extLst>
          </p:cNvPr>
          <p:cNvSpPr txBox="1"/>
          <p:nvPr/>
        </p:nvSpPr>
        <p:spPr>
          <a:xfrm>
            <a:off x="727347" y="2100016"/>
            <a:ext cx="3190603" cy="461665"/>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各特徴量の情報</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9B38A6C6-67E9-9CCD-5554-FC27C906BABF}"/>
              </a:ext>
            </a:extLst>
          </p:cNvPr>
          <p:cNvSpPr txBox="1"/>
          <p:nvPr/>
        </p:nvSpPr>
        <p:spPr>
          <a:xfrm>
            <a:off x="4104141" y="5407161"/>
            <a:ext cx="5486400" cy="1631216"/>
          </a:xfrm>
          <a:prstGeom prst="rect">
            <a:avLst/>
          </a:prstGeom>
          <a:noFill/>
        </p:spPr>
        <p:txBody>
          <a:bodyPr wrap="square">
            <a:spAutoFit/>
          </a:bodyPr>
          <a:lstStyle/>
          <a:p>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w = 1000 (1000</a:t>
            </a:r>
            <a:r>
              <a:rPr lang="ja-JP" altLang="en-US" sz="2000">
                <a:latin typeface="Meiryo" panose="020B0604030504040204" pitchFamily="34" charset="-128"/>
                <a:ea typeface="Meiryo" panose="020B0604030504040204" pitchFamily="34" charset="-128"/>
              </a:rPr>
              <a:t>パケット観測</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LSI = 50000 (</a:t>
            </a:r>
            <a:r>
              <a:rPr lang="ja-JP" altLang="en-US" sz="2000">
                <a:latin typeface="Meiryo" panose="020B0604030504040204" pitchFamily="34" charset="-128"/>
                <a:ea typeface="Meiryo" panose="020B0604030504040204" pitchFamily="34" charset="-128"/>
              </a:rPr>
              <a:t>合計バイト</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SSI = 3,000,000 (</a:t>
            </a:r>
            <a:r>
              <a:rPr lang="ja-JP" altLang="en-US" sz="2000">
                <a:latin typeface="Meiryo" panose="020B0604030504040204" pitchFamily="34" charset="-128"/>
                <a:ea typeface="Meiryo" panose="020B0604030504040204" pitchFamily="34" charset="-128"/>
              </a:rPr>
              <a:t>二乗和</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t_L = 12:34:56 (</a:t>
            </a:r>
            <a:r>
              <a:rPr lang="ja-JP" altLang="en-US" sz="2000">
                <a:latin typeface="Meiryo" panose="020B0604030504040204" pitchFamily="34" charset="-128"/>
                <a:ea typeface="Meiryo" panose="020B0604030504040204" pitchFamily="34" charset="-128"/>
              </a:rPr>
              <a:t>最後の更新時間</a:t>
            </a:r>
            <a:r>
              <a:rPr lang="en-US" altLang="ja-JP" sz="2000" dirty="0">
                <a:latin typeface="Meiryo" panose="020B0604030504040204" pitchFamily="34" charset="-128"/>
                <a:ea typeface="Meiryo" panose="020B0604030504040204" pitchFamily="34" charset="-128"/>
              </a:rPr>
              <a:t>)</a:t>
            </a:r>
          </a:p>
        </p:txBody>
      </p:sp>
      <p:graphicFrame>
        <p:nvGraphicFramePr>
          <p:cNvPr id="13" name="Table 12">
            <a:extLst>
              <a:ext uri="{FF2B5EF4-FFF2-40B4-BE49-F238E27FC236}">
                <a16:creationId xmlns:a16="http://schemas.microsoft.com/office/drawing/2014/main" id="{D147B9CD-F4CE-CAA1-B53C-7187D3F878AE}"/>
              </a:ext>
            </a:extLst>
          </p:cNvPr>
          <p:cNvGraphicFramePr>
            <a:graphicFrameLocks noGrp="1"/>
          </p:cNvGraphicFramePr>
          <p:nvPr>
            <p:extLst>
              <p:ext uri="{D42A27DB-BD31-4B8C-83A1-F6EECF244321}">
                <p14:modId xmlns:p14="http://schemas.microsoft.com/office/powerpoint/2010/main" val="190133262"/>
              </p:ext>
            </p:extLst>
          </p:nvPr>
        </p:nvGraphicFramePr>
        <p:xfrm>
          <a:off x="780779" y="2552563"/>
          <a:ext cx="9464674" cy="2663982"/>
        </p:xfrm>
        <a:graphic>
          <a:graphicData uri="http://schemas.openxmlformats.org/drawingml/2006/table">
            <a:tbl>
              <a:tblPr firstRow="1" firstCol="1" bandRow="1">
                <a:tableStyleId>{5C22544A-7EE6-4342-B048-85BDC9FD1C3A}</a:tableStyleId>
              </a:tblPr>
              <a:tblGrid>
                <a:gridCol w="1597251">
                  <a:extLst>
                    <a:ext uri="{9D8B030D-6E8A-4147-A177-3AD203B41FA5}">
                      <a16:colId xmlns:a16="http://schemas.microsoft.com/office/drawing/2014/main" val="4262175882"/>
                    </a:ext>
                  </a:extLst>
                </a:gridCol>
                <a:gridCol w="7867423">
                  <a:extLst>
                    <a:ext uri="{9D8B030D-6E8A-4147-A177-3AD203B41FA5}">
                      <a16:colId xmlns:a16="http://schemas.microsoft.com/office/drawing/2014/main" val="383615325"/>
                    </a:ext>
                  </a:extLst>
                </a:gridCol>
              </a:tblGrid>
              <a:tr h="443997">
                <a:tc>
                  <a:txBody>
                    <a:bodyPr/>
                    <a:lstStyle/>
                    <a:p>
                      <a:pPr algn="ctr"/>
                      <a:r>
                        <a:rPr lang="ja-JP" sz="2000" b="1" kern="100">
                          <a:effectLst/>
                          <a:latin typeface="Meiryo" panose="020B0604030504040204" pitchFamily="34" charset="-128"/>
                          <a:ea typeface="Meiryo" panose="020B0604030504040204" pitchFamily="34" charset="-128"/>
                        </a:rPr>
                        <a:t>項目</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100">
                          <a:effectLst/>
                          <a:latin typeface="Meiryo" panose="020B0604030504040204" pitchFamily="34" charset="-128"/>
                          <a:ea typeface="Meiryo" panose="020B0604030504040204" pitchFamily="34" charset="-128"/>
                        </a:rPr>
                        <a:t>意味</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745734023"/>
                  </a:ext>
                </a:extLst>
              </a:tr>
              <a:tr h="443997">
                <a:tc>
                  <a:txBody>
                    <a:bodyPr/>
                    <a:lstStyle/>
                    <a:p>
                      <a:r>
                        <a:rPr lang="en-JP" sz="2000" b="1" kern="100">
                          <a:effectLst/>
                          <a:latin typeface="Meiryo" panose="020B0604030504040204" pitchFamily="34" charset="-128"/>
                          <a:ea typeface="Meiryo" panose="020B0604030504040204" pitchFamily="34" charset="-128"/>
                        </a:rPr>
                        <a:t>w</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b="1" kern="100">
                          <a:effectLst/>
                          <a:latin typeface="Meiryo" panose="020B0604030504040204" pitchFamily="34" charset="-128"/>
                          <a:ea typeface="Meiryo" panose="020B0604030504040204" pitchFamily="34" charset="-128"/>
                        </a:rPr>
                        <a:t>重み</a:t>
                      </a:r>
                      <a:r>
                        <a:rPr lang="en-JP" sz="2000" b="1" kern="100" dirty="0">
                          <a:effectLst/>
                          <a:latin typeface="Meiryo" panose="020B0604030504040204" pitchFamily="34" charset="-128"/>
                          <a:ea typeface="Meiryo" panose="020B0604030504040204" pitchFamily="34" charset="-128"/>
                        </a:rPr>
                        <a:t> (Weight)</a:t>
                      </a:r>
                      <a:r>
                        <a:rPr lang="ja-JP" sz="2000" b="1" kern="100">
                          <a:effectLst/>
                          <a:latin typeface="Meiryo" panose="020B0604030504040204" pitchFamily="34" charset="-128"/>
                          <a:ea typeface="Meiryo" panose="020B0604030504040204" pitchFamily="34" charset="-128"/>
                        </a:rPr>
                        <a:t>、観測</a:t>
                      </a:r>
                      <a:r>
                        <a:rPr lang="en-US" altLang="ja-JP" sz="2000" b="1" kern="100" dirty="0">
                          <a:effectLst/>
                          <a:latin typeface="Meiryo" panose="020B0604030504040204" pitchFamily="34" charset="-128"/>
                          <a:ea typeface="Meiryo" panose="020B0604030504040204" pitchFamily="34" charset="-128"/>
                        </a:rPr>
                        <a:t>number</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48241392"/>
                  </a:ext>
                </a:extLst>
              </a:tr>
              <a:tr h="443997">
                <a:tc>
                  <a:txBody>
                    <a:bodyPr/>
                    <a:lstStyle/>
                    <a:p>
                      <a:r>
                        <a:rPr lang="en-JP" sz="2000" b="1" kern="100">
                          <a:effectLst/>
                          <a:latin typeface="Meiryo" panose="020B0604030504040204" pitchFamily="34" charset="-128"/>
                          <a:ea typeface="Meiryo" panose="020B0604030504040204" pitchFamily="34" charset="-128"/>
                        </a:rPr>
                        <a:t>LSI</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a:effectLst/>
                          <a:latin typeface="Meiryo" panose="020B0604030504040204" pitchFamily="34" charset="-128"/>
                          <a:ea typeface="Meiryo" panose="020B0604030504040204" pitchFamily="34" charset="-128"/>
                        </a:rPr>
                        <a:t>Linear Sum of Instances</a:t>
                      </a:r>
                      <a:r>
                        <a:rPr lang="ja-JP" sz="2000" b="1" kern="100">
                          <a:effectLst/>
                          <a:latin typeface="Meiryo" panose="020B0604030504040204" pitchFamily="34" charset="-128"/>
                          <a:ea typeface="Meiryo" panose="020B0604030504040204" pitchFamily="34" charset="-128"/>
                        </a:rPr>
                        <a:t>、値の合計</a:t>
                      </a:r>
                      <a:r>
                        <a:rPr lang="en-JP" sz="2000" b="1" kern="100">
                          <a:effectLst/>
                          <a:latin typeface="Meiryo" panose="020B0604030504040204" pitchFamily="34" charset="-128"/>
                          <a:ea typeface="Meiryo" panose="020B0604030504040204" pitchFamily="34" charset="-128"/>
                        </a:rPr>
                        <a:t> (Σx)</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951785440"/>
                  </a:ext>
                </a:extLst>
              </a:tr>
              <a:tr h="443997">
                <a:tc>
                  <a:txBody>
                    <a:bodyPr/>
                    <a:lstStyle/>
                    <a:p>
                      <a:r>
                        <a:rPr lang="en-JP" sz="2000" b="1" kern="100">
                          <a:effectLst/>
                          <a:latin typeface="Meiryo" panose="020B0604030504040204" pitchFamily="34" charset="-128"/>
                          <a:ea typeface="Meiryo" panose="020B0604030504040204" pitchFamily="34" charset="-128"/>
                        </a:rPr>
                        <a:t>SSI</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dirty="0">
                          <a:effectLst/>
                          <a:latin typeface="Meiryo" panose="020B0604030504040204" pitchFamily="34" charset="-128"/>
                          <a:ea typeface="Meiryo" panose="020B0604030504040204" pitchFamily="34" charset="-128"/>
                        </a:rPr>
                        <a:t>Squared Sum of Instances</a:t>
                      </a:r>
                      <a:r>
                        <a:rPr lang="ja-JP" sz="2000" b="1" kern="100">
                          <a:effectLst/>
                          <a:latin typeface="Meiryo" panose="020B0604030504040204" pitchFamily="34" charset="-128"/>
                          <a:ea typeface="Meiryo" panose="020B0604030504040204" pitchFamily="34" charset="-128"/>
                        </a:rPr>
                        <a:t>、値の二乗和</a:t>
                      </a:r>
                      <a:r>
                        <a:rPr lang="en-JP" sz="2000" b="1" kern="100" dirty="0">
                          <a:effectLst/>
                          <a:latin typeface="Meiryo" panose="020B0604030504040204" pitchFamily="34" charset="-128"/>
                          <a:ea typeface="Meiryo" panose="020B0604030504040204" pitchFamily="34" charset="-128"/>
                        </a:rPr>
                        <a:t> (Σx²)</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982209296"/>
                  </a:ext>
                </a:extLst>
              </a:tr>
              <a:tr h="443997">
                <a:tc>
                  <a:txBody>
                    <a:bodyPr/>
                    <a:lstStyle/>
                    <a:p>
                      <a:r>
                        <a:rPr lang="en-JP" sz="2000" b="1" kern="100">
                          <a:effectLst/>
                          <a:latin typeface="Meiryo" panose="020B0604030504040204" pitchFamily="34" charset="-128"/>
                          <a:ea typeface="Meiryo" panose="020B0604030504040204" pitchFamily="34" charset="-128"/>
                        </a:rPr>
                        <a:t>SR_ij</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a:effectLst/>
                          <a:latin typeface="Meiryo" panose="020B0604030504040204" pitchFamily="34" charset="-128"/>
                          <a:ea typeface="Meiryo" panose="020B0604030504040204" pitchFamily="34" charset="-128"/>
                        </a:rPr>
                        <a:t>Sum of Residual products</a:t>
                      </a:r>
                      <a:r>
                        <a:rPr lang="ja-JP" sz="2000" b="1" kern="100">
                          <a:effectLst/>
                          <a:latin typeface="Meiryo" panose="020B0604030504040204" pitchFamily="34" charset="-128"/>
                          <a:ea typeface="Meiryo" panose="020B0604030504040204" pitchFamily="34" charset="-128"/>
                        </a:rPr>
                        <a:t>、相関計算</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111552677"/>
                  </a:ext>
                </a:extLst>
              </a:tr>
              <a:tr h="443997">
                <a:tc>
                  <a:txBody>
                    <a:bodyPr/>
                    <a:lstStyle/>
                    <a:p>
                      <a:r>
                        <a:rPr lang="en-JP" sz="2000" b="1" kern="100" dirty="0">
                          <a:effectLst/>
                          <a:latin typeface="Meiryo" panose="020B0604030504040204" pitchFamily="34" charset="-128"/>
                          <a:ea typeface="Meiryo" panose="020B0604030504040204" pitchFamily="34" charset="-128"/>
                        </a:rPr>
                        <a:t>t_L</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b="1" kern="100">
                          <a:effectLst/>
                          <a:latin typeface="Meiryo" panose="020B0604030504040204" pitchFamily="34" charset="-128"/>
                          <a:ea typeface="Meiryo" panose="020B0604030504040204" pitchFamily="34" charset="-128"/>
                        </a:rPr>
                        <a:t>最後に更新した時刻</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4242474106"/>
                  </a:ext>
                </a:extLst>
              </a:tr>
            </a:tbl>
          </a:graphicData>
        </a:graphic>
      </p:graphicFrame>
      <p:sp>
        <p:nvSpPr>
          <p:cNvPr id="15" name="TextBox 14">
            <a:extLst>
              <a:ext uri="{FF2B5EF4-FFF2-40B4-BE49-F238E27FC236}">
                <a16:creationId xmlns:a16="http://schemas.microsoft.com/office/drawing/2014/main" id="{18BCC6E9-421F-3271-ADC7-640765AADBDB}"/>
              </a:ext>
            </a:extLst>
          </p:cNvPr>
          <p:cNvSpPr txBox="1"/>
          <p:nvPr/>
        </p:nvSpPr>
        <p:spPr>
          <a:xfrm>
            <a:off x="1174750" y="6222028"/>
            <a:ext cx="548640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パケットサイズ特徴量</a:t>
            </a:r>
          </a:p>
        </p:txBody>
      </p:sp>
    </p:spTree>
    <p:extLst>
      <p:ext uri="{BB962C8B-B14F-4D97-AF65-F5344CB8AC3E}">
        <p14:creationId xmlns:p14="http://schemas.microsoft.com/office/powerpoint/2010/main" val="986914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9675-A520-016D-C8FE-2BCEC8BCA5AA}"/>
              </a:ext>
            </a:extLst>
          </p:cNvPr>
          <p:cNvSpPr>
            <a:spLocks noGrp="1"/>
          </p:cNvSpPr>
          <p:nvPr>
            <p:ph type="title"/>
          </p:nvPr>
        </p:nvSpPr>
        <p:spPr>
          <a:xfrm>
            <a:off x="493123" y="163828"/>
            <a:ext cx="9464040" cy="828945"/>
          </a:xfrm>
        </p:spPr>
        <p:txBody>
          <a:bodyPr>
            <a:normAutofit fontScale="90000"/>
          </a:bodyPr>
          <a:lstStyle/>
          <a:p>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br>
              <a:rPr lang="mn-MN" altLang="ja-JP" sz="3200" b="1" dirty="0">
                <a:latin typeface="Meiryo" panose="020B0604030504040204" pitchFamily="34" charset="-128"/>
                <a:ea typeface="Meiryo" panose="020B0604030504040204" pitchFamily="34" charset="-128"/>
              </a:rPr>
            </a:br>
            <a:r>
              <a:rPr lang="ja-JP" altLang="en-US" sz="3200" b="1">
                <a:latin typeface="Meiryo" panose="020B0604030504040204" pitchFamily="34" charset="-128"/>
                <a:ea typeface="Meiryo" panose="020B0604030504040204" pitchFamily="34" charset="-128"/>
              </a:rPr>
              <a:t>アルゴリズム</a:t>
            </a:r>
            <a:r>
              <a:rPr lang="en-US" altLang="ja-JP" sz="3200" b="1" dirty="0">
                <a:latin typeface="Meiryo" panose="020B0604030504040204" pitchFamily="34" charset="-128"/>
                <a:ea typeface="Meiryo" panose="020B0604030504040204" pitchFamily="34" charset="-128"/>
              </a:rPr>
              <a:t>1 – </a:t>
            </a:r>
            <a:r>
              <a:rPr lang="en-US" sz="3200" b="1" dirty="0">
                <a:latin typeface="Meiryo" panose="020B0604030504040204" pitchFamily="34" charset="-128"/>
                <a:ea typeface="Meiryo" panose="020B0604030504040204" pitchFamily="34" charset="-128"/>
              </a:rPr>
              <a:t>IV_{i,</a:t>
            </a:r>
            <a:r>
              <a:rPr lang="el-GR" sz="3200" b="1" dirty="0">
                <a:latin typeface="Meiryo" panose="020B0604030504040204" pitchFamily="34" charset="-128"/>
                <a:ea typeface="Meiryo" panose="020B0604030504040204" pitchFamily="34" charset="-128"/>
              </a:rPr>
              <a:t>α} </a:t>
            </a:r>
            <a:r>
              <a:rPr lang="ja-JP" altLang="en-US" sz="3200" b="1">
                <a:latin typeface="Meiryo" panose="020B0604030504040204" pitchFamily="34" charset="-128"/>
                <a:ea typeface="Meiryo" panose="020B0604030504040204" pitchFamily="34" charset="-128"/>
              </a:rPr>
              <a:t>の更新手順</a:t>
            </a:r>
            <a:endParaRPr lang="en-JP" sz="32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A872EB97-58C3-56B8-283E-04D4A3A7D9D4}"/>
              </a:ext>
            </a:extLst>
          </p:cNvPr>
          <p:cNvSpPr>
            <a:spLocks noGrp="1"/>
          </p:cNvSpPr>
          <p:nvPr>
            <p:ph type="sldNum" sz="quarter" idx="12"/>
          </p:nvPr>
        </p:nvSpPr>
        <p:spPr/>
        <p:txBody>
          <a:bodyPr/>
          <a:lstStyle/>
          <a:p>
            <a:fld id="{BB44241B-2579-694C-B40C-A1E3D5F0E4EC}" type="slidenum">
              <a:rPr lang="en-JP" smtClean="0"/>
              <a:pPr/>
              <a:t>24</a:t>
            </a:fld>
            <a:endParaRPr lang="en-JP" dirty="0"/>
          </a:p>
        </p:txBody>
      </p:sp>
      <p:sp>
        <p:nvSpPr>
          <p:cNvPr id="6" name="TextBox 5">
            <a:extLst>
              <a:ext uri="{FF2B5EF4-FFF2-40B4-BE49-F238E27FC236}">
                <a16:creationId xmlns:a16="http://schemas.microsoft.com/office/drawing/2014/main" id="{2B26D740-D211-0962-424F-471C53EBABFA}"/>
              </a:ext>
            </a:extLst>
          </p:cNvPr>
          <p:cNvSpPr txBox="1"/>
          <p:nvPr/>
        </p:nvSpPr>
        <p:spPr>
          <a:xfrm>
            <a:off x="514714" y="1019950"/>
            <a:ext cx="5486400"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Algorithm 1: Update IV_{i,</a:t>
            </a:r>
            <a:r>
              <a:rPr lang="el-GR" dirty="0">
                <a:latin typeface="Meiryo" panose="020B0604030504040204" pitchFamily="34" charset="-128"/>
                <a:ea typeface="Meiryo" panose="020B0604030504040204" pitchFamily="34" charset="-128"/>
              </a:rPr>
              <a:t>α}</a:t>
            </a:r>
            <a:endParaRPr lang="en-JP" dirty="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2982DC18-D2F2-C999-B80E-494408CA8969}"/>
              </a:ext>
            </a:extLst>
          </p:cNvPr>
          <p:cNvPicPr>
            <a:picLocks noChangeAspect="1"/>
          </p:cNvPicPr>
          <p:nvPr/>
        </p:nvPicPr>
        <p:blipFill>
          <a:blip r:embed="rId3"/>
          <a:stretch>
            <a:fillRect/>
          </a:stretch>
        </p:blipFill>
        <p:spPr>
          <a:xfrm>
            <a:off x="1706153" y="1618802"/>
            <a:ext cx="2852783" cy="1028700"/>
          </a:xfrm>
          <a:prstGeom prst="rect">
            <a:avLst/>
          </a:prstGeom>
        </p:spPr>
      </p:pic>
      <p:sp>
        <p:nvSpPr>
          <p:cNvPr id="8" name="TextBox 7">
            <a:extLst>
              <a:ext uri="{FF2B5EF4-FFF2-40B4-BE49-F238E27FC236}">
                <a16:creationId xmlns:a16="http://schemas.microsoft.com/office/drawing/2014/main" id="{2C443890-4CF5-F845-7A86-19BF46ACF5E8}"/>
              </a:ext>
            </a:extLst>
          </p:cNvPr>
          <p:cNvSpPr txBox="1"/>
          <p:nvPr/>
        </p:nvSpPr>
        <p:spPr>
          <a:xfrm>
            <a:off x="627017" y="1883581"/>
            <a:ext cx="781689" cy="646331"/>
          </a:xfrm>
          <a:prstGeom prst="rect">
            <a:avLst/>
          </a:prstGeom>
          <a:noFill/>
        </p:spPr>
        <p:txBody>
          <a:bodyPr wrap="none" rtlCol="0">
            <a:spAutoFit/>
          </a:bodyPr>
          <a:lstStyle/>
          <a:p>
            <a:r>
              <a:rPr lang="en-US" dirty="0"/>
              <a:t>Step1:</a:t>
            </a:r>
          </a:p>
          <a:p>
            <a:endParaRPr lang="en-JP" dirty="0"/>
          </a:p>
        </p:txBody>
      </p:sp>
      <p:sp>
        <p:nvSpPr>
          <p:cNvPr id="10" name="TextBox 9">
            <a:extLst>
              <a:ext uri="{FF2B5EF4-FFF2-40B4-BE49-F238E27FC236}">
                <a16:creationId xmlns:a16="http://schemas.microsoft.com/office/drawing/2014/main" id="{A542545E-EBCF-B38A-E9F7-2CFA8B0D2271}"/>
              </a:ext>
            </a:extLst>
          </p:cNvPr>
          <p:cNvSpPr txBox="1"/>
          <p:nvPr/>
        </p:nvSpPr>
        <p:spPr>
          <a:xfrm>
            <a:off x="914399" y="2626528"/>
            <a:ext cx="5486400"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Meiryo" panose="020B0604030504040204" pitchFamily="34" charset="-128"/>
                <a:ea typeface="Meiryo" panose="020B0604030504040204" pitchFamily="34" charset="-128"/>
              </a:rPr>
              <a:t>Decay factor </a:t>
            </a:r>
            <a:r>
              <a:rPr lang="ja-JP" altLang="en-US">
                <a:latin typeface="Meiryo" panose="020B0604030504040204" pitchFamily="34" charset="-128"/>
                <a:ea typeface="Meiryo" panose="020B0604030504040204" pitchFamily="34" charset="-128"/>
              </a:rPr>
              <a:t>を計算</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古いデータの重みを減衰</a:t>
            </a:r>
          </a:p>
        </p:txBody>
      </p:sp>
      <p:sp>
        <p:nvSpPr>
          <p:cNvPr id="12" name="TextBox 11">
            <a:extLst>
              <a:ext uri="{FF2B5EF4-FFF2-40B4-BE49-F238E27FC236}">
                <a16:creationId xmlns:a16="http://schemas.microsoft.com/office/drawing/2014/main" id="{F9AB8B8F-4EB7-6AA3-DF31-293CF424215F}"/>
              </a:ext>
            </a:extLst>
          </p:cNvPr>
          <p:cNvSpPr txBox="1"/>
          <p:nvPr/>
        </p:nvSpPr>
        <p:spPr>
          <a:xfrm>
            <a:off x="5342709" y="1856367"/>
            <a:ext cx="5486400" cy="369332"/>
          </a:xfrm>
          <a:prstGeom prst="rect">
            <a:avLst/>
          </a:prstGeom>
          <a:noFill/>
        </p:spPr>
        <p:txBody>
          <a:bodyPr wrap="square">
            <a:spAutoFit/>
          </a:bodyPr>
          <a:lstStyle/>
          <a:p>
            <a:r>
              <a:rPr lang="en-US" dirty="0"/>
              <a:t>Step2:</a:t>
            </a:r>
            <a:endParaRPr lang="en-JP" dirty="0"/>
          </a:p>
        </p:txBody>
      </p:sp>
      <p:pic>
        <p:nvPicPr>
          <p:cNvPr id="13" name="Picture 12">
            <a:extLst>
              <a:ext uri="{FF2B5EF4-FFF2-40B4-BE49-F238E27FC236}">
                <a16:creationId xmlns:a16="http://schemas.microsoft.com/office/drawing/2014/main" id="{DE4D5331-12EC-1784-AA42-66EBAFF63ED8}"/>
              </a:ext>
            </a:extLst>
          </p:cNvPr>
          <p:cNvPicPr>
            <a:picLocks noChangeAspect="1"/>
          </p:cNvPicPr>
          <p:nvPr/>
        </p:nvPicPr>
        <p:blipFill>
          <a:blip r:embed="rId4"/>
          <a:stretch>
            <a:fillRect/>
          </a:stretch>
        </p:blipFill>
        <p:spPr>
          <a:xfrm>
            <a:off x="6100355" y="1425564"/>
            <a:ext cx="4838700" cy="1104900"/>
          </a:xfrm>
          <a:prstGeom prst="rect">
            <a:avLst/>
          </a:prstGeom>
        </p:spPr>
      </p:pic>
      <p:sp>
        <p:nvSpPr>
          <p:cNvPr id="16" name="TextBox 15">
            <a:extLst>
              <a:ext uri="{FF2B5EF4-FFF2-40B4-BE49-F238E27FC236}">
                <a16:creationId xmlns:a16="http://schemas.microsoft.com/office/drawing/2014/main" id="{CF976A26-D510-02BF-58AF-207B4AB723C9}"/>
              </a:ext>
            </a:extLst>
          </p:cNvPr>
          <p:cNvSpPr txBox="1"/>
          <p:nvPr/>
        </p:nvSpPr>
        <p:spPr>
          <a:xfrm>
            <a:off x="6523447" y="2444727"/>
            <a:ext cx="5486400" cy="707886"/>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古い値に </a:t>
            </a:r>
            <a:r>
              <a:rPr lang="en-US" sz="2000" dirty="0">
                <a:latin typeface="Meiryo" panose="020B0604030504040204" pitchFamily="34" charset="-128"/>
                <a:ea typeface="Meiryo" panose="020B0604030504040204" pitchFamily="34" charset="-128"/>
              </a:rPr>
              <a:t>decay </a:t>
            </a:r>
            <a:r>
              <a:rPr lang="ja-JP" altLang="en-US" sz="2000">
                <a:latin typeface="Meiryo" panose="020B0604030504040204" pitchFamily="34" charset="-128"/>
                <a:ea typeface="Meiryo" panose="020B0604030504040204" pitchFamily="34" charset="-128"/>
              </a:rPr>
              <a:t>を適用</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時刻を更新</a:t>
            </a:r>
          </a:p>
        </p:txBody>
      </p:sp>
      <p:sp>
        <p:nvSpPr>
          <p:cNvPr id="18" name="TextBox 17">
            <a:extLst>
              <a:ext uri="{FF2B5EF4-FFF2-40B4-BE49-F238E27FC236}">
                <a16:creationId xmlns:a16="http://schemas.microsoft.com/office/drawing/2014/main" id="{9E5E5D7E-62E3-98D9-9977-F4400A1DECF5}"/>
              </a:ext>
            </a:extLst>
          </p:cNvPr>
          <p:cNvSpPr txBox="1"/>
          <p:nvPr/>
        </p:nvSpPr>
        <p:spPr>
          <a:xfrm>
            <a:off x="627017" y="3797748"/>
            <a:ext cx="6061164" cy="646331"/>
          </a:xfrm>
          <a:prstGeom prst="rect">
            <a:avLst/>
          </a:prstGeom>
          <a:noFill/>
        </p:spPr>
        <p:txBody>
          <a:bodyPr wrap="square">
            <a:spAutoFit/>
          </a:bodyPr>
          <a:lstStyle/>
          <a:p>
            <a:r>
              <a:rPr lang="en-US" dirty="0"/>
              <a:t>Step3:</a:t>
            </a:r>
          </a:p>
          <a:p>
            <a:endParaRPr lang="en-JP" dirty="0"/>
          </a:p>
        </p:txBody>
      </p:sp>
      <p:pic>
        <p:nvPicPr>
          <p:cNvPr id="19" name="Picture 18">
            <a:extLst>
              <a:ext uri="{FF2B5EF4-FFF2-40B4-BE49-F238E27FC236}">
                <a16:creationId xmlns:a16="http://schemas.microsoft.com/office/drawing/2014/main" id="{E9233FA1-363A-9235-D90D-98FCD8F6A02F}"/>
              </a:ext>
            </a:extLst>
          </p:cNvPr>
          <p:cNvPicPr>
            <a:picLocks noChangeAspect="1"/>
          </p:cNvPicPr>
          <p:nvPr/>
        </p:nvPicPr>
        <p:blipFill>
          <a:blip r:embed="rId5"/>
          <a:stretch>
            <a:fillRect/>
          </a:stretch>
        </p:blipFill>
        <p:spPr>
          <a:xfrm>
            <a:off x="1460957" y="3388786"/>
            <a:ext cx="6990712" cy="1165779"/>
          </a:xfrm>
          <a:prstGeom prst="rect">
            <a:avLst/>
          </a:prstGeom>
        </p:spPr>
      </p:pic>
      <p:sp>
        <p:nvSpPr>
          <p:cNvPr id="21" name="TextBox 20">
            <a:extLst>
              <a:ext uri="{FF2B5EF4-FFF2-40B4-BE49-F238E27FC236}">
                <a16:creationId xmlns:a16="http://schemas.microsoft.com/office/drawing/2014/main" id="{7B9D9C72-771D-966D-BF61-8755E0312B7A}"/>
              </a:ext>
            </a:extLst>
          </p:cNvPr>
          <p:cNvSpPr txBox="1"/>
          <p:nvPr/>
        </p:nvSpPr>
        <p:spPr>
          <a:xfrm>
            <a:off x="1528354" y="4685555"/>
            <a:ext cx="6061164" cy="1323439"/>
          </a:xfrm>
          <a:prstGeom prst="rect">
            <a:avLst/>
          </a:prstGeom>
          <a:noFill/>
        </p:spPr>
        <p:txBody>
          <a:bodyPr wrap="square">
            <a:spAutoFit/>
          </a:bodyPr>
          <a:lstStyle/>
          <a:p>
            <a:pPr marL="342900" indent="-34290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新しい値を加算</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w: +1（</a:t>
            </a:r>
            <a:r>
              <a:rPr lang="ja-JP" altLang="en-US" sz="2000">
                <a:latin typeface="Meiryo" panose="020B0604030504040204" pitchFamily="34" charset="-128"/>
                <a:ea typeface="Meiryo" panose="020B0604030504040204" pitchFamily="34" charset="-128"/>
              </a:rPr>
              <a:t>観測回数を増やす）</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LSI: +xC（</a:t>
            </a:r>
            <a:r>
              <a:rPr lang="ja-JP" altLang="en-US" sz="2000">
                <a:latin typeface="Meiryo" panose="020B0604030504040204" pitchFamily="34" charset="-128"/>
                <a:ea typeface="Meiryo" panose="020B0604030504040204" pitchFamily="34" charset="-128"/>
              </a:rPr>
              <a:t>新しい値を加算）</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SSI: +x_C²（</a:t>
            </a:r>
            <a:r>
              <a:rPr lang="ja-JP" altLang="en-US" sz="2000">
                <a:latin typeface="Meiryo" panose="020B0604030504040204" pitchFamily="34" charset="-128"/>
                <a:ea typeface="Meiryo" panose="020B0604030504040204" pitchFamily="34" charset="-128"/>
              </a:rPr>
              <a:t>平方を加算）</a:t>
            </a:r>
          </a:p>
        </p:txBody>
      </p:sp>
      <p:sp>
        <p:nvSpPr>
          <p:cNvPr id="23" name="TextBox 22">
            <a:extLst>
              <a:ext uri="{FF2B5EF4-FFF2-40B4-BE49-F238E27FC236}">
                <a16:creationId xmlns:a16="http://schemas.microsoft.com/office/drawing/2014/main" id="{DA6FC99B-4407-6202-E35D-C17A231C6505}"/>
              </a:ext>
            </a:extLst>
          </p:cNvPr>
          <p:cNvSpPr txBox="1"/>
          <p:nvPr/>
        </p:nvSpPr>
        <p:spPr>
          <a:xfrm>
            <a:off x="709479" y="6634759"/>
            <a:ext cx="6061164" cy="369332"/>
          </a:xfrm>
          <a:prstGeom prst="rect">
            <a:avLst/>
          </a:prstGeom>
          <a:noFill/>
        </p:spPr>
        <p:txBody>
          <a:bodyPr wrap="square">
            <a:spAutoFit/>
          </a:bodyPr>
          <a:lstStyle/>
          <a:p>
            <a:r>
              <a:rPr lang="en-US" dirty="0"/>
              <a:t>Step4:</a:t>
            </a:r>
          </a:p>
        </p:txBody>
      </p:sp>
      <p:pic>
        <p:nvPicPr>
          <p:cNvPr id="24" name="Picture 23">
            <a:extLst>
              <a:ext uri="{FF2B5EF4-FFF2-40B4-BE49-F238E27FC236}">
                <a16:creationId xmlns:a16="http://schemas.microsoft.com/office/drawing/2014/main" id="{8A88B8A0-1783-BA77-02C4-B2AB72066168}"/>
              </a:ext>
            </a:extLst>
          </p:cNvPr>
          <p:cNvPicPr>
            <a:picLocks noChangeAspect="1"/>
          </p:cNvPicPr>
          <p:nvPr/>
        </p:nvPicPr>
        <p:blipFill>
          <a:blip r:embed="rId6"/>
          <a:stretch>
            <a:fillRect/>
          </a:stretch>
        </p:blipFill>
        <p:spPr>
          <a:xfrm>
            <a:off x="1555205" y="6392355"/>
            <a:ext cx="1968500" cy="1069472"/>
          </a:xfrm>
          <a:prstGeom prst="rect">
            <a:avLst/>
          </a:prstGeom>
        </p:spPr>
      </p:pic>
      <p:sp>
        <p:nvSpPr>
          <p:cNvPr id="26" name="TextBox 25">
            <a:extLst>
              <a:ext uri="{FF2B5EF4-FFF2-40B4-BE49-F238E27FC236}">
                <a16:creationId xmlns:a16="http://schemas.microsoft.com/office/drawing/2014/main" id="{D2E86777-3C42-9731-FBCF-40788602E050}"/>
              </a:ext>
            </a:extLst>
          </p:cNvPr>
          <p:cNvSpPr txBox="1"/>
          <p:nvPr/>
        </p:nvSpPr>
        <p:spPr>
          <a:xfrm>
            <a:off x="3956417" y="6603981"/>
            <a:ext cx="6061164" cy="400110"/>
          </a:xfrm>
          <a:prstGeom prst="rect">
            <a:avLst/>
          </a:prstGeom>
          <a:noFill/>
        </p:spPr>
        <p:txBody>
          <a:bodyPr wrap="square">
            <a:spAutoFit/>
          </a:bodyPr>
          <a:lstStyle/>
          <a:p>
            <a:pPr marL="342900" indent="-34290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更新済み </a:t>
            </a:r>
            <a:r>
              <a:rPr lang="en-US" sz="2000" dirty="0">
                <a:latin typeface="Meiryo" panose="020B0604030504040204" pitchFamily="34" charset="-128"/>
                <a:ea typeface="Meiryo" panose="020B0604030504040204" pitchFamily="34" charset="-128"/>
              </a:rPr>
              <a:t>IV </a:t>
            </a:r>
            <a:r>
              <a:rPr lang="ja-JP" altLang="en-US" sz="2000">
                <a:latin typeface="Meiryo" panose="020B0604030504040204" pitchFamily="34" charset="-128"/>
                <a:ea typeface="Meiryo" panose="020B0604030504040204" pitchFamily="34" charset="-128"/>
              </a:rPr>
              <a:t>配列を返す</a:t>
            </a:r>
            <a:endParaRPr lang="en-JP" sz="2000" dirty="0">
              <a:latin typeface="Meiryo" panose="020B0604030504040204" pitchFamily="34" charset="-128"/>
              <a:ea typeface="Meiryo" panose="020B0604030504040204" pitchFamily="34" charset="-128"/>
            </a:endParaRPr>
          </a:p>
        </p:txBody>
      </p:sp>
      <p:sp>
        <p:nvSpPr>
          <p:cNvPr id="27" name="正方形/長方形 9">
            <a:extLst>
              <a:ext uri="{FF2B5EF4-FFF2-40B4-BE49-F238E27FC236}">
                <a16:creationId xmlns:a16="http://schemas.microsoft.com/office/drawing/2014/main" id="{4F70C882-7B35-C3F9-B53F-D2C5AD4ACA24}"/>
              </a:ext>
            </a:extLst>
          </p:cNvPr>
          <p:cNvSpPr/>
          <p:nvPr/>
        </p:nvSpPr>
        <p:spPr>
          <a:xfrm>
            <a:off x="627018" y="1766019"/>
            <a:ext cx="376210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8" name="正方形/長方形 9">
            <a:extLst>
              <a:ext uri="{FF2B5EF4-FFF2-40B4-BE49-F238E27FC236}">
                <a16:creationId xmlns:a16="http://schemas.microsoft.com/office/drawing/2014/main" id="{D3AF6369-5654-FF0C-D949-3AC84A611C46}"/>
              </a:ext>
            </a:extLst>
          </p:cNvPr>
          <p:cNvSpPr/>
          <p:nvPr/>
        </p:nvSpPr>
        <p:spPr>
          <a:xfrm>
            <a:off x="5267417" y="1484076"/>
            <a:ext cx="556169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9" name="正方形/長方形 9">
            <a:extLst>
              <a:ext uri="{FF2B5EF4-FFF2-40B4-BE49-F238E27FC236}">
                <a16:creationId xmlns:a16="http://schemas.microsoft.com/office/drawing/2014/main" id="{45929000-6A7E-858D-6FE8-5516F28C26FA}"/>
              </a:ext>
            </a:extLst>
          </p:cNvPr>
          <p:cNvSpPr/>
          <p:nvPr/>
        </p:nvSpPr>
        <p:spPr>
          <a:xfrm>
            <a:off x="627017" y="3684040"/>
            <a:ext cx="773321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0" name="正方形/長方形 9">
            <a:extLst>
              <a:ext uri="{FF2B5EF4-FFF2-40B4-BE49-F238E27FC236}">
                <a16:creationId xmlns:a16="http://schemas.microsoft.com/office/drawing/2014/main" id="{B0F5625B-5F98-47A3-3F96-A4775529149A}"/>
              </a:ext>
            </a:extLst>
          </p:cNvPr>
          <p:cNvSpPr/>
          <p:nvPr/>
        </p:nvSpPr>
        <p:spPr>
          <a:xfrm>
            <a:off x="627017" y="6374348"/>
            <a:ext cx="773321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49870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FD01F-106E-3946-DAD6-59619FA9D567}"/>
              </a:ext>
            </a:extLst>
          </p:cNvPr>
          <p:cNvSpPr>
            <a:spLocks noGrp="1"/>
          </p:cNvSpPr>
          <p:nvPr>
            <p:ph type="title"/>
          </p:nvPr>
        </p:nvSpPr>
        <p:spPr>
          <a:xfrm>
            <a:off x="639873" y="209342"/>
            <a:ext cx="9464040" cy="711379"/>
          </a:xfrm>
        </p:spPr>
        <p:txBody>
          <a:bodyPr>
            <a:normAutofit fontScale="90000"/>
          </a:bodyPr>
          <a:lstStyle/>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br>
              <a:rPr lang="mn-MN" altLang="ja-JP" sz="3200" b="1" dirty="0">
                <a:latin typeface="Meiryo" panose="020B0604030504040204" pitchFamily="34" charset="-128"/>
                <a:ea typeface="Meiryo" panose="020B0604030504040204" pitchFamily="34" charset="-128"/>
              </a:rPr>
            </a:br>
            <a:r>
              <a:rPr lang="ja-JP" altLang="en-US" sz="3200">
                <a:latin typeface="Meiryo" panose="020B0604030504040204" pitchFamily="34" charset="-128"/>
                <a:ea typeface="Meiryo" panose="020B0604030504040204" pitchFamily="34" charset="-128"/>
              </a:rPr>
              <a:t>例 </a:t>
            </a:r>
            <a:r>
              <a:rPr lang="en-US" altLang="ja-JP" sz="3200" dirty="0">
                <a:latin typeface="Meiryo" panose="020B0604030504040204" pitchFamily="34" charset="-128"/>
                <a:ea typeface="Meiryo" panose="020B0604030504040204" pitchFamily="34" charset="-128"/>
              </a:rPr>
              <a:t>– </a:t>
            </a:r>
            <a:r>
              <a:rPr lang="ja-JP" altLang="en-US" sz="3200">
                <a:latin typeface="Meiryo" panose="020B0604030504040204" pitchFamily="34" charset="-128"/>
                <a:ea typeface="Meiryo" panose="020B0604030504040204" pitchFamily="34" charset="-128"/>
              </a:rPr>
              <a:t>実践的計算</a:t>
            </a:r>
            <a:endParaRPr lang="en-JP" sz="3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97B69097-5C29-1640-69F6-09821E2EA24C}"/>
              </a:ext>
            </a:extLst>
          </p:cNvPr>
          <p:cNvSpPr>
            <a:spLocks noGrp="1"/>
          </p:cNvSpPr>
          <p:nvPr>
            <p:ph type="sldNum" sz="quarter" idx="12"/>
          </p:nvPr>
        </p:nvSpPr>
        <p:spPr/>
        <p:txBody>
          <a:bodyPr/>
          <a:lstStyle/>
          <a:p>
            <a:fld id="{BB44241B-2579-694C-B40C-A1E3D5F0E4EC}" type="slidenum">
              <a:rPr lang="en-JP" smtClean="0"/>
              <a:pPr/>
              <a:t>25</a:t>
            </a:fld>
            <a:endParaRPr lang="en-JP" dirty="0"/>
          </a:p>
        </p:txBody>
      </p:sp>
      <p:sp>
        <p:nvSpPr>
          <p:cNvPr id="6" name="TextBox 5">
            <a:extLst>
              <a:ext uri="{FF2B5EF4-FFF2-40B4-BE49-F238E27FC236}">
                <a16:creationId xmlns:a16="http://schemas.microsoft.com/office/drawing/2014/main" id="{D48EC2C1-390F-503A-1230-0225B94C111E}"/>
              </a:ext>
            </a:extLst>
          </p:cNvPr>
          <p:cNvSpPr txBox="1"/>
          <p:nvPr/>
        </p:nvSpPr>
        <p:spPr>
          <a:xfrm>
            <a:off x="1022573" y="7227512"/>
            <a:ext cx="548640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特徴量</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パケットサイズ </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バイト</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E5641EC-A207-FC64-9F76-7790D2E63039}"/>
              </a:ext>
            </a:extLst>
          </p:cNvPr>
          <p:cNvSpPr txBox="1"/>
          <p:nvPr/>
        </p:nvSpPr>
        <p:spPr>
          <a:xfrm>
            <a:off x="953588" y="1696904"/>
            <a:ext cx="8425542" cy="5324535"/>
          </a:xfrm>
          <a:prstGeom prst="rect">
            <a:avLst/>
          </a:prstGeom>
          <a:noFill/>
        </p:spPr>
        <p:txBody>
          <a:bodyPr wrap="square">
            <a:spAutoFit/>
          </a:bodyPr>
          <a:lstStyle/>
          <a:p>
            <a:r>
              <a:rPr lang="en-JP" sz="2000" b="1" dirty="0">
                <a:latin typeface="Times New Roman" panose="02020603050405020304" pitchFamily="18" charset="0"/>
                <a:cs typeface="Times New Roman" panose="02020603050405020304" pitchFamily="18" charset="0"/>
              </a:rPr>
              <a:t>t</a:t>
            </a:r>
            <a:r>
              <a:rPr lang="mn-MN" sz="2000" b="1" dirty="0">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me</a:t>
            </a:r>
            <a:r>
              <a:rPr lang="en-JP" sz="2000" b="1" dirty="0">
                <a:latin typeface="Times New Roman" panose="02020603050405020304" pitchFamily="18" charset="0"/>
                <a:cs typeface="Times New Roman" panose="02020603050405020304" pitchFamily="18" charset="0"/>
              </a:rPr>
              <a:t>=0秒: 開始</a:t>
            </a:r>
          </a:p>
          <a:p>
            <a:r>
              <a:rPr lang="en-JP" sz="2000" dirty="0">
                <a:latin typeface="Times New Roman" panose="02020603050405020304" pitchFamily="18" charset="0"/>
                <a:cs typeface="Times New Roman" panose="02020603050405020304" pitchFamily="18" charset="0"/>
              </a:rPr>
              <a:t>IV = (w=0, LSI=0, SSI=0, SR=0, t_L=0)</a:t>
            </a:r>
          </a:p>
          <a:p>
            <a:endParaRPr lang="en-JP" sz="2000" dirty="0">
              <a:latin typeface="Times New Roman" panose="02020603050405020304" pitchFamily="18" charset="0"/>
              <a:cs typeface="Times New Roman" panose="02020603050405020304" pitchFamily="18" charset="0"/>
            </a:endParaRPr>
          </a:p>
          <a:p>
            <a:r>
              <a:rPr lang="en-JP" sz="2000" b="1" dirty="0">
                <a:latin typeface="Times New Roman" panose="02020603050405020304" pitchFamily="18" charset="0"/>
                <a:cs typeface="Times New Roman" panose="02020603050405020304" pitchFamily="18" charset="0"/>
              </a:rPr>
              <a:t> t=1秒</a:t>
            </a:r>
            <a:r>
              <a:rPr lang="en-JP" sz="2000" dirty="0">
                <a:latin typeface="Times New Roman" panose="02020603050405020304" pitchFamily="18" charset="0"/>
                <a:cs typeface="Times New Roman" panose="02020603050405020304" pitchFamily="18" charset="0"/>
              </a:rPr>
              <a:t>: 100バイトのパケット到着</a:t>
            </a:r>
          </a:p>
          <a:p>
            <a:r>
              <a:rPr lang="en-JP" sz="2000" dirty="0">
                <a:latin typeface="Times New Roman" panose="02020603050405020304" pitchFamily="18" charset="0"/>
                <a:cs typeface="Times New Roman" panose="02020603050405020304" pitchFamily="18" charset="0"/>
              </a:rPr>
              <a:t>ステップ1: δ = 2^(-α×0) = 1.0</a:t>
            </a:r>
            <a:r>
              <a:rPr lang="mn-MN" sz="2000" dirty="0">
                <a:latin typeface="Times New Roman" panose="02020603050405020304" pitchFamily="18" charset="0"/>
                <a:cs typeface="Times New Roman" panose="02020603050405020304" pitchFamily="18" charset="0"/>
              </a:rPr>
              <a:t> </a:t>
            </a:r>
            <a:r>
              <a:rPr lang="ja-JP" altLang="en-US" sz="1800"/>
              <a:t>初期値</a:t>
            </a:r>
            <a:endParaRPr lang="en-JP" sz="2000" dirty="0">
              <a:latin typeface="Times New Roman" panose="02020603050405020304" pitchFamily="18" charset="0"/>
              <a:cs typeface="Times New Roman" panose="02020603050405020304" pitchFamily="18" charset="0"/>
            </a:endParaRPr>
          </a:p>
          <a:p>
            <a:r>
              <a:rPr lang="en-JP" sz="2000" dirty="0">
                <a:latin typeface="Times New Roman" panose="02020603050405020304" pitchFamily="18" charset="0"/>
                <a:cs typeface="Times New Roman" panose="02020603050405020304" pitchFamily="18" charset="0"/>
              </a:rPr>
              <a:t>ステップ2: IV = (0×1, 0×1, 0×1, 0×1, 1)</a:t>
            </a:r>
          </a:p>
          <a:p>
            <a:r>
              <a:rPr lang="en-JP" sz="2000" dirty="0">
                <a:latin typeface="Times New Roman" panose="02020603050405020304" pitchFamily="18" charset="0"/>
                <a:cs typeface="Times New Roman" panose="02020603050405020304" pitchFamily="18" charset="0"/>
              </a:rPr>
              <a:t>ステップ3: IV = (0+1, 0+100, 0+10000, 0, 1)</a:t>
            </a:r>
          </a:p>
          <a:p>
            <a:r>
              <a:rPr lang="en-JP" sz="2000" dirty="0">
                <a:latin typeface="Times New Roman" panose="02020603050405020304" pitchFamily="18" charset="0"/>
                <a:cs typeface="Times New Roman" panose="02020603050405020304" pitchFamily="18" charset="0"/>
              </a:rPr>
              <a:t>         = (1, 100, 10000, 0, 1)</a:t>
            </a:r>
          </a:p>
          <a:p>
            <a:endParaRPr lang="en-JP" sz="2000" dirty="0">
              <a:latin typeface="Times New Roman" panose="02020603050405020304" pitchFamily="18" charset="0"/>
              <a:cs typeface="Times New Roman" panose="02020603050405020304" pitchFamily="18" charset="0"/>
            </a:endParaRPr>
          </a:p>
          <a:p>
            <a:r>
              <a:rPr lang="en-JP" sz="2000" dirty="0">
                <a:latin typeface="Times New Roman" panose="02020603050405020304" pitchFamily="18" charset="0"/>
                <a:cs typeface="Times New Roman" panose="02020603050405020304" pitchFamily="18" charset="0"/>
              </a:rPr>
              <a:t> </a:t>
            </a:r>
            <a:r>
              <a:rPr lang="en-JP" sz="2000" b="1" dirty="0">
                <a:latin typeface="Times New Roman" panose="02020603050405020304" pitchFamily="18" charset="0"/>
                <a:cs typeface="Times New Roman" panose="02020603050405020304" pitchFamily="18" charset="0"/>
              </a:rPr>
              <a:t>t=2秒</a:t>
            </a:r>
            <a:r>
              <a:rPr lang="en-JP" sz="2000" dirty="0">
                <a:latin typeface="Times New Roman" panose="02020603050405020304" pitchFamily="18" charset="0"/>
                <a:cs typeface="Times New Roman" panose="02020603050405020304" pitchFamily="18" charset="0"/>
              </a:rPr>
              <a:t>: </a:t>
            </a:r>
            <a:r>
              <a:rPr lang="en-JP" sz="2000" dirty="0">
                <a:solidFill>
                  <a:schemeClr val="accent2">
                    <a:lumMod val="75000"/>
                  </a:schemeClr>
                </a:solidFill>
                <a:latin typeface="Times New Roman" panose="02020603050405020304" pitchFamily="18" charset="0"/>
                <a:cs typeface="Times New Roman" panose="02020603050405020304" pitchFamily="18" charset="0"/>
              </a:rPr>
              <a:t>150バイトのパケット到着</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ステップ1: δ = 2^(-α×1) = 0.5 (α=1 の場合)</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ステップ2: IV = (1×0.5, 100×0.5, 10000×0.5,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         = (0.5, 50, 5000,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ステップ3: IV = (0.5+1, 50+150, 5000+22500,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         = (1.5, 200, 27500, 0, 2)</a:t>
            </a:r>
          </a:p>
          <a:p>
            <a:endParaRPr lang="en-JP" sz="2000" dirty="0">
              <a:latin typeface="Times New Roman" panose="02020603050405020304" pitchFamily="18" charset="0"/>
              <a:cs typeface="Times New Roman" panose="02020603050405020304" pitchFamily="18" charset="0"/>
            </a:endParaRPr>
          </a:p>
          <a:p>
            <a:r>
              <a:rPr lang="en-JP" sz="2000" b="1" dirty="0">
                <a:latin typeface="Times New Roman" panose="02020603050405020304" pitchFamily="18" charset="0"/>
                <a:cs typeface="Times New Roman" panose="02020603050405020304" pitchFamily="18" charset="0"/>
              </a:rPr>
              <a:t>平均 = LSI / w = 200 / 1.5 ≈ 133バイト</a:t>
            </a:r>
          </a:p>
        </p:txBody>
      </p:sp>
      <p:sp>
        <p:nvSpPr>
          <p:cNvPr id="10" name="TextBox 9">
            <a:extLst>
              <a:ext uri="{FF2B5EF4-FFF2-40B4-BE49-F238E27FC236}">
                <a16:creationId xmlns:a16="http://schemas.microsoft.com/office/drawing/2014/main" id="{19D141C1-F532-5B30-DBBC-90387D67BE48}"/>
              </a:ext>
            </a:extLst>
          </p:cNvPr>
          <p:cNvSpPr txBox="1"/>
          <p:nvPr/>
        </p:nvSpPr>
        <p:spPr>
          <a:xfrm>
            <a:off x="7269480" y="2652565"/>
            <a:ext cx="5486400" cy="4093428"/>
          </a:xfrm>
          <a:prstGeom prst="rect">
            <a:avLst/>
          </a:prstGeom>
          <a:noFill/>
        </p:spPr>
        <p:txBody>
          <a:bodyPr wrap="square">
            <a:spAutoFit/>
          </a:bodyPr>
          <a:lstStyle/>
          <a:p>
            <a:r>
              <a:rPr lang="ja-JP" altLang="en-US" sz="2000">
                <a:solidFill>
                  <a:srgbClr val="FF0000"/>
                </a:solidFill>
                <a:latin typeface="Meiryo" panose="020B0604030504040204" pitchFamily="34" charset="-128"/>
                <a:ea typeface="Meiryo" panose="020B0604030504040204" pitchFamily="34" charset="-128"/>
              </a:rPr>
              <a:t>新しいパケット</a:t>
            </a:r>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en-US" sz="2000" dirty="0">
                <a:solidFill>
                  <a:srgbClr val="FF0000"/>
                </a:solidFill>
                <a:latin typeface="Meiryo" panose="020B0604030504040204" pitchFamily="34" charset="-128"/>
                <a:ea typeface="Meiryo" panose="020B0604030504040204" pitchFamily="34" charset="-128"/>
              </a:rPr>
              <a:t>decay</a:t>
            </a:r>
            <a:r>
              <a:rPr lang="ja-JP" altLang="en-US" sz="2000">
                <a:solidFill>
                  <a:srgbClr val="FF0000"/>
                </a:solidFill>
                <a:latin typeface="Meiryo" panose="020B0604030504040204" pitchFamily="34" charset="-128"/>
                <a:ea typeface="Meiryo" panose="020B0604030504040204" pitchFamily="34" charset="-128"/>
              </a:rPr>
              <a:t>適用</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a:t>
            </a:r>
            <a:r>
              <a:rPr lang="en-US" sz="2000" dirty="0">
                <a:solidFill>
                  <a:srgbClr val="FF0000"/>
                </a:solidFill>
                <a:latin typeface="Meiryo" panose="020B0604030504040204" pitchFamily="34" charset="-128"/>
                <a:ea typeface="Meiryo" panose="020B0604030504040204" pitchFamily="34" charset="-128"/>
              </a:rPr>
              <a:t>IV</a:t>
            </a:r>
            <a:r>
              <a:rPr lang="ja-JP" altLang="en-US" sz="2000">
                <a:solidFill>
                  <a:srgbClr val="FF0000"/>
                </a:solidFill>
                <a:latin typeface="Meiryo" panose="020B0604030504040204" pitchFamily="34" charset="-128"/>
                <a:ea typeface="Meiryo" panose="020B0604030504040204" pitchFamily="34" charset="-128"/>
              </a:rPr>
              <a:t>更新</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平均計算</a:t>
            </a:r>
            <a:endParaRPr lang="en-JP" sz="2000" dirty="0">
              <a:solidFill>
                <a:srgbClr val="FF0000"/>
              </a:solidFill>
              <a:latin typeface="Meiryo" panose="020B0604030504040204" pitchFamily="34" charset="-128"/>
              <a:ea typeface="Meiryo" panose="020B0604030504040204" pitchFamily="34" charset="-128"/>
            </a:endParaRPr>
          </a:p>
        </p:txBody>
      </p:sp>
      <p:sp>
        <p:nvSpPr>
          <p:cNvPr id="11" name="Bent Arrow 10">
            <a:extLst>
              <a:ext uri="{FF2B5EF4-FFF2-40B4-BE49-F238E27FC236}">
                <a16:creationId xmlns:a16="http://schemas.microsoft.com/office/drawing/2014/main" id="{68458086-1488-8C48-350B-5DF7D37D6A47}"/>
              </a:ext>
            </a:extLst>
          </p:cNvPr>
          <p:cNvSpPr/>
          <p:nvPr/>
        </p:nvSpPr>
        <p:spPr>
          <a:xfrm rot="10800000">
            <a:off x="7009035" y="1228043"/>
            <a:ext cx="589463" cy="1148386"/>
          </a:xfrm>
          <a:prstGeom prst="ben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JP">
              <a:solidFill>
                <a:schemeClr val="tx1"/>
              </a:solidFill>
            </a:endParaRPr>
          </a:p>
        </p:txBody>
      </p:sp>
      <p:sp>
        <p:nvSpPr>
          <p:cNvPr id="13" name="TextBox 12">
            <a:extLst>
              <a:ext uri="{FF2B5EF4-FFF2-40B4-BE49-F238E27FC236}">
                <a16:creationId xmlns:a16="http://schemas.microsoft.com/office/drawing/2014/main" id="{D2B12CE5-913D-5FE6-CC4F-E83A0B455E8D}"/>
              </a:ext>
            </a:extLst>
          </p:cNvPr>
          <p:cNvSpPr txBox="1"/>
          <p:nvPr/>
        </p:nvSpPr>
        <p:spPr>
          <a:xfrm>
            <a:off x="953588" y="959105"/>
            <a:ext cx="8698640"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この例では、新しいパケットが到着するたびに </a:t>
            </a:r>
            <a:r>
              <a:rPr lang="en-US" dirty="0">
                <a:latin typeface="Meiryo" panose="020B0604030504040204" pitchFamily="34" charset="-128"/>
                <a:ea typeface="Meiryo" panose="020B0604030504040204" pitchFamily="34" charset="-128"/>
              </a:rPr>
              <a:t>IV </a:t>
            </a:r>
            <a:r>
              <a:rPr lang="ja-JP" altLang="en-US">
                <a:latin typeface="Meiryo" panose="020B0604030504040204" pitchFamily="34" charset="-128"/>
                <a:ea typeface="Meiryo" panose="020B0604030504040204" pitchFamily="34" charset="-128"/>
              </a:rPr>
              <a:t>配列がどのように減衰され、新しい値が加算され、平均や統計が更新されるかを示している</a:t>
            </a:r>
            <a:r>
              <a:rPr lang="ja-JP" altLang="en-US"/>
              <a:t>。</a:t>
            </a:r>
            <a:endParaRPr lang="en-JP" dirty="0"/>
          </a:p>
        </p:txBody>
      </p:sp>
      <p:sp>
        <p:nvSpPr>
          <p:cNvPr id="14" name="Down Arrow 13">
            <a:extLst>
              <a:ext uri="{FF2B5EF4-FFF2-40B4-BE49-F238E27FC236}">
                <a16:creationId xmlns:a16="http://schemas.microsoft.com/office/drawing/2014/main" id="{1FF56080-C048-6357-8AA0-425FEA19A7D9}"/>
              </a:ext>
            </a:extLst>
          </p:cNvPr>
          <p:cNvSpPr/>
          <p:nvPr/>
        </p:nvSpPr>
        <p:spPr>
          <a:xfrm flipH="1">
            <a:off x="7951446" y="3313095"/>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8A3BF658-580D-593D-4083-EC32942BCAAA}"/>
              </a:ext>
            </a:extLst>
          </p:cNvPr>
          <p:cNvSpPr/>
          <p:nvPr/>
        </p:nvSpPr>
        <p:spPr>
          <a:xfrm flipH="1">
            <a:off x="7951444" y="4478851"/>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6A628BF0-6C64-F644-951E-2616C7A9555C}"/>
              </a:ext>
            </a:extLst>
          </p:cNvPr>
          <p:cNvSpPr/>
          <p:nvPr/>
        </p:nvSpPr>
        <p:spPr>
          <a:xfrm flipH="1">
            <a:off x="7951444" y="5644607"/>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Tree>
    <p:extLst>
      <p:ext uri="{BB962C8B-B14F-4D97-AF65-F5344CB8AC3E}">
        <p14:creationId xmlns:p14="http://schemas.microsoft.com/office/powerpoint/2010/main" val="2747600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F056-D970-13A6-2A43-D2D250751F6E}"/>
              </a:ext>
            </a:extLst>
          </p:cNvPr>
          <p:cNvSpPr>
            <a:spLocks noGrp="1"/>
          </p:cNvSpPr>
          <p:nvPr>
            <p:ph type="title"/>
          </p:nvPr>
        </p:nvSpPr>
        <p:spPr>
          <a:xfrm>
            <a:off x="754380" y="318997"/>
            <a:ext cx="9464040" cy="778447"/>
          </a:xfrm>
        </p:spPr>
        <p:txBody>
          <a:bodyPr>
            <a:normAutofit fontScale="90000"/>
          </a:bodyPr>
          <a:lstStyle/>
          <a:p>
            <a:pPr marL="685800" indent="-685800">
              <a:buFont typeface="Arial" panose="020B0604020202020204" pitchFamily="34" charset="0"/>
              <a:buChar char="•"/>
            </a:pPr>
            <a:r>
              <a:rPr lang="en-US" sz="3600" b="1" dirty="0">
                <a:latin typeface="Meiryo" panose="020B0604030504040204" pitchFamily="34" charset="-128"/>
                <a:ea typeface="Meiryo" panose="020B0604030504040204" pitchFamily="34" charset="-128"/>
              </a:rPr>
              <a:t>Feature Extraction</a:t>
            </a:r>
            <a:r>
              <a:rPr lang="ja-JP" altLang="en-US" sz="3600" b="1">
                <a:latin typeface="Meiryo" panose="020B0604030504040204" pitchFamily="34" charset="-128"/>
                <a:ea typeface="Meiryo" panose="020B0604030504040204" pitchFamily="34" charset="-128"/>
              </a:rPr>
              <a:t>の</a:t>
            </a:r>
            <a:br>
              <a:rPr lang="mn-MN" altLang="ja-JP" sz="3600" b="1" dirty="0">
                <a:latin typeface="Meiryo" panose="020B0604030504040204" pitchFamily="34" charset="-128"/>
                <a:ea typeface="Meiryo" panose="020B0604030504040204" pitchFamily="34" charset="-128"/>
              </a:rPr>
            </a:br>
            <a:r>
              <a:rPr lang="en-US" sz="3600" b="1" dirty="0">
                <a:latin typeface="Meiryo" panose="020B0604030504040204" pitchFamily="34" charset="-128"/>
                <a:ea typeface="Meiryo" panose="020B0604030504040204" pitchFamily="34" charset="-128"/>
              </a:rPr>
              <a:t>Normalization – </a:t>
            </a:r>
            <a:r>
              <a:rPr lang="ja-JP" altLang="en-US" sz="3600" b="1">
                <a:latin typeface="Meiryo" panose="020B0604030504040204" pitchFamily="34" charset="-128"/>
                <a:ea typeface="Meiryo" panose="020B0604030504040204" pitchFamily="34" charset="-128"/>
              </a:rPr>
              <a:t>正規化</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B4928996-17B0-8CF3-72AB-065842EAFF4D}"/>
              </a:ext>
            </a:extLst>
          </p:cNvPr>
          <p:cNvSpPr>
            <a:spLocks noGrp="1"/>
          </p:cNvSpPr>
          <p:nvPr>
            <p:ph type="sldNum" sz="quarter" idx="12"/>
          </p:nvPr>
        </p:nvSpPr>
        <p:spPr/>
        <p:txBody>
          <a:bodyPr/>
          <a:lstStyle/>
          <a:p>
            <a:fld id="{BB44241B-2579-694C-B40C-A1E3D5F0E4EC}" type="slidenum">
              <a:rPr lang="en-JP" smtClean="0"/>
              <a:pPr/>
              <a:t>26</a:t>
            </a:fld>
            <a:endParaRPr lang="en-JP" dirty="0"/>
          </a:p>
        </p:txBody>
      </p:sp>
      <p:sp>
        <p:nvSpPr>
          <p:cNvPr id="6" name="TextBox 5">
            <a:extLst>
              <a:ext uri="{FF2B5EF4-FFF2-40B4-BE49-F238E27FC236}">
                <a16:creationId xmlns:a16="http://schemas.microsoft.com/office/drawing/2014/main" id="{54829BFD-ED8A-AF5E-7B57-45CBD57E8F14}"/>
              </a:ext>
            </a:extLst>
          </p:cNvPr>
          <p:cNvSpPr txBox="1"/>
          <p:nvPr/>
        </p:nvSpPr>
        <p:spPr>
          <a:xfrm>
            <a:off x="754380" y="1226122"/>
            <a:ext cx="5486400" cy="400110"/>
          </a:xfrm>
          <a:prstGeom prst="rect">
            <a:avLst/>
          </a:prstGeom>
          <a:noFill/>
        </p:spPr>
        <p:txBody>
          <a:bodyPr wrap="square">
            <a:spAutoFit/>
          </a:bodyPr>
          <a:lstStyle/>
          <a:p>
            <a:r>
              <a:rPr lang="ja-JP" altLang="en-US" sz="2000">
                <a:solidFill>
                  <a:srgbClr val="C00000"/>
                </a:solidFill>
                <a:latin typeface="Meiryo" panose="020B0604030504040204" pitchFamily="34" charset="-128"/>
                <a:ea typeface="Meiryo" panose="020B0604030504040204" pitchFamily="34" charset="-128"/>
              </a:rPr>
              <a:t>なぜ正規化するのか？</a:t>
            </a:r>
            <a:endParaRPr lang="en-JP" sz="20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DF2A144B-745C-7D5F-BFE0-B667BE5DB0B7}"/>
              </a:ext>
            </a:extLst>
          </p:cNvPr>
          <p:cNvSpPr txBox="1"/>
          <p:nvPr/>
        </p:nvSpPr>
        <p:spPr>
          <a:xfrm>
            <a:off x="5097780" y="4707524"/>
            <a:ext cx="5486400" cy="1200329"/>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すべての特徴量を同じスケール </a:t>
            </a:r>
            <a:r>
              <a:rPr lang="en-US" altLang="ja-JP" sz="2400" dirty="0">
                <a:latin typeface="Meiryo" panose="020B0604030504040204" pitchFamily="34" charset="-128"/>
                <a:ea typeface="Meiryo" panose="020B0604030504040204" pitchFamily="34" charset="-128"/>
              </a:rPr>
              <a:t>[0,1] </a:t>
            </a:r>
            <a:r>
              <a:rPr lang="ja-JP" altLang="en-US" sz="2400">
                <a:latin typeface="Meiryo" panose="020B0604030504040204" pitchFamily="34" charset="-128"/>
                <a:ea typeface="Meiryo" panose="020B0604030504040204" pitchFamily="34" charset="-128"/>
              </a:rPr>
              <a:t>に正規化することで、機械学習モデルの学習が安定し、精度が向上</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9" name="Down Arrow 8">
            <a:extLst>
              <a:ext uri="{FF2B5EF4-FFF2-40B4-BE49-F238E27FC236}">
                <a16:creationId xmlns:a16="http://schemas.microsoft.com/office/drawing/2014/main" id="{548936A8-0220-2E0C-4B65-F78624C28BA3}"/>
              </a:ext>
            </a:extLst>
          </p:cNvPr>
          <p:cNvSpPr/>
          <p:nvPr/>
        </p:nvSpPr>
        <p:spPr>
          <a:xfrm rot="16200000" flipH="1">
            <a:off x="4149221" y="1209931"/>
            <a:ext cx="287599" cy="545004"/>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1" name="TextBox 10">
            <a:extLst>
              <a:ext uri="{FF2B5EF4-FFF2-40B4-BE49-F238E27FC236}">
                <a16:creationId xmlns:a16="http://schemas.microsoft.com/office/drawing/2014/main" id="{8A1E00CC-FA62-87C4-2995-60F287969A98}"/>
              </a:ext>
            </a:extLst>
          </p:cNvPr>
          <p:cNvSpPr txBox="1"/>
          <p:nvPr/>
        </p:nvSpPr>
        <p:spPr>
          <a:xfrm>
            <a:off x="5006340" y="1286355"/>
            <a:ext cx="5486400" cy="1938992"/>
          </a:xfrm>
          <a:prstGeom prst="rect">
            <a:avLst/>
          </a:prstGeom>
          <a:noFill/>
        </p:spPr>
        <p:txBody>
          <a:bodyPr wrap="square">
            <a:spAutoFit/>
          </a:bodyPr>
          <a:lstStyle/>
          <a:p>
            <a:r>
              <a:rPr lang="en-JP" sz="2000" b="1" dirty="0">
                <a:latin typeface="Meiryo" panose="020B0604030504040204" pitchFamily="34" charset="-128"/>
                <a:ea typeface="Meiryo" panose="020B0604030504040204" pitchFamily="34" charset="-128"/>
                <a:cs typeface="Times New Roman" panose="02020603050405020304" pitchFamily="18" charset="0"/>
              </a:rPr>
              <a:t>課題:</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特徴量1: パケット数 (1-1000)</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特徴量2: バイト数 (0-65535)</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特徴量3: 時間 (0-86400)</a:t>
            </a:r>
          </a:p>
          <a:p>
            <a:r>
              <a:rPr lang="en-JP" sz="2000" dirty="0">
                <a:latin typeface="Meiryo" panose="020B0604030504040204" pitchFamily="34" charset="-128"/>
                <a:ea typeface="Meiryo" panose="020B0604030504040204" pitchFamily="34" charset="-128"/>
                <a:cs typeface="Times New Roman" panose="02020603050405020304" pitchFamily="18" charset="0"/>
              </a:rPr>
              <a:t>異なるスケール → MLアルゴリズムが正しく動作しない</a:t>
            </a:r>
          </a:p>
        </p:txBody>
      </p:sp>
      <p:sp>
        <p:nvSpPr>
          <p:cNvPr id="12" name="Down Arrow 11">
            <a:extLst>
              <a:ext uri="{FF2B5EF4-FFF2-40B4-BE49-F238E27FC236}">
                <a16:creationId xmlns:a16="http://schemas.microsoft.com/office/drawing/2014/main" id="{E44B0E8B-681F-36E1-0770-C350FD598818}"/>
              </a:ext>
            </a:extLst>
          </p:cNvPr>
          <p:cNvSpPr/>
          <p:nvPr/>
        </p:nvSpPr>
        <p:spPr>
          <a:xfrm flipH="1">
            <a:off x="1606732" y="2215589"/>
            <a:ext cx="326571" cy="400110"/>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4" name="TextBox 13">
            <a:extLst>
              <a:ext uri="{FF2B5EF4-FFF2-40B4-BE49-F238E27FC236}">
                <a16:creationId xmlns:a16="http://schemas.microsoft.com/office/drawing/2014/main" id="{A83315F2-A7AF-C2D4-2AED-2BE1C908D565}"/>
              </a:ext>
            </a:extLst>
          </p:cNvPr>
          <p:cNvSpPr txBox="1"/>
          <p:nvPr/>
        </p:nvSpPr>
        <p:spPr>
          <a:xfrm>
            <a:off x="418011" y="3474867"/>
            <a:ext cx="5486400" cy="707886"/>
          </a:xfrm>
          <a:prstGeom prst="rect">
            <a:avLst/>
          </a:prstGeom>
          <a:noFill/>
        </p:spPr>
        <p:txBody>
          <a:bodyPr wrap="square">
            <a:spAutoFit/>
          </a:bodyPr>
          <a:lstStyle/>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x ∈ R^n (n=100 </a:t>
            </a:r>
            <a:r>
              <a:rPr lang="ja-JP" altLang="en-US" sz="2000">
                <a:latin typeface="Meiryo" panose="020B0604030504040204" pitchFamily="34" charset="-128"/>
                <a:ea typeface="Meiryo" panose="020B0604030504040204" pitchFamily="34" charset="-128"/>
              </a:rPr>
              <a:t>特徴量</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すべての値を </a:t>
            </a:r>
            <a:r>
              <a:rPr lang="en-US" altLang="ja-JP" sz="2000" dirty="0">
                <a:latin typeface="Meiryo" panose="020B0604030504040204" pitchFamily="34" charset="-128"/>
                <a:ea typeface="Meiryo" panose="020B0604030504040204" pitchFamily="34" charset="-128"/>
              </a:rPr>
              <a:t>[0, 1] </a:t>
            </a:r>
            <a:r>
              <a:rPr lang="ja-JP" altLang="en-US" sz="2000">
                <a:latin typeface="Meiryo" panose="020B0604030504040204" pitchFamily="34" charset="-128"/>
                <a:ea typeface="Meiryo" panose="020B0604030504040204" pitchFamily="34" charset="-128"/>
              </a:rPr>
              <a:t>にスケーリング</a:t>
            </a:r>
          </a:p>
        </p:txBody>
      </p:sp>
      <p:sp>
        <p:nvSpPr>
          <p:cNvPr id="16" name="TextBox 15">
            <a:extLst>
              <a:ext uri="{FF2B5EF4-FFF2-40B4-BE49-F238E27FC236}">
                <a16:creationId xmlns:a16="http://schemas.microsoft.com/office/drawing/2014/main" id="{2B508047-EBAB-9BD0-363B-F48DF583F84F}"/>
              </a:ext>
            </a:extLst>
          </p:cNvPr>
          <p:cNvSpPr txBox="1"/>
          <p:nvPr/>
        </p:nvSpPr>
        <p:spPr>
          <a:xfrm>
            <a:off x="1386860" y="3005001"/>
            <a:ext cx="1247221" cy="400110"/>
          </a:xfrm>
          <a:prstGeom prst="rect">
            <a:avLst/>
          </a:prstGeom>
          <a:noFill/>
        </p:spPr>
        <p:txBody>
          <a:bodyPr wrap="square">
            <a:spAutoFit/>
          </a:bodyPr>
          <a:lstStyle/>
          <a:p>
            <a:r>
              <a:rPr lang="ja-JP" altLang="en-US" sz="2000" b="1">
                <a:latin typeface="Meiryo" panose="020B0604030504040204" pitchFamily="34" charset="-128"/>
                <a:ea typeface="Meiryo" panose="020B0604030504040204" pitchFamily="34" charset="-128"/>
              </a:rPr>
              <a:t>解決策</a:t>
            </a:r>
            <a:r>
              <a:rPr lang="en-US" altLang="ja-JP" sz="2000" b="1" dirty="0">
                <a:latin typeface="Meiryo" panose="020B0604030504040204" pitchFamily="34" charset="-128"/>
                <a:ea typeface="Meiryo" panose="020B0604030504040204" pitchFamily="34" charset="-128"/>
              </a:rPr>
              <a:t> :</a:t>
            </a:r>
            <a:endParaRPr lang="en-JP" sz="2000" b="1" dirty="0">
              <a:latin typeface="Meiryo" panose="020B0604030504040204" pitchFamily="34" charset="-128"/>
              <a:ea typeface="Meiryo" panose="020B0604030504040204" pitchFamily="34" charset="-128"/>
            </a:endParaRPr>
          </a:p>
        </p:txBody>
      </p:sp>
      <p:pic>
        <p:nvPicPr>
          <p:cNvPr id="17" name="Picture 16">
            <a:extLst>
              <a:ext uri="{FF2B5EF4-FFF2-40B4-BE49-F238E27FC236}">
                <a16:creationId xmlns:a16="http://schemas.microsoft.com/office/drawing/2014/main" id="{9876510A-AC36-F26C-1EFC-E9A3F2D6081D}"/>
              </a:ext>
            </a:extLst>
          </p:cNvPr>
          <p:cNvPicPr>
            <a:picLocks noChangeAspect="1"/>
          </p:cNvPicPr>
          <p:nvPr/>
        </p:nvPicPr>
        <p:blipFill>
          <a:blip r:embed="rId2"/>
          <a:stretch>
            <a:fillRect/>
          </a:stretch>
        </p:blipFill>
        <p:spPr>
          <a:xfrm>
            <a:off x="844795" y="4390479"/>
            <a:ext cx="3217754" cy="1003300"/>
          </a:xfrm>
          <a:prstGeom prst="rect">
            <a:avLst/>
          </a:prstGeom>
        </p:spPr>
      </p:pic>
      <p:sp>
        <p:nvSpPr>
          <p:cNvPr id="19" name="TextBox 18">
            <a:extLst>
              <a:ext uri="{FF2B5EF4-FFF2-40B4-BE49-F238E27FC236}">
                <a16:creationId xmlns:a16="http://schemas.microsoft.com/office/drawing/2014/main" id="{92A49565-B3DB-8807-6619-9F332829AADF}"/>
              </a:ext>
            </a:extLst>
          </p:cNvPr>
          <p:cNvSpPr txBox="1"/>
          <p:nvPr/>
        </p:nvSpPr>
        <p:spPr>
          <a:xfrm>
            <a:off x="326571" y="6432625"/>
            <a:ext cx="5486400"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パケット数</a:t>
            </a:r>
            <a:r>
              <a:rPr lang="en-US" altLang="ja-JP" dirty="0">
                <a:latin typeface="Meiryo" panose="020B0604030504040204" pitchFamily="34" charset="-128"/>
                <a:ea typeface="Meiryo" panose="020B0604030504040204" pitchFamily="34" charset="-128"/>
              </a:rPr>
              <a:t>: 500 → (500-0)/(1000-0) = 0.5</a:t>
            </a:r>
          </a:p>
          <a:p>
            <a:r>
              <a:rPr lang="ja-JP" altLang="en-US">
                <a:latin typeface="Meiryo" panose="020B0604030504040204" pitchFamily="34" charset="-128"/>
                <a:ea typeface="Meiryo" panose="020B0604030504040204" pitchFamily="34" charset="-128"/>
              </a:rPr>
              <a:t>バイト数</a:t>
            </a:r>
            <a:r>
              <a:rPr lang="en-US" altLang="ja-JP" dirty="0">
                <a:latin typeface="Meiryo" panose="020B0604030504040204" pitchFamily="34" charset="-128"/>
                <a:ea typeface="Meiryo" panose="020B0604030504040204" pitchFamily="34" charset="-128"/>
              </a:rPr>
              <a:t>: 32768 → (32768-0)/(65535-0) = 0.5</a:t>
            </a:r>
          </a:p>
        </p:txBody>
      </p:sp>
      <p:sp>
        <p:nvSpPr>
          <p:cNvPr id="21" name="正方形/長方形 9">
            <a:extLst>
              <a:ext uri="{FF2B5EF4-FFF2-40B4-BE49-F238E27FC236}">
                <a16:creationId xmlns:a16="http://schemas.microsoft.com/office/drawing/2014/main" id="{57026821-364A-2FDF-0E9A-4DC348B21476}"/>
              </a:ext>
            </a:extLst>
          </p:cNvPr>
          <p:cNvSpPr/>
          <p:nvPr/>
        </p:nvSpPr>
        <p:spPr>
          <a:xfrm>
            <a:off x="5097780" y="4454841"/>
            <a:ext cx="5394960" cy="159911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Down Arrow 21">
            <a:extLst>
              <a:ext uri="{FF2B5EF4-FFF2-40B4-BE49-F238E27FC236}">
                <a16:creationId xmlns:a16="http://schemas.microsoft.com/office/drawing/2014/main" id="{37155A56-31B1-3FF4-1CD9-30AC05430E57}"/>
              </a:ext>
            </a:extLst>
          </p:cNvPr>
          <p:cNvSpPr/>
          <p:nvPr/>
        </p:nvSpPr>
        <p:spPr>
          <a:xfrm rot="16200000" flipH="1">
            <a:off x="4005036" y="5184579"/>
            <a:ext cx="326571" cy="400110"/>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Tree>
    <p:extLst>
      <p:ext uri="{BB962C8B-B14F-4D97-AF65-F5344CB8AC3E}">
        <p14:creationId xmlns:p14="http://schemas.microsoft.com/office/powerpoint/2010/main" val="3602773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CA75-FC3C-A648-292D-7CC4A73E3341}"/>
              </a:ext>
            </a:extLst>
          </p:cNvPr>
          <p:cNvSpPr>
            <a:spLocks noGrp="1"/>
          </p:cNvSpPr>
          <p:nvPr>
            <p:ph type="title"/>
          </p:nvPr>
        </p:nvSpPr>
        <p:spPr>
          <a:xfrm>
            <a:off x="754380" y="809213"/>
            <a:ext cx="9464040" cy="1338397"/>
          </a:xfrm>
        </p:spPr>
        <p:txBody>
          <a:bodyPr>
            <a:normAutofit/>
          </a:bodyPr>
          <a:lstStyle/>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Damped Incremental Statistics – </a:t>
            </a:r>
            <a:r>
              <a:rPr lang="en-US" sz="3200" dirty="0">
                <a:latin typeface="Meiryo" panose="020B0604030504040204" pitchFamily="34" charset="-128"/>
                <a:ea typeface="Meiryo" panose="020B0604030504040204" pitchFamily="34" charset="-128"/>
              </a:rPr>
              <a:t>Realguard </a:t>
            </a:r>
            <a:r>
              <a:rPr lang="ja-JP" altLang="en-US" sz="3200">
                <a:latin typeface="Meiryo" panose="020B0604030504040204" pitchFamily="34" charset="-128"/>
                <a:ea typeface="Meiryo" panose="020B0604030504040204" pitchFamily="34" charset="-128"/>
              </a:rPr>
              <a:t>の強み</a:t>
            </a:r>
            <a:endParaRPr lang="en-JP" sz="3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E2E16E1D-83A6-573D-DBB5-85186D9CBA79}"/>
              </a:ext>
            </a:extLst>
          </p:cNvPr>
          <p:cNvSpPr>
            <a:spLocks noGrp="1"/>
          </p:cNvSpPr>
          <p:nvPr>
            <p:ph type="sldNum" sz="quarter" idx="12"/>
          </p:nvPr>
        </p:nvSpPr>
        <p:spPr/>
        <p:txBody>
          <a:bodyPr/>
          <a:lstStyle/>
          <a:p>
            <a:fld id="{BB44241B-2579-694C-B40C-A1E3D5F0E4EC}" type="slidenum">
              <a:rPr lang="en-JP" smtClean="0"/>
              <a:pPr/>
              <a:t>27</a:t>
            </a:fld>
            <a:endParaRPr lang="en-JP" dirty="0"/>
          </a:p>
        </p:txBody>
      </p:sp>
      <p:sp>
        <p:nvSpPr>
          <p:cNvPr id="6" name="TextBox 5">
            <a:extLst>
              <a:ext uri="{FF2B5EF4-FFF2-40B4-BE49-F238E27FC236}">
                <a16:creationId xmlns:a16="http://schemas.microsoft.com/office/drawing/2014/main" id="{FF860ABE-0238-E849-34FF-D164CE8B53FA}"/>
              </a:ext>
            </a:extLst>
          </p:cNvPr>
          <p:cNvSpPr txBox="1"/>
          <p:nvPr/>
        </p:nvSpPr>
        <p:spPr>
          <a:xfrm>
            <a:off x="1096144" y="2591306"/>
            <a:ext cx="9313818" cy="3046988"/>
          </a:xfrm>
          <a:prstGeom prst="rect">
            <a:avLst/>
          </a:prstGeom>
          <a:noFill/>
        </p:spPr>
        <p:txBody>
          <a:bodyPr wrap="square">
            <a:spAutoFit/>
          </a:bodyPr>
          <a:lstStyle/>
          <a:p>
            <a:r>
              <a:rPr lang="en-US" altLang="ja-JP" sz="2400" b="1" dirty="0">
                <a:solidFill>
                  <a:srgbClr val="C00000"/>
                </a:solidFill>
                <a:latin typeface="Meiryo" panose="020B0604030504040204" pitchFamily="34" charset="-128"/>
                <a:ea typeface="Meiryo" panose="020B0604030504040204" pitchFamily="34" charset="-128"/>
              </a:rPr>
              <a:t>1.</a:t>
            </a:r>
            <a:r>
              <a:rPr lang="ja-JP" altLang="en-US" sz="2400" b="1">
                <a:solidFill>
                  <a:srgbClr val="C00000"/>
                </a:solidFill>
                <a:latin typeface="Meiryo" panose="020B0604030504040204" pitchFamily="34" charset="-128"/>
                <a:ea typeface="Meiryo" panose="020B0604030504040204" pitchFamily="34" charset="-128"/>
              </a:rPr>
              <a:t>リアルタイム特徴抽出</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ネットワークトラフィックから即時に特徴を抽出</a:t>
            </a:r>
            <a:endParaRPr lang="en-US"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r>
              <a:rPr lang="en-US" altLang="ja-JP" sz="2400" b="1" dirty="0">
                <a:solidFill>
                  <a:srgbClr val="C00000"/>
                </a:solidFill>
                <a:latin typeface="Meiryo" panose="020B0604030504040204" pitchFamily="34" charset="-128"/>
                <a:ea typeface="Meiryo" panose="020B0604030504040204" pitchFamily="34" charset="-128"/>
              </a:rPr>
              <a:t>2.</a:t>
            </a:r>
            <a:r>
              <a:rPr lang="ja-JP" altLang="en-US" sz="2400" b="1">
                <a:solidFill>
                  <a:srgbClr val="C00000"/>
                </a:solidFill>
                <a:latin typeface="Meiryo" panose="020B0604030504040204" pitchFamily="34" charset="-128"/>
                <a:ea typeface="Meiryo" panose="020B0604030504040204" pitchFamily="34" charset="-128"/>
              </a:rPr>
              <a:t>少ない統計情報で管理</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すべてのデータを保存せず、必要最小限の統計値のみ保持</a:t>
            </a:r>
            <a:endParaRPr lang="en-US"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r>
              <a:rPr lang="en-US" sz="2400" b="1" dirty="0">
                <a:solidFill>
                  <a:srgbClr val="C00000"/>
                </a:solidFill>
                <a:latin typeface="Meiryo" panose="020B0604030504040204" pitchFamily="34" charset="-128"/>
                <a:ea typeface="Meiryo" panose="020B0604030504040204" pitchFamily="34" charset="-128"/>
              </a:rPr>
              <a:t>3.Decay function </a:t>
            </a:r>
            <a:r>
              <a:rPr lang="ja-JP" altLang="en-US" sz="2400" b="1">
                <a:solidFill>
                  <a:srgbClr val="C00000"/>
                </a:solidFill>
                <a:latin typeface="Meiryo" panose="020B0604030504040204" pitchFamily="34" charset="-128"/>
                <a:ea typeface="Meiryo" panose="020B0604030504040204" pitchFamily="34" charset="-128"/>
              </a:rPr>
              <a:t>による古いデータ減衰</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古いデータの重みを減らし、新しいトラフィック変化に迅速対応</a:t>
            </a:r>
            <a:endParaRPr lang="en-US" altLang="ja-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7974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まとめ・今後の</a:t>
            </a:r>
            <a:r>
              <a:rPr kumimoji="1" lang="ja-JP" altLang="en-US" sz="3000">
                <a:latin typeface="Meiryo UI" panose="020B0604030504040204" pitchFamily="50" charset="-128"/>
                <a:ea typeface="Meiryo UI" panose="020B0604030504040204" pitchFamily="50" charset="-128"/>
              </a:rPr>
              <a:t>課題</a:t>
            </a: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28</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016335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ADA4-1B3D-1D35-D5FF-593B202B177B}"/>
              </a:ext>
            </a:extLst>
          </p:cNvPr>
          <p:cNvSpPr>
            <a:spLocks noGrp="1"/>
          </p:cNvSpPr>
          <p:nvPr>
            <p:ph type="title"/>
          </p:nvPr>
        </p:nvSpPr>
        <p:spPr>
          <a:xfrm>
            <a:off x="595354" y="583926"/>
            <a:ext cx="9464040" cy="887065"/>
          </a:xfrm>
        </p:spPr>
        <p:txBody>
          <a:bodyPr>
            <a:normAutofit/>
          </a:bodyPr>
          <a:lstStyle/>
          <a:p>
            <a:r>
              <a:rPr lang="ja-JP" altLang="en-US" sz="3600" b="1">
                <a:latin typeface="Meiryo" panose="020B0604030504040204" pitchFamily="34" charset="-128"/>
                <a:ea typeface="Meiryo" panose="020B0604030504040204" pitchFamily="34" charset="-128"/>
              </a:rPr>
              <a:t>使用したデータセット</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0122C213-09C8-3AF7-74CF-00CFBB5E079D}"/>
              </a:ext>
            </a:extLst>
          </p:cNvPr>
          <p:cNvSpPr>
            <a:spLocks noGrp="1"/>
          </p:cNvSpPr>
          <p:nvPr>
            <p:ph type="sldNum" sz="quarter" idx="12"/>
          </p:nvPr>
        </p:nvSpPr>
        <p:spPr/>
        <p:txBody>
          <a:bodyPr/>
          <a:lstStyle/>
          <a:p>
            <a:fld id="{BB44241B-2579-694C-B40C-A1E3D5F0E4EC}" type="slidenum">
              <a:rPr lang="en-JP" smtClean="0"/>
              <a:pPr/>
              <a:t>29</a:t>
            </a:fld>
            <a:endParaRPr lang="en-JP" dirty="0"/>
          </a:p>
        </p:txBody>
      </p:sp>
      <p:sp>
        <p:nvSpPr>
          <p:cNvPr id="6" name="TextBox 5">
            <a:extLst>
              <a:ext uri="{FF2B5EF4-FFF2-40B4-BE49-F238E27FC236}">
                <a16:creationId xmlns:a16="http://schemas.microsoft.com/office/drawing/2014/main" id="{B6F8454D-5628-251C-D939-C1E8447B686B}"/>
              </a:ext>
            </a:extLst>
          </p:cNvPr>
          <p:cNvSpPr txBox="1"/>
          <p:nvPr/>
        </p:nvSpPr>
        <p:spPr>
          <a:xfrm>
            <a:off x="722241" y="1681140"/>
            <a:ext cx="9657891" cy="523220"/>
          </a:xfrm>
          <a:prstGeom prst="rect">
            <a:avLst/>
          </a:prstGeom>
          <a:noFill/>
        </p:spPr>
        <p:txBody>
          <a:bodyPr wrap="square">
            <a:spAutoFit/>
          </a:bodyPr>
          <a:lstStyle/>
          <a:p>
            <a:r>
              <a:rPr lang="en-US" sz="2800" b="1" dirty="0">
                <a:latin typeface="Meiryo" panose="020B0604030504040204" pitchFamily="34" charset="-128"/>
                <a:ea typeface="Meiryo" panose="020B0604030504040204" pitchFamily="34" charset="-128"/>
              </a:rPr>
              <a:t>CIC-IDS2017（University of New Brunswick </a:t>
            </a:r>
            <a:r>
              <a:rPr lang="ja-JP" altLang="en-US" sz="2800" b="1">
                <a:latin typeface="Meiryo" panose="020B0604030504040204" pitchFamily="34" charset="-128"/>
                <a:ea typeface="Meiryo" panose="020B0604030504040204" pitchFamily="34" charset="-128"/>
              </a:rPr>
              <a:t>提供）</a:t>
            </a:r>
            <a:endParaRPr lang="en-JP" sz="28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EFA0264A-8B0E-388F-946E-03465D531D96}"/>
              </a:ext>
            </a:extLst>
          </p:cNvPr>
          <p:cNvSpPr txBox="1"/>
          <p:nvPr/>
        </p:nvSpPr>
        <p:spPr>
          <a:xfrm>
            <a:off x="796600" y="2814620"/>
            <a:ext cx="9464039" cy="3970318"/>
          </a:xfrm>
          <a:prstGeom prst="rect">
            <a:avLst/>
          </a:prstGeom>
          <a:noFill/>
        </p:spPr>
        <p:txBody>
          <a:bodyPr wrap="square">
            <a:spAutoFit/>
          </a:bodyPr>
          <a:lstStyle/>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データ量：</a:t>
            </a:r>
            <a:r>
              <a:rPr lang="en-US" altLang="ja-JP" sz="2800" dirty="0">
                <a:latin typeface="Meiryo" panose="020B0604030504040204" pitchFamily="34" charset="-128"/>
                <a:ea typeface="Meiryo" panose="020B0604030504040204" pitchFamily="34" charset="-128"/>
              </a:rPr>
              <a:t>51.1 </a:t>
            </a:r>
            <a:r>
              <a:rPr lang="en-US" sz="2800" dirty="0">
                <a:latin typeface="Meiryo" panose="020B0604030504040204" pitchFamily="34" charset="-128"/>
                <a:ea typeface="Meiryo" panose="020B0604030504040204" pitchFamily="34" charset="-128"/>
              </a:rPr>
              <a:t>GB</a:t>
            </a:r>
            <a:r>
              <a:rPr lang="mn-MN" sz="2800" dirty="0">
                <a:latin typeface="Meiryo" panose="020B0604030504040204" pitchFamily="34" charset="-128"/>
                <a:ea typeface="Meiryo" panose="020B0604030504040204" pitchFamily="34" charset="-128"/>
              </a:rPr>
              <a:t> </a:t>
            </a:r>
            <a:endParaRPr lang="en-US" sz="2800" dirty="0">
              <a:latin typeface="Meiryo" panose="020B0604030504040204" pitchFamily="34" charset="-128"/>
              <a:ea typeface="Meiryo" panose="020B0604030504040204" pitchFamily="34" charset="-128"/>
            </a:endParaRPr>
          </a:p>
          <a:p>
            <a:endParaRPr lang="mn-MN"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トラフィック種類：</a:t>
            </a:r>
            <a:r>
              <a:rPr lang="en-US" altLang="ja-JP" sz="2800" dirty="0">
                <a:latin typeface="Meiryo" panose="020B0604030504040204" pitchFamily="34" charset="-128"/>
                <a:ea typeface="Meiryo" panose="020B0604030504040204" pitchFamily="34" charset="-128"/>
              </a:rPr>
              <a:t>13</a:t>
            </a:r>
            <a:r>
              <a:rPr lang="ja-JP" altLang="en-US" sz="2800">
                <a:latin typeface="Meiryo" panose="020B0604030504040204" pitchFamily="34" charset="-128"/>
                <a:ea typeface="Meiryo" panose="020B0604030504040204" pitchFamily="34" charset="-128"/>
              </a:rPr>
              <a:t>種類</a:t>
            </a:r>
            <a:r>
              <a:rPr lang="mn-MN" altLang="ja-JP" sz="2800" b="1" dirty="0">
                <a:latin typeface="Meiryo" panose="020B0604030504040204" pitchFamily="34" charset="-128"/>
                <a:ea typeface="Meiryo" panose="020B0604030504040204" pitchFamily="34" charset="-128"/>
              </a:rPr>
              <a:t> </a:t>
            </a:r>
            <a:r>
              <a:rPr lang="en-US" altLang="ja-JP" sz="2800" dirty="0">
                <a:latin typeface="Meiryo" panose="020B0604030504040204" pitchFamily="34" charset="-128"/>
                <a:ea typeface="Meiryo" panose="020B0604030504040204" pitchFamily="34" charset="-128"/>
              </a:rPr>
              <a:t>(</a:t>
            </a:r>
            <a:r>
              <a:rPr lang="ja-JP" altLang="en-US" sz="2800">
                <a:latin typeface="Meiryo" panose="020B0604030504040204" pitchFamily="34" charset="-128"/>
                <a:ea typeface="Meiryo" panose="020B0604030504040204" pitchFamily="34" charset="-128"/>
              </a:rPr>
              <a:t>正常</a:t>
            </a:r>
            <a:r>
              <a:rPr lang="en-US" altLang="ja-JP" sz="2800" dirty="0">
                <a:latin typeface="Meiryo" panose="020B0604030504040204" pitchFamily="34" charset="-128"/>
                <a:ea typeface="Meiryo" panose="020B0604030504040204" pitchFamily="34" charset="-128"/>
              </a:rPr>
              <a:t>1 + </a:t>
            </a:r>
            <a:r>
              <a:rPr lang="ja-JP" altLang="en-US" sz="2800">
                <a:latin typeface="Meiryo" panose="020B0604030504040204" pitchFamily="34" charset="-128"/>
                <a:ea typeface="Meiryo" panose="020B0604030504040204" pitchFamily="34" charset="-128"/>
              </a:rPr>
              <a:t>攻撃</a:t>
            </a:r>
            <a:r>
              <a:rPr lang="en-US" altLang="ja-JP" sz="2800" dirty="0">
                <a:latin typeface="Meiryo" panose="020B0604030504040204" pitchFamily="34" charset="-128"/>
                <a:ea typeface="Meiryo" panose="020B0604030504040204" pitchFamily="34" charset="-128"/>
              </a:rPr>
              <a:t>12</a:t>
            </a:r>
            <a:r>
              <a:rPr lang="ja-JP" altLang="en-US" sz="2800">
                <a:latin typeface="Meiryo" panose="020B0604030504040204" pitchFamily="34" charset="-128"/>
                <a:ea typeface="Meiryo" panose="020B0604030504040204" pitchFamily="34" charset="-128"/>
              </a:rPr>
              <a:t>）</a:t>
            </a:r>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収集期間：</a:t>
            </a:r>
            <a:r>
              <a:rPr lang="en-US" altLang="ja-JP" sz="2800" dirty="0">
                <a:latin typeface="Meiryo" panose="020B0604030504040204" pitchFamily="34" charset="-128"/>
                <a:ea typeface="Meiryo" panose="020B0604030504040204" pitchFamily="34" charset="-128"/>
              </a:rPr>
              <a:t>2017</a:t>
            </a:r>
            <a:r>
              <a:rPr lang="ja-JP" altLang="en-US" sz="2800">
                <a:latin typeface="Meiryo" panose="020B0604030504040204" pitchFamily="34" charset="-128"/>
                <a:ea typeface="Meiryo" panose="020B0604030504040204" pitchFamily="34" charset="-128"/>
              </a:rPr>
              <a:t>年</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月</a:t>
            </a:r>
            <a:r>
              <a:rPr lang="en-US" altLang="ja-JP" sz="2800" dirty="0">
                <a:latin typeface="Meiryo" panose="020B0604030504040204" pitchFamily="34" charset="-128"/>
                <a:ea typeface="Meiryo" panose="020B0604030504040204" pitchFamily="34" charset="-128"/>
              </a:rPr>
              <a:t>3</a:t>
            </a:r>
            <a:r>
              <a:rPr lang="ja-JP" altLang="en-US" sz="2800">
                <a:latin typeface="Meiryo" panose="020B0604030504040204" pitchFamily="34" charset="-128"/>
                <a:ea typeface="Meiryo" panose="020B0604030504040204" pitchFamily="34" charset="-128"/>
              </a:rPr>
              <a:t>日 </a:t>
            </a:r>
            <a:r>
              <a:rPr lang="en-US" altLang="ja-JP" sz="2800" dirty="0">
                <a:latin typeface="Meiryo" panose="020B0604030504040204" pitchFamily="34" charset="-128"/>
                <a:ea typeface="Meiryo" panose="020B0604030504040204" pitchFamily="34" charset="-128"/>
              </a:rPr>
              <a:t>09:00 </a:t>
            </a:r>
            <a:r>
              <a:rPr lang="ja-JP" altLang="en-US" sz="2800">
                <a:latin typeface="Meiryo" panose="020B0604030504040204" pitchFamily="34" charset="-128"/>
                <a:ea typeface="Meiryo" panose="020B0604030504040204" pitchFamily="34" charset="-128"/>
              </a:rPr>
              <a:t>～ </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月</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日 </a:t>
            </a:r>
            <a:r>
              <a:rPr lang="en-US" altLang="ja-JP" sz="2800" dirty="0">
                <a:latin typeface="Meiryo" panose="020B0604030504040204" pitchFamily="34" charset="-128"/>
                <a:ea typeface="Meiryo" panose="020B0604030504040204" pitchFamily="34" charset="-128"/>
              </a:rPr>
              <a:t>17:00</a:t>
            </a:r>
          </a:p>
          <a:p>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パケット数：約</a:t>
            </a:r>
            <a:r>
              <a:rPr lang="en-US" altLang="ja-JP" sz="2800" dirty="0">
                <a:latin typeface="Meiryo" panose="020B0604030504040204" pitchFamily="34" charset="-128"/>
                <a:ea typeface="Meiryo" panose="020B0604030504040204" pitchFamily="34" charset="-128"/>
              </a:rPr>
              <a:t>159.5</a:t>
            </a:r>
            <a:r>
              <a:rPr lang="ja-JP" altLang="en-US" sz="2800">
                <a:latin typeface="Meiryo" panose="020B0604030504040204" pitchFamily="34" charset="-128"/>
                <a:ea typeface="Meiryo" panose="020B0604030504040204" pitchFamily="34" charset="-128"/>
              </a:rPr>
              <a:t>億パケット</a:t>
            </a:r>
          </a:p>
          <a:p>
            <a:pPr marL="342900" indent="-342900">
              <a:buFont typeface="Arial" panose="020B0604020202020204" pitchFamily="34" charset="0"/>
              <a:buChar char="•"/>
            </a:pPr>
            <a:endParaRPr lang="en-US"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022057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8BE7F-D94A-F648-1894-1ED8A003D710}"/>
              </a:ext>
            </a:extLst>
          </p:cNvPr>
          <p:cNvSpPr>
            <a:spLocks noGrp="1"/>
          </p:cNvSpPr>
          <p:nvPr>
            <p:ph type="title"/>
          </p:nvPr>
        </p:nvSpPr>
        <p:spPr/>
        <p:txBody>
          <a:bodyPr>
            <a:normAutofit/>
          </a:bodyPr>
          <a:lstStyle/>
          <a:p>
            <a:r>
              <a:rPr lang="ja-JP" altLang="en-US" sz="3600" b="1">
                <a:latin typeface="Meiryo" panose="020B0604030504040204" pitchFamily="34" charset="-128"/>
                <a:ea typeface="Meiryo" panose="020B0604030504040204" pitchFamily="34" charset="-128"/>
              </a:rPr>
              <a:t>評価環境</a:t>
            </a:r>
            <a:endParaRPr lang="en-JP" sz="36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EDD8289-75B6-092C-53E3-B8993888EDA9}"/>
              </a:ext>
            </a:extLst>
          </p:cNvPr>
          <p:cNvSpPr>
            <a:spLocks noGrp="1"/>
          </p:cNvSpPr>
          <p:nvPr>
            <p:ph idx="1"/>
          </p:nvPr>
        </p:nvSpPr>
        <p:spPr>
          <a:xfrm>
            <a:off x="754380" y="1872698"/>
            <a:ext cx="9464040" cy="5221606"/>
          </a:xfrm>
        </p:spPr>
        <p:txBody>
          <a:bodyPr>
            <a:normAutofit fontScale="92500"/>
          </a:bodyPr>
          <a:lstStyle/>
          <a:p>
            <a:pPr>
              <a:buFont typeface="+mj-lt"/>
              <a:buAutoNum type="arabicPeriod"/>
            </a:pPr>
            <a:r>
              <a:rPr lang="en-US" sz="3200" dirty="0">
                <a:latin typeface="Meiryo" panose="020B0604030504040204" pitchFamily="34" charset="-128"/>
                <a:ea typeface="Meiryo" panose="020B0604030504040204" pitchFamily="34" charset="-128"/>
              </a:rPr>
              <a:t>Edge Gateway</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Raspberry Pi 4B（single board computer</a:t>
            </a:r>
            <a:r>
              <a:rPr lang="ja-JP" altLang="en-US" sz="3200">
                <a:latin typeface="Meiryo" panose="020B0604030504040204" pitchFamily="34" charset="-128"/>
                <a:ea typeface="Meiryo" panose="020B0604030504040204" pitchFamily="34" charset="-128"/>
              </a:rPr>
              <a:t>）</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Quad-core Cortex-A72 </a:t>
            </a:r>
            <a:r>
              <a:rPr lang="ja-JP" altLang="en-US" sz="3200">
                <a:latin typeface="Meiryo" panose="020B0604030504040204" pitchFamily="34" charset="-128"/>
                <a:ea typeface="Meiryo" panose="020B0604030504040204" pitchFamily="34" charset="-128"/>
              </a:rPr>
              <a:t>プロセッサ、</a:t>
            </a:r>
            <a:r>
              <a:rPr lang="en-US" altLang="ja-JP" sz="3200" dirty="0">
                <a:latin typeface="Meiryo" panose="020B0604030504040204" pitchFamily="34" charset="-128"/>
                <a:ea typeface="Meiryo" panose="020B0604030504040204" pitchFamily="34" charset="-128"/>
              </a:rPr>
              <a:t>8</a:t>
            </a:r>
            <a:r>
              <a:rPr lang="en-US" sz="3200" dirty="0">
                <a:latin typeface="Meiryo" panose="020B0604030504040204" pitchFamily="34" charset="-128"/>
                <a:ea typeface="Meiryo" panose="020B0604030504040204" pitchFamily="34" charset="-128"/>
              </a:rPr>
              <a:t>GB RAM</a:t>
            </a:r>
          </a:p>
          <a:p>
            <a:pPr marL="742950" lvl="1" indent="-285750">
              <a:buFont typeface="+mj-lt"/>
              <a:buAutoNum type="arabicPeriod"/>
            </a:pPr>
            <a:r>
              <a:rPr lang="ja-JP" altLang="en-US" sz="3200">
                <a:latin typeface="Meiryo" panose="020B0604030504040204" pitchFamily="34" charset="-128"/>
                <a:ea typeface="Meiryo" panose="020B0604030504040204" pitchFamily="34" charset="-128"/>
              </a:rPr>
              <a:t>小型デバイス上での </a:t>
            </a:r>
            <a:r>
              <a:rPr lang="en-US" sz="3200" dirty="0">
                <a:latin typeface="Meiryo" panose="020B0604030504040204" pitchFamily="34" charset="-128"/>
                <a:ea typeface="Meiryo" panose="020B0604030504040204" pitchFamily="34" charset="-128"/>
              </a:rPr>
              <a:t>IDS </a:t>
            </a:r>
            <a:r>
              <a:rPr lang="ja-JP" altLang="en-US" sz="3200">
                <a:latin typeface="Meiryo" panose="020B0604030504040204" pitchFamily="34" charset="-128"/>
                <a:ea typeface="Meiryo" panose="020B0604030504040204" pitchFamily="34" charset="-128"/>
              </a:rPr>
              <a:t>の性能を評価</a:t>
            </a:r>
          </a:p>
          <a:p>
            <a:pPr>
              <a:buFont typeface="+mj-lt"/>
              <a:buAutoNum type="arabicPeriod"/>
            </a:pPr>
            <a:r>
              <a:rPr lang="en-US" sz="3200" dirty="0">
                <a:latin typeface="Meiryo" panose="020B0604030504040204" pitchFamily="34" charset="-128"/>
                <a:ea typeface="Meiryo" panose="020B0604030504040204" pitchFamily="34" charset="-128"/>
              </a:rPr>
              <a:t>Edge Server</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PC </a:t>
            </a:r>
            <a:r>
              <a:rPr lang="ja-JP" altLang="en-US" sz="3200">
                <a:latin typeface="Meiryo" panose="020B0604030504040204" pitchFamily="34" charset="-128"/>
                <a:ea typeface="Meiryo" panose="020B0604030504040204" pitchFamily="34" charset="-128"/>
              </a:rPr>
              <a:t>環境</a:t>
            </a:r>
          </a:p>
          <a:p>
            <a:pPr marL="742950" lvl="1" indent="-285750">
              <a:buFont typeface="+mj-lt"/>
              <a:buAutoNum type="arabicPeriod"/>
            </a:pPr>
            <a:r>
              <a:rPr lang="en-US" altLang="ja-JP" sz="3200" dirty="0">
                <a:latin typeface="Meiryo" panose="020B0604030504040204" pitchFamily="34" charset="-128"/>
                <a:ea typeface="Meiryo" panose="020B0604030504040204" pitchFamily="34" charset="-128"/>
              </a:rPr>
              <a:t>8 </a:t>
            </a:r>
            <a:r>
              <a:rPr lang="en-US" sz="3200" dirty="0">
                <a:latin typeface="Meiryo" panose="020B0604030504040204" pitchFamily="34" charset="-128"/>
                <a:ea typeface="Meiryo" panose="020B0604030504040204" pitchFamily="34" charset="-128"/>
              </a:rPr>
              <a:t>Intel-i7 </a:t>
            </a:r>
            <a:r>
              <a:rPr lang="ja-JP" altLang="en-US" sz="3200">
                <a:latin typeface="Meiryo" panose="020B0604030504040204" pitchFamily="34" charset="-128"/>
                <a:ea typeface="Meiryo" panose="020B0604030504040204" pitchFamily="34" charset="-128"/>
              </a:rPr>
              <a:t>プロセッサ、</a:t>
            </a:r>
            <a:r>
              <a:rPr lang="en-US" altLang="ja-JP" sz="3200" dirty="0">
                <a:latin typeface="Meiryo" panose="020B0604030504040204" pitchFamily="34" charset="-128"/>
                <a:ea typeface="Meiryo" panose="020B0604030504040204" pitchFamily="34" charset="-128"/>
              </a:rPr>
              <a:t>16</a:t>
            </a:r>
            <a:r>
              <a:rPr lang="en-US" sz="3200" dirty="0">
                <a:latin typeface="Meiryo" panose="020B0604030504040204" pitchFamily="34" charset="-128"/>
                <a:ea typeface="Meiryo" panose="020B0604030504040204" pitchFamily="34" charset="-128"/>
              </a:rPr>
              <a:t>GB RAM</a:t>
            </a:r>
          </a:p>
          <a:p>
            <a:pPr marL="742950" lvl="1" indent="-285750">
              <a:buFont typeface="+mj-lt"/>
              <a:buAutoNum type="arabicPeriod"/>
            </a:pPr>
            <a:r>
              <a:rPr lang="ja-JP" altLang="en-US" sz="3200">
                <a:latin typeface="Meiryo" panose="020B0604030504040204" pitchFamily="34" charset="-128"/>
                <a:ea typeface="Meiryo" panose="020B0604030504040204" pitchFamily="34" charset="-128"/>
              </a:rPr>
              <a:t>高性能サーバーでの </a:t>
            </a:r>
            <a:r>
              <a:rPr lang="en-US" sz="3200" dirty="0">
                <a:latin typeface="Meiryo" panose="020B0604030504040204" pitchFamily="34" charset="-128"/>
                <a:ea typeface="Meiryo" panose="020B0604030504040204" pitchFamily="34" charset="-128"/>
              </a:rPr>
              <a:t>IDS </a:t>
            </a:r>
            <a:r>
              <a:rPr lang="ja-JP" altLang="en-US" sz="3200">
                <a:latin typeface="Meiryo" panose="020B0604030504040204" pitchFamily="34" charset="-128"/>
                <a:ea typeface="Meiryo" panose="020B0604030504040204" pitchFamily="34" charset="-128"/>
              </a:rPr>
              <a:t>性能評価</a:t>
            </a:r>
          </a:p>
          <a:p>
            <a:r>
              <a:rPr lang="ja-JP" altLang="en-US" sz="3200">
                <a:latin typeface="Meiryo" panose="020B0604030504040204" pitchFamily="34" charset="-128"/>
                <a:ea typeface="Meiryo" panose="020B0604030504040204" pitchFamily="34" charset="-128"/>
              </a:rPr>
              <a:t>共通環境：</a:t>
            </a:r>
          </a:p>
          <a:p>
            <a:pPr>
              <a:buFont typeface="Arial" panose="020B0604020202020204" pitchFamily="34" charset="0"/>
              <a:buChar char="•"/>
            </a:pPr>
            <a:r>
              <a:rPr lang="en-US" altLang="ja-JP" sz="3200" dirty="0">
                <a:latin typeface="Meiryo" panose="020B0604030504040204" pitchFamily="34" charset="-128"/>
                <a:ea typeface="Meiryo" panose="020B0604030504040204" pitchFamily="34" charset="-128"/>
              </a:rPr>
              <a:t>64-</a:t>
            </a:r>
            <a:r>
              <a:rPr lang="en-US" sz="3200" dirty="0">
                <a:latin typeface="Meiryo" panose="020B0604030504040204" pitchFamily="34" charset="-128"/>
                <a:ea typeface="Meiryo" panose="020B0604030504040204" pitchFamily="34" charset="-128"/>
              </a:rPr>
              <a:t>bit Ubuntu OS </a:t>
            </a:r>
            <a:r>
              <a:rPr lang="ja-JP" altLang="en-US" sz="3200">
                <a:latin typeface="Meiryo" panose="020B0604030504040204" pitchFamily="34" charset="-128"/>
                <a:ea typeface="Meiryo" panose="020B0604030504040204" pitchFamily="34" charset="-128"/>
              </a:rPr>
              <a:t>上で稼働</a:t>
            </a:r>
          </a:p>
          <a:p>
            <a:endParaRPr lang="en-JP" dirty="0"/>
          </a:p>
        </p:txBody>
      </p:sp>
      <p:sp>
        <p:nvSpPr>
          <p:cNvPr id="4" name="Slide Number Placeholder 3">
            <a:extLst>
              <a:ext uri="{FF2B5EF4-FFF2-40B4-BE49-F238E27FC236}">
                <a16:creationId xmlns:a16="http://schemas.microsoft.com/office/drawing/2014/main" id="{689155AE-7494-EC57-C9F6-B15479AE3173}"/>
              </a:ext>
            </a:extLst>
          </p:cNvPr>
          <p:cNvSpPr>
            <a:spLocks noGrp="1"/>
          </p:cNvSpPr>
          <p:nvPr>
            <p:ph type="sldNum" sz="quarter" idx="12"/>
          </p:nvPr>
        </p:nvSpPr>
        <p:spPr/>
        <p:txBody>
          <a:bodyPr/>
          <a:lstStyle/>
          <a:p>
            <a:fld id="{BB44241B-2579-694C-B40C-A1E3D5F0E4EC}" type="slidenum">
              <a:rPr lang="en-JP" smtClean="0"/>
              <a:pPr/>
              <a:t>30</a:t>
            </a:fld>
            <a:endParaRPr lang="en-JP" dirty="0"/>
          </a:p>
        </p:txBody>
      </p:sp>
    </p:spTree>
    <p:extLst>
      <p:ext uri="{BB962C8B-B14F-4D97-AF65-F5344CB8AC3E}">
        <p14:creationId xmlns:p14="http://schemas.microsoft.com/office/powerpoint/2010/main" val="2230417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842D4E-1E54-5493-2499-ACAEAD1C66E3}"/>
              </a:ext>
            </a:extLst>
          </p:cNvPr>
          <p:cNvSpPr>
            <a:spLocks noGrp="1"/>
          </p:cNvSpPr>
          <p:nvPr>
            <p:ph type="sldNum" sz="quarter" idx="12"/>
          </p:nvPr>
        </p:nvSpPr>
        <p:spPr/>
        <p:txBody>
          <a:bodyPr/>
          <a:lstStyle/>
          <a:p>
            <a:fld id="{BB44241B-2579-694C-B40C-A1E3D5F0E4EC}" type="slidenum">
              <a:rPr lang="en-JP" smtClean="0"/>
              <a:pPr/>
              <a:t>31</a:t>
            </a:fld>
            <a:endParaRPr lang="en-JP" dirty="0"/>
          </a:p>
        </p:txBody>
      </p:sp>
      <p:pic>
        <p:nvPicPr>
          <p:cNvPr id="5" name="Picture 4">
            <a:extLst>
              <a:ext uri="{FF2B5EF4-FFF2-40B4-BE49-F238E27FC236}">
                <a16:creationId xmlns:a16="http://schemas.microsoft.com/office/drawing/2014/main" id="{58E1B122-646E-9B5D-7DFF-DC00F636769B}"/>
              </a:ext>
            </a:extLst>
          </p:cNvPr>
          <p:cNvPicPr>
            <a:picLocks noChangeAspect="1"/>
          </p:cNvPicPr>
          <p:nvPr/>
        </p:nvPicPr>
        <p:blipFill>
          <a:blip r:embed="rId3"/>
          <a:stretch>
            <a:fillRect/>
          </a:stretch>
        </p:blipFill>
        <p:spPr>
          <a:xfrm>
            <a:off x="81915" y="1002742"/>
            <a:ext cx="5372100" cy="4313841"/>
          </a:xfrm>
          <a:prstGeom prst="rect">
            <a:avLst/>
          </a:prstGeom>
        </p:spPr>
      </p:pic>
      <p:sp>
        <p:nvSpPr>
          <p:cNvPr id="7" name="TextBox 6">
            <a:extLst>
              <a:ext uri="{FF2B5EF4-FFF2-40B4-BE49-F238E27FC236}">
                <a16:creationId xmlns:a16="http://schemas.microsoft.com/office/drawing/2014/main" id="{4CCAC981-9711-557E-6D6E-BBEBA697A288}"/>
              </a:ext>
            </a:extLst>
          </p:cNvPr>
          <p:cNvSpPr txBox="1"/>
          <p:nvPr/>
        </p:nvSpPr>
        <p:spPr>
          <a:xfrm>
            <a:off x="666750" y="5569677"/>
            <a:ext cx="4819650" cy="1569660"/>
          </a:xfrm>
          <a:prstGeom prst="rect">
            <a:avLst/>
          </a:prstGeom>
          <a:noFill/>
        </p:spPr>
        <p:txBody>
          <a:bodyPr wrap="square">
            <a:spAutoFit/>
          </a:bodyPr>
          <a:lstStyle/>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図 + 表4</a:t>
            </a:r>
          </a:p>
          <a:p>
            <a:r>
              <a:rPr lang="en-JP" sz="2400" dirty="0">
                <a:latin typeface="Meiryo" panose="020B0604030504040204" pitchFamily="34" charset="-128"/>
                <a:ea typeface="Meiryo" panose="020B0604030504040204" pitchFamily="34" charset="-128"/>
              </a:rPr>
              <a:t>システムはネットワークトラフィックを </a:t>
            </a:r>
            <a:r>
              <a:rPr lang="en-JP" sz="2400" dirty="0">
                <a:solidFill>
                  <a:srgbClr val="00B050"/>
                </a:solidFill>
                <a:latin typeface="Meiryo" panose="020B0604030504040204" pitchFamily="34" charset="-128"/>
                <a:ea typeface="Meiryo" panose="020B0604030504040204" pitchFamily="34" charset="-128"/>
              </a:rPr>
              <a:t>「</a:t>
            </a:r>
            <a:r>
              <a:rPr lang="ja-JP" altLang="en-US" sz="2400" b="0" i="0">
                <a:solidFill>
                  <a:srgbClr val="222222"/>
                </a:solidFill>
                <a:effectLst/>
                <a:latin typeface="Source Han Sans"/>
              </a:rPr>
              <a:t> </a:t>
            </a:r>
            <a:r>
              <a:rPr lang="ja-JP" altLang="en-US" sz="2400" b="0" i="0">
                <a:solidFill>
                  <a:srgbClr val="92D050"/>
                </a:solidFill>
                <a:effectLst/>
                <a:latin typeface="Meiryo" panose="020B0604030504040204" pitchFamily="34" charset="-128"/>
                <a:ea typeface="Meiryo" panose="020B0604030504040204" pitchFamily="34" charset="-128"/>
              </a:rPr>
              <a:t>正常</a:t>
            </a:r>
            <a:r>
              <a:rPr lang="ja-JP" altLang="en-US" sz="2400" b="0" i="0">
                <a:solidFill>
                  <a:srgbClr val="222222"/>
                </a:solidFill>
                <a:effectLst/>
                <a:latin typeface="Source Han Sans"/>
              </a:rPr>
              <a:t> </a:t>
            </a:r>
            <a:r>
              <a:rPr lang="en-JP" sz="2400" dirty="0">
                <a:solidFill>
                  <a:srgbClr val="00B050"/>
                </a:solidFill>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と </a:t>
            </a:r>
            <a:endParaRPr lang="mn-MN" sz="2400" dirty="0">
              <a:latin typeface="Meiryo" panose="020B0604030504040204" pitchFamily="34" charset="-128"/>
              <a:ea typeface="Meiryo" panose="020B0604030504040204" pitchFamily="34" charset="-128"/>
            </a:endParaRPr>
          </a:p>
          <a:p>
            <a:r>
              <a:rPr lang="en-JP" sz="2400" dirty="0">
                <a:solidFill>
                  <a:srgbClr val="FF0000"/>
                </a:solidFill>
                <a:latin typeface="Meiryo" panose="020B0604030504040204" pitchFamily="34" charset="-128"/>
                <a:ea typeface="Meiryo" panose="020B0604030504040204" pitchFamily="34" charset="-128"/>
              </a:rPr>
              <a:t>「攻撃」 </a:t>
            </a:r>
            <a:r>
              <a:rPr lang="en-JP" sz="2400" dirty="0">
                <a:latin typeface="Meiryo" panose="020B0604030504040204" pitchFamily="34" charset="-128"/>
                <a:ea typeface="Meiryo" panose="020B0604030504040204" pitchFamily="34" charset="-128"/>
              </a:rPr>
              <a:t>の2クラスに分類</a:t>
            </a:r>
          </a:p>
        </p:txBody>
      </p:sp>
      <p:sp>
        <p:nvSpPr>
          <p:cNvPr id="9" name="TextBox 8">
            <a:extLst>
              <a:ext uri="{FF2B5EF4-FFF2-40B4-BE49-F238E27FC236}">
                <a16:creationId xmlns:a16="http://schemas.microsoft.com/office/drawing/2014/main" id="{30CC7CD4-51CD-9406-3BB3-53D85A6B7037}"/>
              </a:ext>
            </a:extLst>
          </p:cNvPr>
          <p:cNvSpPr txBox="1"/>
          <p:nvPr/>
        </p:nvSpPr>
        <p:spPr>
          <a:xfrm>
            <a:off x="352424" y="417967"/>
            <a:ext cx="10359118" cy="584775"/>
          </a:xfrm>
          <a:prstGeom prst="rect">
            <a:avLst/>
          </a:prstGeom>
          <a:noFill/>
        </p:spPr>
        <p:txBody>
          <a:bodyPr wrap="square">
            <a:spAutoFit/>
          </a:bodyPr>
          <a:lstStyle/>
          <a:p>
            <a:r>
              <a:rPr lang="ja-JP" altLang="en-US" sz="3200">
                <a:latin typeface="Meiryo" panose="020B0604030504040204" pitchFamily="34" charset="-128"/>
                <a:ea typeface="Meiryo" panose="020B0604030504040204" pitchFamily="34" charset="-128"/>
              </a:rPr>
              <a:t>二値分類攻撃検出 </a:t>
            </a:r>
            <a:r>
              <a:rPr lang="en-US" altLang="ja-JP" sz="3200" dirty="0"/>
              <a:t>(</a:t>
            </a:r>
            <a:r>
              <a:rPr lang="en-US" sz="3200" dirty="0"/>
              <a:t>Binary-class Attack Detection)</a:t>
            </a:r>
            <a:endParaRPr lang="en-JP" sz="3200"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CC0E8CE9-B70C-8AA1-6F23-15008D1C59D2}"/>
              </a:ext>
            </a:extLst>
          </p:cNvPr>
          <p:cNvSpPr txBox="1"/>
          <p:nvPr/>
        </p:nvSpPr>
        <p:spPr>
          <a:xfrm>
            <a:off x="5454015" y="1512778"/>
            <a:ext cx="5486400" cy="2554545"/>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Realguard の結果</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TPR (True Positive Rate) = 99.66% → 攻撃を正しく検知する能力</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FPR (False Positive Rate) = 0.40% → 誤警報の割合</a:t>
            </a:r>
          </a:p>
          <a:p>
            <a:r>
              <a:rPr lang="en-JP" sz="2000" dirty="0">
                <a:latin typeface="Meiryo" panose="020B0604030504040204" pitchFamily="34" charset="-128"/>
                <a:ea typeface="Meiryo" panose="020B0604030504040204" pitchFamily="34" charset="-128"/>
              </a:rPr>
              <a:t>Accuracy = 99.64% → 全体の正確性</a:t>
            </a:r>
          </a:p>
        </p:txBody>
      </p:sp>
      <p:sp>
        <p:nvSpPr>
          <p:cNvPr id="16" name="角丸四角形吹き出し 83">
            <a:extLst>
              <a:ext uri="{FF2B5EF4-FFF2-40B4-BE49-F238E27FC236}">
                <a16:creationId xmlns:a16="http://schemas.microsoft.com/office/drawing/2014/main" id="{9C0C7BFF-73B9-BC04-4D18-31F8EBC42A77}"/>
              </a:ext>
            </a:extLst>
          </p:cNvPr>
          <p:cNvSpPr/>
          <p:nvPr/>
        </p:nvSpPr>
        <p:spPr>
          <a:xfrm>
            <a:off x="6153149" y="4320417"/>
            <a:ext cx="4558393" cy="3307205"/>
          </a:xfrm>
          <a:prstGeom prst="cloudCallout">
            <a:avLst>
              <a:gd name="adj1" fmla="val -75102"/>
              <a:gd name="adj2" fmla="val -36514"/>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rgbClr val="C00000"/>
                </a:solidFill>
                <a:latin typeface="Meiryo" panose="020B0604030504040204" pitchFamily="34" charset="-128"/>
                <a:ea typeface="Meiryo" panose="020B0604030504040204" pitchFamily="34" charset="-128"/>
              </a:rPr>
              <a:t>　</a:t>
            </a:r>
            <a:r>
              <a:rPr lang="en-US" sz="2400" dirty="0">
                <a:solidFill>
                  <a:srgbClr val="C00000"/>
                </a:solidFill>
                <a:latin typeface="Meiryo" panose="020B0604030504040204" pitchFamily="34" charset="-128"/>
                <a:ea typeface="Meiryo" panose="020B0604030504040204" pitchFamily="34" charset="-128"/>
              </a:rPr>
              <a:t>TPR : </a:t>
            </a:r>
            <a:r>
              <a:rPr lang="ja-JP" altLang="en-US" sz="2400">
                <a:solidFill>
                  <a:srgbClr val="C00000"/>
                </a:solidFill>
                <a:latin typeface="Meiryo" panose="020B0604030504040204" pitchFamily="34" charset="-128"/>
                <a:ea typeface="Meiryo" panose="020B0604030504040204" pitchFamily="34" charset="-128"/>
              </a:rPr>
              <a:t>正しく攻撃を検出した割合 → </a:t>
            </a:r>
            <a:r>
              <a:rPr lang="en-US" sz="2400" dirty="0">
                <a:solidFill>
                  <a:srgbClr val="C00000"/>
                </a:solidFill>
                <a:latin typeface="Meiryo" panose="020B0604030504040204" pitchFamily="34" charset="-128"/>
                <a:ea typeface="Meiryo" panose="020B0604030504040204" pitchFamily="34" charset="-128"/>
              </a:rPr>
              <a:t>Realguard </a:t>
            </a:r>
            <a:r>
              <a:rPr lang="ja-JP" altLang="en-US" sz="2400">
                <a:solidFill>
                  <a:srgbClr val="C00000"/>
                </a:solidFill>
                <a:latin typeface="Meiryo" panose="020B0604030504040204" pitchFamily="34" charset="-128"/>
                <a:ea typeface="Meiryo" panose="020B0604030504040204" pitchFamily="34" charset="-128"/>
              </a:rPr>
              <a:t>が最も高い</a:t>
            </a:r>
            <a:endParaRPr lang="en-JP" sz="2400" dirty="0">
              <a:solidFill>
                <a:srgbClr val="C0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865968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48252F-30C6-4D87-F868-A9BE5CE26C54}"/>
              </a:ext>
            </a:extLst>
          </p:cNvPr>
          <p:cNvSpPr>
            <a:spLocks noGrp="1"/>
          </p:cNvSpPr>
          <p:nvPr>
            <p:ph type="sldNum" sz="quarter" idx="12"/>
          </p:nvPr>
        </p:nvSpPr>
        <p:spPr/>
        <p:txBody>
          <a:bodyPr/>
          <a:lstStyle/>
          <a:p>
            <a:fld id="{BB44241B-2579-694C-B40C-A1E3D5F0E4EC}" type="slidenum">
              <a:rPr lang="en-JP" smtClean="0"/>
              <a:pPr/>
              <a:t>32</a:t>
            </a:fld>
            <a:endParaRPr lang="en-JP" dirty="0"/>
          </a:p>
        </p:txBody>
      </p:sp>
      <p:sp>
        <p:nvSpPr>
          <p:cNvPr id="7" name="TextBox 6">
            <a:extLst>
              <a:ext uri="{FF2B5EF4-FFF2-40B4-BE49-F238E27FC236}">
                <a16:creationId xmlns:a16="http://schemas.microsoft.com/office/drawing/2014/main" id="{417F7832-F8D5-B792-D69C-F93A71076138}"/>
              </a:ext>
            </a:extLst>
          </p:cNvPr>
          <p:cNvSpPr txBox="1"/>
          <p:nvPr/>
        </p:nvSpPr>
        <p:spPr>
          <a:xfrm>
            <a:off x="475471" y="163828"/>
            <a:ext cx="9616910" cy="954107"/>
          </a:xfrm>
          <a:prstGeom prst="rect">
            <a:avLst/>
          </a:prstGeom>
          <a:noFill/>
        </p:spPr>
        <p:txBody>
          <a:bodyPr wrap="square">
            <a:spAutoFit/>
          </a:bodyPr>
          <a:lstStyle/>
          <a:p>
            <a:br>
              <a:rPr lang="ja-JP" altLang="en-US" sz="2800" b="1">
                <a:latin typeface="Meiryo" panose="020B0604030504040204" pitchFamily="34" charset="-128"/>
                <a:ea typeface="Meiryo" panose="020B0604030504040204" pitchFamily="34" charset="-128"/>
              </a:rPr>
            </a:br>
            <a:r>
              <a:rPr lang="ja-JP" altLang="en-US" sz="2800" b="1">
                <a:latin typeface="Meiryo" panose="020B0604030504040204" pitchFamily="34" charset="-128"/>
                <a:ea typeface="Meiryo" panose="020B0604030504040204" pitchFamily="34" charset="-128"/>
              </a:rPr>
              <a:t>二値分類（</a:t>
            </a:r>
            <a:r>
              <a:rPr lang="en-US" sz="2800" b="1" dirty="0">
                <a:latin typeface="Meiryo" panose="020B0604030504040204" pitchFamily="34" charset="-128"/>
                <a:ea typeface="Meiryo" panose="020B0604030504040204" pitchFamily="34" charset="-128"/>
              </a:rPr>
              <a:t>Binary-class）</a:t>
            </a:r>
            <a:r>
              <a:rPr lang="ja-JP" altLang="en-US" sz="2800" b="1">
                <a:latin typeface="Meiryo" panose="020B0604030504040204" pitchFamily="34" charset="-128"/>
                <a:ea typeface="Meiryo" panose="020B0604030504040204" pitchFamily="34" charset="-128"/>
              </a:rPr>
              <a:t>検知の結果</a:t>
            </a:r>
            <a:endParaRPr lang="en-JP" sz="2800" b="1"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8A4B8FD-CA8D-B574-1B91-78D36D3729D5}"/>
              </a:ext>
            </a:extLst>
          </p:cNvPr>
          <p:cNvSpPr txBox="1"/>
          <p:nvPr/>
        </p:nvSpPr>
        <p:spPr>
          <a:xfrm>
            <a:off x="1223317" y="4741287"/>
            <a:ext cx="6379265" cy="1015663"/>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Realguard:</a:t>
            </a:r>
            <a:r>
              <a:rPr lang="en-US" sz="2000" dirty="0">
                <a:latin typeface="Meiryo" panose="020B0604030504040204" pitchFamily="34" charset="-128"/>
                <a:ea typeface="Meiryo" panose="020B0604030504040204" pitchFamily="34" charset="-128"/>
              </a:rPr>
              <a:t> TPR = 99.66%（</a:t>
            </a:r>
            <a:r>
              <a:rPr lang="ja-JP" altLang="en-US" sz="2000">
                <a:latin typeface="Meiryo" panose="020B0604030504040204" pitchFamily="34" charset="-128"/>
                <a:ea typeface="Meiryo" panose="020B0604030504040204" pitchFamily="34" charset="-128"/>
              </a:rPr>
              <a:t>最も高い）</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FPR = 0.40%（PSO+LSTM-RNN </a:t>
            </a:r>
            <a:r>
              <a:rPr lang="ja-JP" altLang="en-US" sz="2000">
                <a:latin typeface="Meiryo" panose="020B0604030504040204" pitchFamily="34" charset="-128"/>
                <a:ea typeface="Meiryo" panose="020B0604030504040204" pitchFamily="34" charset="-128"/>
              </a:rPr>
              <a:t>よりやや高い）</a:t>
            </a:r>
            <a:br>
              <a:rPr lang="ja-JP" altLang="en-US" sz="2000">
                <a:latin typeface="Meiryo" panose="020B0604030504040204" pitchFamily="34" charset="-128"/>
                <a:ea typeface="Meiryo" panose="020B0604030504040204" pitchFamily="34" charset="-128"/>
              </a:rPr>
            </a:br>
            <a:r>
              <a:rPr lang="en-US" altLang="ja-JP"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ACC = 99.64%（</a:t>
            </a:r>
            <a:r>
              <a:rPr lang="ja-JP" altLang="en-US" sz="2000">
                <a:latin typeface="Meiryo" panose="020B0604030504040204" pitchFamily="34" charset="-128"/>
                <a:ea typeface="Meiryo" panose="020B0604030504040204" pitchFamily="34" charset="-128"/>
              </a:rPr>
              <a:t>最も高い）</a:t>
            </a:r>
            <a:endParaRPr lang="en-JP" sz="20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B07B1B0C-8270-727A-3789-444843BE4095}"/>
              </a:ext>
            </a:extLst>
          </p:cNvPr>
          <p:cNvSpPr txBox="1"/>
          <p:nvPr/>
        </p:nvSpPr>
        <p:spPr>
          <a:xfrm>
            <a:off x="1223317" y="6167793"/>
            <a:ext cx="6627459" cy="132343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主要指標</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TPR (True Positive Rate): </a:t>
            </a:r>
            <a:r>
              <a:rPr lang="ja-JP" altLang="en-US" sz="2000">
                <a:latin typeface="Meiryo" panose="020B0604030504040204" pitchFamily="34" charset="-128"/>
                <a:ea typeface="Meiryo" panose="020B0604030504040204" pitchFamily="34" charset="-128"/>
              </a:rPr>
              <a:t>攻撃を正しく検知した割合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FPR (False Positive Rate): </a:t>
            </a:r>
            <a:r>
              <a:rPr lang="ja-JP" altLang="en-US" sz="2000">
                <a:latin typeface="Meiryo" panose="020B0604030504040204" pitchFamily="34" charset="-128"/>
                <a:ea typeface="Meiryo" panose="020B0604030504040204" pitchFamily="34" charset="-128"/>
              </a:rPr>
              <a:t>誤警報の割合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ACC (Accuracy): </a:t>
            </a:r>
            <a:r>
              <a:rPr lang="ja-JP" altLang="en-US" sz="2000">
                <a:latin typeface="Meiryo" panose="020B0604030504040204" pitchFamily="34" charset="-128"/>
                <a:ea typeface="Meiryo" panose="020B0604030504040204" pitchFamily="34" charset="-128"/>
              </a:rPr>
              <a:t>全体の正確性</a:t>
            </a:r>
          </a:p>
        </p:txBody>
      </p:sp>
      <p:sp>
        <p:nvSpPr>
          <p:cNvPr id="14" name="TextBox 13">
            <a:extLst>
              <a:ext uri="{FF2B5EF4-FFF2-40B4-BE49-F238E27FC236}">
                <a16:creationId xmlns:a16="http://schemas.microsoft.com/office/drawing/2014/main" id="{E73A22DD-CF55-FED6-669F-20A324BF988E}"/>
              </a:ext>
            </a:extLst>
          </p:cNvPr>
          <p:cNvSpPr txBox="1"/>
          <p:nvPr/>
        </p:nvSpPr>
        <p:spPr>
          <a:xfrm>
            <a:off x="919608" y="1696407"/>
            <a:ext cx="9298812" cy="369332"/>
          </a:xfrm>
          <a:prstGeom prst="rect">
            <a:avLst/>
          </a:prstGeom>
          <a:noFill/>
        </p:spPr>
        <p:txBody>
          <a:bodyPr wrap="square">
            <a:spAutoFit/>
          </a:bodyPr>
          <a:lstStyle/>
          <a:p>
            <a:r>
              <a:rPr lang="en-US" sz="1800" dirty="0">
                <a:latin typeface="Meiryo" panose="020B0604030504040204" pitchFamily="34" charset="-128"/>
                <a:ea typeface="Meiryo" panose="020B0604030504040204" pitchFamily="34" charset="-128"/>
              </a:rPr>
              <a:t>Realguard </a:t>
            </a:r>
            <a:r>
              <a:rPr lang="ja-JP" altLang="en-US" sz="1800">
                <a:latin typeface="Meiryo" panose="020B0604030504040204" pitchFamily="34" charset="-128"/>
                <a:ea typeface="Meiryo" panose="020B0604030504040204" pitchFamily="34" charset="-128"/>
              </a:rPr>
              <a:t>は </a:t>
            </a:r>
            <a:r>
              <a:rPr lang="en-US" altLang="ja-JP" sz="1800" dirty="0">
                <a:latin typeface="Meiryo" panose="020B0604030504040204" pitchFamily="34" charset="-128"/>
                <a:ea typeface="Meiryo" panose="020B0604030504040204" pitchFamily="34" charset="-128"/>
              </a:rPr>
              <a:t>8</a:t>
            </a:r>
            <a:r>
              <a:rPr lang="ja-JP" altLang="en-US" sz="1800">
                <a:latin typeface="Meiryo" panose="020B0604030504040204" pitchFamily="34" charset="-128"/>
                <a:ea typeface="Meiryo" panose="020B0604030504040204" pitchFamily="34" charset="-128"/>
              </a:rPr>
              <a:t>つの競合システム（</a:t>
            </a:r>
            <a:r>
              <a:rPr lang="en-US" sz="1800" dirty="0">
                <a:latin typeface="Meiryo" panose="020B0604030504040204" pitchFamily="34" charset="-128"/>
                <a:ea typeface="Meiryo" panose="020B0604030504040204" pitchFamily="34" charset="-128"/>
              </a:rPr>
              <a:t>NB-SVM、DT-EnSVM、DBN </a:t>
            </a:r>
            <a:r>
              <a:rPr lang="ja-JP" altLang="en-US" sz="1800">
                <a:latin typeface="Meiryo" panose="020B0604030504040204" pitchFamily="34" charset="-128"/>
                <a:ea typeface="Meiryo" panose="020B0604030504040204" pitchFamily="34" charset="-128"/>
              </a:rPr>
              <a:t>など）と比較された。</a:t>
            </a:r>
            <a:endParaRPr lang="en-JP" dirty="0"/>
          </a:p>
        </p:txBody>
      </p:sp>
      <p:graphicFrame>
        <p:nvGraphicFramePr>
          <p:cNvPr id="2" name="Table 1">
            <a:extLst>
              <a:ext uri="{FF2B5EF4-FFF2-40B4-BE49-F238E27FC236}">
                <a16:creationId xmlns:a16="http://schemas.microsoft.com/office/drawing/2014/main" id="{3522D3EB-5907-4D29-952D-26B68458526C}"/>
              </a:ext>
            </a:extLst>
          </p:cNvPr>
          <p:cNvGraphicFramePr>
            <a:graphicFrameLocks noGrp="1"/>
          </p:cNvGraphicFramePr>
          <p:nvPr>
            <p:extLst>
              <p:ext uri="{D42A27DB-BD31-4B8C-83A1-F6EECF244321}">
                <p14:modId xmlns:p14="http://schemas.microsoft.com/office/powerpoint/2010/main" val="1018442321"/>
              </p:ext>
            </p:extLst>
          </p:nvPr>
        </p:nvGraphicFramePr>
        <p:xfrm>
          <a:off x="754060" y="2425444"/>
          <a:ext cx="9464679" cy="1905001"/>
        </p:xfrm>
        <a:graphic>
          <a:graphicData uri="http://schemas.openxmlformats.org/drawingml/2006/table">
            <a:tbl>
              <a:tblPr firstRow="1" firstCol="1" bandRow="1">
                <a:tableStyleId>{F5AB1C69-6EDB-4FF4-983F-18BD219EF322}</a:tableStyleId>
              </a:tblPr>
              <a:tblGrid>
                <a:gridCol w="1051631">
                  <a:extLst>
                    <a:ext uri="{9D8B030D-6E8A-4147-A177-3AD203B41FA5}">
                      <a16:colId xmlns:a16="http://schemas.microsoft.com/office/drawing/2014/main" val="1180504597"/>
                    </a:ext>
                  </a:extLst>
                </a:gridCol>
                <a:gridCol w="1259242">
                  <a:extLst>
                    <a:ext uri="{9D8B030D-6E8A-4147-A177-3AD203B41FA5}">
                      <a16:colId xmlns:a16="http://schemas.microsoft.com/office/drawing/2014/main" val="4014388271"/>
                    </a:ext>
                  </a:extLst>
                </a:gridCol>
                <a:gridCol w="844020">
                  <a:extLst>
                    <a:ext uri="{9D8B030D-6E8A-4147-A177-3AD203B41FA5}">
                      <a16:colId xmlns:a16="http://schemas.microsoft.com/office/drawing/2014/main" val="1937664285"/>
                    </a:ext>
                  </a:extLst>
                </a:gridCol>
                <a:gridCol w="1051631">
                  <a:extLst>
                    <a:ext uri="{9D8B030D-6E8A-4147-A177-3AD203B41FA5}">
                      <a16:colId xmlns:a16="http://schemas.microsoft.com/office/drawing/2014/main" val="1221395706"/>
                    </a:ext>
                  </a:extLst>
                </a:gridCol>
                <a:gridCol w="1051631">
                  <a:extLst>
                    <a:ext uri="{9D8B030D-6E8A-4147-A177-3AD203B41FA5}">
                      <a16:colId xmlns:a16="http://schemas.microsoft.com/office/drawing/2014/main" val="3100717248"/>
                    </a:ext>
                  </a:extLst>
                </a:gridCol>
                <a:gridCol w="1051631">
                  <a:extLst>
                    <a:ext uri="{9D8B030D-6E8A-4147-A177-3AD203B41FA5}">
                      <a16:colId xmlns:a16="http://schemas.microsoft.com/office/drawing/2014/main" val="4180601562"/>
                    </a:ext>
                  </a:extLst>
                </a:gridCol>
                <a:gridCol w="1051631">
                  <a:extLst>
                    <a:ext uri="{9D8B030D-6E8A-4147-A177-3AD203B41FA5}">
                      <a16:colId xmlns:a16="http://schemas.microsoft.com/office/drawing/2014/main" val="1964844793"/>
                    </a:ext>
                  </a:extLst>
                </a:gridCol>
                <a:gridCol w="1051631">
                  <a:extLst>
                    <a:ext uri="{9D8B030D-6E8A-4147-A177-3AD203B41FA5}">
                      <a16:colId xmlns:a16="http://schemas.microsoft.com/office/drawing/2014/main" val="1909642738"/>
                    </a:ext>
                  </a:extLst>
                </a:gridCol>
                <a:gridCol w="1051631">
                  <a:extLst>
                    <a:ext uri="{9D8B030D-6E8A-4147-A177-3AD203B41FA5}">
                      <a16:colId xmlns:a16="http://schemas.microsoft.com/office/drawing/2014/main" val="1028090184"/>
                    </a:ext>
                  </a:extLst>
                </a:gridCol>
              </a:tblGrid>
              <a:tr h="748393">
                <a:tc>
                  <a:txBody>
                    <a:bodyPr/>
                    <a:lstStyle/>
                    <a:p>
                      <a:pPr algn="ctr"/>
                      <a:r>
                        <a:rPr lang="en-JP" sz="2000" kern="100" dirty="0">
                          <a:effectLst/>
                        </a:rPr>
                        <a:t>(%)</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solidFill>
                            <a:srgbClr val="C00000"/>
                          </a:solidFill>
                          <a:effectLst/>
                        </a:rPr>
                        <a:t>Realguard</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effectLst/>
                        </a:rPr>
                        <a:t>NB-SVM</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DT-EnSVM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effectLst/>
                        </a:rPr>
                        <a:t>DBN</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PSO+LSTM-RNN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PSO+DNN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XGB</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AE+ANN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30874120"/>
                  </a:ext>
                </a:extLst>
              </a:tr>
              <a:tr h="385536">
                <a:tc>
                  <a:txBody>
                    <a:bodyPr/>
                    <a:lstStyle/>
                    <a:p>
                      <a:r>
                        <a:rPr lang="en-JP" sz="2000" kern="100">
                          <a:effectLst/>
                        </a:rPr>
                        <a:t>TPR</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solidFill>
                            <a:srgbClr val="C00000"/>
                          </a:solidFill>
                          <a:effectLst/>
                        </a:rPr>
                        <a:t>99.66</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99.15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98.68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97.58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95.81</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10541895"/>
                  </a:ext>
                </a:extLst>
              </a:tr>
              <a:tr h="385536">
                <a:tc>
                  <a:txBody>
                    <a:bodyPr/>
                    <a:lstStyle/>
                    <a:p>
                      <a:r>
                        <a:rPr lang="en-JP" sz="2000" kern="100">
                          <a:effectLst/>
                        </a:rPr>
                        <a:t>FPR</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3.00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4.00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2.10</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0.16</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0.28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24859259"/>
                  </a:ext>
                </a:extLst>
              </a:tr>
              <a:tr h="385536">
                <a:tc>
                  <a:txBody>
                    <a:bodyPr/>
                    <a:lstStyle/>
                    <a:p>
                      <a:r>
                        <a:rPr lang="en-JP" sz="2000" kern="100">
                          <a:effectLst/>
                        </a:rPr>
                        <a:t>ACC</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solidFill>
                            <a:srgbClr val="C00000"/>
                          </a:solidFill>
                          <a:effectLst/>
                        </a:rPr>
                        <a:t>99.64</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98.92</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98.24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98.83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97.85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91.36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98.18</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18732259"/>
                  </a:ext>
                </a:extLst>
              </a:tr>
            </a:tbl>
          </a:graphicData>
        </a:graphic>
      </p:graphicFrame>
    </p:spTree>
    <p:extLst>
      <p:ext uri="{BB962C8B-B14F-4D97-AF65-F5344CB8AC3E}">
        <p14:creationId xmlns:p14="http://schemas.microsoft.com/office/powerpoint/2010/main" val="1044229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989C9-E563-512F-789F-497EB194D842}"/>
              </a:ext>
            </a:extLst>
          </p:cNvPr>
          <p:cNvSpPr>
            <a:spLocks noGrp="1"/>
          </p:cNvSpPr>
          <p:nvPr>
            <p:ph type="sldNum" sz="quarter" idx="12"/>
          </p:nvPr>
        </p:nvSpPr>
        <p:spPr/>
        <p:txBody>
          <a:bodyPr/>
          <a:lstStyle/>
          <a:p>
            <a:fld id="{BB44241B-2579-694C-B40C-A1E3D5F0E4EC}" type="slidenum">
              <a:rPr lang="en-JP" smtClean="0"/>
              <a:pPr/>
              <a:t>33</a:t>
            </a:fld>
            <a:endParaRPr lang="en-JP" dirty="0"/>
          </a:p>
        </p:txBody>
      </p:sp>
      <p:sp>
        <p:nvSpPr>
          <p:cNvPr id="6" name="TextBox 5">
            <a:extLst>
              <a:ext uri="{FF2B5EF4-FFF2-40B4-BE49-F238E27FC236}">
                <a16:creationId xmlns:a16="http://schemas.microsoft.com/office/drawing/2014/main" id="{27303391-C7B0-482D-B45D-567148A32DC3}"/>
              </a:ext>
            </a:extLst>
          </p:cNvPr>
          <p:cNvSpPr txBox="1"/>
          <p:nvPr/>
        </p:nvSpPr>
        <p:spPr>
          <a:xfrm>
            <a:off x="496389" y="724993"/>
            <a:ext cx="10006149" cy="70788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これらの既存研究はすべて</a:t>
            </a:r>
            <a:r>
              <a:rPr lang="en-US" sz="2000"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2000">
                <a:latin typeface="Meiryo" panose="020B0604030504040204" pitchFamily="34" charset="-128"/>
                <a:ea typeface="Meiryo" panose="020B0604030504040204" pitchFamily="34" charset="-128"/>
                <a:cs typeface="Times New Roman" panose="02020603050405020304" pitchFamily="18" charset="0"/>
              </a:rPr>
              <a:t>ベースの</a:t>
            </a:r>
            <a:r>
              <a:rPr lang="en-US" sz="2000" dirty="0">
                <a:latin typeface="Meiryo" panose="020B0604030504040204" pitchFamily="34" charset="-128"/>
                <a:ea typeface="Meiryo" panose="020B0604030504040204" pitchFamily="34" charset="-128"/>
                <a:cs typeface="Times New Roman" panose="02020603050405020304" pitchFamily="18" charset="0"/>
              </a:rPr>
              <a:t>IDS</a:t>
            </a:r>
            <a:r>
              <a:rPr lang="ja-JP" altLang="en-US" sz="2000">
                <a:latin typeface="Meiryo" panose="020B0604030504040204" pitchFamily="34" charset="-128"/>
                <a:ea typeface="Meiryo" panose="020B0604030504040204" pitchFamily="34" charset="-128"/>
                <a:cs typeface="Times New Roman" panose="02020603050405020304" pitchFamily="18" charset="0"/>
              </a:rPr>
              <a:t>であるが、</a:t>
            </a:r>
            <a:r>
              <a:rPr lang="en-US" sz="20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000">
                <a:latin typeface="Meiryo" panose="020B0604030504040204" pitchFamily="34" charset="-128"/>
                <a:ea typeface="Meiryo" panose="020B0604030504040204" pitchFamily="34" charset="-128"/>
                <a:cs typeface="Times New Roman" panose="02020603050405020304" pitchFamily="18" charset="0"/>
              </a:rPr>
              <a:t>のみが</a:t>
            </a:r>
            <a:r>
              <a:rPr lang="en-US" sz="2000" dirty="0">
                <a:latin typeface="Meiryo" panose="020B0604030504040204" pitchFamily="34" charset="-128"/>
                <a:ea typeface="Meiryo" panose="020B0604030504040204" pitchFamily="34" charset="-128"/>
                <a:cs typeface="Times New Roman" panose="02020603050405020304" pitchFamily="18" charset="0"/>
              </a:rPr>
              <a:t>IoT</a:t>
            </a:r>
            <a:r>
              <a:rPr lang="ja-JP" altLang="en-US" sz="2000">
                <a:latin typeface="Meiryo" panose="020B0604030504040204" pitchFamily="34" charset="-128"/>
                <a:ea typeface="Meiryo" panose="020B0604030504040204" pitchFamily="34" charset="-128"/>
                <a:cs typeface="Times New Roman" panose="02020603050405020304" pitchFamily="18" charset="0"/>
              </a:rPr>
              <a:t>ゲートウェイのリアルタイム処理に最適化された軽量モデルである</a:t>
            </a:r>
            <a:r>
              <a:rPr lang="mn-MN" altLang="ja-JP" sz="2000" dirty="0">
                <a:latin typeface="Meiryo" panose="020B0604030504040204" pitchFamily="34" charset="-128"/>
                <a:ea typeface="Meiryo" panose="020B0604030504040204" pitchFamily="34" charset="-128"/>
                <a:cs typeface="Times New Roman" panose="02020603050405020304" pitchFamily="18" charset="0"/>
              </a:rPr>
              <a:t>.</a:t>
            </a:r>
            <a:endParaRPr lang="en-JP" sz="2000" dirty="0">
              <a:latin typeface="Meiryo" panose="020B0604030504040204" pitchFamily="34" charset="-128"/>
              <a:ea typeface="Meiryo" panose="020B0604030504040204" pitchFamily="34" charset="-128"/>
            </a:endParaRPr>
          </a:p>
        </p:txBody>
      </p:sp>
      <p:graphicFrame>
        <p:nvGraphicFramePr>
          <p:cNvPr id="7" name="Table 6">
            <a:extLst>
              <a:ext uri="{FF2B5EF4-FFF2-40B4-BE49-F238E27FC236}">
                <a16:creationId xmlns:a16="http://schemas.microsoft.com/office/drawing/2014/main" id="{8E5B0785-0C9F-F7AB-4FB4-8E7DFC1943C1}"/>
              </a:ext>
            </a:extLst>
          </p:cNvPr>
          <p:cNvGraphicFramePr>
            <a:graphicFrameLocks noGrp="1"/>
          </p:cNvGraphicFramePr>
          <p:nvPr>
            <p:extLst>
              <p:ext uri="{D42A27DB-BD31-4B8C-83A1-F6EECF244321}">
                <p14:modId xmlns:p14="http://schemas.microsoft.com/office/powerpoint/2010/main" val="4011093299"/>
              </p:ext>
            </p:extLst>
          </p:nvPr>
        </p:nvGraphicFramePr>
        <p:xfrm>
          <a:off x="496389" y="1524000"/>
          <a:ext cx="10006149" cy="6076410"/>
        </p:xfrm>
        <a:graphic>
          <a:graphicData uri="http://schemas.openxmlformats.org/drawingml/2006/table">
            <a:tbl>
              <a:tblPr firstRow="1" firstCol="1" bandRow="1">
                <a:tableStyleId>{C083E6E3-FA7D-4D7B-A595-EF9225AFEA82}</a:tableStyleId>
              </a:tblPr>
              <a:tblGrid>
                <a:gridCol w="2743200">
                  <a:extLst>
                    <a:ext uri="{9D8B030D-6E8A-4147-A177-3AD203B41FA5}">
                      <a16:colId xmlns:a16="http://schemas.microsoft.com/office/drawing/2014/main" val="1930128742"/>
                    </a:ext>
                  </a:extLst>
                </a:gridCol>
                <a:gridCol w="2769325">
                  <a:extLst>
                    <a:ext uri="{9D8B030D-6E8A-4147-A177-3AD203B41FA5}">
                      <a16:colId xmlns:a16="http://schemas.microsoft.com/office/drawing/2014/main" val="1525391986"/>
                    </a:ext>
                  </a:extLst>
                </a:gridCol>
                <a:gridCol w="4493624">
                  <a:extLst>
                    <a:ext uri="{9D8B030D-6E8A-4147-A177-3AD203B41FA5}">
                      <a16:colId xmlns:a16="http://schemas.microsoft.com/office/drawing/2014/main" val="2920564913"/>
                    </a:ext>
                  </a:extLst>
                </a:gridCol>
              </a:tblGrid>
              <a:tr h="596760">
                <a:tc>
                  <a:txBody>
                    <a:bodyPr/>
                    <a:lstStyle/>
                    <a:p>
                      <a:pPr algn="ctr"/>
                      <a:r>
                        <a:rPr lang="ja-JP" sz="1800" kern="100">
                          <a:effectLst/>
                        </a:rPr>
                        <a:t>手法</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800" kern="100" dirty="0">
                          <a:effectLst/>
                        </a:rPr>
                        <a:t>ML</a:t>
                      </a:r>
                      <a:r>
                        <a:rPr lang="ja-JP" sz="1800" kern="100">
                          <a:effectLst/>
                        </a:rPr>
                        <a:t>の種類</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800" kern="100">
                          <a:effectLst/>
                        </a:rPr>
                        <a:t>説明</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446076111"/>
                  </a:ext>
                </a:extLst>
              </a:tr>
              <a:tr h="757907">
                <a:tc>
                  <a:txBody>
                    <a:bodyPr/>
                    <a:lstStyle/>
                    <a:p>
                      <a:pPr algn="ctr"/>
                      <a:r>
                        <a:rPr lang="en-JP" sz="2000" kern="100" dirty="0">
                          <a:effectLst/>
                          <a:latin typeface="Meiryo" panose="020B0604030504040204" pitchFamily="34" charset="-128"/>
                          <a:ea typeface="Meiryo" panose="020B0604030504040204" pitchFamily="34" charset="-128"/>
                        </a:rPr>
                        <a:t>Naive Bayes + SVM</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Classical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軽量に見えるが、</a:t>
                      </a:r>
                      <a:r>
                        <a:rPr lang="en-JP" sz="2000" kern="100" dirty="0">
                          <a:effectLst/>
                          <a:latin typeface="Meiryo" panose="020B0604030504040204" pitchFamily="34" charset="-128"/>
                          <a:ea typeface="Meiryo" panose="020B0604030504040204" pitchFamily="34" charset="-128"/>
                        </a:rPr>
                        <a:t>SVM</a:t>
                      </a:r>
                      <a:r>
                        <a:rPr lang="ja-JP" sz="2000" kern="100">
                          <a:effectLst/>
                          <a:latin typeface="Meiryo" panose="020B0604030504040204" pitchFamily="34" charset="-128"/>
                          <a:ea typeface="Meiryo" panose="020B0604030504040204" pitchFamily="34" charset="-128"/>
                        </a:rPr>
                        <a:t>はリアルタイム環境では計算負荷が高い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531098366"/>
                  </a:ext>
                </a:extLst>
              </a:tr>
              <a:tr h="728133">
                <a:tc>
                  <a:txBody>
                    <a:bodyPr/>
                    <a:lstStyle/>
                    <a:p>
                      <a:pPr algn="ctr"/>
                      <a:r>
                        <a:rPr lang="en-JP" sz="2000" kern="100" dirty="0">
                          <a:effectLst/>
                          <a:latin typeface="Meiryo" panose="020B0604030504040204" pitchFamily="34" charset="-128"/>
                          <a:ea typeface="Meiryo" panose="020B0604030504040204" pitchFamily="34" charset="-128"/>
                        </a:rPr>
                        <a:t>Decision Tree + Ensemble SVM</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Ensemble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アンサンブル構造のため計算量が大きく、遅延が発生しやすい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486235348"/>
                  </a:ext>
                </a:extLst>
              </a:tr>
              <a:tr h="604807">
                <a:tc>
                  <a:txBody>
                    <a:bodyPr/>
                    <a:lstStyle/>
                    <a:p>
                      <a:pPr algn="ctr"/>
                      <a:r>
                        <a:rPr lang="en-JP" sz="2000" kern="100">
                          <a:effectLst/>
                          <a:latin typeface="Meiryo" panose="020B0604030504040204" pitchFamily="34" charset="-128"/>
                          <a:ea typeface="Meiryo" panose="020B0604030504040204" pitchFamily="34" charset="-128"/>
                        </a:rPr>
                        <a:t>DBN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Deep Learning</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多層構造により、ゲートウェイ上では重すぎる</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150762075"/>
                  </a:ext>
                </a:extLst>
              </a:tr>
              <a:tr h="604807">
                <a:tc>
                  <a:txBody>
                    <a:bodyPr/>
                    <a:lstStyle/>
                    <a:p>
                      <a:pPr algn="ctr"/>
                      <a:r>
                        <a:rPr lang="en-JP" sz="2000" kern="100">
                          <a:effectLst/>
                          <a:latin typeface="Meiryo" panose="020B0604030504040204" pitchFamily="34" charset="-128"/>
                          <a:ea typeface="Meiryo" panose="020B0604030504040204" pitchFamily="34" charset="-128"/>
                        </a:rPr>
                        <a:t>PSO + LSTM</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Optimization + DL</a:t>
                      </a:r>
                      <a:endParaRPr lang="en-US" sz="2000" dirty="0">
                        <a:latin typeface="Meiryo" panose="020B0604030504040204" pitchFamily="34" charset="-128"/>
                        <a:ea typeface="Meiryo" panose="020B0604030504040204" pitchFamily="34" charset="-128"/>
                        <a:cs typeface="Times New Roman" panose="02020603050405020304" pitchFamily="18" charset="0"/>
                      </a:endParaRPr>
                    </a:p>
                  </a:txBody>
                  <a:tcPr anchor="ctr"/>
                </a:tc>
                <a:tc>
                  <a:txBody>
                    <a:bodyPr/>
                    <a:lstStyle/>
                    <a:p>
                      <a:pPr algn="ctr"/>
                      <a:r>
                        <a:rPr lang="en-JP" sz="2000" kern="100" dirty="0">
                          <a:effectLst/>
                          <a:latin typeface="Meiryo" panose="020B0604030504040204" pitchFamily="34" charset="-128"/>
                          <a:ea typeface="Meiryo" panose="020B0604030504040204" pitchFamily="34" charset="-128"/>
                        </a:rPr>
                        <a:t>LSTM</a:t>
                      </a:r>
                      <a:r>
                        <a:rPr lang="ja-JP" sz="2000" kern="100">
                          <a:effectLst/>
                          <a:latin typeface="Meiryo" panose="020B0604030504040204" pitchFamily="34" charset="-128"/>
                          <a:ea typeface="Meiryo" panose="020B0604030504040204" pitchFamily="34" charset="-128"/>
                        </a:rPr>
                        <a:t>の計算が重く、リアルタイム処理に不向き</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607640568"/>
                  </a:ext>
                </a:extLst>
              </a:tr>
              <a:tr h="604807">
                <a:tc>
                  <a:txBody>
                    <a:bodyPr/>
                    <a:lstStyle/>
                    <a:p>
                      <a:pPr algn="ctr"/>
                      <a:r>
                        <a:rPr lang="en-JP" sz="2000" kern="100">
                          <a:effectLst/>
                          <a:latin typeface="Meiryo" panose="020B0604030504040204" pitchFamily="34" charset="-128"/>
                          <a:ea typeface="Meiryo" panose="020B0604030504040204" pitchFamily="34" charset="-128"/>
                        </a:rPr>
                        <a:t>PSO + DNN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Deep Learning</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100" dirty="0">
                          <a:effectLst/>
                          <a:latin typeface="Meiryo" panose="020B0604030504040204" pitchFamily="34" charset="-128"/>
                          <a:ea typeface="Meiryo" panose="020B0604030504040204" pitchFamily="34" charset="-128"/>
                        </a:rPr>
                        <a:t>DNN</a:t>
                      </a:r>
                      <a:r>
                        <a:rPr lang="ja-JP" sz="2000" kern="100">
                          <a:effectLst/>
                          <a:latin typeface="Meiryo" panose="020B0604030504040204" pitchFamily="34" charset="-128"/>
                          <a:ea typeface="Meiryo" panose="020B0604030504040204" pitchFamily="34" charset="-128"/>
                        </a:rPr>
                        <a:t>モデルが大きく、メモリ消費が高い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442113948"/>
                  </a:ext>
                </a:extLst>
              </a:tr>
              <a:tr h="604807">
                <a:tc>
                  <a:txBody>
                    <a:bodyPr/>
                    <a:lstStyle/>
                    <a:p>
                      <a:pPr algn="ctr"/>
                      <a:r>
                        <a:rPr lang="en-JP" sz="2000" kern="100">
                          <a:effectLst/>
                          <a:latin typeface="Meiryo" panose="020B0604030504040204" pitchFamily="34" charset="-128"/>
                          <a:ea typeface="Meiryo" panose="020B0604030504040204" pitchFamily="34" charset="-128"/>
                        </a:rPr>
                        <a:t>XGBoost</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Ensemble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高精度だが計算コストが非常に高い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50952066"/>
                  </a:ext>
                </a:extLst>
              </a:tr>
              <a:tr h="604807">
                <a:tc>
                  <a:txBody>
                    <a:bodyPr/>
                    <a:lstStyle/>
                    <a:p>
                      <a:pPr algn="ctr"/>
                      <a:r>
                        <a:rPr lang="en-JP" sz="2000" kern="100">
                          <a:effectLst/>
                          <a:latin typeface="Meiryo" panose="020B0604030504040204" pitchFamily="34" charset="-128"/>
                          <a:ea typeface="Meiryo" panose="020B0604030504040204" pitchFamily="34" charset="-128"/>
                        </a:rPr>
                        <a:t>AE + ANN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特徴表現学習</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異常検知は得意だが、</a:t>
                      </a:r>
                      <a:r>
                        <a:rPr lang="en-JP" sz="2000" kern="100" dirty="0">
                          <a:effectLst/>
                          <a:latin typeface="Meiryo" panose="020B0604030504040204" pitchFamily="34" charset="-128"/>
                          <a:ea typeface="Meiryo" panose="020B0604030504040204" pitchFamily="34" charset="-128"/>
                        </a:rPr>
                        <a:t>TPR</a:t>
                      </a:r>
                      <a:r>
                        <a:rPr lang="ja-JP" sz="2000" kern="100">
                          <a:effectLst/>
                          <a:latin typeface="Meiryo" panose="020B0604030504040204" pitchFamily="34" charset="-128"/>
                          <a:ea typeface="Meiryo" panose="020B0604030504040204" pitchFamily="34" charset="-128"/>
                        </a:rPr>
                        <a:t>が低め</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746880660"/>
                  </a:ext>
                </a:extLst>
              </a:tr>
              <a:tr h="898046">
                <a:tc>
                  <a:txBody>
                    <a:bodyPr/>
                    <a:lstStyle/>
                    <a:p>
                      <a:pPr algn="ctr"/>
                      <a:r>
                        <a:rPr lang="en-JP" sz="2000" kern="100" dirty="0">
                          <a:effectLst/>
                          <a:latin typeface="Meiryo" panose="020B0604030504040204" pitchFamily="34" charset="-128"/>
                          <a:ea typeface="Meiryo" panose="020B0604030504040204" pitchFamily="34" charset="-128"/>
                        </a:rPr>
                        <a:t>Realguard</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DNN+NIDS</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100" dirty="0">
                          <a:effectLst/>
                          <a:latin typeface="Meiryo" panose="020B0604030504040204" pitchFamily="34" charset="-128"/>
                          <a:ea typeface="Meiryo" panose="020B0604030504040204" pitchFamily="34" charset="-128"/>
                        </a:rPr>
                        <a:t>IoT</a:t>
                      </a:r>
                      <a:r>
                        <a:rPr lang="ja-JP" sz="2000" kern="100">
                          <a:effectLst/>
                          <a:latin typeface="Meiryo" panose="020B0604030504040204" pitchFamily="34" charset="-128"/>
                          <a:ea typeface="Meiryo" panose="020B0604030504040204" pitchFamily="34" charset="-128"/>
                        </a:rPr>
                        <a:t>ゲートウェイ向けに軽量化された唯一のリアルタイム対応モデル</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690015885"/>
                  </a:ext>
                </a:extLst>
              </a:tr>
            </a:tbl>
          </a:graphicData>
        </a:graphic>
      </p:graphicFrame>
      <p:sp>
        <p:nvSpPr>
          <p:cNvPr id="9" name="TextBox 8">
            <a:extLst>
              <a:ext uri="{FF2B5EF4-FFF2-40B4-BE49-F238E27FC236}">
                <a16:creationId xmlns:a16="http://schemas.microsoft.com/office/drawing/2014/main" id="{FE739B87-FEB2-9FAD-92A3-E0A9E7EA4240}"/>
              </a:ext>
            </a:extLst>
          </p:cNvPr>
          <p:cNvSpPr txBox="1"/>
          <p:nvPr/>
        </p:nvSpPr>
        <p:spPr>
          <a:xfrm>
            <a:off x="496389" y="405838"/>
            <a:ext cx="5486400" cy="400110"/>
          </a:xfrm>
          <a:prstGeom prst="rect">
            <a:avLst/>
          </a:prstGeom>
          <a:noFill/>
        </p:spPr>
        <p:txBody>
          <a:bodyPr wrap="square">
            <a:spAutoFit/>
          </a:bodyPr>
          <a:lstStyle/>
          <a:p>
            <a:pPr marL="342900" indent="-342900">
              <a:buFont typeface="Arial" panose="020B0604020202020204" pitchFamily="34" charset="0"/>
              <a:buChar char="•"/>
            </a:pPr>
            <a:r>
              <a:rPr lang="ja-JP" altLang="en-US" sz="2000" b="1">
                <a:latin typeface="Meiryo" panose="020B0604030504040204" pitchFamily="34" charset="-128"/>
                <a:ea typeface="Meiryo" panose="020B0604030504040204" pitchFamily="34" charset="-128"/>
              </a:rPr>
              <a:t>既存</a:t>
            </a:r>
            <a:r>
              <a:rPr lang="en-US" sz="2000" b="1" dirty="0">
                <a:latin typeface="Meiryo" panose="020B0604030504040204" pitchFamily="34" charset="-128"/>
                <a:ea typeface="Meiryo" panose="020B0604030504040204" pitchFamily="34" charset="-128"/>
              </a:rPr>
              <a:t>ML</a:t>
            </a:r>
            <a:r>
              <a:rPr lang="ja-JP" altLang="en-US" sz="2000" b="1">
                <a:latin typeface="Meiryo" panose="020B0604030504040204" pitchFamily="34" charset="-128"/>
                <a:ea typeface="Meiryo" panose="020B0604030504040204" pitchFamily="34" charset="-128"/>
              </a:rPr>
              <a:t>ベース</a:t>
            </a:r>
            <a:r>
              <a:rPr lang="en-US" sz="2000" b="1" dirty="0">
                <a:latin typeface="Meiryo" panose="020B0604030504040204" pitchFamily="34" charset="-128"/>
                <a:ea typeface="Meiryo" panose="020B0604030504040204" pitchFamily="34" charset="-128"/>
              </a:rPr>
              <a:t>IDS</a:t>
            </a:r>
            <a:r>
              <a:rPr lang="ja-JP" altLang="en-US" sz="2000" b="1">
                <a:latin typeface="Meiryo" panose="020B0604030504040204" pitchFamily="34" charset="-128"/>
                <a:ea typeface="Meiryo" panose="020B0604030504040204" pitchFamily="34" charset="-128"/>
              </a:rPr>
              <a:t>手法の比較</a:t>
            </a:r>
            <a:endParaRPr lang="en-JP" sz="2000" b="1" dirty="0">
              <a:latin typeface="Meiryo" panose="020B0604030504040204" pitchFamily="34" charset="-128"/>
              <a:ea typeface="Meiryo" panose="020B0604030504040204" pitchFamily="34" charset="-128"/>
            </a:endParaRPr>
          </a:p>
        </p:txBody>
      </p:sp>
      <p:sp>
        <p:nvSpPr>
          <p:cNvPr id="2" name="正方形/長方形 9">
            <a:extLst>
              <a:ext uri="{FF2B5EF4-FFF2-40B4-BE49-F238E27FC236}">
                <a16:creationId xmlns:a16="http://schemas.microsoft.com/office/drawing/2014/main" id="{5485EB41-5E30-1D5C-FA8B-765E1DA2208C}"/>
              </a:ext>
            </a:extLst>
          </p:cNvPr>
          <p:cNvSpPr/>
          <p:nvPr/>
        </p:nvSpPr>
        <p:spPr>
          <a:xfrm>
            <a:off x="496388" y="6705600"/>
            <a:ext cx="10006149" cy="894810"/>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887426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6646DDAA-2B3F-105E-F64B-57441A72AD04}"/>
              </a:ext>
            </a:extLst>
          </p:cNvPr>
          <p:cNvSpPr>
            <a:spLocks noGrp="1"/>
          </p:cNvSpPr>
          <p:nvPr>
            <p:ph type="sldNum" sz="quarter" idx="12"/>
          </p:nvPr>
        </p:nvSpPr>
        <p:spPr/>
        <p:txBody>
          <a:bodyPr/>
          <a:lstStyle/>
          <a:p>
            <a:fld id="{BB44241B-2579-694C-B40C-A1E3D5F0E4EC}" type="slidenum">
              <a:rPr lang="en-JP" smtClean="0"/>
              <a:t>34</a:t>
            </a:fld>
            <a:endParaRPr lang="en-JP" dirty="0"/>
          </a:p>
        </p:txBody>
      </p:sp>
      <p:sp>
        <p:nvSpPr>
          <p:cNvPr id="19" name="TextBox 18">
            <a:extLst>
              <a:ext uri="{FF2B5EF4-FFF2-40B4-BE49-F238E27FC236}">
                <a16:creationId xmlns:a16="http://schemas.microsoft.com/office/drawing/2014/main" id="{BF7146D4-A611-790A-7342-509E15697F1C}"/>
              </a:ext>
            </a:extLst>
          </p:cNvPr>
          <p:cNvSpPr txBox="1"/>
          <p:nvPr/>
        </p:nvSpPr>
        <p:spPr>
          <a:xfrm>
            <a:off x="826579" y="288075"/>
            <a:ext cx="7781844"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Multi-class attack detection</a:t>
            </a:r>
            <a:endParaRPr lang="en-JP" sz="3200" b="1" dirty="0">
              <a:latin typeface="Meiryo" panose="020B0604030504040204" pitchFamily="34" charset="-128"/>
              <a:ea typeface="Meiryo" panose="020B0604030504040204" pitchFamily="34" charset="-128"/>
            </a:endParaRPr>
          </a:p>
        </p:txBody>
      </p:sp>
      <p:pic>
        <p:nvPicPr>
          <p:cNvPr id="20" name="Picture 19">
            <a:extLst>
              <a:ext uri="{FF2B5EF4-FFF2-40B4-BE49-F238E27FC236}">
                <a16:creationId xmlns:a16="http://schemas.microsoft.com/office/drawing/2014/main" id="{85276A98-2B16-E95A-0A70-D0D77D719462}"/>
              </a:ext>
            </a:extLst>
          </p:cNvPr>
          <p:cNvPicPr>
            <a:picLocks noChangeAspect="1"/>
          </p:cNvPicPr>
          <p:nvPr/>
        </p:nvPicPr>
        <p:blipFill>
          <a:blip r:embed="rId2"/>
          <a:stretch>
            <a:fillRect/>
          </a:stretch>
        </p:blipFill>
        <p:spPr>
          <a:xfrm>
            <a:off x="0" y="971269"/>
            <a:ext cx="7315200" cy="6106760"/>
          </a:xfrm>
          <a:prstGeom prst="rect">
            <a:avLst/>
          </a:prstGeom>
        </p:spPr>
      </p:pic>
      <p:sp>
        <p:nvSpPr>
          <p:cNvPr id="27" name="Rounded Rectangle 26">
            <a:extLst>
              <a:ext uri="{FF2B5EF4-FFF2-40B4-BE49-F238E27FC236}">
                <a16:creationId xmlns:a16="http://schemas.microsoft.com/office/drawing/2014/main" id="{46A9706E-34B4-7D0F-7816-A0EEA4D4399A}"/>
              </a:ext>
            </a:extLst>
          </p:cNvPr>
          <p:cNvSpPr/>
          <p:nvPr/>
        </p:nvSpPr>
        <p:spPr>
          <a:xfrm>
            <a:off x="7067005" y="2020534"/>
            <a:ext cx="3600213" cy="253516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JP" sz="2000" dirty="0">
                <a:solidFill>
                  <a:schemeClr val="tx1"/>
                </a:solidFill>
                <a:latin typeface="Meiryo" panose="020B0604030504040204" pitchFamily="34" charset="-128"/>
                <a:ea typeface="Meiryo" panose="020B0604030504040204" pitchFamily="34" charset="-128"/>
              </a:rPr>
              <a:t>システムは 11種類の攻撃（DoS、FTP-Patator、SSH-Patator など）をそれぞれ検知。</a:t>
            </a:r>
          </a:p>
          <a:p>
            <a:r>
              <a:rPr lang="en-JP" sz="2000" dirty="0">
                <a:solidFill>
                  <a:schemeClr val="tx1"/>
                </a:solidFill>
                <a:latin typeface="Meiryo" panose="020B0604030504040204" pitchFamily="34" charset="-128"/>
                <a:ea typeface="Meiryo" panose="020B0604030504040204" pitchFamily="34" charset="-128"/>
              </a:rPr>
              <a:t>平均 TPR = 99.57%（非常に良好な結果）</a:t>
            </a:r>
          </a:p>
        </p:txBody>
      </p:sp>
    </p:spTree>
    <p:extLst>
      <p:ext uri="{BB962C8B-B14F-4D97-AF65-F5344CB8AC3E}">
        <p14:creationId xmlns:p14="http://schemas.microsoft.com/office/powerpoint/2010/main" val="1690462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FD7159-2A81-C789-6C22-803A5CC0815E}"/>
              </a:ext>
            </a:extLst>
          </p:cNvPr>
          <p:cNvSpPr>
            <a:spLocks noGrp="1"/>
          </p:cNvSpPr>
          <p:nvPr>
            <p:ph type="sldNum" sz="quarter" idx="12"/>
          </p:nvPr>
        </p:nvSpPr>
        <p:spPr/>
        <p:txBody>
          <a:bodyPr/>
          <a:lstStyle/>
          <a:p>
            <a:fld id="{BB44241B-2579-694C-B40C-A1E3D5F0E4EC}" type="slidenum">
              <a:rPr lang="en-JP" smtClean="0"/>
              <a:t>35</a:t>
            </a:fld>
            <a:endParaRPr lang="en-JP"/>
          </a:p>
        </p:txBody>
      </p:sp>
      <p:sp>
        <p:nvSpPr>
          <p:cNvPr id="5" name="TextBox 4">
            <a:extLst>
              <a:ext uri="{FF2B5EF4-FFF2-40B4-BE49-F238E27FC236}">
                <a16:creationId xmlns:a16="http://schemas.microsoft.com/office/drawing/2014/main" id="{A9AFA9F6-DBD3-3382-B6E5-6A88BA526C76}"/>
              </a:ext>
            </a:extLst>
          </p:cNvPr>
          <p:cNvSpPr txBox="1"/>
          <p:nvPr/>
        </p:nvSpPr>
        <p:spPr>
          <a:xfrm>
            <a:off x="304804" y="111089"/>
            <a:ext cx="10195350" cy="584775"/>
          </a:xfrm>
          <a:prstGeom prst="rect">
            <a:avLst/>
          </a:prstGeom>
          <a:noFill/>
        </p:spPr>
        <p:txBody>
          <a:bodyPr wrap="square">
            <a:spAutoFit/>
          </a:bodyPr>
          <a:lstStyle/>
          <a:p>
            <a:r>
              <a:rPr lang="en-JP" sz="3200" b="1"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Multi-class </a:t>
            </a:r>
            <a:r>
              <a:rPr lang="en-US" sz="2400" b="1"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2400" b="1">
                <a:latin typeface="Meiryo" panose="020B0604030504040204" pitchFamily="34" charset="-128"/>
                <a:ea typeface="Meiryo" panose="020B0604030504040204" pitchFamily="34" charset="-128"/>
                <a:cs typeface="Times New Roman" panose="02020603050405020304" pitchFamily="18" charset="0"/>
              </a:rPr>
              <a:t>ベースの</a:t>
            </a:r>
            <a:r>
              <a:rPr lang="en-US" sz="2400" b="1" dirty="0">
                <a:latin typeface="Meiryo" panose="020B0604030504040204" pitchFamily="34" charset="-128"/>
                <a:ea typeface="Meiryo" panose="020B0604030504040204" pitchFamily="34" charset="-128"/>
                <a:cs typeface="Times New Roman" panose="02020603050405020304" pitchFamily="18" charset="0"/>
              </a:rPr>
              <a:t>IDSの精度比較</a:t>
            </a:r>
            <a:endParaRPr lang="en-JP" sz="2400" b="1"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4793D255-83E2-EB89-7036-396BA3C1E71F}"/>
              </a:ext>
            </a:extLst>
          </p:cNvPr>
          <p:cNvSpPr txBox="1"/>
          <p:nvPr/>
        </p:nvSpPr>
        <p:spPr>
          <a:xfrm>
            <a:off x="754380" y="6512851"/>
            <a:ext cx="7564431" cy="132343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主要指標</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TPR (True Positive Rate): </a:t>
            </a:r>
            <a:r>
              <a:rPr lang="ja-JP" altLang="en-US" sz="2000">
                <a:latin typeface="Meiryo" panose="020B0604030504040204" pitchFamily="34" charset="-128"/>
                <a:ea typeface="Meiryo" panose="020B0604030504040204" pitchFamily="34" charset="-128"/>
              </a:rPr>
              <a:t>攻撃を正しく検知した割合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FPR (False Positive Rate): </a:t>
            </a:r>
            <a:r>
              <a:rPr lang="ja-JP" altLang="en-US" sz="2000">
                <a:latin typeface="Meiryo" panose="020B0604030504040204" pitchFamily="34" charset="-128"/>
                <a:ea typeface="Meiryo" panose="020B0604030504040204" pitchFamily="34" charset="-128"/>
              </a:rPr>
              <a:t>誤警報の割合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ACC (Accuracy): </a:t>
            </a:r>
            <a:r>
              <a:rPr lang="ja-JP" altLang="en-US" sz="2000">
                <a:latin typeface="Meiryo" panose="020B0604030504040204" pitchFamily="34" charset="-128"/>
                <a:ea typeface="Meiryo" panose="020B0604030504040204" pitchFamily="34" charset="-128"/>
              </a:rPr>
              <a:t>全体の正確性</a:t>
            </a:r>
          </a:p>
        </p:txBody>
      </p:sp>
      <p:graphicFrame>
        <p:nvGraphicFramePr>
          <p:cNvPr id="3" name="Table 2">
            <a:extLst>
              <a:ext uri="{FF2B5EF4-FFF2-40B4-BE49-F238E27FC236}">
                <a16:creationId xmlns:a16="http://schemas.microsoft.com/office/drawing/2014/main" id="{B92E8403-8B50-508B-E893-B0A3AEA403AB}"/>
              </a:ext>
            </a:extLst>
          </p:cNvPr>
          <p:cNvGraphicFramePr>
            <a:graphicFrameLocks noGrp="1"/>
          </p:cNvGraphicFramePr>
          <p:nvPr>
            <p:extLst>
              <p:ext uri="{D42A27DB-BD31-4B8C-83A1-F6EECF244321}">
                <p14:modId xmlns:p14="http://schemas.microsoft.com/office/powerpoint/2010/main" val="1718114248"/>
              </p:ext>
            </p:extLst>
          </p:nvPr>
        </p:nvGraphicFramePr>
        <p:xfrm>
          <a:off x="472646" y="1018773"/>
          <a:ext cx="10195350" cy="4999935"/>
        </p:xfrm>
        <a:graphic>
          <a:graphicData uri="http://schemas.openxmlformats.org/drawingml/2006/table">
            <a:tbl>
              <a:tblPr firstRow="1" firstCol="1" bandRow="1">
                <a:tableStyleId>{F5AB1C69-6EDB-4FF4-983F-18BD219EF322}</a:tableStyleId>
              </a:tblPr>
              <a:tblGrid>
                <a:gridCol w="1130867">
                  <a:extLst>
                    <a:ext uri="{9D8B030D-6E8A-4147-A177-3AD203B41FA5}">
                      <a16:colId xmlns:a16="http://schemas.microsoft.com/office/drawing/2014/main" val="1309361206"/>
                    </a:ext>
                  </a:extLst>
                </a:gridCol>
                <a:gridCol w="722833">
                  <a:extLst>
                    <a:ext uri="{9D8B030D-6E8A-4147-A177-3AD203B41FA5}">
                      <a16:colId xmlns:a16="http://schemas.microsoft.com/office/drawing/2014/main" val="1584820212"/>
                    </a:ext>
                  </a:extLst>
                </a:gridCol>
                <a:gridCol w="926850">
                  <a:extLst>
                    <a:ext uri="{9D8B030D-6E8A-4147-A177-3AD203B41FA5}">
                      <a16:colId xmlns:a16="http://schemas.microsoft.com/office/drawing/2014/main" val="1140203197"/>
                    </a:ext>
                  </a:extLst>
                </a:gridCol>
                <a:gridCol w="926850">
                  <a:extLst>
                    <a:ext uri="{9D8B030D-6E8A-4147-A177-3AD203B41FA5}">
                      <a16:colId xmlns:a16="http://schemas.microsoft.com/office/drawing/2014/main" val="3781523566"/>
                    </a:ext>
                  </a:extLst>
                </a:gridCol>
                <a:gridCol w="926850">
                  <a:extLst>
                    <a:ext uri="{9D8B030D-6E8A-4147-A177-3AD203B41FA5}">
                      <a16:colId xmlns:a16="http://schemas.microsoft.com/office/drawing/2014/main" val="3879473058"/>
                    </a:ext>
                  </a:extLst>
                </a:gridCol>
                <a:gridCol w="926850">
                  <a:extLst>
                    <a:ext uri="{9D8B030D-6E8A-4147-A177-3AD203B41FA5}">
                      <a16:colId xmlns:a16="http://schemas.microsoft.com/office/drawing/2014/main" val="1149267263"/>
                    </a:ext>
                  </a:extLst>
                </a:gridCol>
                <a:gridCol w="926850">
                  <a:extLst>
                    <a:ext uri="{9D8B030D-6E8A-4147-A177-3AD203B41FA5}">
                      <a16:colId xmlns:a16="http://schemas.microsoft.com/office/drawing/2014/main" val="3444747407"/>
                    </a:ext>
                  </a:extLst>
                </a:gridCol>
                <a:gridCol w="926850">
                  <a:extLst>
                    <a:ext uri="{9D8B030D-6E8A-4147-A177-3AD203B41FA5}">
                      <a16:colId xmlns:a16="http://schemas.microsoft.com/office/drawing/2014/main" val="2152763213"/>
                    </a:ext>
                  </a:extLst>
                </a:gridCol>
                <a:gridCol w="926850">
                  <a:extLst>
                    <a:ext uri="{9D8B030D-6E8A-4147-A177-3AD203B41FA5}">
                      <a16:colId xmlns:a16="http://schemas.microsoft.com/office/drawing/2014/main" val="4251592409"/>
                    </a:ext>
                  </a:extLst>
                </a:gridCol>
                <a:gridCol w="926850">
                  <a:extLst>
                    <a:ext uri="{9D8B030D-6E8A-4147-A177-3AD203B41FA5}">
                      <a16:colId xmlns:a16="http://schemas.microsoft.com/office/drawing/2014/main" val="302188089"/>
                    </a:ext>
                  </a:extLst>
                </a:gridCol>
                <a:gridCol w="926850">
                  <a:extLst>
                    <a:ext uri="{9D8B030D-6E8A-4147-A177-3AD203B41FA5}">
                      <a16:colId xmlns:a16="http://schemas.microsoft.com/office/drawing/2014/main" val="1480993433"/>
                    </a:ext>
                  </a:extLst>
                </a:gridCol>
              </a:tblGrid>
              <a:tr h="331601">
                <a:tc>
                  <a:txBody>
                    <a:bodyPr/>
                    <a:lstStyle/>
                    <a:p>
                      <a:pPr algn="ctr"/>
                      <a:r>
                        <a:rPr lang="en-JP" sz="1200" kern="100" dirty="0">
                          <a:effectLst/>
                        </a:rPr>
                        <a:t>(%)</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dirty="0">
                          <a:solidFill>
                            <a:srgbClr val="C00000"/>
                          </a:solidFill>
                          <a:effectLst/>
                        </a:rPr>
                        <a:t>Realguard</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MLP</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CNN-MCL</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XGB</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RF</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SVC</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ANN</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dirty="0">
                          <a:effectLst/>
                        </a:rPr>
                        <a:t>LSTM</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E-ML</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REP Tree</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1388435579"/>
                  </a:ext>
                </a:extLst>
              </a:tr>
              <a:tr h="310782">
                <a:tc>
                  <a:txBody>
                    <a:bodyPr/>
                    <a:lstStyle/>
                    <a:p>
                      <a:r>
                        <a:rPr lang="en-JP" sz="1200" kern="100" dirty="0">
                          <a:effectLst/>
                        </a:rPr>
                        <a:t>TPR Normal</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99.60</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98.89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99.69</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336065059"/>
                  </a:ext>
                </a:extLst>
              </a:tr>
              <a:tr h="173493">
                <a:tc>
                  <a:txBody>
                    <a:bodyPr/>
                    <a:lstStyle/>
                    <a:p>
                      <a:r>
                        <a:rPr lang="en-JP" sz="1200" b="1" kern="100" dirty="0">
                          <a:effectLst/>
                        </a:rPr>
                        <a:t>TPR Botnet</a:t>
                      </a:r>
                      <a:endParaRPr lang="en-JP" sz="12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rgbClr val="C00000"/>
                          </a:solidFill>
                          <a:effectLst/>
                        </a:rPr>
                        <a:t>98.46</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95.19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64.45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79.18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38.36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35.81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46.47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47.76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91603835"/>
                  </a:ext>
                </a:extLst>
              </a:tr>
              <a:tr h="489708">
                <a:tc>
                  <a:txBody>
                    <a:bodyPr/>
                    <a:lstStyle/>
                    <a:p>
                      <a:r>
                        <a:rPr lang="en-JP" sz="1200" kern="100" dirty="0">
                          <a:effectLst/>
                        </a:rPr>
                        <a:t>TPR DoSSlowhttptest</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99.89</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91.50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94.45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94.36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83.65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98.82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98.64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93.84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75.36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019724246"/>
                  </a:ext>
                </a:extLst>
              </a:tr>
              <a:tr h="489708">
                <a:tc>
                  <a:txBody>
                    <a:bodyPr/>
                    <a:lstStyle/>
                    <a:p>
                      <a:r>
                        <a:rPr lang="en-JP" sz="1200" kern="100">
                          <a:effectLst/>
                        </a:rPr>
                        <a:t>TPR DoSGoldenEye</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rgbClr val="C00000"/>
                          </a:solidFill>
                          <a:effectLst/>
                        </a:rPr>
                        <a:t>99.98</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98.71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99.27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99.76</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97.67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67.53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66.43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4168553834"/>
                  </a:ext>
                </a:extLst>
              </a:tr>
              <a:tr h="458480">
                <a:tc>
                  <a:txBody>
                    <a:bodyPr/>
                    <a:lstStyle/>
                    <a:p>
                      <a:r>
                        <a:rPr lang="en-JP" sz="1200" kern="100">
                          <a:effectLst/>
                        </a:rPr>
                        <a:t>TPR DoSSlowloris</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99.52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97.96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91.62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98.04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98.07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98.27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97.07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97.06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92.73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942523097"/>
                  </a:ext>
                </a:extLst>
              </a:tr>
              <a:tr h="310782">
                <a:tc>
                  <a:txBody>
                    <a:bodyPr/>
                    <a:lstStyle/>
                    <a:p>
                      <a:r>
                        <a:rPr lang="en-JP" sz="1200" kern="100">
                          <a:effectLst/>
                        </a:rPr>
                        <a:t>TPR DoSHulk</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98.40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99.57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90.94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98.35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93.36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98.22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739389310"/>
                  </a:ext>
                </a:extLst>
              </a:tr>
              <a:tr h="331601">
                <a:tc>
                  <a:txBody>
                    <a:bodyPr/>
                    <a:lstStyle/>
                    <a:p>
                      <a:r>
                        <a:rPr lang="en-JP" sz="1200" kern="100">
                          <a:effectLst/>
                        </a:rPr>
                        <a:t>TPR FTP-Patator</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99.77</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99.59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99.64</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99.18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1143477339"/>
                  </a:ext>
                </a:extLst>
              </a:tr>
              <a:tr h="331601">
                <a:tc>
                  <a:txBody>
                    <a:bodyPr/>
                    <a:lstStyle/>
                    <a:p>
                      <a:r>
                        <a:rPr lang="en-JP" sz="1200" kern="100">
                          <a:effectLst/>
                        </a:rPr>
                        <a:t>TPR SSH-Patator</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98.16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99.42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96.91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66476612"/>
                  </a:ext>
                </a:extLst>
              </a:tr>
              <a:tr h="331601">
                <a:tc>
                  <a:txBody>
                    <a:bodyPr/>
                    <a:lstStyle/>
                    <a:p>
                      <a:r>
                        <a:rPr lang="en-JP" sz="1200" kern="100">
                          <a:effectLst/>
                        </a:rPr>
                        <a:t>TPR Heartbleed</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652454994"/>
                  </a:ext>
                </a:extLst>
              </a:tr>
              <a:tr h="173493">
                <a:tc>
                  <a:txBody>
                    <a:bodyPr/>
                    <a:lstStyle/>
                    <a:p>
                      <a:r>
                        <a:rPr lang="en-JP" sz="1200" kern="100">
                          <a:effectLst/>
                        </a:rPr>
                        <a:t>TPR DDoS</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99.94</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375569322"/>
                  </a:ext>
                </a:extLst>
              </a:tr>
              <a:tr h="390479">
                <a:tc>
                  <a:txBody>
                    <a:bodyPr/>
                    <a:lstStyle/>
                    <a:p>
                      <a:r>
                        <a:rPr lang="en-JP" sz="1200" kern="100">
                          <a:effectLst/>
                        </a:rPr>
                        <a:t>TPR PortScan</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99.28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556883884"/>
                  </a:ext>
                </a:extLst>
              </a:tr>
              <a:tr h="173493">
                <a:tc>
                  <a:txBody>
                    <a:bodyPr/>
                    <a:lstStyle/>
                    <a:p>
                      <a:r>
                        <a:rPr lang="en-JP" sz="1200" kern="100" dirty="0">
                          <a:solidFill>
                            <a:schemeClr val="accent1">
                              <a:lumMod val="75000"/>
                            </a:schemeClr>
                          </a:solidFill>
                          <a:effectLst/>
                        </a:rPr>
                        <a:t>TPR (Avg)</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98.95</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97.72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97.52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96.51</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92.16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92.39</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97.07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96.17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87.33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259419088"/>
                  </a:ext>
                </a:extLst>
              </a:tr>
              <a:tr h="310782">
                <a:tc>
                  <a:txBody>
                    <a:bodyPr/>
                    <a:lstStyle/>
                    <a:p>
                      <a:r>
                        <a:rPr lang="en-JP" sz="1200" kern="100">
                          <a:solidFill>
                            <a:schemeClr val="accent1">
                              <a:lumMod val="75000"/>
                            </a:schemeClr>
                          </a:solidFill>
                          <a:effectLst/>
                        </a:rPr>
                        <a:t>FPR (Overall)</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0.04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0.06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0.20</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0.63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1.17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1.15</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4.84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121324946"/>
                  </a:ext>
                </a:extLst>
              </a:tr>
              <a:tr h="310782">
                <a:tc>
                  <a:txBody>
                    <a:bodyPr/>
                    <a:lstStyle/>
                    <a:p>
                      <a:r>
                        <a:rPr lang="en-JP" sz="1200" kern="100">
                          <a:solidFill>
                            <a:schemeClr val="accent1">
                              <a:lumMod val="75000"/>
                            </a:schemeClr>
                          </a:solidFill>
                          <a:effectLst/>
                        </a:rPr>
                        <a:t>ACC (Overall)</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chemeClr val="accent1">
                              <a:lumMod val="75000"/>
                            </a:schemeClr>
                          </a:solidFill>
                          <a:effectLst/>
                        </a:rPr>
                        <a:t>99.93</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99.49</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99.58</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96.67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chemeClr val="accent1">
                              <a:lumMod val="75000"/>
                            </a:schemeClr>
                          </a:solidFill>
                          <a:effectLst/>
                        </a:rPr>
                        <a:t>93.40</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678948953"/>
                  </a:ext>
                </a:extLst>
              </a:tr>
            </a:tbl>
          </a:graphicData>
        </a:graphic>
      </p:graphicFrame>
    </p:spTree>
    <p:extLst>
      <p:ext uri="{BB962C8B-B14F-4D97-AF65-F5344CB8AC3E}">
        <p14:creationId xmlns:p14="http://schemas.microsoft.com/office/powerpoint/2010/main" val="3918414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6E1B73-71B6-0197-B148-BDB362D249EF}"/>
              </a:ext>
            </a:extLst>
          </p:cNvPr>
          <p:cNvSpPr txBox="1"/>
          <p:nvPr/>
        </p:nvSpPr>
        <p:spPr>
          <a:xfrm>
            <a:off x="426353" y="2600018"/>
            <a:ext cx="3314148" cy="391517"/>
          </a:xfrm>
          <a:prstGeom prst="rect">
            <a:avLst/>
          </a:prstGeom>
          <a:noFill/>
        </p:spPr>
        <p:txBody>
          <a:bodyPr wrap="square">
            <a:spAutoFit/>
          </a:bodyPr>
          <a:lstStyle/>
          <a:p>
            <a:endParaRPr lang="en-JP" sz="1944" dirty="0"/>
          </a:p>
        </p:txBody>
      </p:sp>
      <p:sp>
        <p:nvSpPr>
          <p:cNvPr id="15" name="Slide Number Placeholder 14">
            <a:extLst>
              <a:ext uri="{FF2B5EF4-FFF2-40B4-BE49-F238E27FC236}">
                <a16:creationId xmlns:a16="http://schemas.microsoft.com/office/drawing/2014/main" id="{BDD39767-C245-1941-5161-BFCCE1DB3A37}"/>
              </a:ext>
            </a:extLst>
          </p:cNvPr>
          <p:cNvSpPr>
            <a:spLocks noGrp="1"/>
          </p:cNvSpPr>
          <p:nvPr>
            <p:ph type="sldNum" sz="quarter" idx="12"/>
          </p:nvPr>
        </p:nvSpPr>
        <p:spPr/>
        <p:txBody>
          <a:bodyPr/>
          <a:lstStyle/>
          <a:p>
            <a:fld id="{BB44241B-2579-694C-B40C-A1E3D5F0E4EC}" type="slidenum">
              <a:rPr lang="en-JP" smtClean="0"/>
              <a:t>36</a:t>
            </a:fld>
            <a:endParaRPr lang="en-JP"/>
          </a:p>
        </p:txBody>
      </p:sp>
      <p:sp>
        <p:nvSpPr>
          <p:cNvPr id="3" name="TextBox 2">
            <a:extLst>
              <a:ext uri="{FF2B5EF4-FFF2-40B4-BE49-F238E27FC236}">
                <a16:creationId xmlns:a16="http://schemas.microsoft.com/office/drawing/2014/main" id="{724136AC-CFCE-340D-5BF9-04EA74544183}"/>
              </a:ext>
            </a:extLst>
          </p:cNvPr>
          <p:cNvSpPr txBox="1"/>
          <p:nvPr/>
        </p:nvSpPr>
        <p:spPr>
          <a:xfrm>
            <a:off x="1584471" y="338962"/>
            <a:ext cx="7803858"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Realguard Runtime Performance</a:t>
            </a:r>
            <a:endParaRPr lang="en-JP"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D7FAAB-8D65-F5BB-B997-A925F9E9C340}"/>
              </a:ext>
            </a:extLst>
          </p:cNvPr>
          <p:cNvPicPr>
            <a:picLocks noChangeAspect="1"/>
          </p:cNvPicPr>
          <p:nvPr/>
        </p:nvPicPr>
        <p:blipFill>
          <a:blip r:embed="rId2"/>
          <a:stretch>
            <a:fillRect/>
          </a:stretch>
        </p:blipFill>
        <p:spPr>
          <a:xfrm>
            <a:off x="1508823" y="1287572"/>
            <a:ext cx="6803026" cy="1649627"/>
          </a:xfrm>
          <a:prstGeom prst="rect">
            <a:avLst/>
          </a:prstGeom>
        </p:spPr>
      </p:pic>
      <p:sp>
        <p:nvSpPr>
          <p:cNvPr id="8" name="TextBox 7">
            <a:extLst>
              <a:ext uri="{FF2B5EF4-FFF2-40B4-BE49-F238E27FC236}">
                <a16:creationId xmlns:a16="http://schemas.microsoft.com/office/drawing/2014/main" id="{4E52FA0B-87BC-2801-52F6-5F216E2E5ACC}"/>
              </a:ext>
            </a:extLst>
          </p:cNvPr>
          <p:cNvSpPr txBox="1"/>
          <p:nvPr/>
        </p:nvSpPr>
        <p:spPr>
          <a:xfrm>
            <a:off x="1697525" y="3301034"/>
            <a:ext cx="5914752" cy="2862322"/>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Realguard:</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6,000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88,200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r>
              <a:rPr lang="en-US" sz="2000" b="1" dirty="0">
                <a:latin typeface="Meiryo" panose="020B0604030504040204" pitchFamily="34" charset="-128"/>
                <a:ea typeface="Meiryo" panose="020B0604030504040204" pitchFamily="34" charset="-128"/>
              </a:rPr>
              <a:t>Kitsune [23]:</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1,100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endParaRPr lang="mn-MN" altLang="ja-JP"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37,300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r>
              <a:rPr lang="en-US" sz="2000" b="1" dirty="0">
                <a:latin typeface="Meiryo" panose="020B0604030504040204" pitchFamily="34" charset="-128"/>
                <a:ea typeface="Meiryo" panose="020B0604030504040204" pitchFamily="34" charset="-128"/>
              </a:rPr>
              <a:t>Ahmim et al. [24]:</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200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endParaRPr lang="mn-MN" altLang="ja-JP"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17,600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p:txBody>
      </p:sp>
    </p:spTree>
    <p:extLst>
      <p:ext uri="{BB962C8B-B14F-4D97-AF65-F5344CB8AC3E}">
        <p14:creationId xmlns:p14="http://schemas.microsoft.com/office/powerpoint/2010/main" val="2645536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endParaRPr lang="en-US" altLang="ja-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UI" panose="020B0604030504040204" pitchFamily="50" charset="-128"/>
                <a:ea typeface="Meiryo UI" panose="020B0604030504040204" pitchFamily="50" charset="-128"/>
              </a:rPr>
              <a:t>まとめ</a:t>
            </a:r>
            <a:endParaRPr lang="ja-JP" altLang="en-US" sz="3000">
              <a:solidFill>
                <a:srgbClr val="FF0000"/>
              </a:solidFill>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160016" indent="0">
              <a:lnSpc>
                <a:spcPct val="150000"/>
              </a:lnSpc>
              <a:spcBef>
                <a:spcPts val="0"/>
              </a:spcBef>
              <a:buSzPts val="2800"/>
              <a:buNone/>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37</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49248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1F2BBB-61F2-6993-718F-79ECD0037FD5}"/>
              </a:ext>
            </a:extLst>
          </p:cNvPr>
          <p:cNvSpPr>
            <a:spLocks noGrp="1"/>
          </p:cNvSpPr>
          <p:nvPr>
            <p:ph type="sldNum" sz="quarter" idx="12"/>
          </p:nvPr>
        </p:nvSpPr>
        <p:spPr/>
        <p:txBody>
          <a:bodyPr/>
          <a:lstStyle/>
          <a:p>
            <a:fld id="{BB44241B-2579-694C-B40C-A1E3D5F0E4EC}" type="slidenum">
              <a:rPr lang="en-JP" smtClean="0"/>
              <a:t>38</a:t>
            </a:fld>
            <a:endParaRPr lang="en-JP"/>
          </a:p>
        </p:txBody>
      </p:sp>
      <p:sp>
        <p:nvSpPr>
          <p:cNvPr id="6" name="TextBox 5">
            <a:extLst>
              <a:ext uri="{FF2B5EF4-FFF2-40B4-BE49-F238E27FC236}">
                <a16:creationId xmlns:a16="http://schemas.microsoft.com/office/drawing/2014/main" id="{10334A01-6E27-4B01-02EF-09E00C4BB20D}"/>
              </a:ext>
            </a:extLst>
          </p:cNvPr>
          <p:cNvSpPr txBox="1"/>
          <p:nvPr/>
        </p:nvSpPr>
        <p:spPr>
          <a:xfrm>
            <a:off x="4257697" y="982795"/>
            <a:ext cx="5488052" cy="584775"/>
          </a:xfrm>
          <a:prstGeom prst="rect">
            <a:avLst/>
          </a:prstGeom>
          <a:noFill/>
        </p:spPr>
        <p:txBody>
          <a:bodyPr wrap="square">
            <a:spAutoFit/>
          </a:bodyPr>
          <a:lstStyle/>
          <a:p>
            <a:r>
              <a:rPr kumimoji="1" lang="ja-JP" altLang="en-US" sz="3200" b="1">
                <a:latin typeface="Meiryo" panose="020B0604030504040204" pitchFamily="34" charset="-128"/>
                <a:ea typeface="Meiryo" panose="020B0604030504040204" pitchFamily="34" charset="-128"/>
              </a:rPr>
              <a:t>まとめ</a:t>
            </a:r>
            <a:endParaRPr lang="en-JP" sz="32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B5989193-9AF9-9375-AC98-2A93482CF325}"/>
              </a:ext>
            </a:extLst>
          </p:cNvPr>
          <p:cNvSpPr txBox="1"/>
          <p:nvPr/>
        </p:nvSpPr>
        <p:spPr>
          <a:xfrm>
            <a:off x="529795" y="2270019"/>
            <a:ext cx="9913209" cy="4293483"/>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Meiryo" panose="020B0604030504040204" pitchFamily="34" charset="-128"/>
                <a:ea typeface="Meiryo" panose="020B0604030504040204" pitchFamily="34" charset="-128"/>
              </a:rPr>
              <a:t>Realguard </a:t>
            </a:r>
            <a:r>
              <a:rPr lang="ja-JP" altLang="en-US" sz="2800">
                <a:latin typeface="Meiryo" panose="020B0604030504040204" pitchFamily="34" charset="-128"/>
                <a:ea typeface="Meiryo" panose="020B0604030504040204" pitchFamily="34" charset="-128"/>
              </a:rPr>
              <a:t>は </a:t>
            </a:r>
            <a:r>
              <a:rPr lang="en-US" sz="2800" dirty="0">
                <a:latin typeface="Meiryo" panose="020B0604030504040204" pitchFamily="34" charset="-128"/>
                <a:ea typeface="Meiryo" panose="020B0604030504040204" pitchFamily="34" charset="-128"/>
              </a:rPr>
              <a:t>IoT</a:t>
            </a:r>
            <a:r>
              <a:rPr lang="ja-JP" altLang="en-US" sz="2800">
                <a:latin typeface="Meiryo" panose="020B0604030504040204" pitchFamily="34" charset="-128"/>
                <a:ea typeface="Meiryo" panose="020B0604030504040204" pitchFamily="34" charset="-128"/>
              </a:rPr>
              <a:t>ゲートウェイ向けに 軽量・高精度・リアルタイム な攻撃検知を実現</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US" sz="2800" dirty="0">
                <a:latin typeface="Meiryo" panose="020B0604030504040204" pitchFamily="34" charset="-128"/>
                <a:ea typeface="Meiryo" panose="020B0604030504040204" pitchFamily="34" charset="-128"/>
              </a:rPr>
              <a:t>DNN</a:t>
            </a:r>
            <a:r>
              <a:rPr lang="ja-JP" altLang="en-US" sz="2800">
                <a:latin typeface="Meiryo" panose="020B0604030504040204" pitchFamily="34" charset="-128"/>
                <a:ea typeface="Meiryo" panose="020B0604030504040204" pitchFamily="34" charset="-128"/>
              </a:rPr>
              <a:t>ベースのモデルにより 攻撃の種類まで特定可能</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実験結果で 処理速度、精度、リソース消費量 が競合システムより優れていることを確認</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実践的な </a:t>
            </a:r>
            <a:r>
              <a:rPr lang="en-US" sz="2800" dirty="0">
                <a:latin typeface="Meiryo" panose="020B0604030504040204" pitchFamily="34" charset="-128"/>
                <a:ea typeface="Meiryo" panose="020B0604030504040204" pitchFamily="34" charset="-128"/>
              </a:rPr>
              <a:t>IoT </a:t>
            </a:r>
            <a:r>
              <a:rPr lang="ja-JP" altLang="en-US" sz="2800">
                <a:latin typeface="Meiryo" panose="020B0604030504040204" pitchFamily="34" charset="-128"/>
                <a:ea typeface="Meiryo" panose="020B0604030504040204" pitchFamily="34" charset="-128"/>
              </a:rPr>
              <a:t>環境でも 安全性向上に貢献できる</a:t>
            </a:r>
          </a:p>
          <a:p>
            <a:endParaRPr lang="en-JP" sz="21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731356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自身の研究について</a:t>
            </a:r>
            <a:endParaRPr lang="en-JP" sz="3000" dirty="0">
              <a:solidFill>
                <a:srgbClr val="FF0000"/>
              </a:solidFill>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39</a:t>
            </a:fld>
            <a:endParaRPr lang="en-JP"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77CBAF54-9447-E98E-DFDB-BA7AB71F884C}"/>
              </a:ext>
            </a:extLst>
          </p:cNvPr>
          <p:cNvPicPr>
            <a:picLocks noChangeAspect="1"/>
          </p:cNvPicPr>
          <p:nvPr/>
        </p:nvPicPr>
        <p:blipFill>
          <a:blip r:embed="rId3"/>
          <a:stretch>
            <a:fillRect/>
          </a:stretch>
        </p:blipFill>
        <p:spPr>
          <a:xfrm>
            <a:off x="10160256" y="1086660"/>
            <a:ext cx="669878" cy="714821"/>
          </a:xfrm>
          <a:prstGeom prst="rect">
            <a:avLst/>
          </a:prstGeom>
        </p:spPr>
      </p:pic>
    </p:spTree>
    <p:extLst>
      <p:ext uri="{BB962C8B-B14F-4D97-AF65-F5344CB8AC3E}">
        <p14:creationId xmlns:p14="http://schemas.microsoft.com/office/powerpoint/2010/main" val="1424220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2BB812-F4FF-1210-4CC8-66B09E60E679}"/>
              </a:ext>
            </a:extLst>
          </p:cNvPr>
          <p:cNvSpPr>
            <a:spLocks noGrp="1"/>
          </p:cNvSpPr>
          <p:nvPr>
            <p:ph type="sldNum" sz="quarter" idx="12"/>
          </p:nvPr>
        </p:nvSpPr>
        <p:spPr/>
        <p:txBody>
          <a:bodyPr/>
          <a:lstStyle/>
          <a:p>
            <a:fld id="{BB44241B-2579-694C-B40C-A1E3D5F0E4EC}" type="slidenum">
              <a:rPr lang="en-JP" smtClean="0"/>
              <a:t>40</a:t>
            </a:fld>
            <a:endParaRPr lang="en-JP"/>
          </a:p>
        </p:txBody>
      </p:sp>
      <p:sp>
        <p:nvSpPr>
          <p:cNvPr id="3" name="TextBox 2">
            <a:extLst>
              <a:ext uri="{FF2B5EF4-FFF2-40B4-BE49-F238E27FC236}">
                <a16:creationId xmlns:a16="http://schemas.microsoft.com/office/drawing/2014/main" id="{BB7A0AC0-8629-2E88-66F5-EEBD9FADDB71}"/>
              </a:ext>
            </a:extLst>
          </p:cNvPr>
          <p:cNvSpPr txBox="1"/>
          <p:nvPr/>
        </p:nvSpPr>
        <p:spPr>
          <a:xfrm>
            <a:off x="504860" y="331305"/>
            <a:ext cx="5486400" cy="769441"/>
          </a:xfrm>
          <a:prstGeom prst="rect">
            <a:avLst/>
          </a:prstGeom>
          <a:noFill/>
        </p:spPr>
        <p:txBody>
          <a:bodyPr wrap="square">
            <a:spAutoFit/>
          </a:bodyPr>
          <a:lstStyle/>
          <a:p>
            <a:pPr marL="160016">
              <a:lnSpc>
                <a:spcPct val="150000"/>
              </a:lnSpc>
              <a:buSzPts val="2800"/>
            </a:pPr>
            <a:r>
              <a:rPr lang="ja-JP" altLang="en-US" sz="3200" b="1">
                <a:solidFill>
                  <a:srgbClr val="222222"/>
                </a:solidFill>
                <a:latin typeface="Meiryo" panose="020B0604030504040204" pitchFamily="34" charset="-128"/>
                <a:ea typeface="Meiryo" panose="020B0604030504040204" pitchFamily="34" charset="-128"/>
              </a:rPr>
              <a:t>自身の研究について</a:t>
            </a:r>
            <a:r>
              <a:rPr lang="mn-MN" altLang="ja-JP" sz="3200" b="1" dirty="0">
                <a:solidFill>
                  <a:srgbClr val="222222"/>
                </a:solidFill>
                <a:latin typeface="Meiryo" panose="020B0604030504040204" pitchFamily="34" charset="-128"/>
                <a:ea typeface="Meiryo" panose="020B0604030504040204" pitchFamily="34" charset="-128"/>
              </a:rPr>
              <a:t> </a:t>
            </a:r>
            <a:r>
              <a:rPr lang="en-US" altLang="ja-JP" sz="3200" b="1" dirty="0">
                <a:solidFill>
                  <a:srgbClr val="222222"/>
                </a:solidFill>
                <a:latin typeface="Meiryo" panose="020B0604030504040204" pitchFamily="34" charset="-128"/>
                <a:ea typeface="Meiryo" panose="020B0604030504040204" pitchFamily="34" charset="-128"/>
              </a:rPr>
              <a:t>2/</a:t>
            </a:r>
            <a:r>
              <a:rPr lang="mn-MN" altLang="ja-JP" sz="3200" b="1" dirty="0">
                <a:solidFill>
                  <a:srgbClr val="222222"/>
                </a:solidFill>
                <a:latin typeface="Meiryo" panose="020B0604030504040204" pitchFamily="34" charset="-128"/>
                <a:ea typeface="Meiryo" panose="020B0604030504040204" pitchFamily="34" charset="-128"/>
              </a:rPr>
              <a:t>2</a:t>
            </a:r>
            <a:endParaRPr lang="en-JP" sz="3200" b="1"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580D4A48-514F-264F-18B8-27E75A408AC2}"/>
              </a:ext>
            </a:extLst>
          </p:cNvPr>
          <p:cNvSpPr txBox="1"/>
          <p:nvPr/>
        </p:nvSpPr>
        <p:spPr>
          <a:xfrm>
            <a:off x="780639" y="1100746"/>
            <a:ext cx="8023728" cy="461665"/>
          </a:xfrm>
          <a:prstGeom prst="rect">
            <a:avLst/>
          </a:prstGeom>
          <a:noFill/>
        </p:spPr>
        <p:txBody>
          <a:bodyPr wrap="square">
            <a:spAutoFit/>
          </a:bodyPr>
          <a:lstStyle/>
          <a:p>
            <a:pPr>
              <a:spcBef>
                <a:spcPts val="900"/>
              </a:spcBef>
              <a:spcAft>
                <a:spcPts val="900"/>
              </a:spcAft>
            </a:pPr>
            <a:r>
              <a:rPr lang="en-US" sz="2400" b="1" dirty="0">
                <a:solidFill>
                  <a:srgbClr val="990000"/>
                </a:solidFill>
                <a:latin typeface="Meiryo" panose="020B0604030504040204" pitchFamily="34" charset="-128"/>
                <a:ea typeface="Meiryo" panose="020B0604030504040204" pitchFamily="34" charset="-128"/>
                <a:cs typeface="Times New Roman" panose="02020603050405020304" pitchFamily="18" charset="0"/>
              </a:rPr>
              <a:t>テーマ</a:t>
            </a:r>
            <a:r>
              <a:rPr lang="en-US" sz="2400" b="1" dirty="0">
                <a:solidFill>
                  <a:srgbClr val="990000"/>
                </a:solidFill>
                <a:latin typeface="Times New Roman" panose="02020603050405020304" pitchFamily="18" charset="0"/>
                <a:cs typeface="Times New Roman" panose="02020603050405020304" pitchFamily="18" charset="0"/>
              </a:rPr>
              <a:t>：Machine Learning-based IDS for Coap -DTLS </a:t>
            </a:r>
            <a:endParaRPr lang="en-JP" sz="24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CDD05F7-2ABD-72B5-1F39-5E5D16157AF0}"/>
              </a:ext>
            </a:extLst>
          </p:cNvPr>
          <p:cNvSpPr txBox="1"/>
          <p:nvPr/>
        </p:nvSpPr>
        <p:spPr>
          <a:xfrm>
            <a:off x="689199" y="1963527"/>
            <a:ext cx="9316950" cy="4832092"/>
          </a:xfrm>
          <a:prstGeom prst="rect">
            <a:avLst/>
          </a:prstGeom>
          <a:noFill/>
        </p:spPr>
        <p:txBody>
          <a:bodyPr wrap="square">
            <a:spAutoFit/>
          </a:bodyPr>
          <a:lstStyle/>
          <a:p>
            <a:pPr marL="285750" indent="-285750">
              <a:buFont typeface="Arial" panose="020B0604020202020204" pitchFamily="34" charset="0"/>
              <a:buChar char="•"/>
            </a:pPr>
            <a:r>
              <a:rPr lang="en-US" sz="28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800">
                <a:latin typeface="Meiryo" panose="020B0604030504040204" pitchFamily="34" charset="-128"/>
                <a:ea typeface="Meiryo" panose="020B0604030504040204" pitchFamily="34" charset="-128"/>
                <a:cs typeface="Times New Roman" panose="02020603050405020304" pitchFamily="18" charset="0"/>
              </a:rPr>
              <a:t>の利点である「軽量」「増分統計」「リアルタイム」を活かし、</a:t>
            </a:r>
            <a:br>
              <a:rPr lang="ja-JP" altLang="en-US" sz="2800">
                <a:latin typeface="Meiryo" panose="020B0604030504040204" pitchFamily="34" charset="-128"/>
                <a:ea typeface="Meiryo" panose="020B0604030504040204" pitchFamily="34" charset="-128"/>
                <a:cs typeface="Times New Roman" panose="02020603050405020304" pitchFamily="18" charset="0"/>
              </a:rPr>
            </a:br>
            <a:r>
              <a:rPr lang="en-US" sz="2800" dirty="0">
                <a:latin typeface="Meiryo" panose="020B0604030504040204" pitchFamily="34" charset="-128"/>
                <a:ea typeface="Meiryo" panose="020B0604030504040204" pitchFamily="34" charset="-128"/>
                <a:cs typeface="Times New Roman" panose="02020603050405020304" pitchFamily="18" charset="0"/>
              </a:rPr>
              <a:t>CoAP-DTLS</a:t>
            </a:r>
            <a:r>
              <a:rPr lang="ja-JP" altLang="en-US" sz="2800">
                <a:latin typeface="Meiryo" panose="020B0604030504040204" pitchFamily="34" charset="-128"/>
                <a:ea typeface="Meiryo" panose="020B0604030504040204" pitchFamily="34" charset="-128"/>
                <a:cs typeface="Times New Roman" panose="02020603050405020304" pitchFamily="18" charset="0"/>
              </a:rPr>
              <a:t>プロトコルに特化した</a:t>
            </a:r>
            <a:r>
              <a:rPr lang="en-US" sz="2800" dirty="0">
                <a:latin typeface="Meiryo" panose="020B0604030504040204" pitchFamily="34" charset="-128"/>
                <a:ea typeface="Meiryo" panose="020B0604030504040204" pitchFamily="34" charset="-128"/>
                <a:cs typeface="Times New Roman" panose="02020603050405020304" pitchFamily="18" charset="0"/>
              </a:rPr>
              <a:t>ML</a:t>
            </a:r>
            <a:r>
              <a:rPr lang="ja-JP" altLang="en-US" sz="2800">
                <a:latin typeface="Meiryo" panose="020B0604030504040204" pitchFamily="34" charset="-128"/>
                <a:ea typeface="Meiryo" panose="020B0604030504040204" pitchFamily="34" charset="-128"/>
                <a:cs typeface="Times New Roman" panose="02020603050405020304" pitchFamily="18" charset="0"/>
              </a:rPr>
              <a:t>ベースの</a:t>
            </a:r>
            <a:r>
              <a:rPr lang="en-US" sz="2800" dirty="0">
                <a:latin typeface="Meiryo" panose="020B0604030504040204" pitchFamily="34" charset="-128"/>
                <a:ea typeface="Meiryo" panose="020B0604030504040204" pitchFamily="34" charset="-128"/>
                <a:cs typeface="Times New Roman" panose="02020603050405020304" pitchFamily="18" charset="0"/>
              </a:rPr>
              <a:t>IDS</a:t>
            </a:r>
            <a:r>
              <a:rPr lang="ja-JP" altLang="en-US" sz="2800">
                <a:latin typeface="Meiryo" panose="020B0604030504040204" pitchFamily="34" charset="-128"/>
                <a:ea typeface="Meiryo" panose="020B0604030504040204" pitchFamily="34" charset="-128"/>
                <a:cs typeface="Times New Roman" panose="02020603050405020304" pitchFamily="18" charset="0"/>
              </a:rPr>
              <a:t>システムを開発することを目指している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p>
          <a:p>
            <a:pPr marL="285750" indent="-285750">
              <a:buFont typeface="Arial" panose="020B0604020202020204" pitchFamily="34" charset="0"/>
              <a:buChar char="•"/>
            </a:pPr>
            <a:endParaRPr lang="ja-JP" altLang="en-US" sz="280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r>
              <a:rPr lang="ja-JP" altLang="en-US" sz="2800">
                <a:latin typeface="Meiryo" panose="020B0604030504040204" pitchFamily="34" charset="-128"/>
                <a:ea typeface="Meiryo" panose="020B0604030504040204" pitchFamily="34" charset="-128"/>
                <a:cs typeface="Times New Roman" panose="02020603050405020304" pitchFamily="18" charset="0"/>
              </a:rPr>
              <a:t>ただ、私が気づいた点として、</a:t>
            </a:r>
            <a:r>
              <a:rPr lang="en-US" sz="28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800">
                <a:latin typeface="Meiryo" panose="020B0604030504040204" pitchFamily="34" charset="-128"/>
                <a:ea typeface="Meiryo" panose="020B0604030504040204" pitchFamily="34" charset="-128"/>
                <a:cs typeface="Times New Roman" panose="02020603050405020304" pitchFamily="18" charset="0"/>
              </a:rPr>
              <a:t>は</a:t>
            </a:r>
            <a:r>
              <a:rPr lang="en-US" sz="2800" dirty="0">
                <a:latin typeface="Meiryo" panose="020B0604030504040204" pitchFamily="34" charset="-128"/>
                <a:ea typeface="Meiryo" panose="020B0604030504040204" pitchFamily="34" charset="-128"/>
                <a:cs typeface="Times New Roman" panose="02020603050405020304" pitchFamily="18" charset="0"/>
              </a:rPr>
              <a:t>HTTP、FTP、SSH</a:t>
            </a:r>
            <a:r>
              <a:rPr lang="ja-JP" altLang="en-US" sz="2800">
                <a:latin typeface="Meiryo" panose="020B0604030504040204" pitchFamily="34" charset="-128"/>
                <a:ea typeface="Meiryo" panose="020B0604030504040204" pitchFamily="34" charset="-128"/>
                <a:cs typeface="Times New Roman" panose="02020603050405020304" pitchFamily="18" charset="0"/>
              </a:rPr>
              <a:t>などの従来型プロトコルで学習されている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p>
          <a:p>
            <a:endParaRPr lang="ja-JP" altLang="en-US" sz="280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r>
              <a:rPr lang="ja-JP" altLang="en-US" sz="2800">
                <a:latin typeface="Meiryo" panose="020B0604030504040204" pitchFamily="34" charset="-128"/>
                <a:ea typeface="Meiryo" panose="020B0604030504040204" pitchFamily="34" charset="-128"/>
                <a:cs typeface="Times New Roman" panose="02020603050405020304" pitchFamily="18" charset="0"/>
              </a:rPr>
              <a:t>一方、現代の</a:t>
            </a:r>
            <a:r>
              <a:rPr lang="en-US" sz="2800" dirty="0">
                <a:latin typeface="Meiryo" panose="020B0604030504040204" pitchFamily="34" charset="-128"/>
                <a:ea typeface="Meiryo" panose="020B0604030504040204" pitchFamily="34" charset="-128"/>
                <a:cs typeface="Times New Roman" panose="02020603050405020304" pitchFamily="18" charset="0"/>
              </a:rPr>
              <a:t>IoT</a:t>
            </a:r>
            <a:r>
              <a:rPr lang="ja-JP" altLang="en-US" sz="2800">
                <a:latin typeface="Meiryo" panose="020B0604030504040204" pitchFamily="34" charset="-128"/>
                <a:ea typeface="Meiryo" panose="020B0604030504040204" pitchFamily="34" charset="-128"/>
                <a:cs typeface="Times New Roman" panose="02020603050405020304" pitchFamily="18" charset="0"/>
              </a:rPr>
              <a:t>デバイス（スマートホーム、産業用センサー、医療機器など）は、</a:t>
            </a:r>
            <a:r>
              <a:rPr lang="en-US" sz="2800" dirty="0">
                <a:latin typeface="Meiryo" panose="020B0604030504040204" pitchFamily="34" charset="-128"/>
                <a:ea typeface="Meiryo" panose="020B0604030504040204" pitchFamily="34" charset="-128"/>
                <a:cs typeface="Times New Roman" panose="02020603050405020304" pitchFamily="18" charset="0"/>
              </a:rPr>
              <a:t>CoAP-DTLS</a:t>
            </a:r>
            <a:r>
              <a:rPr lang="ja-JP" altLang="en-US" sz="2800">
                <a:latin typeface="Meiryo" panose="020B0604030504040204" pitchFamily="34" charset="-128"/>
                <a:ea typeface="Meiryo" panose="020B0604030504040204" pitchFamily="34" charset="-128"/>
                <a:cs typeface="Times New Roman" panose="02020603050405020304" pitchFamily="18" charset="0"/>
              </a:rPr>
              <a:t>プロトコルを使用している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endParaRPr lang="ja-JP" altLang="en-US" sz="280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370784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10D3-3090-2BBB-D153-8944E39ED6BB}"/>
              </a:ext>
            </a:extLst>
          </p:cNvPr>
          <p:cNvPicPr>
            <a:picLocks noChangeAspect="1"/>
          </p:cNvPicPr>
          <p:nvPr/>
        </p:nvPicPr>
        <p:blipFill>
          <a:blip r:embed="rId3"/>
          <a:stretch>
            <a:fillRect/>
          </a:stretch>
        </p:blipFill>
        <p:spPr>
          <a:xfrm>
            <a:off x="-49373" y="2514045"/>
            <a:ext cx="1118180" cy="1729833"/>
          </a:xfrm>
          <a:prstGeom prst="rect">
            <a:avLst/>
          </a:prstGeom>
        </p:spPr>
      </p:pic>
      <p:sp>
        <p:nvSpPr>
          <p:cNvPr id="19" name="Left-Right Arrow 18">
            <a:extLst>
              <a:ext uri="{FF2B5EF4-FFF2-40B4-BE49-F238E27FC236}">
                <a16:creationId xmlns:a16="http://schemas.microsoft.com/office/drawing/2014/main" id="{BE439358-D81D-75A7-8A1E-C4D6799A7ABD}"/>
              </a:ext>
            </a:extLst>
          </p:cNvPr>
          <p:cNvSpPr/>
          <p:nvPr/>
        </p:nvSpPr>
        <p:spPr>
          <a:xfrm>
            <a:off x="1190526" y="3776485"/>
            <a:ext cx="1507771" cy="157682"/>
          </a:xfrm>
          <a:prstGeom prst="lef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pic>
        <p:nvPicPr>
          <p:cNvPr id="32" name="Picture 31">
            <a:extLst>
              <a:ext uri="{FF2B5EF4-FFF2-40B4-BE49-F238E27FC236}">
                <a16:creationId xmlns:a16="http://schemas.microsoft.com/office/drawing/2014/main" id="{02D4093D-AE87-3993-FD2B-5CB283B08F20}"/>
              </a:ext>
            </a:extLst>
          </p:cNvPr>
          <p:cNvPicPr>
            <a:picLocks noChangeAspect="1"/>
          </p:cNvPicPr>
          <p:nvPr/>
        </p:nvPicPr>
        <p:blipFill>
          <a:blip r:embed="rId4"/>
          <a:stretch>
            <a:fillRect/>
          </a:stretch>
        </p:blipFill>
        <p:spPr>
          <a:xfrm>
            <a:off x="2388609" y="1119508"/>
            <a:ext cx="912954" cy="572387"/>
          </a:xfrm>
          <a:prstGeom prst="rect">
            <a:avLst/>
          </a:prstGeom>
        </p:spPr>
      </p:pic>
      <p:sp>
        <p:nvSpPr>
          <p:cNvPr id="46" name="Bent Arrow 45">
            <a:extLst>
              <a:ext uri="{FF2B5EF4-FFF2-40B4-BE49-F238E27FC236}">
                <a16:creationId xmlns:a16="http://schemas.microsoft.com/office/drawing/2014/main" id="{7C11349D-3AF5-ECB8-5C22-074F0C9F2A25}"/>
              </a:ext>
            </a:extLst>
          </p:cNvPr>
          <p:cNvSpPr/>
          <p:nvPr/>
        </p:nvSpPr>
        <p:spPr>
          <a:xfrm rot="10800000">
            <a:off x="7070884" y="3987360"/>
            <a:ext cx="1979809" cy="226432"/>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dirty="0">
              <a:solidFill>
                <a:schemeClr val="tx1"/>
              </a:solidFill>
            </a:endParaRPr>
          </a:p>
        </p:txBody>
      </p:sp>
      <p:pic>
        <p:nvPicPr>
          <p:cNvPr id="47" name="Picture 46">
            <a:extLst>
              <a:ext uri="{FF2B5EF4-FFF2-40B4-BE49-F238E27FC236}">
                <a16:creationId xmlns:a16="http://schemas.microsoft.com/office/drawing/2014/main" id="{5242EC0E-823D-0539-252E-FE3698BDE659}"/>
              </a:ext>
            </a:extLst>
          </p:cNvPr>
          <p:cNvPicPr>
            <a:picLocks noChangeAspect="1"/>
          </p:cNvPicPr>
          <p:nvPr/>
        </p:nvPicPr>
        <p:blipFill>
          <a:blip r:embed="rId5"/>
          <a:stretch>
            <a:fillRect/>
          </a:stretch>
        </p:blipFill>
        <p:spPr>
          <a:xfrm>
            <a:off x="8158174" y="1894310"/>
            <a:ext cx="985777" cy="1131369"/>
          </a:xfrm>
          <a:prstGeom prst="rect">
            <a:avLst/>
          </a:prstGeom>
        </p:spPr>
      </p:pic>
      <p:sp>
        <p:nvSpPr>
          <p:cNvPr id="48" name="TextBox 47">
            <a:extLst>
              <a:ext uri="{FF2B5EF4-FFF2-40B4-BE49-F238E27FC236}">
                <a16:creationId xmlns:a16="http://schemas.microsoft.com/office/drawing/2014/main" id="{AFC1EF38-B3C8-4959-0A80-3741677F9330}"/>
              </a:ext>
            </a:extLst>
          </p:cNvPr>
          <p:cNvSpPr txBox="1"/>
          <p:nvPr/>
        </p:nvSpPr>
        <p:spPr>
          <a:xfrm>
            <a:off x="8218886" y="3037684"/>
            <a:ext cx="962845" cy="369332"/>
          </a:xfrm>
          <a:prstGeom prst="rect">
            <a:avLst/>
          </a:prstGeom>
          <a:noFill/>
        </p:spPr>
        <p:txBody>
          <a:bodyPr wrap="square" rtlCol="0">
            <a:spAutoFit/>
          </a:bodyPr>
          <a:lstStyle/>
          <a:p>
            <a:r>
              <a:rPr lang="en-JP" dirty="0">
                <a:solidFill>
                  <a:srgbClr val="C00000"/>
                </a:solidFill>
              </a:rPr>
              <a:t>Attacker</a:t>
            </a:r>
          </a:p>
        </p:txBody>
      </p:sp>
      <p:sp>
        <p:nvSpPr>
          <p:cNvPr id="49" name="Left-Right Arrow 48">
            <a:extLst>
              <a:ext uri="{FF2B5EF4-FFF2-40B4-BE49-F238E27FC236}">
                <a16:creationId xmlns:a16="http://schemas.microsoft.com/office/drawing/2014/main" id="{1A47444E-9524-0334-8B6D-33B2E0A4D864}"/>
              </a:ext>
            </a:extLst>
          </p:cNvPr>
          <p:cNvSpPr/>
          <p:nvPr/>
        </p:nvSpPr>
        <p:spPr>
          <a:xfrm>
            <a:off x="7158401" y="3433416"/>
            <a:ext cx="1226559" cy="153114"/>
          </a:xfrm>
          <a:prstGeom prst="lef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sp>
        <p:nvSpPr>
          <p:cNvPr id="50" name="TextBox 49">
            <a:extLst>
              <a:ext uri="{FF2B5EF4-FFF2-40B4-BE49-F238E27FC236}">
                <a16:creationId xmlns:a16="http://schemas.microsoft.com/office/drawing/2014/main" id="{FCFD3722-4FB7-9603-24F0-072A9421029B}"/>
              </a:ext>
            </a:extLst>
          </p:cNvPr>
          <p:cNvSpPr txBox="1"/>
          <p:nvPr/>
        </p:nvSpPr>
        <p:spPr>
          <a:xfrm>
            <a:off x="7083272" y="3674404"/>
            <a:ext cx="1509067" cy="646331"/>
          </a:xfrm>
          <a:prstGeom prst="rect">
            <a:avLst/>
          </a:prstGeom>
          <a:noFill/>
        </p:spPr>
        <p:txBody>
          <a:bodyPr wrap="square" rtlCol="0">
            <a:spAutoFit/>
          </a:bodyPr>
          <a:lstStyle/>
          <a:p>
            <a:r>
              <a:rPr lang="en-JP" dirty="0">
                <a:solidFill>
                  <a:srgbClr val="C00000"/>
                </a:solidFill>
              </a:rPr>
              <a:t>Dos/Scan/Flood</a:t>
            </a:r>
          </a:p>
        </p:txBody>
      </p:sp>
      <p:pic>
        <p:nvPicPr>
          <p:cNvPr id="52" name="Picture 51">
            <a:extLst>
              <a:ext uri="{FF2B5EF4-FFF2-40B4-BE49-F238E27FC236}">
                <a16:creationId xmlns:a16="http://schemas.microsoft.com/office/drawing/2014/main" id="{E7F1857C-32CF-5FC8-AB7D-D96FFB8BE504}"/>
              </a:ext>
            </a:extLst>
          </p:cNvPr>
          <p:cNvPicPr>
            <a:picLocks noChangeAspect="1"/>
          </p:cNvPicPr>
          <p:nvPr/>
        </p:nvPicPr>
        <p:blipFill>
          <a:blip r:embed="rId6"/>
          <a:stretch>
            <a:fillRect/>
          </a:stretch>
        </p:blipFill>
        <p:spPr>
          <a:xfrm>
            <a:off x="444075" y="1171825"/>
            <a:ext cx="1227926" cy="634365"/>
          </a:xfrm>
          <a:prstGeom prst="rect">
            <a:avLst/>
          </a:prstGeom>
        </p:spPr>
      </p:pic>
      <p:sp>
        <p:nvSpPr>
          <p:cNvPr id="55" name="Bent Arrow 54">
            <a:extLst>
              <a:ext uri="{FF2B5EF4-FFF2-40B4-BE49-F238E27FC236}">
                <a16:creationId xmlns:a16="http://schemas.microsoft.com/office/drawing/2014/main" id="{71DCE43E-E4DC-DB63-1CE8-D0A7F2FC1E6E}"/>
              </a:ext>
            </a:extLst>
          </p:cNvPr>
          <p:cNvSpPr/>
          <p:nvPr/>
        </p:nvSpPr>
        <p:spPr>
          <a:xfrm flipV="1">
            <a:off x="895072" y="5577281"/>
            <a:ext cx="1507771" cy="320748"/>
          </a:xfrm>
          <a:prstGeom prst="bentArrow">
            <a:avLst/>
          </a:prstGeom>
          <a:solidFill>
            <a:schemeClr val="accent6">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dirty="0">
              <a:solidFill>
                <a:schemeClr val="tx1"/>
              </a:solidFill>
            </a:endParaRPr>
          </a:p>
        </p:txBody>
      </p:sp>
      <p:sp>
        <p:nvSpPr>
          <p:cNvPr id="59" name="TextBox 58">
            <a:extLst>
              <a:ext uri="{FF2B5EF4-FFF2-40B4-BE49-F238E27FC236}">
                <a16:creationId xmlns:a16="http://schemas.microsoft.com/office/drawing/2014/main" id="{891AB5D9-182E-25DA-5AF2-2607A252597A}"/>
              </a:ext>
            </a:extLst>
          </p:cNvPr>
          <p:cNvSpPr txBox="1"/>
          <p:nvPr/>
        </p:nvSpPr>
        <p:spPr>
          <a:xfrm>
            <a:off x="803921" y="5914945"/>
            <a:ext cx="1906763" cy="369332"/>
          </a:xfrm>
          <a:prstGeom prst="rect">
            <a:avLst/>
          </a:prstGeom>
          <a:noFill/>
        </p:spPr>
        <p:txBody>
          <a:bodyPr wrap="square">
            <a:spAutoFit/>
          </a:bodyPr>
          <a:lstStyle/>
          <a:p>
            <a:r>
              <a:rPr lang="en-JP"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Enctypted Traffic</a:t>
            </a:r>
          </a:p>
        </p:txBody>
      </p:sp>
      <p:sp>
        <p:nvSpPr>
          <p:cNvPr id="61" name="TextBox 60">
            <a:extLst>
              <a:ext uri="{FF2B5EF4-FFF2-40B4-BE49-F238E27FC236}">
                <a16:creationId xmlns:a16="http://schemas.microsoft.com/office/drawing/2014/main" id="{D5A88AA2-713E-292F-37BC-DEFDFA0B5F38}"/>
              </a:ext>
            </a:extLst>
          </p:cNvPr>
          <p:cNvSpPr txBox="1"/>
          <p:nvPr/>
        </p:nvSpPr>
        <p:spPr>
          <a:xfrm>
            <a:off x="7161974" y="4370958"/>
            <a:ext cx="3034932" cy="369332"/>
          </a:xfrm>
          <a:prstGeom prst="rect">
            <a:avLst/>
          </a:prstGeom>
          <a:noFill/>
        </p:spPr>
        <p:txBody>
          <a:bodyPr wrap="square">
            <a:spAutoFit/>
          </a:bodyPr>
          <a:lstStyle/>
          <a:p>
            <a:r>
              <a:rPr lang="en-JP" dirty="0">
                <a:solidFill>
                  <a:srgbClr val="C00000"/>
                </a:solidFill>
              </a:rPr>
              <a:t>Malicious Traffic</a:t>
            </a:r>
          </a:p>
        </p:txBody>
      </p:sp>
      <p:cxnSp>
        <p:nvCxnSpPr>
          <p:cNvPr id="62" name="Straight Arrow Connector 61">
            <a:extLst>
              <a:ext uri="{FF2B5EF4-FFF2-40B4-BE49-F238E27FC236}">
                <a16:creationId xmlns:a16="http://schemas.microsoft.com/office/drawing/2014/main" id="{C43E0002-502B-4332-50FE-25EC941789E1}"/>
              </a:ext>
            </a:extLst>
          </p:cNvPr>
          <p:cNvCxnSpPr>
            <a:cxnSpLocks/>
          </p:cNvCxnSpPr>
          <p:nvPr/>
        </p:nvCxnSpPr>
        <p:spPr>
          <a:xfrm flipH="1">
            <a:off x="1625279" y="1489008"/>
            <a:ext cx="777564"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25C0994D-DE4E-C824-2D4D-04EA154EC4AF}"/>
              </a:ext>
            </a:extLst>
          </p:cNvPr>
          <p:cNvSpPr txBox="1"/>
          <p:nvPr/>
        </p:nvSpPr>
        <p:spPr>
          <a:xfrm>
            <a:off x="88688" y="5014825"/>
            <a:ext cx="571114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t>
            </a:r>
            <a:r>
              <a:rPr lang="en-JP" dirty="0">
                <a:latin typeface="Times New Roman" panose="02020603050405020304" pitchFamily="18" charset="0"/>
                <a:cs typeface="Times New Roman" panose="02020603050405020304" pitchFamily="18" charset="0"/>
              </a:rPr>
              <a:t>ncrypte communication</a:t>
            </a:r>
          </a:p>
        </p:txBody>
      </p:sp>
      <p:sp>
        <p:nvSpPr>
          <p:cNvPr id="69" name="Rectangle 68">
            <a:extLst>
              <a:ext uri="{FF2B5EF4-FFF2-40B4-BE49-F238E27FC236}">
                <a16:creationId xmlns:a16="http://schemas.microsoft.com/office/drawing/2014/main" id="{B504446D-2D8F-4558-50FC-7D796330FFCD}"/>
              </a:ext>
            </a:extLst>
          </p:cNvPr>
          <p:cNvSpPr/>
          <p:nvPr/>
        </p:nvSpPr>
        <p:spPr>
          <a:xfrm>
            <a:off x="2809031" y="1749261"/>
            <a:ext cx="4163507" cy="5014419"/>
          </a:xfrm>
          <a:prstGeom prst="rect">
            <a:avLst/>
          </a:prstGeom>
          <a:ln w="444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sz="1620" dirty="0"/>
          </a:p>
        </p:txBody>
      </p:sp>
      <p:pic>
        <p:nvPicPr>
          <p:cNvPr id="70" name="Picture 69">
            <a:extLst>
              <a:ext uri="{FF2B5EF4-FFF2-40B4-BE49-F238E27FC236}">
                <a16:creationId xmlns:a16="http://schemas.microsoft.com/office/drawing/2014/main" id="{15823733-1759-595E-061D-867B43F90BED}"/>
              </a:ext>
            </a:extLst>
          </p:cNvPr>
          <p:cNvPicPr>
            <a:picLocks noChangeAspect="1"/>
          </p:cNvPicPr>
          <p:nvPr/>
        </p:nvPicPr>
        <p:blipFill>
          <a:blip r:embed="rId7"/>
          <a:stretch>
            <a:fillRect/>
          </a:stretch>
        </p:blipFill>
        <p:spPr>
          <a:xfrm>
            <a:off x="5651383" y="2944014"/>
            <a:ext cx="850717" cy="995283"/>
          </a:xfrm>
          <a:prstGeom prst="rect">
            <a:avLst/>
          </a:prstGeom>
        </p:spPr>
      </p:pic>
      <p:pic>
        <p:nvPicPr>
          <p:cNvPr id="71" name="Picture 70">
            <a:extLst>
              <a:ext uri="{FF2B5EF4-FFF2-40B4-BE49-F238E27FC236}">
                <a16:creationId xmlns:a16="http://schemas.microsoft.com/office/drawing/2014/main" id="{BAB59F2A-2C15-6B64-879F-0962A652407D}"/>
              </a:ext>
            </a:extLst>
          </p:cNvPr>
          <p:cNvPicPr>
            <a:picLocks noChangeAspect="1"/>
          </p:cNvPicPr>
          <p:nvPr/>
        </p:nvPicPr>
        <p:blipFill>
          <a:blip r:embed="rId8"/>
          <a:stretch>
            <a:fillRect/>
          </a:stretch>
        </p:blipFill>
        <p:spPr>
          <a:xfrm>
            <a:off x="2999659" y="2006393"/>
            <a:ext cx="1108710" cy="596279"/>
          </a:xfrm>
          <a:prstGeom prst="rect">
            <a:avLst/>
          </a:prstGeom>
        </p:spPr>
      </p:pic>
      <p:cxnSp>
        <p:nvCxnSpPr>
          <p:cNvPr id="72" name="Straight Arrow Connector 71">
            <a:extLst>
              <a:ext uri="{FF2B5EF4-FFF2-40B4-BE49-F238E27FC236}">
                <a16:creationId xmlns:a16="http://schemas.microsoft.com/office/drawing/2014/main" id="{AD6B0973-C973-C2DB-2360-734D9A600D13}"/>
              </a:ext>
            </a:extLst>
          </p:cNvPr>
          <p:cNvCxnSpPr>
            <a:cxnSpLocks/>
          </p:cNvCxnSpPr>
          <p:nvPr/>
        </p:nvCxnSpPr>
        <p:spPr>
          <a:xfrm flipV="1">
            <a:off x="4817774" y="2423148"/>
            <a:ext cx="0" cy="409649"/>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29D365C1-027F-8B86-7EDD-104EF734B89C}"/>
              </a:ext>
            </a:extLst>
          </p:cNvPr>
          <p:cNvSpPr/>
          <p:nvPr/>
        </p:nvSpPr>
        <p:spPr>
          <a:xfrm>
            <a:off x="3305324" y="3044941"/>
            <a:ext cx="1283596" cy="4937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20" dirty="0"/>
              <a:t>IoT </a:t>
            </a:r>
            <a:r>
              <a:rPr lang="mn-MN" sz="1620" dirty="0"/>
              <a:t>G</a:t>
            </a:r>
            <a:r>
              <a:rPr lang="en-US" sz="1620" dirty="0"/>
              <a:t>ateway</a:t>
            </a:r>
            <a:endParaRPr lang="en-JP" sz="1620" dirty="0"/>
          </a:p>
        </p:txBody>
      </p:sp>
      <p:sp>
        <p:nvSpPr>
          <p:cNvPr id="75" name="TextBox 74">
            <a:extLst>
              <a:ext uri="{FF2B5EF4-FFF2-40B4-BE49-F238E27FC236}">
                <a16:creationId xmlns:a16="http://schemas.microsoft.com/office/drawing/2014/main" id="{69BCDBDA-8FA8-D6BB-1EC1-433FB61C2A89}"/>
              </a:ext>
            </a:extLst>
          </p:cNvPr>
          <p:cNvSpPr txBox="1"/>
          <p:nvPr/>
        </p:nvSpPr>
        <p:spPr>
          <a:xfrm>
            <a:off x="5856597" y="2590277"/>
            <a:ext cx="1685422" cy="424732"/>
          </a:xfrm>
          <a:prstGeom prst="rect">
            <a:avLst/>
          </a:prstGeom>
          <a:noFill/>
        </p:spPr>
        <p:txBody>
          <a:bodyPr wrap="square" rtlCol="0">
            <a:spAutoFit/>
          </a:bodyPr>
          <a:lstStyle/>
          <a:p>
            <a:r>
              <a:rPr lang="en-US" sz="1080" dirty="0"/>
              <a:t>A</a:t>
            </a:r>
            <a:r>
              <a:rPr lang="en-JP" sz="1080" dirty="0"/>
              <a:t>ttack detected </a:t>
            </a:r>
          </a:p>
          <a:p>
            <a:r>
              <a:rPr lang="en-JP" sz="1080" dirty="0"/>
              <a:t>      blocked</a:t>
            </a:r>
          </a:p>
        </p:txBody>
      </p:sp>
      <p:pic>
        <p:nvPicPr>
          <p:cNvPr id="76" name="Picture 75">
            <a:extLst>
              <a:ext uri="{FF2B5EF4-FFF2-40B4-BE49-F238E27FC236}">
                <a16:creationId xmlns:a16="http://schemas.microsoft.com/office/drawing/2014/main" id="{2522D428-DA88-8105-A9FD-3F9A961CEE1E}"/>
              </a:ext>
            </a:extLst>
          </p:cNvPr>
          <p:cNvPicPr>
            <a:picLocks noChangeAspect="1"/>
          </p:cNvPicPr>
          <p:nvPr/>
        </p:nvPicPr>
        <p:blipFill>
          <a:blip r:embed="rId9"/>
          <a:stretch>
            <a:fillRect/>
          </a:stretch>
        </p:blipFill>
        <p:spPr>
          <a:xfrm>
            <a:off x="6112763" y="2094602"/>
            <a:ext cx="501412" cy="375066"/>
          </a:xfrm>
          <a:prstGeom prst="rect">
            <a:avLst/>
          </a:prstGeom>
        </p:spPr>
      </p:pic>
      <p:pic>
        <p:nvPicPr>
          <p:cNvPr id="77" name="Picture 76">
            <a:extLst>
              <a:ext uri="{FF2B5EF4-FFF2-40B4-BE49-F238E27FC236}">
                <a16:creationId xmlns:a16="http://schemas.microsoft.com/office/drawing/2014/main" id="{E487F1D6-DB80-2319-057B-590470F5B51A}"/>
              </a:ext>
            </a:extLst>
          </p:cNvPr>
          <p:cNvPicPr>
            <a:picLocks noChangeAspect="1"/>
          </p:cNvPicPr>
          <p:nvPr/>
        </p:nvPicPr>
        <p:blipFill>
          <a:blip r:embed="rId10"/>
          <a:stretch>
            <a:fillRect/>
          </a:stretch>
        </p:blipFill>
        <p:spPr>
          <a:xfrm>
            <a:off x="2893197" y="3037116"/>
            <a:ext cx="408366" cy="529944"/>
          </a:xfrm>
          <a:prstGeom prst="rect">
            <a:avLst/>
          </a:prstGeom>
        </p:spPr>
      </p:pic>
      <p:pic>
        <p:nvPicPr>
          <p:cNvPr id="78" name="Picture 77">
            <a:extLst>
              <a:ext uri="{FF2B5EF4-FFF2-40B4-BE49-F238E27FC236}">
                <a16:creationId xmlns:a16="http://schemas.microsoft.com/office/drawing/2014/main" id="{243C226B-965D-EC73-25B8-EB65EC9BD176}"/>
              </a:ext>
            </a:extLst>
          </p:cNvPr>
          <p:cNvPicPr>
            <a:picLocks noChangeAspect="1"/>
          </p:cNvPicPr>
          <p:nvPr/>
        </p:nvPicPr>
        <p:blipFill>
          <a:blip r:embed="rId11"/>
          <a:stretch>
            <a:fillRect/>
          </a:stretch>
        </p:blipFill>
        <p:spPr>
          <a:xfrm>
            <a:off x="3138528" y="5352446"/>
            <a:ext cx="3657353" cy="1368947"/>
          </a:xfrm>
          <a:prstGeom prst="rect">
            <a:avLst/>
          </a:prstGeom>
        </p:spPr>
      </p:pic>
      <p:pic>
        <p:nvPicPr>
          <p:cNvPr id="79" name="Picture 78">
            <a:extLst>
              <a:ext uri="{FF2B5EF4-FFF2-40B4-BE49-F238E27FC236}">
                <a16:creationId xmlns:a16="http://schemas.microsoft.com/office/drawing/2014/main" id="{551B34E5-387C-D7B0-D5C6-7EDF59516651}"/>
              </a:ext>
            </a:extLst>
          </p:cNvPr>
          <p:cNvPicPr>
            <a:picLocks noChangeAspect="1"/>
          </p:cNvPicPr>
          <p:nvPr/>
        </p:nvPicPr>
        <p:blipFill>
          <a:blip r:embed="rId12"/>
          <a:stretch>
            <a:fillRect/>
          </a:stretch>
        </p:blipFill>
        <p:spPr>
          <a:xfrm>
            <a:off x="6133872" y="5566794"/>
            <a:ext cx="354330" cy="514350"/>
          </a:xfrm>
          <a:prstGeom prst="rect">
            <a:avLst/>
          </a:prstGeom>
        </p:spPr>
      </p:pic>
      <p:sp>
        <p:nvSpPr>
          <p:cNvPr id="80" name="TextBox 79">
            <a:extLst>
              <a:ext uri="{FF2B5EF4-FFF2-40B4-BE49-F238E27FC236}">
                <a16:creationId xmlns:a16="http://schemas.microsoft.com/office/drawing/2014/main" id="{269842F5-839E-4CCB-3E53-49919684E3D9}"/>
              </a:ext>
            </a:extLst>
          </p:cNvPr>
          <p:cNvSpPr txBox="1"/>
          <p:nvPr/>
        </p:nvSpPr>
        <p:spPr>
          <a:xfrm>
            <a:off x="4204580" y="1986505"/>
            <a:ext cx="1306704" cy="341632"/>
          </a:xfrm>
          <a:prstGeom prst="rect">
            <a:avLst/>
          </a:prstGeom>
          <a:noFill/>
        </p:spPr>
        <p:txBody>
          <a:bodyPr wrap="none" rtlCol="0">
            <a:spAutoFit/>
          </a:bodyPr>
          <a:lstStyle/>
          <a:p>
            <a:r>
              <a:rPr lang="en-JP" sz="1620" dirty="0"/>
              <a:t>Home Router</a:t>
            </a:r>
          </a:p>
        </p:txBody>
      </p:sp>
      <p:cxnSp>
        <p:nvCxnSpPr>
          <p:cNvPr id="82" name="Elbow Connector 81">
            <a:extLst>
              <a:ext uri="{FF2B5EF4-FFF2-40B4-BE49-F238E27FC236}">
                <a16:creationId xmlns:a16="http://schemas.microsoft.com/office/drawing/2014/main" id="{406830F6-9980-48BA-FE75-6E6228A9C36F}"/>
              </a:ext>
            </a:extLst>
          </p:cNvPr>
          <p:cNvCxnSpPr>
            <a:cxnSpLocks/>
            <a:stCxn id="32" idx="3"/>
          </p:cNvCxnSpPr>
          <p:nvPr/>
        </p:nvCxnSpPr>
        <p:spPr>
          <a:xfrm>
            <a:off x="3301563" y="1405701"/>
            <a:ext cx="282483" cy="337665"/>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6D4E73D-98FD-997D-C073-2B686C7D397A}"/>
              </a:ext>
            </a:extLst>
          </p:cNvPr>
          <p:cNvSpPr txBox="1"/>
          <p:nvPr/>
        </p:nvSpPr>
        <p:spPr>
          <a:xfrm>
            <a:off x="3097380" y="5086545"/>
            <a:ext cx="6087920" cy="341632"/>
          </a:xfrm>
          <a:prstGeom prst="rect">
            <a:avLst/>
          </a:prstGeom>
          <a:noFill/>
        </p:spPr>
        <p:txBody>
          <a:bodyPr wrap="square">
            <a:spAutoFit/>
          </a:bodyPr>
          <a:lstStyle/>
          <a:p>
            <a:r>
              <a:rPr lang="en-US" sz="1620" dirty="0"/>
              <a:t>IoT Device</a:t>
            </a:r>
            <a:endParaRPr lang="en-JP" sz="1620" dirty="0"/>
          </a:p>
        </p:txBody>
      </p:sp>
      <p:sp>
        <p:nvSpPr>
          <p:cNvPr id="2" name="Left-Right Arrow 1">
            <a:extLst>
              <a:ext uri="{FF2B5EF4-FFF2-40B4-BE49-F238E27FC236}">
                <a16:creationId xmlns:a16="http://schemas.microsoft.com/office/drawing/2014/main" id="{971EB2E9-2C75-2F34-CB92-92682BE3D27D}"/>
              </a:ext>
            </a:extLst>
          </p:cNvPr>
          <p:cNvSpPr/>
          <p:nvPr/>
        </p:nvSpPr>
        <p:spPr>
          <a:xfrm rot="5400000">
            <a:off x="3624595" y="3850141"/>
            <a:ext cx="539568" cy="105485"/>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pic>
        <p:nvPicPr>
          <p:cNvPr id="3" name="Picture 2">
            <a:extLst>
              <a:ext uri="{FF2B5EF4-FFF2-40B4-BE49-F238E27FC236}">
                <a16:creationId xmlns:a16="http://schemas.microsoft.com/office/drawing/2014/main" id="{342C00CE-E3E9-31F5-6F0C-1CDF6E7696F7}"/>
              </a:ext>
            </a:extLst>
          </p:cNvPr>
          <p:cNvPicPr>
            <a:picLocks noChangeAspect="1"/>
          </p:cNvPicPr>
          <p:nvPr/>
        </p:nvPicPr>
        <p:blipFill>
          <a:blip r:embed="rId13"/>
          <a:stretch>
            <a:fillRect/>
          </a:stretch>
        </p:blipFill>
        <p:spPr>
          <a:xfrm>
            <a:off x="4810054" y="2772853"/>
            <a:ext cx="919061" cy="844036"/>
          </a:xfrm>
          <a:prstGeom prst="rect">
            <a:avLst/>
          </a:prstGeom>
        </p:spPr>
      </p:pic>
      <p:sp>
        <p:nvSpPr>
          <p:cNvPr id="5" name="Rounded Rectangle 4">
            <a:extLst>
              <a:ext uri="{FF2B5EF4-FFF2-40B4-BE49-F238E27FC236}">
                <a16:creationId xmlns:a16="http://schemas.microsoft.com/office/drawing/2014/main" id="{E05601E7-4251-F033-BCF1-09C9B2A2B194}"/>
              </a:ext>
            </a:extLst>
          </p:cNvPr>
          <p:cNvSpPr/>
          <p:nvPr/>
        </p:nvSpPr>
        <p:spPr>
          <a:xfrm>
            <a:off x="4783303" y="3728717"/>
            <a:ext cx="1675614" cy="32339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20" dirty="0"/>
              <a:t>ML-Based IDS</a:t>
            </a:r>
            <a:endParaRPr lang="en-JP" sz="1620" dirty="0"/>
          </a:p>
        </p:txBody>
      </p:sp>
      <p:sp>
        <p:nvSpPr>
          <p:cNvPr id="9" name="TextBox 8">
            <a:extLst>
              <a:ext uri="{FF2B5EF4-FFF2-40B4-BE49-F238E27FC236}">
                <a16:creationId xmlns:a16="http://schemas.microsoft.com/office/drawing/2014/main" id="{95D04EF8-CD42-CA7E-BA41-374A8A72BB84}"/>
              </a:ext>
            </a:extLst>
          </p:cNvPr>
          <p:cNvSpPr txBox="1"/>
          <p:nvPr/>
        </p:nvSpPr>
        <p:spPr>
          <a:xfrm>
            <a:off x="2230765" y="4860523"/>
            <a:ext cx="6744275" cy="590931"/>
          </a:xfrm>
          <a:prstGeom prst="rect">
            <a:avLst/>
          </a:prstGeom>
          <a:noFill/>
        </p:spPr>
        <p:txBody>
          <a:bodyPr wrap="square">
            <a:spAutoFit/>
          </a:bodyPr>
          <a:lstStyle/>
          <a:p>
            <a:pPr algn="ctr"/>
            <a:r>
              <a:rPr lang="en-US" sz="1620" dirty="0"/>
              <a:t>CoAP+DTLS</a:t>
            </a:r>
          </a:p>
          <a:p>
            <a:pPr algn="ctr"/>
            <a:r>
              <a:rPr lang="en-US" sz="1620" dirty="0"/>
              <a:t>Encrypted Traffic</a:t>
            </a:r>
          </a:p>
        </p:txBody>
      </p:sp>
      <p:sp>
        <p:nvSpPr>
          <p:cNvPr id="10" name="Rounded Rectangle 9">
            <a:extLst>
              <a:ext uri="{FF2B5EF4-FFF2-40B4-BE49-F238E27FC236}">
                <a16:creationId xmlns:a16="http://schemas.microsoft.com/office/drawing/2014/main" id="{A6E8DE3B-2133-4077-78FB-2AED9F854DA6}"/>
              </a:ext>
            </a:extLst>
          </p:cNvPr>
          <p:cNvSpPr/>
          <p:nvPr/>
        </p:nvSpPr>
        <p:spPr>
          <a:xfrm>
            <a:off x="4634335" y="4202682"/>
            <a:ext cx="2034095" cy="43371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t>Monitoring before encryption</a:t>
            </a:r>
            <a:endParaRPr lang="en-JP" sz="1600" dirty="0"/>
          </a:p>
        </p:txBody>
      </p:sp>
      <p:sp>
        <p:nvSpPr>
          <p:cNvPr id="11" name="Left-Right Arrow 10">
            <a:extLst>
              <a:ext uri="{FF2B5EF4-FFF2-40B4-BE49-F238E27FC236}">
                <a16:creationId xmlns:a16="http://schemas.microsoft.com/office/drawing/2014/main" id="{F987DCA4-F04F-CCF6-E614-BE4CE0D434DC}"/>
              </a:ext>
            </a:extLst>
          </p:cNvPr>
          <p:cNvSpPr/>
          <p:nvPr/>
        </p:nvSpPr>
        <p:spPr>
          <a:xfrm rot="5400000">
            <a:off x="5478255" y="4773490"/>
            <a:ext cx="244562" cy="41147"/>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cxnSp>
        <p:nvCxnSpPr>
          <p:cNvPr id="12" name="Straight Arrow Connector 11">
            <a:extLst>
              <a:ext uri="{FF2B5EF4-FFF2-40B4-BE49-F238E27FC236}">
                <a16:creationId xmlns:a16="http://schemas.microsoft.com/office/drawing/2014/main" id="{A187074D-85F1-26FD-4405-B5FC9E741F05}"/>
              </a:ext>
            </a:extLst>
          </p:cNvPr>
          <p:cNvCxnSpPr>
            <a:cxnSpLocks/>
          </p:cNvCxnSpPr>
          <p:nvPr/>
        </p:nvCxnSpPr>
        <p:spPr>
          <a:xfrm>
            <a:off x="4689703" y="3374771"/>
            <a:ext cx="236243"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87472E4-6484-F57A-1DEB-1194E83964DA}"/>
              </a:ext>
            </a:extLst>
          </p:cNvPr>
          <p:cNvSpPr txBox="1"/>
          <p:nvPr/>
        </p:nvSpPr>
        <p:spPr>
          <a:xfrm>
            <a:off x="1273508" y="3362422"/>
            <a:ext cx="1376724" cy="341632"/>
          </a:xfrm>
          <a:prstGeom prst="rect">
            <a:avLst/>
          </a:prstGeom>
          <a:noFill/>
        </p:spPr>
        <p:txBody>
          <a:bodyPr wrap="none" rtlCol="0">
            <a:spAutoFit/>
          </a:bodyPr>
          <a:lstStyle/>
          <a:p>
            <a:r>
              <a:rPr lang="en-US" sz="1620" dirty="0">
                <a:latin typeface="Times New Roman" panose="02020603050405020304" pitchFamily="18" charset="0"/>
                <a:cs typeface="Times New Roman" panose="02020603050405020304" pitchFamily="18" charset="0"/>
              </a:rPr>
              <a:t>Normal traffic</a:t>
            </a:r>
            <a:endParaRPr lang="en-JP" sz="1620" dirty="0">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AA3528C9-DEBB-8727-73CE-904925C67FB3}"/>
              </a:ext>
            </a:extLst>
          </p:cNvPr>
          <p:cNvCxnSpPr/>
          <p:nvPr/>
        </p:nvCxnSpPr>
        <p:spPr>
          <a:xfrm>
            <a:off x="2815263" y="4750194"/>
            <a:ext cx="4163507" cy="19903"/>
          </a:xfrm>
          <a:prstGeom prst="line">
            <a:avLst/>
          </a:prstGeom>
          <a:ln w="38100">
            <a:solidFill>
              <a:schemeClr val="tx1">
                <a:alpha val="78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5178E61-EE0F-A76D-BCCD-626F4CB026C1}"/>
              </a:ext>
            </a:extLst>
          </p:cNvPr>
          <p:cNvSpPr txBox="1"/>
          <p:nvPr/>
        </p:nvSpPr>
        <p:spPr>
          <a:xfrm>
            <a:off x="177832" y="63398"/>
            <a:ext cx="5839096" cy="684803"/>
          </a:xfrm>
          <a:prstGeom prst="rect">
            <a:avLst/>
          </a:prstGeom>
          <a:noFill/>
        </p:spPr>
        <p:txBody>
          <a:bodyPr wrap="square">
            <a:spAutoFit/>
          </a:bodyPr>
          <a:lstStyle/>
          <a:p>
            <a:pPr marL="160016">
              <a:lnSpc>
                <a:spcPct val="150000"/>
              </a:lnSpc>
              <a:buSzPts val="2800"/>
            </a:pPr>
            <a:r>
              <a:rPr lang="ja-JP" altLang="en-US" sz="2800" b="1">
                <a:solidFill>
                  <a:srgbClr val="222222"/>
                </a:solidFill>
                <a:latin typeface="Meiryo" panose="020B0604030504040204" pitchFamily="34" charset="-128"/>
                <a:ea typeface="Meiryo" panose="020B0604030504040204" pitchFamily="34" charset="-128"/>
              </a:rPr>
              <a:t>自身の研究について</a:t>
            </a:r>
            <a:r>
              <a:rPr lang="mn-MN" altLang="ja-JP" sz="2800" b="1" dirty="0">
                <a:solidFill>
                  <a:srgbClr val="222222"/>
                </a:solidFill>
                <a:latin typeface="Meiryo" panose="020B0604030504040204" pitchFamily="34" charset="-128"/>
                <a:ea typeface="Meiryo" panose="020B0604030504040204" pitchFamily="34" charset="-128"/>
              </a:rPr>
              <a:t> </a:t>
            </a:r>
            <a:r>
              <a:rPr lang="en-US" altLang="ja-JP" sz="2800" b="1" dirty="0">
                <a:solidFill>
                  <a:srgbClr val="222222"/>
                </a:solidFill>
                <a:latin typeface="Meiryo" panose="020B0604030504040204" pitchFamily="34" charset="-128"/>
                <a:ea typeface="Meiryo" panose="020B0604030504040204" pitchFamily="34" charset="-128"/>
              </a:rPr>
              <a:t>2/1</a:t>
            </a:r>
            <a:endParaRPr lang="en-JP" sz="2800" b="1"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F4ACDADB-5F2C-6703-6486-762FC8643FD1}"/>
              </a:ext>
            </a:extLst>
          </p:cNvPr>
          <p:cNvSpPr txBox="1"/>
          <p:nvPr/>
        </p:nvSpPr>
        <p:spPr>
          <a:xfrm>
            <a:off x="265220" y="720531"/>
            <a:ext cx="7572585" cy="400110"/>
          </a:xfrm>
          <a:prstGeom prst="rect">
            <a:avLst/>
          </a:prstGeom>
          <a:noFill/>
        </p:spPr>
        <p:txBody>
          <a:bodyPr wrap="square">
            <a:spAutoFit/>
          </a:bodyPr>
          <a:lstStyle/>
          <a:p>
            <a:pPr>
              <a:spcBef>
                <a:spcPts val="900"/>
              </a:spcBef>
              <a:spcAft>
                <a:spcPts val="900"/>
              </a:spcAft>
            </a:pPr>
            <a:r>
              <a:rPr lang="en-US" sz="2000" b="1" dirty="0">
                <a:solidFill>
                  <a:srgbClr val="C00000"/>
                </a:solidFill>
                <a:latin typeface="Meiryo" panose="020B0604030504040204" pitchFamily="34" charset="-128"/>
                <a:ea typeface="Meiryo" panose="020B0604030504040204" pitchFamily="34" charset="-128"/>
              </a:rPr>
              <a:t>テーマ：Machine Learning-based IDS for Coap -DTLS </a:t>
            </a:r>
          </a:p>
        </p:txBody>
      </p:sp>
      <p:sp>
        <p:nvSpPr>
          <p:cNvPr id="15" name="TextBox 14">
            <a:extLst>
              <a:ext uri="{FF2B5EF4-FFF2-40B4-BE49-F238E27FC236}">
                <a16:creationId xmlns:a16="http://schemas.microsoft.com/office/drawing/2014/main" id="{31F7A396-1E58-5A82-461A-41D431FA986F}"/>
              </a:ext>
            </a:extLst>
          </p:cNvPr>
          <p:cNvSpPr txBox="1"/>
          <p:nvPr/>
        </p:nvSpPr>
        <p:spPr>
          <a:xfrm>
            <a:off x="2845086" y="7248959"/>
            <a:ext cx="5512524" cy="369332"/>
          </a:xfrm>
          <a:prstGeom prst="rect">
            <a:avLst/>
          </a:prstGeom>
          <a:noFill/>
        </p:spPr>
        <p:txBody>
          <a:bodyPr wrap="square">
            <a:spAutoFit/>
          </a:bodyPr>
          <a:lstStyle/>
          <a:p>
            <a:r>
              <a:rPr lang="ja-JP" altLang="en-US" sz="1800">
                <a:solidFill>
                  <a:srgbClr val="222222"/>
                </a:solidFill>
                <a:latin typeface="Meiryo" panose="020B0604030504040204" pitchFamily="34" charset="-128"/>
                <a:ea typeface="Meiryo" panose="020B0604030504040204" pitchFamily="34" charset="-128"/>
              </a:rPr>
              <a:t>システムの構成図 </a:t>
            </a:r>
            <a:r>
              <a:rPr lang="en-US" altLang="ja-JP" sz="1800" dirty="0">
                <a:solidFill>
                  <a:srgbClr val="222222"/>
                </a:solidFill>
                <a:latin typeface="Meiryo" panose="020B0604030504040204" pitchFamily="34" charset="-128"/>
                <a:ea typeface="Meiryo" panose="020B0604030504040204" pitchFamily="34" charset="-128"/>
              </a:rPr>
              <a:t>(</a:t>
            </a:r>
            <a:r>
              <a:rPr lang="en-US" altLang="ja-JP" sz="1800" dirty="0">
                <a:solidFill>
                  <a:srgbClr val="222222"/>
                </a:solidFill>
                <a:latin typeface="Arial" panose="020B0604020202020204" pitchFamily="34" charset="0"/>
              </a:rPr>
              <a:t>DTLS+CoAP+IDS)</a:t>
            </a:r>
            <a:endParaRPr lang="en-JP" sz="1800" dirty="0"/>
          </a:p>
        </p:txBody>
      </p:sp>
      <p:sp>
        <p:nvSpPr>
          <p:cNvPr id="6" name="TextBox 5">
            <a:extLst>
              <a:ext uri="{FF2B5EF4-FFF2-40B4-BE49-F238E27FC236}">
                <a16:creationId xmlns:a16="http://schemas.microsoft.com/office/drawing/2014/main" id="{4ABCFCC1-72CE-1E40-D2B3-5094C28E7954}"/>
              </a:ext>
            </a:extLst>
          </p:cNvPr>
          <p:cNvSpPr txBox="1"/>
          <p:nvPr/>
        </p:nvSpPr>
        <p:spPr>
          <a:xfrm>
            <a:off x="8852452" y="6081144"/>
            <a:ext cx="184731" cy="369332"/>
          </a:xfrm>
          <a:prstGeom prst="rect">
            <a:avLst/>
          </a:prstGeom>
          <a:noFill/>
        </p:spPr>
        <p:txBody>
          <a:bodyPr wrap="none" rtlCol="0">
            <a:spAutoFit/>
          </a:bodyPr>
          <a:lstStyle/>
          <a:p>
            <a:endParaRPr lang="en-JP" dirty="0"/>
          </a:p>
        </p:txBody>
      </p:sp>
    </p:spTree>
    <p:extLst>
      <p:ext uri="{BB962C8B-B14F-4D97-AF65-F5344CB8AC3E}">
        <p14:creationId xmlns:p14="http://schemas.microsoft.com/office/powerpoint/2010/main" val="106557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031B2A-6995-76DE-4B86-79099623B42C}"/>
              </a:ext>
            </a:extLst>
          </p:cNvPr>
          <p:cNvSpPr>
            <a:spLocks noGrp="1"/>
          </p:cNvSpPr>
          <p:nvPr>
            <p:ph type="sldNum" sz="quarter" idx="12"/>
          </p:nvPr>
        </p:nvSpPr>
        <p:spPr/>
        <p:txBody>
          <a:bodyPr/>
          <a:lstStyle/>
          <a:p>
            <a:fld id="{BB44241B-2579-694C-B40C-A1E3D5F0E4EC}" type="slidenum">
              <a:rPr lang="en-JP" smtClean="0"/>
              <a:pPr/>
              <a:t>42</a:t>
            </a:fld>
            <a:endParaRPr lang="en-JP" dirty="0"/>
          </a:p>
        </p:txBody>
      </p:sp>
    </p:spTree>
    <p:extLst>
      <p:ext uri="{BB962C8B-B14F-4D97-AF65-F5344CB8AC3E}">
        <p14:creationId xmlns:p14="http://schemas.microsoft.com/office/powerpoint/2010/main" val="2021800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1218390-E01A-CE2B-A62A-0B0A50A6E386}"/>
              </a:ext>
            </a:extLst>
          </p:cNvPr>
          <p:cNvSpPr txBox="1"/>
          <p:nvPr/>
        </p:nvSpPr>
        <p:spPr>
          <a:xfrm>
            <a:off x="327295" y="370894"/>
            <a:ext cx="7909263"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評価指標</a:t>
            </a:r>
            <a:r>
              <a:rPr lang="mn-MN" altLang="ja-JP" sz="3200" dirty="0">
                <a:latin typeface="Meiryo" panose="020B0604030504040204" pitchFamily="34" charset="-128"/>
                <a:ea typeface="Meiryo" panose="020B0604030504040204" pitchFamily="34" charset="-128"/>
              </a:rPr>
              <a:t> </a:t>
            </a:r>
            <a:r>
              <a:rPr lang="en-US" altLang="ja-JP" sz="3200" dirty="0">
                <a:latin typeface="Meiryo" panose="020B0604030504040204" pitchFamily="34" charset="-128"/>
                <a:ea typeface="Meiryo" panose="020B0604030504040204" pitchFamily="34" charset="-128"/>
              </a:rPr>
              <a:t>/ Evaluation Metrics</a:t>
            </a:r>
            <a:endParaRPr lang="mn-MN" altLang="ja-JP" sz="3200" dirty="0">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9CDC4545-E5FD-18A7-A4ED-733A052FFB47}"/>
              </a:ext>
            </a:extLst>
          </p:cNvPr>
          <p:cNvSpPr/>
          <p:nvPr/>
        </p:nvSpPr>
        <p:spPr>
          <a:xfrm>
            <a:off x="3342602" y="1547092"/>
            <a:ext cx="2528595" cy="731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Realguard</a:t>
            </a:r>
            <a:r>
              <a:rPr lang="ja-JP" altLang="en-US">
                <a:latin typeface="Meiryo" panose="020B0604030504040204" pitchFamily="34" charset="-128"/>
                <a:ea typeface="Meiryo" panose="020B0604030504040204" pitchFamily="34" charset="-128"/>
              </a:rPr>
              <a:t>の性能評価方法</a:t>
            </a:r>
          </a:p>
        </p:txBody>
      </p:sp>
      <p:sp>
        <p:nvSpPr>
          <p:cNvPr id="13" name="Down Arrow 12">
            <a:extLst>
              <a:ext uri="{FF2B5EF4-FFF2-40B4-BE49-F238E27FC236}">
                <a16:creationId xmlns:a16="http://schemas.microsoft.com/office/drawing/2014/main" id="{1ABE562A-183A-06EE-5B15-FD550892E375}"/>
              </a:ext>
            </a:extLst>
          </p:cNvPr>
          <p:cNvSpPr/>
          <p:nvPr/>
        </p:nvSpPr>
        <p:spPr>
          <a:xfrm rot="2480938" flipH="1">
            <a:off x="3802357" y="2801416"/>
            <a:ext cx="104864" cy="612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a:p>
        </p:txBody>
      </p:sp>
      <p:sp>
        <p:nvSpPr>
          <p:cNvPr id="14" name="Rounded Rectangle 13">
            <a:extLst>
              <a:ext uri="{FF2B5EF4-FFF2-40B4-BE49-F238E27FC236}">
                <a16:creationId xmlns:a16="http://schemas.microsoft.com/office/drawing/2014/main" id="{2D54C5DA-08B2-E535-E34B-DCF74B41BE45}"/>
              </a:ext>
            </a:extLst>
          </p:cNvPr>
          <p:cNvSpPr/>
          <p:nvPr/>
        </p:nvSpPr>
        <p:spPr>
          <a:xfrm>
            <a:off x="1807446" y="3277051"/>
            <a:ext cx="1542151" cy="111506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endParaRPr lang="en-JP" sz="2100" dirty="0"/>
          </a:p>
        </p:txBody>
      </p:sp>
      <p:sp>
        <p:nvSpPr>
          <p:cNvPr id="15" name="Rounded Rectangle 14">
            <a:extLst>
              <a:ext uri="{FF2B5EF4-FFF2-40B4-BE49-F238E27FC236}">
                <a16:creationId xmlns:a16="http://schemas.microsoft.com/office/drawing/2014/main" id="{A29EB590-3116-18BC-B1FE-1F8A5CF10DD3}"/>
              </a:ext>
            </a:extLst>
          </p:cNvPr>
          <p:cNvSpPr/>
          <p:nvPr/>
        </p:nvSpPr>
        <p:spPr>
          <a:xfrm>
            <a:off x="5028085" y="3960093"/>
            <a:ext cx="1686224" cy="126603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JP" sz="1944" dirty="0"/>
          </a:p>
        </p:txBody>
      </p:sp>
      <p:sp>
        <p:nvSpPr>
          <p:cNvPr id="16" name="Rounded Rectangle 15">
            <a:extLst>
              <a:ext uri="{FF2B5EF4-FFF2-40B4-BE49-F238E27FC236}">
                <a16:creationId xmlns:a16="http://schemas.microsoft.com/office/drawing/2014/main" id="{A56F46E6-2616-7B29-1AB6-9728D1415FEE}"/>
              </a:ext>
            </a:extLst>
          </p:cNvPr>
          <p:cNvSpPr/>
          <p:nvPr/>
        </p:nvSpPr>
        <p:spPr>
          <a:xfrm>
            <a:off x="7309024" y="4241527"/>
            <a:ext cx="1952542" cy="1253039"/>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JP" sz="1944" dirty="0"/>
          </a:p>
        </p:txBody>
      </p:sp>
      <p:sp>
        <p:nvSpPr>
          <p:cNvPr id="28" name="Down Arrow 27">
            <a:extLst>
              <a:ext uri="{FF2B5EF4-FFF2-40B4-BE49-F238E27FC236}">
                <a16:creationId xmlns:a16="http://schemas.microsoft.com/office/drawing/2014/main" id="{682723C2-4AE4-6867-2069-B28BF0549A17}"/>
              </a:ext>
            </a:extLst>
          </p:cNvPr>
          <p:cNvSpPr/>
          <p:nvPr/>
        </p:nvSpPr>
        <p:spPr>
          <a:xfrm>
            <a:off x="5679951" y="3463934"/>
            <a:ext cx="75110" cy="4457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dirty="0"/>
          </a:p>
        </p:txBody>
      </p:sp>
      <p:sp>
        <p:nvSpPr>
          <p:cNvPr id="29" name="Down Arrow 28">
            <a:extLst>
              <a:ext uri="{FF2B5EF4-FFF2-40B4-BE49-F238E27FC236}">
                <a16:creationId xmlns:a16="http://schemas.microsoft.com/office/drawing/2014/main" id="{138F1696-5D4F-08A3-57AE-355A273E54E8}"/>
              </a:ext>
            </a:extLst>
          </p:cNvPr>
          <p:cNvSpPr/>
          <p:nvPr/>
        </p:nvSpPr>
        <p:spPr>
          <a:xfrm rot="18643095">
            <a:off x="6860455" y="3334617"/>
            <a:ext cx="59636" cy="8644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a:p>
        </p:txBody>
      </p:sp>
      <p:sp>
        <p:nvSpPr>
          <p:cNvPr id="48" name="TextBox 47">
            <a:extLst>
              <a:ext uri="{FF2B5EF4-FFF2-40B4-BE49-F238E27FC236}">
                <a16:creationId xmlns:a16="http://schemas.microsoft.com/office/drawing/2014/main" id="{DF6DDD74-A4D7-19BE-EA0E-FBE83B5899C1}"/>
              </a:ext>
            </a:extLst>
          </p:cNvPr>
          <p:cNvSpPr txBox="1"/>
          <p:nvPr/>
        </p:nvSpPr>
        <p:spPr>
          <a:xfrm>
            <a:off x="990701" y="5166771"/>
            <a:ext cx="1826978" cy="523220"/>
          </a:xfrm>
          <a:prstGeom prst="rect">
            <a:avLst/>
          </a:prstGeom>
          <a:noFill/>
        </p:spPr>
        <p:txBody>
          <a:bodyPr wrap="square">
            <a:spAutoFit/>
          </a:bodyPr>
          <a:lstStyle/>
          <a:p>
            <a:r>
              <a:rPr lang="en-US" sz="1400" dirty="0"/>
              <a:t>TPR = 38 / (38 + 2) = 38 / 40 = 0.95 = 95%</a:t>
            </a:r>
            <a:endParaRPr lang="en-JP" sz="1400" dirty="0"/>
          </a:p>
        </p:txBody>
      </p:sp>
      <p:sp>
        <p:nvSpPr>
          <p:cNvPr id="50" name="TextBox 49">
            <a:extLst>
              <a:ext uri="{FF2B5EF4-FFF2-40B4-BE49-F238E27FC236}">
                <a16:creationId xmlns:a16="http://schemas.microsoft.com/office/drawing/2014/main" id="{A80B7206-298A-57F9-A9CE-A8CC42FE8B08}"/>
              </a:ext>
            </a:extLst>
          </p:cNvPr>
          <p:cNvSpPr txBox="1"/>
          <p:nvPr/>
        </p:nvSpPr>
        <p:spPr>
          <a:xfrm>
            <a:off x="4801966" y="5166771"/>
            <a:ext cx="1495380" cy="738664"/>
          </a:xfrm>
          <a:prstGeom prst="rect">
            <a:avLst/>
          </a:prstGeom>
          <a:noFill/>
        </p:spPr>
        <p:txBody>
          <a:bodyPr wrap="square">
            <a:spAutoFit/>
          </a:bodyPr>
          <a:lstStyle/>
          <a:p>
            <a:r>
              <a:rPr lang="en-US" sz="1400" dirty="0"/>
              <a:t>FPR = 5 / (5 + 55) = 5 / 60 = 0.083 = 8.3%</a:t>
            </a:r>
            <a:endParaRPr lang="en-JP" sz="1400" dirty="0"/>
          </a:p>
        </p:txBody>
      </p:sp>
      <p:sp>
        <p:nvSpPr>
          <p:cNvPr id="52" name="TextBox 51">
            <a:extLst>
              <a:ext uri="{FF2B5EF4-FFF2-40B4-BE49-F238E27FC236}">
                <a16:creationId xmlns:a16="http://schemas.microsoft.com/office/drawing/2014/main" id="{2A01C866-D0AD-2BE3-C996-1B0CB970A0FD}"/>
              </a:ext>
            </a:extLst>
          </p:cNvPr>
          <p:cNvSpPr txBox="1"/>
          <p:nvPr/>
        </p:nvSpPr>
        <p:spPr>
          <a:xfrm>
            <a:off x="7573230" y="5633928"/>
            <a:ext cx="1495380" cy="646331"/>
          </a:xfrm>
          <a:prstGeom prst="rect">
            <a:avLst/>
          </a:prstGeom>
          <a:noFill/>
        </p:spPr>
        <p:txBody>
          <a:bodyPr wrap="square">
            <a:spAutoFit/>
          </a:bodyPr>
          <a:lstStyle/>
          <a:p>
            <a:r>
              <a:rPr lang="en-US" sz="1200" dirty="0"/>
              <a:t>ACC = (38 + 55) / (38 + 5 + 55 + 2) = 93 / 100 = 0.93 = 93%</a:t>
            </a:r>
            <a:endParaRPr lang="en-JP" sz="1260" dirty="0"/>
          </a:p>
        </p:txBody>
      </p:sp>
      <p:sp>
        <p:nvSpPr>
          <p:cNvPr id="59" name="Slide Number Placeholder 58">
            <a:extLst>
              <a:ext uri="{FF2B5EF4-FFF2-40B4-BE49-F238E27FC236}">
                <a16:creationId xmlns:a16="http://schemas.microsoft.com/office/drawing/2014/main" id="{5AB27DF6-36DC-20BB-1D0E-8D21266B9D80}"/>
              </a:ext>
            </a:extLst>
          </p:cNvPr>
          <p:cNvSpPr>
            <a:spLocks noGrp="1"/>
          </p:cNvSpPr>
          <p:nvPr>
            <p:ph type="sldNum" sz="quarter" idx="12"/>
          </p:nvPr>
        </p:nvSpPr>
        <p:spPr/>
        <p:txBody>
          <a:bodyPr/>
          <a:lstStyle/>
          <a:p>
            <a:fld id="{BB44241B-2579-694C-B40C-A1E3D5F0E4EC}" type="slidenum">
              <a:rPr lang="en-JP" smtClean="0"/>
              <a:t>43</a:t>
            </a:fld>
            <a:endParaRPr lang="en-JP"/>
          </a:p>
        </p:txBody>
      </p:sp>
      <p:pic>
        <p:nvPicPr>
          <p:cNvPr id="2" name="Picture 1">
            <a:extLst>
              <a:ext uri="{FF2B5EF4-FFF2-40B4-BE49-F238E27FC236}">
                <a16:creationId xmlns:a16="http://schemas.microsoft.com/office/drawing/2014/main" id="{20B6BC13-2FBC-F11D-4DFD-1B6FB16AE313}"/>
              </a:ext>
            </a:extLst>
          </p:cNvPr>
          <p:cNvPicPr>
            <a:picLocks noChangeAspect="1"/>
          </p:cNvPicPr>
          <p:nvPr/>
        </p:nvPicPr>
        <p:blipFill>
          <a:blip r:embed="rId3"/>
          <a:stretch>
            <a:fillRect/>
          </a:stretch>
        </p:blipFill>
        <p:spPr>
          <a:xfrm>
            <a:off x="2075724" y="3462292"/>
            <a:ext cx="1104900" cy="829423"/>
          </a:xfrm>
          <a:prstGeom prst="rect">
            <a:avLst/>
          </a:prstGeom>
        </p:spPr>
      </p:pic>
      <p:pic>
        <p:nvPicPr>
          <p:cNvPr id="3" name="Picture 2">
            <a:extLst>
              <a:ext uri="{FF2B5EF4-FFF2-40B4-BE49-F238E27FC236}">
                <a16:creationId xmlns:a16="http://schemas.microsoft.com/office/drawing/2014/main" id="{C9134854-2AB4-E3ED-0467-84DA6FFF30ED}"/>
              </a:ext>
            </a:extLst>
          </p:cNvPr>
          <p:cNvPicPr>
            <a:picLocks noChangeAspect="1"/>
          </p:cNvPicPr>
          <p:nvPr/>
        </p:nvPicPr>
        <p:blipFill>
          <a:blip r:embed="rId4"/>
          <a:stretch>
            <a:fillRect/>
          </a:stretch>
        </p:blipFill>
        <p:spPr>
          <a:xfrm>
            <a:off x="5180462" y="4088214"/>
            <a:ext cx="1362747" cy="983524"/>
          </a:xfrm>
          <a:prstGeom prst="rect">
            <a:avLst/>
          </a:prstGeom>
        </p:spPr>
      </p:pic>
      <p:pic>
        <p:nvPicPr>
          <p:cNvPr id="5" name="Picture 4">
            <a:extLst>
              <a:ext uri="{FF2B5EF4-FFF2-40B4-BE49-F238E27FC236}">
                <a16:creationId xmlns:a16="http://schemas.microsoft.com/office/drawing/2014/main" id="{66D22381-A402-A921-CB0E-C4B3BFED6335}"/>
              </a:ext>
            </a:extLst>
          </p:cNvPr>
          <p:cNvPicPr>
            <a:picLocks noChangeAspect="1"/>
          </p:cNvPicPr>
          <p:nvPr/>
        </p:nvPicPr>
        <p:blipFill>
          <a:blip r:embed="rId5"/>
          <a:stretch>
            <a:fillRect/>
          </a:stretch>
        </p:blipFill>
        <p:spPr>
          <a:xfrm>
            <a:off x="7374654" y="4380889"/>
            <a:ext cx="1790700" cy="845234"/>
          </a:xfrm>
          <a:prstGeom prst="rect">
            <a:avLst/>
          </a:prstGeom>
        </p:spPr>
      </p:pic>
      <p:sp>
        <p:nvSpPr>
          <p:cNvPr id="18" name="角丸四角形吹き出し 83">
            <a:extLst>
              <a:ext uri="{FF2B5EF4-FFF2-40B4-BE49-F238E27FC236}">
                <a16:creationId xmlns:a16="http://schemas.microsoft.com/office/drawing/2014/main" id="{CA938878-BD90-9728-13A2-BDD69F4B7E28}"/>
              </a:ext>
            </a:extLst>
          </p:cNvPr>
          <p:cNvSpPr/>
          <p:nvPr/>
        </p:nvSpPr>
        <p:spPr>
          <a:xfrm>
            <a:off x="406623" y="6078844"/>
            <a:ext cx="2853192" cy="1384825"/>
          </a:xfrm>
          <a:prstGeom prst="wedgeRoundRectCallout">
            <a:avLst>
              <a:gd name="adj1" fmla="val 38818"/>
              <a:gd name="adj2" fmla="val -84923"/>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1500" dirty="0">
                <a:solidFill>
                  <a:schemeClr val="tx1"/>
                </a:solidFill>
              </a:rPr>
              <a:t>40人の患者のうち38人を検出</a:t>
            </a:r>
          </a:p>
          <a:p>
            <a:r>
              <a:rPr lang="en-JP" sz="1500" dirty="0">
                <a:solidFill>
                  <a:schemeClr val="tx1"/>
                </a:solidFill>
              </a:rPr>
              <a:t>2人の患者を見逃した</a:t>
            </a:r>
          </a:p>
          <a:p>
            <a:r>
              <a:rPr lang="en-JP" sz="1500" dirty="0">
                <a:solidFill>
                  <a:schemeClr val="tx1"/>
                </a:solidFill>
              </a:rPr>
              <a:t>医師は 患者の</a:t>
            </a:r>
            <a:r>
              <a:rPr lang="en-JP" sz="1500" dirty="0">
                <a:solidFill>
                  <a:srgbClr val="92D050"/>
                </a:solidFill>
              </a:rPr>
              <a:t>95% を正しく検出できた</a:t>
            </a:r>
          </a:p>
        </p:txBody>
      </p:sp>
      <p:sp>
        <p:nvSpPr>
          <p:cNvPr id="19" name="角丸四角形吹き出し 83">
            <a:extLst>
              <a:ext uri="{FF2B5EF4-FFF2-40B4-BE49-F238E27FC236}">
                <a16:creationId xmlns:a16="http://schemas.microsoft.com/office/drawing/2014/main" id="{D43EA512-0E13-45DE-2A10-E2BFE6CFE2A6}"/>
              </a:ext>
            </a:extLst>
          </p:cNvPr>
          <p:cNvSpPr/>
          <p:nvPr/>
        </p:nvSpPr>
        <p:spPr>
          <a:xfrm>
            <a:off x="4145904" y="6000468"/>
            <a:ext cx="3068093" cy="1384825"/>
          </a:xfrm>
          <a:prstGeom prst="wedgeRoundRectCallout">
            <a:avLst>
              <a:gd name="adj1" fmla="val 3097"/>
              <a:gd name="adj2" fmla="val -74606"/>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350" dirty="0">
                <a:solidFill>
                  <a:schemeClr val="tx1"/>
                </a:solidFill>
                <a:latin typeface="Meiryo" panose="020B0604030504040204" pitchFamily="34" charset="-128"/>
                <a:ea typeface="Meiryo" panose="020B0604030504040204" pitchFamily="34" charset="-128"/>
              </a:rPr>
              <a:t>60</a:t>
            </a:r>
            <a:r>
              <a:rPr lang="ja-JP" altLang="en-US" sz="1350">
                <a:solidFill>
                  <a:schemeClr val="tx1"/>
                </a:solidFill>
                <a:latin typeface="Meiryo" panose="020B0604030504040204" pitchFamily="34" charset="-128"/>
                <a:ea typeface="Meiryo" panose="020B0604030504040204" pitchFamily="34" charset="-128"/>
              </a:rPr>
              <a:t>人の健康な人のうち</a:t>
            </a:r>
            <a:r>
              <a:rPr lang="en-US" altLang="ja-JP" sz="1350" dirty="0">
                <a:solidFill>
                  <a:schemeClr val="tx1"/>
                </a:solidFill>
                <a:latin typeface="Meiryo" panose="020B0604030504040204" pitchFamily="34" charset="-128"/>
                <a:ea typeface="Meiryo" panose="020B0604030504040204" pitchFamily="34" charset="-128"/>
              </a:rPr>
              <a:t>55</a:t>
            </a:r>
            <a:r>
              <a:rPr lang="ja-JP" altLang="en-US" sz="1350">
                <a:solidFill>
                  <a:schemeClr val="tx1"/>
                </a:solidFill>
                <a:latin typeface="Meiryo" panose="020B0604030504040204" pitchFamily="34" charset="-128"/>
                <a:ea typeface="Meiryo" panose="020B0604030504040204" pitchFamily="34" charset="-128"/>
              </a:rPr>
              <a:t>人を正しく判定</a:t>
            </a:r>
          </a:p>
          <a:p>
            <a:r>
              <a:rPr lang="en-US" altLang="ja-JP" sz="1350" dirty="0">
                <a:solidFill>
                  <a:schemeClr val="tx1"/>
                </a:solidFill>
                <a:latin typeface="Meiryo" panose="020B0604030504040204" pitchFamily="34" charset="-128"/>
                <a:ea typeface="Meiryo" panose="020B0604030504040204" pitchFamily="34" charset="-128"/>
              </a:rPr>
              <a:t>5</a:t>
            </a:r>
            <a:r>
              <a:rPr lang="ja-JP" altLang="en-US" sz="1350">
                <a:solidFill>
                  <a:schemeClr val="tx1"/>
                </a:solidFill>
                <a:latin typeface="Meiryo" panose="020B0604030504040204" pitchFamily="34" charset="-128"/>
                <a:ea typeface="Meiryo" panose="020B0604030504040204" pitchFamily="34" charset="-128"/>
              </a:rPr>
              <a:t>人の健康な人を誤って患者と判定</a:t>
            </a:r>
          </a:p>
          <a:p>
            <a:r>
              <a:rPr lang="ja-JP" altLang="en-US" sz="1350">
                <a:solidFill>
                  <a:schemeClr val="tx1"/>
                </a:solidFill>
                <a:latin typeface="Meiryo" panose="020B0604030504040204" pitchFamily="34" charset="-128"/>
                <a:ea typeface="Meiryo" panose="020B0604030504040204" pitchFamily="34" charset="-128"/>
              </a:rPr>
              <a:t>医師は 健康な人の</a:t>
            </a:r>
            <a:r>
              <a:rPr lang="en-US" altLang="ja-JP" sz="1350" dirty="0">
                <a:solidFill>
                  <a:srgbClr val="FFC000"/>
                </a:solidFill>
                <a:latin typeface="Meiryo" panose="020B0604030504040204" pitchFamily="34" charset="-128"/>
                <a:ea typeface="Meiryo" panose="020B0604030504040204" pitchFamily="34" charset="-128"/>
              </a:rPr>
              <a:t>8.3% </a:t>
            </a:r>
            <a:r>
              <a:rPr lang="ja-JP" altLang="en-US" sz="1350">
                <a:solidFill>
                  <a:srgbClr val="FFC000"/>
                </a:solidFill>
                <a:latin typeface="Meiryo" panose="020B0604030504040204" pitchFamily="34" charset="-128"/>
                <a:ea typeface="Meiryo" panose="020B0604030504040204" pitchFamily="34" charset="-128"/>
              </a:rPr>
              <a:t>を誤診した！</a:t>
            </a:r>
            <a:endParaRPr lang="en-JP" sz="1350" dirty="0">
              <a:solidFill>
                <a:srgbClr val="FFC000"/>
              </a:solidFill>
              <a:latin typeface="Meiryo" panose="020B0604030504040204" pitchFamily="34" charset="-128"/>
              <a:ea typeface="Meiryo" panose="020B0604030504040204" pitchFamily="34" charset="-128"/>
            </a:endParaRPr>
          </a:p>
        </p:txBody>
      </p:sp>
      <p:sp>
        <p:nvSpPr>
          <p:cNvPr id="20" name="角丸四角形吹き出し 83">
            <a:extLst>
              <a:ext uri="{FF2B5EF4-FFF2-40B4-BE49-F238E27FC236}">
                <a16:creationId xmlns:a16="http://schemas.microsoft.com/office/drawing/2014/main" id="{E90AB7FA-A502-2C9D-56FE-E524C1D73B86}"/>
              </a:ext>
            </a:extLst>
          </p:cNvPr>
          <p:cNvSpPr/>
          <p:nvPr/>
        </p:nvSpPr>
        <p:spPr>
          <a:xfrm>
            <a:off x="7642014" y="2493935"/>
            <a:ext cx="2853192" cy="1384825"/>
          </a:xfrm>
          <a:prstGeom prst="wedgeRoundRectCallout">
            <a:avLst>
              <a:gd name="adj1" fmla="val -49315"/>
              <a:gd name="adj2" fmla="val 7740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34" charset="-128"/>
                <a:ea typeface="Meiryo" panose="020B0604030504040204" pitchFamily="34" charset="-128"/>
              </a:rPr>
              <a:t>100</a:t>
            </a:r>
            <a:r>
              <a:rPr lang="ja-JP" altLang="en-US">
                <a:solidFill>
                  <a:schemeClr val="tx1"/>
                </a:solidFill>
                <a:latin typeface="Meiryo" panose="020B0604030504040204" pitchFamily="34" charset="-128"/>
                <a:ea typeface="Meiryo" panose="020B0604030504040204" pitchFamily="34" charset="-128"/>
              </a:rPr>
              <a:t>人のうち</a:t>
            </a:r>
            <a:r>
              <a:rPr lang="en-US" altLang="ja-JP" dirty="0">
                <a:solidFill>
                  <a:schemeClr val="tx1"/>
                </a:solidFill>
                <a:latin typeface="Meiryo" panose="020B0604030504040204" pitchFamily="34" charset="-128"/>
                <a:ea typeface="Meiryo" panose="020B0604030504040204" pitchFamily="34" charset="-128"/>
              </a:rPr>
              <a:t>93</a:t>
            </a:r>
            <a:r>
              <a:rPr lang="ja-JP" altLang="en-US">
                <a:solidFill>
                  <a:schemeClr val="tx1"/>
                </a:solidFill>
                <a:latin typeface="Meiryo" panose="020B0604030504040204" pitchFamily="34" charset="-128"/>
                <a:ea typeface="Meiryo" panose="020B0604030504040204" pitchFamily="34" charset="-128"/>
              </a:rPr>
              <a:t>人を正しく判定</a:t>
            </a:r>
          </a:p>
          <a:p>
            <a:r>
              <a:rPr lang="ja-JP" altLang="en-US">
                <a:solidFill>
                  <a:schemeClr val="tx1"/>
                </a:solidFill>
                <a:latin typeface="Meiryo" panose="020B0604030504040204" pitchFamily="34" charset="-128"/>
                <a:ea typeface="Meiryo" panose="020B0604030504040204" pitchFamily="34" charset="-128"/>
              </a:rPr>
              <a:t> </a:t>
            </a:r>
            <a:r>
              <a:rPr lang="en-US" altLang="ja-JP" dirty="0">
                <a:solidFill>
                  <a:schemeClr val="tx1"/>
                </a:solidFill>
                <a:latin typeface="Meiryo" panose="020B0604030504040204" pitchFamily="34" charset="-128"/>
                <a:ea typeface="Meiryo" panose="020B0604030504040204" pitchFamily="34" charset="-128"/>
              </a:rPr>
              <a:t>7</a:t>
            </a:r>
            <a:r>
              <a:rPr lang="ja-JP" altLang="en-US">
                <a:solidFill>
                  <a:schemeClr val="tx1"/>
                </a:solidFill>
                <a:latin typeface="Meiryo" panose="020B0604030504040204" pitchFamily="34" charset="-128"/>
                <a:ea typeface="Meiryo" panose="020B0604030504040204" pitchFamily="34" charset="-128"/>
              </a:rPr>
              <a:t>人を誤って判定</a:t>
            </a:r>
          </a:p>
          <a:p>
            <a:endParaRPr lang="ja-JP" altLang="en-US">
              <a:solidFill>
                <a:schemeClr val="accent2">
                  <a:lumMod val="75000"/>
                </a:schemeClr>
              </a:solidFill>
              <a:latin typeface="Meiryo" panose="020B0604030504040204" pitchFamily="34" charset="-128"/>
              <a:ea typeface="Meiryo" panose="020B0604030504040204" pitchFamily="34" charset="-128"/>
            </a:endParaRPr>
          </a:p>
          <a:p>
            <a:r>
              <a:rPr lang="ja-JP" altLang="en-US">
                <a:solidFill>
                  <a:schemeClr val="accent2">
                    <a:lumMod val="75000"/>
                  </a:schemeClr>
                </a:solidFill>
                <a:latin typeface="Meiryo" panose="020B0604030504040204" pitchFamily="34" charset="-128"/>
                <a:ea typeface="Meiryo" panose="020B0604030504040204" pitchFamily="34" charset="-128"/>
              </a:rPr>
              <a:t>医師の 精度は</a:t>
            </a:r>
            <a:r>
              <a:rPr lang="en-US" altLang="ja-JP" dirty="0">
                <a:solidFill>
                  <a:schemeClr val="accent2">
                    <a:lumMod val="75000"/>
                  </a:schemeClr>
                </a:solidFill>
                <a:latin typeface="Meiryo" panose="020B0604030504040204" pitchFamily="34" charset="-128"/>
                <a:ea typeface="Meiryo" panose="020B0604030504040204" pitchFamily="34" charset="-128"/>
              </a:rPr>
              <a:t>93%</a:t>
            </a:r>
            <a:r>
              <a:rPr lang="ja-JP" altLang="en-US">
                <a:solidFill>
                  <a:schemeClr val="accent2">
                    <a:lumMod val="75000"/>
                  </a:schemeClr>
                </a:solidFill>
                <a:latin typeface="Meiryo" panose="020B0604030504040204" pitchFamily="34" charset="-128"/>
                <a:ea typeface="Meiryo" panose="020B0604030504040204" pitchFamily="34" charset="-128"/>
              </a:rPr>
              <a:t>！</a:t>
            </a:r>
            <a:r>
              <a:rPr lang="mn-MN" altLang="ja-JP" dirty="0">
                <a:solidFill>
                  <a:schemeClr val="accent2">
                    <a:lumMod val="75000"/>
                  </a:schemeClr>
                </a:solidFill>
                <a:latin typeface="Meiryo" panose="020B0604030504040204" pitchFamily="34" charset="-128"/>
                <a:ea typeface="Meiryo" panose="020B0604030504040204" pitchFamily="34" charset="-128"/>
              </a:rPr>
              <a:t>я</a:t>
            </a:r>
            <a:endParaRPr lang="en-JP" dirty="0">
              <a:solidFill>
                <a:schemeClr val="accent2">
                  <a:lumMod val="75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08383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310837-5259-9B49-A4DD-A7DA6C1E5505}"/>
              </a:ext>
            </a:extLst>
          </p:cNvPr>
          <p:cNvSpPr>
            <a:spLocks noGrp="1"/>
          </p:cNvSpPr>
          <p:nvPr>
            <p:ph type="sldNum" sz="quarter" idx="12"/>
          </p:nvPr>
        </p:nvSpPr>
        <p:spPr/>
        <p:txBody>
          <a:bodyPr/>
          <a:lstStyle/>
          <a:p>
            <a:fld id="{BB44241B-2579-694C-B40C-A1E3D5F0E4EC}" type="slidenum">
              <a:rPr lang="en-JP" smtClean="0"/>
              <a:pPr/>
              <a:t>44</a:t>
            </a:fld>
            <a:endParaRPr lang="en-JP" dirty="0"/>
          </a:p>
        </p:txBody>
      </p:sp>
      <p:sp>
        <p:nvSpPr>
          <p:cNvPr id="11" name="TextBox 10">
            <a:extLst>
              <a:ext uri="{FF2B5EF4-FFF2-40B4-BE49-F238E27FC236}">
                <a16:creationId xmlns:a16="http://schemas.microsoft.com/office/drawing/2014/main" id="{8A5F243A-CD56-0384-16D3-904233942460}"/>
              </a:ext>
            </a:extLst>
          </p:cNvPr>
          <p:cNvSpPr txBox="1"/>
          <p:nvPr/>
        </p:nvSpPr>
        <p:spPr>
          <a:xfrm>
            <a:off x="451023" y="268176"/>
            <a:ext cx="9071065" cy="461665"/>
          </a:xfrm>
          <a:prstGeom prst="rect">
            <a:avLst/>
          </a:prstGeom>
          <a:noFill/>
        </p:spPr>
        <p:txBody>
          <a:bodyPr wrap="square">
            <a:spAutoFit/>
          </a:bodyPr>
          <a:lstStyle/>
          <a:p>
            <a:r>
              <a:rPr lang="en-JP" sz="2400" b="1" dirty="0">
                <a:latin typeface="Meiryo" panose="020B0604030504040204" pitchFamily="34" charset="-128"/>
                <a:ea typeface="Meiryo" panose="020B0604030504040204" pitchFamily="34" charset="-128"/>
              </a:rPr>
              <a:t>子どもの成長と学び（</a:t>
            </a:r>
            <a:r>
              <a:rPr lang="en-JP" sz="2400" b="1" dirty="0">
                <a:solidFill>
                  <a:schemeClr val="accent1">
                    <a:lumMod val="75000"/>
                  </a:schemeClr>
                </a:solidFill>
                <a:latin typeface="Meiryo" panose="020B0604030504040204" pitchFamily="34" charset="-128"/>
                <a:ea typeface="Meiryo" panose="020B0604030504040204" pitchFamily="34" charset="-128"/>
              </a:rPr>
              <a:t>Growing Approach</a:t>
            </a:r>
            <a:r>
              <a:rPr lang="en-JP" sz="2400" b="1" dirty="0">
                <a:latin typeface="Meiryo" panose="020B0604030504040204" pitchFamily="34" charset="-128"/>
                <a:ea typeface="Meiryo" panose="020B0604030504040204" pitchFamily="34" charset="-128"/>
              </a:rPr>
              <a:t>との比較）</a:t>
            </a:r>
          </a:p>
        </p:txBody>
      </p:sp>
      <p:pic>
        <p:nvPicPr>
          <p:cNvPr id="19" name="Picture 18">
            <a:extLst>
              <a:ext uri="{FF2B5EF4-FFF2-40B4-BE49-F238E27FC236}">
                <a16:creationId xmlns:a16="http://schemas.microsoft.com/office/drawing/2014/main" id="{E721E46F-4392-E1AB-BBE0-BF58930F2244}"/>
              </a:ext>
            </a:extLst>
          </p:cNvPr>
          <p:cNvPicPr>
            <a:picLocks noChangeAspect="1"/>
          </p:cNvPicPr>
          <p:nvPr/>
        </p:nvPicPr>
        <p:blipFill>
          <a:blip r:embed="rId3"/>
          <a:stretch>
            <a:fillRect/>
          </a:stretch>
        </p:blipFill>
        <p:spPr>
          <a:xfrm>
            <a:off x="537830" y="1784317"/>
            <a:ext cx="3193514" cy="2496283"/>
          </a:xfrm>
          <a:prstGeom prst="rect">
            <a:avLst/>
          </a:prstGeom>
        </p:spPr>
      </p:pic>
      <p:sp>
        <p:nvSpPr>
          <p:cNvPr id="22" name="TextBox 21">
            <a:extLst>
              <a:ext uri="{FF2B5EF4-FFF2-40B4-BE49-F238E27FC236}">
                <a16:creationId xmlns:a16="http://schemas.microsoft.com/office/drawing/2014/main" id="{0D4237A5-CF20-9E27-9941-9A85D8E38D36}"/>
              </a:ext>
            </a:extLst>
          </p:cNvPr>
          <p:cNvSpPr txBox="1"/>
          <p:nvPr/>
        </p:nvSpPr>
        <p:spPr>
          <a:xfrm>
            <a:off x="451023" y="729841"/>
            <a:ext cx="9529000" cy="707886"/>
          </a:xfrm>
          <a:prstGeom prst="rect">
            <a:avLst/>
          </a:prstGeom>
          <a:noFill/>
        </p:spPr>
        <p:txBody>
          <a:bodyPr wrap="square">
            <a:spAutoFit/>
          </a:bodyPr>
          <a:lstStyle/>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子どもは年齢とともに観察力・判断力が向上</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単純な区別 → 専門的な識別まで学習</a:t>
            </a:r>
          </a:p>
        </p:txBody>
      </p:sp>
      <p:sp>
        <p:nvSpPr>
          <p:cNvPr id="24" name="TextBox 23">
            <a:extLst>
              <a:ext uri="{FF2B5EF4-FFF2-40B4-BE49-F238E27FC236}">
                <a16:creationId xmlns:a16="http://schemas.microsoft.com/office/drawing/2014/main" id="{F3A9C812-9C70-378F-6B72-995ADB5A8566}"/>
              </a:ext>
            </a:extLst>
          </p:cNvPr>
          <p:cNvSpPr txBox="1"/>
          <p:nvPr/>
        </p:nvSpPr>
        <p:spPr>
          <a:xfrm>
            <a:off x="176703" y="4723156"/>
            <a:ext cx="5309697" cy="1015663"/>
          </a:xfrm>
          <a:prstGeom prst="rect">
            <a:avLst/>
          </a:prstGeom>
          <a:noFill/>
        </p:spPr>
        <p:txBody>
          <a:bodyPr wrap="square">
            <a:spAutoFit/>
          </a:bodyPr>
          <a:lstStyle/>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rPr>
              <a:t>DNNも段階的にデータから特徴を学習</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rPr>
              <a:t>簡単な分類 → 複雑なパターン認識まで能力向上</a:t>
            </a:r>
          </a:p>
        </p:txBody>
      </p:sp>
      <p:graphicFrame>
        <p:nvGraphicFramePr>
          <p:cNvPr id="27" name="Table 26">
            <a:extLst>
              <a:ext uri="{FF2B5EF4-FFF2-40B4-BE49-F238E27FC236}">
                <a16:creationId xmlns:a16="http://schemas.microsoft.com/office/drawing/2014/main" id="{6DB2BA9E-73B7-E6B4-6A71-C891F9A97143}"/>
              </a:ext>
            </a:extLst>
          </p:cNvPr>
          <p:cNvGraphicFramePr>
            <a:graphicFrameLocks noGrp="1"/>
          </p:cNvGraphicFramePr>
          <p:nvPr>
            <p:extLst>
              <p:ext uri="{D42A27DB-BD31-4B8C-83A1-F6EECF244321}">
                <p14:modId xmlns:p14="http://schemas.microsoft.com/office/powerpoint/2010/main" val="3725112437"/>
              </p:ext>
            </p:extLst>
          </p:nvPr>
        </p:nvGraphicFramePr>
        <p:xfrm>
          <a:off x="4099019" y="1701473"/>
          <a:ext cx="6119401" cy="2579127"/>
        </p:xfrm>
        <a:graphic>
          <a:graphicData uri="http://schemas.openxmlformats.org/drawingml/2006/table">
            <a:tbl>
              <a:tblPr firstRow="1" bandRow="1">
                <a:tableStyleId>{5C22544A-7EE6-4342-B048-85BDC9FD1C3A}</a:tableStyleId>
              </a:tblPr>
              <a:tblGrid>
                <a:gridCol w="911336">
                  <a:extLst>
                    <a:ext uri="{9D8B030D-6E8A-4147-A177-3AD203B41FA5}">
                      <a16:colId xmlns:a16="http://schemas.microsoft.com/office/drawing/2014/main" val="2876973817"/>
                    </a:ext>
                  </a:extLst>
                </a:gridCol>
                <a:gridCol w="3488055">
                  <a:extLst>
                    <a:ext uri="{9D8B030D-6E8A-4147-A177-3AD203B41FA5}">
                      <a16:colId xmlns:a16="http://schemas.microsoft.com/office/drawing/2014/main" val="3681611696"/>
                    </a:ext>
                  </a:extLst>
                </a:gridCol>
                <a:gridCol w="1720010">
                  <a:extLst>
                    <a:ext uri="{9D8B030D-6E8A-4147-A177-3AD203B41FA5}">
                      <a16:colId xmlns:a16="http://schemas.microsoft.com/office/drawing/2014/main" val="272751239"/>
                    </a:ext>
                  </a:extLst>
                </a:gridCol>
              </a:tblGrid>
              <a:tr h="774970">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年齢</a:t>
                      </a:r>
                    </a:p>
                    <a:p>
                      <a:pPr algn="ctr"/>
                      <a:endParaRPr lang="en-JP" sz="1600" b="0" dirty="0">
                        <a:latin typeface="Meiryo" panose="020B0604030504040204" pitchFamily="34" charset="-128"/>
                        <a:ea typeface="Meiryo" panose="020B0604030504040204" pitchFamily="34" charset="-128"/>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lang="mn-MN" altLang="ja-JP" sz="1600" b="0" dirty="0">
                        <a:latin typeface="Meiryo" panose="020B0604030504040204" pitchFamily="34" charset="-128"/>
                        <a:ea typeface="Meiryo" panose="020B0604030504040204" pitchFamily="34" charset="-128"/>
                      </a:endParaRPr>
                    </a:p>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学習・観察</a:t>
                      </a:r>
                    </a:p>
                    <a:p>
                      <a:pPr algn="ctr"/>
                      <a:endParaRPr lang="en-JP" sz="1600" b="0" dirty="0">
                        <a:latin typeface="Meiryo" panose="020B0604030504040204" pitchFamily="34" charset="-128"/>
                        <a:ea typeface="Meiryo" panose="020B0604030504040204" pitchFamily="34" charset="-128"/>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識別可能</a:t>
                      </a:r>
                    </a:p>
                    <a:p>
                      <a:pPr algn="ctr"/>
                      <a:endParaRPr lang="en-JP" sz="1600" b="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2670850458"/>
                  </a:ext>
                </a:extLst>
              </a:tr>
              <a:tr h="597927">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altLang="ja-JP" sz="1600" dirty="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歳</a:t>
                      </a:r>
                    </a:p>
                    <a:p>
                      <a:pPr algn="ct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本足 → 動物と認識</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動物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非動物</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704874969"/>
                  </a:ext>
                </a:extLst>
              </a:tr>
              <a:tr h="545349">
                <a:tc>
                  <a:txBody>
                    <a:bodyPr/>
                    <a:lstStyle/>
                    <a:p>
                      <a:pPr algn="ctr"/>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歳</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本足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耳 → 犬か猫か推測</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犬 ↔ 猫（時々間違い）</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1164076857"/>
                  </a:ext>
                </a:extLst>
              </a:tr>
              <a:tr h="545349">
                <a:tc>
                  <a:txBody>
                    <a:bodyPr/>
                    <a:lstStyle/>
                    <a:p>
                      <a:pPr algn="ctr"/>
                      <a:r>
                        <a:rPr lang="en-US" altLang="ja-JP" sz="1600" dirty="0"/>
                        <a:t>10</a:t>
                      </a:r>
                      <a:r>
                        <a:rPr lang="ja-JP" altLang="en-US" sz="1600"/>
                        <a:t>歳</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長毛・鼻低いペルシャ猫、青目</a:t>
                      </a:r>
                    </a:p>
                    <a:p>
                      <a:pPr algn="l"/>
                      <a:r>
                        <a:rPr lang="ja-JP" altLang="en-US" sz="1600">
                          <a:latin typeface="Meiryo" panose="020B0604030504040204" pitchFamily="34" charset="-128"/>
                          <a:ea typeface="Meiryo" panose="020B0604030504040204" pitchFamily="34" charset="-128"/>
                        </a:rPr>
                        <a:t>動きで異常判断</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種類識別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異常判断</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364671387"/>
                  </a:ext>
                </a:extLst>
              </a:tr>
            </a:tbl>
          </a:graphicData>
        </a:graphic>
      </p:graphicFrame>
      <p:sp>
        <p:nvSpPr>
          <p:cNvPr id="29" name="TextBox 28">
            <a:extLst>
              <a:ext uri="{FF2B5EF4-FFF2-40B4-BE49-F238E27FC236}">
                <a16:creationId xmlns:a16="http://schemas.microsoft.com/office/drawing/2014/main" id="{1604A6E8-3720-DE19-746C-A9DCE6F0F428}"/>
              </a:ext>
            </a:extLst>
          </p:cNvPr>
          <p:cNvSpPr txBox="1"/>
          <p:nvPr/>
        </p:nvSpPr>
        <p:spPr>
          <a:xfrm>
            <a:off x="512895" y="6175218"/>
            <a:ext cx="4814016" cy="1323439"/>
          </a:xfrm>
          <a:prstGeom prst="rect">
            <a:avLst/>
          </a:prstGeom>
          <a:noFill/>
        </p:spPr>
        <p:txBody>
          <a:bodyPr wrap="square">
            <a:spAutoFit/>
          </a:bodyPr>
          <a:lstStyle/>
          <a:p>
            <a:pPr rtl="0">
              <a:spcBef>
                <a:spcPts val="0"/>
              </a:spcBef>
              <a:spcAft>
                <a:spcPts val="0"/>
              </a:spcAft>
            </a:pPr>
            <a:r>
              <a:rPr lang="ja-JP" altLang="en-US" sz="2000" b="0" i="0" u="none" strike="noStrike">
                <a:solidFill>
                  <a:srgbClr val="000000"/>
                </a:solidFill>
                <a:effectLst/>
                <a:latin typeface="Meiryo" panose="020B0604030504040204" pitchFamily="34" charset="-128"/>
                <a:ea typeface="Meiryo" panose="020B0604030504040204" pitchFamily="34" charset="-128"/>
              </a:rPr>
              <a:t>なぜ層のニューロン数が減少するのか？</a:t>
            </a:r>
            <a:endParaRPr lang="ja-JP" altLang="en-US" sz="2000" b="0">
              <a:effectLst/>
              <a:latin typeface="Meiryo" panose="020B0604030504040204" pitchFamily="34" charset="-128"/>
              <a:ea typeface="Meiryo" panose="020B0604030504040204" pitchFamily="34" charset="-128"/>
            </a:endParaRPr>
          </a:p>
          <a:p>
            <a:pPr rtl="0">
              <a:spcBef>
                <a:spcPts val="0"/>
              </a:spcBef>
              <a:spcAft>
                <a:spcPts val="0"/>
              </a:spcAft>
            </a:pPr>
            <a:r>
              <a:rPr lang="ja-JP" altLang="en-US" sz="2000" b="0" i="0" u="none" strike="noStrike">
                <a:solidFill>
                  <a:srgbClr val="000000"/>
                </a:solidFill>
                <a:effectLst/>
                <a:latin typeface="Meiryo" panose="020B0604030504040204" pitchFamily="34" charset="-128"/>
                <a:ea typeface="Meiryo" panose="020B0604030504040204" pitchFamily="34" charset="-128"/>
              </a:rPr>
              <a:t>（</a:t>
            </a:r>
            <a:r>
              <a:rPr lang="en-US" altLang="ja-JP" sz="2000" b="0" i="0" u="none" strike="noStrike" dirty="0">
                <a:solidFill>
                  <a:srgbClr val="000000"/>
                </a:solidFill>
                <a:effectLst/>
                <a:latin typeface="Meiryo" panose="020B0604030504040204" pitchFamily="34" charset="-128"/>
                <a:ea typeface="Meiryo" panose="020B0604030504040204" pitchFamily="34" charset="-128"/>
              </a:rPr>
              <a:t>128 → 96 → 64 → 32 → 16</a:t>
            </a:r>
            <a:r>
              <a:rPr lang="ja-JP" altLang="en-US" sz="2000" b="0" i="0" u="none" strike="noStrike">
                <a:solidFill>
                  <a:srgbClr val="000000"/>
                </a:solidFill>
                <a:effectLst/>
                <a:latin typeface="Meiryo" panose="020B0604030504040204" pitchFamily="34" charset="-128"/>
                <a:ea typeface="Meiryo" panose="020B0604030504040204" pitchFamily="34" charset="-128"/>
              </a:rPr>
              <a:t>）</a:t>
            </a:r>
            <a:endParaRPr lang="ja-JP" altLang="en-US" sz="2000" b="0">
              <a:effectLst/>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endParaRPr lang="en-JP" sz="2000" dirty="0">
              <a:latin typeface="Meiryo" panose="020B0604030504040204" pitchFamily="34" charset="-128"/>
              <a:ea typeface="Meiryo" panose="020B0604030504040204" pitchFamily="34" charset="-128"/>
            </a:endParaRPr>
          </a:p>
        </p:txBody>
      </p:sp>
      <p:sp>
        <p:nvSpPr>
          <p:cNvPr id="31" name="TextBox 30">
            <a:extLst>
              <a:ext uri="{FF2B5EF4-FFF2-40B4-BE49-F238E27FC236}">
                <a16:creationId xmlns:a16="http://schemas.microsoft.com/office/drawing/2014/main" id="{7BE9CE26-C64B-0563-EC30-E84ADAFF4A64}"/>
              </a:ext>
            </a:extLst>
          </p:cNvPr>
          <p:cNvSpPr txBox="1"/>
          <p:nvPr/>
        </p:nvSpPr>
        <p:spPr>
          <a:xfrm>
            <a:off x="6504379" y="4923211"/>
            <a:ext cx="3865897" cy="1631216"/>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入力層では多くの特徴を保持するためニューロン数が多い</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隠れ層を進むごとに重要な特徴だけを抽出</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情報を圧縮して効率的に学習</a:t>
            </a:r>
          </a:p>
        </p:txBody>
      </p:sp>
      <p:cxnSp>
        <p:nvCxnSpPr>
          <p:cNvPr id="35" name="Elbow Connector 34">
            <a:extLst>
              <a:ext uri="{FF2B5EF4-FFF2-40B4-BE49-F238E27FC236}">
                <a16:creationId xmlns:a16="http://schemas.microsoft.com/office/drawing/2014/main" id="{CC422A76-A577-B543-FF08-7EE3EBBB498C}"/>
              </a:ext>
            </a:extLst>
          </p:cNvPr>
          <p:cNvCxnSpPr>
            <a:cxnSpLocks/>
            <a:stCxn id="36" idx="3"/>
          </p:cNvCxnSpPr>
          <p:nvPr/>
        </p:nvCxnSpPr>
        <p:spPr>
          <a:xfrm flipV="1">
            <a:off x="5145133" y="5402329"/>
            <a:ext cx="1182367" cy="1125798"/>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9">
            <a:extLst>
              <a:ext uri="{FF2B5EF4-FFF2-40B4-BE49-F238E27FC236}">
                <a16:creationId xmlns:a16="http://schemas.microsoft.com/office/drawing/2014/main" id="{5EEB536E-C5B4-0F3B-AE6A-4D16D8F60969}"/>
              </a:ext>
            </a:extLst>
          </p:cNvPr>
          <p:cNvSpPr/>
          <p:nvPr/>
        </p:nvSpPr>
        <p:spPr>
          <a:xfrm>
            <a:off x="437960" y="6020295"/>
            <a:ext cx="4707173" cy="101566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88202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2"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1E1A97-DF62-9811-B40B-DBAB63E0BFBE}"/>
              </a:ext>
            </a:extLst>
          </p:cNvPr>
          <p:cNvSpPr>
            <a:spLocks noGrp="1"/>
          </p:cNvSpPr>
          <p:nvPr>
            <p:ph type="sldNum" sz="quarter" idx="12"/>
          </p:nvPr>
        </p:nvSpPr>
        <p:spPr/>
        <p:txBody>
          <a:bodyPr/>
          <a:lstStyle/>
          <a:p>
            <a:fld id="{BB44241B-2579-694C-B40C-A1E3D5F0E4EC}" type="slidenum">
              <a:rPr lang="en-JP" smtClean="0"/>
              <a:pPr/>
              <a:t>45</a:t>
            </a:fld>
            <a:endParaRPr lang="en-JP" dirty="0"/>
          </a:p>
        </p:txBody>
      </p:sp>
      <p:sp>
        <p:nvSpPr>
          <p:cNvPr id="6" name="TextBox 5">
            <a:extLst>
              <a:ext uri="{FF2B5EF4-FFF2-40B4-BE49-F238E27FC236}">
                <a16:creationId xmlns:a16="http://schemas.microsoft.com/office/drawing/2014/main" id="{015CD901-651E-6FA9-2208-8B70F75F81ED}"/>
              </a:ext>
            </a:extLst>
          </p:cNvPr>
          <p:cNvSpPr txBox="1"/>
          <p:nvPr/>
        </p:nvSpPr>
        <p:spPr>
          <a:xfrm>
            <a:off x="824426" y="5504192"/>
            <a:ext cx="5486400" cy="400110"/>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t>
            </a:r>
            <a:r>
              <a:rPr lang="en-JP" sz="2000" dirty="0">
                <a:solidFill>
                  <a:srgbClr val="FF0000"/>
                </a:solidFill>
                <a:latin typeface="Meiryo" panose="020B0604030504040204" pitchFamily="34" charset="-128"/>
                <a:ea typeface="Meiryo" panose="020B0604030504040204" pitchFamily="34" charset="-128"/>
              </a:rPr>
              <a:t>Growing Approach</a:t>
            </a:r>
            <a:r>
              <a:rPr lang="en-JP" sz="20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DE37D6B4-5DB0-7BDF-D2F2-EA79413634CE}"/>
              </a:ext>
            </a:extLst>
          </p:cNvPr>
          <p:cNvSpPr txBox="1"/>
          <p:nvPr/>
        </p:nvSpPr>
        <p:spPr>
          <a:xfrm>
            <a:off x="561702" y="396724"/>
            <a:ext cx="10006149" cy="954107"/>
          </a:xfrm>
          <a:prstGeom prst="rect">
            <a:avLst/>
          </a:prstGeom>
          <a:noFill/>
        </p:spPr>
        <p:txBody>
          <a:bodyPr wrap="square">
            <a:spAutoFit/>
          </a:bodyPr>
          <a:lstStyle/>
          <a:p>
            <a:r>
              <a:rPr lang="en-JP" sz="2800" b="1" dirty="0">
                <a:latin typeface="Meiryo" panose="020B0604030504040204" pitchFamily="34" charset="-128"/>
                <a:ea typeface="Meiryo" panose="020B0604030504040204" pitchFamily="34" charset="-128"/>
              </a:rPr>
              <a:t>Machine learning types </a:t>
            </a:r>
            <a:r>
              <a:rPr lang="ja-JP" altLang="mn-MN" sz="2800" b="1">
                <a:latin typeface="Meiryo" panose="020B0604030504040204" pitchFamily="34" charset="-128"/>
                <a:ea typeface="Meiryo" panose="020B0604030504040204" pitchFamily="34" charset="-128"/>
              </a:rPr>
              <a:t>・</a:t>
            </a:r>
            <a:r>
              <a:rPr lang="ja-JP" altLang="en-US" sz="2800" b="1">
                <a:latin typeface="Meiryo" panose="020B0604030504040204" pitchFamily="34" charset="-128"/>
                <a:ea typeface="Meiryo" panose="020B0604030504040204" pitchFamily="34" charset="-128"/>
              </a:rPr>
              <a:t>仕組み</a:t>
            </a:r>
            <a:endParaRPr lang="en-US" sz="2800" b="1" dirty="0">
              <a:latin typeface="Meiryo" panose="020B0604030504040204" pitchFamily="34" charset="-128"/>
              <a:ea typeface="Meiryo" panose="020B0604030504040204" pitchFamily="34" charset="-128"/>
              <a:cs typeface="Times New Roman" panose="02020603050405020304" pitchFamily="18" charset="0"/>
            </a:endParaRPr>
          </a:p>
          <a:p>
            <a:r>
              <a:rPr lang="en-US" sz="2800" b="1" dirty="0">
                <a:latin typeface="Meiryo" panose="020B0604030504040204" pitchFamily="34" charset="-128"/>
                <a:ea typeface="Meiryo" panose="020B0604030504040204" pitchFamily="34" charset="-128"/>
                <a:cs typeface="Times New Roman" panose="02020603050405020304" pitchFamily="18" charset="0"/>
              </a:rPr>
              <a:t>Why choose （Deep Neural Network)</a:t>
            </a:r>
            <a:endParaRPr lang="en-JP" sz="2800" b="1"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1C2D19B9-D2C5-CC25-F75B-AC9855B92B19}"/>
              </a:ext>
            </a:extLst>
          </p:cNvPr>
          <p:cNvPicPr>
            <a:picLocks noChangeAspect="1"/>
          </p:cNvPicPr>
          <p:nvPr/>
        </p:nvPicPr>
        <p:blipFill>
          <a:blip r:embed="rId3"/>
          <a:stretch>
            <a:fillRect/>
          </a:stretch>
        </p:blipFill>
        <p:spPr>
          <a:xfrm>
            <a:off x="444136" y="1579282"/>
            <a:ext cx="5253373" cy="3462833"/>
          </a:xfrm>
          <a:prstGeom prst="rect">
            <a:avLst/>
          </a:prstGeom>
        </p:spPr>
      </p:pic>
      <p:sp>
        <p:nvSpPr>
          <p:cNvPr id="12" name="TextBox 11">
            <a:extLst>
              <a:ext uri="{FF2B5EF4-FFF2-40B4-BE49-F238E27FC236}">
                <a16:creationId xmlns:a16="http://schemas.microsoft.com/office/drawing/2014/main" id="{2DC3EEC1-B884-329E-2800-7A185D0DE48D}"/>
              </a:ext>
            </a:extLst>
          </p:cNvPr>
          <p:cNvSpPr txBox="1"/>
          <p:nvPr/>
        </p:nvSpPr>
        <p:spPr>
          <a:xfrm>
            <a:off x="6048102" y="1600051"/>
            <a:ext cx="5486400" cy="4524315"/>
          </a:xfrm>
          <a:prstGeom prst="rect">
            <a:avLst/>
          </a:prstGeom>
          <a:noFill/>
        </p:spPr>
        <p:txBody>
          <a:bodyPr wrap="square">
            <a:spAutoFit/>
          </a:bodyPr>
          <a:lstStyle/>
          <a:p>
            <a:r>
              <a:rPr lang="en-JP" sz="1800" dirty="0">
                <a:latin typeface="Meiryo" panose="020B0604030504040204" pitchFamily="34" charset="-128"/>
                <a:ea typeface="Meiryo" panose="020B0604030504040204" pitchFamily="34" charset="-128"/>
              </a:rPr>
              <a:t>なぜ層のニューロン数が減少するのか？</a:t>
            </a:r>
          </a:p>
          <a:p>
            <a:r>
              <a:rPr lang="en-JP" sz="1800" dirty="0">
                <a:latin typeface="Meiryo" panose="020B0604030504040204" pitchFamily="34" charset="-128"/>
                <a:ea typeface="Meiryo" panose="020B0604030504040204" pitchFamily="34" charset="-128"/>
              </a:rPr>
              <a:t>（128 → 96 → 64 → 32 → 16）</a:t>
            </a:r>
            <a:endParaRPr lang="mn-MN"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たとえば：</a:t>
            </a:r>
          </a:p>
          <a:p>
            <a:r>
              <a:rPr lang="en-US" altLang="ja-JP" sz="1800" dirty="0">
                <a:latin typeface="Meiryo" panose="020B0604030504040204" pitchFamily="34" charset="-128"/>
                <a:ea typeface="Meiryo" panose="020B0604030504040204" pitchFamily="34" charset="-128"/>
              </a:rPr>
              <a:t>100</a:t>
            </a:r>
            <a:r>
              <a:rPr lang="ja-JP" altLang="en-US" sz="1800">
                <a:latin typeface="Meiryo" panose="020B0604030504040204" pitchFamily="34" charset="-128"/>
                <a:ea typeface="Meiryo" panose="020B0604030504040204" pitchFamily="34" charset="-128"/>
              </a:rPr>
              <a:t>個の特徴量 ➜ 情報がとても多い</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128</a:t>
            </a:r>
            <a:r>
              <a:rPr lang="ja-JP" altLang="en-US" sz="1800">
                <a:latin typeface="Meiryo" panose="020B0604030504040204" pitchFamily="34" charset="-128"/>
                <a:ea typeface="Meiryo" panose="020B0604030504040204" pitchFamily="34" charset="-128"/>
              </a:rPr>
              <a:t>ニューロン ➜ すべての情報を考慮</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96</a:t>
            </a:r>
            <a:r>
              <a:rPr lang="ja-JP" altLang="en-US" sz="1800">
                <a:latin typeface="Meiryo" panose="020B0604030504040204" pitchFamily="34" charset="-128"/>
                <a:ea typeface="Meiryo" panose="020B0604030504040204" pitchFamily="34" charset="-128"/>
              </a:rPr>
              <a:t>ニューロン ➜ 重要な特徴を抽出</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64</a:t>
            </a:r>
            <a:r>
              <a:rPr lang="ja-JP" altLang="en-US" sz="1800">
                <a:latin typeface="Meiryo" panose="020B0604030504040204" pitchFamily="34" charset="-128"/>
                <a:ea typeface="Meiryo" panose="020B0604030504040204" pitchFamily="34" charset="-128"/>
              </a:rPr>
              <a:t>ニューロン ➜ より絞り込む</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32</a:t>
            </a:r>
            <a:r>
              <a:rPr lang="ja-JP" altLang="en-US" sz="1800">
                <a:latin typeface="Meiryo" panose="020B0604030504040204" pitchFamily="34" charset="-128"/>
                <a:ea typeface="Meiryo" panose="020B0604030504040204" pitchFamily="34" charset="-128"/>
              </a:rPr>
              <a:t>ニューロン ➜ 主要な特徴を保持</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16</a:t>
            </a:r>
            <a:r>
              <a:rPr lang="ja-JP" altLang="en-US" sz="1800">
                <a:latin typeface="Meiryo" panose="020B0604030504040204" pitchFamily="34" charset="-128"/>
                <a:ea typeface="Meiryo" panose="020B0604030504040204" pitchFamily="34" charset="-128"/>
              </a:rPr>
              <a:t>ニューロン ➜ 最も重要な情報のみ残す</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11</a:t>
            </a:r>
            <a:r>
              <a:rPr lang="ja-JP" altLang="en-US" sz="1800">
                <a:latin typeface="Meiryo" panose="020B0604030504040204" pitchFamily="34" charset="-128"/>
                <a:ea typeface="Meiryo" panose="020B0604030504040204" pitchFamily="34" charset="-128"/>
              </a:rPr>
              <a:t>クラス ➜ 最終的な分類結果</a:t>
            </a:r>
          </a:p>
        </p:txBody>
      </p:sp>
      <p:sp>
        <p:nvSpPr>
          <p:cNvPr id="13" name="Down Arrow 12">
            <a:extLst>
              <a:ext uri="{FF2B5EF4-FFF2-40B4-BE49-F238E27FC236}">
                <a16:creationId xmlns:a16="http://schemas.microsoft.com/office/drawing/2014/main" id="{693944C4-A1C7-4287-86DF-E1D3986428D7}"/>
              </a:ext>
            </a:extLst>
          </p:cNvPr>
          <p:cNvSpPr/>
          <p:nvPr/>
        </p:nvSpPr>
        <p:spPr>
          <a:xfrm rot="16200000">
            <a:off x="4136466" y="5441272"/>
            <a:ext cx="245964" cy="5259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829594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C2DCEA-0CCA-D29A-A55F-4527BED60B34}"/>
              </a:ext>
            </a:extLst>
          </p:cNvPr>
          <p:cNvSpPr>
            <a:spLocks noGrp="1"/>
          </p:cNvSpPr>
          <p:nvPr>
            <p:ph type="sldNum" sz="quarter" idx="12"/>
          </p:nvPr>
        </p:nvSpPr>
        <p:spPr/>
        <p:txBody>
          <a:bodyPr/>
          <a:lstStyle/>
          <a:p>
            <a:fld id="{BB44241B-2579-694C-B40C-A1E3D5F0E4EC}" type="slidenum">
              <a:rPr lang="en-JP" smtClean="0"/>
              <a:pPr/>
              <a:t>46</a:t>
            </a:fld>
            <a:endParaRPr lang="en-JP" dirty="0"/>
          </a:p>
        </p:txBody>
      </p:sp>
      <p:graphicFrame>
        <p:nvGraphicFramePr>
          <p:cNvPr id="6" name="Table 5">
            <a:extLst>
              <a:ext uri="{FF2B5EF4-FFF2-40B4-BE49-F238E27FC236}">
                <a16:creationId xmlns:a16="http://schemas.microsoft.com/office/drawing/2014/main" id="{E0E7BE27-8B99-C3B8-3038-3ECB2790FBDF}"/>
              </a:ext>
            </a:extLst>
          </p:cNvPr>
          <p:cNvGraphicFramePr>
            <a:graphicFrameLocks noGrp="1"/>
          </p:cNvGraphicFramePr>
          <p:nvPr>
            <p:extLst>
              <p:ext uri="{D42A27DB-BD31-4B8C-83A1-F6EECF244321}">
                <p14:modId xmlns:p14="http://schemas.microsoft.com/office/powerpoint/2010/main" val="4131724580"/>
              </p:ext>
            </p:extLst>
          </p:nvPr>
        </p:nvGraphicFramePr>
        <p:xfrm>
          <a:off x="753744" y="981075"/>
          <a:ext cx="9464676" cy="6010797"/>
        </p:xfrm>
        <a:graphic>
          <a:graphicData uri="http://schemas.openxmlformats.org/drawingml/2006/table">
            <a:tbl>
              <a:tblPr firstRow="1" firstCol="1" bandRow="1">
                <a:tableStyleId>{F5AB1C69-6EDB-4FF4-983F-18BD219EF322}</a:tableStyleId>
              </a:tblPr>
              <a:tblGrid>
                <a:gridCol w="1257936">
                  <a:extLst>
                    <a:ext uri="{9D8B030D-6E8A-4147-A177-3AD203B41FA5}">
                      <a16:colId xmlns:a16="http://schemas.microsoft.com/office/drawing/2014/main" val="659875666"/>
                    </a:ext>
                  </a:extLst>
                </a:gridCol>
                <a:gridCol w="1896956">
                  <a:extLst>
                    <a:ext uri="{9D8B030D-6E8A-4147-A177-3AD203B41FA5}">
                      <a16:colId xmlns:a16="http://schemas.microsoft.com/office/drawing/2014/main" val="2179014180"/>
                    </a:ext>
                  </a:extLst>
                </a:gridCol>
                <a:gridCol w="1577446">
                  <a:extLst>
                    <a:ext uri="{9D8B030D-6E8A-4147-A177-3AD203B41FA5}">
                      <a16:colId xmlns:a16="http://schemas.microsoft.com/office/drawing/2014/main" val="1790990073"/>
                    </a:ext>
                  </a:extLst>
                </a:gridCol>
                <a:gridCol w="1577446">
                  <a:extLst>
                    <a:ext uri="{9D8B030D-6E8A-4147-A177-3AD203B41FA5}">
                      <a16:colId xmlns:a16="http://schemas.microsoft.com/office/drawing/2014/main" val="633526717"/>
                    </a:ext>
                  </a:extLst>
                </a:gridCol>
                <a:gridCol w="878689">
                  <a:extLst>
                    <a:ext uri="{9D8B030D-6E8A-4147-A177-3AD203B41FA5}">
                      <a16:colId xmlns:a16="http://schemas.microsoft.com/office/drawing/2014/main" val="3074602870"/>
                    </a:ext>
                  </a:extLst>
                </a:gridCol>
                <a:gridCol w="2276203">
                  <a:extLst>
                    <a:ext uri="{9D8B030D-6E8A-4147-A177-3AD203B41FA5}">
                      <a16:colId xmlns:a16="http://schemas.microsoft.com/office/drawing/2014/main" val="1762978026"/>
                    </a:ext>
                  </a:extLst>
                </a:gridCol>
              </a:tblGrid>
              <a:tr h="294169">
                <a:tc>
                  <a:txBody>
                    <a:bodyPr/>
                    <a:lstStyle/>
                    <a:p>
                      <a:pPr algn="ctr"/>
                      <a:r>
                        <a:rPr lang="ja-JP" sz="2000" kern="100">
                          <a:effectLst/>
                        </a:rPr>
                        <a:t>システム</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ja-JP" sz="2000" kern="100">
                          <a:effectLst/>
                        </a:rPr>
                        <a:t>アルゴリズム</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TPR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FPR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ACC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ja-JP" sz="2000" kern="100">
                          <a:effectLst/>
                        </a:rPr>
                        <a:t>特徴</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7724648"/>
                  </a:ext>
                </a:extLst>
              </a:tr>
              <a:tr h="847899">
                <a:tc>
                  <a:txBody>
                    <a:bodyPr/>
                    <a:lstStyle/>
                    <a:p>
                      <a:r>
                        <a:rPr lang="en-JP" sz="2000" kern="100" dirty="0">
                          <a:effectLst/>
                        </a:rPr>
                        <a:t> Realguard</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RF + DNN + LASSO</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99.66</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0.40</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99.64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軽量・高速（</a:t>
                      </a:r>
                      <a:r>
                        <a:rPr lang="en-JP" sz="2000" kern="100">
                          <a:effectLst/>
                        </a:rPr>
                        <a:t>88k pkt/s </a:t>
                      </a:r>
                      <a:r>
                        <a:rPr lang="ja-JP" sz="2000" kern="100">
                          <a:effectLst/>
                        </a:rPr>
                        <a:t>処理）</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34545547"/>
                  </a:ext>
                </a:extLst>
              </a:tr>
              <a:tr h="571034">
                <a:tc>
                  <a:txBody>
                    <a:bodyPr/>
                    <a:lstStyle/>
                    <a:p>
                      <a:r>
                        <a:rPr lang="en-JP" sz="2000" kern="100">
                          <a:effectLst/>
                        </a:rPr>
                        <a:t>NB-SVM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Naive Bayes + SVM</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3.00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98.92</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シンプルだが誤検知多い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7291437"/>
                  </a:ext>
                </a:extLst>
              </a:tr>
              <a:tr h="847899">
                <a:tc>
                  <a:txBody>
                    <a:bodyPr/>
                    <a:lstStyle/>
                    <a:p>
                      <a:r>
                        <a:rPr lang="en-JP" sz="2000" kern="100">
                          <a:effectLst/>
                        </a:rPr>
                        <a:t>DT-EnSVM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Decision Tree + Ensemble 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99.15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4.00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アンサンブル、</a:t>
                      </a:r>
                      <a:r>
                        <a:rPr lang="en-JP" sz="2000" kern="100">
                          <a:effectLst/>
                        </a:rPr>
                        <a:t>FPR </a:t>
                      </a:r>
                      <a:r>
                        <a:rPr lang="ja-JP" sz="2000" kern="100">
                          <a:effectLst/>
                        </a:rPr>
                        <a:t>高め</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78615089"/>
                  </a:ext>
                </a:extLst>
              </a:tr>
              <a:tr h="571034">
                <a:tc>
                  <a:txBody>
                    <a:bodyPr/>
                    <a:lstStyle/>
                    <a:p>
                      <a:r>
                        <a:rPr lang="en-JP" sz="2000" kern="100">
                          <a:effectLst/>
                        </a:rPr>
                        <a:t>DBN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Deep Belief Network</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2.10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98.24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深層学習、計算コスト重い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76221856"/>
                  </a:ext>
                </a:extLst>
              </a:tr>
              <a:tr h="571034">
                <a:tc>
                  <a:txBody>
                    <a:bodyPr/>
                    <a:lstStyle/>
                    <a:p>
                      <a:r>
                        <a:rPr lang="en-JP" sz="2000" kern="100">
                          <a:effectLst/>
                        </a:rPr>
                        <a:t>PSO+LSTM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PSO </a:t>
                      </a:r>
                      <a:r>
                        <a:rPr lang="ja-JP" sz="2000" kern="100">
                          <a:effectLst/>
                        </a:rPr>
                        <a:t>最適化</a:t>
                      </a:r>
                      <a:r>
                        <a:rPr lang="en-JP" sz="2000" kern="100">
                          <a:effectLst/>
                        </a:rPr>
                        <a:t> + LSTM-RNN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98.68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0.16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98.83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FPR </a:t>
                      </a:r>
                      <a:r>
                        <a:rPr lang="ja-JP" sz="2000" kern="100">
                          <a:effectLst/>
                        </a:rPr>
                        <a:t>は低いが</a:t>
                      </a:r>
                      <a:r>
                        <a:rPr lang="en-JP" sz="2000" kern="100">
                          <a:effectLst/>
                        </a:rPr>
                        <a:t> TPR </a:t>
                      </a:r>
                      <a:r>
                        <a:rPr lang="ja-JP" sz="2000" kern="100">
                          <a:effectLst/>
                        </a:rPr>
                        <a:t>が低め</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5926925"/>
                  </a:ext>
                </a:extLst>
              </a:tr>
              <a:tr h="847899">
                <a:tc>
                  <a:txBody>
                    <a:bodyPr/>
                    <a:lstStyle/>
                    <a:p>
                      <a:r>
                        <a:rPr lang="en-JP" sz="2000" kern="100">
                          <a:effectLst/>
                        </a:rPr>
                        <a:t>PSO+DNN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PSO + Deep Neural Network</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97.58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0.28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97.85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最適化された</a:t>
                      </a:r>
                      <a:r>
                        <a:rPr lang="en-JP" sz="2000" kern="100">
                          <a:effectLst/>
                        </a:rPr>
                        <a:t> 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14840269"/>
                  </a:ext>
                </a:extLst>
              </a:tr>
              <a:tr h="571034">
                <a:tc>
                  <a:txBody>
                    <a:bodyPr/>
                    <a:lstStyle/>
                    <a:p>
                      <a:r>
                        <a:rPr lang="en-JP" sz="2000" kern="100">
                          <a:effectLst/>
                        </a:rPr>
                        <a:t>XGBoost</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Gradient Boosting</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91.36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誤検知が非常に多い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1402631"/>
                  </a:ext>
                </a:extLst>
              </a:tr>
              <a:tr h="571034">
                <a:tc>
                  <a:txBody>
                    <a:bodyPr/>
                    <a:lstStyle/>
                    <a:p>
                      <a:r>
                        <a:rPr lang="en-JP" sz="2000" kern="100">
                          <a:effectLst/>
                        </a:rPr>
                        <a:t>AE+ANN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Autoencoder + 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95.81</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98.18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TPR </a:t>
                      </a:r>
                      <a:r>
                        <a:rPr lang="ja-JP" sz="2000" kern="100">
                          <a:effectLst/>
                        </a:rPr>
                        <a:t>が最も低い</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44755000"/>
                  </a:ext>
                </a:extLst>
              </a:tr>
            </a:tbl>
          </a:graphicData>
        </a:graphic>
      </p:graphicFrame>
      <p:sp>
        <p:nvSpPr>
          <p:cNvPr id="8" name="TextBox 7">
            <a:extLst>
              <a:ext uri="{FF2B5EF4-FFF2-40B4-BE49-F238E27FC236}">
                <a16:creationId xmlns:a16="http://schemas.microsoft.com/office/drawing/2014/main" id="{4BEF6561-2A45-1239-C785-72FBF5EF0F95}"/>
              </a:ext>
            </a:extLst>
          </p:cNvPr>
          <p:cNvSpPr txBox="1"/>
          <p:nvPr/>
        </p:nvSpPr>
        <p:spPr>
          <a:xfrm>
            <a:off x="265678" y="492960"/>
            <a:ext cx="10440807" cy="523220"/>
          </a:xfrm>
          <a:prstGeom prst="rect">
            <a:avLst/>
          </a:prstGeom>
          <a:noFill/>
        </p:spPr>
        <p:txBody>
          <a:bodyPr wrap="square">
            <a:spAutoFit/>
          </a:bodyPr>
          <a:lstStyle/>
          <a:p>
            <a:pPr marL="457200" indent="-457200">
              <a:buFont typeface="Arial" panose="020B0604020202020204" pitchFamily="34" charset="0"/>
              <a:buChar char="•"/>
            </a:pPr>
            <a:r>
              <a:rPr lang="en-US" sz="2800" b="1" dirty="0">
                <a:latin typeface="Meiryo" panose="020B0604030504040204" pitchFamily="34" charset="-128"/>
                <a:ea typeface="Meiryo" panose="020B0604030504040204" pitchFamily="34" charset="-128"/>
              </a:rPr>
              <a:t>Realguard vs </a:t>
            </a:r>
            <a:r>
              <a:rPr lang="ja-JP" altLang="en-US" sz="2800" b="1">
                <a:latin typeface="Meiryo" panose="020B0604030504040204" pitchFamily="34" charset="-128"/>
                <a:ea typeface="Meiryo" panose="020B0604030504040204" pitchFamily="34" charset="-128"/>
              </a:rPr>
              <a:t>競合手法（</a:t>
            </a:r>
            <a:r>
              <a:rPr lang="en-US" sz="2800" b="1" dirty="0">
                <a:latin typeface="Meiryo" panose="020B0604030504040204" pitchFamily="34" charset="-128"/>
                <a:ea typeface="Meiryo" panose="020B0604030504040204" pitchFamily="34" charset="-128"/>
              </a:rPr>
              <a:t>Binary-class Detection </a:t>
            </a:r>
            <a:r>
              <a:rPr lang="ja-JP" altLang="en-US" sz="2800" b="1">
                <a:latin typeface="Meiryo" panose="020B0604030504040204" pitchFamily="34" charset="-128"/>
                <a:ea typeface="Meiryo" panose="020B0604030504040204" pitchFamily="34" charset="-128"/>
              </a:rPr>
              <a:t>比較）</a:t>
            </a:r>
            <a:endParaRPr lang="en-JP" sz="28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799716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0318CA3-DF71-2DFE-B028-3D1A36FA480C}"/>
              </a:ext>
            </a:extLst>
          </p:cNvPr>
          <p:cNvSpPr txBox="1"/>
          <p:nvPr/>
        </p:nvSpPr>
        <p:spPr>
          <a:xfrm>
            <a:off x="3757264" y="1182475"/>
            <a:ext cx="6237434" cy="391517"/>
          </a:xfrm>
          <a:prstGeom prst="rect">
            <a:avLst/>
          </a:prstGeom>
          <a:noFill/>
        </p:spPr>
        <p:txBody>
          <a:bodyPr wrap="square">
            <a:spAutoFit/>
          </a:bodyPr>
          <a:lstStyle/>
          <a:p>
            <a:r>
              <a:rPr lang="en-US" sz="1944" dirty="0">
                <a:latin typeface="Meiryo" panose="020B0604030504040204" pitchFamily="34" charset="-128"/>
                <a:ea typeface="Meiryo" panose="020B0604030504040204" pitchFamily="34" charset="-128"/>
                <a:cs typeface="Times New Roman" panose="02020603050405020304" pitchFamily="18" charset="0"/>
              </a:rPr>
              <a:t>Algorithm1 Update </a:t>
            </a:r>
            <a:endParaRPr lang="mn-MN" altLang="ja-JP" sz="1944" dirty="0">
              <a:latin typeface="Meiryo" panose="020B0604030504040204" pitchFamily="34" charset="-128"/>
              <a:ea typeface="Meiryo" panose="020B0604030504040204" pitchFamily="34" charset="-128"/>
            </a:endParaRPr>
          </a:p>
        </p:txBody>
      </p:sp>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47</a:t>
            </a:fld>
            <a:endParaRPr lang="en-JP"/>
          </a:p>
        </p:txBody>
      </p:sp>
      <p:cxnSp>
        <p:nvCxnSpPr>
          <p:cNvPr id="2" name="Straight Connector 1">
            <a:extLst>
              <a:ext uri="{FF2B5EF4-FFF2-40B4-BE49-F238E27FC236}">
                <a16:creationId xmlns:a16="http://schemas.microsoft.com/office/drawing/2014/main" id="{0E7B9086-4B32-B28F-C8E0-84F259B045F0}"/>
              </a:ext>
            </a:extLst>
          </p:cNvPr>
          <p:cNvCxnSpPr>
            <a:cxnSpLocks/>
          </p:cNvCxnSpPr>
          <p:nvPr/>
        </p:nvCxnSpPr>
        <p:spPr>
          <a:xfrm>
            <a:off x="5118259" y="1676896"/>
            <a:ext cx="101441" cy="552400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C16A7DA-7233-5695-C51A-3583072AC48C}"/>
              </a:ext>
            </a:extLst>
          </p:cNvPr>
          <p:cNvPicPr>
            <a:picLocks noChangeAspect="1"/>
          </p:cNvPicPr>
          <p:nvPr/>
        </p:nvPicPr>
        <p:blipFill>
          <a:blip r:embed="rId2"/>
          <a:stretch>
            <a:fillRect/>
          </a:stretch>
        </p:blipFill>
        <p:spPr>
          <a:xfrm>
            <a:off x="5434251" y="1648447"/>
            <a:ext cx="4173379" cy="2340049"/>
          </a:xfrm>
          <a:prstGeom prst="rect">
            <a:avLst/>
          </a:prstGeom>
        </p:spPr>
      </p:pic>
      <p:sp>
        <p:nvSpPr>
          <p:cNvPr id="15" name="TextBox 14">
            <a:extLst>
              <a:ext uri="{FF2B5EF4-FFF2-40B4-BE49-F238E27FC236}">
                <a16:creationId xmlns:a16="http://schemas.microsoft.com/office/drawing/2014/main" id="{4F0655B4-3E91-7693-B223-384F6B6097FF}"/>
              </a:ext>
            </a:extLst>
          </p:cNvPr>
          <p:cNvSpPr txBox="1"/>
          <p:nvPr/>
        </p:nvSpPr>
        <p:spPr>
          <a:xfrm>
            <a:off x="5682137" y="4293315"/>
            <a:ext cx="4389120" cy="1546577"/>
          </a:xfrm>
          <a:prstGeom prst="rect">
            <a:avLst/>
          </a:prstGeom>
          <a:noFill/>
        </p:spPr>
        <p:txBody>
          <a:bodyPr wrap="square">
            <a:spAutoFit/>
          </a:bodyPr>
          <a:lstStyle/>
          <a:p>
            <a:r>
              <a:rPr lang="en-US" altLang="ja-JP" sz="1350" dirty="0">
                <a:latin typeface="Meiryo" panose="020B0604030504040204" pitchFamily="34" charset="-128"/>
                <a:ea typeface="Meiryo" panose="020B0604030504040204" pitchFamily="34" charset="-128"/>
              </a:rPr>
              <a:t>DDoS</a:t>
            </a:r>
            <a:r>
              <a:rPr lang="ja-JP" altLang="en-US" sz="1350">
                <a:latin typeface="Meiryo" panose="020B0604030504040204" pitchFamily="34" charset="-128"/>
                <a:ea typeface="Meiryo" panose="020B0604030504040204" pitchFamily="34" charset="-128"/>
              </a:rPr>
              <a:t>攻撃 </a:t>
            </a:r>
            <a:r>
              <a:rPr lang="en-US" altLang="ja-JP" sz="1350" dirty="0">
                <a:latin typeface="Meiryo" panose="020B0604030504040204" pitchFamily="34" charset="-128"/>
                <a:ea typeface="Meiryo" panose="020B0604030504040204" pitchFamily="34" charset="-128"/>
              </a:rPr>
              <a:t>= </a:t>
            </a:r>
            <a:r>
              <a:rPr lang="ja-JP" altLang="en-US" sz="1350">
                <a:latin typeface="Meiryo" panose="020B0604030504040204" pitchFamily="34" charset="-128"/>
                <a:ea typeface="Meiryo" panose="020B0604030504040204" pitchFamily="34" charset="-128"/>
              </a:rPr>
              <a:t>数秒で大量のパケット</a:t>
            </a:r>
          </a:p>
          <a:p>
            <a:r>
              <a:rPr lang="ja-JP" altLang="en-US" sz="1350">
                <a:latin typeface="Meiryo" panose="020B0604030504040204" pitchFamily="34" charset="-128"/>
                <a:ea typeface="Meiryo" panose="020B0604030504040204" pitchFamily="34" charset="-128"/>
              </a:rPr>
              <a:t>   → アルゴリズム</a:t>
            </a:r>
            <a:r>
              <a:rPr lang="en-US" altLang="ja-JP" sz="1350" dirty="0">
                <a:latin typeface="Meiryo" panose="020B0604030504040204" pitchFamily="34" charset="-128"/>
                <a:ea typeface="Meiryo" panose="020B0604030504040204" pitchFamily="34" charset="-128"/>
              </a:rPr>
              <a:t>1</a:t>
            </a:r>
            <a:r>
              <a:rPr lang="ja-JP" altLang="en-US" sz="1350">
                <a:latin typeface="Meiryo" panose="020B0604030504040204" pitchFamily="34" charset="-128"/>
                <a:ea typeface="Meiryo" panose="020B0604030504040204" pitchFamily="34" charset="-128"/>
              </a:rPr>
              <a:t>は即座に検知</a:t>
            </a:r>
            <a:endParaRPr lang="mn-MN" altLang="ja-JP" sz="1350" dirty="0">
              <a:latin typeface="Meiryo" panose="020B0604030504040204" pitchFamily="34" charset="-128"/>
              <a:ea typeface="Meiryo" panose="020B0604030504040204" pitchFamily="34" charset="-128"/>
            </a:endParaRPr>
          </a:p>
          <a:p>
            <a:endParaRPr lang="ja-JP" altLang="en-US" sz="1350">
              <a:latin typeface="Meiryo" panose="020B0604030504040204" pitchFamily="34" charset="-128"/>
              <a:ea typeface="Meiryo" panose="020B0604030504040204" pitchFamily="34" charset="-128"/>
            </a:endParaRPr>
          </a:p>
          <a:p>
            <a:r>
              <a:rPr lang="ja-JP" altLang="en-US" sz="1350">
                <a:latin typeface="Meiryo" panose="020B0604030504040204" pitchFamily="34" charset="-128"/>
                <a:ea typeface="Meiryo" panose="020B0604030504040204" pitchFamily="34" charset="-128"/>
              </a:rPr>
              <a:t>通常トラフィック </a:t>
            </a:r>
            <a:r>
              <a:rPr lang="en-US" altLang="ja-JP" sz="1350" dirty="0">
                <a:latin typeface="Meiryo" panose="020B0604030504040204" pitchFamily="34" charset="-128"/>
                <a:ea typeface="Meiryo" panose="020B0604030504040204" pitchFamily="34" charset="-128"/>
              </a:rPr>
              <a:t>= </a:t>
            </a:r>
            <a:r>
              <a:rPr lang="ja-JP" altLang="en-US" sz="1350">
                <a:latin typeface="Meiryo" panose="020B0604030504040204" pitchFamily="34" charset="-128"/>
                <a:ea typeface="Meiryo" panose="020B0604030504040204" pitchFamily="34" charset="-128"/>
              </a:rPr>
              <a:t>徐々に到着</a:t>
            </a:r>
          </a:p>
          <a:p>
            <a:r>
              <a:rPr lang="ja-JP" altLang="en-US" sz="1350">
                <a:latin typeface="Meiryo" panose="020B0604030504040204" pitchFamily="34" charset="-128"/>
                <a:ea typeface="Meiryo" panose="020B0604030504040204" pitchFamily="34" charset="-128"/>
              </a:rPr>
              <a:t>   → 古い情報は忘れられる</a:t>
            </a:r>
            <a:endParaRPr lang="mn-MN" altLang="ja-JP" sz="1350" dirty="0">
              <a:latin typeface="Meiryo" panose="020B0604030504040204" pitchFamily="34" charset="-128"/>
              <a:ea typeface="Meiryo" panose="020B0604030504040204" pitchFamily="34" charset="-128"/>
            </a:endParaRPr>
          </a:p>
          <a:p>
            <a:endParaRPr lang="ja-JP" altLang="en-US" sz="1350">
              <a:latin typeface="Meiryo" panose="020B0604030504040204" pitchFamily="34" charset="-128"/>
              <a:ea typeface="Meiryo" panose="020B0604030504040204" pitchFamily="34" charset="-128"/>
            </a:endParaRPr>
          </a:p>
          <a:p>
            <a:r>
              <a:rPr lang="ja-JP" altLang="en-US" sz="1350">
                <a:latin typeface="Meiryo" panose="020B0604030504040204" pitchFamily="34" charset="-128"/>
                <a:ea typeface="Meiryo" panose="020B0604030504040204" pitchFamily="34" charset="-128"/>
              </a:rPr>
              <a:t>最新の異常のみが検出される</a:t>
            </a:r>
            <a:endParaRPr lang="en-JP" sz="1350" dirty="0"/>
          </a:p>
        </p:txBody>
      </p:sp>
      <p:cxnSp>
        <p:nvCxnSpPr>
          <p:cNvPr id="18" name="Straight Connector 17">
            <a:extLst>
              <a:ext uri="{FF2B5EF4-FFF2-40B4-BE49-F238E27FC236}">
                <a16:creationId xmlns:a16="http://schemas.microsoft.com/office/drawing/2014/main" id="{E5D5F630-5006-0AE1-43D2-F84F509C3E06}"/>
              </a:ext>
            </a:extLst>
          </p:cNvPr>
          <p:cNvCxnSpPr>
            <a:cxnSpLocks/>
          </p:cNvCxnSpPr>
          <p:nvPr/>
        </p:nvCxnSpPr>
        <p:spPr>
          <a:xfrm flipV="1">
            <a:off x="5176837" y="3963718"/>
            <a:ext cx="5795963" cy="4915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CCB9488-2F44-645E-E1C9-CB7A496FA0BF}"/>
              </a:ext>
            </a:extLst>
          </p:cNvPr>
          <p:cNvCxnSpPr>
            <a:cxnSpLocks/>
          </p:cNvCxnSpPr>
          <p:nvPr/>
        </p:nvCxnSpPr>
        <p:spPr>
          <a:xfrm flipH="1">
            <a:off x="0" y="4343687"/>
            <a:ext cx="51768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B99D5DB-0847-D4D6-9864-A8F397FE27C2}"/>
              </a:ext>
            </a:extLst>
          </p:cNvPr>
          <p:cNvSpPr txBox="1"/>
          <p:nvPr/>
        </p:nvSpPr>
        <p:spPr>
          <a:xfrm>
            <a:off x="266702" y="4343687"/>
            <a:ext cx="5023962" cy="2585323"/>
          </a:xfrm>
          <a:prstGeom prst="rect">
            <a:avLst/>
          </a:prstGeom>
          <a:noFill/>
        </p:spPr>
        <p:txBody>
          <a:bodyPr wrap="square">
            <a:spAutoFit/>
          </a:bodyPr>
          <a:lstStyle/>
          <a:p>
            <a:r>
              <a:rPr lang="en-US" altLang="ja-JP" sz="1350" dirty="0">
                <a:latin typeface="Meiryo" panose="020B0604030504040204" pitchFamily="34" charset="-128"/>
                <a:ea typeface="Meiryo" panose="020B0604030504040204" pitchFamily="34" charset="-128"/>
              </a:rPr>
              <a:t>step3: IVᵢ,</a:t>
            </a:r>
            <a:r>
              <a:rPr lang="el-GR" altLang="ja-JP" sz="1350" dirty="0">
                <a:latin typeface="Meiryo" panose="020B0604030504040204" pitchFamily="34" charset="-128"/>
                <a:ea typeface="Meiryo" panose="020B0604030504040204" pitchFamily="34" charset="-128"/>
              </a:rPr>
              <a:t>α ← (</a:t>
            </a:r>
            <a:r>
              <a:rPr lang="en-US" altLang="ja-JP" sz="1350" dirty="0">
                <a:latin typeface="Meiryo" panose="020B0604030504040204" pitchFamily="34" charset="-128"/>
                <a:ea typeface="Meiryo" panose="020B0604030504040204" pitchFamily="34" charset="-128"/>
              </a:rPr>
              <a:t>w+1, LSI+xc, SSI+xc², SRᵢⱼ+rᵢrⱼ, tc)</a:t>
            </a:r>
          </a:p>
          <a:p>
            <a:r>
              <a:rPr lang="ja-JP" altLang="en-US" sz="1350">
                <a:latin typeface="Meiryo" panose="020B0604030504040204" pitchFamily="34" charset="-128"/>
                <a:ea typeface="Meiryo" panose="020B0604030504040204" pitchFamily="34" charset="-128"/>
              </a:rPr>
              <a:t>新しいパケットの情報を加える</a:t>
            </a:r>
          </a:p>
          <a:p>
            <a:r>
              <a:rPr lang="ja-JP" altLang="en-US" sz="1350">
                <a:latin typeface="Meiryo" panose="020B0604030504040204" pitchFamily="34" charset="-128"/>
                <a:ea typeface="Meiryo" panose="020B0604030504040204" pitchFamily="34" charset="-128"/>
              </a:rPr>
              <a:t>新しいパケット</a:t>
            </a:r>
            <a:r>
              <a:rPr lang="en-US" altLang="ja-JP" sz="1350" dirty="0">
                <a:latin typeface="Meiryo" panose="020B0604030504040204" pitchFamily="34" charset="-128"/>
                <a:ea typeface="Meiryo" panose="020B0604030504040204" pitchFamily="34" charset="-128"/>
              </a:rPr>
              <a:t>:</a:t>
            </a:r>
          </a:p>
          <a:p>
            <a:r>
              <a:rPr lang="en-US" altLang="ja-JP" sz="1350" dirty="0">
                <a:latin typeface="Meiryo" panose="020B0604030504040204" pitchFamily="34" charset="-128"/>
                <a:ea typeface="Meiryo" panose="020B0604030504040204" pitchFamily="34" charset="-128"/>
              </a:rPr>
              <a:t>xc = 512</a:t>
            </a:r>
            <a:r>
              <a:rPr lang="ja-JP" altLang="en-US" sz="1350">
                <a:latin typeface="Meiryo" panose="020B0604030504040204" pitchFamily="34" charset="-128"/>
                <a:ea typeface="Meiryo" panose="020B0604030504040204" pitchFamily="34" charset="-128"/>
              </a:rPr>
              <a:t>バイト（新しいパケットのサイズ）</a:t>
            </a:r>
          </a:p>
          <a:p>
            <a:r>
              <a:rPr lang="en-US" altLang="ja-JP" sz="1350" dirty="0">
                <a:latin typeface="Meiryo" panose="020B0604030504040204" pitchFamily="34" charset="-128"/>
                <a:ea typeface="Meiryo" panose="020B0604030504040204" pitchFamily="34" charset="-128"/>
              </a:rPr>
              <a:t>rᵢ = 10 </a:t>
            </a:r>
            <a:r>
              <a:rPr lang="ja-JP" altLang="en-US" sz="1350">
                <a:latin typeface="Meiryo" panose="020B0604030504040204" pitchFamily="34" charset="-128"/>
                <a:ea typeface="Meiryo" panose="020B0604030504040204" pitchFamily="34" charset="-128"/>
              </a:rPr>
              <a:t>パケット</a:t>
            </a:r>
            <a:r>
              <a:rPr lang="en-US" altLang="ja-JP" sz="1350" dirty="0">
                <a:latin typeface="Meiryo" panose="020B0604030504040204" pitchFamily="34" charset="-128"/>
                <a:ea typeface="Meiryo" panose="020B0604030504040204" pitchFamily="34" charset="-128"/>
              </a:rPr>
              <a:t>/</a:t>
            </a:r>
            <a:r>
              <a:rPr lang="ja-JP" altLang="en-US" sz="1350">
                <a:latin typeface="Meiryo" panose="020B0604030504040204" pitchFamily="34" charset="-128"/>
                <a:ea typeface="Meiryo" panose="020B0604030504040204" pitchFamily="34" charset="-128"/>
              </a:rPr>
              <a:t>秒（速度）</a:t>
            </a:r>
          </a:p>
          <a:p>
            <a:r>
              <a:rPr lang="en-US" altLang="ja-JP" sz="1350" dirty="0">
                <a:latin typeface="Meiryo" panose="020B0604030504040204" pitchFamily="34" charset="-128"/>
                <a:ea typeface="Meiryo" panose="020B0604030504040204" pitchFamily="34" charset="-128"/>
              </a:rPr>
              <a:t>rⱼ = 8 </a:t>
            </a:r>
            <a:r>
              <a:rPr lang="ja-JP" altLang="en-US" sz="1350">
                <a:latin typeface="Meiryo" panose="020B0604030504040204" pitchFamily="34" charset="-128"/>
                <a:ea typeface="Meiryo" panose="020B0604030504040204" pitchFamily="34" charset="-128"/>
              </a:rPr>
              <a:t>パケット</a:t>
            </a:r>
            <a:r>
              <a:rPr lang="en-US" altLang="ja-JP" sz="1350" dirty="0">
                <a:latin typeface="Meiryo" panose="020B0604030504040204" pitchFamily="34" charset="-128"/>
                <a:ea typeface="Meiryo" panose="020B0604030504040204" pitchFamily="34" charset="-128"/>
              </a:rPr>
              <a:t>/</a:t>
            </a:r>
            <a:r>
              <a:rPr lang="ja-JP" altLang="en-US" sz="1350">
                <a:latin typeface="Meiryo" panose="020B0604030504040204" pitchFamily="34" charset="-128"/>
                <a:ea typeface="Meiryo" panose="020B0604030504040204" pitchFamily="34" charset="-128"/>
              </a:rPr>
              <a:t>秒</a:t>
            </a:r>
          </a:p>
          <a:p>
            <a:r>
              <a:rPr lang="ja-JP" altLang="en-US" sz="1350">
                <a:latin typeface="Meiryo" panose="020B0604030504040204" pitchFamily="34" charset="-128"/>
                <a:ea typeface="Meiryo" panose="020B0604030504040204" pitchFamily="34" charset="-128"/>
              </a:rPr>
              <a:t>更新後の値</a:t>
            </a:r>
            <a:r>
              <a:rPr lang="en-US" altLang="ja-JP" sz="1350" dirty="0">
                <a:latin typeface="Meiryo" panose="020B0604030504040204" pitchFamily="34" charset="-128"/>
                <a:ea typeface="Meiryo" panose="020B0604030504040204" pitchFamily="34" charset="-128"/>
              </a:rPr>
              <a:t>:</a:t>
            </a:r>
          </a:p>
          <a:p>
            <a:r>
              <a:rPr lang="en-US" altLang="ja-JP" sz="1350" dirty="0">
                <a:latin typeface="Meiryo" panose="020B0604030504040204" pitchFamily="34" charset="-128"/>
                <a:ea typeface="Meiryo" panose="020B0604030504040204" pitchFamily="34" charset="-128"/>
              </a:rPr>
              <a:t>w = 90 + 1 = 91</a:t>
            </a:r>
            <a:r>
              <a:rPr lang="ja-JP" altLang="en-US" sz="1350">
                <a:latin typeface="Meiryo" panose="020B0604030504040204" pitchFamily="34" charset="-128"/>
                <a:ea typeface="Meiryo" panose="020B0604030504040204" pitchFamily="34" charset="-128"/>
              </a:rPr>
              <a:t>　（パケット数が増加）</a:t>
            </a:r>
          </a:p>
          <a:p>
            <a:r>
              <a:rPr lang="en-US" altLang="ja-JP" sz="1350" dirty="0">
                <a:latin typeface="Meiryo" panose="020B0604030504040204" pitchFamily="34" charset="-128"/>
                <a:ea typeface="Meiryo" panose="020B0604030504040204" pitchFamily="34" charset="-128"/>
              </a:rPr>
              <a:t>LSI = 4500 + 512 = 5012</a:t>
            </a:r>
            <a:r>
              <a:rPr lang="ja-JP" altLang="en-US" sz="1350">
                <a:latin typeface="Meiryo" panose="020B0604030504040204" pitchFamily="34" charset="-128"/>
                <a:ea typeface="Meiryo" panose="020B0604030504040204" pitchFamily="34" charset="-128"/>
              </a:rPr>
              <a:t>　（総サイズが増加）</a:t>
            </a:r>
          </a:p>
          <a:p>
            <a:r>
              <a:rPr lang="en-US" altLang="ja-JP" sz="1350" dirty="0">
                <a:latin typeface="Meiryo" panose="020B0604030504040204" pitchFamily="34" charset="-128"/>
                <a:ea typeface="Meiryo" panose="020B0604030504040204" pitchFamily="34" charset="-128"/>
              </a:rPr>
              <a:t>SSI = 22500 + 512² = 22500 + 262144 = 284644</a:t>
            </a:r>
          </a:p>
          <a:p>
            <a:r>
              <a:rPr lang="en-US" altLang="ja-JP" sz="1350" dirty="0">
                <a:latin typeface="Meiryo" panose="020B0604030504040204" pitchFamily="34" charset="-128"/>
                <a:ea typeface="Meiryo" panose="020B0604030504040204" pitchFamily="34" charset="-128"/>
              </a:rPr>
              <a:t>SRᵢⱼ = 1080 + (10×8) = 1080 + 80 = 1160</a:t>
            </a:r>
          </a:p>
          <a:p>
            <a:r>
              <a:rPr lang="en-US" altLang="ja-JP" sz="1350" dirty="0">
                <a:latin typeface="Meiryo" panose="020B0604030504040204" pitchFamily="34" charset="-128"/>
                <a:ea typeface="Meiryo" panose="020B0604030504040204" pitchFamily="34" charset="-128"/>
              </a:rPr>
              <a:t>tc = 10:00:05</a:t>
            </a:r>
            <a:r>
              <a:rPr lang="ja-JP" altLang="en-US" sz="1350">
                <a:latin typeface="Meiryo" panose="020B0604030504040204" pitchFamily="34" charset="-128"/>
                <a:ea typeface="Meiryo" panose="020B0604030504040204" pitchFamily="34" charset="-128"/>
              </a:rPr>
              <a:t>　（現在時刻）</a:t>
            </a:r>
          </a:p>
        </p:txBody>
      </p:sp>
      <p:sp>
        <p:nvSpPr>
          <p:cNvPr id="5" name="TextBox 4">
            <a:extLst>
              <a:ext uri="{FF2B5EF4-FFF2-40B4-BE49-F238E27FC236}">
                <a16:creationId xmlns:a16="http://schemas.microsoft.com/office/drawing/2014/main" id="{84A10F3E-0FC6-1C0B-2F76-8CEE24FF194B}"/>
              </a:ext>
            </a:extLst>
          </p:cNvPr>
          <p:cNvSpPr txBox="1"/>
          <p:nvPr/>
        </p:nvSpPr>
        <p:spPr>
          <a:xfrm>
            <a:off x="266702" y="1529121"/>
            <a:ext cx="4598907" cy="2377574"/>
          </a:xfrm>
          <a:prstGeom prst="rect">
            <a:avLst/>
          </a:prstGeom>
          <a:noFill/>
        </p:spPr>
        <p:txBody>
          <a:bodyPr wrap="square">
            <a:spAutoFit/>
          </a:bodyPr>
          <a:lstStyle/>
          <a:p>
            <a:r>
              <a:rPr lang="en-US" altLang="ja-JP" sz="1350" b="1" dirty="0"/>
              <a:t>Step2:</a:t>
            </a:r>
            <a:r>
              <a:rPr lang="ja-JP" altLang="en-US" sz="1350"/>
              <a:t> </a:t>
            </a:r>
            <a:r>
              <a:rPr lang="en-US" sz="1350" dirty="0"/>
              <a:t>IVᵢ,</a:t>
            </a:r>
            <a:r>
              <a:rPr lang="el-GR" sz="1350" dirty="0"/>
              <a:t>α ← (δ</a:t>
            </a:r>
            <a:r>
              <a:rPr lang="en-US" sz="1350" dirty="0"/>
              <a:t>w, </a:t>
            </a:r>
            <a:r>
              <a:rPr lang="el-GR" sz="1350" dirty="0"/>
              <a:t>δ</a:t>
            </a:r>
            <a:r>
              <a:rPr lang="en-US" sz="1350" dirty="0"/>
              <a:t>LSI, </a:t>
            </a:r>
            <a:r>
              <a:rPr lang="el-GR" sz="1350" dirty="0"/>
              <a:t>δ</a:t>
            </a:r>
            <a:r>
              <a:rPr lang="en-US" sz="1350" dirty="0"/>
              <a:t>SSI, </a:t>
            </a:r>
            <a:r>
              <a:rPr lang="el-GR" sz="1350" dirty="0"/>
              <a:t>δ</a:t>
            </a:r>
            <a:r>
              <a:rPr lang="en-US" sz="1350" dirty="0"/>
              <a:t>SRᵢⱼ, tc)</a:t>
            </a:r>
            <a:br>
              <a:rPr lang="en-US" sz="1350" dirty="0"/>
            </a:br>
            <a:r>
              <a:rPr lang="ja-JP" altLang="en-US" sz="1350"/>
              <a:t>古い情報に </a:t>
            </a:r>
            <a:r>
              <a:rPr lang="el-GR" sz="1350" dirty="0"/>
              <a:t>δ </a:t>
            </a:r>
            <a:r>
              <a:rPr lang="ja-JP" altLang="en-US" sz="1350"/>
              <a:t>を掛けて重みを減少させる</a:t>
            </a:r>
          </a:p>
          <a:p>
            <a:r>
              <a:rPr lang="ja-JP" altLang="en-US" sz="1350"/>
              <a:t>以前の </a:t>
            </a:r>
            <a:r>
              <a:rPr lang="en-US" sz="1350" dirty="0"/>
              <a:t>IVᵢ, </a:t>
            </a:r>
            <a:r>
              <a:rPr lang="el-GR" sz="1350" dirty="0"/>
              <a:t>α:</a:t>
            </a:r>
            <a:r>
              <a:rPr lang="en-US" sz="1350" dirty="0"/>
              <a:t>    </a:t>
            </a:r>
            <a:r>
              <a:rPr lang="ja-JP" altLang="en-US" sz="1350"/>
              <a:t>減衰係数</a:t>
            </a:r>
            <a:r>
              <a:rPr lang="en-US" altLang="ja-JP" sz="1350" dirty="0"/>
              <a:t>:</a:t>
            </a:r>
            <a:r>
              <a:rPr lang="ja-JP" altLang="en-US" sz="1350"/>
              <a:t> </a:t>
            </a:r>
            <a:r>
              <a:rPr lang="el-GR" sz="1350" dirty="0"/>
              <a:t>δ = 0.9（1</a:t>
            </a:r>
            <a:r>
              <a:rPr lang="ja-JP" altLang="en-US" sz="1350"/>
              <a:t>秒経過）</a:t>
            </a:r>
            <a:endParaRPr lang="el-GR" sz="1350" dirty="0"/>
          </a:p>
          <a:p>
            <a:pPr>
              <a:buFont typeface="Arial" panose="020B0604020202020204" pitchFamily="34" charset="0"/>
              <a:buChar char="•"/>
            </a:pPr>
            <a:r>
              <a:rPr lang="en-US" sz="1350" dirty="0"/>
              <a:t>w = 100　（</a:t>
            </a:r>
            <a:r>
              <a:rPr lang="ja-JP" altLang="en-US" sz="1350"/>
              <a:t>総パケット数）</a:t>
            </a:r>
            <a:r>
              <a:rPr lang="en-US" sz="1350" dirty="0"/>
              <a:t> w = 0.9 × 100 = 90</a:t>
            </a:r>
            <a:endParaRPr lang="ja-JP" altLang="en-US" sz="1350"/>
          </a:p>
          <a:p>
            <a:pPr>
              <a:buFont typeface="Arial" panose="020B0604020202020204" pitchFamily="34" charset="0"/>
              <a:buChar char="•"/>
            </a:pPr>
            <a:r>
              <a:rPr lang="en-US" sz="1350" dirty="0"/>
              <a:t>LSI = 5000　（</a:t>
            </a:r>
            <a:r>
              <a:rPr lang="ja-JP" altLang="en-US" sz="1350"/>
              <a:t>総サイズ）</a:t>
            </a:r>
            <a:r>
              <a:rPr lang="en-US" altLang="ja-JP" sz="1350" dirty="0"/>
              <a:t> </a:t>
            </a:r>
            <a:r>
              <a:rPr lang="en-US" sz="1350" dirty="0"/>
              <a:t>LSI = 0.9 × 5000 = 4500</a:t>
            </a:r>
            <a:endParaRPr lang="ja-JP" altLang="en-US" sz="1350"/>
          </a:p>
          <a:p>
            <a:pPr>
              <a:buFont typeface="Arial" panose="020B0604020202020204" pitchFamily="34" charset="0"/>
              <a:buChar char="•"/>
            </a:pPr>
            <a:r>
              <a:rPr lang="en-US" sz="1350" dirty="0"/>
              <a:t>SSI = 25000　（</a:t>
            </a:r>
            <a:r>
              <a:rPr lang="ja-JP" altLang="en-US" sz="1350"/>
              <a:t>二乗和）</a:t>
            </a:r>
            <a:r>
              <a:rPr lang="en-US" altLang="ja-JP" sz="1350" dirty="0"/>
              <a:t>   </a:t>
            </a:r>
            <a:r>
              <a:rPr lang="en-US" sz="1350" dirty="0"/>
              <a:t> 0.9 × 1200 = 1080</a:t>
            </a:r>
            <a:endParaRPr lang="ja-JP" altLang="en-US" sz="1350"/>
          </a:p>
          <a:p>
            <a:pPr>
              <a:buFont typeface="Arial" panose="020B0604020202020204" pitchFamily="34" charset="0"/>
              <a:buChar char="•"/>
            </a:pPr>
            <a:r>
              <a:rPr lang="en-US" sz="1350" dirty="0"/>
              <a:t>SRᵢⱼ = 1200　（</a:t>
            </a:r>
            <a:r>
              <a:rPr lang="ja-JP" altLang="en-US" sz="1350"/>
              <a:t>速度の相関）</a:t>
            </a:r>
            <a:r>
              <a:rPr lang="en-US" sz="1350" dirty="0"/>
              <a:t>0.9 × 1200 = 1080</a:t>
            </a:r>
            <a:endParaRPr lang="mn-MN" sz="1350" dirty="0"/>
          </a:p>
          <a:p>
            <a:br>
              <a:rPr lang="ja-JP" altLang="en-US" sz="1350"/>
            </a:br>
            <a:r>
              <a:rPr lang="ja-JP" altLang="en-US" sz="1350"/>
              <a:t>以前</a:t>
            </a:r>
            <a:r>
              <a:rPr lang="en-US" altLang="ja-JP" sz="1350" dirty="0"/>
              <a:t>: </a:t>
            </a:r>
            <a:r>
              <a:rPr lang="ja-JP" altLang="en-US" sz="1350"/>
              <a:t>「</a:t>
            </a:r>
            <a:r>
              <a:rPr lang="en-US" altLang="ja-JP" sz="1350" dirty="0"/>
              <a:t>100</a:t>
            </a:r>
            <a:r>
              <a:rPr lang="ja-JP" altLang="en-US" sz="1350"/>
              <a:t>個のパケットを観測した」</a:t>
            </a:r>
            <a:br>
              <a:rPr lang="ja-JP" altLang="en-US" sz="1350"/>
            </a:br>
            <a:r>
              <a:rPr lang="ja-JP" altLang="en-US" sz="1350"/>
              <a:t>現在</a:t>
            </a:r>
            <a:r>
              <a:rPr lang="en-US" altLang="ja-JP" sz="1350" dirty="0"/>
              <a:t>: </a:t>
            </a:r>
            <a:r>
              <a:rPr lang="ja-JP" altLang="en-US" sz="1350"/>
              <a:t>「</a:t>
            </a:r>
            <a:r>
              <a:rPr lang="en-US" altLang="ja-JP" sz="1350" dirty="0"/>
              <a:t>90</a:t>
            </a:r>
            <a:r>
              <a:rPr lang="ja-JP" altLang="en-US" sz="1350"/>
              <a:t>個のパケットを覚えていて、</a:t>
            </a:r>
            <a:r>
              <a:rPr lang="en-US" altLang="ja-JP" sz="1350" dirty="0"/>
              <a:t>10</a:t>
            </a:r>
            <a:r>
              <a:rPr lang="ja-JP" altLang="en-US" sz="1350"/>
              <a:t>個のパケットは忘れた」</a:t>
            </a:r>
          </a:p>
        </p:txBody>
      </p:sp>
    </p:spTree>
    <p:extLst>
      <p:ext uri="{BB962C8B-B14F-4D97-AF65-F5344CB8AC3E}">
        <p14:creationId xmlns:p14="http://schemas.microsoft.com/office/powerpoint/2010/main" val="4191796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0318CA3-DF71-2DFE-B028-3D1A36FA480C}"/>
              </a:ext>
            </a:extLst>
          </p:cNvPr>
          <p:cNvSpPr txBox="1"/>
          <p:nvPr/>
        </p:nvSpPr>
        <p:spPr>
          <a:xfrm>
            <a:off x="3757264" y="1182475"/>
            <a:ext cx="6237434" cy="391517"/>
          </a:xfrm>
          <a:prstGeom prst="rect">
            <a:avLst/>
          </a:prstGeom>
          <a:noFill/>
        </p:spPr>
        <p:txBody>
          <a:bodyPr wrap="square">
            <a:spAutoFit/>
          </a:bodyPr>
          <a:lstStyle/>
          <a:p>
            <a:r>
              <a:rPr lang="en-US" sz="1944" dirty="0">
                <a:latin typeface="Meiryo" panose="020B0604030504040204" pitchFamily="34" charset="-128"/>
                <a:ea typeface="Meiryo" panose="020B0604030504040204" pitchFamily="34" charset="-128"/>
                <a:cs typeface="Times New Roman" panose="02020603050405020304" pitchFamily="18" charset="0"/>
              </a:rPr>
              <a:t>Algorithm1 Update </a:t>
            </a:r>
            <a:endParaRPr lang="mn-MN" altLang="ja-JP" sz="1944" dirty="0">
              <a:latin typeface="Meiryo" panose="020B0604030504040204" pitchFamily="34" charset="-128"/>
              <a:ea typeface="Meiryo" panose="020B0604030504040204" pitchFamily="34" charset="-128"/>
            </a:endParaRPr>
          </a:p>
        </p:txBody>
      </p:sp>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48</a:t>
            </a:fld>
            <a:endParaRPr lang="en-JP"/>
          </a:p>
        </p:txBody>
      </p:sp>
      <p:cxnSp>
        <p:nvCxnSpPr>
          <p:cNvPr id="2" name="Straight Connector 1">
            <a:extLst>
              <a:ext uri="{FF2B5EF4-FFF2-40B4-BE49-F238E27FC236}">
                <a16:creationId xmlns:a16="http://schemas.microsoft.com/office/drawing/2014/main" id="{0E7B9086-4B32-B28F-C8E0-84F259B045F0}"/>
              </a:ext>
            </a:extLst>
          </p:cNvPr>
          <p:cNvCxnSpPr>
            <a:cxnSpLocks/>
          </p:cNvCxnSpPr>
          <p:nvPr/>
        </p:nvCxnSpPr>
        <p:spPr>
          <a:xfrm>
            <a:off x="5118259" y="1676896"/>
            <a:ext cx="101441" cy="552400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C16A7DA-7233-5695-C51A-3583072AC48C}"/>
              </a:ext>
            </a:extLst>
          </p:cNvPr>
          <p:cNvPicPr>
            <a:picLocks noChangeAspect="1"/>
          </p:cNvPicPr>
          <p:nvPr/>
        </p:nvPicPr>
        <p:blipFill>
          <a:blip r:embed="rId2"/>
          <a:stretch>
            <a:fillRect/>
          </a:stretch>
        </p:blipFill>
        <p:spPr>
          <a:xfrm>
            <a:off x="5434251" y="1648447"/>
            <a:ext cx="4173379" cy="2340049"/>
          </a:xfrm>
          <a:prstGeom prst="rect">
            <a:avLst/>
          </a:prstGeom>
        </p:spPr>
      </p:pic>
      <p:sp>
        <p:nvSpPr>
          <p:cNvPr id="7" name="TextBox 6">
            <a:extLst>
              <a:ext uri="{FF2B5EF4-FFF2-40B4-BE49-F238E27FC236}">
                <a16:creationId xmlns:a16="http://schemas.microsoft.com/office/drawing/2014/main" id="{0CF43AA2-3344-2A25-85A9-D229F3EA2237}"/>
              </a:ext>
            </a:extLst>
          </p:cNvPr>
          <p:cNvSpPr txBox="1"/>
          <p:nvPr/>
        </p:nvSpPr>
        <p:spPr>
          <a:xfrm>
            <a:off x="894039" y="1750685"/>
            <a:ext cx="2589016" cy="300082"/>
          </a:xfrm>
          <a:prstGeom prst="rect">
            <a:avLst/>
          </a:prstGeom>
          <a:noFill/>
        </p:spPr>
        <p:txBody>
          <a:bodyPr wrap="square">
            <a:spAutoFit/>
          </a:bodyPr>
          <a:lstStyle/>
          <a:p>
            <a:r>
              <a:rPr lang="en-JP" sz="1350" dirty="0"/>
              <a:t>….の朝ごはん、覚えていますか</a:t>
            </a:r>
          </a:p>
        </p:txBody>
      </p:sp>
      <p:sp>
        <p:nvSpPr>
          <p:cNvPr id="12" name="TextBox 11">
            <a:extLst>
              <a:ext uri="{FF2B5EF4-FFF2-40B4-BE49-F238E27FC236}">
                <a16:creationId xmlns:a16="http://schemas.microsoft.com/office/drawing/2014/main" id="{E02511BA-8D0B-5EF7-65F3-87A9271F97E5}"/>
              </a:ext>
            </a:extLst>
          </p:cNvPr>
          <p:cNvSpPr txBox="1"/>
          <p:nvPr/>
        </p:nvSpPr>
        <p:spPr>
          <a:xfrm>
            <a:off x="887256" y="2190276"/>
            <a:ext cx="2381249" cy="1546577"/>
          </a:xfrm>
          <a:prstGeom prst="rect">
            <a:avLst/>
          </a:prstGeom>
          <a:noFill/>
        </p:spPr>
        <p:txBody>
          <a:bodyPr wrap="square">
            <a:spAutoFit/>
          </a:bodyPr>
          <a:lstStyle/>
          <a:p>
            <a:r>
              <a:rPr lang="en-JP" sz="1350" dirty="0"/>
              <a:t>1分 → 100％ 覚えている </a:t>
            </a:r>
          </a:p>
          <a:p>
            <a:r>
              <a:rPr lang="en-JP" sz="1350" dirty="0"/>
              <a:t>1時間 → 80％ 覚えている </a:t>
            </a:r>
          </a:p>
          <a:p>
            <a:r>
              <a:rPr lang="en-JP" sz="1350" dirty="0"/>
              <a:t>1日 → 30％ 覚えている </a:t>
            </a:r>
          </a:p>
          <a:p>
            <a:r>
              <a:rPr lang="en-JP" sz="1350" dirty="0"/>
              <a:t>1か月 → 5％ ほぼ忘れる </a:t>
            </a:r>
          </a:p>
          <a:p>
            <a:endParaRPr lang="en-JP" sz="1350" dirty="0"/>
          </a:p>
          <a:p>
            <a:r>
              <a:rPr lang="en-JP" sz="1350" dirty="0"/>
              <a:t> Algorithm 1 は“人間の記憶”と同じ仕組みで動く</a:t>
            </a:r>
          </a:p>
        </p:txBody>
      </p:sp>
      <p:sp>
        <p:nvSpPr>
          <p:cNvPr id="15" name="TextBox 14">
            <a:extLst>
              <a:ext uri="{FF2B5EF4-FFF2-40B4-BE49-F238E27FC236}">
                <a16:creationId xmlns:a16="http://schemas.microsoft.com/office/drawing/2014/main" id="{4F0655B4-3E91-7693-B223-384F6B6097FF}"/>
              </a:ext>
            </a:extLst>
          </p:cNvPr>
          <p:cNvSpPr txBox="1"/>
          <p:nvPr/>
        </p:nvSpPr>
        <p:spPr>
          <a:xfrm>
            <a:off x="5682137" y="4293314"/>
            <a:ext cx="4389120" cy="1962076"/>
          </a:xfrm>
          <a:prstGeom prst="rect">
            <a:avLst/>
          </a:prstGeom>
          <a:noFill/>
        </p:spPr>
        <p:txBody>
          <a:bodyPr wrap="square">
            <a:spAutoFit/>
          </a:bodyPr>
          <a:lstStyle/>
          <a:p>
            <a:r>
              <a:rPr lang="en-US" altLang="ja-JP" sz="1350" b="1" dirty="0">
                <a:latin typeface="Meiryo" panose="020B0604030504040204" pitchFamily="34" charset="-128"/>
                <a:ea typeface="Meiryo" panose="020B0604030504040204" pitchFamily="34" charset="-128"/>
              </a:rPr>
              <a:t>step1:</a:t>
            </a:r>
            <a:r>
              <a:rPr lang="ja-JP" altLang="en-US" sz="1350">
                <a:latin typeface="Meiryo" panose="020B0604030504040204" pitchFamily="34" charset="-128"/>
                <a:ea typeface="Meiryo" panose="020B0604030504040204" pitchFamily="34" charset="-128"/>
              </a:rPr>
              <a:t> </a:t>
            </a:r>
            <a:r>
              <a:rPr lang="el-GR" sz="1350" dirty="0">
                <a:latin typeface="Meiryo" panose="020B0604030504040204" pitchFamily="34" charset="-128"/>
                <a:ea typeface="Meiryo" panose="020B0604030504040204" pitchFamily="34" charset="-128"/>
              </a:rPr>
              <a:t>δ ← </a:t>
            </a:r>
            <a:r>
              <a:rPr lang="en-US" sz="1350" dirty="0">
                <a:latin typeface="Meiryo" panose="020B0604030504040204" pitchFamily="34" charset="-128"/>
                <a:ea typeface="Meiryo" panose="020B0604030504040204" pitchFamily="34" charset="-128"/>
              </a:rPr>
              <a:t>d</a:t>
            </a:r>
            <a:r>
              <a:rPr lang="el-GR" sz="1350" dirty="0">
                <a:latin typeface="Meiryo" panose="020B0604030504040204" pitchFamily="34" charset="-128"/>
                <a:ea typeface="Meiryo" panose="020B0604030504040204" pitchFamily="34" charset="-128"/>
              </a:rPr>
              <a:t>α(</a:t>
            </a:r>
            <a:r>
              <a:rPr lang="en-US" sz="1350" dirty="0">
                <a:latin typeface="Meiryo" panose="020B0604030504040204" pitchFamily="34" charset="-128"/>
                <a:ea typeface="Meiryo" panose="020B0604030504040204" pitchFamily="34" charset="-128"/>
              </a:rPr>
              <a:t>tc - tL)</a:t>
            </a:r>
            <a:br>
              <a:rPr lang="en-US" sz="1350" dirty="0">
                <a:latin typeface="Meiryo" panose="020B0604030504040204" pitchFamily="34" charset="-128"/>
                <a:ea typeface="Meiryo" panose="020B0604030504040204" pitchFamily="34" charset="-128"/>
              </a:rPr>
            </a:br>
            <a:r>
              <a:rPr lang="ja-JP" altLang="en-US" sz="1350">
                <a:latin typeface="Meiryo" panose="020B0604030504040204" pitchFamily="34" charset="-128"/>
                <a:ea typeface="Meiryo" panose="020B0604030504040204" pitchFamily="34" charset="-128"/>
              </a:rPr>
              <a:t>時間経過を考慮して減衰係数（</a:t>
            </a:r>
            <a:r>
              <a:rPr lang="en-US" sz="1350" dirty="0">
                <a:latin typeface="Meiryo" panose="020B0604030504040204" pitchFamily="34" charset="-128"/>
                <a:ea typeface="Meiryo" panose="020B0604030504040204" pitchFamily="34" charset="-128"/>
              </a:rPr>
              <a:t>Damping weight）</a:t>
            </a:r>
            <a:r>
              <a:rPr lang="ja-JP" altLang="en-US" sz="1350">
                <a:latin typeface="Meiryo" panose="020B0604030504040204" pitchFamily="34" charset="-128"/>
                <a:ea typeface="Meiryo" panose="020B0604030504040204" pitchFamily="34" charset="-128"/>
              </a:rPr>
              <a:t>を計算する</a:t>
            </a:r>
          </a:p>
          <a:p>
            <a:r>
              <a:rPr lang="ja-JP" altLang="en-US" sz="1350">
                <a:latin typeface="Meiryo" panose="020B0604030504040204" pitchFamily="34" charset="-128"/>
                <a:ea typeface="Meiryo" panose="020B0604030504040204" pitchFamily="34" charset="-128"/>
              </a:rPr>
              <a:t>数学的表現</a:t>
            </a:r>
            <a:r>
              <a:rPr lang="en-US" altLang="ja-JP" sz="1350" b="1" dirty="0">
                <a:latin typeface="Meiryo" panose="020B0604030504040204" pitchFamily="34" charset="-128"/>
                <a:ea typeface="Meiryo" panose="020B0604030504040204" pitchFamily="34" charset="-128"/>
              </a:rPr>
              <a:t>:</a:t>
            </a:r>
            <a:endParaRPr lang="ja-JP" altLang="en-US" sz="1350">
              <a:latin typeface="Meiryo" panose="020B0604030504040204" pitchFamily="34" charset="-128"/>
              <a:ea typeface="Meiryo" panose="020B0604030504040204" pitchFamily="34" charset="-128"/>
            </a:endParaRPr>
          </a:p>
          <a:p>
            <a:pPr>
              <a:buFont typeface="Arial" panose="020B0604020202020204" pitchFamily="34" charset="0"/>
              <a:buChar char="•"/>
            </a:pPr>
            <a:r>
              <a:rPr lang="en-US" sz="1350" dirty="0">
                <a:latin typeface="Meiryo" panose="020B0604030504040204" pitchFamily="34" charset="-128"/>
                <a:ea typeface="Meiryo" panose="020B0604030504040204" pitchFamily="34" charset="-128"/>
              </a:rPr>
              <a:t>tc = </a:t>
            </a:r>
            <a:r>
              <a:rPr lang="ja-JP" altLang="en-US" sz="1350">
                <a:latin typeface="Meiryo" panose="020B0604030504040204" pitchFamily="34" charset="-128"/>
                <a:ea typeface="Meiryo" panose="020B0604030504040204" pitchFamily="34" charset="-128"/>
              </a:rPr>
              <a:t>現在の時刻（例</a:t>
            </a:r>
            <a:r>
              <a:rPr lang="en-US" altLang="ja-JP" sz="1350" dirty="0">
                <a:latin typeface="Meiryo" panose="020B0604030504040204" pitchFamily="34" charset="-128"/>
                <a:ea typeface="Meiryo" panose="020B0604030504040204" pitchFamily="34" charset="-128"/>
              </a:rPr>
              <a:t>: 10:00:05</a:t>
            </a:r>
            <a:r>
              <a:rPr lang="ja-JP" altLang="en-US" sz="135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1350" dirty="0">
                <a:latin typeface="Meiryo" panose="020B0604030504040204" pitchFamily="34" charset="-128"/>
                <a:ea typeface="Meiryo" panose="020B0604030504040204" pitchFamily="34" charset="-128"/>
              </a:rPr>
              <a:t>tL = </a:t>
            </a:r>
            <a:r>
              <a:rPr lang="ja-JP" altLang="en-US" sz="1350">
                <a:latin typeface="Meiryo" panose="020B0604030504040204" pitchFamily="34" charset="-128"/>
                <a:ea typeface="Meiryo" panose="020B0604030504040204" pitchFamily="34" charset="-128"/>
              </a:rPr>
              <a:t>最後に更新した時刻（例</a:t>
            </a:r>
            <a:r>
              <a:rPr lang="en-US" altLang="ja-JP" sz="1350" dirty="0">
                <a:latin typeface="Meiryo" panose="020B0604030504040204" pitchFamily="34" charset="-128"/>
                <a:ea typeface="Meiryo" panose="020B0604030504040204" pitchFamily="34" charset="-128"/>
              </a:rPr>
              <a:t>: 10:00:00</a:t>
            </a:r>
            <a:r>
              <a:rPr lang="ja-JP" altLang="en-US" sz="1350">
                <a:latin typeface="Meiryo" panose="020B0604030504040204" pitchFamily="34" charset="-128"/>
                <a:ea typeface="Meiryo" panose="020B0604030504040204" pitchFamily="34" charset="-128"/>
              </a:rPr>
              <a:t>）</a:t>
            </a:r>
          </a:p>
          <a:p>
            <a:pP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経過時間 </a:t>
            </a:r>
            <a:r>
              <a:rPr lang="en-US" altLang="ja-JP" sz="1350" dirty="0">
                <a:latin typeface="Meiryo" panose="020B0604030504040204" pitchFamily="34" charset="-128"/>
                <a:ea typeface="Meiryo" panose="020B0604030504040204" pitchFamily="34" charset="-128"/>
              </a:rPr>
              <a:t>= </a:t>
            </a:r>
            <a:r>
              <a:rPr lang="en-US" sz="1350" dirty="0">
                <a:latin typeface="Meiryo" panose="020B0604030504040204" pitchFamily="34" charset="-128"/>
                <a:ea typeface="Meiryo" panose="020B0604030504040204" pitchFamily="34" charset="-128"/>
              </a:rPr>
              <a:t>tc - tL = 5</a:t>
            </a:r>
            <a:r>
              <a:rPr lang="ja-JP" altLang="en-US" sz="1350">
                <a:latin typeface="Meiryo" panose="020B0604030504040204" pitchFamily="34" charset="-128"/>
                <a:ea typeface="Meiryo" panose="020B0604030504040204" pitchFamily="34" charset="-128"/>
              </a:rPr>
              <a:t>秒</a:t>
            </a:r>
          </a:p>
          <a:p>
            <a:r>
              <a:rPr lang="el-GR" sz="1350" dirty="0">
                <a:latin typeface="Meiryo" panose="020B0604030504040204" pitchFamily="34" charset="-128"/>
                <a:ea typeface="Meiryo" panose="020B0604030504040204" pitchFamily="34" charset="-128"/>
              </a:rPr>
              <a:t>δ = </a:t>
            </a:r>
            <a:r>
              <a:rPr lang="en-US" sz="1350" dirty="0">
                <a:latin typeface="Meiryo" panose="020B0604030504040204" pitchFamily="34" charset="-128"/>
                <a:ea typeface="Meiryo" panose="020B0604030504040204" pitchFamily="34" charset="-128"/>
              </a:rPr>
              <a:t>d</a:t>
            </a:r>
            <a:r>
              <a:rPr lang="el-GR" sz="1350" dirty="0">
                <a:latin typeface="Meiryo" panose="020B0604030504040204" pitchFamily="34" charset="-128"/>
                <a:ea typeface="Meiryo" panose="020B0604030504040204" pitchFamily="34" charset="-128"/>
              </a:rPr>
              <a:t>α(5) = </a:t>
            </a:r>
            <a:r>
              <a:rPr lang="en-US" sz="1350" dirty="0">
                <a:latin typeface="Meiryo" panose="020B0604030504040204" pitchFamily="34" charset="-128"/>
                <a:ea typeface="Meiryo" panose="020B0604030504040204" pitchFamily="34" charset="-128"/>
              </a:rPr>
              <a:t>e^(−</a:t>
            </a:r>
            <a:r>
              <a:rPr lang="el-GR" sz="1350" dirty="0">
                <a:latin typeface="Meiryo" panose="020B0604030504040204" pitchFamily="34" charset="-128"/>
                <a:ea typeface="Meiryo" panose="020B0604030504040204" pitchFamily="34" charset="-128"/>
              </a:rPr>
              <a:t>λ × 5</a:t>
            </a:r>
            <a:r>
              <a:rPr lang="el-GR" sz="1350" dirty="0"/>
              <a:t>)</a:t>
            </a:r>
          </a:p>
          <a:p>
            <a:endParaRPr lang="en-JP" sz="1350" dirty="0"/>
          </a:p>
        </p:txBody>
      </p:sp>
      <p:cxnSp>
        <p:nvCxnSpPr>
          <p:cNvPr id="18" name="Straight Connector 17">
            <a:extLst>
              <a:ext uri="{FF2B5EF4-FFF2-40B4-BE49-F238E27FC236}">
                <a16:creationId xmlns:a16="http://schemas.microsoft.com/office/drawing/2014/main" id="{E5D5F630-5006-0AE1-43D2-F84F509C3E06}"/>
              </a:ext>
            </a:extLst>
          </p:cNvPr>
          <p:cNvCxnSpPr>
            <a:cxnSpLocks/>
          </p:cNvCxnSpPr>
          <p:nvPr/>
        </p:nvCxnSpPr>
        <p:spPr>
          <a:xfrm flipV="1">
            <a:off x="5176837" y="3963718"/>
            <a:ext cx="5795963" cy="4915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CCB9488-2F44-645E-E1C9-CB7A496FA0BF}"/>
              </a:ext>
            </a:extLst>
          </p:cNvPr>
          <p:cNvCxnSpPr>
            <a:cxnSpLocks/>
          </p:cNvCxnSpPr>
          <p:nvPr/>
        </p:nvCxnSpPr>
        <p:spPr>
          <a:xfrm flipH="1">
            <a:off x="0" y="4343687"/>
            <a:ext cx="51768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B99D5DB-0847-D4D6-9864-A8F397FE27C2}"/>
              </a:ext>
            </a:extLst>
          </p:cNvPr>
          <p:cNvSpPr txBox="1"/>
          <p:nvPr/>
        </p:nvSpPr>
        <p:spPr>
          <a:xfrm>
            <a:off x="660085" y="4674502"/>
            <a:ext cx="3533297" cy="1546577"/>
          </a:xfrm>
          <a:prstGeom prst="rect">
            <a:avLst/>
          </a:prstGeom>
          <a:noFill/>
        </p:spPr>
        <p:txBody>
          <a:bodyPr wrap="square">
            <a:spAutoFit/>
          </a:bodyPr>
          <a:lstStyle/>
          <a:p>
            <a:r>
              <a:rPr lang="ja-JP" altLang="en-US" sz="1350" b="1">
                <a:latin typeface="Meiryo" panose="020B0604030504040204" pitchFamily="34" charset="-128"/>
                <a:ea typeface="Meiryo" panose="020B0604030504040204" pitchFamily="34" charset="-128"/>
              </a:rPr>
              <a:t>入力 </a:t>
            </a:r>
            <a:r>
              <a:rPr lang="en-US" altLang="ja-JP" sz="1350" b="1" dirty="0">
                <a:latin typeface="Meiryo" panose="020B0604030504040204" pitchFamily="34" charset="-128"/>
                <a:ea typeface="Meiryo" panose="020B0604030504040204" pitchFamily="34" charset="-128"/>
              </a:rPr>
              <a:t>(</a:t>
            </a:r>
            <a:r>
              <a:rPr lang="en-US" sz="1350" b="1" dirty="0">
                <a:latin typeface="Meiryo" panose="020B0604030504040204" pitchFamily="34" charset="-128"/>
                <a:ea typeface="Meiryo" panose="020B0604030504040204" pitchFamily="34" charset="-128"/>
              </a:rPr>
              <a:t>Input):</a:t>
            </a:r>
            <a:br>
              <a:rPr lang="en-US" sz="1350" dirty="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IVᵢ,</a:t>
            </a:r>
            <a:r>
              <a:rPr lang="el-GR" sz="1350" dirty="0">
                <a:latin typeface="Meiryo" panose="020B0604030504040204" pitchFamily="34" charset="-128"/>
                <a:ea typeface="Meiryo" panose="020B0604030504040204" pitchFamily="34" charset="-128"/>
              </a:rPr>
              <a:t>α = </a:t>
            </a:r>
            <a:r>
              <a:rPr lang="ja-JP" altLang="en-US" sz="1350">
                <a:latin typeface="Meiryo" panose="020B0604030504040204" pitchFamily="34" charset="-128"/>
                <a:ea typeface="Meiryo" panose="020B0604030504040204" pitchFamily="34" charset="-128"/>
              </a:rPr>
              <a:t>以前の情報（古い統計）</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xc = </a:t>
            </a:r>
            <a:r>
              <a:rPr lang="ja-JP" altLang="en-US" sz="1350">
                <a:latin typeface="Meiryo" panose="020B0604030504040204" pitchFamily="34" charset="-128"/>
                <a:ea typeface="Meiryo" panose="020B0604030504040204" pitchFamily="34" charset="-128"/>
              </a:rPr>
              <a:t>新しく到着したパケットのサイズ</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tc = </a:t>
            </a:r>
            <a:r>
              <a:rPr lang="ja-JP" altLang="en-US" sz="1350">
                <a:latin typeface="Meiryo" panose="020B0604030504040204" pitchFamily="34" charset="-128"/>
                <a:ea typeface="Meiryo" panose="020B0604030504040204" pitchFamily="34" charset="-128"/>
              </a:rPr>
              <a:t>現在の時刻</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rⱼ = </a:t>
            </a:r>
            <a:r>
              <a:rPr lang="ja-JP" altLang="en-US" sz="1350">
                <a:latin typeface="Meiryo" panose="020B0604030504040204" pitchFamily="34" charset="-128"/>
                <a:ea typeface="Meiryo" panose="020B0604030504040204" pitchFamily="34" charset="-128"/>
              </a:rPr>
              <a:t>パケットの速度</a:t>
            </a:r>
          </a:p>
          <a:p>
            <a:r>
              <a:rPr lang="ja-JP" altLang="en-US" sz="1350" b="1">
                <a:latin typeface="Meiryo" panose="020B0604030504040204" pitchFamily="34" charset="-128"/>
                <a:ea typeface="Meiryo" panose="020B0604030504040204" pitchFamily="34" charset="-128"/>
              </a:rPr>
              <a:t>出力 </a:t>
            </a:r>
            <a:r>
              <a:rPr lang="en-US" altLang="ja-JP" sz="1350" b="1" dirty="0">
                <a:latin typeface="Meiryo" panose="020B0604030504040204" pitchFamily="34" charset="-128"/>
                <a:ea typeface="Meiryo" panose="020B0604030504040204" pitchFamily="34" charset="-128"/>
              </a:rPr>
              <a:t>(</a:t>
            </a:r>
            <a:r>
              <a:rPr lang="en-US" sz="1350" b="1" dirty="0">
                <a:latin typeface="Meiryo" panose="020B0604030504040204" pitchFamily="34" charset="-128"/>
                <a:ea typeface="Meiryo" panose="020B0604030504040204" pitchFamily="34" charset="-128"/>
              </a:rPr>
              <a:t>Output):</a:t>
            </a:r>
            <a:br>
              <a:rPr lang="en-US" sz="1350" dirty="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IVᵢ,</a:t>
            </a:r>
            <a:r>
              <a:rPr lang="el-GR" sz="1350" dirty="0">
                <a:latin typeface="Meiryo" panose="020B0604030504040204" pitchFamily="34" charset="-128"/>
                <a:ea typeface="Meiryo" panose="020B0604030504040204" pitchFamily="34" charset="-128"/>
              </a:rPr>
              <a:t>α = </a:t>
            </a:r>
            <a:r>
              <a:rPr lang="ja-JP" altLang="en-US" sz="1350">
                <a:latin typeface="Meiryo" panose="020B0604030504040204" pitchFamily="34" charset="-128"/>
                <a:ea typeface="Meiryo" panose="020B0604030504040204" pitchFamily="34" charset="-128"/>
              </a:rPr>
              <a:t>更新された情報</a:t>
            </a:r>
          </a:p>
        </p:txBody>
      </p:sp>
    </p:spTree>
    <p:extLst>
      <p:ext uri="{BB962C8B-B14F-4D97-AF65-F5344CB8AC3E}">
        <p14:creationId xmlns:p14="http://schemas.microsoft.com/office/powerpoint/2010/main" val="992953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BACA59-73E6-F90F-F8DD-C80B33ED5BDB}"/>
              </a:ext>
            </a:extLst>
          </p:cNvPr>
          <p:cNvSpPr>
            <a:spLocks noGrp="1"/>
          </p:cNvSpPr>
          <p:nvPr>
            <p:ph type="sldNum" sz="quarter" idx="12"/>
          </p:nvPr>
        </p:nvSpPr>
        <p:spPr/>
        <p:txBody>
          <a:bodyPr/>
          <a:lstStyle/>
          <a:p>
            <a:fld id="{BB44241B-2579-694C-B40C-A1E3D5F0E4EC}" type="slidenum">
              <a:rPr lang="en-JP" smtClean="0"/>
              <a:pPr/>
              <a:t>49</a:t>
            </a:fld>
            <a:endParaRPr lang="en-JP" dirty="0"/>
          </a:p>
        </p:txBody>
      </p:sp>
      <p:pic>
        <p:nvPicPr>
          <p:cNvPr id="5" name="Picture 4">
            <a:extLst>
              <a:ext uri="{FF2B5EF4-FFF2-40B4-BE49-F238E27FC236}">
                <a16:creationId xmlns:a16="http://schemas.microsoft.com/office/drawing/2014/main" id="{4A035061-E5E1-A05E-CE50-D0961A541EA7}"/>
              </a:ext>
            </a:extLst>
          </p:cNvPr>
          <p:cNvPicPr>
            <a:picLocks noChangeAspect="1"/>
          </p:cNvPicPr>
          <p:nvPr/>
        </p:nvPicPr>
        <p:blipFill>
          <a:blip r:embed="rId3"/>
          <a:stretch>
            <a:fillRect/>
          </a:stretch>
        </p:blipFill>
        <p:spPr>
          <a:xfrm>
            <a:off x="457200" y="2161019"/>
            <a:ext cx="9191625" cy="2653508"/>
          </a:xfrm>
          <a:prstGeom prst="rect">
            <a:avLst/>
          </a:prstGeom>
        </p:spPr>
      </p:pic>
      <p:sp>
        <p:nvSpPr>
          <p:cNvPr id="7" name="TextBox 6">
            <a:extLst>
              <a:ext uri="{FF2B5EF4-FFF2-40B4-BE49-F238E27FC236}">
                <a16:creationId xmlns:a16="http://schemas.microsoft.com/office/drawing/2014/main" id="{B31B52F4-1D98-E81B-0DA3-57C22DB3D19D}"/>
              </a:ext>
            </a:extLst>
          </p:cNvPr>
          <p:cNvSpPr txBox="1"/>
          <p:nvPr/>
        </p:nvSpPr>
        <p:spPr>
          <a:xfrm>
            <a:off x="242886" y="1074256"/>
            <a:ext cx="9772650"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機械学習は、データの利用方法によってさまざまな形態がある、</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画像認識に強い </a:t>
            </a:r>
            <a:r>
              <a:rPr lang="en-US" dirty="0">
                <a:latin typeface="Meiryo" panose="020B0604030504040204" pitchFamily="34" charset="-128"/>
                <a:ea typeface="Meiryo" panose="020B0604030504040204" pitchFamily="34" charset="-128"/>
              </a:rPr>
              <a:t>Convolutional Neural Network (CNN)、</a:t>
            </a:r>
            <a:r>
              <a:rPr lang="ja-JP" altLang="en-US">
                <a:latin typeface="Meiryo" panose="020B0604030504040204" pitchFamily="34" charset="-128"/>
                <a:ea typeface="Meiryo" panose="020B0604030504040204" pitchFamily="34" charset="-128"/>
              </a:rPr>
              <a:t>時系列データに適した </a:t>
            </a:r>
            <a:r>
              <a:rPr lang="en-US" dirty="0">
                <a:latin typeface="Meiryo" panose="020B0604030504040204" pitchFamily="34" charset="-128"/>
                <a:ea typeface="Meiryo" panose="020B0604030504040204" pitchFamily="34" charset="-128"/>
              </a:rPr>
              <a:t>Long Short-Term Memory (LSTM)、</a:t>
            </a:r>
            <a:r>
              <a:rPr lang="ja-JP" altLang="en-US">
                <a:latin typeface="Meiryo" panose="020B0604030504040204" pitchFamily="34" charset="-128"/>
                <a:ea typeface="Meiryo" panose="020B0604030504040204" pitchFamily="34" charset="-128"/>
              </a:rPr>
              <a:t>そしてデータのパターンを学習する他のモデルが含まれる</a:t>
            </a:r>
            <a:r>
              <a:rPr lang="mn-MN" altLang="ja-JP" dirty="0">
                <a:latin typeface="Meiryo" panose="020B0604030504040204" pitchFamily="34" charset="-128"/>
                <a:ea typeface="Meiryo" panose="020B0604030504040204" pitchFamily="34" charset="-128"/>
              </a:rPr>
              <a:t>.</a:t>
            </a:r>
            <a:endParaRPr lang="en-US" altLang="ja-JP"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16C03D71-C237-2E8A-F85A-1190146EE86D}"/>
              </a:ext>
            </a:extLst>
          </p:cNvPr>
          <p:cNvSpPr txBox="1"/>
          <p:nvPr/>
        </p:nvSpPr>
        <p:spPr>
          <a:xfrm>
            <a:off x="609600" y="5216352"/>
            <a:ext cx="5486400" cy="715581"/>
          </a:xfrm>
          <a:prstGeom prst="rect">
            <a:avLst/>
          </a:prstGeom>
          <a:noFill/>
        </p:spPr>
        <p:txBody>
          <a:bodyPr wrap="square">
            <a:spAutoFit/>
          </a:bodyPr>
          <a:lstStyle/>
          <a:p>
            <a:pPr algn="l"/>
            <a:endParaRPr lang="en-JP" sz="1350" dirty="0">
              <a:latin typeface="Roboto" panose="02000000000000000000" pitchFamily="2" charset="0"/>
            </a:endParaRPr>
          </a:p>
          <a:p>
            <a:br>
              <a:rPr lang="en-JP" sz="1350" dirty="0"/>
            </a:br>
            <a:endParaRPr lang="en-JP" sz="1350" dirty="0"/>
          </a:p>
        </p:txBody>
      </p:sp>
      <p:sp>
        <p:nvSpPr>
          <p:cNvPr id="13" name="TextBox 12">
            <a:extLst>
              <a:ext uri="{FF2B5EF4-FFF2-40B4-BE49-F238E27FC236}">
                <a16:creationId xmlns:a16="http://schemas.microsoft.com/office/drawing/2014/main" id="{FBDF35BE-B120-D651-0516-55FCA273094C}"/>
              </a:ext>
            </a:extLst>
          </p:cNvPr>
          <p:cNvSpPr txBox="1"/>
          <p:nvPr/>
        </p:nvSpPr>
        <p:spPr>
          <a:xfrm>
            <a:off x="2583770" y="4102371"/>
            <a:ext cx="5486400" cy="715581"/>
          </a:xfrm>
          <a:prstGeom prst="rect">
            <a:avLst/>
          </a:prstGeom>
          <a:noFill/>
        </p:spPr>
        <p:txBody>
          <a:bodyPr wrap="square">
            <a:spAutoFit/>
          </a:bodyPr>
          <a:lstStyle/>
          <a:p>
            <a:pPr algn="l"/>
            <a:endParaRPr lang="en-JP" sz="1350" dirty="0">
              <a:latin typeface="Roboto" panose="02000000000000000000" pitchFamily="2" charset="0"/>
            </a:endParaRPr>
          </a:p>
          <a:p>
            <a:br>
              <a:rPr lang="en-JP" sz="1350" dirty="0"/>
            </a:br>
            <a:endParaRPr lang="en-JP" sz="1350" dirty="0"/>
          </a:p>
        </p:txBody>
      </p:sp>
      <p:sp>
        <p:nvSpPr>
          <p:cNvPr id="14" name="TextBox 13">
            <a:extLst>
              <a:ext uri="{FF2B5EF4-FFF2-40B4-BE49-F238E27FC236}">
                <a16:creationId xmlns:a16="http://schemas.microsoft.com/office/drawing/2014/main" id="{0CBC6B55-1447-18E0-A9A8-7149DB7371FC}"/>
              </a:ext>
            </a:extLst>
          </p:cNvPr>
          <p:cNvSpPr txBox="1"/>
          <p:nvPr/>
        </p:nvSpPr>
        <p:spPr>
          <a:xfrm>
            <a:off x="668135" y="5216352"/>
            <a:ext cx="4266315" cy="1938992"/>
          </a:xfrm>
          <a:prstGeom prst="rect">
            <a:avLst/>
          </a:prstGeom>
          <a:noFill/>
        </p:spPr>
        <p:txBody>
          <a:bodyPr wrap="square" rtlCol="0">
            <a:spAutoFit/>
          </a:bodyPr>
          <a:lstStyle/>
          <a:p>
            <a:r>
              <a:rPr lang="en-US" altLang="ja-JP" sz="2400" b="1" dirty="0">
                <a:latin typeface="Meiryo" panose="020B0604030504040204" pitchFamily="34" charset="-128"/>
                <a:ea typeface="Meiryo" panose="020B0604030504040204" pitchFamily="34" charset="-128"/>
              </a:rPr>
              <a:t>CNN</a:t>
            </a:r>
            <a:r>
              <a:rPr lang="ja-JP" altLang="mn-MN" sz="2400" b="1">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特徴</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画像や映像などの</a:t>
            </a:r>
            <a:r>
              <a:rPr lang="en-US" altLang="ja-JP" sz="2400" dirty="0">
                <a:latin typeface="Meiryo" panose="020B0604030504040204" pitchFamily="34" charset="-128"/>
                <a:ea typeface="Meiryo" panose="020B0604030504040204" pitchFamily="34" charset="-128"/>
              </a:rPr>
              <a:t>2</a:t>
            </a:r>
            <a:r>
              <a:rPr lang="ja-JP" altLang="en-US" sz="2400">
                <a:latin typeface="Meiryo" panose="020B0604030504040204" pitchFamily="34" charset="-128"/>
                <a:ea typeface="Meiryo" panose="020B0604030504040204" pitchFamily="34" charset="-128"/>
              </a:rPr>
              <a:t>次元データから</a:t>
            </a:r>
            <a:r>
              <a:rPr lang="en-US" sz="2400" b="0" i="0" dirty="0">
                <a:solidFill>
                  <a:srgbClr val="222222"/>
                </a:solidFill>
                <a:effectLst/>
                <a:latin typeface="Helvetica Neue" panose="02000503000000020004" pitchFamily="2" charset="0"/>
              </a:rPr>
              <a:t>localized</a:t>
            </a:r>
            <a:r>
              <a:rPr lang="ja-JP" altLang="en-US" sz="2400">
                <a:latin typeface="Meiryo" panose="020B0604030504040204" pitchFamily="34" charset="-128"/>
                <a:ea typeface="Meiryo" panose="020B0604030504040204" pitchFamily="34" charset="-128"/>
              </a:rPr>
              <a:t>パターンを</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自動的に抽出し、高精度な認識を可能</a:t>
            </a:r>
            <a:r>
              <a:rPr lang="mn-MN"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p:txBody>
      </p:sp>
      <p:sp>
        <p:nvSpPr>
          <p:cNvPr id="20" name="TextBox 19">
            <a:extLst>
              <a:ext uri="{FF2B5EF4-FFF2-40B4-BE49-F238E27FC236}">
                <a16:creationId xmlns:a16="http://schemas.microsoft.com/office/drawing/2014/main" id="{8FDA600E-5945-506C-267F-803063021D8C}"/>
              </a:ext>
            </a:extLst>
          </p:cNvPr>
          <p:cNvSpPr txBox="1"/>
          <p:nvPr/>
        </p:nvSpPr>
        <p:spPr>
          <a:xfrm>
            <a:off x="5601892" y="4570021"/>
            <a:ext cx="4761308" cy="2954655"/>
          </a:xfrm>
          <a:prstGeom prst="rect">
            <a:avLst/>
          </a:prstGeom>
          <a:noFill/>
        </p:spPr>
        <p:txBody>
          <a:bodyPr wrap="square">
            <a:spAutoFit/>
          </a:bodyPr>
          <a:lstStyle/>
          <a:p>
            <a:endParaRPr lang="en-US" altLang="ja-JP" dirty="0"/>
          </a:p>
          <a:p>
            <a:endParaRPr lang="en-US" altLang="ja-JP" sz="2400" dirty="0">
              <a:latin typeface="Meiryo" panose="020B0604030504040204" pitchFamily="34" charset="-128"/>
              <a:ea typeface="Meiryo" panose="020B0604030504040204" pitchFamily="34" charset="-128"/>
            </a:endParaRPr>
          </a:p>
          <a:p>
            <a:r>
              <a:rPr lang="en-US" altLang="ja-JP" sz="2400" b="1" dirty="0">
                <a:latin typeface="Meiryo" panose="020B0604030504040204" pitchFamily="34" charset="-128"/>
                <a:ea typeface="Meiryo" panose="020B0604030504040204" pitchFamily="34" charset="-128"/>
              </a:rPr>
              <a:t>LSTM</a:t>
            </a:r>
            <a:r>
              <a:rPr lang="ja-JP" altLang="mn-MN" sz="2400" b="1">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特徴</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過去の情報を「記憶」しながら学習し、時間的特徴を持つデータの長期依存関係を効果的に捉えることができる</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B566246D-EC46-148F-A96F-798BB8B67875}"/>
              </a:ext>
            </a:extLst>
          </p:cNvPr>
          <p:cNvSpPr txBox="1"/>
          <p:nvPr/>
        </p:nvSpPr>
        <p:spPr>
          <a:xfrm>
            <a:off x="609599" y="332945"/>
            <a:ext cx="9039225" cy="861774"/>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en-JP" sz="3200" b="1" dirty="0">
                <a:latin typeface="Meiryo" panose="020B0604030504040204" pitchFamily="34" charset="-128"/>
                <a:ea typeface="Meiryo" panose="020B0604030504040204" pitchFamily="34" charset="-128"/>
              </a:rPr>
              <a:t>Machine learning types</a:t>
            </a:r>
            <a:r>
              <a:rPr lang="mn-MN"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2/1</a:t>
            </a:r>
            <a:endParaRPr lang="mn-MN" sz="3200" b="1" dirty="0">
              <a:latin typeface="Meiryo" panose="020B0604030504040204" pitchFamily="34" charset="-128"/>
              <a:ea typeface="Meiryo" panose="020B0604030504040204" pitchFamily="34" charset="-128"/>
            </a:endParaRPr>
          </a:p>
          <a:p>
            <a:endParaRPr lang="en-JP"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408887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5AA789-EFA8-CC35-9238-13E5359AF903}"/>
              </a:ext>
            </a:extLst>
          </p:cNvPr>
          <p:cNvSpPr>
            <a:spLocks noGrp="1"/>
          </p:cNvSpPr>
          <p:nvPr>
            <p:ph type="sldNum" sz="quarter" idx="12"/>
          </p:nvPr>
        </p:nvSpPr>
        <p:spPr/>
        <p:txBody>
          <a:bodyPr/>
          <a:lstStyle/>
          <a:p>
            <a:fld id="{BB44241B-2579-694C-B40C-A1E3D5F0E4EC}" type="slidenum">
              <a:rPr lang="en-JP" smtClean="0"/>
              <a:pPr/>
              <a:t>50</a:t>
            </a:fld>
            <a:endParaRPr lang="en-JP" dirty="0"/>
          </a:p>
        </p:txBody>
      </p:sp>
      <p:sp>
        <p:nvSpPr>
          <p:cNvPr id="6" name="TextBox 5">
            <a:extLst>
              <a:ext uri="{FF2B5EF4-FFF2-40B4-BE49-F238E27FC236}">
                <a16:creationId xmlns:a16="http://schemas.microsoft.com/office/drawing/2014/main" id="{384E9576-072A-4F86-AB28-8390026F43F0}"/>
              </a:ext>
            </a:extLst>
          </p:cNvPr>
          <p:cNvSpPr txBox="1"/>
          <p:nvPr/>
        </p:nvSpPr>
        <p:spPr>
          <a:xfrm>
            <a:off x="537210" y="334897"/>
            <a:ext cx="5486400" cy="473206"/>
          </a:xfrm>
          <a:prstGeom prst="rect">
            <a:avLst/>
          </a:prstGeom>
          <a:noFill/>
        </p:spPr>
        <p:txBody>
          <a:bodyPr wrap="square">
            <a:spAutoFit/>
          </a:bodyPr>
          <a:lstStyle/>
          <a:p>
            <a:pPr marL="160016">
              <a:lnSpc>
                <a:spcPct val="150000"/>
              </a:lnSpc>
              <a:buSzPts val="2800"/>
            </a:pPr>
            <a:r>
              <a:rPr lang="ja-JP" altLang="en-US" sz="1800" b="1">
                <a:solidFill>
                  <a:srgbClr val="222222"/>
                </a:solidFill>
                <a:latin typeface="Meiryo" panose="020B0604030504040204" pitchFamily="34" charset="-128"/>
                <a:ea typeface="Meiryo" panose="020B0604030504040204" pitchFamily="34" charset="-128"/>
              </a:rPr>
              <a:t>自身の研究について</a:t>
            </a:r>
            <a:r>
              <a:rPr lang="mn-MN" altLang="ja-JP" sz="1800" b="1" dirty="0">
                <a:solidFill>
                  <a:srgbClr val="222222"/>
                </a:solidFill>
                <a:latin typeface="Meiryo" panose="020B0604030504040204" pitchFamily="34" charset="-128"/>
                <a:ea typeface="Meiryo" panose="020B0604030504040204" pitchFamily="34" charset="-128"/>
              </a:rPr>
              <a:t> </a:t>
            </a:r>
            <a:r>
              <a:rPr lang="en-US" altLang="ja-JP" sz="1800" b="1" dirty="0">
                <a:solidFill>
                  <a:srgbClr val="222222"/>
                </a:solidFill>
                <a:latin typeface="Meiryo" panose="020B0604030504040204" pitchFamily="34" charset="-128"/>
                <a:ea typeface="Meiryo" panose="020B0604030504040204" pitchFamily="34" charset="-128"/>
              </a:rPr>
              <a:t>2/</a:t>
            </a:r>
            <a:r>
              <a:rPr lang="mn-MN" altLang="ja-JP" b="1" dirty="0">
                <a:solidFill>
                  <a:srgbClr val="222222"/>
                </a:solidFill>
                <a:latin typeface="Meiryo" panose="020B0604030504040204" pitchFamily="34" charset="-128"/>
                <a:ea typeface="Meiryo" panose="020B0604030504040204" pitchFamily="34" charset="-128"/>
              </a:rPr>
              <a:t>2</a:t>
            </a:r>
            <a:endParaRPr lang="en-JP" sz="18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05050833"/>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28669</TotalTime>
  <Words>5119</Words>
  <Application>Microsoft Macintosh PowerPoint</Application>
  <PresentationFormat>Custom</PresentationFormat>
  <Paragraphs>969</Paragraphs>
  <Slides>51</Slides>
  <Notes>36</Notes>
  <HiddenSlides>3</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51</vt:i4>
      </vt:variant>
    </vt:vector>
  </HeadingPairs>
  <TitlesOfParts>
    <vt:vector size="68" baseType="lpstr">
      <vt:lpstr>Meiryo</vt:lpstr>
      <vt:lpstr>Meiryo UI</vt:lpstr>
      <vt:lpstr>MS</vt:lpstr>
      <vt:lpstr>quote-cjk-patch</vt:lpstr>
      <vt:lpstr>Source Han Sans</vt:lpstr>
      <vt:lpstr>游ゴシック Light</vt:lpstr>
      <vt:lpstr>Arial</vt:lpstr>
      <vt:lpstr>Calibri</vt:lpstr>
      <vt:lpstr>Calibri Light</vt:lpstr>
      <vt:lpstr>Helvetica Neue</vt:lpstr>
      <vt:lpstr>Roboto</vt:lpstr>
      <vt:lpstr>Times New Roman</vt:lpstr>
      <vt:lpstr>Wingdings</vt:lpstr>
      <vt:lpstr>2_Custom Design</vt:lpstr>
      <vt:lpstr>Custom Design</vt:lpstr>
      <vt:lpstr>1_Custom Design</vt:lpstr>
      <vt:lpstr>Office Theme</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目次</vt:lpstr>
      <vt:lpstr>PowerPoint Presentation</vt:lpstr>
      <vt:lpstr>PowerPoint Presentation</vt:lpstr>
      <vt:lpstr>PowerPoint Presentation</vt:lpstr>
      <vt:lpstr>Feature Extractionの (Overview)</vt:lpstr>
      <vt:lpstr>Feature Extractionの 流れ</vt:lpstr>
      <vt:lpstr>PowerPoint Presentation</vt:lpstr>
      <vt:lpstr>PowerPoint Presentation</vt:lpstr>
      <vt:lpstr>PowerPoint Presentation</vt:lpstr>
      <vt:lpstr>Feature Extractionの アルゴリズム1 – IV_{i,α} の更新手順</vt:lpstr>
      <vt:lpstr>Feature Extractionの 例 – 実践的計算</vt:lpstr>
      <vt:lpstr>Feature Extractionの Normalization – 正規化</vt:lpstr>
      <vt:lpstr>Damped Incremental Statistics – Realguard の強み</vt:lpstr>
      <vt:lpstr>目次</vt:lpstr>
      <vt:lpstr>使用したデータセット</vt:lpstr>
      <vt:lpstr>評価環境</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52</cp:revision>
  <dcterms:created xsi:type="dcterms:W3CDTF">2025-05-25T03:58:30Z</dcterms:created>
  <dcterms:modified xsi:type="dcterms:W3CDTF">2025-11-26T15:27:11Z</dcterms:modified>
</cp:coreProperties>
</file>