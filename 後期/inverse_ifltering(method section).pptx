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59" r:id="rId2"/>
    <p:sldId id="258" r:id="rId3"/>
    <p:sldId id="257" r:id="rId4"/>
    <p:sldId id="260" r:id="rId5"/>
    <p:sldId id="261" r:id="rId6"/>
    <p:sldId id="262" r:id="rId7"/>
    <p:sldId id="263" r:id="rId8"/>
    <p:sldId id="265" r:id="rId9"/>
    <p:sldId id="264" r:id="rId10"/>
    <p:sldId id="266" r:id="rId11"/>
    <p:sldId id="267" r:id="rId12"/>
    <p:sldId id="268" r:id="rId13"/>
    <p:sldId id="269" r:id="rId14"/>
    <p:sldId id="270" r:id="rId15"/>
    <p:sldId id="271"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4"/>
    <p:restoredTop sz="96212"/>
  </p:normalViewPr>
  <p:slideViewPr>
    <p:cSldViewPr snapToGrid="0">
      <p:cViewPr varScale="1">
        <p:scale>
          <a:sx n="121" d="100"/>
          <a:sy n="121" d="100"/>
        </p:scale>
        <p:origin x="12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9693D9-5FEC-7C4B-B4CF-A4FD3917869D}" type="datetimeFigureOut">
              <a:rPr lang="en-JP" smtClean="0"/>
              <a:t>2026/01/20</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7F09A5-D9DD-0549-B9F9-48C412A20592}" type="slidenum">
              <a:rPr lang="en-JP" smtClean="0"/>
              <a:t>‹#›</a:t>
            </a:fld>
            <a:endParaRPr lang="en-JP"/>
          </a:p>
        </p:txBody>
      </p:sp>
    </p:spTree>
    <p:extLst>
      <p:ext uri="{BB962C8B-B14F-4D97-AF65-F5344CB8AC3E}">
        <p14:creationId xmlns:p14="http://schemas.microsoft.com/office/powerpoint/2010/main" val="3568419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単一チャネル方式では不可能だった</a:t>
            </a:r>
            <a:br>
              <a:rPr lang="ja-JP" altLang="en-US"/>
            </a:br>
            <a:r>
              <a:rPr lang="ja-JP" altLang="en-US" b="1"/>
              <a:t>厳密な逆フィルタリングを理論的に実現</a:t>
            </a:r>
            <a:endParaRPr lang="ja-JP" altLang="en-US"/>
          </a:p>
          <a:p>
            <a:r>
              <a:rPr lang="ja-JP" altLang="en-US"/>
              <a:t>室内音場制御や残響除去への応用が可能</a:t>
            </a:r>
          </a:p>
          <a:p>
            <a:r>
              <a:rPr lang="ja-JP" altLang="en-US"/>
              <a:t>従来の近似的手法（</a:t>
            </a:r>
            <a:r>
              <a:rPr lang="en-US" dirty="0"/>
              <a:t>LSE）</a:t>
            </a:r>
            <a:r>
              <a:rPr lang="ja-JP" altLang="en-US"/>
              <a:t>を超えた画期的な方法</a:t>
            </a:r>
          </a:p>
          <a:p>
            <a:endParaRPr lang="en-JP" dirty="0"/>
          </a:p>
        </p:txBody>
      </p:sp>
      <p:sp>
        <p:nvSpPr>
          <p:cNvPr id="4" name="Slide Number Placeholder 3"/>
          <p:cNvSpPr>
            <a:spLocks noGrp="1"/>
          </p:cNvSpPr>
          <p:nvPr>
            <p:ph type="sldNum" sz="quarter" idx="5"/>
          </p:nvPr>
        </p:nvSpPr>
        <p:spPr/>
        <p:txBody>
          <a:bodyPr/>
          <a:lstStyle/>
          <a:p>
            <a:fld id="{497F09A5-D9DD-0549-B9F9-48C412A20592}" type="slidenum">
              <a:rPr lang="en-JP" smtClean="0"/>
              <a:t>10</a:t>
            </a:fld>
            <a:endParaRPr lang="en-JP"/>
          </a:p>
        </p:txBody>
      </p:sp>
    </p:spTree>
    <p:extLst>
      <p:ext uri="{BB962C8B-B14F-4D97-AF65-F5344CB8AC3E}">
        <p14:creationId xmlns:p14="http://schemas.microsoft.com/office/powerpoint/2010/main" val="896756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F6AC25-BD43-8041-9D81-056ECC2A3249}" type="datetimeFigureOut">
              <a:rPr lang="en-JP" smtClean="0"/>
              <a:t>2026/01/20</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581108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F6AC25-BD43-8041-9D81-056ECC2A3249}" type="datetimeFigureOut">
              <a:rPr lang="en-JP" smtClean="0"/>
              <a:t>2026/01/20</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3154692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F6AC25-BD43-8041-9D81-056ECC2A3249}" type="datetimeFigureOut">
              <a:rPr lang="en-JP" smtClean="0"/>
              <a:t>2026/01/20</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1858787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F6AC25-BD43-8041-9D81-056ECC2A3249}" type="datetimeFigureOut">
              <a:rPr lang="en-JP" smtClean="0"/>
              <a:t>2026/01/20</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4270926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F6AC25-BD43-8041-9D81-056ECC2A3249}" type="datetimeFigureOut">
              <a:rPr lang="en-JP" smtClean="0"/>
              <a:t>2026/01/20</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1222457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F6AC25-BD43-8041-9D81-056ECC2A3249}" type="datetimeFigureOut">
              <a:rPr lang="en-JP" smtClean="0"/>
              <a:t>2026/01/20</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2519661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F6AC25-BD43-8041-9D81-056ECC2A3249}" type="datetimeFigureOut">
              <a:rPr lang="en-JP" smtClean="0"/>
              <a:t>2026/01/20</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1616673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F6AC25-BD43-8041-9D81-056ECC2A3249}" type="datetimeFigureOut">
              <a:rPr lang="en-JP" smtClean="0"/>
              <a:t>2026/01/20</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2686778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F6AC25-BD43-8041-9D81-056ECC2A3249}" type="datetimeFigureOut">
              <a:rPr lang="en-JP" smtClean="0"/>
              <a:t>2026/01/20</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2458860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F6AC25-BD43-8041-9D81-056ECC2A3249}" type="datetimeFigureOut">
              <a:rPr lang="en-JP" smtClean="0"/>
              <a:t>2026/01/20</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1377721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F6AC25-BD43-8041-9D81-056ECC2A3249}" type="datetimeFigureOut">
              <a:rPr lang="en-JP" smtClean="0"/>
              <a:t>2026/01/20</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0438347C-6753-3E4D-A035-8B82C29CB07E}" type="slidenum">
              <a:rPr lang="en-JP" smtClean="0"/>
              <a:t>‹#›</a:t>
            </a:fld>
            <a:endParaRPr lang="en-JP"/>
          </a:p>
        </p:txBody>
      </p:sp>
    </p:spTree>
    <p:extLst>
      <p:ext uri="{BB962C8B-B14F-4D97-AF65-F5344CB8AC3E}">
        <p14:creationId xmlns:p14="http://schemas.microsoft.com/office/powerpoint/2010/main" val="3843462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F6AC25-BD43-8041-9D81-056ECC2A3249}" type="datetimeFigureOut">
              <a:rPr lang="en-JP" smtClean="0"/>
              <a:t>2026/01/20</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38347C-6753-3E4D-A035-8B82C29CB07E}" type="slidenum">
              <a:rPr lang="en-JP" smtClean="0"/>
              <a:t>‹#›</a:t>
            </a:fld>
            <a:endParaRPr lang="en-JP"/>
          </a:p>
        </p:txBody>
      </p:sp>
    </p:spTree>
    <p:extLst>
      <p:ext uri="{BB962C8B-B14F-4D97-AF65-F5344CB8AC3E}">
        <p14:creationId xmlns:p14="http://schemas.microsoft.com/office/powerpoint/2010/main" val="10209777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710BC3-887F-5E2D-CAAE-41A25DECE372}"/>
              </a:ext>
            </a:extLst>
          </p:cNvPr>
          <p:cNvSpPr txBox="1"/>
          <p:nvPr/>
        </p:nvSpPr>
        <p:spPr>
          <a:xfrm>
            <a:off x="690817" y="446809"/>
            <a:ext cx="8224584" cy="4708981"/>
          </a:xfrm>
          <a:prstGeom prst="rect">
            <a:avLst/>
          </a:prstGeom>
          <a:noFill/>
        </p:spPr>
        <p:txBody>
          <a:bodyPr wrap="square">
            <a:spAutoFit/>
          </a:bodyPr>
          <a:lstStyle/>
          <a:p>
            <a:pPr algn="just"/>
            <a:endParaRPr lang="en-JP" sz="2000" dirty="0">
              <a:latin typeface="Times New Roman" panose="02020603050405020304" pitchFamily="18" charset="0"/>
              <a:cs typeface="Times New Roman" panose="02020603050405020304" pitchFamily="18" charset="0"/>
            </a:endParaRPr>
          </a:p>
          <a:p>
            <a:pPr algn="just"/>
            <a:endParaRPr lang="en-JP" sz="2000" dirty="0">
              <a:latin typeface="Times New Roman" panose="02020603050405020304" pitchFamily="18" charset="0"/>
              <a:cs typeface="Times New Roman" panose="02020603050405020304" pitchFamily="18" charset="0"/>
            </a:endParaRPr>
          </a:p>
          <a:p>
            <a:pPr algn="just"/>
            <a:r>
              <a:rPr lang="en-JP" sz="2000" b="1" dirty="0">
                <a:latin typeface="Times New Roman" panose="02020603050405020304" pitchFamily="18" charset="0"/>
                <a:cs typeface="Times New Roman" panose="02020603050405020304" pitchFamily="18" charset="0"/>
              </a:rPr>
              <a:t>章構成</a:t>
            </a:r>
          </a:p>
          <a:p>
            <a:pPr algn="just"/>
            <a:endParaRPr lang="en-JP" sz="2000" dirty="0">
              <a:latin typeface="Times New Roman" panose="02020603050405020304" pitchFamily="18" charset="0"/>
              <a:cs typeface="Times New Roman" panose="02020603050405020304" pitchFamily="18" charset="0"/>
            </a:endParaRPr>
          </a:p>
          <a:p>
            <a:pPr algn="just"/>
            <a:r>
              <a:rPr lang="en-JP" sz="2000" dirty="0">
                <a:latin typeface="Times New Roman" panose="02020603050405020304" pitchFamily="18" charset="0"/>
                <a:cs typeface="Times New Roman" panose="02020603050405020304" pitchFamily="18" charset="0"/>
              </a:rPr>
              <a:t>1．INTRODUCTION</a:t>
            </a:r>
          </a:p>
          <a:p>
            <a:pPr algn="just"/>
            <a:endParaRPr lang="en-JP" sz="2000" dirty="0">
              <a:latin typeface="Times New Roman" panose="02020603050405020304" pitchFamily="18" charset="0"/>
              <a:cs typeface="Times New Roman" panose="02020603050405020304" pitchFamily="18" charset="0"/>
            </a:endParaRPr>
          </a:p>
          <a:p>
            <a:pPr algn="just"/>
            <a:r>
              <a:rPr lang="en-JP" sz="2000" dirty="0">
                <a:latin typeface="Times New Roman" panose="02020603050405020304" pitchFamily="18" charset="0"/>
                <a:cs typeface="Times New Roman" panose="02020603050405020304" pitchFamily="18" charset="0"/>
              </a:rPr>
              <a:t>2．REVIEW OF CONVENTIONAL INVERSE-FILTERING METHOD</a:t>
            </a:r>
          </a:p>
          <a:p>
            <a:pPr algn="just"/>
            <a:endParaRPr lang="en-JP" sz="2000" dirty="0">
              <a:latin typeface="Times New Roman" panose="02020603050405020304" pitchFamily="18" charset="0"/>
              <a:cs typeface="Times New Roman" panose="02020603050405020304" pitchFamily="18" charset="0"/>
            </a:endParaRPr>
          </a:p>
          <a:p>
            <a:pPr algn="just"/>
            <a:r>
              <a:rPr lang="en-JP" sz="2000" dirty="0">
                <a:latin typeface="Times New Roman" panose="02020603050405020304" pitchFamily="18" charset="0"/>
                <a:cs typeface="Times New Roman" panose="02020603050405020304" pitchFamily="18" charset="0"/>
              </a:rPr>
              <a:t>3．</a:t>
            </a:r>
            <a:r>
              <a:rPr lang="en-JP" sz="2000" b="1" dirty="0">
                <a:solidFill>
                  <a:srgbClr val="C00000"/>
                </a:solidFill>
                <a:latin typeface="Times New Roman" panose="02020603050405020304" pitchFamily="18" charset="0"/>
                <a:cs typeface="Times New Roman" panose="02020603050405020304" pitchFamily="18" charset="0"/>
              </a:rPr>
              <a:t>PRINCIPLE OF PROPOSED INVERSE-FILTERING METHOD</a:t>
            </a:r>
          </a:p>
          <a:p>
            <a:pPr algn="just"/>
            <a:endParaRPr lang="en-JP" sz="2000" dirty="0">
              <a:latin typeface="Times New Roman" panose="02020603050405020304" pitchFamily="18" charset="0"/>
              <a:cs typeface="Times New Roman" panose="02020603050405020304" pitchFamily="18" charset="0"/>
            </a:endParaRPr>
          </a:p>
          <a:p>
            <a:pPr algn="just"/>
            <a:r>
              <a:rPr lang="en-JP" sz="2000" dirty="0">
                <a:latin typeface="Times New Roman" panose="02020603050405020304" pitchFamily="18" charset="0"/>
                <a:cs typeface="Times New Roman" panose="02020603050405020304" pitchFamily="18" charset="0"/>
              </a:rPr>
              <a:t>4．COMPUTATION OF FIR FILTERS FOR EXACT INVERSE</a:t>
            </a:r>
          </a:p>
          <a:p>
            <a:pPr algn="just"/>
            <a:endParaRPr lang="en-JP" sz="2000" dirty="0">
              <a:latin typeface="Times New Roman" panose="02020603050405020304" pitchFamily="18" charset="0"/>
              <a:cs typeface="Times New Roman" panose="02020603050405020304" pitchFamily="18" charset="0"/>
            </a:endParaRPr>
          </a:p>
          <a:p>
            <a:pPr algn="just"/>
            <a:r>
              <a:rPr lang="en-JP" sz="2000" dirty="0">
                <a:latin typeface="Times New Roman" panose="02020603050405020304" pitchFamily="18" charset="0"/>
                <a:cs typeface="Times New Roman" panose="02020603050405020304" pitchFamily="18" charset="0"/>
              </a:rPr>
              <a:t>5．INVERSE-FILTERING EXPERIMENT IN A SOUND FIELD</a:t>
            </a:r>
          </a:p>
          <a:p>
            <a:pPr algn="just"/>
            <a:endParaRPr lang="en-JP" sz="2000" dirty="0">
              <a:latin typeface="Times New Roman" panose="02020603050405020304" pitchFamily="18" charset="0"/>
              <a:cs typeface="Times New Roman" panose="02020603050405020304" pitchFamily="18" charset="0"/>
            </a:endParaRPr>
          </a:p>
          <a:p>
            <a:pPr algn="just"/>
            <a:r>
              <a:rPr lang="en-JP" sz="2000" dirty="0">
                <a:latin typeface="Times New Roman" panose="02020603050405020304" pitchFamily="18" charset="0"/>
                <a:cs typeface="Times New Roman" panose="02020603050405020304" pitchFamily="18" charset="0"/>
              </a:rPr>
              <a:t>6．CONCLUSION</a:t>
            </a:r>
          </a:p>
        </p:txBody>
      </p:sp>
    </p:spTree>
    <p:extLst>
      <p:ext uri="{BB962C8B-B14F-4D97-AF65-F5344CB8AC3E}">
        <p14:creationId xmlns:p14="http://schemas.microsoft.com/office/powerpoint/2010/main" val="3529092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D03699-6069-8C92-E4F9-D03522A776BA}"/>
              </a:ext>
            </a:extLst>
          </p:cNvPr>
          <p:cNvSpPr txBox="1"/>
          <p:nvPr/>
        </p:nvSpPr>
        <p:spPr>
          <a:xfrm>
            <a:off x="1805152" y="2044227"/>
            <a:ext cx="4572000" cy="553998"/>
          </a:xfrm>
          <a:prstGeom prst="rect">
            <a:avLst/>
          </a:prstGeom>
          <a:noFill/>
        </p:spPr>
        <p:txBody>
          <a:bodyPr wrap="square">
            <a:spAutoFit/>
          </a:bodyPr>
          <a:lstStyle/>
          <a:p>
            <a:r>
              <a:rPr lang="en-JP" sz="3000" dirty="0">
                <a:latin typeface="Meiryo" panose="020B0604030504040204" pitchFamily="34" charset="-128"/>
                <a:ea typeface="Meiryo" panose="020B0604030504040204" pitchFamily="34" charset="-128"/>
              </a:rPr>
              <a:t>エコーって何だと思う？</a:t>
            </a:r>
          </a:p>
        </p:txBody>
      </p:sp>
      <p:sp>
        <p:nvSpPr>
          <p:cNvPr id="8" name="正方形/長方形 9">
            <a:extLst>
              <a:ext uri="{FF2B5EF4-FFF2-40B4-BE49-F238E27FC236}">
                <a16:creationId xmlns:a16="http://schemas.microsoft.com/office/drawing/2014/main" id="{F8E45F4C-6118-67F8-E77E-FAB9EDCC03FC}"/>
              </a:ext>
            </a:extLst>
          </p:cNvPr>
          <p:cNvSpPr/>
          <p:nvPr/>
        </p:nvSpPr>
        <p:spPr>
          <a:xfrm>
            <a:off x="1281168" y="1688114"/>
            <a:ext cx="6106886" cy="1264573"/>
          </a:xfrm>
          <a:prstGeom prst="rect">
            <a:avLst/>
          </a:prstGeom>
          <a:noFill/>
          <a:ln w="317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58"/>
          </a:p>
        </p:txBody>
      </p:sp>
      <p:sp>
        <p:nvSpPr>
          <p:cNvPr id="11" name="TextBox 10">
            <a:extLst>
              <a:ext uri="{FF2B5EF4-FFF2-40B4-BE49-F238E27FC236}">
                <a16:creationId xmlns:a16="http://schemas.microsoft.com/office/drawing/2014/main" id="{0B05994A-5723-0CD1-2EEA-99837C2FD819}"/>
              </a:ext>
            </a:extLst>
          </p:cNvPr>
          <p:cNvSpPr txBox="1"/>
          <p:nvPr/>
        </p:nvSpPr>
        <p:spPr>
          <a:xfrm>
            <a:off x="291662" y="382571"/>
            <a:ext cx="7927547" cy="434734"/>
          </a:xfrm>
          <a:prstGeom prst="rect">
            <a:avLst/>
          </a:prstGeom>
          <a:noFill/>
        </p:spPr>
        <p:txBody>
          <a:bodyPr wrap="square">
            <a:spAutoFit/>
          </a:bodyPr>
          <a:lstStyle/>
          <a:p>
            <a:pPr marL="257175" indent="-257175">
              <a:lnSpc>
                <a:spcPct val="115000"/>
              </a:lnSpc>
              <a:spcAft>
                <a:spcPts val="750"/>
              </a:spcAft>
              <a:buFont typeface="Wingdings" pitchFamily="2" charset="2"/>
              <a:buChar char=""/>
            </a:pPr>
            <a:r>
              <a:rPr lang="en-JP" sz="2000" b="1" dirty="0">
                <a:solidFill>
                  <a:srgbClr val="C00000"/>
                </a:solidFill>
                <a:latin typeface="Times New Roman" panose="02020603050405020304" pitchFamily="18" charset="0"/>
                <a:cs typeface="Times New Roman" panose="02020603050405020304" pitchFamily="18" charset="0"/>
              </a:rPr>
              <a:t>PRINCIPLE OF PROPOSED INVERSE-FILTERING METHOD</a:t>
            </a:r>
            <a:endParaRPr lang="en-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13" name="TextBox 12">
            <a:extLst>
              <a:ext uri="{FF2B5EF4-FFF2-40B4-BE49-F238E27FC236}">
                <a16:creationId xmlns:a16="http://schemas.microsoft.com/office/drawing/2014/main" id="{5DB9965E-70EA-D77D-BFF8-E5A8CBE4AAD4}"/>
              </a:ext>
            </a:extLst>
          </p:cNvPr>
          <p:cNvSpPr txBox="1"/>
          <p:nvPr/>
        </p:nvSpPr>
        <p:spPr>
          <a:xfrm>
            <a:off x="611989" y="897336"/>
            <a:ext cx="6505784" cy="369332"/>
          </a:xfrm>
          <a:prstGeom prst="rect">
            <a:avLst/>
          </a:prstGeom>
          <a:noFill/>
        </p:spPr>
        <p:txBody>
          <a:bodyPr wrap="square">
            <a:spAutoFit/>
          </a:bodyPr>
          <a:lstStyle/>
          <a:p>
            <a:pPr marL="214313" indent="-214313">
              <a:buFont typeface="Wingdings" pitchFamily="2" charset="2"/>
              <a:buChar char="Ø"/>
            </a:pPr>
            <a:r>
              <a:rPr lang="en-JP" b="1" dirty="0">
                <a:solidFill>
                  <a:schemeClr val="accent1">
                    <a:lumMod val="60000"/>
                    <a:lumOff val="40000"/>
                  </a:schemeClr>
                </a:solidFill>
                <a:latin typeface="Meiryo" panose="020B0604030504040204" pitchFamily="34" charset="-128"/>
                <a:ea typeface="Meiryo" panose="020B0604030504040204" pitchFamily="34" charset="-128"/>
              </a:rPr>
              <a:t>本研究で提案する逆フィルタリング法の基本原理</a:t>
            </a:r>
          </a:p>
        </p:txBody>
      </p:sp>
      <p:sp>
        <p:nvSpPr>
          <p:cNvPr id="15" name="TextBox 14">
            <a:extLst>
              <a:ext uri="{FF2B5EF4-FFF2-40B4-BE49-F238E27FC236}">
                <a16:creationId xmlns:a16="http://schemas.microsoft.com/office/drawing/2014/main" id="{D013219A-E070-69F5-EB26-A1A6C3F0530C}"/>
              </a:ext>
            </a:extLst>
          </p:cNvPr>
          <p:cNvSpPr txBox="1"/>
          <p:nvPr/>
        </p:nvSpPr>
        <p:spPr>
          <a:xfrm>
            <a:off x="106143" y="6547487"/>
            <a:ext cx="5218386" cy="300082"/>
          </a:xfrm>
          <a:prstGeom prst="rect">
            <a:avLst/>
          </a:prstGeom>
          <a:noFill/>
        </p:spPr>
        <p:txBody>
          <a:bodyPr wrap="square">
            <a:spAutoFit/>
          </a:bodyPr>
          <a:lstStyle/>
          <a:p>
            <a:r>
              <a:rPr lang="en-JP" sz="1350" dirty="0"/>
              <a:t>https://www.kanedayyy.jp/asp/pub/sig_ac/MINT1988paper.pdf?</a:t>
            </a:r>
          </a:p>
        </p:txBody>
      </p:sp>
      <p:pic>
        <p:nvPicPr>
          <p:cNvPr id="16" name="Picture 15">
            <a:extLst>
              <a:ext uri="{FF2B5EF4-FFF2-40B4-BE49-F238E27FC236}">
                <a16:creationId xmlns:a16="http://schemas.microsoft.com/office/drawing/2014/main" id="{6867D38E-8117-8DC9-C35E-102CA7DF1E99}"/>
              </a:ext>
            </a:extLst>
          </p:cNvPr>
          <p:cNvPicPr>
            <a:picLocks noChangeAspect="1"/>
          </p:cNvPicPr>
          <p:nvPr/>
        </p:nvPicPr>
        <p:blipFill>
          <a:blip r:embed="rId2"/>
          <a:stretch>
            <a:fillRect/>
          </a:stretch>
        </p:blipFill>
        <p:spPr>
          <a:xfrm>
            <a:off x="7388054" y="4606287"/>
            <a:ext cx="1216599" cy="1462308"/>
          </a:xfrm>
          <a:prstGeom prst="rect">
            <a:avLst/>
          </a:prstGeom>
        </p:spPr>
      </p:pic>
      <p:sp>
        <p:nvSpPr>
          <p:cNvPr id="17" name="Cloud Callout 16">
            <a:extLst>
              <a:ext uri="{FF2B5EF4-FFF2-40B4-BE49-F238E27FC236}">
                <a16:creationId xmlns:a16="http://schemas.microsoft.com/office/drawing/2014/main" id="{4A10229D-B7EF-7568-4673-C63CED2E72AA}"/>
              </a:ext>
            </a:extLst>
          </p:cNvPr>
          <p:cNvSpPr/>
          <p:nvPr/>
        </p:nvSpPr>
        <p:spPr>
          <a:xfrm>
            <a:off x="1158766" y="3494740"/>
            <a:ext cx="4475082" cy="2438636"/>
          </a:xfrm>
          <a:prstGeom prst="cloudCallout">
            <a:avLst>
              <a:gd name="adj1" fmla="val 88018"/>
              <a:gd name="adj2" fmla="val -5894"/>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mn-MN" sz="2400" dirty="0">
              <a:solidFill>
                <a:schemeClr val="tx1"/>
              </a:solidFill>
              <a:latin typeface="Meiryo" panose="020B0604030504040204" pitchFamily="34" charset="-128"/>
              <a:ea typeface="Meiryo" panose="020B0604030504040204" pitchFamily="34" charset="-128"/>
            </a:endParaRPr>
          </a:p>
          <a:p>
            <a:pPr algn="ctr"/>
            <a:endParaRPr lang="mn-MN" sz="2400" dirty="0">
              <a:solidFill>
                <a:schemeClr val="tx1"/>
              </a:solidFill>
              <a:latin typeface="Meiryo" panose="020B0604030504040204" pitchFamily="34" charset="-128"/>
              <a:ea typeface="Meiryo" panose="020B0604030504040204" pitchFamily="34" charset="-128"/>
            </a:endParaRPr>
          </a:p>
          <a:p>
            <a:pPr algn="ctr"/>
            <a:r>
              <a:rPr lang="en-JP" sz="2400" dirty="0">
                <a:solidFill>
                  <a:schemeClr val="tx1"/>
                </a:solidFill>
                <a:latin typeface="Meiryo" panose="020B0604030504040204" pitchFamily="34" charset="-128"/>
                <a:ea typeface="Meiryo" panose="020B0604030504040204" pitchFamily="34" charset="-128"/>
              </a:rPr>
              <a:t>What is an echo? Have you heard it before?</a:t>
            </a:r>
          </a:p>
          <a:p>
            <a:pPr algn="ctr"/>
            <a:endParaRPr lang="en-JP" sz="24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6419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C2F29C-15C6-83C4-FD84-5624BDAD5F73}"/>
              </a:ext>
            </a:extLst>
          </p:cNvPr>
          <p:cNvPicPr>
            <a:picLocks noChangeAspect="1"/>
          </p:cNvPicPr>
          <p:nvPr/>
        </p:nvPicPr>
        <p:blipFill>
          <a:blip r:embed="rId2"/>
          <a:stretch>
            <a:fillRect/>
          </a:stretch>
        </p:blipFill>
        <p:spPr>
          <a:xfrm>
            <a:off x="322118" y="563522"/>
            <a:ext cx="8282809" cy="4379225"/>
          </a:xfrm>
          <a:prstGeom prst="rect">
            <a:avLst/>
          </a:prstGeom>
        </p:spPr>
      </p:pic>
      <p:sp>
        <p:nvSpPr>
          <p:cNvPr id="6" name="TextBox 5">
            <a:extLst>
              <a:ext uri="{FF2B5EF4-FFF2-40B4-BE49-F238E27FC236}">
                <a16:creationId xmlns:a16="http://schemas.microsoft.com/office/drawing/2014/main" id="{117425FA-AEE8-5F0B-878B-1276E3EE0BAF}"/>
              </a:ext>
            </a:extLst>
          </p:cNvPr>
          <p:cNvSpPr txBox="1"/>
          <p:nvPr/>
        </p:nvSpPr>
        <p:spPr>
          <a:xfrm>
            <a:off x="623455" y="5121809"/>
            <a:ext cx="8198427" cy="923330"/>
          </a:xfrm>
          <a:prstGeom prst="rect">
            <a:avLst/>
          </a:prstGeom>
          <a:noFill/>
        </p:spPr>
        <p:txBody>
          <a:bodyPr wrap="square">
            <a:spAutoFit/>
          </a:bodyPr>
          <a:lstStyle/>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山で</a:t>
            </a:r>
            <a:r>
              <a:rPr lang="en-US" altLang="ja-JP" dirty="0">
                <a:latin typeface="Meiryo" panose="020B0604030504040204" pitchFamily="34" charset="-128"/>
                <a:ea typeface="Meiryo" panose="020B0604030504040204" pitchFamily="34" charset="-128"/>
              </a:rPr>
              <a:t>『</a:t>
            </a:r>
            <a:r>
              <a:rPr lang="ja-JP" altLang="en-US">
                <a:solidFill>
                  <a:srgbClr val="C00000"/>
                </a:solidFill>
                <a:latin typeface="Meiryo" panose="020B0604030504040204" pitchFamily="34" charset="-128"/>
                <a:ea typeface="Meiryo" panose="020B0604030504040204" pitchFamily="34" charset="-128"/>
              </a:rPr>
              <a:t>ヤー！</a:t>
            </a:r>
            <a:r>
              <a:rPr lang="en-US" altLang="ja-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と叫ぶと、少し時間がたってから、</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もう一度</a:t>
            </a:r>
            <a:r>
              <a:rPr lang="en-US" altLang="ja-JP" dirty="0">
                <a:latin typeface="Meiryo" panose="020B0604030504040204" pitchFamily="34" charset="-128"/>
                <a:ea typeface="Meiryo" panose="020B0604030504040204" pitchFamily="34" charset="-128"/>
              </a:rPr>
              <a:t>『</a:t>
            </a:r>
            <a:r>
              <a:rPr lang="ja-JP" altLang="en-US">
                <a:solidFill>
                  <a:srgbClr val="C00000"/>
                </a:solidFill>
                <a:latin typeface="Meiryo" panose="020B0604030504040204" pitchFamily="34" charset="-128"/>
                <a:ea typeface="Meiryo" panose="020B0604030504040204" pitchFamily="34" charset="-128"/>
              </a:rPr>
              <a:t>ヤー</a:t>
            </a:r>
            <a:r>
              <a:rPr lang="ja-JP" altLang="en-US">
                <a:latin typeface="Meiryo" panose="020B0604030504040204" pitchFamily="34" charset="-128"/>
                <a:ea typeface="Meiryo" panose="020B0604030504040204" pitchFamily="34" charset="-128"/>
              </a:rPr>
              <a:t>！</a:t>
            </a:r>
            <a:r>
              <a:rPr lang="en-US" altLang="ja-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と聞こえます</a:t>
            </a:r>
            <a:r>
              <a:rPr lang="mn-MN" altLang="ja-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これは音が岩にぶつかって戻ってくるからです</a:t>
            </a:r>
            <a:r>
              <a:rPr lang="mn-MN" altLang="ja-JP"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61E3BD00-36BE-096A-2C09-6190E3A05038}"/>
              </a:ext>
            </a:extLst>
          </p:cNvPr>
          <p:cNvSpPr txBox="1"/>
          <p:nvPr/>
        </p:nvSpPr>
        <p:spPr>
          <a:xfrm>
            <a:off x="94386" y="130395"/>
            <a:ext cx="8738272" cy="369332"/>
          </a:xfrm>
          <a:prstGeom prst="rect">
            <a:avLst/>
          </a:prstGeom>
          <a:noFill/>
        </p:spPr>
        <p:txBody>
          <a:bodyPr wrap="square">
            <a:spAutoFit/>
          </a:bodyPr>
          <a:lstStyle/>
          <a:p>
            <a:pPr marL="285750" indent="-285750">
              <a:buFont typeface="Wingdings" pitchFamily="2" charset="2"/>
              <a:buChar char="Ø"/>
            </a:pPr>
            <a:r>
              <a:rPr lang="en-US" b="1" dirty="0">
                <a:solidFill>
                  <a:schemeClr val="accent1">
                    <a:lumMod val="60000"/>
                    <a:lumOff val="40000"/>
                  </a:schemeClr>
                </a:solidFill>
                <a:latin typeface="Meiryo" panose="020B0604030504040204" pitchFamily="34" charset="-128"/>
                <a:ea typeface="Meiryo" panose="020B0604030504040204" pitchFamily="34" charset="-128"/>
                <a:cs typeface="Times New Roman" panose="02020603050405020304" pitchFamily="18" charset="0"/>
              </a:rPr>
              <a:t>How Echo Happens in the Mountains-</a:t>
            </a:r>
            <a:r>
              <a:rPr lang="ja-JP" altLang="en-US" b="1">
                <a:solidFill>
                  <a:schemeClr val="accent1">
                    <a:lumMod val="60000"/>
                    <a:lumOff val="40000"/>
                  </a:schemeClr>
                </a:solidFill>
                <a:latin typeface="Meiryo" panose="020B0604030504040204" pitchFamily="34" charset="-128"/>
                <a:ea typeface="Meiryo" panose="020B0604030504040204" pitchFamily="34" charset="-128"/>
                <a:cs typeface="Times New Roman" panose="02020603050405020304" pitchFamily="18" charset="0"/>
              </a:rPr>
              <a:t>山でエコーはどのように起こるのか</a:t>
            </a:r>
            <a:endParaRPr lang="en-JP" b="1" dirty="0">
              <a:solidFill>
                <a:schemeClr val="accent1">
                  <a:lumMod val="60000"/>
                  <a:lumOff val="40000"/>
                </a:schemeClr>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9" name="正方形/長方形 9">
            <a:extLst>
              <a:ext uri="{FF2B5EF4-FFF2-40B4-BE49-F238E27FC236}">
                <a16:creationId xmlns:a16="http://schemas.microsoft.com/office/drawing/2014/main" id="{11945690-309F-2B6E-36E0-1DE9DF03E063}"/>
              </a:ext>
            </a:extLst>
          </p:cNvPr>
          <p:cNvSpPr/>
          <p:nvPr/>
        </p:nvSpPr>
        <p:spPr>
          <a:xfrm>
            <a:off x="322117" y="563522"/>
            <a:ext cx="8282809" cy="4379225"/>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58"/>
          </a:p>
        </p:txBody>
      </p:sp>
    </p:spTree>
    <p:extLst>
      <p:ext uri="{BB962C8B-B14F-4D97-AF65-F5344CB8AC3E}">
        <p14:creationId xmlns:p14="http://schemas.microsoft.com/office/powerpoint/2010/main" val="3847190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000ECD-7629-C9AD-BA89-B3A54FC609ED}"/>
              </a:ext>
            </a:extLst>
          </p:cNvPr>
          <p:cNvSpPr txBox="1"/>
          <p:nvPr/>
        </p:nvSpPr>
        <p:spPr>
          <a:xfrm>
            <a:off x="342899" y="220580"/>
            <a:ext cx="4572000" cy="400110"/>
          </a:xfrm>
          <a:prstGeom prst="rect">
            <a:avLst/>
          </a:prstGeom>
          <a:noFill/>
        </p:spPr>
        <p:txBody>
          <a:bodyPr wrap="square">
            <a:spAutoFit/>
          </a:bodyPr>
          <a:lstStyle/>
          <a:p>
            <a:pPr marL="285750" indent="-285750">
              <a:buFont typeface="Wingdings" pitchFamily="2" charset="2"/>
              <a:buChar char="Ø"/>
            </a:pPr>
            <a:r>
              <a:rPr lang="en-JP" sz="2000" b="1" dirty="0">
                <a:solidFill>
                  <a:schemeClr val="accent1">
                    <a:lumMod val="60000"/>
                    <a:lumOff val="40000"/>
                  </a:schemeClr>
                </a:solidFill>
                <a:latin typeface="Meiryo" panose="020B0604030504040204" pitchFamily="34" charset="-128"/>
                <a:ea typeface="Meiryo" panose="020B0604030504040204" pitchFamily="34" charset="-128"/>
              </a:rPr>
              <a:t>室内の残響</a:t>
            </a:r>
            <a:r>
              <a:rPr lang="mn-MN" sz="2000" b="1" dirty="0">
                <a:solidFill>
                  <a:schemeClr val="accent1">
                    <a:lumMod val="60000"/>
                    <a:lumOff val="40000"/>
                  </a:schemeClr>
                </a:solidFill>
                <a:latin typeface="Meiryo" panose="020B0604030504040204" pitchFamily="34" charset="-128"/>
                <a:ea typeface="Meiryo" panose="020B0604030504040204" pitchFamily="34" charset="-128"/>
              </a:rPr>
              <a:t>-</a:t>
            </a:r>
            <a:r>
              <a:rPr lang="en-US" sz="2000" b="1" dirty="0">
                <a:solidFill>
                  <a:schemeClr val="accent1">
                    <a:lumMod val="60000"/>
                    <a:lumOff val="40000"/>
                  </a:schemeClr>
                </a:solidFill>
                <a:latin typeface="Meiryo" panose="020B0604030504040204" pitchFamily="34" charset="-128"/>
                <a:ea typeface="Meiryo" panose="020B0604030504040204" pitchFamily="34" charset="-128"/>
              </a:rPr>
              <a:t>Room reverberation</a:t>
            </a:r>
            <a:endParaRPr lang="en-JP" sz="2000" b="1" dirty="0">
              <a:solidFill>
                <a:schemeClr val="accent1">
                  <a:lumMod val="60000"/>
                  <a:lumOff val="40000"/>
                </a:schemeClr>
              </a:solidFill>
              <a:latin typeface="Meiryo" panose="020B0604030504040204" pitchFamily="34" charset="-128"/>
              <a:ea typeface="Meiryo" panose="020B0604030504040204" pitchFamily="34" charset="-128"/>
            </a:endParaRPr>
          </a:p>
        </p:txBody>
      </p:sp>
      <p:pic>
        <p:nvPicPr>
          <p:cNvPr id="6" name="Picture 5">
            <a:extLst>
              <a:ext uri="{FF2B5EF4-FFF2-40B4-BE49-F238E27FC236}">
                <a16:creationId xmlns:a16="http://schemas.microsoft.com/office/drawing/2014/main" id="{D522B52C-1B6F-213E-A637-3867614A90CB}"/>
              </a:ext>
            </a:extLst>
          </p:cNvPr>
          <p:cNvPicPr>
            <a:picLocks noChangeAspect="1"/>
          </p:cNvPicPr>
          <p:nvPr/>
        </p:nvPicPr>
        <p:blipFill>
          <a:blip r:embed="rId2"/>
          <a:stretch>
            <a:fillRect/>
          </a:stretch>
        </p:blipFill>
        <p:spPr>
          <a:xfrm>
            <a:off x="0" y="802885"/>
            <a:ext cx="5422900" cy="4384964"/>
          </a:xfrm>
          <a:prstGeom prst="rect">
            <a:avLst/>
          </a:prstGeom>
        </p:spPr>
      </p:pic>
      <p:sp>
        <p:nvSpPr>
          <p:cNvPr id="8" name="TextBox 7">
            <a:extLst>
              <a:ext uri="{FF2B5EF4-FFF2-40B4-BE49-F238E27FC236}">
                <a16:creationId xmlns:a16="http://schemas.microsoft.com/office/drawing/2014/main" id="{2EE9644E-1C36-A6DC-69F2-2AB944E99A70}"/>
              </a:ext>
            </a:extLst>
          </p:cNvPr>
          <p:cNvSpPr txBox="1"/>
          <p:nvPr/>
        </p:nvSpPr>
        <p:spPr>
          <a:xfrm>
            <a:off x="5422900" y="802885"/>
            <a:ext cx="3604142" cy="369331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 </a:t>
            </a:r>
          </a:p>
          <a:p>
            <a:r>
              <a:rPr lang="en-JP" dirty="0">
                <a:latin typeface="Meiryo" panose="020B0604030504040204" pitchFamily="34" charset="-128"/>
                <a:ea typeface="Meiryo" panose="020B0604030504040204" pitchFamily="34" charset="-128"/>
              </a:rPr>
              <a:t>    何が起きているのか？</a:t>
            </a:r>
          </a:p>
          <a:p>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音は 壁・天井・床 などの</a:t>
            </a:r>
          </a:p>
          <a:p>
            <a:r>
              <a:rPr lang="en-JP" dirty="0">
                <a:latin typeface="Meiryo" panose="020B0604030504040204" pitchFamily="34" charset="-128"/>
                <a:ea typeface="Meiryo" panose="020B0604030504040204" pitchFamily="34" charset="-128"/>
              </a:rPr>
              <a:t>   たくさんの小さな面に反射</a:t>
            </a:r>
          </a:p>
          <a:p>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それが 非常に短い時間に、何度も 起こる</a:t>
            </a:r>
          </a:p>
          <a:p>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そのため、音は 一つ一つ分かれて聞こえず、伸びて続くように聞こえる.</a:t>
            </a:r>
          </a:p>
        </p:txBody>
      </p:sp>
      <p:sp>
        <p:nvSpPr>
          <p:cNvPr id="10" name="TextBox 9">
            <a:extLst>
              <a:ext uri="{FF2B5EF4-FFF2-40B4-BE49-F238E27FC236}">
                <a16:creationId xmlns:a16="http://schemas.microsoft.com/office/drawing/2014/main" id="{0B5BD07D-8538-DB16-E126-B3C97B38A21E}"/>
              </a:ext>
            </a:extLst>
          </p:cNvPr>
          <p:cNvSpPr txBox="1"/>
          <p:nvPr/>
        </p:nvSpPr>
        <p:spPr>
          <a:xfrm>
            <a:off x="3048960" y="5530080"/>
            <a:ext cx="4776602"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私：「こんにちは」</a:t>
            </a:r>
          </a:p>
          <a:p>
            <a:r>
              <a:rPr lang="en-JP" dirty="0">
                <a:latin typeface="Meiryo" panose="020B0604030504040204" pitchFamily="34" charset="-128"/>
                <a:ea typeface="Meiryo" panose="020B0604030504040204" pitchFamily="34" charset="-128"/>
              </a:rPr>
              <a:t>部屋：「こーーんにちはーー…」</a:t>
            </a:r>
          </a:p>
          <a:p>
            <a:r>
              <a:rPr lang="en-JP" dirty="0">
                <a:latin typeface="Meiryo" panose="020B0604030504040204" pitchFamily="34" charset="-128"/>
                <a:ea typeface="Meiryo" panose="020B0604030504040204" pitchFamily="34" charset="-128"/>
              </a:rPr>
              <a:t>これが 残響（リバーブレーション）です.</a:t>
            </a:r>
          </a:p>
          <a:p>
            <a:r>
              <a:rPr lang="en-JP" dirty="0">
                <a:latin typeface="Meiryo" panose="020B0604030504040204" pitchFamily="34" charset="-128"/>
                <a:ea typeface="Meiryo" panose="020B0604030504040204" pitchFamily="34" charset="-128"/>
              </a:rPr>
              <a:t>（＝室内のエコー）</a:t>
            </a:r>
          </a:p>
        </p:txBody>
      </p:sp>
      <p:sp>
        <p:nvSpPr>
          <p:cNvPr id="11" name="正方形/長方形 9">
            <a:extLst>
              <a:ext uri="{FF2B5EF4-FFF2-40B4-BE49-F238E27FC236}">
                <a16:creationId xmlns:a16="http://schemas.microsoft.com/office/drawing/2014/main" id="{87C636C8-0060-4B9F-DDEE-D5DC9DC6F598}"/>
              </a:ext>
            </a:extLst>
          </p:cNvPr>
          <p:cNvSpPr/>
          <p:nvPr/>
        </p:nvSpPr>
        <p:spPr>
          <a:xfrm>
            <a:off x="0" y="802885"/>
            <a:ext cx="5422900" cy="4384964"/>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2" name="正方形/長方形 9">
            <a:extLst>
              <a:ext uri="{FF2B5EF4-FFF2-40B4-BE49-F238E27FC236}">
                <a16:creationId xmlns:a16="http://schemas.microsoft.com/office/drawing/2014/main" id="{769ECA2F-D968-9C5F-7C23-45D9C57A40C9}"/>
              </a:ext>
            </a:extLst>
          </p:cNvPr>
          <p:cNvSpPr/>
          <p:nvPr/>
        </p:nvSpPr>
        <p:spPr>
          <a:xfrm>
            <a:off x="2955852" y="5437091"/>
            <a:ext cx="4678326" cy="1293318"/>
          </a:xfrm>
          <a:prstGeom prst="rect">
            <a:avLst/>
          </a:prstGeom>
          <a:noFill/>
          <a:ln w="317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3" name="Bent Arrow 12">
            <a:extLst>
              <a:ext uri="{FF2B5EF4-FFF2-40B4-BE49-F238E27FC236}">
                <a16:creationId xmlns:a16="http://schemas.microsoft.com/office/drawing/2014/main" id="{6BF7F6B8-4C47-5A6D-5C0E-E799D670DBFB}"/>
              </a:ext>
            </a:extLst>
          </p:cNvPr>
          <p:cNvSpPr/>
          <p:nvPr/>
        </p:nvSpPr>
        <p:spPr>
          <a:xfrm rot="10800000" flipH="1">
            <a:off x="1318438" y="5688418"/>
            <a:ext cx="1084520" cy="535517"/>
          </a:xfrm>
          <a:prstGeom prst="bentArrow">
            <a:avLst>
              <a:gd name="adj1" fmla="val 25000"/>
              <a:gd name="adj2" fmla="val 23308"/>
              <a:gd name="adj3" fmla="val 25000"/>
              <a:gd name="adj4" fmla="val 43750"/>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Tree>
    <p:extLst>
      <p:ext uri="{BB962C8B-B14F-4D97-AF65-F5344CB8AC3E}">
        <p14:creationId xmlns:p14="http://schemas.microsoft.com/office/powerpoint/2010/main" val="2673078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236C445-E79B-8BFF-8313-047BB6B97C7E}"/>
              </a:ext>
            </a:extLst>
          </p:cNvPr>
          <p:cNvGraphicFramePr>
            <a:graphicFrameLocks noGrp="1"/>
          </p:cNvGraphicFramePr>
          <p:nvPr>
            <p:extLst>
              <p:ext uri="{D42A27DB-BD31-4B8C-83A1-F6EECF244321}">
                <p14:modId xmlns:p14="http://schemas.microsoft.com/office/powerpoint/2010/main" val="2601197996"/>
              </p:ext>
            </p:extLst>
          </p:nvPr>
        </p:nvGraphicFramePr>
        <p:xfrm>
          <a:off x="400051" y="809206"/>
          <a:ext cx="7886700" cy="4770711"/>
        </p:xfrm>
        <a:graphic>
          <a:graphicData uri="http://schemas.openxmlformats.org/drawingml/2006/table">
            <a:tbl>
              <a:tblPr>
                <a:tableStyleId>{00A15C55-8517-42AA-B614-E9B94910E393}</a:tableStyleId>
              </a:tblPr>
              <a:tblGrid>
                <a:gridCol w="1553440">
                  <a:extLst>
                    <a:ext uri="{9D8B030D-6E8A-4147-A177-3AD203B41FA5}">
                      <a16:colId xmlns:a16="http://schemas.microsoft.com/office/drawing/2014/main" val="3857426158"/>
                    </a:ext>
                  </a:extLst>
                </a:gridCol>
                <a:gridCol w="3117273">
                  <a:extLst>
                    <a:ext uri="{9D8B030D-6E8A-4147-A177-3AD203B41FA5}">
                      <a16:colId xmlns:a16="http://schemas.microsoft.com/office/drawing/2014/main" val="1883840664"/>
                    </a:ext>
                  </a:extLst>
                </a:gridCol>
                <a:gridCol w="3215987">
                  <a:extLst>
                    <a:ext uri="{9D8B030D-6E8A-4147-A177-3AD203B41FA5}">
                      <a16:colId xmlns:a16="http://schemas.microsoft.com/office/drawing/2014/main" val="3352065075"/>
                    </a:ext>
                  </a:extLst>
                </a:gridCol>
              </a:tblGrid>
              <a:tr h="578268">
                <a:tc>
                  <a:txBody>
                    <a:bodyPr/>
                    <a:lstStyle/>
                    <a:p>
                      <a:r>
                        <a:rPr lang="ja-JP" altLang="en-US">
                          <a:latin typeface="Meiryo" panose="020B0604030504040204" pitchFamily="34" charset="-128"/>
                          <a:ea typeface="Meiryo" panose="020B0604030504040204" pitchFamily="34" charset="-128"/>
                        </a:rPr>
                        <a:t>特徴</a:t>
                      </a:r>
                    </a:p>
                  </a:txBody>
                  <a:tcPr anchor="ctr"/>
                </a:tc>
                <a:tc>
                  <a:txBody>
                    <a:bodyPr/>
                    <a:lstStyle/>
                    <a:p>
                      <a:pPr algn="ctr"/>
                      <a:r>
                        <a:rPr lang="en-JP" dirty="0">
                          <a:solidFill>
                            <a:srgbClr val="C00000"/>
                          </a:solidFill>
                          <a:latin typeface="Meiryo" panose="020B0604030504040204" pitchFamily="34" charset="-128"/>
                          <a:ea typeface="Meiryo" panose="020B0604030504040204" pitchFamily="34" charset="-128"/>
                        </a:rPr>
                        <a:t>🏔️ </a:t>
                      </a:r>
                      <a:r>
                        <a:rPr lang="ja-JP" altLang="en-US">
                          <a:solidFill>
                            <a:srgbClr val="C00000"/>
                          </a:solidFill>
                          <a:latin typeface="Meiryo" panose="020B0604030504040204" pitchFamily="34" charset="-128"/>
                          <a:ea typeface="Meiryo" panose="020B0604030504040204" pitchFamily="34" charset="-128"/>
                        </a:rPr>
                        <a:t>山</a:t>
                      </a:r>
                    </a:p>
                  </a:txBody>
                  <a:tcPr anchor="ctr"/>
                </a:tc>
                <a:tc>
                  <a:txBody>
                    <a:bodyPr/>
                    <a:lstStyle/>
                    <a:p>
                      <a:pPr algn="ctr"/>
                      <a:r>
                        <a:rPr lang="en-JP" dirty="0">
                          <a:solidFill>
                            <a:schemeClr val="accent6">
                              <a:lumMod val="50000"/>
                            </a:schemeClr>
                          </a:solidFill>
                          <a:latin typeface="Meiryo" panose="020B0604030504040204" pitchFamily="34" charset="-128"/>
                          <a:ea typeface="Meiryo" panose="020B0604030504040204" pitchFamily="34" charset="-128"/>
                        </a:rPr>
                        <a:t>🏠 </a:t>
                      </a:r>
                      <a:r>
                        <a:rPr lang="ja-JP" altLang="en-US">
                          <a:solidFill>
                            <a:schemeClr val="accent6">
                              <a:lumMod val="50000"/>
                            </a:schemeClr>
                          </a:solidFill>
                          <a:latin typeface="Meiryo" panose="020B0604030504040204" pitchFamily="34" charset="-128"/>
                          <a:ea typeface="Meiryo" panose="020B0604030504040204" pitchFamily="34" charset="-128"/>
                        </a:rPr>
                        <a:t>室内</a:t>
                      </a:r>
                    </a:p>
                  </a:txBody>
                  <a:tcPr anchor="ctr"/>
                </a:tc>
                <a:extLst>
                  <a:ext uri="{0D108BD9-81ED-4DB2-BD59-A6C34878D82A}">
                    <a16:rowId xmlns:a16="http://schemas.microsoft.com/office/drawing/2014/main" val="4025156790"/>
                  </a:ext>
                </a:extLst>
              </a:tr>
              <a:tr h="1011969">
                <a:tc>
                  <a:txBody>
                    <a:bodyPr/>
                    <a:lstStyle/>
                    <a:p>
                      <a:r>
                        <a:rPr lang="ja-JP" altLang="en-US">
                          <a:latin typeface="Meiryo" panose="020B0604030504040204" pitchFamily="34" charset="-128"/>
                          <a:ea typeface="Meiryo" panose="020B0604030504040204" pitchFamily="34" charset="-128"/>
                        </a:rPr>
                        <a:t>反射する面</a:t>
                      </a:r>
                    </a:p>
                  </a:txBody>
                  <a:tcPr anchor="ctr"/>
                </a:tc>
                <a:tc>
                  <a:txBody>
                    <a:bodyPr/>
                    <a:lstStyle/>
                    <a:p>
                      <a:pPr algn="ctr"/>
                      <a:r>
                        <a:rPr lang="ja-JP" altLang="en-US">
                          <a:solidFill>
                            <a:srgbClr val="C00000"/>
                          </a:solidFill>
                          <a:latin typeface="Meiryo" panose="020B0604030504040204" pitchFamily="34" charset="-128"/>
                          <a:ea typeface="Meiryo" panose="020B0604030504040204" pitchFamily="34" charset="-128"/>
                        </a:rPr>
                        <a:t>一つの大きな面（岩・崖）</a:t>
                      </a:r>
                    </a:p>
                  </a:txBody>
                  <a:tcPr anchor="ctr"/>
                </a:tc>
                <a:tc>
                  <a:txBody>
                    <a:bodyPr/>
                    <a:lstStyle/>
                    <a:p>
                      <a:pPr algn="ctr"/>
                      <a:r>
                        <a:rPr lang="ja-JP" altLang="en-US">
                          <a:solidFill>
                            <a:schemeClr val="accent6">
                              <a:lumMod val="50000"/>
                            </a:schemeClr>
                          </a:solidFill>
                          <a:latin typeface="Meiryo" panose="020B0604030504040204" pitchFamily="34" charset="-128"/>
                          <a:ea typeface="Meiryo" panose="020B0604030504040204" pitchFamily="34" charset="-128"/>
                        </a:rPr>
                        <a:t>多くの小さな面（壁・天井・床）</a:t>
                      </a:r>
                    </a:p>
                  </a:txBody>
                  <a:tcPr anchor="ctr"/>
                </a:tc>
                <a:extLst>
                  <a:ext uri="{0D108BD9-81ED-4DB2-BD59-A6C34878D82A}">
                    <a16:rowId xmlns:a16="http://schemas.microsoft.com/office/drawing/2014/main" val="612195674"/>
                  </a:ext>
                </a:extLst>
              </a:tr>
              <a:tr h="578268">
                <a:tc>
                  <a:txBody>
                    <a:bodyPr/>
                    <a:lstStyle/>
                    <a:p>
                      <a:r>
                        <a:rPr lang="ja-JP" altLang="en-US">
                          <a:latin typeface="Meiryo" panose="020B0604030504040204" pitchFamily="34" charset="-128"/>
                          <a:ea typeface="Meiryo" panose="020B0604030504040204" pitchFamily="34" charset="-128"/>
                        </a:rPr>
                        <a:t>距離</a:t>
                      </a:r>
                    </a:p>
                  </a:txBody>
                  <a:tcPr anchor="ctr"/>
                </a:tc>
                <a:tc>
                  <a:txBody>
                    <a:bodyPr/>
                    <a:lstStyle/>
                    <a:p>
                      <a:pPr algn="ctr"/>
                      <a:r>
                        <a:rPr lang="ja-JP" altLang="en-US">
                          <a:solidFill>
                            <a:srgbClr val="C00000"/>
                          </a:solidFill>
                          <a:latin typeface="Meiryo" panose="020B0604030504040204" pitchFamily="34" charset="-128"/>
                          <a:ea typeface="Meiryo" panose="020B0604030504040204" pitchFamily="34" charset="-128"/>
                        </a:rPr>
                        <a:t>遠い</a:t>
                      </a:r>
                    </a:p>
                  </a:txBody>
                  <a:tcPr anchor="ctr"/>
                </a:tc>
                <a:tc>
                  <a:txBody>
                    <a:bodyPr/>
                    <a:lstStyle/>
                    <a:p>
                      <a:pPr algn="ctr"/>
                      <a:r>
                        <a:rPr lang="ja-JP" altLang="en-US">
                          <a:solidFill>
                            <a:schemeClr val="accent6">
                              <a:lumMod val="50000"/>
                            </a:schemeClr>
                          </a:solidFill>
                          <a:latin typeface="Meiryo" panose="020B0604030504040204" pitchFamily="34" charset="-128"/>
                          <a:ea typeface="Meiryo" panose="020B0604030504040204" pitchFamily="34" charset="-128"/>
                        </a:rPr>
                        <a:t>近い</a:t>
                      </a:r>
                    </a:p>
                  </a:txBody>
                  <a:tcPr anchor="ctr"/>
                </a:tc>
                <a:extLst>
                  <a:ext uri="{0D108BD9-81ED-4DB2-BD59-A6C34878D82A}">
                    <a16:rowId xmlns:a16="http://schemas.microsoft.com/office/drawing/2014/main" val="1192711852"/>
                  </a:ext>
                </a:extLst>
              </a:tr>
              <a:tr h="578268">
                <a:tc>
                  <a:txBody>
                    <a:bodyPr/>
                    <a:lstStyle/>
                    <a:p>
                      <a:r>
                        <a:rPr lang="ja-JP" altLang="en-US">
                          <a:latin typeface="Meiryo" panose="020B0604030504040204" pitchFamily="34" charset="-128"/>
                          <a:ea typeface="Meiryo" panose="020B0604030504040204" pitchFamily="34" charset="-128"/>
                        </a:rPr>
                        <a:t>遅れ時間</a:t>
                      </a:r>
                    </a:p>
                  </a:txBody>
                  <a:tcPr anchor="ctr"/>
                </a:tc>
                <a:tc>
                  <a:txBody>
                    <a:bodyPr/>
                    <a:lstStyle/>
                    <a:p>
                      <a:pPr algn="ctr"/>
                      <a:r>
                        <a:rPr lang="ja-JP" altLang="en-US">
                          <a:solidFill>
                            <a:srgbClr val="C00000"/>
                          </a:solidFill>
                          <a:latin typeface="Meiryo" panose="020B0604030504040204" pitchFamily="34" charset="-128"/>
                          <a:ea typeface="Meiryo" panose="020B0604030504040204" pitchFamily="34" charset="-128"/>
                        </a:rPr>
                        <a:t>大きい</a:t>
                      </a:r>
                    </a:p>
                  </a:txBody>
                  <a:tcPr anchor="ctr"/>
                </a:tc>
                <a:tc>
                  <a:txBody>
                    <a:bodyPr/>
                    <a:lstStyle/>
                    <a:p>
                      <a:pPr algn="ctr"/>
                      <a:r>
                        <a:rPr lang="ja-JP" altLang="en-US">
                          <a:solidFill>
                            <a:schemeClr val="accent6">
                              <a:lumMod val="50000"/>
                            </a:schemeClr>
                          </a:solidFill>
                          <a:latin typeface="Meiryo" panose="020B0604030504040204" pitchFamily="34" charset="-128"/>
                          <a:ea typeface="Meiryo" panose="020B0604030504040204" pitchFamily="34" charset="-128"/>
                        </a:rPr>
                        <a:t>非常に小さい</a:t>
                      </a:r>
                    </a:p>
                  </a:txBody>
                  <a:tcPr anchor="ctr"/>
                </a:tc>
                <a:extLst>
                  <a:ext uri="{0D108BD9-81ED-4DB2-BD59-A6C34878D82A}">
                    <a16:rowId xmlns:a16="http://schemas.microsoft.com/office/drawing/2014/main" val="4095412227"/>
                  </a:ext>
                </a:extLst>
              </a:tr>
              <a:tr h="1011969">
                <a:tc>
                  <a:txBody>
                    <a:bodyPr/>
                    <a:lstStyle/>
                    <a:p>
                      <a:r>
                        <a:rPr lang="ja-JP" altLang="en-US">
                          <a:latin typeface="Meiryo" panose="020B0604030504040204" pitchFamily="34" charset="-128"/>
                          <a:ea typeface="Meiryo" panose="020B0604030504040204" pitchFamily="34" charset="-128"/>
                        </a:rPr>
                        <a:t>聞こえ方</a:t>
                      </a:r>
                    </a:p>
                  </a:txBody>
                  <a:tcPr anchor="ctr"/>
                </a:tc>
                <a:tc>
                  <a:txBody>
                    <a:bodyPr/>
                    <a:lstStyle/>
                    <a:p>
                      <a:pPr algn="ctr"/>
                      <a:r>
                        <a:rPr lang="ja-JP" altLang="en-US">
                          <a:solidFill>
                            <a:srgbClr val="C00000"/>
                          </a:solidFill>
                          <a:latin typeface="Meiryo" panose="020B0604030504040204" pitchFamily="34" charset="-128"/>
                          <a:ea typeface="Meiryo" panose="020B0604030504040204" pitchFamily="34" charset="-128"/>
                        </a:rPr>
                        <a:t>独立して繰り返して聞こえる</a:t>
                      </a:r>
                    </a:p>
                  </a:txBody>
                  <a:tcPr anchor="ctr"/>
                </a:tc>
                <a:tc>
                  <a:txBody>
                    <a:bodyPr/>
                    <a:lstStyle/>
                    <a:p>
                      <a:pPr algn="ctr"/>
                      <a:r>
                        <a:rPr lang="ja-JP" altLang="en-US">
                          <a:solidFill>
                            <a:schemeClr val="accent6">
                              <a:lumMod val="50000"/>
                            </a:schemeClr>
                          </a:solidFill>
                          <a:latin typeface="Meiryo" panose="020B0604030504040204" pitchFamily="34" charset="-128"/>
                          <a:ea typeface="Meiryo" panose="020B0604030504040204" pitchFamily="34" charset="-128"/>
                        </a:rPr>
                        <a:t>伸びて、こもって聞こえる</a:t>
                      </a:r>
                    </a:p>
                  </a:txBody>
                  <a:tcPr anchor="ctr"/>
                </a:tc>
                <a:extLst>
                  <a:ext uri="{0D108BD9-81ED-4DB2-BD59-A6C34878D82A}">
                    <a16:rowId xmlns:a16="http://schemas.microsoft.com/office/drawing/2014/main" val="541494242"/>
                  </a:ext>
                </a:extLst>
              </a:tr>
              <a:tr h="1011969">
                <a:tc>
                  <a:txBody>
                    <a:bodyPr/>
                    <a:lstStyle/>
                    <a:p>
                      <a:r>
                        <a:rPr lang="ja-JP" altLang="en-US">
                          <a:latin typeface="Meiryo" panose="020B0604030504040204" pitchFamily="34" charset="-128"/>
                          <a:ea typeface="Meiryo" panose="020B0604030504040204" pitchFamily="34" charset="-128"/>
                        </a:rPr>
                        <a:t>呼び方</a:t>
                      </a:r>
                    </a:p>
                  </a:txBody>
                  <a:tcPr anchor="ctr"/>
                </a:tc>
                <a:tc>
                  <a:txBody>
                    <a:bodyPr/>
                    <a:lstStyle/>
                    <a:p>
                      <a:pPr algn="ctr"/>
                      <a:r>
                        <a:rPr lang="ja-JP" altLang="en-US">
                          <a:solidFill>
                            <a:srgbClr val="C00000"/>
                          </a:solidFill>
                          <a:latin typeface="Meiryo" panose="020B0604030504040204" pitchFamily="34" charset="-128"/>
                          <a:ea typeface="Meiryo" panose="020B0604030504040204" pitchFamily="34" charset="-128"/>
                        </a:rPr>
                        <a:t>エコー（こだま）</a:t>
                      </a:r>
                    </a:p>
                  </a:txBody>
                  <a:tcPr anchor="ctr"/>
                </a:tc>
                <a:tc>
                  <a:txBody>
                    <a:bodyPr/>
                    <a:lstStyle/>
                    <a:p>
                      <a:pPr algn="ctr"/>
                      <a:r>
                        <a:rPr lang="ja-JP" altLang="en-US">
                          <a:solidFill>
                            <a:schemeClr val="accent6">
                              <a:lumMod val="50000"/>
                            </a:schemeClr>
                          </a:solidFill>
                          <a:latin typeface="Meiryo" panose="020B0604030504040204" pitchFamily="34" charset="-128"/>
                          <a:ea typeface="Meiryo" panose="020B0604030504040204" pitchFamily="34" charset="-128"/>
                        </a:rPr>
                        <a:t>残響（リバーブレーション）</a:t>
                      </a:r>
                    </a:p>
                  </a:txBody>
                  <a:tcPr anchor="ctr"/>
                </a:tc>
                <a:extLst>
                  <a:ext uri="{0D108BD9-81ED-4DB2-BD59-A6C34878D82A}">
                    <a16:rowId xmlns:a16="http://schemas.microsoft.com/office/drawing/2014/main" val="4156559710"/>
                  </a:ext>
                </a:extLst>
              </a:tr>
            </a:tbl>
          </a:graphicData>
        </a:graphic>
      </p:graphicFrame>
      <p:sp>
        <p:nvSpPr>
          <p:cNvPr id="6" name="TextBox 5">
            <a:extLst>
              <a:ext uri="{FF2B5EF4-FFF2-40B4-BE49-F238E27FC236}">
                <a16:creationId xmlns:a16="http://schemas.microsoft.com/office/drawing/2014/main" id="{8EA7F5AE-955A-DC7D-933E-B6C49EFEA212}"/>
              </a:ext>
            </a:extLst>
          </p:cNvPr>
          <p:cNvSpPr txBox="1"/>
          <p:nvPr/>
        </p:nvSpPr>
        <p:spPr>
          <a:xfrm>
            <a:off x="529936" y="324488"/>
            <a:ext cx="4572000" cy="369332"/>
          </a:xfrm>
          <a:prstGeom prst="rect">
            <a:avLst/>
          </a:prstGeom>
          <a:noFill/>
        </p:spPr>
        <p:txBody>
          <a:bodyPr wrap="square">
            <a:spAutoFit/>
          </a:bodyPr>
          <a:lstStyle/>
          <a:p>
            <a:pPr marL="285750" indent="-285750">
              <a:buFont typeface="Wingdings" pitchFamily="2" charset="2"/>
              <a:buChar char="Ø"/>
            </a:pPr>
            <a:r>
              <a:rPr lang="en-JP" b="1" dirty="0">
                <a:solidFill>
                  <a:schemeClr val="accent1">
                    <a:lumMod val="60000"/>
                    <a:lumOff val="40000"/>
                  </a:schemeClr>
                </a:solidFill>
                <a:latin typeface="Meiryo" panose="020B0604030504040204" pitchFamily="34" charset="-128"/>
                <a:ea typeface="Meiryo" panose="020B0604030504040204" pitchFamily="34" charset="-128"/>
                <a:cs typeface="Times New Roman" panose="02020603050405020304" pitchFamily="18" charset="0"/>
              </a:rPr>
              <a:t>山と室内におけるエコーの違い</a:t>
            </a:r>
          </a:p>
        </p:txBody>
      </p:sp>
      <p:sp>
        <p:nvSpPr>
          <p:cNvPr id="8" name="TextBox 7">
            <a:extLst>
              <a:ext uri="{FF2B5EF4-FFF2-40B4-BE49-F238E27FC236}">
                <a16:creationId xmlns:a16="http://schemas.microsoft.com/office/drawing/2014/main" id="{81CA511F-40F7-31F7-3763-5BE1CEDB43EF}"/>
              </a:ext>
            </a:extLst>
          </p:cNvPr>
          <p:cNvSpPr txBox="1"/>
          <p:nvPr/>
        </p:nvSpPr>
        <p:spPr>
          <a:xfrm>
            <a:off x="649433" y="5814445"/>
            <a:ext cx="7637318" cy="923330"/>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山ではエコーがはっきりと別々に聞こえるが、部屋では残響</a:t>
            </a:r>
            <a:endParaRPr lang="mn-MN" altLang="ja-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a:t>
            </a:r>
            <a:r>
              <a:rPr lang="ja-JP" altLang="en-US" b="1">
                <a:solidFill>
                  <a:srgbClr val="C00000"/>
                </a:solidFill>
                <a:latin typeface="Meiryo" panose="020B0604030504040204" pitchFamily="34" charset="-128"/>
                <a:ea typeface="Meiryo" panose="020B0604030504040204" pitchFamily="34" charset="-128"/>
              </a:rPr>
              <a:t>リバーブレーション</a:t>
            </a:r>
            <a:r>
              <a:rPr lang="en-US" altLang="ja-JP" dirty="0">
                <a:solidFill>
                  <a:srgbClr val="C00000"/>
                </a:solidFill>
                <a:latin typeface="Meiryo" panose="020B0604030504040204" pitchFamily="34" charset="-128"/>
                <a:ea typeface="Meiryo" panose="020B0604030504040204" pitchFamily="34" charset="-128"/>
              </a:rPr>
              <a:t>[</a:t>
            </a:r>
            <a:r>
              <a:rPr lang="en-US" b="1" dirty="0">
                <a:latin typeface="Meiryo" panose="020B0604030504040204" pitchFamily="34" charset="-128"/>
                <a:ea typeface="Meiryo" panose="020B0604030504040204" pitchFamily="34" charset="-128"/>
              </a:rPr>
              <a:t>Reverberation</a:t>
            </a:r>
            <a:r>
              <a:rPr lang="en-US" dirty="0">
                <a:solidFill>
                  <a:srgbClr val="C00000"/>
                </a:solidFill>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）によって音が伸び、にごって聞こえる。</a:t>
            </a:r>
          </a:p>
        </p:txBody>
      </p:sp>
      <p:sp>
        <p:nvSpPr>
          <p:cNvPr id="9" name="Down Arrow 8">
            <a:extLst>
              <a:ext uri="{FF2B5EF4-FFF2-40B4-BE49-F238E27FC236}">
                <a16:creationId xmlns:a16="http://schemas.microsoft.com/office/drawing/2014/main" id="{FED950BC-096B-844F-D8D4-45AFEA6845EA}"/>
              </a:ext>
            </a:extLst>
          </p:cNvPr>
          <p:cNvSpPr/>
          <p:nvPr/>
        </p:nvSpPr>
        <p:spPr>
          <a:xfrm>
            <a:off x="440128" y="5814445"/>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340904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4BBEA6F5-23AF-A7AC-DC87-4506151A104F}"/>
              </a:ext>
            </a:extLst>
          </p:cNvPr>
          <p:cNvSpPr/>
          <p:nvPr/>
        </p:nvSpPr>
        <p:spPr>
          <a:xfrm>
            <a:off x="419983" y="638597"/>
            <a:ext cx="7937208" cy="4220482"/>
          </a:xfrm>
          <a:prstGeom prst="roundRect">
            <a:avLst/>
          </a:prstGeom>
          <a:gradFill>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この研究は、なぜ部屋の中で録音された音は、こもって聞こえたり、残響（リバーブ）が付いてしまうのか、</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  そして</a:t>
            </a:r>
          </a:p>
          <a:p>
            <a:r>
              <a:rPr lang="en-JP" dirty="0">
                <a:latin typeface="Meiryo" panose="020B0604030504040204" pitchFamily="34" charset="-128"/>
                <a:ea typeface="Meiryo" panose="020B0604030504040204" pitchFamily="34" charset="-128"/>
              </a:rPr>
              <a:t>その残響をコンピュータで取り除くことができるのか</a:t>
            </a:r>
          </a:p>
          <a:p>
            <a:r>
              <a:rPr lang="en-JP" dirty="0">
                <a:latin typeface="Meiryo" panose="020B0604030504040204" pitchFamily="34" charset="-128"/>
                <a:ea typeface="Meiryo" panose="020B0604030504040204" pitchFamily="34" charset="-128"/>
              </a:rPr>
              <a:t>という問題を研究したものである。</a:t>
            </a:r>
          </a:p>
          <a:p>
            <a:endParaRPr lang="en-JP" dirty="0">
              <a:latin typeface="Meiryo" panose="020B0604030504040204" pitchFamily="34" charset="-128"/>
              <a:ea typeface="Meiryo" panose="020B0604030504040204" pitchFamily="34" charset="-128"/>
            </a:endParaRPr>
          </a:p>
          <a:p>
            <a:pPr>
              <a:buFont typeface="Arial" panose="020B0604020202020204" pitchFamily="34" charset="0"/>
              <a:buChar char="•"/>
            </a:pPr>
            <a:r>
              <a:rPr lang="en-US"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壁で音が反射する</a:t>
            </a:r>
          </a:p>
          <a:p>
            <a:pPr>
              <a:buFont typeface="Arial" panose="020B0604020202020204" pitchFamily="34" charset="0"/>
              <a:buChar char="•"/>
            </a:pPr>
            <a:r>
              <a:rPr lang="en-US"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天井や床でも音が反射する</a:t>
            </a:r>
          </a:p>
          <a:p>
            <a:pPr>
              <a:buFont typeface="Arial" panose="020B0604020202020204" pitchFamily="34" charset="0"/>
              <a:buChar char="•"/>
            </a:pPr>
            <a:r>
              <a:rPr lang="en-US"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多くの反射音が重なり合う</a:t>
            </a:r>
          </a:p>
          <a:p>
            <a:r>
              <a:rPr lang="ja-JP" altLang="en-US">
                <a:latin typeface="Meiryo" panose="020B0604030504040204" pitchFamily="34" charset="-128"/>
                <a:ea typeface="Meiryo" panose="020B0604030504040204" pitchFamily="34" charset="-128"/>
              </a:rPr>
              <a:t>その結果、</a:t>
            </a:r>
            <a:br>
              <a:rPr lang="ja-JP" altLang="en-US">
                <a:latin typeface="Meiryo" panose="020B0604030504040204" pitchFamily="34" charset="-128"/>
                <a:ea typeface="Meiryo" panose="020B0604030504040204" pitchFamily="34" charset="-128"/>
              </a:rPr>
            </a:br>
            <a:r>
              <a:rPr lang="ja-JP" altLang="en-US" b="1">
                <a:solidFill>
                  <a:srgbClr val="C00000"/>
                </a:solidFill>
                <a:latin typeface="Meiryo" panose="020B0604030504040204" pitchFamily="34" charset="-128"/>
                <a:ea typeface="Meiryo" panose="020B0604030504040204" pitchFamily="34" charset="-128"/>
              </a:rPr>
              <a:t>エコー（残響）が発生し、音は本来の形を失ってしまう。</a:t>
            </a:r>
            <a:endParaRPr lang="ja-JP" altLang="en-US">
              <a:solidFill>
                <a:srgbClr val="C00000"/>
              </a:solidFill>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0ADFB2D7-ED11-38A1-F779-69A5BD8437EC}"/>
              </a:ext>
            </a:extLst>
          </p:cNvPr>
          <p:cNvSpPr txBox="1"/>
          <p:nvPr/>
        </p:nvSpPr>
        <p:spPr>
          <a:xfrm>
            <a:off x="611369" y="269265"/>
            <a:ext cx="4572000" cy="369332"/>
          </a:xfrm>
          <a:prstGeom prst="rect">
            <a:avLst/>
          </a:prstGeom>
          <a:noFill/>
        </p:spPr>
        <p:txBody>
          <a:bodyPr wrap="square">
            <a:spAutoFit/>
          </a:bodyPr>
          <a:lstStyle/>
          <a:p>
            <a:pPr marL="285750" indent="-285750">
              <a:buFont typeface="Wingdings" pitchFamily="2" charset="2"/>
              <a:buChar char="Ø"/>
            </a:pPr>
            <a:r>
              <a:rPr lang="en-JP" b="1" dirty="0">
                <a:solidFill>
                  <a:schemeClr val="accent1">
                    <a:lumMod val="60000"/>
                    <a:lumOff val="40000"/>
                  </a:schemeClr>
                </a:solidFill>
                <a:latin typeface="Meiryo" panose="020B0604030504040204" pitchFamily="34" charset="-128"/>
                <a:ea typeface="Meiryo" panose="020B0604030504040204" pitchFamily="34" charset="-128"/>
              </a:rPr>
              <a:t>この研究は何を研究したのか？</a:t>
            </a:r>
          </a:p>
        </p:txBody>
      </p:sp>
      <p:sp>
        <p:nvSpPr>
          <p:cNvPr id="13" name="Down Arrow 12">
            <a:extLst>
              <a:ext uri="{FF2B5EF4-FFF2-40B4-BE49-F238E27FC236}">
                <a16:creationId xmlns:a16="http://schemas.microsoft.com/office/drawing/2014/main" id="{E0964C0F-464F-A172-AC22-F94BF91B8A60}"/>
              </a:ext>
            </a:extLst>
          </p:cNvPr>
          <p:cNvSpPr/>
          <p:nvPr/>
        </p:nvSpPr>
        <p:spPr>
          <a:xfrm>
            <a:off x="4146695" y="5057874"/>
            <a:ext cx="179615" cy="341074"/>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4" name="Rounded Rectangle 13">
            <a:extLst>
              <a:ext uri="{FF2B5EF4-FFF2-40B4-BE49-F238E27FC236}">
                <a16:creationId xmlns:a16="http://schemas.microsoft.com/office/drawing/2014/main" id="{3B9E45E8-320B-078C-763B-FB2A753741D4}"/>
              </a:ext>
            </a:extLst>
          </p:cNvPr>
          <p:cNvSpPr/>
          <p:nvPr/>
        </p:nvSpPr>
        <p:spPr>
          <a:xfrm>
            <a:off x="515677" y="5528703"/>
            <a:ext cx="7841514" cy="1060032"/>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2000" dirty="0">
                <a:solidFill>
                  <a:schemeClr val="tx1"/>
                </a:solidFill>
                <a:latin typeface="Meiryo" panose="020B0604030504040204" pitchFamily="34" charset="-128"/>
                <a:ea typeface="Meiryo" panose="020B0604030504040204" pitchFamily="34" charset="-128"/>
              </a:rPr>
              <a:t>この研究の目的:「部屋で録音された音から、部屋の影響（残響）だけを分離して取り除くこと」</a:t>
            </a:r>
          </a:p>
        </p:txBody>
      </p:sp>
    </p:spTree>
    <p:extLst>
      <p:ext uri="{BB962C8B-B14F-4D97-AF65-F5344CB8AC3E}">
        <p14:creationId xmlns:p14="http://schemas.microsoft.com/office/powerpoint/2010/main" val="25997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6836CE-9327-0EF5-1A4B-F9D0F4D87FF5}"/>
              </a:ext>
            </a:extLst>
          </p:cNvPr>
          <p:cNvSpPr txBox="1"/>
          <p:nvPr/>
        </p:nvSpPr>
        <p:spPr>
          <a:xfrm>
            <a:off x="598080" y="1197614"/>
            <a:ext cx="7442791" cy="2862322"/>
          </a:xfrm>
          <a:prstGeom prst="rect">
            <a:avLst/>
          </a:prstGeom>
          <a:noFill/>
        </p:spPr>
        <p:txBody>
          <a:bodyPr wrap="square">
            <a:spAutoFit/>
          </a:bodyPr>
          <a:lstStyle/>
          <a:p>
            <a:r>
              <a:rPr lang="en-JP" dirty="0"/>
              <a:t>基本的な考え方</a:t>
            </a:r>
            <a:endParaRPr lang="mn-MN" dirty="0"/>
          </a:p>
          <a:p>
            <a:endParaRPr lang="en-JP" dirty="0"/>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部屋は「音を変形させるシステム」と考えられる</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壁・天井・床での反射により、音は残響（Reverberation）を含む</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本研究は、</a:t>
            </a:r>
          </a:p>
          <a:p>
            <a:r>
              <a:rPr lang="en-JP" dirty="0">
                <a:latin typeface="Meiryo" panose="020B0604030504040204" pitchFamily="34" charset="-128"/>
                <a:ea typeface="Meiryo" panose="020B0604030504040204" pitchFamily="34" charset="-128"/>
              </a:rPr>
              <a:t>「</a:t>
            </a:r>
            <a:r>
              <a:rPr lang="en-JP" dirty="0">
                <a:solidFill>
                  <a:srgbClr val="C00000"/>
                </a:solidFill>
                <a:latin typeface="Meiryo" panose="020B0604030504040204" pitchFamily="34" charset="-128"/>
                <a:ea typeface="Meiryo" panose="020B0604030504040204" pitchFamily="34" charset="-128"/>
              </a:rPr>
              <a:t>部屋の影響を逆に打ち消すフィルタ（逆フィルタ）」</a:t>
            </a:r>
            <a:r>
              <a:rPr lang="en-JP" dirty="0">
                <a:latin typeface="Meiryo" panose="020B0604030504040204" pitchFamily="34" charset="-128"/>
                <a:ea typeface="Meiryo" panose="020B0604030504040204" pitchFamily="34" charset="-128"/>
              </a:rPr>
              <a:t>を設計する方法を提案</a:t>
            </a:r>
          </a:p>
        </p:txBody>
      </p:sp>
      <p:sp>
        <p:nvSpPr>
          <p:cNvPr id="7" name="TextBox 6">
            <a:extLst>
              <a:ext uri="{FF2B5EF4-FFF2-40B4-BE49-F238E27FC236}">
                <a16:creationId xmlns:a16="http://schemas.microsoft.com/office/drawing/2014/main" id="{08CC6141-BF29-DA1C-2E21-AB5FDABDB377}"/>
              </a:ext>
            </a:extLst>
          </p:cNvPr>
          <p:cNvSpPr txBox="1"/>
          <p:nvPr/>
        </p:nvSpPr>
        <p:spPr>
          <a:xfrm>
            <a:off x="446568" y="405441"/>
            <a:ext cx="4572000" cy="400110"/>
          </a:xfrm>
          <a:prstGeom prst="rect">
            <a:avLst/>
          </a:prstGeom>
          <a:noFill/>
        </p:spPr>
        <p:txBody>
          <a:bodyPr wrap="square">
            <a:spAutoFit/>
          </a:bodyPr>
          <a:lstStyle/>
          <a:p>
            <a:pPr marL="342900" indent="-342900">
              <a:buFont typeface="Arial" panose="020B0604020202020204" pitchFamily="34" charset="0"/>
              <a:buChar char="•"/>
            </a:pPr>
            <a:r>
              <a:rPr lang="en-JP" sz="2000" b="1" dirty="0">
                <a:solidFill>
                  <a:srgbClr val="C00000"/>
                </a:solidFill>
                <a:latin typeface="Meiryo" panose="020B0604030504040204" pitchFamily="34" charset="-128"/>
                <a:ea typeface="Meiryo" panose="020B0604030504040204" pitchFamily="34" charset="-128"/>
              </a:rPr>
              <a:t>Method（提案手法）</a:t>
            </a:r>
          </a:p>
        </p:txBody>
      </p:sp>
      <p:sp>
        <p:nvSpPr>
          <p:cNvPr id="8" name="Down Arrow 7">
            <a:extLst>
              <a:ext uri="{FF2B5EF4-FFF2-40B4-BE49-F238E27FC236}">
                <a16:creationId xmlns:a16="http://schemas.microsoft.com/office/drawing/2014/main" id="{7248FC21-6E74-B995-BF48-E19E036C7EB9}"/>
              </a:ext>
            </a:extLst>
          </p:cNvPr>
          <p:cNvSpPr/>
          <p:nvPr/>
        </p:nvSpPr>
        <p:spPr>
          <a:xfrm>
            <a:off x="1764123" y="4059936"/>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9" name="Rounded Rectangle 8">
            <a:extLst>
              <a:ext uri="{FF2B5EF4-FFF2-40B4-BE49-F238E27FC236}">
                <a16:creationId xmlns:a16="http://schemas.microsoft.com/office/drawing/2014/main" id="{AA5F8273-91E2-A1CA-D984-DB1DDE081D8F}"/>
              </a:ext>
            </a:extLst>
          </p:cNvPr>
          <p:cNvSpPr/>
          <p:nvPr/>
        </p:nvSpPr>
        <p:spPr>
          <a:xfrm>
            <a:off x="188002" y="4586497"/>
            <a:ext cx="8601742" cy="107388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1600">
                <a:latin typeface="Meiryo" panose="020B0604030504040204" pitchFamily="34" charset="-128"/>
                <a:ea typeface="Meiryo" panose="020B0604030504040204" pitchFamily="34" charset="-128"/>
              </a:rPr>
              <a:t>従来法の問題点</a:t>
            </a:r>
            <a:r>
              <a:rPr lang="en-US" altLang="ja-JP" sz="1600" dirty="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従来の方法（最小二乗誤差法：</a:t>
            </a:r>
            <a:r>
              <a:rPr lang="en-US" sz="1600" dirty="0">
                <a:solidFill>
                  <a:schemeClr val="accent1">
                    <a:lumMod val="75000"/>
                  </a:schemeClr>
                </a:solidFill>
                <a:latin typeface="Meiryo" panose="020B0604030504040204" pitchFamily="34" charset="-128"/>
                <a:ea typeface="Meiryo" panose="020B0604030504040204" pitchFamily="34" charset="-128"/>
              </a:rPr>
              <a:t>LSE</a:t>
            </a:r>
            <a:r>
              <a:rPr lang="en-US" sz="1600" dirty="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は</a:t>
            </a:r>
            <a:endParaRPr lang="en-US" altLang="ja-JP" sz="1600" dirty="0">
              <a:latin typeface="Meiryo" panose="020B0604030504040204" pitchFamily="34" charset="-128"/>
              <a:ea typeface="Meiryo" panose="020B0604030504040204" pitchFamily="34" charset="-128"/>
            </a:endParaRPr>
          </a:p>
          <a:p>
            <a:pPr marL="285750" indent="-285750" algn="ctr">
              <a:buFont typeface="Arial" panose="020B0604020202020204" pitchFamily="34" charset="0"/>
              <a:buChar char="•"/>
            </a:pPr>
            <a:r>
              <a:rPr lang="en-US" altLang="ja-JP" sz="1600" dirty="0">
                <a:latin typeface="Meiryo" panose="020B0604030504040204" pitchFamily="34" charset="-128"/>
                <a:ea typeface="Meiryo" panose="020B0604030504040204" pitchFamily="34" charset="-128"/>
              </a:rPr>
              <a:t> 1</a:t>
            </a:r>
            <a:r>
              <a:rPr lang="ja-JP" altLang="en-US" sz="1600">
                <a:latin typeface="Meiryo" panose="020B0604030504040204" pitchFamily="34" charset="-128"/>
                <a:ea typeface="Meiryo" panose="020B0604030504040204" pitchFamily="34" charset="-128"/>
              </a:rPr>
              <a:t>つの音響伝達経路のみを仮定</a:t>
            </a:r>
            <a:endParaRPr lang="en-US" altLang="ja-JP" sz="1600" dirty="0">
              <a:latin typeface="Meiryo" panose="020B0604030504040204" pitchFamily="34" charset="-128"/>
              <a:ea typeface="Meiryo" panose="020B0604030504040204" pitchFamily="34" charset="-128"/>
            </a:endParaRPr>
          </a:p>
          <a:p>
            <a:pPr marL="285750" indent="-285750" algn="ctr">
              <a:buFont typeface="Arial" panose="020B0604020202020204" pitchFamily="34" charset="0"/>
              <a:buChar char="•"/>
            </a:pPr>
            <a:r>
              <a:rPr lang="ja-JP" altLang="en-US" sz="1600">
                <a:latin typeface="Meiryo" panose="020B0604030504040204" pitchFamily="34" charset="-128"/>
                <a:ea typeface="Meiryo" panose="020B0604030504040204" pitchFamily="34" charset="-128"/>
              </a:rPr>
              <a:t>室内音響では正確な逆フィルタが作れない場合が多い</a:t>
            </a:r>
            <a:endParaRPr lang="en-JP" sz="16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6AEC57BF-E04E-C230-3F44-3FF71DCFE53D}"/>
              </a:ext>
            </a:extLst>
          </p:cNvPr>
          <p:cNvSpPr txBox="1"/>
          <p:nvPr/>
        </p:nvSpPr>
        <p:spPr>
          <a:xfrm>
            <a:off x="5018568" y="6363554"/>
            <a:ext cx="3626668" cy="369332"/>
          </a:xfrm>
          <a:prstGeom prst="rect">
            <a:avLst/>
          </a:prstGeom>
          <a:noFill/>
        </p:spPr>
        <p:txBody>
          <a:bodyPr wrap="square">
            <a:spAutoFit/>
          </a:bodyPr>
          <a:lstStyle/>
          <a:p>
            <a:r>
              <a:rPr lang="en-US" sz="1800" dirty="0">
                <a:solidFill>
                  <a:schemeClr val="accent1">
                    <a:lumMod val="75000"/>
                  </a:schemeClr>
                </a:solidFill>
                <a:latin typeface="Meiryo" panose="020B0604030504040204" pitchFamily="34" charset="-128"/>
                <a:ea typeface="Meiryo" panose="020B0604030504040204" pitchFamily="34" charset="-128"/>
              </a:rPr>
              <a:t>LSE ?</a:t>
            </a:r>
            <a:r>
              <a:rPr lang="en-JP" dirty="0">
                <a:solidFill>
                  <a:schemeClr val="accent1">
                    <a:lumMod val="75000"/>
                  </a:schemeClr>
                </a:solidFill>
                <a:latin typeface="Meiryo" panose="020B0604030504040204" pitchFamily="34" charset="-128"/>
                <a:ea typeface="Meiryo" panose="020B0604030504040204" pitchFamily="34" charset="-128"/>
              </a:rPr>
              <a:t> Least Squares Error</a:t>
            </a:r>
          </a:p>
        </p:txBody>
      </p:sp>
      <p:sp>
        <p:nvSpPr>
          <p:cNvPr id="12" name="Down Arrow 11">
            <a:extLst>
              <a:ext uri="{FF2B5EF4-FFF2-40B4-BE49-F238E27FC236}">
                <a16:creationId xmlns:a16="http://schemas.microsoft.com/office/drawing/2014/main" id="{1F393E1A-6E58-188E-B4AF-847C0EB92136}"/>
              </a:ext>
            </a:extLst>
          </p:cNvPr>
          <p:cNvSpPr/>
          <p:nvPr/>
        </p:nvSpPr>
        <p:spPr>
          <a:xfrm>
            <a:off x="6996430" y="5753129"/>
            <a:ext cx="179615" cy="341074"/>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93400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9B7A8F-76F5-9668-3570-6BFA973A2F75}"/>
              </a:ext>
            </a:extLst>
          </p:cNvPr>
          <p:cNvSpPr txBox="1"/>
          <p:nvPr/>
        </p:nvSpPr>
        <p:spPr>
          <a:xfrm>
            <a:off x="322117" y="1336377"/>
            <a:ext cx="8188037" cy="1200329"/>
          </a:xfrm>
          <a:prstGeom prst="rect">
            <a:avLst/>
          </a:prstGeom>
          <a:noFill/>
        </p:spPr>
        <p:txBody>
          <a:bodyPr wrap="square">
            <a:spAutoFit/>
          </a:bodyPr>
          <a:lstStyle/>
          <a:p>
            <a:endParaRPr lang="en-JP" dirty="0">
              <a:latin typeface="Meiryo" panose="020B0604030504040204" pitchFamily="34" charset="-128"/>
              <a:ea typeface="Meiryo" panose="020B0604030504040204" pitchFamily="34" charset="-128"/>
              <a:cs typeface="Times New Roman" panose="02020603050405020304" pitchFamily="18" charset="0"/>
            </a:endParaRPr>
          </a:p>
          <a:p>
            <a:r>
              <a:rPr lang="en-JP" dirty="0">
                <a:latin typeface="Meiryo" panose="020B0604030504040204" pitchFamily="34" charset="-128"/>
                <a:ea typeface="Meiryo" panose="020B0604030504040204" pitchFamily="34" charset="-128"/>
                <a:cs typeface="Times New Roman" panose="02020603050405020304" pitchFamily="18" charset="0"/>
              </a:rPr>
              <a:t>私たちが本当に欲しい音と システム（部屋やフィルタ）を通った実際の音にはずれ（誤差）が生じます。LSE法では、その誤差を 二乗して、全部足し合わせ、 それが最小になるようにフィルタを決めるという考え方を使います.</a:t>
            </a:r>
          </a:p>
        </p:txBody>
      </p:sp>
      <p:sp>
        <p:nvSpPr>
          <p:cNvPr id="7" name="TextBox 6">
            <a:extLst>
              <a:ext uri="{FF2B5EF4-FFF2-40B4-BE49-F238E27FC236}">
                <a16:creationId xmlns:a16="http://schemas.microsoft.com/office/drawing/2014/main" id="{A9CF484D-B142-50E0-C596-382F24357AAA}"/>
              </a:ext>
            </a:extLst>
          </p:cNvPr>
          <p:cNvSpPr txBox="1"/>
          <p:nvPr/>
        </p:nvSpPr>
        <p:spPr>
          <a:xfrm>
            <a:off x="135081" y="307262"/>
            <a:ext cx="8562110" cy="923330"/>
          </a:xfrm>
          <a:prstGeom prst="rect">
            <a:avLst/>
          </a:prstGeom>
          <a:noFill/>
        </p:spPr>
        <p:txBody>
          <a:bodyPr wrap="square">
            <a:spAutoFit/>
          </a:bodyPr>
          <a:lstStyle/>
          <a:p>
            <a:pPr marL="285750" indent="-285750">
              <a:buFont typeface="Wingdings" pitchFamily="2" charset="2"/>
              <a:buChar char="Ø"/>
            </a:pPr>
            <a:r>
              <a:rPr lang="en-JP" b="1" dirty="0">
                <a:solidFill>
                  <a:schemeClr val="accent1">
                    <a:lumMod val="75000"/>
                  </a:schemeClr>
                </a:solidFill>
                <a:latin typeface="Meiryo" panose="020B0604030504040204" pitchFamily="34" charset="-128"/>
                <a:ea typeface="Meiryo" panose="020B0604030504040204" pitchFamily="34" charset="-128"/>
              </a:rPr>
              <a:t>Least Squares Error（LSE）</a:t>
            </a:r>
          </a:p>
          <a:p>
            <a:r>
              <a:rPr lang="ja-JP" altLang="en-US">
                <a:solidFill>
                  <a:schemeClr val="accent1">
                    <a:lumMod val="75000"/>
                  </a:schemeClr>
                </a:solidFill>
                <a:latin typeface="Meiryo" panose="020B0604030504040204" pitchFamily="34" charset="-128"/>
                <a:ea typeface="Meiryo" panose="020B0604030504040204" pitchFamily="34" charset="-128"/>
              </a:rPr>
              <a:t>　　</a:t>
            </a:r>
            <a:r>
              <a:rPr lang="en-JP" dirty="0"/>
              <a:t> </a:t>
            </a:r>
          </a:p>
          <a:p>
            <a:r>
              <a:rPr lang="en-JP" dirty="0">
                <a:solidFill>
                  <a:schemeClr val="accent1">
                    <a:lumMod val="75000"/>
                  </a:schemeClr>
                </a:solidFill>
                <a:latin typeface="Meiryo" panose="020B0604030504040204" pitchFamily="34" charset="-128"/>
                <a:ea typeface="Meiryo" panose="020B0604030504040204" pitchFamily="34" charset="-128"/>
              </a:rPr>
              <a:t>「理想の音」と「実際に出てきた音」の違いをできるだけ小さくする方法です.</a:t>
            </a:r>
          </a:p>
        </p:txBody>
      </p:sp>
      <p:sp>
        <p:nvSpPr>
          <p:cNvPr id="12" name="TextBox 11">
            <a:extLst>
              <a:ext uri="{FF2B5EF4-FFF2-40B4-BE49-F238E27FC236}">
                <a16:creationId xmlns:a16="http://schemas.microsoft.com/office/drawing/2014/main" id="{E2EC9BA7-B59B-F58E-61C7-7A4C898B3493}"/>
              </a:ext>
            </a:extLst>
          </p:cNvPr>
          <p:cNvSpPr txBox="1"/>
          <p:nvPr/>
        </p:nvSpPr>
        <p:spPr>
          <a:xfrm>
            <a:off x="322117" y="3896591"/>
            <a:ext cx="7762010"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基本的な特徴</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過去の限られた数のデータだけを使うフィルタ</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無限に影響が続かない → 安定</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音響・DSP（デジタル信号処理）で非常によく使われる</a:t>
            </a:r>
          </a:p>
        </p:txBody>
      </p:sp>
      <p:sp>
        <p:nvSpPr>
          <p:cNvPr id="13" name="Down Arrow 12">
            <a:extLst>
              <a:ext uri="{FF2B5EF4-FFF2-40B4-BE49-F238E27FC236}">
                <a16:creationId xmlns:a16="http://schemas.microsoft.com/office/drawing/2014/main" id="{36010C2B-6D20-1665-3E16-D9AF38BF5FEF}"/>
              </a:ext>
            </a:extLst>
          </p:cNvPr>
          <p:cNvSpPr/>
          <p:nvPr/>
        </p:nvSpPr>
        <p:spPr>
          <a:xfrm>
            <a:off x="2262887" y="1188552"/>
            <a:ext cx="179615" cy="341074"/>
          </a:xfrm>
          <a:prstGeom prst="down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5" name="TextBox 14">
            <a:extLst>
              <a:ext uri="{FF2B5EF4-FFF2-40B4-BE49-F238E27FC236}">
                <a16:creationId xmlns:a16="http://schemas.microsoft.com/office/drawing/2014/main" id="{2CFF0510-D75E-FC1B-AA42-8CE2B0C90F7D}"/>
              </a:ext>
            </a:extLst>
          </p:cNvPr>
          <p:cNvSpPr txBox="1"/>
          <p:nvPr/>
        </p:nvSpPr>
        <p:spPr>
          <a:xfrm>
            <a:off x="322117" y="3042442"/>
            <a:ext cx="6322870" cy="646331"/>
          </a:xfrm>
          <a:prstGeom prst="rect">
            <a:avLst/>
          </a:prstGeom>
          <a:noFill/>
        </p:spPr>
        <p:txBody>
          <a:bodyPr wrap="square">
            <a:spAutoFit/>
          </a:bodyPr>
          <a:lstStyle/>
          <a:p>
            <a:r>
              <a:rPr lang="en-JP" dirty="0">
                <a:solidFill>
                  <a:schemeClr val="accent1">
                    <a:lumMod val="75000"/>
                  </a:schemeClr>
                </a:solidFill>
                <a:latin typeface="Meiryo" panose="020B0604030504040204" pitchFamily="34" charset="-128"/>
                <a:ea typeface="Meiryo" panose="020B0604030504040204" pitchFamily="34" charset="-128"/>
              </a:rPr>
              <a:t>FIRフィルタ（Finite Impulse Response）</a:t>
            </a:r>
          </a:p>
          <a:p>
            <a:endParaRPr lang="en-JP" dirty="0"/>
          </a:p>
        </p:txBody>
      </p:sp>
    </p:spTree>
    <p:extLst>
      <p:ext uri="{BB962C8B-B14F-4D97-AF65-F5344CB8AC3E}">
        <p14:creationId xmlns:p14="http://schemas.microsoft.com/office/powerpoint/2010/main" val="2304255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129B75-DC02-CBA5-DF23-E13352F47DF8}"/>
              </a:ext>
            </a:extLst>
          </p:cNvPr>
          <p:cNvSpPr txBox="1"/>
          <p:nvPr/>
        </p:nvSpPr>
        <p:spPr>
          <a:xfrm>
            <a:off x="197426" y="362635"/>
            <a:ext cx="8946573" cy="369332"/>
          </a:xfrm>
          <a:prstGeom prst="rect">
            <a:avLst/>
          </a:prstGeom>
          <a:noFill/>
        </p:spPr>
        <p:txBody>
          <a:bodyPr wrap="square">
            <a:spAutoFit/>
          </a:bodyPr>
          <a:lstStyle/>
          <a:p>
            <a:pPr marL="285750" indent="-285750">
              <a:buFont typeface="Arial" panose="020B0604020202020204" pitchFamily="34" charset="0"/>
              <a:buChar char="•"/>
            </a:pPr>
            <a:r>
              <a:rPr lang="en-JP" b="1" dirty="0">
                <a:solidFill>
                  <a:srgbClr val="C00000"/>
                </a:solidFill>
                <a:latin typeface="Meiryo" panose="020B0604030504040204" pitchFamily="34" charset="-128"/>
                <a:ea typeface="Meiryo" panose="020B0604030504040204" pitchFamily="34" charset="-128"/>
              </a:rPr>
              <a:t>提案手法の特徴（MINT法）Multiple-Input/Output Inverse Theorem</a:t>
            </a:r>
          </a:p>
        </p:txBody>
      </p:sp>
      <p:sp>
        <p:nvSpPr>
          <p:cNvPr id="7" name="TextBox 6">
            <a:extLst>
              <a:ext uri="{FF2B5EF4-FFF2-40B4-BE49-F238E27FC236}">
                <a16:creationId xmlns:a16="http://schemas.microsoft.com/office/drawing/2014/main" id="{612B2B46-37BA-DFCD-C1C5-B43FF74497B6}"/>
              </a:ext>
            </a:extLst>
          </p:cNvPr>
          <p:cNvSpPr txBox="1"/>
          <p:nvPr/>
        </p:nvSpPr>
        <p:spPr>
          <a:xfrm>
            <a:off x="571500" y="1166567"/>
            <a:ext cx="7356764" cy="1477328"/>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提案手法の特徴（MINT法）</a:t>
            </a:r>
            <a:r>
              <a:rPr lang="mn-MN" dirty="0">
                <a:latin typeface="Meiryo" panose="020B0604030504040204" pitchFamily="34" charset="-128"/>
                <a:ea typeface="Meiryo" panose="020B0604030504040204" pitchFamily="34" charset="-128"/>
              </a:rPr>
              <a:t>:</a:t>
            </a:r>
            <a:r>
              <a:rPr lang="en-US" dirty="0">
                <a:latin typeface="Meiryo" panose="020B0604030504040204" pitchFamily="34" charset="-128"/>
                <a:ea typeface="Meiryo" panose="020B0604030504040204" pitchFamily="34" charset="-128"/>
              </a:rPr>
              <a:t> </a:t>
            </a:r>
            <a:r>
              <a:rPr lang="en-JP" dirty="0">
                <a:latin typeface="Meiryo" panose="020B0604030504040204" pitchFamily="34" charset="-128"/>
                <a:ea typeface="Meiryo" panose="020B0604030504040204" pitchFamily="34" charset="-128"/>
              </a:rPr>
              <a:t>複数の音響伝達経路を利用</a:t>
            </a:r>
          </a:p>
          <a:p>
            <a:r>
              <a:rPr lang="en-JP" dirty="0">
                <a:latin typeface="Meiryo" panose="020B0604030504040204" pitchFamily="34" charset="-128"/>
                <a:ea typeface="Meiryo" panose="020B0604030504040204" pitchFamily="34" charset="-128"/>
              </a:rPr>
              <a:t>（例：複数のスピーカ／マイク）</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システムを多入力・多出力のFIRシステムとしてモデル化</a:t>
            </a:r>
          </a:p>
          <a:p>
            <a:r>
              <a:rPr lang="en-JP" dirty="0">
                <a:latin typeface="Meiryo" panose="020B0604030504040204" pitchFamily="34" charset="-128"/>
                <a:ea typeface="Meiryo" panose="020B0604030504040204" pitchFamily="34" charset="-128"/>
              </a:rPr>
              <a:t>Multiple-Input/Output Inverse Theorem（MINT）を適用</a:t>
            </a:r>
          </a:p>
        </p:txBody>
      </p:sp>
      <p:sp>
        <p:nvSpPr>
          <p:cNvPr id="9" name="TextBox 8">
            <a:extLst>
              <a:ext uri="{FF2B5EF4-FFF2-40B4-BE49-F238E27FC236}">
                <a16:creationId xmlns:a16="http://schemas.microsoft.com/office/drawing/2014/main" id="{FA6B9A90-BD94-4410-176C-1BCBD3968C25}"/>
              </a:ext>
            </a:extLst>
          </p:cNvPr>
          <p:cNvSpPr txBox="1"/>
          <p:nvPr/>
        </p:nvSpPr>
        <p:spPr>
          <a:xfrm>
            <a:off x="571500" y="2939580"/>
            <a:ext cx="2161309"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手法の原理</a:t>
            </a:r>
          </a:p>
          <a:p>
            <a:r>
              <a:rPr lang="en-JP" dirty="0">
                <a:latin typeface="Meiryo" panose="020B0604030504040204" pitchFamily="34" charset="-128"/>
                <a:ea typeface="Meiryo" panose="020B0604030504040204" pitchFamily="34" charset="-128"/>
              </a:rPr>
              <a:t>音響伝達関数</a:t>
            </a:r>
          </a:p>
        </p:txBody>
      </p:sp>
      <p:pic>
        <p:nvPicPr>
          <p:cNvPr id="10" name="Picture 9">
            <a:extLst>
              <a:ext uri="{FF2B5EF4-FFF2-40B4-BE49-F238E27FC236}">
                <a16:creationId xmlns:a16="http://schemas.microsoft.com/office/drawing/2014/main" id="{2451024C-597A-8BBD-9077-5D132A162BFF}"/>
              </a:ext>
            </a:extLst>
          </p:cNvPr>
          <p:cNvPicPr>
            <a:picLocks noChangeAspect="1"/>
          </p:cNvPicPr>
          <p:nvPr/>
        </p:nvPicPr>
        <p:blipFill>
          <a:blip r:embed="rId2"/>
          <a:stretch>
            <a:fillRect/>
          </a:stretch>
        </p:blipFill>
        <p:spPr>
          <a:xfrm>
            <a:off x="571500" y="4016664"/>
            <a:ext cx="2908300" cy="1193800"/>
          </a:xfrm>
          <a:prstGeom prst="rect">
            <a:avLst/>
          </a:prstGeom>
        </p:spPr>
      </p:pic>
      <p:sp>
        <p:nvSpPr>
          <p:cNvPr id="12" name="TextBox 11">
            <a:extLst>
              <a:ext uri="{FF2B5EF4-FFF2-40B4-BE49-F238E27FC236}">
                <a16:creationId xmlns:a16="http://schemas.microsoft.com/office/drawing/2014/main" id="{6123A130-ED45-3D63-3D3F-90D714246C1A}"/>
              </a:ext>
            </a:extLst>
          </p:cNvPr>
          <p:cNvSpPr txBox="1"/>
          <p:nvPr/>
        </p:nvSpPr>
        <p:spPr>
          <a:xfrm>
            <a:off x="4157464" y="3086986"/>
            <a:ext cx="4881526"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条件を満たすことで完全な逆フィルタリング（Exact Inverse Filtering）が可能：</a:t>
            </a:r>
          </a:p>
        </p:txBody>
      </p:sp>
      <p:pic>
        <p:nvPicPr>
          <p:cNvPr id="14" name="Picture 13">
            <a:extLst>
              <a:ext uri="{FF2B5EF4-FFF2-40B4-BE49-F238E27FC236}">
                <a16:creationId xmlns:a16="http://schemas.microsoft.com/office/drawing/2014/main" id="{9E74B14A-2CA0-E692-182D-DB02A4634FCB}"/>
              </a:ext>
            </a:extLst>
          </p:cNvPr>
          <p:cNvPicPr>
            <a:picLocks noChangeAspect="1"/>
          </p:cNvPicPr>
          <p:nvPr/>
        </p:nvPicPr>
        <p:blipFill>
          <a:blip r:embed="rId3"/>
          <a:stretch>
            <a:fillRect/>
          </a:stretch>
        </p:blipFill>
        <p:spPr>
          <a:xfrm>
            <a:off x="4312225" y="4212590"/>
            <a:ext cx="4696691" cy="673100"/>
          </a:xfrm>
          <a:prstGeom prst="rect">
            <a:avLst/>
          </a:prstGeom>
        </p:spPr>
      </p:pic>
      <p:sp>
        <p:nvSpPr>
          <p:cNvPr id="16" name="TextBox 15">
            <a:extLst>
              <a:ext uri="{FF2B5EF4-FFF2-40B4-BE49-F238E27FC236}">
                <a16:creationId xmlns:a16="http://schemas.microsoft.com/office/drawing/2014/main" id="{4D1CEC7C-695F-510D-5E8A-0A2B6B4CEB78}"/>
              </a:ext>
            </a:extLst>
          </p:cNvPr>
          <p:cNvSpPr txBox="1"/>
          <p:nvPr/>
        </p:nvSpPr>
        <p:spPr>
          <a:xfrm>
            <a:off x="4312227" y="5691433"/>
            <a:ext cx="4572000"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D(z⁻¹)は(2)で与えられた信号d(k)のz変換である。</a:t>
            </a:r>
          </a:p>
        </p:txBody>
      </p:sp>
      <p:sp>
        <p:nvSpPr>
          <p:cNvPr id="17" name="正方形/長方形 9">
            <a:extLst>
              <a:ext uri="{FF2B5EF4-FFF2-40B4-BE49-F238E27FC236}">
                <a16:creationId xmlns:a16="http://schemas.microsoft.com/office/drawing/2014/main" id="{3465C98A-E3F2-DE3E-86A0-CCB27B9C8BBA}"/>
              </a:ext>
            </a:extLst>
          </p:cNvPr>
          <p:cNvSpPr/>
          <p:nvPr/>
        </p:nvSpPr>
        <p:spPr>
          <a:xfrm>
            <a:off x="360326" y="3917146"/>
            <a:ext cx="3330648" cy="1392836"/>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8" name="正方形/長方形 9">
            <a:extLst>
              <a:ext uri="{FF2B5EF4-FFF2-40B4-BE49-F238E27FC236}">
                <a16:creationId xmlns:a16="http://schemas.microsoft.com/office/drawing/2014/main" id="{E0ECBB27-7CB9-D185-BCEE-2BF71FF13FF4}"/>
              </a:ext>
            </a:extLst>
          </p:cNvPr>
          <p:cNvSpPr/>
          <p:nvPr/>
        </p:nvSpPr>
        <p:spPr>
          <a:xfrm>
            <a:off x="4259064" y="3917146"/>
            <a:ext cx="4678326" cy="1293318"/>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9" name="正方形/長方形 9">
            <a:extLst>
              <a:ext uri="{FF2B5EF4-FFF2-40B4-BE49-F238E27FC236}">
                <a16:creationId xmlns:a16="http://schemas.microsoft.com/office/drawing/2014/main" id="{88AC8306-63A6-C752-1E4B-35DA69E92D99}"/>
              </a:ext>
            </a:extLst>
          </p:cNvPr>
          <p:cNvSpPr/>
          <p:nvPr/>
        </p:nvSpPr>
        <p:spPr>
          <a:xfrm>
            <a:off x="4312225" y="5653555"/>
            <a:ext cx="4634347" cy="684209"/>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0" name="Right Arrow 19">
            <a:extLst>
              <a:ext uri="{FF2B5EF4-FFF2-40B4-BE49-F238E27FC236}">
                <a16:creationId xmlns:a16="http://schemas.microsoft.com/office/drawing/2014/main" id="{DE9FC21E-778A-3BC5-349E-D2856A49CE69}"/>
              </a:ext>
            </a:extLst>
          </p:cNvPr>
          <p:cNvSpPr/>
          <p:nvPr/>
        </p:nvSpPr>
        <p:spPr>
          <a:xfrm>
            <a:off x="3896591" y="4526281"/>
            <a:ext cx="249382"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1" name="Right Arrow 20">
            <a:extLst>
              <a:ext uri="{FF2B5EF4-FFF2-40B4-BE49-F238E27FC236}">
                <a16:creationId xmlns:a16="http://schemas.microsoft.com/office/drawing/2014/main" id="{8A76184D-79C6-D419-F09A-9D975FFF5118}"/>
              </a:ext>
            </a:extLst>
          </p:cNvPr>
          <p:cNvSpPr/>
          <p:nvPr/>
        </p:nvSpPr>
        <p:spPr>
          <a:xfrm rot="5400000">
            <a:off x="4805555" y="5375782"/>
            <a:ext cx="177126" cy="83127"/>
          </a:xfrm>
          <a:prstGeom prst="rightArrow">
            <a:avLst>
              <a:gd name="adj1" fmla="val 50000"/>
              <a:gd name="adj2" fmla="val 458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294732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8B91D8-533F-36BB-3CBD-2C2CAC311AC2}"/>
              </a:ext>
            </a:extLst>
          </p:cNvPr>
          <p:cNvSpPr txBox="1"/>
          <p:nvPr/>
        </p:nvSpPr>
        <p:spPr>
          <a:xfrm>
            <a:off x="347987" y="165546"/>
            <a:ext cx="4572000" cy="369332"/>
          </a:xfrm>
          <a:prstGeom prst="rect">
            <a:avLst/>
          </a:prstGeom>
          <a:noFill/>
        </p:spPr>
        <p:txBody>
          <a:bodyPr wrap="square">
            <a:spAutoFit/>
          </a:bodyPr>
          <a:lstStyle/>
          <a:p>
            <a:pPr marL="285750" indent="-285750">
              <a:buFont typeface="Arial" panose="020B0604020202020204" pitchFamily="34" charset="0"/>
              <a:buChar char="•"/>
            </a:pPr>
            <a:r>
              <a:rPr lang="en-US" b="1" dirty="0">
                <a:solidFill>
                  <a:srgbClr val="C00000"/>
                </a:solidFill>
                <a:latin typeface="Meiryo" panose="020B0604030504040204" pitchFamily="34" charset="-128"/>
                <a:ea typeface="Meiryo" panose="020B0604030504040204" pitchFamily="34" charset="-128"/>
              </a:rPr>
              <a:t>MINT </a:t>
            </a:r>
            <a:r>
              <a:rPr lang="ja-JP" altLang="en-US" b="1">
                <a:solidFill>
                  <a:srgbClr val="C00000"/>
                </a:solidFill>
                <a:latin typeface="Meiryo" panose="020B0604030504040204" pitchFamily="34" charset="-128"/>
                <a:ea typeface="Meiryo" panose="020B0604030504040204" pitchFamily="34" charset="-128"/>
              </a:rPr>
              <a:t>に基づく逆フィルタリング構成</a:t>
            </a:r>
            <a:endParaRPr lang="en-JP" b="1" dirty="0">
              <a:solidFill>
                <a:srgbClr val="C00000"/>
              </a:solidFill>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4A7868E6-9590-F1BB-952B-7BD63135D4A4}"/>
              </a:ext>
            </a:extLst>
          </p:cNvPr>
          <p:cNvSpPr txBox="1"/>
          <p:nvPr/>
        </p:nvSpPr>
        <p:spPr>
          <a:xfrm>
            <a:off x="5424270" y="1479608"/>
            <a:ext cx="3886200"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 室内における音響伝達経路</a:t>
            </a:r>
          </a:p>
          <a:p>
            <a:r>
              <a:rPr lang="en-JP" sz="1600" dirty="0">
                <a:latin typeface="Meiryo" panose="020B0604030504040204" pitchFamily="34" charset="-128"/>
                <a:ea typeface="Meiryo" panose="020B0604030504040204" pitchFamily="34" charset="-128"/>
              </a:rPr>
              <a:t>（壁・天井・床などによる反射を含む）</a:t>
            </a:r>
          </a:p>
        </p:txBody>
      </p:sp>
      <p:pic>
        <p:nvPicPr>
          <p:cNvPr id="13" name="Picture 12">
            <a:extLst>
              <a:ext uri="{FF2B5EF4-FFF2-40B4-BE49-F238E27FC236}">
                <a16:creationId xmlns:a16="http://schemas.microsoft.com/office/drawing/2014/main" id="{BFE06971-3BC1-EFAD-141B-6D6CE869AA09}"/>
              </a:ext>
            </a:extLst>
          </p:cNvPr>
          <p:cNvPicPr>
            <a:picLocks noChangeAspect="1"/>
          </p:cNvPicPr>
          <p:nvPr/>
        </p:nvPicPr>
        <p:blipFill>
          <a:blip r:embed="rId3"/>
          <a:stretch>
            <a:fillRect/>
          </a:stretch>
        </p:blipFill>
        <p:spPr>
          <a:xfrm>
            <a:off x="5633531" y="1951710"/>
            <a:ext cx="1419513" cy="431800"/>
          </a:xfrm>
          <a:prstGeom prst="rect">
            <a:avLst/>
          </a:prstGeom>
        </p:spPr>
      </p:pic>
      <p:sp>
        <p:nvSpPr>
          <p:cNvPr id="14" name="正方形/長方形 9">
            <a:extLst>
              <a:ext uri="{FF2B5EF4-FFF2-40B4-BE49-F238E27FC236}">
                <a16:creationId xmlns:a16="http://schemas.microsoft.com/office/drawing/2014/main" id="{3C6B5591-185B-922B-2419-A2E1ED194A99}"/>
              </a:ext>
            </a:extLst>
          </p:cNvPr>
          <p:cNvSpPr/>
          <p:nvPr/>
        </p:nvSpPr>
        <p:spPr>
          <a:xfrm>
            <a:off x="5424270" y="1413669"/>
            <a:ext cx="3719730" cy="1045942"/>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6" name="TextBox 15">
            <a:extLst>
              <a:ext uri="{FF2B5EF4-FFF2-40B4-BE49-F238E27FC236}">
                <a16:creationId xmlns:a16="http://schemas.microsoft.com/office/drawing/2014/main" id="{88520B86-AAD8-B701-F6AD-C32188637054}"/>
              </a:ext>
            </a:extLst>
          </p:cNvPr>
          <p:cNvSpPr txBox="1"/>
          <p:nvPr/>
        </p:nvSpPr>
        <p:spPr>
          <a:xfrm>
            <a:off x="5579196" y="3134892"/>
            <a:ext cx="3544022" cy="369332"/>
          </a:xfrm>
          <a:prstGeom prst="rect">
            <a:avLst/>
          </a:prstGeom>
          <a:noFill/>
        </p:spPr>
        <p:txBody>
          <a:bodyPr wrap="square">
            <a:spAutoFit/>
          </a:bodyPr>
          <a:lstStyle/>
          <a:p>
            <a:pPr>
              <a:buFont typeface="Arial" panose="020B0604020202020204" pitchFamily="34" charset="0"/>
              <a:buChar char="•"/>
            </a:pPr>
            <a:r>
              <a:rPr lang="ja-JP" altLang="en-US"/>
              <a:t>設計する</a:t>
            </a:r>
            <a:r>
              <a:rPr lang="en-US" altLang="ja-JP" dirty="0"/>
              <a:t>2</a:t>
            </a:r>
            <a:r>
              <a:rPr lang="ja-JP" altLang="en-US"/>
              <a:t>つの</a:t>
            </a:r>
            <a:r>
              <a:rPr lang="en-US" dirty="0"/>
              <a:t>FIR</a:t>
            </a:r>
            <a:r>
              <a:rPr lang="ja-JP" altLang="en-US"/>
              <a:t>逆フィルタ</a:t>
            </a:r>
          </a:p>
        </p:txBody>
      </p:sp>
      <p:pic>
        <p:nvPicPr>
          <p:cNvPr id="17" name="Picture 16">
            <a:extLst>
              <a:ext uri="{FF2B5EF4-FFF2-40B4-BE49-F238E27FC236}">
                <a16:creationId xmlns:a16="http://schemas.microsoft.com/office/drawing/2014/main" id="{EF767DE2-F64B-58A3-322D-19742D705514}"/>
              </a:ext>
            </a:extLst>
          </p:cNvPr>
          <p:cNvPicPr>
            <a:picLocks noChangeAspect="1"/>
          </p:cNvPicPr>
          <p:nvPr/>
        </p:nvPicPr>
        <p:blipFill>
          <a:blip r:embed="rId4"/>
          <a:stretch>
            <a:fillRect/>
          </a:stretch>
        </p:blipFill>
        <p:spPr>
          <a:xfrm>
            <a:off x="6343288" y="2678545"/>
            <a:ext cx="1739900" cy="406400"/>
          </a:xfrm>
          <a:prstGeom prst="rect">
            <a:avLst/>
          </a:prstGeom>
        </p:spPr>
      </p:pic>
      <p:sp>
        <p:nvSpPr>
          <p:cNvPr id="18" name="正方形/長方形 9">
            <a:extLst>
              <a:ext uri="{FF2B5EF4-FFF2-40B4-BE49-F238E27FC236}">
                <a16:creationId xmlns:a16="http://schemas.microsoft.com/office/drawing/2014/main" id="{5827735F-2F14-1719-5C11-826B1E9DB6E5}"/>
              </a:ext>
            </a:extLst>
          </p:cNvPr>
          <p:cNvSpPr/>
          <p:nvPr/>
        </p:nvSpPr>
        <p:spPr>
          <a:xfrm>
            <a:off x="5424270" y="2612507"/>
            <a:ext cx="3698948" cy="1045942"/>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0" name="TextBox 19">
            <a:extLst>
              <a:ext uri="{FF2B5EF4-FFF2-40B4-BE49-F238E27FC236}">
                <a16:creationId xmlns:a16="http://schemas.microsoft.com/office/drawing/2014/main" id="{260B0E6E-3F9C-4C69-023E-6439E5FDD4D8}"/>
              </a:ext>
            </a:extLst>
          </p:cNvPr>
          <p:cNvSpPr txBox="1"/>
          <p:nvPr/>
        </p:nvSpPr>
        <p:spPr>
          <a:xfrm>
            <a:off x="176140" y="4411348"/>
            <a:ext cx="5704825" cy="830997"/>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cs typeface="Times New Roman" panose="02020603050405020304" pitchFamily="18" charset="0"/>
              </a:rPr>
              <a:t>Fig.3 </a:t>
            </a:r>
            <a:r>
              <a:rPr lang="ja-JP" altLang="en-US" sz="1600">
                <a:latin typeface="Meiryo" panose="020B0604030504040204" pitchFamily="34" charset="-128"/>
                <a:ea typeface="Meiryo" panose="020B0604030504040204" pitchFamily="34" charset="-128"/>
                <a:cs typeface="Times New Roman" panose="02020603050405020304" pitchFamily="18" charset="0"/>
              </a:rPr>
              <a:t>は，</a:t>
            </a:r>
            <a:r>
              <a:rPr lang="en-US" sz="1600" dirty="0" err="1">
                <a:latin typeface="Meiryo" panose="020B0604030504040204" pitchFamily="34" charset="-128"/>
                <a:ea typeface="Meiryo" panose="020B0604030504040204" pitchFamily="34" charset="-128"/>
                <a:cs typeface="Times New Roman" panose="02020603050405020304" pitchFamily="18" charset="0"/>
              </a:rPr>
              <a:t>MINT（Multiple-Input</a:t>
            </a:r>
            <a:r>
              <a:rPr lang="en-US" sz="1600" dirty="0">
                <a:latin typeface="Meiryo" panose="020B0604030504040204" pitchFamily="34" charset="-128"/>
                <a:ea typeface="Meiryo" panose="020B0604030504040204" pitchFamily="34" charset="-128"/>
                <a:cs typeface="Times New Roman" panose="02020603050405020304" pitchFamily="18" charset="0"/>
              </a:rPr>
              <a:t>/Output Inverse Theorem）</a:t>
            </a:r>
            <a:r>
              <a:rPr lang="ja-JP" altLang="en-US" sz="1600">
                <a:latin typeface="Meiryo" panose="020B0604030504040204" pitchFamily="34" charset="-128"/>
                <a:ea typeface="Meiryo" panose="020B0604030504040204" pitchFamily="34" charset="-128"/>
                <a:cs typeface="Times New Roman" panose="02020603050405020304" pitchFamily="18" charset="0"/>
              </a:rPr>
              <a:t>に基づく</a:t>
            </a:r>
          </a:p>
          <a:p>
            <a:r>
              <a:rPr lang="ja-JP" altLang="en-US" sz="1600">
                <a:latin typeface="Meiryo" panose="020B0604030504040204" pitchFamily="34" charset="-128"/>
                <a:ea typeface="Meiryo" panose="020B0604030504040204" pitchFamily="34" charset="-128"/>
                <a:cs typeface="Times New Roman" panose="02020603050405020304" pitchFamily="18" charset="0"/>
              </a:rPr>
              <a:t>提案された逆フィルタリング手法の基本構成を示している</a:t>
            </a:r>
            <a:endParaRPr lang="en-JP" sz="16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26" name="TextBox 25">
            <a:extLst>
              <a:ext uri="{FF2B5EF4-FFF2-40B4-BE49-F238E27FC236}">
                <a16:creationId xmlns:a16="http://schemas.microsoft.com/office/drawing/2014/main" id="{111D44DD-E800-07A4-73E3-FDC04BA400CC}"/>
              </a:ext>
            </a:extLst>
          </p:cNvPr>
          <p:cNvSpPr txBox="1"/>
          <p:nvPr/>
        </p:nvSpPr>
        <p:spPr>
          <a:xfrm>
            <a:off x="347987" y="6306482"/>
            <a:ext cx="8066881" cy="369332"/>
          </a:xfrm>
          <a:prstGeom prst="rect">
            <a:avLst/>
          </a:prstGeom>
          <a:noFill/>
        </p:spPr>
        <p:txBody>
          <a:bodyPr wrap="square">
            <a:spAutoFit/>
          </a:bodyPr>
          <a:lstStyle/>
          <a:p>
            <a:r>
              <a:rPr lang="en-JP" dirty="0">
                <a:solidFill>
                  <a:srgbClr val="FFC000"/>
                </a:solidFill>
              </a:rPr>
              <a:t>2つの入力信号が、1つの出力信号に合成されるシステム という意味です.</a:t>
            </a:r>
          </a:p>
        </p:txBody>
      </p:sp>
      <p:pic>
        <p:nvPicPr>
          <p:cNvPr id="28" name="Picture 27">
            <a:extLst>
              <a:ext uri="{FF2B5EF4-FFF2-40B4-BE49-F238E27FC236}">
                <a16:creationId xmlns:a16="http://schemas.microsoft.com/office/drawing/2014/main" id="{969DEF73-BE19-2621-8233-F260FCD70488}"/>
              </a:ext>
            </a:extLst>
          </p:cNvPr>
          <p:cNvPicPr>
            <a:picLocks noChangeAspect="1"/>
          </p:cNvPicPr>
          <p:nvPr/>
        </p:nvPicPr>
        <p:blipFill>
          <a:blip r:embed="rId5"/>
          <a:stretch>
            <a:fillRect/>
          </a:stretch>
        </p:blipFill>
        <p:spPr>
          <a:xfrm>
            <a:off x="176140" y="659045"/>
            <a:ext cx="5143500" cy="3695700"/>
          </a:xfrm>
          <a:prstGeom prst="rect">
            <a:avLst/>
          </a:prstGeom>
        </p:spPr>
      </p:pic>
      <p:pic>
        <p:nvPicPr>
          <p:cNvPr id="29" name="Picture 28">
            <a:extLst>
              <a:ext uri="{FF2B5EF4-FFF2-40B4-BE49-F238E27FC236}">
                <a16:creationId xmlns:a16="http://schemas.microsoft.com/office/drawing/2014/main" id="{0C7096D3-0982-A878-1F00-18813FE2CB36}"/>
              </a:ext>
            </a:extLst>
          </p:cNvPr>
          <p:cNvPicPr>
            <a:picLocks noChangeAspect="1"/>
          </p:cNvPicPr>
          <p:nvPr/>
        </p:nvPicPr>
        <p:blipFill>
          <a:blip r:embed="rId6"/>
          <a:stretch>
            <a:fillRect/>
          </a:stretch>
        </p:blipFill>
        <p:spPr>
          <a:xfrm>
            <a:off x="176537" y="5242345"/>
            <a:ext cx="4914900" cy="838200"/>
          </a:xfrm>
          <a:prstGeom prst="rect">
            <a:avLst/>
          </a:prstGeom>
        </p:spPr>
      </p:pic>
      <p:sp>
        <p:nvSpPr>
          <p:cNvPr id="31" name="TextBox 30">
            <a:extLst>
              <a:ext uri="{FF2B5EF4-FFF2-40B4-BE49-F238E27FC236}">
                <a16:creationId xmlns:a16="http://schemas.microsoft.com/office/drawing/2014/main" id="{6BEBD91F-63D7-001E-CCD5-7D40A8E8CF71}"/>
              </a:ext>
            </a:extLst>
          </p:cNvPr>
          <p:cNvSpPr txBox="1"/>
          <p:nvPr/>
        </p:nvSpPr>
        <p:spPr>
          <a:xfrm>
            <a:off x="5935409" y="4221950"/>
            <a:ext cx="3375061" cy="1477328"/>
          </a:xfrm>
          <a:prstGeom prst="rect">
            <a:avLst/>
          </a:prstGeom>
          <a:noFill/>
        </p:spPr>
        <p:txBody>
          <a:bodyPr wrap="square">
            <a:spAutoFit/>
          </a:bodyPr>
          <a:lstStyle/>
          <a:p>
            <a:r>
              <a:rPr lang="en-JP" dirty="0">
                <a:solidFill>
                  <a:srgbClr val="FFC000"/>
                </a:solidFill>
                <a:latin typeface="Meiryo" panose="020B0604030504040204" pitchFamily="34" charset="-128"/>
                <a:ea typeface="Meiryo" panose="020B0604030504040204" pitchFamily="34" charset="-128"/>
              </a:rPr>
              <a:t>ポイント：</a:t>
            </a:r>
          </a:p>
          <a:p>
            <a:r>
              <a:rPr lang="en-JP" dirty="0">
                <a:solidFill>
                  <a:srgbClr val="FFC000"/>
                </a:solidFill>
                <a:latin typeface="Meiryo" panose="020B0604030504040204" pitchFamily="34" charset="-128"/>
                <a:ea typeface="Meiryo" panose="020B0604030504040204" pitchFamily="34" charset="-128"/>
              </a:rPr>
              <a:t>単一チャネルでは不可能</a:t>
            </a:r>
          </a:p>
          <a:p>
            <a:r>
              <a:rPr lang="en-JP" dirty="0">
                <a:solidFill>
                  <a:srgbClr val="FFC000"/>
                </a:solidFill>
                <a:latin typeface="Meiryo" panose="020B0604030504040204" pitchFamily="34" charset="-128"/>
                <a:ea typeface="Meiryo" panose="020B0604030504040204" pitchFamily="34" charset="-128"/>
              </a:rPr>
              <a:t>2つの経路を「足し合わせて」完全逆を作る</a:t>
            </a:r>
          </a:p>
          <a:p>
            <a:r>
              <a:rPr lang="en-JP" dirty="0">
                <a:solidFill>
                  <a:srgbClr val="FFC000"/>
                </a:solidFill>
                <a:latin typeface="Meiryo" panose="020B0604030504040204" pitchFamily="34" charset="-128"/>
                <a:ea typeface="Meiryo" panose="020B0604030504040204" pitchFamily="34" charset="-128"/>
              </a:rPr>
              <a:t>これが MINT の核心</a:t>
            </a:r>
          </a:p>
        </p:txBody>
      </p:sp>
    </p:spTree>
    <p:extLst>
      <p:ext uri="{BB962C8B-B14F-4D97-AF65-F5344CB8AC3E}">
        <p14:creationId xmlns:p14="http://schemas.microsoft.com/office/powerpoint/2010/main" val="579218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5485E8-6370-8A17-1C86-CA04CB50B47C}"/>
              </a:ext>
            </a:extLst>
          </p:cNvPr>
          <p:cNvSpPr txBox="1"/>
          <p:nvPr/>
        </p:nvSpPr>
        <p:spPr>
          <a:xfrm>
            <a:off x="550718" y="702255"/>
            <a:ext cx="8437418" cy="369332"/>
          </a:xfrm>
          <a:prstGeom prst="rect">
            <a:avLst/>
          </a:prstGeom>
          <a:noFill/>
        </p:spPr>
        <p:txBody>
          <a:bodyPr wrap="square">
            <a:spAutoFit/>
          </a:bodyPr>
          <a:lstStyle/>
          <a:p>
            <a:endParaRPr lang="en-JP"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1F91F9FD-7F88-71F2-CADF-29EDD4A67B82}"/>
              </a:ext>
            </a:extLst>
          </p:cNvPr>
          <p:cNvSpPr txBox="1"/>
          <p:nvPr/>
        </p:nvSpPr>
        <p:spPr>
          <a:xfrm>
            <a:off x="155862" y="168625"/>
            <a:ext cx="8052956" cy="369332"/>
          </a:xfrm>
          <a:prstGeom prst="rect">
            <a:avLst/>
          </a:prstGeom>
          <a:noFill/>
        </p:spPr>
        <p:txBody>
          <a:bodyPr wrap="square">
            <a:spAutoFit/>
          </a:bodyPr>
          <a:lstStyle/>
          <a:p>
            <a:pPr marL="285750" indent="-285750">
              <a:buFont typeface="Arial" panose="020B0604020202020204" pitchFamily="34" charset="0"/>
              <a:buChar char="•"/>
            </a:pPr>
            <a:r>
              <a:rPr lang="ja-JP" altLang="en-US" b="1">
                <a:solidFill>
                  <a:srgbClr val="C00000"/>
                </a:solidFill>
                <a:latin typeface="Meiryo" panose="020B0604030504040204" pitchFamily="34" charset="-128"/>
                <a:ea typeface="Meiryo" panose="020B0604030504040204" pitchFamily="34" charset="-128"/>
              </a:rPr>
              <a:t>提案手法を用いた音場再生（</a:t>
            </a:r>
            <a:r>
              <a:rPr lang="en-US" b="1" dirty="0">
                <a:solidFill>
                  <a:srgbClr val="C00000"/>
                </a:solidFill>
                <a:latin typeface="Meiryo" panose="020B0604030504040204" pitchFamily="34" charset="-128"/>
                <a:ea typeface="Meiryo" panose="020B0604030504040204" pitchFamily="34" charset="-128"/>
              </a:rPr>
              <a:t>Sound Reproduction）</a:t>
            </a:r>
            <a:endParaRPr lang="en-JP" b="1" dirty="0">
              <a:solidFill>
                <a:srgbClr val="C00000"/>
              </a:solidFill>
              <a:latin typeface="Meiryo" panose="020B0604030504040204" pitchFamily="34" charset="-128"/>
              <a:ea typeface="Meiryo" panose="020B0604030504040204" pitchFamily="34" charset="-128"/>
            </a:endParaRPr>
          </a:p>
        </p:txBody>
      </p:sp>
      <p:pic>
        <p:nvPicPr>
          <p:cNvPr id="8" name="Picture 7">
            <a:extLst>
              <a:ext uri="{FF2B5EF4-FFF2-40B4-BE49-F238E27FC236}">
                <a16:creationId xmlns:a16="http://schemas.microsoft.com/office/drawing/2014/main" id="{EE497840-AE9D-F381-15B9-943394B63D44}"/>
              </a:ext>
            </a:extLst>
          </p:cNvPr>
          <p:cNvPicPr>
            <a:picLocks noChangeAspect="1"/>
          </p:cNvPicPr>
          <p:nvPr/>
        </p:nvPicPr>
        <p:blipFill>
          <a:blip r:embed="rId2"/>
          <a:stretch>
            <a:fillRect/>
          </a:stretch>
        </p:blipFill>
        <p:spPr>
          <a:xfrm>
            <a:off x="16164" y="645217"/>
            <a:ext cx="5283200" cy="3403600"/>
          </a:xfrm>
          <a:prstGeom prst="rect">
            <a:avLst/>
          </a:prstGeom>
        </p:spPr>
      </p:pic>
      <p:sp>
        <p:nvSpPr>
          <p:cNvPr id="10" name="TextBox 9">
            <a:extLst>
              <a:ext uri="{FF2B5EF4-FFF2-40B4-BE49-F238E27FC236}">
                <a16:creationId xmlns:a16="http://schemas.microsoft.com/office/drawing/2014/main" id="{B586C4FC-7549-57A8-AAC5-14B5D844EAEA}"/>
              </a:ext>
            </a:extLst>
          </p:cNvPr>
          <p:cNvSpPr txBox="1"/>
          <p:nvPr/>
        </p:nvSpPr>
        <p:spPr>
          <a:xfrm>
            <a:off x="197427" y="3996156"/>
            <a:ext cx="4572000" cy="830997"/>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Fig.4 は，Fig.3 の理論を室内音場に適用した例であり，提案手法による音場再生システムを示している</a:t>
            </a:r>
            <a:r>
              <a:rPr lang="mn-MN" sz="1600" dirty="0">
                <a:latin typeface="Meiryo" panose="020B0604030504040204" pitchFamily="34" charset="-128"/>
                <a:ea typeface="Meiryo" panose="020B0604030504040204" pitchFamily="34" charset="-128"/>
              </a:rPr>
              <a:t>.</a:t>
            </a:r>
            <a:endParaRPr lang="en-JP" sz="16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50B31C18-2EA2-8AE8-4206-77F959046A1E}"/>
              </a:ext>
            </a:extLst>
          </p:cNvPr>
          <p:cNvSpPr txBox="1"/>
          <p:nvPr/>
        </p:nvSpPr>
        <p:spPr>
          <a:xfrm>
            <a:off x="5286664" y="1978349"/>
            <a:ext cx="3992418" cy="369332"/>
          </a:xfrm>
          <a:prstGeom prst="rect">
            <a:avLst/>
          </a:prstGeom>
          <a:noFill/>
        </p:spPr>
        <p:txBody>
          <a:bodyPr wrap="square">
            <a:spAutoFit/>
          </a:bodyPr>
          <a:lstStyle/>
          <a:p>
            <a:r>
              <a:rPr lang="en-JP" dirty="0"/>
              <a:t>入力信号 x(k) は，2つの FIR フィルタ</a:t>
            </a:r>
          </a:p>
        </p:txBody>
      </p:sp>
      <p:pic>
        <p:nvPicPr>
          <p:cNvPr id="13" name="Picture 12">
            <a:extLst>
              <a:ext uri="{FF2B5EF4-FFF2-40B4-BE49-F238E27FC236}">
                <a16:creationId xmlns:a16="http://schemas.microsoft.com/office/drawing/2014/main" id="{C557E2D4-F582-BF9B-B938-F354FCDD849A}"/>
              </a:ext>
            </a:extLst>
          </p:cNvPr>
          <p:cNvPicPr>
            <a:picLocks noChangeAspect="1"/>
          </p:cNvPicPr>
          <p:nvPr/>
        </p:nvPicPr>
        <p:blipFill>
          <a:blip r:embed="rId3"/>
          <a:stretch>
            <a:fillRect/>
          </a:stretch>
        </p:blipFill>
        <p:spPr>
          <a:xfrm>
            <a:off x="5164570" y="2347017"/>
            <a:ext cx="1127991" cy="369332"/>
          </a:xfrm>
          <a:prstGeom prst="rect">
            <a:avLst/>
          </a:prstGeom>
        </p:spPr>
      </p:pic>
      <p:sp>
        <p:nvSpPr>
          <p:cNvPr id="15" name="TextBox 14">
            <a:extLst>
              <a:ext uri="{FF2B5EF4-FFF2-40B4-BE49-F238E27FC236}">
                <a16:creationId xmlns:a16="http://schemas.microsoft.com/office/drawing/2014/main" id="{014A6E26-B5E3-1E86-BCCE-8503BCA9884A}"/>
              </a:ext>
            </a:extLst>
          </p:cNvPr>
          <p:cNvSpPr txBox="1"/>
          <p:nvPr/>
        </p:nvSpPr>
        <p:spPr>
          <a:xfrm>
            <a:off x="6307282" y="2329934"/>
            <a:ext cx="2971799"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を通過し，</a:t>
            </a:r>
            <a:r>
              <a:rPr lang="ja-JP" altLang="en-US" sz="1600">
                <a:latin typeface="Meiryo" panose="020B0604030504040204" pitchFamily="34" charset="-128"/>
                <a:ea typeface="Meiryo" panose="020B0604030504040204" pitchFamily="34" charset="-128"/>
              </a:rPr>
              <a:t>それぞれスピーカ</a:t>
            </a:r>
            <a:endParaRPr lang="en-JP" sz="1600" dirty="0">
              <a:latin typeface="Meiryo" panose="020B0604030504040204" pitchFamily="34" charset="-128"/>
              <a:ea typeface="Meiryo" panose="020B0604030504040204" pitchFamily="34" charset="-128"/>
            </a:endParaRPr>
          </a:p>
        </p:txBody>
      </p:sp>
      <p:pic>
        <p:nvPicPr>
          <p:cNvPr id="16" name="Picture 15">
            <a:extLst>
              <a:ext uri="{FF2B5EF4-FFF2-40B4-BE49-F238E27FC236}">
                <a16:creationId xmlns:a16="http://schemas.microsoft.com/office/drawing/2014/main" id="{EA6735CC-EC1F-AF19-7126-8041FEE87588}"/>
              </a:ext>
            </a:extLst>
          </p:cNvPr>
          <p:cNvPicPr>
            <a:picLocks noChangeAspect="1"/>
          </p:cNvPicPr>
          <p:nvPr/>
        </p:nvPicPr>
        <p:blipFill>
          <a:blip r:embed="rId4"/>
          <a:stretch>
            <a:fillRect/>
          </a:stretch>
        </p:blipFill>
        <p:spPr>
          <a:xfrm>
            <a:off x="6534150" y="2639073"/>
            <a:ext cx="787400" cy="381000"/>
          </a:xfrm>
          <a:prstGeom prst="rect">
            <a:avLst/>
          </a:prstGeom>
        </p:spPr>
      </p:pic>
      <p:sp>
        <p:nvSpPr>
          <p:cNvPr id="18" name="TextBox 17">
            <a:extLst>
              <a:ext uri="{FF2B5EF4-FFF2-40B4-BE49-F238E27FC236}">
                <a16:creationId xmlns:a16="http://schemas.microsoft.com/office/drawing/2014/main" id="{80267A27-E1A9-34E0-13F1-1E806E103DEC}"/>
              </a:ext>
            </a:extLst>
          </p:cNvPr>
          <p:cNvSpPr txBox="1"/>
          <p:nvPr/>
        </p:nvSpPr>
        <p:spPr>
          <a:xfrm>
            <a:off x="7321550" y="2668488"/>
            <a:ext cx="1971674" cy="369332"/>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から放射される</a:t>
            </a:r>
          </a:p>
        </p:txBody>
      </p:sp>
      <p:sp>
        <p:nvSpPr>
          <p:cNvPr id="20" name="TextBox 19">
            <a:extLst>
              <a:ext uri="{FF2B5EF4-FFF2-40B4-BE49-F238E27FC236}">
                <a16:creationId xmlns:a16="http://schemas.microsoft.com/office/drawing/2014/main" id="{561E1E91-BDF6-84F4-CF60-F1118C96E10E}"/>
              </a:ext>
            </a:extLst>
          </p:cNvPr>
          <p:cNvSpPr txBox="1"/>
          <p:nvPr/>
        </p:nvSpPr>
        <p:spPr>
          <a:xfrm>
            <a:off x="5299364" y="3763291"/>
            <a:ext cx="4204277"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放射された音は，室内の音響伝達経路</a:t>
            </a:r>
          </a:p>
        </p:txBody>
      </p:sp>
      <p:pic>
        <p:nvPicPr>
          <p:cNvPr id="21" name="Picture 20">
            <a:extLst>
              <a:ext uri="{FF2B5EF4-FFF2-40B4-BE49-F238E27FC236}">
                <a16:creationId xmlns:a16="http://schemas.microsoft.com/office/drawing/2014/main" id="{5A03041C-7335-F18B-5DD1-4A2F8BF62343}"/>
              </a:ext>
            </a:extLst>
          </p:cNvPr>
          <p:cNvPicPr>
            <a:picLocks noChangeAspect="1"/>
          </p:cNvPicPr>
          <p:nvPr/>
        </p:nvPicPr>
        <p:blipFill>
          <a:blip r:embed="rId5"/>
          <a:stretch>
            <a:fillRect/>
          </a:stretch>
        </p:blipFill>
        <p:spPr>
          <a:xfrm>
            <a:off x="5318702" y="4131959"/>
            <a:ext cx="2082800" cy="419100"/>
          </a:xfrm>
          <a:prstGeom prst="rect">
            <a:avLst/>
          </a:prstGeom>
        </p:spPr>
      </p:pic>
      <p:sp>
        <p:nvSpPr>
          <p:cNvPr id="23" name="TextBox 22">
            <a:extLst>
              <a:ext uri="{FF2B5EF4-FFF2-40B4-BE49-F238E27FC236}">
                <a16:creationId xmlns:a16="http://schemas.microsoft.com/office/drawing/2014/main" id="{806D7BA2-5CEF-BDB9-A411-593782DFB119}"/>
              </a:ext>
            </a:extLst>
          </p:cNvPr>
          <p:cNvSpPr txBox="1"/>
          <p:nvPr/>
        </p:nvSpPr>
        <p:spPr>
          <a:xfrm>
            <a:off x="5318702" y="4504150"/>
            <a:ext cx="3960379"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受音点 𝑀 に到達し，重ね合わされる</a:t>
            </a:r>
          </a:p>
        </p:txBody>
      </p:sp>
      <p:sp>
        <p:nvSpPr>
          <p:cNvPr id="25" name="TextBox 24">
            <a:extLst>
              <a:ext uri="{FF2B5EF4-FFF2-40B4-BE49-F238E27FC236}">
                <a16:creationId xmlns:a16="http://schemas.microsoft.com/office/drawing/2014/main" id="{0848133F-50C5-2895-87F1-B3D91D5A1A09}"/>
              </a:ext>
            </a:extLst>
          </p:cNvPr>
          <p:cNvSpPr txBox="1"/>
          <p:nvPr/>
        </p:nvSpPr>
        <p:spPr>
          <a:xfrm>
            <a:off x="7463270" y="4186487"/>
            <a:ext cx="1491095"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を通って</a:t>
            </a:r>
          </a:p>
        </p:txBody>
      </p:sp>
      <p:sp>
        <p:nvSpPr>
          <p:cNvPr id="27" name="TextBox 26">
            <a:extLst>
              <a:ext uri="{FF2B5EF4-FFF2-40B4-BE49-F238E27FC236}">
                <a16:creationId xmlns:a16="http://schemas.microsoft.com/office/drawing/2014/main" id="{6C718FC8-4AE9-2FEE-AB0C-FE682F1750C4}"/>
              </a:ext>
            </a:extLst>
          </p:cNvPr>
          <p:cNvSpPr txBox="1"/>
          <p:nvPr/>
        </p:nvSpPr>
        <p:spPr>
          <a:xfrm>
            <a:off x="1683532" y="5418896"/>
            <a:ext cx="4753840"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MINT 法により設計された逆フィルタの効果によって，受音点では</a:t>
            </a:r>
            <a:r>
              <a:rPr lang="mn-MN" sz="1600" dirty="0">
                <a:latin typeface="Meiryo" panose="020B0604030504040204" pitchFamily="34" charset="-128"/>
                <a:ea typeface="Meiryo" panose="020B0604030504040204" pitchFamily="34" charset="-128"/>
              </a:rPr>
              <a:t> </a:t>
            </a:r>
            <a:endParaRPr lang="en-JP" sz="1600" dirty="0">
              <a:latin typeface="Meiryo" panose="020B0604030504040204" pitchFamily="34" charset="-128"/>
              <a:ea typeface="Meiryo" panose="020B0604030504040204" pitchFamily="34" charset="-128"/>
            </a:endParaRPr>
          </a:p>
        </p:txBody>
      </p:sp>
      <p:pic>
        <p:nvPicPr>
          <p:cNvPr id="28" name="Picture 27">
            <a:extLst>
              <a:ext uri="{FF2B5EF4-FFF2-40B4-BE49-F238E27FC236}">
                <a16:creationId xmlns:a16="http://schemas.microsoft.com/office/drawing/2014/main" id="{D2D520BB-CDCA-995C-A639-0FAD762EF429}"/>
              </a:ext>
            </a:extLst>
          </p:cNvPr>
          <p:cNvPicPr>
            <a:picLocks noChangeAspect="1"/>
          </p:cNvPicPr>
          <p:nvPr/>
        </p:nvPicPr>
        <p:blipFill>
          <a:blip r:embed="rId6"/>
          <a:stretch>
            <a:fillRect/>
          </a:stretch>
        </p:blipFill>
        <p:spPr>
          <a:xfrm>
            <a:off x="3526268" y="5739878"/>
            <a:ext cx="1638300" cy="428591"/>
          </a:xfrm>
          <a:prstGeom prst="rect">
            <a:avLst/>
          </a:prstGeom>
        </p:spPr>
      </p:pic>
      <p:sp>
        <p:nvSpPr>
          <p:cNvPr id="30" name="TextBox 29">
            <a:extLst>
              <a:ext uri="{FF2B5EF4-FFF2-40B4-BE49-F238E27FC236}">
                <a16:creationId xmlns:a16="http://schemas.microsoft.com/office/drawing/2014/main" id="{E7E7C939-805A-9577-7E30-2057A2E8B4F5}"/>
              </a:ext>
            </a:extLst>
          </p:cNvPr>
          <p:cNvSpPr txBox="1"/>
          <p:nvPr/>
        </p:nvSpPr>
        <p:spPr>
          <a:xfrm>
            <a:off x="1780310" y="6212783"/>
            <a:ext cx="4753840"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が成立し，室内の影響を受けない理想的な音再生が実現される</a:t>
            </a:r>
            <a:r>
              <a:rPr lang="mn-MN" sz="1600" dirty="0">
                <a:latin typeface="Meiryo" panose="020B0604030504040204" pitchFamily="34" charset="-128"/>
                <a:ea typeface="Meiryo" panose="020B0604030504040204" pitchFamily="34" charset="-128"/>
              </a:rPr>
              <a:t>.</a:t>
            </a:r>
            <a:endParaRPr lang="en-JP" sz="1600" dirty="0">
              <a:latin typeface="Meiryo" panose="020B0604030504040204" pitchFamily="34" charset="-128"/>
              <a:ea typeface="Meiryo" panose="020B0604030504040204" pitchFamily="34" charset="-128"/>
            </a:endParaRPr>
          </a:p>
        </p:txBody>
      </p:sp>
      <p:sp>
        <p:nvSpPr>
          <p:cNvPr id="31" name="正方形/長方形 9">
            <a:extLst>
              <a:ext uri="{FF2B5EF4-FFF2-40B4-BE49-F238E27FC236}">
                <a16:creationId xmlns:a16="http://schemas.microsoft.com/office/drawing/2014/main" id="{53031731-A7F1-4053-76BC-9CF62C133480}"/>
              </a:ext>
            </a:extLst>
          </p:cNvPr>
          <p:cNvSpPr/>
          <p:nvPr/>
        </p:nvSpPr>
        <p:spPr>
          <a:xfrm>
            <a:off x="5164568" y="1947592"/>
            <a:ext cx="3963268" cy="1045942"/>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2" name="Down Arrow 31">
            <a:extLst>
              <a:ext uri="{FF2B5EF4-FFF2-40B4-BE49-F238E27FC236}">
                <a16:creationId xmlns:a16="http://schemas.microsoft.com/office/drawing/2014/main" id="{AD323A1E-1DA8-327F-ACA0-D9BDDFBB5C01}"/>
              </a:ext>
            </a:extLst>
          </p:cNvPr>
          <p:cNvSpPr/>
          <p:nvPr/>
        </p:nvSpPr>
        <p:spPr>
          <a:xfrm>
            <a:off x="6041034" y="3115384"/>
            <a:ext cx="179615" cy="341074"/>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3" name="正方形/長方形 9">
            <a:extLst>
              <a:ext uri="{FF2B5EF4-FFF2-40B4-BE49-F238E27FC236}">
                <a16:creationId xmlns:a16="http://schemas.microsoft.com/office/drawing/2014/main" id="{B09D7DB8-380E-4E57-9C95-F3859A15E3B4}"/>
              </a:ext>
            </a:extLst>
          </p:cNvPr>
          <p:cNvSpPr/>
          <p:nvPr/>
        </p:nvSpPr>
        <p:spPr>
          <a:xfrm>
            <a:off x="5024868" y="3763291"/>
            <a:ext cx="3963268" cy="1045942"/>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4" name="正方形/長方形 9">
            <a:extLst>
              <a:ext uri="{FF2B5EF4-FFF2-40B4-BE49-F238E27FC236}">
                <a16:creationId xmlns:a16="http://schemas.microsoft.com/office/drawing/2014/main" id="{DE4AE4BF-3DB4-74BD-67BC-9F272BECD9F6}"/>
              </a:ext>
            </a:extLst>
          </p:cNvPr>
          <p:cNvSpPr/>
          <p:nvPr/>
        </p:nvSpPr>
        <p:spPr>
          <a:xfrm>
            <a:off x="1544634" y="5333203"/>
            <a:ext cx="4892738" cy="1407317"/>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5" name="Down Arrow 34">
            <a:extLst>
              <a:ext uri="{FF2B5EF4-FFF2-40B4-BE49-F238E27FC236}">
                <a16:creationId xmlns:a16="http://schemas.microsoft.com/office/drawing/2014/main" id="{E586C5A6-5909-EC18-FDE8-1BCCFD7624D1}"/>
              </a:ext>
            </a:extLst>
          </p:cNvPr>
          <p:cNvSpPr/>
          <p:nvPr/>
        </p:nvSpPr>
        <p:spPr>
          <a:xfrm>
            <a:off x="7006502" y="5041001"/>
            <a:ext cx="179615" cy="341074"/>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940507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57556F-C3F6-7D84-8069-6469A4C67BEE}"/>
              </a:ext>
            </a:extLst>
          </p:cNvPr>
          <p:cNvPicPr>
            <a:picLocks noChangeAspect="1"/>
          </p:cNvPicPr>
          <p:nvPr/>
        </p:nvPicPr>
        <p:blipFill>
          <a:blip r:embed="rId2"/>
          <a:stretch>
            <a:fillRect/>
          </a:stretch>
        </p:blipFill>
        <p:spPr>
          <a:xfrm>
            <a:off x="301336" y="853193"/>
            <a:ext cx="5892800" cy="3810000"/>
          </a:xfrm>
          <a:prstGeom prst="rect">
            <a:avLst/>
          </a:prstGeom>
        </p:spPr>
      </p:pic>
      <p:sp>
        <p:nvSpPr>
          <p:cNvPr id="7" name="TextBox 6">
            <a:extLst>
              <a:ext uri="{FF2B5EF4-FFF2-40B4-BE49-F238E27FC236}">
                <a16:creationId xmlns:a16="http://schemas.microsoft.com/office/drawing/2014/main" id="{82289A59-4004-555D-55CB-E77043ADABB1}"/>
              </a:ext>
            </a:extLst>
          </p:cNvPr>
          <p:cNvSpPr txBox="1"/>
          <p:nvPr/>
        </p:nvSpPr>
        <p:spPr>
          <a:xfrm>
            <a:off x="301336" y="137452"/>
            <a:ext cx="4572000" cy="369332"/>
          </a:xfrm>
          <a:prstGeom prst="rect">
            <a:avLst/>
          </a:prstGeom>
          <a:noFill/>
        </p:spPr>
        <p:txBody>
          <a:bodyPr wrap="square">
            <a:spAutoFit/>
          </a:bodyPr>
          <a:lstStyle/>
          <a:p>
            <a:pPr marL="285750" indent="-285750">
              <a:buFont typeface="Arial" panose="020B0604020202020204" pitchFamily="34" charset="0"/>
              <a:buChar char="•"/>
            </a:pPr>
            <a:r>
              <a:rPr lang="en-JP" b="1" dirty="0">
                <a:solidFill>
                  <a:srgbClr val="C00000"/>
                </a:solidFill>
                <a:latin typeface="Meiryo" panose="020B0604030504040204" pitchFamily="34" charset="-128"/>
                <a:ea typeface="Meiryo" panose="020B0604030504040204" pitchFamily="34" charset="-128"/>
              </a:rPr>
              <a:t>残響除去：Dereverberation</a:t>
            </a:r>
          </a:p>
        </p:txBody>
      </p:sp>
      <p:sp>
        <p:nvSpPr>
          <p:cNvPr id="9" name="TextBox 8">
            <a:extLst>
              <a:ext uri="{FF2B5EF4-FFF2-40B4-BE49-F238E27FC236}">
                <a16:creationId xmlns:a16="http://schemas.microsoft.com/office/drawing/2014/main" id="{580B6EE7-230E-B970-DDE6-A4B01F52B0A5}"/>
              </a:ext>
            </a:extLst>
          </p:cNvPr>
          <p:cNvSpPr txBox="1"/>
          <p:nvPr/>
        </p:nvSpPr>
        <p:spPr>
          <a:xfrm>
            <a:off x="696191" y="483861"/>
            <a:ext cx="5642264" cy="369332"/>
          </a:xfrm>
          <a:prstGeom prst="rect">
            <a:avLst/>
          </a:prstGeom>
          <a:noFill/>
        </p:spPr>
        <p:txBody>
          <a:bodyPr wrap="square">
            <a:spAutoFit/>
          </a:bodyPr>
          <a:lstStyle/>
          <a:p>
            <a:pPr marL="285750" indent="-285750">
              <a:buFont typeface="Wingdings" pitchFamily="2" charset="2"/>
              <a:buChar char="Ø"/>
            </a:pPr>
            <a:r>
              <a:rPr lang="en-JP" dirty="0">
                <a:solidFill>
                  <a:schemeClr val="accent1">
                    <a:lumMod val="60000"/>
                    <a:lumOff val="40000"/>
                  </a:schemeClr>
                </a:solidFill>
                <a:latin typeface="Meiryo" panose="020B0604030504040204" pitchFamily="34" charset="-128"/>
                <a:ea typeface="Meiryo" panose="020B0604030504040204" pitchFamily="34" charset="-128"/>
              </a:rPr>
              <a:t>単一入力・二出力システムへの MINT の適用</a:t>
            </a:r>
          </a:p>
        </p:txBody>
      </p:sp>
      <p:sp>
        <p:nvSpPr>
          <p:cNvPr id="11" name="TextBox 10">
            <a:extLst>
              <a:ext uri="{FF2B5EF4-FFF2-40B4-BE49-F238E27FC236}">
                <a16:creationId xmlns:a16="http://schemas.microsoft.com/office/drawing/2014/main" id="{FF8453C6-A307-9AB6-5D78-9ADB266263A1}"/>
              </a:ext>
            </a:extLst>
          </p:cNvPr>
          <p:cNvSpPr txBox="1"/>
          <p:nvPr/>
        </p:nvSpPr>
        <p:spPr>
          <a:xfrm>
            <a:off x="436418" y="4492583"/>
            <a:ext cx="4894118" cy="830997"/>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Fig.5 は，単一入力・二出力（1-input 2-output）の線形FIRシステムにMINT を適用した逆フィルタリング構成を示している.</a:t>
            </a:r>
          </a:p>
        </p:txBody>
      </p:sp>
      <p:sp>
        <p:nvSpPr>
          <p:cNvPr id="13" name="TextBox 12">
            <a:extLst>
              <a:ext uri="{FF2B5EF4-FFF2-40B4-BE49-F238E27FC236}">
                <a16:creationId xmlns:a16="http://schemas.microsoft.com/office/drawing/2014/main" id="{BBC495A4-956B-1F43-42B9-17493E4F41D3}"/>
              </a:ext>
            </a:extLst>
          </p:cNvPr>
          <p:cNvSpPr txBox="1"/>
          <p:nvPr/>
        </p:nvSpPr>
        <p:spPr>
          <a:xfrm>
            <a:off x="5569527" y="1199602"/>
            <a:ext cx="3273137"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入力信号 x(k) は，室内音場において 2つの伝送経路</a:t>
            </a:r>
          </a:p>
        </p:txBody>
      </p:sp>
      <p:pic>
        <p:nvPicPr>
          <p:cNvPr id="14" name="Picture 13">
            <a:extLst>
              <a:ext uri="{FF2B5EF4-FFF2-40B4-BE49-F238E27FC236}">
                <a16:creationId xmlns:a16="http://schemas.microsoft.com/office/drawing/2014/main" id="{C5D7DFDF-94C2-ACB5-FFC5-05CF3F6DF253}"/>
              </a:ext>
            </a:extLst>
          </p:cNvPr>
          <p:cNvPicPr>
            <a:picLocks noChangeAspect="1"/>
          </p:cNvPicPr>
          <p:nvPr/>
        </p:nvPicPr>
        <p:blipFill>
          <a:blip r:embed="rId3"/>
          <a:stretch>
            <a:fillRect/>
          </a:stretch>
        </p:blipFill>
        <p:spPr>
          <a:xfrm>
            <a:off x="6099464" y="1728284"/>
            <a:ext cx="1993900" cy="312400"/>
          </a:xfrm>
          <a:prstGeom prst="rect">
            <a:avLst/>
          </a:prstGeom>
        </p:spPr>
      </p:pic>
      <p:sp>
        <p:nvSpPr>
          <p:cNvPr id="16" name="TextBox 15">
            <a:extLst>
              <a:ext uri="{FF2B5EF4-FFF2-40B4-BE49-F238E27FC236}">
                <a16:creationId xmlns:a16="http://schemas.microsoft.com/office/drawing/2014/main" id="{2090BE1B-B255-EA66-6E8D-C3338FCFB40D}"/>
              </a:ext>
            </a:extLst>
          </p:cNvPr>
          <p:cNvSpPr txBox="1"/>
          <p:nvPr/>
        </p:nvSpPr>
        <p:spPr>
          <a:xfrm>
            <a:off x="5589155" y="2015836"/>
            <a:ext cx="3461328"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を通り，それぞれ異なる出力として観測される.</a:t>
            </a:r>
          </a:p>
        </p:txBody>
      </p:sp>
      <p:sp>
        <p:nvSpPr>
          <p:cNvPr id="18" name="TextBox 17">
            <a:extLst>
              <a:ext uri="{FF2B5EF4-FFF2-40B4-BE49-F238E27FC236}">
                <a16:creationId xmlns:a16="http://schemas.microsoft.com/office/drawing/2014/main" id="{DBF28A1E-C62A-D3F7-DF91-BCE2EFAE49D4}"/>
              </a:ext>
            </a:extLst>
          </p:cNvPr>
          <p:cNvSpPr txBox="1"/>
          <p:nvPr/>
        </p:nvSpPr>
        <p:spPr>
          <a:xfrm>
            <a:off x="5569527" y="2600611"/>
            <a:ext cx="3273136"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これらの出力信号に対して，</a:t>
            </a:r>
            <a:r>
              <a:rPr lang="ja-JP" altLang="en-US" sz="1600">
                <a:latin typeface="Meiryo" panose="020B0604030504040204" pitchFamily="34" charset="-128"/>
                <a:ea typeface="Meiryo" panose="020B0604030504040204" pitchFamily="34" charset="-128"/>
              </a:rPr>
              <a:t>逆フィルタ</a:t>
            </a:r>
            <a:r>
              <a:rPr lang="mn-MN" altLang="ja-JP" sz="1600" dirty="0">
                <a:latin typeface="Meiryo" panose="020B0604030504040204" pitchFamily="34" charset="-128"/>
                <a:ea typeface="Meiryo" panose="020B0604030504040204" pitchFamily="34" charset="-128"/>
              </a:rPr>
              <a:t> </a:t>
            </a:r>
            <a:endParaRPr lang="en-JP" sz="1600" dirty="0">
              <a:latin typeface="Meiryo" panose="020B0604030504040204" pitchFamily="34" charset="-128"/>
              <a:ea typeface="Meiryo" panose="020B0604030504040204" pitchFamily="34" charset="-128"/>
            </a:endParaRPr>
          </a:p>
        </p:txBody>
      </p:sp>
      <p:pic>
        <p:nvPicPr>
          <p:cNvPr id="19" name="Picture 18">
            <a:extLst>
              <a:ext uri="{FF2B5EF4-FFF2-40B4-BE49-F238E27FC236}">
                <a16:creationId xmlns:a16="http://schemas.microsoft.com/office/drawing/2014/main" id="{6F90DDA8-9876-565A-8863-A6E2F0A4A9AD}"/>
              </a:ext>
            </a:extLst>
          </p:cNvPr>
          <p:cNvPicPr>
            <a:picLocks noChangeAspect="1"/>
          </p:cNvPicPr>
          <p:nvPr/>
        </p:nvPicPr>
        <p:blipFill>
          <a:blip r:embed="rId4"/>
          <a:stretch>
            <a:fillRect/>
          </a:stretch>
        </p:blipFill>
        <p:spPr>
          <a:xfrm>
            <a:off x="6625360" y="2856918"/>
            <a:ext cx="1325945" cy="303620"/>
          </a:xfrm>
          <a:prstGeom prst="rect">
            <a:avLst/>
          </a:prstGeom>
        </p:spPr>
      </p:pic>
      <p:sp>
        <p:nvSpPr>
          <p:cNvPr id="21" name="TextBox 20">
            <a:extLst>
              <a:ext uri="{FF2B5EF4-FFF2-40B4-BE49-F238E27FC236}">
                <a16:creationId xmlns:a16="http://schemas.microsoft.com/office/drawing/2014/main" id="{3D0DD255-A598-DCCD-48CF-97145000AB67}"/>
              </a:ext>
            </a:extLst>
          </p:cNvPr>
          <p:cNvSpPr txBox="1"/>
          <p:nvPr/>
        </p:nvSpPr>
        <p:spPr>
          <a:xfrm>
            <a:off x="5569527" y="3103139"/>
            <a:ext cx="3358574"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を適用し，両者を加算することで</a:t>
            </a:r>
          </a:p>
        </p:txBody>
      </p:sp>
      <p:pic>
        <p:nvPicPr>
          <p:cNvPr id="22" name="Picture 21">
            <a:extLst>
              <a:ext uri="{FF2B5EF4-FFF2-40B4-BE49-F238E27FC236}">
                <a16:creationId xmlns:a16="http://schemas.microsoft.com/office/drawing/2014/main" id="{8C5BB695-1B38-435E-5741-418A9FBA7C0B}"/>
              </a:ext>
            </a:extLst>
          </p:cNvPr>
          <p:cNvPicPr>
            <a:picLocks noChangeAspect="1"/>
          </p:cNvPicPr>
          <p:nvPr/>
        </p:nvPicPr>
        <p:blipFill>
          <a:blip r:embed="rId5"/>
          <a:stretch>
            <a:fillRect/>
          </a:stretch>
        </p:blipFill>
        <p:spPr>
          <a:xfrm>
            <a:off x="5761760" y="4235445"/>
            <a:ext cx="2974108" cy="659207"/>
          </a:xfrm>
          <a:prstGeom prst="rect">
            <a:avLst/>
          </a:prstGeom>
        </p:spPr>
      </p:pic>
      <p:sp>
        <p:nvSpPr>
          <p:cNvPr id="27" name="TextBox 26">
            <a:extLst>
              <a:ext uri="{FF2B5EF4-FFF2-40B4-BE49-F238E27FC236}">
                <a16:creationId xmlns:a16="http://schemas.microsoft.com/office/drawing/2014/main" id="{C43F610A-E75B-BD4C-ED77-7F134F3EA2D0}"/>
              </a:ext>
            </a:extLst>
          </p:cNvPr>
          <p:cNvSpPr txBox="1"/>
          <p:nvPr/>
        </p:nvSpPr>
        <p:spPr>
          <a:xfrm>
            <a:off x="5719041" y="4908082"/>
            <a:ext cx="3273136" cy="1077218"/>
          </a:xfrm>
          <a:prstGeom prst="rect">
            <a:avLst/>
          </a:prstGeom>
          <a:noFill/>
        </p:spPr>
        <p:txBody>
          <a:bodyPr wrap="square" rtlCol="0">
            <a:spAutoFit/>
          </a:bodyPr>
          <a:lstStyle/>
          <a:p>
            <a:r>
              <a:rPr lang="ja-JP" altLang="en-US" sz="1600">
                <a:latin typeface="Meiryo" panose="020B0604030504040204" pitchFamily="34" charset="-128"/>
                <a:ea typeface="Meiryo" panose="020B0604030504040204" pitchFamily="34" charset="-128"/>
              </a:rPr>
              <a:t>を満たすように設計されている</a:t>
            </a:r>
            <a:r>
              <a:rPr lang="en-US" altLang="ja-JP" sz="1600" dirty="0">
                <a:latin typeface="Meiryo" panose="020B0604030504040204" pitchFamily="34" charset="-128"/>
                <a:ea typeface="Meiryo" panose="020B0604030504040204" pitchFamily="34" charset="-128"/>
              </a:rPr>
              <a:t>.</a:t>
            </a:r>
          </a:p>
          <a:p>
            <a:r>
              <a:rPr lang="ja-JP" altLang="en-US" sz="1600">
                <a:latin typeface="Meiryo" panose="020B0604030504040204" pitchFamily="34" charset="-128"/>
                <a:ea typeface="Meiryo" panose="020B0604030504040204" pitchFamily="34" charset="-128"/>
              </a:rPr>
              <a:t>その結果，システム全体として 正確な逆特性（</a:t>
            </a:r>
            <a:r>
              <a:rPr lang="en-US" sz="1600" dirty="0">
                <a:latin typeface="Meiryo" panose="020B0604030504040204" pitchFamily="34" charset="-128"/>
                <a:ea typeface="Meiryo" panose="020B0604030504040204" pitchFamily="34" charset="-128"/>
              </a:rPr>
              <a:t>Exact inverse）</a:t>
            </a:r>
            <a:r>
              <a:rPr lang="ja-JP" altLang="en-US" sz="1600">
                <a:latin typeface="Meiryo" panose="020B0604030504040204" pitchFamily="34" charset="-128"/>
                <a:ea typeface="Meiryo" panose="020B0604030504040204" pitchFamily="34" charset="-128"/>
              </a:rPr>
              <a:t>が実現される</a:t>
            </a:r>
            <a:r>
              <a:rPr lang="mn-MN" altLang="ja-JP" sz="1600" dirty="0">
                <a:latin typeface="Meiryo" panose="020B0604030504040204" pitchFamily="34" charset="-128"/>
                <a:ea typeface="Meiryo" panose="020B0604030504040204" pitchFamily="34" charset="-128"/>
              </a:rPr>
              <a:t>.</a:t>
            </a:r>
            <a:endParaRPr lang="en-JP" sz="1600" dirty="0">
              <a:latin typeface="Meiryo" panose="020B0604030504040204" pitchFamily="34" charset="-128"/>
              <a:ea typeface="Meiryo" panose="020B0604030504040204" pitchFamily="34" charset="-128"/>
            </a:endParaRPr>
          </a:p>
        </p:txBody>
      </p:sp>
      <p:sp>
        <p:nvSpPr>
          <p:cNvPr id="28" name="正方形/長方形 9">
            <a:extLst>
              <a:ext uri="{FF2B5EF4-FFF2-40B4-BE49-F238E27FC236}">
                <a16:creationId xmlns:a16="http://schemas.microsoft.com/office/drawing/2014/main" id="{4D7296AB-6EC9-9BB8-2EA5-28BB834C949F}"/>
              </a:ext>
            </a:extLst>
          </p:cNvPr>
          <p:cNvSpPr/>
          <p:nvPr/>
        </p:nvSpPr>
        <p:spPr>
          <a:xfrm>
            <a:off x="5569526" y="1199602"/>
            <a:ext cx="3480957" cy="2229398"/>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9" name="正方形/長方形 9">
            <a:extLst>
              <a:ext uri="{FF2B5EF4-FFF2-40B4-BE49-F238E27FC236}">
                <a16:creationId xmlns:a16="http://schemas.microsoft.com/office/drawing/2014/main" id="{D4D030B6-24BC-2779-79CE-386ACA0B08B0}"/>
              </a:ext>
            </a:extLst>
          </p:cNvPr>
          <p:cNvSpPr/>
          <p:nvPr/>
        </p:nvSpPr>
        <p:spPr>
          <a:xfrm>
            <a:off x="5589155" y="4281070"/>
            <a:ext cx="3500196" cy="1884100"/>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0" name="Down Arrow 29">
            <a:extLst>
              <a:ext uri="{FF2B5EF4-FFF2-40B4-BE49-F238E27FC236}">
                <a16:creationId xmlns:a16="http://schemas.microsoft.com/office/drawing/2014/main" id="{B54071C3-B5B3-66E7-5F5F-EDA27010DDD3}"/>
              </a:ext>
            </a:extLst>
          </p:cNvPr>
          <p:cNvSpPr/>
          <p:nvPr/>
        </p:nvSpPr>
        <p:spPr>
          <a:xfrm>
            <a:off x="7096414" y="3671534"/>
            <a:ext cx="179615" cy="341074"/>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2" name="TextBox 31">
            <a:extLst>
              <a:ext uri="{FF2B5EF4-FFF2-40B4-BE49-F238E27FC236}">
                <a16:creationId xmlns:a16="http://schemas.microsoft.com/office/drawing/2014/main" id="{9D3C900D-8916-9FB5-7C3A-C1CB0435A6E3}"/>
              </a:ext>
            </a:extLst>
          </p:cNvPr>
          <p:cNvSpPr txBox="1"/>
          <p:nvPr/>
        </p:nvSpPr>
        <p:spPr>
          <a:xfrm>
            <a:off x="570348" y="5749671"/>
            <a:ext cx="3357416" cy="830997"/>
          </a:xfrm>
          <a:prstGeom prst="rect">
            <a:avLst/>
          </a:prstGeom>
          <a:noFill/>
        </p:spPr>
        <p:txBody>
          <a:bodyPr wrap="square">
            <a:spAutoFit/>
          </a:bodyPr>
          <a:lstStyle/>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入力は1つ（音源は1人）</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出力は2つ（複数マイク）</a:t>
            </a:r>
          </a:p>
          <a:p>
            <a:pPr marL="285750" indent="-285750">
              <a:buFont typeface="Arial" panose="020B0604020202020204" pitchFamily="34" charset="0"/>
              <a:buChar char="•"/>
            </a:pPr>
            <a:r>
              <a:rPr lang="en-JP" sz="1600" dirty="0">
                <a:latin typeface="Meiryo" panose="020B0604030504040204" pitchFamily="34" charset="-128"/>
                <a:ea typeface="Meiryo" panose="020B0604030504040204" pitchFamily="34" charset="-128"/>
              </a:rPr>
              <a:t>複数観測を使って「逆」を作る</a:t>
            </a:r>
          </a:p>
        </p:txBody>
      </p:sp>
      <p:sp>
        <p:nvSpPr>
          <p:cNvPr id="33" name="正方形/長方形 9">
            <a:extLst>
              <a:ext uri="{FF2B5EF4-FFF2-40B4-BE49-F238E27FC236}">
                <a16:creationId xmlns:a16="http://schemas.microsoft.com/office/drawing/2014/main" id="{ED036824-61C6-3B2E-33DE-AAE87D98C304}"/>
              </a:ext>
            </a:extLst>
          </p:cNvPr>
          <p:cNvSpPr/>
          <p:nvPr/>
        </p:nvSpPr>
        <p:spPr>
          <a:xfrm>
            <a:off x="501458" y="5446691"/>
            <a:ext cx="3500196" cy="1123238"/>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5" name="TextBox 34">
            <a:extLst>
              <a:ext uri="{FF2B5EF4-FFF2-40B4-BE49-F238E27FC236}">
                <a16:creationId xmlns:a16="http://schemas.microsoft.com/office/drawing/2014/main" id="{0544314C-BC92-D5A9-5DCA-75A4D42E155E}"/>
              </a:ext>
            </a:extLst>
          </p:cNvPr>
          <p:cNvSpPr txBox="1"/>
          <p:nvPr/>
        </p:nvSpPr>
        <p:spPr>
          <a:xfrm>
            <a:off x="880726" y="5435952"/>
            <a:ext cx="2537883"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ポイント</a:t>
            </a:r>
          </a:p>
        </p:txBody>
      </p:sp>
    </p:spTree>
    <p:extLst>
      <p:ext uri="{BB962C8B-B14F-4D97-AF65-F5344CB8AC3E}">
        <p14:creationId xmlns:p14="http://schemas.microsoft.com/office/powerpoint/2010/main" val="5703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B8783A-CA40-E788-E961-AE70BD37162D}"/>
              </a:ext>
            </a:extLst>
          </p:cNvPr>
          <p:cNvPicPr>
            <a:picLocks noChangeAspect="1"/>
          </p:cNvPicPr>
          <p:nvPr/>
        </p:nvPicPr>
        <p:blipFill>
          <a:blip r:embed="rId2"/>
          <a:stretch>
            <a:fillRect/>
          </a:stretch>
        </p:blipFill>
        <p:spPr>
          <a:xfrm>
            <a:off x="249382" y="707737"/>
            <a:ext cx="5422900" cy="3302000"/>
          </a:xfrm>
          <a:prstGeom prst="rect">
            <a:avLst/>
          </a:prstGeom>
        </p:spPr>
      </p:pic>
      <p:sp>
        <p:nvSpPr>
          <p:cNvPr id="6" name="TextBox 5">
            <a:extLst>
              <a:ext uri="{FF2B5EF4-FFF2-40B4-BE49-F238E27FC236}">
                <a16:creationId xmlns:a16="http://schemas.microsoft.com/office/drawing/2014/main" id="{C29EF44C-FF3B-49CA-A31C-F58E39ED0904}"/>
              </a:ext>
            </a:extLst>
          </p:cNvPr>
          <p:cNvSpPr txBox="1"/>
          <p:nvPr/>
        </p:nvSpPr>
        <p:spPr>
          <a:xfrm>
            <a:off x="249382" y="217162"/>
            <a:ext cx="4925291" cy="338554"/>
          </a:xfrm>
          <a:prstGeom prst="rect">
            <a:avLst/>
          </a:prstGeom>
          <a:noFill/>
        </p:spPr>
        <p:txBody>
          <a:bodyPr wrap="square">
            <a:spAutoFit/>
          </a:bodyPr>
          <a:lstStyle/>
          <a:p>
            <a:pPr marL="285750" indent="-285750">
              <a:buFont typeface="Arial" panose="020B0604020202020204" pitchFamily="34" charset="0"/>
              <a:buChar char="•"/>
            </a:pPr>
            <a:r>
              <a:rPr lang="en-JP" sz="1600" b="1" dirty="0">
                <a:solidFill>
                  <a:srgbClr val="C00000"/>
                </a:solidFill>
                <a:latin typeface="Meiryo" panose="020B0604030504040204" pitchFamily="34" charset="-128"/>
                <a:ea typeface="Meiryo" panose="020B0604030504040204" pitchFamily="34" charset="-128"/>
              </a:rPr>
              <a:t>提案手法による残響除去（Dereverberation）</a:t>
            </a:r>
          </a:p>
        </p:txBody>
      </p:sp>
      <p:sp>
        <p:nvSpPr>
          <p:cNvPr id="8" name="TextBox 7">
            <a:extLst>
              <a:ext uri="{FF2B5EF4-FFF2-40B4-BE49-F238E27FC236}">
                <a16:creationId xmlns:a16="http://schemas.microsoft.com/office/drawing/2014/main" id="{2F0D0011-0472-1FE4-12FB-09A1F91246C5}"/>
              </a:ext>
            </a:extLst>
          </p:cNvPr>
          <p:cNvSpPr txBox="1"/>
          <p:nvPr/>
        </p:nvSpPr>
        <p:spPr>
          <a:xfrm>
            <a:off x="249382" y="4009737"/>
            <a:ext cx="4572000"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Fig.6 は，Fig.5 の理論を室内音響に適用した残響除去システムを示している.</a:t>
            </a:r>
          </a:p>
        </p:txBody>
      </p:sp>
      <p:sp>
        <p:nvSpPr>
          <p:cNvPr id="10" name="TextBox 9">
            <a:extLst>
              <a:ext uri="{FF2B5EF4-FFF2-40B4-BE49-F238E27FC236}">
                <a16:creationId xmlns:a16="http://schemas.microsoft.com/office/drawing/2014/main" id="{38E7FB60-9653-D2B9-6428-FFABC0D8F0F6}"/>
              </a:ext>
            </a:extLst>
          </p:cNvPr>
          <p:cNvSpPr txBox="1"/>
          <p:nvPr/>
        </p:nvSpPr>
        <p:spPr>
          <a:xfrm>
            <a:off x="5486400" y="1138824"/>
            <a:ext cx="3356264"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音源 S から放射された音は，</a:t>
            </a:r>
          </a:p>
          <a:p>
            <a:r>
              <a:rPr lang="en-JP" sz="1600" dirty="0">
                <a:latin typeface="Meiryo" panose="020B0604030504040204" pitchFamily="34" charset="-128"/>
                <a:ea typeface="Meiryo" panose="020B0604030504040204" pitchFamily="34" charset="-128"/>
              </a:rPr>
              <a:t>室内の音響伝達経路</a:t>
            </a:r>
          </a:p>
        </p:txBody>
      </p:sp>
      <p:pic>
        <p:nvPicPr>
          <p:cNvPr id="12" name="Picture 11">
            <a:extLst>
              <a:ext uri="{FF2B5EF4-FFF2-40B4-BE49-F238E27FC236}">
                <a16:creationId xmlns:a16="http://schemas.microsoft.com/office/drawing/2014/main" id="{2CC5FEF7-5508-39AB-C7C7-C657D4BEC984}"/>
              </a:ext>
            </a:extLst>
          </p:cNvPr>
          <p:cNvPicPr>
            <a:picLocks noChangeAspect="1"/>
          </p:cNvPicPr>
          <p:nvPr/>
        </p:nvPicPr>
        <p:blipFill>
          <a:blip r:embed="rId3"/>
          <a:stretch>
            <a:fillRect/>
          </a:stretch>
        </p:blipFill>
        <p:spPr>
          <a:xfrm>
            <a:off x="5486400" y="2225680"/>
            <a:ext cx="3594100" cy="457200"/>
          </a:xfrm>
          <a:prstGeom prst="rect">
            <a:avLst/>
          </a:prstGeom>
        </p:spPr>
      </p:pic>
      <p:pic>
        <p:nvPicPr>
          <p:cNvPr id="13" name="Picture 12">
            <a:extLst>
              <a:ext uri="{FF2B5EF4-FFF2-40B4-BE49-F238E27FC236}">
                <a16:creationId xmlns:a16="http://schemas.microsoft.com/office/drawing/2014/main" id="{72112589-7EC4-A7CA-00C5-28EC8CB1CAFC}"/>
              </a:ext>
            </a:extLst>
          </p:cNvPr>
          <p:cNvPicPr>
            <a:picLocks noChangeAspect="1"/>
          </p:cNvPicPr>
          <p:nvPr/>
        </p:nvPicPr>
        <p:blipFill>
          <a:blip r:embed="rId4"/>
          <a:stretch>
            <a:fillRect/>
          </a:stretch>
        </p:blipFill>
        <p:spPr>
          <a:xfrm>
            <a:off x="5538354" y="1755493"/>
            <a:ext cx="1930400" cy="406400"/>
          </a:xfrm>
          <a:prstGeom prst="rect">
            <a:avLst/>
          </a:prstGeom>
        </p:spPr>
      </p:pic>
      <p:sp>
        <p:nvSpPr>
          <p:cNvPr id="15" name="TextBox 14">
            <a:extLst>
              <a:ext uri="{FF2B5EF4-FFF2-40B4-BE49-F238E27FC236}">
                <a16:creationId xmlns:a16="http://schemas.microsoft.com/office/drawing/2014/main" id="{23C11E1A-1F14-1DAB-9B29-811B88D18305}"/>
              </a:ext>
            </a:extLst>
          </p:cNvPr>
          <p:cNvSpPr txBox="1"/>
          <p:nvPr/>
        </p:nvSpPr>
        <p:spPr>
          <a:xfrm>
            <a:off x="5486400" y="2632324"/>
            <a:ext cx="3773055"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収音信号には，壁や天井による</a:t>
            </a:r>
          </a:p>
          <a:p>
            <a:r>
              <a:rPr lang="en-JP" sz="1600" dirty="0">
                <a:latin typeface="Meiryo" panose="020B0604030504040204" pitchFamily="34" charset="-128"/>
                <a:ea typeface="Meiryo" panose="020B0604030504040204" pitchFamily="34" charset="-128"/>
              </a:rPr>
              <a:t>多重反射成分（残響）が含まれている.</a:t>
            </a:r>
          </a:p>
        </p:txBody>
      </p:sp>
      <p:sp>
        <p:nvSpPr>
          <p:cNvPr id="17" name="TextBox 16">
            <a:extLst>
              <a:ext uri="{FF2B5EF4-FFF2-40B4-BE49-F238E27FC236}">
                <a16:creationId xmlns:a16="http://schemas.microsoft.com/office/drawing/2014/main" id="{F7E6E683-4C08-A6CB-4494-4DFAEC0D2DF3}"/>
              </a:ext>
            </a:extLst>
          </p:cNvPr>
          <p:cNvSpPr txBox="1"/>
          <p:nvPr/>
        </p:nvSpPr>
        <p:spPr>
          <a:xfrm>
            <a:off x="5665788" y="3783425"/>
            <a:ext cx="3362759"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各マイク信号に対して逆フィルタ</a:t>
            </a:r>
          </a:p>
        </p:txBody>
      </p:sp>
      <p:pic>
        <p:nvPicPr>
          <p:cNvPr id="18" name="Picture 17">
            <a:extLst>
              <a:ext uri="{FF2B5EF4-FFF2-40B4-BE49-F238E27FC236}">
                <a16:creationId xmlns:a16="http://schemas.microsoft.com/office/drawing/2014/main" id="{E3BF6731-892E-2E98-6022-6A9F2F1976AB}"/>
              </a:ext>
            </a:extLst>
          </p:cNvPr>
          <p:cNvPicPr>
            <a:picLocks noChangeAspect="1"/>
          </p:cNvPicPr>
          <p:nvPr/>
        </p:nvPicPr>
        <p:blipFill>
          <a:blip r:embed="rId5"/>
          <a:stretch>
            <a:fillRect/>
          </a:stretch>
        </p:blipFill>
        <p:spPr>
          <a:xfrm>
            <a:off x="5672282" y="4201379"/>
            <a:ext cx="1968500" cy="406400"/>
          </a:xfrm>
          <a:prstGeom prst="rect">
            <a:avLst/>
          </a:prstGeom>
        </p:spPr>
      </p:pic>
      <p:sp>
        <p:nvSpPr>
          <p:cNvPr id="20" name="TextBox 19">
            <a:extLst>
              <a:ext uri="{FF2B5EF4-FFF2-40B4-BE49-F238E27FC236}">
                <a16:creationId xmlns:a16="http://schemas.microsoft.com/office/drawing/2014/main" id="{2A363CBC-7DAF-3B01-23B7-E55AA8424354}"/>
              </a:ext>
            </a:extLst>
          </p:cNvPr>
          <p:cNvSpPr txBox="1"/>
          <p:nvPr/>
        </p:nvSpPr>
        <p:spPr>
          <a:xfrm>
            <a:off x="5708650" y="4687179"/>
            <a:ext cx="2905414"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それらを加算することで，</a:t>
            </a:r>
          </a:p>
        </p:txBody>
      </p:sp>
      <p:sp>
        <p:nvSpPr>
          <p:cNvPr id="22" name="TextBox 21">
            <a:extLst>
              <a:ext uri="{FF2B5EF4-FFF2-40B4-BE49-F238E27FC236}">
                <a16:creationId xmlns:a16="http://schemas.microsoft.com/office/drawing/2014/main" id="{F8C74D27-07CA-9ADA-86EB-6ABE47DE9C51}"/>
              </a:ext>
            </a:extLst>
          </p:cNvPr>
          <p:cNvSpPr txBox="1"/>
          <p:nvPr/>
        </p:nvSpPr>
        <p:spPr>
          <a:xfrm>
            <a:off x="7567762" y="4201379"/>
            <a:ext cx="1641763"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を適用し，</a:t>
            </a:r>
          </a:p>
        </p:txBody>
      </p:sp>
      <p:pic>
        <p:nvPicPr>
          <p:cNvPr id="23" name="Picture 22">
            <a:extLst>
              <a:ext uri="{FF2B5EF4-FFF2-40B4-BE49-F238E27FC236}">
                <a16:creationId xmlns:a16="http://schemas.microsoft.com/office/drawing/2014/main" id="{94CD2F02-7DF7-1F8B-EBB4-EAF17697A3B8}"/>
              </a:ext>
            </a:extLst>
          </p:cNvPr>
          <p:cNvPicPr>
            <a:picLocks noChangeAspect="1"/>
          </p:cNvPicPr>
          <p:nvPr/>
        </p:nvPicPr>
        <p:blipFill>
          <a:blip r:embed="rId6"/>
          <a:stretch>
            <a:fillRect/>
          </a:stretch>
        </p:blipFill>
        <p:spPr>
          <a:xfrm>
            <a:off x="6071901" y="4987617"/>
            <a:ext cx="1765300" cy="522738"/>
          </a:xfrm>
          <a:prstGeom prst="rect">
            <a:avLst/>
          </a:prstGeom>
        </p:spPr>
      </p:pic>
      <p:sp>
        <p:nvSpPr>
          <p:cNvPr id="25" name="TextBox 24">
            <a:extLst>
              <a:ext uri="{FF2B5EF4-FFF2-40B4-BE49-F238E27FC236}">
                <a16:creationId xmlns:a16="http://schemas.microsoft.com/office/drawing/2014/main" id="{3F3277F1-DF8B-AD10-DBC4-2702D74C095B}"/>
              </a:ext>
            </a:extLst>
          </p:cNvPr>
          <p:cNvSpPr txBox="1"/>
          <p:nvPr/>
        </p:nvSpPr>
        <p:spPr>
          <a:xfrm>
            <a:off x="5672282" y="5426788"/>
            <a:ext cx="3064162"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が成立し，室内残響の影響が除去された信号が得られる。</a:t>
            </a:r>
          </a:p>
        </p:txBody>
      </p:sp>
      <p:sp>
        <p:nvSpPr>
          <p:cNvPr id="26" name="正方形/長方形 9">
            <a:extLst>
              <a:ext uri="{FF2B5EF4-FFF2-40B4-BE49-F238E27FC236}">
                <a16:creationId xmlns:a16="http://schemas.microsoft.com/office/drawing/2014/main" id="{20512661-E9FD-7FD6-C240-0656BA2F9CC2}"/>
              </a:ext>
            </a:extLst>
          </p:cNvPr>
          <p:cNvSpPr/>
          <p:nvPr/>
        </p:nvSpPr>
        <p:spPr>
          <a:xfrm>
            <a:off x="5382492" y="1039092"/>
            <a:ext cx="3698008" cy="2137884"/>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7" name="正方形/長方形 9">
            <a:extLst>
              <a:ext uri="{FF2B5EF4-FFF2-40B4-BE49-F238E27FC236}">
                <a16:creationId xmlns:a16="http://schemas.microsoft.com/office/drawing/2014/main" id="{EFF6509C-AF06-EC30-7A0D-8813AE1D9BD2}"/>
              </a:ext>
            </a:extLst>
          </p:cNvPr>
          <p:cNvSpPr/>
          <p:nvPr/>
        </p:nvSpPr>
        <p:spPr>
          <a:xfrm>
            <a:off x="5516995" y="3783425"/>
            <a:ext cx="3480957" cy="2229398"/>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8" name="Down Arrow 27">
            <a:extLst>
              <a:ext uri="{FF2B5EF4-FFF2-40B4-BE49-F238E27FC236}">
                <a16:creationId xmlns:a16="http://schemas.microsoft.com/office/drawing/2014/main" id="{3506E075-79BF-012F-33BB-E13E08EAB412}"/>
              </a:ext>
            </a:extLst>
          </p:cNvPr>
          <p:cNvSpPr/>
          <p:nvPr/>
        </p:nvSpPr>
        <p:spPr>
          <a:xfrm>
            <a:off x="7116331" y="3328356"/>
            <a:ext cx="218786" cy="341074"/>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0" name="TextBox 29">
            <a:extLst>
              <a:ext uri="{FF2B5EF4-FFF2-40B4-BE49-F238E27FC236}">
                <a16:creationId xmlns:a16="http://schemas.microsoft.com/office/drawing/2014/main" id="{00D99644-9231-C650-B1A9-2D14AC052B03}"/>
              </a:ext>
            </a:extLst>
          </p:cNvPr>
          <p:cNvSpPr txBox="1"/>
          <p:nvPr/>
        </p:nvSpPr>
        <p:spPr>
          <a:xfrm>
            <a:off x="282000" y="5094856"/>
            <a:ext cx="3480957" cy="830997"/>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Fig.6 は，その構成を用いて</a:t>
            </a:r>
          </a:p>
          <a:p>
            <a:r>
              <a:rPr lang="en-JP" sz="1600" dirty="0">
                <a:latin typeface="Meiryo" panose="020B0604030504040204" pitchFamily="34" charset="-128"/>
                <a:ea typeface="Meiryo" panose="020B0604030504040204" pitchFamily="34" charset="-128"/>
              </a:rPr>
              <a:t>室内で収音された音から残響を除去する応用例である。</a:t>
            </a:r>
          </a:p>
        </p:txBody>
      </p:sp>
      <p:sp>
        <p:nvSpPr>
          <p:cNvPr id="33" name="正方形/長方形 9">
            <a:extLst>
              <a:ext uri="{FF2B5EF4-FFF2-40B4-BE49-F238E27FC236}">
                <a16:creationId xmlns:a16="http://schemas.microsoft.com/office/drawing/2014/main" id="{A95EACA9-72A4-F96E-DD80-E3FAD37FE317}"/>
              </a:ext>
            </a:extLst>
          </p:cNvPr>
          <p:cNvSpPr/>
          <p:nvPr/>
        </p:nvSpPr>
        <p:spPr>
          <a:xfrm>
            <a:off x="249382" y="4793363"/>
            <a:ext cx="3480957" cy="1497164"/>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944"/>
              <a:t>。</a:t>
            </a:r>
          </a:p>
        </p:txBody>
      </p:sp>
      <p:sp>
        <p:nvSpPr>
          <p:cNvPr id="34" name="Down Arrow 33">
            <a:extLst>
              <a:ext uri="{FF2B5EF4-FFF2-40B4-BE49-F238E27FC236}">
                <a16:creationId xmlns:a16="http://schemas.microsoft.com/office/drawing/2014/main" id="{DA9B6F3B-2AA3-0A13-06BE-D5473487CBFE}"/>
              </a:ext>
            </a:extLst>
          </p:cNvPr>
          <p:cNvSpPr/>
          <p:nvPr/>
        </p:nvSpPr>
        <p:spPr>
          <a:xfrm rot="5130302">
            <a:off x="4368513" y="5248986"/>
            <a:ext cx="218786" cy="341074"/>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947311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8D3F35-E18B-E4B5-A9F4-B9286FDEE70F}"/>
              </a:ext>
            </a:extLst>
          </p:cNvPr>
          <p:cNvSpPr txBox="1"/>
          <p:nvPr/>
        </p:nvSpPr>
        <p:spPr>
          <a:xfrm>
            <a:off x="519546" y="199798"/>
            <a:ext cx="4572000" cy="369332"/>
          </a:xfrm>
          <a:prstGeom prst="rect">
            <a:avLst/>
          </a:prstGeom>
          <a:noFill/>
        </p:spPr>
        <p:txBody>
          <a:bodyPr wrap="square">
            <a:spAutoFit/>
          </a:bodyPr>
          <a:lstStyle/>
          <a:p>
            <a:pPr marL="285750" indent="-285750">
              <a:buFont typeface="Arial" panose="020B0604020202020204" pitchFamily="34" charset="0"/>
              <a:buChar char="•"/>
            </a:pPr>
            <a:r>
              <a:rPr lang="en-JP" b="1" dirty="0">
                <a:solidFill>
                  <a:srgbClr val="C00000"/>
                </a:solidFill>
                <a:latin typeface="Meiryo" panose="020B0604030504040204" pitchFamily="34" charset="-128"/>
                <a:ea typeface="Meiryo" panose="020B0604030504040204" pitchFamily="34" charset="-128"/>
              </a:rPr>
              <a:t>n+1 input, n output system</a:t>
            </a:r>
          </a:p>
        </p:txBody>
      </p:sp>
      <p:sp>
        <p:nvSpPr>
          <p:cNvPr id="7" name="TextBox 6">
            <a:extLst>
              <a:ext uri="{FF2B5EF4-FFF2-40B4-BE49-F238E27FC236}">
                <a16:creationId xmlns:a16="http://schemas.microsoft.com/office/drawing/2014/main" id="{57075E60-123D-EEA6-A406-71AC2D132CDC}"/>
              </a:ext>
            </a:extLst>
          </p:cNvPr>
          <p:cNvSpPr txBox="1"/>
          <p:nvPr/>
        </p:nvSpPr>
        <p:spPr>
          <a:xfrm>
            <a:off x="519546" y="840933"/>
            <a:ext cx="5081154" cy="646331"/>
          </a:xfrm>
          <a:prstGeom prst="rect">
            <a:avLst/>
          </a:prstGeom>
          <a:noFill/>
        </p:spPr>
        <p:txBody>
          <a:bodyPr wrap="square">
            <a:spAutoFit/>
          </a:bodyPr>
          <a:lstStyle/>
          <a:p>
            <a:pPr marL="285750" indent="-285750">
              <a:buFont typeface="Wingdings" pitchFamily="2" charset="2"/>
              <a:buChar char="Ø"/>
            </a:pPr>
            <a:r>
              <a:rPr lang="en-JP" dirty="0">
                <a:latin typeface="Meiryo" panose="020B0604030504040204" pitchFamily="34" charset="-128"/>
                <a:ea typeface="Meiryo" panose="020B0604030504040204" pitchFamily="34" charset="-128"/>
              </a:rPr>
              <a:t>意味</a:t>
            </a:r>
          </a:p>
          <a:p>
            <a:r>
              <a:rPr lang="en-JP" dirty="0">
                <a:latin typeface="Meiryo" panose="020B0604030504040204" pitchFamily="34" charset="-128"/>
                <a:ea typeface="Meiryo" panose="020B0604030504040204" pitchFamily="34" charset="-128"/>
              </a:rPr>
              <a:t>「n+1個の入力、n個の出力をもつシステム」</a:t>
            </a:r>
          </a:p>
        </p:txBody>
      </p:sp>
      <p:sp>
        <p:nvSpPr>
          <p:cNvPr id="9" name="TextBox 8">
            <a:extLst>
              <a:ext uri="{FF2B5EF4-FFF2-40B4-BE49-F238E27FC236}">
                <a16:creationId xmlns:a16="http://schemas.microsoft.com/office/drawing/2014/main" id="{AFED0DC1-43C5-3634-3CF6-113F7B8134C8}"/>
              </a:ext>
            </a:extLst>
          </p:cNvPr>
          <p:cNvSpPr txBox="1"/>
          <p:nvPr/>
        </p:nvSpPr>
        <p:spPr>
          <a:xfrm>
            <a:off x="498765" y="1566203"/>
            <a:ext cx="6348845" cy="64633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入力（input）：音を出す側（スピーカー、信号源）</a:t>
            </a:r>
          </a:p>
          <a:p>
            <a:r>
              <a:rPr lang="en-JP" dirty="0">
                <a:latin typeface="Meiryo" panose="020B0604030504040204" pitchFamily="34" charset="-128"/>
                <a:ea typeface="Meiryo" panose="020B0604030504040204" pitchFamily="34" charset="-128"/>
              </a:rPr>
              <a:t>出力（output）：音を受ける側（マイク、観測点）</a:t>
            </a:r>
          </a:p>
        </p:txBody>
      </p:sp>
      <p:sp>
        <p:nvSpPr>
          <p:cNvPr id="11" name="TextBox 10">
            <a:extLst>
              <a:ext uri="{FF2B5EF4-FFF2-40B4-BE49-F238E27FC236}">
                <a16:creationId xmlns:a16="http://schemas.microsoft.com/office/drawing/2014/main" id="{C4823C27-DBF2-B528-B6CD-88E467FC56FB}"/>
              </a:ext>
            </a:extLst>
          </p:cNvPr>
          <p:cNvSpPr txBox="1"/>
          <p:nvPr/>
        </p:nvSpPr>
        <p:spPr>
          <a:xfrm>
            <a:off x="519546" y="2291473"/>
            <a:ext cx="5974773" cy="369332"/>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出力の数より、入力を</a:t>
            </a:r>
            <a:r>
              <a:rPr lang="en-US" altLang="ja-JP" dirty="0">
                <a:latin typeface="Meiryo" panose="020B0604030504040204" pitchFamily="34" charset="-128"/>
                <a:ea typeface="Meiryo" panose="020B0604030504040204" pitchFamily="34" charset="-128"/>
              </a:rPr>
              <a:t>1</a:t>
            </a:r>
            <a:r>
              <a:rPr lang="ja-JP" altLang="en-US">
                <a:latin typeface="Meiryo" panose="020B0604030504040204" pitchFamily="34" charset="-128"/>
                <a:ea typeface="Meiryo" panose="020B0604030504040204" pitchFamily="34" charset="-128"/>
              </a:rPr>
              <a:t>つ多くするシステムのこと</a:t>
            </a:r>
            <a:endParaRPr lang="en-JP" dirty="0">
              <a:latin typeface="Meiryo" panose="020B0604030504040204" pitchFamily="34" charset="-128"/>
              <a:ea typeface="Meiryo" panose="020B0604030504040204" pitchFamily="34" charset="-128"/>
            </a:endParaRPr>
          </a:p>
        </p:txBody>
      </p:sp>
      <p:sp>
        <p:nvSpPr>
          <p:cNvPr id="13" name="TextBox 12">
            <a:extLst>
              <a:ext uri="{FF2B5EF4-FFF2-40B4-BE49-F238E27FC236}">
                <a16:creationId xmlns:a16="http://schemas.microsoft.com/office/drawing/2014/main" id="{02A52640-B181-B7B1-E68C-768FA99E3231}"/>
              </a:ext>
            </a:extLst>
          </p:cNvPr>
          <p:cNvSpPr txBox="1"/>
          <p:nvPr/>
        </p:nvSpPr>
        <p:spPr>
          <a:xfrm>
            <a:off x="636443" y="3431744"/>
            <a:ext cx="7871113" cy="2585323"/>
          </a:xfrm>
          <a:prstGeom prst="rect">
            <a:avLst/>
          </a:prstGeom>
          <a:noFill/>
        </p:spPr>
        <p:txBody>
          <a:bodyPr wrap="square">
            <a:spAutoFit/>
          </a:bodyPr>
          <a:lstStyle/>
          <a:p>
            <a:pPr marL="285750" indent="-285750">
              <a:buFont typeface="Wingdings" pitchFamily="2" charset="2"/>
              <a:buChar char="Ø"/>
            </a:pPr>
            <a:r>
              <a:rPr lang="en-JP" dirty="0">
                <a:latin typeface="Meiryo" panose="020B0604030504040204" pitchFamily="34" charset="-128"/>
                <a:ea typeface="Meiryo" panose="020B0604030504040204" pitchFamily="34" charset="-128"/>
                <a:cs typeface="Times New Roman" panose="02020603050405020304" pitchFamily="18" charset="0"/>
              </a:rPr>
              <a:t>なぜ input を1つ多くするのか？</a:t>
            </a:r>
            <a:endParaRPr lang="mn-MN" dirty="0">
              <a:latin typeface="Meiryo" panose="020B0604030504040204" pitchFamily="34" charset="-128"/>
              <a:ea typeface="Meiryo" panose="020B0604030504040204" pitchFamily="34" charset="-128"/>
              <a:cs typeface="Times New Roman" panose="02020603050405020304" pitchFamily="18" charset="0"/>
            </a:endParaRPr>
          </a:p>
          <a:p>
            <a:endParaRPr lang="en-JP" dirty="0">
              <a:latin typeface="Meiryo" panose="020B0604030504040204" pitchFamily="34" charset="-128"/>
              <a:ea typeface="Meiryo" panose="020B0604030504040204" pitchFamily="34" charset="-128"/>
              <a:cs typeface="Times New Roman" panose="02020603050405020304" pitchFamily="18" charset="0"/>
            </a:endParaRPr>
          </a:p>
          <a:p>
            <a:r>
              <a:rPr lang="en-JP" dirty="0">
                <a:latin typeface="Meiryo" panose="020B0604030504040204" pitchFamily="34" charset="-128"/>
                <a:ea typeface="Meiryo" panose="020B0604030504040204" pitchFamily="34" charset="-128"/>
                <a:cs typeface="Times New Roman" panose="02020603050405020304" pitchFamily="18" charset="0"/>
              </a:rPr>
              <a:t>逆フィルタを作るには  自由度（余裕）が必要</a:t>
            </a:r>
          </a:p>
          <a:p>
            <a:r>
              <a:rPr lang="en-JP" dirty="0">
                <a:latin typeface="Meiryo" panose="020B0604030504040204" pitchFamily="34" charset="-128"/>
                <a:ea typeface="Meiryo" panose="020B0604030504040204" pitchFamily="34" charset="-128"/>
                <a:cs typeface="Times New Roman" panose="02020603050405020304" pitchFamily="18" charset="0"/>
              </a:rPr>
              <a:t>入力を1つ増やすことで室内の反射・残響を数学的に完全に打ち消せる</a:t>
            </a:r>
            <a:r>
              <a:rPr lang="mn-MN" dirty="0">
                <a:latin typeface="Meiryo" panose="020B0604030504040204" pitchFamily="34" charset="-128"/>
                <a:ea typeface="Meiryo" panose="020B0604030504040204" pitchFamily="34" charset="-128"/>
                <a:cs typeface="Times New Roman" panose="02020603050405020304" pitchFamily="18" charset="0"/>
              </a:rPr>
              <a:t>.</a:t>
            </a:r>
            <a:endParaRPr lang="en-JP" dirty="0">
              <a:latin typeface="Meiryo" panose="020B0604030504040204" pitchFamily="34" charset="-128"/>
              <a:ea typeface="Meiryo" panose="020B0604030504040204" pitchFamily="34" charset="-128"/>
              <a:cs typeface="Times New Roman" panose="02020603050405020304" pitchFamily="18" charset="0"/>
            </a:endParaRPr>
          </a:p>
          <a:p>
            <a:r>
              <a:rPr lang="en-JP" dirty="0">
                <a:latin typeface="Meiryo" panose="020B0604030504040204" pitchFamily="34" charset="-128"/>
                <a:ea typeface="Meiryo" panose="020B0604030504040204" pitchFamily="34" charset="-128"/>
                <a:cs typeface="Times New Roman" panose="02020603050405020304" pitchFamily="18" charset="0"/>
              </a:rPr>
              <a:t>これが MINT の核心</a:t>
            </a:r>
          </a:p>
          <a:p>
            <a:r>
              <a:rPr lang="en-JP" dirty="0">
                <a:latin typeface="Meiryo" panose="020B0604030504040204" pitchFamily="34" charset="-128"/>
                <a:ea typeface="Meiryo" panose="020B0604030504040204" pitchFamily="34" charset="-128"/>
                <a:cs typeface="Times New Roman" panose="02020603050405020304" pitchFamily="18" charset="0"/>
              </a:rPr>
              <a:t>具体例（n = 2 の場合）</a:t>
            </a:r>
          </a:p>
          <a:p>
            <a:r>
              <a:rPr lang="en-JP" dirty="0">
                <a:latin typeface="Meiryo" panose="020B0604030504040204" pitchFamily="34" charset="-128"/>
                <a:ea typeface="Meiryo" panose="020B0604030504040204" pitchFamily="34" charset="-128"/>
                <a:cs typeface="Times New Roman" panose="02020603050405020304" pitchFamily="18" charset="0"/>
              </a:rPr>
              <a:t>入力：3（スピーカー3個）</a:t>
            </a:r>
          </a:p>
          <a:p>
            <a:r>
              <a:rPr lang="en-JP" dirty="0">
                <a:latin typeface="Meiryo" panose="020B0604030504040204" pitchFamily="34" charset="-128"/>
                <a:ea typeface="Meiryo" panose="020B0604030504040204" pitchFamily="34" charset="-128"/>
                <a:cs typeface="Times New Roman" panose="02020603050405020304" pitchFamily="18" charset="0"/>
              </a:rPr>
              <a:t>出力：2（マイク2個）</a:t>
            </a:r>
          </a:p>
          <a:p>
            <a:r>
              <a:rPr lang="en-JP" dirty="0">
                <a:latin typeface="Meiryo" panose="020B0604030504040204" pitchFamily="34" charset="-128"/>
                <a:ea typeface="Meiryo" panose="020B0604030504040204" pitchFamily="34" charset="-128"/>
                <a:cs typeface="Times New Roman" panose="02020603050405020304" pitchFamily="18" charset="0"/>
              </a:rPr>
              <a:t> 3入力2出力システム</a:t>
            </a:r>
          </a:p>
        </p:txBody>
      </p:sp>
      <p:sp>
        <p:nvSpPr>
          <p:cNvPr id="14" name="Down Arrow 13">
            <a:extLst>
              <a:ext uri="{FF2B5EF4-FFF2-40B4-BE49-F238E27FC236}">
                <a16:creationId xmlns:a16="http://schemas.microsoft.com/office/drawing/2014/main" id="{25C5EADA-0C2C-8EC4-B0CA-48BEB5F7BB79}"/>
              </a:ext>
            </a:extLst>
          </p:cNvPr>
          <p:cNvSpPr/>
          <p:nvPr/>
        </p:nvSpPr>
        <p:spPr>
          <a:xfrm>
            <a:off x="2242994" y="2810192"/>
            <a:ext cx="218786" cy="341074"/>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516842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0FCB41-BCF8-DA74-693C-0097999D6966}"/>
              </a:ext>
            </a:extLst>
          </p:cNvPr>
          <p:cNvSpPr txBox="1"/>
          <p:nvPr/>
        </p:nvSpPr>
        <p:spPr>
          <a:xfrm>
            <a:off x="280552" y="200936"/>
            <a:ext cx="5133109" cy="369332"/>
          </a:xfrm>
          <a:prstGeom prst="rect">
            <a:avLst/>
          </a:prstGeom>
          <a:noFill/>
        </p:spPr>
        <p:txBody>
          <a:bodyPr wrap="square">
            <a:spAutoFit/>
          </a:bodyPr>
          <a:lstStyle/>
          <a:p>
            <a:pPr marL="285750" indent="-285750">
              <a:buFont typeface="Arial" panose="020B0604020202020204" pitchFamily="34" charset="0"/>
              <a:buChar char="•"/>
            </a:pPr>
            <a:r>
              <a:rPr lang="en-JP" b="1" dirty="0">
                <a:solidFill>
                  <a:srgbClr val="C00000"/>
                </a:solidFill>
                <a:latin typeface="Meiryo" panose="020B0604030504040204" pitchFamily="34" charset="-128"/>
                <a:ea typeface="Meiryo" panose="020B0604030504040204" pitchFamily="34" charset="-128"/>
              </a:rPr>
              <a:t>大きな行列の式は何を意味しているのか</a:t>
            </a:r>
          </a:p>
        </p:txBody>
      </p:sp>
      <p:pic>
        <p:nvPicPr>
          <p:cNvPr id="6" name="Picture 5">
            <a:extLst>
              <a:ext uri="{FF2B5EF4-FFF2-40B4-BE49-F238E27FC236}">
                <a16:creationId xmlns:a16="http://schemas.microsoft.com/office/drawing/2014/main" id="{9961B022-4D55-5844-6070-853BB60796CD}"/>
              </a:ext>
            </a:extLst>
          </p:cNvPr>
          <p:cNvPicPr>
            <a:picLocks noChangeAspect="1"/>
          </p:cNvPicPr>
          <p:nvPr/>
        </p:nvPicPr>
        <p:blipFill>
          <a:blip r:embed="rId2"/>
          <a:stretch>
            <a:fillRect/>
          </a:stretch>
        </p:blipFill>
        <p:spPr>
          <a:xfrm>
            <a:off x="3810000" y="619556"/>
            <a:ext cx="1524000" cy="901700"/>
          </a:xfrm>
          <a:prstGeom prst="rect">
            <a:avLst/>
          </a:prstGeom>
        </p:spPr>
      </p:pic>
      <p:sp>
        <p:nvSpPr>
          <p:cNvPr id="8" name="TextBox 7">
            <a:extLst>
              <a:ext uri="{FF2B5EF4-FFF2-40B4-BE49-F238E27FC236}">
                <a16:creationId xmlns:a16="http://schemas.microsoft.com/office/drawing/2014/main" id="{11B43A40-4835-644F-0F7C-28D5A86701B0}"/>
              </a:ext>
            </a:extLst>
          </p:cNvPr>
          <p:cNvSpPr txBox="1"/>
          <p:nvPr/>
        </p:nvSpPr>
        <p:spPr>
          <a:xfrm>
            <a:off x="384463" y="1723844"/>
            <a:ext cx="4572000" cy="584775"/>
          </a:xfrm>
          <a:prstGeom prst="rect">
            <a:avLst/>
          </a:prstGeom>
          <a:noFill/>
        </p:spPr>
        <p:txBody>
          <a:bodyPr wrap="square">
            <a:spAutoFit/>
          </a:bodyPr>
          <a:lstStyle/>
          <a:p>
            <a:r>
              <a:rPr lang="en-JP" sz="1600" dirty="0">
                <a:solidFill>
                  <a:schemeClr val="accent1">
                    <a:lumMod val="75000"/>
                  </a:schemeClr>
                </a:solidFill>
                <a:latin typeface="Meiryo" panose="020B0604030504040204" pitchFamily="34" charset="-128"/>
                <a:ea typeface="Meiryo" panose="020B0604030504040204" pitchFamily="34" charset="-128"/>
              </a:rPr>
              <a:t>行列 G とは？</a:t>
            </a:r>
          </a:p>
          <a:p>
            <a:r>
              <a:rPr lang="en-JP" sz="1600" dirty="0">
                <a:latin typeface="Meiryo" panose="020B0604030504040204" pitchFamily="34" charset="-128"/>
                <a:ea typeface="Meiryo" panose="020B0604030504040204" pitchFamily="34" charset="-128"/>
              </a:rPr>
              <a:t>部屋の音響特性すべて</a:t>
            </a:r>
          </a:p>
        </p:txBody>
      </p:sp>
      <p:sp>
        <p:nvSpPr>
          <p:cNvPr id="10" name="TextBox 9">
            <a:extLst>
              <a:ext uri="{FF2B5EF4-FFF2-40B4-BE49-F238E27FC236}">
                <a16:creationId xmlns:a16="http://schemas.microsoft.com/office/drawing/2014/main" id="{FEFBB060-4F86-63F3-4351-8AE20A025E57}"/>
              </a:ext>
            </a:extLst>
          </p:cNvPr>
          <p:cNvSpPr txBox="1"/>
          <p:nvPr/>
        </p:nvSpPr>
        <p:spPr>
          <a:xfrm>
            <a:off x="2805544" y="2000843"/>
            <a:ext cx="955965" cy="338554"/>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各要素 </a:t>
            </a:r>
            <a:endParaRPr lang="en-JP" sz="1600" dirty="0">
              <a:latin typeface="Meiryo" panose="020B0604030504040204" pitchFamily="34" charset="-128"/>
              <a:ea typeface="Meiryo" panose="020B0604030504040204" pitchFamily="34" charset="-128"/>
            </a:endParaRPr>
          </a:p>
        </p:txBody>
      </p:sp>
      <p:pic>
        <p:nvPicPr>
          <p:cNvPr id="11" name="Picture 10">
            <a:extLst>
              <a:ext uri="{FF2B5EF4-FFF2-40B4-BE49-F238E27FC236}">
                <a16:creationId xmlns:a16="http://schemas.microsoft.com/office/drawing/2014/main" id="{EC2A107E-BF69-9E61-9CC3-16560B2F83A8}"/>
              </a:ext>
            </a:extLst>
          </p:cNvPr>
          <p:cNvPicPr>
            <a:picLocks noChangeAspect="1"/>
          </p:cNvPicPr>
          <p:nvPr/>
        </p:nvPicPr>
        <p:blipFill>
          <a:blip r:embed="rId3"/>
          <a:stretch>
            <a:fillRect/>
          </a:stretch>
        </p:blipFill>
        <p:spPr>
          <a:xfrm>
            <a:off x="3761509" y="1969609"/>
            <a:ext cx="1054100" cy="431800"/>
          </a:xfrm>
          <a:prstGeom prst="rect">
            <a:avLst/>
          </a:prstGeom>
        </p:spPr>
      </p:pic>
      <p:sp>
        <p:nvSpPr>
          <p:cNvPr id="13" name="TextBox 12">
            <a:extLst>
              <a:ext uri="{FF2B5EF4-FFF2-40B4-BE49-F238E27FC236}">
                <a16:creationId xmlns:a16="http://schemas.microsoft.com/office/drawing/2014/main" id="{DBD94C5B-B080-018C-AD69-38867930CCD8}"/>
              </a:ext>
            </a:extLst>
          </p:cNvPr>
          <p:cNvSpPr txBox="1"/>
          <p:nvPr/>
        </p:nvSpPr>
        <p:spPr>
          <a:xfrm>
            <a:off x="384463" y="2386354"/>
            <a:ext cx="5247408"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i番目の入力 → j番目の出力 の伝達関数（FIR）</a:t>
            </a:r>
          </a:p>
        </p:txBody>
      </p:sp>
      <p:sp>
        <p:nvSpPr>
          <p:cNvPr id="15" name="TextBox 14">
            <a:extLst>
              <a:ext uri="{FF2B5EF4-FFF2-40B4-BE49-F238E27FC236}">
                <a16:creationId xmlns:a16="http://schemas.microsoft.com/office/drawing/2014/main" id="{04919CAC-299A-0B51-40B9-CDA83E058DEC}"/>
              </a:ext>
            </a:extLst>
          </p:cNvPr>
          <p:cNvSpPr txBox="1"/>
          <p:nvPr/>
        </p:nvSpPr>
        <p:spPr>
          <a:xfrm>
            <a:off x="335396" y="2743548"/>
            <a:ext cx="4572000" cy="338554"/>
          </a:xfrm>
          <a:prstGeom prst="rect">
            <a:avLst/>
          </a:prstGeom>
          <a:noFill/>
        </p:spPr>
        <p:txBody>
          <a:bodyPr wrap="square">
            <a:spAutoFit/>
          </a:bodyPr>
          <a:lstStyle/>
          <a:p>
            <a:r>
              <a:rPr lang="ja-JP" altLang="en-US" sz="1600">
                <a:latin typeface="Meiryo" panose="020B0604030504040204" pitchFamily="34" charset="-128"/>
                <a:ea typeface="Meiryo" panose="020B0604030504040204" pitchFamily="34" charset="-128"/>
              </a:rPr>
              <a:t>「部屋全体の響きの地図」</a:t>
            </a:r>
            <a:endParaRPr lang="en-JP" sz="1600" dirty="0">
              <a:latin typeface="Meiryo" panose="020B0604030504040204" pitchFamily="34" charset="-128"/>
              <a:ea typeface="Meiryo" panose="020B0604030504040204" pitchFamily="34" charset="-128"/>
            </a:endParaRPr>
          </a:p>
        </p:txBody>
      </p:sp>
      <p:sp>
        <p:nvSpPr>
          <p:cNvPr id="17" name="TextBox 16">
            <a:extLst>
              <a:ext uri="{FF2B5EF4-FFF2-40B4-BE49-F238E27FC236}">
                <a16:creationId xmlns:a16="http://schemas.microsoft.com/office/drawing/2014/main" id="{AF37ADE6-647C-CE3A-E0B4-97C463C68B2D}"/>
              </a:ext>
            </a:extLst>
          </p:cNvPr>
          <p:cNvSpPr txBox="1"/>
          <p:nvPr/>
        </p:nvSpPr>
        <p:spPr>
          <a:xfrm>
            <a:off x="5372099" y="2598655"/>
            <a:ext cx="3808847" cy="1323439"/>
          </a:xfrm>
          <a:prstGeom prst="rect">
            <a:avLst/>
          </a:prstGeom>
          <a:noFill/>
        </p:spPr>
        <p:txBody>
          <a:bodyPr wrap="square">
            <a:spAutoFit/>
          </a:bodyPr>
          <a:lstStyle/>
          <a:p>
            <a:r>
              <a:rPr lang="mn-MN" sz="1600" dirty="0">
                <a:solidFill>
                  <a:schemeClr val="accent1">
                    <a:lumMod val="75000"/>
                  </a:schemeClr>
                </a:solidFill>
                <a:latin typeface="Meiryo" panose="020B0604030504040204" pitchFamily="34" charset="-128"/>
                <a:ea typeface="Meiryo" panose="020B0604030504040204" pitchFamily="34" charset="-128"/>
              </a:rPr>
              <a:t>  </a:t>
            </a:r>
            <a:r>
              <a:rPr lang="en-JP" sz="1600" dirty="0">
                <a:solidFill>
                  <a:schemeClr val="accent1">
                    <a:lumMod val="75000"/>
                  </a:schemeClr>
                </a:solidFill>
                <a:latin typeface="Meiryo" panose="020B0604030504040204" pitchFamily="34" charset="-128"/>
                <a:ea typeface="Meiryo" panose="020B0604030504040204" pitchFamily="34" charset="-128"/>
              </a:rPr>
              <a:t>ベクトル 𝐻𝑗とは？</a:t>
            </a:r>
            <a:endParaRPr lang="mn-MN" sz="1600" dirty="0">
              <a:solidFill>
                <a:schemeClr val="accent1">
                  <a:lumMod val="75000"/>
                </a:schemeClr>
              </a:solidFill>
              <a:latin typeface="Meiryo" panose="020B0604030504040204" pitchFamily="34" charset="-128"/>
              <a:ea typeface="Meiryo" panose="020B0604030504040204" pitchFamily="34" charset="-128"/>
            </a:endParaRPr>
          </a:p>
          <a:p>
            <a:r>
              <a:rPr lang="en-JP" sz="1600" dirty="0">
                <a:latin typeface="Meiryo" panose="020B0604030504040204" pitchFamily="34" charset="-128"/>
                <a:ea typeface="Meiryo" panose="020B0604030504040204" pitchFamily="34" charset="-128"/>
              </a:rPr>
              <a:t>我々が設計する 逆フィルタ</a:t>
            </a:r>
          </a:p>
          <a:p>
            <a:r>
              <a:rPr lang="en-JP" sz="1600" dirty="0">
                <a:latin typeface="Meiryo" panose="020B0604030504040204" pitchFamily="34" charset="-128"/>
                <a:ea typeface="Meiryo" panose="020B0604030504040204" pitchFamily="34" charset="-128"/>
              </a:rPr>
              <a:t>各入力にかける FIR フィルタの集合</a:t>
            </a:r>
          </a:p>
          <a:p>
            <a:r>
              <a:rPr lang="en-JP" sz="1600" dirty="0">
                <a:latin typeface="Meiryo" panose="020B0604030504040204" pitchFamily="34" charset="-128"/>
                <a:ea typeface="Meiryo" panose="020B0604030504040204" pitchFamily="34" charset="-128"/>
              </a:rPr>
              <a:t>「部屋の影響を打ち消すための</a:t>
            </a:r>
            <a:endParaRPr lang="mn-MN" sz="1600" dirty="0">
              <a:latin typeface="Meiryo" panose="020B0604030504040204" pitchFamily="34" charset="-128"/>
              <a:ea typeface="Meiryo" panose="020B0604030504040204" pitchFamily="34" charset="-128"/>
            </a:endParaRPr>
          </a:p>
          <a:p>
            <a:r>
              <a:rPr lang="mn-MN" sz="1600" dirty="0">
                <a:latin typeface="Meiryo" panose="020B0604030504040204" pitchFamily="34" charset="-128"/>
                <a:ea typeface="Meiryo" panose="020B0604030504040204" pitchFamily="34" charset="-128"/>
              </a:rPr>
              <a:t> </a:t>
            </a:r>
            <a:r>
              <a:rPr lang="en-JP" sz="1600" dirty="0">
                <a:latin typeface="Meiryo" panose="020B0604030504040204" pitchFamily="34" charset="-128"/>
                <a:ea typeface="Meiryo" panose="020B0604030504040204" pitchFamily="34" charset="-128"/>
              </a:rPr>
              <a:t>フィルタ群」</a:t>
            </a:r>
          </a:p>
        </p:txBody>
      </p:sp>
      <p:sp>
        <p:nvSpPr>
          <p:cNvPr id="19" name="TextBox 18">
            <a:extLst>
              <a:ext uri="{FF2B5EF4-FFF2-40B4-BE49-F238E27FC236}">
                <a16:creationId xmlns:a16="http://schemas.microsoft.com/office/drawing/2014/main" id="{FB644A11-6F5B-4156-6069-C27657C83B9B}"/>
              </a:ext>
            </a:extLst>
          </p:cNvPr>
          <p:cNvSpPr txBox="1"/>
          <p:nvPr/>
        </p:nvSpPr>
        <p:spPr>
          <a:xfrm>
            <a:off x="238990" y="4112705"/>
            <a:ext cx="4572000" cy="1200329"/>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この行列方程式が言っていること</a:t>
            </a:r>
          </a:p>
          <a:p>
            <a:r>
              <a:rPr lang="en-JP" dirty="0">
                <a:latin typeface="Meiryo" panose="020B0604030504040204" pitchFamily="34" charset="-128"/>
                <a:ea typeface="Meiryo" panose="020B0604030504040204" pitchFamily="34" charset="-128"/>
              </a:rPr>
              <a:t> 各出力は独立に逆フィルタ可能他の出力に影響されずに1つの出力だけをきれいにできる</a:t>
            </a:r>
            <a:r>
              <a:rPr lang="mn-MN"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p:txBody>
      </p:sp>
      <p:sp>
        <p:nvSpPr>
          <p:cNvPr id="21" name="TextBox 20">
            <a:extLst>
              <a:ext uri="{FF2B5EF4-FFF2-40B4-BE49-F238E27FC236}">
                <a16:creationId xmlns:a16="http://schemas.microsoft.com/office/drawing/2014/main" id="{66E124A6-82EC-CE3C-A4D9-D26AC50C4637}"/>
              </a:ext>
            </a:extLst>
          </p:cNvPr>
          <p:cNvSpPr txBox="1"/>
          <p:nvPr/>
        </p:nvSpPr>
        <p:spPr>
          <a:xfrm>
            <a:off x="5362283" y="4562914"/>
            <a:ext cx="3480957" cy="584775"/>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多入力・多出力 FIR システムでも</a:t>
            </a:r>
          </a:p>
          <a:p>
            <a:r>
              <a:rPr lang="en-JP" sz="1600" dirty="0">
                <a:latin typeface="Meiryo" panose="020B0604030504040204" pitchFamily="34" charset="-128"/>
                <a:ea typeface="Meiryo" panose="020B0604030504040204" pitchFamily="34" charset="-128"/>
              </a:rPr>
              <a:t>正確な逆フィルタが構成できる</a:t>
            </a:r>
            <a:r>
              <a:rPr lang="mn-MN" sz="1600" dirty="0">
                <a:latin typeface="Meiryo" panose="020B0604030504040204" pitchFamily="34" charset="-128"/>
                <a:ea typeface="Meiryo" panose="020B0604030504040204" pitchFamily="34" charset="-128"/>
              </a:rPr>
              <a:t>.</a:t>
            </a:r>
            <a:endParaRPr lang="en-JP" sz="1600" dirty="0">
              <a:latin typeface="Meiryo" panose="020B0604030504040204" pitchFamily="34" charset="-128"/>
              <a:ea typeface="Meiryo" panose="020B0604030504040204" pitchFamily="34" charset="-128"/>
            </a:endParaRPr>
          </a:p>
        </p:txBody>
      </p:sp>
      <p:sp>
        <p:nvSpPr>
          <p:cNvPr id="22" name="正方形/長方形 9">
            <a:extLst>
              <a:ext uri="{FF2B5EF4-FFF2-40B4-BE49-F238E27FC236}">
                <a16:creationId xmlns:a16="http://schemas.microsoft.com/office/drawing/2014/main" id="{93DBA563-043D-AA7C-3094-2E1C4BB6A2CC}"/>
              </a:ext>
            </a:extLst>
          </p:cNvPr>
          <p:cNvSpPr/>
          <p:nvPr/>
        </p:nvSpPr>
        <p:spPr>
          <a:xfrm>
            <a:off x="419099" y="1666862"/>
            <a:ext cx="4572000" cy="1497164"/>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3" name="正方形/長方形 9">
            <a:extLst>
              <a:ext uri="{FF2B5EF4-FFF2-40B4-BE49-F238E27FC236}">
                <a16:creationId xmlns:a16="http://schemas.microsoft.com/office/drawing/2014/main" id="{531B1F34-2619-33B9-5035-0C5C1A1FE538}"/>
              </a:ext>
            </a:extLst>
          </p:cNvPr>
          <p:cNvSpPr/>
          <p:nvPr/>
        </p:nvSpPr>
        <p:spPr>
          <a:xfrm>
            <a:off x="280552" y="3986388"/>
            <a:ext cx="4530438" cy="1497164"/>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944"/>
              <a:t>。</a:t>
            </a:r>
          </a:p>
        </p:txBody>
      </p:sp>
      <p:sp>
        <p:nvSpPr>
          <p:cNvPr id="24" name="正方形/長方形 9">
            <a:extLst>
              <a:ext uri="{FF2B5EF4-FFF2-40B4-BE49-F238E27FC236}">
                <a16:creationId xmlns:a16="http://schemas.microsoft.com/office/drawing/2014/main" id="{75D9287C-BED5-8187-EC92-311A7FDF2989}"/>
              </a:ext>
            </a:extLst>
          </p:cNvPr>
          <p:cNvSpPr/>
          <p:nvPr/>
        </p:nvSpPr>
        <p:spPr>
          <a:xfrm>
            <a:off x="5362283" y="2479580"/>
            <a:ext cx="3480957" cy="1497164"/>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944"/>
              <a:t>。</a:t>
            </a:r>
          </a:p>
        </p:txBody>
      </p:sp>
    </p:spTree>
    <p:extLst>
      <p:ext uri="{BB962C8B-B14F-4D97-AF65-F5344CB8AC3E}">
        <p14:creationId xmlns:p14="http://schemas.microsoft.com/office/powerpoint/2010/main" val="20509529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3346</TotalTime>
  <Words>1006</Words>
  <Application>Microsoft Macintosh PowerPoint</Application>
  <PresentationFormat>On-screen Show (4:3)</PresentationFormat>
  <Paragraphs>191</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Meiryo</vt: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10</cp:revision>
  <dcterms:created xsi:type="dcterms:W3CDTF">2026-01-15T04:50:51Z</dcterms:created>
  <dcterms:modified xsi:type="dcterms:W3CDTF">2026-01-20T05:29:20Z</dcterms:modified>
</cp:coreProperties>
</file>