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96" r:id="rId1"/>
  </p:sldMasterIdLst>
  <p:notesMasterIdLst>
    <p:notesMasterId r:id="rId37"/>
  </p:notesMasterIdLst>
  <p:sldIdLst>
    <p:sldId id="256" r:id="rId2"/>
    <p:sldId id="257" r:id="rId3"/>
    <p:sldId id="258" r:id="rId4"/>
    <p:sldId id="259" r:id="rId5"/>
    <p:sldId id="260" r:id="rId6"/>
    <p:sldId id="264" r:id="rId7"/>
    <p:sldId id="265" r:id="rId8"/>
    <p:sldId id="261" r:id="rId9"/>
    <p:sldId id="262" r:id="rId10"/>
    <p:sldId id="263" r:id="rId11"/>
    <p:sldId id="266" r:id="rId12"/>
    <p:sldId id="267" r:id="rId13"/>
    <p:sldId id="268" r:id="rId14"/>
    <p:sldId id="269" r:id="rId15"/>
    <p:sldId id="270" r:id="rId16"/>
    <p:sldId id="271" r:id="rId17"/>
    <p:sldId id="272" r:id="rId18"/>
    <p:sldId id="274" r:id="rId19"/>
    <p:sldId id="273" r:id="rId20"/>
    <p:sldId id="275" r:id="rId21"/>
    <p:sldId id="291" r:id="rId22"/>
    <p:sldId id="276" r:id="rId23"/>
    <p:sldId id="277" r:id="rId24"/>
    <p:sldId id="278" r:id="rId25"/>
    <p:sldId id="280" r:id="rId26"/>
    <p:sldId id="279" r:id="rId27"/>
    <p:sldId id="281" r:id="rId28"/>
    <p:sldId id="282" r:id="rId29"/>
    <p:sldId id="283" r:id="rId30"/>
    <p:sldId id="284" r:id="rId31"/>
    <p:sldId id="285" r:id="rId32"/>
    <p:sldId id="286" r:id="rId33"/>
    <p:sldId id="287" r:id="rId34"/>
    <p:sldId id="288" r:id="rId35"/>
    <p:sldId id="290" r:id="rId36"/>
  </p:sldIdLst>
  <p:sldSz cx="9144000" cy="6858000" type="screen4x3"/>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86"/>
    <p:restoredTop sz="96206"/>
  </p:normalViewPr>
  <p:slideViewPr>
    <p:cSldViewPr snapToGrid="0">
      <p:cViewPr varScale="1">
        <p:scale>
          <a:sx n="124" d="100"/>
          <a:sy n="124" d="100"/>
        </p:scale>
        <p:origin x="148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363CA9-7C3E-1841-9DBC-D3320607196E}" type="datetimeFigureOut">
              <a:rPr lang="en-JP" smtClean="0"/>
              <a:t>2026/01/28</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CF0C-0111-E743-9C49-34B92AB1252F}" type="slidenum">
              <a:rPr lang="en-JP" smtClean="0"/>
              <a:t>‹#›</a:t>
            </a:fld>
            <a:endParaRPr lang="en-JP"/>
          </a:p>
        </p:txBody>
      </p:sp>
    </p:spTree>
    <p:extLst>
      <p:ext uri="{BB962C8B-B14F-4D97-AF65-F5344CB8AC3E}">
        <p14:creationId xmlns:p14="http://schemas.microsoft.com/office/powerpoint/2010/main" val="675928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4FACF0C-0111-E743-9C49-34B92AB1252F}" type="slidenum">
              <a:rPr lang="en-JP" smtClean="0"/>
              <a:t>3</a:t>
            </a:fld>
            <a:endParaRPr lang="en-JP"/>
          </a:p>
        </p:txBody>
      </p:sp>
    </p:spTree>
    <p:extLst>
      <p:ext uri="{BB962C8B-B14F-4D97-AF65-F5344CB8AC3E}">
        <p14:creationId xmlns:p14="http://schemas.microsoft.com/office/powerpoint/2010/main" val="3760286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B3F63-B4EB-9D01-AF27-7ADA0C54E09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JP"/>
          </a:p>
        </p:txBody>
      </p:sp>
      <p:sp>
        <p:nvSpPr>
          <p:cNvPr id="3" name="Subtitle 2">
            <a:extLst>
              <a:ext uri="{FF2B5EF4-FFF2-40B4-BE49-F238E27FC236}">
                <a16:creationId xmlns:a16="http://schemas.microsoft.com/office/drawing/2014/main" id="{9B5C07B5-8D54-B4AB-B298-E3785682843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289C672F-85EF-DB98-582B-E92D121843ED}"/>
              </a:ext>
            </a:extLst>
          </p:cNvPr>
          <p:cNvSpPr>
            <a:spLocks noGrp="1"/>
          </p:cNvSpPr>
          <p:nvPr>
            <p:ph type="dt" sz="half" idx="10"/>
          </p:nvPr>
        </p:nvSpPr>
        <p:spPr/>
        <p:txBody>
          <a:bodyPr/>
          <a:lstStyle/>
          <a:p>
            <a:fld id="{F2305E14-52DC-B844-AAA5-4630AA4EF745}" type="datetime1">
              <a:rPr lang="en-US" smtClean="0"/>
              <a:t>1/28/26</a:t>
            </a:fld>
            <a:endParaRPr lang="en-JP"/>
          </a:p>
        </p:txBody>
      </p:sp>
      <p:sp>
        <p:nvSpPr>
          <p:cNvPr id="5" name="Footer Placeholder 4">
            <a:extLst>
              <a:ext uri="{FF2B5EF4-FFF2-40B4-BE49-F238E27FC236}">
                <a16:creationId xmlns:a16="http://schemas.microsoft.com/office/drawing/2014/main" id="{8833A5F9-35ED-281F-7B99-B2FA80AE217B}"/>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475C9E27-51C3-527B-7B43-19ADA53AECCA}"/>
              </a:ext>
            </a:extLst>
          </p:cNvPr>
          <p:cNvSpPr>
            <a:spLocks noGrp="1"/>
          </p:cNvSpPr>
          <p:nvPr>
            <p:ph type="sldNum" sz="quarter" idx="12"/>
          </p:nvPr>
        </p:nvSpPr>
        <p:spPr/>
        <p:txBody>
          <a:bodyPr/>
          <a:lstStyle/>
          <a:p>
            <a:fld id="{0B6BB8DA-DB46-D648-BE1D-FCDB55E9CBE3}" type="slidenum">
              <a:rPr lang="en-JP" smtClean="0"/>
              <a:t>‹#›</a:t>
            </a:fld>
            <a:endParaRPr lang="en-JP"/>
          </a:p>
        </p:txBody>
      </p:sp>
    </p:spTree>
    <p:extLst>
      <p:ext uri="{BB962C8B-B14F-4D97-AF65-F5344CB8AC3E}">
        <p14:creationId xmlns:p14="http://schemas.microsoft.com/office/powerpoint/2010/main" val="1011732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A5AAF-265A-7B8A-4FDE-731E629D0A49}"/>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FDF1A636-A072-6752-F836-F6319FF1BC3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P" dirty="0"/>
          </a:p>
        </p:txBody>
      </p:sp>
      <p:sp>
        <p:nvSpPr>
          <p:cNvPr id="4" name="Date Placeholder 3">
            <a:extLst>
              <a:ext uri="{FF2B5EF4-FFF2-40B4-BE49-F238E27FC236}">
                <a16:creationId xmlns:a16="http://schemas.microsoft.com/office/drawing/2014/main" id="{CD637FFF-2287-4803-413B-C2D4D63EEE02}"/>
              </a:ext>
            </a:extLst>
          </p:cNvPr>
          <p:cNvSpPr>
            <a:spLocks noGrp="1"/>
          </p:cNvSpPr>
          <p:nvPr>
            <p:ph type="dt" sz="half" idx="10"/>
          </p:nvPr>
        </p:nvSpPr>
        <p:spPr/>
        <p:txBody>
          <a:bodyPr/>
          <a:lstStyle/>
          <a:p>
            <a:fld id="{FDB2BD74-E7B8-1D47-9768-552026FF5251}" type="datetime1">
              <a:rPr lang="en-US" smtClean="0"/>
              <a:t>1/28/26</a:t>
            </a:fld>
            <a:endParaRPr lang="en-JP"/>
          </a:p>
        </p:txBody>
      </p:sp>
      <p:sp>
        <p:nvSpPr>
          <p:cNvPr id="5" name="Footer Placeholder 4">
            <a:extLst>
              <a:ext uri="{FF2B5EF4-FFF2-40B4-BE49-F238E27FC236}">
                <a16:creationId xmlns:a16="http://schemas.microsoft.com/office/drawing/2014/main" id="{F237FC40-0CA1-C3C5-9C0F-40BE9021A3B5}"/>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5735607-5014-BD1B-890A-83B480E6039C}"/>
              </a:ext>
            </a:extLst>
          </p:cNvPr>
          <p:cNvSpPr>
            <a:spLocks noGrp="1"/>
          </p:cNvSpPr>
          <p:nvPr>
            <p:ph type="sldNum" sz="quarter" idx="12"/>
          </p:nvPr>
        </p:nvSpPr>
        <p:spPr>
          <a:noFill/>
        </p:spPr>
        <p:txBody>
          <a:bodyPr/>
          <a:lstStyle>
            <a:lvl1pPr>
              <a:defRPr sz="1400">
                <a:solidFill>
                  <a:schemeClr val="tx1"/>
                </a:solidFill>
                <a:latin typeface="Meiryo" panose="020B0604030504040204" pitchFamily="34" charset="-128"/>
                <a:ea typeface="Meiryo" panose="020B0604030504040204" pitchFamily="34" charset="-128"/>
              </a:defRPr>
            </a:lvl1pPr>
          </a:lstStyle>
          <a:p>
            <a:fld id="{0B6BB8DA-DB46-D648-BE1D-FCDB55E9CBE3}" type="slidenum">
              <a:rPr lang="en-JP" smtClean="0"/>
              <a:pPr/>
              <a:t>‹#›</a:t>
            </a:fld>
            <a:endParaRPr lang="en-JP" dirty="0"/>
          </a:p>
        </p:txBody>
      </p:sp>
    </p:spTree>
    <p:extLst>
      <p:ext uri="{BB962C8B-B14F-4D97-AF65-F5344CB8AC3E}">
        <p14:creationId xmlns:p14="http://schemas.microsoft.com/office/powerpoint/2010/main" val="2694915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41543-7558-956E-B338-6D13F277C763}"/>
              </a:ext>
            </a:extLst>
          </p:cNvPr>
          <p:cNvSpPr>
            <a:spLocks noGrp="1"/>
          </p:cNvSpPr>
          <p:nvPr>
            <p:ph type="title"/>
          </p:nvPr>
        </p:nvSpPr>
        <p:spPr>
          <a:xfrm>
            <a:off x="623887" y="1709738"/>
            <a:ext cx="7886700" cy="2852737"/>
          </a:xfrm>
        </p:spPr>
        <p:txBody>
          <a:bodyPr anchor="b"/>
          <a:lstStyle>
            <a:lvl1pPr>
              <a:defRPr sz="45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9DC694C1-144F-F528-5CAF-AB3408504C0D}"/>
              </a:ext>
            </a:extLst>
          </p:cNvPr>
          <p:cNvSpPr>
            <a:spLocks noGrp="1"/>
          </p:cNvSpPr>
          <p:nvPr>
            <p:ph type="body" idx="1"/>
          </p:nvPr>
        </p:nvSpPr>
        <p:spPr>
          <a:xfrm>
            <a:off x="623887"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A8C1B6-6FAE-4F09-0DD5-D4835CC582B3}"/>
              </a:ext>
            </a:extLst>
          </p:cNvPr>
          <p:cNvSpPr>
            <a:spLocks noGrp="1"/>
          </p:cNvSpPr>
          <p:nvPr>
            <p:ph type="dt" sz="half" idx="10"/>
          </p:nvPr>
        </p:nvSpPr>
        <p:spPr/>
        <p:txBody>
          <a:bodyPr/>
          <a:lstStyle/>
          <a:p>
            <a:fld id="{63D90BDE-2CCD-574F-A96F-473134D258FF}" type="datetime1">
              <a:rPr lang="en-US" smtClean="0"/>
              <a:t>1/28/26</a:t>
            </a:fld>
            <a:endParaRPr lang="en-JP"/>
          </a:p>
        </p:txBody>
      </p:sp>
      <p:sp>
        <p:nvSpPr>
          <p:cNvPr id="5" name="Footer Placeholder 4">
            <a:extLst>
              <a:ext uri="{FF2B5EF4-FFF2-40B4-BE49-F238E27FC236}">
                <a16:creationId xmlns:a16="http://schemas.microsoft.com/office/drawing/2014/main" id="{18BC3517-E5E9-7A2E-9EAF-044AE609AF33}"/>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9F559B7-194E-8370-6C1C-0E05099CE5C8}"/>
              </a:ext>
            </a:extLst>
          </p:cNvPr>
          <p:cNvSpPr>
            <a:spLocks noGrp="1"/>
          </p:cNvSpPr>
          <p:nvPr>
            <p:ph type="sldNum" sz="quarter" idx="12"/>
          </p:nvPr>
        </p:nvSpPr>
        <p:spPr/>
        <p:txBody>
          <a:bodyPr/>
          <a:lstStyle/>
          <a:p>
            <a:fld id="{0B6BB8DA-DB46-D648-BE1D-FCDB55E9CBE3}" type="slidenum">
              <a:rPr lang="en-JP" smtClean="0"/>
              <a:t>‹#›</a:t>
            </a:fld>
            <a:endParaRPr lang="en-JP"/>
          </a:p>
        </p:txBody>
      </p:sp>
    </p:spTree>
    <p:extLst>
      <p:ext uri="{BB962C8B-B14F-4D97-AF65-F5344CB8AC3E}">
        <p14:creationId xmlns:p14="http://schemas.microsoft.com/office/powerpoint/2010/main" val="207910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EB6F3-BDAD-0024-DF20-CA1F9A602549}"/>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F2A9B3CB-3355-1C5B-4850-739DE6BB6BC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C29B89E5-5FD8-534E-346B-BC75B9D9FE5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ABD1AC42-9522-F244-054A-1D9858F28B4D}"/>
              </a:ext>
            </a:extLst>
          </p:cNvPr>
          <p:cNvSpPr>
            <a:spLocks noGrp="1"/>
          </p:cNvSpPr>
          <p:nvPr>
            <p:ph type="dt" sz="half" idx="10"/>
          </p:nvPr>
        </p:nvSpPr>
        <p:spPr/>
        <p:txBody>
          <a:bodyPr/>
          <a:lstStyle/>
          <a:p>
            <a:fld id="{F0B51181-D935-D84A-B7A9-A0EC2A9838EE}" type="datetime1">
              <a:rPr lang="en-US" smtClean="0"/>
              <a:t>1/28/26</a:t>
            </a:fld>
            <a:endParaRPr lang="en-JP"/>
          </a:p>
        </p:txBody>
      </p:sp>
      <p:sp>
        <p:nvSpPr>
          <p:cNvPr id="6" name="Footer Placeholder 5">
            <a:extLst>
              <a:ext uri="{FF2B5EF4-FFF2-40B4-BE49-F238E27FC236}">
                <a16:creationId xmlns:a16="http://schemas.microsoft.com/office/drawing/2014/main" id="{77B47F6F-B408-F280-6B60-E79AD1E89FFB}"/>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305335B8-683E-3578-2D2C-E8DA45A7BDFC}"/>
              </a:ext>
            </a:extLst>
          </p:cNvPr>
          <p:cNvSpPr>
            <a:spLocks noGrp="1"/>
          </p:cNvSpPr>
          <p:nvPr>
            <p:ph type="sldNum" sz="quarter" idx="12"/>
          </p:nvPr>
        </p:nvSpPr>
        <p:spPr/>
        <p:txBody>
          <a:bodyPr/>
          <a:lstStyle/>
          <a:p>
            <a:fld id="{0B6BB8DA-DB46-D648-BE1D-FCDB55E9CBE3}" type="slidenum">
              <a:rPr lang="en-JP" smtClean="0"/>
              <a:t>‹#›</a:t>
            </a:fld>
            <a:endParaRPr lang="en-JP"/>
          </a:p>
        </p:txBody>
      </p:sp>
    </p:spTree>
    <p:extLst>
      <p:ext uri="{BB962C8B-B14F-4D97-AF65-F5344CB8AC3E}">
        <p14:creationId xmlns:p14="http://schemas.microsoft.com/office/powerpoint/2010/main" val="3979383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7ADD5-46FA-0C00-7307-0A2F0480B587}"/>
              </a:ext>
            </a:extLst>
          </p:cNvPr>
          <p:cNvSpPr>
            <a:spLocks noGrp="1"/>
          </p:cNvSpPr>
          <p:nvPr>
            <p:ph type="title"/>
          </p:nvPr>
        </p:nvSpPr>
        <p:spPr>
          <a:xfrm>
            <a:off x="629841" y="365126"/>
            <a:ext cx="78867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47114BF5-87EA-FAD0-8AB2-6F231086AF7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1C7075A-00D2-368B-F354-4D7FE7961DD5}"/>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CE7DF4F2-D91C-62C9-AEAA-A3E538AB1B7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599B676-FE84-20BE-92B5-D29FF8BF92DD}"/>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ACAB7ACB-4F49-C354-516C-71795DD0382D}"/>
              </a:ext>
            </a:extLst>
          </p:cNvPr>
          <p:cNvSpPr>
            <a:spLocks noGrp="1"/>
          </p:cNvSpPr>
          <p:nvPr>
            <p:ph type="dt" sz="half" idx="10"/>
          </p:nvPr>
        </p:nvSpPr>
        <p:spPr/>
        <p:txBody>
          <a:bodyPr/>
          <a:lstStyle/>
          <a:p>
            <a:fld id="{BFF1DC73-4505-3347-8068-01BBABFE0E40}" type="datetime1">
              <a:rPr lang="en-US" smtClean="0"/>
              <a:t>1/28/26</a:t>
            </a:fld>
            <a:endParaRPr lang="en-JP"/>
          </a:p>
        </p:txBody>
      </p:sp>
      <p:sp>
        <p:nvSpPr>
          <p:cNvPr id="8" name="Footer Placeholder 7">
            <a:extLst>
              <a:ext uri="{FF2B5EF4-FFF2-40B4-BE49-F238E27FC236}">
                <a16:creationId xmlns:a16="http://schemas.microsoft.com/office/drawing/2014/main" id="{9278ECDD-90F4-0B52-7E26-44EB66B16123}"/>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2CB9F86C-FF03-0C20-D4AD-190953F0CF18}"/>
              </a:ext>
            </a:extLst>
          </p:cNvPr>
          <p:cNvSpPr>
            <a:spLocks noGrp="1"/>
          </p:cNvSpPr>
          <p:nvPr>
            <p:ph type="sldNum" sz="quarter" idx="12"/>
          </p:nvPr>
        </p:nvSpPr>
        <p:spPr/>
        <p:txBody>
          <a:bodyPr/>
          <a:lstStyle/>
          <a:p>
            <a:fld id="{0B6BB8DA-DB46-D648-BE1D-FCDB55E9CBE3}" type="slidenum">
              <a:rPr lang="en-JP" smtClean="0"/>
              <a:t>‹#›</a:t>
            </a:fld>
            <a:endParaRPr lang="en-JP"/>
          </a:p>
        </p:txBody>
      </p:sp>
    </p:spTree>
    <p:extLst>
      <p:ext uri="{BB962C8B-B14F-4D97-AF65-F5344CB8AC3E}">
        <p14:creationId xmlns:p14="http://schemas.microsoft.com/office/powerpoint/2010/main" val="2512543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7C95F-3F94-C535-E96A-7BF6B2091A2F}"/>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9F5022CD-0AF8-5266-5E01-F32C15C84DF3}"/>
              </a:ext>
            </a:extLst>
          </p:cNvPr>
          <p:cNvSpPr>
            <a:spLocks noGrp="1"/>
          </p:cNvSpPr>
          <p:nvPr>
            <p:ph type="dt" sz="half" idx="10"/>
          </p:nvPr>
        </p:nvSpPr>
        <p:spPr/>
        <p:txBody>
          <a:bodyPr/>
          <a:lstStyle/>
          <a:p>
            <a:fld id="{92F54D08-4DF3-A741-B838-82E24A60D8D5}" type="datetime1">
              <a:rPr lang="en-US" smtClean="0"/>
              <a:t>1/28/26</a:t>
            </a:fld>
            <a:endParaRPr lang="en-JP"/>
          </a:p>
        </p:txBody>
      </p:sp>
      <p:sp>
        <p:nvSpPr>
          <p:cNvPr id="4" name="Footer Placeholder 3">
            <a:extLst>
              <a:ext uri="{FF2B5EF4-FFF2-40B4-BE49-F238E27FC236}">
                <a16:creationId xmlns:a16="http://schemas.microsoft.com/office/drawing/2014/main" id="{DA2FA676-1EAF-1F71-20F3-56EC9CBCB67B}"/>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8A8A7806-077F-2BB5-914B-B6FF8C3C9E1C}"/>
              </a:ext>
            </a:extLst>
          </p:cNvPr>
          <p:cNvSpPr>
            <a:spLocks noGrp="1"/>
          </p:cNvSpPr>
          <p:nvPr>
            <p:ph type="sldNum" sz="quarter" idx="12"/>
          </p:nvPr>
        </p:nvSpPr>
        <p:spPr/>
        <p:txBody>
          <a:bodyPr/>
          <a:lstStyle/>
          <a:p>
            <a:fld id="{0B6BB8DA-DB46-D648-BE1D-FCDB55E9CBE3}" type="slidenum">
              <a:rPr lang="en-JP" smtClean="0"/>
              <a:t>‹#›</a:t>
            </a:fld>
            <a:endParaRPr lang="en-JP"/>
          </a:p>
        </p:txBody>
      </p:sp>
    </p:spTree>
    <p:extLst>
      <p:ext uri="{BB962C8B-B14F-4D97-AF65-F5344CB8AC3E}">
        <p14:creationId xmlns:p14="http://schemas.microsoft.com/office/powerpoint/2010/main" val="211927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414A87-FE4A-3115-E2B8-1107873B5E9F}"/>
              </a:ext>
            </a:extLst>
          </p:cNvPr>
          <p:cNvSpPr>
            <a:spLocks noGrp="1"/>
          </p:cNvSpPr>
          <p:nvPr>
            <p:ph type="dt" sz="half" idx="10"/>
          </p:nvPr>
        </p:nvSpPr>
        <p:spPr/>
        <p:txBody>
          <a:bodyPr/>
          <a:lstStyle/>
          <a:p>
            <a:fld id="{E8E7EEB1-28C6-374A-9EDA-C8E8FE33B2B4}" type="datetime1">
              <a:rPr lang="en-US" smtClean="0"/>
              <a:t>1/28/26</a:t>
            </a:fld>
            <a:endParaRPr lang="en-JP"/>
          </a:p>
        </p:txBody>
      </p:sp>
      <p:sp>
        <p:nvSpPr>
          <p:cNvPr id="3" name="Footer Placeholder 2">
            <a:extLst>
              <a:ext uri="{FF2B5EF4-FFF2-40B4-BE49-F238E27FC236}">
                <a16:creationId xmlns:a16="http://schemas.microsoft.com/office/drawing/2014/main" id="{9FAF4347-E7AF-DFD0-71A8-479A045BD700}"/>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D9E68BB3-15F6-B251-0890-4588FA10FD93}"/>
              </a:ext>
            </a:extLst>
          </p:cNvPr>
          <p:cNvSpPr>
            <a:spLocks noGrp="1"/>
          </p:cNvSpPr>
          <p:nvPr>
            <p:ph type="sldNum" sz="quarter" idx="12"/>
          </p:nvPr>
        </p:nvSpPr>
        <p:spPr/>
        <p:txBody>
          <a:bodyPr/>
          <a:lstStyle/>
          <a:p>
            <a:fld id="{0B6BB8DA-DB46-D648-BE1D-FCDB55E9CBE3}" type="slidenum">
              <a:rPr lang="en-JP" smtClean="0"/>
              <a:t>‹#›</a:t>
            </a:fld>
            <a:endParaRPr lang="en-JP"/>
          </a:p>
        </p:txBody>
      </p:sp>
    </p:spTree>
    <p:extLst>
      <p:ext uri="{BB962C8B-B14F-4D97-AF65-F5344CB8AC3E}">
        <p14:creationId xmlns:p14="http://schemas.microsoft.com/office/powerpoint/2010/main" val="156534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1023A-CFB1-AD3A-DA1D-50BE51E9859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5D12F977-2491-65A5-FFE6-5F3EE340858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A030A49F-5AFB-3CF2-6AEB-3C843DFF09B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2FD6440-F13B-825A-F774-AD1E8FDB1D06}"/>
              </a:ext>
            </a:extLst>
          </p:cNvPr>
          <p:cNvSpPr>
            <a:spLocks noGrp="1"/>
          </p:cNvSpPr>
          <p:nvPr>
            <p:ph type="dt" sz="half" idx="10"/>
          </p:nvPr>
        </p:nvSpPr>
        <p:spPr/>
        <p:txBody>
          <a:bodyPr/>
          <a:lstStyle/>
          <a:p>
            <a:fld id="{A953FD84-AAC5-8441-B365-D57815EB7671}" type="datetime1">
              <a:rPr lang="en-US" smtClean="0"/>
              <a:t>1/28/26</a:t>
            </a:fld>
            <a:endParaRPr lang="en-JP"/>
          </a:p>
        </p:txBody>
      </p:sp>
      <p:sp>
        <p:nvSpPr>
          <p:cNvPr id="6" name="Footer Placeholder 5">
            <a:extLst>
              <a:ext uri="{FF2B5EF4-FFF2-40B4-BE49-F238E27FC236}">
                <a16:creationId xmlns:a16="http://schemas.microsoft.com/office/drawing/2014/main" id="{69742E71-154F-B578-41EF-536F3949167B}"/>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704689B5-2C9A-B98C-26FE-D6CAA9713345}"/>
              </a:ext>
            </a:extLst>
          </p:cNvPr>
          <p:cNvSpPr>
            <a:spLocks noGrp="1"/>
          </p:cNvSpPr>
          <p:nvPr>
            <p:ph type="sldNum" sz="quarter" idx="12"/>
          </p:nvPr>
        </p:nvSpPr>
        <p:spPr/>
        <p:txBody>
          <a:bodyPr/>
          <a:lstStyle/>
          <a:p>
            <a:fld id="{0B6BB8DA-DB46-D648-BE1D-FCDB55E9CBE3}" type="slidenum">
              <a:rPr lang="en-JP" smtClean="0"/>
              <a:t>‹#›</a:t>
            </a:fld>
            <a:endParaRPr lang="en-JP"/>
          </a:p>
        </p:txBody>
      </p:sp>
    </p:spTree>
    <p:extLst>
      <p:ext uri="{BB962C8B-B14F-4D97-AF65-F5344CB8AC3E}">
        <p14:creationId xmlns:p14="http://schemas.microsoft.com/office/powerpoint/2010/main" val="1955605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74873-9188-2E30-2543-DC6DF834EC0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BE3862EF-B7C4-05DB-732C-5596EE6946E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JP"/>
          </a:p>
        </p:txBody>
      </p:sp>
      <p:sp>
        <p:nvSpPr>
          <p:cNvPr id="4" name="Text Placeholder 3">
            <a:extLst>
              <a:ext uri="{FF2B5EF4-FFF2-40B4-BE49-F238E27FC236}">
                <a16:creationId xmlns:a16="http://schemas.microsoft.com/office/drawing/2014/main" id="{7B70529B-7AD0-CEAD-5E17-CD918F88ADD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B82930C-64DB-11AF-22E8-C8109515107F}"/>
              </a:ext>
            </a:extLst>
          </p:cNvPr>
          <p:cNvSpPr>
            <a:spLocks noGrp="1"/>
          </p:cNvSpPr>
          <p:nvPr>
            <p:ph type="dt" sz="half" idx="10"/>
          </p:nvPr>
        </p:nvSpPr>
        <p:spPr/>
        <p:txBody>
          <a:bodyPr/>
          <a:lstStyle/>
          <a:p>
            <a:fld id="{4A5BCE24-34DB-4F49-892D-32471F45E5F0}" type="datetime1">
              <a:rPr lang="en-US" smtClean="0"/>
              <a:t>1/28/26</a:t>
            </a:fld>
            <a:endParaRPr lang="en-JP"/>
          </a:p>
        </p:txBody>
      </p:sp>
      <p:sp>
        <p:nvSpPr>
          <p:cNvPr id="6" name="Footer Placeholder 5">
            <a:extLst>
              <a:ext uri="{FF2B5EF4-FFF2-40B4-BE49-F238E27FC236}">
                <a16:creationId xmlns:a16="http://schemas.microsoft.com/office/drawing/2014/main" id="{DD1BF007-964F-1EDC-168E-21DAD64614BE}"/>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A05AE921-E6FB-B16A-69F3-2C085AC9E4B4}"/>
              </a:ext>
            </a:extLst>
          </p:cNvPr>
          <p:cNvSpPr>
            <a:spLocks noGrp="1"/>
          </p:cNvSpPr>
          <p:nvPr>
            <p:ph type="sldNum" sz="quarter" idx="12"/>
          </p:nvPr>
        </p:nvSpPr>
        <p:spPr/>
        <p:txBody>
          <a:bodyPr/>
          <a:lstStyle/>
          <a:p>
            <a:fld id="{0B6BB8DA-DB46-D648-BE1D-FCDB55E9CBE3}" type="slidenum">
              <a:rPr lang="en-JP" smtClean="0"/>
              <a:t>‹#›</a:t>
            </a:fld>
            <a:endParaRPr lang="en-JP"/>
          </a:p>
        </p:txBody>
      </p:sp>
    </p:spTree>
    <p:extLst>
      <p:ext uri="{BB962C8B-B14F-4D97-AF65-F5344CB8AC3E}">
        <p14:creationId xmlns:p14="http://schemas.microsoft.com/office/powerpoint/2010/main" val="3586605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61596-6365-AE87-C08A-356B89500EB9}"/>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9E6B78EB-75A4-0B64-3FEA-E5DDC0799B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AAF0BE75-DF5A-B852-5AC4-716BB636ABDC}"/>
              </a:ext>
            </a:extLst>
          </p:cNvPr>
          <p:cNvSpPr>
            <a:spLocks noGrp="1"/>
          </p:cNvSpPr>
          <p:nvPr>
            <p:ph type="dt" sz="half" idx="10"/>
          </p:nvPr>
        </p:nvSpPr>
        <p:spPr/>
        <p:txBody>
          <a:bodyPr/>
          <a:lstStyle/>
          <a:p>
            <a:fld id="{99990589-B824-A448-A23B-061592EFA7BD}" type="datetime1">
              <a:rPr lang="en-US" smtClean="0"/>
              <a:t>1/28/26</a:t>
            </a:fld>
            <a:endParaRPr lang="en-JP"/>
          </a:p>
        </p:txBody>
      </p:sp>
      <p:sp>
        <p:nvSpPr>
          <p:cNvPr id="5" name="Footer Placeholder 4">
            <a:extLst>
              <a:ext uri="{FF2B5EF4-FFF2-40B4-BE49-F238E27FC236}">
                <a16:creationId xmlns:a16="http://schemas.microsoft.com/office/drawing/2014/main" id="{3D179634-4005-6DC5-11DC-62BA52052D22}"/>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1A311556-5DC7-D92E-E07D-4F0B112A48D4}"/>
              </a:ext>
            </a:extLst>
          </p:cNvPr>
          <p:cNvSpPr>
            <a:spLocks noGrp="1"/>
          </p:cNvSpPr>
          <p:nvPr>
            <p:ph type="sldNum" sz="quarter" idx="12"/>
          </p:nvPr>
        </p:nvSpPr>
        <p:spPr/>
        <p:txBody>
          <a:bodyPr/>
          <a:lstStyle/>
          <a:p>
            <a:fld id="{0B6BB8DA-DB46-D648-BE1D-FCDB55E9CBE3}" type="slidenum">
              <a:rPr lang="en-JP" smtClean="0"/>
              <a:t>‹#›</a:t>
            </a:fld>
            <a:endParaRPr lang="en-JP"/>
          </a:p>
        </p:txBody>
      </p:sp>
    </p:spTree>
    <p:extLst>
      <p:ext uri="{BB962C8B-B14F-4D97-AF65-F5344CB8AC3E}">
        <p14:creationId xmlns:p14="http://schemas.microsoft.com/office/powerpoint/2010/main" val="47539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261219-3DA0-E905-E495-1268C834344C}"/>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06D0232D-EF59-781B-8B41-E3E474DDD129}"/>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FB4B76DF-8A8B-FDDF-B399-A92BAA21B563}"/>
              </a:ext>
            </a:extLst>
          </p:cNvPr>
          <p:cNvSpPr>
            <a:spLocks noGrp="1"/>
          </p:cNvSpPr>
          <p:nvPr>
            <p:ph type="dt" sz="half" idx="10"/>
          </p:nvPr>
        </p:nvSpPr>
        <p:spPr/>
        <p:txBody>
          <a:bodyPr/>
          <a:lstStyle/>
          <a:p>
            <a:fld id="{A01F48BB-30A5-D34F-BB77-76E40364B84E}" type="datetime1">
              <a:rPr lang="en-US" smtClean="0"/>
              <a:t>1/28/26</a:t>
            </a:fld>
            <a:endParaRPr lang="en-JP"/>
          </a:p>
        </p:txBody>
      </p:sp>
      <p:sp>
        <p:nvSpPr>
          <p:cNvPr id="5" name="Footer Placeholder 4">
            <a:extLst>
              <a:ext uri="{FF2B5EF4-FFF2-40B4-BE49-F238E27FC236}">
                <a16:creationId xmlns:a16="http://schemas.microsoft.com/office/drawing/2014/main" id="{0FB907CA-182B-509D-6F0C-45012EFC2487}"/>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D2F19C47-0A4D-7B25-EF11-591AD94EDAE9}"/>
              </a:ext>
            </a:extLst>
          </p:cNvPr>
          <p:cNvSpPr>
            <a:spLocks noGrp="1"/>
          </p:cNvSpPr>
          <p:nvPr>
            <p:ph type="sldNum" sz="quarter" idx="12"/>
          </p:nvPr>
        </p:nvSpPr>
        <p:spPr/>
        <p:txBody>
          <a:bodyPr/>
          <a:lstStyle/>
          <a:p>
            <a:fld id="{0B6BB8DA-DB46-D648-BE1D-FCDB55E9CBE3}" type="slidenum">
              <a:rPr lang="en-JP" smtClean="0"/>
              <a:t>‹#›</a:t>
            </a:fld>
            <a:endParaRPr lang="en-JP"/>
          </a:p>
        </p:txBody>
      </p:sp>
    </p:spTree>
    <p:extLst>
      <p:ext uri="{BB962C8B-B14F-4D97-AF65-F5344CB8AC3E}">
        <p14:creationId xmlns:p14="http://schemas.microsoft.com/office/powerpoint/2010/main" val="1751566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FE5AE0-BA96-4D2C-EACB-7C60480BF7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0B3833C0-0002-9E91-74D1-1850A4093CE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D7363D56-E87F-1151-60DA-C3EFF94035C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97033B9-89B1-0547-AA9F-C772097FB420}" type="datetime1">
              <a:rPr lang="en-US" smtClean="0"/>
              <a:t>1/28/26</a:t>
            </a:fld>
            <a:endParaRPr lang="en-JP"/>
          </a:p>
        </p:txBody>
      </p:sp>
      <p:sp>
        <p:nvSpPr>
          <p:cNvPr id="5" name="Footer Placeholder 4">
            <a:extLst>
              <a:ext uri="{FF2B5EF4-FFF2-40B4-BE49-F238E27FC236}">
                <a16:creationId xmlns:a16="http://schemas.microsoft.com/office/drawing/2014/main" id="{ADDE9775-2748-C455-2FAF-5D234E4C7E7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A9AFCDDF-EE64-48FD-21EE-F1B0BDA3839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B6BB8DA-DB46-D648-BE1D-FCDB55E9CBE3}" type="slidenum">
              <a:rPr lang="en-JP" smtClean="0"/>
              <a:t>‹#›</a:t>
            </a:fld>
            <a:endParaRPr lang="en-JP"/>
          </a:p>
        </p:txBody>
      </p:sp>
    </p:spTree>
    <p:extLst>
      <p:ext uri="{BB962C8B-B14F-4D97-AF65-F5344CB8AC3E}">
        <p14:creationId xmlns:p14="http://schemas.microsoft.com/office/powerpoint/2010/main" val="198315059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JP"/>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F85927-20F9-14D0-D87C-A54E3B83C9B0}"/>
              </a:ext>
            </a:extLst>
          </p:cNvPr>
          <p:cNvSpPr txBox="1"/>
          <p:nvPr/>
        </p:nvSpPr>
        <p:spPr>
          <a:xfrm>
            <a:off x="1227559" y="3688772"/>
            <a:ext cx="7261813" cy="1323439"/>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授業 　　：</a:t>
            </a:r>
            <a:r>
              <a:rPr lang="ja-JP" altLang="en-US" sz="2000">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en-US" sz="2000" dirty="0">
                <a:latin typeface="Meiryo" panose="020B0604030504040204" pitchFamily="34" charset="-128"/>
                <a:ea typeface="Meiryo" panose="020B0604030504040204" pitchFamily="34" charset="-128"/>
                <a:cs typeface="Times New Roman" panose="02020603050405020304" pitchFamily="18" charset="0"/>
              </a:rPr>
              <a:t>(2025</a:t>
            </a:r>
            <a:r>
              <a:rPr lang="ja-JP" altLang="en-US" sz="2000">
                <a:latin typeface="Meiryo" panose="020B0604030504040204" pitchFamily="34" charset="-128"/>
                <a:ea typeface="Meiryo" panose="020B0604030504040204" pitchFamily="34" charset="-128"/>
                <a:cs typeface="Times New Roman" panose="02020603050405020304" pitchFamily="18" charset="0"/>
              </a:rPr>
              <a:t>年度後期集中</a:t>
            </a:r>
            <a:r>
              <a:rPr lang="en-US" sz="2000" dirty="0">
                <a:latin typeface="Meiryo" panose="020B0604030504040204" pitchFamily="34" charset="-128"/>
                <a:ea typeface="Meiryo" panose="020B0604030504040204" pitchFamily="34" charset="-128"/>
                <a:cs typeface="Times New Roman" panose="02020603050405020304" pitchFamily="18" charset="0"/>
              </a:rPr>
              <a:t>)</a:t>
            </a:r>
            <a:endParaRPr lang="en-US"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発表者　：</a:t>
            </a:r>
            <a:r>
              <a:rPr lang="en-US" altLang="ja-JP" sz="2000" dirty="0">
                <a:latin typeface="Meiryo" panose="020B0604030504040204" pitchFamily="34" charset="-128"/>
                <a:ea typeface="Meiryo" panose="020B0604030504040204" pitchFamily="34" charset="-128"/>
              </a:rPr>
              <a:t>DAVAAKHUU   UNDARMAA</a:t>
            </a:r>
          </a:p>
          <a:p>
            <a:r>
              <a:rPr lang="ja-JP" altLang="en-US" sz="2000">
                <a:latin typeface="Meiryo" panose="020B0604030504040204" pitchFamily="34" charset="-128"/>
                <a:ea typeface="Meiryo" panose="020B0604030504040204" pitchFamily="34" charset="-128"/>
              </a:rPr>
              <a:t>発表日　： </a:t>
            </a:r>
            <a:r>
              <a:rPr lang="en-US" altLang="ja-JP" sz="2000" dirty="0">
                <a:latin typeface="Meiryo" panose="020B0604030504040204" pitchFamily="34" charset="-128"/>
                <a:ea typeface="Meiryo" panose="020B0604030504040204" pitchFamily="34" charset="-128"/>
              </a:rPr>
              <a:t>202</a:t>
            </a:r>
            <a:r>
              <a:rPr lang="mn-MN" altLang="ja-JP" sz="2000" dirty="0">
                <a:latin typeface="Meiryo" panose="020B0604030504040204" pitchFamily="34" charset="-128"/>
                <a:ea typeface="Meiryo" panose="020B0604030504040204" pitchFamily="34" charset="-128"/>
              </a:rPr>
              <a:t>6</a:t>
            </a:r>
            <a:r>
              <a:rPr lang="ja-JP" altLang="en-US" sz="2000">
                <a:latin typeface="Meiryo" panose="020B0604030504040204" pitchFamily="34" charset="-128"/>
                <a:ea typeface="Meiryo" panose="020B0604030504040204" pitchFamily="34" charset="-128"/>
              </a:rPr>
              <a:t>年</a:t>
            </a:r>
            <a:r>
              <a:rPr lang="en-US" altLang="ja-JP" sz="2000" dirty="0">
                <a:latin typeface="Meiryo" panose="020B0604030504040204" pitchFamily="34" charset="-128"/>
                <a:ea typeface="Meiryo" panose="020B0604030504040204" pitchFamily="34" charset="-128"/>
              </a:rPr>
              <a:t>1</a:t>
            </a:r>
            <a:r>
              <a:rPr lang="ja-JP" altLang="en-US" sz="2000">
                <a:latin typeface="Meiryo" panose="020B0604030504040204" pitchFamily="34" charset="-128"/>
                <a:ea typeface="Meiryo" panose="020B0604030504040204" pitchFamily="34" charset="-128"/>
              </a:rPr>
              <a:t>月</a:t>
            </a:r>
            <a:r>
              <a:rPr lang="en-US" altLang="ja-JP" sz="2000" dirty="0">
                <a:latin typeface="Meiryo" panose="020B0604030504040204" pitchFamily="34" charset="-128"/>
                <a:ea typeface="Meiryo" panose="020B0604030504040204" pitchFamily="34" charset="-128"/>
              </a:rPr>
              <a:t>28</a:t>
            </a:r>
            <a:r>
              <a:rPr lang="ja-JP" altLang="en-US" sz="2000">
                <a:latin typeface="Meiryo" panose="020B0604030504040204" pitchFamily="34" charset="-128"/>
                <a:ea typeface="Meiryo" panose="020B0604030504040204" pitchFamily="34" charset="-128"/>
              </a:rPr>
              <a:t>日</a:t>
            </a:r>
            <a:endParaRPr lang="en-US"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会場　　：</a:t>
            </a:r>
            <a:r>
              <a:rPr lang="en-US" altLang="ja-JP" sz="2000" dirty="0">
                <a:latin typeface="Meiryo" panose="020B0604030504040204" pitchFamily="34" charset="-128"/>
                <a:ea typeface="Meiryo" panose="020B0604030504040204" pitchFamily="34" charset="-128"/>
              </a:rPr>
              <a:t>Core3</a:t>
            </a:r>
          </a:p>
        </p:txBody>
      </p:sp>
      <p:sp>
        <p:nvSpPr>
          <p:cNvPr id="7" name="TextBox 6">
            <a:extLst>
              <a:ext uri="{FF2B5EF4-FFF2-40B4-BE49-F238E27FC236}">
                <a16:creationId xmlns:a16="http://schemas.microsoft.com/office/drawing/2014/main" id="{D3D6B6F7-3E45-8C7B-7B54-D97E506D83DC}"/>
              </a:ext>
            </a:extLst>
          </p:cNvPr>
          <p:cNvSpPr txBox="1"/>
          <p:nvPr/>
        </p:nvSpPr>
        <p:spPr>
          <a:xfrm>
            <a:off x="1117031" y="1350056"/>
            <a:ext cx="6543048" cy="1077218"/>
          </a:xfrm>
          <a:prstGeom prst="rect">
            <a:avLst/>
          </a:prstGeom>
          <a:noFill/>
        </p:spPr>
        <p:txBody>
          <a:bodyPr wrap="square">
            <a:spAutoFit/>
          </a:bodyPr>
          <a:lstStyle/>
          <a:p>
            <a:r>
              <a:rPr lang="en-JP" sz="3200" dirty="0">
                <a:latin typeface="Meiryo" panose="020B0604030504040204" pitchFamily="34" charset="-128"/>
                <a:ea typeface="Meiryo" panose="020B0604030504040204" pitchFamily="34" charset="-128"/>
              </a:rPr>
              <a:t>セキュリティ対策の観点から見た</a:t>
            </a:r>
          </a:p>
          <a:p>
            <a:r>
              <a:rPr lang="mn-MN" sz="3200" dirty="0">
                <a:latin typeface="Meiryo" panose="020B0604030504040204" pitchFamily="34" charset="-128"/>
                <a:ea typeface="Meiryo" panose="020B0604030504040204" pitchFamily="34" charset="-128"/>
              </a:rPr>
              <a:t>       </a:t>
            </a:r>
            <a:r>
              <a:rPr lang="en-JP" sz="3200" dirty="0">
                <a:latin typeface="Meiryo" panose="020B0604030504040204" pitchFamily="34" charset="-128"/>
                <a:ea typeface="Meiryo" panose="020B0604030504040204" pitchFamily="34" charset="-128"/>
              </a:rPr>
              <a:t>マルウェア解析手法</a:t>
            </a:r>
          </a:p>
        </p:txBody>
      </p:sp>
    </p:spTree>
    <p:extLst>
      <p:ext uri="{BB962C8B-B14F-4D97-AF65-F5344CB8AC3E}">
        <p14:creationId xmlns:p14="http://schemas.microsoft.com/office/powerpoint/2010/main" val="2669415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23F638-5DFE-075F-8457-A01C0B6EAE5A}"/>
              </a:ext>
            </a:extLst>
          </p:cNvPr>
          <p:cNvSpPr txBox="1"/>
          <p:nvPr/>
        </p:nvSpPr>
        <p:spPr>
          <a:xfrm>
            <a:off x="449636" y="329112"/>
            <a:ext cx="4572000" cy="400110"/>
          </a:xfrm>
          <a:prstGeom prst="rect">
            <a:avLst/>
          </a:prstGeom>
          <a:noFill/>
        </p:spPr>
        <p:txBody>
          <a:bodyPr wrap="square">
            <a:spAutoFit/>
          </a:bodyPr>
          <a:lstStyle/>
          <a:p>
            <a:r>
              <a:rPr lang="ja-JP" altLang="en-US" sz="2000" b="1">
                <a:latin typeface="Meiryo" panose="020B0604030504040204" pitchFamily="34" charset="-128"/>
                <a:ea typeface="Meiryo" panose="020B0604030504040204" pitchFamily="34" charset="-128"/>
              </a:rPr>
              <a:t>目次</a:t>
            </a:r>
            <a:endParaRPr lang="en-US" altLang="ja-JP" sz="2000" b="1"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009319BA-D6CE-3962-E95D-46C96D6B345F}"/>
              </a:ext>
            </a:extLst>
          </p:cNvPr>
          <p:cNvSpPr txBox="1"/>
          <p:nvPr/>
        </p:nvSpPr>
        <p:spPr>
          <a:xfrm>
            <a:off x="449636" y="836967"/>
            <a:ext cx="7004393" cy="5940088"/>
          </a:xfrm>
          <a:prstGeom prst="rect">
            <a:avLst/>
          </a:prstGeom>
          <a:noFill/>
        </p:spPr>
        <p:txBody>
          <a:bodyPr wrap="square">
            <a:spAutoFit/>
          </a:bodyPr>
          <a:lstStyle/>
          <a:p>
            <a:endParaRPr lang="mn-MN"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000">
                <a:latin typeface="Meiryo" panose="020B0604030504040204" pitchFamily="34" charset="-128"/>
                <a:ea typeface="Meiryo" panose="020B0604030504040204" pitchFamily="34" charset="-128"/>
              </a:rPr>
              <a:t>統合的活用モデルの提案</a:t>
            </a:r>
            <a:endParaRPr lang="en-US"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endParaRPr lang="mn-MN" altLang="ja-JP" sz="2000" dirty="0">
              <a:latin typeface="Meiryo" panose="020B0604030504040204" pitchFamily="34" charset="-128"/>
              <a:ea typeface="Meiryo" panose="020B0604030504040204" pitchFamily="34" charset="-128"/>
            </a:endParaRPr>
          </a:p>
          <a:p>
            <a:pPr marL="285750" indent="-285750" algn="just">
              <a:buFont typeface="Wingdings" pitchFamily="2" charset="2"/>
              <a:buChar char="§"/>
            </a:pPr>
            <a:r>
              <a:rPr lang="en-US" altLang="ja-JP" sz="2000" dirty="0">
                <a:latin typeface="Meiryo" panose="020B0604030504040204" pitchFamily="34" charset="-128"/>
                <a:ea typeface="Meiryo" panose="020B0604030504040204" pitchFamily="34" charset="-128"/>
              </a:rPr>
              <a:t>3</a:t>
            </a:r>
            <a:r>
              <a:rPr lang="ja-JP" altLang="en-US" sz="2000">
                <a:latin typeface="Meiryo" panose="020B0604030504040204" pitchFamily="34" charset="-128"/>
                <a:ea typeface="Meiryo" panose="020B0604030504040204" pitchFamily="34" charset="-128"/>
              </a:rPr>
              <a:t>層防御アーキテクチャ</a:t>
            </a:r>
            <a:endParaRPr lang="en-US" altLang="ja-JP" sz="2000" dirty="0">
              <a:latin typeface="Meiryo" panose="020B0604030504040204" pitchFamily="34" charset="-128"/>
              <a:ea typeface="Meiryo" panose="020B0604030504040204" pitchFamily="34" charset="-128"/>
            </a:endParaRPr>
          </a:p>
          <a:p>
            <a:pPr marL="285750" indent="-285750" algn="just">
              <a:buFont typeface="Wingdings" pitchFamily="2" charset="2"/>
              <a:buChar char="§"/>
            </a:pPr>
            <a:endParaRPr lang="mn-MN" altLang="ja-JP" sz="2000" dirty="0">
              <a:latin typeface="Meiryo" panose="020B0604030504040204" pitchFamily="34" charset="-128"/>
              <a:ea typeface="Meiryo" panose="020B0604030504040204" pitchFamily="34" charset="-128"/>
            </a:endParaRPr>
          </a:p>
          <a:p>
            <a:pPr marL="285750" indent="-285750" algn="just">
              <a:buFont typeface="Wingdings" pitchFamily="2" charset="2"/>
              <a:buChar char="§"/>
            </a:pPr>
            <a:r>
              <a:rPr lang="en-US" sz="2000" dirty="0">
                <a:latin typeface="Meiryo" panose="020B0604030504040204" pitchFamily="34" charset="-128"/>
                <a:ea typeface="Meiryo" panose="020B0604030504040204" pitchFamily="34" charset="-128"/>
              </a:rPr>
              <a:t>SOC/CSIRT</a:t>
            </a:r>
            <a:r>
              <a:rPr lang="ja-JP" altLang="en-US" sz="2000">
                <a:latin typeface="Meiryo" panose="020B0604030504040204" pitchFamily="34" charset="-128"/>
                <a:ea typeface="Meiryo" panose="020B0604030504040204" pitchFamily="34" charset="-128"/>
              </a:rPr>
              <a:t>運用評価</a:t>
            </a:r>
            <a:endParaRPr lang="en-US" altLang="ja-JP" sz="2000" dirty="0">
              <a:latin typeface="Meiryo" panose="020B0604030504040204" pitchFamily="34" charset="-128"/>
              <a:ea typeface="Meiryo" panose="020B0604030504040204" pitchFamily="34" charset="-128"/>
            </a:endParaRPr>
          </a:p>
          <a:p>
            <a:pPr marL="285750" indent="-285750" algn="just">
              <a:buFont typeface="Wingdings" pitchFamily="2" charset="2"/>
              <a:buChar char="§"/>
            </a:pPr>
            <a:endParaRPr lang="mn-MN"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運用負荷の定量評価</a:t>
            </a:r>
            <a:endParaRPr lang="mn-MN"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endParaRPr lang="mn-MN"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人材スキル要件</a:t>
            </a:r>
            <a:endParaRPr lang="mn-MN"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endParaRPr lang="mn-MN"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000">
                <a:latin typeface="Meiryo" panose="020B0604030504040204" pitchFamily="34" charset="-128"/>
                <a:ea typeface="Meiryo" panose="020B0604030504040204" pitchFamily="34" charset="-128"/>
              </a:rPr>
              <a:t>今後の課題と展望</a:t>
            </a:r>
            <a:endParaRPr lang="mn-MN"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endParaRPr lang="mn-MN"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US" sz="2000" dirty="0">
                <a:latin typeface="Meiryo" panose="020B0604030504040204" pitchFamily="34" charset="-128"/>
                <a:ea typeface="Meiryo" panose="020B0604030504040204" pitchFamily="34" charset="-128"/>
              </a:rPr>
              <a:t>AI</a:t>
            </a:r>
            <a:r>
              <a:rPr lang="ja-JP" altLang="en-US" sz="2000">
                <a:latin typeface="Meiryo" panose="020B0604030504040204" pitchFamily="34" charset="-128"/>
                <a:ea typeface="Meiryo" panose="020B0604030504040204" pitchFamily="34" charset="-128"/>
              </a:rPr>
              <a:t>技術の進展</a:t>
            </a:r>
            <a:endParaRPr lang="mn-MN"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endParaRPr lang="mn-MN"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000">
                <a:latin typeface="Meiryo" panose="020B0604030504040204" pitchFamily="34" charset="-128"/>
                <a:ea typeface="Meiryo" panose="020B0604030504040204" pitchFamily="34" charset="-128"/>
              </a:rPr>
              <a:t>新興脅威への対応</a:t>
            </a:r>
            <a:endParaRPr lang="en-US" altLang="ja-JP" sz="2000" dirty="0">
              <a:latin typeface="Meiryo" panose="020B0604030504040204" pitchFamily="34" charset="-128"/>
              <a:ea typeface="Meiryo" panose="020B0604030504040204" pitchFamily="34" charset="-128"/>
            </a:endParaRPr>
          </a:p>
          <a:p>
            <a:endParaRPr lang="en-US" altLang="ja-JP" sz="20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000">
                <a:latin typeface="Meiryo" panose="020B0604030504040204" pitchFamily="34" charset="-128"/>
                <a:ea typeface="Meiryo" panose="020B0604030504040204" pitchFamily="34" charset="-128"/>
              </a:rPr>
              <a:t>まとめ</a:t>
            </a:r>
            <a:endParaRPr lang="mn-MN" altLang="ja-JP" sz="2000" dirty="0">
              <a:latin typeface="Meiryo" panose="020B0604030504040204" pitchFamily="34" charset="-128"/>
              <a:ea typeface="Meiryo" panose="020B0604030504040204" pitchFamily="34" charset="-128"/>
            </a:endParaRPr>
          </a:p>
          <a:p>
            <a:endParaRPr lang="mn-MN" altLang="ja-JP" sz="2000" dirty="0">
              <a:latin typeface="Meiryo" panose="020B0604030504040204" pitchFamily="34" charset="-128"/>
              <a:ea typeface="Meiryo" panose="020B0604030504040204" pitchFamily="34" charset="-128"/>
            </a:endParaRPr>
          </a:p>
        </p:txBody>
      </p:sp>
      <p:sp>
        <p:nvSpPr>
          <p:cNvPr id="8" name="Slide Number Placeholder 7">
            <a:extLst>
              <a:ext uri="{FF2B5EF4-FFF2-40B4-BE49-F238E27FC236}">
                <a16:creationId xmlns:a16="http://schemas.microsoft.com/office/drawing/2014/main" id="{FD0F30D8-30C3-D90E-6E21-9C6B8CD55434}"/>
              </a:ext>
            </a:extLst>
          </p:cNvPr>
          <p:cNvSpPr>
            <a:spLocks noGrp="1"/>
          </p:cNvSpPr>
          <p:nvPr>
            <p:ph type="sldNum" sz="quarter" idx="12"/>
          </p:nvPr>
        </p:nvSpPr>
        <p:spPr/>
        <p:txBody>
          <a:bodyPr/>
          <a:lstStyle/>
          <a:p>
            <a:fld id="{0B6BB8DA-DB46-D648-BE1D-FCDB55E9CBE3}" type="slidenum">
              <a:rPr lang="en-JP" smtClean="0"/>
              <a:t>1</a:t>
            </a:fld>
            <a:endParaRPr lang="en-JP"/>
          </a:p>
        </p:txBody>
      </p:sp>
    </p:spTree>
    <p:extLst>
      <p:ext uri="{BB962C8B-B14F-4D97-AF65-F5344CB8AC3E}">
        <p14:creationId xmlns:p14="http://schemas.microsoft.com/office/powerpoint/2010/main" val="1734204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403454-17F7-2A8C-6D60-9AE67ED43F72}"/>
              </a:ext>
            </a:extLst>
          </p:cNvPr>
          <p:cNvSpPr txBox="1"/>
          <p:nvPr/>
        </p:nvSpPr>
        <p:spPr>
          <a:xfrm>
            <a:off x="374072" y="322118"/>
            <a:ext cx="4790209" cy="369332"/>
          </a:xfrm>
          <a:prstGeom prst="rect">
            <a:avLst/>
          </a:prstGeom>
          <a:noFill/>
        </p:spPr>
        <p:txBody>
          <a:bodyPr wrap="square" rtlCol="0">
            <a:spAutoFit/>
          </a:bodyPr>
          <a:lstStyle/>
          <a:p>
            <a:pPr marL="285750" indent="-285750">
              <a:buFont typeface="Wingdings" pitchFamily="2" charset="2"/>
              <a:buChar char="Ø"/>
            </a:pPr>
            <a:r>
              <a:rPr lang="ja-JP" altLang="en-US" b="1">
                <a:solidFill>
                  <a:srgbClr val="C00000"/>
                </a:solidFill>
              </a:rPr>
              <a:t>なぜ統合アーキテクチャが必要か</a:t>
            </a:r>
            <a:endParaRPr lang="en-US" altLang="ja-JP" sz="18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1F71C215-422F-770A-53C0-B97EAD00928F}"/>
              </a:ext>
            </a:extLst>
          </p:cNvPr>
          <p:cNvSpPr txBox="1"/>
          <p:nvPr/>
        </p:nvSpPr>
        <p:spPr>
          <a:xfrm>
            <a:off x="820881" y="691450"/>
            <a:ext cx="6203374" cy="2800767"/>
          </a:xfrm>
          <a:prstGeom prst="rect">
            <a:avLst/>
          </a:prstGeom>
          <a:noFill/>
        </p:spPr>
        <p:txBody>
          <a:bodyPr wrap="square">
            <a:spAutoFit/>
          </a:bodyPr>
          <a:lstStyle/>
          <a:p>
            <a:pPr marL="285750" indent="-285750">
              <a:buFont typeface="Wingdings" pitchFamily="2" charset="2"/>
              <a:buChar char="Ø"/>
            </a:pPr>
            <a:r>
              <a:rPr lang="en-JP" sz="1600" b="1" dirty="0">
                <a:solidFill>
                  <a:srgbClr val="92D050"/>
                </a:solidFill>
                <a:latin typeface="Meiryo" panose="020B0604030504040204" pitchFamily="34" charset="-128"/>
                <a:ea typeface="Meiryo" panose="020B0604030504040204" pitchFamily="34" charset="-128"/>
              </a:rPr>
              <a:t>現代のサイバー脅威</a:t>
            </a:r>
            <a:r>
              <a:rPr lang="en-US" sz="1600" b="1" dirty="0">
                <a:solidFill>
                  <a:srgbClr val="92D050"/>
                </a:solidFill>
                <a:latin typeface="Meiryo" panose="020B0604030504040204" pitchFamily="34" charset="-128"/>
                <a:ea typeface="Meiryo" panose="020B0604030504040204" pitchFamily="34" charset="-128"/>
              </a:rPr>
              <a:t> 1/2</a:t>
            </a:r>
          </a:p>
          <a:p>
            <a:endParaRPr lang="en-JP" sz="1600" dirty="0">
              <a:latin typeface="Meiryo" panose="020B0604030504040204" pitchFamily="34" charset="-128"/>
              <a:ea typeface="Meiryo" panose="020B0604030504040204" pitchFamily="34" charset="-128"/>
            </a:endParaRPr>
          </a:p>
          <a:p>
            <a:r>
              <a:rPr lang="en-JP" sz="1600" dirty="0">
                <a:latin typeface="Meiryo" panose="020B0604030504040204" pitchFamily="34" charset="-128"/>
                <a:ea typeface="Meiryo" panose="020B0604030504040204" pitchFamily="34" charset="-128"/>
              </a:rPr>
              <a:t>高度化</a:t>
            </a:r>
          </a:p>
          <a:p>
            <a:endParaRPr lang="en-JP" sz="1600" dirty="0">
              <a:solidFill>
                <a:srgbClr val="92D050"/>
              </a:solidFill>
              <a:latin typeface="Meiryo" panose="020B0604030504040204" pitchFamily="34" charset="-128"/>
              <a:ea typeface="Meiryo" panose="020B0604030504040204" pitchFamily="34" charset="-128"/>
            </a:endParaRPr>
          </a:p>
          <a:p>
            <a:r>
              <a:rPr lang="en-JP" sz="1600" dirty="0">
                <a:latin typeface="Meiryo" panose="020B0604030504040204" pitchFamily="34" charset="-128"/>
                <a:ea typeface="Meiryo" panose="020B0604030504040204" pitchFamily="34" charset="-128"/>
              </a:rPr>
              <a:t>• </a:t>
            </a:r>
            <a:r>
              <a:rPr lang="en-US" sz="1600" dirty="0">
                <a:latin typeface="Meiryo" panose="020B0604030504040204" pitchFamily="34" charset="-128"/>
                <a:ea typeface="Meiryo" panose="020B0604030504040204" pitchFamily="34" charset="-128"/>
              </a:rPr>
              <a:t>APT</a:t>
            </a:r>
            <a:r>
              <a:rPr lang="ja-JP" altLang="en-US" sz="1600">
                <a:latin typeface="Meiryo" panose="020B0604030504040204" pitchFamily="34" charset="-128"/>
                <a:ea typeface="Meiryo" panose="020B0604030504040204" pitchFamily="34" charset="-128"/>
              </a:rPr>
              <a:t>攻撃（</a:t>
            </a:r>
            <a:r>
              <a:rPr lang="en-US" sz="1600" dirty="0">
                <a:latin typeface="Meiryo" panose="020B0604030504040204" pitchFamily="34" charset="-128"/>
                <a:ea typeface="Meiryo" panose="020B0604030504040204" pitchFamily="34" charset="-128"/>
              </a:rPr>
              <a:t>Advanced Persistent Threat）</a:t>
            </a:r>
          </a:p>
          <a:p>
            <a:r>
              <a:rPr lang="ja-JP" altLang="en-US" sz="1600">
                <a:latin typeface="Meiryo" panose="020B0604030504040204" pitchFamily="34" charset="-128"/>
                <a:ea typeface="Meiryo" panose="020B0604030504040204" pitchFamily="34" charset="-128"/>
              </a:rPr>
              <a:t>長期間にわたりシステムに潜伏</a:t>
            </a:r>
          </a:p>
          <a:p>
            <a:r>
              <a:rPr lang="ja-JP" altLang="en-US" sz="1600">
                <a:latin typeface="Meiryo" panose="020B0604030504040204" pitchFamily="34" charset="-128"/>
                <a:ea typeface="Meiryo" panose="020B0604030504040204" pitchFamily="34" charset="-128"/>
              </a:rPr>
              <a:t>気づかれないように情報漏えい</a:t>
            </a:r>
          </a:p>
          <a:p>
            <a:r>
              <a:rPr lang="ja-JP" altLang="en-US" sz="1600">
                <a:latin typeface="Meiryo" panose="020B0604030504040204" pitchFamily="34" charset="-128"/>
                <a:ea typeface="Meiryo" panose="020B0604030504040204" pitchFamily="34" charset="-128"/>
              </a:rPr>
              <a:t>政府機関や大企業が主な標的</a:t>
            </a:r>
            <a:endParaRPr lang="mn-MN" altLang="ja-JP" sz="1600" dirty="0">
              <a:latin typeface="Meiryo" panose="020B0604030504040204" pitchFamily="34" charset="-128"/>
              <a:ea typeface="Meiryo" panose="020B0604030504040204" pitchFamily="34" charset="-128"/>
            </a:endParaRPr>
          </a:p>
          <a:p>
            <a:endParaRPr lang="en-US" sz="1600" dirty="0">
              <a:latin typeface="Meiryo" panose="020B0604030504040204" pitchFamily="34" charset="-128"/>
              <a:ea typeface="Meiryo" panose="020B0604030504040204" pitchFamily="34" charset="-128"/>
            </a:endParaRPr>
          </a:p>
          <a:p>
            <a:endParaRPr lang="en-US" sz="1600" dirty="0">
              <a:latin typeface="Meiryo" panose="020B0604030504040204" pitchFamily="34" charset="-128"/>
              <a:ea typeface="Meiryo" panose="020B0604030504040204" pitchFamily="34" charset="-128"/>
            </a:endParaRPr>
          </a:p>
          <a:p>
            <a:endParaRPr lang="mn-MN" sz="16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026C2CD7-8985-1AA7-C802-2E69264CF958}"/>
              </a:ext>
            </a:extLst>
          </p:cNvPr>
          <p:cNvSpPr txBox="1"/>
          <p:nvPr/>
        </p:nvSpPr>
        <p:spPr>
          <a:xfrm>
            <a:off x="571500" y="4786623"/>
            <a:ext cx="3979719" cy="1200329"/>
          </a:xfrm>
          <a:prstGeom prst="rect">
            <a:avLst/>
          </a:prstGeom>
          <a:noFill/>
        </p:spPr>
        <p:txBody>
          <a:bodyPr wrap="square">
            <a:spAutoFit/>
          </a:bodyPr>
          <a:lstStyle/>
          <a:p>
            <a:r>
              <a:rPr lang="en-JP" sz="1800" dirty="0">
                <a:latin typeface="Meiryo" panose="020B0604030504040204" pitchFamily="34" charset="-128"/>
                <a:ea typeface="Meiryo" panose="020B0604030504040204" pitchFamily="34" charset="-128"/>
              </a:rPr>
              <a:t>• Fileless Malware</a:t>
            </a:r>
            <a:endParaRPr lang="mn-MN" sz="1800" dirty="0">
              <a:latin typeface="Meiryo" panose="020B0604030504040204" pitchFamily="34" charset="-128"/>
              <a:ea typeface="Meiryo" panose="020B0604030504040204" pitchFamily="34" charset="-128"/>
            </a:endParaRPr>
          </a:p>
          <a:p>
            <a:r>
              <a:rPr lang="ja-JP" altLang="en-US" sz="1800">
                <a:latin typeface="Meiryo" panose="020B0604030504040204" pitchFamily="34" charset="-128"/>
                <a:ea typeface="Meiryo" panose="020B0604030504040204" pitchFamily="34" charset="-128"/>
              </a:rPr>
              <a:t>ファイルを残さずに攻撃</a:t>
            </a:r>
          </a:p>
          <a:p>
            <a:r>
              <a:rPr lang="ja-JP" altLang="en-US" sz="1800">
                <a:latin typeface="Meiryo" panose="020B0604030504040204" pitchFamily="34" charset="-128"/>
                <a:ea typeface="Meiryo" panose="020B0604030504040204" pitchFamily="34" charset="-128"/>
              </a:rPr>
              <a:t>メモリ上で動作</a:t>
            </a:r>
          </a:p>
          <a:p>
            <a:r>
              <a:rPr lang="ja-JP" altLang="en-US" sz="1800">
                <a:latin typeface="Meiryo" panose="020B0604030504040204" pitchFamily="34" charset="-128"/>
                <a:ea typeface="Meiryo" panose="020B0604030504040204" pitchFamily="34" charset="-128"/>
              </a:rPr>
              <a:t>従来のアンチウイルスで検知が困難</a:t>
            </a:r>
            <a:endParaRPr lang="en-JP" sz="18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24D5FE28-D069-20C2-8D3C-69064B569D11}"/>
              </a:ext>
            </a:extLst>
          </p:cNvPr>
          <p:cNvSpPr txBox="1"/>
          <p:nvPr/>
        </p:nvSpPr>
        <p:spPr>
          <a:xfrm>
            <a:off x="3688773" y="3199829"/>
            <a:ext cx="5070764" cy="1323439"/>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 Living off the Land</a:t>
            </a:r>
            <a:endParaRPr lang="mn-MN" sz="1600" dirty="0">
              <a:latin typeface="Meiryo" panose="020B0604030504040204" pitchFamily="34" charset="-128"/>
              <a:ea typeface="Meiryo" panose="020B0604030504040204" pitchFamily="34" charset="-128"/>
            </a:endParaRPr>
          </a:p>
          <a:p>
            <a:r>
              <a:rPr lang="en-US" sz="1600" dirty="0">
                <a:latin typeface="Meiryo" panose="020B0604030504040204" pitchFamily="34" charset="-128"/>
                <a:ea typeface="Meiryo" panose="020B0604030504040204" pitchFamily="34" charset="-128"/>
              </a:rPr>
              <a:t>OS</a:t>
            </a:r>
            <a:r>
              <a:rPr lang="ja-JP" altLang="en-US" sz="1600">
                <a:latin typeface="Meiryo" panose="020B0604030504040204" pitchFamily="34" charset="-128"/>
                <a:ea typeface="Meiryo" panose="020B0604030504040204" pitchFamily="34" charset="-128"/>
              </a:rPr>
              <a:t>に</a:t>
            </a:r>
            <a:r>
              <a:rPr lang="en-US" sz="1600" b="0" i="0" dirty="0">
                <a:solidFill>
                  <a:srgbClr val="222222"/>
                </a:solidFill>
                <a:effectLst/>
                <a:latin typeface="Helvetica Neue" panose="02000503000000020004" pitchFamily="2" charset="0"/>
              </a:rPr>
              <a:t>standard feature</a:t>
            </a:r>
            <a:r>
              <a:rPr lang="ja-JP" altLang="en-US" sz="1600">
                <a:latin typeface="Meiryo" panose="020B0604030504040204" pitchFamily="34" charset="-128"/>
                <a:ea typeface="Meiryo" panose="020B0604030504040204" pitchFamily="34" charset="-128"/>
              </a:rPr>
              <a:t>された正規ツールを悪用</a:t>
            </a:r>
          </a:p>
          <a:p>
            <a:r>
              <a:rPr lang="en-US" sz="1600" dirty="0">
                <a:latin typeface="Meiryo" panose="020B0604030504040204" pitchFamily="34" charset="-128"/>
                <a:ea typeface="Meiryo" panose="020B0604030504040204" pitchFamily="34" charset="-128"/>
              </a:rPr>
              <a:t>PowerShell、cmd.exe </a:t>
            </a:r>
            <a:r>
              <a:rPr lang="ja-JP" altLang="en-US" sz="1600">
                <a:latin typeface="Meiryo" panose="020B0604030504040204" pitchFamily="34" charset="-128"/>
                <a:ea typeface="Meiryo" panose="020B0604030504040204" pitchFamily="34" charset="-128"/>
              </a:rPr>
              <a:t>などを利用</a:t>
            </a:r>
          </a:p>
          <a:p>
            <a:r>
              <a:rPr lang="ja-JP" altLang="en-US" sz="1600">
                <a:latin typeface="Meiryo" panose="020B0604030504040204" pitchFamily="34" charset="-128"/>
                <a:ea typeface="Meiryo" panose="020B0604030504040204" pitchFamily="34" charset="-128"/>
              </a:rPr>
              <a:t>不正なプログラムを追加しないため検出が難しい</a:t>
            </a:r>
            <a:endParaRPr lang="mn-MN" altLang="ja-JP" sz="1600" dirty="0">
              <a:latin typeface="Meiryo" panose="020B0604030504040204" pitchFamily="34" charset="-128"/>
              <a:ea typeface="Meiryo" panose="020B0604030504040204" pitchFamily="34" charset="-128"/>
            </a:endParaRPr>
          </a:p>
          <a:p>
            <a:endParaRPr lang="en-JP" sz="1600" dirty="0">
              <a:latin typeface="Meiryo" panose="020B0604030504040204" pitchFamily="34" charset="-128"/>
              <a:ea typeface="Meiryo" panose="020B0604030504040204" pitchFamily="34" charset="-128"/>
            </a:endParaRPr>
          </a:p>
        </p:txBody>
      </p:sp>
      <p:sp>
        <p:nvSpPr>
          <p:cNvPr id="15" name="正方形/長方形 9">
            <a:extLst>
              <a:ext uri="{FF2B5EF4-FFF2-40B4-BE49-F238E27FC236}">
                <a16:creationId xmlns:a16="http://schemas.microsoft.com/office/drawing/2014/main" id="{673F45EC-F0CF-233E-68E9-0E06352568AA}"/>
              </a:ext>
            </a:extLst>
          </p:cNvPr>
          <p:cNvSpPr/>
          <p:nvPr/>
        </p:nvSpPr>
        <p:spPr>
          <a:xfrm>
            <a:off x="722168" y="1581929"/>
            <a:ext cx="4442113" cy="1200328"/>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7" name="正方形/長方形 9">
            <a:extLst>
              <a:ext uri="{FF2B5EF4-FFF2-40B4-BE49-F238E27FC236}">
                <a16:creationId xmlns:a16="http://schemas.microsoft.com/office/drawing/2014/main" id="{F407AD61-8D83-67BB-050C-4D92115DCB54}"/>
              </a:ext>
            </a:extLst>
          </p:cNvPr>
          <p:cNvSpPr/>
          <p:nvPr/>
        </p:nvSpPr>
        <p:spPr>
          <a:xfrm>
            <a:off x="3564081" y="3045613"/>
            <a:ext cx="4914899" cy="156141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8" name="正方形/長方形 9">
            <a:extLst>
              <a:ext uri="{FF2B5EF4-FFF2-40B4-BE49-F238E27FC236}">
                <a16:creationId xmlns:a16="http://schemas.microsoft.com/office/drawing/2014/main" id="{03771047-6F2E-49D8-851F-6FCBE3B0B111}"/>
              </a:ext>
            </a:extLst>
          </p:cNvPr>
          <p:cNvSpPr/>
          <p:nvPr/>
        </p:nvSpPr>
        <p:spPr>
          <a:xfrm>
            <a:off x="653143" y="4786622"/>
            <a:ext cx="4822866" cy="1379927"/>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9" name="Slide Number Placeholder 18">
            <a:extLst>
              <a:ext uri="{FF2B5EF4-FFF2-40B4-BE49-F238E27FC236}">
                <a16:creationId xmlns:a16="http://schemas.microsoft.com/office/drawing/2014/main" id="{A35CD309-BEC0-08D4-0136-84CF50359720}"/>
              </a:ext>
            </a:extLst>
          </p:cNvPr>
          <p:cNvSpPr>
            <a:spLocks noGrp="1"/>
          </p:cNvSpPr>
          <p:nvPr>
            <p:ph type="sldNum" sz="quarter" idx="12"/>
          </p:nvPr>
        </p:nvSpPr>
        <p:spPr/>
        <p:txBody>
          <a:bodyPr/>
          <a:lstStyle/>
          <a:p>
            <a:fld id="{0B6BB8DA-DB46-D648-BE1D-FCDB55E9CBE3}" type="slidenum">
              <a:rPr lang="en-JP" smtClean="0"/>
              <a:t>2</a:t>
            </a:fld>
            <a:endParaRPr lang="en-JP"/>
          </a:p>
        </p:txBody>
      </p:sp>
    </p:spTree>
    <p:extLst>
      <p:ext uri="{BB962C8B-B14F-4D97-AF65-F5344CB8AC3E}">
        <p14:creationId xmlns:p14="http://schemas.microsoft.com/office/powerpoint/2010/main" val="3092445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9D75C2E-76B7-DDEE-374D-6F3C291E405A}"/>
              </a:ext>
            </a:extLst>
          </p:cNvPr>
          <p:cNvSpPr txBox="1"/>
          <p:nvPr/>
        </p:nvSpPr>
        <p:spPr>
          <a:xfrm>
            <a:off x="514349" y="669571"/>
            <a:ext cx="4572000" cy="369332"/>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自動化するサイバー攻撃</a:t>
            </a:r>
            <a:endParaRPr lang="en-JP"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9A852782-41C1-0021-3304-D49F38D4C65C}"/>
              </a:ext>
            </a:extLst>
          </p:cNvPr>
          <p:cNvSpPr txBox="1"/>
          <p:nvPr/>
        </p:nvSpPr>
        <p:spPr>
          <a:xfrm>
            <a:off x="311727" y="4543692"/>
            <a:ext cx="4572000" cy="1754326"/>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従来型防御の限界</a:t>
            </a:r>
          </a:p>
          <a:p>
            <a:r>
              <a:rPr lang="en-US" dirty="0">
                <a:latin typeface="Meiryo" panose="020B0604030504040204" pitchFamily="34" charset="-128"/>
                <a:ea typeface="Meiryo" panose="020B0604030504040204" pitchFamily="34" charset="-128"/>
              </a:rPr>
              <a:t>Signature-Based </a:t>
            </a:r>
            <a:r>
              <a:rPr lang="en-JP" dirty="0">
                <a:latin typeface="Meiryo" panose="020B0604030504040204" pitchFamily="34" charset="-128"/>
                <a:ea typeface="Meiryo" panose="020B0604030504040204" pitchFamily="34" charset="-128"/>
              </a:rPr>
              <a:t>→ 未知脅威に無力</a:t>
            </a:r>
          </a:p>
          <a:p>
            <a:r>
              <a:rPr lang="en-US" dirty="0">
                <a:latin typeface="Meiryo" panose="020B0604030504040204" pitchFamily="34" charset="-128"/>
                <a:ea typeface="Meiryo" panose="020B0604030504040204" pitchFamily="34" charset="-128"/>
              </a:rPr>
              <a:t>Single Layer of Defense</a:t>
            </a:r>
            <a:r>
              <a:rPr lang="en-JP" dirty="0">
                <a:latin typeface="Meiryo" panose="020B0604030504040204" pitchFamily="34" charset="-128"/>
                <a:ea typeface="Meiryo" panose="020B0604030504040204" pitchFamily="34" charset="-128"/>
              </a:rPr>
              <a:t> → 突破されたら終わり</a:t>
            </a:r>
          </a:p>
          <a:p>
            <a:r>
              <a:rPr lang="en-JP" dirty="0">
                <a:latin typeface="Meiryo" panose="020B0604030504040204" pitchFamily="34" charset="-128"/>
                <a:ea typeface="Meiryo" panose="020B0604030504040204" pitchFamily="34" charset="-128"/>
              </a:rPr>
              <a:t>人手不足 → アラート対応が追いつかない</a:t>
            </a:r>
          </a:p>
          <a:p>
            <a:endParaRPr lang="en-JP" dirty="0"/>
          </a:p>
        </p:txBody>
      </p:sp>
      <p:sp>
        <p:nvSpPr>
          <p:cNvPr id="11" name="TextBox 10">
            <a:extLst>
              <a:ext uri="{FF2B5EF4-FFF2-40B4-BE49-F238E27FC236}">
                <a16:creationId xmlns:a16="http://schemas.microsoft.com/office/drawing/2014/main" id="{2DFF45DE-5080-CC97-3645-658C722B1BEF}"/>
              </a:ext>
            </a:extLst>
          </p:cNvPr>
          <p:cNvSpPr txBox="1"/>
          <p:nvPr/>
        </p:nvSpPr>
        <p:spPr>
          <a:xfrm>
            <a:off x="4291445" y="879669"/>
            <a:ext cx="4572000" cy="1077218"/>
          </a:xfrm>
          <a:prstGeom prst="rect">
            <a:avLst/>
          </a:prstGeom>
          <a:noFill/>
        </p:spPr>
        <p:txBody>
          <a:bodyPr wrap="square">
            <a:spAutoFit/>
          </a:bodyPr>
          <a:lstStyle/>
          <a:p>
            <a:r>
              <a:rPr lang="en-US" sz="1600" b="1" dirty="0">
                <a:latin typeface="Meiryo" panose="020B0604030504040204" pitchFamily="34" charset="-128"/>
                <a:ea typeface="Meiryo" panose="020B0604030504040204" pitchFamily="34" charset="-128"/>
              </a:rPr>
              <a:t>RaaS（Ransomware as a Service）</a:t>
            </a:r>
          </a:p>
          <a:p>
            <a:pP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ランサムウェアをサービスとして提供</a:t>
            </a:r>
          </a:p>
          <a:p>
            <a:pP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技術知識がなくても攻撃可能</a:t>
            </a:r>
          </a:p>
          <a:p>
            <a:pP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被害の急増につながっている</a:t>
            </a:r>
          </a:p>
        </p:txBody>
      </p:sp>
      <p:sp>
        <p:nvSpPr>
          <p:cNvPr id="13" name="TextBox 12">
            <a:extLst>
              <a:ext uri="{FF2B5EF4-FFF2-40B4-BE49-F238E27FC236}">
                <a16:creationId xmlns:a16="http://schemas.microsoft.com/office/drawing/2014/main" id="{9EC7F784-FE63-84A3-B83B-D5F3A3E1F1E8}"/>
              </a:ext>
            </a:extLst>
          </p:cNvPr>
          <p:cNvSpPr txBox="1"/>
          <p:nvPr/>
        </p:nvSpPr>
        <p:spPr>
          <a:xfrm>
            <a:off x="116960" y="2126120"/>
            <a:ext cx="4174485" cy="1077218"/>
          </a:xfrm>
          <a:prstGeom prst="rect">
            <a:avLst/>
          </a:prstGeom>
          <a:noFill/>
        </p:spPr>
        <p:txBody>
          <a:bodyPr wrap="square">
            <a:spAutoFit/>
          </a:bodyPr>
          <a:lstStyle/>
          <a:p>
            <a:r>
              <a:rPr lang="en-US" sz="1600" b="1" dirty="0">
                <a:latin typeface="Meiryo" panose="020B0604030504040204" pitchFamily="34" charset="-128"/>
                <a:ea typeface="Meiryo" panose="020B0604030504040204" pitchFamily="34" charset="-128"/>
              </a:rPr>
              <a:t>AI</a:t>
            </a:r>
            <a:r>
              <a:rPr lang="ja-JP" altLang="en-US" sz="1600" b="1">
                <a:latin typeface="Meiryo" panose="020B0604030504040204" pitchFamily="34" charset="-128"/>
                <a:ea typeface="Meiryo" panose="020B0604030504040204" pitchFamily="34" charset="-128"/>
              </a:rPr>
              <a:t>生成フィッシング</a:t>
            </a:r>
          </a:p>
          <a:p>
            <a:pPr>
              <a:buFont typeface="Arial" panose="020B0604020202020204" pitchFamily="34" charset="0"/>
              <a:buChar char="•"/>
            </a:pPr>
            <a:r>
              <a:rPr lang="en-US" sz="1600" dirty="0">
                <a:latin typeface="Meiryo" panose="020B0604030504040204" pitchFamily="34" charset="-128"/>
                <a:ea typeface="Meiryo" panose="020B0604030504040204" pitchFamily="34" charset="-128"/>
              </a:rPr>
              <a:t>AI</a:t>
            </a:r>
            <a:r>
              <a:rPr lang="ja-JP" altLang="en-US" sz="1600">
                <a:latin typeface="Meiryo" panose="020B0604030504040204" pitchFamily="34" charset="-128"/>
                <a:ea typeface="Meiryo" panose="020B0604030504040204" pitchFamily="34" charset="-128"/>
              </a:rPr>
              <a:t>を利用して自然な文章を生成</a:t>
            </a:r>
          </a:p>
          <a:p>
            <a:pP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文法ミスが少なく、非常に本物らしい</a:t>
            </a:r>
          </a:p>
          <a:p>
            <a:pP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個人に合わせた巧妙な詐欺が可能</a:t>
            </a:r>
          </a:p>
        </p:txBody>
      </p:sp>
      <p:sp>
        <p:nvSpPr>
          <p:cNvPr id="15" name="TextBox 14">
            <a:extLst>
              <a:ext uri="{FF2B5EF4-FFF2-40B4-BE49-F238E27FC236}">
                <a16:creationId xmlns:a16="http://schemas.microsoft.com/office/drawing/2014/main" id="{F8DD8871-EBA0-620D-ABC9-ACE479CB8E94}"/>
              </a:ext>
            </a:extLst>
          </p:cNvPr>
          <p:cNvSpPr txBox="1"/>
          <p:nvPr/>
        </p:nvSpPr>
        <p:spPr>
          <a:xfrm>
            <a:off x="4942328" y="2948520"/>
            <a:ext cx="4572000" cy="1200329"/>
          </a:xfrm>
          <a:prstGeom prst="rect">
            <a:avLst/>
          </a:prstGeom>
          <a:noFill/>
        </p:spPr>
        <p:txBody>
          <a:bodyPr wrap="square">
            <a:spAutoFit/>
          </a:bodyPr>
          <a:lstStyle/>
          <a:p>
            <a:r>
              <a:rPr lang="ja-JP" altLang="en-US" b="1"/>
              <a:t>クラウド環境</a:t>
            </a:r>
          </a:p>
          <a:p>
            <a:pPr>
              <a:buFont typeface="Arial" panose="020B0604020202020204" pitchFamily="34" charset="0"/>
              <a:buChar char="•"/>
            </a:pPr>
            <a:r>
              <a:rPr lang="en-US" dirty="0"/>
              <a:t>AWS、Azure、GCP </a:t>
            </a:r>
            <a:r>
              <a:rPr lang="ja-JP" altLang="en-US"/>
              <a:t>などの利用増加</a:t>
            </a:r>
          </a:p>
          <a:p>
            <a:pPr>
              <a:buFont typeface="Arial" panose="020B0604020202020204" pitchFamily="34" charset="0"/>
              <a:buChar char="•"/>
            </a:pPr>
            <a:r>
              <a:rPr lang="ja-JP" altLang="en-US"/>
              <a:t>設定ミスによる情報漏洩が多発</a:t>
            </a:r>
          </a:p>
          <a:p>
            <a:pPr>
              <a:buFont typeface="Arial" panose="020B0604020202020204" pitchFamily="34" charset="0"/>
              <a:buChar char="•"/>
            </a:pPr>
            <a:r>
              <a:rPr lang="ja-JP" altLang="en-US"/>
              <a:t>一度の侵害で大規模被害の可能性</a:t>
            </a:r>
          </a:p>
        </p:txBody>
      </p:sp>
      <p:sp>
        <p:nvSpPr>
          <p:cNvPr id="17" name="TextBox 16">
            <a:extLst>
              <a:ext uri="{FF2B5EF4-FFF2-40B4-BE49-F238E27FC236}">
                <a16:creationId xmlns:a16="http://schemas.microsoft.com/office/drawing/2014/main" id="{3B640BF7-6130-AE75-DC38-F3E8E70428D6}"/>
              </a:ext>
            </a:extLst>
          </p:cNvPr>
          <p:cNvSpPr txBox="1"/>
          <p:nvPr/>
        </p:nvSpPr>
        <p:spPr>
          <a:xfrm>
            <a:off x="311727" y="181086"/>
            <a:ext cx="4774622" cy="369332"/>
          </a:xfrm>
          <a:prstGeom prst="rect">
            <a:avLst/>
          </a:prstGeom>
          <a:noFill/>
        </p:spPr>
        <p:txBody>
          <a:bodyPr wrap="square">
            <a:spAutoFit/>
          </a:bodyPr>
          <a:lstStyle/>
          <a:p>
            <a:pPr marL="285750" indent="-285750">
              <a:buFont typeface="Wingdings" pitchFamily="2" charset="2"/>
              <a:buChar char="Ø"/>
            </a:pPr>
            <a:r>
              <a:rPr lang="en-JP" sz="1800" b="1" dirty="0">
                <a:solidFill>
                  <a:srgbClr val="92D050"/>
                </a:solidFill>
                <a:latin typeface="Meiryo" panose="020B0604030504040204" pitchFamily="34" charset="-128"/>
                <a:ea typeface="Meiryo" panose="020B0604030504040204" pitchFamily="34" charset="-128"/>
              </a:rPr>
              <a:t>現代のサイバー脅威</a:t>
            </a:r>
            <a:r>
              <a:rPr lang="en-US" sz="1800" b="1" dirty="0">
                <a:solidFill>
                  <a:srgbClr val="92D050"/>
                </a:solidFill>
                <a:latin typeface="Meiryo" panose="020B0604030504040204" pitchFamily="34" charset="-128"/>
                <a:ea typeface="Meiryo" panose="020B0604030504040204" pitchFamily="34" charset="-128"/>
              </a:rPr>
              <a:t> 2/2</a:t>
            </a:r>
          </a:p>
        </p:txBody>
      </p:sp>
      <p:sp>
        <p:nvSpPr>
          <p:cNvPr id="18" name="正方形/長方形 9">
            <a:extLst>
              <a:ext uri="{FF2B5EF4-FFF2-40B4-BE49-F238E27FC236}">
                <a16:creationId xmlns:a16="http://schemas.microsoft.com/office/drawing/2014/main" id="{BD779C66-DC29-8FC7-2893-B0EDA6F5F3DE}"/>
              </a:ext>
            </a:extLst>
          </p:cNvPr>
          <p:cNvSpPr/>
          <p:nvPr/>
        </p:nvSpPr>
        <p:spPr>
          <a:xfrm>
            <a:off x="4088823" y="718475"/>
            <a:ext cx="4774622" cy="156141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9" name="正方形/長方形 9">
            <a:extLst>
              <a:ext uri="{FF2B5EF4-FFF2-40B4-BE49-F238E27FC236}">
                <a16:creationId xmlns:a16="http://schemas.microsoft.com/office/drawing/2014/main" id="{76E16E7F-36A7-195D-D904-3E50EA44DAB7}"/>
              </a:ext>
            </a:extLst>
          </p:cNvPr>
          <p:cNvSpPr/>
          <p:nvPr/>
        </p:nvSpPr>
        <p:spPr>
          <a:xfrm>
            <a:off x="70200" y="2126120"/>
            <a:ext cx="4018624" cy="1457754"/>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0" name="正方形/長方形 9">
            <a:extLst>
              <a:ext uri="{FF2B5EF4-FFF2-40B4-BE49-F238E27FC236}">
                <a16:creationId xmlns:a16="http://schemas.microsoft.com/office/drawing/2014/main" id="{14AB4790-D6AD-7400-6D07-0980796C1288}"/>
              </a:ext>
            </a:extLst>
          </p:cNvPr>
          <p:cNvSpPr/>
          <p:nvPr/>
        </p:nvSpPr>
        <p:spPr>
          <a:xfrm>
            <a:off x="4852557" y="2648294"/>
            <a:ext cx="3898038" cy="156141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1" name="正方形/長方形 9">
            <a:extLst>
              <a:ext uri="{FF2B5EF4-FFF2-40B4-BE49-F238E27FC236}">
                <a16:creationId xmlns:a16="http://schemas.microsoft.com/office/drawing/2014/main" id="{82EF7165-0B25-D80A-172E-4DA41163D5A3}"/>
              </a:ext>
            </a:extLst>
          </p:cNvPr>
          <p:cNvSpPr/>
          <p:nvPr/>
        </p:nvSpPr>
        <p:spPr>
          <a:xfrm>
            <a:off x="311727" y="4520040"/>
            <a:ext cx="4540830" cy="1561412"/>
          </a:xfrm>
          <a:prstGeom prst="rect">
            <a:avLst/>
          </a:prstGeom>
          <a:noFill/>
          <a:ln w="3492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2" name="Slide Number Placeholder 21">
            <a:extLst>
              <a:ext uri="{FF2B5EF4-FFF2-40B4-BE49-F238E27FC236}">
                <a16:creationId xmlns:a16="http://schemas.microsoft.com/office/drawing/2014/main" id="{9029DA9A-051B-AD16-01FA-CC9DE1C645C9}"/>
              </a:ext>
            </a:extLst>
          </p:cNvPr>
          <p:cNvSpPr>
            <a:spLocks noGrp="1"/>
          </p:cNvSpPr>
          <p:nvPr>
            <p:ph type="sldNum" sz="quarter" idx="12"/>
          </p:nvPr>
        </p:nvSpPr>
        <p:spPr/>
        <p:txBody>
          <a:bodyPr/>
          <a:lstStyle/>
          <a:p>
            <a:fld id="{0B6BB8DA-DB46-D648-BE1D-FCDB55E9CBE3}" type="slidenum">
              <a:rPr lang="en-JP" smtClean="0"/>
              <a:t>3</a:t>
            </a:fld>
            <a:endParaRPr lang="en-JP"/>
          </a:p>
        </p:txBody>
      </p:sp>
    </p:spTree>
    <p:extLst>
      <p:ext uri="{BB962C8B-B14F-4D97-AF65-F5344CB8AC3E}">
        <p14:creationId xmlns:p14="http://schemas.microsoft.com/office/powerpoint/2010/main" val="966268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F84A7D-0BB7-FF08-55D1-A217A931CF28}"/>
              </a:ext>
            </a:extLst>
          </p:cNvPr>
          <p:cNvSpPr txBox="1"/>
          <p:nvPr/>
        </p:nvSpPr>
        <p:spPr>
          <a:xfrm>
            <a:off x="293914" y="283420"/>
            <a:ext cx="4572000" cy="369332"/>
          </a:xfrm>
          <a:prstGeom prst="rect">
            <a:avLst/>
          </a:prstGeom>
          <a:noFill/>
        </p:spPr>
        <p:txBody>
          <a:bodyPr wrap="square">
            <a:spAutoFit/>
          </a:bodyPr>
          <a:lstStyle/>
          <a:p>
            <a:pPr marL="285750" indent="-285750">
              <a:buFont typeface="Wingdings" pitchFamily="2" charset="2"/>
              <a:buChar char="Ø"/>
            </a:pPr>
            <a:r>
              <a:rPr lang="ja-JP" altLang="en-US" b="1">
                <a:solidFill>
                  <a:srgbClr val="C00000"/>
                </a:solidFill>
                <a:latin typeface="Meiryo" panose="020B0604030504040204" pitchFamily="34" charset="-128"/>
                <a:ea typeface="Meiryo" panose="020B0604030504040204" pitchFamily="34" charset="-128"/>
              </a:rPr>
              <a:t>統合的活用モデルの提案</a:t>
            </a:r>
            <a:endParaRPr lang="en-JP" b="1" dirty="0">
              <a:solidFill>
                <a:srgbClr val="C00000"/>
              </a:solidFill>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76E1C735-7FB7-15DA-B625-63DB083D9B11}"/>
              </a:ext>
            </a:extLst>
          </p:cNvPr>
          <p:cNvSpPr txBox="1"/>
          <p:nvPr/>
        </p:nvSpPr>
        <p:spPr>
          <a:xfrm>
            <a:off x="500742" y="830559"/>
            <a:ext cx="7826829" cy="4801314"/>
          </a:xfrm>
          <a:prstGeom prst="rect">
            <a:avLst/>
          </a:prstGeom>
          <a:noFill/>
        </p:spPr>
        <p:txBody>
          <a:bodyPr wrap="square">
            <a:spAutoFit/>
          </a:bodyPr>
          <a:lstStyle/>
          <a:p>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レポートの目的と範囲</a:t>
            </a:r>
            <a:endParaRPr lang="en-JP"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a:p>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本レポートでは、実際の組織におけるマルウェア解析・検知・対応の統合アーキテクチャを設計し、以下の観点から評価する</a:t>
            </a:r>
            <a:endParaRPr lang="en-US"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設計範囲</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境界防御（メール、</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Web</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EDR</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）での活用シナリオ</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侵入後（内部不正・ラテラルムーブメント）の検知メカニズム</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インシデント対応・フォレンジックでの利用方法</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SOC/CSIRT</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運用体制の最適</a:t>
            </a:r>
            <a:endParaRPr lang="en-US"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pPr lvl="0"/>
            <a:endParaRPr lang="en-US" kern="100" dirty="0">
              <a:solidFill>
                <a:srgbClr val="000000"/>
              </a:solidFill>
              <a:latin typeface="Meiryo" panose="020B0604030504040204" pitchFamily="34" charset="-128"/>
              <a:ea typeface="Meiryo" panose="020B0604030504040204" pitchFamily="34" charset="-128"/>
              <a:cs typeface="Times New Roman" panose="02020603050405020304" pitchFamily="18" charset="0"/>
            </a:endParaRPr>
          </a:p>
          <a:p>
            <a:pPr lvl="0"/>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b.</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評価観点</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誤検知（</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False Positive</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）と見逃し（</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False Negative</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）のバランス</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運用負荷（人的・計算リソース・時間）の現実性</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アラートトリアージプロセスへの影響</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必要なセキュリティ人材のスキル要件</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AI</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技術の活用と今後の課題</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8" name="Slide Number Placeholder 7">
            <a:extLst>
              <a:ext uri="{FF2B5EF4-FFF2-40B4-BE49-F238E27FC236}">
                <a16:creationId xmlns:a16="http://schemas.microsoft.com/office/drawing/2014/main" id="{6C331880-ADCF-95FF-C51F-6EE21F8B5C8C}"/>
              </a:ext>
            </a:extLst>
          </p:cNvPr>
          <p:cNvSpPr>
            <a:spLocks noGrp="1"/>
          </p:cNvSpPr>
          <p:nvPr>
            <p:ph type="sldNum" sz="quarter" idx="12"/>
          </p:nvPr>
        </p:nvSpPr>
        <p:spPr/>
        <p:txBody>
          <a:bodyPr/>
          <a:lstStyle/>
          <a:p>
            <a:fld id="{0B6BB8DA-DB46-D648-BE1D-FCDB55E9CBE3}" type="slidenum">
              <a:rPr lang="en-JP" smtClean="0"/>
              <a:t>4</a:t>
            </a:fld>
            <a:endParaRPr lang="en-JP"/>
          </a:p>
        </p:txBody>
      </p:sp>
    </p:spTree>
    <p:extLst>
      <p:ext uri="{BB962C8B-B14F-4D97-AF65-F5344CB8AC3E}">
        <p14:creationId xmlns:p14="http://schemas.microsoft.com/office/powerpoint/2010/main" val="654515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530A782-1A3B-F1B5-14DE-12297B9BF171}"/>
              </a:ext>
            </a:extLst>
          </p:cNvPr>
          <p:cNvSpPr txBox="1"/>
          <p:nvPr/>
        </p:nvSpPr>
        <p:spPr>
          <a:xfrm>
            <a:off x="751114" y="5860312"/>
            <a:ext cx="6106886" cy="584775"/>
          </a:xfrm>
          <a:prstGeom prst="rect">
            <a:avLst/>
          </a:prstGeom>
          <a:noFill/>
        </p:spPr>
        <p:txBody>
          <a:bodyPr wrap="square">
            <a:spAutoFit/>
          </a:bodyPr>
          <a:lstStyle/>
          <a:p>
            <a:pPr marL="457200" algn="ctr"/>
            <a:r>
              <a:rPr lang="ja-JP" sz="16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図</a:t>
            </a:r>
            <a:r>
              <a:rPr lang="en-US" altLang="ja-JP" sz="16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1</a:t>
            </a:r>
            <a:r>
              <a:rPr lang="en-US" sz="16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 </a:t>
            </a:r>
            <a:r>
              <a:rPr lang="ja-JP" sz="16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統合セキュリティ監視アーキテクチャ</a:t>
            </a:r>
            <a:endParaRPr lang="en-JP" sz="16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mn-MN" sz="1600" b="1" kern="100" dirty="0">
                <a:solidFill>
                  <a:srgbClr val="0070C0"/>
                </a:solidFill>
                <a:effectLst/>
                <a:latin typeface="Meiryo" panose="020B0604030504040204" pitchFamily="34" charset="-128"/>
                <a:ea typeface="Meiryo" panose="020B0604030504040204" pitchFamily="34" charset="-128"/>
                <a:cs typeface="Times New Roman" panose="02020603050405020304" pitchFamily="18" charset="0"/>
              </a:rPr>
              <a:t> </a:t>
            </a:r>
            <a:endParaRPr lang="en-JP" sz="16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A1D1D752-3C12-10EA-3F4F-C7454A6089BD}"/>
              </a:ext>
            </a:extLst>
          </p:cNvPr>
          <p:cNvSpPr txBox="1"/>
          <p:nvPr/>
        </p:nvSpPr>
        <p:spPr>
          <a:xfrm>
            <a:off x="609600" y="141905"/>
            <a:ext cx="4572000" cy="369332"/>
          </a:xfrm>
          <a:prstGeom prst="rect">
            <a:avLst/>
          </a:prstGeom>
          <a:noFill/>
        </p:spPr>
        <p:txBody>
          <a:bodyPr wrap="square">
            <a:spAutoFit/>
          </a:bodyPr>
          <a:lstStyle/>
          <a:p>
            <a:pPr marL="285750" indent="-285750">
              <a:buFont typeface="Wingdings" pitchFamily="2" charset="2"/>
              <a:buChar char="Ø"/>
            </a:pPr>
            <a:r>
              <a:rPr lang="ja-JP" altLang="en-US" b="1">
                <a:solidFill>
                  <a:srgbClr val="C00000"/>
                </a:solidFill>
                <a:latin typeface="Meiryo" panose="020B0604030504040204" pitchFamily="34" charset="-128"/>
                <a:ea typeface="Meiryo" panose="020B0604030504040204" pitchFamily="34" charset="-128"/>
              </a:rPr>
              <a:t>統合的活用モデルの提案</a:t>
            </a:r>
            <a:endParaRPr lang="en-JP" b="1" dirty="0">
              <a:solidFill>
                <a:srgbClr val="C00000"/>
              </a:solidFill>
              <a:latin typeface="Meiryo" panose="020B0604030504040204" pitchFamily="34" charset="-128"/>
              <a:ea typeface="Meiryo" panose="020B0604030504040204" pitchFamily="34" charset="-128"/>
            </a:endParaRPr>
          </a:p>
        </p:txBody>
      </p:sp>
      <p:pic>
        <p:nvPicPr>
          <p:cNvPr id="10" name="Picture 9">
            <a:extLst>
              <a:ext uri="{FF2B5EF4-FFF2-40B4-BE49-F238E27FC236}">
                <a16:creationId xmlns:a16="http://schemas.microsoft.com/office/drawing/2014/main" id="{4F312311-EB8C-93A3-0539-1CED8D221073}"/>
              </a:ext>
            </a:extLst>
          </p:cNvPr>
          <p:cNvPicPr>
            <a:picLocks noChangeAspect="1"/>
          </p:cNvPicPr>
          <p:nvPr/>
        </p:nvPicPr>
        <p:blipFill>
          <a:blip r:embed="rId2"/>
          <a:stretch>
            <a:fillRect/>
          </a:stretch>
        </p:blipFill>
        <p:spPr>
          <a:xfrm>
            <a:off x="685800" y="511237"/>
            <a:ext cx="7772400" cy="5160220"/>
          </a:xfrm>
          <a:prstGeom prst="rect">
            <a:avLst/>
          </a:prstGeom>
        </p:spPr>
      </p:pic>
      <p:sp>
        <p:nvSpPr>
          <p:cNvPr id="11" name="Slide Number Placeholder 10">
            <a:extLst>
              <a:ext uri="{FF2B5EF4-FFF2-40B4-BE49-F238E27FC236}">
                <a16:creationId xmlns:a16="http://schemas.microsoft.com/office/drawing/2014/main" id="{F4739DEB-6631-3D3F-E6F4-A677B4F71E81}"/>
              </a:ext>
            </a:extLst>
          </p:cNvPr>
          <p:cNvSpPr>
            <a:spLocks noGrp="1"/>
          </p:cNvSpPr>
          <p:nvPr>
            <p:ph type="sldNum" sz="quarter" idx="12"/>
          </p:nvPr>
        </p:nvSpPr>
        <p:spPr/>
        <p:txBody>
          <a:bodyPr/>
          <a:lstStyle/>
          <a:p>
            <a:fld id="{0B6BB8DA-DB46-D648-BE1D-FCDB55E9CBE3}" type="slidenum">
              <a:rPr lang="en-JP" smtClean="0"/>
              <a:t>5</a:t>
            </a:fld>
            <a:endParaRPr lang="en-JP"/>
          </a:p>
        </p:txBody>
      </p:sp>
    </p:spTree>
    <p:extLst>
      <p:ext uri="{BB962C8B-B14F-4D97-AF65-F5344CB8AC3E}">
        <p14:creationId xmlns:p14="http://schemas.microsoft.com/office/powerpoint/2010/main" val="4169700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A77743-06D4-CEBD-15D4-0B8D2D587306}"/>
              </a:ext>
            </a:extLst>
          </p:cNvPr>
          <p:cNvSpPr txBox="1"/>
          <p:nvPr/>
        </p:nvSpPr>
        <p:spPr>
          <a:xfrm>
            <a:off x="206829" y="250762"/>
            <a:ext cx="4572000" cy="369332"/>
          </a:xfrm>
          <a:prstGeom prst="rect">
            <a:avLst/>
          </a:prstGeom>
          <a:noFill/>
        </p:spPr>
        <p:txBody>
          <a:bodyPr wrap="square">
            <a:spAutoFit/>
          </a:bodyPr>
          <a:lstStyle/>
          <a:p>
            <a:pPr marL="285750" indent="-285750">
              <a:buFont typeface="Wingdings" pitchFamily="2" charset="2"/>
              <a:buChar char="Ø"/>
            </a:pPr>
            <a:r>
              <a:rPr lang="en-JP" b="1" dirty="0">
                <a:solidFill>
                  <a:srgbClr val="92D050"/>
                </a:solidFill>
                <a:latin typeface="Meiryo" panose="020B0604030504040204" pitchFamily="34" charset="-128"/>
                <a:ea typeface="Meiryo" panose="020B0604030504040204" pitchFamily="34" charset="-128"/>
              </a:rPr>
              <a:t>フェーズ別の解析フロー設計</a:t>
            </a:r>
          </a:p>
        </p:txBody>
      </p:sp>
      <p:sp>
        <p:nvSpPr>
          <p:cNvPr id="7" name="TextBox 6">
            <a:extLst>
              <a:ext uri="{FF2B5EF4-FFF2-40B4-BE49-F238E27FC236}">
                <a16:creationId xmlns:a16="http://schemas.microsoft.com/office/drawing/2014/main" id="{E2415D44-0678-47F1-09FB-C10E90BDBDD0}"/>
              </a:ext>
            </a:extLst>
          </p:cNvPr>
          <p:cNvSpPr txBox="1"/>
          <p:nvPr/>
        </p:nvSpPr>
        <p:spPr>
          <a:xfrm>
            <a:off x="326571" y="718849"/>
            <a:ext cx="4572000" cy="369332"/>
          </a:xfrm>
          <a:prstGeom prst="rect">
            <a:avLst/>
          </a:prstGeom>
          <a:noFill/>
        </p:spPr>
        <p:txBody>
          <a:bodyPr wrap="square">
            <a:spAutoFit/>
          </a:bodyPr>
          <a:lstStyle/>
          <a:p>
            <a:pPr marL="342900" lvl="0" indent="-342900">
              <a:buFont typeface="Courier New" panose="02070309020205020404" pitchFamily="49" charset="0"/>
              <a:buChar char="o"/>
            </a:pPr>
            <a:r>
              <a:rPr lang="ja-JP" sz="1800" b="1" kern="100">
                <a:effectLst/>
                <a:latin typeface="Calibri" panose="020F0502020204030204" pitchFamily="34" charset="0"/>
                <a:ea typeface="Yu Mincho" panose="02020400000000000000" pitchFamily="18" charset="-128"/>
                <a:cs typeface="Times New Roman" panose="02020603050405020304" pitchFamily="18" charset="0"/>
              </a:rPr>
              <a:t>メールゲートウェイ層</a:t>
            </a:r>
            <a:endParaRPr lang="en-JP" sz="1800" kern="1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11" name="Picture 10">
            <a:extLst>
              <a:ext uri="{FF2B5EF4-FFF2-40B4-BE49-F238E27FC236}">
                <a16:creationId xmlns:a16="http://schemas.microsoft.com/office/drawing/2014/main" id="{D9647B89-953E-114B-5B1B-D1D578E28184}"/>
              </a:ext>
            </a:extLst>
          </p:cNvPr>
          <p:cNvPicPr>
            <a:picLocks noChangeAspect="1"/>
          </p:cNvPicPr>
          <p:nvPr/>
        </p:nvPicPr>
        <p:blipFill>
          <a:blip r:embed="rId2"/>
          <a:stretch>
            <a:fillRect/>
          </a:stretch>
        </p:blipFill>
        <p:spPr>
          <a:xfrm>
            <a:off x="326571" y="1088181"/>
            <a:ext cx="7772400" cy="4177562"/>
          </a:xfrm>
          <a:prstGeom prst="rect">
            <a:avLst/>
          </a:prstGeom>
        </p:spPr>
      </p:pic>
      <p:sp>
        <p:nvSpPr>
          <p:cNvPr id="13" name="TextBox 12">
            <a:extLst>
              <a:ext uri="{FF2B5EF4-FFF2-40B4-BE49-F238E27FC236}">
                <a16:creationId xmlns:a16="http://schemas.microsoft.com/office/drawing/2014/main" id="{D9E01F11-577B-B272-48F7-3784CFDC85E6}"/>
              </a:ext>
            </a:extLst>
          </p:cNvPr>
          <p:cNvSpPr txBox="1"/>
          <p:nvPr/>
        </p:nvSpPr>
        <p:spPr>
          <a:xfrm>
            <a:off x="332014" y="5265743"/>
            <a:ext cx="8479971" cy="1323439"/>
          </a:xfrm>
          <a:prstGeom prst="rect">
            <a:avLst/>
          </a:prstGeom>
          <a:noFill/>
        </p:spPr>
        <p:txBody>
          <a:bodyPr wrap="square">
            <a:spAutoFit/>
          </a:bodyPr>
          <a:lstStyle/>
          <a:p>
            <a:r>
              <a:rPr lang="ja-JP" altLang="en-US" sz="1600">
                <a:latin typeface="Meiryo" panose="020B0604030504040204" pitchFamily="34" charset="-128"/>
                <a:ea typeface="Meiryo" panose="020B0604030504040204" pitchFamily="34" charset="-128"/>
              </a:rPr>
              <a:t>「境界防御の第一線、メールゲートウェイです。まず送信元の正当性を検証し、次に添付ファイルを静的解析します。ハッシュ値を既知マルウェア</a:t>
            </a:r>
            <a:r>
              <a:rPr lang="en-US" sz="1600" dirty="0">
                <a:latin typeface="Meiryo" panose="020B0604030504040204" pitchFamily="34" charset="-128"/>
                <a:ea typeface="Meiryo" panose="020B0604030504040204" pitchFamily="34" charset="-128"/>
              </a:rPr>
              <a:t>DB</a:t>
            </a:r>
            <a:r>
              <a:rPr lang="ja-JP" altLang="en-US" sz="1600">
                <a:latin typeface="Meiryo" panose="020B0604030504040204" pitchFamily="34" charset="-128"/>
                <a:ea typeface="Meiryo" panose="020B0604030504040204" pitchFamily="34" charset="-128"/>
              </a:rPr>
              <a:t>と照合し、</a:t>
            </a:r>
            <a:r>
              <a:rPr lang="en-US" sz="1600" dirty="0">
                <a:latin typeface="Meiryo" panose="020B0604030504040204" pitchFamily="34" charset="-128"/>
                <a:ea typeface="Meiryo" panose="020B0604030504040204" pitchFamily="34" charset="-128"/>
              </a:rPr>
              <a:t>YARA</a:t>
            </a:r>
            <a:r>
              <a:rPr lang="ja-JP" altLang="en-US" sz="1600">
                <a:latin typeface="Meiryo" panose="020B0604030504040204" pitchFamily="34" charset="-128"/>
                <a:ea typeface="Meiryo" panose="020B0604030504040204" pitchFamily="34" charset="-128"/>
              </a:rPr>
              <a:t>ルールでパターンマッチング、</a:t>
            </a:r>
            <a:r>
              <a:rPr lang="en-US" sz="1600" dirty="0">
                <a:latin typeface="Meiryo" panose="020B0604030504040204" pitchFamily="34" charset="-128"/>
                <a:ea typeface="Meiryo" panose="020B0604030504040204" pitchFamily="34" charset="-128"/>
              </a:rPr>
              <a:t>Office</a:t>
            </a:r>
            <a:r>
              <a:rPr lang="ja-JP" altLang="en-US" sz="1600">
                <a:latin typeface="Meiryo" panose="020B0604030504040204" pitchFamily="34" charset="-128"/>
                <a:ea typeface="Meiryo" panose="020B0604030504040204" pitchFamily="34" charset="-128"/>
              </a:rPr>
              <a:t>マクロや実行ファイルの構造を検査します。これらの結果をスコア化し、低リスクはそくはいそう 、中リスクはサンドボックスで実行確認、高リスクは隔離します。</a:t>
            </a:r>
            <a:endParaRPr lang="en-JP" sz="1600" dirty="0">
              <a:latin typeface="Meiryo" panose="020B0604030504040204" pitchFamily="34" charset="-128"/>
              <a:ea typeface="Meiryo" panose="020B0604030504040204" pitchFamily="34" charset="-128"/>
            </a:endParaRPr>
          </a:p>
        </p:txBody>
      </p:sp>
      <p:sp>
        <p:nvSpPr>
          <p:cNvPr id="14" name="Slide Number Placeholder 13">
            <a:extLst>
              <a:ext uri="{FF2B5EF4-FFF2-40B4-BE49-F238E27FC236}">
                <a16:creationId xmlns:a16="http://schemas.microsoft.com/office/drawing/2014/main" id="{1BCE8528-5D04-D897-BC8A-3D1840ECAD8A}"/>
              </a:ext>
            </a:extLst>
          </p:cNvPr>
          <p:cNvSpPr>
            <a:spLocks noGrp="1"/>
          </p:cNvSpPr>
          <p:nvPr>
            <p:ph type="sldNum" sz="quarter" idx="12"/>
          </p:nvPr>
        </p:nvSpPr>
        <p:spPr/>
        <p:txBody>
          <a:bodyPr/>
          <a:lstStyle/>
          <a:p>
            <a:fld id="{0B6BB8DA-DB46-D648-BE1D-FCDB55E9CBE3}" type="slidenum">
              <a:rPr lang="en-JP" smtClean="0"/>
              <a:t>6</a:t>
            </a:fld>
            <a:endParaRPr lang="en-JP" dirty="0"/>
          </a:p>
        </p:txBody>
      </p:sp>
    </p:spTree>
    <p:extLst>
      <p:ext uri="{BB962C8B-B14F-4D97-AF65-F5344CB8AC3E}">
        <p14:creationId xmlns:p14="http://schemas.microsoft.com/office/powerpoint/2010/main" val="2882134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91E748A8-09B9-C1F2-A73F-841A60D304F7}"/>
              </a:ext>
            </a:extLst>
          </p:cNvPr>
          <p:cNvSpPr txBox="1"/>
          <p:nvPr/>
        </p:nvSpPr>
        <p:spPr>
          <a:xfrm>
            <a:off x="493815" y="1166842"/>
            <a:ext cx="7783286" cy="4524315"/>
          </a:xfrm>
          <a:prstGeom prst="rect">
            <a:avLst/>
          </a:prstGeom>
          <a:noFill/>
        </p:spPr>
        <p:txBody>
          <a:bodyPr wrap="square">
            <a:spAutoFit/>
          </a:bodyPr>
          <a:lstStyle/>
          <a:p>
            <a:pPr lvl="0"/>
            <a:endParaRPr lang="en-JP" sz="1800" kern="1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buFont typeface="Wingdings" pitchFamily="2" charset="2"/>
              <a:buChar char=""/>
            </a:pPr>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SPF</a:t>
            </a:r>
            <a:r>
              <a:rPr lang="ja-JP" sz="1800" kern="100">
                <a:effectLst/>
                <a:latin typeface="Meiryo" panose="020B0604030504040204" pitchFamily="34" charset="-128"/>
                <a:ea typeface="Meiryo" panose="020B0604030504040204" pitchFamily="34" charset="-128"/>
                <a:cs typeface="Times New Roman" panose="02020603050405020304" pitchFamily="18" charset="0"/>
              </a:rPr>
              <a:t>（</a:t>
            </a:r>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Sender Policy Framework</a:t>
            </a:r>
            <a:r>
              <a:rPr lang="ja-JP" sz="1800" kern="100">
                <a:effectLst/>
                <a:latin typeface="Meiryo" panose="020B0604030504040204" pitchFamily="34" charset="-128"/>
                <a:ea typeface="Meiryo" panose="020B0604030504040204" pitchFamily="34" charset="-128"/>
                <a:cs typeface="Times New Roman" panose="02020603050405020304" pitchFamily="18" charset="0"/>
              </a:rPr>
              <a:t>）</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SPF </a:t>
            </a:r>
            <a:r>
              <a:rPr lang="ja-JP" sz="1800" kern="100">
                <a:effectLst/>
                <a:latin typeface="Meiryo" panose="020B0604030504040204" pitchFamily="34" charset="-128"/>
                <a:ea typeface="Meiryo" panose="020B0604030504040204" pitchFamily="34" charset="-128"/>
                <a:cs typeface="Times New Roman" panose="02020603050405020304" pitchFamily="18" charset="0"/>
              </a:rPr>
              <a:t>は、送信元ドメインが許可したメールサーバからメールが送信されているかを検証する仕組みである。これにより、送信元を偽装したスプーフィングメールの検知および防止が可能となる。</a:t>
            </a:r>
            <a:endParaRPr lang="en-US" altLang="ja-JP" sz="1800" kern="100" dirty="0">
              <a:effectLst/>
              <a:latin typeface="Meiryo" panose="020B0604030504040204" pitchFamily="34" charset="-128"/>
              <a:ea typeface="Meiryo" panose="020B0604030504040204" pitchFamily="34" charset="-128"/>
              <a:cs typeface="Times New Roman" panose="02020603050405020304" pitchFamily="18" charset="0"/>
            </a:endParaRPr>
          </a:p>
          <a:p>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DKIM</a:t>
            </a:r>
            <a:r>
              <a:rPr lang="ja-JP" sz="1800" kern="100">
                <a:effectLst/>
                <a:latin typeface="Meiryo" panose="020B0604030504040204" pitchFamily="34" charset="-128"/>
                <a:ea typeface="Meiryo" panose="020B0604030504040204" pitchFamily="34" charset="-128"/>
                <a:cs typeface="Times New Roman" panose="02020603050405020304" pitchFamily="18" charset="0"/>
              </a:rPr>
              <a:t>（</a:t>
            </a:r>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DomainKeys Identified Mail</a:t>
            </a:r>
            <a:r>
              <a:rPr lang="ja-JP" sz="1800" kern="100">
                <a:effectLst/>
                <a:latin typeface="Meiryo" panose="020B0604030504040204" pitchFamily="34" charset="-128"/>
                <a:ea typeface="Meiryo" panose="020B0604030504040204" pitchFamily="34" charset="-128"/>
                <a:cs typeface="Times New Roman" panose="02020603050405020304" pitchFamily="18" charset="0"/>
              </a:rPr>
              <a:t>）</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DKIM </a:t>
            </a:r>
            <a:r>
              <a:rPr lang="ja-JP" sz="1800" kern="100">
                <a:effectLst/>
                <a:latin typeface="Meiryo" panose="020B0604030504040204" pitchFamily="34" charset="-128"/>
                <a:ea typeface="Meiryo" panose="020B0604030504040204" pitchFamily="34" charset="-128"/>
                <a:cs typeface="Times New Roman" panose="02020603050405020304" pitchFamily="18" charset="0"/>
              </a:rPr>
              <a:t>は、送信メールに電子署名を付与し、受信側でその署名を検証することで、メールが改ざんされていないことを確認する認証技術である。</a:t>
            </a:r>
            <a:endParaRPr lang="en-US" altLang="ja-JP" sz="1800" kern="100" dirty="0">
              <a:effectLst/>
              <a:latin typeface="Meiryo" panose="020B0604030504040204" pitchFamily="34" charset="-128"/>
              <a:ea typeface="Meiryo" panose="020B0604030504040204" pitchFamily="34" charset="-128"/>
              <a:cs typeface="Times New Roman" panose="02020603050405020304" pitchFamily="18" charset="0"/>
            </a:endParaRPr>
          </a:p>
          <a:p>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DMARC</a:t>
            </a:r>
            <a:r>
              <a:rPr lang="ja-JP" sz="1800" kern="100">
                <a:effectLst/>
                <a:latin typeface="Meiryo" panose="020B0604030504040204" pitchFamily="34" charset="-128"/>
                <a:ea typeface="Meiryo" panose="020B0604030504040204" pitchFamily="34" charset="-128"/>
                <a:cs typeface="Times New Roman" panose="02020603050405020304" pitchFamily="18" charset="0"/>
              </a:rPr>
              <a:t>（</a:t>
            </a:r>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Domain-based Message Authentication, Reporting and Conformance</a:t>
            </a:r>
            <a:r>
              <a:rPr lang="ja-JP" sz="1800" kern="100">
                <a:effectLst/>
                <a:latin typeface="Meiryo" panose="020B0604030504040204" pitchFamily="34" charset="-128"/>
                <a:ea typeface="Meiryo" panose="020B0604030504040204" pitchFamily="34" charset="-128"/>
                <a:cs typeface="Times New Roman" panose="02020603050405020304" pitchFamily="18" charset="0"/>
              </a:rPr>
              <a:t>）</a:t>
            </a:r>
            <a:endParaRPr lang="en-US" altLang="ja-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lvl="0"/>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DMARC </a:t>
            </a:r>
            <a:r>
              <a:rPr lang="ja-JP" sz="1800" kern="100">
                <a:effectLst/>
                <a:latin typeface="Meiryo" panose="020B0604030504040204" pitchFamily="34" charset="-128"/>
                <a:ea typeface="Meiryo" panose="020B0604030504040204" pitchFamily="34" charset="-128"/>
                <a:cs typeface="Times New Roman" panose="02020603050405020304" pitchFamily="18" charset="0"/>
              </a:rPr>
              <a:t>は、</a:t>
            </a:r>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SPF </a:t>
            </a:r>
            <a:r>
              <a:rPr lang="ja-JP" sz="1800" kern="100">
                <a:effectLst/>
                <a:latin typeface="Meiryo" panose="020B0604030504040204" pitchFamily="34" charset="-128"/>
                <a:ea typeface="Meiryo" panose="020B0604030504040204" pitchFamily="34" charset="-128"/>
                <a:cs typeface="Times New Roman" panose="02020603050405020304" pitchFamily="18" charset="0"/>
              </a:rPr>
              <a:t>および</a:t>
            </a:r>
            <a:r>
              <a:rPr lang="en-US" sz="1800" kern="100" dirty="0">
                <a:effectLst/>
                <a:latin typeface="Meiryo" panose="020B0604030504040204" pitchFamily="34" charset="-128"/>
                <a:ea typeface="Meiryo" panose="020B0604030504040204" pitchFamily="34" charset="-128"/>
                <a:cs typeface="Times New Roman" panose="02020603050405020304" pitchFamily="18" charset="0"/>
              </a:rPr>
              <a:t> DKIM </a:t>
            </a:r>
            <a:r>
              <a:rPr lang="ja-JP" sz="1800" kern="100">
                <a:effectLst/>
                <a:latin typeface="Meiryo" panose="020B0604030504040204" pitchFamily="34" charset="-128"/>
                <a:ea typeface="Meiryo" panose="020B0604030504040204" pitchFamily="34" charset="-128"/>
                <a:cs typeface="Times New Roman" panose="02020603050405020304" pitchFamily="18" charset="0"/>
              </a:rPr>
              <a:t>の認証結果に基づいて認証に失敗したメールに対する取り扱い方針（拒否、隔離、許可）を定義する仕組みである。これにより、なりすましメールへの対策を強化できる。</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23" name="Slide Number Placeholder 22">
            <a:extLst>
              <a:ext uri="{FF2B5EF4-FFF2-40B4-BE49-F238E27FC236}">
                <a16:creationId xmlns:a16="http://schemas.microsoft.com/office/drawing/2014/main" id="{F84814A3-31AA-233C-2A16-07675989E48C}"/>
              </a:ext>
            </a:extLst>
          </p:cNvPr>
          <p:cNvSpPr>
            <a:spLocks noGrp="1"/>
          </p:cNvSpPr>
          <p:nvPr>
            <p:ph type="sldNum" sz="quarter" idx="12"/>
          </p:nvPr>
        </p:nvSpPr>
        <p:spPr/>
        <p:txBody>
          <a:bodyPr/>
          <a:lstStyle/>
          <a:p>
            <a:fld id="{0B6BB8DA-DB46-D648-BE1D-FCDB55E9CBE3}" type="slidenum">
              <a:rPr lang="en-JP" smtClean="0"/>
              <a:t>7</a:t>
            </a:fld>
            <a:endParaRPr lang="en-JP"/>
          </a:p>
        </p:txBody>
      </p:sp>
      <p:sp>
        <p:nvSpPr>
          <p:cNvPr id="3" name="TextBox 2">
            <a:extLst>
              <a:ext uri="{FF2B5EF4-FFF2-40B4-BE49-F238E27FC236}">
                <a16:creationId xmlns:a16="http://schemas.microsoft.com/office/drawing/2014/main" id="{887BFEDA-046D-00B0-87F0-D484B0732AC2}"/>
              </a:ext>
            </a:extLst>
          </p:cNvPr>
          <p:cNvSpPr txBox="1"/>
          <p:nvPr/>
        </p:nvSpPr>
        <p:spPr>
          <a:xfrm>
            <a:off x="576943" y="451340"/>
            <a:ext cx="4572000" cy="369332"/>
          </a:xfrm>
          <a:prstGeom prst="rect">
            <a:avLst/>
          </a:prstGeom>
          <a:noFill/>
        </p:spPr>
        <p:txBody>
          <a:bodyPr wrap="square">
            <a:spAutoFit/>
          </a:bodyPr>
          <a:lstStyle/>
          <a:p>
            <a:pPr marL="285750" lvl="0" indent="-285750">
              <a:buFont typeface="Wingdings" pitchFamily="2" charset="2"/>
              <a:buChar char="Ø"/>
            </a:pP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メール認証技術の説明</a:t>
            </a:r>
            <a:endParaRPr lang="en-US" altLang="ja-JP"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3217808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AE5F47-F7A3-3DD3-C913-6A376DF01671}"/>
              </a:ext>
            </a:extLst>
          </p:cNvPr>
          <p:cNvSpPr txBox="1"/>
          <p:nvPr/>
        </p:nvSpPr>
        <p:spPr>
          <a:xfrm>
            <a:off x="228600" y="275549"/>
            <a:ext cx="5573486" cy="338554"/>
          </a:xfrm>
          <a:prstGeom prst="rect">
            <a:avLst/>
          </a:prstGeom>
          <a:noFill/>
        </p:spPr>
        <p:txBody>
          <a:bodyPr wrap="square">
            <a:spAutoFit/>
          </a:bodyPr>
          <a:lstStyle/>
          <a:p>
            <a:pPr marL="285750" indent="-285750">
              <a:buFont typeface="Wingdings" pitchFamily="2" charset="2"/>
              <a:buChar char="Ø"/>
            </a:pPr>
            <a:r>
              <a:rPr lang="en-US" sz="16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Web</a:t>
            </a:r>
            <a:r>
              <a:rPr lang="ja-JP" sz="16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プロキシ層（</a:t>
            </a:r>
            <a:r>
              <a:rPr lang="en-US" sz="1600" b="1"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Web</a:t>
            </a:r>
            <a:r>
              <a:rPr lang="ja-JP" sz="1600" b="1">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通信に対する防御）</a:t>
            </a:r>
            <a:r>
              <a:rPr lang="en-JP" sz="1600" b="1" dirty="0">
                <a:solidFill>
                  <a:srgbClr val="92D050"/>
                </a:solidFill>
                <a:effectLst/>
                <a:latin typeface="Meiryo" panose="020B0604030504040204" pitchFamily="34" charset="-128"/>
                <a:ea typeface="Meiryo" panose="020B0604030504040204" pitchFamily="34" charset="-128"/>
              </a:rPr>
              <a:t> </a:t>
            </a:r>
            <a:endParaRPr lang="en-JP" sz="1600" b="1" dirty="0">
              <a:solidFill>
                <a:srgbClr val="92D050"/>
              </a:solidFill>
              <a:latin typeface="Meiryo" panose="020B0604030504040204" pitchFamily="34" charset="-128"/>
              <a:ea typeface="Meiryo" panose="020B0604030504040204" pitchFamily="34" charset="-128"/>
            </a:endParaRPr>
          </a:p>
        </p:txBody>
      </p:sp>
      <p:pic>
        <p:nvPicPr>
          <p:cNvPr id="6" name="Picture 5">
            <a:extLst>
              <a:ext uri="{FF2B5EF4-FFF2-40B4-BE49-F238E27FC236}">
                <a16:creationId xmlns:a16="http://schemas.microsoft.com/office/drawing/2014/main" id="{FD09AC38-95B6-3017-B8CD-1A7598833EF5}"/>
              </a:ext>
            </a:extLst>
          </p:cNvPr>
          <p:cNvPicPr>
            <a:picLocks noChangeAspect="1"/>
          </p:cNvPicPr>
          <p:nvPr/>
        </p:nvPicPr>
        <p:blipFill>
          <a:blip r:embed="rId2"/>
          <a:stretch>
            <a:fillRect/>
          </a:stretch>
        </p:blipFill>
        <p:spPr>
          <a:xfrm>
            <a:off x="424543" y="807546"/>
            <a:ext cx="7772400" cy="3775616"/>
          </a:xfrm>
          <a:prstGeom prst="rect">
            <a:avLst/>
          </a:prstGeom>
        </p:spPr>
      </p:pic>
      <p:sp>
        <p:nvSpPr>
          <p:cNvPr id="8" name="TextBox 7">
            <a:extLst>
              <a:ext uri="{FF2B5EF4-FFF2-40B4-BE49-F238E27FC236}">
                <a16:creationId xmlns:a16="http://schemas.microsoft.com/office/drawing/2014/main" id="{A1ED48A7-358F-9C5C-2A7A-BDC87648241F}"/>
              </a:ext>
            </a:extLst>
          </p:cNvPr>
          <p:cNvSpPr txBox="1"/>
          <p:nvPr/>
        </p:nvSpPr>
        <p:spPr>
          <a:xfrm>
            <a:off x="511628" y="4809538"/>
            <a:ext cx="7598229" cy="1477328"/>
          </a:xfrm>
          <a:prstGeom prst="rect">
            <a:avLst/>
          </a:prstGeom>
          <a:noFill/>
        </p:spPr>
        <p:txBody>
          <a:bodyPr wrap="square">
            <a:spAutoFit/>
          </a:bodyPr>
          <a:lstStyle/>
          <a:p>
            <a:r>
              <a:rPr lang="ja-JP" sz="1800">
                <a:effectLst/>
                <a:latin typeface="Meiryo" panose="020B0604030504040204" pitchFamily="34" charset="-128"/>
                <a:ea typeface="Meiryo" panose="020B0604030504040204" pitchFamily="34" charset="-128"/>
                <a:cs typeface="Times New Roman" panose="02020603050405020304" pitchFamily="18" charset="0"/>
              </a:rPr>
              <a:t>利用者端末と外部</a:t>
            </a:r>
            <a:r>
              <a:rPr lang="en-US" sz="1800" dirty="0">
                <a:effectLst/>
                <a:latin typeface="Meiryo" panose="020B0604030504040204" pitchFamily="34" charset="-128"/>
                <a:ea typeface="Meiryo" panose="020B0604030504040204" pitchFamily="34" charset="-128"/>
                <a:cs typeface="Times New Roman" panose="02020603050405020304" pitchFamily="18" charset="0"/>
              </a:rPr>
              <a:t> Web </a:t>
            </a:r>
            <a:r>
              <a:rPr lang="ja-JP" sz="1800">
                <a:effectLst/>
                <a:latin typeface="Meiryo" panose="020B0604030504040204" pitchFamily="34" charset="-128"/>
                <a:ea typeface="Meiryo" panose="020B0604030504040204" pitchFamily="34" charset="-128"/>
                <a:cs typeface="Times New Roman" panose="02020603050405020304" pitchFamily="18" charset="0"/>
              </a:rPr>
              <a:t>サイト間の</a:t>
            </a:r>
            <a:r>
              <a:rPr lang="en-US" sz="1800" dirty="0">
                <a:effectLst/>
                <a:latin typeface="Meiryo" panose="020B0604030504040204" pitchFamily="34" charset="-128"/>
                <a:ea typeface="Meiryo" panose="020B0604030504040204" pitchFamily="34" charset="-128"/>
                <a:cs typeface="Times New Roman" panose="02020603050405020304" pitchFamily="18" charset="0"/>
              </a:rPr>
              <a:t>HTTP/HTTPS </a:t>
            </a:r>
            <a:r>
              <a:rPr lang="ja-JP" sz="1800">
                <a:effectLst/>
                <a:latin typeface="Meiryo" panose="020B0604030504040204" pitchFamily="34" charset="-128"/>
                <a:ea typeface="Meiryo" panose="020B0604030504040204" pitchFamily="34" charset="-128"/>
                <a:cs typeface="Times New Roman" panose="02020603050405020304" pitchFamily="18" charset="0"/>
              </a:rPr>
              <a:t>通信を監視することで、</a:t>
            </a:r>
            <a:r>
              <a:rPr lang="en-US" sz="1800" dirty="0">
                <a:effectLst/>
                <a:latin typeface="Meiryo" panose="020B0604030504040204" pitchFamily="34" charset="-128"/>
                <a:ea typeface="Meiryo" panose="020B0604030504040204" pitchFamily="34" charset="-128"/>
                <a:cs typeface="Times New Roman" panose="02020603050405020304" pitchFamily="18" charset="0"/>
              </a:rPr>
              <a:t>Web </a:t>
            </a:r>
            <a:r>
              <a:rPr lang="ja-JP" sz="1800">
                <a:effectLst/>
                <a:latin typeface="Meiryo" panose="020B0604030504040204" pitchFamily="34" charset="-128"/>
                <a:ea typeface="Meiryo" panose="020B0604030504040204" pitchFamily="34" charset="-128"/>
                <a:cs typeface="Times New Roman" panose="02020603050405020304" pitchFamily="18" charset="0"/>
              </a:rPr>
              <a:t>経由で侵入するマルウェアやフィッシング攻撃の検知・防御を行う。まず、アクセス先</a:t>
            </a:r>
            <a:r>
              <a:rPr lang="en-US" sz="1800" dirty="0">
                <a:effectLst/>
                <a:latin typeface="Meiryo" panose="020B0604030504040204" pitchFamily="34" charset="-128"/>
                <a:ea typeface="Meiryo" panose="020B0604030504040204" pitchFamily="34" charset="-128"/>
                <a:cs typeface="Times New Roman" panose="02020603050405020304" pitchFamily="18" charset="0"/>
              </a:rPr>
              <a:t> URL </a:t>
            </a:r>
            <a:r>
              <a:rPr lang="ja-JP" sz="1800">
                <a:effectLst/>
                <a:latin typeface="Meiryo" panose="020B0604030504040204" pitchFamily="34" charset="-128"/>
                <a:ea typeface="Meiryo" panose="020B0604030504040204" pitchFamily="34" charset="-128"/>
                <a:cs typeface="Times New Roman" panose="02020603050405020304" pitchFamily="18" charset="0"/>
              </a:rPr>
              <a:t>に対してレピュテーション情報を確認し、既知の悪性</a:t>
            </a:r>
            <a:r>
              <a:rPr lang="en-US" sz="1800" dirty="0">
                <a:effectLst/>
                <a:latin typeface="Meiryo" panose="020B0604030504040204" pitchFamily="34" charset="-128"/>
                <a:ea typeface="Meiryo" panose="020B0604030504040204" pitchFamily="34" charset="-128"/>
                <a:cs typeface="Times New Roman" panose="02020603050405020304" pitchFamily="18" charset="0"/>
              </a:rPr>
              <a:t> URL </a:t>
            </a:r>
            <a:r>
              <a:rPr lang="ja-JP" sz="1800">
                <a:effectLst/>
                <a:latin typeface="Meiryo" panose="020B0604030504040204" pitchFamily="34" charset="-128"/>
                <a:ea typeface="Meiryo" panose="020B0604030504040204" pitchFamily="34" charset="-128"/>
                <a:cs typeface="Times New Roman" panose="02020603050405020304" pitchFamily="18" charset="0"/>
              </a:rPr>
              <a:t>や、ドメイン生成アルゴリズム（</a:t>
            </a:r>
            <a:r>
              <a:rPr lang="en-US" sz="1800" dirty="0">
                <a:effectLst/>
                <a:latin typeface="Meiryo" panose="020B0604030504040204" pitchFamily="34" charset="-128"/>
                <a:ea typeface="Meiryo" panose="020B0604030504040204" pitchFamily="34" charset="-128"/>
                <a:cs typeface="Times New Roman" panose="02020603050405020304" pitchFamily="18" charset="0"/>
              </a:rPr>
              <a:t>DGA</a:t>
            </a:r>
            <a:r>
              <a:rPr lang="ja-JP" sz="1800">
                <a:effectLst/>
                <a:latin typeface="Meiryo" panose="020B0604030504040204" pitchFamily="34" charset="-128"/>
                <a:ea typeface="Meiryo" panose="020B0604030504040204" pitchFamily="34" charset="-128"/>
                <a:cs typeface="Times New Roman" panose="02020603050405020304" pitchFamily="18" charset="0"/>
              </a:rPr>
              <a:t>）を用いて生成された不自然なドメインを検出する</a:t>
            </a:r>
            <a:r>
              <a:rPr lang="en-JP" dirty="0">
                <a:effectLst/>
                <a:latin typeface="Meiryo" panose="020B0604030504040204" pitchFamily="34" charset="-128"/>
                <a:ea typeface="Meiryo" panose="020B0604030504040204" pitchFamily="34" charset="-128"/>
              </a:rPr>
              <a:t> </a:t>
            </a:r>
            <a:endParaRPr lang="en-JP" dirty="0">
              <a:latin typeface="Meiryo" panose="020B0604030504040204" pitchFamily="34" charset="-128"/>
              <a:ea typeface="Meiryo" panose="020B0604030504040204" pitchFamily="34" charset="-128"/>
            </a:endParaRPr>
          </a:p>
        </p:txBody>
      </p:sp>
      <p:sp>
        <p:nvSpPr>
          <p:cNvPr id="9" name="Slide Number Placeholder 8">
            <a:extLst>
              <a:ext uri="{FF2B5EF4-FFF2-40B4-BE49-F238E27FC236}">
                <a16:creationId xmlns:a16="http://schemas.microsoft.com/office/drawing/2014/main" id="{92E89694-54FD-7325-A158-40F2DC5D7560}"/>
              </a:ext>
            </a:extLst>
          </p:cNvPr>
          <p:cNvSpPr>
            <a:spLocks noGrp="1"/>
          </p:cNvSpPr>
          <p:nvPr>
            <p:ph type="sldNum" sz="quarter" idx="12"/>
          </p:nvPr>
        </p:nvSpPr>
        <p:spPr/>
        <p:txBody>
          <a:bodyPr/>
          <a:lstStyle/>
          <a:p>
            <a:fld id="{0B6BB8DA-DB46-D648-BE1D-FCDB55E9CBE3}" type="slidenum">
              <a:rPr lang="en-JP" smtClean="0"/>
              <a:t>8</a:t>
            </a:fld>
            <a:endParaRPr lang="en-JP"/>
          </a:p>
        </p:txBody>
      </p:sp>
    </p:spTree>
    <p:extLst>
      <p:ext uri="{BB962C8B-B14F-4D97-AF65-F5344CB8AC3E}">
        <p14:creationId xmlns:p14="http://schemas.microsoft.com/office/powerpoint/2010/main" val="1399508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F1583B-BD79-292C-48EB-1282CDF22EFD}"/>
              </a:ext>
            </a:extLst>
          </p:cNvPr>
          <p:cNvSpPr txBox="1"/>
          <p:nvPr/>
        </p:nvSpPr>
        <p:spPr>
          <a:xfrm>
            <a:off x="-446313" y="210235"/>
            <a:ext cx="6792684" cy="369332"/>
          </a:xfrm>
          <a:prstGeom prst="rect">
            <a:avLst/>
          </a:prstGeom>
          <a:noFill/>
        </p:spPr>
        <p:txBody>
          <a:bodyPr wrap="square">
            <a:spAutoFit/>
          </a:bodyPr>
          <a:lstStyle/>
          <a:p>
            <a:pPr marL="1200150" lvl="2" indent="-285750" algn="just">
              <a:buFont typeface="Wingdings" pitchFamily="2" charset="2"/>
              <a:buChar char="Ø"/>
            </a:pPr>
            <a:r>
              <a:rPr lang="en-US"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EDR</a:t>
            </a: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a:t>
            </a:r>
            <a:r>
              <a:rPr lang="en-US"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Endpoint Detection and Response</a:t>
            </a: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a:t>
            </a:r>
            <a:endParaRPr lang="en-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AEF6B11B-A532-B409-2581-80570D174644}"/>
              </a:ext>
            </a:extLst>
          </p:cNvPr>
          <p:cNvSpPr txBox="1"/>
          <p:nvPr/>
        </p:nvSpPr>
        <p:spPr>
          <a:xfrm>
            <a:off x="664027" y="4872268"/>
            <a:ext cx="7652657" cy="1569660"/>
          </a:xfrm>
          <a:prstGeom prst="rect">
            <a:avLst/>
          </a:prstGeom>
          <a:noFill/>
        </p:spPr>
        <p:txBody>
          <a:bodyPr wrap="square">
            <a:spAutoFit/>
          </a:bodyPr>
          <a:lstStyle/>
          <a:p>
            <a:pPr algn="just"/>
            <a:r>
              <a:rPr lang="en-JP" sz="1600" dirty="0">
                <a:latin typeface="Meiryo" panose="020B0604030504040204" pitchFamily="34" charset="-128"/>
                <a:ea typeface="Meiryo" panose="020B0604030504040204" pitchFamily="34" charset="-128"/>
                <a:cs typeface="Times New Roman" panose="02020603050405020304" pitchFamily="18" charset="0"/>
              </a:rPr>
              <a:t>EDR 層では、エンドポイント上で実行される,プロセスやシステム挙動をリアルタイムに監視し、境界防御をすり抜けたマルウェアや内部侵入後の不正活動を検知・対応することを目的とする。</a:t>
            </a:r>
            <a:r>
              <a:rPr lang="en-JP" sz="1600" dirty="0">
                <a:latin typeface="Meiryo" panose="020B0604030504040204" pitchFamily="34" charset="-128"/>
                <a:ea typeface="Meiryo" panose="020B0604030504040204" pitchFamily="34" charset="-128"/>
              </a:rPr>
              <a:t>EDR 層は、静的解析や境界防御では検知が困難な内部侵入後の不正活動や未知のマルウェアに対して、行動分析と機械学習を組み合わせた実運用に不可欠な防御手段である。</a:t>
            </a:r>
          </a:p>
          <a:p>
            <a:pPr algn="just"/>
            <a:endParaRPr lang="en-JP" sz="1600" dirty="0">
              <a:latin typeface="Meiryo" panose="020B0604030504040204" pitchFamily="34" charset="-128"/>
              <a:ea typeface="Meiryo" panose="020B0604030504040204" pitchFamily="34" charset="-128"/>
              <a:cs typeface="Times New Roman" panose="02020603050405020304" pitchFamily="18" charset="0"/>
            </a:endParaRPr>
          </a:p>
        </p:txBody>
      </p:sp>
      <p:pic>
        <p:nvPicPr>
          <p:cNvPr id="8" name="Picture 7">
            <a:extLst>
              <a:ext uri="{FF2B5EF4-FFF2-40B4-BE49-F238E27FC236}">
                <a16:creationId xmlns:a16="http://schemas.microsoft.com/office/drawing/2014/main" id="{1A9AE345-5EEB-2CF2-93EE-4399FDCD99D8}"/>
              </a:ext>
            </a:extLst>
          </p:cNvPr>
          <p:cNvPicPr>
            <a:picLocks noChangeAspect="1"/>
          </p:cNvPicPr>
          <p:nvPr/>
        </p:nvPicPr>
        <p:blipFill>
          <a:blip r:embed="rId2"/>
          <a:stretch>
            <a:fillRect/>
          </a:stretch>
        </p:blipFill>
        <p:spPr>
          <a:xfrm>
            <a:off x="664028" y="956037"/>
            <a:ext cx="7652657" cy="3474449"/>
          </a:xfrm>
          <a:prstGeom prst="rect">
            <a:avLst/>
          </a:prstGeom>
        </p:spPr>
      </p:pic>
      <p:sp>
        <p:nvSpPr>
          <p:cNvPr id="11" name="Slide Number Placeholder 10">
            <a:extLst>
              <a:ext uri="{FF2B5EF4-FFF2-40B4-BE49-F238E27FC236}">
                <a16:creationId xmlns:a16="http://schemas.microsoft.com/office/drawing/2014/main" id="{0E0A0D3E-72CD-0F34-34CA-7AB1C5AD4842}"/>
              </a:ext>
            </a:extLst>
          </p:cNvPr>
          <p:cNvSpPr>
            <a:spLocks noGrp="1"/>
          </p:cNvSpPr>
          <p:nvPr>
            <p:ph type="sldNum" sz="quarter" idx="12"/>
          </p:nvPr>
        </p:nvSpPr>
        <p:spPr/>
        <p:txBody>
          <a:bodyPr/>
          <a:lstStyle/>
          <a:p>
            <a:fld id="{0B6BB8DA-DB46-D648-BE1D-FCDB55E9CBE3}" type="slidenum">
              <a:rPr lang="en-JP" smtClean="0"/>
              <a:t>9</a:t>
            </a:fld>
            <a:endParaRPr lang="en-JP"/>
          </a:p>
        </p:txBody>
      </p:sp>
    </p:spTree>
    <p:extLst>
      <p:ext uri="{BB962C8B-B14F-4D97-AF65-F5344CB8AC3E}">
        <p14:creationId xmlns:p14="http://schemas.microsoft.com/office/powerpoint/2010/main" val="1532970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4B9E00-8227-24AC-F3D1-C8139A4CD4D7}"/>
              </a:ext>
            </a:extLst>
          </p:cNvPr>
          <p:cNvSpPr txBox="1"/>
          <p:nvPr/>
        </p:nvSpPr>
        <p:spPr>
          <a:xfrm>
            <a:off x="326570" y="289449"/>
            <a:ext cx="7402287" cy="369332"/>
          </a:xfrm>
          <a:prstGeom prst="rect">
            <a:avLst/>
          </a:prstGeom>
          <a:noFill/>
        </p:spPr>
        <p:txBody>
          <a:bodyPr wrap="square">
            <a:spAutoFit/>
          </a:bodyPr>
          <a:lstStyle/>
          <a:p>
            <a:pPr marL="285750" indent="-285750">
              <a:buFont typeface="Wingdings" pitchFamily="2" charset="2"/>
              <a:buChar char="Ø"/>
            </a:pPr>
            <a:r>
              <a:rPr lang="en-US"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Phase 2: </a:t>
            </a: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侵入後検知（内部不正・ラテラルムーブメント）</a:t>
            </a:r>
            <a:endParaRPr lang="en-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pic>
        <p:nvPicPr>
          <p:cNvPr id="6" name="Picture 5">
            <a:extLst>
              <a:ext uri="{FF2B5EF4-FFF2-40B4-BE49-F238E27FC236}">
                <a16:creationId xmlns:a16="http://schemas.microsoft.com/office/drawing/2014/main" id="{0985FD18-DD03-623B-65CB-3F715D5E1ECA}"/>
              </a:ext>
            </a:extLst>
          </p:cNvPr>
          <p:cNvPicPr>
            <a:picLocks noChangeAspect="1"/>
          </p:cNvPicPr>
          <p:nvPr/>
        </p:nvPicPr>
        <p:blipFill>
          <a:blip r:embed="rId2"/>
          <a:stretch>
            <a:fillRect/>
          </a:stretch>
        </p:blipFill>
        <p:spPr>
          <a:xfrm>
            <a:off x="468085" y="765538"/>
            <a:ext cx="8316686" cy="4100376"/>
          </a:xfrm>
          <a:prstGeom prst="rect">
            <a:avLst/>
          </a:prstGeom>
        </p:spPr>
      </p:pic>
      <p:sp>
        <p:nvSpPr>
          <p:cNvPr id="8" name="TextBox 7">
            <a:extLst>
              <a:ext uri="{FF2B5EF4-FFF2-40B4-BE49-F238E27FC236}">
                <a16:creationId xmlns:a16="http://schemas.microsoft.com/office/drawing/2014/main" id="{EF5F26CB-08B5-6692-1A5B-A3D4BD657FC7}"/>
              </a:ext>
            </a:extLst>
          </p:cNvPr>
          <p:cNvSpPr txBox="1"/>
          <p:nvPr/>
        </p:nvSpPr>
        <p:spPr>
          <a:xfrm>
            <a:off x="413657" y="5145652"/>
            <a:ext cx="8316686" cy="1323439"/>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Phase 2 では、攻撃者が境界防御を突破し、組織内部への侵入に成功した後の活動を検知対象とする。特に、ラテラルムーブメント（横展開）や内部不正行為の早期発見を目的とする。侵入後、攻撃者はネットワーク内で権限拡大や他端末への不正アクセスを試みるため、ネットワーク層、エンドポイント層、およびユーザー行動分析を組み合わせた多層的な検知を行う。</a:t>
            </a:r>
          </a:p>
        </p:txBody>
      </p:sp>
      <p:sp>
        <p:nvSpPr>
          <p:cNvPr id="9" name="Slide Number Placeholder 8">
            <a:extLst>
              <a:ext uri="{FF2B5EF4-FFF2-40B4-BE49-F238E27FC236}">
                <a16:creationId xmlns:a16="http://schemas.microsoft.com/office/drawing/2014/main" id="{4E0309DA-EAC3-0219-E872-04491CEFD020}"/>
              </a:ext>
            </a:extLst>
          </p:cNvPr>
          <p:cNvSpPr>
            <a:spLocks noGrp="1"/>
          </p:cNvSpPr>
          <p:nvPr>
            <p:ph type="sldNum" sz="quarter" idx="12"/>
          </p:nvPr>
        </p:nvSpPr>
        <p:spPr/>
        <p:txBody>
          <a:bodyPr/>
          <a:lstStyle/>
          <a:p>
            <a:fld id="{0B6BB8DA-DB46-D648-BE1D-FCDB55E9CBE3}" type="slidenum">
              <a:rPr lang="en-JP" smtClean="0"/>
              <a:t>10</a:t>
            </a:fld>
            <a:endParaRPr lang="en-JP"/>
          </a:p>
        </p:txBody>
      </p:sp>
    </p:spTree>
    <p:extLst>
      <p:ext uri="{BB962C8B-B14F-4D97-AF65-F5344CB8AC3E}">
        <p14:creationId xmlns:p14="http://schemas.microsoft.com/office/powerpoint/2010/main" val="28148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EA2A3A-8A84-C458-C063-2773FFDDB3FA}"/>
              </a:ext>
            </a:extLst>
          </p:cNvPr>
          <p:cNvSpPr txBox="1"/>
          <p:nvPr/>
        </p:nvSpPr>
        <p:spPr>
          <a:xfrm>
            <a:off x="293915" y="286435"/>
            <a:ext cx="7271656" cy="369332"/>
          </a:xfrm>
          <a:prstGeom prst="rect">
            <a:avLst/>
          </a:prstGeom>
          <a:noFill/>
        </p:spPr>
        <p:txBody>
          <a:bodyPr wrap="square">
            <a:spAutoFit/>
          </a:bodyPr>
          <a:lstStyle/>
          <a:p>
            <a:pPr marL="285750" indent="-285750">
              <a:buFont typeface="Wingdings" pitchFamily="2" charset="2"/>
              <a:buChar char="Ø"/>
            </a:pPr>
            <a:r>
              <a:rPr lang="en-JP" b="1" dirty="0">
                <a:solidFill>
                  <a:srgbClr val="92D050"/>
                </a:solidFill>
                <a:latin typeface="Meiryo" panose="020B0604030504040204" pitchFamily="34" charset="-128"/>
                <a:ea typeface="Meiryo" panose="020B0604030504040204" pitchFamily="34" charset="-128"/>
              </a:rPr>
              <a:t>解析手法の組み合わせネットワークトラフィック解析</a:t>
            </a:r>
          </a:p>
        </p:txBody>
      </p:sp>
      <p:sp>
        <p:nvSpPr>
          <p:cNvPr id="7" name="TextBox 6">
            <a:extLst>
              <a:ext uri="{FF2B5EF4-FFF2-40B4-BE49-F238E27FC236}">
                <a16:creationId xmlns:a16="http://schemas.microsoft.com/office/drawing/2014/main" id="{CB26CF98-B934-F627-3BF1-EA999740D98D}"/>
              </a:ext>
            </a:extLst>
          </p:cNvPr>
          <p:cNvSpPr txBox="1"/>
          <p:nvPr/>
        </p:nvSpPr>
        <p:spPr>
          <a:xfrm>
            <a:off x="435428" y="858522"/>
            <a:ext cx="8338457" cy="584775"/>
          </a:xfrm>
          <a:prstGeom prst="rect">
            <a:avLst/>
          </a:prstGeom>
          <a:noFill/>
        </p:spPr>
        <p:txBody>
          <a:bodyPr wrap="square">
            <a:spAutoFit/>
          </a:bodyPr>
          <a:lstStyle/>
          <a:p>
            <a:pPr algn="just"/>
            <a:r>
              <a:rPr lang="en-JP" sz="1600" dirty="0">
                <a:latin typeface="Meiryo" panose="020B0604030504040204" pitchFamily="34" charset="-128"/>
                <a:ea typeface="Meiryo" panose="020B0604030504040204" pitchFamily="34" charset="-128"/>
              </a:rPr>
              <a:t>本フェーズでは、侵入後の不正通信や情報流出を検知するために、ネットワークトラフィック解析を中心とした.複数の解析手法を組み合わせて活用する。</a:t>
            </a:r>
          </a:p>
        </p:txBody>
      </p:sp>
      <p:sp>
        <p:nvSpPr>
          <p:cNvPr id="9" name="TextBox 8">
            <a:extLst>
              <a:ext uri="{FF2B5EF4-FFF2-40B4-BE49-F238E27FC236}">
                <a16:creationId xmlns:a16="http://schemas.microsoft.com/office/drawing/2014/main" id="{A49E9445-6822-515F-456A-6E54709F3312}"/>
              </a:ext>
            </a:extLst>
          </p:cNvPr>
          <p:cNvSpPr txBox="1"/>
          <p:nvPr/>
        </p:nvSpPr>
        <p:spPr>
          <a:xfrm>
            <a:off x="457200" y="1841995"/>
            <a:ext cx="8686800" cy="2062103"/>
          </a:xfrm>
          <a:prstGeom prst="rect">
            <a:avLst/>
          </a:prstGeom>
          <a:noFill/>
        </p:spPr>
        <p:txBody>
          <a:bodyPr wrap="square">
            <a:spAutoFit/>
          </a:bodyPr>
          <a:lstStyle/>
          <a:p>
            <a:r>
              <a:rPr lang="en-JP" sz="1600" dirty="0">
                <a:solidFill>
                  <a:srgbClr val="C00000"/>
                </a:solidFill>
                <a:latin typeface="Meiryo" panose="020B0604030504040204" pitchFamily="34" charset="-128"/>
                <a:ea typeface="Meiryo" panose="020B0604030504040204" pitchFamily="34" charset="-128"/>
              </a:rPr>
              <a:t>プロトコル異常検出</a:t>
            </a:r>
          </a:p>
          <a:p>
            <a:r>
              <a:rPr lang="en-JP" sz="1600" dirty="0">
                <a:latin typeface="Meiryo" panose="020B0604030504040204" pitchFamily="34" charset="-128"/>
                <a:ea typeface="Meiryo" panose="020B0604030504040204" pitchFamily="34" charset="-128"/>
              </a:rPr>
              <a:t>使用されている通信プロトコルを解析正常通信と異なる挙動を検出</a:t>
            </a:r>
          </a:p>
          <a:p>
            <a:endParaRPr lang="en-JP" sz="1600" dirty="0">
              <a:latin typeface="Meiryo" panose="020B0604030504040204" pitchFamily="34" charset="-128"/>
              <a:ea typeface="Meiryo" panose="020B0604030504040204" pitchFamily="34" charset="-128"/>
            </a:endParaRPr>
          </a:p>
          <a:p>
            <a:r>
              <a:rPr lang="en-JP" sz="1600" dirty="0">
                <a:latin typeface="Meiryo" panose="020B0604030504040204" pitchFamily="34" charset="-128"/>
                <a:ea typeface="Meiryo" panose="020B0604030504040204" pitchFamily="34" charset="-128"/>
              </a:rPr>
              <a:t>検出ポイント</a:t>
            </a: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非標準ポートの使用</a:t>
            </a: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通常とは異なる暗号化通信パターン</a:t>
            </a: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正規通信を装った不正トンネル通信</a:t>
            </a: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マルウェアによる秘匿通信の識別</a:t>
            </a:r>
          </a:p>
        </p:txBody>
      </p:sp>
      <p:sp>
        <p:nvSpPr>
          <p:cNvPr id="15" name="TextBox 14">
            <a:extLst>
              <a:ext uri="{FF2B5EF4-FFF2-40B4-BE49-F238E27FC236}">
                <a16:creationId xmlns:a16="http://schemas.microsoft.com/office/drawing/2014/main" id="{99B8CC85-7266-7FE1-5A5A-7E4E0570060C}"/>
              </a:ext>
            </a:extLst>
          </p:cNvPr>
          <p:cNvSpPr txBox="1"/>
          <p:nvPr/>
        </p:nvSpPr>
        <p:spPr>
          <a:xfrm>
            <a:off x="576942" y="4208306"/>
            <a:ext cx="4572000" cy="584775"/>
          </a:xfrm>
          <a:prstGeom prst="rect">
            <a:avLst/>
          </a:prstGeom>
          <a:noFill/>
        </p:spPr>
        <p:txBody>
          <a:bodyPr wrap="square">
            <a:spAutoFit/>
          </a:bodyPr>
          <a:lstStyle/>
          <a:p>
            <a:r>
              <a:rPr lang="ja-JP" altLang="en-US" sz="1600">
                <a:solidFill>
                  <a:srgbClr val="C00000"/>
                </a:solidFill>
                <a:latin typeface="Meiryo" panose="020B0604030504040204" pitchFamily="34" charset="-128"/>
                <a:ea typeface="Meiryo" panose="020B0604030504040204" pitchFamily="34" charset="-128"/>
              </a:rPr>
              <a:t>データ流出の検知</a:t>
            </a:r>
          </a:p>
          <a:p>
            <a:r>
              <a:rPr lang="ja-JP" altLang="en-US" sz="1600">
                <a:latin typeface="Meiryo" panose="020B0604030504040204" pitchFamily="34" charset="-128"/>
                <a:ea typeface="Meiryo" panose="020B0604030504040204" pitchFamily="34" charset="-128"/>
              </a:rPr>
              <a:t> 目的</a:t>
            </a:r>
            <a:r>
              <a:rPr lang="en-US" altLang="ja-JP" sz="1600" dirty="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内部情報の外部流出を検知</a:t>
            </a:r>
          </a:p>
        </p:txBody>
      </p:sp>
      <p:sp>
        <p:nvSpPr>
          <p:cNvPr id="17" name="TextBox 16">
            <a:extLst>
              <a:ext uri="{FF2B5EF4-FFF2-40B4-BE49-F238E27FC236}">
                <a16:creationId xmlns:a16="http://schemas.microsoft.com/office/drawing/2014/main" id="{907332D2-F921-333B-B6C8-461A5DE37432}"/>
              </a:ext>
            </a:extLst>
          </p:cNvPr>
          <p:cNvSpPr txBox="1"/>
          <p:nvPr/>
        </p:nvSpPr>
        <p:spPr>
          <a:xfrm>
            <a:off x="576942" y="4871198"/>
            <a:ext cx="4572000" cy="1077218"/>
          </a:xfrm>
          <a:prstGeom prst="rect">
            <a:avLst/>
          </a:prstGeom>
          <a:noFill/>
        </p:spPr>
        <p:txBody>
          <a:bodyPr wrap="square">
            <a:spAutoFit/>
          </a:bodyPr>
          <a:lstStyle/>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監視対象</a:t>
            </a: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DNS トンネリング</a:t>
            </a: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ICMP Exfiltration</a:t>
            </a: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非通常な通信経路を用いたデータ送信</a:t>
            </a:r>
          </a:p>
        </p:txBody>
      </p:sp>
      <p:sp>
        <p:nvSpPr>
          <p:cNvPr id="18" name="Slide Number Placeholder 17">
            <a:extLst>
              <a:ext uri="{FF2B5EF4-FFF2-40B4-BE49-F238E27FC236}">
                <a16:creationId xmlns:a16="http://schemas.microsoft.com/office/drawing/2014/main" id="{A9966D0F-CF09-6DE2-2F76-D53DB0FB8F0D}"/>
              </a:ext>
            </a:extLst>
          </p:cNvPr>
          <p:cNvSpPr>
            <a:spLocks noGrp="1"/>
          </p:cNvSpPr>
          <p:nvPr>
            <p:ph type="sldNum" sz="quarter" idx="12"/>
          </p:nvPr>
        </p:nvSpPr>
        <p:spPr/>
        <p:txBody>
          <a:bodyPr/>
          <a:lstStyle/>
          <a:p>
            <a:fld id="{0B6BB8DA-DB46-D648-BE1D-FCDB55E9CBE3}" type="slidenum">
              <a:rPr lang="en-JP" smtClean="0"/>
              <a:t>11</a:t>
            </a:fld>
            <a:endParaRPr lang="en-JP"/>
          </a:p>
        </p:txBody>
      </p:sp>
    </p:spTree>
    <p:extLst>
      <p:ext uri="{BB962C8B-B14F-4D97-AF65-F5344CB8AC3E}">
        <p14:creationId xmlns:p14="http://schemas.microsoft.com/office/powerpoint/2010/main" val="2147882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00C3711-620B-34E3-657B-B2A4B3CADE2D}"/>
              </a:ext>
            </a:extLst>
          </p:cNvPr>
          <p:cNvSpPr txBox="1"/>
          <p:nvPr/>
        </p:nvSpPr>
        <p:spPr>
          <a:xfrm>
            <a:off x="413657" y="279069"/>
            <a:ext cx="4572000" cy="369332"/>
          </a:xfrm>
          <a:prstGeom prst="rect">
            <a:avLst/>
          </a:prstGeom>
          <a:noFill/>
        </p:spPr>
        <p:txBody>
          <a:bodyPr wrap="square">
            <a:spAutoFit/>
          </a:bodyPr>
          <a:lstStyle/>
          <a:p>
            <a:pPr marL="285750" indent="-285750">
              <a:buFont typeface="Wingdings" pitchFamily="2" charset="2"/>
              <a:buChar char="Ø"/>
            </a:pPr>
            <a:r>
              <a:rPr lang="en-US" b="1" dirty="0">
                <a:solidFill>
                  <a:srgbClr val="92D050"/>
                </a:solidFill>
                <a:latin typeface="Meiryo" panose="020B0604030504040204" pitchFamily="34" charset="-128"/>
                <a:ea typeface="Meiryo" panose="020B0604030504040204" pitchFamily="34" charset="-128"/>
              </a:rPr>
              <a:t>C2</a:t>
            </a:r>
            <a:r>
              <a:rPr lang="ja-JP" altLang="en-US" b="1">
                <a:solidFill>
                  <a:srgbClr val="92D050"/>
                </a:solidFill>
                <a:latin typeface="Meiryo" panose="020B0604030504040204" pitchFamily="34" charset="-128"/>
                <a:ea typeface="Meiryo" panose="020B0604030504040204" pitchFamily="34" charset="-128"/>
              </a:rPr>
              <a:t>通信の特定</a:t>
            </a:r>
            <a:endParaRPr lang="en-JP" b="1" dirty="0">
              <a:solidFill>
                <a:srgbClr val="92D050"/>
              </a:solidFill>
              <a:latin typeface="Meiryo" panose="020B0604030504040204" pitchFamily="34" charset="-128"/>
              <a:ea typeface="Meiryo" panose="020B0604030504040204" pitchFamily="34" charset="-128"/>
            </a:endParaRPr>
          </a:p>
        </p:txBody>
      </p:sp>
      <p:pic>
        <p:nvPicPr>
          <p:cNvPr id="8" name="Picture 7">
            <a:extLst>
              <a:ext uri="{FF2B5EF4-FFF2-40B4-BE49-F238E27FC236}">
                <a16:creationId xmlns:a16="http://schemas.microsoft.com/office/drawing/2014/main" id="{77C65513-6140-C81E-29C6-673586D3D75E}"/>
              </a:ext>
            </a:extLst>
          </p:cNvPr>
          <p:cNvPicPr>
            <a:picLocks noChangeAspect="1"/>
          </p:cNvPicPr>
          <p:nvPr/>
        </p:nvPicPr>
        <p:blipFill>
          <a:blip r:embed="rId2"/>
          <a:stretch>
            <a:fillRect/>
          </a:stretch>
        </p:blipFill>
        <p:spPr>
          <a:xfrm>
            <a:off x="370114" y="1147778"/>
            <a:ext cx="8458199" cy="3494232"/>
          </a:xfrm>
          <a:prstGeom prst="rect">
            <a:avLst/>
          </a:prstGeom>
        </p:spPr>
      </p:pic>
      <p:sp>
        <p:nvSpPr>
          <p:cNvPr id="10" name="TextBox 9">
            <a:extLst>
              <a:ext uri="{FF2B5EF4-FFF2-40B4-BE49-F238E27FC236}">
                <a16:creationId xmlns:a16="http://schemas.microsoft.com/office/drawing/2014/main" id="{85CA74F3-A83F-FACF-5916-61E73344A87E}"/>
              </a:ext>
            </a:extLst>
          </p:cNvPr>
          <p:cNvSpPr txBox="1"/>
          <p:nvPr/>
        </p:nvSpPr>
        <p:spPr>
          <a:xfrm>
            <a:off x="223157" y="4809369"/>
            <a:ext cx="4664529" cy="1569660"/>
          </a:xfrm>
          <a:prstGeom prst="rect">
            <a:avLst/>
          </a:prstGeom>
          <a:noFill/>
        </p:spPr>
        <p:txBody>
          <a:bodyPr wrap="square">
            <a:spAutoFit/>
          </a:bodyPr>
          <a:lstStyle/>
          <a:p>
            <a:endParaRPr lang="en-JP" sz="16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JP" sz="1600" dirty="0">
                <a:latin typeface="Meiryo" panose="020B0604030504040204" pitchFamily="34" charset="-128"/>
                <a:ea typeface="Meiryo" panose="020B0604030504040204" pitchFamily="34" charset="-128"/>
              </a:rPr>
              <a:t> 検出手法</a:t>
            </a:r>
          </a:p>
          <a:p>
            <a:r>
              <a:rPr lang="en-JP" sz="1600" dirty="0">
                <a:latin typeface="Meiryo" panose="020B0604030504040204" pitchFamily="34" charset="-128"/>
                <a:ea typeface="Meiryo" panose="020B0604030504040204" pitchFamily="34" charset="-128"/>
              </a:rPr>
              <a:t>一定間隔で繰り返されるビーコン通信</a:t>
            </a:r>
          </a:p>
          <a:p>
            <a:r>
              <a:rPr lang="en-JP" sz="1600" dirty="0">
                <a:latin typeface="Meiryo" panose="020B0604030504040204" pitchFamily="34" charset="-128"/>
                <a:ea typeface="Meiryo" panose="020B0604030504040204" pitchFamily="34" charset="-128"/>
              </a:rPr>
              <a:t>DGA（Domain Generation Algorithm）による</a:t>
            </a:r>
          </a:p>
          <a:p>
            <a:r>
              <a:rPr lang="en-JP" sz="1600" dirty="0">
                <a:latin typeface="Meiryo" panose="020B0604030504040204" pitchFamily="34" charset="-128"/>
                <a:ea typeface="Meiryo" panose="020B0604030504040204" pitchFamily="34" charset="-128"/>
              </a:rPr>
              <a:t>不自然なドメイン名への通信</a:t>
            </a:r>
          </a:p>
          <a:p>
            <a:endParaRPr lang="en-JP" sz="16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E9DBF11F-0FE0-4544-1BED-8F3ECD2090CD}"/>
              </a:ext>
            </a:extLst>
          </p:cNvPr>
          <p:cNvSpPr txBox="1"/>
          <p:nvPr/>
        </p:nvSpPr>
        <p:spPr>
          <a:xfrm>
            <a:off x="849084" y="648401"/>
            <a:ext cx="8294915"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C2（Command &amp; Control）通信とはマルウェアが攻撃者のサーバと通信する制御通信命令受信・情報送信に利用される</a:t>
            </a:r>
          </a:p>
        </p:txBody>
      </p:sp>
      <p:sp>
        <p:nvSpPr>
          <p:cNvPr id="14" name="TextBox 13">
            <a:extLst>
              <a:ext uri="{FF2B5EF4-FFF2-40B4-BE49-F238E27FC236}">
                <a16:creationId xmlns:a16="http://schemas.microsoft.com/office/drawing/2014/main" id="{9159C02A-93C5-A837-1B15-0D0C68D9A54C}"/>
              </a:ext>
            </a:extLst>
          </p:cNvPr>
          <p:cNvSpPr txBox="1"/>
          <p:nvPr/>
        </p:nvSpPr>
        <p:spPr>
          <a:xfrm>
            <a:off x="4985657" y="4901701"/>
            <a:ext cx="4158342" cy="1477328"/>
          </a:xfrm>
          <a:prstGeom prst="rect">
            <a:avLst/>
          </a:prstGeom>
          <a:noFill/>
        </p:spPr>
        <p:txBody>
          <a:bodyPr wrap="square">
            <a:spAutoFit/>
          </a:bodyPr>
          <a:lstStyle/>
          <a:p>
            <a:pPr marL="285750" indent="-285750">
              <a:buFont typeface="Wingdings" pitchFamily="2" charset="2"/>
              <a:buChar char="§"/>
            </a:pPr>
            <a:r>
              <a:rPr lang="en-JP" sz="1800" dirty="0">
                <a:latin typeface="Meiryo" panose="020B0604030504040204" pitchFamily="34" charset="-128"/>
                <a:ea typeface="Meiryo" panose="020B0604030504040204" pitchFamily="34" charset="-128"/>
              </a:rPr>
              <a:t>通信パターン分析</a:t>
            </a:r>
          </a:p>
          <a:p>
            <a:r>
              <a:rPr lang="en-JP" sz="1800" dirty="0">
                <a:latin typeface="Meiryo" panose="020B0604030504040204" pitchFamily="34" charset="-128"/>
                <a:ea typeface="Meiryo" panose="020B0604030504040204" pitchFamily="34" charset="-128"/>
              </a:rPr>
              <a:t>Fast Flux DNS の利用</a:t>
            </a:r>
          </a:p>
          <a:p>
            <a:r>
              <a:rPr lang="en-JP" sz="1800" dirty="0">
                <a:latin typeface="Meiryo" panose="020B0604030504040204" pitchFamily="34" charset="-128"/>
                <a:ea typeface="Meiryo" panose="020B0604030504040204" pitchFamily="34" charset="-128"/>
              </a:rPr>
              <a:t>短時間で IP アドレスが頻繁に変化</a:t>
            </a:r>
          </a:p>
          <a:p>
            <a:r>
              <a:rPr lang="en-JP" sz="1800" dirty="0">
                <a:latin typeface="Meiryo" panose="020B0604030504040204" pitchFamily="34" charset="-128"/>
                <a:ea typeface="Meiryo" panose="020B0604030504040204" pitchFamily="34" charset="-128"/>
              </a:rPr>
              <a:t>通信先・頻度・時間帯を総合的に分析</a:t>
            </a:r>
          </a:p>
          <a:p>
            <a:r>
              <a:rPr lang="en-JP" sz="1800" dirty="0">
                <a:latin typeface="Meiryo" panose="020B0604030504040204" pitchFamily="34" charset="-128"/>
                <a:ea typeface="Meiryo" panose="020B0604030504040204" pitchFamily="34" charset="-128"/>
              </a:rPr>
              <a:t>マルウェアの制御通信を特定</a:t>
            </a:r>
          </a:p>
        </p:txBody>
      </p:sp>
      <p:sp>
        <p:nvSpPr>
          <p:cNvPr id="15" name="正方形/長方形 9">
            <a:extLst>
              <a:ext uri="{FF2B5EF4-FFF2-40B4-BE49-F238E27FC236}">
                <a16:creationId xmlns:a16="http://schemas.microsoft.com/office/drawing/2014/main" id="{B0E26A5F-B468-2431-BB4B-86F27D0B1BBA}"/>
              </a:ext>
            </a:extLst>
          </p:cNvPr>
          <p:cNvSpPr/>
          <p:nvPr/>
        </p:nvSpPr>
        <p:spPr>
          <a:xfrm>
            <a:off x="162791" y="4839909"/>
            <a:ext cx="4664529" cy="1485770"/>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6" name="正方形/長方形 9">
            <a:extLst>
              <a:ext uri="{FF2B5EF4-FFF2-40B4-BE49-F238E27FC236}">
                <a16:creationId xmlns:a16="http://schemas.microsoft.com/office/drawing/2014/main" id="{6CD2F353-0891-C088-1969-3FF4F9B0C047}"/>
              </a:ext>
            </a:extLst>
          </p:cNvPr>
          <p:cNvSpPr/>
          <p:nvPr/>
        </p:nvSpPr>
        <p:spPr>
          <a:xfrm>
            <a:off x="4996541" y="4848351"/>
            <a:ext cx="3924302" cy="1477328"/>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8" name="TextBox 17">
            <a:extLst>
              <a:ext uri="{FF2B5EF4-FFF2-40B4-BE49-F238E27FC236}">
                <a16:creationId xmlns:a16="http://schemas.microsoft.com/office/drawing/2014/main" id="{EACD30D4-76E9-9345-5C48-0B6617F153EA}"/>
              </a:ext>
            </a:extLst>
          </p:cNvPr>
          <p:cNvSpPr txBox="1"/>
          <p:nvPr/>
        </p:nvSpPr>
        <p:spPr>
          <a:xfrm>
            <a:off x="255320" y="6409569"/>
            <a:ext cx="6450280" cy="369332"/>
          </a:xfrm>
          <a:prstGeom prst="rect">
            <a:avLst/>
          </a:prstGeom>
          <a:noFill/>
        </p:spPr>
        <p:txBody>
          <a:bodyPr wrap="square">
            <a:spAutoFit/>
          </a:bodyPr>
          <a:lstStyle/>
          <a:p>
            <a:r>
              <a:rPr lang="en-JP" dirty="0"/>
              <a:t>https://practonet.com/command-and-control-c2-explained/</a:t>
            </a:r>
          </a:p>
        </p:txBody>
      </p:sp>
      <p:sp>
        <p:nvSpPr>
          <p:cNvPr id="19" name="Slide Number Placeholder 18">
            <a:extLst>
              <a:ext uri="{FF2B5EF4-FFF2-40B4-BE49-F238E27FC236}">
                <a16:creationId xmlns:a16="http://schemas.microsoft.com/office/drawing/2014/main" id="{C4499E1F-FED7-91A0-495F-C65B2203B2D7}"/>
              </a:ext>
            </a:extLst>
          </p:cNvPr>
          <p:cNvSpPr>
            <a:spLocks noGrp="1"/>
          </p:cNvSpPr>
          <p:nvPr>
            <p:ph type="sldNum" sz="quarter" idx="12"/>
          </p:nvPr>
        </p:nvSpPr>
        <p:spPr/>
        <p:txBody>
          <a:bodyPr/>
          <a:lstStyle/>
          <a:p>
            <a:fld id="{0B6BB8DA-DB46-D648-BE1D-FCDB55E9CBE3}" type="slidenum">
              <a:rPr lang="en-JP" smtClean="0"/>
              <a:t>12</a:t>
            </a:fld>
            <a:endParaRPr lang="en-JP"/>
          </a:p>
        </p:txBody>
      </p:sp>
    </p:spTree>
    <p:extLst>
      <p:ext uri="{BB962C8B-B14F-4D97-AF65-F5344CB8AC3E}">
        <p14:creationId xmlns:p14="http://schemas.microsoft.com/office/powerpoint/2010/main" val="2549407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98AB220-5890-803D-C403-C2ADE06A5127}"/>
              </a:ext>
            </a:extLst>
          </p:cNvPr>
          <p:cNvSpPr txBox="1"/>
          <p:nvPr/>
        </p:nvSpPr>
        <p:spPr>
          <a:xfrm>
            <a:off x="293914" y="392277"/>
            <a:ext cx="4572000" cy="369332"/>
          </a:xfrm>
          <a:prstGeom prst="rect">
            <a:avLst/>
          </a:prstGeom>
          <a:noFill/>
        </p:spPr>
        <p:txBody>
          <a:bodyPr wrap="square">
            <a:spAutoFit/>
          </a:bodyPr>
          <a:lstStyle/>
          <a:p>
            <a:pPr marL="285750" indent="-285750">
              <a:buFont typeface="Wingdings" pitchFamily="2" charset="2"/>
              <a:buChar char="Ø"/>
            </a:pPr>
            <a:r>
              <a:rPr lang="en-JP" b="1" dirty="0">
                <a:solidFill>
                  <a:srgbClr val="92D050"/>
                </a:solidFill>
                <a:latin typeface="Meiryo" panose="020B0604030504040204" pitchFamily="34" charset="-128"/>
                <a:ea typeface="Meiryo" panose="020B0604030504040204" pitchFamily="34" charset="-128"/>
              </a:rPr>
              <a:t>モリフォレンジック統合</a:t>
            </a:r>
            <a:r>
              <a:rPr lang="mn-MN" b="1" dirty="0">
                <a:solidFill>
                  <a:srgbClr val="92D050"/>
                </a:solidFill>
                <a:latin typeface="Meiryo" panose="020B0604030504040204" pitchFamily="34" charset="-128"/>
                <a:ea typeface="Meiryo" panose="020B0604030504040204" pitchFamily="34" charset="-128"/>
              </a:rPr>
              <a:t> 1</a:t>
            </a:r>
            <a:r>
              <a:rPr lang="en-US" b="1" dirty="0">
                <a:solidFill>
                  <a:srgbClr val="92D050"/>
                </a:solidFill>
                <a:latin typeface="Meiryo" panose="020B0604030504040204" pitchFamily="34" charset="-128"/>
                <a:ea typeface="Meiryo" panose="020B0604030504040204" pitchFamily="34" charset="-128"/>
              </a:rPr>
              <a:t>/2</a:t>
            </a:r>
            <a:endParaRPr lang="en-JP" b="1" dirty="0">
              <a:solidFill>
                <a:srgbClr val="92D05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DF8225DB-8C7E-F24B-D855-FB83310862E0}"/>
              </a:ext>
            </a:extLst>
          </p:cNvPr>
          <p:cNvSpPr txBox="1"/>
          <p:nvPr/>
        </p:nvSpPr>
        <p:spPr>
          <a:xfrm>
            <a:off x="522514" y="1060493"/>
            <a:ext cx="7391400" cy="923330"/>
          </a:xfrm>
          <a:prstGeom prst="rect">
            <a:avLst/>
          </a:prstGeom>
          <a:noFill/>
        </p:spPr>
        <p:txBody>
          <a:bodyPr wrap="square">
            <a:spAutoFit/>
          </a:bodyPr>
          <a:lstStyle/>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高度な攻撃や検知回避型マルウェアへの対応</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ファイルを作成しない攻撃（Fileless Malware）を検出</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メモリフォレンジックを解析に統合的に活用</a:t>
            </a:r>
          </a:p>
        </p:txBody>
      </p:sp>
      <p:sp>
        <p:nvSpPr>
          <p:cNvPr id="11" name="TextBox 10">
            <a:extLst>
              <a:ext uri="{FF2B5EF4-FFF2-40B4-BE49-F238E27FC236}">
                <a16:creationId xmlns:a16="http://schemas.microsoft.com/office/drawing/2014/main" id="{A83BC4F6-9E8C-CBE8-9954-541A1DBECE39}"/>
              </a:ext>
            </a:extLst>
          </p:cNvPr>
          <p:cNvSpPr txBox="1"/>
          <p:nvPr/>
        </p:nvSpPr>
        <p:spPr>
          <a:xfrm>
            <a:off x="381000" y="2362592"/>
            <a:ext cx="4572000" cy="369332"/>
          </a:xfrm>
          <a:prstGeom prst="rect">
            <a:avLst/>
          </a:prstGeom>
          <a:noFill/>
        </p:spPr>
        <p:txBody>
          <a:bodyPr wrap="square">
            <a:spAutoFit/>
          </a:bodyPr>
          <a:lstStyle/>
          <a:p>
            <a:r>
              <a:rPr lang="ja-JP" altLang="en-US"/>
              <a:t>メモリ解析ツールの活用</a:t>
            </a:r>
            <a:endParaRPr lang="en-JP" dirty="0"/>
          </a:p>
        </p:txBody>
      </p:sp>
      <p:sp>
        <p:nvSpPr>
          <p:cNvPr id="13" name="TextBox 12">
            <a:extLst>
              <a:ext uri="{FF2B5EF4-FFF2-40B4-BE49-F238E27FC236}">
                <a16:creationId xmlns:a16="http://schemas.microsoft.com/office/drawing/2014/main" id="{8F90FB7F-B83C-46CF-7572-363A11148364}"/>
              </a:ext>
            </a:extLst>
          </p:cNvPr>
          <p:cNvSpPr txBox="1"/>
          <p:nvPr/>
        </p:nvSpPr>
        <p:spPr>
          <a:xfrm>
            <a:off x="522514" y="2731924"/>
            <a:ext cx="4691743" cy="1815882"/>
          </a:xfrm>
          <a:prstGeom prst="rect">
            <a:avLst/>
          </a:prstGeom>
          <a:noFill/>
        </p:spPr>
        <p:txBody>
          <a:bodyPr wrap="square">
            <a:spAutoFit/>
          </a:bodyPr>
          <a:lstStyle/>
          <a:p>
            <a:r>
              <a:rPr lang="ja-JP" altLang="en-US" sz="1600">
                <a:latin typeface="Meiryo" panose="020B0604030504040204" pitchFamily="34" charset="-128"/>
                <a:ea typeface="Meiryo" panose="020B0604030504040204" pitchFamily="34" charset="-128"/>
              </a:rPr>
              <a:t>使用ツール</a:t>
            </a:r>
          </a:p>
          <a:p>
            <a:pPr>
              <a:buFont typeface="Arial" panose="020B0604020202020204" pitchFamily="34" charset="0"/>
              <a:buChar char="•"/>
            </a:pPr>
            <a:r>
              <a:rPr lang="en-US" sz="1600" dirty="0">
                <a:latin typeface="Meiryo" panose="020B0604030504040204" pitchFamily="34" charset="-128"/>
                <a:ea typeface="Meiryo" panose="020B0604030504040204" pitchFamily="34" charset="-128"/>
              </a:rPr>
              <a:t>Volatility</a:t>
            </a:r>
          </a:p>
          <a:p>
            <a:pPr>
              <a:buFont typeface="Arial" panose="020B0604020202020204" pitchFamily="34" charset="0"/>
              <a:buChar char="•"/>
            </a:pPr>
            <a:r>
              <a:rPr lang="en-US" sz="1600" dirty="0" err="1">
                <a:latin typeface="Meiryo" panose="020B0604030504040204" pitchFamily="34" charset="-128"/>
                <a:ea typeface="Meiryo" panose="020B0604030504040204" pitchFamily="34" charset="-128"/>
              </a:rPr>
              <a:t>Rekall</a:t>
            </a:r>
            <a:endParaRPr lang="en-US" sz="1600" dirty="0">
              <a:latin typeface="Meiryo" panose="020B0604030504040204" pitchFamily="34" charset="-128"/>
              <a:ea typeface="Meiryo" panose="020B0604030504040204" pitchFamily="34" charset="-128"/>
            </a:endParaRPr>
          </a:p>
          <a:p>
            <a:r>
              <a:rPr lang="en-US" sz="1600" dirty="0">
                <a:latin typeface="Meiryo" panose="020B0604030504040204" pitchFamily="34" charset="-128"/>
                <a:ea typeface="Meiryo" panose="020B0604030504040204" pitchFamily="34" charset="-128"/>
              </a:rPr>
              <a:t>■ </a:t>
            </a:r>
            <a:r>
              <a:rPr lang="ja-JP" altLang="en-US" sz="1600">
                <a:latin typeface="Meiryo" panose="020B0604030504040204" pitchFamily="34" charset="-128"/>
                <a:ea typeface="Meiryo" panose="020B0604030504040204" pitchFamily="34" charset="-128"/>
              </a:rPr>
              <a:t>解析対象</a:t>
            </a:r>
          </a:p>
          <a:p>
            <a:pP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エンドポイントのメモリイメージ</a:t>
            </a:r>
          </a:p>
          <a:p>
            <a:pP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ディスクに痕跡を残さないマルウェア</a:t>
            </a:r>
          </a:p>
          <a:p>
            <a:pPr>
              <a:buFont typeface="Arial" panose="020B0604020202020204" pitchFamily="34" charset="0"/>
              <a:buChar char="•"/>
            </a:pPr>
            <a:r>
              <a:rPr lang="en-US" sz="1600" dirty="0">
                <a:latin typeface="Meiryo" panose="020B0604030504040204" pitchFamily="34" charset="-128"/>
                <a:ea typeface="Meiryo" panose="020B0604030504040204" pitchFamily="34" charset="-128"/>
              </a:rPr>
              <a:t>Fileless Malware / </a:t>
            </a:r>
            <a:r>
              <a:rPr lang="ja-JP" altLang="en-US" sz="1600">
                <a:latin typeface="Meiryo" panose="020B0604030504040204" pitchFamily="34" charset="-128"/>
                <a:ea typeface="Meiryo" panose="020B0604030504040204" pitchFamily="34" charset="-128"/>
              </a:rPr>
              <a:t>ルートキット</a:t>
            </a:r>
          </a:p>
        </p:txBody>
      </p:sp>
      <p:sp>
        <p:nvSpPr>
          <p:cNvPr id="15" name="TextBox 14">
            <a:extLst>
              <a:ext uri="{FF2B5EF4-FFF2-40B4-BE49-F238E27FC236}">
                <a16:creationId xmlns:a16="http://schemas.microsoft.com/office/drawing/2014/main" id="{97586469-03FC-0C72-B7FD-F578EAEE268D}"/>
              </a:ext>
            </a:extLst>
          </p:cNvPr>
          <p:cNvSpPr txBox="1"/>
          <p:nvPr/>
        </p:nvSpPr>
        <p:spPr>
          <a:xfrm>
            <a:off x="4310743" y="4659478"/>
            <a:ext cx="4572000" cy="2062103"/>
          </a:xfrm>
          <a:prstGeom prst="rect">
            <a:avLst/>
          </a:prstGeom>
          <a:noFill/>
        </p:spPr>
        <p:txBody>
          <a:bodyPr wrap="square">
            <a:spAutoFit/>
          </a:bodyPr>
          <a:lstStyle/>
          <a:p>
            <a:r>
              <a:rPr lang="ja-JP" altLang="en-US" sz="1600">
                <a:latin typeface="Meiryo" panose="020B0604030504040204" pitchFamily="34" charset="-128"/>
                <a:ea typeface="Meiryo" panose="020B0604030504040204" pitchFamily="34" charset="-128"/>
              </a:rPr>
              <a:t>プロセスリスト分析</a:t>
            </a:r>
          </a:p>
          <a:p>
            <a:r>
              <a:rPr lang="ja-JP" altLang="en-US" sz="1600">
                <a:latin typeface="Meiryo" panose="020B0604030504040204" pitchFamily="34" charset="-128"/>
                <a:ea typeface="Meiryo" panose="020B0604030504040204" pitchFamily="34" charset="-128"/>
              </a:rPr>
              <a:t> 解析内容</a:t>
            </a:r>
          </a:p>
          <a:p>
            <a:pP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メモリ上のプロセス情報を解析</a:t>
            </a:r>
          </a:p>
          <a:p>
            <a:pPr>
              <a:buFont typeface="Arial" panose="020B0604020202020204" pitchFamily="34" charset="0"/>
              <a:buChar char="•"/>
            </a:pPr>
            <a:r>
              <a:rPr lang="en-US" sz="1600" dirty="0">
                <a:latin typeface="Meiryo" panose="020B0604030504040204" pitchFamily="34" charset="-128"/>
                <a:ea typeface="Meiryo" panose="020B0604030504040204" pitchFamily="34" charset="-128"/>
              </a:rPr>
              <a:t>OS</a:t>
            </a:r>
            <a:r>
              <a:rPr lang="ja-JP" altLang="en-US" sz="1600">
                <a:latin typeface="Meiryo" panose="020B0604030504040204" pitchFamily="34" charset="-128"/>
                <a:ea typeface="Meiryo" panose="020B0604030504040204" pitchFamily="34" charset="-128"/>
              </a:rPr>
              <a:t>標準のプロセス一覧に表示されない</a:t>
            </a:r>
            <a:br>
              <a:rPr lang="ja-JP" altLang="en-US" sz="1600">
                <a:latin typeface="Meiryo" panose="020B0604030504040204" pitchFamily="34" charset="-128"/>
                <a:ea typeface="Meiryo" panose="020B0604030504040204" pitchFamily="34" charset="-128"/>
              </a:rPr>
            </a:br>
            <a:r>
              <a:rPr lang="ja-JP" altLang="en-US" sz="1600">
                <a:latin typeface="Meiryo" panose="020B0604030504040204" pitchFamily="34" charset="-128"/>
                <a:ea typeface="Meiryo" panose="020B0604030504040204" pitchFamily="34" charset="-128"/>
              </a:rPr>
              <a:t>隠蔽プロセスの検出</a:t>
            </a:r>
          </a:p>
          <a:p>
            <a:r>
              <a:rPr lang="ja-JP" altLang="en-US" sz="1600">
                <a:latin typeface="Meiryo" panose="020B0604030504040204" pitchFamily="34" charset="-128"/>
                <a:ea typeface="Meiryo" panose="020B0604030504040204" pitchFamily="34" charset="-128"/>
              </a:rPr>
              <a:t>不正挙動の識別</a:t>
            </a:r>
          </a:p>
          <a:p>
            <a:pP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正規プロセスへの </a:t>
            </a:r>
            <a:r>
              <a:rPr lang="en-US" sz="1600" dirty="0">
                <a:latin typeface="Meiryo" panose="020B0604030504040204" pitchFamily="34" charset="-128"/>
                <a:ea typeface="Meiryo" panose="020B0604030504040204" pitchFamily="34" charset="-128"/>
              </a:rPr>
              <a:t>DLL </a:t>
            </a:r>
            <a:r>
              <a:rPr lang="ja-JP" altLang="en-US" sz="1600">
                <a:latin typeface="Meiryo" panose="020B0604030504040204" pitchFamily="34" charset="-128"/>
                <a:ea typeface="Meiryo" panose="020B0604030504040204" pitchFamily="34" charset="-128"/>
              </a:rPr>
              <a:t>インジェクション</a:t>
            </a:r>
          </a:p>
          <a:p>
            <a:pP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プロセス乗っ取りによる不正コード実行</a:t>
            </a:r>
          </a:p>
        </p:txBody>
      </p:sp>
      <p:sp>
        <p:nvSpPr>
          <p:cNvPr id="16" name="正方形/長方形 9">
            <a:extLst>
              <a:ext uri="{FF2B5EF4-FFF2-40B4-BE49-F238E27FC236}">
                <a16:creationId xmlns:a16="http://schemas.microsoft.com/office/drawing/2014/main" id="{D302C9D5-DFEB-27C3-808A-EAC05296F2E5}"/>
              </a:ext>
            </a:extLst>
          </p:cNvPr>
          <p:cNvSpPr/>
          <p:nvPr/>
        </p:nvSpPr>
        <p:spPr>
          <a:xfrm>
            <a:off x="293914" y="2367807"/>
            <a:ext cx="4664529" cy="2095335"/>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7" name="正方形/長方形 9">
            <a:extLst>
              <a:ext uri="{FF2B5EF4-FFF2-40B4-BE49-F238E27FC236}">
                <a16:creationId xmlns:a16="http://schemas.microsoft.com/office/drawing/2014/main" id="{BF03A984-8BE3-217B-AC4A-101B56C6FFFF}"/>
              </a:ext>
            </a:extLst>
          </p:cNvPr>
          <p:cNvSpPr/>
          <p:nvPr/>
        </p:nvSpPr>
        <p:spPr>
          <a:xfrm>
            <a:off x="3667991" y="4553021"/>
            <a:ext cx="4664529" cy="2168559"/>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8" name="Slide Number Placeholder 17">
            <a:extLst>
              <a:ext uri="{FF2B5EF4-FFF2-40B4-BE49-F238E27FC236}">
                <a16:creationId xmlns:a16="http://schemas.microsoft.com/office/drawing/2014/main" id="{E29BCE96-42AA-6627-FE06-CAC993D7E571}"/>
              </a:ext>
            </a:extLst>
          </p:cNvPr>
          <p:cNvSpPr>
            <a:spLocks noGrp="1"/>
          </p:cNvSpPr>
          <p:nvPr>
            <p:ph type="sldNum" sz="quarter" idx="12"/>
          </p:nvPr>
        </p:nvSpPr>
        <p:spPr/>
        <p:txBody>
          <a:bodyPr/>
          <a:lstStyle/>
          <a:p>
            <a:fld id="{0B6BB8DA-DB46-D648-BE1D-FCDB55E9CBE3}" type="slidenum">
              <a:rPr lang="en-JP" smtClean="0"/>
              <a:t>13</a:t>
            </a:fld>
            <a:endParaRPr lang="en-JP"/>
          </a:p>
        </p:txBody>
      </p:sp>
    </p:spTree>
    <p:extLst>
      <p:ext uri="{BB962C8B-B14F-4D97-AF65-F5344CB8AC3E}">
        <p14:creationId xmlns:p14="http://schemas.microsoft.com/office/powerpoint/2010/main" val="2745649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1197D17-3658-DD21-A8F5-2F41ADAAA192}"/>
              </a:ext>
            </a:extLst>
          </p:cNvPr>
          <p:cNvSpPr txBox="1"/>
          <p:nvPr/>
        </p:nvSpPr>
        <p:spPr>
          <a:xfrm>
            <a:off x="664027" y="1029874"/>
            <a:ext cx="5083629" cy="2862322"/>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ネットワーク接続の解析</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 解析目的</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メモリ内のネットワーク情報を解析</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通常ツールでは確認できない通信を検出</a:t>
            </a:r>
          </a:p>
          <a:p>
            <a:r>
              <a:rPr lang="en-JP" dirty="0">
                <a:latin typeface="Meiryo" panose="020B0604030504040204" pitchFamily="34" charset="-128"/>
                <a:ea typeface="Meiryo" panose="020B0604030504040204" pitchFamily="34" charset="-128"/>
              </a:rPr>
              <a:t>検出対象</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隠蔽されたソケット</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不正な通信セッション</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ルートキットによる通信隠蔽</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C2 サーバとの不正通信の痕跡</a:t>
            </a:r>
          </a:p>
        </p:txBody>
      </p:sp>
      <p:sp>
        <p:nvSpPr>
          <p:cNvPr id="7" name="TextBox 6">
            <a:extLst>
              <a:ext uri="{FF2B5EF4-FFF2-40B4-BE49-F238E27FC236}">
                <a16:creationId xmlns:a16="http://schemas.microsoft.com/office/drawing/2014/main" id="{9F99E0E3-74D9-97FD-7747-74AF487F0277}"/>
              </a:ext>
            </a:extLst>
          </p:cNvPr>
          <p:cNvSpPr txBox="1"/>
          <p:nvPr/>
        </p:nvSpPr>
        <p:spPr>
          <a:xfrm>
            <a:off x="293914" y="228991"/>
            <a:ext cx="4572000" cy="369332"/>
          </a:xfrm>
          <a:prstGeom prst="rect">
            <a:avLst/>
          </a:prstGeom>
          <a:noFill/>
        </p:spPr>
        <p:txBody>
          <a:bodyPr wrap="square">
            <a:spAutoFit/>
          </a:bodyPr>
          <a:lstStyle/>
          <a:p>
            <a:pPr marL="285750" indent="-285750">
              <a:buFont typeface="Wingdings" pitchFamily="2" charset="2"/>
              <a:buChar char="Ø"/>
            </a:pPr>
            <a:r>
              <a:rPr lang="en-JP" b="1" dirty="0">
                <a:solidFill>
                  <a:srgbClr val="92D050"/>
                </a:solidFill>
                <a:latin typeface="Meiryo" panose="020B0604030504040204" pitchFamily="34" charset="-128"/>
                <a:ea typeface="Meiryo" panose="020B0604030504040204" pitchFamily="34" charset="-128"/>
              </a:rPr>
              <a:t>モリフォレンジック統合</a:t>
            </a:r>
            <a:r>
              <a:rPr lang="mn-MN" b="1" dirty="0">
                <a:solidFill>
                  <a:srgbClr val="92D050"/>
                </a:solidFill>
                <a:latin typeface="Meiryo" panose="020B0604030504040204" pitchFamily="34" charset="-128"/>
                <a:ea typeface="Meiryo" panose="020B0604030504040204" pitchFamily="34" charset="-128"/>
              </a:rPr>
              <a:t> </a:t>
            </a:r>
            <a:r>
              <a:rPr lang="en-US" b="1" dirty="0">
                <a:solidFill>
                  <a:srgbClr val="92D050"/>
                </a:solidFill>
                <a:latin typeface="Meiryo" panose="020B0604030504040204" pitchFamily="34" charset="-128"/>
                <a:ea typeface="Meiryo" panose="020B0604030504040204" pitchFamily="34" charset="-128"/>
              </a:rPr>
              <a:t>2/2</a:t>
            </a:r>
            <a:endParaRPr lang="en-JP" b="1" dirty="0">
              <a:solidFill>
                <a:srgbClr val="92D05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E03507F-45FB-94DF-A1D1-0A18A12435AD}"/>
              </a:ext>
            </a:extLst>
          </p:cNvPr>
          <p:cNvSpPr txBox="1"/>
          <p:nvPr/>
        </p:nvSpPr>
        <p:spPr>
          <a:xfrm>
            <a:off x="4572000" y="4003205"/>
            <a:ext cx="4572000" cy="2308324"/>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抽出コードの解析</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 解析内容</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難読化解除</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逆解析（リバースエンジニアリング）</a:t>
            </a:r>
          </a:p>
          <a:p>
            <a:r>
              <a:rPr lang="en-JP" dirty="0">
                <a:latin typeface="Meiryo" panose="020B0604030504040204" pitchFamily="34" charset="-128"/>
                <a:ea typeface="Meiryo" panose="020B0604030504040204" pitchFamily="34" charset="-128"/>
              </a:rPr>
              <a:t> 目的</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マルウェアの機能解析</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攻撃の目的・挙動の特定</a:t>
            </a:r>
          </a:p>
        </p:txBody>
      </p:sp>
      <p:sp>
        <p:nvSpPr>
          <p:cNvPr id="10" name="正方形/長方形 9">
            <a:extLst>
              <a:ext uri="{FF2B5EF4-FFF2-40B4-BE49-F238E27FC236}">
                <a16:creationId xmlns:a16="http://schemas.microsoft.com/office/drawing/2014/main" id="{DC861DCE-2ACD-AC4E-17A0-DD303AC6ED65}"/>
              </a:ext>
            </a:extLst>
          </p:cNvPr>
          <p:cNvSpPr/>
          <p:nvPr/>
        </p:nvSpPr>
        <p:spPr>
          <a:xfrm>
            <a:off x="664027" y="1487108"/>
            <a:ext cx="4664529" cy="2405087"/>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1" name="正方形/長方形 9">
            <a:extLst>
              <a:ext uri="{FF2B5EF4-FFF2-40B4-BE49-F238E27FC236}">
                <a16:creationId xmlns:a16="http://schemas.microsoft.com/office/drawing/2014/main" id="{D4242D9E-DCD3-CF8B-E179-E005451B34E5}"/>
              </a:ext>
            </a:extLst>
          </p:cNvPr>
          <p:cNvSpPr/>
          <p:nvPr/>
        </p:nvSpPr>
        <p:spPr>
          <a:xfrm>
            <a:off x="4125191" y="4003204"/>
            <a:ext cx="4664529" cy="2419334"/>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2" name="Slide Number Placeholder 11">
            <a:extLst>
              <a:ext uri="{FF2B5EF4-FFF2-40B4-BE49-F238E27FC236}">
                <a16:creationId xmlns:a16="http://schemas.microsoft.com/office/drawing/2014/main" id="{5D644635-7E55-B805-4BD9-3AC560ACBE3B}"/>
              </a:ext>
            </a:extLst>
          </p:cNvPr>
          <p:cNvSpPr>
            <a:spLocks noGrp="1"/>
          </p:cNvSpPr>
          <p:nvPr>
            <p:ph type="sldNum" sz="quarter" idx="12"/>
          </p:nvPr>
        </p:nvSpPr>
        <p:spPr/>
        <p:txBody>
          <a:bodyPr/>
          <a:lstStyle/>
          <a:p>
            <a:fld id="{0B6BB8DA-DB46-D648-BE1D-FCDB55E9CBE3}" type="slidenum">
              <a:rPr lang="en-JP" smtClean="0"/>
              <a:t>14</a:t>
            </a:fld>
            <a:endParaRPr lang="en-JP"/>
          </a:p>
        </p:txBody>
      </p:sp>
    </p:spTree>
    <p:extLst>
      <p:ext uri="{BB962C8B-B14F-4D97-AF65-F5344CB8AC3E}">
        <p14:creationId xmlns:p14="http://schemas.microsoft.com/office/powerpoint/2010/main" val="1009856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F0B3EF9-226F-1369-14B8-9644DE8CDC07}"/>
              </a:ext>
            </a:extLst>
          </p:cNvPr>
          <p:cNvSpPr txBox="1"/>
          <p:nvPr/>
        </p:nvSpPr>
        <p:spPr>
          <a:xfrm>
            <a:off x="185056" y="245906"/>
            <a:ext cx="8305801" cy="923330"/>
          </a:xfrm>
          <a:prstGeom prst="rect">
            <a:avLst/>
          </a:prstGeom>
          <a:noFill/>
        </p:spPr>
        <p:txBody>
          <a:bodyPr wrap="square">
            <a:spAutoFit/>
          </a:bodyPr>
          <a:lstStyle/>
          <a:p>
            <a:pPr marL="285750" indent="-285750">
              <a:buFont typeface="Wingdings" pitchFamily="2" charset="2"/>
              <a:buChar char="Ø"/>
            </a:pPr>
            <a:r>
              <a:rPr lang="en-US"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Phase 3: </a:t>
            </a:r>
            <a:r>
              <a:rPr lang="ja-JP" sz="1800"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インシデント対応・フォレンジック</a:t>
            </a:r>
            <a:r>
              <a:rPr lang="en-US" altLang="ja-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a:t>
            </a:r>
          </a:p>
          <a:p>
            <a:r>
              <a:rPr lang="en-US" altLang="ja-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Incident Response and Forensics</a:t>
            </a:r>
            <a:r>
              <a:rPr lang="mn-MN" altLang="ja-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a:t>
            </a:r>
            <a:r>
              <a:rPr lang="en-US" altLang="ja-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1</a:t>
            </a:r>
            <a:r>
              <a:rPr lang="en-US" altLang="ja-JP" kern="100" dirty="0">
                <a:solidFill>
                  <a:srgbClr val="92D050"/>
                </a:solidFill>
                <a:latin typeface="Meiryo" panose="020B0604030504040204" pitchFamily="34" charset="-128"/>
                <a:ea typeface="Meiryo" panose="020B0604030504040204" pitchFamily="34" charset="-128"/>
                <a:cs typeface="Times New Roman" panose="02020603050405020304" pitchFamily="18" charset="0"/>
              </a:rPr>
              <a:t>/2</a:t>
            </a:r>
            <a:endParaRPr lang="en-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a:p>
            <a:r>
              <a:rPr lang="en-US"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a:t>
            </a:r>
            <a:endParaRPr lang="en-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34295BA2-1FD7-5CD5-9946-6377F26054E9}"/>
              </a:ext>
            </a:extLst>
          </p:cNvPr>
          <p:cNvSpPr txBox="1"/>
          <p:nvPr/>
        </p:nvSpPr>
        <p:spPr>
          <a:xfrm>
            <a:off x="424542" y="945607"/>
            <a:ext cx="8534401"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モデルでは、インシデント発生時の対応を迅速かつ体系的に行うため、検知から事後分析までを 4 つのフェーズに分けて対応.</a:t>
            </a:r>
          </a:p>
        </p:txBody>
      </p:sp>
      <p:sp>
        <p:nvSpPr>
          <p:cNvPr id="9" name="AutoShape 3">
            <a:extLst>
              <a:ext uri="{FF2B5EF4-FFF2-40B4-BE49-F238E27FC236}">
                <a16:creationId xmlns:a16="http://schemas.microsoft.com/office/drawing/2014/main" id="{C07DC111-F5F3-96A3-739C-C5A7B8FCE192}"/>
              </a:ext>
            </a:extLst>
          </p:cNvPr>
          <p:cNvSpPr>
            <a:spLocks noChangeArrowheads="1"/>
          </p:cNvSpPr>
          <p:nvPr/>
        </p:nvSpPr>
        <p:spPr bwMode="auto">
          <a:xfrm>
            <a:off x="566057" y="1626517"/>
            <a:ext cx="7641772" cy="1998426"/>
          </a:xfrm>
          <a:prstGeom prst="roundRect">
            <a:avLst>
              <a:gd name="adj" fmla="val 16667"/>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インシデント検知</a:t>
            </a:r>
          </a:p>
          <a:p>
            <a:pPr marL="0" marR="0" lvl="0" indent="0" algn="just"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まず、インシデント検知の段階です。</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EDR、IDS/IPS、SIEM、</a:t>
            </a: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ログ監視などのセキュリティ機構により、不審な挙動や攻撃の兆候を検知します。</a:t>
            </a:r>
          </a:p>
          <a:p>
            <a:pPr marL="0" marR="0" lvl="0" indent="0" algn="just"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ここでは「異常の兆候を見逃さないこと」が最も重要です。</a:t>
            </a:r>
            <a:endParaRPr kumimoji="0" lang="en-US" altLang="en-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endParaRPr>
          </a:p>
        </p:txBody>
      </p:sp>
      <p:sp>
        <p:nvSpPr>
          <p:cNvPr id="11" name="AutoShape 2">
            <a:extLst>
              <a:ext uri="{FF2B5EF4-FFF2-40B4-BE49-F238E27FC236}">
                <a16:creationId xmlns:a16="http://schemas.microsoft.com/office/drawing/2014/main" id="{94633E75-82D0-6D2B-3AF9-1F929A4E91C8}"/>
              </a:ext>
            </a:extLst>
          </p:cNvPr>
          <p:cNvSpPr>
            <a:spLocks noChangeArrowheads="1"/>
          </p:cNvSpPr>
          <p:nvPr/>
        </p:nvSpPr>
        <p:spPr bwMode="auto">
          <a:xfrm>
            <a:off x="566057" y="4350595"/>
            <a:ext cx="7641772" cy="2167193"/>
          </a:xfrm>
          <a:prstGeom prst="roundRect">
            <a:avLst>
              <a:gd name="adj" fmla="val 16667"/>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JP" sz="1600" b="1" i="0" u="none" strike="noStrike" cap="none" normalizeH="0" baseline="0" dirty="0">
                <a:ln>
                  <a:noFill/>
                </a:ln>
                <a:solidFill>
                  <a:srgbClr val="92D050"/>
                </a:solidFill>
                <a:effectLst/>
                <a:latin typeface="Meiryo" panose="020B0604030504040204" pitchFamily="34" charset="-128"/>
                <a:ea typeface="Meiryo" panose="020B0604030504040204" pitchFamily="34" charset="-128"/>
              </a:rPr>
              <a:t>Step 1</a:t>
            </a:r>
            <a:r>
              <a:rPr kumimoji="0" lang="en-US" altLang="en-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rPr>
              <a:t>：</a:t>
            </a: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初期トリアージ</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次に、初期トリアージを行います。</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この段階では、迅速な状況把握と判断が求められます。</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具体的には、</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どのシステムや端末が影響を受けているのかという影響範囲の特定</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rPr>
              <a:t>IP</a:t>
            </a: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アドレスやハッシュ値などの侵害指標（</a:t>
            </a:r>
            <a:r>
              <a:rPr kumimoji="0" lang="en-US" altLang="en-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rPr>
              <a:t>IoC）</a:t>
            </a: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の抽出</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早急に通信遮断や隔離を行うべきかという初期封じ込めの判断を実施します。</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被害拡大を防ぐための、非常に重要なフェーズです。</a:t>
            </a:r>
            <a:endParaRPr kumimoji="0" lang="en-US" altLang="en-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endParaRPr>
          </a:p>
        </p:txBody>
      </p:sp>
      <p:sp>
        <p:nvSpPr>
          <p:cNvPr id="14" name="Rectangle 7">
            <a:extLst>
              <a:ext uri="{FF2B5EF4-FFF2-40B4-BE49-F238E27FC236}">
                <a16:creationId xmlns:a16="http://schemas.microsoft.com/office/drawing/2014/main" id="{250D8C9F-3B43-D0AB-1F16-E8A076B6BD50}"/>
              </a:ext>
            </a:extLst>
          </p:cNvPr>
          <p:cNvSpPr>
            <a:spLocks noChangeArrowheads="1"/>
          </p:cNvSpPr>
          <p:nvPr/>
        </p:nvSpPr>
        <p:spPr bwMode="auto">
          <a:xfrm>
            <a:off x="696686" y="186893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JP"/>
          </a:p>
        </p:txBody>
      </p:sp>
      <p:sp>
        <p:nvSpPr>
          <p:cNvPr id="15" name="Rectangle 9">
            <a:extLst>
              <a:ext uri="{FF2B5EF4-FFF2-40B4-BE49-F238E27FC236}">
                <a16:creationId xmlns:a16="http://schemas.microsoft.com/office/drawing/2014/main" id="{C6A9BF5D-3C23-A7A0-B835-31C52655297B}"/>
              </a:ext>
            </a:extLst>
          </p:cNvPr>
          <p:cNvSpPr>
            <a:spLocks noChangeArrowheads="1"/>
          </p:cNvSpPr>
          <p:nvPr/>
        </p:nvSpPr>
        <p:spPr bwMode="auto">
          <a:xfrm>
            <a:off x="696686" y="23261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JP" altLang="en-JP"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JP" altLang="en-JP" sz="1800" b="0" i="0" u="none" strike="noStrike" cap="none" normalizeH="0" baseline="0">
                <a:ln>
                  <a:noFill/>
                </a:ln>
                <a:solidFill>
                  <a:schemeClr val="tx1"/>
                </a:solidFill>
                <a:effectLst/>
                <a:latin typeface="Arial" panose="020B0604020202020204" pitchFamily="34" charset="0"/>
              </a:rPr>
            </a:br>
            <a:endParaRPr kumimoji="0" lang="en-JP" altLang="en-JP"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JP" altLang="en-JP" sz="1800" b="0" i="0" u="none" strike="noStrike" cap="none" normalizeH="0" baseline="0">
              <a:ln>
                <a:noFill/>
              </a:ln>
              <a:solidFill>
                <a:schemeClr val="tx1"/>
              </a:solidFill>
              <a:effectLst/>
              <a:latin typeface="Arial" panose="020B0604020202020204" pitchFamily="34" charset="0"/>
            </a:endParaRPr>
          </a:p>
        </p:txBody>
      </p:sp>
      <p:sp>
        <p:nvSpPr>
          <p:cNvPr id="16" name="Rectangle 11">
            <a:extLst>
              <a:ext uri="{FF2B5EF4-FFF2-40B4-BE49-F238E27FC236}">
                <a16:creationId xmlns:a16="http://schemas.microsoft.com/office/drawing/2014/main" id="{15D3A663-612A-DFE3-69F1-BC660519BDF3}"/>
              </a:ext>
            </a:extLst>
          </p:cNvPr>
          <p:cNvSpPr>
            <a:spLocks noChangeArrowheads="1"/>
          </p:cNvSpPr>
          <p:nvPr/>
        </p:nvSpPr>
        <p:spPr bwMode="auto">
          <a:xfrm>
            <a:off x="696686" y="23261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JP" altLang="en-JP" sz="1200" b="0" i="0" u="none" strike="noStrike" cap="none" normalizeH="0" baseline="0">
              <a:ln>
                <a:noFill/>
              </a:ln>
              <a:solidFill>
                <a:srgbClr val="000000"/>
              </a:solidFill>
              <a:effectLst/>
              <a:latin typeface="Calibri" panose="020F0502020204030204" pitchFamily="34" charset="0"/>
              <a:ea typeface="Yu Mincho" panose="02020400000000000000" pitchFamily="18" charset="-128"/>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JP" altLang="en-JP" sz="1200" b="0" i="0" u="none" strike="noStrike" cap="none" normalizeH="0" baseline="0">
                <a:ln>
                  <a:noFill/>
                </a:ln>
                <a:solidFill>
                  <a:srgbClr val="000000"/>
                </a:solidFill>
                <a:effectLst/>
                <a:latin typeface="Calibri" panose="020F0502020204030204" pitchFamily="34" charset="0"/>
                <a:ea typeface="Yu Mincho" panose="02020400000000000000" pitchFamily="18" charset="-128"/>
                <a:cs typeface="Times New Roman" panose="02020603050405020304" pitchFamily="18" charset="0"/>
              </a:rPr>
              <a:t>        </a:t>
            </a:r>
            <a:endParaRPr kumimoji="0" lang="en-JP" altLang="en-JP"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JP" altLang="en-JP" sz="1800" b="0" i="0" u="none" strike="noStrike" cap="none" normalizeH="0" baseline="0">
              <a:ln>
                <a:noFill/>
              </a:ln>
              <a:solidFill>
                <a:schemeClr val="tx1"/>
              </a:solidFill>
              <a:effectLst/>
              <a:latin typeface="Arial" panose="020B0604020202020204" pitchFamily="34" charset="0"/>
            </a:endParaRPr>
          </a:p>
        </p:txBody>
      </p:sp>
      <p:sp>
        <p:nvSpPr>
          <p:cNvPr id="17" name="Rectangle 13">
            <a:extLst>
              <a:ext uri="{FF2B5EF4-FFF2-40B4-BE49-F238E27FC236}">
                <a16:creationId xmlns:a16="http://schemas.microsoft.com/office/drawing/2014/main" id="{B07D4E4F-1C58-F23F-F71F-A3E2B15DD578}"/>
              </a:ext>
            </a:extLst>
          </p:cNvPr>
          <p:cNvSpPr>
            <a:spLocks noChangeArrowheads="1"/>
          </p:cNvSpPr>
          <p:nvPr/>
        </p:nvSpPr>
        <p:spPr bwMode="auto">
          <a:xfrm>
            <a:off x="696686" y="23261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JP" altLang="en-JP"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JP" altLang="en-JP" sz="1800" b="0" i="0" u="none" strike="noStrike" cap="none" normalizeH="0" baseline="0">
                <a:ln>
                  <a:noFill/>
                </a:ln>
                <a:solidFill>
                  <a:schemeClr val="tx1"/>
                </a:solidFill>
                <a:effectLst/>
                <a:latin typeface="Arial" panose="020B0604020202020204" pitchFamily="34" charset="0"/>
              </a:rPr>
            </a:br>
            <a:endParaRPr kumimoji="0" lang="en-JP" altLang="en-JP"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JP" altLang="en-JP" sz="1200" b="0" i="0" u="none" strike="noStrike" cap="none" normalizeH="0" baseline="0">
                <a:ln>
                  <a:noFill/>
                </a:ln>
                <a:solidFill>
                  <a:srgbClr val="000000"/>
                </a:solidFill>
                <a:effectLst/>
                <a:latin typeface="Calibri" panose="020F0502020204030204" pitchFamily="34" charset="0"/>
                <a:ea typeface="Yu Mincho" panose="02020400000000000000" pitchFamily="18" charset="-128"/>
                <a:cs typeface="Times New Roman" panose="02020603050405020304" pitchFamily="18" charset="0"/>
              </a:rPr>
              <a:t>   </a:t>
            </a:r>
            <a:endParaRPr kumimoji="0" lang="en-JP" altLang="en-JP"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JP" altLang="en-JP" sz="1800" b="0" i="0" u="none" strike="noStrike" cap="none" normalizeH="0" baseline="0">
              <a:ln>
                <a:noFill/>
              </a:ln>
              <a:solidFill>
                <a:schemeClr val="tx1"/>
              </a:solidFill>
              <a:effectLst/>
              <a:latin typeface="Arial" panose="020B0604020202020204" pitchFamily="34" charset="0"/>
            </a:endParaRPr>
          </a:p>
        </p:txBody>
      </p:sp>
      <p:sp>
        <p:nvSpPr>
          <p:cNvPr id="18" name="Rectangle 16">
            <a:extLst>
              <a:ext uri="{FF2B5EF4-FFF2-40B4-BE49-F238E27FC236}">
                <a16:creationId xmlns:a16="http://schemas.microsoft.com/office/drawing/2014/main" id="{D92348E1-66FA-DF45-E856-5A537C6D5377}"/>
              </a:ext>
            </a:extLst>
          </p:cNvPr>
          <p:cNvSpPr>
            <a:spLocks noChangeArrowheads="1"/>
          </p:cNvSpPr>
          <p:nvPr/>
        </p:nvSpPr>
        <p:spPr bwMode="auto">
          <a:xfrm>
            <a:off x="696686" y="23261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JP"/>
          </a:p>
        </p:txBody>
      </p:sp>
      <p:sp>
        <p:nvSpPr>
          <p:cNvPr id="23" name="Down Arrow 22">
            <a:extLst>
              <a:ext uri="{FF2B5EF4-FFF2-40B4-BE49-F238E27FC236}">
                <a16:creationId xmlns:a16="http://schemas.microsoft.com/office/drawing/2014/main" id="{1F55D427-ACCB-98CF-B421-7E844551DD52}"/>
              </a:ext>
            </a:extLst>
          </p:cNvPr>
          <p:cNvSpPr/>
          <p:nvPr/>
        </p:nvSpPr>
        <p:spPr>
          <a:xfrm>
            <a:off x="3282042" y="3817232"/>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4" name="Slide Number Placeholder 23">
            <a:extLst>
              <a:ext uri="{FF2B5EF4-FFF2-40B4-BE49-F238E27FC236}">
                <a16:creationId xmlns:a16="http://schemas.microsoft.com/office/drawing/2014/main" id="{30BCAB92-ABCB-50DF-707A-9E2421CF510F}"/>
              </a:ext>
            </a:extLst>
          </p:cNvPr>
          <p:cNvSpPr>
            <a:spLocks noGrp="1"/>
          </p:cNvSpPr>
          <p:nvPr>
            <p:ph type="sldNum" sz="quarter" idx="12"/>
          </p:nvPr>
        </p:nvSpPr>
        <p:spPr/>
        <p:txBody>
          <a:bodyPr/>
          <a:lstStyle/>
          <a:p>
            <a:fld id="{0B6BB8DA-DB46-D648-BE1D-FCDB55E9CBE3}" type="slidenum">
              <a:rPr lang="en-JP" smtClean="0"/>
              <a:t>15</a:t>
            </a:fld>
            <a:endParaRPr lang="en-JP"/>
          </a:p>
        </p:txBody>
      </p:sp>
    </p:spTree>
    <p:extLst>
      <p:ext uri="{BB962C8B-B14F-4D97-AF65-F5344CB8AC3E}">
        <p14:creationId xmlns:p14="http://schemas.microsoft.com/office/powerpoint/2010/main" val="3856299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3">
            <a:extLst>
              <a:ext uri="{FF2B5EF4-FFF2-40B4-BE49-F238E27FC236}">
                <a16:creationId xmlns:a16="http://schemas.microsoft.com/office/drawing/2014/main" id="{E19F863E-ACEA-B6D8-5E65-456E07A20E29}"/>
              </a:ext>
            </a:extLst>
          </p:cNvPr>
          <p:cNvSpPr>
            <a:spLocks noChangeArrowheads="1"/>
          </p:cNvSpPr>
          <p:nvPr/>
        </p:nvSpPr>
        <p:spPr bwMode="auto">
          <a:xfrm>
            <a:off x="424543" y="935743"/>
            <a:ext cx="7641772" cy="2383972"/>
          </a:xfrm>
          <a:prstGeom prst="roundRect">
            <a:avLst>
              <a:gd name="adj" fmla="val 16667"/>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ja-JP" sz="1600" b="0" i="0" u="none" strike="noStrike" cap="none" normalizeH="0" baseline="0" dirty="0">
                <a:ln>
                  <a:noFill/>
                </a:ln>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Step 2</a:t>
            </a:r>
            <a:r>
              <a:rPr kumimoji="0" lang="ja-JP" altLang="en-US" sz="1600" b="0" i="0" u="none" strike="noStrike" cap="none" normalizeH="0" baseline="0">
                <a:ln>
                  <a:noFill/>
                </a:ln>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：詳細解析</a:t>
            </a:r>
          </a:p>
          <a:p>
            <a:pPr marR="0" lvl="0" algn="just" defTabSz="914400" rtl="0" eaLnBrk="0" fontAlgn="base" latinLnBrk="0" hangingPunct="0">
              <a:lnSpc>
                <a:spcPct val="100000"/>
              </a:lnSpc>
              <a:spcBef>
                <a:spcPct val="0"/>
              </a:spcBef>
              <a:spcAft>
                <a:spcPct val="0"/>
              </a:spcAft>
              <a:buClrTx/>
              <a:buSzTx/>
              <a:tabLst/>
            </a:pPr>
            <a:r>
              <a:rPr kumimoji="0" lang="ja-JP" altLang="en-US" sz="1600" b="0" i="0" u="none" strike="noStrike" cap="none" normalizeH="0" baseline="0">
                <a:ln>
                  <a:noFill/>
                </a:ln>
                <a:effectLst/>
                <a:latin typeface="Meiryo" panose="020B0604030504040204" pitchFamily="34" charset="-128"/>
                <a:ea typeface="Meiryo" panose="020B0604030504040204" pitchFamily="34" charset="-128"/>
                <a:cs typeface="Times New Roman" panose="02020603050405020304" pitchFamily="18" charset="0"/>
              </a:rPr>
              <a:t>続いて、詳細解析の段階に移ります。ここではインシデントの原因や攻撃手法を深く分析します。</a:t>
            </a:r>
          </a:p>
          <a:p>
            <a:pPr marL="285750" marR="0" lvl="0" indent="-285750" algn="just" defTabSz="914400" rtl="0" eaLnBrk="0" fontAlgn="base" latinLnBrk="0" hangingPunct="0">
              <a:lnSpc>
                <a:spcPct val="100000"/>
              </a:lnSpc>
              <a:spcBef>
                <a:spcPct val="0"/>
              </a:spcBef>
              <a:spcAft>
                <a:spcPct val="0"/>
              </a:spcAft>
              <a:buClrTx/>
              <a:buSzTx/>
              <a:buFont typeface="Wingdings" pitchFamily="2" charset="2"/>
              <a:buChar char="§"/>
              <a:tabLst/>
            </a:pPr>
            <a:r>
              <a:rPr kumimoji="0" lang="ja-JP" altLang="en-US" sz="1600" b="0" i="0" u="none" strike="noStrike" cap="none" normalizeH="0" baseline="0">
                <a:ln>
                  <a:noFill/>
                </a:ln>
                <a:effectLst/>
                <a:latin typeface="Meiryo" panose="020B0604030504040204" pitchFamily="34" charset="-128"/>
                <a:ea typeface="Meiryo" panose="020B0604030504040204" pitchFamily="34" charset="-128"/>
                <a:cs typeface="Times New Roman" panose="02020603050405020304" pitchFamily="18" charset="0"/>
              </a:rPr>
              <a:t>複数の分析作業を並列実行</a:t>
            </a:r>
          </a:p>
          <a:p>
            <a:pPr marL="285750" marR="0" lvl="0" indent="-285750" algn="just" defTabSz="914400" rtl="0" eaLnBrk="0" fontAlgn="base" latinLnBrk="0" hangingPunct="0">
              <a:lnSpc>
                <a:spcPct val="100000"/>
              </a:lnSpc>
              <a:spcBef>
                <a:spcPct val="0"/>
              </a:spcBef>
              <a:spcAft>
                <a:spcPct val="0"/>
              </a:spcAft>
              <a:buClrTx/>
              <a:buSzTx/>
              <a:buFont typeface="Wingdings" pitchFamily="2" charset="2"/>
              <a:buChar char="§"/>
              <a:tabLst/>
            </a:pPr>
            <a:r>
              <a:rPr kumimoji="0" lang="ja-JP" altLang="en-US" sz="1600" b="0" i="0" u="none" strike="noStrike" cap="none" normalizeH="0" baseline="0">
                <a:ln>
                  <a:noFill/>
                </a:ln>
                <a:effectLst/>
                <a:latin typeface="Meiryo" panose="020B0604030504040204" pitchFamily="34" charset="-128"/>
                <a:ea typeface="Meiryo" panose="020B0604030504040204" pitchFamily="34" charset="-128"/>
                <a:cs typeface="Times New Roman" panose="02020603050405020304" pitchFamily="18" charset="0"/>
              </a:rPr>
              <a:t>マルウェア検体の逆アセンブル解析</a:t>
            </a:r>
          </a:p>
          <a:p>
            <a:pPr marL="285750" marR="0" lvl="0" indent="-285750" algn="just" defTabSz="914400" rtl="0" eaLnBrk="0" fontAlgn="base" latinLnBrk="0" hangingPunct="0">
              <a:lnSpc>
                <a:spcPct val="100000"/>
              </a:lnSpc>
              <a:spcBef>
                <a:spcPct val="0"/>
              </a:spcBef>
              <a:spcAft>
                <a:spcPct val="0"/>
              </a:spcAft>
              <a:buClrTx/>
              <a:buSzTx/>
              <a:buFont typeface="Wingdings" pitchFamily="2" charset="2"/>
              <a:buChar char="§"/>
              <a:tabLst/>
            </a:pPr>
            <a:r>
              <a:rPr kumimoji="0" lang="ja-JP" altLang="en-US" sz="1600" b="0" i="0" u="none" strike="noStrike" cap="none" normalizeH="0" baseline="0">
                <a:ln>
                  <a:noFill/>
                </a:ln>
                <a:effectLst/>
                <a:latin typeface="Meiryo" panose="020B0604030504040204" pitchFamily="34" charset="-128"/>
                <a:ea typeface="Meiryo" panose="020B0604030504040204" pitchFamily="34" charset="-128"/>
                <a:cs typeface="Times New Roman" panose="02020603050405020304" pitchFamily="18" charset="0"/>
              </a:rPr>
              <a:t>ディスクイメージ解析</a:t>
            </a:r>
          </a:p>
          <a:p>
            <a:pPr marL="285750" marR="0" lvl="0" indent="-285750" algn="just" defTabSz="914400" rtl="0" eaLnBrk="0" fontAlgn="base" latinLnBrk="0" hangingPunct="0">
              <a:lnSpc>
                <a:spcPct val="100000"/>
              </a:lnSpc>
              <a:spcBef>
                <a:spcPct val="0"/>
              </a:spcBef>
              <a:spcAft>
                <a:spcPct val="0"/>
              </a:spcAft>
              <a:buClrTx/>
              <a:buSzTx/>
              <a:buFont typeface="Wingdings" pitchFamily="2" charset="2"/>
              <a:buChar char="§"/>
              <a:tabLst/>
            </a:pPr>
            <a:r>
              <a:rPr kumimoji="0" lang="ja-JP" altLang="en-US" sz="1600" b="0" i="0" u="none" strike="noStrike" cap="none" normalizeH="0" baseline="0">
                <a:ln>
                  <a:noFill/>
                </a:ln>
                <a:effectLst/>
                <a:latin typeface="Meiryo" panose="020B0604030504040204" pitchFamily="34" charset="-128"/>
                <a:ea typeface="Meiryo" panose="020B0604030504040204" pitchFamily="34" charset="-128"/>
                <a:cs typeface="Times New Roman" panose="02020603050405020304" pitchFamily="18" charset="0"/>
              </a:rPr>
              <a:t>メモリダンプ解析</a:t>
            </a:r>
          </a:p>
          <a:p>
            <a:pPr marL="285750" marR="0" lvl="0" indent="-285750" algn="just" defTabSz="914400" rtl="0" eaLnBrk="0" fontAlgn="base" latinLnBrk="0" hangingPunct="0">
              <a:lnSpc>
                <a:spcPct val="100000"/>
              </a:lnSpc>
              <a:spcBef>
                <a:spcPct val="0"/>
              </a:spcBef>
              <a:spcAft>
                <a:spcPct val="0"/>
              </a:spcAft>
              <a:buClrTx/>
              <a:buSzTx/>
              <a:buFont typeface="Wingdings" pitchFamily="2" charset="2"/>
              <a:buChar char="§"/>
              <a:tabLst/>
            </a:pPr>
            <a:r>
              <a:rPr kumimoji="0" lang="ja-JP" altLang="en-US" sz="1600" b="0" i="0" u="none" strike="noStrike" cap="none" normalizeH="0" baseline="0">
                <a:ln>
                  <a:noFill/>
                </a:ln>
                <a:effectLst/>
                <a:latin typeface="Meiryo" panose="020B0604030504040204" pitchFamily="34" charset="-128"/>
                <a:ea typeface="Meiryo" panose="020B0604030504040204" pitchFamily="34" charset="-128"/>
                <a:cs typeface="Times New Roman" panose="02020603050405020304" pitchFamily="18" charset="0"/>
              </a:rPr>
              <a:t>各種ログの相関分析 を行い、</a:t>
            </a:r>
            <a:endParaRPr kumimoji="0" lang="en-US" altLang="ja-JP" sz="1600" b="0" i="0" u="none" strike="noStrike" cap="none" normalizeH="0" baseline="0" dirty="0">
              <a:ln>
                <a:noFill/>
              </a:ln>
              <a:effectLst/>
              <a:latin typeface="Meiryo" panose="020B0604030504040204" pitchFamily="34" charset="-128"/>
              <a:ea typeface="Meiryo" panose="020B0604030504040204" pitchFamily="34" charset="-128"/>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effectLst/>
                <a:latin typeface="Meiryo" panose="020B0604030504040204" pitchFamily="34" charset="-128"/>
                <a:ea typeface="Meiryo" panose="020B0604030504040204" pitchFamily="34" charset="-128"/>
                <a:cs typeface="Times New Roman" panose="02020603050405020304" pitchFamily="18" charset="0"/>
              </a:rPr>
              <a:t>攻撃者の侵入経路や活動内容を明確にします。</a:t>
            </a:r>
            <a:endParaRPr kumimoji="0" lang="en-US" altLang="en-JP" sz="1600" b="0" i="0" u="none" strike="noStrike" cap="none" normalizeH="0" baseline="0" dirty="0">
              <a:ln>
                <a:noFill/>
              </a:ln>
              <a:effectLst/>
              <a:latin typeface="Meiryo" panose="020B0604030504040204" pitchFamily="34" charset="-128"/>
              <a:ea typeface="Meiryo" panose="020B0604030504040204" pitchFamily="34" charset="-128"/>
            </a:endParaRPr>
          </a:p>
        </p:txBody>
      </p:sp>
      <p:sp>
        <p:nvSpPr>
          <p:cNvPr id="9" name="AutoShape 2">
            <a:extLst>
              <a:ext uri="{FF2B5EF4-FFF2-40B4-BE49-F238E27FC236}">
                <a16:creationId xmlns:a16="http://schemas.microsoft.com/office/drawing/2014/main" id="{A438AC90-C783-E96A-9715-B9488018F33C}"/>
              </a:ext>
            </a:extLst>
          </p:cNvPr>
          <p:cNvSpPr>
            <a:spLocks noChangeArrowheads="1"/>
          </p:cNvSpPr>
          <p:nvPr/>
        </p:nvSpPr>
        <p:spPr bwMode="auto">
          <a:xfrm>
            <a:off x="348342" y="3817231"/>
            <a:ext cx="3897086" cy="2554997"/>
          </a:xfrm>
          <a:prstGeom prst="roundRect">
            <a:avLst>
              <a:gd name="adj" fmla="val 16667"/>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JP" sz="1600" i="0" u="none" strike="noStrike" cap="none" normalizeH="0" baseline="0" dirty="0">
                <a:ln>
                  <a:noFill/>
                </a:ln>
                <a:solidFill>
                  <a:srgbClr val="92D050"/>
                </a:solidFill>
                <a:effectLst/>
                <a:latin typeface="Meiryo" panose="020B0604030504040204" pitchFamily="34" charset="-128"/>
                <a:ea typeface="Meiryo" panose="020B0604030504040204" pitchFamily="34" charset="-128"/>
              </a:rPr>
              <a:t>Step 3：</a:t>
            </a:r>
            <a:r>
              <a:rPr kumimoji="0" lang="ja-JP" altLang="en-US" sz="1600" i="0" u="none" strike="noStrike" cap="none" normalizeH="0" baseline="0">
                <a:ln>
                  <a:noFill/>
                </a:ln>
                <a:solidFill>
                  <a:srgbClr val="92D050"/>
                </a:solidFill>
                <a:effectLst/>
                <a:latin typeface="Meiryo" panose="020B0604030504040204" pitchFamily="34" charset="-128"/>
                <a:ea typeface="Meiryo" panose="020B0604030504040204" pitchFamily="34" charset="-128"/>
              </a:rPr>
              <a:t>根絶・復旧（状況依存</a:t>
            </a: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次に、根絶および復旧のフェーズです</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状況に応じて、詳細解析と並行して実施されることもあります。</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マルウェアや不正設定の完全除去</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侵害されたシステムの復旧</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バックアップからのリストア</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を行い、業務を安全な状態に戻します</a:t>
            </a:r>
            <a:endParaRPr kumimoji="0" lang="en-US" altLang="en-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endParaRPr>
          </a:p>
        </p:txBody>
      </p:sp>
      <p:sp>
        <p:nvSpPr>
          <p:cNvPr id="10" name="Down Arrow 9">
            <a:extLst>
              <a:ext uri="{FF2B5EF4-FFF2-40B4-BE49-F238E27FC236}">
                <a16:creationId xmlns:a16="http://schemas.microsoft.com/office/drawing/2014/main" id="{EA08A305-1D3D-D3E8-E98D-DA724811EA7F}"/>
              </a:ext>
            </a:extLst>
          </p:cNvPr>
          <p:cNvSpPr/>
          <p:nvPr/>
        </p:nvSpPr>
        <p:spPr>
          <a:xfrm>
            <a:off x="3009899" y="3397936"/>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2" name="TextBox 11">
            <a:extLst>
              <a:ext uri="{FF2B5EF4-FFF2-40B4-BE49-F238E27FC236}">
                <a16:creationId xmlns:a16="http://schemas.microsoft.com/office/drawing/2014/main" id="{1427570E-09DE-3DEA-60CC-29D700BCA711}"/>
              </a:ext>
            </a:extLst>
          </p:cNvPr>
          <p:cNvSpPr txBox="1"/>
          <p:nvPr/>
        </p:nvSpPr>
        <p:spPr>
          <a:xfrm>
            <a:off x="348342" y="256792"/>
            <a:ext cx="6574971" cy="646331"/>
          </a:xfrm>
          <a:prstGeom prst="rect">
            <a:avLst/>
          </a:prstGeom>
          <a:noFill/>
        </p:spPr>
        <p:txBody>
          <a:bodyPr wrap="square">
            <a:spAutoFit/>
          </a:bodyPr>
          <a:lstStyle/>
          <a:p>
            <a:pPr marL="285750" indent="-285750">
              <a:buFont typeface="Wingdings" pitchFamily="2" charset="2"/>
              <a:buChar char="Ø"/>
            </a:pPr>
            <a:r>
              <a:rPr lang="en-US"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Phase 3: </a:t>
            </a:r>
            <a:r>
              <a:rPr lang="ja-JP" sz="1800"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インシデント対応・フォレンジック</a:t>
            </a:r>
            <a:r>
              <a:rPr lang="en-US" altLang="ja-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a:t>
            </a:r>
          </a:p>
          <a:p>
            <a:r>
              <a:rPr lang="en-US" altLang="ja-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Incident Response and Forensics</a:t>
            </a:r>
            <a:r>
              <a:rPr lang="mn-MN" altLang="ja-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 </a:t>
            </a:r>
            <a:r>
              <a:rPr lang="en-US" altLang="ja-JP" kern="100" dirty="0">
                <a:solidFill>
                  <a:srgbClr val="92D050"/>
                </a:solidFill>
                <a:latin typeface="Meiryo" panose="020B0604030504040204" pitchFamily="34" charset="-128"/>
                <a:ea typeface="Meiryo" panose="020B0604030504040204" pitchFamily="34" charset="-128"/>
                <a:cs typeface="Times New Roman" panose="02020603050405020304" pitchFamily="18" charset="0"/>
              </a:rPr>
              <a:t>2/2</a:t>
            </a:r>
            <a:endParaRPr lang="en-JP" sz="1800"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3" name="AutoShape 2">
            <a:extLst>
              <a:ext uri="{FF2B5EF4-FFF2-40B4-BE49-F238E27FC236}">
                <a16:creationId xmlns:a16="http://schemas.microsoft.com/office/drawing/2014/main" id="{C4741AF0-0A69-B459-4BD8-A4A0FAF46A54}"/>
              </a:ext>
            </a:extLst>
          </p:cNvPr>
          <p:cNvSpPr>
            <a:spLocks noChangeArrowheads="1"/>
          </p:cNvSpPr>
          <p:nvPr/>
        </p:nvSpPr>
        <p:spPr bwMode="auto">
          <a:xfrm>
            <a:off x="4474029" y="3538286"/>
            <a:ext cx="4669971" cy="3062885"/>
          </a:xfrm>
          <a:prstGeom prst="roundRect">
            <a:avLst>
              <a:gd name="adj" fmla="val 16667"/>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R="0" lvl="0" algn="l" defTabSz="914400" rtl="0" eaLnBrk="0" fontAlgn="base" latinLnBrk="0" hangingPunct="0">
              <a:lnSpc>
                <a:spcPct val="100000"/>
              </a:lnSpc>
              <a:spcBef>
                <a:spcPct val="0"/>
              </a:spcBef>
              <a:spcAft>
                <a:spcPct val="0"/>
              </a:spcAft>
              <a:buClrTx/>
              <a:buSzTx/>
              <a:tabLst/>
            </a:pPr>
            <a:r>
              <a:rPr kumimoji="0" lang="en-US" altLang="en-JP" sz="1600" b="0" i="0" u="none" strike="noStrike" cap="none" normalizeH="0" baseline="0" dirty="0">
                <a:ln>
                  <a:noFill/>
                </a:ln>
                <a:solidFill>
                  <a:srgbClr val="92D050"/>
                </a:solidFill>
                <a:effectLst/>
                <a:latin typeface="Meiryo" panose="020B0604030504040204" pitchFamily="34" charset="-128"/>
                <a:ea typeface="Meiryo" panose="020B0604030504040204" pitchFamily="34" charset="-128"/>
              </a:rPr>
              <a:t>Step 4：</a:t>
            </a:r>
            <a:r>
              <a:rPr kumimoji="0" lang="ja-JP" altLang="en-US" sz="1600" b="0" i="0" u="none" strike="noStrike" cap="none" normalizeH="0" baseline="0">
                <a:ln>
                  <a:noFill/>
                </a:ln>
                <a:solidFill>
                  <a:srgbClr val="92D050"/>
                </a:solidFill>
                <a:effectLst/>
                <a:latin typeface="Meiryo" panose="020B0604030504040204" pitchFamily="34" charset="-128"/>
                <a:ea typeface="Meiryo" panose="020B0604030504040204" pitchFamily="34" charset="-128"/>
              </a:rPr>
              <a:t>事後分析</a:t>
            </a:r>
            <a:r>
              <a:rPr kumimoji="0" lang="en-US" altLang="ja-JP" sz="1600" b="0" i="0" u="none" strike="noStrike" cap="none" normalizeH="0" baseline="0" dirty="0">
                <a:ln>
                  <a:noFill/>
                </a:ln>
                <a:solidFill>
                  <a:srgbClr val="92D050"/>
                </a:solidFill>
                <a:effectLst/>
                <a:latin typeface="Meiryo" panose="020B0604030504040204" pitchFamily="34" charset="-128"/>
                <a:ea typeface="Meiryo" panose="020B0604030504040204" pitchFamily="34" charset="-128"/>
              </a:rPr>
              <a:t> </a:t>
            </a:r>
          </a:p>
          <a:p>
            <a:pPr marR="0" lvl="0" algn="l" defTabSz="914400" rtl="0" eaLnBrk="0" fontAlgn="base" latinLnBrk="0" hangingPunct="0">
              <a:lnSpc>
                <a:spcPct val="100000"/>
              </a:lnSpc>
              <a:spcBef>
                <a:spcPct val="0"/>
              </a:spcBef>
              <a:spcAft>
                <a:spcPct val="0"/>
              </a:spcAft>
              <a:buClrTx/>
              <a:buSzTx/>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最後に、事後分析を行います</a:t>
            </a:r>
          </a:p>
          <a:p>
            <a:pPr marR="0" lvl="0" algn="l" defTabSz="914400" rtl="0" eaLnBrk="0" fontAlgn="base" latinLnBrk="0" hangingPunct="0">
              <a:lnSpc>
                <a:spcPct val="100000"/>
              </a:lnSpc>
              <a:spcBef>
                <a:spcPct val="0"/>
              </a:spcBef>
              <a:spcAft>
                <a:spcPct val="0"/>
              </a:spcAft>
              <a:buClrTx/>
              <a:buSzTx/>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これは将来のインシデント防止のために非常に重要な段階です。</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攻撃の流れを整理するタイムライン再構築</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攻撃キャンペーンや攻撃者グループの特定</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脅威インテリジェンスの共有</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Meiryo" panose="020B0604030504040204" pitchFamily="34" charset="-128"/>
                <a:ea typeface="Meiryo" panose="020B0604030504040204" pitchFamily="34" charset="-128"/>
              </a:rPr>
              <a:t>再発防止策の実装（ルール改善・監視強化・教育）を通じて、組織全体のセキュリティレベルを向上させます。</a:t>
            </a:r>
            <a:endParaRPr kumimoji="0" lang="en-US" altLang="en-JP" sz="1600" b="0" i="0" u="none" strike="noStrike" cap="none" normalizeH="0" baseline="0" dirty="0">
              <a:ln>
                <a:noFill/>
              </a:ln>
              <a:solidFill>
                <a:schemeClr val="tx1"/>
              </a:solidFill>
              <a:effectLst/>
              <a:latin typeface="Meiryo" panose="020B0604030504040204" pitchFamily="34" charset="-128"/>
              <a:ea typeface="Meiryo" panose="020B0604030504040204" pitchFamily="34" charset="-128"/>
            </a:endParaRPr>
          </a:p>
        </p:txBody>
      </p:sp>
      <p:sp>
        <p:nvSpPr>
          <p:cNvPr id="14" name="Slide Number Placeholder 13">
            <a:extLst>
              <a:ext uri="{FF2B5EF4-FFF2-40B4-BE49-F238E27FC236}">
                <a16:creationId xmlns:a16="http://schemas.microsoft.com/office/drawing/2014/main" id="{C4CC0922-B947-E6B5-D367-BB656660D9A2}"/>
              </a:ext>
            </a:extLst>
          </p:cNvPr>
          <p:cNvSpPr>
            <a:spLocks noGrp="1"/>
          </p:cNvSpPr>
          <p:nvPr>
            <p:ph type="sldNum" sz="quarter" idx="12"/>
          </p:nvPr>
        </p:nvSpPr>
        <p:spPr/>
        <p:txBody>
          <a:bodyPr/>
          <a:lstStyle/>
          <a:p>
            <a:fld id="{0B6BB8DA-DB46-D648-BE1D-FCDB55E9CBE3}" type="slidenum">
              <a:rPr lang="en-JP" smtClean="0"/>
              <a:t>16</a:t>
            </a:fld>
            <a:endParaRPr lang="en-JP"/>
          </a:p>
        </p:txBody>
      </p:sp>
    </p:spTree>
    <p:extLst>
      <p:ext uri="{BB962C8B-B14F-4D97-AF65-F5344CB8AC3E}">
        <p14:creationId xmlns:p14="http://schemas.microsoft.com/office/powerpoint/2010/main" val="52874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D11F86-9657-82D7-641E-51C54B7CE346}"/>
              </a:ext>
            </a:extLst>
          </p:cNvPr>
          <p:cNvPicPr>
            <a:picLocks noChangeAspect="1"/>
          </p:cNvPicPr>
          <p:nvPr/>
        </p:nvPicPr>
        <p:blipFill>
          <a:blip r:embed="rId2"/>
          <a:stretch>
            <a:fillRect/>
          </a:stretch>
        </p:blipFill>
        <p:spPr>
          <a:xfrm>
            <a:off x="0" y="1898188"/>
            <a:ext cx="6030688" cy="3913641"/>
          </a:xfrm>
          <a:prstGeom prst="rect">
            <a:avLst/>
          </a:prstGeom>
        </p:spPr>
      </p:pic>
      <p:sp>
        <p:nvSpPr>
          <p:cNvPr id="6" name="TextBox 5">
            <a:extLst>
              <a:ext uri="{FF2B5EF4-FFF2-40B4-BE49-F238E27FC236}">
                <a16:creationId xmlns:a16="http://schemas.microsoft.com/office/drawing/2014/main" id="{D0A6C60B-0447-CB10-486A-E20F9D6FD740}"/>
              </a:ext>
            </a:extLst>
          </p:cNvPr>
          <p:cNvSpPr txBox="1"/>
          <p:nvPr/>
        </p:nvSpPr>
        <p:spPr>
          <a:xfrm>
            <a:off x="413656" y="926965"/>
            <a:ext cx="7217229"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cs typeface="Times New Roman" panose="02020603050405020304" pitchFamily="18" charset="0"/>
              </a:rPr>
              <a:t>SOC および CSIRT の運用体制を最適化し、検知から対応までを迅速かつ効率的に実施できる体制構築が重要となる</a:t>
            </a:r>
            <a:endParaRPr lang="mn-MN" dirty="0">
              <a:latin typeface="Meiryo" panose="020B0604030504040204" pitchFamily="34" charset="-128"/>
              <a:ea typeface="Meiryo" panose="020B060403050404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5C11A4B2-DB05-B82F-58D0-D86EDB29DAE1}"/>
              </a:ext>
            </a:extLst>
          </p:cNvPr>
          <p:cNvSpPr txBox="1"/>
          <p:nvPr/>
        </p:nvSpPr>
        <p:spPr>
          <a:xfrm>
            <a:off x="206829" y="196334"/>
            <a:ext cx="4572000" cy="369332"/>
          </a:xfrm>
          <a:prstGeom prst="rect">
            <a:avLst/>
          </a:prstGeom>
          <a:noFill/>
        </p:spPr>
        <p:txBody>
          <a:bodyPr wrap="square">
            <a:spAutoFit/>
          </a:bodyPr>
          <a:lstStyle/>
          <a:p>
            <a:pPr marL="285750" indent="-285750">
              <a:buFont typeface="Wingdings" pitchFamily="2" charset="2"/>
              <a:buChar char="Ø"/>
            </a:pPr>
            <a:r>
              <a:rPr lang="en-JP" b="1" dirty="0">
                <a:solidFill>
                  <a:srgbClr val="C00000"/>
                </a:solidFill>
                <a:latin typeface="Meiryo" panose="020B0604030504040204" pitchFamily="34" charset="-128"/>
                <a:ea typeface="Meiryo" panose="020B0604030504040204" pitchFamily="34" charset="-128"/>
              </a:rPr>
              <a:t>SOC / CSIRT運用体制の最適化</a:t>
            </a:r>
          </a:p>
        </p:txBody>
      </p:sp>
      <p:sp>
        <p:nvSpPr>
          <p:cNvPr id="10" name="TextBox 9">
            <a:extLst>
              <a:ext uri="{FF2B5EF4-FFF2-40B4-BE49-F238E27FC236}">
                <a16:creationId xmlns:a16="http://schemas.microsoft.com/office/drawing/2014/main" id="{8269FF73-41E0-2D8A-CB21-462945FAC461}"/>
              </a:ext>
            </a:extLst>
          </p:cNvPr>
          <p:cNvSpPr txBox="1"/>
          <p:nvPr/>
        </p:nvSpPr>
        <p:spPr>
          <a:xfrm>
            <a:off x="6030688" y="2047703"/>
            <a:ext cx="2895598" cy="3139321"/>
          </a:xfrm>
          <a:prstGeom prst="rect">
            <a:avLst/>
          </a:prstGeom>
          <a:noFill/>
        </p:spPr>
        <p:txBody>
          <a:bodyPr wrap="square">
            <a:spAutoFit/>
          </a:bodyPr>
          <a:lstStyle/>
          <a:p>
            <a:pPr marL="342900" lvl="0" indent="-342900">
              <a:buFont typeface="Wingdings" pitchFamily="2" charset="2"/>
              <a:buChar char=""/>
            </a:pPr>
            <a:r>
              <a:rPr lang="ja-JP" kern="100">
                <a:effectLst/>
                <a:latin typeface="Meiryo" panose="020B0604030504040204" pitchFamily="34" charset="-128"/>
                <a:ea typeface="Meiryo" panose="020B0604030504040204" pitchFamily="34" charset="-128"/>
                <a:cs typeface="Times New Roman" panose="02020603050405020304" pitchFamily="18" charset="0"/>
              </a:rPr>
              <a:t>監視レベル</a:t>
            </a:r>
            <a:r>
              <a:rPr lang="en-US" kern="100" dirty="0">
                <a:effectLst/>
                <a:latin typeface="Meiryo" panose="020B0604030504040204" pitchFamily="34" charset="-128"/>
                <a:ea typeface="Meiryo" panose="020B0604030504040204" pitchFamily="34" charset="-128"/>
                <a:cs typeface="Times New Roman" panose="02020603050405020304" pitchFamily="18" charset="0"/>
              </a:rPr>
              <a:t> (L1/L2) 24/7</a:t>
            </a:r>
            <a:r>
              <a:rPr lang="ja-JP" kern="100">
                <a:effectLst/>
                <a:latin typeface="Meiryo" panose="020B0604030504040204" pitchFamily="34" charset="-128"/>
                <a:ea typeface="Meiryo" panose="020B0604030504040204" pitchFamily="34" charset="-128"/>
                <a:cs typeface="Times New Roman" panose="02020603050405020304" pitchFamily="18" charset="0"/>
              </a:rPr>
              <a:t>監視・初動対応</a:t>
            </a:r>
            <a:endParaRPr lang="en-US" altLang="ja-JP" kern="100" dirty="0">
              <a:effectLst/>
              <a:latin typeface="Meiryo" panose="020B0604030504040204" pitchFamily="34" charset="-128"/>
              <a:ea typeface="Meiryo" panose="020B0604030504040204" pitchFamily="34" charset="-128"/>
              <a:cs typeface="Times New Roman" panose="02020603050405020304" pitchFamily="18" charset="0"/>
            </a:endParaRPr>
          </a:p>
          <a:p>
            <a:pPr lvl="0"/>
            <a:endParaRPr lang="en-JP"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kern="100">
                <a:effectLst/>
                <a:latin typeface="Meiryo" panose="020B0604030504040204" pitchFamily="34" charset="-128"/>
                <a:ea typeface="Meiryo" panose="020B0604030504040204" pitchFamily="34" charset="-128"/>
                <a:cs typeface="Times New Roman" panose="02020603050405020304" pitchFamily="18" charset="0"/>
              </a:rPr>
              <a:t>分析レベル</a:t>
            </a:r>
            <a:r>
              <a:rPr lang="en-US" kern="100" dirty="0">
                <a:effectLst/>
                <a:latin typeface="Meiryo" panose="020B0604030504040204" pitchFamily="34" charset="-128"/>
                <a:ea typeface="Meiryo" panose="020B0604030504040204" pitchFamily="34" charset="-128"/>
                <a:cs typeface="Times New Roman" panose="02020603050405020304" pitchFamily="18" charset="0"/>
              </a:rPr>
              <a:t> (L3): </a:t>
            </a:r>
            <a:r>
              <a:rPr lang="ja-JP" kern="100">
                <a:effectLst/>
                <a:latin typeface="Meiryo" panose="020B0604030504040204" pitchFamily="34" charset="-128"/>
                <a:ea typeface="Meiryo" panose="020B0604030504040204" pitchFamily="34" charset="-128"/>
                <a:cs typeface="Times New Roman" panose="02020603050405020304" pitchFamily="18" charset="0"/>
              </a:rPr>
              <a:t>詳細分析・対応計画</a:t>
            </a:r>
            <a:endParaRPr lang="en-US" altLang="ja-JP" kern="100" dirty="0">
              <a:effectLst/>
              <a:latin typeface="Meiryo" panose="020B0604030504040204" pitchFamily="34" charset="-128"/>
              <a:ea typeface="Meiryo" panose="020B0604030504040204" pitchFamily="34" charset="-128"/>
              <a:cs typeface="Times New Roman" panose="02020603050405020304" pitchFamily="18" charset="0"/>
            </a:endParaRPr>
          </a:p>
          <a:p>
            <a:pPr lvl="0"/>
            <a:endParaRPr lang="en-JP"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kern="100">
                <a:effectLst/>
                <a:latin typeface="Meiryo" panose="020B0604030504040204" pitchFamily="34" charset="-128"/>
                <a:ea typeface="Meiryo" panose="020B0604030504040204" pitchFamily="34" charset="-128"/>
                <a:cs typeface="Times New Roman" panose="02020603050405020304" pitchFamily="18" charset="0"/>
              </a:rPr>
              <a:t>専門家レベル</a:t>
            </a:r>
            <a:r>
              <a:rPr lang="en-US" kern="100" dirty="0">
                <a:effectLst/>
                <a:latin typeface="Meiryo" panose="020B0604030504040204" pitchFamily="34" charset="-128"/>
                <a:ea typeface="Meiryo" panose="020B0604030504040204" pitchFamily="34" charset="-128"/>
                <a:cs typeface="Times New Roman" panose="02020603050405020304" pitchFamily="18" charset="0"/>
              </a:rPr>
              <a:t>: </a:t>
            </a:r>
            <a:r>
              <a:rPr lang="ja-JP" kern="100">
                <a:effectLst/>
                <a:latin typeface="Meiryo" panose="020B0604030504040204" pitchFamily="34" charset="-128"/>
                <a:ea typeface="Meiryo" panose="020B0604030504040204" pitchFamily="34" charset="-128"/>
                <a:cs typeface="Times New Roman" panose="02020603050405020304" pitchFamily="18" charset="0"/>
              </a:rPr>
              <a:t>高度な解析・フォレンジック</a:t>
            </a:r>
            <a:endParaRPr lang="en-US" altLang="ja-JP"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endParaRPr lang="en-JP"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kern="100">
                <a:effectLst/>
                <a:latin typeface="Meiryo" panose="020B0604030504040204" pitchFamily="34" charset="-128"/>
                <a:ea typeface="Meiryo" panose="020B0604030504040204" pitchFamily="34" charset="-128"/>
                <a:cs typeface="Times New Roman" panose="02020603050405020304" pitchFamily="18" charset="0"/>
              </a:rPr>
              <a:t>管理レベル</a:t>
            </a:r>
            <a:r>
              <a:rPr lang="en-US" kern="100" dirty="0">
                <a:effectLst/>
                <a:latin typeface="Meiryo" panose="020B0604030504040204" pitchFamily="34" charset="-128"/>
                <a:ea typeface="Meiryo" panose="020B0604030504040204" pitchFamily="34" charset="-128"/>
                <a:cs typeface="Times New Roman" panose="02020603050405020304" pitchFamily="18" charset="0"/>
              </a:rPr>
              <a:t>: </a:t>
            </a:r>
            <a:r>
              <a:rPr lang="ja-JP" kern="100">
                <a:effectLst/>
                <a:latin typeface="Meiryo" panose="020B0604030504040204" pitchFamily="34" charset="-128"/>
                <a:ea typeface="Meiryo" panose="020B0604030504040204" pitchFamily="34" charset="-128"/>
                <a:cs typeface="Times New Roman" panose="02020603050405020304" pitchFamily="18" charset="0"/>
              </a:rPr>
              <a:t>意思決定・外部連絡</a:t>
            </a:r>
            <a:endParaRPr lang="en-JP"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8A39564A-63AF-3594-2AC8-4ACF754980D6}"/>
              </a:ext>
            </a:extLst>
          </p:cNvPr>
          <p:cNvSpPr>
            <a:spLocks noGrp="1"/>
          </p:cNvSpPr>
          <p:nvPr>
            <p:ph type="sldNum" sz="quarter" idx="12"/>
          </p:nvPr>
        </p:nvSpPr>
        <p:spPr/>
        <p:txBody>
          <a:bodyPr/>
          <a:lstStyle/>
          <a:p>
            <a:fld id="{0B6BB8DA-DB46-D648-BE1D-FCDB55E9CBE3}" type="slidenum">
              <a:rPr lang="en-JP" smtClean="0"/>
              <a:t>17</a:t>
            </a:fld>
            <a:endParaRPr lang="en-JP"/>
          </a:p>
        </p:txBody>
      </p:sp>
    </p:spTree>
    <p:extLst>
      <p:ext uri="{BB962C8B-B14F-4D97-AF65-F5344CB8AC3E}">
        <p14:creationId xmlns:p14="http://schemas.microsoft.com/office/powerpoint/2010/main" val="1487064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3B5425-2A58-D6E4-3C8D-7E80F713A6AC}"/>
              </a:ext>
            </a:extLst>
          </p:cNvPr>
          <p:cNvSpPr txBox="1"/>
          <p:nvPr/>
        </p:nvSpPr>
        <p:spPr>
          <a:xfrm>
            <a:off x="163286" y="163677"/>
            <a:ext cx="4572000" cy="369332"/>
          </a:xfrm>
          <a:prstGeom prst="rect">
            <a:avLst/>
          </a:prstGeom>
          <a:noFill/>
        </p:spPr>
        <p:txBody>
          <a:bodyPr wrap="square">
            <a:spAutoFit/>
          </a:bodyPr>
          <a:lstStyle/>
          <a:p>
            <a:pPr marL="285750" indent="-285750">
              <a:buFont typeface="Wingdings" pitchFamily="2" charset="2"/>
              <a:buChar char="Ø"/>
            </a:pPr>
            <a:r>
              <a:rPr lang="en-JP" b="1" dirty="0">
                <a:solidFill>
                  <a:srgbClr val="C00000"/>
                </a:solidFill>
                <a:latin typeface="Meiryo" panose="020B0604030504040204" pitchFamily="34" charset="-128"/>
                <a:ea typeface="Meiryo" panose="020B0604030504040204" pitchFamily="34" charset="-128"/>
              </a:rPr>
              <a:t>SOC / CSIRT運用体制の最適化</a:t>
            </a:r>
          </a:p>
        </p:txBody>
      </p:sp>
      <p:sp>
        <p:nvSpPr>
          <p:cNvPr id="7" name="TextBox 6">
            <a:extLst>
              <a:ext uri="{FF2B5EF4-FFF2-40B4-BE49-F238E27FC236}">
                <a16:creationId xmlns:a16="http://schemas.microsoft.com/office/drawing/2014/main" id="{B4F695B8-AA48-442E-1167-F40E86583D05}"/>
              </a:ext>
            </a:extLst>
          </p:cNvPr>
          <p:cNvSpPr txBox="1"/>
          <p:nvPr/>
        </p:nvSpPr>
        <p:spPr>
          <a:xfrm>
            <a:off x="337456" y="794887"/>
            <a:ext cx="7794173" cy="4247317"/>
          </a:xfrm>
          <a:prstGeom prst="rect">
            <a:avLst/>
          </a:prstGeom>
          <a:noFill/>
        </p:spPr>
        <p:txBody>
          <a:bodyPr wrap="square">
            <a:spAutoFit/>
          </a:bodyPr>
          <a:lstStyle/>
          <a:p>
            <a:endParaRPr lang="en-JP" dirty="0">
              <a:latin typeface="Meiryo" panose="020B0604030504040204" pitchFamily="34" charset="-128"/>
              <a:ea typeface="Meiryo" panose="020B0604030504040204" pitchFamily="34" charset="-128"/>
              <a:cs typeface="Times New Roman" panose="02020603050405020304" pitchFamily="18" charset="0"/>
            </a:endParaRPr>
          </a:p>
          <a:p>
            <a:pPr marL="285750" indent="-285750">
              <a:buFont typeface="Courier New" panose="02070309020205020404" pitchFamily="49" charset="0"/>
              <a:buChar char="o"/>
            </a:pPr>
            <a:r>
              <a:rPr lang="en-JP" dirty="0">
                <a:solidFill>
                  <a:srgbClr val="92D050"/>
                </a:solidFill>
                <a:latin typeface="Meiryo" panose="020B0604030504040204" pitchFamily="34" charset="-128"/>
                <a:ea typeface="Meiryo" panose="020B0604030504040204" pitchFamily="34" charset="-128"/>
                <a:cs typeface="Times New Roman" panose="02020603050405020304" pitchFamily="18" charset="0"/>
              </a:rPr>
              <a:t>役割分担の明確化と階層化運用</a:t>
            </a:r>
          </a:p>
          <a:p>
            <a:pPr marL="285750" indent="-285750">
              <a:buFont typeface="Courier New" panose="02070309020205020404" pitchFamily="49" charset="0"/>
              <a:buChar char="o"/>
            </a:pPr>
            <a:endParaRPr lang="en-JP" dirty="0">
              <a:solidFill>
                <a:srgbClr val="92D050"/>
              </a:solidFill>
              <a:latin typeface="Meiryo" panose="020B0604030504040204" pitchFamily="34" charset="-128"/>
              <a:ea typeface="Meiryo" panose="020B0604030504040204" pitchFamily="34" charset="-128"/>
              <a:cs typeface="Times New Roman" panose="02020603050405020304" pitchFamily="18" charset="0"/>
            </a:endParaRPr>
          </a:p>
          <a:p>
            <a:r>
              <a:rPr lang="en-JP" dirty="0">
                <a:latin typeface="Meiryo" panose="020B0604030504040204" pitchFamily="34" charset="-128"/>
                <a:ea typeface="Meiryo" panose="020B0604030504040204" pitchFamily="34" charset="-128"/>
                <a:cs typeface="Times New Roman" panose="02020603050405020304" pitchFamily="18" charset="0"/>
              </a:rPr>
              <a:t>SOC においては、Tier 1〜Tier 3 による階層化運用を採用し、業務内容と責任範囲を明確にすることで運用効率を向上させる。</a:t>
            </a:r>
            <a:endParaRPr lang="mn-MN" dirty="0">
              <a:latin typeface="Meiryo" panose="020B0604030504040204" pitchFamily="34" charset="-128"/>
              <a:ea typeface="Meiryo" panose="020B0604030504040204" pitchFamily="34" charset="-128"/>
              <a:cs typeface="Times New Roman" panose="02020603050405020304" pitchFamily="18" charset="0"/>
            </a:endParaRPr>
          </a:p>
          <a:p>
            <a:endParaRPr lang="en-JP" dirty="0">
              <a:latin typeface="Meiryo" panose="020B0604030504040204" pitchFamily="34" charset="-128"/>
              <a:ea typeface="Meiryo" panose="020B0604030504040204" pitchFamily="34" charset="-128"/>
              <a:cs typeface="Times New Roman" panose="02020603050405020304" pitchFamily="18" charset="0"/>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cs typeface="Times New Roman" panose="02020603050405020304" pitchFamily="18" charset="0"/>
              </a:rPr>
              <a:t>Tier 1：アラート監視および初期トリアージを担当</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cs typeface="Times New Roman" panose="02020603050405020304" pitchFamily="18" charset="0"/>
              </a:rPr>
              <a:t>Tier 2：詳細分析、動的解析、IoC 抽出を担当 </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cs typeface="Times New Roman" panose="02020603050405020304" pitchFamily="18" charset="0"/>
              </a:rPr>
              <a:t>Tier 3：APT やゼロデイ攻撃など高度脅威の解析を担当</a:t>
            </a:r>
            <a:endParaRPr lang="mn-MN" dirty="0">
              <a:latin typeface="Meiryo" panose="020B0604030504040204" pitchFamily="34" charset="-128"/>
              <a:ea typeface="Meiryo" panose="020B0604030504040204" pitchFamily="34" charset="-128"/>
              <a:cs typeface="Times New Roman" panose="02020603050405020304" pitchFamily="18" charset="0"/>
            </a:endParaRPr>
          </a:p>
          <a:p>
            <a:pPr marL="285750" indent="-285750">
              <a:buFont typeface="Arial" panose="020B0604020202020204" pitchFamily="34" charset="0"/>
              <a:buChar char="•"/>
            </a:pPr>
            <a:endParaRPr lang="mn-MN" dirty="0">
              <a:latin typeface="Meiryo" panose="020B0604030504040204" pitchFamily="34" charset="-128"/>
              <a:ea typeface="Meiryo" panose="020B0604030504040204" pitchFamily="34" charset="-128"/>
              <a:cs typeface="Times New Roman" panose="02020603050405020304" pitchFamily="18" charset="0"/>
            </a:endParaRPr>
          </a:p>
          <a:p>
            <a:endParaRPr lang="en-JP" dirty="0">
              <a:latin typeface="Meiryo" panose="020B0604030504040204" pitchFamily="34" charset="-128"/>
              <a:ea typeface="Meiryo" panose="020B0604030504040204" pitchFamily="34" charset="-128"/>
              <a:cs typeface="Times New Roman" panose="02020603050405020304" pitchFamily="18" charset="0"/>
            </a:endParaRPr>
          </a:p>
          <a:p>
            <a:r>
              <a:rPr lang="en-JP" dirty="0">
                <a:latin typeface="Meiryo" panose="020B0604030504040204" pitchFamily="34" charset="-128"/>
                <a:ea typeface="Meiryo" panose="020B0604030504040204" pitchFamily="34" charset="-128"/>
                <a:cs typeface="Times New Roman" panose="02020603050405020304" pitchFamily="18" charset="0"/>
              </a:rPr>
              <a:t>これにより、全てのアラートを一律に処理するのではなく、リスクに応じた適切なエスカレーションが可能となる。</a:t>
            </a:r>
          </a:p>
          <a:p>
            <a:r>
              <a:rPr lang="en-JP" dirty="0">
                <a:latin typeface="Meiryo" panose="020B0604030504040204" pitchFamily="34" charset="-128"/>
                <a:ea typeface="Meiryo" panose="020B0604030504040204" pitchFamily="34" charset="-128"/>
                <a:cs typeface="Times New Roman" panose="02020603050405020304" pitchFamily="18" charset="0"/>
              </a:rPr>
              <a:t>IoC (Indicator of Compromise)</a:t>
            </a:r>
          </a:p>
          <a:p>
            <a:r>
              <a:rPr lang="en-JP" dirty="0">
                <a:latin typeface="Meiryo" panose="020B0604030504040204" pitchFamily="34" charset="-128"/>
                <a:ea typeface="Meiryo" panose="020B0604030504040204" pitchFamily="34" charset="-128"/>
                <a:cs typeface="Times New Roman" panose="02020603050405020304" pitchFamily="18" charset="0"/>
              </a:rPr>
              <a:t>APT (Advanced Persistent Threat)</a:t>
            </a:r>
          </a:p>
        </p:txBody>
      </p:sp>
      <p:sp>
        <p:nvSpPr>
          <p:cNvPr id="9" name="TextBox 8">
            <a:extLst>
              <a:ext uri="{FF2B5EF4-FFF2-40B4-BE49-F238E27FC236}">
                <a16:creationId xmlns:a16="http://schemas.microsoft.com/office/drawing/2014/main" id="{19DC10DD-03B7-478F-F5DB-0446A0251F44}"/>
              </a:ext>
            </a:extLst>
          </p:cNvPr>
          <p:cNvSpPr txBox="1"/>
          <p:nvPr/>
        </p:nvSpPr>
        <p:spPr>
          <a:xfrm>
            <a:off x="337456" y="5416782"/>
            <a:ext cx="8131629"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cs typeface="Times New Roman" panose="02020603050405020304" pitchFamily="18" charset="0"/>
              </a:rPr>
              <a:t>期間にわたり、極めて秘匿性が高く、特定の標的を狙って実行される高度なサイバー攻撃のことです</a:t>
            </a:r>
            <a:r>
              <a:rPr lang="en-US" dirty="0">
                <a:latin typeface="Meiryo" panose="020B0604030504040204" pitchFamily="34" charset="-128"/>
                <a:ea typeface="Meiryo" panose="020B0604030504040204" pitchFamily="34" charset="-128"/>
                <a:cs typeface="Times New Roman" panose="02020603050405020304" pitchFamily="18" charset="0"/>
              </a:rPr>
              <a:t>.</a:t>
            </a:r>
            <a:endParaRPr lang="en-JP" dirty="0">
              <a:latin typeface="Meiryo" panose="020B0604030504040204" pitchFamily="34" charset="-128"/>
              <a:ea typeface="Meiryo" panose="020B0604030504040204" pitchFamily="34" charset="-128"/>
              <a:cs typeface="Times New Roman" panose="02020603050405020304" pitchFamily="18" charset="0"/>
            </a:endParaRPr>
          </a:p>
        </p:txBody>
      </p:sp>
      <p:sp>
        <p:nvSpPr>
          <p:cNvPr id="10" name="Down Arrow 9">
            <a:extLst>
              <a:ext uri="{FF2B5EF4-FFF2-40B4-BE49-F238E27FC236}">
                <a16:creationId xmlns:a16="http://schemas.microsoft.com/office/drawing/2014/main" id="{712550D7-BAB3-9111-95D8-C50E4BA5F78D}"/>
              </a:ext>
            </a:extLst>
          </p:cNvPr>
          <p:cNvSpPr/>
          <p:nvPr/>
        </p:nvSpPr>
        <p:spPr>
          <a:xfrm>
            <a:off x="625927" y="4990822"/>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1" name="Slide Number Placeholder 10">
            <a:extLst>
              <a:ext uri="{FF2B5EF4-FFF2-40B4-BE49-F238E27FC236}">
                <a16:creationId xmlns:a16="http://schemas.microsoft.com/office/drawing/2014/main" id="{F16077FB-6840-7D90-C66F-BFD15A6A2B39}"/>
              </a:ext>
            </a:extLst>
          </p:cNvPr>
          <p:cNvSpPr>
            <a:spLocks noGrp="1"/>
          </p:cNvSpPr>
          <p:nvPr>
            <p:ph type="sldNum" sz="quarter" idx="12"/>
          </p:nvPr>
        </p:nvSpPr>
        <p:spPr/>
        <p:txBody>
          <a:bodyPr/>
          <a:lstStyle/>
          <a:p>
            <a:fld id="{0B6BB8DA-DB46-D648-BE1D-FCDB55E9CBE3}" type="slidenum">
              <a:rPr lang="en-JP" smtClean="0"/>
              <a:t>18</a:t>
            </a:fld>
            <a:endParaRPr lang="en-JP"/>
          </a:p>
        </p:txBody>
      </p:sp>
    </p:spTree>
    <p:extLst>
      <p:ext uri="{BB962C8B-B14F-4D97-AF65-F5344CB8AC3E}">
        <p14:creationId xmlns:p14="http://schemas.microsoft.com/office/powerpoint/2010/main" val="2620991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2D8889-B4AB-3B82-6A8C-FA853BA7DF79}"/>
              </a:ext>
            </a:extLst>
          </p:cNvPr>
          <p:cNvSpPr txBox="1"/>
          <p:nvPr/>
        </p:nvSpPr>
        <p:spPr>
          <a:xfrm>
            <a:off x="359229" y="1166843"/>
            <a:ext cx="8131628" cy="3970318"/>
          </a:xfrm>
          <a:prstGeom prst="rect">
            <a:avLst/>
          </a:prstGeom>
          <a:noFill/>
        </p:spPr>
        <p:txBody>
          <a:bodyPr wrap="square">
            <a:spAutoFit/>
          </a:bodyPr>
          <a:lstStyle/>
          <a:p>
            <a:r>
              <a:rPr lang="en-JP" dirty="0">
                <a:solidFill>
                  <a:srgbClr val="92D050"/>
                </a:solidFill>
                <a:latin typeface="Meiryo" panose="020B0604030504040204" pitchFamily="34" charset="-128"/>
                <a:ea typeface="Meiryo" panose="020B0604030504040204" pitchFamily="34" charset="-128"/>
              </a:rPr>
              <a:t>自動化（SOAR）による運用負荷の軽減</a:t>
            </a:r>
          </a:p>
          <a:p>
            <a:endParaRPr lang="en-JP" dirty="0">
              <a:solidFill>
                <a:srgbClr val="92D050"/>
              </a:solidFill>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SOAR を活用することで、以下の業務を自動化する。ハッシュ照合やサンドボックス投入,類似アラートの集約,IoC の自動抽出・配布エンドポイント隔離などの初動対応これにより、SOC アナリストは単純作業から解放され、分析や判断といった付加価値の高い業務に集中できる。</a:t>
            </a:r>
          </a:p>
          <a:p>
            <a:endParaRPr lang="en-JP" dirty="0">
              <a:solidFill>
                <a:srgbClr val="92D050"/>
              </a:solidFill>
              <a:latin typeface="Meiryo" panose="020B0604030504040204" pitchFamily="34" charset="-128"/>
              <a:ea typeface="Meiryo" panose="020B0604030504040204" pitchFamily="34" charset="-128"/>
            </a:endParaRPr>
          </a:p>
          <a:p>
            <a:r>
              <a:rPr lang="en-JP" dirty="0">
                <a:solidFill>
                  <a:srgbClr val="92D050"/>
                </a:solidFill>
                <a:latin typeface="Meiryo" panose="020B0604030504040204" pitchFamily="34" charset="-128"/>
                <a:ea typeface="Meiryo" panose="020B0604030504040204" pitchFamily="34" charset="-128"/>
              </a:rPr>
              <a:t>SOC と CSIRT の連携強化</a:t>
            </a:r>
          </a:p>
          <a:p>
            <a:r>
              <a:rPr lang="en-JP" dirty="0">
                <a:latin typeface="Meiryo" panose="020B0604030504040204" pitchFamily="34" charset="-128"/>
                <a:ea typeface="Meiryo" panose="020B0604030504040204" pitchFamily="34" charset="-128"/>
              </a:rPr>
              <a:t>SOC は主に「検知と分析」を担当し、CSIRT は「インシデント統括管理と組織的対応」を担う。両者が明確に連携することで、</a:t>
            </a:r>
          </a:p>
          <a:p>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経営層への迅速な報告</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法執行機関や外部組織との連携</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インシデント後の再発防止策の実装が円滑に実施可能となる。</a:t>
            </a:r>
          </a:p>
        </p:txBody>
      </p:sp>
      <p:sp>
        <p:nvSpPr>
          <p:cNvPr id="7" name="TextBox 6">
            <a:extLst>
              <a:ext uri="{FF2B5EF4-FFF2-40B4-BE49-F238E27FC236}">
                <a16:creationId xmlns:a16="http://schemas.microsoft.com/office/drawing/2014/main" id="{9FDA5D10-CC6A-78BE-4E0C-0E6290CD2885}"/>
              </a:ext>
            </a:extLst>
          </p:cNvPr>
          <p:cNvSpPr txBox="1"/>
          <p:nvPr/>
        </p:nvSpPr>
        <p:spPr>
          <a:xfrm>
            <a:off x="283028" y="228992"/>
            <a:ext cx="4572000" cy="369332"/>
          </a:xfrm>
          <a:prstGeom prst="rect">
            <a:avLst/>
          </a:prstGeom>
          <a:noFill/>
        </p:spPr>
        <p:txBody>
          <a:bodyPr wrap="square">
            <a:spAutoFit/>
          </a:bodyPr>
          <a:lstStyle/>
          <a:p>
            <a:pPr marL="285750" indent="-285750">
              <a:buFont typeface="Wingdings" pitchFamily="2" charset="2"/>
              <a:buChar char="Ø"/>
            </a:pPr>
            <a:r>
              <a:rPr lang="en-JP" b="1" dirty="0">
                <a:solidFill>
                  <a:srgbClr val="C00000"/>
                </a:solidFill>
                <a:latin typeface="Meiryo" panose="020B0604030504040204" pitchFamily="34" charset="-128"/>
                <a:ea typeface="Meiryo" panose="020B0604030504040204" pitchFamily="34" charset="-128"/>
              </a:rPr>
              <a:t>SOC / CSIRT運用体制の最適化</a:t>
            </a:r>
          </a:p>
        </p:txBody>
      </p:sp>
      <p:sp>
        <p:nvSpPr>
          <p:cNvPr id="8" name="Slide Number Placeholder 7">
            <a:extLst>
              <a:ext uri="{FF2B5EF4-FFF2-40B4-BE49-F238E27FC236}">
                <a16:creationId xmlns:a16="http://schemas.microsoft.com/office/drawing/2014/main" id="{471E6F83-FCDA-279D-FA6A-AA0E0C6CE8DC}"/>
              </a:ext>
            </a:extLst>
          </p:cNvPr>
          <p:cNvSpPr>
            <a:spLocks noGrp="1"/>
          </p:cNvSpPr>
          <p:nvPr>
            <p:ph type="sldNum" sz="quarter" idx="12"/>
          </p:nvPr>
        </p:nvSpPr>
        <p:spPr/>
        <p:txBody>
          <a:bodyPr/>
          <a:lstStyle/>
          <a:p>
            <a:fld id="{0B6BB8DA-DB46-D648-BE1D-FCDB55E9CBE3}" type="slidenum">
              <a:rPr lang="en-JP" smtClean="0"/>
              <a:t>19</a:t>
            </a:fld>
            <a:endParaRPr lang="en-JP"/>
          </a:p>
        </p:txBody>
      </p:sp>
    </p:spTree>
    <p:extLst>
      <p:ext uri="{BB962C8B-B14F-4D97-AF65-F5344CB8AC3E}">
        <p14:creationId xmlns:p14="http://schemas.microsoft.com/office/powerpoint/2010/main" val="1993198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8B2512-D7D9-F170-7BBE-1A9AA796CC60}"/>
              </a:ext>
            </a:extLst>
          </p:cNvPr>
          <p:cNvSpPr>
            <a:spLocks noGrp="1"/>
          </p:cNvSpPr>
          <p:nvPr>
            <p:ph type="sldNum" sz="quarter" idx="12"/>
          </p:nvPr>
        </p:nvSpPr>
        <p:spPr/>
        <p:txBody>
          <a:bodyPr/>
          <a:lstStyle/>
          <a:p>
            <a:fld id="{0B6BB8DA-DB46-D648-BE1D-FCDB55E9CBE3}" type="slidenum">
              <a:rPr lang="en-JP" smtClean="0"/>
              <a:pPr/>
              <a:t>20</a:t>
            </a:fld>
            <a:endParaRPr lang="en-JP" dirty="0"/>
          </a:p>
        </p:txBody>
      </p:sp>
      <p:sp>
        <p:nvSpPr>
          <p:cNvPr id="6" name="TextBox 5">
            <a:extLst>
              <a:ext uri="{FF2B5EF4-FFF2-40B4-BE49-F238E27FC236}">
                <a16:creationId xmlns:a16="http://schemas.microsoft.com/office/drawing/2014/main" id="{81D18AEF-65C9-98D9-5116-64E1B38BC9CC}"/>
              </a:ext>
            </a:extLst>
          </p:cNvPr>
          <p:cNvSpPr txBox="1"/>
          <p:nvPr/>
        </p:nvSpPr>
        <p:spPr>
          <a:xfrm>
            <a:off x="-793533" y="237272"/>
            <a:ext cx="8886497" cy="369332"/>
          </a:xfrm>
          <a:prstGeom prst="rect">
            <a:avLst/>
          </a:prstGeom>
          <a:noFill/>
        </p:spPr>
        <p:txBody>
          <a:bodyPr wrap="square">
            <a:spAutoFit/>
          </a:bodyPr>
          <a:lstStyle/>
          <a:p>
            <a:pPr marL="1200150" lvl="2" indent="-285750">
              <a:buFont typeface="Wingdings" pitchFamily="2" charset="2"/>
              <a:buChar char="Ø"/>
            </a:pP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誤検知（</a:t>
            </a:r>
            <a:r>
              <a:rPr lang="en-US"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False Positive</a:t>
            </a: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）と見逃し（</a:t>
            </a:r>
            <a:r>
              <a:rPr lang="en-US"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False Negative</a:t>
            </a: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）のバランス</a:t>
            </a:r>
            <a:endParaRPr lang="en-JP" sz="1800" b="1"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7" name="Rounded Rectangle 6">
            <a:extLst>
              <a:ext uri="{FF2B5EF4-FFF2-40B4-BE49-F238E27FC236}">
                <a16:creationId xmlns:a16="http://schemas.microsoft.com/office/drawing/2014/main" id="{2828DD14-99B6-A80A-F13D-6334CBA583EB}"/>
              </a:ext>
            </a:extLst>
          </p:cNvPr>
          <p:cNvSpPr/>
          <p:nvPr/>
        </p:nvSpPr>
        <p:spPr>
          <a:xfrm>
            <a:off x="341585" y="1438052"/>
            <a:ext cx="1650124" cy="128226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FP: </a:t>
            </a:r>
            <a:r>
              <a:rPr lang="ja-JP" altLang="en-US"/>
              <a:t>多い </a:t>
            </a:r>
            <a:endParaRPr lang="mn-MN" altLang="ja-JP" dirty="0"/>
          </a:p>
          <a:p>
            <a:pPr algn="ctr"/>
            <a:r>
              <a:rPr lang="en-US" dirty="0"/>
              <a:t>FN: </a:t>
            </a:r>
            <a:r>
              <a:rPr lang="ja-JP" altLang="en-US"/>
              <a:t>少ない</a:t>
            </a:r>
            <a:endParaRPr lang="en-JP" dirty="0"/>
          </a:p>
        </p:txBody>
      </p:sp>
      <p:sp>
        <p:nvSpPr>
          <p:cNvPr id="8" name="Rounded Rectangle 7">
            <a:extLst>
              <a:ext uri="{FF2B5EF4-FFF2-40B4-BE49-F238E27FC236}">
                <a16:creationId xmlns:a16="http://schemas.microsoft.com/office/drawing/2014/main" id="{B9479A9C-EADF-FEAA-BC62-40118B3291F4}"/>
              </a:ext>
            </a:extLst>
          </p:cNvPr>
          <p:cNvSpPr/>
          <p:nvPr/>
        </p:nvSpPr>
        <p:spPr>
          <a:xfrm>
            <a:off x="2414752" y="1429774"/>
            <a:ext cx="1545020" cy="128226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FP: </a:t>
            </a:r>
            <a:r>
              <a:rPr lang="ja-JP" altLang="en-US"/>
              <a:t>少ない</a:t>
            </a:r>
            <a:endParaRPr lang="mn-MN" altLang="ja-JP" dirty="0"/>
          </a:p>
          <a:p>
            <a:pPr algn="ctr"/>
            <a:r>
              <a:rPr lang="en-US" dirty="0"/>
              <a:t>FN: </a:t>
            </a:r>
            <a:r>
              <a:rPr lang="ja-JP" altLang="en-US"/>
              <a:t>多い</a:t>
            </a:r>
            <a:endParaRPr lang="en-JP" dirty="0"/>
          </a:p>
        </p:txBody>
      </p:sp>
      <p:sp>
        <p:nvSpPr>
          <p:cNvPr id="10" name="TextBox 9">
            <a:extLst>
              <a:ext uri="{FF2B5EF4-FFF2-40B4-BE49-F238E27FC236}">
                <a16:creationId xmlns:a16="http://schemas.microsoft.com/office/drawing/2014/main" id="{65F14418-D4C8-0F9C-DC90-BFD2E7183A98}"/>
              </a:ext>
            </a:extLst>
          </p:cNvPr>
          <p:cNvSpPr txBox="1"/>
          <p:nvPr/>
        </p:nvSpPr>
        <p:spPr>
          <a:xfrm>
            <a:off x="484794" y="1046043"/>
            <a:ext cx="2207172" cy="369332"/>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低い閾値</a:t>
            </a:r>
            <a:endParaRPr lang="en-JP"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6E77051-6878-C33A-6F8C-7D7B5840F271}"/>
              </a:ext>
            </a:extLst>
          </p:cNvPr>
          <p:cNvSpPr txBox="1"/>
          <p:nvPr/>
        </p:nvSpPr>
        <p:spPr>
          <a:xfrm>
            <a:off x="2622333" y="1125946"/>
            <a:ext cx="1760482" cy="369332"/>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高い閾値</a:t>
            </a:r>
            <a:endParaRPr lang="en-JP"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726DA568-5593-E479-7796-77052774EA14}"/>
              </a:ext>
            </a:extLst>
          </p:cNvPr>
          <p:cNvSpPr txBox="1"/>
          <p:nvPr/>
        </p:nvSpPr>
        <p:spPr>
          <a:xfrm>
            <a:off x="580697" y="2857656"/>
            <a:ext cx="1834055" cy="369332"/>
          </a:xfrm>
          <a:prstGeom prst="rect">
            <a:avLst/>
          </a:prstGeom>
          <a:noFill/>
        </p:spPr>
        <p:txBody>
          <a:bodyPr wrap="square">
            <a:spAutoFit/>
          </a:bodyPr>
          <a:lstStyle/>
          <a:p>
            <a:r>
              <a:rPr lang="ja-JP" altLang="en-US"/>
              <a:t>過検知 </a:t>
            </a:r>
            <a:endParaRPr lang="en-JP" dirty="0"/>
          </a:p>
        </p:txBody>
      </p:sp>
      <p:sp>
        <p:nvSpPr>
          <p:cNvPr id="16" name="TextBox 15">
            <a:extLst>
              <a:ext uri="{FF2B5EF4-FFF2-40B4-BE49-F238E27FC236}">
                <a16:creationId xmlns:a16="http://schemas.microsoft.com/office/drawing/2014/main" id="{D87E3B17-190D-46F9-4B00-2890E21B4AEE}"/>
              </a:ext>
            </a:extLst>
          </p:cNvPr>
          <p:cNvSpPr txBox="1"/>
          <p:nvPr/>
        </p:nvSpPr>
        <p:spPr>
          <a:xfrm>
            <a:off x="2691966" y="2764118"/>
            <a:ext cx="1455682" cy="369332"/>
          </a:xfrm>
          <a:prstGeom prst="rect">
            <a:avLst/>
          </a:prstGeom>
          <a:noFill/>
        </p:spPr>
        <p:txBody>
          <a:bodyPr wrap="square">
            <a:spAutoFit/>
          </a:bodyPr>
          <a:lstStyle/>
          <a:p>
            <a:r>
              <a:rPr lang="ja-JP" altLang="en-US"/>
              <a:t>見逃し</a:t>
            </a:r>
            <a:endParaRPr lang="en-JP" dirty="0"/>
          </a:p>
        </p:txBody>
      </p:sp>
      <p:sp>
        <p:nvSpPr>
          <p:cNvPr id="18" name="TextBox 17">
            <a:extLst>
              <a:ext uri="{FF2B5EF4-FFF2-40B4-BE49-F238E27FC236}">
                <a16:creationId xmlns:a16="http://schemas.microsoft.com/office/drawing/2014/main" id="{63928E7A-8FEA-346B-EA6A-1503BF8DD9CC}"/>
              </a:ext>
            </a:extLst>
          </p:cNvPr>
          <p:cNvSpPr txBox="1"/>
          <p:nvPr/>
        </p:nvSpPr>
        <p:spPr>
          <a:xfrm>
            <a:off x="3959772" y="1532296"/>
            <a:ext cx="7436067" cy="1077218"/>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低い閾値では、攻撃の見逃し（FN）を抑えられる</a:t>
            </a:r>
            <a:endParaRPr lang="mn-MN" sz="1600" dirty="0">
              <a:latin typeface="Meiryo" panose="020B0604030504040204" pitchFamily="34" charset="-128"/>
              <a:ea typeface="Meiryo" panose="020B0604030504040204" pitchFamily="34" charset="-128"/>
            </a:endParaRPr>
          </a:p>
          <a:p>
            <a:r>
              <a:rPr lang="en-JP" sz="1600" dirty="0">
                <a:latin typeface="Meiryo" panose="020B0604030504040204" pitchFamily="34" charset="-128"/>
                <a:ea typeface="Meiryo" panose="020B0604030504040204" pitchFamily="34" charset="-128"/>
              </a:rPr>
              <a:t>一方、誤検知（FP）が増加し、運用負荷が高まります</a:t>
            </a:r>
          </a:p>
          <a:p>
            <a:r>
              <a:rPr lang="en-JP" sz="1600" dirty="0">
                <a:latin typeface="Meiryo" panose="020B0604030504040204" pitchFamily="34" charset="-128"/>
                <a:ea typeface="Meiryo" panose="020B0604030504040204" pitchFamily="34" charset="-128"/>
              </a:rPr>
              <a:t>高い閾値では、誤検知（FP）は減少しますが、</a:t>
            </a:r>
          </a:p>
          <a:p>
            <a:r>
              <a:rPr lang="en-JP" sz="1600" dirty="0">
                <a:latin typeface="Meiryo" panose="020B0604030504040204" pitchFamily="34" charset="-128"/>
                <a:ea typeface="Meiryo" panose="020B0604030504040204" pitchFamily="34" charset="-128"/>
              </a:rPr>
              <a:t>重大な脅威を見逃すリスク（FN）が増加します</a:t>
            </a:r>
          </a:p>
        </p:txBody>
      </p:sp>
      <p:sp>
        <p:nvSpPr>
          <p:cNvPr id="20" name="TextBox 19">
            <a:extLst>
              <a:ext uri="{FF2B5EF4-FFF2-40B4-BE49-F238E27FC236}">
                <a16:creationId xmlns:a16="http://schemas.microsoft.com/office/drawing/2014/main" id="{2E550B4A-D16B-DC04-0D60-BFE778543478}"/>
              </a:ext>
            </a:extLst>
          </p:cNvPr>
          <p:cNvSpPr txBox="1"/>
          <p:nvPr/>
        </p:nvSpPr>
        <p:spPr>
          <a:xfrm>
            <a:off x="386255" y="3780632"/>
            <a:ext cx="7706709" cy="2031325"/>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セキュリティレイヤーごとに求められる役割が異なるため、</a:t>
            </a:r>
            <a:r>
              <a:rPr lang="en-US" dirty="0">
                <a:latin typeface="Meiryo" panose="020B0604030504040204" pitchFamily="34" charset="-128"/>
                <a:ea typeface="Meiryo" panose="020B0604030504040204" pitchFamily="34" charset="-128"/>
              </a:rPr>
              <a:t>FP／FN</a:t>
            </a:r>
            <a:r>
              <a:rPr lang="ja-JP" altLang="en-US">
                <a:latin typeface="Meiryo" panose="020B0604030504040204" pitchFamily="34" charset="-128"/>
                <a:ea typeface="Meiryo" panose="020B0604030504040204" pitchFamily="34" charset="-128"/>
              </a:rPr>
              <a:t>の重視ポイントも異なります</a:t>
            </a:r>
            <a:endParaRPr lang="mn-MN" altLang="ja-JP" dirty="0">
              <a:latin typeface="Meiryo" panose="020B0604030504040204" pitchFamily="34" charset="-128"/>
              <a:ea typeface="Meiryo" panose="020B0604030504040204" pitchFamily="34" charset="-128"/>
            </a:endParaRPr>
          </a:p>
          <a:p>
            <a:endParaRPr lang="ja-JP" altLang="en-US">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メール</a:t>
            </a:r>
            <a:r>
              <a:rPr lang="en-US" dirty="0">
                <a:latin typeface="Meiryo" panose="020B0604030504040204" pitchFamily="34" charset="-128"/>
                <a:ea typeface="Meiryo" panose="020B0604030504040204" pitchFamily="34" charset="-128"/>
              </a:rPr>
              <a:t>GW：</a:t>
            </a:r>
            <a:r>
              <a:rPr lang="ja-JP" altLang="en-US">
                <a:latin typeface="Meiryo" panose="020B0604030504040204" pitchFamily="34" charset="-128"/>
                <a:ea typeface="Meiryo" panose="020B0604030504040204" pitchFamily="34" charset="-128"/>
              </a:rPr>
              <a:t>業務継続を優先し、一定の</a:t>
            </a:r>
            <a:r>
              <a:rPr lang="en-US" dirty="0">
                <a:latin typeface="Meiryo" panose="020B0604030504040204" pitchFamily="34" charset="-128"/>
                <a:ea typeface="Meiryo" panose="020B0604030504040204" pitchFamily="34" charset="-128"/>
              </a:rPr>
              <a:t>FP</a:t>
            </a:r>
            <a:r>
              <a:rPr lang="ja-JP" altLang="en-US">
                <a:latin typeface="Meiryo" panose="020B0604030504040204" pitchFamily="34" charset="-128"/>
                <a:ea typeface="Meiryo" panose="020B0604030504040204" pitchFamily="34" charset="-128"/>
              </a:rPr>
              <a:t>を許容</a:t>
            </a:r>
          </a:p>
          <a:p>
            <a:r>
              <a:rPr lang="en-US" dirty="0">
                <a:latin typeface="Meiryo" panose="020B0604030504040204" pitchFamily="34" charset="-128"/>
                <a:ea typeface="Meiryo" panose="020B0604030504040204" pitchFamily="34" charset="-128"/>
              </a:rPr>
              <a:t>Web Proxy：</a:t>
            </a:r>
            <a:r>
              <a:rPr lang="ja-JP" altLang="en-US">
                <a:latin typeface="Meiryo" panose="020B0604030504040204" pitchFamily="34" charset="-128"/>
                <a:ea typeface="Meiryo" panose="020B0604030504040204" pitchFamily="34" charset="-128"/>
              </a:rPr>
              <a:t>ユーザー体験（</a:t>
            </a:r>
            <a:r>
              <a:rPr lang="en-US" dirty="0">
                <a:latin typeface="Meiryo" panose="020B0604030504040204" pitchFamily="34" charset="-128"/>
                <a:ea typeface="Meiryo" panose="020B0604030504040204" pitchFamily="34" charset="-128"/>
              </a:rPr>
              <a:t>UX）</a:t>
            </a:r>
            <a:r>
              <a:rPr lang="ja-JP" altLang="en-US">
                <a:latin typeface="Meiryo" panose="020B0604030504040204" pitchFamily="34" charset="-128"/>
                <a:ea typeface="Meiryo" panose="020B0604030504040204" pitchFamily="34" charset="-128"/>
              </a:rPr>
              <a:t>を重視し、</a:t>
            </a:r>
            <a:r>
              <a:rPr lang="en-US" dirty="0">
                <a:latin typeface="Meiryo" panose="020B0604030504040204" pitchFamily="34" charset="-128"/>
                <a:ea typeface="Meiryo" panose="020B0604030504040204" pitchFamily="34" charset="-128"/>
              </a:rPr>
              <a:t>FP</a:t>
            </a:r>
            <a:r>
              <a:rPr lang="ja-JP" altLang="en-US">
                <a:latin typeface="Meiryo" panose="020B0604030504040204" pitchFamily="34" charset="-128"/>
                <a:ea typeface="Meiryo" panose="020B0604030504040204" pitchFamily="34" charset="-128"/>
              </a:rPr>
              <a:t>を抑制</a:t>
            </a:r>
          </a:p>
          <a:p>
            <a:r>
              <a:rPr lang="en-US" dirty="0">
                <a:latin typeface="Meiryo" panose="020B0604030504040204" pitchFamily="34" charset="-128"/>
                <a:ea typeface="Meiryo" panose="020B0604030504040204" pitchFamily="34" charset="-128"/>
              </a:rPr>
              <a:t>EDR：</a:t>
            </a:r>
            <a:r>
              <a:rPr lang="ja-JP" altLang="en-US">
                <a:latin typeface="Meiryo" panose="020B0604030504040204" pitchFamily="34" charset="-128"/>
                <a:ea typeface="Meiryo" panose="020B0604030504040204" pitchFamily="34" charset="-128"/>
              </a:rPr>
              <a:t>セキュリティ最優先で、</a:t>
            </a:r>
            <a:r>
              <a:rPr lang="en-US" dirty="0">
                <a:latin typeface="Meiryo" panose="020B0604030504040204" pitchFamily="34" charset="-128"/>
                <a:ea typeface="Meiryo" panose="020B0604030504040204" pitchFamily="34" charset="-128"/>
              </a:rPr>
              <a:t>FN</a:t>
            </a:r>
            <a:r>
              <a:rPr lang="ja-JP" altLang="en-US">
                <a:latin typeface="Meiryo" panose="020B0604030504040204" pitchFamily="34" charset="-128"/>
                <a:ea typeface="Meiryo" panose="020B0604030504040204" pitchFamily="34" charset="-128"/>
              </a:rPr>
              <a:t>を最小化</a:t>
            </a:r>
          </a:p>
          <a:p>
            <a:r>
              <a:rPr lang="ja-JP" altLang="en-US">
                <a:latin typeface="Meiryo" panose="020B0604030504040204" pitchFamily="34" charset="-128"/>
                <a:ea typeface="Meiryo" panose="020B0604030504040204" pitchFamily="34" charset="-128"/>
              </a:rPr>
              <a:t>内部検知：</a:t>
            </a:r>
            <a:r>
              <a:rPr lang="en-US" dirty="0">
                <a:latin typeface="Meiryo" panose="020B0604030504040204" pitchFamily="34" charset="-128"/>
                <a:ea typeface="Meiryo" panose="020B0604030504040204" pitchFamily="34" charset="-128"/>
              </a:rPr>
              <a:t>AI</a:t>
            </a:r>
            <a:r>
              <a:rPr lang="ja-JP" altLang="en-US">
                <a:latin typeface="Meiryo" panose="020B0604030504040204" pitchFamily="34" charset="-128"/>
                <a:ea typeface="Meiryo" panose="020B0604030504040204" pitchFamily="34" charset="-128"/>
              </a:rPr>
              <a:t>学習により、</a:t>
            </a:r>
            <a:r>
              <a:rPr lang="en-US" dirty="0">
                <a:latin typeface="Meiryo" panose="020B0604030504040204" pitchFamily="34" charset="-128"/>
                <a:ea typeface="Meiryo" panose="020B0604030504040204" pitchFamily="34" charset="-128"/>
              </a:rPr>
              <a:t>FP</a:t>
            </a:r>
            <a:r>
              <a:rPr lang="ja-JP" altLang="en-US">
                <a:latin typeface="Meiryo" panose="020B0604030504040204" pitchFamily="34" charset="-128"/>
                <a:ea typeface="Meiryo" panose="020B0604030504040204" pitchFamily="34" charset="-128"/>
              </a:rPr>
              <a:t>と</a:t>
            </a:r>
            <a:r>
              <a:rPr lang="en-US" dirty="0">
                <a:latin typeface="Meiryo" panose="020B0604030504040204" pitchFamily="34" charset="-128"/>
                <a:ea typeface="Meiryo" panose="020B0604030504040204" pitchFamily="34" charset="-128"/>
              </a:rPr>
              <a:t>FN</a:t>
            </a:r>
            <a:r>
              <a:rPr lang="ja-JP" altLang="en-US">
                <a:latin typeface="Meiryo" panose="020B0604030504040204" pitchFamily="34" charset="-128"/>
                <a:ea typeface="Meiryo" panose="020B0604030504040204" pitchFamily="34" charset="-128"/>
              </a:rPr>
              <a:t>のバランスを動的に最適化</a:t>
            </a:r>
          </a:p>
        </p:txBody>
      </p:sp>
      <p:sp>
        <p:nvSpPr>
          <p:cNvPr id="21" name="正方形/長方形 9">
            <a:extLst>
              <a:ext uri="{FF2B5EF4-FFF2-40B4-BE49-F238E27FC236}">
                <a16:creationId xmlns:a16="http://schemas.microsoft.com/office/drawing/2014/main" id="{C963F45A-C4F0-C445-636C-AB5340E2344D}"/>
              </a:ext>
            </a:extLst>
          </p:cNvPr>
          <p:cNvSpPr/>
          <p:nvPr/>
        </p:nvSpPr>
        <p:spPr>
          <a:xfrm>
            <a:off x="283121" y="4566449"/>
            <a:ext cx="8316685" cy="1455979"/>
          </a:xfrm>
          <a:prstGeom prst="rect">
            <a:avLst/>
          </a:prstGeom>
          <a:noFill/>
          <a:ln w="317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3532977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6993FD-EFBD-3E86-2B45-1535A2BFB33A}"/>
              </a:ext>
            </a:extLst>
          </p:cNvPr>
          <p:cNvSpPr txBox="1"/>
          <p:nvPr/>
        </p:nvSpPr>
        <p:spPr>
          <a:xfrm>
            <a:off x="-402773" y="235021"/>
            <a:ext cx="8621487" cy="369332"/>
          </a:xfrm>
          <a:prstGeom prst="rect">
            <a:avLst/>
          </a:prstGeom>
          <a:noFill/>
        </p:spPr>
        <p:txBody>
          <a:bodyPr wrap="square">
            <a:spAutoFit/>
          </a:bodyPr>
          <a:lstStyle/>
          <a:p>
            <a:pPr marL="1200150" lvl="2" indent="-285750">
              <a:buFont typeface="Wingdings" pitchFamily="2" charset="2"/>
              <a:buChar char="Ø"/>
            </a:pP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誤検知（</a:t>
            </a:r>
            <a:r>
              <a:rPr lang="en-US"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False Positive</a:t>
            </a: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）と見逃し（</a:t>
            </a:r>
            <a:r>
              <a:rPr lang="en-US"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False Negative</a:t>
            </a: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）のバランス</a:t>
            </a:r>
            <a:endParaRPr lang="en-JP" sz="1800" b="1"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9C729ED-B688-6B98-D212-3EC1FD35BD0F}"/>
              </a:ext>
            </a:extLst>
          </p:cNvPr>
          <p:cNvSpPr txBox="1"/>
          <p:nvPr/>
        </p:nvSpPr>
        <p:spPr>
          <a:xfrm>
            <a:off x="649060" y="972741"/>
            <a:ext cx="7845879" cy="3693319"/>
          </a:xfrm>
          <a:prstGeom prst="rect">
            <a:avLst/>
          </a:prstGeom>
          <a:noFill/>
        </p:spPr>
        <p:txBody>
          <a:bodyPr wrap="square">
            <a:spAutoFit/>
          </a:bodyPr>
          <a:lstStyle/>
          <a:p>
            <a:pPr marL="285750" indent="-285750">
              <a:buFont typeface="Arial" panose="020B0604020202020204" pitchFamily="34" charset="0"/>
              <a:buChar char="•"/>
            </a:pPr>
            <a:r>
              <a:rPr lang="en-JP" b="1" dirty="0">
                <a:solidFill>
                  <a:srgbClr val="C00000"/>
                </a:solidFill>
                <a:latin typeface="Meiryo" panose="020B0604030504040204" pitchFamily="34" charset="-128"/>
                <a:ea typeface="Meiryo" panose="020B0604030504040204" pitchFamily="34" charset="-128"/>
              </a:rPr>
              <a:t>メールゲートウェイ層における最適化方針</a:t>
            </a:r>
            <a:endParaRPr lang="mn-MN" b="1" dirty="0">
              <a:solidFill>
                <a:srgbClr val="C00000"/>
              </a:solidFill>
              <a:latin typeface="Meiryo" panose="020B0604030504040204" pitchFamily="34" charset="-128"/>
              <a:ea typeface="Meiryo" panose="020B0604030504040204" pitchFamily="34" charset="-128"/>
            </a:endParaRPr>
          </a:p>
          <a:p>
            <a:endParaRPr lang="en-JP" b="1" dirty="0">
              <a:solidFill>
                <a:srgbClr val="C00000"/>
              </a:solidFill>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メールゲートウェイ層では、False Positive を一定程度許容しつつ、False Negative を極力抑制する方針を採用する。</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目標とする FP 率は 10～15%、FN 率は 2～5% と設定する。</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この理由として、メールは即時性が必須ではなく、多少の遅延配送が業務に与える影響は比較的軽微である一方、マルウェアを含むメールを見逃した場合の被害は甚大である点が挙げられる。</a:t>
            </a:r>
            <a:endParaRPr lang="mn-MN"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また、ユーザーが不審なメールに気付いた場合、SOC への問い合わせなど人的対応による補完も可能である。</a:t>
            </a:r>
          </a:p>
        </p:txBody>
      </p:sp>
      <p:sp>
        <p:nvSpPr>
          <p:cNvPr id="8" name="Slide Number Placeholder 7">
            <a:extLst>
              <a:ext uri="{FF2B5EF4-FFF2-40B4-BE49-F238E27FC236}">
                <a16:creationId xmlns:a16="http://schemas.microsoft.com/office/drawing/2014/main" id="{7666A182-182F-B178-8C2B-DBB0923DAD39}"/>
              </a:ext>
            </a:extLst>
          </p:cNvPr>
          <p:cNvSpPr>
            <a:spLocks noGrp="1"/>
          </p:cNvSpPr>
          <p:nvPr>
            <p:ph type="sldNum" sz="quarter" idx="12"/>
          </p:nvPr>
        </p:nvSpPr>
        <p:spPr/>
        <p:txBody>
          <a:bodyPr/>
          <a:lstStyle/>
          <a:p>
            <a:fld id="{0B6BB8DA-DB46-D648-BE1D-FCDB55E9CBE3}" type="slidenum">
              <a:rPr lang="en-JP" smtClean="0"/>
              <a:t>21</a:t>
            </a:fld>
            <a:endParaRPr lang="en-JP"/>
          </a:p>
        </p:txBody>
      </p:sp>
    </p:spTree>
    <p:extLst>
      <p:ext uri="{BB962C8B-B14F-4D97-AF65-F5344CB8AC3E}">
        <p14:creationId xmlns:p14="http://schemas.microsoft.com/office/powerpoint/2010/main" val="3504078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E1DB84-625F-3BD8-8E4D-A7E71FECEB83}"/>
              </a:ext>
            </a:extLst>
          </p:cNvPr>
          <p:cNvSpPr txBox="1"/>
          <p:nvPr/>
        </p:nvSpPr>
        <p:spPr>
          <a:xfrm>
            <a:off x="-380999" y="300335"/>
            <a:ext cx="8948056" cy="369332"/>
          </a:xfrm>
          <a:prstGeom prst="rect">
            <a:avLst/>
          </a:prstGeom>
          <a:noFill/>
        </p:spPr>
        <p:txBody>
          <a:bodyPr wrap="square">
            <a:spAutoFit/>
          </a:bodyPr>
          <a:lstStyle/>
          <a:p>
            <a:pPr marL="1200150" lvl="2" indent="-285750">
              <a:buFont typeface="Wingdings" pitchFamily="2" charset="2"/>
              <a:buChar char="Ø"/>
            </a:pP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誤検知（</a:t>
            </a:r>
            <a:r>
              <a:rPr lang="en-US"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False Positive</a:t>
            </a: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）と見逃し（</a:t>
            </a:r>
            <a:r>
              <a:rPr lang="en-US"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False Negative</a:t>
            </a: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）のバランス</a:t>
            </a:r>
            <a:endParaRPr lang="en-JP" sz="1800" b="1"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3BAA7EB-88BF-778B-1558-A40E2A9058BA}"/>
              </a:ext>
            </a:extLst>
          </p:cNvPr>
          <p:cNvSpPr txBox="1"/>
          <p:nvPr/>
        </p:nvSpPr>
        <p:spPr>
          <a:xfrm>
            <a:off x="857250" y="784163"/>
            <a:ext cx="4762500" cy="369332"/>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Web </a:t>
            </a:r>
            <a:r>
              <a:rPr lang="ja-JP" sz="1800" b="1">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プロキシ層における最適化方針</a:t>
            </a:r>
            <a:r>
              <a:rPr lang="en-JP" b="1" dirty="0">
                <a:solidFill>
                  <a:srgbClr val="C00000"/>
                </a:solidFill>
                <a:effectLst/>
                <a:latin typeface="Meiryo" panose="020B0604030504040204" pitchFamily="34" charset="-128"/>
                <a:ea typeface="Meiryo" panose="020B0604030504040204" pitchFamily="34" charset="-128"/>
              </a:rPr>
              <a:t> </a:t>
            </a:r>
            <a:endParaRPr lang="en-JP" b="1" dirty="0">
              <a:solidFill>
                <a:srgbClr val="C0000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691EAC29-A554-342F-C563-BCDB7AB17D17}"/>
              </a:ext>
            </a:extLst>
          </p:cNvPr>
          <p:cNvSpPr txBox="1"/>
          <p:nvPr/>
        </p:nvSpPr>
        <p:spPr>
          <a:xfrm>
            <a:off x="857250" y="1443841"/>
            <a:ext cx="7709807" cy="4524315"/>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Web プロキシ層では、ユーザー体験および業務効率を重視し、False Positive を抑制する方針を採用する。</a:t>
            </a:r>
          </a:p>
          <a:p>
            <a:r>
              <a:rPr lang="en-JP" dirty="0">
                <a:latin typeface="Meiryo" panose="020B0604030504040204" pitchFamily="34" charset="-128"/>
                <a:ea typeface="Meiryo" panose="020B0604030504040204" pitchFamily="34" charset="-128"/>
              </a:rPr>
              <a:t>目標 FP 率は 3～8%、FN 率は 5～10% とする。</a:t>
            </a:r>
          </a:p>
          <a:p>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Web 通信における誤検知は、業務に直接的な支障を与える可能性が高く、ブロックされた際の代替手段が限定的である。そのため、過度な誤検知はユーザーの不満や業務遅延を招く。</a:t>
            </a:r>
          </a:p>
          <a:p>
            <a:pPr marL="285750" indent="-285750">
              <a:buFont typeface="Arial" panose="020B0604020202020204" pitchFamily="34" charset="0"/>
              <a:buChar char="•"/>
            </a:pPr>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一方で、Web 経由の脅威については、エンドポイント層（EDR）での二次検知が可能であるため、一定の見逃しは許容する設計とする。</a:t>
            </a:r>
          </a:p>
          <a:p>
            <a:endParaRPr lang="en-JP"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チューニングとしては、Web カテゴリや部門ごとに異なる閾値を設定し、例えば開発部門に対しては制限を緩和するなど、柔軟な運用を行う。また、ユーザーからのフィードバックを迅速に反映し、A/B テストによる継続的な最適化を実施する。</a:t>
            </a:r>
          </a:p>
        </p:txBody>
      </p:sp>
      <p:sp>
        <p:nvSpPr>
          <p:cNvPr id="10" name="Slide Number Placeholder 9">
            <a:extLst>
              <a:ext uri="{FF2B5EF4-FFF2-40B4-BE49-F238E27FC236}">
                <a16:creationId xmlns:a16="http://schemas.microsoft.com/office/drawing/2014/main" id="{AF0FE04A-2953-A74D-A07A-5C34625C43AE}"/>
              </a:ext>
            </a:extLst>
          </p:cNvPr>
          <p:cNvSpPr>
            <a:spLocks noGrp="1"/>
          </p:cNvSpPr>
          <p:nvPr>
            <p:ph type="sldNum" sz="quarter" idx="12"/>
          </p:nvPr>
        </p:nvSpPr>
        <p:spPr/>
        <p:txBody>
          <a:bodyPr/>
          <a:lstStyle/>
          <a:p>
            <a:fld id="{0B6BB8DA-DB46-D648-BE1D-FCDB55E9CBE3}" type="slidenum">
              <a:rPr lang="en-JP" smtClean="0"/>
              <a:t>22</a:t>
            </a:fld>
            <a:endParaRPr lang="en-JP"/>
          </a:p>
        </p:txBody>
      </p:sp>
    </p:spTree>
    <p:extLst>
      <p:ext uri="{BB962C8B-B14F-4D97-AF65-F5344CB8AC3E}">
        <p14:creationId xmlns:p14="http://schemas.microsoft.com/office/powerpoint/2010/main" val="3469285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FE5C94-EEC4-BBB4-A0BE-6832D0B52A1A}"/>
              </a:ext>
            </a:extLst>
          </p:cNvPr>
          <p:cNvSpPr txBox="1"/>
          <p:nvPr/>
        </p:nvSpPr>
        <p:spPr>
          <a:xfrm>
            <a:off x="-176152" y="169662"/>
            <a:ext cx="6139543" cy="369332"/>
          </a:xfrm>
          <a:prstGeom prst="rect">
            <a:avLst/>
          </a:prstGeom>
          <a:noFill/>
        </p:spPr>
        <p:txBody>
          <a:bodyPr wrap="square">
            <a:spAutoFit/>
          </a:bodyPr>
          <a:lstStyle/>
          <a:p>
            <a:pPr marL="1200150" lvl="2" indent="-285750">
              <a:buFont typeface="Wingdings" pitchFamily="2" charset="2"/>
              <a:buChar char="Ø"/>
            </a:pPr>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運用負荷（人手、計算資源、分析時間）</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4CCF69F8-A9E4-F064-0E34-7AE3F04CA598}"/>
              </a:ext>
            </a:extLst>
          </p:cNvPr>
          <p:cNvSpPr txBox="1"/>
          <p:nvPr/>
        </p:nvSpPr>
        <p:spPr>
          <a:xfrm>
            <a:off x="395640" y="1142093"/>
            <a:ext cx="8197642" cy="3970318"/>
          </a:xfrm>
          <a:prstGeom prst="rect">
            <a:avLst/>
          </a:prstGeom>
          <a:noFill/>
        </p:spPr>
        <p:txBody>
          <a:bodyPr wrap="square">
            <a:spAutoFit/>
          </a:bodyPr>
          <a:lstStyle/>
          <a:p>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運用負荷の現実的評価</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提案アーキテクチャの運用に必要なリソースを定量的に評価</a:t>
            </a:r>
            <a:endParaRPr lang="en-US"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Courier New" panose="02070309020205020404" pitchFamily="49" charset="0"/>
              <a:buChar char="o"/>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人的リソース</a:t>
            </a:r>
            <a:endParaRPr lang="en-US"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pPr lvl="0"/>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大規模組織（従業員</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20000</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名以上）の場合</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SOC</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アナリスト（</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Tier 1</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 15-20</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名、</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24</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時間</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365</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日対応（複数チーム）</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インシデントレスポンダー（</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Tier 2</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 8-10</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名、</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24</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時間対応</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セキュリティエンジニア（</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Tier 3</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 5-8</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名、専門チーム（マルウェア解析、脅威インテリジェンス、ツール開発）</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SOC</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マネージャー</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 2-3</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名、運用統括・経営報告</a:t>
            </a:r>
            <a:endParaRPr lang="en-US"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大規模環境では、専門化が進みます。脅威インテリジェンス専任、マルウェア解析専任といった役割分担により、高度な分析能力を維持します。</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8" name="Slide Number Placeholder 7">
            <a:extLst>
              <a:ext uri="{FF2B5EF4-FFF2-40B4-BE49-F238E27FC236}">
                <a16:creationId xmlns:a16="http://schemas.microsoft.com/office/drawing/2014/main" id="{0EAB1A47-9115-9B6C-B39A-29C6647F39AE}"/>
              </a:ext>
            </a:extLst>
          </p:cNvPr>
          <p:cNvSpPr>
            <a:spLocks noGrp="1"/>
          </p:cNvSpPr>
          <p:nvPr>
            <p:ph type="sldNum" sz="quarter" idx="12"/>
          </p:nvPr>
        </p:nvSpPr>
        <p:spPr/>
        <p:txBody>
          <a:bodyPr/>
          <a:lstStyle/>
          <a:p>
            <a:fld id="{0B6BB8DA-DB46-D648-BE1D-FCDB55E9CBE3}" type="slidenum">
              <a:rPr lang="en-JP" smtClean="0"/>
              <a:t>23</a:t>
            </a:fld>
            <a:endParaRPr lang="en-JP"/>
          </a:p>
        </p:txBody>
      </p:sp>
    </p:spTree>
    <p:extLst>
      <p:ext uri="{BB962C8B-B14F-4D97-AF65-F5344CB8AC3E}">
        <p14:creationId xmlns:p14="http://schemas.microsoft.com/office/powerpoint/2010/main" val="2487252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7993016-51A9-E564-885A-5AE6B6A2E42A}"/>
              </a:ext>
            </a:extLst>
          </p:cNvPr>
          <p:cNvSpPr txBox="1"/>
          <p:nvPr/>
        </p:nvSpPr>
        <p:spPr>
          <a:xfrm>
            <a:off x="805543" y="337848"/>
            <a:ext cx="4572000" cy="369332"/>
          </a:xfrm>
          <a:prstGeom prst="rect">
            <a:avLst/>
          </a:prstGeom>
          <a:noFill/>
        </p:spPr>
        <p:txBody>
          <a:bodyPr wrap="square">
            <a:spAutoFit/>
          </a:bodyPr>
          <a:lstStyle/>
          <a:p>
            <a:pPr marL="285750" indent="-285750">
              <a:buFont typeface="Wingdings" pitchFamily="2" charset="2"/>
              <a:buChar char="Ø"/>
            </a:pPr>
            <a:r>
              <a:rPr lang="en-JP" b="1" dirty="0">
                <a:solidFill>
                  <a:srgbClr val="92D050"/>
                </a:solidFill>
                <a:latin typeface="Meiryo" panose="020B0604030504040204" pitchFamily="34" charset="-128"/>
                <a:ea typeface="Meiryo" panose="020B0604030504040204" pitchFamily="34" charset="-128"/>
              </a:rPr>
              <a:t>計算リソース</a:t>
            </a:r>
          </a:p>
        </p:txBody>
      </p:sp>
      <p:sp>
        <p:nvSpPr>
          <p:cNvPr id="8" name="Slide Number Placeholder 7">
            <a:extLst>
              <a:ext uri="{FF2B5EF4-FFF2-40B4-BE49-F238E27FC236}">
                <a16:creationId xmlns:a16="http://schemas.microsoft.com/office/drawing/2014/main" id="{F21E3DC5-0033-1773-7812-B3537087BD59}"/>
              </a:ext>
            </a:extLst>
          </p:cNvPr>
          <p:cNvSpPr>
            <a:spLocks noGrp="1"/>
          </p:cNvSpPr>
          <p:nvPr>
            <p:ph type="sldNum" sz="quarter" idx="12"/>
          </p:nvPr>
        </p:nvSpPr>
        <p:spPr/>
        <p:txBody>
          <a:bodyPr/>
          <a:lstStyle/>
          <a:p>
            <a:fld id="{0B6BB8DA-DB46-D648-BE1D-FCDB55E9CBE3}" type="slidenum">
              <a:rPr lang="en-JP" smtClean="0"/>
              <a:t>24</a:t>
            </a:fld>
            <a:endParaRPr lang="en-JP"/>
          </a:p>
        </p:txBody>
      </p:sp>
      <p:sp>
        <p:nvSpPr>
          <p:cNvPr id="3" name="TextBox 2">
            <a:extLst>
              <a:ext uri="{FF2B5EF4-FFF2-40B4-BE49-F238E27FC236}">
                <a16:creationId xmlns:a16="http://schemas.microsoft.com/office/drawing/2014/main" id="{50302B28-CEF5-29D7-D7FF-A66C5D92ED5B}"/>
              </a:ext>
            </a:extLst>
          </p:cNvPr>
          <p:cNvSpPr txBox="1"/>
          <p:nvPr/>
        </p:nvSpPr>
        <p:spPr>
          <a:xfrm>
            <a:off x="352096" y="1120675"/>
            <a:ext cx="4572000" cy="2062103"/>
          </a:xfrm>
          <a:prstGeom prst="rect">
            <a:avLst/>
          </a:prstGeom>
          <a:noFill/>
        </p:spPr>
        <p:txBody>
          <a:bodyPr wrap="square">
            <a:spAutoFit/>
          </a:bodyPr>
          <a:lstStyle/>
          <a:p>
            <a:r>
              <a:rPr lang="ja-JP" altLang="en-US" sz="1600">
                <a:solidFill>
                  <a:schemeClr val="accent4"/>
                </a:solidFill>
                <a:latin typeface="Meiryo" panose="020B0604030504040204" pitchFamily="34" charset="-128"/>
                <a:ea typeface="Meiryo" panose="020B0604030504040204" pitchFamily="34" charset="-128"/>
              </a:rPr>
              <a:t>オンプレミス環境の構成例</a:t>
            </a:r>
          </a:p>
          <a:p>
            <a:r>
              <a:rPr lang="en-US" sz="1600" dirty="0">
                <a:latin typeface="Meiryo" panose="020B0604030504040204" pitchFamily="34" charset="-128"/>
                <a:ea typeface="Meiryo" panose="020B0604030504040204" pitchFamily="34" charset="-128"/>
              </a:rPr>
              <a:t>SIEM</a:t>
            </a:r>
            <a:r>
              <a:rPr lang="ja-JP" altLang="en-US" sz="1600">
                <a:latin typeface="Meiryo" panose="020B0604030504040204" pitchFamily="34" charset="-128"/>
                <a:ea typeface="Meiryo" panose="020B0604030504040204" pitchFamily="34" charset="-128"/>
              </a:rPr>
              <a:t>サーバー</a:t>
            </a:r>
          </a:p>
          <a:p>
            <a:pPr marL="742950" lvl="1"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高性能サーバー：</a:t>
            </a:r>
            <a:r>
              <a:rPr lang="en-US" altLang="ja-JP" sz="1600" dirty="0">
                <a:latin typeface="Meiryo" panose="020B0604030504040204" pitchFamily="34" charset="-128"/>
                <a:ea typeface="Meiryo" panose="020B0604030504040204" pitchFamily="34" charset="-128"/>
              </a:rPr>
              <a:t>3</a:t>
            </a:r>
            <a:r>
              <a:rPr lang="ja-JP" altLang="en-US" sz="1600">
                <a:latin typeface="Meiryo" panose="020B0604030504040204" pitchFamily="34" charset="-128"/>
                <a:ea typeface="Meiryo" panose="020B0604030504040204" pitchFamily="34" charset="-128"/>
              </a:rPr>
              <a:t>～</a:t>
            </a:r>
            <a:r>
              <a:rPr lang="en-US" altLang="ja-JP" sz="1600" dirty="0">
                <a:latin typeface="Meiryo" panose="020B0604030504040204" pitchFamily="34" charset="-128"/>
                <a:ea typeface="Meiryo" panose="020B0604030504040204" pitchFamily="34" charset="-128"/>
              </a:rPr>
              <a:t>5</a:t>
            </a:r>
            <a:r>
              <a:rPr lang="ja-JP" altLang="en-US" sz="1600">
                <a:latin typeface="Meiryo" panose="020B0604030504040204" pitchFamily="34" charset="-128"/>
                <a:ea typeface="Meiryo" panose="020B0604030504040204" pitchFamily="34" charset="-128"/>
              </a:rPr>
              <a:t>台</a:t>
            </a:r>
          </a:p>
          <a:p>
            <a:pPr marL="742950" lvl="1"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冗長構成（</a:t>
            </a:r>
            <a:r>
              <a:rPr lang="en-US" sz="1600" dirty="0">
                <a:latin typeface="Meiryo" panose="020B0604030504040204" pitchFamily="34" charset="-128"/>
                <a:ea typeface="Meiryo" panose="020B0604030504040204" pitchFamily="34" charset="-128"/>
              </a:rPr>
              <a:t>HA）</a:t>
            </a:r>
          </a:p>
          <a:p>
            <a:pPr marL="742950" lvl="1" indent="-285750">
              <a:buFont typeface="Arial" panose="020B0604020202020204" pitchFamily="34" charset="0"/>
              <a:buChar char="•"/>
            </a:pPr>
            <a:r>
              <a:rPr lang="en-US" sz="1600" dirty="0">
                <a:latin typeface="Meiryo" panose="020B0604030504040204" pitchFamily="34" charset="-128"/>
                <a:ea typeface="Meiryo" panose="020B0604030504040204" pitchFamily="34" charset="-128"/>
              </a:rPr>
              <a:t>1</a:t>
            </a:r>
            <a:r>
              <a:rPr lang="ja-JP" altLang="en-US" sz="1600">
                <a:latin typeface="Meiryo" panose="020B0604030504040204" pitchFamily="34" charset="-128"/>
                <a:ea typeface="Meiryo" panose="020B0604030504040204" pitchFamily="34" charset="-128"/>
              </a:rPr>
              <a:t>日あたり </a:t>
            </a:r>
            <a:r>
              <a:rPr lang="en-US" altLang="ja-JP" sz="1600" dirty="0">
                <a:latin typeface="Meiryo" panose="020B0604030504040204" pitchFamily="34" charset="-128"/>
                <a:ea typeface="Meiryo" panose="020B0604030504040204" pitchFamily="34" charset="-128"/>
              </a:rPr>
              <a:t>1</a:t>
            </a:r>
            <a:r>
              <a:rPr lang="en-US" sz="1600" dirty="0">
                <a:latin typeface="Meiryo" panose="020B0604030504040204" pitchFamily="34" charset="-128"/>
                <a:ea typeface="Meiryo" panose="020B0604030504040204" pitchFamily="34" charset="-128"/>
              </a:rPr>
              <a:t>TB</a:t>
            </a:r>
            <a:r>
              <a:rPr lang="ja-JP" altLang="en-US" sz="1600">
                <a:latin typeface="Meiryo" panose="020B0604030504040204" pitchFamily="34" charset="-128"/>
                <a:ea typeface="Meiryo" panose="020B0604030504040204" pitchFamily="34" charset="-128"/>
              </a:rPr>
              <a:t>以上 のログ処理能力</a:t>
            </a:r>
          </a:p>
          <a:p>
            <a:r>
              <a:rPr lang="ja-JP" altLang="en-US" sz="1600">
                <a:latin typeface="Meiryo" panose="020B0604030504040204" pitchFamily="34" charset="-128"/>
                <a:ea typeface="Meiryo" panose="020B0604030504040204" pitchFamily="34" charset="-128"/>
              </a:rPr>
              <a:t>サンドボックス環境</a:t>
            </a:r>
          </a:p>
          <a:p>
            <a:pPr marL="742950" lvl="1"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仮想マシン：</a:t>
            </a:r>
            <a:r>
              <a:rPr lang="en-US" altLang="ja-JP" sz="1600" dirty="0">
                <a:latin typeface="Meiryo" panose="020B0604030504040204" pitchFamily="34" charset="-128"/>
                <a:ea typeface="Meiryo" panose="020B0604030504040204" pitchFamily="34" charset="-128"/>
              </a:rPr>
              <a:t>10</a:t>
            </a:r>
            <a:r>
              <a:rPr lang="ja-JP" altLang="en-US" sz="1600">
                <a:latin typeface="Meiryo" panose="020B0604030504040204" pitchFamily="34" charset="-128"/>
                <a:ea typeface="Meiryo" panose="020B0604030504040204" pitchFamily="34" charset="-128"/>
              </a:rPr>
              <a:t>～</a:t>
            </a:r>
            <a:r>
              <a:rPr lang="en-US" altLang="ja-JP" sz="1600" dirty="0">
                <a:latin typeface="Meiryo" panose="020B0604030504040204" pitchFamily="34" charset="-128"/>
                <a:ea typeface="Meiryo" panose="020B0604030504040204" pitchFamily="34" charset="-128"/>
              </a:rPr>
              <a:t>20</a:t>
            </a:r>
            <a:r>
              <a:rPr lang="ja-JP" altLang="en-US" sz="1600">
                <a:latin typeface="Meiryo" panose="020B0604030504040204" pitchFamily="34" charset="-128"/>
                <a:ea typeface="Meiryo" panose="020B0604030504040204" pitchFamily="34" charset="-128"/>
              </a:rPr>
              <a:t>台</a:t>
            </a:r>
          </a:p>
          <a:p>
            <a:pPr marL="742950" lvl="1"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並列解析用リソースプール</a:t>
            </a:r>
          </a:p>
        </p:txBody>
      </p:sp>
      <p:sp>
        <p:nvSpPr>
          <p:cNvPr id="6" name="TextBox 5">
            <a:extLst>
              <a:ext uri="{FF2B5EF4-FFF2-40B4-BE49-F238E27FC236}">
                <a16:creationId xmlns:a16="http://schemas.microsoft.com/office/drawing/2014/main" id="{9E048F3E-AB6E-D0FE-AD2B-5B0E8D140D74}"/>
              </a:ext>
            </a:extLst>
          </p:cNvPr>
          <p:cNvSpPr txBox="1"/>
          <p:nvPr/>
        </p:nvSpPr>
        <p:spPr>
          <a:xfrm>
            <a:off x="4572000" y="997565"/>
            <a:ext cx="4572000" cy="2308324"/>
          </a:xfrm>
          <a:prstGeom prst="rect">
            <a:avLst/>
          </a:prstGeom>
          <a:noFill/>
        </p:spPr>
        <p:txBody>
          <a:bodyPr wrap="square">
            <a:spAutoFit/>
          </a:bodyPr>
          <a:lstStyle/>
          <a:p>
            <a:r>
              <a:rPr lang="ja-JP" altLang="en-US" sz="1600">
                <a:solidFill>
                  <a:schemeClr val="accent4"/>
                </a:solidFill>
                <a:latin typeface="Meiryo" panose="020B0604030504040204" pitchFamily="34" charset="-128"/>
                <a:ea typeface="Meiryo" panose="020B0604030504040204" pitchFamily="34" charset="-128"/>
              </a:rPr>
              <a:t>運用要件とコスト</a:t>
            </a:r>
          </a:p>
          <a:p>
            <a:r>
              <a:rPr lang="ja-JP" altLang="en-US" sz="1600">
                <a:latin typeface="Meiryo" panose="020B0604030504040204" pitchFamily="34" charset="-128"/>
                <a:ea typeface="Meiryo" panose="020B0604030504040204" pitchFamily="34" charset="-128"/>
              </a:rPr>
              <a:t>ログストレージ</a:t>
            </a:r>
          </a:p>
          <a:p>
            <a:pPr marL="742950" lvl="1"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最低</a:t>
            </a:r>
            <a:r>
              <a:rPr lang="en-US" altLang="ja-JP" sz="1600" dirty="0">
                <a:latin typeface="Meiryo" panose="020B0604030504040204" pitchFamily="34" charset="-128"/>
                <a:ea typeface="Meiryo" panose="020B0604030504040204" pitchFamily="34" charset="-128"/>
              </a:rPr>
              <a:t>90</a:t>
            </a:r>
            <a:r>
              <a:rPr lang="ja-JP" altLang="en-US" sz="1600">
                <a:latin typeface="Meiryo" panose="020B0604030504040204" pitchFamily="34" charset="-128"/>
                <a:ea typeface="Meiryo" panose="020B0604030504040204" pitchFamily="34" charset="-128"/>
              </a:rPr>
              <a:t>日分保存</a:t>
            </a:r>
          </a:p>
          <a:p>
            <a:pPr marL="742950" lvl="1"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コンプライアンス要件により最大</a:t>
            </a:r>
            <a:r>
              <a:rPr lang="en-US" altLang="ja-JP" sz="1600" dirty="0">
                <a:latin typeface="Meiryo" panose="020B0604030504040204" pitchFamily="34" charset="-128"/>
                <a:ea typeface="Meiryo" panose="020B0604030504040204" pitchFamily="34" charset="-128"/>
              </a:rPr>
              <a:t>7</a:t>
            </a:r>
            <a:r>
              <a:rPr lang="ja-JP" altLang="en-US" sz="1600">
                <a:latin typeface="Meiryo" panose="020B0604030504040204" pitchFamily="34" charset="-128"/>
                <a:ea typeface="Meiryo" panose="020B0604030504040204" pitchFamily="34" charset="-128"/>
              </a:rPr>
              <a:t>年</a:t>
            </a:r>
          </a:p>
          <a:p>
            <a:r>
              <a:rPr lang="ja-JP" altLang="en-US" sz="1600">
                <a:latin typeface="Meiryo" panose="020B0604030504040204" pitchFamily="34" charset="-128"/>
                <a:ea typeface="Meiryo" panose="020B0604030504040204" pitchFamily="34" charset="-128"/>
              </a:rPr>
              <a:t>バックアップ・アーカイブ</a:t>
            </a:r>
          </a:p>
          <a:p>
            <a:pPr marL="742950" lvl="1"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フォレンジック対応の長期保存</a:t>
            </a:r>
          </a:p>
          <a:p>
            <a:r>
              <a:rPr lang="ja-JP" altLang="en-US" sz="1600">
                <a:latin typeface="Meiryo" panose="020B0604030504040204" pitchFamily="34" charset="-128"/>
                <a:ea typeface="Meiryo" panose="020B0604030504040204" pitchFamily="34" charset="-128"/>
              </a:rPr>
              <a:t>コスト面</a:t>
            </a:r>
          </a:p>
          <a:p>
            <a:pPr marL="742950" lvl="1"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初期投資：数千万円規模</a:t>
            </a:r>
          </a:p>
          <a:p>
            <a:pPr marL="742950" lvl="1"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リプレース周期：</a:t>
            </a:r>
            <a:r>
              <a:rPr lang="en-US" altLang="ja-JP" sz="1600" dirty="0">
                <a:latin typeface="Meiryo" panose="020B0604030504040204" pitchFamily="34" charset="-128"/>
                <a:ea typeface="Meiryo" panose="020B0604030504040204" pitchFamily="34" charset="-128"/>
              </a:rPr>
              <a:t>3</a:t>
            </a:r>
            <a:r>
              <a:rPr lang="ja-JP" altLang="en-US" sz="1600">
                <a:latin typeface="Meiryo" panose="020B0604030504040204" pitchFamily="34" charset="-128"/>
                <a:ea typeface="Meiryo" panose="020B0604030504040204" pitchFamily="34" charset="-128"/>
              </a:rPr>
              <a:t>～</a:t>
            </a:r>
            <a:r>
              <a:rPr lang="en-US" altLang="ja-JP" sz="1600" dirty="0">
                <a:latin typeface="Meiryo" panose="020B0604030504040204" pitchFamily="34" charset="-128"/>
                <a:ea typeface="Meiryo" panose="020B0604030504040204" pitchFamily="34" charset="-128"/>
              </a:rPr>
              <a:t>5</a:t>
            </a:r>
            <a:r>
              <a:rPr lang="ja-JP" altLang="en-US" sz="1600">
                <a:latin typeface="Meiryo" panose="020B0604030504040204" pitchFamily="34" charset="-128"/>
                <a:ea typeface="Meiryo" panose="020B0604030504040204" pitchFamily="34" charset="-128"/>
              </a:rPr>
              <a:t>年</a:t>
            </a:r>
          </a:p>
        </p:txBody>
      </p:sp>
      <p:graphicFrame>
        <p:nvGraphicFramePr>
          <p:cNvPr id="9" name="Table 8">
            <a:extLst>
              <a:ext uri="{FF2B5EF4-FFF2-40B4-BE49-F238E27FC236}">
                <a16:creationId xmlns:a16="http://schemas.microsoft.com/office/drawing/2014/main" id="{4C6E47D0-7A49-33D6-7940-963E8F8CED18}"/>
              </a:ext>
            </a:extLst>
          </p:cNvPr>
          <p:cNvGraphicFramePr>
            <a:graphicFrameLocks noGrp="1"/>
          </p:cNvGraphicFramePr>
          <p:nvPr>
            <p:extLst>
              <p:ext uri="{D42A27DB-BD31-4B8C-83A1-F6EECF244321}">
                <p14:modId xmlns:p14="http://schemas.microsoft.com/office/powerpoint/2010/main" val="3048180900"/>
              </p:ext>
            </p:extLst>
          </p:nvPr>
        </p:nvGraphicFramePr>
        <p:xfrm>
          <a:off x="286208" y="3694842"/>
          <a:ext cx="8433543" cy="1924319"/>
        </p:xfrm>
        <a:graphic>
          <a:graphicData uri="http://schemas.openxmlformats.org/drawingml/2006/table">
            <a:tbl>
              <a:tblPr>
                <a:tableStyleId>{93296810-A885-4BE3-A3E7-6D5BEEA58F35}</a:tableStyleId>
              </a:tblPr>
              <a:tblGrid>
                <a:gridCol w="2811181">
                  <a:extLst>
                    <a:ext uri="{9D8B030D-6E8A-4147-A177-3AD203B41FA5}">
                      <a16:colId xmlns:a16="http://schemas.microsoft.com/office/drawing/2014/main" val="2746010069"/>
                    </a:ext>
                  </a:extLst>
                </a:gridCol>
                <a:gridCol w="2811181">
                  <a:extLst>
                    <a:ext uri="{9D8B030D-6E8A-4147-A177-3AD203B41FA5}">
                      <a16:colId xmlns:a16="http://schemas.microsoft.com/office/drawing/2014/main" val="3457313134"/>
                    </a:ext>
                  </a:extLst>
                </a:gridCol>
                <a:gridCol w="2811181">
                  <a:extLst>
                    <a:ext uri="{9D8B030D-6E8A-4147-A177-3AD203B41FA5}">
                      <a16:colId xmlns:a16="http://schemas.microsoft.com/office/drawing/2014/main" val="3455433672"/>
                    </a:ext>
                  </a:extLst>
                </a:gridCol>
              </a:tblGrid>
              <a:tr h="339843">
                <a:tc>
                  <a:txBody>
                    <a:bodyPr/>
                    <a:lstStyle/>
                    <a:p>
                      <a:pPr algn="ctr"/>
                      <a:r>
                        <a:rPr lang="ja-JP" altLang="en-US" sz="1400">
                          <a:latin typeface="Meiryo" panose="020B0604030504040204" pitchFamily="34" charset="-128"/>
                          <a:ea typeface="Meiryo" panose="020B0604030504040204" pitchFamily="34" charset="-128"/>
                        </a:rPr>
                        <a:t>項目</a:t>
                      </a:r>
                    </a:p>
                  </a:txBody>
                  <a:tcPr anchor="ctr"/>
                </a:tc>
                <a:tc>
                  <a:txBody>
                    <a:bodyPr/>
                    <a:lstStyle/>
                    <a:p>
                      <a:pPr algn="ctr"/>
                      <a:r>
                        <a:rPr lang="ja-JP" altLang="en-US" sz="1400">
                          <a:latin typeface="Meiryo" panose="020B0604030504040204" pitchFamily="34" charset="-128"/>
                          <a:ea typeface="Meiryo" panose="020B0604030504040204" pitchFamily="34" charset="-128"/>
                        </a:rPr>
                        <a:t>オンプレミス</a:t>
                      </a:r>
                    </a:p>
                  </a:txBody>
                  <a:tcPr anchor="ctr"/>
                </a:tc>
                <a:tc>
                  <a:txBody>
                    <a:bodyPr/>
                    <a:lstStyle/>
                    <a:p>
                      <a:pPr algn="ctr"/>
                      <a:r>
                        <a:rPr lang="ja-JP" altLang="en-US" sz="1400">
                          <a:latin typeface="Meiryo" panose="020B0604030504040204" pitchFamily="34" charset="-128"/>
                          <a:ea typeface="Meiryo" panose="020B0604030504040204" pitchFamily="34" charset="-128"/>
                        </a:rPr>
                        <a:t>クラウド</a:t>
                      </a:r>
                    </a:p>
                  </a:txBody>
                  <a:tcPr anchor="ctr"/>
                </a:tc>
                <a:extLst>
                  <a:ext uri="{0D108BD9-81ED-4DB2-BD59-A6C34878D82A}">
                    <a16:rowId xmlns:a16="http://schemas.microsoft.com/office/drawing/2014/main" val="170767955"/>
                  </a:ext>
                </a:extLst>
              </a:tr>
              <a:tr h="396119">
                <a:tc>
                  <a:txBody>
                    <a:bodyPr/>
                    <a:lstStyle/>
                    <a:p>
                      <a:pPr algn="ctr"/>
                      <a:r>
                        <a:rPr lang="ja-JP" altLang="en-US" sz="1400">
                          <a:latin typeface="Meiryo" panose="020B0604030504040204" pitchFamily="34" charset="-128"/>
                          <a:ea typeface="Meiryo" panose="020B0604030504040204" pitchFamily="34" charset="-128"/>
                        </a:rPr>
                        <a:t>初期コスト</a:t>
                      </a:r>
                    </a:p>
                  </a:txBody>
                  <a:tcPr anchor="ctr"/>
                </a:tc>
                <a:tc>
                  <a:txBody>
                    <a:bodyPr/>
                    <a:lstStyle/>
                    <a:p>
                      <a:pPr algn="ctr"/>
                      <a:r>
                        <a:rPr lang="ja-JP" altLang="en-US" sz="1400">
                          <a:latin typeface="Meiryo" panose="020B0604030504040204" pitchFamily="34" charset="-128"/>
                          <a:ea typeface="Meiryo" panose="020B0604030504040204" pitchFamily="34" charset="-128"/>
                        </a:rPr>
                        <a:t>高</a:t>
                      </a:r>
                    </a:p>
                  </a:txBody>
                  <a:tcPr anchor="ctr"/>
                </a:tc>
                <a:tc>
                  <a:txBody>
                    <a:bodyPr/>
                    <a:lstStyle/>
                    <a:p>
                      <a:pPr algn="ctr"/>
                      <a:r>
                        <a:rPr lang="ja-JP" altLang="en-US" sz="1400">
                          <a:latin typeface="Meiryo" panose="020B0604030504040204" pitchFamily="34" charset="-128"/>
                          <a:ea typeface="Meiryo" panose="020B0604030504040204" pitchFamily="34" charset="-128"/>
                        </a:rPr>
                        <a:t>低</a:t>
                      </a:r>
                    </a:p>
                  </a:txBody>
                  <a:tcPr anchor="ctr"/>
                </a:tc>
                <a:extLst>
                  <a:ext uri="{0D108BD9-81ED-4DB2-BD59-A6C34878D82A}">
                    <a16:rowId xmlns:a16="http://schemas.microsoft.com/office/drawing/2014/main" val="3257981599"/>
                  </a:ext>
                </a:extLst>
              </a:tr>
              <a:tr h="396119">
                <a:tc>
                  <a:txBody>
                    <a:bodyPr/>
                    <a:lstStyle/>
                    <a:p>
                      <a:pPr algn="ctr"/>
                      <a:r>
                        <a:rPr lang="ja-JP" altLang="en-US" sz="1400">
                          <a:latin typeface="Meiryo" panose="020B0604030504040204" pitchFamily="34" charset="-128"/>
                          <a:ea typeface="Meiryo" panose="020B0604030504040204" pitchFamily="34" charset="-128"/>
                        </a:rPr>
                        <a:t>運用負荷</a:t>
                      </a:r>
                    </a:p>
                  </a:txBody>
                  <a:tcPr anchor="ctr"/>
                </a:tc>
                <a:tc>
                  <a:txBody>
                    <a:bodyPr/>
                    <a:lstStyle/>
                    <a:p>
                      <a:pPr algn="ctr"/>
                      <a:r>
                        <a:rPr lang="ja-JP" altLang="en-US" sz="1400">
                          <a:latin typeface="Meiryo" panose="020B0604030504040204" pitchFamily="34" charset="-128"/>
                          <a:ea typeface="Meiryo" panose="020B0604030504040204" pitchFamily="34" charset="-128"/>
                        </a:rPr>
                        <a:t>高</a:t>
                      </a:r>
                    </a:p>
                  </a:txBody>
                  <a:tcPr anchor="ctr"/>
                </a:tc>
                <a:tc>
                  <a:txBody>
                    <a:bodyPr/>
                    <a:lstStyle/>
                    <a:p>
                      <a:pPr algn="ctr"/>
                      <a:r>
                        <a:rPr lang="ja-JP" altLang="en-US" sz="1400">
                          <a:latin typeface="Meiryo" panose="020B0604030504040204" pitchFamily="34" charset="-128"/>
                          <a:ea typeface="Meiryo" panose="020B0604030504040204" pitchFamily="34" charset="-128"/>
                        </a:rPr>
                        <a:t>低</a:t>
                      </a:r>
                    </a:p>
                  </a:txBody>
                  <a:tcPr anchor="ctr"/>
                </a:tc>
                <a:extLst>
                  <a:ext uri="{0D108BD9-81ED-4DB2-BD59-A6C34878D82A}">
                    <a16:rowId xmlns:a16="http://schemas.microsoft.com/office/drawing/2014/main" val="3100112184"/>
                  </a:ext>
                </a:extLst>
              </a:tr>
              <a:tr h="396119">
                <a:tc>
                  <a:txBody>
                    <a:bodyPr/>
                    <a:lstStyle/>
                    <a:p>
                      <a:pPr algn="ctr"/>
                      <a:r>
                        <a:rPr lang="ja-JP" altLang="en-US" sz="1400">
                          <a:latin typeface="Meiryo" panose="020B0604030504040204" pitchFamily="34" charset="-128"/>
                          <a:ea typeface="Meiryo" panose="020B0604030504040204" pitchFamily="34" charset="-128"/>
                        </a:rPr>
                        <a:t>拡張性</a:t>
                      </a:r>
                    </a:p>
                  </a:txBody>
                  <a:tcPr anchor="ctr"/>
                </a:tc>
                <a:tc>
                  <a:txBody>
                    <a:bodyPr/>
                    <a:lstStyle/>
                    <a:p>
                      <a:pPr algn="ctr"/>
                      <a:r>
                        <a:rPr lang="ja-JP" altLang="en-US" sz="1400">
                          <a:latin typeface="Meiryo" panose="020B0604030504040204" pitchFamily="34" charset="-128"/>
                          <a:ea typeface="Meiryo" panose="020B0604030504040204" pitchFamily="34" charset="-128"/>
                        </a:rPr>
                        <a:t>低</a:t>
                      </a:r>
                    </a:p>
                  </a:txBody>
                  <a:tcPr anchor="ctr"/>
                </a:tc>
                <a:tc>
                  <a:txBody>
                    <a:bodyPr/>
                    <a:lstStyle/>
                    <a:p>
                      <a:pPr algn="ctr"/>
                      <a:r>
                        <a:rPr lang="ja-JP" altLang="en-US" sz="1400">
                          <a:latin typeface="Meiryo" panose="020B0604030504040204" pitchFamily="34" charset="-128"/>
                          <a:ea typeface="Meiryo" panose="020B0604030504040204" pitchFamily="34" charset="-128"/>
                        </a:rPr>
                        <a:t>高</a:t>
                      </a:r>
                    </a:p>
                  </a:txBody>
                  <a:tcPr anchor="ctr"/>
                </a:tc>
                <a:extLst>
                  <a:ext uri="{0D108BD9-81ED-4DB2-BD59-A6C34878D82A}">
                    <a16:rowId xmlns:a16="http://schemas.microsoft.com/office/drawing/2014/main" val="3728460195"/>
                  </a:ext>
                </a:extLst>
              </a:tr>
              <a:tr h="396119">
                <a:tc>
                  <a:txBody>
                    <a:bodyPr/>
                    <a:lstStyle/>
                    <a:p>
                      <a:pPr algn="ctr"/>
                      <a:r>
                        <a:rPr lang="ja-JP" altLang="en-US" sz="1400">
                          <a:latin typeface="Meiryo" panose="020B0604030504040204" pitchFamily="34" charset="-128"/>
                          <a:ea typeface="Meiryo" panose="020B0604030504040204" pitchFamily="34" charset="-128"/>
                        </a:rPr>
                        <a:t>コンプライアンス</a:t>
                      </a:r>
                    </a:p>
                  </a:txBody>
                  <a:tcPr anchor="ctr"/>
                </a:tc>
                <a:tc>
                  <a:txBody>
                    <a:bodyPr/>
                    <a:lstStyle/>
                    <a:p>
                      <a:pPr algn="ctr"/>
                      <a:r>
                        <a:rPr lang="ja-JP" altLang="en-US" sz="1400">
                          <a:latin typeface="Meiryo" panose="020B0604030504040204" pitchFamily="34" charset="-128"/>
                          <a:ea typeface="Meiryo" panose="020B0604030504040204" pitchFamily="34" charset="-128"/>
                        </a:rPr>
                        <a:t>強い制御</a:t>
                      </a:r>
                    </a:p>
                  </a:txBody>
                  <a:tcPr anchor="ctr"/>
                </a:tc>
                <a:tc>
                  <a:txBody>
                    <a:bodyPr/>
                    <a:lstStyle/>
                    <a:p>
                      <a:pPr algn="ctr"/>
                      <a:r>
                        <a:rPr lang="ja-JP" altLang="en-US" sz="1400">
                          <a:latin typeface="Meiryo" panose="020B0604030504040204" pitchFamily="34" charset="-128"/>
                          <a:ea typeface="Meiryo" panose="020B0604030504040204" pitchFamily="34" charset="-128"/>
                        </a:rPr>
                        <a:t>サービス依存</a:t>
                      </a:r>
                    </a:p>
                  </a:txBody>
                  <a:tcPr anchor="ctr"/>
                </a:tc>
                <a:extLst>
                  <a:ext uri="{0D108BD9-81ED-4DB2-BD59-A6C34878D82A}">
                    <a16:rowId xmlns:a16="http://schemas.microsoft.com/office/drawing/2014/main" val="1679458999"/>
                  </a:ext>
                </a:extLst>
              </a:tr>
            </a:tbl>
          </a:graphicData>
        </a:graphic>
      </p:graphicFrame>
      <p:sp>
        <p:nvSpPr>
          <p:cNvPr id="10" name="正方形/長方形 9">
            <a:extLst>
              <a:ext uri="{FF2B5EF4-FFF2-40B4-BE49-F238E27FC236}">
                <a16:creationId xmlns:a16="http://schemas.microsoft.com/office/drawing/2014/main" id="{DBEF9ED9-5258-B803-2FF4-3E2C1FA63E9C}"/>
              </a:ext>
            </a:extLst>
          </p:cNvPr>
          <p:cNvSpPr/>
          <p:nvPr/>
        </p:nvSpPr>
        <p:spPr>
          <a:xfrm>
            <a:off x="114209" y="872359"/>
            <a:ext cx="8777543" cy="2496330"/>
          </a:xfrm>
          <a:prstGeom prst="rect">
            <a:avLst/>
          </a:prstGeom>
          <a:noFill/>
          <a:ln w="317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cxnSp>
        <p:nvCxnSpPr>
          <p:cNvPr id="12" name="Straight Connector 11">
            <a:extLst>
              <a:ext uri="{FF2B5EF4-FFF2-40B4-BE49-F238E27FC236}">
                <a16:creationId xmlns:a16="http://schemas.microsoft.com/office/drawing/2014/main" id="{9F9FA462-EFE9-2290-7D68-18187BB4EC3C}"/>
              </a:ext>
            </a:extLst>
          </p:cNvPr>
          <p:cNvCxnSpPr>
            <a:stCxn id="10" idx="0"/>
            <a:endCxn id="10" idx="2"/>
          </p:cNvCxnSpPr>
          <p:nvPr/>
        </p:nvCxnSpPr>
        <p:spPr>
          <a:xfrm>
            <a:off x="4502981" y="872359"/>
            <a:ext cx="0" cy="2496330"/>
          </a:xfrm>
          <a:prstGeom prst="line">
            <a:avLst/>
          </a:prstGeom>
          <a:ln w="22225">
            <a:solidFill>
              <a:schemeClr val="accent4"/>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4930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B96D8F-81CD-4024-3A84-E606A3532BAD}"/>
              </a:ext>
            </a:extLst>
          </p:cNvPr>
          <p:cNvSpPr txBox="1"/>
          <p:nvPr/>
        </p:nvSpPr>
        <p:spPr>
          <a:xfrm>
            <a:off x="271401" y="954002"/>
            <a:ext cx="2970564" cy="1569660"/>
          </a:xfrm>
          <a:prstGeom prst="rect">
            <a:avLst/>
          </a:prstGeom>
          <a:noFill/>
        </p:spPr>
        <p:txBody>
          <a:bodyPr wrap="square">
            <a:spAutoFit/>
          </a:bodyPr>
          <a:lstStyle/>
          <a:p>
            <a:r>
              <a:rPr lang="ja-JP" altLang="en-US" sz="1600">
                <a:latin typeface="Meiryo" panose="020B0604030504040204" pitchFamily="34" charset="-128"/>
                <a:ea typeface="Meiryo" panose="020B0604030504040204" pitchFamily="34" charset="-128"/>
              </a:rPr>
              <a:t>アラートトリアージ</a:t>
            </a:r>
            <a:endParaRPr lang="mn-MN" altLang="ja-JP" sz="1600" dirty="0">
              <a:latin typeface="Meiryo" panose="020B0604030504040204" pitchFamily="34" charset="-128"/>
              <a:ea typeface="Meiryo" panose="020B0604030504040204" pitchFamily="34" charset="-128"/>
            </a:endParaRPr>
          </a:p>
          <a:p>
            <a:endParaRPr lang="ja-JP" altLang="en-US" sz="1600">
              <a:latin typeface="Meiryo" panose="020B0604030504040204" pitchFamily="34" charset="-128"/>
              <a:ea typeface="Meiryo" panose="020B0604030504040204" pitchFamily="34" charset="-128"/>
            </a:endParaRPr>
          </a:p>
          <a:p>
            <a:r>
              <a:rPr lang="en-US" altLang="ja-JP" sz="1600" dirty="0">
                <a:latin typeface="Meiryo" panose="020B0604030504040204" pitchFamily="34" charset="-128"/>
                <a:ea typeface="Meiryo" panose="020B0604030504040204" pitchFamily="34" charset="-128"/>
              </a:rPr>
              <a:t>1</a:t>
            </a:r>
            <a:r>
              <a:rPr lang="ja-JP" altLang="en-US" sz="1600">
                <a:latin typeface="Meiryo" panose="020B0604030504040204" pitchFamily="34" charset="-128"/>
                <a:ea typeface="Meiryo" panose="020B0604030504040204" pitchFamily="34" charset="-128"/>
              </a:rPr>
              <a:t>件あたり </a:t>
            </a:r>
            <a:r>
              <a:rPr lang="mn-MN" altLang="ja-JP" sz="1600" dirty="0">
                <a:latin typeface="Meiryo" panose="020B0604030504040204" pitchFamily="34" charset="-128"/>
                <a:ea typeface="Meiryo" panose="020B0604030504040204" pitchFamily="34" charset="-128"/>
              </a:rPr>
              <a:t>1</a:t>
            </a:r>
            <a:r>
              <a:rPr lang="en-US" altLang="ja-JP" sz="1600" dirty="0">
                <a:latin typeface="Meiryo" panose="020B0604030504040204" pitchFamily="34" charset="-128"/>
                <a:ea typeface="Meiryo" panose="020B0604030504040204" pitchFamily="34" charset="-128"/>
              </a:rPr>
              <a:t>5</a:t>
            </a:r>
            <a:r>
              <a:rPr lang="ja-JP" altLang="en-US" sz="1600">
                <a:latin typeface="Meiryo" panose="020B0604030504040204" pitchFamily="34" charset="-128"/>
                <a:ea typeface="Meiryo" panose="020B0604030504040204" pitchFamily="34" charset="-128"/>
              </a:rPr>
              <a:t>～</a:t>
            </a:r>
            <a:r>
              <a:rPr lang="mn-MN" altLang="ja-JP" sz="1600" dirty="0">
                <a:latin typeface="Meiryo" panose="020B0604030504040204" pitchFamily="34" charset="-128"/>
                <a:ea typeface="Meiryo" panose="020B0604030504040204" pitchFamily="34" charset="-128"/>
              </a:rPr>
              <a:t>3</a:t>
            </a:r>
            <a:r>
              <a:rPr lang="en-US" altLang="ja-JP" sz="1600" dirty="0">
                <a:latin typeface="Meiryo" panose="020B0604030504040204" pitchFamily="34" charset="-128"/>
                <a:ea typeface="Meiryo" panose="020B0604030504040204" pitchFamily="34" charset="-128"/>
              </a:rPr>
              <a:t>5</a:t>
            </a:r>
            <a:r>
              <a:rPr lang="ja-JP" altLang="en-US" sz="1600">
                <a:latin typeface="Meiryo" panose="020B0604030504040204" pitchFamily="34" charset="-128"/>
                <a:ea typeface="Meiryo" panose="020B0604030504040204" pitchFamily="34" charset="-128"/>
              </a:rPr>
              <a:t>分</a:t>
            </a:r>
          </a:p>
          <a:p>
            <a:r>
              <a:rPr lang="ja-JP" altLang="en-US" sz="1600">
                <a:latin typeface="Meiryo" panose="020B0604030504040204" pitchFamily="34" charset="-128"/>
                <a:ea typeface="Meiryo" panose="020B0604030504040204" pitchFamily="34" charset="-128"/>
              </a:rPr>
              <a:t>自動エンリッチメントにより</a:t>
            </a:r>
            <a:endParaRPr lang="mn-MN" altLang="ja-JP" sz="1600" dirty="0">
              <a:latin typeface="Meiryo" panose="020B0604030504040204" pitchFamily="34" charset="-128"/>
              <a:ea typeface="Meiryo" panose="020B0604030504040204" pitchFamily="34" charset="-128"/>
            </a:endParaRPr>
          </a:p>
          <a:p>
            <a:r>
              <a:rPr lang="ja-JP" altLang="en-US" sz="1600">
                <a:latin typeface="Meiryo" panose="020B0604030504040204" pitchFamily="34" charset="-128"/>
                <a:ea typeface="Meiryo" panose="020B0604030504040204" pitchFamily="34" charset="-128"/>
              </a:rPr>
              <a:t>確認時間を短縮</a:t>
            </a:r>
          </a:p>
          <a:p>
            <a:endParaRPr lang="en-JP" sz="16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1D869250-5D20-ACB3-BC19-CE72108F46B5}"/>
              </a:ext>
            </a:extLst>
          </p:cNvPr>
          <p:cNvSpPr txBox="1"/>
          <p:nvPr/>
        </p:nvSpPr>
        <p:spPr>
          <a:xfrm>
            <a:off x="114209" y="75634"/>
            <a:ext cx="4572000" cy="369332"/>
          </a:xfrm>
          <a:prstGeom prst="rect">
            <a:avLst/>
          </a:prstGeom>
          <a:noFill/>
        </p:spPr>
        <p:txBody>
          <a:bodyPr wrap="square">
            <a:spAutoFit/>
          </a:bodyPr>
          <a:lstStyle/>
          <a:p>
            <a:pPr marL="285750" indent="-285750">
              <a:buFont typeface="Wingdings" pitchFamily="2" charset="2"/>
              <a:buChar char="Ø"/>
            </a:pPr>
            <a:r>
              <a:rPr lang="en-JP" b="1" dirty="0">
                <a:solidFill>
                  <a:srgbClr val="92D050"/>
                </a:solidFill>
                <a:latin typeface="Meiryo" panose="020B0604030504040204" pitchFamily="34" charset="-128"/>
                <a:ea typeface="Meiryo" panose="020B0604030504040204" pitchFamily="34" charset="-128"/>
              </a:rPr>
              <a:t>時間コスト</a:t>
            </a:r>
          </a:p>
        </p:txBody>
      </p:sp>
      <p:sp>
        <p:nvSpPr>
          <p:cNvPr id="8" name="Slide Number Placeholder 7">
            <a:extLst>
              <a:ext uri="{FF2B5EF4-FFF2-40B4-BE49-F238E27FC236}">
                <a16:creationId xmlns:a16="http://schemas.microsoft.com/office/drawing/2014/main" id="{FAF77AD9-1BED-0718-CBA1-A63EED773C30}"/>
              </a:ext>
            </a:extLst>
          </p:cNvPr>
          <p:cNvSpPr>
            <a:spLocks noGrp="1"/>
          </p:cNvSpPr>
          <p:nvPr>
            <p:ph type="sldNum" sz="quarter" idx="12"/>
          </p:nvPr>
        </p:nvSpPr>
        <p:spPr/>
        <p:txBody>
          <a:bodyPr/>
          <a:lstStyle/>
          <a:p>
            <a:fld id="{0B6BB8DA-DB46-D648-BE1D-FCDB55E9CBE3}" type="slidenum">
              <a:rPr lang="en-JP" smtClean="0"/>
              <a:t>25</a:t>
            </a:fld>
            <a:endParaRPr lang="en-JP"/>
          </a:p>
        </p:txBody>
      </p:sp>
      <p:sp>
        <p:nvSpPr>
          <p:cNvPr id="3" name="TextBox 2">
            <a:extLst>
              <a:ext uri="{FF2B5EF4-FFF2-40B4-BE49-F238E27FC236}">
                <a16:creationId xmlns:a16="http://schemas.microsoft.com/office/drawing/2014/main" id="{27CEC002-CA14-3605-62C2-DB1DC66A1231}"/>
              </a:ext>
            </a:extLst>
          </p:cNvPr>
          <p:cNvSpPr txBox="1"/>
          <p:nvPr/>
        </p:nvSpPr>
        <p:spPr>
          <a:xfrm>
            <a:off x="3241965" y="1003995"/>
            <a:ext cx="2576944" cy="1077218"/>
          </a:xfrm>
          <a:prstGeom prst="rect">
            <a:avLst/>
          </a:prstGeom>
          <a:noFill/>
        </p:spPr>
        <p:txBody>
          <a:bodyPr wrap="square">
            <a:spAutoFit/>
          </a:bodyPr>
          <a:lstStyle/>
          <a:p>
            <a:r>
              <a:rPr lang="ja-JP" altLang="en-US" sz="1600">
                <a:latin typeface="Meiryo" panose="020B0604030504040204" pitchFamily="34" charset="-128"/>
                <a:ea typeface="Meiryo" panose="020B0604030504040204" pitchFamily="34" charset="-128"/>
              </a:rPr>
              <a:t> 定常監視</a:t>
            </a:r>
            <a:endParaRPr lang="mn-MN" altLang="ja-JP" sz="1600" dirty="0">
              <a:latin typeface="Meiryo" panose="020B0604030504040204" pitchFamily="34" charset="-128"/>
              <a:ea typeface="Meiryo" panose="020B0604030504040204" pitchFamily="34" charset="-128"/>
            </a:endParaRPr>
          </a:p>
          <a:p>
            <a:endParaRPr lang="ja-JP" altLang="en-US" sz="1600">
              <a:latin typeface="Meiryo" panose="020B0604030504040204" pitchFamily="34" charset="-128"/>
              <a:ea typeface="Meiryo" panose="020B0604030504040204" pitchFamily="34" charset="-128"/>
            </a:endParaRPr>
          </a:p>
          <a:p>
            <a:r>
              <a:rPr lang="ja-JP" altLang="en-US" sz="1600">
                <a:latin typeface="Meiryo" panose="020B0604030504040204" pitchFamily="34" charset="-128"/>
                <a:ea typeface="Meiryo" panose="020B0604030504040204" pitchFamily="34" charset="-128"/>
              </a:rPr>
              <a:t>ダッシュボード確認</a:t>
            </a:r>
          </a:p>
          <a:p>
            <a:r>
              <a:rPr lang="ja-JP" altLang="en-US" sz="1600">
                <a:latin typeface="Meiryo" panose="020B0604030504040204" pitchFamily="34" charset="-128"/>
                <a:ea typeface="Meiryo" panose="020B0604030504040204" pitchFamily="34" charset="-128"/>
              </a:rPr>
              <a:t>異常値・傾向チェック</a:t>
            </a:r>
          </a:p>
        </p:txBody>
      </p:sp>
      <p:sp>
        <p:nvSpPr>
          <p:cNvPr id="6" name="TextBox 5">
            <a:extLst>
              <a:ext uri="{FF2B5EF4-FFF2-40B4-BE49-F238E27FC236}">
                <a16:creationId xmlns:a16="http://schemas.microsoft.com/office/drawing/2014/main" id="{A2326A66-65A5-8143-260D-F307ACC16AF7}"/>
              </a:ext>
            </a:extLst>
          </p:cNvPr>
          <p:cNvSpPr txBox="1"/>
          <p:nvPr/>
        </p:nvSpPr>
        <p:spPr>
          <a:xfrm>
            <a:off x="5818909" y="830891"/>
            <a:ext cx="3169227" cy="1323439"/>
          </a:xfrm>
          <a:prstGeom prst="rect">
            <a:avLst/>
          </a:prstGeom>
          <a:noFill/>
        </p:spPr>
        <p:txBody>
          <a:bodyPr wrap="square">
            <a:spAutoFit/>
          </a:bodyPr>
          <a:lstStyle/>
          <a:p>
            <a:r>
              <a:rPr lang="en-US" altLang="ja-JP" sz="1600" dirty="0">
                <a:latin typeface="Meiryo" panose="020B0604030504040204" pitchFamily="34" charset="-128"/>
                <a:ea typeface="Meiryo" panose="020B0604030504040204" pitchFamily="34" charset="-128"/>
              </a:rPr>
              <a:t>1</a:t>
            </a:r>
            <a:r>
              <a:rPr lang="ja-JP" altLang="en-US" sz="1600">
                <a:latin typeface="Meiryo" panose="020B0604030504040204" pitchFamily="34" charset="-128"/>
                <a:ea typeface="Meiryo" panose="020B0604030504040204" pitchFamily="34" charset="-128"/>
              </a:rPr>
              <a:t>日あたり </a:t>
            </a:r>
            <a:r>
              <a:rPr lang="en-US" altLang="ja-JP" sz="1600" dirty="0">
                <a:latin typeface="Meiryo" panose="020B0604030504040204" pitchFamily="34" charset="-128"/>
                <a:ea typeface="Meiryo" panose="020B0604030504040204" pitchFamily="34" charset="-128"/>
              </a:rPr>
              <a:t>1</a:t>
            </a:r>
            <a:r>
              <a:rPr lang="ja-JP" altLang="en-US" sz="1600">
                <a:latin typeface="Meiryo" panose="020B0604030504040204" pitchFamily="34" charset="-128"/>
                <a:ea typeface="Meiryo" panose="020B0604030504040204" pitchFamily="34" charset="-128"/>
              </a:rPr>
              <a:t>～</a:t>
            </a:r>
            <a:r>
              <a:rPr lang="en-US" altLang="ja-JP" sz="1600" dirty="0">
                <a:latin typeface="Meiryo" panose="020B0604030504040204" pitchFamily="34" charset="-128"/>
                <a:ea typeface="Meiryo" panose="020B0604030504040204" pitchFamily="34" charset="-128"/>
              </a:rPr>
              <a:t>2</a:t>
            </a:r>
            <a:r>
              <a:rPr lang="ja-JP" altLang="en-US" sz="1600">
                <a:latin typeface="Meiryo" panose="020B0604030504040204" pitchFamily="34" charset="-128"/>
                <a:ea typeface="Meiryo" panose="020B0604030504040204" pitchFamily="34" charset="-128"/>
              </a:rPr>
              <a:t>時間</a:t>
            </a:r>
            <a:endParaRPr lang="mn-MN" altLang="ja-JP" sz="1600" dirty="0">
              <a:latin typeface="Meiryo" panose="020B0604030504040204" pitchFamily="34" charset="-128"/>
              <a:ea typeface="Meiryo" panose="020B0604030504040204" pitchFamily="34" charset="-128"/>
            </a:endParaRPr>
          </a:p>
          <a:p>
            <a:endParaRPr lang="ja-JP" altLang="en-US" sz="1600">
              <a:latin typeface="Meiryo" panose="020B0604030504040204" pitchFamily="34" charset="-128"/>
              <a:ea typeface="Meiryo" panose="020B0604030504040204" pitchFamily="34" charset="-128"/>
            </a:endParaRPr>
          </a:p>
          <a:p>
            <a:r>
              <a:rPr lang="ja-JP" altLang="en-US" sz="1600">
                <a:latin typeface="Meiryo" panose="020B0604030504040204" pitchFamily="34" charset="-128"/>
                <a:ea typeface="Meiryo" panose="020B0604030504040204" pitchFamily="34" charset="-128"/>
              </a:rPr>
              <a:t> レポーティング</a:t>
            </a:r>
          </a:p>
          <a:p>
            <a:r>
              <a:rPr lang="ja-JP" altLang="en-US" sz="1600">
                <a:latin typeface="Meiryo" panose="020B0604030504040204" pitchFamily="34" charset="-128"/>
                <a:ea typeface="Meiryo" panose="020B0604030504040204" pitchFamily="34" charset="-128"/>
              </a:rPr>
              <a:t>週次／月次の統計レポート作成</a:t>
            </a:r>
          </a:p>
          <a:p>
            <a:r>
              <a:rPr lang="ja-JP" altLang="en-US" sz="1600">
                <a:latin typeface="Meiryo" panose="020B0604030504040204" pitchFamily="34" charset="-128"/>
                <a:ea typeface="Meiryo" panose="020B0604030504040204" pitchFamily="34" charset="-128"/>
              </a:rPr>
              <a:t>週あたり 約</a:t>
            </a:r>
            <a:r>
              <a:rPr lang="en-US" altLang="ja-JP" sz="1600" dirty="0">
                <a:latin typeface="Meiryo" panose="020B0604030504040204" pitchFamily="34" charset="-128"/>
                <a:ea typeface="Meiryo" panose="020B0604030504040204" pitchFamily="34" charset="-128"/>
              </a:rPr>
              <a:t>5</a:t>
            </a:r>
            <a:r>
              <a:rPr lang="ja-JP" altLang="en-US" sz="1600">
                <a:latin typeface="Meiryo" panose="020B0604030504040204" pitchFamily="34" charset="-128"/>
                <a:ea typeface="Meiryo" panose="020B0604030504040204" pitchFamily="34" charset="-128"/>
              </a:rPr>
              <a:t>時間</a:t>
            </a:r>
          </a:p>
        </p:txBody>
      </p:sp>
      <p:sp>
        <p:nvSpPr>
          <p:cNvPr id="10" name="TextBox 9">
            <a:extLst>
              <a:ext uri="{FF2B5EF4-FFF2-40B4-BE49-F238E27FC236}">
                <a16:creationId xmlns:a16="http://schemas.microsoft.com/office/drawing/2014/main" id="{2C445FFD-8ACF-0327-C446-948024D6279D}"/>
              </a:ext>
            </a:extLst>
          </p:cNvPr>
          <p:cNvSpPr txBox="1"/>
          <p:nvPr/>
        </p:nvSpPr>
        <p:spPr>
          <a:xfrm>
            <a:off x="3365176" y="342362"/>
            <a:ext cx="5195454" cy="338554"/>
          </a:xfrm>
          <a:prstGeom prst="rect">
            <a:avLst/>
          </a:prstGeom>
          <a:noFill/>
        </p:spPr>
        <p:txBody>
          <a:bodyPr wrap="square">
            <a:spAutoFit/>
          </a:bodyPr>
          <a:lstStyle/>
          <a:p>
            <a:r>
              <a:rPr lang="ja-JP" altLang="en-US" sz="1600">
                <a:latin typeface="Meiryo" panose="020B0604030504040204" pitchFamily="34" charset="-128"/>
                <a:ea typeface="Meiryo" panose="020B0604030504040204" pitchFamily="34" charset="-128"/>
              </a:rPr>
              <a:t>日常運用</a:t>
            </a:r>
            <a:endParaRPr lang="en-JP" sz="1600" dirty="0">
              <a:latin typeface="Meiryo" panose="020B0604030504040204" pitchFamily="34" charset="-128"/>
              <a:ea typeface="Meiryo" panose="020B0604030504040204" pitchFamily="34" charset="-128"/>
            </a:endParaRPr>
          </a:p>
        </p:txBody>
      </p:sp>
      <p:sp>
        <p:nvSpPr>
          <p:cNvPr id="11" name="正方形/長方形 9">
            <a:extLst>
              <a:ext uri="{FF2B5EF4-FFF2-40B4-BE49-F238E27FC236}">
                <a16:creationId xmlns:a16="http://schemas.microsoft.com/office/drawing/2014/main" id="{7CADF760-3D95-3662-FB18-69381967C9E3}"/>
              </a:ext>
            </a:extLst>
          </p:cNvPr>
          <p:cNvSpPr/>
          <p:nvPr/>
        </p:nvSpPr>
        <p:spPr>
          <a:xfrm>
            <a:off x="114209" y="737755"/>
            <a:ext cx="8777543" cy="1569660"/>
          </a:xfrm>
          <a:prstGeom prst="rect">
            <a:avLst/>
          </a:prstGeom>
          <a:noFill/>
          <a:ln w="317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cxnSp>
        <p:nvCxnSpPr>
          <p:cNvPr id="12" name="Straight Connector 11">
            <a:extLst>
              <a:ext uri="{FF2B5EF4-FFF2-40B4-BE49-F238E27FC236}">
                <a16:creationId xmlns:a16="http://schemas.microsoft.com/office/drawing/2014/main" id="{C04A5D84-272F-3D8D-C1B0-36DFC019F7B7}"/>
              </a:ext>
            </a:extLst>
          </p:cNvPr>
          <p:cNvCxnSpPr>
            <a:cxnSpLocks/>
          </p:cNvCxnSpPr>
          <p:nvPr/>
        </p:nvCxnSpPr>
        <p:spPr>
          <a:xfrm>
            <a:off x="3131381" y="748004"/>
            <a:ext cx="0" cy="1559411"/>
          </a:xfrm>
          <a:prstGeom prst="line">
            <a:avLst/>
          </a:prstGeom>
          <a:ln w="22225">
            <a:solidFill>
              <a:schemeClr val="accent4"/>
            </a:solidFill>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E16DBD0E-29E2-D172-5499-28B394B4FC83}"/>
              </a:ext>
            </a:extLst>
          </p:cNvPr>
          <p:cNvCxnSpPr>
            <a:cxnSpLocks/>
          </p:cNvCxnSpPr>
          <p:nvPr/>
        </p:nvCxnSpPr>
        <p:spPr>
          <a:xfrm>
            <a:off x="5559390" y="748004"/>
            <a:ext cx="0" cy="1559411"/>
          </a:xfrm>
          <a:prstGeom prst="line">
            <a:avLst/>
          </a:prstGeom>
          <a:ln w="22225">
            <a:solidFill>
              <a:schemeClr val="accent4"/>
            </a:solidFill>
          </a:ln>
        </p:spPr>
        <p:style>
          <a:lnRef idx="1">
            <a:schemeClr val="accent2"/>
          </a:lnRef>
          <a:fillRef idx="0">
            <a:schemeClr val="accent2"/>
          </a:fillRef>
          <a:effectRef idx="0">
            <a:schemeClr val="accent2"/>
          </a:effectRef>
          <a:fontRef idx="minor">
            <a:schemeClr val="tx1"/>
          </a:fontRef>
        </p:style>
      </p:cxnSp>
      <p:graphicFrame>
        <p:nvGraphicFramePr>
          <p:cNvPr id="15" name="Table 14">
            <a:extLst>
              <a:ext uri="{FF2B5EF4-FFF2-40B4-BE49-F238E27FC236}">
                <a16:creationId xmlns:a16="http://schemas.microsoft.com/office/drawing/2014/main" id="{90A9820D-C0CC-D012-D832-DD2E207EE26C}"/>
              </a:ext>
            </a:extLst>
          </p:cNvPr>
          <p:cNvGraphicFramePr>
            <a:graphicFrameLocks noGrp="1"/>
          </p:cNvGraphicFramePr>
          <p:nvPr>
            <p:extLst>
              <p:ext uri="{D42A27DB-BD31-4B8C-83A1-F6EECF244321}">
                <p14:modId xmlns:p14="http://schemas.microsoft.com/office/powerpoint/2010/main" val="3945064213"/>
              </p:ext>
            </p:extLst>
          </p:nvPr>
        </p:nvGraphicFramePr>
        <p:xfrm>
          <a:off x="114208" y="2600204"/>
          <a:ext cx="8777544" cy="1559412"/>
        </p:xfrm>
        <a:graphic>
          <a:graphicData uri="http://schemas.openxmlformats.org/drawingml/2006/table">
            <a:tbl>
              <a:tblPr>
                <a:tableStyleId>{93296810-A885-4BE3-A3E7-6D5BEEA58F35}</a:tableStyleId>
              </a:tblPr>
              <a:tblGrid>
                <a:gridCol w="2925848">
                  <a:extLst>
                    <a:ext uri="{9D8B030D-6E8A-4147-A177-3AD203B41FA5}">
                      <a16:colId xmlns:a16="http://schemas.microsoft.com/office/drawing/2014/main" val="691588466"/>
                    </a:ext>
                  </a:extLst>
                </a:gridCol>
                <a:gridCol w="2925848">
                  <a:extLst>
                    <a:ext uri="{9D8B030D-6E8A-4147-A177-3AD203B41FA5}">
                      <a16:colId xmlns:a16="http://schemas.microsoft.com/office/drawing/2014/main" val="310089002"/>
                    </a:ext>
                  </a:extLst>
                </a:gridCol>
                <a:gridCol w="2925848">
                  <a:extLst>
                    <a:ext uri="{9D8B030D-6E8A-4147-A177-3AD203B41FA5}">
                      <a16:colId xmlns:a16="http://schemas.microsoft.com/office/drawing/2014/main" val="2023781677"/>
                    </a:ext>
                  </a:extLst>
                </a:gridCol>
              </a:tblGrid>
              <a:tr h="389853">
                <a:tc>
                  <a:txBody>
                    <a:bodyPr/>
                    <a:lstStyle/>
                    <a:p>
                      <a:pPr algn="ctr"/>
                      <a:r>
                        <a:rPr lang="ja-JP" altLang="en-US" sz="1400" b="0">
                          <a:latin typeface="Meiryo" panose="020B0604030504040204" pitchFamily="34" charset="-128"/>
                          <a:ea typeface="Meiryo" panose="020B0604030504040204" pitchFamily="34" charset="-128"/>
                        </a:rPr>
                        <a:t>インシデントレベル</a:t>
                      </a:r>
                    </a:p>
                  </a:txBody>
                  <a:tcPr anchor="ctr"/>
                </a:tc>
                <a:tc>
                  <a:txBody>
                    <a:bodyPr/>
                    <a:lstStyle/>
                    <a:p>
                      <a:pPr algn="ctr"/>
                      <a:r>
                        <a:rPr lang="ja-JP" altLang="en-US" sz="1400" b="0">
                          <a:latin typeface="Meiryo" panose="020B0604030504040204" pitchFamily="34" charset="-128"/>
                          <a:ea typeface="Meiryo" panose="020B0604030504040204" pitchFamily="34" charset="-128"/>
                        </a:rPr>
                        <a:t>内容</a:t>
                      </a:r>
                    </a:p>
                  </a:txBody>
                  <a:tcPr anchor="ctr"/>
                </a:tc>
                <a:tc>
                  <a:txBody>
                    <a:bodyPr/>
                    <a:lstStyle/>
                    <a:p>
                      <a:pPr algn="ctr"/>
                      <a:r>
                        <a:rPr lang="ja-JP" altLang="en-US" sz="1400" b="0">
                          <a:latin typeface="Meiryo" panose="020B0604030504040204" pitchFamily="34" charset="-128"/>
                          <a:ea typeface="Meiryo" panose="020B0604030504040204" pitchFamily="34" charset="-128"/>
                        </a:rPr>
                        <a:t>対応工数</a:t>
                      </a:r>
                    </a:p>
                  </a:txBody>
                  <a:tcPr anchor="ctr"/>
                </a:tc>
                <a:extLst>
                  <a:ext uri="{0D108BD9-81ED-4DB2-BD59-A6C34878D82A}">
                    <a16:rowId xmlns:a16="http://schemas.microsoft.com/office/drawing/2014/main" val="1289085532"/>
                  </a:ext>
                </a:extLst>
              </a:tr>
              <a:tr h="389853">
                <a:tc>
                  <a:txBody>
                    <a:bodyPr/>
                    <a:lstStyle/>
                    <a:p>
                      <a:pPr algn="ctr"/>
                      <a:r>
                        <a:rPr lang="ja-JP" altLang="en-US" sz="1400" b="0">
                          <a:latin typeface="Meiryo" panose="020B0604030504040204" pitchFamily="34" charset="-128"/>
                          <a:ea typeface="Meiryo" panose="020B0604030504040204" pitchFamily="34" charset="-128"/>
                        </a:rPr>
                        <a:t>軽微</a:t>
                      </a:r>
                    </a:p>
                  </a:txBody>
                  <a:tcPr anchor="ctr"/>
                </a:tc>
                <a:tc>
                  <a:txBody>
                    <a:bodyPr/>
                    <a:lstStyle/>
                    <a:p>
                      <a:pPr algn="ctr"/>
                      <a:r>
                        <a:rPr lang="ja-JP" altLang="en-US" sz="1400" b="0">
                          <a:latin typeface="Meiryo" panose="020B0604030504040204" pitchFamily="34" charset="-128"/>
                          <a:ea typeface="Meiryo" panose="020B0604030504040204" pitchFamily="34" charset="-128"/>
                        </a:rPr>
                        <a:t>誤検知、低リスク事象</a:t>
                      </a:r>
                    </a:p>
                  </a:txBody>
                  <a:tcPr anchor="ctr"/>
                </a:tc>
                <a:tc>
                  <a:txBody>
                    <a:bodyPr/>
                    <a:lstStyle/>
                    <a:p>
                      <a:pPr algn="ctr"/>
                      <a:r>
                        <a:rPr lang="en-US" altLang="ja-JP" sz="1400" b="0">
                          <a:latin typeface="Meiryo" panose="020B0604030504040204" pitchFamily="34" charset="-128"/>
                          <a:ea typeface="Meiryo" panose="020B0604030504040204" pitchFamily="34" charset="-128"/>
                        </a:rPr>
                        <a:t>4</a:t>
                      </a:r>
                      <a:r>
                        <a:rPr lang="ja-JP" altLang="en-US" sz="1400" b="0">
                          <a:latin typeface="Meiryo" panose="020B0604030504040204" pitchFamily="34" charset="-128"/>
                          <a:ea typeface="Meiryo" panose="020B0604030504040204" pitchFamily="34" charset="-128"/>
                        </a:rPr>
                        <a:t>～</a:t>
                      </a:r>
                      <a:r>
                        <a:rPr lang="en-US" altLang="ja-JP" sz="1400" b="0">
                          <a:latin typeface="Meiryo" panose="020B0604030504040204" pitchFamily="34" charset="-128"/>
                          <a:ea typeface="Meiryo" panose="020B0604030504040204" pitchFamily="34" charset="-128"/>
                        </a:rPr>
                        <a:t>8</a:t>
                      </a:r>
                      <a:r>
                        <a:rPr lang="ja-JP" altLang="en-US" sz="1400" b="0">
                          <a:latin typeface="Meiryo" panose="020B0604030504040204" pitchFamily="34" charset="-128"/>
                          <a:ea typeface="Meiryo" panose="020B0604030504040204" pitchFamily="34" charset="-128"/>
                        </a:rPr>
                        <a:t>時間</a:t>
                      </a:r>
                    </a:p>
                  </a:txBody>
                  <a:tcPr anchor="ctr"/>
                </a:tc>
                <a:extLst>
                  <a:ext uri="{0D108BD9-81ED-4DB2-BD59-A6C34878D82A}">
                    <a16:rowId xmlns:a16="http://schemas.microsoft.com/office/drawing/2014/main" val="1221044019"/>
                  </a:ext>
                </a:extLst>
              </a:tr>
              <a:tr h="389853">
                <a:tc>
                  <a:txBody>
                    <a:bodyPr/>
                    <a:lstStyle/>
                    <a:p>
                      <a:pPr algn="ctr"/>
                      <a:r>
                        <a:rPr lang="ja-JP" altLang="en-US" sz="1400" b="0">
                          <a:latin typeface="Meiryo" panose="020B0604030504040204" pitchFamily="34" charset="-128"/>
                          <a:ea typeface="Meiryo" panose="020B0604030504040204" pitchFamily="34" charset="-128"/>
                        </a:rPr>
                        <a:t>中程度</a:t>
                      </a:r>
                    </a:p>
                  </a:txBody>
                  <a:tcPr anchor="ctr"/>
                </a:tc>
                <a:tc>
                  <a:txBody>
                    <a:bodyPr/>
                    <a:lstStyle/>
                    <a:p>
                      <a:pPr algn="ctr"/>
                      <a:r>
                        <a:rPr lang="ja-JP" altLang="en-US" sz="1400" b="0">
                          <a:latin typeface="Meiryo" panose="020B0604030504040204" pitchFamily="34" charset="-128"/>
                          <a:ea typeface="Meiryo" panose="020B0604030504040204" pitchFamily="34" charset="-128"/>
                        </a:rPr>
                        <a:t>単一エンドポイント侵害</a:t>
                      </a:r>
                    </a:p>
                  </a:txBody>
                  <a:tcPr anchor="ctr"/>
                </a:tc>
                <a:tc>
                  <a:txBody>
                    <a:bodyPr/>
                    <a:lstStyle/>
                    <a:p>
                      <a:pPr algn="ctr"/>
                      <a:r>
                        <a:rPr lang="en-US" altLang="ja-JP" sz="1400" b="0">
                          <a:latin typeface="Meiryo" panose="020B0604030504040204" pitchFamily="34" charset="-128"/>
                          <a:ea typeface="Meiryo" panose="020B0604030504040204" pitchFamily="34" charset="-128"/>
                        </a:rPr>
                        <a:t>6</a:t>
                      </a:r>
                      <a:r>
                        <a:rPr lang="ja-JP" altLang="en-US" sz="1400" b="0">
                          <a:latin typeface="Meiryo" panose="020B0604030504040204" pitchFamily="34" charset="-128"/>
                          <a:ea typeface="Meiryo" panose="020B0604030504040204" pitchFamily="34" charset="-128"/>
                        </a:rPr>
                        <a:t>～</a:t>
                      </a:r>
                      <a:r>
                        <a:rPr lang="en-US" altLang="ja-JP" sz="1400" b="0">
                          <a:latin typeface="Meiryo" panose="020B0604030504040204" pitchFamily="34" charset="-128"/>
                          <a:ea typeface="Meiryo" panose="020B0604030504040204" pitchFamily="34" charset="-128"/>
                        </a:rPr>
                        <a:t>10</a:t>
                      </a:r>
                      <a:r>
                        <a:rPr lang="ja-JP" altLang="en-US" sz="1400" b="0">
                          <a:latin typeface="Meiryo" panose="020B0604030504040204" pitchFamily="34" charset="-128"/>
                          <a:ea typeface="Meiryo" panose="020B0604030504040204" pitchFamily="34" charset="-128"/>
                        </a:rPr>
                        <a:t>時間</a:t>
                      </a:r>
                    </a:p>
                  </a:txBody>
                  <a:tcPr anchor="ctr"/>
                </a:tc>
                <a:extLst>
                  <a:ext uri="{0D108BD9-81ED-4DB2-BD59-A6C34878D82A}">
                    <a16:rowId xmlns:a16="http://schemas.microsoft.com/office/drawing/2014/main" val="3666922109"/>
                  </a:ext>
                </a:extLst>
              </a:tr>
              <a:tr h="389853">
                <a:tc>
                  <a:txBody>
                    <a:bodyPr/>
                    <a:lstStyle/>
                    <a:p>
                      <a:pPr algn="ctr"/>
                      <a:r>
                        <a:rPr lang="ja-JP" altLang="en-US" sz="1400" b="0">
                          <a:latin typeface="Meiryo" panose="020B0604030504040204" pitchFamily="34" charset="-128"/>
                          <a:ea typeface="Meiryo" panose="020B0604030504040204" pitchFamily="34" charset="-128"/>
                        </a:rPr>
                        <a:t>重大</a:t>
                      </a:r>
                    </a:p>
                  </a:txBody>
                  <a:tcPr anchor="ctr"/>
                </a:tc>
                <a:tc>
                  <a:txBody>
                    <a:bodyPr/>
                    <a:lstStyle/>
                    <a:p>
                      <a:pPr algn="ctr"/>
                      <a:r>
                        <a:rPr lang="ja-JP" altLang="en-US" sz="1400" b="0">
                          <a:latin typeface="Meiryo" panose="020B0604030504040204" pitchFamily="34" charset="-128"/>
                          <a:ea typeface="Meiryo" panose="020B0604030504040204" pitchFamily="34" charset="-128"/>
                        </a:rPr>
                        <a:t>複数システム侵害、</a:t>
                      </a:r>
                      <a:r>
                        <a:rPr lang="en-US" sz="1400" b="0">
                          <a:latin typeface="Meiryo" panose="020B0604030504040204" pitchFamily="34" charset="-128"/>
                          <a:ea typeface="Meiryo" panose="020B0604030504040204" pitchFamily="34" charset="-128"/>
                        </a:rPr>
                        <a:t>APT</a:t>
                      </a:r>
                    </a:p>
                  </a:txBody>
                  <a:tcPr anchor="ctr"/>
                </a:tc>
                <a:tc>
                  <a:txBody>
                    <a:bodyPr/>
                    <a:lstStyle/>
                    <a:p>
                      <a:pPr algn="ctr"/>
                      <a:r>
                        <a:rPr lang="ja-JP" altLang="en-US" sz="1400" b="0">
                          <a:latin typeface="Meiryo" panose="020B0604030504040204" pitchFamily="34" charset="-128"/>
                          <a:ea typeface="Meiryo" panose="020B0604030504040204" pitchFamily="34" charset="-128"/>
                        </a:rPr>
                        <a:t>数日～数週間</a:t>
                      </a:r>
                    </a:p>
                  </a:txBody>
                  <a:tcPr anchor="ctr"/>
                </a:tc>
                <a:extLst>
                  <a:ext uri="{0D108BD9-81ED-4DB2-BD59-A6C34878D82A}">
                    <a16:rowId xmlns:a16="http://schemas.microsoft.com/office/drawing/2014/main" val="3738991832"/>
                  </a:ext>
                </a:extLst>
              </a:tr>
            </a:tbl>
          </a:graphicData>
        </a:graphic>
      </p:graphicFrame>
      <p:sp>
        <p:nvSpPr>
          <p:cNvPr id="17" name="TextBox 16">
            <a:extLst>
              <a:ext uri="{FF2B5EF4-FFF2-40B4-BE49-F238E27FC236}">
                <a16:creationId xmlns:a16="http://schemas.microsoft.com/office/drawing/2014/main" id="{18C045EA-DE82-88EE-46FE-DCCEF0A99753}"/>
              </a:ext>
            </a:extLst>
          </p:cNvPr>
          <p:cNvSpPr txBox="1"/>
          <p:nvPr/>
        </p:nvSpPr>
        <p:spPr>
          <a:xfrm>
            <a:off x="114209" y="4426986"/>
            <a:ext cx="4717564" cy="830997"/>
          </a:xfrm>
          <a:prstGeom prst="rect">
            <a:avLst/>
          </a:prstGeom>
          <a:noFill/>
        </p:spPr>
        <p:txBody>
          <a:bodyPr wrap="square">
            <a:spAutoFit/>
          </a:bodyPr>
          <a:lstStyle/>
          <a:p>
            <a:r>
              <a:rPr lang="ja-JP" altLang="en-US" sz="1600">
                <a:latin typeface="Meiryo" panose="020B0604030504040204" pitchFamily="34" charset="-128"/>
                <a:ea typeface="Meiryo" panose="020B0604030504040204" pitchFamily="34" charset="-128"/>
              </a:rPr>
              <a:t>重大インシデント発生時には、通常業務を一時停止し、全要員をインシデント対応に集中させる体制が必要となります。</a:t>
            </a:r>
            <a:endParaRPr lang="en-JP" sz="1600" dirty="0">
              <a:latin typeface="Meiryo" panose="020B0604030504040204" pitchFamily="34" charset="-128"/>
              <a:ea typeface="Meiryo" panose="020B0604030504040204" pitchFamily="34" charset="-128"/>
            </a:endParaRPr>
          </a:p>
        </p:txBody>
      </p:sp>
      <p:sp>
        <p:nvSpPr>
          <p:cNvPr id="19" name="TextBox 18">
            <a:extLst>
              <a:ext uri="{FF2B5EF4-FFF2-40B4-BE49-F238E27FC236}">
                <a16:creationId xmlns:a16="http://schemas.microsoft.com/office/drawing/2014/main" id="{8524AD86-7B2C-BBAE-3B00-DABB171D1055}"/>
              </a:ext>
            </a:extLst>
          </p:cNvPr>
          <p:cNvSpPr txBox="1"/>
          <p:nvPr/>
        </p:nvSpPr>
        <p:spPr>
          <a:xfrm>
            <a:off x="192804" y="5580832"/>
            <a:ext cx="8620351" cy="646331"/>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SOC</a:t>
            </a:r>
            <a:r>
              <a:rPr lang="ja-JP" altLang="en-US">
                <a:latin typeface="Meiryo" panose="020B0604030504040204" pitchFamily="34" charset="-128"/>
                <a:ea typeface="Meiryo" panose="020B0604030504040204" pitchFamily="34" charset="-128"/>
              </a:rPr>
              <a:t>運用は「日常の小さな工数の積み重ね」と「重大インシデント時の突発的な大工数」の両方を抱えるため、自動化と精度向上が運用負荷軽減の鍵となります。</a:t>
            </a:r>
            <a:endParaRPr lang="en-JP" dirty="0">
              <a:latin typeface="Meiryo" panose="020B0604030504040204" pitchFamily="34" charset="-128"/>
              <a:ea typeface="Meiryo" panose="020B0604030504040204" pitchFamily="34" charset="-128"/>
            </a:endParaRPr>
          </a:p>
        </p:txBody>
      </p:sp>
      <p:sp>
        <p:nvSpPr>
          <p:cNvPr id="20" name="正方形/長方形 9">
            <a:extLst>
              <a:ext uri="{FF2B5EF4-FFF2-40B4-BE49-F238E27FC236}">
                <a16:creationId xmlns:a16="http://schemas.microsoft.com/office/drawing/2014/main" id="{26EEC4B7-4D13-CA16-B99F-188E91D86116}"/>
              </a:ext>
            </a:extLst>
          </p:cNvPr>
          <p:cNvSpPr/>
          <p:nvPr/>
        </p:nvSpPr>
        <p:spPr>
          <a:xfrm>
            <a:off x="192804" y="5388428"/>
            <a:ext cx="8620351" cy="967923"/>
          </a:xfrm>
          <a:prstGeom prst="rect">
            <a:avLst/>
          </a:prstGeom>
          <a:noFill/>
          <a:ln w="317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1" name="Down Arrow 20">
            <a:extLst>
              <a:ext uri="{FF2B5EF4-FFF2-40B4-BE49-F238E27FC236}">
                <a16:creationId xmlns:a16="http://schemas.microsoft.com/office/drawing/2014/main" id="{541CAE51-C72B-9A3C-A761-490DE5089982}"/>
              </a:ext>
            </a:extLst>
          </p:cNvPr>
          <p:cNvSpPr/>
          <p:nvPr/>
        </p:nvSpPr>
        <p:spPr>
          <a:xfrm>
            <a:off x="5559390" y="4603485"/>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2244008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4B298F-998F-A70D-DB21-43265E6C4C67}"/>
              </a:ext>
            </a:extLst>
          </p:cNvPr>
          <p:cNvSpPr txBox="1"/>
          <p:nvPr/>
        </p:nvSpPr>
        <p:spPr>
          <a:xfrm>
            <a:off x="370114" y="370506"/>
            <a:ext cx="4572000" cy="369332"/>
          </a:xfrm>
          <a:prstGeom prst="rect">
            <a:avLst/>
          </a:prstGeom>
          <a:noFill/>
        </p:spPr>
        <p:txBody>
          <a:bodyPr wrap="square">
            <a:spAutoFit/>
          </a:bodyPr>
          <a:lstStyle/>
          <a:p>
            <a:pPr marL="285750" indent="-285750">
              <a:buFont typeface="Wingdings" pitchFamily="2" charset="2"/>
              <a:buChar char="Ø"/>
            </a:pPr>
            <a:r>
              <a:rPr lang="ja-JP" altLang="en-US" b="1">
                <a:solidFill>
                  <a:srgbClr val="92D050"/>
                </a:solidFill>
                <a:latin typeface="Meiryo" panose="020B0604030504040204" pitchFamily="34" charset="-128"/>
                <a:ea typeface="Meiryo" panose="020B0604030504040204" pitchFamily="34" charset="-128"/>
              </a:rPr>
              <a:t>アラートトリアージへの影響</a:t>
            </a:r>
            <a:endParaRPr lang="en-JP" b="1" dirty="0">
              <a:solidFill>
                <a:srgbClr val="92D050"/>
              </a:solidFill>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F57BFF9B-081E-8254-1868-389AB6D0ABA2}"/>
              </a:ext>
            </a:extLst>
          </p:cNvPr>
          <p:cNvSpPr txBox="1"/>
          <p:nvPr/>
        </p:nvSpPr>
        <p:spPr>
          <a:xfrm>
            <a:off x="427264" y="1199169"/>
            <a:ext cx="6030686"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従来：人手で複数ツールを確認 → 時間がかかる</a:t>
            </a:r>
          </a:p>
          <a:p>
            <a:r>
              <a:rPr lang="en-JP" dirty="0">
                <a:latin typeface="Meiryo" panose="020B0604030504040204" pitchFamily="34" charset="-128"/>
                <a:ea typeface="Meiryo" panose="020B0604030504040204" pitchFamily="34" charset="-128"/>
              </a:rPr>
              <a:t>課題：重要アラートの見落としリスク</a:t>
            </a:r>
          </a:p>
          <a:p>
            <a:r>
              <a:rPr lang="en-JP" dirty="0">
                <a:latin typeface="Meiryo" panose="020B0604030504040204" pitchFamily="34" charset="-128"/>
                <a:ea typeface="Meiryo" panose="020B0604030504040204" pitchFamily="34" charset="-128"/>
              </a:rPr>
              <a:t>解決：ログ相関による自動判断</a:t>
            </a:r>
          </a:p>
          <a:p>
            <a:r>
              <a:rPr lang="en-JP" dirty="0">
                <a:latin typeface="Meiryo" panose="020B0604030504040204" pitchFamily="34" charset="-128"/>
                <a:ea typeface="Meiryo" panose="020B0604030504040204" pitchFamily="34" charset="-128"/>
              </a:rPr>
              <a:t>効果：ランサムウェアを高精度に検知</a:t>
            </a:r>
          </a:p>
        </p:txBody>
      </p:sp>
      <p:sp>
        <p:nvSpPr>
          <p:cNvPr id="9" name="TextBox 8">
            <a:extLst>
              <a:ext uri="{FF2B5EF4-FFF2-40B4-BE49-F238E27FC236}">
                <a16:creationId xmlns:a16="http://schemas.microsoft.com/office/drawing/2014/main" id="{27EFDF85-6D8C-EB94-B40F-CFF1F26BA349}"/>
              </a:ext>
            </a:extLst>
          </p:cNvPr>
          <p:cNvSpPr txBox="1"/>
          <p:nvPr/>
        </p:nvSpPr>
        <p:spPr>
          <a:xfrm>
            <a:off x="370114" y="3350889"/>
            <a:ext cx="6901543"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例えば、ファイル削除、バックアップ破壊、未知プロセスによる暗号化、ネットワーク共有への書き込みといった事象を相関させることで、ランサムウェア展開を高い信頼度で検知でき、トリアージの迅速化と判断精度の向上に寄与</a:t>
            </a:r>
          </a:p>
        </p:txBody>
      </p:sp>
      <p:sp>
        <p:nvSpPr>
          <p:cNvPr id="10" name="Slide Number Placeholder 9">
            <a:extLst>
              <a:ext uri="{FF2B5EF4-FFF2-40B4-BE49-F238E27FC236}">
                <a16:creationId xmlns:a16="http://schemas.microsoft.com/office/drawing/2014/main" id="{CA59FEE9-DCDB-8AA3-F2F3-DDA4D80BD72A}"/>
              </a:ext>
            </a:extLst>
          </p:cNvPr>
          <p:cNvSpPr>
            <a:spLocks noGrp="1"/>
          </p:cNvSpPr>
          <p:nvPr>
            <p:ph type="sldNum" sz="quarter" idx="12"/>
          </p:nvPr>
        </p:nvSpPr>
        <p:spPr/>
        <p:txBody>
          <a:bodyPr/>
          <a:lstStyle/>
          <a:p>
            <a:fld id="{0B6BB8DA-DB46-D648-BE1D-FCDB55E9CBE3}" type="slidenum">
              <a:rPr lang="en-JP" smtClean="0"/>
              <a:t>26</a:t>
            </a:fld>
            <a:endParaRPr lang="en-JP"/>
          </a:p>
        </p:txBody>
      </p:sp>
      <p:sp>
        <p:nvSpPr>
          <p:cNvPr id="2" name="正方形/長方形 9">
            <a:extLst>
              <a:ext uri="{FF2B5EF4-FFF2-40B4-BE49-F238E27FC236}">
                <a16:creationId xmlns:a16="http://schemas.microsoft.com/office/drawing/2014/main" id="{9DB57E63-4286-2B79-7C22-35B3C35DC01C}"/>
              </a:ext>
            </a:extLst>
          </p:cNvPr>
          <p:cNvSpPr/>
          <p:nvPr/>
        </p:nvSpPr>
        <p:spPr>
          <a:xfrm>
            <a:off x="191140" y="3237510"/>
            <a:ext cx="8620351" cy="1459181"/>
          </a:xfrm>
          <a:prstGeom prst="rect">
            <a:avLst/>
          </a:prstGeom>
          <a:noFill/>
          <a:ln w="317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 name="Down Arrow 2">
            <a:extLst>
              <a:ext uri="{FF2B5EF4-FFF2-40B4-BE49-F238E27FC236}">
                <a16:creationId xmlns:a16="http://schemas.microsoft.com/office/drawing/2014/main" id="{77AEE21E-0CB3-5EEB-AB8F-1CE854D0F3E7}"/>
              </a:ext>
            </a:extLst>
          </p:cNvPr>
          <p:cNvSpPr/>
          <p:nvPr/>
        </p:nvSpPr>
        <p:spPr>
          <a:xfrm>
            <a:off x="4411507" y="2517755"/>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1378003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6B4BFE-F0D7-9404-DC28-C57A219879C0}"/>
              </a:ext>
            </a:extLst>
          </p:cNvPr>
          <p:cNvSpPr txBox="1"/>
          <p:nvPr/>
        </p:nvSpPr>
        <p:spPr>
          <a:xfrm>
            <a:off x="381000" y="370506"/>
            <a:ext cx="4572000" cy="369332"/>
          </a:xfrm>
          <a:prstGeom prst="rect">
            <a:avLst/>
          </a:prstGeom>
          <a:noFill/>
        </p:spPr>
        <p:txBody>
          <a:bodyPr wrap="square">
            <a:spAutoFit/>
          </a:bodyPr>
          <a:lstStyle/>
          <a:p>
            <a:pPr marL="285750" indent="-285750">
              <a:buFont typeface="Wingdings" pitchFamily="2" charset="2"/>
              <a:buChar char="Ø"/>
            </a:pPr>
            <a:r>
              <a:rPr lang="ja-JP" altLang="en-US" b="1">
                <a:solidFill>
                  <a:srgbClr val="92D050"/>
                </a:solidFill>
                <a:latin typeface="Meiryo" panose="020B0604030504040204" pitchFamily="34" charset="-128"/>
                <a:ea typeface="Meiryo" panose="020B0604030504040204" pitchFamily="34" charset="-128"/>
              </a:rPr>
              <a:t>セキュリティ人材のスキル要件</a:t>
            </a:r>
            <a:endParaRPr lang="en-JP" b="1" dirty="0">
              <a:solidFill>
                <a:srgbClr val="92D050"/>
              </a:solidFill>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9BF2CDDE-5B16-7599-8226-05863AEA3232}"/>
              </a:ext>
            </a:extLst>
          </p:cNvPr>
          <p:cNvSpPr txBox="1"/>
          <p:nvPr/>
        </p:nvSpPr>
        <p:spPr>
          <a:xfrm>
            <a:off x="381000" y="1065270"/>
            <a:ext cx="7707086"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SOC／CSIRT</a:t>
            </a:r>
            <a:r>
              <a:rPr lang="ja-JP" altLang="en-US" sz="1600">
                <a:latin typeface="Meiryo" panose="020B0604030504040204" pitchFamily="34" charset="-128"/>
                <a:ea typeface="Meiryo" panose="020B0604030504040204" pitchFamily="34" charset="-128"/>
              </a:rPr>
              <a:t>では、すべての業務を一人で担うのではなく、</a:t>
            </a:r>
            <a:r>
              <a:rPr lang="en-US" sz="1600" dirty="0">
                <a:latin typeface="Meiryo" panose="020B0604030504040204" pitchFamily="34" charset="-128"/>
                <a:ea typeface="Meiryo" panose="020B0604030504040204" pitchFamily="34" charset="-128"/>
              </a:rPr>
              <a:t>Tier 1</a:t>
            </a:r>
            <a:r>
              <a:rPr lang="ja-JP" altLang="en-US" sz="1600">
                <a:latin typeface="Meiryo" panose="020B0604030504040204" pitchFamily="34" charset="-128"/>
                <a:ea typeface="Meiryo" panose="020B0604030504040204" pitchFamily="34" charset="-128"/>
              </a:rPr>
              <a:t>から</a:t>
            </a:r>
            <a:r>
              <a:rPr lang="en-US" sz="1600" dirty="0">
                <a:latin typeface="Meiryo" panose="020B0604030504040204" pitchFamily="34" charset="-128"/>
                <a:ea typeface="Meiryo" panose="020B0604030504040204" pitchFamily="34" charset="-128"/>
              </a:rPr>
              <a:t>Tier 3</a:t>
            </a:r>
            <a:r>
              <a:rPr lang="ja-JP" altLang="en-US" sz="1600">
                <a:latin typeface="Meiryo" panose="020B0604030504040204" pitchFamily="34" charset="-128"/>
                <a:ea typeface="Meiryo" panose="020B0604030504040204" pitchFamily="34" charset="-128"/>
              </a:rPr>
              <a:t>まで役割を分担し、それぞれに適したスキルを段階的に育成することが重要です。</a:t>
            </a:r>
            <a:endParaRPr lang="en-JP" sz="16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0AFFD5B8-A405-9772-432F-9B19280E34F9}"/>
              </a:ext>
            </a:extLst>
          </p:cNvPr>
          <p:cNvSpPr txBox="1"/>
          <p:nvPr/>
        </p:nvSpPr>
        <p:spPr>
          <a:xfrm>
            <a:off x="381000" y="1730073"/>
            <a:ext cx="8512628" cy="3293209"/>
          </a:xfrm>
          <a:prstGeom prst="rect">
            <a:avLst/>
          </a:prstGeom>
          <a:noFill/>
        </p:spPr>
        <p:txBody>
          <a:bodyPr wrap="square">
            <a:spAutoFit/>
          </a:bodyPr>
          <a:lstStyle/>
          <a:p>
            <a:r>
              <a:rPr lang="en-US" sz="1600" dirty="0">
                <a:solidFill>
                  <a:srgbClr val="92D050"/>
                </a:solidFill>
                <a:latin typeface="Meiryo" panose="020B0604030504040204" pitchFamily="34" charset="-128"/>
                <a:ea typeface="Meiryo" panose="020B0604030504040204" pitchFamily="34" charset="-128"/>
              </a:rPr>
              <a:t>Tier 1 </a:t>
            </a:r>
            <a:r>
              <a:rPr lang="ja-JP" altLang="en-US" sz="1600">
                <a:solidFill>
                  <a:srgbClr val="92D050"/>
                </a:solidFill>
                <a:latin typeface="Meiryo" panose="020B0604030504040204" pitchFamily="34" charset="-128"/>
                <a:ea typeface="Meiryo" panose="020B0604030504040204" pitchFamily="34" charset="-128"/>
              </a:rPr>
              <a:t>アナリスト：監視・トリアージ</a:t>
            </a:r>
            <a:endParaRPr lang="mn-MN" altLang="ja-JP" sz="1600" dirty="0">
              <a:solidFill>
                <a:srgbClr val="92D050"/>
              </a:solidFill>
              <a:latin typeface="Meiryo" panose="020B0604030504040204" pitchFamily="34" charset="-128"/>
              <a:ea typeface="Meiryo" panose="020B0604030504040204" pitchFamily="34" charset="-128"/>
            </a:endParaRPr>
          </a:p>
          <a:p>
            <a:endParaRPr lang="en-US" altLang="ja-JP" sz="1600" dirty="0">
              <a:solidFill>
                <a:srgbClr val="92D050"/>
              </a:solidFill>
              <a:latin typeface="Meiryo" panose="020B0604030504040204" pitchFamily="34" charset="-128"/>
              <a:ea typeface="Meiryo" panose="020B0604030504040204" pitchFamily="34" charset="-128"/>
            </a:endParaRPr>
          </a:p>
          <a:p>
            <a:r>
              <a:rPr lang="en-US" sz="1600" dirty="0">
                <a:latin typeface="Meiryo" panose="020B0604030504040204" pitchFamily="34" charset="-128"/>
                <a:ea typeface="Meiryo" panose="020B0604030504040204" pitchFamily="34" charset="-128"/>
              </a:rPr>
              <a:t>Tier 1</a:t>
            </a:r>
            <a:r>
              <a:rPr lang="ja-JP" altLang="en-US" sz="1600">
                <a:latin typeface="Meiryo" panose="020B0604030504040204" pitchFamily="34" charset="-128"/>
                <a:ea typeface="Meiryo" panose="020B0604030504040204" pitchFamily="34" charset="-128"/>
              </a:rPr>
              <a:t>アナリストは、</a:t>
            </a:r>
            <a:r>
              <a:rPr lang="en-US" sz="1600" dirty="0">
                <a:latin typeface="Meiryo" panose="020B0604030504040204" pitchFamily="34" charset="-128"/>
                <a:ea typeface="Meiryo" panose="020B0604030504040204" pitchFamily="34" charset="-128"/>
              </a:rPr>
              <a:t>SOC</a:t>
            </a:r>
            <a:r>
              <a:rPr lang="ja-JP" altLang="en-US" sz="1600">
                <a:latin typeface="Meiryo" panose="020B0604030504040204" pitchFamily="34" charset="-128"/>
                <a:ea typeface="Meiryo" panose="020B0604030504040204" pitchFamily="34" charset="-128"/>
              </a:rPr>
              <a:t>運用の最前線として</a:t>
            </a:r>
            <a:br>
              <a:rPr lang="ja-JP" altLang="en-US" sz="1600">
                <a:latin typeface="Meiryo" panose="020B0604030504040204" pitchFamily="34" charset="-128"/>
                <a:ea typeface="Meiryo" panose="020B0604030504040204" pitchFamily="34" charset="-128"/>
              </a:rPr>
            </a:br>
            <a:r>
              <a:rPr lang="en-US" altLang="ja-JP" sz="1600" dirty="0">
                <a:latin typeface="Meiryo" panose="020B0604030504040204" pitchFamily="34" charset="-128"/>
                <a:ea typeface="Meiryo" panose="020B0604030504040204" pitchFamily="34" charset="-128"/>
              </a:rPr>
              <a:t>24</a:t>
            </a:r>
            <a:r>
              <a:rPr lang="ja-JP" altLang="en-US" sz="1600">
                <a:latin typeface="Meiryo" panose="020B0604030504040204" pitchFamily="34" charset="-128"/>
                <a:ea typeface="Meiryo" panose="020B0604030504040204" pitchFamily="34" charset="-128"/>
              </a:rPr>
              <a:t>時間</a:t>
            </a:r>
            <a:r>
              <a:rPr lang="en-US" altLang="ja-JP" sz="1600" dirty="0">
                <a:latin typeface="Meiryo" panose="020B0604030504040204" pitchFamily="34" charset="-128"/>
                <a:ea typeface="Meiryo" panose="020B0604030504040204" pitchFamily="34" charset="-128"/>
              </a:rPr>
              <a:t>365</a:t>
            </a:r>
            <a:r>
              <a:rPr lang="ja-JP" altLang="en-US" sz="1600">
                <a:latin typeface="Meiryo" panose="020B0604030504040204" pitchFamily="34" charset="-128"/>
                <a:ea typeface="Meiryo" panose="020B0604030504040204" pitchFamily="34" charset="-128"/>
              </a:rPr>
              <a:t>日の監視と初期トリアージを担当します。</a:t>
            </a:r>
          </a:p>
          <a:p>
            <a:r>
              <a:rPr lang="ja-JP" altLang="en-US" sz="1600">
                <a:latin typeface="Meiryo" panose="020B0604030504040204" pitchFamily="34" charset="-128"/>
                <a:ea typeface="Meiryo" panose="020B0604030504040204" pitchFamily="34" charset="-128"/>
              </a:rPr>
              <a:t>この役割では、迅速かつ正確な判断が最も重要となります。</a:t>
            </a:r>
          </a:p>
          <a:p>
            <a:r>
              <a:rPr lang="ja-JP" altLang="en-US" sz="1600">
                <a:latin typeface="Meiryo" panose="020B0604030504040204" pitchFamily="34" charset="-128"/>
                <a:ea typeface="Meiryo" panose="020B0604030504040204" pitchFamily="34" charset="-128"/>
              </a:rPr>
              <a:t>必要なスキルとしては、</a:t>
            </a:r>
            <a:endParaRPr lang="mn-MN" altLang="ja-JP" sz="1600" dirty="0">
              <a:latin typeface="Meiryo" panose="020B0604030504040204" pitchFamily="34" charset="-128"/>
              <a:ea typeface="Meiryo" panose="020B0604030504040204" pitchFamily="34" charset="-128"/>
            </a:endParaRPr>
          </a:p>
          <a:p>
            <a:endParaRPr lang="ja-JP" altLang="en-US" sz="160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1600" dirty="0">
                <a:latin typeface="Meiryo" panose="020B0604030504040204" pitchFamily="34" charset="-128"/>
                <a:ea typeface="Meiryo" panose="020B0604030504040204" pitchFamily="34" charset="-128"/>
              </a:rPr>
              <a:t>TCP/IP、DNS、HTTP</a:t>
            </a:r>
            <a:r>
              <a:rPr lang="ja-JP" altLang="en-US" sz="1600">
                <a:latin typeface="Meiryo" panose="020B0604030504040204" pitchFamily="34" charset="-128"/>
                <a:ea typeface="Meiryo" panose="020B0604030504040204" pitchFamily="34" charset="-128"/>
              </a:rPr>
              <a:t>といった基本的なネットワーク知識</a:t>
            </a:r>
            <a:endParaRPr lang="mn-MN" altLang="ja-JP"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1600" dirty="0">
                <a:latin typeface="Meiryo" panose="020B0604030504040204" pitchFamily="34" charset="-128"/>
                <a:ea typeface="Meiryo" panose="020B0604030504040204" pitchFamily="34" charset="-128"/>
              </a:rPr>
              <a:t>Windows</a:t>
            </a:r>
            <a:r>
              <a:rPr lang="ja-JP" altLang="en-US" sz="1600">
                <a:latin typeface="Meiryo" panose="020B0604030504040204" pitchFamily="34" charset="-128"/>
                <a:ea typeface="Meiryo" panose="020B0604030504040204" pitchFamily="34" charset="-128"/>
              </a:rPr>
              <a:t>および</a:t>
            </a:r>
            <a:r>
              <a:rPr lang="en-US" sz="1600" dirty="0">
                <a:latin typeface="Meiryo" panose="020B0604030504040204" pitchFamily="34" charset="-128"/>
                <a:ea typeface="Meiryo" panose="020B0604030504040204" pitchFamily="34" charset="-128"/>
              </a:rPr>
              <a:t>Linux</a:t>
            </a:r>
            <a:r>
              <a:rPr lang="ja-JP" altLang="en-US" sz="1600">
                <a:latin typeface="Meiryo" panose="020B0604030504040204" pitchFamily="34" charset="-128"/>
                <a:ea typeface="Meiryo" panose="020B0604030504040204" pitchFamily="34" charset="-128"/>
              </a:rPr>
              <a:t>における</a:t>
            </a:r>
            <a:br>
              <a:rPr lang="ja-JP" altLang="en-US" sz="1600">
                <a:latin typeface="Meiryo" panose="020B0604030504040204" pitchFamily="34" charset="-128"/>
                <a:ea typeface="Meiryo" panose="020B0604030504040204" pitchFamily="34" charset="-128"/>
              </a:rPr>
            </a:br>
            <a:r>
              <a:rPr lang="ja-JP" altLang="en-US" sz="1600">
                <a:latin typeface="Meiryo" panose="020B0604030504040204" pitchFamily="34" charset="-128"/>
                <a:ea typeface="Meiryo" panose="020B0604030504040204" pitchFamily="34" charset="-128"/>
              </a:rPr>
              <a:t>ファイルシステム、プロセス、ログなどの</a:t>
            </a:r>
            <a:r>
              <a:rPr lang="en-US" sz="1600" dirty="0">
                <a:latin typeface="Meiryo" panose="020B0604030504040204" pitchFamily="34" charset="-128"/>
                <a:ea typeface="Meiryo" panose="020B0604030504040204" pitchFamily="34" charset="-128"/>
              </a:rPr>
              <a:t>OS</a:t>
            </a:r>
            <a:r>
              <a:rPr lang="ja-JP" altLang="en-US" sz="1600">
                <a:latin typeface="Meiryo" panose="020B0604030504040204" pitchFamily="34" charset="-128"/>
                <a:ea typeface="Meiryo" panose="020B0604030504040204" pitchFamily="34" charset="-128"/>
              </a:rPr>
              <a:t>基礎理解</a:t>
            </a:r>
            <a:endParaRPr lang="mn-MN" altLang="ja-JP"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マルウェアの種類や代表的な攻撃手法に関するセキュリティ基礎知識</a:t>
            </a:r>
            <a:endParaRPr lang="mn-MN" altLang="ja-JP"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1600" dirty="0">
                <a:latin typeface="Meiryo" panose="020B0604030504040204" pitchFamily="34" charset="-128"/>
                <a:ea typeface="Meiryo" panose="020B0604030504040204" pitchFamily="34" charset="-128"/>
              </a:rPr>
              <a:t>SIEM／SOAR</a:t>
            </a:r>
            <a:r>
              <a:rPr lang="ja-JP" altLang="en-US" sz="1600">
                <a:latin typeface="Meiryo" panose="020B0604030504040204" pitchFamily="34" charset="-128"/>
                <a:ea typeface="Meiryo" panose="020B0604030504040204" pitchFamily="34" charset="-128"/>
              </a:rPr>
              <a:t>ツールを操作できる実務能力が挙げられます。</a:t>
            </a:r>
            <a:endParaRPr lang="mn-MN" altLang="ja-JP"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ja-JP" altLang="en-US" sz="1600">
              <a:latin typeface="Meiryo" panose="020B0604030504040204" pitchFamily="34" charset="-128"/>
              <a:ea typeface="Meiryo" panose="020B0604030504040204" pitchFamily="34" charset="-128"/>
            </a:endParaRPr>
          </a:p>
        </p:txBody>
      </p:sp>
      <p:sp>
        <p:nvSpPr>
          <p:cNvPr id="10" name="正方形/長方形 9">
            <a:extLst>
              <a:ext uri="{FF2B5EF4-FFF2-40B4-BE49-F238E27FC236}">
                <a16:creationId xmlns:a16="http://schemas.microsoft.com/office/drawing/2014/main" id="{A5EBC4F5-CD6D-CF33-499D-FFBA08D5FAC1}"/>
              </a:ext>
            </a:extLst>
          </p:cNvPr>
          <p:cNvSpPr/>
          <p:nvPr/>
        </p:nvSpPr>
        <p:spPr>
          <a:xfrm>
            <a:off x="283029" y="5388428"/>
            <a:ext cx="8316685" cy="1091421"/>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2" name="TextBox 11">
            <a:extLst>
              <a:ext uri="{FF2B5EF4-FFF2-40B4-BE49-F238E27FC236}">
                <a16:creationId xmlns:a16="http://schemas.microsoft.com/office/drawing/2014/main" id="{AF35B8DB-A193-B5BE-8585-4F469C3BDE3E}"/>
              </a:ext>
            </a:extLst>
          </p:cNvPr>
          <p:cNvSpPr txBox="1"/>
          <p:nvPr/>
        </p:nvSpPr>
        <p:spPr>
          <a:xfrm>
            <a:off x="315686" y="5468456"/>
            <a:ext cx="8545285" cy="923330"/>
          </a:xfrm>
          <a:prstGeom prst="rect">
            <a:avLst/>
          </a:prstGeom>
          <a:noFill/>
        </p:spPr>
        <p:txBody>
          <a:bodyPr wrap="square">
            <a:spAutoFit/>
          </a:bodyPr>
          <a:lstStyle/>
          <a:p>
            <a:r>
              <a:rPr lang="en-US" sz="1800" dirty="0">
                <a:latin typeface="Meiryo" panose="020B0604030504040204" pitchFamily="34" charset="-128"/>
                <a:ea typeface="Meiryo" panose="020B0604030504040204" pitchFamily="34" charset="-128"/>
              </a:rPr>
              <a:t>Tier 1</a:t>
            </a:r>
            <a:r>
              <a:rPr lang="ja-JP" altLang="en-US" sz="1800">
                <a:latin typeface="Meiryo" panose="020B0604030504040204" pitchFamily="34" charset="-128"/>
                <a:ea typeface="Meiryo" panose="020B0604030504040204" pitchFamily="34" charset="-128"/>
              </a:rPr>
              <a:t>では、あらかじめ定義されたプレイブックに基づく対応が中心となる</a:t>
            </a:r>
            <a:endParaRPr lang="mn-MN" altLang="ja-JP" sz="1800" dirty="0">
              <a:latin typeface="Meiryo" panose="020B0604030504040204" pitchFamily="34" charset="-128"/>
              <a:ea typeface="Meiryo" panose="020B0604030504040204" pitchFamily="34" charset="-128"/>
            </a:endParaRPr>
          </a:p>
          <a:p>
            <a:r>
              <a:rPr lang="ja-JP" altLang="en-US" sz="1800">
                <a:latin typeface="Meiryo" panose="020B0604030504040204" pitchFamily="34" charset="-128"/>
                <a:ea typeface="Meiryo" panose="020B0604030504040204" pitchFamily="34" charset="-128"/>
              </a:rPr>
              <a:t>ため、深い専門知識よりも、手順を正確に実行する能力と</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適切なタイミングで上位</a:t>
            </a:r>
            <a:r>
              <a:rPr lang="en-US" sz="1800" dirty="0">
                <a:latin typeface="Meiryo" panose="020B0604030504040204" pitchFamily="34" charset="-128"/>
                <a:ea typeface="Meiryo" panose="020B0604030504040204" pitchFamily="34" charset="-128"/>
              </a:rPr>
              <a:t>Tier</a:t>
            </a:r>
            <a:r>
              <a:rPr lang="ja-JP" altLang="en-US" sz="1800">
                <a:latin typeface="Meiryo" panose="020B0604030504040204" pitchFamily="34" charset="-128"/>
                <a:ea typeface="Meiryo" panose="020B0604030504040204" pitchFamily="34" charset="-128"/>
              </a:rPr>
              <a:t>へエスカレーションする判断力が求められます。</a:t>
            </a:r>
          </a:p>
        </p:txBody>
      </p:sp>
      <p:sp>
        <p:nvSpPr>
          <p:cNvPr id="13" name="Down Arrow 12">
            <a:extLst>
              <a:ext uri="{FF2B5EF4-FFF2-40B4-BE49-F238E27FC236}">
                <a16:creationId xmlns:a16="http://schemas.microsoft.com/office/drawing/2014/main" id="{5E7A8D25-2F8F-B130-8E98-0CB04B28F8BB}"/>
              </a:ext>
            </a:extLst>
          </p:cNvPr>
          <p:cNvSpPr/>
          <p:nvPr/>
        </p:nvSpPr>
        <p:spPr>
          <a:xfrm>
            <a:off x="2667000" y="4762236"/>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4" name="Slide Number Placeholder 13">
            <a:extLst>
              <a:ext uri="{FF2B5EF4-FFF2-40B4-BE49-F238E27FC236}">
                <a16:creationId xmlns:a16="http://schemas.microsoft.com/office/drawing/2014/main" id="{44BAB83E-5693-57B7-DE9A-9AA972A1A422}"/>
              </a:ext>
            </a:extLst>
          </p:cNvPr>
          <p:cNvSpPr>
            <a:spLocks noGrp="1"/>
          </p:cNvSpPr>
          <p:nvPr>
            <p:ph type="sldNum" sz="quarter" idx="12"/>
          </p:nvPr>
        </p:nvSpPr>
        <p:spPr/>
        <p:txBody>
          <a:bodyPr/>
          <a:lstStyle/>
          <a:p>
            <a:fld id="{0B6BB8DA-DB46-D648-BE1D-FCDB55E9CBE3}" type="slidenum">
              <a:rPr lang="en-JP" smtClean="0"/>
              <a:t>27</a:t>
            </a:fld>
            <a:endParaRPr lang="en-JP"/>
          </a:p>
        </p:txBody>
      </p:sp>
    </p:spTree>
    <p:extLst>
      <p:ext uri="{BB962C8B-B14F-4D97-AF65-F5344CB8AC3E}">
        <p14:creationId xmlns:p14="http://schemas.microsoft.com/office/powerpoint/2010/main" val="1912434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1FDBEB-7AD5-2A1D-B1A1-0E9CB7FB9FFF}"/>
              </a:ext>
            </a:extLst>
          </p:cNvPr>
          <p:cNvSpPr txBox="1"/>
          <p:nvPr/>
        </p:nvSpPr>
        <p:spPr>
          <a:xfrm>
            <a:off x="380999" y="928531"/>
            <a:ext cx="8654143" cy="3416320"/>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Tier 2</a:t>
            </a:r>
            <a:r>
              <a:rPr lang="ja-JP" altLang="en-US">
                <a:latin typeface="Meiryo" panose="020B0604030504040204" pitchFamily="34" charset="-128"/>
                <a:ea typeface="Meiryo" panose="020B0604030504040204" pitchFamily="34" charset="-128"/>
              </a:rPr>
              <a:t>は、</a:t>
            </a:r>
            <a:r>
              <a:rPr lang="en-US" dirty="0">
                <a:latin typeface="Meiryo" panose="020B0604030504040204" pitchFamily="34" charset="-128"/>
                <a:ea typeface="Meiryo" panose="020B0604030504040204" pitchFamily="34" charset="-128"/>
              </a:rPr>
              <a:t>Tier 1</a:t>
            </a:r>
            <a:r>
              <a:rPr lang="ja-JP" altLang="en-US">
                <a:latin typeface="Meiryo" panose="020B0604030504040204" pitchFamily="34" charset="-128"/>
                <a:ea typeface="Meiryo" panose="020B0604030504040204" pitchFamily="34" charset="-128"/>
              </a:rPr>
              <a:t>からエスカレーションされたアラートに対し、</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詳細な調査と初動対応を行う中核的な役割です。</a:t>
            </a:r>
          </a:p>
          <a:p>
            <a:r>
              <a:rPr lang="ja-JP" altLang="en-US">
                <a:latin typeface="Meiryo" panose="020B0604030504040204" pitchFamily="34" charset="-128"/>
                <a:ea typeface="Meiryo" panose="020B0604030504040204" pitchFamily="34" charset="-128"/>
              </a:rPr>
              <a:t>必要なスキルとしては、</a:t>
            </a:r>
          </a:p>
          <a:p>
            <a:pPr marL="285750" indent="-285750">
              <a:buFont typeface="Wingdings" pitchFamily="2" charset="2"/>
              <a:buChar char="§"/>
            </a:pPr>
            <a:r>
              <a:rPr lang="ja-JP" altLang="en-US">
                <a:latin typeface="Meiryo" panose="020B0604030504040204" pitchFamily="34" charset="-128"/>
                <a:ea typeface="Meiryo" panose="020B0604030504040204" pitchFamily="34" charset="-128"/>
              </a:rPr>
              <a:t>パケット解析を含む高度なネットワーク知識</a:t>
            </a:r>
            <a:endParaRPr lang="mn-MN" altLang="ja-JP" dirty="0">
              <a:latin typeface="Meiryo" panose="020B0604030504040204" pitchFamily="34" charset="-128"/>
              <a:ea typeface="Meiryo" panose="020B0604030504040204" pitchFamily="34" charset="-128"/>
            </a:endParaRPr>
          </a:p>
          <a:p>
            <a:endParaRPr lang="mn-MN" altLang="ja-JP"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US" dirty="0">
                <a:latin typeface="Meiryo" panose="020B0604030504040204" pitchFamily="34" charset="-128"/>
                <a:ea typeface="Meiryo" panose="020B0604030504040204" pitchFamily="34" charset="-128"/>
              </a:rPr>
              <a:t>OS</a:t>
            </a:r>
            <a:r>
              <a:rPr lang="ja-JP" altLang="en-US">
                <a:latin typeface="Meiryo" panose="020B0604030504040204" pitchFamily="34" charset="-128"/>
                <a:ea typeface="Meiryo" panose="020B0604030504040204" pitchFamily="34" charset="-128"/>
              </a:rPr>
              <a:t>内部構造（プロセス、メモリ、レジストリ）への理解</a:t>
            </a:r>
            <a:endParaRPr lang="mn-MN" altLang="ja-JP" dirty="0">
              <a:latin typeface="Meiryo" panose="020B0604030504040204" pitchFamily="34" charset="-128"/>
              <a:ea typeface="Meiryo" panose="020B0604030504040204" pitchFamily="34" charset="-128"/>
            </a:endParaRPr>
          </a:p>
          <a:p>
            <a:endParaRPr lang="mn-MN" altLang="ja-JP"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a:latin typeface="Meiryo" panose="020B0604030504040204" pitchFamily="34" charset="-128"/>
                <a:ea typeface="Meiryo" panose="020B0604030504040204" pitchFamily="34" charset="-128"/>
              </a:rPr>
              <a:t>マルウェアの振る舞いと検知手法</a:t>
            </a:r>
            <a:endParaRPr lang="mn-MN" altLang="ja-JP" dirty="0">
              <a:latin typeface="Meiryo" panose="020B0604030504040204" pitchFamily="34" charset="-128"/>
              <a:ea typeface="Meiryo" panose="020B0604030504040204" pitchFamily="34" charset="-128"/>
            </a:endParaRPr>
          </a:p>
          <a:p>
            <a:endParaRPr lang="mn-MN" altLang="ja-JP"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a:latin typeface="Meiryo" panose="020B0604030504040204" pitchFamily="34" charset="-128"/>
                <a:ea typeface="Meiryo" panose="020B0604030504040204" pitchFamily="34" charset="-128"/>
              </a:rPr>
              <a:t>ログ分析およびフォレンジック技術</a:t>
            </a:r>
            <a:endParaRPr lang="mn-MN" altLang="ja-JP" dirty="0">
              <a:latin typeface="Meiryo" panose="020B0604030504040204" pitchFamily="34" charset="-128"/>
              <a:ea typeface="Meiryo" panose="020B0604030504040204" pitchFamily="34" charset="-128"/>
            </a:endParaRPr>
          </a:p>
          <a:p>
            <a:pPr marL="285750" indent="-285750">
              <a:buFont typeface="Wingdings" pitchFamily="2" charset="2"/>
              <a:buChar char="§"/>
            </a:pPr>
            <a:endParaRPr lang="mn-MN" altLang="ja-JP"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US" dirty="0">
                <a:latin typeface="Meiryo" panose="020B0604030504040204" pitchFamily="34" charset="-128"/>
                <a:ea typeface="Meiryo" panose="020B0604030504040204" pitchFamily="34" charset="-128"/>
              </a:rPr>
              <a:t>PowerShell</a:t>
            </a:r>
            <a:r>
              <a:rPr lang="ja-JP" altLang="en-US">
                <a:latin typeface="Meiryo" panose="020B0604030504040204" pitchFamily="34" charset="-128"/>
                <a:ea typeface="Meiryo" panose="020B0604030504040204" pitchFamily="34" charset="-128"/>
              </a:rPr>
              <a:t>や</a:t>
            </a:r>
            <a:r>
              <a:rPr lang="en-US" dirty="0">
                <a:latin typeface="Meiryo" panose="020B0604030504040204" pitchFamily="34" charset="-128"/>
                <a:ea typeface="Meiryo" panose="020B0604030504040204" pitchFamily="34" charset="-128"/>
              </a:rPr>
              <a:t>Python</a:t>
            </a:r>
            <a:r>
              <a:rPr lang="ja-JP" altLang="en-US">
                <a:latin typeface="Meiryo" panose="020B0604030504040204" pitchFamily="34" charset="-128"/>
                <a:ea typeface="Meiryo" panose="020B0604030504040204" pitchFamily="34" charset="-128"/>
              </a:rPr>
              <a:t>によるスクリプティング能力が求められます。</a:t>
            </a:r>
          </a:p>
        </p:txBody>
      </p:sp>
      <p:sp>
        <p:nvSpPr>
          <p:cNvPr id="7" name="TextBox 6">
            <a:extLst>
              <a:ext uri="{FF2B5EF4-FFF2-40B4-BE49-F238E27FC236}">
                <a16:creationId xmlns:a16="http://schemas.microsoft.com/office/drawing/2014/main" id="{DCB1FB9F-7369-224E-A7BD-1104B3FC044D}"/>
              </a:ext>
            </a:extLst>
          </p:cNvPr>
          <p:cNvSpPr txBox="1"/>
          <p:nvPr/>
        </p:nvSpPr>
        <p:spPr>
          <a:xfrm>
            <a:off x="206829" y="210235"/>
            <a:ext cx="6008914" cy="369332"/>
          </a:xfrm>
          <a:prstGeom prst="rect">
            <a:avLst/>
          </a:prstGeom>
          <a:noFill/>
        </p:spPr>
        <p:txBody>
          <a:bodyPr wrap="square">
            <a:spAutoFit/>
          </a:bodyPr>
          <a:lstStyle/>
          <a:p>
            <a:pPr marL="285750" indent="-285750">
              <a:buFont typeface="Wingdings" pitchFamily="2" charset="2"/>
              <a:buChar char="Ø"/>
            </a:pPr>
            <a:r>
              <a:rPr lang="en-US" dirty="0">
                <a:solidFill>
                  <a:srgbClr val="92D050"/>
                </a:solidFill>
                <a:latin typeface="Meiryo" panose="020B0604030504040204" pitchFamily="34" charset="-128"/>
                <a:ea typeface="Meiryo" panose="020B0604030504040204" pitchFamily="34" charset="-128"/>
              </a:rPr>
              <a:t>Tier 2 </a:t>
            </a:r>
            <a:r>
              <a:rPr lang="ja-JP" altLang="en-US">
                <a:solidFill>
                  <a:srgbClr val="92D050"/>
                </a:solidFill>
                <a:latin typeface="Meiryo" panose="020B0604030504040204" pitchFamily="34" charset="-128"/>
                <a:ea typeface="Meiryo" panose="020B0604030504040204" pitchFamily="34" charset="-128"/>
              </a:rPr>
              <a:t>インシデントレスポンダー：調査・対応</a:t>
            </a:r>
            <a:endParaRPr lang="en-US" altLang="ja-JP" dirty="0">
              <a:solidFill>
                <a:srgbClr val="92D05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8F7E155B-7514-9950-EEDE-28C6216ACA57}"/>
              </a:ext>
            </a:extLst>
          </p:cNvPr>
          <p:cNvSpPr txBox="1"/>
          <p:nvPr/>
        </p:nvSpPr>
        <p:spPr>
          <a:xfrm>
            <a:off x="446316" y="5343595"/>
            <a:ext cx="7522030" cy="923330"/>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Tier 2</a:t>
            </a:r>
            <a:r>
              <a:rPr lang="ja-JP" altLang="en-US">
                <a:latin typeface="Meiryo" panose="020B0604030504040204" pitchFamily="34" charset="-128"/>
                <a:ea typeface="Meiryo" panose="020B0604030504040204" pitchFamily="34" charset="-128"/>
              </a:rPr>
              <a:t>では、プレイブックに定義されていない状況にも対応する必要があるため、状況を正確に把握し、柔軟に判断・対応する応用力が重要となります。</a:t>
            </a:r>
          </a:p>
        </p:txBody>
      </p:sp>
      <p:sp>
        <p:nvSpPr>
          <p:cNvPr id="10" name="正方形/長方形 9">
            <a:extLst>
              <a:ext uri="{FF2B5EF4-FFF2-40B4-BE49-F238E27FC236}">
                <a16:creationId xmlns:a16="http://schemas.microsoft.com/office/drawing/2014/main" id="{213143B2-8D39-4F51-2C0F-243EDD4C6964}"/>
              </a:ext>
            </a:extLst>
          </p:cNvPr>
          <p:cNvSpPr/>
          <p:nvPr/>
        </p:nvSpPr>
        <p:spPr>
          <a:xfrm>
            <a:off x="380999" y="5259550"/>
            <a:ext cx="8316685" cy="1091421"/>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1" name="Down Arrow 10">
            <a:extLst>
              <a:ext uri="{FF2B5EF4-FFF2-40B4-BE49-F238E27FC236}">
                <a16:creationId xmlns:a16="http://schemas.microsoft.com/office/drawing/2014/main" id="{B44492DF-DD0E-A7B3-860B-B5CEF601AAD7}"/>
              </a:ext>
            </a:extLst>
          </p:cNvPr>
          <p:cNvSpPr/>
          <p:nvPr/>
        </p:nvSpPr>
        <p:spPr>
          <a:xfrm>
            <a:off x="2955470" y="4631663"/>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2" name="Slide Number Placeholder 11">
            <a:extLst>
              <a:ext uri="{FF2B5EF4-FFF2-40B4-BE49-F238E27FC236}">
                <a16:creationId xmlns:a16="http://schemas.microsoft.com/office/drawing/2014/main" id="{23B036EC-FB8B-405F-B490-D441F0F93BCA}"/>
              </a:ext>
            </a:extLst>
          </p:cNvPr>
          <p:cNvSpPr>
            <a:spLocks noGrp="1"/>
          </p:cNvSpPr>
          <p:nvPr>
            <p:ph type="sldNum" sz="quarter" idx="12"/>
          </p:nvPr>
        </p:nvSpPr>
        <p:spPr/>
        <p:txBody>
          <a:bodyPr/>
          <a:lstStyle/>
          <a:p>
            <a:fld id="{0B6BB8DA-DB46-D648-BE1D-FCDB55E9CBE3}" type="slidenum">
              <a:rPr lang="en-JP" smtClean="0"/>
              <a:t>28</a:t>
            </a:fld>
            <a:endParaRPr lang="en-JP"/>
          </a:p>
        </p:txBody>
      </p:sp>
    </p:spTree>
    <p:extLst>
      <p:ext uri="{BB962C8B-B14F-4D97-AF65-F5344CB8AC3E}">
        <p14:creationId xmlns:p14="http://schemas.microsoft.com/office/powerpoint/2010/main" val="3883005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47AFE2-BF5A-AA6D-1BC8-A6925C030123}"/>
              </a:ext>
            </a:extLst>
          </p:cNvPr>
          <p:cNvSpPr txBox="1"/>
          <p:nvPr/>
        </p:nvSpPr>
        <p:spPr>
          <a:xfrm>
            <a:off x="391886" y="1190685"/>
            <a:ext cx="7456713" cy="286232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Tier 3</a:t>
            </a:r>
            <a:r>
              <a:rPr lang="ja-JP" altLang="en-US">
                <a:latin typeface="Meiryo" panose="020B0604030504040204" pitchFamily="34" charset="-128"/>
                <a:ea typeface="Meiryo" panose="020B0604030504040204" pitchFamily="34" charset="-128"/>
              </a:rPr>
              <a:t>は、組織内で最も高度な専門性を持つ役割であり、</a:t>
            </a:r>
            <a:br>
              <a:rPr lang="ja-JP" altLang="en-US">
                <a:latin typeface="Meiryo" panose="020B0604030504040204" pitchFamily="34" charset="-128"/>
                <a:ea typeface="Meiryo" panose="020B0604030504040204" pitchFamily="34" charset="-128"/>
              </a:rPr>
            </a:br>
            <a:r>
              <a:rPr lang="en-US" dirty="0">
                <a:latin typeface="Meiryo" panose="020B0604030504040204" pitchFamily="34" charset="-128"/>
                <a:ea typeface="Meiryo" panose="020B0604030504040204" pitchFamily="34" charset="-128"/>
              </a:rPr>
              <a:t>APT</a:t>
            </a:r>
            <a:r>
              <a:rPr lang="ja-JP" altLang="en-US">
                <a:latin typeface="Meiryo" panose="020B0604030504040204" pitchFamily="34" charset="-128"/>
                <a:ea typeface="Meiryo" panose="020B0604030504040204" pitchFamily="34" charset="-128"/>
              </a:rPr>
              <a:t>やゼロデイ攻撃などの高度・未知の脅威を担当します。</a:t>
            </a:r>
          </a:p>
          <a:p>
            <a:r>
              <a:rPr lang="ja-JP" altLang="en-US">
                <a:latin typeface="Meiryo" panose="020B0604030504040204" pitchFamily="34" charset="-128"/>
                <a:ea typeface="Meiryo" panose="020B0604030504040204" pitchFamily="34" charset="-128"/>
              </a:rPr>
              <a:t>必須スキルとしては、</a:t>
            </a:r>
            <a:endParaRPr lang="mn-MN" altLang="ja-JP" dirty="0">
              <a:latin typeface="Meiryo" panose="020B0604030504040204" pitchFamily="34" charset="-128"/>
              <a:ea typeface="Meiryo" panose="020B0604030504040204" pitchFamily="34" charset="-128"/>
            </a:endParaRPr>
          </a:p>
          <a:p>
            <a:endParaRPr lang="ja-JP" altLang="en-US">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アセンブリ言語やデバッガを用いたリバースエンジニアリング</a:t>
            </a: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メモリ解析やマルウェア解析を含む高度フォレンジック技術</a:t>
            </a: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脅威インテリジェンスの収集・分析能力</a:t>
            </a: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セキュリティアーキテクチャの設計能力</a:t>
            </a: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dirty="0">
                <a:latin typeface="Meiryo" panose="020B0604030504040204" pitchFamily="34" charset="-128"/>
                <a:ea typeface="Meiryo" panose="020B0604030504040204" pitchFamily="34" charset="-128"/>
              </a:rPr>
              <a:t>C/C++、Python</a:t>
            </a:r>
            <a:r>
              <a:rPr lang="ja-JP" altLang="en-US">
                <a:latin typeface="Meiryo" panose="020B0604030504040204" pitchFamily="34" charset="-128"/>
                <a:ea typeface="Meiryo" panose="020B0604030504040204" pitchFamily="34" charset="-128"/>
              </a:rPr>
              <a:t>によるプログラミングスキル</a:t>
            </a: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攻撃者視点に基づく侵入手法や回避技術への理解が求められます。</a:t>
            </a:r>
          </a:p>
        </p:txBody>
      </p:sp>
      <p:sp>
        <p:nvSpPr>
          <p:cNvPr id="7" name="TextBox 6">
            <a:extLst>
              <a:ext uri="{FF2B5EF4-FFF2-40B4-BE49-F238E27FC236}">
                <a16:creationId xmlns:a16="http://schemas.microsoft.com/office/drawing/2014/main" id="{00A13600-F995-CFE2-2981-C53E06C5F6C7}"/>
              </a:ext>
            </a:extLst>
          </p:cNvPr>
          <p:cNvSpPr txBox="1"/>
          <p:nvPr/>
        </p:nvSpPr>
        <p:spPr>
          <a:xfrm>
            <a:off x="391886" y="321565"/>
            <a:ext cx="6760028" cy="369332"/>
          </a:xfrm>
          <a:prstGeom prst="rect">
            <a:avLst/>
          </a:prstGeom>
          <a:noFill/>
        </p:spPr>
        <p:txBody>
          <a:bodyPr wrap="square">
            <a:spAutoFit/>
          </a:bodyPr>
          <a:lstStyle/>
          <a:p>
            <a:pPr marL="285750" indent="-285750">
              <a:buFont typeface="Wingdings" pitchFamily="2" charset="2"/>
              <a:buChar char="Ø"/>
            </a:pPr>
            <a:r>
              <a:rPr lang="en-US" b="1" dirty="0">
                <a:solidFill>
                  <a:srgbClr val="92D050"/>
                </a:solidFill>
                <a:latin typeface="Meiryo" panose="020B0604030504040204" pitchFamily="34" charset="-128"/>
                <a:ea typeface="Meiryo" panose="020B0604030504040204" pitchFamily="34" charset="-128"/>
              </a:rPr>
              <a:t>Tier 3 </a:t>
            </a:r>
            <a:r>
              <a:rPr lang="ja-JP" altLang="en-US" b="1">
                <a:solidFill>
                  <a:srgbClr val="92D050"/>
                </a:solidFill>
                <a:latin typeface="Meiryo" panose="020B0604030504040204" pitchFamily="34" charset="-128"/>
                <a:ea typeface="Meiryo" panose="020B0604030504040204" pitchFamily="34" charset="-128"/>
              </a:rPr>
              <a:t>セキュリティエンジニア：専門解析・設計</a:t>
            </a:r>
            <a:endParaRPr lang="en-US" altLang="ja-JP" b="1" dirty="0">
              <a:solidFill>
                <a:srgbClr val="92D05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DCF43BF6-C2C2-C307-E9B9-190F19FDD5FC}"/>
              </a:ext>
            </a:extLst>
          </p:cNvPr>
          <p:cNvSpPr txBox="1"/>
          <p:nvPr/>
        </p:nvSpPr>
        <p:spPr>
          <a:xfrm>
            <a:off x="435429" y="4828126"/>
            <a:ext cx="6977742" cy="646331"/>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Tier 3</a:t>
            </a:r>
            <a:r>
              <a:rPr lang="ja-JP" altLang="en-US">
                <a:latin typeface="Meiryo" panose="020B0604030504040204" pitchFamily="34" charset="-128"/>
                <a:ea typeface="Meiryo" panose="020B0604030504040204" pitchFamily="34" charset="-128"/>
              </a:rPr>
              <a:t>人材の育成には長期間を要するため、外部専門家との連携や高度専門トレーニングへの継続的な投資が不可欠です。</a:t>
            </a:r>
          </a:p>
        </p:txBody>
      </p:sp>
      <p:sp>
        <p:nvSpPr>
          <p:cNvPr id="10" name="正方形/長方形 9">
            <a:extLst>
              <a:ext uri="{FF2B5EF4-FFF2-40B4-BE49-F238E27FC236}">
                <a16:creationId xmlns:a16="http://schemas.microsoft.com/office/drawing/2014/main" id="{68EA9C88-EED3-CA6D-9758-1C84A6D2BA2B}"/>
              </a:ext>
            </a:extLst>
          </p:cNvPr>
          <p:cNvSpPr/>
          <p:nvPr/>
        </p:nvSpPr>
        <p:spPr>
          <a:xfrm>
            <a:off x="391886" y="4605582"/>
            <a:ext cx="8316685" cy="1091421"/>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1" name="Down Arrow 10">
            <a:extLst>
              <a:ext uri="{FF2B5EF4-FFF2-40B4-BE49-F238E27FC236}">
                <a16:creationId xmlns:a16="http://schemas.microsoft.com/office/drawing/2014/main" id="{F0C7CA5E-18AC-1F20-F78A-91205B2AB10C}"/>
              </a:ext>
            </a:extLst>
          </p:cNvPr>
          <p:cNvSpPr/>
          <p:nvPr/>
        </p:nvSpPr>
        <p:spPr>
          <a:xfrm>
            <a:off x="3151414" y="4182139"/>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2" name="Slide Number Placeholder 11">
            <a:extLst>
              <a:ext uri="{FF2B5EF4-FFF2-40B4-BE49-F238E27FC236}">
                <a16:creationId xmlns:a16="http://schemas.microsoft.com/office/drawing/2014/main" id="{FB4C43FB-7E10-12D4-A16F-4004F27DBC6C}"/>
              </a:ext>
            </a:extLst>
          </p:cNvPr>
          <p:cNvSpPr>
            <a:spLocks noGrp="1"/>
          </p:cNvSpPr>
          <p:nvPr>
            <p:ph type="sldNum" sz="quarter" idx="12"/>
          </p:nvPr>
        </p:nvSpPr>
        <p:spPr/>
        <p:txBody>
          <a:bodyPr/>
          <a:lstStyle/>
          <a:p>
            <a:fld id="{0B6BB8DA-DB46-D648-BE1D-FCDB55E9CBE3}" type="slidenum">
              <a:rPr lang="en-JP" smtClean="0"/>
              <a:t>29</a:t>
            </a:fld>
            <a:endParaRPr lang="en-JP"/>
          </a:p>
        </p:txBody>
      </p:sp>
    </p:spTree>
    <p:extLst>
      <p:ext uri="{BB962C8B-B14F-4D97-AF65-F5344CB8AC3E}">
        <p14:creationId xmlns:p14="http://schemas.microsoft.com/office/powerpoint/2010/main" val="34953068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2F9C81-165A-3126-E6CB-C928D25802B1}"/>
              </a:ext>
            </a:extLst>
          </p:cNvPr>
          <p:cNvSpPr txBox="1"/>
          <p:nvPr/>
        </p:nvSpPr>
        <p:spPr>
          <a:xfrm>
            <a:off x="468459" y="855276"/>
            <a:ext cx="7097488" cy="3693319"/>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セキュリティ技術および攻撃手法は日々進化しているため、</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全</a:t>
            </a:r>
            <a:r>
              <a:rPr lang="en-US" dirty="0">
                <a:latin typeface="Meiryo" panose="020B0604030504040204" pitchFamily="34" charset="-128"/>
                <a:ea typeface="Meiryo" panose="020B0604030504040204" pitchFamily="34" charset="-128"/>
              </a:rPr>
              <a:t>Tier</a:t>
            </a:r>
            <a:r>
              <a:rPr lang="ja-JP" altLang="en-US">
                <a:latin typeface="Meiryo" panose="020B0604030504040204" pitchFamily="34" charset="-128"/>
                <a:ea typeface="Meiryo" panose="020B0604030504040204" pitchFamily="34" charset="-128"/>
              </a:rPr>
              <a:t>において継続的なスキル向上が不可欠です。</a:t>
            </a:r>
          </a:p>
          <a:p>
            <a:r>
              <a:rPr lang="ja-JP" altLang="en-US">
                <a:latin typeface="Meiryo" panose="020B0604030504040204" pitchFamily="34" charset="-128"/>
                <a:ea typeface="Meiryo" panose="020B0604030504040204" pitchFamily="34" charset="-128"/>
              </a:rPr>
              <a:t>具体的には、</a:t>
            </a:r>
            <a:endParaRPr lang="mn-MN" altLang="ja-JP" dirty="0">
              <a:latin typeface="Meiryo" panose="020B0604030504040204" pitchFamily="34" charset="-128"/>
              <a:ea typeface="Meiryo" panose="020B0604030504040204" pitchFamily="34" charset="-128"/>
            </a:endParaRPr>
          </a:p>
          <a:p>
            <a:endParaRPr lang="ja-JP" altLang="en-US">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年間</a:t>
            </a:r>
            <a:r>
              <a:rPr lang="en-US" altLang="ja-JP" dirty="0">
                <a:latin typeface="Meiryo" panose="020B0604030504040204" pitchFamily="34" charset="-128"/>
                <a:ea typeface="Meiryo" panose="020B0604030504040204" pitchFamily="34" charset="-128"/>
              </a:rPr>
              <a:t>50〜80</a:t>
            </a:r>
            <a:r>
              <a:rPr lang="ja-JP" altLang="en-US">
                <a:latin typeface="Meiryo" panose="020B0604030504040204" pitchFamily="34" charset="-128"/>
                <a:ea typeface="Meiryo" panose="020B0604030504040204" pitchFamily="34" charset="-128"/>
              </a:rPr>
              <a:t>時間程度の定期的な技術トレーニング</a:t>
            </a: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四半期ごとのテーブルトップ演習</a:t>
            </a: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年</a:t>
            </a:r>
            <a:r>
              <a:rPr lang="en-US" altLang="ja-JP" dirty="0">
                <a:latin typeface="Meiryo" panose="020B0604030504040204" pitchFamily="34" charset="-128"/>
                <a:ea typeface="Meiryo" panose="020B0604030504040204" pitchFamily="34" charset="-128"/>
              </a:rPr>
              <a:t>1〜2</a:t>
            </a:r>
            <a:r>
              <a:rPr lang="ja-JP" altLang="en-US">
                <a:latin typeface="Meiryo" panose="020B0604030504040204" pitchFamily="34" charset="-128"/>
                <a:ea typeface="Meiryo" panose="020B0604030504040204" pitchFamily="34" charset="-128"/>
              </a:rPr>
              <a:t>回のレッドチーム演習</a:t>
            </a:r>
            <a:r>
              <a:rPr lang="mn-MN"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を通じて、</a:t>
            </a:r>
            <a:endParaRPr lang="mn-MN" altLang="ja-JP" dirty="0">
              <a:latin typeface="Meiryo" panose="020B0604030504040204" pitchFamily="34" charset="-128"/>
              <a:ea typeface="Meiryo" panose="020B0604030504040204" pitchFamily="34" charset="-128"/>
            </a:endParaRPr>
          </a:p>
          <a:p>
            <a:r>
              <a:rPr lang="mn-MN"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実践的な対応力を養成します。さらに、</a:t>
            </a:r>
            <a:endParaRPr lang="mn-MN" altLang="ja-JP" dirty="0">
              <a:latin typeface="Meiryo" panose="020B0604030504040204" pitchFamily="34" charset="-128"/>
              <a:ea typeface="Meiryo" panose="020B0604030504040204" pitchFamily="34" charset="-128"/>
            </a:endParaRPr>
          </a:p>
          <a:p>
            <a:endParaRPr lang="ja-JP" altLang="en-US">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週次ミーティングでのケーススタディ共有</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インシデント後の</a:t>
            </a:r>
            <a:r>
              <a:rPr lang="en-US" dirty="0">
                <a:latin typeface="Meiryo" panose="020B0604030504040204" pitchFamily="34" charset="-128"/>
                <a:ea typeface="Meiryo" panose="020B0604030504040204" pitchFamily="34" charset="-128"/>
              </a:rPr>
              <a:t>Lessons Learned</a:t>
            </a:r>
            <a:r>
              <a:rPr lang="ja-JP" altLang="en-US">
                <a:latin typeface="Meiryo" panose="020B0604030504040204" pitchFamily="34" charset="-128"/>
                <a:ea typeface="Meiryo" panose="020B0604030504040204" pitchFamily="34" charset="-128"/>
              </a:rPr>
              <a:t>整理</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社内</a:t>
            </a:r>
            <a:r>
              <a:rPr lang="en-US" dirty="0">
                <a:latin typeface="Meiryo" panose="020B0604030504040204" pitchFamily="34" charset="-128"/>
                <a:ea typeface="Meiryo" panose="020B0604030504040204" pitchFamily="34" charset="-128"/>
              </a:rPr>
              <a:t>Wiki</a:t>
            </a:r>
            <a:r>
              <a:rPr lang="ja-JP" altLang="en-US">
                <a:latin typeface="Meiryo" panose="020B0604030504040204" pitchFamily="34" charset="-128"/>
                <a:ea typeface="Meiryo" panose="020B0604030504040204" pitchFamily="34" charset="-128"/>
              </a:rPr>
              <a:t>による知識ベース構築を行うことで、組織全体のスキルレベル向上を図ります。</a:t>
            </a:r>
          </a:p>
        </p:txBody>
      </p:sp>
      <p:sp>
        <p:nvSpPr>
          <p:cNvPr id="7" name="TextBox 6">
            <a:extLst>
              <a:ext uri="{FF2B5EF4-FFF2-40B4-BE49-F238E27FC236}">
                <a16:creationId xmlns:a16="http://schemas.microsoft.com/office/drawing/2014/main" id="{23EC88E1-FEBD-763D-A0E5-683A0992D7A8}"/>
              </a:ext>
            </a:extLst>
          </p:cNvPr>
          <p:cNvSpPr txBox="1"/>
          <p:nvPr/>
        </p:nvSpPr>
        <p:spPr>
          <a:xfrm>
            <a:off x="272143" y="261649"/>
            <a:ext cx="4572000" cy="369332"/>
          </a:xfrm>
          <a:prstGeom prst="rect">
            <a:avLst/>
          </a:prstGeom>
          <a:noFill/>
        </p:spPr>
        <p:txBody>
          <a:bodyPr wrap="square">
            <a:spAutoFit/>
          </a:bodyPr>
          <a:lstStyle/>
          <a:p>
            <a:pPr marL="285750" indent="-285750">
              <a:buFont typeface="Wingdings" pitchFamily="2" charset="2"/>
              <a:buChar char="Ø"/>
            </a:pPr>
            <a:r>
              <a:rPr lang="ja-JP" altLang="en-US" b="1">
                <a:solidFill>
                  <a:srgbClr val="92D050"/>
                </a:solidFill>
              </a:rPr>
              <a:t>継続的なスキル開発の重要性</a:t>
            </a:r>
            <a:endParaRPr lang="en-US" altLang="ja-JP" b="1" dirty="0">
              <a:solidFill>
                <a:srgbClr val="92D050"/>
              </a:solidFill>
            </a:endParaRPr>
          </a:p>
        </p:txBody>
      </p:sp>
      <p:sp>
        <p:nvSpPr>
          <p:cNvPr id="9" name="TextBox 8">
            <a:extLst>
              <a:ext uri="{FF2B5EF4-FFF2-40B4-BE49-F238E27FC236}">
                <a16:creationId xmlns:a16="http://schemas.microsoft.com/office/drawing/2014/main" id="{805760D8-0A60-D443-CA8D-9381710F2F48}"/>
              </a:ext>
            </a:extLst>
          </p:cNvPr>
          <p:cNvSpPr txBox="1"/>
          <p:nvPr/>
        </p:nvSpPr>
        <p:spPr>
          <a:xfrm>
            <a:off x="598712" y="5079394"/>
            <a:ext cx="7239002" cy="923330"/>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また、</a:t>
            </a:r>
            <a:r>
              <a:rPr lang="en-US" altLang="ja-JP" dirty="0">
                <a:latin typeface="Meiryo" panose="020B0604030504040204" pitchFamily="34" charset="-128"/>
                <a:ea typeface="Meiryo" panose="020B0604030504040204" pitchFamily="34" charset="-128"/>
              </a:rPr>
              <a:t> Security Conference</a:t>
            </a:r>
            <a:r>
              <a:rPr lang="ja-JP" altLang="en-US">
                <a:latin typeface="Meiryo" panose="020B0604030504040204" pitchFamily="34" charset="-128"/>
                <a:ea typeface="Meiryo" panose="020B0604030504040204" pitchFamily="34" charset="-128"/>
              </a:rPr>
              <a:t>への参加や</a:t>
            </a:r>
            <a:r>
              <a:rPr lang="mn-MN"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ISAC</a:t>
            </a:r>
            <a:r>
              <a:rPr lang="ja-JP" altLang="en-US">
                <a:latin typeface="Meiryo" panose="020B0604030504040204" pitchFamily="34" charset="-128"/>
                <a:ea typeface="Meiryo" panose="020B0604030504040204" pitchFamily="34" charset="-128"/>
              </a:rPr>
              <a:t>への加盟、オンラインコミュニティでの情報交換を通じて、最新の脅威動向と対策情報を継続的に取得することが重要です。</a:t>
            </a:r>
          </a:p>
        </p:txBody>
      </p:sp>
      <p:sp>
        <p:nvSpPr>
          <p:cNvPr id="10" name="Slide Number Placeholder 9">
            <a:extLst>
              <a:ext uri="{FF2B5EF4-FFF2-40B4-BE49-F238E27FC236}">
                <a16:creationId xmlns:a16="http://schemas.microsoft.com/office/drawing/2014/main" id="{5C846F25-692C-BF0D-7001-B2F286272615}"/>
              </a:ext>
            </a:extLst>
          </p:cNvPr>
          <p:cNvSpPr>
            <a:spLocks noGrp="1"/>
          </p:cNvSpPr>
          <p:nvPr>
            <p:ph type="sldNum" sz="quarter" idx="12"/>
          </p:nvPr>
        </p:nvSpPr>
        <p:spPr/>
        <p:txBody>
          <a:bodyPr/>
          <a:lstStyle/>
          <a:p>
            <a:fld id="{0B6BB8DA-DB46-D648-BE1D-FCDB55E9CBE3}" type="slidenum">
              <a:rPr lang="en-JP" smtClean="0"/>
              <a:t>30</a:t>
            </a:fld>
            <a:endParaRPr lang="en-JP"/>
          </a:p>
        </p:txBody>
      </p:sp>
      <p:sp>
        <p:nvSpPr>
          <p:cNvPr id="2" name="正方形/長方形 9">
            <a:extLst>
              <a:ext uri="{FF2B5EF4-FFF2-40B4-BE49-F238E27FC236}">
                <a16:creationId xmlns:a16="http://schemas.microsoft.com/office/drawing/2014/main" id="{FD89E3F4-72FD-A12C-4C1F-C552EB8F6AA4}"/>
              </a:ext>
            </a:extLst>
          </p:cNvPr>
          <p:cNvSpPr/>
          <p:nvPr/>
        </p:nvSpPr>
        <p:spPr>
          <a:xfrm>
            <a:off x="272143" y="5013948"/>
            <a:ext cx="8316685" cy="1091421"/>
          </a:xfrm>
          <a:prstGeom prst="rect">
            <a:avLst/>
          </a:prstGeom>
          <a:noFill/>
          <a:ln w="317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 name="Down Arrow 2">
            <a:extLst>
              <a:ext uri="{FF2B5EF4-FFF2-40B4-BE49-F238E27FC236}">
                <a16:creationId xmlns:a16="http://schemas.microsoft.com/office/drawing/2014/main" id="{987B439A-D8DB-3E10-9287-B1D10FB76591}"/>
              </a:ext>
            </a:extLst>
          </p:cNvPr>
          <p:cNvSpPr/>
          <p:nvPr/>
        </p:nvSpPr>
        <p:spPr>
          <a:xfrm>
            <a:off x="3098862" y="4469614"/>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197401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7F6F92-7680-7861-956A-C853F7F6B6B5}"/>
              </a:ext>
            </a:extLst>
          </p:cNvPr>
          <p:cNvSpPr>
            <a:spLocks noGrp="1"/>
          </p:cNvSpPr>
          <p:nvPr>
            <p:ph type="sldNum" sz="quarter" idx="12"/>
          </p:nvPr>
        </p:nvSpPr>
        <p:spPr/>
        <p:txBody>
          <a:bodyPr/>
          <a:lstStyle/>
          <a:p>
            <a:fld id="{0B6BB8DA-DB46-D648-BE1D-FCDB55E9CBE3}" type="slidenum">
              <a:rPr lang="en-JP" smtClean="0"/>
              <a:t>31</a:t>
            </a:fld>
            <a:endParaRPr lang="en-JP"/>
          </a:p>
        </p:txBody>
      </p:sp>
      <p:sp>
        <p:nvSpPr>
          <p:cNvPr id="3" name="TextBox 2">
            <a:extLst>
              <a:ext uri="{FF2B5EF4-FFF2-40B4-BE49-F238E27FC236}">
                <a16:creationId xmlns:a16="http://schemas.microsoft.com/office/drawing/2014/main" id="{044A4A44-6765-F437-0802-3B20C651B154}"/>
              </a:ext>
            </a:extLst>
          </p:cNvPr>
          <p:cNvSpPr txBox="1"/>
          <p:nvPr/>
        </p:nvSpPr>
        <p:spPr>
          <a:xfrm>
            <a:off x="0" y="77505"/>
            <a:ext cx="4572000" cy="369332"/>
          </a:xfrm>
          <a:prstGeom prst="rect">
            <a:avLst/>
          </a:prstGeom>
          <a:noFill/>
        </p:spPr>
        <p:txBody>
          <a:bodyPr wrap="square">
            <a:spAutoFit/>
          </a:bodyPr>
          <a:lstStyle/>
          <a:p>
            <a:pPr marL="285750" indent="-285750" algn="just">
              <a:buFont typeface="Wingdings" pitchFamily="2" charset="2"/>
              <a:buChar char="Ø"/>
            </a:pPr>
            <a:r>
              <a:rPr lang="ja-JP" sz="1800" b="1" kern="10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セキュリティ技術の進展と今後の課題</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06868291-BBEA-23C3-7AE3-E83A1E9BC237}"/>
              </a:ext>
            </a:extLst>
          </p:cNvPr>
          <p:cNvSpPr txBox="1"/>
          <p:nvPr/>
        </p:nvSpPr>
        <p:spPr>
          <a:xfrm>
            <a:off x="268014" y="441638"/>
            <a:ext cx="4572000" cy="369332"/>
          </a:xfrm>
          <a:prstGeom prst="rect">
            <a:avLst/>
          </a:prstGeom>
          <a:noFill/>
        </p:spPr>
        <p:txBody>
          <a:bodyPr wrap="square">
            <a:spAutoFit/>
          </a:bodyPr>
          <a:lstStyle/>
          <a:p>
            <a:r>
              <a:rPr lang="ja-JP" sz="1800" b="1">
                <a:solidFill>
                  <a:srgbClr val="92D050"/>
                </a:solidFill>
                <a:effectLst/>
                <a:ea typeface="Yu Mincho" panose="02020400000000000000" pitchFamily="18" charset="-128"/>
                <a:cs typeface="Times New Roman" panose="02020603050405020304" pitchFamily="18" charset="0"/>
              </a:rPr>
              <a:t>現在の</a:t>
            </a:r>
            <a:r>
              <a:rPr lang="en-US" sz="1800" b="1" dirty="0">
                <a:solidFill>
                  <a:srgbClr val="92D050"/>
                </a:solidFill>
                <a:effectLst/>
                <a:latin typeface="Yu Mincho" panose="02020400000000000000" pitchFamily="18" charset="-128"/>
                <a:cs typeface="Times New Roman" panose="02020603050405020304" pitchFamily="18" charset="0"/>
              </a:rPr>
              <a:t>AI</a:t>
            </a:r>
            <a:r>
              <a:rPr lang="ja-JP" sz="1800" b="1">
                <a:solidFill>
                  <a:srgbClr val="92D050"/>
                </a:solidFill>
                <a:effectLst/>
                <a:ea typeface="Yu Mincho" panose="02020400000000000000" pitchFamily="18" charset="-128"/>
                <a:cs typeface="Times New Roman" panose="02020603050405020304" pitchFamily="18" charset="0"/>
              </a:rPr>
              <a:t>技術の活用状況</a:t>
            </a:r>
            <a:r>
              <a:rPr lang="en-JP" dirty="0">
                <a:effectLst/>
              </a:rPr>
              <a:t> </a:t>
            </a:r>
            <a:endParaRPr lang="en-JP" dirty="0"/>
          </a:p>
        </p:txBody>
      </p:sp>
      <p:sp>
        <p:nvSpPr>
          <p:cNvPr id="8" name="TextBox 7">
            <a:extLst>
              <a:ext uri="{FF2B5EF4-FFF2-40B4-BE49-F238E27FC236}">
                <a16:creationId xmlns:a16="http://schemas.microsoft.com/office/drawing/2014/main" id="{ED6C73D3-1F17-3C5D-05E6-123C25F55D0B}"/>
              </a:ext>
            </a:extLst>
          </p:cNvPr>
          <p:cNvSpPr txBox="1"/>
          <p:nvPr/>
        </p:nvSpPr>
        <p:spPr>
          <a:xfrm>
            <a:off x="268014" y="1051992"/>
            <a:ext cx="4572000" cy="1323439"/>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AIの主な適用分野</a:t>
            </a: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マルウェア検知</a:t>
            </a:r>
            <a:endParaRPr lang="mn-MN"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異常検知（Anomaly Detection）</a:t>
            </a:r>
            <a:endParaRPr lang="mn-MN"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脅威インテリジェンス分析</a:t>
            </a:r>
            <a:endParaRPr lang="mn-MN"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セキュリティ運用の自動化</a:t>
            </a:r>
          </a:p>
        </p:txBody>
      </p:sp>
      <p:sp>
        <p:nvSpPr>
          <p:cNvPr id="10" name="TextBox 9">
            <a:extLst>
              <a:ext uri="{FF2B5EF4-FFF2-40B4-BE49-F238E27FC236}">
                <a16:creationId xmlns:a16="http://schemas.microsoft.com/office/drawing/2014/main" id="{3E227627-527B-2F01-4127-59456E68C495}"/>
              </a:ext>
            </a:extLst>
          </p:cNvPr>
          <p:cNvSpPr txBox="1"/>
          <p:nvPr/>
        </p:nvSpPr>
        <p:spPr>
          <a:xfrm>
            <a:off x="4707978" y="559549"/>
            <a:ext cx="4972050" cy="2308324"/>
          </a:xfrm>
          <a:prstGeom prst="rect">
            <a:avLst/>
          </a:prstGeom>
          <a:noFill/>
        </p:spPr>
        <p:txBody>
          <a:bodyPr wrap="square">
            <a:spAutoFit/>
          </a:bodyPr>
          <a:lstStyle/>
          <a:p>
            <a:r>
              <a:rPr lang="ja-JP" altLang="en-US" sz="1600">
                <a:latin typeface="Meiryo" panose="020B0604030504040204" pitchFamily="34" charset="-128"/>
                <a:ea typeface="Meiryo" panose="020B0604030504040204" pitchFamily="34" charset="-128"/>
              </a:rPr>
              <a:t>教師あり学習によるマルウェア検知</a:t>
            </a:r>
          </a:p>
          <a:p>
            <a:r>
              <a:rPr lang="ja-JP" altLang="en-US" sz="1600">
                <a:latin typeface="Meiryo" panose="020B0604030504040204" pitchFamily="34" charset="-128"/>
                <a:ea typeface="Meiryo" panose="020B0604030504040204" pitchFamily="34" charset="-128"/>
              </a:rPr>
              <a:t>教師あり学習（</a:t>
            </a:r>
            <a:r>
              <a:rPr lang="en-US" sz="1600" dirty="0">
                <a:latin typeface="Meiryo" panose="020B0604030504040204" pitchFamily="34" charset="-128"/>
                <a:ea typeface="Meiryo" panose="020B0604030504040204" pitchFamily="34" charset="-128"/>
              </a:rPr>
              <a:t>Supervised Learning）</a:t>
            </a:r>
          </a:p>
          <a:p>
            <a:pPr marL="285750"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ラベル付きマルウェアデータから特徴量を学習</a:t>
            </a:r>
            <a:endParaRPr lang="mn-MN" altLang="ja-JP"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新たなファイル・挙動を分類</a:t>
            </a:r>
            <a:endParaRPr lang="mn-MN" altLang="ja-JP"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1600">
                <a:latin typeface="Meiryo" panose="020B0604030504040204" pitchFamily="34" charset="-128"/>
                <a:ea typeface="Meiryo" panose="020B0604030504040204" pitchFamily="34" charset="-128"/>
              </a:rPr>
              <a:t>既知マルウェアに対して高精度</a:t>
            </a:r>
            <a:endParaRPr lang="mn-MN" altLang="ja-JP" sz="1600" dirty="0">
              <a:latin typeface="Meiryo" panose="020B0604030504040204" pitchFamily="34" charset="-128"/>
              <a:ea typeface="Meiryo" panose="020B0604030504040204" pitchFamily="34" charset="-128"/>
            </a:endParaRPr>
          </a:p>
          <a:p>
            <a:r>
              <a:rPr lang="ja-JP" altLang="en-US" sz="1600">
                <a:latin typeface="Meiryo" panose="020B0604030504040204" pitchFamily="34" charset="-128"/>
                <a:ea typeface="Meiryo" panose="020B0604030504040204" pitchFamily="34" charset="-128"/>
              </a:rPr>
              <a:t>代表的手法</a:t>
            </a:r>
            <a:endParaRPr lang="mn-MN" altLang="ja-JP"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1600" dirty="0">
                <a:latin typeface="Meiryo" panose="020B0604030504040204" pitchFamily="34" charset="-128"/>
                <a:ea typeface="Meiryo" panose="020B0604030504040204" pitchFamily="34" charset="-128"/>
              </a:rPr>
              <a:t>Random Forest</a:t>
            </a:r>
            <a:endParaRPr lang="mn-MN"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1600" dirty="0">
                <a:latin typeface="Meiryo" panose="020B0604030504040204" pitchFamily="34" charset="-128"/>
                <a:ea typeface="Meiryo" panose="020B0604030504040204" pitchFamily="34" charset="-128"/>
              </a:rPr>
              <a:t>XGBoost</a:t>
            </a:r>
            <a:endParaRPr lang="mn-MN"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1600" dirty="0">
                <a:latin typeface="Meiryo" panose="020B0604030504040204" pitchFamily="34" charset="-128"/>
                <a:ea typeface="Meiryo" panose="020B0604030504040204" pitchFamily="34" charset="-128"/>
              </a:rPr>
              <a:t>Deep Neural </a:t>
            </a:r>
            <a:r>
              <a:rPr lang="en-US" sz="1600" dirty="0" err="1">
                <a:latin typeface="Meiryo" panose="020B0604030504040204" pitchFamily="34" charset="-128"/>
                <a:ea typeface="Meiryo" panose="020B0604030504040204" pitchFamily="34" charset="-128"/>
              </a:rPr>
              <a:t>Network（DNN</a:t>
            </a:r>
            <a:r>
              <a:rPr lang="en-US" sz="1600" dirty="0">
                <a:latin typeface="Meiryo" panose="020B0604030504040204" pitchFamily="34" charset="-128"/>
                <a:ea typeface="Meiryo" panose="020B0604030504040204" pitchFamily="34" charset="-128"/>
              </a:rPr>
              <a:t>）</a:t>
            </a:r>
          </a:p>
        </p:txBody>
      </p:sp>
      <p:pic>
        <p:nvPicPr>
          <p:cNvPr id="11" name="Picture 10">
            <a:extLst>
              <a:ext uri="{FF2B5EF4-FFF2-40B4-BE49-F238E27FC236}">
                <a16:creationId xmlns:a16="http://schemas.microsoft.com/office/drawing/2014/main" id="{70DF2EDD-A543-BA68-65E1-054775FA3076}"/>
              </a:ext>
            </a:extLst>
          </p:cNvPr>
          <p:cNvPicPr>
            <a:picLocks noChangeAspect="1"/>
          </p:cNvPicPr>
          <p:nvPr/>
        </p:nvPicPr>
        <p:blipFill>
          <a:blip r:embed="rId2"/>
          <a:stretch>
            <a:fillRect/>
          </a:stretch>
        </p:blipFill>
        <p:spPr>
          <a:xfrm>
            <a:off x="162910" y="2778075"/>
            <a:ext cx="7772400" cy="3760838"/>
          </a:xfrm>
          <a:prstGeom prst="rect">
            <a:avLst/>
          </a:prstGeom>
        </p:spPr>
      </p:pic>
      <p:sp>
        <p:nvSpPr>
          <p:cNvPr id="13" name="TextBox 12">
            <a:extLst>
              <a:ext uri="{FF2B5EF4-FFF2-40B4-BE49-F238E27FC236}">
                <a16:creationId xmlns:a16="http://schemas.microsoft.com/office/drawing/2014/main" id="{DD700FC5-1C9C-763F-8DC6-2A504D18F0F6}"/>
              </a:ext>
            </a:extLst>
          </p:cNvPr>
          <p:cNvSpPr txBox="1"/>
          <p:nvPr/>
        </p:nvSpPr>
        <p:spPr>
          <a:xfrm>
            <a:off x="0" y="6538913"/>
            <a:ext cx="6561082" cy="276999"/>
          </a:xfrm>
          <a:prstGeom prst="rect">
            <a:avLst/>
          </a:prstGeom>
          <a:noFill/>
        </p:spPr>
        <p:txBody>
          <a:bodyPr wrap="square">
            <a:spAutoFit/>
          </a:bodyPr>
          <a:lstStyle/>
          <a:p>
            <a:r>
              <a:rPr lang="en-JP" sz="1200" dirty="0"/>
              <a:t>https://swisscognitive.ch/2022/01/21/how-to-regulate-ai/</a:t>
            </a:r>
          </a:p>
        </p:txBody>
      </p:sp>
    </p:spTree>
    <p:extLst>
      <p:ext uri="{BB962C8B-B14F-4D97-AF65-F5344CB8AC3E}">
        <p14:creationId xmlns:p14="http://schemas.microsoft.com/office/powerpoint/2010/main" val="152987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2EF062-4141-9690-67EF-5453D6C75CCA}"/>
              </a:ext>
            </a:extLst>
          </p:cNvPr>
          <p:cNvSpPr>
            <a:spLocks noGrp="1"/>
          </p:cNvSpPr>
          <p:nvPr>
            <p:ph type="sldNum" sz="quarter" idx="12"/>
          </p:nvPr>
        </p:nvSpPr>
        <p:spPr/>
        <p:txBody>
          <a:bodyPr/>
          <a:lstStyle/>
          <a:p>
            <a:fld id="{0B6BB8DA-DB46-D648-BE1D-FCDB55E9CBE3}" type="slidenum">
              <a:rPr lang="en-JP" smtClean="0"/>
              <a:t>32</a:t>
            </a:fld>
            <a:endParaRPr lang="en-JP"/>
          </a:p>
        </p:txBody>
      </p:sp>
      <p:sp>
        <p:nvSpPr>
          <p:cNvPr id="3" name="TextBox 2">
            <a:extLst>
              <a:ext uri="{FF2B5EF4-FFF2-40B4-BE49-F238E27FC236}">
                <a16:creationId xmlns:a16="http://schemas.microsoft.com/office/drawing/2014/main" id="{C25BB941-04B1-65E1-92F0-06CAEB0D3287}"/>
              </a:ext>
            </a:extLst>
          </p:cNvPr>
          <p:cNvSpPr txBox="1"/>
          <p:nvPr/>
        </p:nvSpPr>
        <p:spPr>
          <a:xfrm>
            <a:off x="236482" y="104368"/>
            <a:ext cx="4572000" cy="369332"/>
          </a:xfrm>
          <a:prstGeom prst="rect">
            <a:avLst/>
          </a:prstGeom>
          <a:noFill/>
        </p:spPr>
        <p:txBody>
          <a:bodyPr wrap="square">
            <a:spAutoFit/>
          </a:bodyPr>
          <a:lstStyle/>
          <a:p>
            <a:pPr marL="285750" indent="-285750">
              <a:buFont typeface="Wingdings" pitchFamily="2" charset="2"/>
              <a:buChar char="Ø"/>
            </a:pPr>
            <a:r>
              <a:rPr lang="ja-JP" sz="1800" b="1">
                <a:solidFill>
                  <a:srgbClr val="92D050"/>
                </a:solidFill>
                <a:effectLst/>
                <a:ea typeface="Yu Mincho" panose="02020400000000000000" pitchFamily="18" charset="-128"/>
                <a:cs typeface="Times New Roman" panose="02020603050405020304" pitchFamily="18" charset="0"/>
              </a:rPr>
              <a:t>生成</a:t>
            </a:r>
            <a:r>
              <a:rPr lang="en-US" sz="1800" b="1" dirty="0">
                <a:solidFill>
                  <a:srgbClr val="92D050"/>
                </a:solidFill>
                <a:effectLst/>
                <a:latin typeface="Yu Mincho" panose="02020400000000000000" pitchFamily="18" charset="-128"/>
                <a:cs typeface="Times New Roman" panose="02020603050405020304" pitchFamily="18" charset="0"/>
              </a:rPr>
              <a:t>AI</a:t>
            </a:r>
            <a:r>
              <a:rPr lang="ja-JP" sz="1800" b="1">
                <a:solidFill>
                  <a:srgbClr val="92D050"/>
                </a:solidFill>
                <a:effectLst/>
                <a:ea typeface="Yu Mincho" panose="02020400000000000000" pitchFamily="18" charset="-128"/>
                <a:cs typeface="Times New Roman" panose="02020603050405020304" pitchFamily="18" charset="0"/>
              </a:rPr>
              <a:t>の脅威とセキュリティへの影響</a:t>
            </a:r>
            <a:r>
              <a:rPr lang="en-JP" dirty="0">
                <a:effectLst/>
              </a:rPr>
              <a:t> </a:t>
            </a:r>
            <a:endParaRPr lang="en-JP" dirty="0"/>
          </a:p>
        </p:txBody>
      </p:sp>
      <p:pic>
        <p:nvPicPr>
          <p:cNvPr id="5" name="Picture 4">
            <a:extLst>
              <a:ext uri="{FF2B5EF4-FFF2-40B4-BE49-F238E27FC236}">
                <a16:creationId xmlns:a16="http://schemas.microsoft.com/office/drawing/2014/main" id="{0EDA1DA5-4780-AB69-FD03-99701A2ABB08}"/>
              </a:ext>
            </a:extLst>
          </p:cNvPr>
          <p:cNvPicPr>
            <a:picLocks noChangeAspect="1"/>
          </p:cNvPicPr>
          <p:nvPr/>
        </p:nvPicPr>
        <p:blipFill>
          <a:blip r:embed="rId2"/>
          <a:stretch>
            <a:fillRect/>
          </a:stretch>
        </p:blipFill>
        <p:spPr>
          <a:xfrm>
            <a:off x="236482" y="1138828"/>
            <a:ext cx="8145518" cy="3487270"/>
          </a:xfrm>
          <a:prstGeom prst="rect">
            <a:avLst/>
          </a:prstGeom>
        </p:spPr>
      </p:pic>
      <p:sp>
        <p:nvSpPr>
          <p:cNvPr id="7" name="TextBox 6">
            <a:extLst>
              <a:ext uri="{FF2B5EF4-FFF2-40B4-BE49-F238E27FC236}">
                <a16:creationId xmlns:a16="http://schemas.microsoft.com/office/drawing/2014/main" id="{0D1C555F-4D98-1E10-349F-41CA375EF04B}"/>
              </a:ext>
            </a:extLst>
          </p:cNvPr>
          <p:cNvSpPr txBox="1"/>
          <p:nvPr/>
        </p:nvSpPr>
        <p:spPr>
          <a:xfrm>
            <a:off x="236482" y="621598"/>
            <a:ext cx="4572000"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AI: </a:t>
            </a:r>
            <a:r>
              <a:rPr lang="ja-JP" altLang="en-US" sz="1600"/>
              <a:t>防御側の活用</a:t>
            </a:r>
            <a:endParaRPr lang="en-JP" sz="16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FC3F3C15-8FC6-093B-61EB-CA4A3C45D584}"/>
              </a:ext>
            </a:extLst>
          </p:cNvPr>
          <p:cNvSpPr txBox="1"/>
          <p:nvPr/>
        </p:nvSpPr>
        <p:spPr>
          <a:xfrm>
            <a:off x="0" y="6488668"/>
            <a:ext cx="6726621" cy="276999"/>
          </a:xfrm>
          <a:prstGeom prst="rect">
            <a:avLst/>
          </a:prstGeom>
          <a:noFill/>
        </p:spPr>
        <p:txBody>
          <a:bodyPr wrap="square">
            <a:spAutoFit/>
          </a:bodyPr>
          <a:lstStyle/>
          <a:p>
            <a:r>
              <a:rPr lang="en-JP" sz="1200" dirty="0">
                <a:latin typeface="Times New Roman" panose="02020603050405020304" pitchFamily="18" charset="0"/>
                <a:cs typeface="Times New Roman" panose="02020603050405020304" pitchFamily="18" charset="0"/>
              </a:rPr>
              <a:t>https://www.ispartnersllc.com/blog/ai-cybersecurity-examples/</a:t>
            </a:r>
          </a:p>
        </p:txBody>
      </p:sp>
      <p:sp>
        <p:nvSpPr>
          <p:cNvPr id="13" name="TextBox 12">
            <a:extLst>
              <a:ext uri="{FF2B5EF4-FFF2-40B4-BE49-F238E27FC236}">
                <a16:creationId xmlns:a16="http://schemas.microsoft.com/office/drawing/2014/main" id="{ACCE13B7-4840-5888-319A-D143AA0FD0A8}"/>
              </a:ext>
            </a:extLst>
          </p:cNvPr>
          <p:cNvSpPr txBox="1"/>
          <p:nvPr/>
        </p:nvSpPr>
        <p:spPr>
          <a:xfrm>
            <a:off x="236482" y="5090720"/>
            <a:ext cx="3883573" cy="830997"/>
          </a:xfrm>
          <a:prstGeom prst="rect">
            <a:avLst/>
          </a:prstGeom>
          <a:noFill/>
        </p:spPr>
        <p:txBody>
          <a:bodyPr wrap="square">
            <a:spAutoFit/>
          </a:bodyPr>
          <a:lstStyle/>
          <a:p>
            <a:pPr marL="285750" indent="-285750">
              <a:buFont typeface="Wingdings" pitchFamily="2" charset="2"/>
              <a:buChar char="§"/>
            </a:pPr>
            <a:r>
              <a:rPr lang="ja-JP" altLang="en-US" sz="1600">
                <a:latin typeface="Meiryo" panose="020B0604030504040204" pitchFamily="34" charset="-128"/>
                <a:ea typeface="Meiryo" panose="020B0604030504040204" pitchFamily="34" charset="-128"/>
                <a:cs typeface="Times New Roman" panose="02020603050405020304" pitchFamily="18" charset="0"/>
              </a:rPr>
              <a:t>現在 </a:t>
            </a:r>
            <a:endParaRPr lang="mn-MN" altLang="ja-JP" sz="1600" dirty="0">
              <a:latin typeface="Meiryo" panose="020B0604030504040204" pitchFamily="34" charset="-128"/>
              <a:ea typeface="Meiryo" panose="020B0604030504040204" pitchFamily="34" charset="-128"/>
              <a:cs typeface="Times New Roman" panose="02020603050405020304" pitchFamily="18" charset="0"/>
            </a:endParaRPr>
          </a:p>
          <a:p>
            <a:pPr marL="285750" indent="-285750">
              <a:buFont typeface="Wingdings" pitchFamily="2" charset="2"/>
              <a:buChar char="§"/>
            </a:pPr>
            <a:r>
              <a:rPr lang="ja-JP" altLang="en-US" sz="1600">
                <a:latin typeface="Meiryo" panose="020B0604030504040204" pitchFamily="34" charset="-128"/>
                <a:ea typeface="Meiryo" panose="020B0604030504040204" pitchFamily="34" charset="-128"/>
                <a:cs typeface="Times New Roman" panose="02020603050405020304" pitchFamily="18" charset="0"/>
              </a:rPr>
              <a:t>機械学習による異常検知 </a:t>
            </a:r>
            <a:endParaRPr lang="mn-MN" altLang="ja-JP" sz="1600" dirty="0">
              <a:latin typeface="Meiryo" panose="020B0604030504040204" pitchFamily="34" charset="-128"/>
              <a:ea typeface="Meiryo" panose="020B0604030504040204" pitchFamily="34" charset="-128"/>
              <a:cs typeface="Times New Roman" panose="02020603050405020304" pitchFamily="18" charset="0"/>
            </a:endParaRPr>
          </a:p>
          <a:p>
            <a:pPr marL="285750" indent="-285750">
              <a:buFont typeface="Wingdings" pitchFamily="2" charset="2"/>
              <a:buChar char="§"/>
            </a:pPr>
            <a:r>
              <a:rPr lang="ja-JP" altLang="en-US" sz="1600">
                <a:latin typeface="Meiryo" panose="020B0604030504040204" pitchFamily="34" charset="-128"/>
                <a:ea typeface="Meiryo" panose="020B0604030504040204" pitchFamily="34" charset="-128"/>
                <a:cs typeface="Times New Roman" panose="02020603050405020304" pitchFamily="18" charset="0"/>
              </a:rPr>
              <a:t>振る舞い分析</a:t>
            </a:r>
            <a:endParaRPr lang="en-JP" sz="16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15" name="TextBox 14">
            <a:extLst>
              <a:ext uri="{FF2B5EF4-FFF2-40B4-BE49-F238E27FC236}">
                <a16:creationId xmlns:a16="http://schemas.microsoft.com/office/drawing/2014/main" id="{81BCFE50-E9CC-0309-06F5-3325E350B9AB}"/>
              </a:ext>
            </a:extLst>
          </p:cNvPr>
          <p:cNvSpPr txBox="1"/>
          <p:nvPr/>
        </p:nvSpPr>
        <p:spPr>
          <a:xfrm>
            <a:off x="3095296" y="4967609"/>
            <a:ext cx="2953407" cy="1077218"/>
          </a:xfrm>
          <a:prstGeom prst="rect">
            <a:avLst/>
          </a:prstGeom>
          <a:noFill/>
        </p:spPr>
        <p:txBody>
          <a:bodyPr wrap="square">
            <a:spAutoFit/>
          </a:bodyPr>
          <a:lstStyle/>
          <a:p>
            <a:pPr marL="285750" indent="-285750">
              <a:buFont typeface="Wingdings" pitchFamily="2" charset="2"/>
              <a:buChar char="§"/>
            </a:pPr>
            <a:r>
              <a:rPr lang="ja-JP" altLang="en-US" sz="1600">
                <a:latin typeface="Meiryo" panose="020B0604030504040204" pitchFamily="34" charset="-128"/>
                <a:ea typeface="Meiryo" panose="020B0604030504040204" pitchFamily="34" charset="-128"/>
              </a:rPr>
              <a:t>近未来 </a:t>
            </a:r>
            <a:endParaRPr lang="mn-MN" altLang="ja-JP" sz="16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US" altLang="ja-JP" sz="1600" dirty="0">
                <a:latin typeface="Meiryo" panose="020B0604030504040204" pitchFamily="34" charset="-128"/>
                <a:ea typeface="Meiryo" panose="020B0604030504040204" pitchFamily="34" charset="-128"/>
              </a:rPr>
              <a:t> </a:t>
            </a:r>
            <a:r>
              <a:rPr lang="en-US" sz="1600" dirty="0">
                <a:latin typeface="Meiryo" panose="020B0604030504040204" pitchFamily="34" charset="-128"/>
                <a:ea typeface="Meiryo" panose="020B0604030504040204" pitchFamily="34" charset="-128"/>
              </a:rPr>
              <a:t>LLM</a:t>
            </a:r>
            <a:r>
              <a:rPr lang="ja-JP" altLang="en-US" sz="1600">
                <a:latin typeface="Meiryo" panose="020B0604030504040204" pitchFamily="34" charset="-128"/>
                <a:ea typeface="Meiryo" panose="020B0604030504040204" pitchFamily="34" charset="-128"/>
              </a:rPr>
              <a:t>ベース脅威分析 </a:t>
            </a:r>
            <a:endParaRPr lang="mn-MN" altLang="ja-JP" sz="16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1600">
                <a:latin typeface="Meiryo" panose="020B0604030504040204" pitchFamily="34" charset="-128"/>
                <a:ea typeface="Meiryo" panose="020B0604030504040204" pitchFamily="34" charset="-128"/>
              </a:rPr>
              <a:t>自然言語レポート生成 </a:t>
            </a:r>
            <a:endParaRPr lang="mn-MN" altLang="ja-JP" sz="16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US" sz="1600" dirty="0">
                <a:latin typeface="Meiryo" panose="020B0604030504040204" pitchFamily="34" charset="-128"/>
                <a:ea typeface="Meiryo" panose="020B0604030504040204" pitchFamily="34" charset="-128"/>
              </a:rPr>
              <a:t>Adversarial Training</a:t>
            </a:r>
            <a:endParaRPr lang="en-JP" sz="1600" dirty="0">
              <a:latin typeface="Meiryo" panose="020B0604030504040204" pitchFamily="34" charset="-128"/>
              <a:ea typeface="Meiryo" panose="020B0604030504040204" pitchFamily="34" charset="-128"/>
            </a:endParaRPr>
          </a:p>
        </p:txBody>
      </p:sp>
      <p:sp>
        <p:nvSpPr>
          <p:cNvPr id="17" name="TextBox 16">
            <a:extLst>
              <a:ext uri="{FF2B5EF4-FFF2-40B4-BE49-F238E27FC236}">
                <a16:creationId xmlns:a16="http://schemas.microsoft.com/office/drawing/2014/main" id="{D57142A1-97A2-22A4-75F3-7A572AF56FE7}"/>
              </a:ext>
            </a:extLst>
          </p:cNvPr>
          <p:cNvSpPr txBox="1"/>
          <p:nvPr/>
        </p:nvSpPr>
        <p:spPr>
          <a:xfrm>
            <a:off x="6048703" y="5009568"/>
            <a:ext cx="2848304" cy="830997"/>
          </a:xfrm>
          <a:prstGeom prst="rect">
            <a:avLst/>
          </a:prstGeom>
          <a:noFill/>
        </p:spPr>
        <p:txBody>
          <a:bodyPr wrap="square">
            <a:spAutoFit/>
          </a:bodyPr>
          <a:lstStyle/>
          <a:p>
            <a:pPr marL="285750" indent="-285750">
              <a:buFont typeface="Wingdings" pitchFamily="2" charset="2"/>
              <a:buChar char="§"/>
            </a:pPr>
            <a:r>
              <a:rPr lang="ja-JP" altLang="en-US" sz="1600">
                <a:latin typeface="Meiryo" panose="020B0604030504040204" pitchFamily="34" charset="-128"/>
                <a:ea typeface="Meiryo" panose="020B0604030504040204" pitchFamily="34" charset="-128"/>
              </a:rPr>
              <a:t>プロアクティブ脅威予</a:t>
            </a:r>
            <a:endParaRPr lang="mn-MN" altLang="ja-JP" sz="16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1600">
                <a:latin typeface="Meiryo" panose="020B0604030504040204" pitchFamily="34" charset="-128"/>
                <a:ea typeface="Meiryo" panose="020B0604030504040204" pitchFamily="34" charset="-128"/>
              </a:rPr>
              <a:t>自律防御システム </a:t>
            </a:r>
            <a:endParaRPr lang="mn-MN" altLang="ja-JP" sz="16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1600">
                <a:latin typeface="Meiryo" panose="020B0604030504040204" pitchFamily="34" charset="-128"/>
                <a:ea typeface="Meiryo" panose="020B0604030504040204" pitchFamily="34" charset="-128"/>
              </a:rPr>
              <a:t>人間と</a:t>
            </a:r>
            <a:r>
              <a:rPr lang="en-US" sz="1600" dirty="0">
                <a:latin typeface="Meiryo" panose="020B0604030504040204" pitchFamily="34" charset="-128"/>
                <a:ea typeface="Meiryo" panose="020B0604030504040204" pitchFamily="34" charset="-128"/>
              </a:rPr>
              <a:t>AI</a:t>
            </a:r>
            <a:r>
              <a:rPr lang="ja-JP" altLang="en-US" sz="1600">
                <a:latin typeface="Meiryo" panose="020B0604030504040204" pitchFamily="34" charset="-128"/>
                <a:ea typeface="Meiryo" panose="020B0604030504040204" pitchFamily="34" charset="-128"/>
              </a:rPr>
              <a:t>の協調</a:t>
            </a:r>
            <a:endParaRPr lang="en-JP" sz="16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163707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BC112B-81CE-93DD-E3A5-8D0127B751E4}"/>
              </a:ext>
            </a:extLst>
          </p:cNvPr>
          <p:cNvSpPr>
            <a:spLocks noGrp="1"/>
          </p:cNvSpPr>
          <p:nvPr>
            <p:ph type="sldNum" sz="quarter" idx="12"/>
          </p:nvPr>
        </p:nvSpPr>
        <p:spPr/>
        <p:txBody>
          <a:bodyPr/>
          <a:lstStyle/>
          <a:p>
            <a:fld id="{0B6BB8DA-DB46-D648-BE1D-FCDB55E9CBE3}" type="slidenum">
              <a:rPr lang="en-JP" smtClean="0"/>
              <a:pPr/>
              <a:t>33</a:t>
            </a:fld>
            <a:endParaRPr lang="en-JP" dirty="0"/>
          </a:p>
        </p:txBody>
      </p:sp>
      <p:pic>
        <p:nvPicPr>
          <p:cNvPr id="5" name="Picture 4">
            <a:extLst>
              <a:ext uri="{FF2B5EF4-FFF2-40B4-BE49-F238E27FC236}">
                <a16:creationId xmlns:a16="http://schemas.microsoft.com/office/drawing/2014/main" id="{533DBA42-FE4A-A2C9-D521-E48F1272177E}"/>
              </a:ext>
            </a:extLst>
          </p:cNvPr>
          <p:cNvPicPr>
            <a:picLocks noChangeAspect="1"/>
          </p:cNvPicPr>
          <p:nvPr/>
        </p:nvPicPr>
        <p:blipFill>
          <a:blip r:embed="rId2"/>
          <a:stretch>
            <a:fillRect/>
          </a:stretch>
        </p:blipFill>
        <p:spPr>
          <a:xfrm>
            <a:off x="15766" y="707598"/>
            <a:ext cx="4572000" cy="5442804"/>
          </a:xfrm>
          <a:prstGeom prst="rect">
            <a:avLst/>
          </a:prstGeom>
        </p:spPr>
      </p:pic>
      <p:sp>
        <p:nvSpPr>
          <p:cNvPr id="7" name="TextBox 6">
            <a:extLst>
              <a:ext uri="{FF2B5EF4-FFF2-40B4-BE49-F238E27FC236}">
                <a16:creationId xmlns:a16="http://schemas.microsoft.com/office/drawing/2014/main" id="{69531976-02FD-FF73-CC5D-D7CCE95AAB4A}"/>
              </a:ext>
            </a:extLst>
          </p:cNvPr>
          <p:cNvSpPr txBox="1"/>
          <p:nvPr/>
        </p:nvSpPr>
        <p:spPr>
          <a:xfrm>
            <a:off x="4758558" y="920033"/>
            <a:ext cx="4572000"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2024-2025</a:t>
            </a:r>
          </a:p>
          <a:p>
            <a:r>
              <a:rPr lang="en-JP" dirty="0">
                <a:latin typeface="Meiryo" panose="020B0604030504040204" pitchFamily="34" charset="-128"/>
                <a:ea typeface="Meiryo" panose="020B0604030504040204" pitchFamily="34" charset="-128"/>
              </a:rPr>
              <a:t>  • LLM生成難読化コード</a:t>
            </a:r>
          </a:p>
          <a:p>
            <a:r>
              <a:rPr lang="en-JP" dirty="0">
                <a:latin typeface="Meiryo" panose="020B0604030504040204" pitchFamily="34" charset="-128"/>
                <a:ea typeface="Meiryo" panose="020B0604030504040204" pitchFamily="34" charset="-128"/>
              </a:rPr>
              <a:t>  • 超パーソナライズフィッシング</a:t>
            </a:r>
          </a:p>
          <a:p>
            <a:r>
              <a:rPr lang="en-JP" dirty="0">
                <a:latin typeface="Meiryo" panose="020B0604030504040204" pitchFamily="34" charset="-128"/>
                <a:ea typeface="Meiryo" panose="020B0604030504040204" pitchFamily="34" charset="-128"/>
              </a:rPr>
              <a:t>  • Adversarial ML攻撃</a:t>
            </a:r>
          </a:p>
        </p:txBody>
      </p:sp>
      <p:sp>
        <p:nvSpPr>
          <p:cNvPr id="9" name="TextBox 8">
            <a:extLst>
              <a:ext uri="{FF2B5EF4-FFF2-40B4-BE49-F238E27FC236}">
                <a16:creationId xmlns:a16="http://schemas.microsoft.com/office/drawing/2014/main" id="{92A77001-B079-4FC1-E279-67960B29C870}"/>
              </a:ext>
            </a:extLst>
          </p:cNvPr>
          <p:cNvSpPr txBox="1"/>
          <p:nvPr/>
        </p:nvSpPr>
        <p:spPr>
          <a:xfrm>
            <a:off x="212835" y="311747"/>
            <a:ext cx="4629806" cy="369332"/>
          </a:xfrm>
          <a:prstGeom prst="rect">
            <a:avLst/>
          </a:prstGeom>
          <a:noFill/>
        </p:spPr>
        <p:txBody>
          <a:bodyPr wrap="square">
            <a:spAutoFit/>
          </a:bodyPr>
          <a:lstStyle/>
          <a:p>
            <a:pPr marL="285750" indent="-285750">
              <a:buFont typeface="Wingdings" pitchFamily="2" charset="2"/>
              <a:buChar char="Ø"/>
            </a:pPr>
            <a:r>
              <a:rPr lang="en-JP" dirty="0">
                <a:solidFill>
                  <a:srgbClr val="C00000"/>
                </a:solidFill>
              </a:rPr>
              <a:t>攻撃側のAI活用</a:t>
            </a:r>
          </a:p>
        </p:txBody>
      </p:sp>
      <p:sp>
        <p:nvSpPr>
          <p:cNvPr id="11" name="TextBox 10">
            <a:extLst>
              <a:ext uri="{FF2B5EF4-FFF2-40B4-BE49-F238E27FC236}">
                <a16:creationId xmlns:a16="http://schemas.microsoft.com/office/drawing/2014/main" id="{7A3B6CA9-969F-173C-CBF4-041D9D034281}"/>
              </a:ext>
            </a:extLst>
          </p:cNvPr>
          <p:cNvSpPr txBox="1"/>
          <p:nvPr/>
        </p:nvSpPr>
        <p:spPr>
          <a:xfrm>
            <a:off x="4759215" y="2359316"/>
            <a:ext cx="3575488" cy="1477328"/>
          </a:xfrm>
          <a:prstGeom prst="rect">
            <a:avLst/>
          </a:prstGeom>
          <a:noFill/>
        </p:spPr>
        <p:txBody>
          <a:bodyPr wrap="square">
            <a:spAutoFit/>
          </a:bodyPr>
          <a:lstStyle/>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2025-2026</a:t>
            </a:r>
          </a:p>
          <a:p>
            <a:r>
              <a:rPr lang="en-JP" dirty="0">
                <a:latin typeface="Meiryo" panose="020B0604030504040204" pitchFamily="34" charset="-128"/>
                <a:ea typeface="Meiryo" panose="020B0604030504040204" pitchFamily="34" charset="-128"/>
              </a:rPr>
              <a:t>  • リアルタイムDeepfake</a:t>
            </a:r>
          </a:p>
          <a:p>
            <a:r>
              <a:rPr lang="en-JP" dirty="0">
                <a:latin typeface="Meiryo" panose="020B0604030504040204" pitchFamily="34" charset="-128"/>
                <a:ea typeface="Meiryo" panose="020B0604030504040204" pitchFamily="34" charset="-128"/>
              </a:rPr>
              <a:t>  • 適応型マルウェア</a:t>
            </a:r>
          </a:p>
          <a:p>
            <a:r>
              <a:rPr lang="en-JP" dirty="0">
                <a:latin typeface="Meiryo" panose="020B0604030504040204" pitchFamily="34" charset="-128"/>
                <a:ea typeface="Meiryo" panose="020B0604030504040204" pitchFamily="34" charset="-128"/>
              </a:rPr>
              <a:t>  • AI脆弱性発見ツール</a:t>
            </a:r>
          </a:p>
        </p:txBody>
      </p:sp>
      <p:sp>
        <p:nvSpPr>
          <p:cNvPr id="13" name="TextBox 12">
            <a:extLst>
              <a:ext uri="{FF2B5EF4-FFF2-40B4-BE49-F238E27FC236}">
                <a16:creationId xmlns:a16="http://schemas.microsoft.com/office/drawing/2014/main" id="{4D0D4890-EDBC-5E90-4EEA-FA31AAE271A0}"/>
              </a:ext>
            </a:extLst>
          </p:cNvPr>
          <p:cNvSpPr txBox="1"/>
          <p:nvPr/>
        </p:nvSpPr>
        <p:spPr>
          <a:xfrm>
            <a:off x="4758558" y="4316903"/>
            <a:ext cx="3394841"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2026-2027</a:t>
            </a:r>
          </a:p>
          <a:p>
            <a:r>
              <a:rPr lang="en-JP" dirty="0">
                <a:latin typeface="Meiryo" panose="020B0604030504040204" pitchFamily="34" charset="-128"/>
                <a:ea typeface="Meiryo" panose="020B0604030504040204" pitchFamily="34" charset="-128"/>
              </a:rPr>
              <a:t>  • GAN生成ペイロード</a:t>
            </a:r>
          </a:p>
          <a:p>
            <a:r>
              <a:rPr lang="en-JP" dirty="0">
                <a:latin typeface="Meiryo" panose="020B0604030504040204" pitchFamily="34" charset="-128"/>
                <a:ea typeface="Meiryo" panose="020B0604030504040204" pitchFamily="34" charset="-128"/>
              </a:rPr>
              <a:t>  • 自律型APT</a:t>
            </a:r>
          </a:p>
          <a:p>
            <a:r>
              <a:rPr lang="en-JP" dirty="0">
                <a:latin typeface="Meiryo" panose="020B0604030504040204" pitchFamily="34" charset="-128"/>
                <a:ea typeface="Meiryo" panose="020B0604030504040204" pitchFamily="34" charset="-128"/>
              </a:rPr>
              <a:t>  • 会話型フィッシングボット</a:t>
            </a:r>
          </a:p>
        </p:txBody>
      </p:sp>
      <p:sp>
        <p:nvSpPr>
          <p:cNvPr id="15" name="TextBox 14">
            <a:extLst>
              <a:ext uri="{FF2B5EF4-FFF2-40B4-BE49-F238E27FC236}">
                <a16:creationId xmlns:a16="http://schemas.microsoft.com/office/drawing/2014/main" id="{85254DD5-7260-B9BA-E19C-BB385259E3FF}"/>
              </a:ext>
            </a:extLst>
          </p:cNvPr>
          <p:cNvSpPr txBox="1"/>
          <p:nvPr/>
        </p:nvSpPr>
        <p:spPr>
          <a:xfrm>
            <a:off x="91966" y="6211669"/>
            <a:ext cx="4666592" cy="276999"/>
          </a:xfrm>
          <a:prstGeom prst="rect">
            <a:avLst/>
          </a:prstGeom>
          <a:noFill/>
        </p:spPr>
        <p:txBody>
          <a:bodyPr wrap="square">
            <a:spAutoFit/>
          </a:bodyPr>
          <a:lstStyle/>
          <a:p>
            <a:r>
              <a:rPr lang="en-JP" sz="1200" dirty="0">
                <a:latin typeface="Times New Roman" panose="02020603050405020304" pitchFamily="18" charset="0"/>
                <a:cs typeface="Times New Roman" panose="02020603050405020304" pitchFamily="18" charset="0"/>
              </a:rPr>
              <a:t>https://www.mdpi.com/2076-3417/15/22/12203</a:t>
            </a:r>
          </a:p>
        </p:txBody>
      </p:sp>
    </p:spTree>
    <p:extLst>
      <p:ext uri="{BB962C8B-B14F-4D97-AF65-F5344CB8AC3E}">
        <p14:creationId xmlns:p14="http://schemas.microsoft.com/office/powerpoint/2010/main" val="29693240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3196B4-B94E-F806-BA93-C6732AD407B2}"/>
              </a:ext>
            </a:extLst>
          </p:cNvPr>
          <p:cNvSpPr>
            <a:spLocks noGrp="1"/>
          </p:cNvSpPr>
          <p:nvPr>
            <p:ph type="sldNum" sz="quarter" idx="12"/>
          </p:nvPr>
        </p:nvSpPr>
        <p:spPr/>
        <p:txBody>
          <a:bodyPr/>
          <a:lstStyle/>
          <a:p>
            <a:fld id="{0B6BB8DA-DB46-D648-BE1D-FCDB55E9CBE3}" type="slidenum">
              <a:rPr lang="en-JP" smtClean="0"/>
              <a:pPr/>
              <a:t>34</a:t>
            </a:fld>
            <a:endParaRPr lang="en-JP" dirty="0"/>
          </a:p>
        </p:txBody>
      </p:sp>
      <p:sp>
        <p:nvSpPr>
          <p:cNvPr id="6" name="TextBox 5">
            <a:extLst>
              <a:ext uri="{FF2B5EF4-FFF2-40B4-BE49-F238E27FC236}">
                <a16:creationId xmlns:a16="http://schemas.microsoft.com/office/drawing/2014/main" id="{14581BE1-CE79-CE01-22CE-1E42066E69BF}"/>
              </a:ext>
            </a:extLst>
          </p:cNvPr>
          <p:cNvSpPr txBox="1"/>
          <p:nvPr/>
        </p:nvSpPr>
        <p:spPr>
          <a:xfrm>
            <a:off x="346840" y="1661507"/>
            <a:ext cx="7998373" cy="2862322"/>
          </a:xfrm>
          <a:prstGeom prst="rect">
            <a:avLst/>
          </a:prstGeom>
          <a:noFill/>
        </p:spPr>
        <p:txBody>
          <a:bodyPr wrap="square">
            <a:spAutoFit/>
          </a:bodyPr>
          <a:lstStyle/>
          <a:p>
            <a:pPr marL="285750" indent="-285750" algn="just">
              <a:buFont typeface="Arial" panose="020B0604020202020204" pitchFamily="34" charset="0"/>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サイバーセキュリティは「完璧</a:t>
            </a:r>
            <a:r>
              <a:rPr lang="en-US"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 </a:t>
            </a:r>
            <a:r>
              <a:rPr lang="en-US" b="0" i="0" dirty="0">
                <a:solidFill>
                  <a:srgbClr val="222222"/>
                </a:solidFill>
                <a:effectLst/>
                <a:latin typeface="Helvetica Neue" panose="02000503000000020004" pitchFamily="2" charset="0"/>
              </a:rPr>
              <a:t>perfect </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」を目指すものではなく、「継続的改善」を実践するものである</a:t>
            </a:r>
            <a:r>
              <a:rPr lang="mn-MN" altLang="ja-JP" kern="100" dirty="0">
                <a:solidFill>
                  <a:srgbClr val="000000"/>
                </a:solidFill>
                <a:latin typeface="Meiryo" panose="020B0604030504040204" pitchFamily="34" charset="-128"/>
                <a:ea typeface="Meiryo" panose="020B0604030504040204" pitchFamily="34" charset="-128"/>
                <a:cs typeface="Times New Roman" panose="02020603050405020304" pitchFamily="18" charset="0"/>
              </a:rPr>
              <a:t>.</a:t>
            </a:r>
          </a:p>
          <a:p>
            <a:pPr algn="just"/>
            <a:endParaRPr lang="mn-MN"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pPr marL="285750" indent="-285750" algn="just">
              <a:buFont typeface="Arial" panose="020B0604020202020204" pitchFamily="34" charset="0"/>
              <a:buChar char="•"/>
            </a:pPr>
            <a:r>
              <a:rPr lang="ja-JP" altLang="en-US" b="0" i="0">
                <a:solidFill>
                  <a:srgbClr val="222222"/>
                </a:solidFill>
                <a:effectLst/>
                <a:latin typeface="Meiryo" panose="020B0604030504040204" pitchFamily="34" charset="-128"/>
                <a:ea typeface="Meiryo" panose="020B0604030504040204" pitchFamily="34" charset="-128"/>
              </a:rPr>
              <a:t>きょうい</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は日々進化し、完全な防御は不可能である</a:t>
            </a:r>
            <a:r>
              <a:rPr lang="mn-MN" altLang="ja-JP" kern="100" dirty="0">
                <a:solidFill>
                  <a:srgbClr val="000000"/>
                </a:solidFill>
                <a:latin typeface="Meiryo" panose="020B0604030504040204" pitchFamily="34" charset="-128"/>
                <a:ea typeface="Meiryo" panose="020B0604030504040204" pitchFamily="34" charset="-128"/>
                <a:cs typeface="Times New Roman" panose="02020603050405020304" pitchFamily="18" charset="0"/>
              </a:rPr>
              <a:t>.</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しかし、本レポートで提案した多層防御アーキテクチャは、組織が現実的なリソースで実現可能な、効果的なアプローチの一つであるかなと考えて書いていました</a:t>
            </a:r>
            <a:r>
              <a:rPr lang="mn-MN"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p>
          <a:p>
            <a:pPr algn="just"/>
            <a:endParaRPr lang="mn-MN"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pPr marL="285750" indent="-285750" algn="just">
              <a:buFont typeface="Arial" panose="020B0604020202020204" pitchFamily="34" charset="0"/>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重要なのは、技術の導入ではなく、組織全体のセキュリティ文化の醸成である。経営層から現場まで、全員がセキュリティの重要性を理解し、日々の業務の中で実践する</a:t>
            </a:r>
            <a:r>
              <a:rPr lang="mn-MN"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 </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それが、最強の防御となる</a:t>
            </a:r>
            <a:r>
              <a:rPr lang="mn-MN"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511A6850-26AE-B1D8-F696-730C6BF82847}"/>
              </a:ext>
            </a:extLst>
          </p:cNvPr>
          <p:cNvSpPr txBox="1"/>
          <p:nvPr/>
        </p:nvSpPr>
        <p:spPr>
          <a:xfrm>
            <a:off x="646386" y="882134"/>
            <a:ext cx="4572000" cy="369332"/>
          </a:xfrm>
          <a:prstGeom prst="rect">
            <a:avLst/>
          </a:prstGeom>
          <a:noFill/>
        </p:spPr>
        <p:txBody>
          <a:bodyPr wrap="square">
            <a:spAutoFit/>
          </a:bodyPr>
          <a:lstStyle/>
          <a:p>
            <a:pPr algn="just"/>
            <a:r>
              <a:rPr lang="ja-JP" sz="1800" b="1"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まとめ</a:t>
            </a:r>
            <a:endParaRPr lang="en-JP" sz="1800" b="1"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3895414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663</TotalTime>
  <Words>3240</Words>
  <Application>Microsoft Macintosh PowerPoint</Application>
  <PresentationFormat>On-screen Show (4:3)</PresentationFormat>
  <Paragraphs>509</Paragraphs>
  <Slides>35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Meiryo</vt:lpstr>
      <vt:lpstr>Yu Mincho</vt:lpstr>
      <vt:lpstr>Arial</vt:lpstr>
      <vt:lpstr>Calibri</vt:lpstr>
      <vt:lpstr>Calibri Light</vt:lpstr>
      <vt:lpstr>Courier New</vt:lpstr>
      <vt:lpstr>Helvetica Neue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16</cp:revision>
  <dcterms:created xsi:type="dcterms:W3CDTF">2026-01-27T06:56:22Z</dcterms:created>
  <dcterms:modified xsi:type="dcterms:W3CDTF">2026-01-28T03:03:53Z</dcterms:modified>
</cp:coreProperties>
</file>