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firstSlideNum="0" showSpecialPlsOnTitleSld="0" saveSubsetFonts="1" autoCompressPictures="0">
  <p:sldMasterIdLst>
    <p:sldMasterId id="2147483722" r:id="rId1"/>
  </p:sldMasterIdLst>
  <p:notesMasterIdLst>
    <p:notesMasterId r:id="rId29"/>
  </p:notesMasterIdLst>
  <p:sldIdLst>
    <p:sldId id="256" r:id="rId2"/>
    <p:sldId id="257" r:id="rId3"/>
    <p:sldId id="262" r:id="rId4"/>
    <p:sldId id="266" r:id="rId5"/>
    <p:sldId id="271" r:id="rId6"/>
    <p:sldId id="272" r:id="rId7"/>
    <p:sldId id="260" r:id="rId8"/>
    <p:sldId id="276" r:id="rId9"/>
    <p:sldId id="259" r:id="rId10"/>
    <p:sldId id="258" r:id="rId11"/>
    <p:sldId id="278" r:id="rId12"/>
    <p:sldId id="277" r:id="rId13"/>
    <p:sldId id="261" r:id="rId14"/>
    <p:sldId id="265" r:id="rId15"/>
    <p:sldId id="267" r:id="rId16"/>
    <p:sldId id="263" r:id="rId17"/>
    <p:sldId id="264" r:id="rId18"/>
    <p:sldId id="269" r:id="rId19"/>
    <p:sldId id="268" r:id="rId20"/>
    <p:sldId id="279" r:id="rId21"/>
    <p:sldId id="270" r:id="rId22"/>
    <p:sldId id="273" r:id="rId23"/>
    <p:sldId id="282" r:id="rId24"/>
    <p:sldId id="274" r:id="rId25"/>
    <p:sldId id="283" r:id="rId26"/>
    <p:sldId id="280" r:id="rId27"/>
    <p:sldId id="281" r:id="rId2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ABAB15"/>
    <a:srgbClr val="C4B193"/>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284E427A-3D55-4303-BF80-6455036E1DE7}" styleName="Themed Style 1 - Accent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 styleId="{69C7853C-536D-4A76-A0AE-DD22124D55A5}" styleName="Themed Style 1 - Accent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D7AC3CCA-C797-4891-BE02-D94E43425B78}" styleName="Medium Style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 styleId="{69CF1AB2-1976-4502-BF36-3FF5EA218861}" styleName="Medium Style 4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697"/>
    <p:restoredTop sz="96281"/>
  </p:normalViewPr>
  <p:slideViewPr>
    <p:cSldViewPr snapToGrid="0">
      <p:cViewPr>
        <p:scale>
          <a:sx n="129" d="100"/>
          <a:sy n="129" d="100"/>
        </p:scale>
        <p:origin x="-488" y="14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presProps" Target="presProps.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JP"/>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143B0BF-4BA9-F94F-81F7-1E0C7E8C6791}" type="datetimeFigureOut">
              <a:rPr lang="en-JP" smtClean="0"/>
              <a:t>2025/10/25</a:t>
            </a:fld>
            <a:endParaRPr lang="en-JP"/>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JP"/>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JP"/>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JP"/>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D08F390-88EA-2B44-A9F2-E4F1381C2AC5}" type="slidenum">
              <a:rPr lang="en-JP" smtClean="0"/>
              <a:t>‹#›</a:t>
            </a:fld>
            <a:endParaRPr lang="en-JP"/>
          </a:p>
        </p:txBody>
      </p:sp>
    </p:spTree>
    <p:extLst>
      <p:ext uri="{BB962C8B-B14F-4D97-AF65-F5344CB8AC3E}">
        <p14:creationId xmlns:p14="http://schemas.microsoft.com/office/powerpoint/2010/main" val="217634447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pic>
        <p:nvPicPr>
          <p:cNvPr id="7" name="Picture 6" descr="Droplets-HD-Title-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ctrTitle"/>
          </p:nvPr>
        </p:nvSpPr>
        <p:spPr>
          <a:xfrm>
            <a:off x="1751012" y="1300785"/>
            <a:ext cx="8689976" cy="2509213"/>
          </a:xfrm>
        </p:spPr>
        <p:txBody>
          <a:bodyPr anchor="b">
            <a:normAutofit/>
          </a:bodyPr>
          <a:lstStyle>
            <a:lvl1pPr algn="ctr">
              <a:defRPr sz="4800"/>
            </a:lvl1pPr>
          </a:lstStyle>
          <a:p>
            <a:r>
              <a:rPr lang="en-US"/>
              <a:t>Click to edit Master title style</a:t>
            </a:r>
            <a:endParaRPr lang="en-US" dirty="0"/>
          </a:p>
        </p:txBody>
      </p:sp>
      <p:sp>
        <p:nvSpPr>
          <p:cNvPr id="3" name="Subtitle 2"/>
          <p:cNvSpPr>
            <a:spLocks noGrp="1"/>
          </p:cNvSpPr>
          <p:nvPr>
            <p:ph type="subTitle" idx="1"/>
          </p:nvPr>
        </p:nvSpPr>
        <p:spPr>
          <a:xfrm>
            <a:off x="1751012" y="3886200"/>
            <a:ext cx="8689976" cy="1371599"/>
          </a:xfrm>
        </p:spPr>
        <p:txBody>
          <a:bodyPr>
            <a:normAutofit/>
          </a:bodyPr>
          <a:lstStyle>
            <a:lvl1pPr marL="0" indent="0" algn="ctr">
              <a:buNone/>
              <a:defRPr sz="2200">
                <a:solidFill>
                  <a:schemeClr val="bg1">
                    <a:lumMod val="50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F99E9AE1-439E-8743-AA9F-4CE35902D0E9}" type="datetime1">
              <a:rPr lang="en-US" smtClean="0"/>
              <a:t>10/25/25</a:t>
            </a:fld>
            <a:endParaRPr lang="en-JP"/>
          </a:p>
        </p:txBody>
      </p:sp>
      <p:sp>
        <p:nvSpPr>
          <p:cNvPr id="5" name="Footer Placeholder 4"/>
          <p:cNvSpPr>
            <a:spLocks noGrp="1"/>
          </p:cNvSpPr>
          <p:nvPr>
            <p:ph type="ftr" sz="quarter" idx="11"/>
          </p:nvPr>
        </p:nvSpPr>
        <p:spPr/>
        <p:txBody>
          <a:bodyPr/>
          <a:lstStyle/>
          <a:p>
            <a:endParaRPr lang="en-JP"/>
          </a:p>
        </p:txBody>
      </p:sp>
      <p:sp>
        <p:nvSpPr>
          <p:cNvPr id="6" name="Slide Number Placeholder 5"/>
          <p:cNvSpPr>
            <a:spLocks noGrp="1"/>
          </p:cNvSpPr>
          <p:nvPr>
            <p:ph type="sldNum" sz="quarter" idx="12"/>
          </p:nvPr>
        </p:nvSpPr>
        <p:spPr/>
        <p:txBody>
          <a:bodyPr/>
          <a:lstStyle/>
          <a:p>
            <a:fld id="{62667D12-7761-1040-82E2-C1925732DACC}" type="slidenum">
              <a:rPr lang="en-JP" smtClean="0"/>
              <a:t>‹#›</a:t>
            </a:fld>
            <a:endParaRPr lang="en-JP"/>
          </a:p>
        </p:txBody>
      </p:sp>
    </p:spTree>
    <p:extLst>
      <p:ext uri="{BB962C8B-B14F-4D97-AF65-F5344CB8AC3E}">
        <p14:creationId xmlns:p14="http://schemas.microsoft.com/office/powerpoint/2010/main" val="342756075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pic>
        <p:nvPicPr>
          <p:cNvPr id="3" name="Picture 2"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p:txBody>
          <a:bodyPr/>
          <a:lstStyle/>
          <a:p>
            <a:r>
              <a:rPr lang="en-US"/>
              <a:t>Click to edit Master title style</a:t>
            </a:r>
            <a:endParaRPr lang="en-US" dirty="0"/>
          </a:p>
        </p:txBody>
      </p:sp>
      <p:sp>
        <p:nvSpPr>
          <p:cNvPr id="12" name="Content Placeholder 2"/>
          <p:cNvSpPr>
            <a:spLocks noGrp="1"/>
          </p:cNvSpPr>
          <p:nvPr>
            <p:ph sz="quarter" idx="13"/>
          </p:nvPr>
        </p:nvSpPr>
        <p:spPr>
          <a:xfrm>
            <a:off x="913774" y="2367092"/>
            <a:ext cx="10363826" cy="342410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F9D5B02-4743-3645-B604-353065275145}" type="datetime1">
              <a:rPr lang="en-US" smtClean="0"/>
              <a:t>10/25/25</a:t>
            </a:fld>
            <a:endParaRPr lang="en-JP" dirty="0"/>
          </a:p>
        </p:txBody>
      </p:sp>
      <p:sp>
        <p:nvSpPr>
          <p:cNvPr id="5" name="Footer Placeholder 4"/>
          <p:cNvSpPr>
            <a:spLocks noGrp="1"/>
          </p:cNvSpPr>
          <p:nvPr>
            <p:ph type="ftr" sz="quarter" idx="11"/>
          </p:nvPr>
        </p:nvSpPr>
        <p:spPr/>
        <p:txBody>
          <a:bodyPr/>
          <a:lstStyle/>
          <a:p>
            <a:endParaRPr lang="en-JP"/>
          </a:p>
        </p:txBody>
      </p:sp>
      <p:sp>
        <p:nvSpPr>
          <p:cNvPr id="6" name="Slide Number Placeholder 5"/>
          <p:cNvSpPr>
            <a:spLocks noGrp="1"/>
          </p:cNvSpPr>
          <p:nvPr>
            <p:ph type="sldNum" sz="quarter" idx="12"/>
          </p:nvPr>
        </p:nvSpPr>
        <p:spPr/>
        <p:txBody>
          <a:bodyPr/>
          <a:lstStyle>
            <a:lvl1pPr>
              <a:defRPr sz="2000"/>
            </a:lvl1pPr>
          </a:lstStyle>
          <a:p>
            <a:fld id="{62667D12-7761-1040-82E2-C1925732DACC}" type="slidenum">
              <a:rPr lang="en-JP" smtClean="0"/>
              <a:pPr/>
              <a:t>‹#›</a:t>
            </a:fld>
            <a:endParaRPr lang="en-JP" dirty="0"/>
          </a:p>
        </p:txBody>
      </p:sp>
    </p:spTree>
    <p:extLst>
      <p:ext uri="{BB962C8B-B14F-4D97-AF65-F5344CB8AC3E}">
        <p14:creationId xmlns:p14="http://schemas.microsoft.com/office/powerpoint/2010/main" val="252843821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pic>
        <p:nvPicPr>
          <p:cNvPr id="9" name="Picture 8"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74" y="828563"/>
            <a:ext cx="10351752" cy="2736819"/>
          </a:xfrm>
        </p:spPr>
        <p:txBody>
          <a:bodyPr anchor="b">
            <a:normAutofit/>
          </a:bodyPr>
          <a:lstStyle>
            <a:lvl1pPr>
              <a:defRPr sz="4000"/>
            </a:lvl1pPr>
          </a:lstStyle>
          <a:p>
            <a:r>
              <a:rPr lang="en-US"/>
              <a:t>Click to edit Master title style</a:t>
            </a:r>
            <a:endParaRPr lang="en-US" dirty="0"/>
          </a:p>
        </p:txBody>
      </p:sp>
      <p:sp>
        <p:nvSpPr>
          <p:cNvPr id="3" name="Text Placeholder 2"/>
          <p:cNvSpPr>
            <a:spLocks noGrp="1"/>
          </p:cNvSpPr>
          <p:nvPr>
            <p:ph type="body" idx="1"/>
          </p:nvPr>
        </p:nvSpPr>
        <p:spPr>
          <a:xfrm>
            <a:off x="913774" y="3657457"/>
            <a:ext cx="10351752" cy="1368183"/>
          </a:xfrm>
        </p:spPr>
        <p:txBody>
          <a:bodyPr>
            <a:normAutofit/>
          </a:bodyPr>
          <a:lstStyle>
            <a:lvl1pPr marL="0" indent="0" algn="ctr">
              <a:buNone/>
              <a:defRPr sz="2000">
                <a:solidFill>
                  <a:schemeClr val="bg1">
                    <a:lumMod val="50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A28A72D7-9BF6-9E42-A502-F59CE4D01F1A}" type="datetime1">
              <a:rPr lang="en-US" smtClean="0"/>
              <a:t>10/25/25</a:t>
            </a:fld>
            <a:endParaRPr lang="en-JP"/>
          </a:p>
        </p:txBody>
      </p:sp>
      <p:sp>
        <p:nvSpPr>
          <p:cNvPr id="5" name="Footer Placeholder 4"/>
          <p:cNvSpPr>
            <a:spLocks noGrp="1"/>
          </p:cNvSpPr>
          <p:nvPr>
            <p:ph type="ftr" sz="quarter" idx="11"/>
          </p:nvPr>
        </p:nvSpPr>
        <p:spPr/>
        <p:txBody>
          <a:bodyPr/>
          <a:lstStyle/>
          <a:p>
            <a:endParaRPr lang="en-JP"/>
          </a:p>
        </p:txBody>
      </p:sp>
      <p:sp>
        <p:nvSpPr>
          <p:cNvPr id="6" name="Slide Number Placeholder 5"/>
          <p:cNvSpPr>
            <a:spLocks noGrp="1"/>
          </p:cNvSpPr>
          <p:nvPr>
            <p:ph type="sldNum" sz="quarter" idx="12"/>
          </p:nvPr>
        </p:nvSpPr>
        <p:spPr/>
        <p:txBody>
          <a:bodyPr/>
          <a:lstStyle/>
          <a:p>
            <a:fld id="{62667D12-7761-1040-82E2-C1925732DACC}" type="slidenum">
              <a:rPr lang="en-JP" smtClean="0"/>
              <a:t>‹#›</a:t>
            </a:fld>
            <a:endParaRPr lang="en-JP"/>
          </a:p>
        </p:txBody>
      </p:sp>
    </p:spTree>
    <p:extLst>
      <p:ext uri="{BB962C8B-B14F-4D97-AF65-F5344CB8AC3E}">
        <p14:creationId xmlns:p14="http://schemas.microsoft.com/office/powerpoint/2010/main" val="137946461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pic>
        <p:nvPicPr>
          <p:cNvPr id="10" name="Picture 9"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14" name="Title 1"/>
          <p:cNvSpPr>
            <a:spLocks noGrp="1"/>
          </p:cNvSpPr>
          <p:nvPr>
            <p:ph type="title"/>
          </p:nvPr>
        </p:nvSpPr>
        <p:spPr>
          <a:xfrm>
            <a:off x="913775" y="618517"/>
            <a:ext cx="10364451" cy="1596177"/>
          </a:xfrm>
        </p:spPr>
        <p:txBody>
          <a:bodyPr/>
          <a:lstStyle/>
          <a:p>
            <a:r>
              <a:rPr lang="en-US"/>
              <a:t>Click to edit Master title style</a:t>
            </a:r>
            <a:endParaRPr lang="en-US" dirty="0"/>
          </a:p>
        </p:txBody>
      </p:sp>
      <p:sp>
        <p:nvSpPr>
          <p:cNvPr id="12" name="Content Placeholder 2"/>
          <p:cNvSpPr>
            <a:spLocks noGrp="1"/>
          </p:cNvSpPr>
          <p:nvPr>
            <p:ph sz="quarter" idx="13"/>
          </p:nvPr>
        </p:nvSpPr>
        <p:spPr>
          <a:xfrm>
            <a:off x="913774" y="2367092"/>
            <a:ext cx="5106026" cy="342410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Content Placeholder 3"/>
          <p:cNvSpPr>
            <a:spLocks noGrp="1"/>
          </p:cNvSpPr>
          <p:nvPr>
            <p:ph sz="quarter" idx="14"/>
          </p:nvPr>
        </p:nvSpPr>
        <p:spPr>
          <a:xfrm>
            <a:off x="6172200" y="2367092"/>
            <a:ext cx="5105400" cy="342410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BE956DE0-7A3C-2D4D-8298-AEB8E76E72A6}" type="datetime1">
              <a:rPr lang="en-US" smtClean="0"/>
              <a:t>10/25/25</a:t>
            </a:fld>
            <a:endParaRPr lang="en-JP"/>
          </a:p>
        </p:txBody>
      </p:sp>
      <p:sp>
        <p:nvSpPr>
          <p:cNvPr id="6" name="Footer Placeholder 5"/>
          <p:cNvSpPr>
            <a:spLocks noGrp="1"/>
          </p:cNvSpPr>
          <p:nvPr>
            <p:ph type="ftr" sz="quarter" idx="11"/>
          </p:nvPr>
        </p:nvSpPr>
        <p:spPr/>
        <p:txBody>
          <a:bodyPr/>
          <a:lstStyle/>
          <a:p>
            <a:endParaRPr lang="en-JP"/>
          </a:p>
        </p:txBody>
      </p:sp>
      <p:sp>
        <p:nvSpPr>
          <p:cNvPr id="7" name="Slide Number Placeholder 6"/>
          <p:cNvSpPr>
            <a:spLocks noGrp="1"/>
          </p:cNvSpPr>
          <p:nvPr>
            <p:ph type="sldNum" sz="quarter" idx="12"/>
          </p:nvPr>
        </p:nvSpPr>
        <p:spPr/>
        <p:txBody>
          <a:bodyPr/>
          <a:lstStyle/>
          <a:p>
            <a:fld id="{62667D12-7761-1040-82E2-C1925732DACC}" type="slidenum">
              <a:rPr lang="en-JP" smtClean="0"/>
              <a:t>‹#›</a:t>
            </a:fld>
            <a:endParaRPr lang="en-JP"/>
          </a:p>
        </p:txBody>
      </p:sp>
    </p:spTree>
    <p:extLst>
      <p:ext uri="{BB962C8B-B14F-4D97-AF65-F5344CB8AC3E}">
        <p14:creationId xmlns:p14="http://schemas.microsoft.com/office/powerpoint/2010/main" val="268484946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15" name="Picture 14"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14" name="Title 1"/>
          <p:cNvSpPr>
            <a:spLocks noGrp="1"/>
          </p:cNvSpPr>
          <p:nvPr>
            <p:ph type="title"/>
          </p:nvPr>
        </p:nvSpPr>
        <p:spPr>
          <a:xfrm>
            <a:off x="913775" y="618517"/>
            <a:ext cx="10364451" cy="1596177"/>
          </a:xfrm>
        </p:spPr>
        <p:txBody>
          <a:bodyPr/>
          <a:lstStyle/>
          <a:p>
            <a:r>
              <a:rPr lang="en-US"/>
              <a:t>Click to edit Master title style</a:t>
            </a:r>
            <a:endParaRPr lang="en-US" dirty="0"/>
          </a:p>
        </p:txBody>
      </p:sp>
      <p:sp>
        <p:nvSpPr>
          <p:cNvPr id="3" name="Text Placeholder 2"/>
          <p:cNvSpPr>
            <a:spLocks noGrp="1"/>
          </p:cNvSpPr>
          <p:nvPr>
            <p:ph type="body" idx="1"/>
          </p:nvPr>
        </p:nvSpPr>
        <p:spPr>
          <a:xfrm>
            <a:off x="1146328" y="2371018"/>
            <a:ext cx="4873474" cy="679994"/>
          </a:xfrm>
        </p:spPr>
        <p:txBody>
          <a:bodyPr anchor="b">
            <a:noAutofit/>
          </a:bodyPr>
          <a:lstStyle>
            <a:lvl1pPr marL="0" indent="0">
              <a:lnSpc>
                <a:spcPct val="85000"/>
              </a:lnSpc>
              <a:buNone/>
              <a:defRPr sz="26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Content Placeholder 3"/>
          <p:cNvSpPr>
            <a:spLocks noGrp="1"/>
          </p:cNvSpPr>
          <p:nvPr>
            <p:ph sz="quarter" idx="13"/>
          </p:nvPr>
        </p:nvSpPr>
        <p:spPr>
          <a:xfrm>
            <a:off x="913774" y="3051012"/>
            <a:ext cx="5106027" cy="27401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396423" y="2371018"/>
            <a:ext cx="4881804" cy="679994"/>
          </a:xfrm>
        </p:spPr>
        <p:txBody>
          <a:bodyPr anchor="b">
            <a:noAutofit/>
          </a:bodyPr>
          <a:lstStyle>
            <a:lvl1pPr marL="0" indent="0">
              <a:lnSpc>
                <a:spcPct val="85000"/>
              </a:lnSpc>
              <a:buNone/>
              <a:defRPr sz="26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3" name="Content Placeholder 5"/>
          <p:cNvSpPr>
            <a:spLocks noGrp="1"/>
          </p:cNvSpPr>
          <p:nvPr>
            <p:ph sz="quarter" idx="14"/>
          </p:nvPr>
        </p:nvSpPr>
        <p:spPr>
          <a:xfrm>
            <a:off x="6172200" y="3051012"/>
            <a:ext cx="5105401" cy="27401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7725A0B1-953F-F14C-8724-8C40458598DE}" type="datetime1">
              <a:rPr lang="en-US" smtClean="0"/>
              <a:t>10/25/25</a:t>
            </a:fld>
            <a:endParaRPr lang="en-JP"/>
          </a:p>
        </p:txBody>
      </p:sp>
      <p:sp>
        <p:nvSpPr>
          <p:cNvPr id="8" name="Footer Placeholder 7"/>
          <p:cNvSpPr>
            <a:spLocks noGrp="1"/>
          </p:cNvSpPr>
          <p:nvPr>
            <p:ph type="ftr" sz="quarter" idx="11"/>
          </p:nvPr>
        </p:nvSpPr>
        <p:spPr/>
        <p:txBody>
          <a:bodyPr/>
          <a:lstStyle/>
          <a:p>
            <a:endParaRPr lang="en-JP"/>
          </a:p>
        </p:txBody>
      </p:sp>
      <p:sp>
        <p:nvSpPr>
          <p:cNvPr id="9" name="Slide Number Placeholder 8"/>
          <p:cNvSpPr>
            <a:spLocks noGrp="1"/>
          </p:cNvSpPr>
          <p:nvPr>
            <p:ph type="sldNum" sz="quarter" idx="12"/>
          </p:nvPr>
        </p:nvSpPr>
        <p:spPr/>
        <p:txBody>
          <a:bodyPr/>
          <a:lstStyle/>
          <a:p>
            <a:fld id="{62667D12-7761-1040-82E2-C1925732DACC}" type="slidenum">
              <a:rPr lang="en-JP" smtClean="0"/>
              <a:t>‹#›</a:t>
            </a:fld>
            <a:endParaRPr lang="en-JP"/>
          </a:p>
        </p:txBody>
      </p:sp>
    </p:spTree>
    <p:extLst>
      <p:ext uri="{BB962C8B-B14F-4D97-AF65-F5344CB8AC3E}">
        <p14:creationId xmlns:p14="http://schemas.microsoft.com/office/powerpoint/2010/main" val="146204316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pic>
        <p:nvPicPr>
          <p:cNvPr id="8" name="Picture 7"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7E7C8CCA-29E2-2C42-80E3-091C5580A576}" type="datetime1">
              <a:rPr lang="en-US" smtClean="0"/>
              <a:t>10/25/25</a:t>
            </a:fld>
            <a:endParaRPr lang="en-JP"/>
          </a:p>
        </p:txBody>
      </p:sp>
      <p:sp>
        <p:nvSpPr>
          <p:cNvPr id="4" name="Footer Placeholder 3"/>
          <p:cNvSpPr>
            <a:spLocks noGrp="1"/>
          </p:cNvSpPr>
          <p:nvPr>
            <p:ph type="ftr" sz="quarter" idx="11"/>
          </p:nvPr>
        </p:nvSpPr>
        <p:spPr/>
        <p:txBody>
          <a:bodyPr/>
          <a:lstStyle/>
          <a:p>
            <a:endParaRPr lang="en-JP"/>
          </a:p>
        </p:txBody>
      </p:sp>
      <p:sp>
        <p:nvSpPr>
          <p:cNvPr id="5" name="Slide Number Placeholder 4"/>
          <p:cNvSpPr>
            <a:spLocks noGrp="1"/>
          </p:cNvSpPr>
          <p:nvPr>
            <p:ph type="sldNum" sz="quarter" idx="12"/>
          </p:nvPr>
        </p:nvSpPr>
        <p:spPr/>
        <p:txBody>
          <a:bodyPr/>
          <a:lstStyle/>
          <a:p>
            <a:fld id="{62667D12-7761-1040-82E2-C1925732DACC}" type="slidenum">
              <a:rPr lang="en-JP" smtClean="0"/>
              <a:t>‹#›</a:t>
            </a:fld>
            <a:endParaRPr lang="en-JP"/>
          </a:p>
        </p:txBody>
      </p:sp>
    </p:spTree>
    <p:extLst>
      <p:ext uri="{BB962C8B-B14F-4D97-AF65-F5344CB8AC3E}">
        <p14:creationId xmlns:p14="http://schemas.microsoft.com/office/powerpoint/2010/main" val="87421812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pic>
        <p:nvPicPr>
          <p:cNvPr id="7" name="Picture 6"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Date Placeholder 1"/>
          <p:cNvSpPr>
            <a:spLocks noGrp="1"/>
          </p:cNvSpPr>
          <p:nvPr>
            <p:ph type="dt" sz="half" idx="10"/>
          </p:nvPr>
        </p:nvSpPr>
        <p:spPr/>
        <p:txBody>
          <a:bodyPr/>
          <a:lstStyle/>
          <a:p>
            <a:fld id="{C30F59FB-4AD0-EB4C-BC38-B9019F4530C1}" type="datetime1">
              <a:rPr lang="en-US" smtClean="0"/>
              <a:t>10/25/25</a:t>
            </a:fld>
            <a:endParaRPr lang="en-JP"/>
          </a:p>
        </p:txBody>
      </p:sp>
      <p:sp>
        <p:nvSpPr>
          <p:cNvPr id="3" name="Footer Placeholder 2"/>
          <p:cNvSpPr>
            <a:spLocks noGrp="1"/>
          </p:cNvSpPr>
          <p:nvPr>
            <p:ph type="ftr" sz="quarter" idx="11"/>
          </p:nvPr>
        </p:nvSpPr>
        <p:spPr/>
        <p:txBody>
          <a:bodyPr/>
          <a:lstStyle/>
          <a:p>
            <a:endParaRPr lang="en-JP"/>
          </a:p>
        </p:txBody>
      </p:sp>
      <p:sp>
        <p:nvSpPr>
          <p:cNvPr id="4" name="Slide Number Placeholder 3"/>
          <p:cNvSpPr>
            <a:spLocks noGrp="1"/>
          </p:cNvSpPr>
          <p:nvPr>
            <p:ph type="sldNum" sz="quarter" idx="12"/>
          </p:nvPr>
        </p:nvSpPr>
        <p:spPr/>
        <p:txBody>
          <a:bodyPr/>
          <a:lstStyle/>
          <a:p>
            <a:fld id="{62667D12-7761-1040-82E2-C1925732DACC}" type="slidenum">
              <a:rPr lang="en-JP" smtClean="0"/>
              <a:t>‹#›</a:t>
            </a:fld>
            <a:endParaRPr lang="en-JP"/>
          </a:p>
        </p:txBody>
      </p:sp>
    </p:spTree>
    <p:extLst>
      <p:ext uri="{BB962C8B-B14F-4D97-AF65-F5344CB8AC3E}">
        <p14:creationId xmlns:p14="http://schemas.microsoft.com/office/powerpoint/2010/main" val="204465653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pic>
        <p:nvPicPr>
          <p:cNvPr id="11" name="Picture 10"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75" y="609600"/>
            <a:ext cx="3935688" cy="2023252"/>
          </a:xfrm>
        </p:spPr>
        <p:txBody>
          <a:bodyPr anchor="b"/>
          <a:lstStyle>
            <a:lvl1pPr algn="ctr">
              <a:defRPr sz="3200"/>
            </a:lvl1pPr>
          </a:lstStyle>
          <a:p>
            <a:r>
              <a:rPr lang="en-US"/>
              <a:t>Click to edit Master title style</a:t>
            </a:r>
            <a:endParaRPr lang="en-US" dirty="0"/>
          </a:p>
        </p:txBody>
      </p:sp>
      <p:sp>
        <p:nvSpPr>
          <p:cNvPr id="10" name="Content Placeholder 2"/>
          <p:cNvSpPr>
            <a:spLocks noGrp="1"/>
          </p:cNvSpPr>
          <p:nvPr>
            <p:ph sz="quarter" idx="13"/>
          </p:nvPr>
        </p:nvSpPr>
        <p:spPr>
          <a:xfrm>
            <a:off x="5078062" y="609600"/>
            <a:ext cx="6200163" cy="518159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913774" y="2632852"/>
            <a:ext cx="3935689" cy="3158348"/>
          </a:xfrm>
        </p:spPr>
        <p:txBody>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C86BC6A1-90D0-BE4D-995C-0F7DDB528A3B}" type="datetime1">
              <a:rPr lang="en-US" smtClean="0"/>
              <a:t>10/25/25</a:t>
            </a:fld>
            <a:endParaRPr lang="en-JP"/>
          </a:p>
        </p:txBody>
      </p:sp>
      <p:sp>
        <p:nvSpPr>
          <p:cNvPr id="6" name="Footer Placeholder 5"/>
          <p:cNvSpPr>
            <a:spLocks noGrp="1"/>
          </p:cNvSpPr>
          <p:nvPr>
            <p:ph type="ftr" sz="quarter" idx="11"/>
          </p:nvPr>
        </p:nvSpPr>
        <p:spPr/>
        <p:txBody>
          <a:bodyPr/>
          <a:lstStyle/>
          <a:p>
            <a:endParaRPr lang="en-JP"/>
          </a:p>
        </p:txBody>
      </p:sp>
      <p:sp>
        <p:nvSpPr>
          <p:cNvPr id="7" name="Slide Number Placeholder 6"/>
          <p:cNvSpPr>
            <a:spLocks noGrp="1"/>
          </p:cNvSpPr>
          <p:nvPr>
            <p:ph type="sldNum" sz="quarter" idx="12"/>
          </p:nvPr>
        </p:nvSpPr>
        <p:spPr/>
        <p:txBody>
          <a:bodyPr/>
          <a:lstStyle/>
          <a:p>
            <a:fld id="{62667D12-7761-1040-82E2-C1925732DACC}" type="slidenum">
              <a:rPr lang="en-JP" smtClean="0"/>
              <a:t>‹#›</a:t>
            </a:fld>
            <a:endParaRPr lang="en-JP"/>
          </a:p>
        </p:txBody>
      </p:sp>
    </p:spTree>
    <p:extLst>
      <p:ext uri="{BB962C8B-B14F-4D97-AF65-F5344CB8AC3E}">
        <p14:creationId xmlns:p14="http://schemas.microsoft.com/office/powerpoint/2010/main" val="325138720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pic>
        <p:nvPicPr>
          <p:cNvPr id="10" name="Picture 9"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74" y="609600"/>
            <a:ext cx="5934969" cy="2023254"/>
          </a:xfrm>
        </p:spPr>
        <p:txBody>
          <a:bodyPr anchor="b"/>
          <a:lstStyle>
            <a:lvl1pPr algn="ct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7424803" y="609601"/>
            <a:ext cx="3255358" cy="5181600"/>
          </a:xfrm>
          <a:prstGeom prst="roundRect">
            <a:avLst>
              <a:gd name="adj" fmla="val 4943"/>
            </a:avLst>
          </a:prstGeom>
          <a:noFill/>
          <a:ln w="82550" cap="sq">
            <a:solidFill>
              <a:srgbClr val="EAEAEA"/>
            </a:solidFill>
            <a:miter lim="800000"/>
          </a:ln>
          <a:effectLst/>
          <a:scene3d>
            <a:camera prst="orthographicFront"/>
            <a:lightRig rig="threePt" dir="t">
              <a:rot lat="0" lon="0" rev="2700000"/>
            </a:lightRig>
          </a:scene3d>
          <a:sp3d contourW="6350">
            <a:bevelT h="38100"/>
            <a:contourClr>
              <a:srgbClr val="C0C0C0"/>
            </a:contourClr>
          </a:sp3d>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913794" y="2632852"/>
            <a:ext cx="5934949" cy="3158347"/>
          </a:xfrm>
        </p:spPr>
        <p:txBody>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10163E00-D16A-3947-A435-4602A0E46FD2}" type="datetime1">
              <a:rPr lang="en-US" smtClean="0"/>
              <a:t>10/25/25</a:t>
            </a:fld>
            <a:endParaRPr lang="en-JP"/>
          </a:p>
        </p:txBody>
      </p:sp>
      <p:sp>
        <p:nvSpPr>
          <p:cNvPr id="6" name="Footer Placeholder 5"/>
          <p:cNvSpPr>
            <a:spLocks noGrp="1"/>
          </p:cNvSpPr>
          <p:nvPr>
            <p:ph type="ftr" sz="quarter" idx="11"/>
          </p:nvPr>
        </p:nvSpPr>
        <p:spPr/>
        <p:txBody>
          <a:bodyPr/>
          <a:lstStyle/>
          <a:p>
            <a:endParaRPr lang="en-JP"/>
          </a:p>
        </p:txBody>
      </p:sp>
      <p:sp>
        <p:nvSpPr>
          <p:cNvPr id="7" name="Slide Number Placeholder 6"/>
          <p:cNvSpPr>
            <a:spLocks noGrp="1"/>
          </p:cNvSpPr>
          <p:nvPr>
            <p:ph type="sldNum" sz="quarter" idx="12"/>
          </p:nvPr>
        </p:nvSpPr>
        <p:spPr/>
        <p:txBody>
          <a:bodyPr/>
          <a:lstStyle/>
          <a:p>
            <a:fld id="{62667D12-7761-1040-82E2-C1925732DACC}" type="slidenum">
              <a:rPr lang="en-JP" smtClean="0"/>
              <a:t>‹#›</a:t>
            </a:fld>
            <a:endParaRPr lang="en-JP"/>
          </a:p>
        </p:txBody>
      </p:sp>
    </p:spTree>
    <p:extLst>
      <p:ext uri="{BB962C8B-B14F-4D97-AF65-F5344CB8AC3E}">
        <p14:creationId xmlns:p14="http://schemas.microsoft.com/office/powerpoint/2010/main" val="187279168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pic>
        <p:nvPicPr>
          <p:cNvPr id="10" name="Picture 9"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94" y="4289374"/>
            <a:ext cx="10364432" cy="81161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84744" y="698261"/>
            <a:ext cx="9822532" cy="3214136"/>
          </a:xfrm>
          <a:prstGeom prst="roundRect">
            <a:avLst>
              <a:gd name="adj" fmla="val 4944"/>
            </a:avLst>
          </a:prstGeom>
          <a:noFill/>
          <a:ln w="82550" cap="sq">
            <a:solidFill>
              <a:srgbClr val="EAEAEA"/>
            </a:solidFill>
            <a:miter lim="800000"/>
          </a:ln>
          <a:effectLst/>
          <a:scene3d>
            <a:camera prst="orthographicFront"/>
            <a:lightRig rig="threePt" dir="t">
              <a:rot lat="0" lon="0" rev="2700000"/>
            </a:lightRig>
          </a:scene3d>
          <a:sp3d contourW="6350">
            <a:bevelT h="38100"/>
            <a:contourClr>
              <a:srgbClr val="C0C0C0"/>
            </a:contourClr>
          </a:sp3d>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913774" y="5108728"/>
            <a:ext cx="10364452" cy="682472"/>
          </a:xfrm>
        </p:spPr>
        <p:txBody>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CA281A90-2567-9B40-98EB-F5F9FB87ADC7}" type="datetime1">
              <a:rPr lang="en-US" smtClean="0"/>
              <a:t>10/25/25</a:t>
            </a:fld>
            <a:endParaRPr lang="en-JP"/>
          </a:p>
        </p:txBody>
      </p:sp>
      <p:sp>
        <p:nvSpPr>
          <p:cNvPr id="6" name="Footer Placeholder 5"/>
          <p:cNvSpPr>
            <a:spLocks noGrp="1"/>
          </p:cNvSpPr>
          <p:nvPr>
            <p:ph type="ftr" sz="quarter" idx="11"/>
          </p:nvPr>
        </p:nvSpPr>
        <p:spPr/>
        <p:txBody>
          <a:bodyPr/>
          <a:lstStyle/>
          <a:p>
            <a:endParaRPr lang="en-JP"/>
          </a:p>
        </p:txBody>
      </p:sp>
      <p:sp>
        <p:nvSpPr>
          <p:cNvPr id="7" name="Slide Number Placeholder 6"/>
          <p:cNvSpPr>
            <a:spLocks noGrp="1"/>
          </p:cNvSpPr>
          <p:nvPr>
            <p:ph type="sldNum" sz="quarter" idx="12"/>
          </p:nvPr>
        </p:nvSpPr>
        <p:spPr/>
        <p:txBody>
          <a:bodyPr/>
          <a:lstStyle/>
          <a:p>
            <a:fld id="{62667D12-7761-1040-82E2-C1925732DACC}" type="slidenum">
              <a:rPr lang="en-JP" smtClean="0"/>
              <a:t>‹#›</a:t>
            </a:fld>
            <a:endParaRPr lang="en-JP"/>
          </a:p>
        </p:txBody>
      </p:sp>
    </p:spTree>
    <p:extLst>
      <p:ext uri="{BB962C8B-B14F-4D97-AF65-F5344CB8AC3E}">
        <p14:creationId xmlns:p14="http://schemas.microsoft.com/office/powerpoint/2010/main" val="61257399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pic>
        <p:nvPicPr>
          <p:cNvPr id="8" name="Picture 7"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74" y="609599"/>
            <a:ext cx="10364452" cy="3427245"/>
          </a:xfrm>
        </p:spPr>
        <p:txBody>
          <a:bodyPr anchor="ctr"/>
          <a:lstStyle>
            <a:lvl1pPr algn="ctr">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913775" y="4204821"/>
            <a:ext cx="10364452" cy="1586380"/>
          </a:xfrm>
        </p:spPr>
        <p:txBody>
          <a:bodyPr anchor="ct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E7BDE534-FFB5-5043-82F1-8B61750A2A59}" type="datetime1">
              <a:rPr lang="en-US" smtClean="0"/>
              <a:t>10/25/25</a:t>
            </a:fld>
            <a:endParaRPr lang="en-JP"/>
          </a:p>
        </p:txBody>
      </p:sp>
      <p:sp>
        <p:nvSpPr>
          <p:cNvPr id="6" name="Footer Placeholder 5"/>
          <p:cNvSpPr>
            <a:spLocks noGrp="1"/>
          </p:cNvSpPr>
          <p:nvPr>
            <p:ph type="ftr" sz="quarter" idx="11"/>
          </p:nvPr>
        </p:nvSpPr>
        <p:spPr/>
        <p:txBody>
          <a:bodyPr/>
          <a:lstStyle/>
          <a:p>
            <a:endParaRPr lang="en-JP"/>
          </a:p>
        </p:txBody>
      </p:sp>
      <p:sp>
        <p:nvSpPr>
          <p:cNvPr id="7" name="Slide Number Placeholder 6"/>
          <p:cNvSpPr>
            <a:spLocks noGrp="1"/>
          </p:cNvSpPr>
          <p:nvPr>
            <p:ph type="sldNum" sz="quarter" idx="12"/>
          </p:nvPr>
        </p:nvSpPr>
        <p:spPr/>
        <p:txBody>
          <a:bodyPr/>
          <a:lstStyle/>
          <a:p>
            <a:fld id="{62667D12-7761-1040-82E2-C1925732DACC}" type="slidenum">
              <a:rPr lang="en-JP" smtClean="0"/>
              <a:t>‹#›</a:t>
            </a:fld>
            <a:endParaRPr lang="en-JP"/>
          </a:p>
        </p:txBody>
      </p:sp>
    </p:spTree>
    <p:extLst>
      <p:ext uri="{BB962C8B-B14F-4D97-AF65-F5344CB8AC3E}">
        <p14:creationId xmlns:p14="http://schemas.microsoft.com/office/powerpoint/2010/main" val="268701951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pic>
        <p:nvPicPr>
          <p:cNvPr id="11" name="Picture 10"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1446212" y="609600"/>
            <a:ext cx="9302752" cy="2992904"/>
          </a:xfrm>
        </p:spPr>
        <p:txBody>
          <a:bodyPr anchor="ctr"/>
          <a:lstStyle>
            <a:lvl1pPr>
              <a:defRPr sz="3200"/>
            </a:lvl1pPr>
          </a:lstStyle>
          <a:p>
            <a:r>
              <a:rPr lang="en-US"/>
              <a:t>Click to edit Master title style</a:t>
            </a:r>
            <a:endParaRPr lang="en-US" dirty="0"/>
          </a:p>
        </p:txBody>
      </p:sp>
      <p:sp>
        <p:nvSpPr>
          <p:cNvPr id="12" name="Text Placeholder 3"/>
          <p:cNvSpPr>
            <a:spLocks noGrp="1"/>
          </p:cNvSpPr>
          <p:nvPr>
            <p:ph type="body" sz="half" idx="13"/>
          </p:nvPr>
        </p:nvSpPr>
        <p:spPr>
          <a:xfrm>
            <a:off x="1720644" y="3610032"/>
            <a:ext cx="8752299" cy="594788"/>
          </a:xfrm>
        </p:spPr>
        <p:txBody>
          <a:bodyPr anchor="t">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4" name="Text Placeholder 3"/>
          <p:cNvSpPr>
            <a:spLocks noGrp="1"/>
          </p:cNvSpPr>
          <p:nvPr>
            <p:ph type="body" sz="half" idx="2"/>
          </p:nvPr>
        </p:nvSpPr>
        <p:spPr>
          <a:xfrm>
            <a:off x="913774" y="4372796"/>
            <a:ext cx="10364452" cy="1421053"/>
          </a:xfrm>
        </p:spPr>
        <p:txBody>
          <a:bodyPr anchor="ctr">
            <a:normAutofit/>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CA52A8F4-8E13-3845-B0E4-9B904B9D948D}" type="datetime1">
              <a:rPr lang="en-US" smtClean="0"/>
              <a:t>10/25/25</a:t>
            </a:fld>
            <a:endParaRPr lang="en-JP"/>
          </a:p>
        </p:txBody>
      </p:sp>
      <p:sp>
        <p:nvSpPr>
          <p:cNvPr id="6" name="Footer Placeholder 5"/>
          <p:cNvSpPr>
            <a:spLocks noGrp="1"/>
          </p:cNvSpPr>
          <p:nvPr>
            <p:ph type="ftr" sz="quarter" idx="11"/>
          </p:nvPr>
        </p:nvSpPr>
        <p:spPr/>
        <p:txBody>
          <a:bodyPr/>
          <a:lstStyle/>
          <a:p>
            <a:endParaRPr lang="en-JP"/>
          </a:p>
        </p:txBody>
      </p:sp>
      <p:sp>
        <p:nvSpPr>
          <p:cNvPr id="7" name="Slide Number Placeholder 6"/>
          <p:cNvSpPr>
            <a:spLocks noGrp="1"/>
          </p:cNvSpPr>
          <p:nvPr>
            <p:ph type="sldNum" sz="quarter" idx="12"/>
          </p:nvPr>
        </p:nvSpPr>
        <p:spPr/>
        <p:txBody>
          <a:bodyPr/>
          <a:lstStyle/>
          <a:p>
            <a:fld id="{62667D12-7761-1040-82E2-C1925732DACC}" type="slidenum">
              <a:rPr lang="en-JP" smtClean="0"/>
              <a:t>‹#›</a:t>
            </a:fld>
            <a:endParaRPr lang="en-JP"/>
          </a:p>
        </p:txBody>
      </p:sp>
      <p:sp>
        <p:nvSpPr>
          <p:cNvPr id="13" name="TextBox 12"/>
          <p:cNvSpPr txBox="1"/>
          <p:nvPr/>
        </p:nvSpPr>
        <p:spPr>
          <a:xfrm>
            <a:off x="1001488" y="754166"/>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4" name="TextBox 13"/>
          <p:cNvSpPr txBox="1"/>
          <p:nvPr/>
        </p:nvSpPr>
        <p:spPr>
          <a:xfrm>
            <a:off x="10557558" y="2993578"/>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extLst>
      <p:ext uri="{BB962C8B-B14F-4D97-AF65-F5344CB8AC3E}">
        <p14:creationId xmlns:p14="http://schemas.microsoft.com/office/powerpoint/2010/main" val="55103801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pic>
        <p:nvPicPr>
          <p:cNvPr id="8" name="Picture 7"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75" y="2138721"/>
            <a:ext cx="10364452" cy="2511835"/>
          </a:xfrm>
        </p:spPr>
        <p:txBody>
          <a:bodyPr anchor="b"/>
          <a:lstStyle>
            <a:lvl1pPr algn="ctr">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913775" y="4662335"/>
            <a:ext cx="10364452" cy="1140644"/>
          </a:xfrm>
        </p:spPr>
        <p:txBody>
          <a:bodyPr anchor="t"/>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0029110D-363A-B84A-BDC2-4E686D78B235}" type="datetime1">
              <a:rPr lang="en-US" smtClean="0"/>
              <a:t>10/25/25</a:t>
            </a:fld>
            <a:endParaRPr lang="en-JP"/>
          </a:p>
        </p:txBody>
      </p:sp>
      <p:sp>
        <p:nvSpPr>
          <p:cNvPr id="6" name="Footer Placeholder 5"/>
          <p:cNvSpPr>
            <a:spLocks noGrp="1"/>
          </p:cNvSpPr>
          <p:nvPr>
            <p:ph type="ftr" sz="quarter" idx="11"/>
          </p:nvPr>
        </p:nvSpPr>
        <p:spPr/>
        <p:txBody>
          <a:bodyPr/>
          <a:lstStyle/>
          <a:p>
            <a:endParaRPr lang="en-JP"/>
          </a:p>
        </p:txBody>
      </p:sp>
      <p:sp>
        <p:nvSpPr>
          <p:cNvPr id="7" name="Slide Number Placeholder 6"/>
          <p:cNvSpPr>
            <a:spLocks noGrp="1"/>
          </p:cNvSpPr>
          <p:nvPr>
            <p:ph type="sldNum" sz="quarter" idx="12"/>
          </p:nvPr>
        </p:nvSpPr>
        <p:spPr/>
        <p:txBody>
          <a:bodyPr/>
          <a:lstStyle/>
          <a:p>
            <a:fld id="{62667D12-7761-1040-82E2-C1925732DACC}" type="slidenum">
              <a:rPr lang="en-JP" smtClean="0"/>
              <a:t>‹#›</a:t>
            </a:fld>
            <a:endParaRPr lang="en-JP"/>
          </a:p>
        </p:txBody>
      </p:sp>
    </p:spTree>
    <p:extLst>
      <p:ext uri="{BB962C8B-B14F-4D97-AF65-F5344CB8AC3E}">
        <p14:creationId xmlns:p14="http://schemas.microsoft.com/office/powerpoint/2010/main" val="349691892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pic>
        <p:nvPicPr>
          <p:cNvPr id="13" name="Picture 12"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15" name="Title 1"/>
          <p:cNvSpPr>
            <a:spLocks noGrp="1"/>
          </p:cNvSpPr>
          <p:nvPr>
            <p:ph type="title"/>
          </p:nvPr>
        </p:nvSpPr>
        <p:spPr>
          <a:xfrm>
            <a:off x="913774" y="609600"/>
            <a:ext cx="10364452" cy="1605094"/>
          </a:xfrm>
        </p:spPr>
        <p:txBody>
          <a:bodyPr/>
          <a:lstStyle/>
          <a:p>
            <a:r>
              <a:rPr lang="en-US"/>
              <a:t>Click to edit Master title style</a:t>
            </a:r>
            <a:endParaRPr lang="en-US" dirty="0"/>
          </a:p>
        </p:txBody>
      </p:sp>
      <p:sp>
        <p:nvSpPr>
          <p:cNvPr id="7" name="Text Placeholder 2"/>
          <p:cNvSpPr>
            <a:spLocks noGrp="1"/>
          </p:cNvSpPr>
          <p:nvPr>
            <p:ph type="body" idx="1"/>
          </p:nvPr>
        </p:nvSpPr>
        <p:spPr>
          <a:xfrm>
            <a:off x="913774" y="2367093"/>
            <a:ext cx="3298976" cy="576262"/>
          </a:xfrm>
        </p:spPr>
        <p:txBody>
          <a:bodyPr anchor="b">
            <a:noAutofit/>
          </a:bodyPr>
          <a:lstStyle>
            <a:lvl1pPr marL="0" indent="0" algn="ctr">
              <a:lnSpc>
                <a:spcPct val="85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8" name="Text Placeholder 3"/>
          <p:cNvSpPr>
            <a:spLocks noGrp="1"/>
          </p:cNvSpPr>
          <p:nvPr>
            <p:ph type="body" sz="half" idx="15"/>
          </p:nvPr>
        </p:nvSpPr>
        <p:spPr>
          <a:xfrm>
            <a:off x="913774" y="2943355"/>
            <a:ext cx="3298976" cy="2847845"/>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9" name="Text Placeholder 4"/>
          <p:cNvSpPr>
            <a:spLocks noGrp="1"/>
          </p:cNvSpPr>
          <p:nvPr>
            <p:ph type="body" sz="quarter" idx="3"/>
          </p:nvPr>
        </p:nvSpPr>
        <p:spPr>
          <a:xfrm>
            <a:off x="4452389" y="2367093"/>
            <a:ext cx="3291521" cy="576262"/>
          </a:xfrm>
        </p:spPr>
        <p:txBody>
          <a:bodyPr anchor="b">
            <a:noAutofit/>
          </a:bodyPr>
          <a:lstStyle>
            <a:lvl1pPr marL="0" indent="0" algn="ctr">
              <a:lnSpc>
                <a:spcPct val="85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 name="Text Placeholder 3"/>
          <p:cNvSpPr>
            <a:spLocks noGrp="1"/>
          </p:cNvSpPr>
          <p:nvPr>
            <p:ph type="body" sz="half" idx="16"/>
          </p:nvPr>
        </p:nvSpPr>
        <p:spPr>
          <a:xfrm>
            <a:off x="4441348" y="2943355"/>
            <a:ext cx="3303351" cy="2847845"/>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1" name="Text Placeholder 4"/>
          <p:cNvSpPr>
            <a:spLocks noGrp="1"/>
          </p:cNvSpPr>
          <p:nvPr>
            <p:ph type="body" sz="quarter" idx="13"/>
          </p:nvPr>
        </p:nvSpPr>
        <p:spPr>
          <a:xfrm>
            <a:off x="7973298" y="2367093"/>
            <a:ext cx="3304928" cy="576262"/>
          </a:xfrm>
        </p:spPr>
        <p:txBody>
          <a:bodyPr anchor="b">
            <a:noAutofit/>
          </a:bodyPr>
          <a:lstStyle>
            <a:lvl1pPr marL="0" indent="0" algn="ctr">
              <a:lnSpc>
                <a:spcPct val="85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Text Placeholder 3"/>
          <p:cNvSpPr>
            <a:spLocks noGrp="1"/>
          </p:cNvSpPr>
          <p:nvPr>
            <p:ph type="body" sz="half" idx="17"/>
          </p:nvPr>
        </p:nvSpPr>
        <p:spPr>
          <a:xfrm>
            <a:off x="7973298" y="2943355"/>
            <a:ext cx="3304928" cy="2847845"/>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675228BA-FF4A-A44B-945B-B214CA95F545}" type="datetime1">
              <a:rPr lang="en-US" smtClean="0"/>
              <a:t>10/25/25</a:t>
            </a:fld>
            <a:endParaRPr lang="en-JP"/>
          </a:p>
        </p:txBody>
      </p:sp>
      <p:sp>
        <p:nvSpPr>
          <p:cNvPr id="4" name="Footer Placeholder 3"/>
          <p:cNvSpPr>
            <a:spLocks noGrp="1"/>
          </p:cNvSpPr>
          <p:nvPr>
            <p:ph type="ftr" sz="quarter" idx="11"/>
          </p:nvPr>
        </p:nvSpPr>
        <p:spPr/>
        <p:txBody>
          <a:bodyPr/>
          <a:lstStyle/>
          <a:p>
            <a:endParaRPr lang="en-JP"/>
          </a:p>
        </p:txBody>
      </p:sp>
      <p:sp>
        <p:nvSpPr>
          <p:cNvPr id="5" name="Slide Number Placeholder 4"/>
          <p:cNvSpPr>
            <a:spLocks noGrp="1"/>
          </p:cNvSpPr>
          <p:nvPr>
            <p:ph type="sldNum" sz="quarter" idx="12"/>
          </p:nvPr>
        </p:nvSpPr>
        <p:spPr/>
        <p:txBody>
          <a:bodyPr/>
          <a:lstStyle/>
          <a:p>
            <a:fld id="{62667D12-7761-1040-82E2-C1925732DACC}" type="slidenum">
              <a:rPr lang="en-JP" smtClean="0"/>
              <a:t>‹#›</a:t>
            </a:fld>
            <a:endParaRPr lang="en-JP"/>
          </a:p>
        </p:txBody>
      </p:sp>
    </p:spTree>
    <p:extLst>
      <p:ext uri="{BB962C8B-B14F-4D97-AF65-F5344CB8AC3E}">
        <p14:creationId xmlns:p14="http://schemas.microsoft.com/office/powerpoint/2010/main" val="305011835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pic>
        <p:nvPicPr>
          <p:cNvPr id="16" name="Picture 15"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30" name="Title 1"/>
          <p:cNvSpPr>
            <a:spLocks noGrp="1"/>
          </p:cNvSpPr>
          <p:nvPr>
            <p:ph type="title"/>
          </p:nvPr>
        </p:nvSpPr>
        <p:spPr>
          <a:xfrm>
            <a:off x="913774" y="610772"/>
            <a:ext cx="10364452" cy="1603922"/>
          </a:xfrm>
        </p:spPr>
        <p:txBody>
          <a:bodyPr/>
          <a:lstStyle/>
          <a:p>
            <a:r>
              <a:rPr lang="en-US"/>
              <a:t>Click to edit Master title style</a:t>
            </a:r>
            <a:endParaRPr lang="en-US" dirty="0"/>
          </a:p>
        </p:txBody>
      </p:sp>
      <p:sp>
        <p:nvSpPr>
          <p:cNvPr id="19" name="Text Placeholder 2"/>
          <p:cNvSpPr>
            <a:spLocks noGrp="1"/>
          </p:cNvSpPr>
          <p:nvPr>
            <p:ph type="body" idx="1"/>
          </p:nvPr>
        </p:nvSpPr>
        <p:spPr>
          <a:xfrm>
            <a:off x="913774" y="4204820"/>
            <a:ext cx="3296409" cy="576262"/>
          </a:xfrm>
        </p:spPr>
        <p:txBody>
          <a:bodyPr anchor="b">
            <a:noAutofit/>
          </a:bodyPr>
          <a:lstStyle>
            <a:lvl1pPr marL="0" indent="0" algn="ctr">
              <a:lnSpc>
                <a:spcPct val="85000"/>
              </a:lnSpc>
              <a:buNone/>
              <a:defRPr sz="22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Picture Placeholder 2"/>
          <p:cNvSpPr>
            <a:spLocks noGrp="1" noChangeAspect="1"/>
          </p:cNvSpPr>
          <p:nvPr>
            <p:ph type="pic" idx="15"/>
          </p:nvPr>
        </p:nvSpPr>
        <p:spPr>
          <a:xfrm>
            <a:off x="913774" y="2367093"/>
            <a:ext cx="3296409" cy="1524000"/>
          </a:xfrm>
          <a:prstGeom prst="roundRect">
            <a:avLst>
              <a:gd name="adj" fmla="val 9363"/>
            </a:avLst>
          </a:prstGeom>
          <a:noFill/>
          <a:ln w="82550" cap="sq">
            <a:solidFill>
              <a:srgbClr val="EAEAEA"/>
            </a:solidFill>
            <a:miter lim="800000"/>
          </a:ln>
          <a:effectLst/>
          <a:scene3d>
            <a:camera prst="orthographicFront"/>
            <a:lightRig rig="threePt" dir="t">
              <a:rot lat="0" lon="0" rev="2700000"/>
            </a:lightRig>
          </a:scene3d>
          <a:sp3d contourW="6350">
            <a:bevelT h="38100"/>
            <a:contourClr>
              <a:srgbClr val="C0C0C0"/>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1" name="Text Placeholder 3"/>
          <p:cNvSpPr>
            <a:spLocks noGrp="1"/>
          </p:cNvSpPr>
          <p:nvPr>
            <p:ph type="body" sz="half" idx="18"/>
          </p:nvPr>
        </p:nvSpPr>
        <p:spPr>
          <a:xfrm>
            <a:off x="913774" y="4781082"/>
            <a:ext cx="3296409" cy="1010118"/>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2" name="Text Placeholder 4"/>
          <p:cNvSpPr>
            <a:spLocks noGrp="1"/>
          </p:cNvSpPr>
          <p:nvPr>
            <p:ph type="body" sz="quarter" idx="3"/>
          </p:nvPr>
        </p:nvSpPr>
        <p:spPr>
          <a:xfrm>
            <a:off x="4442759" y="4204820"/>
            <a:ext cx="3301828" cy="576262"/>
          </a:xfrm>
        </p:spPr>
        <p:txBody>
          <a:bodyPr anchor="b">
            <a:noAutofit/>
          </a:bodyPr>
          <a:lstStyle>
            <a:lvl1pPr marL="0" indent="0" algn="ctr">
              <a:lnSpc>
                <a:spcPct val="85000"/>
              </a:lnSpc>
              <a:buNone/>
              <a:defRPr sz="22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3" name="Picture Placeholder 2"/>
          <p:cNvSpPr>
            <a:spLocks noGrp="1" noChangeAspect="1"/>
          </p:cNvSpPr>
          <p:nvPr>
            <p:ph type="pic" idx="21"/>
          </p:nvPr>
        </p:nvSpPr>
        <p:spPr>
          <a:xfrm>
            <a:off x="4441348" y="2367093"/>
            <a:ext cx="3303352" cy="1524000"/>
          </a:xfrm>
          <a:prstGeom prst="roundRect">
            <a:avLst>
              <a:gd name="adj" fmla="val 8841"/>
            </a:avLst>
          </a:prstGeom>
          <a:noFill/>
          <a:ln w="82550" cap="sq">
            <a:solidFill>
              <a:srgbClr val="EAEAEA"/>
            </a:solidFill>
            <a:miter lim="800000"/>
          </a:ln>
          <a:effectLst/>
          <a:scene3d>
            <a:camera prst="orthographicFront"/>
            <a:lightRig rig="threePt" dir="t">
              <a:rot lat="0" lon="0" rev="2700000"/>
            </a:lightRig>
          </a:scene3d>
          <a:sp3d contourW="6350">
            <a:bevelT h="38100"/>
            <a:contourClr>
              <a:srgbClr val="C0C0C0"/>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19"/>
          </p:nvPr>
        </p:nvSpPr>
        <p:spPr>
          <a:xfrm>
            <a:off x="4441348" y="4781080"/>
            <a:ext cx="3303352" cy="1010119"/>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5" name="Text Placeholder 4"/>
          <p:cNvSpPr>
            <a:spLocks noGrp="1"/>
          </p:cNvSpPr>
          <p:nvPr>
            <p:ph type="body" sz="quarter" idx="13"/>
          </p:nvPr>
        </p:nvSpPr>
        <p:spPr>
          <a:xfrm>
            <a:off x="7973298" y="4204820"/>
            <a:ext cx="3300681" cy="576262"/>
          </a:xfrm>
        </p:spPr>
        <p:txBody>
          <a:bodyPr anchor="b">
            <a:noAutofit/>
          </a:bodyPr>
          <a:lstStyle>
            <a:lvl1pPr marL="0" indent="0" algn="ctr">
              <a:lnSpc>
                <a:spcPct val="85000"/>
              </a:lnSpc>
              <a:buNone/>
              <a:defRPr sz="22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6" name="Picture Placeholder 2"/>
          <p:cNvSpPr>
            <a:spLocks noGrp="1" noChangeAspect="1"/>
          </p:cNvSpPr>
          <p:nvPr>
            <p:ph type="pic" idx="22"/>
          </p:nvPr>
        </p:nvSpPr>
        <p:spPr>
          <a:xfrm>
            <a:off x="7973298" y="2367093"/>
            <a:ext cx="3304928" cy="1524000"/>
          </a:xfrm>
          <a:prstGeom prst="roundRect">
            <a:avLst>
              <a:gd name="adj" fmla="val 8841"/>
            </a:avLst>
          </a:prstGeom>
          <a:noFill/>
          <a:ln w="82550" cap="sq">
            <a:solidFill>
              <a:srgbClr val="EAEAEA"/>
            </a:solidFill>
            <a:miter lim="800000"/>
          </a:ln>
          <a:effectLst/>
          <a:scene3d>
            <a:camera prst="orthographicFront"/>
            <a:lightRig rig="threePt" dir="t">
              <a:rot lat="0" lon="0" rev="2700000"/>
            </a:lightRig>
          </a:scene3d>
          <a:sp3d contourW="6350">
            <a:bevelT h="38100"/>
            <a:contourClr>
              <a:srgbClr val="C0C0C0"/>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7" name="Text Placeholder 3"/>
          <p:cNvSpPr>
            <a:spLocks noGrp="1"/>
          </p:cNvSpPr>
          <p:nvPr>
            <p:ph type="body" sz="half" idx="20"/>
          </p:nvPr>
        </p:nvSpPr>
        <p:spPr>
          <a:xfrm>
            <a:off x="7973173" y="4781078"/>
            <a:ext cx="3305053" cy="1010121"/>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85044716-6E49-864F-9AC5-3B586F701FE0}" type="datetime1">
              <a:rPr lang="en-US" smtClean="0"/>
              <a:t>10/25/25</a:t>
            </a:fld>
            <a:endParaRPr lang="en-JP"/>
          </a:p>
        </p:txBody>
      </p:sp>
      <p:sp>
        <p:nvSpPr>
          <p:cNvPr id="4" name="Footer Placeholder 3"/>
          <p:cNvSpPr>
            <a:spLocks noGrp="1"/>
          </p:cNvSpPr>
          <p:nvPr>
            <p:ph type="ftr" sz="quarter" idx="11"/>
          </p:nvPr>
        </p:nvSpPr>
        <p:spPr/>
        <p:txBody>
          <a:bodyPr/>
          <a:lstStyle/>
          <a:p>
            <a:endParaRPr lang="en-JP"/>
          </a:p>
        </p:txBody>
      </p:sp>
      <p:sp>
        <p:nvSpPr>
          <p:cNvPr id="5" name="Slide Number Placeholder 4"/>
          <p:cNvSpPr>
            <a:spLocks noGrp="1"/>
          </p:cNvSpPr>
          <p:nvPr>
            <p:ph type="sldNum" sz="quarter" idx="12"/>
          </p:nvPr>
        </p:nvSpPr>
        <p:spPr/>
        <p:txBody>
          <a:bodyPr/>
          <a:lstStyle/>
          <a:p>
            <a:fld id="{62667D12-7761-1040-82E2-C1925732DACC}" type="slidenum">
              <a:rPr lang="en-JP" smtClean="0"/>
              <a:t>‹#›</a:t>
            </a:fld>
            <a:endParaRPr lang="en-JP"/>
          </a:p>
        </p:txBody>
      </p:sp>
    </p:spTree>
    <p:extLst>
      <p:ext uri="{BB962C8B-B14F-4D97-AF65-F5344CB8AC3E}">
        <p14:creationId xmlns:p14="http://schemas.microsoft.com/office/powerpoint/2010/main" val="409188774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pic>
        <p:nvPicPr>
          <p:cNvPr id="8" name="Picture 7"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p:txBody>
          <a:bodyPr/>
          <a:lstStyle/>
          <a:p>
            <a:r>
              <a:rPr lang="en-US"/>
              <a:t>Click to edit Master title style</a:t>
            </a:r>
            <a:endParaRPr lang="en-US" dirty="0"/>
          </a:p>
        </p:txBody>
      </p:sp>
      <p:sp>
        <p:nvSpPr>
          <p:cNvPr id="11" name="Vertical Text Placeholder 2"/>
          <p:cNvSpPr>
            <a:spLocks noGrp="1"/>
          </p:cNvSpPr>
          <p:nvPr>
            <p:ph type="body" orient="vert" sz="quarter" idx="13"/>
          </p:nvPr>
        </p:nvSpPr>
        <p:spPr>
          <a:xfrm>
            <a:off x="913775" y="2367093"/>
            <a:ext cx="10364452" cy="342410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AC5037A7-0E26-4B40-9C82-77FE620E0534}" type="datetime1">
              <a:rPr lang="en-US" smtClean="0"/>
              <a:t>10/25/25</a:t>
            </a:fld>
            <a:endParaRPr lang="en-JP"/>
          </a:p>
        </p:txBody>
      </p:sp>
      <p:sp>
        <p:nvSpPr>
          <p:cNvPr id="5" name="Footer Placeholder 4"/>
          <p:cNvSpPr>
            <a:spLocks noGrp="1"/>
          </p:cNvSpPr>
          <p:nvPr>
            <p:ph type="ftr" sz="quarter" idx="11"/>
          </p:nvPr>
        </p:nvSpPr>
        <p:spPr/>
        <p:txBody>
          <a:bodyPr/>
          <a:lstStyle/>
          <a:p>
            <a:endParaRPr lang="en-JP"/>
          </a:p>
        </p:txBody>
      </p:sp>
      <p:sp>
        <p:nvSpPr>
          <p:cNvPr id="6" name="Slide Number Placeholder 5"/>
          <p:cNvSpPr>
            <a:spLocks noGrp="1"/>
          </p:cNvSpPr>
          <p:nvPr>
            <p:ph type="sldNum" sz="quarter" idx="12"/>
          </p:nvPr>
        </p:nvSpPr>
        <p:spPr/>
        <p:txBody>
          <a:bodyPr/>
          <a:lstStyle/>
          <a:p>
            <a:fld id="{62667D12-7761-1040-82E2-C1925732DACC}" type="slidenum">
              <a:rPr lang="en-JP" smtClean="0"/>
              <a:t>‹#›</a:t>
            </a:fld>
            <a:endParaRPr lang="en-JP"/>
          </a:p>
        </p:txBody>
      </p:sp>
    </p:spTree>
    <p:extLst>
      <p:ext uri="{BB962C8B-B14F-4D97-AF65-F5344CB8AC3E}">
        <p14:creationId xmlns:p14="http://schemas.microsoft.com/office/powerpoint/2010/main" val="319679433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pic>
        <p:nvPicPr>
          <p:cNvPr id="9" name="Picture 8"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Vertical Title 1"/>
          <p:cNvSpPr>
            <a:spLocks noGrp="1"/>
          </p:cNvSpPr>
          <p:nvPr>
            <p:ph type="title" orient="vert"/>
          </p:nvPr>
        </p:nvSpPr>
        <p:spPr>
          <a:xfrm>
            <a:off x="8724900" y="609601"/>
            <a:ext cx="2553326" cy="5181599"/>
          </a:xfrm>
        </p:spPr>
        <p:txBody>
          <a:bodyPr vert="eaVert"/>
          <a:lstStyle>
            <a:lvl1pPr algn="l">
              <a:defRPr/>
            </a:lvl1pPr>
          </a:lstStyle>
          <a:p>
            <a:r>
              <a:rPr lang="en-US"/>
              <a:t>Click to edit Master title style</a:t>
            </a:r>
            <a:endParaRPr lang="en-US" dirty="0"/>
          </a:p>
        </p:txBody>
      </p:sp>
      <p:sp>
        <p:nvSpPr>
          <p:cNvPr id="8" name="Vertical Text Placeholder 2"/>
          <p:cNvSpPr>
            <a:spLocks noGrp="1"/>
          </p:cNvSpPr>
          <p:nvPr>
            <p:ph type="body" orient="vert" sz="quarter" idx="13"/>
          </p:nvPr>
        </p:nvSpPr>
        <p:spPr>
          <a:xfrm>
            <a:off x="913775" y="609601"/>
            <a:ext cx="7658724" cy="518159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FC192C06-D256-994C-9503-1641C62BF989}" type="datetime1">
              <a:rPr lang="en-US" smtClean="0"/>
              <a:t>10/25/25</a:t>
            </a:fld>
            <a:endParaRPr lang="en-JP"/>
          </a:p>
        </p:txBody>
      </p:sp>
      <p:sp>
        <p:nvSpPr>
          <p:cNvPr id="5" name="Footer Placeholder 4"/>
          <p:cNvSpPr>
            <a:spLocks noGrp="1"/>
          </p:cNvSpPr>
          <p:nvPr>
            <p:ph type="ftr" sz="quarter" idx="11"/>
          </p:nvPr>
        </p:nvSpPr>
        <p:spPr/>
        <p:txBody>
          <a:bodyPr/>
          <a:lstStyle/>
          <a:p>
            <a:endParaRPr lang="en-JP"/>
          </a:p>
        </p:txBody>
      </p:sp>
      <p:sp>
        <p:nvSpPr>
          <p:cNvPr id="6" name="Slide Number Placeholder 5"/>
          <p:cNvSpPr>
            <a:spLocks noGrp="1"/>
          </p:cNvSpPr>
          <p:nvPr>
            <p:ph type="sldNum" sz="quarter" idx="12"/>
          </p:nvPr>
        </p:nvSpPr>
        <p:spPr/>
        <p:txBody>
          <a:bodyPr/>
          <a:lstStyle/>
          <a:p>
            <a:fld id="{62667D12-7761-1040-82E2-C1925732DACC}" type="slidenum">
              <a:rPr lang="en-JP" smtClean="0"/>
              <a:t>‹#›</a:t>
            </a:fld>
            <a:endParaRPr lang="en-JP"/>
          </a:p>
        </p:txBody>
      </p:sp>
    </p:spTree>
    <p:extLst>
      <p:ext uri="{BB962C8B-B14F-4D97-AF65-F5344CB8AC3E}">
        <p14:creationId xmlns:p14="http://schemas.microsoft.com/office/powerpoint/2010/main" val="391644784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flip="none" rotWithShape="1">
          <a:gsLst>
            <a:gs pos="100000">
              <a:schemeClr val="bg1">
                <a:tint val="90000"/>
                <a:lumMod val="110000"/>
              </a:schemeClr>
            </a:gs>
            <a:gs pos="100000">
              <a:schemeClr val="bg1">
                <a:shade val="64000"/>
                <a:lumMod val="88000"/>
              </a:schemeClr>
            </a:gs>
          </a:gsLst>
          <a:lin ang="5400000" scaled="0"/>
          <a:tileRect/>
        </a:gradFill>
        <a:effectLst/>
      </p:bgPr>
    </p:bg>
    <p:spTree>
      <p:nvGrpSpPr>
        <p:cNvPr id="1" name=""/>
        <p:cNvGrpSpPr/>
        <p:nvPr/>
      </p:nvGrpSpPr>
      <p:grpSpPr>
        <a:xfrm>
          <a:off x="0" y="0"/>
          <a:ext cx="0" cy="0"/>
          <a:chOff x="0" y="0"/>
          <a:chExt cx="0" cy="0"/>
        </a:xfrm>
      </p:grpSpPr>
      <p:pic>
        <p:nvPicPr>
          <p:cNvPr id="1026" name="Picture 2" descr="\\DROBO-FS\QuickDrops\JB\PPTX NG\Droplets\LightingOverlay.png"/>
          <p:cNvPicPr>
            <a:picLocks noChangeAspect="1" noChangeArrowheads="1"/>
          </p:cNvPicPr>
          <p:nvPr/>
        </p:nvPicPr>
        <p:blipFill>
          <a:blip r:embed="rId19">
            <a:alphaModFix/>
            <a:extLst>
              <a:ext uri="{28A0092B-C50C-407E-A947-70E740481C1C}">
                <a14:useLocalDpi xmlns:a14="http://schemas.microsoft.com/office/drawing/2010/main" val="0"/>
              </a:ext>
            </a:extLst>
          </a:blip>
          <a:srcRect/>
          <a:stretch>
            <a:fillRect/>
          </a:stretch>
        </p:blipFill>
        <p:spPr bwMode="auto">
          <a:xfrm>
            <a:off x="0" y="0"/>
            <a:ext cx="12192003" cy="6858001"/>
          </a:xfrm>
          <a:prstGeom prst="rect">
            <a:avLst/>
          </a:prstGeom>
          <a:noFill/>
          <a:extLst>
            <a:ext uri="{909E8E84-426E-40DD-AFC4-6F175D3DCCD1}">
              <a14:hiddenFill xmlns:a14="http://schemas.microsoft.com/office/drawing/2010/main">
                <a:solidFill>
                  <a:srgbClr val="FFFFFF"/>
                </a:solidFill>
              </a14:hiddenFill>
            </a:ext>
          </a:extLst>
        </p:spPr>
      </p:pic>
      <p:sp>
        <p:nvSpPr>
          <p:cNvPr id="2" name="Title Placeholder 1"/>
          <p:cNvSpPr>
            <a:spLocks noGrp="1"/>
          </p:cNvSpPr>
          <p:nvPr>
            <p:ph type="title"/>
          </p:nvPr>
        </p:nvSpPr>
        <p:spPr>
          <a:xfrm>
            <a:off x="913775" y="618517"/>
            <a:ext cx="10364451" cy="1596177"/>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913775" y="2367093"/>
            <a:ext cx="10364452" cy="3424107"/>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7678737" y="5883275"/>
            <a:ext cx="2743200" cy="365125"/>
          </a:xfrm>
          <a:prstGeom prst="rect">
            <a:avLst/>
          </a:prstGeom>
        </p:spPr>
        <p:txBody>
          <a:bodyPr vert="horz" lIns="91440" tIns="45720" rIns="91440" bIns="45720" rtlCol="0" anchor="ctr"/>
          <a:lstStyle>
            <a:lvl1pPr algn="r">
              <a:defRPr sz="1000">
                <a:solidFill>
                  <a:schemeClr val="tx1"/>
                </a:solidFill>
              </a:defRPr>
            </a:lvl1pPr>
          </a:lstStyle>
          <a:p>
            <a:fld id="{4EF6A829-E909-6F42-9842-38C37E1C8FC7}" type="datetime1">
              <a:rPr lang="en-US" smtClean="0"/>
              <a:t>10/25/25</a:t>
            </a:fld>
            <a:endParaRPr lang="en-JP"/>
          </a:p>
        </p:txBody>
      </p:sp>
      <p:sp>
        <p:nvSpPr>
          <p:cNvPr id="5" name="Footer Placeholder 4"/>
          <p:cNvSpPr>
            <a:spLocks noGrp="1"/>
          </p:cNvSpPr>
          <p:nvPr>
            <p:ph type="ftr" sz="quarter" idx="3"/>
          </p:nvPr>
        </p:nvSpPr>
        <p:spPr>
          <a:xfrm>
            <a:off x="913774" y="5883275"/>
            <a:ext cx="6672887" cy="365125"/>
          </a:xfrm>
          <a:prstGeom prst="rect">
            <a:avLst/>
          </a:prstGeom>
        </p:spPr>
        <p:txBody>
          <a:bodyPr vert="horz" lIns="91440" tIns="45720" rIns="91440" bIns="45720" rtlCol="0" anchor="ctr"/>
          <a:lstStyle>
            <a:lvl1pPr algn="l">
              <a:defRPr sz="1000">
                <a:solidFill>
                  <a:schemeClr val="tx1"/>
                </a:solidFill>
              </a:defRPr>
            </a:lvl1pPr>
          </a:lstStyle>
          <a:p>
            <a:endParaRPr lang="en-JP"/>
          </a:p>
        </p:txBody>
      </p:sp>
      <p:sp>
        <p:nvSpPr>
          <p:cNvPr id="6" name="Slide Number Placeholder 5"/>
          <p:cNvSpPr>
            <a:spLocks noGrp="1"/>
          </p:cNvSpPr>
          <p:nvPr>
            <p:ph type="sldNum" sz="quarter" idx="4"/>
          </p:nvPr>
        </p:nvSpPr>
        <p:spPr>
          <a:xfrm>
            <a:off x="10514011" y="5883275"/>
            <a:ext cx="764215" cy="365125"/>
          </a:xfrm>
          <a:prstGeom prst="rect">
            <a:avLst/>
          </a:prstGeom>
          <a:effectLst>
            <a:outerShdw dist="50800" sx="1000" sy="1000" algn="ctr" rotWithShape="0">
              <a:srgbClr val="000000"/>
            </a:outerShdw>
            <a:reflection endPos="13000" dist="50800" dir="5400000" sy="-100000" algn="bl" rotWithShape="0"/>
          </a:effectLst>
        </p:spPr>
        <p:txBody>
          <a:bodyPr vert="horz" lIns="91440" tIns="45720" rIns="91440" bIns="45720" rtlCol="0" anchor="ctr"/>
          <a:lstStyle>
            <a:lvl1pPr algn="r">
              <a:defRPr sz="2000">
                <a:solidFill>
                  <a:schemeClr val="tx1"/>
                </a:solidFill>
              </a:defRPr>
            </a:lvl1pPr>
          </a:lstStyle>
          <a:p>
            <a:fld id="{62667D12-7761-1040-82E2-C1925732DACC}" type="slidenum">
              <a:rPr lang="en-JP" smtClean="0"/>
              <a:pPr/>
              <a:t>‹#›</a:t>
            </a:fld>
            <a:endParaRPr lang="en-JP" dirty="0"/>
          </a:p>
        </p:txBody>
      </p:sp>
    </p:spTree>
    <p:extLst>
      <p:ext uri="{BB962C8B-B14F-4D97-AF65-F5344CB8AC3E}">
        <p14:creationId xmlns:p14="http://schemas.microsoft.com/office/powerpoint/2010/main" val="2583843899"/>
      </p:ext>
    </p:extLst>
  </p:cSld>
  <p:clrMap bg1="lt1" tx1="dk1" bg2="lt2" tx2="dk2" accent1="accent1" accent2="accent2" accent3="accent3" accent4="accent4" accent5="accent5" accent6="accent6" hlink="hlink" folHlink="folHlink"/>
  <p:sldLayoutIdLst>
    <p:sldLayoutId id="2147483723" r:id="rId1"/>
    <p:sldLayoutId id="2147483724" r:id="rId2"/>
    <p:sldLayoutId id="2147483725" r:id="rId3"/>
    <p:sldLayoutId id="2147483726" r:id="rId4"/>
    <p:sldLayoutId id="2147483727" r:id="rId5"/>
    <p:sldLayoutId id="2147483728" r:id="rId6"/>
    <p:sldLayoutId id="2147483729" r:id="rId7"/>
    <p:sldLayoutId id="2147483730" r:id="rId8"/>
    <p:sldLayoutId id="2147483731" r:id="rId9"/>
    <p:sldLayoutId id="2147483732" r:id="rId10"/>
    <p:sldLayoutId id="2147483733" r:id="rId11"/>
    <p:sldLayoutId id="2147483734" r:id="rId12"/>
    <p:sldLayoutId id="2147483735" r:id="rId13"/>
    <p:sldLayoutId id="2147483736" r:id="rId14"/>
    <p:sldLayoutId id="2147483737" r:id="rId15"/>
    <p:sldLayoutId id="2147483738" r:id="rId16"/>
    <p:sldLayoutId id="2147483739" r:id="rId17"/>
  </p:sldLayoutIdLst>
  <p:hf hdr="0" ftr="0" dt="0"/>
  <p:txStyles>
    <p:titleStyle>
      <a:lvl1pPr algn="ctr" defTabSz="914400" rtl="0" eaLnBrk="1" latinLnBrk="0" hangingPunct="1">
        <a:lnSpc>
          <a:spcPct val="90000"/>
        </a:lnSpc>
        <a:spcBef>
          <a:spcPct val="0"/>
        </a:spcBef>
        <a:buNone/>
        <a:defRPr sz="3600" kern="1200" cap="all" baseline="0">
          <a:solidFill>
            <a:schemeClr val="tx1"/>
          </a:solidFill>
          <a:effectLst/>
          <a:latin typeface="+mj-lt"/>
          <a:ea typeface="+mj-ea"/>
          <a:cs typeface="+mj-cs"/>
        </a:defRPr>
      </a:lvl1pPr>
    </p:titleStyle>
    <p:bodyStyle>
      <a:lvl1pPr marL="228600" indent="-228600" algn="l" defTabSz="914400" rtl="0" eaLnBrk="1" latinLnBrk="0" hangingPunct="1">
        <a:lnSpc>
          <a:spcPct val="120000"/>
        </a:lnSpc>
        <a:spcBef>
          <a:spcPts val="1000"/>
        </a:spcBef>
        <a:buClr>
          <a:schemeClr val="tx1"/>
        </a:buClr>
        <a:buFont typeface="Arial" panose="020B0604020202020204" pitchFamily="34" charset="0"/>
        <a:buChar char="•"/>
        <a:defRPr sz="2000" kern="1200" cap="all" baseline="0">
          <a:solidFill>
            <a:schemeClr val="tx1"/>
          </a:solidFill>
          <a:effectLst/>
          <a:latin typeface="+mn-lt"/>
          <a:ea typeface="+mn-ea"/>
          <a:cs typeface="+mn-cs"/>
        </a:defRPr>
      </a:lvl1pPr>
      <a:lvl2pPr marL="685800" indent="-228600" algn="l" defTabSz="914400" rtl="0" eaLnBrk="1" latinLnBrk="0" hangingPunct="1">
        <a:lnSpc>
          <a:spcPct val="120000"/>
        </a:lnSpc>
        <a:spcBef>
          <a:spcPts val="500"/>
        </a:spcBef>
        <a:buClr>
          <a:schemeClr val="tx1"/>
        </a:buClr>
        <a:buFont typeface="Arial" panose="020B0604020202020204" pitchFamily="34" charset="0"/>
        <a:buChar char="•"/>
        <a:defRPr sz="1800" kern="1200" cap="all" baseline="0">
          <a:solidFill>
            <a:schemeClr val="tx1"/>
          </a:solidFill>
          <a:effectLst/>
          <a:latin typeface="+mn-lt"/>
          <a:ea typeface="+mn-ea"/>
          <a:cs typeface="+mn-cs"/>
        </a:defRPr>
      </a:lvl2pPr>
      <a:lvl3pPr marL="1143000" indent="-228600" algn="l" defTabSz="914400" rtl="0" eaLnBrk="1" latinLnBrk="0" hangingPunct="1">
        <a:lnSpc>
          <a:spcPct val="120000"/>
        </a:lnSpc>
        <a:spcBef>
          <a:spcPts val="500"/>
        </a:spcBef>
        <a:buClr>
          <a:schemeClr val="tx1"/>
        </a:buClr>
        <a:buFont typeface="Arial" panose="020B0604020202020204" pitchFamily="34" charset="0"/>
        <a:buChar char="•"/>
        <a:defRPr sz="1600" kern="1200" cap="all" baseline="0">
          <a:solidFill>
            <a:schemeClr val="tx1"/>
          </a:solidFill>
          <a:effectLst/>
          <a:latin typeface="+mn-lt"/>
          <a:ea typeface="+mn-ea"/>
          <a:cs typeface="+mn-cs"/>
        </a:defRPr>
      </a:lvl3pPr>
      <a:lvl4pPr marL="16002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4pPr>
      <a:lvl5pPr marL="20574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919206-A847-136C-6DA6-460DD3AD3414}"/>
              </a:ext>
            </a:extLst>
          </p:cNvPr>
          <p:cNvSpPr>
            <a:spLocks noGrp="1"/>
          </p:cNvSpPr>
          <p:nvPr>
            <p:ph type="ctrTitle"/>
          </p:nvPr>
        </p:nvSpPr>
        <p:spPr/>
        <p:txBody>
          <a:bodyPr>
            <a:normAutofit/>
          </a:bodyPr>
          <a:lstStyle/>
          <a:p>
            <a:r>
              <a:rPr lang="en-US" dirty="0"/>
              <a:t>Usability and Security by Design: A Case Study in</a:t>
            </a:r>
            <a:br>
              <a:rPr lang="en-US" dirty="0"/>
            </a:br>
            <a:r>
              <a:rPr lang="en-US" dirty="0"/>
              <a:t>Research and Development</a:t>
            </a:r>
            <a:endParaRPr lang="en-JP" dirty="0"/>
          </a:p>
        </p:txBody>
      </p:sp>
      <p:sp>
        <p:nvSpPr>
          <p:cNvPr id="5" name="TextBox 4">
            <a:extLst>
              <a:ext uri="{FF2B5EF4-FFF2-40B4-BE49-F238E27FC236}">
                <a16:creationId xmlns:a16="http://schemas.microsoft.com/office/drawing/2014/main" id="{8C1DE130-67DD-0A98-2505-2ACC65D21A56}"/>
              </a:ext>
            </a:extLst>
          </p:cNvPr>
          <p:cNvSpPr txBox="1"/>
          <p:nvPr/>
        </p:nvSpPr>
        <p:spPr>
          <a:xfrm>
            <a:off x="4125686" y="4217352"/>
            <a:ext cx="6096000" cy="1200329"/>
          </a:xfrm>
          <a:prstGeom prst="rect">
            <a:avLst/>
          </a:prstGeom>
          <a:noFill/>
        </p:spPr>
        <p:txBody>
          <a:bodyPr wrap="square">
            <a:spAutoFit/>
          </a:bodyPr>
          <a:lstStyle/>
          <a:p>
            <a:pPr marL="0" lvl="0" indent="0" algn="l">
              <a:spcBef>
                <a:spcPts val="0"/>
              </a:spcBef>
            </a:pPr>
            <a:r>
              <a:rPr lang="ja-JP" altLang="en-US"/>
              <a:t>所属　　： 情報基盤システム学研究室</a:t>
            </a:r>
            <a:endParaRPr lang="en-US" altLang="ja-JP" dirty="0"/>
          </a:p>
          <a:p>
            <a:pPr marL="0" indent="0" algn="l">
              <a:spcBef>
                <a:spcPts val="0"/>
              </a:spcBef>
            </a:pPr>
            <a:r>
              <a:rPr lang="ja-JP" altLang="en-US"/>
              <a:t>発表者　： </a:t>
            </a:r>
            <a:r>
              <a:rPr lang="en-US" altLang="ja-JP" dirty="0"/>
              <a:t>Undarmaa</a:t>
            </a:r>
          </a:p>
          <a:p>
            <a:pPr marL="0" lvl="0" indent="0" algn="l">
              <a:spcBef>
                <a:spcPts val="0"/>
              </a:spcBef>
            </a:pPr>
            <a:r>
              <a:rPr lang="ja-JP" altLang="en-US"/>
              <a:t>発表日　： </a:t>
            </a:r>
            <a:r>
              <a:rPr lang="en-US" altLang="ja-JP" dirty="0"/>
              <a:t>2025</a:t>
            </a:r>
            <a:r>
              <a:rPr lang="ja-JP" altLang="en-US"/>
              <a:t>年</a:t>
            </a:r>
            <a:r>
              <a:rPr lang="en-US" altLang="ja-JP" dirty="0"/>
              <a:t>10</a:t>
            </a:r>
            <a:r>
              <a:rPr lang="ja-JP" altLang="en-US"/>
              <a:t>月</a:t>
            </a:r>
            <a:r>
              <a:rPr lang="en-US" altLang="ja-JP" dirty="0"/>
              <a:t>27</a:t>
            </a:r>
            <a:r>
              <a:rPr lang="ja-JP" altLang="en-US"/>
              <a:t>日</a:t>
            </a:r>
            <a:endParaRPr lang="en-US" altLang="ja-JP" dirty="0"/>
          </a:p>
          <a:p>
            <a:pPr marL="0" lvl="0" indent="0" algn="l">
              <a:spcBef>
                <a:spcPts val="0"/>
              </a:spcBef>
            </a:pPr>
            <a:r>
              <a:rPr lang="ja-JP" altLang="en-US"/>
              <a:t>会場　　：</a:t>
            </a:r>
            <a:r>
              <a:rPr lang="en-US" altLang="ja-JP" dirty="0"/>
              <a:t>Core B</a:t>
            </a:r>
          </a:p>
        </p:txBody>
      </p:sp>
    </p:spTree>
    <p:extLst>
      <p:ext uri="{BB962C8B-B14F-4D97-AF65-F5344CB8AC3E}">
        <p14:creationId xmlns:p14="http://schemas.microsoft.com/office/powerpoint/2010/main" val="120078520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3AFF01-94B2-6187-F9CE-2B31A1A95D4B}"/>
              </a:ext>
            </a:extLst>
          </p:cNvPr>
          <p:cNvSpPr>
            <a:spLocks noGrp="1"/>
          </p:cNvSpPr>
          <p:nvPr>
            <p:ph type="title"/>
          </p:nvPr>
        </p:nvSpPr>
        <p:spPr>
          <a:xfrm>
            <a:off x="903515" y="1034143"/>
            <a:ext cx="2688772" cy="614494"/>
          </a:xfrm>
        </p:spPr>
        <p:txBody>
          <a:bodyPr>
            <a:normAutofit/>
          </a:bodyPr>
          <a:lstStyle/>
          <a:p>
            <a:r>
              <a:rPr lang="ja-JP" altLang="en-US">
                <a:latin typeface="Meiryo UI" panose="020B0604030504040204" pitchFamily="50" charset="-128"/>
                <a:ea typeface="Meiryo UI" panose="020B0604030504040204" pitchFamily="50" charset="-128"/>
              </a:rPr>
              <a:t>目次</a:t>
            </a:r>
            <a:endParaRPr lang="en-JP" dirty="0"/>
          </a:p>
        </p:txBody>
      </p:sp>
      <p:sp>
        <p:nvSpPr>
          <p:cNvPr id="5" name="TextBox 4">
            <a:extLst>
              <a:ext uri="{FF2B5EF4-FFF2-40B4-BE49-F238E27FC236}">
                <a16:creationId xmlns:a16="http://schemas.microsoft.com/office/drawing/2014/main" id="{56BC3D14-406B-F67B-CEF3-386DE9A5C773}"/>
              </a:ext>
            </a:extLst>
          </p:cNvPr>
          <p:cNvSpPr txBox="1"/>
          <p:nvPr/>
        </p:nvSpPr>
        <p:spPr>
          <a:xfrm>
            <a:off x="1328057" y="2106384"/>
            <a:ext cx="6096000" cy="2135200"/>
          </a:xfrm>
          <a:prstGeom prst="rect">
            <a:avLst/>
          </a:prstGeom>
          <a:noFill/>
        </p:spPr>
        <p:txBody>
          <a:bodyPr wrap="square">
            <a:spAutoFit/>
          </a:bodyPr>
          <a:lstStyle/>
          <a:p>
            <a:pPr marL="761981" indent="-548626">
              <a:lnSpc>
                <a:spcPct val="150000"/>
              </a:lnSpc>
              <a:spcBef>
                <a:spcPts val="0"/>
              </a:spcBef>
              <a:buSzPts val="2800"/>
              <a:buFont typeface="Wingdings" pitchFamily="2" charset="2"/>
              <a:buChar char="§"/>
            </a:pPr>
            <a:r>
              <a:rPr lang="ja-JP" altLang="en-US" sz="1800">
                <a:solidFill>
                  <a:srgbClr val="FF0000"/>
                </a:solidFill>
                <a:latin typeface="Meiryo" panose="020B0604030504040204" pitchFamily="34" charset="-128"/>
                <a:ea typeface="Meiryo" panose="020B0604030504040204" pitchFamily="34" charset="-128"/>
              </a:rPr>
              <a:t>はじめに </a:t>
            </a:r>
            <a:r>
              <a:rPr lang="en-US" altLang="ja-JP" sz="1800" dirty="0">
                <a:solidFill>
                  <a:srgbClr val="FF0000"/>
                </a:solidFill>
                <a:latin typeface="Meiryo" panose="020B0604030504040204" pitchFamily="34" charset="-128"/>
                <a:ea typeface="Meiryo" panose="020B0604030504040204" pitchFamily="34" charset="-128"/>
              </a:rPr>
              <a:t>(Introduction)</a:t>
            </a:r>
          </a:p>
          <a:p>
            <a:pPr marL="761981" indent="-548626">
              <a:lnSpc>
                <a:spcPct val="150000"/>
              </a:lnSpc>
              <a:spcBef>
                <a:spcPts val="0"/>
              </a:spcBef>
              <a:buSzPts val="2800"/>
              <a:buFont typeface="Wingdings" pitchFamily="2" charset="2"/>
              <a:buChar char="§"/>
            </a:pPr>
            <a:r>
              <a:rPr lang="ja-JP" altLang="en-US" sz="1800">
                <a:latin typeface="Meiryo" panose="020B0604030504040204" pitchFamily="34" charset="-128"/>
                <a:ea typeface="Meiryo" panose="020B0604030504040204" pitchFamily="34" charset="-128"/>
              </a:rPr>
              <a:t>研究の目的 </a:t>
            </a:r>
            <a:r>
              <a:rPr lang="en-US" altLang="ja-JP" sz="1800" dirty="0">
                <a:latin typeface="Meiryo" panose="020B0604030504040204" pitchFamily="34" charset="-128"/>
                <a:ea typeface="Meiryo" panose="020B0604030504040204" pitchFamily="34" charset="-128"/>
              </a:rPr>
              <a:t>(Purpose)</a:t>
            </a:r>
          </a:p>
          <a:p>
            <a:pPr marL="761981" indent="-548626">
              <a:lnSpc>
                <a:spcPct val="150000"/>
              </a:lnSpc>
              <a:spcBef>
                <a:spcPts val="0"/>
              </a:spcBef>
              <a:buSzPts val="2800"/>
              <a:buFont typeface="Wingdings" pitchFamily="2" charset="2"/>
              <a:buChar char="§"/>
            </a:pPr>
            <a:r>
              <a:rPr lang="ja-JP" altLang="en-US" sz="1800">
                <a:latin typeface="Meiryo" panose="020B0604030504040204" pitchFamily="34" charset="-128"/>
                <a:ea typeface="Meiryo" panose="020B0604030504040204" pitchFamily="34" charset="-128"/>
              </a:rPr>
              <a:t>方法 </a:t>
            </a:r>
            <a:r>
              <a:rPr lang="en-US" altLang="ja-JP" sz="1800" dirty="0">
                <a:latin typeface="Meiryo" panose="020B0604030504040204" pitchFamily="34" charset="-128"/>
                <a:ea typeface="Meiryo" panose="020B0604030504040204" pitchFamily="34" charset="-128"/>
              </a:rPr>
              <a:t>(Method / Approach)</a:t>
            </a:r>
          </a:p>
          <a:p>
            <a:pPr marL="761981" indent="-548626">
              <a:lnSpc>
                <a:spcPct val="150000"/>
              </a:lnSpc>
              <a:spcBef>
                <a:spcPts val="0"/>
              </a:spcBef>
              <a:buSzPts val="2800"/>
              <a:buFont typeface="Wingdings" pitchFamily="2" charset="2"/>
              <a:buChar char="§"/>
            </a:pPr>
            <a:r>
              <a:rPr lang="ja-JP" altLang="en-US" sz="1800"/>
              <a:t>課題・困難点</a:t>
            </a:r>
            <a:endParaRPr lang="en-US" altLang="ja-JP" sz="1800" dirty="0"/>
          </a:p>
          <a:p>
            <a:pPr marL="761981" indent="-548626">
              <a:lnSpc>
                <a:spcPct val="150000"/>
              </a:lnSpc>
              <a:spcBef>
                <a:spcPts val="0"/>
              </a:spcBef>
              <a:buSzPts val="2800"/>
              <a:buFont typeface="Wingdings" pitchFamily="2" charset="2"/>
              <a:buChar char="§"/>
            </a:pPr>
            <a:r>
              <a:rPr lang="ja-JP" altLang="en-US" sz="1800">
                <a:latin typeface="Meiryo" panose="020B0604030504040204" pitchFamily="34" charset="-128"/>
                <a:ea typeface="Meiryo" panose="020B0604030504040204" pitchFamily="34" charset="-128"/>
              </a:rPr>
              <a:t>まとめ </a:t>
            </a:r>
            <a:r>
              <a:rPr lang="en-US" altLang="ja-JP" sz="1800" dirty="0">
                <a:latin typeface="Meiryo" panose="020B0604030504040204" pitchFamily="34" charset="-128"/>
                <a:ea typeface="Meiryo" panose="020B0604030504040204" pitchFamily="34" charset="-128"/>
              </a:rPr>
              <a:t>(Conclusion)</a:t>
            </a:r>
            <a:endParaRPr lang="en-JP" sz="1800" dirty="0">
              <a:latin typeface="Meiryo" panose="020B0604030504040204" pitchFamily="34" charset="-128"/>
              <a:ea typeface="Meiryo" panose="020B0604030504040204" pitchFamily="34" charset="-128"/>
            </a:endParaRPr>
          </a:p>
        </p:txBody>
      </p:sp>
      <p:sp>
        <p:nvSpPr>
          <p:cNvPr id="3" name="Slide Number Placeholder 2">
            <a:extLst>
              <a:ext uri="{FF2B5EF4-FFF2-40B4-BE49-F238E27FC236}">
                <a16:creationId xmlns:a16="http://schemas.microsoft.com/office/drawing/2014/main" id="{B3CB8CD8-472B-C299-7635-1BBD781C02EA}"/>
              </a:ext>
            </a:extLst>
          </p:cNvPr>
          <p:cNvSpPr>
            <a:spLocks noGrp="1"/>
          </p:cNvSpPr>
          <p:nvPr>
            <p:ph type="sldNum" sz="quarter" idx="12"/>
          </p:nvPr>
        </p:nvSpPr>
        <p:spPr/>
        <p:txBody>
          <a:bodyPr/>
          <a:lstStyle/>
          <a:p>
            <a:fld id="{62667D12-7761-1040-82E2-C1925732DACC}" type="slidenum">
              <a:rPr lang="en-JP" smtClean="0"/>
              <a:t>1</a:t>
            </a:fld>
            <a:endParaRPr lang="en-JP"/>
          </a:p>
        </p:txBody>
      </p:sp>
    </p:spTree>
    <p:extLst>
      <p:ext uri="{BB962C8B-B14F-4D97-AF65-F5344CB8AC3E}">
        <p14:creationId xmlns:p14="http://schemas.microsoft.com/office/powerpoint/2010/main" val="40556234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val 3">
            <a:extLst>
              <a:ext uri="{FF2B5EF4-FFF2-40B4-BE49-F238E27FC236}">
                <a16:creationId xmlns:a16="http://schemas.microsoft.com/office/drawing/2014/main" id="{3993168F-A0D9-3325-DC8F-24AAB41106F3}"/>
              </a:ext>
            </a:extLst>
          </p:cNvPr>
          <p:cNvSpPr/>
          <p:nvPr/>
        </p:nvSpPr>
        <p:spPr>
          <a:xfrm>
            <a:off x="1785256" y="1034143"/>
            <a:ext cx="2394857" cy="990600"/>
          </a:xfrm>
          <a:prstGeom prst="ellipse">
            <a:avLst/>
          </a:prstGeom>
          <a:solidFill>
            <a:schemeClr val="accent1">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Times New Roman" panose="02020603050405020304" pitchFamily="18" charset="0"/>
                <a:cs typeface="Times New Roman" panose="02020603050405020304" pitchFamily="18" charset="0"/>
              </a:rPr>
              <a:t>usability</a:t>
            </a:r>
            <a:endParaRPr lang="en-JP" dirty="0">
              <a:solidFill>
                <a:schemeClr val="tx1"/>
              </a:solidFill>
              <a:latin typeface="Times New Roman" panose="02020603050405020304" pitchFamily="18" charset="0"/>
              <a:cs typeface="Times New Roman" panose="02020603050405020304" pitchFamily="18" charset="0"/>
            </a:endParaRPr>
          </a:p>
        </p:txBody>
      </p:sp>
      <p:sp>
        <p:nvSpPr>
          <p:cNvPr id="5" name="Oval 4">
            <a:extLst>
              <a:ext uri="{FF2B5EF4-FFF2-40B4-BE49-F238E27FC236}">
                <a16:creationId xmlns:a16="http://schemas.microsoft.com/office/drawing/2014/main" id="{90FAD179-8F7E-79A9-B29A-8EDFAF0C17DA}"/>
              </a:ext>
            </a:extLst>
          </p:cNvPr>
          <p:cNvSpPr/>
          <p:nvPr/>
        </p:nvSpPr>
        <p:spPr>
          <a:xfrm>
            <a:off x="7179842" y="990803"/>
            <a:ext cx="2394857" cy="990601"/>
          </a:xfrm>
          <a:prstGeom prst="ellipse">
            <a:avLst/>
          </a:prstGeom>
          <a:solidFill>
            <a:schemeClr val="accent2">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JP" dirty="0">
                <a:solidFill>
                  <a:schemeClr val="tx1"/>
                </a:solidFill>
              </a:rPr>
              <a:t>Security by Des</a:t>
            </a:r>
            <a:r>
              <a:rPr lang="en-US" dirty="0">
                <a:solidFill>
                  <a:schemeClr val="tx1"/>
                </a:solidFill>
              </a:rPr>
              <a:t>i</a:t>
            </a:r>
            <a:r>
              <a:rPr lang="en-JP" dirty="0">
                <a:solidFill>
                  <a:schemeClr val="tx1"/>
                </a:solidFill>
              </a:rPr>
              <a:t>gn </a:t>
            </a:r>
          </a:p>
        </p:txBody>
      </p:sp>
      <p:graphicFrame>
        <p:nvGraphicFramePr>
          <p:cNvPr id="6" name="Table 5">
            <a:extLst>
              <a:ext uri="{FF2B5EF4-FFF2-40B4-BE49-F238E27FC236}">
                <a16:creationId xmlns:a16="http://schemas.microsoft.com/office/drawing/2014/main" id="{E411E803-C812-EA77-36A8-D92B61B48D3C}"/>
              </a:ext>
            </a:extLst>
          </p:cNvPr>
          <p:cNvGraphicFramePr>
            <a:graphicFrameLocks noGrp="1"/>
          </p:cNvGraphicFramePr>
          <p:nvPr>
            <p:extLst>
              <p:ext uri="{D42A27DB-BD31-4B8C-83A1-F6EECF244321}">
                <p14:modId xmlns:p14="http://schemas.microsoft.com/office/powerpoint/2010/main" val="655563805"/>
              </p:ext>
            </p:extLst>
          </p:nvPr>
        </p:nvGraphicFramePr>
        <p:xfrm>
          <a:off x="914400" y="3896201"/>
          <a:ext cx="10363200" cy="365760"/>
        </p:xfrm>
        <a:graphic>
          <a:graphicData uri="http://schemas.openxmlformats.org/drawingml/2006/table">
            <a:tbl>
              <a:tblPr/>
              <a:tblGrid>
                <a:gridCol w="10363200">
                  <a:extLst>
                    <a:ext uri="{9D8B030D-6E8A-4147-A177-3AD203B41FA5}">
                      <a16:colId xmlns:a16="http://schemas.microsoft.com/office/drawing/2014/main" val="2787315856"/>
                    </a:ext>
                  </a:extLst>
                </a:gridCol>
              </a:tblGrid>
              <a:tr h="0">
                <a:tc>
                  <a:txBody>
                    <a:bodyPr/>
                    <a:lstStyle/>
                    <a:p>
                      <a:endParaRPr lang="en-US" dirty="0"/>
                    </a:p>
                  </a:txBody>
                  <a:tcPr anchor="ctr">
                    <a:lnL>
                      <a:noFill/>
                    </a:lnL>
                    <a:lnR>
                      <a:noFill/>
                    </a:lnR>
                    <a:lnT>
                      <a:noFill/>
                    </a:lnT>
                    <a:lnB>
                      <a:noFill/>
                    </a:lnB>
                  </a:tcPr>
                </a:tc>
                <a:extLst>
                  <a:ext uri="{0D108BD9-81ED-4DB2-BD59-A6C34878D82A}">
                    <a16:rowId xmlns:a16="http://schemas.microsoft.com/office/drawing/2014/main" val="1462245150"/>
                  </a:ext>
                </a:extLst>
              </a:tr>
            </a:tbl>
          </a:graphicData>
        </a:graphic>
      </p:graphicFrame>
      <p:sp>
        <p:nvSpPr>
          <p:cNvPr id="9" name="Rounded Rectangle 8">
            <a:extLst>
              <a:ext uri="{FF2B5EF4-FFF2-40B4-BE49-F238E27FC236}">
                <a16:creationId xmlns:a16="http://schemas.microsoft.com/office/drawing/2014/main" id="{2858C657-47B0-09CB-F9E1-0F800DCD7D5E}"/>
              </a:ext>
            </a:extLst>
          </p:cNvPr>
          <p:cNvSpPr/>
          <p:nvPr/>
        </p:nvSpPr>
        <p:spPr>
          <a:xfrm>
            <a:off x="1153886" y="2786743"/>
            <a:ext cx="3722914" cy="2775857"/>
          </a:xfrm>
          <a:prstGeom prst="roundRect">
            <a:avLst/>
          </a:prstGeom>
          <a:solidFill>
            <a:schemeClr val="bg2">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a:solidFill>
                  <a:schemeClr val="tx1"/>
                </a:solidFill>
                <a:latin typeface="Meiryo" panose="020B0604030504040204" pitchFamily="34" charset="-128"/>
                <a:ea typeface="Meiryo" panose="020B0604030504040204" pitchFamily="34" charset="-128"/>
              </a:rPr>
              <a:t>システムをユーザーがどれほど理解しやすく、使いやすいと感じるかのレベル</a:t>
            </a:r>
            <a:endParaRPr lang="en-JP" dirty="0">
              <a:solidFill>
                <a:schemeClr val="tx1"/>
              </a:solidFill>
              <a:latin typeface="Meiryo" panose="020B0604030504040204" pitchFamily="34" charset="-128"/>
              <a:ea typeface="Meiryo" panose="020B0604030504040204" pitchFamily="34" charset="-128"/>
            </a:endParaRPr>
          </a:p>
        </p:txBody>
      </p:sp>
      <p:sp>
        <p:nvSpPr>
          <p:cNvPr id="10" name="Rounded Rectangle 9">
            <a:extLst>
              <a:ext uri="{FF2B5EF4-FFF2-40B4-BE49-F238E27FC236}">
                <a16:creationId xmlns:a16="http://schemas.microsoft.com/office/drawing/2014/main" id="{470A5292-88CD-6D0D-750D-11E4BEB87BD2}"/>
              </a:ext>
            </a:extLst>
          </p:cNvPr>
          <p:cNvSpPr/>
          <p:nvPr/>
        </p:nvSpPr>
        <p:spPr>
          <a:xfrm>
            <a:off x="6607629" y="2803071"/>
            <a:ext cx="3722914" cy="2775857"/>
          </a:xfrm>
          <a:prstGeom prst="roundRect">
            <a:avLst/>
          </a:prstGeom>
          <a:solidFill>
            <a:schemeClr val="accent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Meiryo" panose="020B0604030504040204" pitchFamily="34" charset="-128"/>
                <a:ea typeface="Meiryo" panose="020B0604030504040204" pitchFamily="34" charset="-128"/>
              </a:rPr>
              <a:t>software、</a:t>
            </a:r>
            <a:r>
              <a:rPr lang="ja-JP" altLang="en-US">
                <a:solidFill>
                  <a:schemeClr val="tx1"/>
                </a:solidFill>
                <a:latin typeface="Meiryo" panose="020B0604030504040204" pitchFamily="34" charset="-128"/>
                <a:ea typeface="Meiryo" panose="020B0604030504040204" pitchFamily="34" charset="-128"/>
              </a:rPr>
              <a:t>システム、またはネットワークを構築する際に、後からセキュリティを追加するのではなく、最初の段階から、つまり企画・設計・開発の段階からセキュリティを組み込むという原則のことです。</a:t>
            </a:r>
            <a:endParaRPr lang="en-JP" dirty="0">
              <a:solidFill>
                <a:schemeClr val="tx1"/>
              </a:solidFill>
              <a:latin typeface="Meiryo" panose="020B0604030504040204" pitchFamily="34" charset="-128"/>
              <a:ea typeface="Meiryo" panose="020B0604030504040204" pitchFamily="34" charset="-128"/>
            </a:endParaRPr>
          </a:p>
        </p:txBody>
      </p:sp>
      <p:cxnSp>
        <p:nvCxnSpPr>
          <p:cNvPr id="12" name="Straight Arrow Connector 11">
            <a:extLst>
              <a:ext uri="{FF2B5EF4-FFF2-40B4-BE49-F238E27FC236}">
                <a16:creationId xmlns:a16="http://schemas.microsoft.com/office/drawing/2014/main" id="{B34E7631-EFCD-63ED-5B52-9FAEF1BABCF1}"/>
              </a:ext>
            </a:extLst>
          </p:cNvPr>
          <p:cNvCxnSpPr/>
          <p:nvPr/>
        </p:nvCxnSpPr>
        <p:spPr>
          <a:xfrm>
            <a:off x="2982684" y="2166257"/>
            <a:ext cx="0" cy="489857"/>
          </a:xfrm>
          <a:prstGeom prst="straightConnector1">
            <a:avLst/>
          </a:prstGeom>
          <a:ln>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13" name="Straight Arrow Connector 12">
            <a:extLst>
              <a:ext uri="{FF2B5EF4-FFF2-40B4-BE49-F238E27FC236}">
                <a16:creationId xmlns:a16="http://schemas.microsoft.com/office/drawing/2014/main" id="{2602AA27-640E-A567-F074-7FE116A81C4E}"/>
              </a:ext>
            </a:extLst>
          </p:cNvPr>
          <p:cNvCxnSpPr/>
          <p:nvPr/>
        </p:nvCxnSpPr>
        <p:spPr>
          <a:xfrm>
            <a:off x="8469086" y="2166256"/>
            <a:ext cx="0" cy="489857"/>
          </a:xfrm>
          <a:prstGeom prst="straightConnector1">
            <a:avLst/>
          </a:prstGeom>
          <a:ln>
            <a:headEnd type="triangle"/>
            <a:tailEnd type="triangle"/>
          </a:ln>
        </p:spPr>
        <p:style>
          <a:lnRef idx="1">
            <a:schemeClr val="accent1"/>
          </a:lnRef>
          <a:fillRef idx="0">
            <a:schemeClr val="accent1"/>
          </a:fillRef>
          <a:effectRef idx="0">
            <a:schemeClr val="accent1"/>
          </a:effectRef>
          <a:fontRef idx="minor">
            <a:schemeClr val="tx1"/>
          </a:fontRef>
        </p:style>
      </p:cxnSp>
      <p:sp>
        <p:nvSpPr>
          <p:cNvPr id="16" name="Slide Number Placeholder 15">
            <a:extLst>
              <a:ext uri="{FF2B5EF4-FFF2-40B4-BE49-F238E27FC236}">
                <a16:creationId xmlns:a16="http://schemas.microsoft.com/office/drawing/2014/main" id="{B4F87DD5-0D75-759B-51CA-37DC203167A0}"/>
              </a:ext>
            </a:extLst>
          </p:cNvPr>
          <p:cNvSpPr>
            <a:spLocks noGrp="1"/>
          </p:cNvSpPr>
          <p:nvPr>
            <p:ph type="sldNum" sz="quarter" idx="12"/>
          </p:nvPr>
        </p:nvSpPr>
        <p:spPr/>
        <p:txBody>
          <a:bodyPr/>
          <a:lstStyle/>
          <a:p>
            <a:fld id="{62667D12-7761-1040-82E2-C1925732DACC}" type="slidenum">
              <a:rPr lang="en-JP" smtClean="0"/>
              <a:t>2</a:t>
            </a:fld>
            <a:endParaRPr lang="en-JP"/>
          </a:p>
        </p:txBody>
      </p:sp>
      <p:sp>
        <p:nvSpPr>
          <p:cNvPr id="18" name="TextBox 17">
            <a:extLst>
              <a:ext uri="{FF2B5EF4-FFF2-40B4-BE49-F238E27FC236}">
                <a16:creationId xmlns:a16="http://schemas.microsoft.com/office/drawing/2014/main" id="{CA214DEC-5DC9-25C4-EC5E-1BBF060CA882}"/>
              </a:ext>
            </a:extLst>
          </p:cNvPr>
          <p:cNvSpPr txBox="1"/>
          <p:nvPr/>
        </p:nvSpPr>
        <p:spPr>
          <a:xfrm>
            <a:off x="2391072" y="257183"/>
            <a:ext cx="6096000" cy="646331"/>
          </a:xfrm>
          <a:prstGeom prst="rect">
            <a:avLst/>
          </a:prstGeom>
          <a:noFill/>
        </p:spPr>
        <p:txBody>
          <a:bodyPr wrap="square">
            <a:spAutoFit/>
          </a:bodyPr>
          <a:lstStyle/>
          <a:p>
            <a:pPr algn="ctr"/>
            <a:r>
              <a:rPr lang="en-US" dirty="0">
                <a:solidFill>
                  <a:schemeClr val="tx1"/>
                </a:solidFill>
                <a:latin typeface="Meiryo" panose="020B0604030504040204" pitchFamily="34" charset="-128"/>
                <a:ea typeface="Meiryo" panose="020B0604030504040204" pitchFamily="34" charset="-128"/>
                <a:cs typeface="Times New Roman" panose="02020603050405020304" pitchFamily="18" charset="0"/>
              </a:rPr>
              <a:t>Usability</a:t>
            </a:r>
            <a:r>
              <a:rPr lang="mn-MN" dirty="0">
                <a:solidFill>
                  <a:schemeClr val="tx1"/>
                </a:solidFill>
                <a:latin typeface="Meiryo" panose="020B0604030504040204" pitchFamily="34" charset="-128"/>
                <a:ea typeface="Meiryo" panose="020B0604030504040204" pitchFamily="34" charset="-128"/>
                <a:cs typeface="Times New Roman" panose="02020603050405020304" pitchFamily="18" charset="0"/>
              </a:rPr>
              <a:t> と</a:t>
            </a:r>
            <a:r>
              <a:rPr lang="en-JP" dirty="0">
                <a:solidFill>
                  <a:schemeClr val="tx1"/>
                </a:solidFill>
                <a:latin typeface="Meiryo" panose="020B0604030504040204" pitchFamily="34" charset="-128"/>
                <a:ea typeface="Meiryo" panose="020B0604030504040204" pitchFamily="34" charset="-128"/>
              </a:rPr>
              <a:t>Security by Des</a:t>
            </a:r>
            <a:r>
              <a:rPr lang="en-US" dirty="0">
                <a:solidFill>
                  <a:schemeClr val="tx1"/>
                </a:solidFill>
                <a:latin typeface="Meiryo" panose="020B0604030504040204" pitchFamily="34" charset="-128"/>
                <a:ea typeface="Meiryo" panose="020B0604030504040204" pitchFamily="34" charset="-128"/>
              </a:rPr>
              <a:t>i</a:t>
            </a:r>
            <a:r>
              <a:rPr lang="en-JP" dirty="0">
                <a:solidFill>
                  <a:schemeClr val="tx1"/>
                </a:solidFill>
                <a:latin typeface="Meiryo" panose="020B0604030504040204" pitchFamily="34" charset="-128"/>
                <a:ea typeface="Meiryo" panose="020B0604030504040204" pitchFamily="34" charset="-128"/>
              </a:rPr>
              <a:t>gn </a:t>
            </a:r>
            <a:r>
              <a:rPr lang="mn-MN" dirty="0">
                <a:solidFill>
                  <a:schemeClr val="tx1"/>
                </a:solidFill>
                <a:latin typeface="Meiryo" panose="020B0604030504040204" pitchFamily="34" charset="-128"/>
                <a:ea typeface="Meiryo" panose="020B0604030504040204" pitchFamily="34" charset="-128"/>
              </a:rPr>
              <a:t>システム</a:t>
            </a:r>
            <a:r>
              <a:rPr lang="en-JP" dirty="0">
                <a:solidFill>
                  <a:schemeClr val="tx1"/>
                </a:solidFill>
                <a:latin typeface="Meiryo" panose="020B0604030504040204" pitchFamily="34" charset="-128"/>
                <a:ea typeface="Meiryo" panose="020B0604030504040204" pitchFamily="34" charset="-128"/>
              </a:rPr>
              <a:t> </a:t>
            </a:r>
          </a:p>
          <a:p>
            <a:pPr algn="ctr"/>
            <a:endParaRPr lang="en-JP"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358512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325CEFEA-72C9-E2A1-C8E0-31DBA363DC99}"/>
              </a:ext>
            </a:extLst>
          </p:cNvPr>
          <p:cNvPicPr>
            <a:picLocks noChangeAspect="1"/>
          </p:cNvPicPr>
          <p:nvPr/>
        </p:nvPicPr>
        <p:blipFill>
          <a:blip r:embed="rId2"/>
          <a:stretch>
            <a:fillRect/>
          </a:stretch>
        </p:blipFill>
        <p:spPr>
          <a:xfrm>
            <a:off x="80493" y="182880"/>
            <a:ext cx="4513278" cy="5028823"/>
          </a:xfrm>
          <a:prstGeom prst="rect">
            <a:avLst/>
          </a:prstGeom>
        </p:spPr>
      </p:pic>
      <p:sp>
        <p:nvSpPr>
          <p:cNvPr id="6" name="TextBox 5">
            <a:extLst>
              <a:ext uri="{FF2B5EF4-FFF2-40B4-BE49-F238E27FC236}">
                <a16:creationId xmlns:a16="http://schemas.microsoft.com/office/drawing/2014/main" id="{B2717CED-4D1F-A508-9BCE-0C2C25BE4D80}"/>
              </a:ext>
            </a:extLst>
          </p:cNvPr>
          <p:cNvSpPr txBox="1"/>
          <p:nvPr/>
        </p:nvSpPr>
        <p:spPr>
          <a:xfrm>
            <a:off x="104354" y="5131616"/>
            <a:ext cx="4593771" cy="923330"/>
          </a:xfrm>
          <a:prstGeom prst="rect">
            <a:avLst/>
          </a:prstGeom>
          <a:noFill/>
        </p:spPr>
        <p:txBody>
          <a:bodyPr wrap="square">
            <a:spAutoFit/>
          </a:bodyPr>
          <a:lstStyle/>
          <a:p>
            <a:r>
              <a:rPr lang="en-JP" dirty="0"/>
              <a:t>Security by Design</a:t>
            </a:r>
            <a:r>
              <a:rPr lang="mn-MN" dirty="0"/>
              <a:t> </a:t>
            </a:r>
            <a:r>
              <a:rPr lang="en-JP" dirty="0"/>
              <a:t>は </a:t>
            </a:r>
            <a:r>
              <a:rPr lang="en-US" b="0" i="0" dirty="0">
                <a:solidFill>
                  <a:srgbClr val="222222"/>
                </a:solidFill>
                <a:effectLst/>
                <a:latin typeface="Helvetica Neue" panose="02000503000000020004" pitchFamily="2" charset="0"/>
              </a:rPr>
              <a:t>International Organization for Standardization</a:t>
            </a:r>
            <a:r>
              <a:rPr lang="en-JP" dirty="0"/>
              <a:t>に定められており、多くの企業で採用されています</a:t>
            </a:r>
            <a:r>
              <a:rPr lang="mn-MN" dirty="0"/>
              <a:t>.</a:t>
            </a:r>
            <a:endParaRPr lang="en-JP" dirty="0"/>
          </a:p>
        </p:txBody>
      </p:sp>
      <p:graphicFrame>
        <p:nvGraphicFramePr>
          <p:cNvPr id="11" name="Table 10">
            <a:extLst>
              <a:ext uri="{FF2B5EF4-FFF2-40B4-BE49-F238E27FC236}">
                <a16:creationId xmlns:a16="http://schemas.microsoft.com/office/drawing/2014/main" id="{7DD618A9-3829-2FC7-BC6D-AC6508DC7712}"/>
              </a:ext>
            </a:extLst>
          </p:cNvPr>
          <p:cNvGraphicFramePr>
            <a:graphicFrameLocks noGrp="1"/>
          </p:cNvGraphicFramePr>
          <p:nvPr>
            <p:extLst>
              <p:ext uri="{D42A27DB-BD31-4B8C-83A1-F6EECF244321}">
                <p14:modId xmlns:p14="http://schemas.microsoft.com/office/powerpoint/2010/main" val="1379588133"/>
              </p:ext>
            </p:extLst>
          </p:nvPr>
        </p:nvGraphicFramePr>
        <p:xfrm>
          <a:off x="4698125" y="304800"/>
          <a:ext cx="7062951" cy="5583226"/>
        </p:xfrm>
        <a:graphic>
          <a:graphicData uri="http://schemas.openxmlformats.org/drawingml/2006/table">
            <a:tbl>
              <a:tblPr>
                <a:tableStyleId>{284E427A-3D55-4303-BF80-6455036E1DE7}</a:tableStyleId>
              </a:tblPr>
              <a:tblGrid>
                <a:gridCol w="2426870">
                  <a:extLst>
                    <a:ext uri="{9D8B030D-6E8A-4147-A177-3AD203B41FA5}">
                      <a16:colId xmlns:a16="http://schemas.microsoft.com/office/drawing/2014/main" val="2551464505"/>
                    </a:ext>
                  </a:extLst>
                </a:gridCol>
                <a:gridCol w="4636081">
                  <a:extLst>
                    <a:ext uri="{9D8B030D-6E8A-4147-A177-3AD203B41FA5}">
                      <a16:colId xmlns:a16="http://schemas.microsoft.com/office/drawing/2014/main" val="2142710924"/>
                    </a:ext>
                  </a:extLst>
                </a:gridCol>
              </a:tblGrid>
              <a:tr h="240614">
                <a:tc>
                  <a:txBody>
                    <a:bodyPr/>
                    <a:lstStyle/>
                    <a:p>
                      <a:r>
                        <a:rPr lang="ja-JP" altLang="en-US" sz="1400">
                          <a:latin typeface="Meiryo" panose="020B0604030504040204" pitchFamily="34" charset="-128"/>
                          <a:ea typeface="Meiryo" panose="020B0604030504040204" pitchFamily="34" charset="-128"/>
                        </a:rPr>
                        <a:t>原則名</a:t>
                      </a:r>
                    </a:p>
                  </a:txBody>
                  <a:tcPr marL="29519" marR="29519" marT="14760" marB="14760" anchor="ctr"/>
                </a:tc>
                <a:tc>
                  <a:txBody>
                    <a:bodyPr/>
                    <a:lstStyle/>
                    <a:p>
                      <a:r>
                        <a:rPr lang="ja-JP" altLang="en-US" sz="1400">
                          <a:latin typeface="Meiryo" panose="020B0604030504040204" pitchFamily="34" charset="-128"/>
                          <a:ea typeface="Meiryo" panose="020B0604030504040204" pitchFamily="34" charset="-128"/>
                        </a:rPr>
                        <a:t>説明（せつめい）</a:t>
                      </a:r>
                    </a:p>
                  </a:txBody>
                  <a:tcPr marL="29519" marR="29519" marT="14760" marB="14760" anchor="ctr"/>
                </a:tc>
                <a:extLst>
                  <a:ext uri="{0D108BD9-81ED-4DB2-BD59-A6C34878D82A}">
                    <a16:rowId xmlns:a16="http://schemas.microsoft.com/office/drawing/2014/main" val="3830719477"/>
                  </a:ext>
                </a:extLst>
              </a:tr>
              <a:tr h="745164">
                <a:tc>
                  <a:txBody>
                    <a:bodyPr/>
                    <a:lstStyle/>
                    <a:p>
                      <a:r>
                        <a:rPr lang="mn-MN" altLang="ja-JP" sz="1400" b="1" dirty="0">
                          <a:latin typeface="Meiryo" panose="020B0604030504040204" pitchFamily="34" charset="-128"/>
                          <a:ea typeface="Meiryo" panose="020B0604030504040204" pitchFamily="34" charset="-128"/>
                        </a:rPr>
                        <a:t>1.</a:t>
                      </a:r>
                      <a:r>
                        <a:rPr lang="ja-JP" altLang="en-US" sz="1400" b="1">
                          <a:latin typeface="Meiryo" panose="020B0604030504040204" pitchFamily="34" charset="-128"/>
                          <a:ea typeface="Meiryo" panose="020B0604030504040204" pitchFamily="34" charset="-128"/>
                        </a:rPr>
                        <a:t>（さいしょうけんげんのげんそく）</a:t>
                      </a:r>
                      <a:endParaRPr lang="ja-JP" altLang="en-US" sz="1400">
                        <a:latin typeface="Meiryo" panose="020B0604030504040204" pitchFamily="34" charset="-128"/>
                        <a:ea typeface="Meiryo" panose="020B0604030504040204" pitchFamily="34" charset="-128"/>
                      </a:endParaRPr>
                    </a:p>
                  </a:txBody>
                  <a:tcPr marL="29519" marR="29519" marT="14760" marB="14760" anchor="ctr"/>
                </a:tc>
                <a:tc>
                  <a:txBody>
                    <a:bodyPr/>
                    <a:lstStyle/>
                    <a:p>
                      <a:r>
                        <a:rPr lang="ja-JP" altLang="en-US" sz="1400">
                          <a:latin typeface="Meiryo" panose="020B0604030504040204" pitchFamily="34" charset="-128"/>
                          <a:ea typeface="Meiryo" panose="020B0604030504040204" pitchFamily="34" charset="-128"/>
                        </a:rPr>
                        <a:t>ユーザーやシステムは、業務を行うために必要な最小限の権限だけを持つべきです。</a:t>
                      </a:r>
                    </a:p>
                  </a:txBody>
                  <a:tcPr marL="29519" marR="29519" marT="14760" marB="14760" anchor="ctr"/>
                </a:tc>
                <a:extLst>
                  <a:ext uri="{0D108BD9-81ED-4DB2-BD59-A6C34878D82A}">
                    <a16:rowId xmlns:a16="http://schemas.microsoft.com/office/drawing/2014/main" val="118045795"/>
                  </a:ext>
                </a:extLst>
              </a:tr>
              <a:tr h="745164">
                <a:tc>
                  <a:txBody>
                    <a:bodyPr/>
                    <a:lstStyle/>
                    <a:p>
                      <a:r>
                        <a:rPr lang="mn-MN" altLang="ja-JP" sz="1400" b="1" dirty="0">
                          <a:latin typeface="Meiryo" panose="020B0604030504040204" pitchFamily="34" charset="-128"/>
                          <a:ea typeface="Meiryo" panose="020B0604030504040204" pitchFamily="34" charset="-128"/>
                        </a:rPr>
                        <a:t>2.</a:t>
                      </a:r>
                      <a:r>
                        <a:rPr lang="ja-JP" altLang="en-US" sz="1400" b="1">
                          <a:latin typeface="Meiryo" panose="020B0604030504040204" pitchFamily="34" charset="-128"/>
                          <a:ea typeface="Meiryo" panose="020B0604030504040204" pitchFamily="34" charset="-128"/>
                        </a:rPr>
                        <a:t>（あんぜんなデフォルト）</a:t>
                      </a:r>
                      <a:endParaRPr lang="ja-JP" altLang="en-US" sz="1400">
                        <a:latin typeface="Meiryo" panose="020B0604030504040204" pitchFamily="34" charset="-128"/>
                        <a:ea typeface="Meiryo" panose="020B0604030504040204" pitchFamily="34" charset="-128"/>
                      </a:endParaRPr>
                    </a:p>
                  </a:txBody>
                  <a:tcPr marL="29519" marR="29519" marT="14760" marB="14760" anchor="ctr"/>
                </a:tc>
                <a:tc>
                  <a:txBody>
                    <a:bodyPr/>
                    <a:lstStyle/>
                    <a:p>
                      <a:r>
                        <a:rPr lang="ja-JP" altLang="en-US" sz="1400">
                          <a:latin typeface="Meiryo" panose="020B0604030504040204" pitchFamily="34" charset="-128"/>
                          <a:ea typeface="Meiryo" panose="020B0604030504040204" pitchFamily="34" charset="-128"/>
                        </a:rPr>
                        <a:t>システムの初期設定（デフォルト）は、安全な状態に設定されているべきです。</a:t>
                      </a:r>
                    </a:p>
                  </a:txBody>
                  <a:tcPr marL="29519" marR="29519" marT="14760" marB="14760" anchor="ctr"/>
                </a:tc>
                <a:extLst>
                  <a:ext uri="{0D108BD9-81ED-4DB2-BD59-A6C34878D82A}">
                    <a16:rowId xmlns:a16="http://schemas.microsoft.com/office/drawing/2014/main" val="1661323677"/>
                  </a:ext>
                </a:extLst>
              </a:tr>
              <a:tr h="745164">
                <a:tc>
                  <a:txBody>
                    <a:bodyPr/>
                    <a:lstStyle/>
                    <a:p>
                      <a:r>
                        <a:rPr lang="mn-MN" altLang="ja-JP" sz="1400" b="1" dirty="0">
                          <a:latin typeface="Meiryo" panose="020B0604030504040204" pitchFamily="34" charset="-128"/>
                          <a:ea typeface="Meiryo" panose="020B0604030504040204" pitchFamily="34" charset="-128"/>
                        </a:rPr>
                        <a:t>3.</a:t>
                      </a:r>
                      <a:r>
                        <a:rPr lang="ja-JP" altLang="en-US" sz="1400" b="1">
                          <a:latin typeface="Meiryo" panose="020B0604030504040204" pitchFamily="34" charset="-128"/>
                          <a:ea typeface="Meiryo" panose="020B0604030504040204" pitchFamily="34" charset="-128"/>
                        </a:rPr>
                        <a:t>（ぼうぎょのじゅうそう）</a:t>
                      </a:r>
                      <a:endParaRPr lang="ja-JP" altLang="en-US" sz="1400">
                        <a:latin typeface="Meiryo" panose="020B0604030504040204" pitchFamily="34" charset="-128"/>
                        <a:ea typeface="Meiryo" panose="020B0604030504040204" pitchFamily="34" charset="-128"/>
                      </a:endParaRPr>
                    </a:p>
                  </a:txBody>
                  <a:tcPr marL="29519" marR="29519" marT="14760" marB="14760" anchor="ctr"/>
                </a:tc>
                <a:tc>
                  <a:txBody>
                    <a:bodyPr/>
                    <a:lstStyle/>
                    <a:p>
                      <a:r>
                        <a:rPr lang="ja-JP" altLang="en-US" sz="1400">
                          <a:latin typeface="Meiryo" panose="020B0604030504040204" pitchFamily="34" charset="-128"/>
                          <a:ea typeface="Meiryo" panose="020B0604030504040204" pitchFamily="34" charset="-128"/>
                        </a:rPr>
                        <a:t>一つの防御が破られても、他の防御層によってシステムを守るように設計します。</a:t>
                      </a:r>
                    </a:p>
                  </a:txBody>
                  <a:tcPr marL="29519" marR="29519" marT="14760" marB="14760" anchor="ctr"/>
                </a:tc>
                <a:extLst>
                  <a:ext uri="{0D108BD9-81ED-4DB2-BD59-A6C34878D82A}">
                    <a16:rowId xmlns:a16="http://schemas.microsoft.com/office/drawing/2014/main" val="4164554150"/>
                  </a:ext>
                </a:extLst>
              </a:tr>
              <a:tr h="745164">
                <a:tc>
                  <a:txBody>
                    <a:bodyPr/>
                    <a:lstStyle/>
                    <a:p>
                      <a:r>
                        <a:rPr lang="mn-MN" altLang="ja-JP" sz="1400" b="1" dirty="0">
                          <a:latin typeface="Meiryo" panose="020B0604030504040204" pitchFamily="34" charset="-128"/>
                          <a:ea typeface="Meiryo" panose="020B0604030504040204" pitchFamily="34" charset="-128"/>
                        </a:rPr>
                        <a:t>4. </a:t>
                      </a:r>
                      <a:r>
                        <a:rPr lang="ja-JP" altLang="en-US" sz="1400" b="1">
                          <a:latin typeface="Meiryo" panose="020B0604030504040204" pitchFamily="34" charset="-128"/>
                          <a:ea typeface="Meiryo" panose="020B0604030504040204" pitchFamily="34" charset="-128"/>
                        </a:rPr>
                        <a:t>しょくむぶんり）</a:t>
                      </a:r>
                      <a:endParaRPr lang="ja-JP" altLang="en-US" sz="1400">
                        <a:latin typeface="Meiryo" panose="020B0604030504040204" pitchFamily="34" charset="-128"/>
                        <a:ea typeface="Meiryo" panose="020B0604030504040204" pitchFamily="34" charset="-128"/>
                      </a:endParaRPr>
                    </a:p>
                  </a:txBody>
                  <a:tcPr marL="29519" marR="29519" marT="14760" marB="14760" anchor="ctr"/>
                </a:tc>
                <a:tc>
                  <a:txBody>
                    <a:bodyPr/>
                    <a:lstStyle/>
                    <a:p>
                      <a:r>
                        <a:rPr lang="en-US" altLang="ja-JP" sz="1400" dirty="0">
                          <a:latin typeface="Meiryo" panose="020B0604030504040204" pitchFamily="34" charset="-128"/>
                          <a:ea typeface="Meiryo" panose="020B0604030504040204" pitchFamily="34" charset="-128"/>
                        </a:rPr>
                        <a:t>1</a:t>
                      </a:r>
                      <a:r>
                        <a:rPr lang="ja-JP" altLang="en-US" sz="1400">
                          <a:latin typeface="Meiryo" panose="020B0604030504040204" pitchFamily="34" charset="-128"/>
                          <a:ea typeface="Meiryo" panose="020B0604030504040204" pitchFamily="34" charset="-128"/>
                        </a:rPr>
                        <a:t>人の担当者が全ての権限や操作を行わないように、業務の役割を分けます。</a:t>
                      </a:r>
                    </a:p>
                  </a:txBody>
                  <a:tcPr marL="29519" marR="29519" marT="14760" marB="14760" anchor="ctr"/>
                </a:tc>
                <a:extLst>
                  <a:ext uri="{0D108BD9-81ED-4DB2-BD59-A6C34878D82A}">
                    <a16:rowId xmlns:a16="http://schemas.microsoft.com/office/drawing/2014/main" val="1435558360"/>
                  </a:ext>
                </a:extLst>
              </a:tr>
              <a:tr h="745164">
                <a:tc>
                  <a:txBody>
                    <a:bodyPr/>
                    <a:lstStyle/>
                    <a:p>
                      <a:r>
                        <a:rPr lang="mn-MN" altLang="ja-JP" sz="1400" b="1" dirty="0">
                          <a:latin typeface="Meiryo" panose="020B0604030504040204" pitchFamily="34" charset="-128"/>
                          <a:ea typeface="Meiryo" panose="020B0604030504040204" pitchFamily="34" charset="-128"/>
                        </a:rPr>
                        <a:t>5.</a:t>
                      </a:r>
                      <a:r>
                        <a:rPr lang="ja-JP" altLang="en-US" sz="1400" b="1">
                          <a:latin typeface="Meiryo" panose="020B0604030504040204" pitchFamily="34" charset="-128"/>
                          <a:ea typeface="Meiryo" panose="020B0604030504040204" pitchFamily="34" charset="-128"/>
                        </a:rPr>
                        <a:t>（かんぜんせいのけんしょう）</a:t>
                      </a:r>
                      <a:endParaRPr lang="ja-JP" altLang="en-US" sz="1400">
                        <a:latin typeface="Meiryo" panose="020B0604030504040204" pitchFamily="34" charset="-128"/>
                        <a:ea typeface="Meiryo" panose="020B0604030504040204" pitchFamily="34" charset="-128"/>
                      </a:endParaRPr>
                    </a:p>
                  </a:txBody>
                  <a:tcPr marL="29519" marR="29519" marT="14760" marB="14760" anchor="ctr"/>
                </a:tc>
                <a:tc>
                  <a:txBody>
                    <a:bodyPr/>
                    <a:lstStyle/>
                    <a:p>
                      <a:r>
                        <a:rPr lang="ja-JP" altLang="en-US" sz="1400">
                          <a:latin typeface="Meiryo" panose="020B0604030504040204" pitchFamily="34" charset="-128"/>
                          <a:ea typeface="Meiryo" panose="020B0604030504040204" pitchFamily="34" charset="-128"/>
                        </a:rPr>
                        <a:t>リソースへのアクセスや操作のたびに、権限や条件を再確認する必要があります。</a:t>
                      </a:r>
                    </a:p>
                  </a:txBody>
                  <a:tcPr marL="29519" marR="29519" marT="14760" marB="14760" anchor="ctr"/>
                </a:tc>
                <a:extLst>
                  <a:ext uri="{0D108BD9-81ED-4DB2-BD59-A6C34878D82A}">
                    <a16:rowId xmlns:a16="http://schemas.microsoft.com/office/drawing/2014/main" val="2578225589"/>
                  </a:ext>
                </a:extLst>
              </a:tr>
              <a:tr h="745164">
                <a:tc>
                  <a:txBody>
                    <a:bodyPr/>
                    <a:lstStyle/>
                    <a:p>
                      <a:r>
                        <a:rPr lang="mn-MN" altLang="ja-JP" sz="1400" b="1" dirty="0">
                          <a:latin typeface="Meiryo" panose="020B0604030504040204" pitchFamily="34" charset="-128"/>
                          <a:ea typeface="Meiryo" panose="020B0604030504040204" pitchFamily="34" charset="-128"/>
                        </a:rPr>
                        <a:t>6.</a:t>
                      </a:r>
                      <a:r>
                        <a:rPr lang="ja-JP" altLang="en-US" sz="1400" b="1">
                          <a:latin typeface="Meiryo" panose="020B0604030504040204" pitchFamily="34" charset="-128"/>
                          <a:ea typeface="Meiryo" panose="020B0604030504040204" pitchFamily="34" charset="-128"/>
                        </a:rPr>
                        <a:t>オープンデザイン</a:t>
                      </a:r>
                      <a:endParaRPr lang="ja-JP" altLang="en-US" sz="1400">
                        <a:latin typeface="Meiryo" panose="020B0604030504040204" pitchFamily="34" charset="-128"/>
                        <a:ea typeface="Meiryo" panose="020B0604030504040204" pitchFamily="34" charset="-128"/>
                      </a:endParaRPr>
                    </a:p>
                  </a:txBody>
                  <a:tcPr marL="29519" marR="29519" marT="14760" marB="14760" anchor="ctr"/>
                </a:tc>
                <a:tc>
                  <a:txBody>
                    <a:bodyPr/>
                    <a:lstStyle/>
                    <a:p>
                      <a:r>
                        <a:rPr lang="ja-JP" altLang="en-US" sz="1400">
                          <a:latin typeface="Meiryo" panose="020B0604030504040204" pitchFamily="34" charset="-128"/>
                          <a:ea typeface="Meiryo" panose="020B0604030504040204" pitchFamily="34" charset="-128"/>
                        </a:rPr>
                        <a:t>セキュリティは「秘密」に依存すべきではありません。信頼性の高い公開された仕組みやアルゴリズム（例：</a:t>
                      </a:r>
                      <a:r>
                        <a:rPr lang="en-US" sz="1400">
                          <a:latin typeface="Meiryo" panose="020B0604030504040204" pitchFamily="34" charset="-128"/>
                          <a:ea typeface="Meiryo" panose="020B0604030504040204" pitchFamily="34" charset="-128"/>
                        </a:rPr>
                        <a:t>AES</a:t>
                      </a:r>
                      <a:r>
                        <a:rPr lang="ja-JP" altLang="en-US" sz="1400">
                          <a:latin typeface="Meiryo" panose="020B0604030504040204" pitchFamily="34" charset="-128"/>
                          <a:ea typeface="Meiryo" panose="020B0604030504040204" pitchFamily="34" charset="-128"/>
                        </a:rPr>
                        <a:t>など）に基づいて設計します。</a:t>
                      </a:r>
                    </a:p>
                  </a:txBody>
                  <a:tcPr marL="29519" marR="29519" marT="14760" marB="14760" anchor="ctr"/>
                </a:tc>
                <a:extLst>
                  <a:ext uri="{0D108BD9-81ED-4DB2-BD59-A6C34878D82A}">
                    <a16:rowId xmlns:a16="http://schemas.microsoft.com/office/drawing/2014/main" val="3451659322"/>
                  </a:ext>
                </a:extLst>
              </a:tr>
              <a:tr h="869362">
                <a:tc>
                  <a:txBody>
                    <a:bodyPr/>
                    <a:lstStyle/>
                    <a:p>
                      <a:r>
                        <a:rPr lang="mn-MN" altLang="ja-JP" sz="1400" b="1" dirty="0">
                          <a:latin typeface="Meiryo" panose="020B0604030504040204" pitchFamily="34" charset="-128"/>
                          <a:ea typeface="Meiryo" panose="020B0604030504040204" pitchFamily="34" charset="-128"/>
                        </a:rPr>
                        <a:t>7.</a:t>
                      </a:r>
                      <a:r>
                        <a:rPr lang="ja-JP" altLang="en-US" sz="1400" b="1">
                          <a:latin typeface="Meiryo" panose="020B0604030504040204" pitchFamily="34" charset="-128"/>
                          <a:ea typeface="Meiryo" panose="020B0604030504040204" pitchFamily="34" charset="-128"/>
                        </a:rPr>
                        <a:t>（きこうのかんそか）</a:t>
                      </a:r>
                      <a:endParaRPr lang="ja-JP" altLang="en-US" sz="1400">
                        <a:latin typeface="Meiryo" panose="020B0604030504040204" pitchFamily="34" charset="-128"/>
                        <a:ea typeface="Meiryo" panose="020B0604030504040204" pitchFamily="34" charset="-128"/>
                      </a:endParaRPr>
                    </a:p>
                  </a:txBody>
                  <a:tcPr marL="29519" marR="29519" marT="14760" marB="14760" anchor="ctr"/>
                </a:tc>
                <a:tc>
                  <a:txBody>
                    <a:bodyPr/>
                    <a:lstStyle/>
                    <a:p>
                      <a:r>
                        <a:rPr lang="ja-JP" altLang="en-US" sz="1400">
                          <a:latin typeface="Meiryo" panose="020B0604030504040204" pitchFamily="34" charset="-128"/>
                          <a:ea typeface="Meiryo" panose="020B0604030504040204" pitchFamily="34" charset="-128"/>
                        </a:rPr>
                        <a:t>システムの設計をできるだけシンプルに保ち、エラーや脆弱性の発生を減らします</a:t>
                      </a:r>
                    </a:p>
                  </a:txBody>
                  <a:tcPr marL="29519" marR="29519" marT="14760" marB="14760" anchor="ctr"/>
                </a:tc>
                <a:extLst>
                  <a:ext uri="{0D108BD9-81ED-4DB2-BD59-A6C34878D82A}">
                    <a16:rowId xmlns:a16="http://schemas.microsoft.com/office/drawing/2014/main" val="1672708784"/>
                  </a:ext>
                </a:extLst>
              </a:tr>
            </a:tbl>
          </a:graphicData>
        </a:graphic>
      </p:graphicFrame>
      <p:sp>
        <p:nvSpPr>
          <p:cNvPr id="12" name="Slide Number Placeholder 11">
            <a:extLst>
              <a:ext uri="{FF2B5EF4-FFF2-40B4-BE49-F238E27FC236}">
                <a16:creationId xmlns:a16="http://schemas.microsoft.com/office/drawing/2014/main" id="{C4803DF2-2A18-BC24-C706-3A1C6CEB0793}"/>
              </a:ext>
            </a:extLst>
          </p:cNvPr>
          <p:cNvSpPr>
            <a:spLocks noGrp="1"/>
          </p:cNvSpPr>
          <p:nvPr>
            <p:ph type="sldNum" sz="quarter" idx="12"/>
          </p:nvPr>
        </p:nvSpPr>
        <p:spPr/>
        <p:txBody>
          <a:bodyPr/>
          <a:lstStyle/>
          <a:p>
            <a:fld id="{62667D12-7761-1040-82E2-C1925732DACC}" type="slidenum">
              <a:rPr lang="en-JP" smtClean="0"/>
              <a:t>3</a:t>
            </a:fld>
            <a:endParaRPr lang="en-JP"/>
          </a:p>
        </p:txBody>
      </p:sp>
      <p:sp>
        <p:nvSpPr>
          <p:cNvPr id="14" name="TextBox 13">
            <a:extLst>
              <a:ext uri="{FF2B5EF4-FFF2-40B4-BE49-F238E27FC236}">
                <a16:creationId xmlns:a16="http://schemas.microsoft.com/office/drawing/2014/main" id="{24EE2989-44D9-C485-3345-545A567E1FF6}"/>
              </a:ext>
            </a:extLst>
          </p:cNvPr>
          <p:cNvSpPr txBox="1"/>
          <p:nvPr/>
        </p:nvSpPr>
        <p:spPr>
          <a:xfrm>
            <a:off x="4866640" y="5934962"/>
            <a:ext cx="7142480" cy="646331"/>
          </a:xfrm>
          <a:prstGeom prst="rect">
            <a:avLst/>
          </a:prstGeom>
          <a:noFill/>
        </p:spPr>
        <p:txBody>
          <a:bodyPr wrap="square">
            <a:spAutoFit/>
          </a:bodyPr>
          <a:lstStyle/>
          <a:p>
            <a:r>
              <a:rPr lang="en-JP" dirty="0"/>
              <a:t>https://www.redhat.com/en/blog/security-design-security-principles-and-threat-modeling?utm_source=chatgpt.com</a:t>
            </a:r>
          </a:p>
        </p:txBody>
      </p:sp>
    </p:spTree>
    <p:extLst>
      <p:ext uri="{BB962C8B-B14F-4D97-AF65-F5344CB8AC3E}">
        <p14:creationId xmlns:p14="http://schemas.microsoft.com/office/powerpoint/2010/main" val="364622149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2AE412-01FF-BB31-C50C-B5391A356F3A}"/>
              </a:ext>
            </a:extLst>
          </p:cNvPr>
          <p:cNvSpPr>
            <a:spLocks noGrp="1"/>
          </p:cNvSpPr>
          <p:nvPr>
            <p:ph type="title"/>
          </p:nvPr>
        </p:nvSpPr>
        <p:spPr/>
        <p:txBody>
          <a:bodyPr>
            <a:normAutofit/>
          </a:bodyPr>
          <a:lstStyle/>
          <a:p>
            <a:r>
              <a:rPr lang="ja-JP" altLang="en-US" sz="2800"/>
              <a:t>研究のポイント</a:t>
            </a:r>
            <a:endParaRPr lang="en-JP" sz="2800" dirty="0"/>
          </a:p>
        </p:txBody>
      </p:sp>
      <p:sp>
        <p:nvSpPr>
          <p:cNvPr id="3" name="Content Placeholder 2">
            <a:extLst>
              <a:ext uri="{FF2B5EF4-FFF2-40B4-BE49-F238E27FC236}">
                <a16:creationId xmlns:a16="http://schemas.microsoft.com/office/drawing/2014/main" id="{0AC935E6-A233-5A9B-12C2-20A8B3848DB5}"/>
              </a:ext>
            </a:extLst>
          </p:cNvPr>
          <p:cNvSpPr>
            <a:spLocks noGrp="1"/>
          </p:cNvSpPr>
          <p:nvPr>
            <p:ph sz="quarter" idx="13"/>
          </p:nvPr>
        </p:nvSpPr>
        <p:spPr/>
        <p:txBody>
          <a:bodyPr/>
          <a:lstStyle/>
          <a:p>
            <a:pPr marL="0" indent="0" algn="just">
              <a:buNone/>
            </a:pPr>
            <a:r>
              <a:rPr lang="en-US" sz="2000" dirty="0">
                <a:latin typeface="Meiryo" panose="020B0604030504040204" pitchFamily="34" charset="-128"/>
                <a:ea typeface="Meiryo" panose="020B0604030504040204" pitchFamily="34" charset="-128"/>
              </a:rPr>
              <a:t>Security </a:t>
            </a:r>
            <a:r>
              <a:rPr lang="ja-JP" altLang="en-US" sz="2000">
                <a:latin typeface="Meiryo" panose="020B0604030504040204" pitchFamily="34" charset="-128"/>
                <a:ea typeface="Meiryo" panose="020B0604030504040204" pitchFamily="34" charset="-128"/>
              </a:rPr>
              <a:t>と</a:t>
            </a:r>
            <a:r>
              <a:rPr lang="mn-MN" altLang="ja-JP" sz="2000" dirty="0">
                <a:latin typeface="Meiryo" panose="020B0604030504040204" pitchFamily="34" charset="-128"/>
                <a:ea typeface="Meiryo" panose="020B0604030504040204" pitchFamily="34" charset="-128"/>
              </a:rPr>
              <a:t> </a:t>
            </a:r>
            <a:r>
              <a:rPr lang="en-US" sz="2000" dirty="0">
                <a:latin typeface="Meiryo" panose="020B0604030504040204" pitchFamily="34" charset="-128"/>
                <a:ea typeface="Meiryo" panose="020B0604030504040204" pitchFamily="34" charset="-128"/>
              </a:rPr>
              <a:t>Usability</a:t>
            </a:r>
            <a:r>
              <a:rPr lang="mn-MN" sz="2000" dirty="0">
                <a:latin typeface="Meiryo" panose="020B0604030504040204" pitchFamily="34" charset="-128"/>
                <a:ea typeface="Meiryo" panose="020B0604030504040204" pitchFamily="34" charset="-128"/>
              </a:rPr>
              <a:t> </a:t>
            </a:r>
            <a:r>
              <a:rPr lang="ja-JP" altLang="en-US">
                <a:latin typeface="Meiryo" panose="020B0604030504040204" pitchFamily="34" charset="-128"/>
                <a:ea typeface="Meiryo" panose="020B0604030504040204" pitchFamily="34" charset="-128"/>
              </a:rPr>
              <a:t>は多くの場合、別々に扱われるため、結果として</a:t>
            </a:r>
            <a:r>
              <a:rPr lang="en-US" altLang="ja-JP" dirty="0">
                <a:latin typeface="Meiryo" panose="020B0604030504040204" pitchFamily="34" charset="-128"/>
                <a:ea typeface="Meiryo" panose="020B0604030504040204" pitchFamily="34" charset="-128"/>
              </a:rPr>
              <a:t> </a:t>
            </a:r>
            <a:r>
              <a:rPr lang="ja-JP" altLang="en-US">
                <a:latin typeface="Meiryo" panose="020B0604030504040204" pitchFamily="34" charset="-128"/>
                <a:ea typeface="Meiryo" panose="020B0604030504040204" pitchFamily="34" charset="-128"/>
              </a:rPr>
              <a:t>安全だが使いにくいシステムや使いやすいが安全でないシステムが生まれてしまう。</a:t>
            </a:r>
            <a:br>
              <a:rPr lang="ja-JP" altLang="en-US">
                <a:latin typeface="Meiryo" panose="020B0604030504040204" pitchFamily="34" charset="-128"/>
                <a:ea typeface="Meiryo" panose="020B0604030504040204" pitchFamily="34" charset="-128"/>
              </a:rPr>
            </a:br>
            <a:r>
              <a:rPr lang="ja-JP" altLang="en-US">
                <a:latin typeface="Meiryo" panose="020B0604030504040204" pitchFamily="34" charset="-128"/>
                <a:ea typeface="Meiryo" panose="020B0604030504040204" pitchFamily="34" charset="-128"/>
              </a:rPr>
              <a:t>しかし、設計の初期段階からこれらを統合的に考慮することで、両者を同時に向上させることができる。</a:t>
            </a:r>
            <a:endParaRPr lang="en-JP" dirty="0">
              <a:latin typeface="Meiryo" panose="020B0604030504040204" pitchFamily="34" charset="-128"/>
              <a:ea typeface="Meiryo" panose="020B0604030504040204" pitchFamily="34" charset="-128"/>
            </a:endParaRPr>
          </a:p>
        </p:txBody>
      </p:sp>
      <p:sp>
        <p:nvSpPr>
          <p:cNvPr id="4" name="Slide Number Placeholder 3">
            <a:extLst>
              <a:ext uri="{FF2B5EF4-FFF2-40B4-BE49-F238E27FC236}">
                <a16:creationId xmlns:a16="http://schemas.microsoft.com/office/drawing/2014/main" id="{CCE79B38-5D8F-AE59-C603-642980A0B164}"/>
              </a:ext>
            </a:extLst>
          </p:cNvPr>
          <p:cNvSpPr>
            <a:spLocks noGrp="1"/>
          </p:cNvSpPr>
          <p:nvPr>
            <p:ph type="sldNum" sz="quarter" idx="12"/>
          </p:nvPr>
        </p:nvSpPr>
        <p:spPr/>
        <p:txBody>
          <a:bodyPr/>
          <a:lstStyle/>
          <a:p>
            <a:fld id="{62667D12-7761-1040-82E2-C1925732DACC}" type="slidenum">
              <a:rPr lang="en-JP" smtClean="0"/>
              <a:t>4</a:t>
            </a:fld>
            <a:endParaRPr lang="en-JP"/>
          </a:p>
        </p:txBody>
      </p:sp>
    </p:spTree>
    <p:extLst>
      <p:ext uri="{BB962C8B-B14F-4D97-AF65-F5344CB8AC3E}">
        <p14:creationId xmlns:p14="http://schemas.microsoft.com/office/powerpoint/2010/main" val="18105671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590CE9C-B6E1-EC58-E319-1CB44B20BDCB}"/>
              </a:ext>
            </a:extLst>
          </p:cNvPr>
          <p:cNvSpPr>
            <a:spLocks noGrp="1"/>
          </p:cNvSpPr>
          <p:nvPr>
            <p:ph sz="quarter" idx="13"/>
          </p:nvPr>
        </p:nvSpPr>
        <p:spPr>
          <a:xfrm>
            <a:off x="663714" y="1534495"/>
            <a:ext cx="10363826" cy="4691742"/>
          </a:xfrm>
        </p:spPr>
        <p:txBody>
          <a:bodyPr>
            <a:normAutofit/>
          </a:bodyPr>
          <a:lstStyle/>
          <a:p>
            <a:pPr>
              <a:buFont typeface="Arial" panose="020B0604020202020204" pitchFamily="34" charset="0"/>
              <a:buChar char="•"/>
            </a:pPr>
            <a:r>
              <a:rPr lang="ja-JP" altLang="en-US">
                <a:latin typeface="Meiryo" panose="020B0604030504040204" pitchFamily="34" charset="-128"/>
                <a:ea typeface="Meiryo" panose="020B0604030504040204" pitchFamily="34" charset="-128"/>
              </a:rPr>
              <a:t>セキュリティ（</a:t>
            </a:r>
            <a:r>
              <a:rPr lang="en-US" dirty="0">
                <a:latin typeface="Meiryo" panose="020B0604030504040204" pitchFamily="34" charset="-128"/>
                <a:ea typeface="Meiryo" panose="020B0604030504040204" pitchFamily="34" charset="-128"/>
              </a:rPr>
              <a:t>Security）</a:t>
            </a:r>
            <a:r>
              <a:rPr lang="ja-JP" altLang="en-US">
                <a:latin typeface="Meiryo" panose="020B0604030504040204" pitchFamily="34" charset="-128"/>
                <a:ea typeface="Meiryo" panose="020B0604030504040204" pitchFamily="34" charset="-128"/>
              </a:rPr>
              <a:t>とユーザビリティ（</a:t>
            </a:r>
            <a:r>
              <a:rPr lang="en-US" dirty="0">
                <a:latin typeface="Meiryo" panose="020B0604030504040204" pitchFamily="34" charset="-128"/>
                <a:ea typeface="Meiryo" panose="020B0604030504040204" pitchFamily="34" charset="-128"/>
              </a:rPr>
              <a:t>Usability）</a:t>
            </a:r>
            <a:r>
              <a:rPr lang="ja-JP" altLang="en-US">
                <a:latin typeface="Meiryo" panose="020B0604030504040204" pitchFamily="34" charset="-128"/>
                <a:ea typeface="Meiryo" panose="020B0604030504040204" pitchFamily="34" charset="-128"/>
              </a:rPr>
              <a:t>は、多くの場合、別々に研究されており、</a:t>
            </a:r>
            <a:br>
              <a:rPr lang="ja-JP" altLang="en-US">
                <a:latin typeface="Meiryo" panose="020B0604030504040204" pitchFamily="34" charset="-128"/>
                <a:ea typeface="Meiryo" panose="020B0604030504040204" pitchFamily="34" charset="-128"/>
              </a:rPr>
            </a:br>
            <a:r>
              <a:rPr lang="ja-JP" altLang="en-US">
                <a:latin typeface="Meiryo" panose="020B0604030504040204" pitchFamily="34" charset="-128"/>
                <a:ea typeface="Meiryo" panose="020B0604030504040204" pitchFamily="34" charset="-128"/>
              </a:rPr>
              <a:t>システム設計において両者の間に</a:t>
            </a:r>
            <a:r>
              <a:rPr lang="en-US" altLang="ja-JP" dirty="0">
                <a:latin typeface="Meiryo" panose="020B0604030504040204" pitchFamily="34" charset="-128"/>
                <a:ea typeface="Meiryo" panose="020B0604030504040204" pitchFamily="34" charset="-128"/>
              </a:rPr>
              <a:t>trade off</a:t>
            </a:r>
            <a:r>
              <a:rPr lang="ja-JP" altLang="en-US">
                <a:latin typeface="Meiryo" panose="020B0604030504040204" pitchFamily="34" charset="-128"/>
                <a:ea typeface="Meiryo" panose="020B0604030504040204" pitchFamily="34" charset="-128"/>
              </a:rPr>
              <a:t>が生じやすい。</a:t>
            </a:r>
          </a:p>
          <a:p>
            <a:pPr>
              <a:buFont typeface="Arial" panose="020B0604020202020204" pitchFamily="34" charset="0"/>
              <a:buChar char="•"/>
            </a:pPr>
            <a:r>
              <a:rPr lang="ja-JP" altLang="en-US">
                <a:latin typeface="Meiryo" panose="020B0604030504040204" pitchFamily="34" charset="-128"/>
                <a:ea typeface="Meiryo" panose="020B0604030504040204" pitchFamily="34" charset="-128"/>
              </a:rPr>
              <a:t>ユーザビリティ重視のシステム：使いやすいが、セキュリティが弱くなる可能性。</a:t>
            </a:r>
          </a:p>
          <a:p>
            <a:pPr>
              <a:buFont typeface="Arial" panose="020B0604020202020204" pitchFamily="34" charset="0"/>
              <a:buChar char="•"/>
            </a:pPr>
            <a:r>
              <a:rPr lang="ja-JP" altLang="en-US">
                <a:latin typeface="Meiryo" panose="020B0604030504040204" pitchFamily="34" charset="-128"/>
                <a:ea typeface="Meiryo" panose="020B0604030504040204" pitchFamily="34" charset="-128"/>
              </a:rPr>
              <a:t>セキュリティ重視のシステム：安全だが、ユーザーにとって使いにくい。</a:t>
            </a:r>
          </a:p>
          <a:p>
            <a:pPr>
              <a:buFont typeface="Arial" panose="020B0604020202020204" pitchFamily="34" charset="0"/>
              <a:buChar char="•"/>
            </a:pPr>
            <a:r>
              <a:rPr lang="en-US" dirty="0">
                <a:latin typeface="Meiryo" panose="020B0604030504040204" pitchFamily="34" charset="-128"/>
                <a:ea typeface="Meiryo" panose="020B0604030504040204" pitchFamily="34" charset="-128"/>
              </a:rPr>
              <a:t>Webinos</a:t>
            </a:r>
            <a:r>
              <a:rPr lang="ja-JP" altLang="en-US">
                <a:latin typeface="Meiryo" panose="020B0604030504040204" pitchFamily="34" charset="-128"/>
                <a:ea typeface="Meiryo" panose="020B0604030504040204" pitchFamily="34" charset="-128"/>
              </a:rPr>
              <a:t>プロジェクトの目的：</a:t>
            </a:r>
            <a:br>
              <a:rPr lang="ja-JP" altLang="en-US">
                <a:latin typeface="Meiryo" panose="020B0604030504040204" pitchFamily="34" charset="-128"/>
                <a:ea typeface="Meiryo" panose="020B0604030504040204" pitchFamily="34" charset="-128"/>
              </a:rPr>
            </a:br>
            <a:r>
              <a:rPr lang="ja-JP" altLang="en-US">
                <a:latin typeface="Meiryo" panose="020B0604030504040204" pitchFamily="34" charset="-128"/>
                <a:ea typeface="Meiryo" panose="020B0604030504040204" pitchFamily="34" charset="-128"/>
              </a:rPr>
              <a:t>「安全でありながら使いやすいシステムアーキテクチャ」を実現すること。</a:t>
            </a:r>
          </a:p>
          <a:p>
            <a:pPr>
              <a:buFont typeface="Arial" panose="020B0604020202020204" pitchFamily="34" charset="0"/>
              <a:buChar char="•"/>
            </a:pPr>
            <a:r>
              <a:rPr lang="ja-JP" altLang="en-US">
                <a:latin typeface="Meiryo" panose="020B0604030504040204" pitchFamily="34" charset="-128"/>
                <a:ea typeface="Meiryo" panose="020B0604030504040204" pitchFamily="34" charset="-128"/>
              </a:rPr>
              <a:t>研究チームのアプローチ：</a:t>
            </a:r>
            <a:br>
              <a:rPr lang="ja-JP" altLang="en-US">
                <a:latin typeface="Meiryo" panose="020B0604030504040204" pitchFamily="34" charset="-128"/>
                <a:ea typeface="Meiryo" panose="020B0604030504040204" pitchFamily="34" charset="-128"/>
              </a:rPr>
            </a:br>
            <a:r>
              <a:rPr lang="en-US" dirty="0">
                <a:latin typeface="Meiryo" panose="020B0604030504040204" pitchFamily="34" charset="-128"/>
                <a:ea typeface="Meiryo" panose="020B0604030504040204" pitchFamily="34" charset="-128"/>
              </a:rPr>
              <a:t>Usability Engineering </a:t>
            </a:r>
            <a:r>
              <a:rPr lang="ja-JP" altLang="en-US">
                <a:latin typeface="Meiryo" panose="020B0604030504040204" pitchFamily="34" charset="-128"/>
                <a:ea typeface="Meiryo" panose="020B0604030504040204" pitchFamily="34" charset="-128"/>
              </a:rPr>
              <a:t>の手法（</a:t>
            </a:r>
            <a:r>
              <a:rPr lang="en-US" dirty="0">
                <a:latin typeface="Meiryo" panose="020B0604030504040204" pitchFamily="34" charset="-128"/>
                <a:ea typeface="Meiryo" panose="020B0604030504040204" pitchFamily="34" charset="-128"/>
              </a:rPr>
              <a:t>Context of </a:t>
            </a:r>
            <a:r>
              <a:rPr lang="en-US" dirty="0" err="1">
                <a:latin typeface="Meiryo" panose="020B0604030504040204" pitchFamily="34" charset="-128"/>
                <a:ea typeface="Meiryo" panose="020B0604030504040204" pitchFamily="34" charset="-128"/>
              </a:rPr>
              <a:t>Use、Personas</a:t>
            </a:r>
            <a:r>
              <a:rPr lang="en-US" dirty="0">
                <a:latin typeface="Meiryo" panose="020B0604030504040204" pitchFamily="34" charset="-128"/>
                <a:ea typeface="Meiryo" panose="020B0604030504040204" pitchFamily="34" charset="-128"/>
              </a:rPr>
              <a:t>、</a:t>
            </a:r>
            <a:r>
              <a:rPr lang="ja-JP" altLang="en-US">
                <a:latin typeface="Meiryo" panose="020B0604030504040204" pitchFamily="34" charset="-128"/>
                <a:ea typeface="Meiryo" panose="020B0604030504040204" pitchFamily="34" charset="-128"/>
              </a:rPr>
              <a:t>など）を</a:t>
            </a:r>
            <a:r>
              <a:rPr lang="mn-MN" altLang="ja-JP" dirty="0">
                <a:latin typeface="Meiryo" panose="020B0604030504040204" pitchFamily="34" charset="-128"/>
                <a:ea typeface="Meiryo" panose="020B0604030504040204" pitchFamily="34" charset="-128"/>
              </a:rPr>
              <a:t> </a:t>
            </a:r>
            <a:r>
              <a:rPr lang="en-US" dirty="0">
                <a:latin typeface="Meiryo" panose="020B0604030504040204" pitchFamily="34" charset="-128"/>
                <a:ea typeface="Meiryo" panose="020B0604030504040204" pitchFamily="34" charset="-128"/>
              </a:rPr>
              <a:t>Security by Design </a:t>
            </a:r>
            <a:r>
              <a:rPr lang="ja-JP" altLang="en-US">
                <a:latin typeface="Meiryo" panose="020B0604030504040204" pitchFamily="34" charset="-128"/>
                <a:ea typeface="Meiryo" panose="020B0604030504040204" pitchFamily="34" charset="-128"/>
              </a:rPr>
              <a:t>に統合し、</a:t>
            </a:r>
            <a:br>
              <a:rPr lang="ja-JP" altLang="en-US">
                <a:latin typeface="Meiryo" panose="020B0604030504040204" pitchFamily="34" charset="-128"/>
                <a:ea typeface="Meiryo" panose="020B0604030504040204" pitchFamily="34" charset="-128"/>
              </a:rPr>
            </a:br>
            <a:r>
              <a:rPr lang="ja-JP" altLang="en-US">
                <a:latin typeface="Meiryo" panose="020B0604030504040204" pitchFamily="34" charset="-128"/>
                <a:ea typeface="Meiryo" panose="020B0604030504040204" pitchFamily="34" charset="-128"/>
              </a:rPr>
              <a:t>→ ユーザーの行動・環境・目的に基づいたセキュリティ設計を可能にした。</a:t>
            </a:r>
          </a:p>
          <a:p>
            <a:endParaRPr lang="en-JP" dirty="0">
              <a:latin typeface="Meiryo" panose="020B0604030504040204" pitchFamily="34" charset="-128"/>
              <a:ea typeface="Meiryo" panose="020B0604030504040204" pitchFamily="34" charset="-128"/>
            </a:endParaRPr>
          </a:p>
        </p:txBody>
      </p:sp>
      <p:sp>
        <p:nvSpPr>
          <p:cNvPr id="5" name="TextBox 4">
            <a:extLst>
              <a:ext uri="{FF2B5EF4-FFF2-40B4-BE49-F238E27FC236}">
                <a16:creationId xmlns:a16="http://schemas.microsoft.com/office/drawing/2014/main" id="{0B8FACE2-3DBD-D3DD-2529-107B71AA68D4}"/>
              </a:ext>
            </a:extLst>
          </p:cNvPr>
          <p:cNvSpPr txBox="1"/>
          <p:nvPr/>
        </p:nvSpPr>
        <p:spPr>
          <a:xfrm>
            <a:off x="1251856" y="631763"/>
            <a:ext cx="9187543" cy="461665"/>
          </a:xfrm>
          <a:prstGeom prst="rect">
            <a:avLst/>
          </a:prstGeom>
          <a:noFill/>
        </p:spPr>
        <p:txBody>
          <a:bodyPr wrap="square">
            <a:spAutoFit/>
          </a:bodyPr>
          <a:lstStyle/>
          <a:p>
            <a:r>
              <a:rPr lang="ja-JP" altLang="en-US" sz="2400">
                <a:solidFill>
                  <a:srgbClr val="FF0000"/>
                </a:solidFill>
                <a:latin typeface="Meiryo" panose="020B0604030504040204" pitchFamily="34" charset="-128"/>
                <a:ea typeface="Meiryo" panose="020B0604030504040204" pitchFamily="34" charset="-128"/>
              </a:rPr>
              <a:t>研究の主なポイント：セキュリティとユーザビリティの統合</a:t>
            </a:r>
            <a:endParaRPr lang="en-JP" sz="2400" dirty="0">
              <a:solidFill>
                <a:srgbClr val="FF0000"/>
              </a:solidFill>
              <a:latin typeface="Meiryo" panose="020B0604030504040204" pitchFamily="34" charset="-128"/>
              <a:ea typeface="Meiryo" panose="020B0604030504040204" pitchFamily="34" charset="-128"/>
            </a:endParaRPr>
          </a:p>
        </p:txBody>
      </p:sp>
      <p:sp>
        <p:nvSpPr>
          <p:cNvPr id="6" name="Slide Number Placeholder 5">
            <a:extLst>
              <a:ext uri="{FF2B5EF4-FFF2-40B4-BE49-F238E27FC236}">
                <a16:creationId xmlns:a16="http://schemas.microsoft.com/office/drawing/2014/main" id="{5E5D00B0-1D94-17B9-E026-6D38C54E1329}"/>
              </a:ext>
            </a:extLst>
          </p:cNvPr>
          <p:cNvSpPr>
            <a:spLocks noGrp="1"/>
          </p:cNvSpPr>
          <p:nvPr>
            <p:ph type="sldNum" sz="quarter" idx="12"/>
          </p:nvPr>
        </p:nvSpPr>
        <p:spPr/>
        <p:txBody>
          <a:bodyPr/>
          <a:lstStyle/>
          <a:p>
            <a:fld id="{62667D12-7761-1040-82E2-C1925732DACC}" type="slidenum">
              <a:rPr lang="en-JP" smtClean="0"/>
              <a:t>5</a:t>
            </a:fld>
            <a:endParaRPr lang="en-JP"/>
          </a:p>
        </p:txBody>
      </p:sp>
    </p:spTree>
    <p:extLst>
      <p:ext uri="{BB962C8B-B14F-4D97-AF65-F5344CB8AC3E}">
        <p14:creationId xmlns:p14="http://schemas.microsoft.com/office/powerpoint/2010/main" val="262001046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508AB27-0DE9-13E9-6842-284BAE594D7E}"/>
              </a:ext>
            </a:extLst>
          </p:cNvPr>
          <p:cNvSpPr>
            <a:spLocks noGrp="1"/>
          </p:cNvSpPr>
          <p:nvPr>
            <p:ph sz="quarter" idx="13"/>
          </p:nvPr>
        </p:nvSpPr>
        <p:spPr>
          <a:xfrm>
            <a:off x="391259" y="2051252"/>
            <a:ext cx="4768569" cy="4158343"/>
          </a:xfrm>
        </p:spPr>
        <p:txBody>
          <a:bodyPr>
            <a:normAutofit/>
          </a:bodyPr>
          <a:lstStyle/>
          <a:p>
            <a:pPr marL="0" indent="0">
              <a:buNone/>
            </a:pPr>
            <a:r>
              <a:rPr lang="ja-JP" altLang="en-US" b="1">
                <a:latin typeface="Meiryo" panose="020B0604030504040204" pitchFamily="34" charset="-128"/>
                <a:ea typeface="Meiryo" panose="020B0604030504040204" pitchFamily="34" charset="-128"/>
                <a:cs typeface="Times New Roman" panose="02020603050405020304" pitchFamily="18" charset="0"/>
              </a:rPr>
              <a:t>　</a:t>
            </a:r>
            <a:r>
              <a:rPr lang="en-US" dirty="0">
                <a:latin typeface="Meiryo" panose="020B0604030504040204" pitchFamily="34" charset="-128"/>
                <a:ea typeface="Meiryo" panose="020B0604030504040204" pitchFamily="34" charset="-128"/>
                <a:cs typeface="Times New Roman" panose="02020603050405020304" pitchFamily="18" charset="0"/>
              </a:rPr>
              <a:t>Webinos</a:t>
            </a:r>
            <a:r>
              <a:rPr lang="en-US" altLang="ja-JP" dirty="0">
                <a:latin typeface="Meiryo" panose="020B0604030504040204" pitchFamily="34" charset="-128"/>
                <a:ea typeface="Meiryo" panose="020B0604030504040204" pitchFamily="34" charset="-128"/>
                <a:cs typeface="Times New Roman" panose="02020603050405020304" pitchFamily="18" charset="0"/>
              </a:rPr>
              <a:t> project</a:t>
            </a:r>
            <a:r>
              <a:rPr lang="ja-JP" altLang="en-US">
                <a:latin typeface="Meiryo" panose="020B0604030504040204" pitchFamily="34" charset="-128"/>
                <a:ea typeface="Meiryo" panose="020B0604030504040204" pitchFamily="34" charset="-128"/>
                <a:cs typeface="Times New Roman" panose="02020603050405020304" pitchFamily="18" charset="0"/>
              </a:rPr>
              <a:t>の目的は、</a:t>
            </a:r>
            <a:br>
              <a:rPr lang="ja-JP" altLang="en-US">
                <a:latin typeface="Meiryo" panose="020B0604030504040204" pitchFamily="34" charset="-128"/>
                <a:ea typeface="Meiryo" panose="020B0604030504040204" pitchFamily="34" charset="-128"/>
                <a:cs typeface="Times New Roman" panose="02020603050405020304" pitchFamily="18" charset="0"/>
              </a:rPr>
            </a:br>
            <a:r>
              <a:rPr lang="ja-JP" altLang="en-US">
                <a:latin typeface="Meiryo" panose="020B0604030504040204" pitchFamily="34" charset="-128"/>
                <a:ea typeface="Meiryo" panose="020B0604030504040204" pitchFamily="34" charset="-128"/>
                <a:cs typeface="Times New Roman" panose="02020603050405020304" pitchFamily="18" charset="0"/>
              </a:rPr>
              <a:t>スマートフォン、パソコン、家庭用メディア機器、自動車システムなどの間で、</a:t>
            </a:r>
            <a:br>
              <a:rPr lang="ja-JP" altLang="en-US">
                <a:latin typeface="Meiryo" panose="020B0604030504040204" pitchFamily="34" charset="-128"/>
                <a:ea typeface="Meiryo" panose="020B0604030504040204" pitchFamily="34" charset="-128"/>
                <a:cs typeface="Times New Roman" panose="02020603050405020304" pitchFamily="18" charset="0"/>
              </a:rPr>
            </a:br>
            <a:r>
              <a:rPr lang="en-US" altLang="ja-JP" dirty="0">
                <a:latin typeface="Meiryo" panose="020B0604030504040204" pitchFamily="34" charset="-128"/>
                <a:ea typeface="Meiryo" panose="020B0604030504040204" pitchFamily="34" charset="-128"/>
                <a:cs typeface="Times New Roman" panose="02020603050405020304" pitchFamily="18" charset="0"/>
              </a:rPr>
              <a:t>Web Applications</a:t>
            </a:r>
            <a:r>
              <a:rPr lang="ja-JP" altLang="en-US">
                <a:latin typeface="Meiryo" panose="020B0604030504040204" pitchFamily="34" charset="-128"/>
                <a:ea typeface="Meiryo" panose="020B0604030504040204" pitchFamily="34" charset="-128"/>
                <a:cs typeface="Times New Roman" panose="02020603050405020304" pitchFamily="18" charset="0"/>
              </a:rPr>
              <a:t>を一貫性をもって安定的かつ安全に動作させることができる統合型（</a:t>
            </a:r>
            <a:r>
              <a:rPr lang="en-US" dirty="0">
                <a:latin typeface="Meiryo" panose="020B0604030504040204" pitchFamily="34" charset="-128"/>
                <a:ea typeface="Meiryo" panose="020B0604030504040204" pitchFamily="34" charset="-128"/>
                <a:cs typeface="Times New Roman" panose="02020603050405020304" pitchFamily="18" charset="0"/>
              </a:rPr>
              <a:t>federated software platform</a:t>
            </a:r>
            <a:r>
              <a:rPr lang="ja-JP" altLang="en-US">
                <a:latin typeface="Meiryo" panose="020B0604030504040204" pitchFamily="34" charset="-128"/>
                <a:ea typeface="Meiryo" panose="020B0604030504040204" pitchFamily="34" charset="-128"/>
                <a:cs typeface="Times New Roman" panose="02020603050405020304" pitchFamily="18" charset="0"/>
              </a:rPr>
              <a:t>を開発することできる。</a:t>
            </a:r>
            <a:endParaRPr lang="en-JP" dirty="0">
              <a:latin typeface="Meiryo" panose="020B0604030504040204" pitchFamily="34" charset="-128"/>
              <a:ea typeface="Meiryo" panose="020B0604030504040204" pitchFamily="34" charset="-128"/>
              <a:cs typeface="Times New Roman" panose="02020603050405020304" pitchFamily="18" charset="0"/>
            </a:endParaRPr>
          </a:p>
        </p:txBody>
      </p:sp>
      <p:pic>
        <p:nvPicPr>
          <p:cNvPr id="4" name="Picture 3">
            <a:extLst>
              <a:ext uri="{FF2B5EF4-FFF2-40B4-BE49-F238E27FC236}">
                <a16:creationId xmlns:a16="http://schemas.microsoft.com/office/drawing/2014/main" id="{ADC4C515-4E7E-016D-6B06-BD831554123F}"/>
              </a:ext>
            </a:extLst>
          </p:cNvPr>
          <p:cNvPicPr>
            <a:picLocks noChangeAspect="1"/>
          </p:cNvPicPr>
          <p:nvPr/>
        </p:nvPicPr>
        <p:blipFill>
          <a:blip r:embed="rId2"/>
          <a:stretch>
            <a:fillRect/>
          </a:stretch>
        </p:blipFill>
        <p:spPr>
          <a:xfrm>
            <a:off x="5395784" y="204463"/>
            <a:ext cx="6009541" cy="5508653"/>
          </a:xfrm>
          <a:prstGeom prst="rect">
            <a:avLst/>
          </a:prstGeom>
        </p:spPr>
      </p:pic>
      <p:sp>
        <p:nvSpPr>
          <p:cNvPr id="6" name="TextBox 5">
            <a:extLst>
              <a:ext uri="{FF2B5EF4-FFF2-40B4-BE49-F238E27FC236}">
                <a16:creationId xmlns:a16="http://schemas.microsoft.com/office/drawing/2014/main" id="{65B218D9-FD5B-10C8-7E53-E79858A97B0A}"/>
              </a:ext>
            </a:extLst>
          </p:cNvPr>
          <p:cNvSpPr txBox="1"/>
          <p:nvPr/>
        </p:nvSpPr>
        <p:spPr>
          <a:xfrm>
            <a:off x="1153887" y="1170920"/>
            <a:ext cx="6096000" cy="400110"/>
          </a:xfrm>
          <a:prstGeom prst="rect">
            <a:avLst/>
          </a:prstGeom>
          <a:noFill/>
        </p:spPr>
        <p:txBody>
          <a:bodyPr wrap="square">
            <a:spAutoFit/>
          </a:bodyPr>
          <a:lstStyle/>
          <a:p>
            <a:r>
              <a:rPr lang="en-US" sz="2000" b="1" dirty="0">
                <a:latin typeface="Times New Roman" panose="02020603050405020304" pitchFamily="18" charset="0"/>
                <a:cs typeface="Times New Roman" panose="02020603050405020304" pitchFamily="18" charset="0"/>
              </a:rPr>
              <a:t>What is Webinos</a:t>
            </a:r>
            <a:r>
              <a:rPr lang="en-US" altLang="ja-JP" sz="2000" b="1" dirty="0">
                <a:latin typeface="Times New Roman" panose="02020603050405020304" pitchFamily="18" charset="0"/>
                <a:cs typeface="Times New Roman" panose="02020603050405020304" pitchFamily="18" charset="0"/>
              </a:rPr>
              <a:t> project</a:t>
            </a:r>
            <a:endParaRPr lang="en-JP" sz="2000" b="1" dirty="0"/>
          </a:p>
        </p:txBody>
      </p:sp>
      <p:sp>
        <p:nvSpPr>
          <p:cNvPr id="7" name="Slide Number Placeholder 6">
            <a:extLst>
              <a:ext uri="{FF2B5EF4-FFF2-40B4-BE49-F238E27FC236}">
                <a16:creationId xmlns:a16="http://schemas.microsoft.com/office/drawing/2014/main" id="{70516798-CA25-8FC2-8023-021DB6CD87E3}"/>
              </a:ext>
            </a:extLst>
          </p:cNvPr>
          <p:cNvSpPr>
            <a:spLocks noGrp="1"/>
          </p:cNvSpPr>
          <p:nvPr>
            <p:ph type="sldNum" sz="quarter" idx="12"/>
          </p:nvPr>
        </p:nvSpPr>
        <p:spPr/>
        <p:txBody>
          <a:bodyPr/>
          <a:lstStyle/>
          <a:p>
            <a:fld id="{62667D12-7761-1040-82E2-C1925732DACC}" type="slidenum">
              <a:rPr lang="en-JP" smtClean="0"/>
              <a:t>6</a:t>
            </a:fld>
            <a:endParaRPr lang="en-JP"/>
          </a:p>
        </p:txBody>
      </p:sp>
      <p:sp>
        <p:nvSpPr>
          <p:cNvPr id="9" name="TextBox 8">
            <a:extLst>
              <a:ext uri="{FF2B5EF4-FFF2-40B4-BE49-F238E27FC236}">
                <a16:creationId xmlns:a16="http://schemas.microsoft.com/office/drawing/2014/main" id="{839487F5-8B59-09D1-76C1-0248BA4D249B}"/>
              </a:ext>
            </a:extLst>
          </p:cNvPr>
          <p:cNvSpPr txBox="1"/>
          <p:nvPr/>
        </p:nvSpPr>
        <p:spPr>
          <a:xfrm>
            <a:off x="264160" y="5713116"/>
            <a:ext cx="5004525" cy="523220"/>
          </a:xfrm>
          <a:prstGeom prst="rect">
            <a:avLst/>
          </a:prstGeom>
          <a:noFill/>
        </p:spPr>
        <p:txBody>
          <a:bodyPr wrap="square">
            <a:spAutoFit/>
          </a:bodyPr>
          <a:lstStyle/>
          <a:p>
            <a:r>
              <a:rPr lang="en-JP" sz="1400" dirty="0"/>
              <a:t>https://www.researchgate.net/figure/High-level-overview-of-webinos-ubiquitous-application-platform_fig1_257666012</a:t>
            </a:r>
          </a:p>
        </p:txBody>
      </p:sp>
    </p:spTree>
    <p:extLst>
      <p:ext uri="{BB962C8B-B14F-4D97-AF65-F5344CB8AC3E}">
        <p14:creationId xmlns:p14="http://schemas.microsoft.com/office/powerpoint/2010/main" val="160493360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3AFF01-94B2-6187-F9CE-2B31A1A95D4B}"/>
              </a:ext>
            </a:extLst>
          </p:cNvPr>
          <p:cNvSpPr>
            <a:spLocks noGrp="1"/>
          </p:cNvSpPr>
          <p:nvPr>
            <p:ph type="title"/>
          </p:nvPr>
        </p:nvSpPr>
        <p:spPr>
          <a:xfrm>
            <a:off x="903515" y="1034143"/>
            <a:ext cx="2688772" cy="614494"/>
          </a:xfrm>
        </p:spPr>
        <p:txBody>
          <a:bodyPr>
            <a:normAutofit/>
          </a:bodyPr>
          <a:lstStyle/>
          <a:p>
            <a:r>
              <a:rPr lang="ja-JP" altLang="en-US">
                <a:latin typeface="Meiryo UI" panose="020B0604030504040204" pitchFamily="50" charset="-128"/>
                <a:ea typeface="Meiryo UI" panose="020B0604030504040204" pitchFamily="50" charset="-128"/>
              </a:rPr>
              <a:t>目次</a:t>
            </a:r>
            <a:endParaRPr lang="en-JP" dirty="0"/>
          </a:p>
        </p:txBody>
      </p:sp>
      <p:sp>
        <p:nvSpPr>
          <p:cNvPr id="5" name="TextBox 4">
            <a:extLst>
              <a:ext uri="{FF2B5EF4-FFF2-40B4-BE49-F238E27FC236}">
                <a16:creationId xmlns:a16="http://schemas.microsoft.com/office/drawing/2014/main" id="{56BC3D14-406B-F67B-CEF3-386DE9A5C773}"/>
              </a:ext>
            </a:extLst>
          </p:cNvPr>
          <p:cNvSpPr txBox="1"/>
          <p:nvPr/>
        </p:nvSpPr>
        <p:spPr>
          <a:xfrm>
            <a:off x="1328057" y="2106384"/>
            <a:ext cx="6096000" cy="2550698"/>
          </a:xfrm>
          <a:prstGeom prst="rect">
            <a:avLst/>
          </a:prstGeom>
          <a:noFill/>
        </p:spPr>
        <p:txBody>
          <a:bodyPr wrap="square">
            <a:spAutoFit/>
          </a:bodyPr>
          <a:lstStyle/>
          <a:p>
            <a:pPr marL="761981" indent="-548626">
              <a:lnSpc>
                <a:spcPct val="150000"/>
              </a:lnSpc>
              <a:spcBef>
                <a:spcPts val="0"/>
              </a:spcBef>
              <a:buSzPts val="2800"/>
              <a:buFont typeface="Wingdings" pitchFamily="2" charset="2"/>
              <a:buChar char="§"/>
            </a:pPr>
            <a:r>
              <a:rPr lang="ja-JP" altLang="en-US" sz="1800">
                <a:latin typeface="Meiryo" panose="020B0604030504040204" pitchFamily="34" charset="-128"/>
                <a:ea typeface="Meiryo" panose="020B0604030504040204" pitchFamily="34" charset="-128"/>
              </a:rPr>
              <a:t>はじめに </a:t>
            </a:r>
            <a:r>
              <a:rPr lang="en-US" altLang="ja-JP" sz="1800" dirty="0">
                <a:latin typeface="Meiryo" panose="020B0604030504040204" pitchFamily="34" charset="-128"/>
                <a:ea typeface="Meiryo" panose="020B0604030504040204" pitchFamily="34" charset="-128"/>
              </a:rPr>
              <a:t>(Introduction)</a:t>
            </a:r>
          </a:p>
          <a:p>
            <a:pPr marL="761981" indent="-548626">
              <a:lnSpc>
                <a:spcPct val="150000"/>
              </a:lnSpc>
              <a:spcBef>
                <a:spcPts val="0"/>
              </a:spcBef>
              <a:buSzPts val="2800"/>
              <a:buFont typeface="Wingdings" pitchFamily="2" charset="2"/>
              <a:buChar char="§"/>
            </a:pPr>
            <a:r>
              <a:rPr lang="ja-JP" altLang="en-US" sz="1800">
                <a:solidFill>
                  <a:srgbClr val="FF0000"/>
                </a:solidFill>
                <a:latin typeface="Meiryo" panose="020B0604030504040204" pitchFamily="34" charset="-128"/>
                <a:ea typeface="Meiryo" panose="020B0604030504040204" pitchFamily="34" charset="-128"/>
              </a:rPr>
              <a:t>研究の目的 </a:t>
            </a:r>
            <a:r>
              <a:rPr lang="en-US" altLang="ja-JP" sz="1800" dirty="0">
                <a:solidFill>
                  <a:srgbClr val="FF0000"/>
                </a:solidFill>
                <a:latin typeface="Meiryo" panose="020B0604030504040204" pitchFamily="34" charset="-128"/>
                <a:ea typeface="Meiryo" panose="020B0604030504040204" pitchFamily="34" charset="-128"/>
              </a:rPr>
              <a:t>(Purpose / Aim)</a:t>
            </a:r>
          </a:p>
          <a:p>
            <a:pPr marL="761981" indent="-548626">
              <a:lnSpc>
                <a:spcPct val="150000"/>
              </a:lnSpc>
              <a:spcBef>
                <a:spcPts val="0"/>
              </a:spcBef>
              <a:buSzPts val="2800"/>
              <a:buFont typeface="Wingdings" pitchFamily="2" charset="2"/>
              <a:buChar char="§"/>
            </a:pPr>
            <a:r>
              <a:rPr lang="ja-JP" altLang="en-US" sz="1800">
                <a:latin typeface="Meiryo" panose="020B0604030504040204" pitchFamily="34" charset="-128"/>
                <a:ea typeface="Meiryo" panose="020B0604030504040204" pitchFamily="34" charset="-128"/>
              </a:rPr>
              <a:t>方法 </a:t>
            </a:r>
            <a:r>
              <a:rPr lang="en-US" altLang="ja-JP" sz="1800" dirty="0">
                <a:latin typeface="Meiryo" panose="020B0604030504040204" pitchFamily="34" charset="-128"/>
                <a:ea typeface="Meiryo" panose="020B0604030504040204" pitchFamily="34" charset="-128"/>
              </a:rPr>
              <a:t>(Method / Approach)</a:t>
            </a:r>
          </a:p>
          <a:p>
            <a:pPr marL="761981" indent="-548626">
              <a:lnSpc>
                <a:spcPct val="150000"/>
              </a:lnSpc>
              <a:spcBef>
                <a:spcPts val="0"/>
              </a:spcBef>
              <a:buSzPts val="2800"/>
              <a:buFont typeface="Wingdings" pitchFamily="2" charset="2"/>
              <a:buChar char="§"/>
            </a:pPr>
            <a:r>
              <a:rPr lang="ja-JP" altLang="en-US" sz="1800">
                <a:latin typeface="Meiryo" panose="020B0604030504040204" pitchFamily="34" charset="-128"/>
                <a:ea typeface="Meiryo" panose="020B0604030504040204" pitchFamily="34" charset="-128"/>
              </a:rPr>
              <a:t>結果 </a:t>
            </a:r>
            <a:r>
              <a:rPr lang="en-US" altLang="ja-JP" sz="1800" dirty="0">
                <a:latin typeface="Meiryo" panose="020B0604030504040204" pitchFamily="34" charset="-128"/>
                <a:ea typeface="Meiryo" panose="020B0604030504040204" pitchFamily="34" charset="-128"/>
              </a:rPr>
              <a:t>(Results / Findings)</a:t>
            </a:r>
          </a:p>
          <a:p>
            <a:pPr marL="761981" indent="-548626">
              <a:lnSpc>
                <a:spcPct val="150000"/>
              </a:lnSpc>
              <a:spcBef>
                <a:spcPts val="0"/>
              </a:spcBef>
              <a:buSzPts val="2800"/>
              <a:buFont typeface="Wingdings" pitchFamily="2" charset="2"/>
              <a:buChar char="§"/>
            </a:pPr>
            <a:r>
              <a:rPr lang="ja-JP" altLang="en-US" sz="1800">
                <a:latin typeface="Meiryo" panose="020B0604030504040204" pitchFamily="34" charset="-128"/>
                <a:ea typeface="Meiryo" panose="020B0604030504040204" pitchFamily="34" charset="-128"/>
              </a:rPr>
              <a:t>考察 </a:t>
            </a:r>
            <a:r>
              <a:rPr lang="en-US" altLang="ja-JP" sz="1800" dirty="0">
                <a:latin typeface="Meiryo" panose="020B0604030504040204" pitchFamily="34" charset="-128"/>
                <a:ea typeface="Meiryo" panose="020B0604030504040204" pitchFamily="34" charset="-128"/>
              </a:rPr>
              <a:t>(Discussion)</a:t>
            </a:r>
          </a:p>
          <a:p>
            <a:pPr marL="761981" indent="-548626">
              <a:lnSpc>
                <a:spcPct val="150000"/>
              </a:lnSpc>
              <a:spcBef>
                <a:spcPts val="0"/>
              </a:spcBef>
              <a:buSzPts val="2800"/>
              <a:buFont typeface="Wingdings" pitchFamily="2" charset="2"/>
              <a:buChar char="§"/>
            </a:pPr>
            <a:r>
              <a:rPr lang="ja-JP" altLang="en-US" sz="1800">
                <a:latin typeface="Meiryo" panose="020B0604030504040204" pitchFamily="34" charset="-128"/>
                <a:ea typeface="Meiryo" panose="020B0604030504040204" pitchFamily="34" charset="-128"/>
              </a:rPr>
              <a:t>まとめ </a:t>
            </a:r>
            <a:r>
              <a:rPr lang="en-US" altLang="ja-JP" sz="1800" dirty="0">
                <a:latin typeface="Meiryo" panose="020B0604030504040204" pitchFamily="34" charset="-128"/>
                <a:ea typeface="Meiryo" panose="020B0604030504040204" pitchFamily="34" charset="-128"/>
              </a:rPr>
              <a:t>(Conclusion)</a:t>
            </a:r>
            <a:endParaRPr lang="en-JP" sz="1800" dirty="0">
              <a:latin typeface="Meiryo" panose="020B0604030504040204" pitchFamily="34" charset="-128"/>
              <a:ea typeface="Meiryo" panose="020B0604030504040204" pitchFamily="34" charset="-128"/>
            </a:endParaRPr>
          </a:p>
        </p:txBody>
      </p:sp>
      <p:sp>
        <p:nvSpPr>
          <p:cNvPr id="3" name="Slide Number Placeholder 2">
            <a:extLst>
              <a:ext uri="{FF2B5EF4-FFF2-40B4-BE49-F238E27FC236}">
                <a16:creationId xmlns:a16="http://schemas.microsoft.com/office/drawing/2014/main" id="{794611DE-F5F9-D1F5-8A35-1FC2EA2DE7CB}"/>
              </a:ext>
            </a:extLst>
          </p:cNvPr>
          <p:cNvSpPr>
            <a:spLocks noGrp="1"/>
          </p:cNvSpPr>
          <p:nvPr>
            <p:ph type="sldNum" sz="quarter" idx="12"/>
          </p:nvPr>
        </p:nvSpPr>
        <p:spPr/>
        <p:txBody>
          <a:bodyPr/>
          <a:lstStyle/>
          <a:p>
            <a:fld id="{62667D12-7761-1040-82E2-C1925732DACC}" type="slidenum">
              <a:rPr lang="en-JP" smtClean="0"/>
              <a:t>7</a:t>
            </a:fld>
            <a:endParaRPr lang="en-JP"/>
          </a:p>
        </p:txBody>
      </p:sp>
    </p:spTree>
    <p:extLst>
      <p:ext uri="{BB962C8B-B14F-4D97-AF65-F5344CB8AC3E}">
        <p14:creationId xmlns:p14="http://schemas.microsoft.com/office/powerpoint/2010/main" val="309186652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CB38CBDB-66BF-1EF5-8FEB-FABDE6F1B691}"/>
              </a:ext>
            </a:extLst>
          </p:cNvPr>
          <p:cNvSpPr txBox="1"/>
          <p:nvPr/>
        </p:nvSpPr>
        <p:spPr>
          <a:xfrm>
            <a:off x="674915" y="1245514"/>
            <a:ext cx="6096000" cy="646331"/>
          </a:xfrm>
          <a:prstGeom prst="rect">
            <a:avLst/>
          </a:prstGeom>
          <a:noFill/>
        </p:spPr>
        <p:txBody>
          <a:bodyPr wrap="square">
            <a:spAutoFit/>
          </a:bodyPr>
          <a:lstStyle/>
          <a:p>
            <a:r>
              <a:rPr lang="en-US" dirty="0">
                <a:latin typeface="Meiryo" panose="020B0604030504040204" pitchFamily="34" charset="-128"/>
                <a:ea typeface="Meiryo" panose="020B0604030504040204" pitchFamily="34" charset="-128"/>
              </a:rPr>
              <a:t>Designing for Innovation vs System Design</a:t>
            </a:r>
            <a:endParaRPr lang="mn-MN" dirty="0">
              <a:latin typeface="Meiryo" panose="020B0604030504040204" pitchFamily="34" charset="-128"/>
              <a:ea typeface="Meiryo" panose="020B0604030504040204" pitchFamily="34" charset="-128"/>
            </a:endParaRPr>
          </a:p>
          <a:p>
            <a:r>
              <a:rPr lang="ja-JP" altLang="en-US">
                <a:latin typeface="Meiryo" panose="020B0604030504040204" pitchFamily="34" charset="-128"/>
                <a:ea typeface="Meiryo" panose="020B0604030504040204" pitchFamily="34" charset="-128"/>
              </a:rPr>
              <a:t>イノベーション設計とシステム設計の違い</a:t>
            </a:r>
            <a:endParaRPr lang="en-JP" dirty="0">
              <a:latin typeface="Meiryo" panose="020B0604030504040204" pitchFamily="34" charset="-128"/>
              <a:ea typeface="Meiryo" panose="020B0604030504040204" pitchFamily="34" charset="-128"/>
            </a:endParaRPr>
          </a:p>
        </p:txBody>
      </p:sp>
      <p:graphicFrame>
        <p:nvGraphicFramePr>
          <p:cNvPr id="6" name="Table 5">
            <a:extLst>
              <a:ext uri="{FF2B5EF4-FFF2-40B4-BE49-F238E27FC236}">
                <a16:creationId xmlns:a16="http://schemas.microsoft.com/office/drawing/2014/main" id="{1D687611-E4D2-2109-A007-F0DAB0CFD0E3}"/>
              </a:ext>
            </a:extLst>
          </p:cNvPr>
          <p:cNvGraphicFramePr>
            <a:graphicFrameLocks noGrp="1"/>
          </p:cNvGraphicFramePr>
          <p:nvPr>
            <p:extLst>
              <p:ext uri="{D42A27DB-BD31-4B8C-83A1-F6EECF244321}">
                <p14:modId xmlns:p14="http://schemas.microsoft.com/office/powerpoint/2010/main" val="2479786497"/>
              </p:ext>
            </p:extLst>
          </p:nvPr>
        </p:nvGraphicFramePr>
        <p:xfrm>
          <a:off x="337457" y="1992086"/>
          <a:ext cx="5181600" cy="4310745"/>
        </p:xfrm>
        <a:graphic>
          <a:graphicData uri="http://schemas.openxmlformats.org/drawingml/2006/table">
            <a:tbl>
              <a:tblPr firstRow="1" firstCol="1" bandRow="1">
                <a:tableStyleId>{69C7853C-536D-4A76-A0AE-DD22124D55A5}</a:tableStyleId>
              </a:tblPr>
              <a:tblGrid>
                <a:gridCol w="1727200">
                  <a:extLst>
                    <a:ext uri="{9D8B030D-6E8A-4147-A177-3AD203B41FA5}">
                      <a16:colId xmlns:a16="http://schemas.microsoft.com/office/drawing/2014/main" val="368612390"/>
                    </a:ext>
                  </a:extLst>
                </a:gridCol>
                <a:gridCol w="1727200">
                  <a:extLst>
                    <a:ext uri="{9D8B030D-6E8A-4147-A177-3AD203B41FA5}">
                      <a16:colId xmlns:a16="http://schemas.microsoft.com/office/drawing/2014/main" val="903316714"/>
                    </a:ext>
                  </a:extLst>
                </a:gridCol>
                <a:gridCol w="1727200">
                  <a:extLst>
                    <a:ext uri="{9D8B030D-6E8A-4147-A177-3AD203B41FA5}">
                      <a16:colId xmlns:a16="http://schemas.microsoft.com/office/drawing/2014/main" val="3069563062"/>
                    </a:ext>
                  </a:extLst>
                </a:gridCol>
              </a:tblGrid>
              <a:tr h="862149">
                <a:tc>
                  <a:txBody>
                    <a:bodyPr/>
                    <a:lstStyle/>
                    <a:p>
                      <a:pPr algn="ctr"/>
                      <a:endParaRPr lang="en-JP" sz="1400" kern="100" dirty="0">
                        <a:effectLst/>
                        <a:latin typeface="Meiryo" panose="020B0604030504040204" pitchFamily="34" charset="-128"/>
                        <a:ea typeface="Meiryo" panose="020B0604030504040204" pitchFamily="34" charset="-128"/>
                        <a:cs typeface="Times New Roman" panose="02020603050405020304" pitchFamily="18" charset="0"/>
                      </a:endParaRPr>
                    </a:p>
                  </a:txBody>
                  <a:tcPr marL="9525" marR="9525" marT="9525" marB="9525" anchor="ctr"/>
                </a:tc>
                <a:tc>
                  <a:txBody>
                    <a:bodyPr/>
                    <a:lstStyle/>
                    <a:p>
                      <a:pPr algn="ctr"/>
                      <a:r>
                        <a:rPr lang="en-JP" sz="1400" b="1" kern="100">
                          <a:effectLst/>
                          <a:latin typeface="Meiryo" panose="020B0604030504040204" pitchFamily="34" charset="-128"/>
                          <a:ea typeface="Meiryo" panose="020B0604030504040204" pitchFamily="34" charset="-128"/>
                        </a:rPr>
                        <a:t>System Design</a:t>
                      </a:r>
                      <a:r>
                        <a:rPr lang="ja-JP" sz="1400" b="1" kern="100">
                          <a:effectLst/>
                          <a:latin typeface="Meiryo" panose="020B0604030504040204" pitchFamily="34" charset="-128"/>
                          <a:ea typeface="Meiryo" panose="020B0604030504040204" pitchFamily="34" charset="-128"/>
                        </a:rPr>
                        <a:t>（システム設計）</a:t>
                      </a:r>
                      <a:endParaRPr lang="en-JP" sz="1400" kern="100">
                        <a:effectLst/>
                        <a:latin typeface="Meiryo" panose="020B0604030504040204" pitchFamily="34" charset="-128"/>
                        <a:ea typeface="Meiryo" panose="020B0604030504040204" pitchFamily="34" charset="-128"/>
                        <a:cs typeface="Times New Roman" panose="02020603050405020304" pitchFamily="18" charset="0"/>
                      </a:endParaRPr>
                    </a:p>
                  </a:txBody>
                  <a:tcPr marL="9525" marR="9525" marT="9525" marB="9525" anchor="ctr"/>
                </a:tc>
                <a:tc>
                  <a:txBody>
                    <a:bodyPr/>
                    <a:lstStyle/>
                    <a:p>
                      <a:pPr algn="ctr"/>
                      <a:r>
                        <a:rPr lang="en-JP" sz="1400" b="1" kern="100" dirty="0">
                          <a:effectLst/>
                          <a:latin typeface="Meiryo" panose="020B0604030504040204" pitchFamily="34" charset="-128"/>
                          <a:ea typeface="Meiryo" panose="020B0604030504040204" pitchFamily="34" charset="-128"/>
                        </a:rPr>
                        <a:t>Designing for Innovation</a:t>
                      </a:r>
                      <a:r>
                        <a:rPr lang="ja-JP" sz="1400" b="1" kern="100">
                          <a:effectLst/>
                          <a:latin typeface="Meiryo" panose="020B0604030504040204" pitchFamily="34" charset="-128"/>
                          <a:ea typeface="Meiryo" panose="020B0604030504040204" pitchFamily="34" charset="-128"/>
                        </a:rPr>
                        <a:t>（イノベーション設計）</a:t>
                      </a:r>
                      <a:endParaRPr lang="en-JP" sz="1400" kern="100" dirty="0">
                        <a:effectLst/>
                        <a:latin typeface="Meiryo" panose="020B0604030504040204" pitchFamily="34" charset="-128"/>
                        <a:ea typeface="Meiryo" panose="020B0604030504040204" pitchFamily="34" charset="-128"/>
                        <a:cs typeface="Times New Roman" panose="02020603050405020304" pitchFamily="18" charset="0"/>
                      </a:endParaRPr>
                    </a:p>
                  </a:txBody>
                  <a:tcPr marL="9525" marR="9525" marT="9525" marB="9525" anchor="ctr"/>
                </a:tc>
                <a:extLst>
                  <a:ext uri="{0D108BD9-81ED-4DB2-BD59-A6C34878D82A}">
                    <a16:rowId xmlns:a16="http://schemas.microsoft.com/office/drawing/2014/main" val="970232898"/>
                  </a:ext>
                </a:extLst>
              </a:tr>
              <a:tr h="862149">
                <a:tc>
                  <a:txBody>
                    <a:bodyPr/>
                    <a:lstStyle/>
                    <a:p>
                      <a:r>
                        <a:rPr lang="ja-JP" sz="1400" b="1" kern="100">
                          <a:effectLst/>
                          <a:latin typeface="Meiryo" panose="020B0604030504040204" pitchFamily="34" charset="-128"/>
                          <a:ea typeface="Meiryo" panose="020B0604030504040204" pitchFamily="34" charset="-128"/>
                        </a:rPr>
                        <a:t>焦点</a:t>
                      </a:r>
                      <a:endParaRPr lang="en-JP" sz="1400" kern="100" dirty="0">
                        <a:effectLst/>
                        <a:latin typeface="Meiryo" panose="020B0604030504040204" pitchFamily="34" charset="-128"/>
                        <a:ea typeface="Meiryo" panose="020B0604030504040204" pitchFamily="34" charset="-128"/>
                        <a:cs typeface="Times New Roman" panose="02020603050405020304" pitchFamily="18" charset="0"/>
                      </a:endParaRPr>
                    </a:p>
                  </a:txBody>
                  <a:tcPr marL="9525" marR="9525" marT="9525" marB="9525" anchor="ctr"/>
                </a:tc>
                <a:tc>
                  <a:txBody>
                    <a:bodyPr/>
                    <a:lstStyle/>
                    <a:p>
                      <a:r>
                        <a:rPr lang="ja-JP" sz="1400" kern="100">
                          <a:effectLst/>
                          <a:latin typeface="Meiryo" panose="020B0604030504040204" pitchFamily="34" charset="-128"/>
                          <a:ea typeface="Meiryo" panose="020B0604030504040204" pitchFamily="34" charset="-128"/>
                        </a:rPr>
                        <a:t>システム中心（</a:t>
                      </a:r>
                      <a:r>
                        <a:rPr lang="en-JP" sz="1400" kern="100">
                          <a:effectLst/>
                          <a:latin typeface="Meiryo" panose="020B0604030504040204" pitchFamily="34" charset="-128"/>
                          <a:ea typeface="Meiryo" panose="020B0604030504040204" pitchFamily="34" charset="-128"/>
                        </a:rPr>
                        <a:t>System-centered</a:t>
                      </a:r>
                      <a:r>
                        <a:rPr lang="ja-JP" sz="1400" kern="100">
                          <a:effectLst/>
                          <a:latin typeface="Meiryo" panose="020B0604030504040204" pitchFamily="34" charset="-128"/>
                          <a:ea typeface="Meiryo" panose="020B0604030504040204" pitchFamily="34" charset="-128"/>
                        </a:rPr>
                        <a:t>）</a:t>
                      </a:r>
                      <a:endParaRPr lang="en-JP" sz="1400" kern="100">
                        <a:effectLst/>
                        <a:latin typeface="Meiryo" panose="020B0604030504040204" pitchFamily="34" charset="-128"/>
                        <a:ea typeface="Meiryo" panose="020B0604030504040204" pitchFamily="34" charset="-128"/>
                        <a:cs typeface="Times New Roman" panose="02020603050405020304" pitchFamily="18" charset="0"/>
                      </a:endParaRPr>
                    </a:p>
                  </a:txBody>
                  <a:tcPr marL="9525" marR="9525" marT="9525" marB="9525" anchor="ctr"/>
                </a:tc>
                <a:tc>
                  <a:txBody>
                    <a:bodyPr/>
                    <a:lstStyle/>
                    <a:p>
                      <a:r>
                        <a:rPr lang="ja-JP" sz="1400" kern="100">
                          <a:effectLst/>
                          <a:latin typeface="Meiryo" panose="020B0604030504040204" pitchFamily="34" charset="-128"/>
                          <a:ea typeface="Meiryo" panose="020B0604030504040204" pitchFamily="34" charset="-128"/>
                        </a:rPr>
                        <a:t>機会中心（</a:t>
                      </a:r>
                      <a:r>
                        <a:rPr lang="en-JP" sz="1400" kern="100" dirty="0">
                          <a:effectLst/>
                          <a:latin typeface="Meiryo" panose="020B0604030504040204" pitchFamily="34" charset="-128"/>
                          <a:ea typeface="Meiryo" panose="020B0604030504040204" pitchFamily="34" charset="-128"/>
                        </a:rPr>
                        <a:t>Opportunity-centered</a:t>
                      </a:r>
                      <a:r>
                        <a:rPr lang="ja-JP" sz="1400" kern="100">
                          <a:effectLst/>
                          <a:latin typeface="Meiryo" panose="020B0604030504040204" pitchFamily="34" charset="-128"/>
                          <a:ea typeface="Meiryo" panose="020B0604030504040204" pitchFamily="34" charset="-128"/>
                        </a:rPr>
                        <a:t>）</a:t>
                      </a:r>
                      <a:endParaRPr lang="en-JP" sz="1400" kern="100" dirty="0">
                        <a:effectLst/>
                        <a:latin typeface="Meiryo" panose="020B0604030504040204" pitchFamily="34" charset="-128"/>
                        <a:ea typeface="Meiryo" panose="020B0604030504040204" pitchFamily="34" charset="-128"/>
                        <a:cs typeface="Times New Roman" panose="02020603050405020304" pitchFamily="18" charset="0"/>
                      </a:endParaRPr>
                    </a:p>
                  </a:txBody>
                  <a:tcPr marL="9525" marR="9525" marT="9525" marB="9525" anchor="ctr"/>
                </a:tc>
                <a:extLst>
                  <a:ext uri="{0D108BD9-81ED-4DB2-BD59-A6C34878D82A}">
                    <a16:rowId xmlns:a16="http://schemas.microsoft.com/office/drawing/2014/main" val="3286247309"/>
                  </a:ext>
                </a:extLst>
              </a:tr>
              <a:tr h="862149">
                <a:tc>
                  <a:txBody>
                    <a:bodyPr/>
                    <a:lstStyle/>
                    <a:p>
                      <a:r>
                        <a:rPr lang="ja-JP" sz="1400" b="1" kern="100">
                          <a:effectLst/>
                          <a:latin typeface="Meiryo" panose="020B0604030504040204" pitchFamily="34" charset="-128"/>
                          <a:ea typeface="Meiryo" panose="020B0604030504040204" pitchFamily="34" charset="-128"/>
                        </a:rPr>
                        <a:t>目的</a:t>
                      </a:r>
                      <a:endParaRPr lang="en-JP" sz="1400" kern="100">
                        <a:effectLst/>
                        <a:latin typeface="Meiryo" panose="020B0604030504040204" pitchFamily="34" charset="-128"/>
                        <a:ea typeface="Meiryo" panose="020B0604030504040204" pitchFamily="34" charset="-128"/>
                        <a:cs typeface="Times New Roman" panose="02020603050405020304" pitchFamily="18" charset="0"/>
                      </a:endParaRPr>
                    </a:p>
                  </a:txBody>
                  <a:tcPr marL="9525" marR="9525" marT="9525" marB="9525" anchor="ctr"/>
                </a:tc>
                <a:tc>
                  <a:txBody>
                    <a:bodyPr/>
                    <a:lstStyle/>
                    <a:p>
                      <a:r>
                        <a:rPr lang="ja-JP" sz="1400" kern="100">
                          <a:effectLst/>
                          <a:latin typeface="Meiryo" panose="020B0604030504040204" pitchFamily="34" charset="-128"/>
                          <a:ea typeface="Meiryo" panose="020B0604030504040204" pitchFamily="34" charset="-128"/>
                        </a:rPr>
                        <a:t>システム目標を実現すること</a:t>
                      </a:r>
                      <a:endParaRPr lang="en-JP" sz="1400" kern="100">
                        <a:effectLst/>
                        <a:latin typeface="Meiryo" panose="020B0604030504040204" pitchFamily="34" charset="-128"/>
                        <a:ea typeface="Meiryo" panose="020B0604030504040204" pitchFamily="34" charset="-128"/>
                        <a:cs typeface="Times New Roman" panose="02020603050405020304" pitchFamily="18" charset="0"/>
                      </a:endParaRPr>
                    </a:p>
                  </a:txBody>
                  <a:tcPr marL="9525" marR="9525" marT="9525" marB="9525" anchor="ctr"/>
                </a:tc>
                <a:tc>
                  <a:txBody>
                    <a:bodyPr/>
                    <a:lstStyle/>
                    <a:p>
                      <a:r>
                        <a:rPr lang="ja-JP" sz="1400" kern="100">
                          <a:effectLst/>
                          <a:latin typeface="Meiryo" panose="020B0604030504040204" pitchFamily="34" charset="-128"/>
                          <a:ea typeface="Meiryo" panose="020B0604030504040204" pitchFamily="34" charset="-128"/>
                        </a:rPr>
                        <a:t>イノベーション戦略に合う設計を行うこと</a:t>
                      </a:r>
                      <a:endParaRPr lang="en-JP" sz="1400" kern="100" dirty="0">
                        <a:effectLst/>
                        <a:latin typeface="Meiryo" panose="020B0604030504040204" pitchFamily="34" charset="-128"/>
                        <a:ea typeface="Meiryo" panose="020B0604030504040204" pitchFamily="34" charset="-128"/>
                        <a:cs typeface="Times New Roman" panose="02020603050405020304" pitchFamily="18" charset="0"/>
                      </a:endParaRPr>
                    </a:p>
                  </a:txBody>
                  <a:tcPr marL="9525" marR="9525" marT="9525" marB="9525" anchor="ctr"/>
                </a:tc>
                <a:extLst>
                  <a:ext uri="{0D108BD9-81ED-4DB2-BD59-A6C34878D82A}">
                    <a16:rowId xmlns:a16="http://schemas.microsoft.com/office/drawing/2014/main" val="2882545901"/>
                  </a:ext>
                </a:extLst>
              </a:tr>
              <a:tr h="862149">
                <a:tc>
                  <a:txBody>
                    <a:bodyPr/>
                    <a:lstStyle/>
                    <a:p>
                      <a:r>
                        <a:rPr lang="ja-JP" sz="1400" b="1" kern="100">
                          <a:effectLst/>
                          <a:latin typeface="Meiryo" panose="020B0604030504040204" pitchFamily="34" charset="-128"/>
                          <a:ea typeface="Meiryo" panose="020B0604030504040204" pitchFamily="34" charset="-128"/>
                        </a:rPr>
                        <a:t>アプローチ</a:t>
                      </a:r>
                      <a:endParaRPr lang="en-JP" sz="1400" kern="100">
                        <a:effectLst/>
                        <a:latin typeface="Meiryo" panose="020B0604030504040204" pitchFamily="34" charset="-128"/>
                        <a:ea typeface="Meiryo" panose="020B0604030504040204" pitchFamily="34" charset="-128"/>
                        <a:cs typeface="Times New Roman" panose="02020603050405020304" pitchFamily="18" charset="0"/>
                      </a:endParaRPr>
                    </a:p>
                  </a:txBody>
                  <a:tcPr marL="9525" marR="9525" marT="9525" marB="9525" anchor="ctr"/>
                </a:tc>
                <a:tc>
                  <a:txBody>
                    <a:bodyPr/>
                    <a:lstStyle/>
                    <a:p>
                      <a:r>
                        <a:rPr lang="ja-JP" sz="1400" kern="100">
                          <a:effectLst/>
                          <a:latin typeface="Meiryo" panose="020B0604030504040204" pitchFamily="34" charset="-128"/>
                          <a:ea typeface="Meiryo" panose="020B0604030504040204" pitchFamily="34" charset="-128"/>
                        </a:rPr>
                        <a:t>既存の社会技術的環境に合わせて設計する</a:t>
                      </a:r>
                      <a:endParaRPr lang="en-JP" sz="1400" kern="100">
                        <a:effectLst/>
                        <a:latin typeface="Meiryo" panose="020B0604030504040204" pitchFamily="34" charset="-128"/>
                        <a:ea typeface="Meiryo" panose="020B0604030504040204" pitchFamily="34" charset="-128"/>
                        <a:cs typeface="Times New Roman" panose="02020603050405020304" pitchFamily="18" charset="0"/>
                      </a:endParaRPr>
                    </a:p>
                  </a:txBody>
                  <a:tcPr marL="9525" marR="9525" marT="9525" marB="9525" anchor="ctr"/>
                </a:tc>
                <a:tc>
                  <a:txBody>
                    <a:bodyPr/>
                    <a:lstStyle/>
                    <a:p>
                      <a:r>
                        <a:rPr lang="ja-JP" sz="1400" kern="100">
                          <a:effectLst/>
                          <a:latin typeface="Meiryo" panose="020B0604030504040204" pitchFamily="34" charset="-128"/>
                          <a:ea typeface="Meiryo" panose="020B0604030504040204" pitchFamily="34" charset="-128"/>
                        </a:rPr>
                        <a:t>設計に合わせて環境そのものを変える</a:t>
                      </a:r>
                      <a:endParaRPr lang="en-JP" sz="1400" kern="100">
                        <a:effectLst/>
                        <a:latin typeface="Meiryo" panose="020B0604030504040204" pitchFamily="34" charset="-128"/>
                        <a:ea typeface="Meiryo" panose="020B0604030504040204" pitchFamily="34" charset="-128"/>
                        <a:cs typeface="Times New Roman" panose="02020603050405020304" pitchFamily="18" charset="0"/>
                      </a:endParaRPr>
                    </a:p>
                  </a:txBody>
                  <a:tcPr marL="9525" marR="9525" marT="9525" marB="9525" anchor="ctr"/>
                </a:tc>
                <a:extLst>
                  <a:ext uri="{0D108BD9-81ED-4DB2-BD59-A6C34878D82A}">
                    <a16:rowId xmlns:a16="http://schemas.microsoft.com/office/drawing/2014/main" val="351991230"/>
                  </a:ext>
                </a:extLst>
              </a:tr>
              <a:tr h="862149">
                <a:tc>
                  <a:txBody>
                    <a:bodyPr/>
                    <a:lstStyle/>
                    <a:p>
                      <a:r>
                        <a:rPr lang="ja-JP" sz="1400" b="1" kern="100">
                          <a:effectLst/>
                          <a:latin typeface="Meiryo" panose="020B0604030504040204" pitchFamily="34" charset="-128"/>
                          <a:ea typeface="Meiryo" panose="020B0604030504040204" pitchFamily="34" charset="-128"/>
                        </a:rPr>
                        <a:t>主な役割</a:t>
                      </a:r>
                      <a:endParaRPr lang="en-JP" sz="1400" kern="100">
                        <a:effectLst/>
                        <a:latin typeface="Meiryo" panose="020B0604030504040204" pitchFamily="34" charset="-128"/>
                        <a:ea typeface="Meiryo" panose="020B0604030504040204" pitchFamily="34" charset="-128"/>
                        <a:cs typeface="Times New Roman" panose="02020603050405020304" pitchFamily="18" charset="0"/>
                      </a:endParaRPr>
                    </a:p>
                  </a:txBody>
                  <a:tcPr marL="9525" marR="9525" marT="9525" marB="9525" anchor="ctr"/>
                </a:tc>
                <a:tc>
                  <a:txBody>
                    <a:bodyPr/>
                    <a:lstStyle/>
                    <a:p>
                      <a:r>
                        <a:rPr lang="ja-JP" sz="1400" kern="100">
                          <a:effectLst/>
                          <a:latin typeface="Meiryo" panose="020B0604030504040204" pitchFamily="34" charset="-128"/>
                          <a:ea typeface="Meiryo" panose="020B0604030504040204" pitchFamily="34" charset="-128"/>
                        </a:rPr>
                        <a:t>システムアーキテクト（</a:t>
                      </a:r>
                      <a:r>
                        <a:rPr lang="en-JP" sz="1400" kern="100">
                          <a:effectLst/>
                          <a:latin typeface="Meiryo" panose="020B0604030504040204" pitchFamily="34" charset="-128"/>
                          <a:ea typeface="Meiryo" panose="020B0604030504040204" pitchFamily="34" charset="-128"/>
                        </a:rPr>
                        <a:t>System Architect</a:t>
                      </a:r>
                      <a:r>
                        <a:rPr lang="ja-JP" sz="1400" kern="100">
                          <a:effectLst/>
                          <a:latin typeface="Meiryo" panose="020B0604030504040204" pitchFamily="34" charset="-128"/>
                          <a:ea typeface="Meiryo" panose="020B0604030504040204" pitchFamily="34" charset="-128"/>
                        </a:rPr>
                        <a:t>）</a:t>
                      </a:r>
                      <a:endParaRPr lang="en-JP" sz="1400" kern="100">
                        <a:effectLst/>
                        <a:latin typeface="Meiryo" panose="020B0604030504040204" pitchFamily="34" charset="-128"/>
                        <a:ea typeface="Meiryo" panose="020B0604030504040204" pitchFamily="34" charset="-128"/>
                        <a:cs typeface="Times New Roman" panose="02020603050405020304" pitchFamily="18" charset="0"/>
                      </a:endParaRPr>
                    </a:p>
                  </a:txBody>
                  <a:tcPr marL="9525" marR="9525" marT="9525" marB="9525" anchor="ctr"/>
                </a:tc>
                <a:tc>
                  <a:txBody>
                    <a:bodyPr/>
                    <a:lstStyle/>
                    <a:p>
                      <a:r>
                        <a:rPr lang="ja-JP" sz="1400" kern="100">
                          <a:effectLst/>
                          <a:latin typeface="Meiryo" panose="020B0604030504040204" pitchFamily="34" charset="-128"/>
                          <a:ea typeface="Meiryo" panose="020B0604030504040204" pitchFamily="34" charset="-128"/>
                        </a:rPr>
                        <a:t>起業家・イノベーター（</a:t>
                      </a:r>
                      <a:r>
                        <a:rPr lang="en-JP" sz="1400" kern="100" dirty="0">
                          <a:effectLst/>
                          <a:latin typeface="Meiryo" panose="020B0604030504040204" pitchFamily="34" charset="-128"/>
                          <a:ea typeface="Meiryo" panose="020B0604030504040204" pitchFamily="34" charset="-128"/>
                        </a:rPr>
                        <a:t>Entrepreneur / Innovator</a:t>
                      </a:r>
                      <a:r>
                        <a:rPr lang="ja-JP" sz="1400" kern="100">
                          <a:effectLst/>
                          <a:latin typeface="Meiryo" panose="020B0604030504040204" pitchFamily="34" charset="-128"/>
                          <a:ea typeface="Meiryo" panose="020B0604030504040204" pitchFamily="34" charset="-128"/>
                        </a:rPr>
                        <a:t>）</a:t>
                      </a:r>
                      <a:endParaRPr lang="en-JP" sz="1400" kern="100" dirty="0">
                        <a:effectLst/>
                        <a:latin typeface="Meiryo" panose="020B0604030504040204" pitchFamily="34" charset="-128"/>
                        <a:ea typeface="Meiryo" panose="020B0604030504040204" pitchFamily="34" charset="-128"/>
                        <a:cs typeface="Times New Roman" panose="02020603050405020304" pitchFamily="18" charset="0"/>
                      </a:endParaRPr>
                    </a:p>
                  </a:txBody>
                  <a:tcPr marL="9525" marR="9525" marT="9525" marB="9525" anchor="ctr"/>
                </a:tc>
                <a:extLst>
                  <a:ext uri="{0D108BD9-81ED-4DB2-BD59-A6C34878D82A}">
                    <a16:rowId xmlns:a16="http://schemas.microsoft.com/office/drawing/2014/main" val="367890328"/>
                  </a:ext>
                </a:extLst>
              </a:tr>
            </a:tbl>
          </a:graphicData>
        </a:graphic>
      </p:graphicFrame>
      <p:sp>
        <p:nvSpPr>
          <p:cNvPr id="8" name="TextBox 7">
            <a:extLst>
              <a:ext uri="{FF2B5EF4-FFF2-40B4-BE49-F238E27FC236}">
                <a16:creationId xmlns:a16="http://schemas.microsoft.com/office/drawing/2014/main" id="{5B2C8DC2-1494-B439-0DCD-E0CCEE4FB39C}"/>
              </a:ext>
            </a:extLst>
          </p:cNvPr>
          <p:cNvSpPr txBox="1"/>
          <p:nvPr/>
        </p:nvSpPr>
        <p:spPr>
          <a:xfrm>
            <a:off x="6770915" y="1245515"/>
            <a:ext cx="6096000" cy="646331"/>
          </a:xfrm>
          <a:prstGeom prst="rect">
            <a:avLst/>
          </a:prstGeom>
          <a:noFill/>
        </p:spPr>
        <p:txBody>
          <a:bodyPr wrap="square">
            <a:spAutoFit/>
          </a:bodyPr>
          <a:lstStyle/>
          <a:p>
            <a:r>
              <a:rPr lang="en-US" b="1" dirty="0">
                <a:latin typeface="Meiryo" panose="020B0604030504040204" pitchFamily="34" charset="-128"/>
                <a:ea typeface="Meiryo" panose="020B0604030504040204" pitchFamily="34" charset="-128"/>
              </a:rPr>
              <a:t>Innovation Design Dilemma</a:t>
            </a:r>
          </a:p>
          <a:p>
            <a:r>
              <a:rPr lang="en-US" b="1" dirty="0">
                <a:latin typeface="Meiryo" panose="020B0604030504040204" pitchFamily="34" charset="-128"/>
                <a:ea typeface="Meiryo" panose="020B0604030504040204" pitchFamily="34" charset="-128"/>
              </a:rPr>
              <a:t>(</a:t>
            </a:r>
            <a:r>
              <a:rPr lang="ja-JP" altLang="en-US">
                <a:latin typeface="Meiryo" panose="020B0604030504040204" pitchFamily="34" charset="-128"/>
                <a:ea typeface="Meiryo" panose="020B0604030504040204" pitchFamily="34" charset="-128"/>
              </a:rPr>
              <a:t>イノベーション設計のジレンマ</a:t>
            </a:r>
            <a:r>
              <a:rPr lang="en-US" altLang="ja-JP" b="1" dirty="0">
                <a:latin typeface="Meiryo" panose="020B0604030504040204" pitchFamily="34" charset="-128"/>
                <a:ea typeface="Meiryo" panose="020B0604030504040204" pitchFamily="34" charset="-128"/>
              </a:rPr>
              <a:t>)</a:t>
            </a:r>
            <a:endParaRPr lang="en-JP" dirty="0">
              <a:latin typeface="Meiryo" panose="020B0604030504040204" pitchFamily="34" charset="-128"/>
              <a:ea typeface="Meiryo" panose="020B0604030504040204" pitchFamily="34" charset="-128"/>
            </a:endParaRPr>
          </a:p>
        </p:txBody>
      </p:sp>
      <p:graphicFrame>
        <p:nvGraphicFramePr>
          <p:cNvPr id="9" name="Table 8">
            <a:extLst>
              <a:ext uri="{FF2B5EF4-FFF2-40B4-BE49-F238E27FC236}">
                <a16:creationId xmlns:a16="http://schemas.microsoft.com/office/drawing/2014/main" id="{7B9194A4-75D8-2A1F-6B86-7705FCDB0022}"/>
              </a:ext>
            </a:extLst>
          </p:cNvPr>
          <p:cNvGraphicFramePr>
            <a:graphicFrameLocks noGrp="1"/>
          </p:cNvGraphicFramePr>
          <p:nvPr>
            <p:extLst>
              <p:ext uri="{D42A27DB-BD31-4B8C-83A1-F6EECF244321}">
                <p14:modId xmlns:p14="http://schemas.microsoft.com/office/powerpoint/2010/main" val="3512507121"/>
              </p:ext>
            </p:extLst>
          </p:nvPr>
        </p:nvGraphicFramePr>
        <p:xfrm>
          <a:off x="6368144" y="1992086"/>
          <a:ext cx="5083629" cy="4408714"/>
        </p:xfrm>
        <a:graphic>
          <a:graphicData uri="http://schemas.openxmlformats.org/drawingml/2006/table">
            <a:tbl>
              <a:tblPr firstRow="1" firstCol="1" bandRow="1">
                <a:tableStyleId>{284E427A-3D55-4303-BF80-6455036E1DE7}</a:tableStyleId>
              </a:tblPr>
              <a:tblGrid>
                <a:gridCol w="2126823">
                  <a:extLst>
                    <a:ext uri="{9D8B030D-6E8A-4147-A177-3AD203B41FA5}">
                      <a16:colId xmlns:a16="http://schemas.microsoft.com/office/drawing/2014/main" val="1459797711"/>
                    </a:ext>
                  </a:extLst>
                </a:gridCol>
                <a:gridCol w="1262263">
                  <a:extLst>
                    <a:ext uri="{9D8B030D-6E8A-4147-A177-3AD203B41FA5}">
                      <a16:colId xmlns:a16="http://schemas.microsoft.com/office/drawing/2014/main" val="4231277070"/>
                    </a:ext>
                  </a:extLst>
                </a:gridCol>
                <a:gridCol w="1694543">
                  <a:extLst>
                    <a:ext uri="{9D8B030D-6E8A-4147-A177-3AD203B41FA5}">
                      <a16:colId xmlns:a16="http://schemas.microsoft.com/office/drawing/2014/main" val="27388993"/>
                    </a:ext>
                  </a:extLst>
                </a:gridCol>
              </a:tblGrid>
              <a:tr h="526790">
                <a:tc>
                  <a:txBody>
                    <a:bodyPr/>
                    <a:lstStyle/>
                    <a:p>
                      <a:endParaRPr lang="en-JP" sz="1400" kern="100" dirty="0">
                        <a:effectLst/>
                        <a:latin typeface="Meiryo" panose="020B0604030504040204" pitchFamily="34" charset="-128"/>
                        <a:ea typeface="Meiryo" panose="020B0604030504040204" pitchFamily="34" charset="-128"/>
                        <a:cs typeface="Times New Roman" panose="02020603050405020304" pitchFamily="18" charset="0"/>
                      </a:endParaRPr>
                    </a:p>
                  </a:txBody>
                  <a:tcPr marL="9525" marR="9525" marT="9525" marB="9525" anchor="ctr"/>
                </a:tc>
                <a:tc>
                  <a:txBody>
                    <a:bodyPr/>
                    <a:lstStyle/>
                    <a:p>
                      <a:pPr algn="ctr"/>
                      <a:r>
                        <a:rPr lang="en-JP" sz="1400" kern="0" dirty="0">
                          <a:effectLst/>
                          <a:latin typeface="Meiryo" panose="020B0604030504040204" pitchFamily="34" charset="-128"/>
                          <a:ea typeface="Meiryo" panose="020B0604030504040204" pitchFamily="34" charset="-128"/>
                        </a:rPr>
                        <a:t>Structured Process</a:t>
                      </a:r>
                      <a:endParaRPr lang="en-JP" sz="1400" kern="100" dirty="0">
                        <a:effectLst/>
                        <a:latin typeface="Meiryo" panose="020B0604030504040204" pitchFamily="34" charset="-128"/>
                        <a:ea typeface="Meiryo" panose="020B0604030504040204" pitchFamily="34" charset="-128"/>
                        <a:cs typeface="Times New Roman" panose="02020603050405020304" pitchFamily="18" charset="0"/>
                      </a:endParaRPr>
                    </a:p>
                  </a:txBody>
                  <a:tcPr marL="9525" marR="9525" marT="9525" marB="9525" anchor="ctr"/>
                </a:tc>
                <a:tc>
                  <a:txBody>
                    <a:bodyPr/>
                    <a:lstStyle/>
                    <a:p>
                      <a:pPr algn="ctr"/>
                      <a:r>
                        <a:rPr lang="en-JP" sz="1400" kern="0">
                          <a:effectLst/>
                          <a:latin typeface="Meiryo" panose="020B0604030504040204" pitchFamily="34" charset="-128"/>
                          <a:ea typeface="Meiryo" panose="020B0604030504040204" pitchFamily="34" charset="-128"/>
                        </a:rPr>
                        <a:t>Unstructured Process</a:t>
                      </a:r>
                      <a:endParaRPr lang="en-JP" sz="1400" kern="100">
                        <a:effectLst/>
                        <a:latin typeface="Meiryo" panose="020B0604030504040204" pitchFamily="34" charset="-128"/>
                        <a:ea typeface="Meiryo" panose="020B0604030504040204" pitchFamily="34" charset="-128"/>
                        <a:cs typeface="Times New Roman" panose="02020603050405020304" pitchFamily="18" charset="0"/>
                      </a:endParaRPr>
                    </a:p>
                  </a:txBody>
                  <a:tcPr marL="9525" marR="9525" marT="9525" marB="9525" anchor="ctr"/>
                </a:tc>
                <a:extLst>
                  <a:ext uri="{0D108BD9-81ED-4DB2-BD59-A6C34878D82A}">
                    <a16:rowId xmlns:a16="http://schemas.microsoft.com/office/drawing/2014/main" val="1771109205"/>
                  </a:ext>
                </a:extLst>
              </a:tr>
              <a:tr h="460272">
                <a:tc>
                  <a:txBody>
                    <a:bodyPr/>
                    <a:lstStyle/>
                    <a:p>
                      <a:pPr algn="ctr"/>
                      <a:r>
                        <a:rPr lang="ja-JP" sz="1400" b="1" kern="100">
                          <a:effectLst/>
                          <a:latin typeface="Meiryo" panose="020B0604030504040204" pitchFamily="34" charset="-128"/>
                          <a:ea typeface="Meiryo" panose="020B0604030504040204" pitchFamily="34" charset="-128"/>
                        </a:rPr>
                        <a:t>プロセスの種類</a:t>
                      </a:r>
                      <a:endParaRPr lang="en-JP" sz="1400" kern="100" dirty="0">
                        <a:effectLst/>
                        <a:latin typeface="Meiryo" panose="020B0604030504040204" pitchFamily="34" charset="-128"/>
                        <a:ea typeface="Meiryo" panose="020B0604030504040204" pitchFamily="34" charset="-128"/>
                        <a:cs typeface="Times New Roman" panose="02020603050405020304" pitchFamily="18" charset="0"/>
                      </a:endParaRPr>
                    </a:p>
                  </a:txBody>
                  <a:tcPr marL="9525" marR="9525" marT="9525" marB="9525" anchor="ctr"/>
                </a:tc>
                <a:tc>
                  <a:txBody>
                    <a:bodyPr/>
                    <a:lstStyle/>
                    <a:p>
                      <a:pPr algn="ctr"/>
                      <a:r>
                        <a:rPr lang="ja-JP" sz="1400" b="1" kern="100">
                          <a:effectLst/>
                          <a:latin typeface="Meiryo" panose="020B0604030504040204" pitchFamily="34" charset="-128"/>
                          <a:ea typeface="Meiryo" panose="020B0604030504040204" pitchFamily="34" charset="-128"/>
                        </a:rPr>
                        <a:t>長所</a:t>
                      </a:r>
                      <a:endParaRPr lang="en-JP" sz="1400" kern="100">
                        <a:effectLst/>
                        <a:latin typeface="Meiryo" panose="020B0604030504040204" pitchFamily="34" charset="-128"/>
                        <a:ea typeface="Meiryo" panose="020B0604030504040204" pitchFamily="34" charset="-128"/>
                        <a:cs typeface="Times New Roman" panose="02020603050405020304" pitchFamily="18" charset="0"/>
                      </a:endParaRPr>
                    </a:p>
                  </a:txBody>
                  <a:tcPr marL="9525" marR="9525" marT="9525" marB="9525" anchor="ctr"/>
                </a:tc>
                <a:tc>
                  <a:txBody>
                    <a:bodyPr/>
                    <a:lstStyle/>
                    <a:p>
                      <a:pPr algn="ctr"/>
                      <a:r>
                        <a:rPr lang="ja-JP" sz="1400" b="1" kern="100">
                          <a:effectLst/>
                          <a:latin typeface="Meiryo" panose="020B0604030504040204" pitchFamily="34" charset="-128"/>
                          <a:ea typeface="Meiryo" panose="020B0604030504040204" pitchFamily="34" charset="-128"/>
                        </a:rPr>
                        <a:t>短所</a:t>
                      </a:r>
                      <a:endParaRPr lang="en-JP" sz="1400" kern="100">
                        <a:effectLst/>
                        <a:latin typeface="Meiryo" panose="020B0604030504040204" pitchFamily="34" charset="-128"/>
                        <a:ea typeface="Meiryo" panose="020B0604030504040204" pitchFamily="34" charset="-128"/>
                        <a:cs typeface="Times New Roman" panose="02020603050405020304" pitchFamily="18" charset="0"/>
                      </a:endParaRPr>
                    </a:p>
                  </a:txBody>
                  <a:tcPr marL="9525" marR="9525" marT="9525" marB="9525" anchor="ctr"/>
                </a:tc>
                <a:extLst>
                  <a:ext uri="{0D108BD9-81ED-4DB2-BD59-A6C34878D82A}">
                    <a16:rowId xmlns:a16="http://schemas.microsoft.com/office/drawing/2014/main" val="1043743311"/>
                  </a:ext>
                </a:extLst>
              </a:tr>
              <a:tr h="1710826">
                <a:tc>
                  <a:txBody>
                    <a:bodyPr/>
                    <a:lstStyle/>
                    <a:p>
                      <a:r>
                        <a:rPr lang="ja-JP" sz="1400" b="1" kern="100">
                          <a:effectLst/>
                          <a:latin typeface="Meiryo" panose="020B0604030504040204" pitchFamily="34" charset="-128"/>
                          <a:ea typeface="Meiryo" panose="020B0604030504040204" pitchFamily="34" charset="-128"/>
                        </a:rPr>
                        <a:t>構造化されたプロセス（</a:t>
                      </a:r>
                      <a:r>
                        <a:rPr lang="en-JP" sz="1400" b="1" kern="100" dirty="0">
                          <a:effectLst/>
                          <a:latin typeface="Meiryo" panose="020B0604030504040204" pitchFamily="34" charset="-128"/>
                          <a:ea typeface="Meiryo" panose="020B0604030504040204" pitchFamily="34" charset="-128"/>
                        </a:rPr>
                        <a:t>Structured</a:t>
                      </a:r>
                      <a:r>
                        <a:rPr lang="ja-JP" sz="1400" b="1" kern="100">
                          <a:effectLst/>
                          <a:latin typeface="Meiryo" panose="020B0604030504040204" pitchFamily="34" charset="-128"/>
                          <a:ea typeface="Meiryo" panose="020B0604030504040204" pitchFamily="34" charset="-128"/>
                        </a:rPr>
                        <a:t>）（ルールや手順が明確）</a:t>
                      </a:r>
                      <a:endParaRPr lang="en-JP" sz="1400" b="1" kern="100" dirty="0">
                        <a:effectLst/>
                        <a:latin typeface="Meiryo" panose="020B0604030504040204" pitchFamily="34" charset="-128"/>
                        <a:ea typeface="Meiryo" panose="020B0604030504040204" pitchFamily="34" charset="-128"/>
                        <a:cs typeface="Times New Roman" panose="02020603050405020304" pitchFamily="18" charset="0"/>
                      </a:endParaRPr>
                    </a:p>
                  </a:txBody>
                  <a:tcPr marL="9525" marR="9525" marT="9525" marB="9525" anchor="ctr"/>
                </a:tc>
                <a:tc>
                  <a:txBody>
                    <a:bodyPr/>
                    <a:lstStyle/>
                    <a:p>
                      <a:r>
                        <a:rPr lang="ja-JP" sz="1400" kern="100">
                          <a:effectLst/>
                          <a:latin typeface="Meiryo" panose="020B0604030504040204" pitchFamily="34" charset="-128"/>
                          <a:ea typeface="Meiryo" panose="020B0604030504040204" pitchFamily="34" charset="-128"/>
                        </a:rPr>
                        <a:t>安定していて、安全で、管理しやすい</a:t>
                      </a:r>
                      <a:endParaRPr lang="en-JP" sz="1400" kern="100" dirty="0">
                        <a:effectLst/>
                        <a:latin typeface="Meiryo" panose="020B0604030504040204" pitchFamily="34" charset="-128"/>
                        <a:ea typeface="Meiryo" panose="020B0604030504040204" pitchFamily="34" charset="-128"/>
                        <a:cs typeface="Times New Roman" panose="02020603050405020304" pitchFamily="18" charset="0"/>
                      </a:endParaRPr>
                    </a:p>
                  </a:txBody>
                  <a:tcPr marL="9525" marR="9525" marT="9525" marB="9525" anchor="ctr"/>
                </a:tc>
                <a:tc>
                  <a:txBody>
                    <a:bodyPr/>
                    <a:lstStyle/>
                    <a:p>
                      <a:r>
                        <a:rPr lang="ja-JP" sz="1400" kern="100">
                          <a:effectLst/>
                          <a:latin typeface="Meiryo" panose="020B0604030504040204" pitchFamily="34" charset="-128"/>
                          <a:ea typeface="Meiryo" panose="020B0604030504040204" pitchFamily="34" charset="-128"/>
                        </a:rPr>
                        <a:t>新しいアイデアが生まれにくい</a:t>
                      </a:r>
                      <a:endParaRPr lang="en-JP" sz="1400" kern="100" dirty="0">
                        <a:effectLst/>
                        <a:latin typeface="Meiryo" panose="020B0604030504040204" pitchFamily="34" charset="-128"/>
                        <a:ea typeface="Meiryo" panose="020B0604030504040204" pitchFamily="34" charset="-128"/>
                        <a:cs typeface="Times New Roman" panose="02020603050405020304" pitchFamily="18" charset="0"/>
                      </a:endParaRPr>
                    </a:p>
                  </a:txBody>
                  <a:tcPr marL="9525" marR="9525" marT="9525" marB="9525" anchor="ctr"/>
                </a:tc>
                <a:extLst>
                  <a:ext uri="{0D108BD9-81ED-4DB2-BD59-A6C34878D82A}">
                    <a16:rowId xmlns:a16="http://schemas.microsoft.com/office/drawing/2014/main" val="141871175"/>
                  </a:ext>
                </a:extLst>
              </a:tr>
              <a:tr h="1710826">
                <a:tc>
                  <a:txBody>
                    <a:bodyPr/>
                    <a:lstStyle/>
                    <a:p>
                      <a:r>
                        <a:rPr lang="ja-JP" sz="1400" b="1" kern="100">
                          <a:effectLst/>
                          <a:latin typeface="Meiryo" panose="020B0604030504040204" pitchFamily="34" charset="-128"/>
                          <a:ea typeface="Meiryo" panose="020B0604030504040204" pitchFamily="34" charset="-128"/>
                        </a:rPr>
                        <a:t>非構造化されたプロセス（</a:t>
                      </a:r>
                      <a:r>
                        <a:rPr lang="en-JP" sz="1400" b="1" kern="100" dirty="0">
                          <a:effectLst/>
                          <a:latin typeface="Meiryo" panose="020B0604030504040204" pitchFamily="34" charset="-128"/>
                          <a:ea typeface="Meiryo" panose="020B0604030504040204" pitchFamily="34" charset="-128"/>
                        </a:rPr>
                        <a:t>Unstructured</a:t>
                      </a:r>
                      <a:r>
                        <a:rPr lang="ja-JP" sz="1400" b="1" kern="100">
                          <a:effectLst/>
                          <a:latin typeface="Meiryo" panose="020B0604030504040204" pitchFamily="34" charset="-128"/>
                          <a:ea typeface="Meiryo" panose="020B0604030504040204" pitchFamily="34" charset="-128"/>
                        </a:rPr>
                        <a:t>）（自由で柔軟）</a:t>
                      </a:r>
                      <a:endParaRPr lang="en-JP" sz="1400" b="1" kern="100" dirty="0">
                        <a:effectLst/>
                        <a:latin typeface="Meiryo" panose="020B0604030504040204" pitchFamily="34" charset="-128"/>
                        <a:ea typeface="Meiryo" panose="020B0604030504040204" pitchFamily="34" charset="-128"/>
                        <a:cs typeface="Times New Roman" panose="02020603050405020304" pitchFamily="18" charset="0"/>
                      </a:endParaRPr>
                    </a:p>
                  </a:txBody>
                  <a:tcPr marL="9525" marR="9525" marT="9525" marB="9525" anchor="ctr"/>
                </a:tc>
                <a:tc>
                  <a:txBody>
                    <a:bodyPr/>
                    <a:lstStyle/>
                    <a:p>
                      <a:r>
                        <a:rPr lang="ja-JP" sz="1400" kern="100">
                          <a:effectLst/>
                          <a:latin typeface="Meiryo" panose="020B0604030504040204" pitchFamily="34" charset="-128"/>
                          <a:ea typeface="Meiryo" panose="020B0604030504040204" pitchFamily="34" charset="-128"/>
                        </a:rPr>
                        <a:t>多様なアイデアが生まれる</a:t>
                      </a:r>
                      <a:endParaRPr lang="en-JP" sz="1400" kern="100" dirty="0">
                        <a:effectLst/>
                        <a:latin typeface="Meiryo" panose="020B0604030504040204" pitchFamily="34" charset="-128"/>
                        <a:ea typeface="Meiryo" panose="020B0604030504040204" pitchFamily="34" charset="-128"/>
                        <a:cs typeface="Times New Roman" panose="02020603050405020304" pitchFamily="18" charset="0"/>
                      </a:endParaRPr>
                    </a:p>
                  </a:txBody>
                  <a:tcPr marL="9525" marR="9525" marT="9525" marB="9525" anchor="ctr"/>
                </a:tc>
                <a:tc>
                  <a:txBody>
                    <a:bodyPr/>
                    <a:lstStyle/>
                    <a:p>
                      <a:r>
                        <a:rPr lang="ja-JP" sz="1400" kern="100">
                          <a:effectLst/>
                          <a:latin typeface="Meiryo" panose="020B0604030504040204" pitchFamily="34" charset="-128"/>
                          <a:ea typeface="Meiryo" panose="020B0604030504040204" pitchFamily="34" charset="-128"/>
                        </a:rPr>
                        <a:t>意見の対立が起こりやすく、実行が難しい</a:t>
                      </a:r>
                      <a:endParaRPr lang="en-JP" sz="1400" kern="100" dirty="0">
                        <a:effectLst/>
                        <a:latin typeface="Meiryo" panose="020B0604030504040204" pitchFamily="34" charset="-128"/>
                        <a:ea typeface="Meiryo" panose="020B0604030504040204" pitchFamily="34" charset="-128"/>
                        <a:cs typeface="Times New Roman" panose="02020603050405020304" pitchFamily="18" charset="0"/>
                      </a:endParaRPr>
                    </a:p>
                  </a:txBody>
                  <a:tcPr marL="9525" marR="9525" marT="9525" marB="9525" anchor="ctr"/>
                </a:tc>
                <a:extLst>
                  <a:ext uri="{0D108BD9-81ED-4DB2-BD59-A6C34878D82A}">
                    <a16:rowId xmlns:a16="http://schemas.microsoft.com/office/drawing/2014/main" val="3016584163"/>
                  </a:ext>
                </a:extLst>
              </a:tr>
            </a:tbl>
          </a:graphicData>
        </a:graphic>
      </p:graphicFrame>
      <p:sp>
        <p:nvSpPr>
          <p:cNvPr id="12" name="TextBox 11">
            <a:extLst>
              <a:ext uri="{FF2B5EF4-FFF2-40B4-BE49-F238E27FC236}">
                <a16:creationId xmlns:a16="http://schemas.microsoft.com/office/drawing/2014/main" id="{1906BEB7-F739-E54B-0B7A-2DBEBDE65599}"/>
              </a:ext>
            </a:extLst>
          </p:cNvPr>
          <p:cNvSpPr txBox="1"/>
          <p:nvPr/>
        </p:nvSpPr>
        <p:spPr>
          <a:xfrm>
            <a:off x="4800602" y="355114"/>
            <a:ext cx="6433456" cy="400110"/>
          </a:xfrm>
          <a:prstGeom prst="rect">
            <a:avLst/>
          </a:prstGeom>
          <a:noFill/>
        </p:spPr>
        <p:txBody>
          <a:bodyPr wrap="square">
            <a:spAutoFit/>
          </a:bodyPr>
          <a:lstStyle/>
          <a:p>
            <a:r>
              <a:rPr lang="ja-JP" altLang="en-US" sz="2000">
                <a:latin typeface="Meiryo" panose="020B0604030504040204" pitchFamily="34" charset="-128"/>
                <a:ea typeface="Meiryo" panose="020B0604030504040204" pitchFamily="34" charset="-128"/>
              </a:rPr>
              <a:t>先行研究</a:t>
            </a:r>
            <a:endParaRPr lang="en-JP" sz="2000" dirty="0">
              <a:latin typeface="Meiryo" panose="020B0604030504040204" pitchFamily="34" charset="-128"/>
              <a:ea typeface="Meiryo" panose="020B0604030504040204" pitchFamily="34" charset="-128"/>
            </a:endParaRPr>
          </a:p>
        </p:txBody>
      </p:sp>
      <p:sp>
        <p:nvSpPr>
          <p:cNvPr id="13" name="Slide Number Placeholder 12">
            <a:extLst>
              <a:ext uri="{FF2B5EF4-FFF2-40B4-BE49-F238E27FC236}">
                <a16:creationId xmlns:a16="http://schemas.microsoft.com/office/drawing/2014/main" id="{7518BB98-99FB-56E0-E34D-B901B4CF1415}"/>
              </a:ext>
            </a:extLst>
          </p:cNvPr>
          <p:cNvSpPr>
            <a:spLocks noGrp="1"/>
          </p:cNvSpPr>
          <p:nvPr>
            <p:ph type="sldNum" sz="quarter" idx="12"/>
          </p:nvPr>
        </p:nvSpPr>
        <p:spPr/>
        <p:txBody>
          <a:bodyPr/>
          <a:lstStyle/>
          <a:p>
            <a:fld id="{62667D12-7761-1040-82E2-C1925732DACC}" type="slidenum">
              <a:rPr lang="en-JP" smtClean="0"/>
              <a:t>8</a:t>
            </a:fld>
            <a:endParaRPr lang="en-JP"/>
          </a:p>
        </p:txBody>
      </p:sp>
    </p:spTree>
    <p:extLst>
      <p:ext uri="{BB962C8B-B14F-4D97-AF65-F5344CB8AC3E}">
        <p14:creationId xmlns:p14="http://schemas.microsoft.com/office/powerpoint/2010/main" val="133233347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4AA560-B3D5-5AF2-5464-65CE423E5192}"/>
              </a:ext>
            </a:extLst>
          </p:cNvPr>
          <p:cNvSpPr>
            <a:spLocks noGrp="1"/>
          </p:cNvSpPr>
          <p:nvPr>
            <p:ph type="title"/>
          </p:nvPr>
        </p:nvSpPr>
        <p:spPr>
          <a:xfrm>
            <a:off x="-2680763" y="770915"/>
            <a:ext cx="10364451" cy="1596177"/>
          </a:xfrm>
        </p:spPr>
        <p:txBody>
          <a:bodyPr/>
          <a:lstStyle/>
          <a:p>
            <a:r>
              <a:rPr lang="ja-JP" altLang="en-US" sz="3600">
                <a:latin typeface="Meiryo UI" panose="020B0604030504040204" pitchFamily="50" charset="-128"/>
                <a:ea typeface="Meiryo UI" panose="020B0604030504040204" pitchFamily="50" charset="-128"/>
              </a:rPr>
              <a:t>研究背景・目的</a:t>
            </a:r>
            <a:br>
              <a:rPr lang="en-US" altLang="ja-JP" sz="3600" dirty="0">
                <a:solidFill>
                  <a:srgbClr val="C00000"/>
                </a:solidFill>
                <a:latin typeface="Meiryo UI" panose="020B0604030504040204" pitchFamily="50" charset="-128"/>
                <a:ea typeface="Meiryo UI" panose="020B0604030504040204" pitchFamily="50" charset="-128"/>
              </a:rPr>
            </a:br>
            <a:endParaRPr lang="en-JP" dirty="0"/>
          </a:p>
        </p:txBody>
      </p:sp>
      <p:sp>
        <p:nvSpPr>
          <p:cNvPr id="3" name="Content Placeholder 2">
            <a:extLst>
              <a:ext uri="{FF2B5EF4-FFF2-40B4-BE49-F238E27FC236}">
                <a16:creationId xmlns:a16="http://schemas.microsoft.com/office/drawing/2014/main" id="{FE73BA80-7D47-24EB-334A-FD81D0F13440}"/>
              </a:ext>
            </a:extLst>
          </p:cNvPr>
          <p:cNvSpPr>
            <a:spLocks noGrp="1"/>
          </p:cNvSpPr>
          <p:nvPr>
            <p:ph sz="quarter" idx="13"/>
          </p:nvPr>
        </p:nvSpPr>
        <p:spPr>
          <a:xfrm>
            <a:off x="819180" y="2367092"/>
            <a:ext cx="10363826" cy="3424107"/>
          </a:xfrm>
        </p:spPr>
        <p:txBody>
          <a:bodyPr>
            <a:normAutofit/>
          </a:bodyPr>
          <a:lstStyle/>
          <a:p>
            <a:r>
              <a:rPr lang="ja-JP" altLang="en-US" sz="2400">
                <a:latin typeface="Meiryo" panose="020B0604030504040204" pitchFamily="34" charset="-128"/>
                <a:ea typeface="Meiryo" panose="020B0604030504040204" pitchFamily="34" charset="-128"/>
              </a:rPr>
              <a:t>セキュリティ（</a:t>
            </a:r>
            <a:r>
              <a:rPr lang="en-US" sz="2400" dirty="0">
                <a:latin typeface="Meiryo" panose="020B0604030504040204" pitchFamily="34" charset="-128"/>
                <a:ea typeface="Meiryo" panose="020B0604030504040204" pitchFamily="34" charset="-128"/>
              </a:rPr>
              <a:t>Security）</a:t>
            </a:r>
            <a:r>
              <a:rPr lang="ja-JP" altLang="en-US" sz="2400">
                <a:latin typeface="Meiryo" panose="020B0604030504040204" pitchFamily="34" charset="-128"/>
                <a:ea typeface="Meiryo" panose="020B0604030504040204" pitchFamily="34" charset="-128"/>
              </a:rPr>
              <a:t>と</a:t>
            </a:r>
            <a:r>
              <a:rPr lang="mn-MN" altLang="ja-JP" sz="2400" dirty="0">
                <a:latin typeface="Meiryo" panose="020B0604030504040204" pitchFamily="34" charset="-128"/>
                <a:ea typeface="Meiryo" panose="020B0604030504040204" pitchFamily="34" charset="-128"/>
              </a:rPr>
              <a:t> </a:t>
            </a:r>
            <a:r>
              <a:rPr lang="ja-JP" altLang="en-US" sz="2400">
                <a:latin typeface="Meiryo" panose="020B0604030504040204" pitchFamily="34" charset="-128"/>
                <a:ea typeface="Meiryo" panose="020B0604030504040204" pitchFamily="34" charset="-128"/>
              </a:rPr>
              <a:t>ユーザビリティ（</a:t>
            </a:r>
            <a:r>
              <a:rPr lang="en-US" sz="2400" dirty="0">
                <a:latin typeface="Meiryo" panose="020B0604030504040204" pitchFamily="34" charset="-128"/>
                <a:ea typeface="Meiryo" panose="020B0604030504040204" pitchFamily="34" charset="-128"/>
              </a:rPr>
              <a:t>Usability）</a:t>
            </a:r>
            <a:r>
              <a:rPr lang="ja-JP" altLang="en-US" sz="2400">
                <a:latin typeface="Meiryo" panose="020B0604030504040204" pitchFamily="34" charset="-128"/>
                <a:ea typeface="Meiryo" panose="020B0604030504040204" pitchFamily="34" charset="-128"/>
              </a:rPr>
              <a:t>の両方を同時に考慮したシステム設計において、どのような方法論や実践的なアプローチが有効であるかを明らかにすること。</a:t>
            </a:r>
            <a:endParaRPr lang="en-JP" sz="2400" dirty="0">
              <a:latin typeface="Meiryo" panose="020B0604030504040204" pitchFamily="34" charset="-128"/>
              <a:ea typeface="Meiryo" panose="020B0604030504040204" pitchFamily="34" charset="-128"/>
            </a:endParaRPr>
          </a:p>
        </p:txBody>
      </p:sp>
      <p:sp>
        <p:nvSpPr>
          <p:cNvPr id="4" name="Slide Number Placeholder 3">
            <a:extLst>
              <a:ext uri="{FF2B5EF4-FFF2-40B4-BE49-F238E27FC236}">
                <a16:creationId xmlns:a16="http://schemas.microsoft.com/office/drawing/2014/main" id="{2F2FD56B-BAD7-405D-EAAD-B67069160150}"/>
              </a:ext>
            </a:extLst>
          </p:cNvPr>
          <p:cNvSpPr>
            <a:spLocks noGrp="1"/>
          </p:cNvSpPr>
          <p:nvPr>
            <p:ph type="sldNum" sz="quarter" idx="12"/>
          </p:nvPr>
        </p:nvSpPr>
        <p:spPr/>
        <p:txBody>
          <a:bodyPr/>
          <a:lstStyle/>
          <a:p>
            <a:fld id="{62667D12-7761-1040-82E2-C1925732DACC}" type="slidenum">
              <a:rPr lang="en-JP" smtClean="0"/>
              <a:t>9</a:t>
            </a:fld>
            <a:endParaRPr lang="en-JP"/>
          </a:p>
        </p:txBody>
      </p:sp>
    </p:spTree>
    <p:extLst>
      <p:ext uri="{BB962C8B-B14F-4D97-AF65-F5344CB8AC3E}">
        <p14:creationId xmlns:p14="http://schemas.microsoft.com/office/powerpoint/2010/main" val="101784867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3AFF01-94B2-6187-F9CE-2B31A1A95D4B}"/>
              </a:ext>
            </a:extLst>
          </p:cNvPr>
          <p:cNvSpPr>
            <a:spLocks noGrp="1"/>
          </p:cNvSpPr>
          <p:nvPr>
            <p:ph type="title"/>
          </p:nvPr>
        </p:nvSpPr>
        <p:spPr>
          <a:xfrm>
            <a:off x="903515" y="1034143"/>
            <a:ext cx="2688772" cy="614494"/>
          </a:xfrm>
        </p:spPr>
        <p:txBody>
          <a:bodyPr>
            <a:normAutofit/>
          </a:bodyPr>
          <a:lstStyle/>
          <a:p>
            <a:r>
              <a:rPr lang="ja-JP" altLang="en-US">
                <a:latin typeface="Meiryo UI" panose="020B0604030504040204" pitchFamily="50" charset="-128"/>
                <a:ea typeface="Meiryo UI" panose="020B0604030504040204" pitchFamily="50" charset="-128"/>
              </a:rPr>
              <a:t>目次</a:t>
            </a:r>
            <a:endParaRPr lang="en-JP" dirty="0"/>
          </a:p>
        </p:txBody>
      </p:sp>
      <p:sp>
        <p:nvSpPr>
          <p:cNvPr id="5" name="TextBox 4">
            <a:extLst>
              <a:ext uri="{FF2B5EF4-FFF2-40B4-BE49-F238E27FC236}">
                <a16:creationId xmlns:a16="http://schemas.microsoft.com/office/drawing/2014/main" id="{56BC3D14-406B-F67B-CEF3-386DE9A5C773}"/>
              </a:ext>
            </a:extLst>
          </p:cNvPr>
          <p:cNvSpPr txBox="1"/>
          <p:nvPr/>
        </p:nvSpPr>
        <p:spPr>
          <a:xfrm>
            <a:off x="1328057" y="2106384"/>
            <a:ext cx="6096000" cy="2550698"/>
          </a:xfrm>
          <a:prstGeom prst="rect">
            <a:avLst/>
          </a:prstGeom>
          <a:noFill/>
        </p:spPr>
        <p:txBody>
          <a:bodyPr wrap="square">
            <a:spAutoFit/>
          </a:bodyPr>
          <a:lstStyle/>
          <a:p>
            <a:pPr marL="761981" indent="-548626">
              <a:lnSpc>
                <a:spcPct val="150000"/>
              </a:lnSpc>
              <a:spcBef>
                <a:spcPts val="0"/>
              </a:spcBef>
              <a:buSzPts val="2800"/>
              <a:buFont typeface="Wingdings" pitchFamily="2" charset="2"/>
              <a:buChar char="§"/>
            </a:pPr>
            <a:r>
              <a:rPr lang="ja-JP" altLang="en-US" sz="1800">
                <a:latin typeface="Meiryo" panose="020B0604030504040204" pitchFamily="34" charset="-128"/>
                <a:ea typeface="Meiryo" panose="020B0604030504040204" pitchFamily="34" charset="-128"/>
              </a:rPr>
              <a:t>はじめに </a:t>
            </a:r>
            <a:r>
              <a:rPr lang="en-US" altLang="ja-JP" sz="1800" dirty="0">
                <a:latin typeface="Meiryo" panose="020B0604030504040204" pitchFamily="34" charset="-128"/>
                <a:ea typeface="Meiryo" panose="020B0604030504040204" pitchFamily="34" charset="-128"/>
              </a:rPr>
              <a:t>(Introduction)</a:t>
            </a:r>
          </a:p>
          <a:p>
            <a:pPr marL="761981" indent="-548626">
              <a:lnSpc>
                <a:spcPct val="150000"/>
              </a:lnSpc>
              <a:spcBef>
                <a:spcPts val="0"/>
              </a:spcBef>
              <a:buSzPts val="2800"/>
              <a:buFont typeface="Wingdings" pitchFamily="2" charset="2"/>
              <a:buChar char="§"/>
            </a:pPr>
            <a:r>
              <a:rPr lang="ja-JP" altLang="en-US" sz="1800">
                <a:latin typeface="Meiryo" panose="020B0604030504040204" pitchFamily="34" charset="-128"/>
                <a:ea typeface="Meiryo" panose="020B0604030504040204" pitchFamily="34" charset="-128"/>
              </a:rPr>
              <a:t>研究の目的 </a:t>
            </a:r>
            <a:r>
              <a:rPr lang="en-US" altLang="ja-JP" sz="1800" dirty="0">
                <a:latin typeface="Meiryo" panose="020B0604030504040204" pitchFamily="34" charset="-128"/>
                <a:ea typeface="Meiryo" panose="020B0604030504040204" pitchFamily="34" charset="-128"/>
              </a:rPr>
              <a:t>(Purpose / Aim)</a:t>
            </a:r>
          </a:p>
          <a:p>
            <a:pPr marL="761981" indent="-548626">
              <a:lnSpc>
                <a:spcPct val="150000"/>
              </a:lnSpc>
              <a:spcBef>
                <a:spcPts val="0"/>
              </a:spcBef>
              <a:buSzPts val="2800"/>
              <a:buFont typeface="Wingdings" pitchFamily="2" charset="2"/>
              <a:buChar char="§"/>
            </a:pPr>
            <a:r>
              <a:rPr lang="ja-JP" altLang="en-US" sz="1800">
                <a:solidFill>
                  <a:srgbClr val="FF0000"/>
                </a:solidFill>
                <a:latin typeface="Meiryo" panose="020B0604030504040204" pitchFamily="34" charset="-128"/>
                <a:ea typeface="Meiryo" panose="020B0604030504040204" pitchFamily="34" charset="-128"/>
              </a:rPr>
              <a:t>方法 </a:t>
            </a:r>
            <a:r>
              <a:rPr lang="en-US" altLang="ja-JP" sz="1800" dirty="0">
                <a:solidFill>
                  <a:srgbClr val="FF0000"/>
                </a:solidFill>
                <a:latin typeface="Meiryo" panose="020B0604030504040204" pitchFamily="34" charset="-128"/>
                <a:ea typeface="Meiryo" panose="020B0604030504040204" pitchFamily="34" charset="-128"/>
              </a:rPr>
              <a:t>(Method / Approach)</a:t>
            </a:r>
          </a:p>
          <a:p>
            <a:pPr marL="761981" indent="-548626">
              <a:lnSpc>
                <a:spcPct val="150000"/>
              </a:lnSpc>
              <a:spcBef>
                <a:spcPts val="0"/>
              </a:spcBef>
              <a:buSzPts val="2800"/>
              <a:buFont typeface="Wingdings" pitchFamily="2" charset="2"/>
              <a:buChar char="§"/>
            </a:pPr>
            <a:r>
              <a:rPr lang="ja-JP" altLang="en-US" sz="1800">
                <a:latin typeface="Meiryo" panose="020B0604030504040204" pitchFamily="34" charset="-128"/>
                <a:ea typeface="Meiryo" panose="020B0604030504040204" pitchFamily="34" charset="-128"/>
              </a:rPr>
              <a:t>結果 </a:t>
            </a:r>
            <a:r>
              <a:rPr lang="en-US" altLang="ja-JP" sz="1800" dirty="0">
                <a:latin typeface="Meiryo" panose="020B0604030504040204" pitchFamily="34" charset="-128"/>
                <a:ea typeface="Meiryo" panose="020B0604030504040204" pitchFamily="34" charset="-128"/>
              </a:rPr>
              <a:t>(Results / Findings)</a:t>
            </a:r>
          </a:p>
          <a:p>
            <a:pPr marL="761981" indent="-548626">
              <a:lnSpc>
                <a:spcPct val="150000"/>
              </a:lnSpc>
              <a:spcBef>
                <a:spcPts val="0"/>
              </a:spcBef>
              <a:buSzPts val="2800"/>
              <a:buFont typeface="Wingdings" pitchFamily="2" charset="2"/>
              <a:buChar char="§"/>
            </a:pPr>
            <a:r>
              <a:rPr lang="ja-JP" altLang="en-US" sz="1800">
                <a:latin typeface="Meiryo" panose="020B0604030504040204" pitchFamily="34" charset="-128"/>
                <a:ea typeface="Meiryo" panose="020B0604030504040204" pitchFamily="34" charset="-128"/>
              </a:rPr>
              <a:t>考察 </a:t>
            </a:r>
            <a:r>
              <a:rPr lang="en-US" altLang="ja-JP" sz="1800" dirty="0">
                <a:latin typeface="Meiryo" panose="020B0604030504040204" pitchFamily="34" charset="-128"/>
                <a:ea typeface="Meiryo" panose="020B0604030504040204" pitchFamily="34" charset="-128"/>
              </a:rPr>
              <a:t>(Discussion)</a:t>
            </a:r>
          </a:p>
          <a:p>
            <a:pPr marL="761981" indent="-548626">
              <a:lnSpc>
                <a:spcPct val="150000"/>
              </a:lnSpc>
              <a:spcBef>
                <a:spcPts val="0"/>
              </a:spcBef>
              <a:buSzPts val="2800"/>
              <a:buFont typeface="Wingdings" pitchFamily="2" charset="2"/>
              <a:buChar char="§"/>
            </a:pPr>
            <a:r>
              <a:rPr lang="ja-JP" altLang="en-US" sz="1800">
                <a:latin typeface="Meiryo" panose="020B0604030504040204" pitchFamily="34" charset="-128"/>
                <a:ea typeface="Meiryo" panose="020B0604030504040204" pitchFamily="34" charset="-128"/>
              </a:rPr>
              <a:t>まとめ </a:t>
            </a:r>
            <a:r>
              <a:rPr lang="en-US" altLang="ja-JP" sz="1800" dirty="0">
                <a:latin typeface="Meiryo" panose="020B0604030504040204" pitchFamily="34" charset="-128"/>
                <a:ea typeface="Meiryo" panose="020B0604030504040204" pitchFamily="34" charset="-128"/>
              </a:rPr>
              <a:t>(Conclusion)</a:t>
            </a:r>
            <a:endParaRPr lang="en-JP" sz="1800" dirty="0">
              <a:latin typeface="Meiryo" panose="020B0604030504040204" pitchFamily="34" charset="-128"/>
              <a:ea typeface="Meiryo" panose="020B0604030504040204" pitchFamily="34" charset="-128"/>
            </a:endParaRPr>
          </a:p>
        </p:txBody>
      </p:sp>
      <p:sp>
        <p:nvSpPr>
          <p:cNvPr id="3" name="Slide Number Placeholder 2">
            <a:extLst>
              <a:ext uri="{FF2B5EF4-FFF2-40B4-BE49-F238E27FC236}">
                <a16:creationId xmlns:a16="http://schemas.microsoft.com/office/drawing/2014/main" id="{5549356A-949E-C11A-A8FD-FA9F0A5F0D50}"/>
              </a:ext>
            </a:extLst>
          </p:cNvPr>
          <p:cNvSpPr>
            <a:spLocks noGrp="1"/>
          </p:cNvSpPr>
          <p:nvPr>
            <p:ph type="sldNum" sz="quarter" idx="12"/>
          </p:nvPr>
        </p:nvSpPr>
        <p:spPr/>
        <p:txBody>
          <a:bodyPr/>
          <a:lstStyle/>
          <a:p>
            <a:fld id="{62667D12-7761-1040-82E2-C1925732DACC}" type="slidenum">
              <a:rPr lang="en-JP" smtClean="0"/>
              <a:t>10</a:t>
            </a:fld>
            <a:endParaRPr lang="en-JP"/>
          </a:p>
        </p:txBody>
      </p:sp>
    </p:spTree>
    <p:extLst>
      <p:ext uri="{BB962C8B-B14F-4D97-AF65-F5344CB8AC3E}">
        <p14:creationId xmlns:p14="http://schemas.microsoft.com/office/powerpoint/2010/main" val="47993234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362A3A1-13EB-612A-FA8F-B89A240CB228}"/>
              </a:ext>
            </a:extLst>
          </p:cNvPr>
          <p:cNvSpPr>
            <a:spLocks noGrp="1"/>
          </p:cNvSpPr>
          <p:nvPr>
            <p:ph sz="quarter" idx="13"/>
          </p:nvPr>
        </p:nvSpPr>
        <p:spPr>
          <a:xfrm>
            <a:off x="1000860" y="751114"/>
            <a:ext cx="10363826" cy="5812972"/>
          </a:xfrm>
        </p:spPr>
        <p:txBody>
          <a:bodyPr>
            <a:normAutofit fontScale="47500" lnSpcReduction="20000"/>
          </a:bodyPr>
          <a:lstStyle/>
          <a:p>
            <a:pPr marL="0" indent="0">
              <a:buNone/>
            </a:pPr>
            <a:r>
              <a:rPr lang="ja-JP" altLang="en-US" sz="3500" b="1">
                <a:latin typeface="Meiryo" panose="020B0604030504040204" pitchFamily="34" charset="-128"/>
                <a:ea typeface="Meiryo" panose="020B0604030504040204" pitchFamily="34" charset="-128"/>
              </a:rPr>
              <a:t> </a:t>
            </a:r>
            <a:endParaRPr lang="en-US" altLang="ja-JP" sz="3500" b="1" dirty="0">
              <a:latin typeface="Meiryo" panose="020B0604030504040204" pitchFamily="34" charset="-128"/>
              <a:ea typeface="Meiryo" panose="020B0604030504040204" pitchFamily="34" charset="-128"/>
            </a:endParaRPr>
          </a:p>
          <a:p>
            <a:pPr marL="0" indent="0">
              <a:buNone/>
            </a:pPr>
            <a:r>
              <a:rPr lang="en-US" sz="3500" b="1" dirty="0">
                <a:latin typeface="Meiryo" panose="020B0604030504040204" pitchFamily="34" charset="-128"/>
                <a:ea typeface="Meiryo" panose="020B0604030504040204" pitchFamily="34" charset="-128"/>
              </a:rPr>
              <a:t>Context of Use </a:t>
            </a:r>
            <a:r>
              <a:rPr lang="ja-JP" altLang="en-US" sz="3500" b="1">
                <a:latin typeface="Meiryo" panose="020B0604030504040204" pitchFamily="34" charset="-128"/>
                <a:ea typeface="Meiryo" panose="020B0604030504040204" pitchFamily="34" charset="-128"/>
              </a:rPr>
              <a:t>分析</a:t>
            </a:r>
            <a:endParaRPr lang="ja-JP" altLang="en-US" sz="3500">
              <a:latin typeface="Meiryo" panose="020B0604030504040204" pitchFamily="34" charset="-128"/>
              <a:ea typeface="Meiryo" panose="020B0604030504040204" pitchFamily="34" charset="-128"/>
            </a:endParaRPr>
          </a:p>
          <a:p>
            <a:pPr marL="742950" lvl="1" indent="-285750">
              <a:buFont typeface="Arial" panose="020B0604020202020204" pitchFamily="34" charset="0"/>
              <a:buChar char="•"/>
            </a:pPr>
            <a:r>
              <a:rPr lang="ja-JP" altLang="en-US" sz="3500">
                <a:latin typeface="Meiryo" panose="020B0604030504040204" pitchFamily="34" charset="-128"/>
                <a:ea typeface="Meiryo" panose="020B0604030504040204" pitchFamily="34" charset="-128"/>
              </a:rPr>
              <a:t>ユーザーの環境、目的、行動、タスク、機器を詳細に記述</a:t>
            </a:r>
          </a:p>
          <a:p>
            <a:pPr marL="742950" lvl="1" indent="-285750">
              <a:buFont typeface="Arial" panose="020B0604020202020204" pitchFamily="34" charset="0"/>
              <a:buChar char="•"/>
            </a:pPr>
            <a:r>
              <a:rPr lang="ja-JP" altLang="en-US" sz="3500">
                <a:latin typeface="Meiryo" panose="020B0604030504040204" pitchFamily="34" charset="-128"/>
                <a:ea typeface="Meiryo" panose="020B0604030504040204" pitchFamily="34" charset="-128"/>
              </a:rPr>
              <a:t>含む要素</a:t>
            </a:r>
            <a:r>
              <a:rPr lang="en-US" altLang="ja-JP" sz="3500" dirty="0">
                <a:latin typeface="Meiryo" panose="020B0604030504040204" pitchFamily="34" charset="-128"/>
                <a:ea typeface="Meiryo" panose="020B0604030504040204" pitchFamily="34" charset="-128"/>
              </a:rPr>
              <a:t>: </a:t>
            </a:r>
            <a:r>
              <a:rPr lang="en-US" sz="3500" dirty="0">
                <a:latin typeface="Meiryo" panose="020B0604030504040204" pitchFamily="34" charset="-128"/>
                <a:ea typeface="Meiryo" panose="020B0604030504040204" pitchFamily="34" charset="-128"/>
              </a:rPr>
              <a:t>Personas</a:t>
            </a:r>
            <a:r>
              <a:rPr lang="ja-JP" altLang="en-US" sz="3500">
                <a:latin typeface="Meiryo" panose="020B0604030504040204" pitchFamily="34" charset="-128"/>
                <a:ea typeface="Meiryo" panose="020B0604030504040204" pitchFamily="34" charset="-128"/>
              </a:rPr>
              <a:t>、</a:t>
            </a:r>
            <a:r>
              <a:rPr lang="en-US" sz="3500" dirty="0">
                <a:latin typeface="Meiryo" panose="020B0604030504040204" pitchFamily="34" charset="-128"/>
                <a:ea typeface="Meiryo" panose="020B0604030504040204" pitchFamily="34" charset="-128"/>
              </a:rPr>
              <a:t>Environments, Equipment</a:t>
            </a:r>
          </a:p>
          <a:p>
            <a:pPr marL="742950" lvl="1" indent="-285750">
              <a:buFont typeface="Arial" panose="020B0604020202020204" pitchFamily="34" charset="0"/>
              <a:buChar char="•"/>
            </a:pPr>
            <a:endParaRPr lang="en-US" sz="3500" dirty="0">
              <a:latin typeface="Meiryo" panose="020B0604030504040204" pitchFamily="34" charset="-128"/>
              <a:ea typeface="Meiryo" panose="020B0604030504040204" pitchFamily="34" charset="-128"/>
            </a:endParaRPr>
          </a:p>
          <a:p>
            <a:pPr marL="0" indent="0">
              <a:buNone/>
            </a:pPr>
            <a:r>
              <a:rPr lang="en-US" altLang="ja-JP" sz="3500" b="1" dirty="0">
                <a:latin typeface="Meiryo" panose="020B0604030504040204" pitchFamily="34" charset="-128"/>
                <a:ea typeface="Meiryo" panose="020B0604030504040204" pitchFamily="34" charset="-128"/>
              </a:rPr>
              <a:t>(</a:t>
            </a:r>
            <a:r>
              <a:rPr lang="en-US" sz="3500" b="1" dirty="0">
                <a:latin typeface="Meiryo" panose="020B0604030504040204" pitchFamily="34" charset="-128"/>
                <a:ea typeface="Meiryo" panose="020B0604030504040204" pitchFamily="34" charset="-128"/>
              </a:rPr>
              <a:t>Domain Modelling)</a:t>
            </a:r>
            <a:endParaRPr lang="en-US" sz="3500" dirty="0">
              <a:latin typeface="Meiryo" panose="020B0604030504040204" pitchFamily="34" charset="-128"/>
              <a:ea typeface="Meiryo" panose="020B0604030504040204" pitchFamily="34" charset="-128"/>
            </a:endParaRPr>
          </a:p>
          <a:p>
            <a:pPr marL="742950" lvl="1" indent="-285750">
              <a:buFont typeface="Arial" panose="020B0604020202020204" pitchFamily="34" charset="0"/>
              <a:buChar char="•"/>
            </a:pPr>
            <a:r>
              <a:rPr lang="en-US" sz="3500" dirty="0">
                <a:latin typeface="Meiryo" panose="020B0604030504040204" pitchFamily="34" charset="-128"/>
                <a:ea typeface="Meiryo" panose="020B0604030504040204" pitchFamily="34" charset="-128"/>
              </a:rPr>
              <a:t>Webinos </a:t>
            </a:r>
            <a:r>
              <a:rPr lang="ja-JP" altLang="en-US" sz="3500">
                <a:latin typeface="Meiryo" panose="020B0604030504040204" pitchFamily="34" charset="-128"/>
                <a:ea typeface="Meiryo" panose="020B0604030504040204" pitchFamily="34" charset="-128"/>
              </a:rPr>
              <a:t>の主要概念、機能領域、</a:t>
            </a:r>
            <a:r>
              <a:rPr lang="en-US" altLang="ja-JP" sz="3500" dirty="0">
                <a:latin typeface="Meiryo" panose="020B0604030504040204" pitchFamily="34" charset="-128"/>
                <a:ea typeface="Meiryo" panose="020B0604030504040204" pitchFamily="34" charset="-128"/>
              </a:rPr>
              <a:t> Target App</a:t>
            </a:r>
            <a:r>
              <a:rPr lang="ja-JP" altLang="en-US" sz="3500">
                <a:latin typeface="Meiryo" panose="020B0604030504040204" pitchFamily="34" charset="-128"/>
                <a:ea typeface="Meiryo" panose="020B0604030504040204" pitchFamily="34" charset="-128"/>
              </a:rPr>
              <a:t>領域を </a:t>
            </a:r>
            <a:r>
              <a:rPr lang="en-US" sz="3500" dirty="0">
                <a:latin typeface="Meiryo" panose="020B0604030504040204" pitchFamily="34" charset="-128"/>
                <a:ea typeface="Meiryo" panose="020B0604030504040204" pitchFamily="34" charset="-128"/>
              </a:rPr>
              <a:t>UML </a:t>
            </a:r>
            <a:r>
              <a:rPr lang="ja-JP" altLang="en-US" sz="3500">
                <a:latin typeface="Meiryo" panose="020B0604030504040204" pitchFamily="34" charset="-128"/>
                <a:ea typeface="Meiryo" panose="020B0604030504040204" pitchFamily="34" charset="-128"/>
              </a:rPr>
              <a:t>クラス図でモデル化</a:t>
            </a:r>
          </a:p>
          <a:p>
            <a:pPr marL="742950" lvl="1" indent="-285750">
              <a:buFont typeface="Arial" panose="020B0604020202020204" pitchFamily="34" charset="0"/>
              <a:buChar char="•"/>
            </a:pPr>
            <a:r>
              <a:rPr lang="ja-JP" altLang="en-US" sz="3500">
                <a:latin typeface="Meiryo" panose="020B0604030504040204" pitchFamily="34" charset="-128"/>
                <a:ea typeface="Meiryo" panose="020B0604030504040204" pitchFamily="34" charset="-128"/>
              </a:rPr>
              <a:t>属性</a:t>
            </a:r>
            <a:r>
              <a:rPr lang="en-US" altLang="ja-JP" sz="3500" dirty="0">
                <a:latin typeface="Meiryo" panose="020B0604030504040204" pitchFamily="34" charset="-128"/>
                <a:ea typeface="Meiryo" panose="020B0604030504040204" pitchFamily="34" charset="-128"/>
              </a:rPr>
              <a:t>: </a:t>
            </a:r>
            <a:r>
              <a:rPr lang="ja-JP" altLang="en-US" sz="3500">
                <a:latin typeface="Meiryo" panose="020B0604030504040204" pitchFamily="34" charset="-128"/>
                <a:ea typeface="Meiryo" panose="020B0604030504040204" pitchFamily="34" charset="-128"/>
              </a:rPr>
              <a:t>セキュリティ（</a:t>
            </a:r>
            <a:r>
              <a:rPr lang="en-US" sz="3500" dirty="0">
                <a:latin typeface="Meiryo" panose="020B0604030504040204" pitchFamily="34" charset="-128"/>
                <a:ea typeface="Meiryo" panose="020B0604030504040204" pitchFamily="34" charset="-128"/>
              </a:rPr>
              <a:t>Confidentiality, Integrity, Availability, Accountability）</a:t>
            </a:r>
          </a:p>
          <a:p>
            <a:pPr marL="742950" lvl="1" indent="-285750">
              <a:buFont typeface="Arial" panose="020B0604020202020204" pitchFamily="34" charset="0"/>
              <a:buChar char="•"/>
            </a:pPr>
            <a:r>
              <a:rPr lang="ja-JP" altLang="en-US" sz="3500">
                <a:latin typeface="Meiryo" panose="020B0604030504040204" pitchFamily="34" charset="-128"/>
                <a:ea typeface="Meiryo" panose="020B0604030504040204" pitchFamily="34" charset="-128"/>
              </a:rPr>
              <a:t>プライバシー（</a:t>
            </a:r>
            <a:r>
              <a:rPr lang="en-US" sz="3500" dirty="0">
                <a:latin typeface="Meiryo" panose="020B0604030504040204" pitchFamily="34" charset="-128"/>
                <a:ea typeface="Meiryo" panose="020B0604030504040204" pitchFamily="34" charset="-128"/>
              </a:rPr>
              <a:t>Anonymity, Pseudonymity, Unlinkability, Unobservability）</a:t>
            </a:r>
          </a:p>
          <a:p>
            <a:pPr marL="742950" lvl="1" indent="-285750">
              <a:buFont typeface="Arial" panose="020B0604020202020204" pitchFamily="34" charset="0"/>
              <a:buChar char="•"/>
            </a:pPr>
            <a:endParaRPr lang="en-US" sz="3500" dirty="0">
              <a:latin typeface="Meiryo" panose="020B0604030504040204" pitchFamily="34" charset="-128"/>
              <a:ea typeface="Meiryo" panose="020B0604030504040204" pitchFamily="34" charset="-128"/>
            </a:endParaRPr>
          </a:p>
          <a:p>
            <a:pPr marL="0" indent="0">
              <a:buNone/>
            </a:pPr>
            <a:r>
              <a:rPr lang="en-US" sz="3500" b="1" dirty="0">
                <a:latin typeface="Meiryo" panose="020B0604030504040204" pitchFamily="34" charset="-128"/>
                <a:ea typeface="Meiryo" panose="020B0604030504040204" pitchFamily="34" charset="-128"/>
              </a:rPr>
              <a:t>Security by Design (SbD) </a:t>
            </a:r>
            <a:r>
              <a:rPr lang="ja-JP" altLang="en-US" sz="3500" b="1">
                <a:latin typeface="Meiryo" panose="020B0604030504040204" pitchFamily="34" charset="-128"/>
                <a:ea typeface="Meiryo" panose="020B0604030504040204" pitchFamily="34" charset="-128"/>
              </a:rPr>
              <a:t>と </a:t>
            </a:r>
            <a:r>
              <a:rPr lang="en-US" sz="3500" b="1" dirty="0">
                <a:latin typeface="Meiryo" panose="020B0604030504040204" pitchFamily="34" charset="-128"/>
                <a:ea typeface="Meiryo" panose="020B0604030504040204" pitchFamily="34" charset="-128"/>
              </a:rPr>
              <a:t>Usability Engineering </a:t>
            </a:r>
            <a:r>
              <a:rPr lang="ja-JP" altLang="en-US" sz="3500" b="1">
                <a:latin typeface="Meiryo" panose="020B0604030504040204" pitchFamily="34" charset="-128"/>
                <a:ea typeface="Meiryo" panose="020B0604030504040204" pitchFamily="34" charset="-128"/>
              </a:rPr>
              <a:t>の統合</a:t>
            </a:r>
            <a:endParaRPr lang="ja-JP" altLang="en-US" sz="3500">
              <a:latin typeface="Meiryo" panose="020B0604030504040204" pitchFamily="34" charset="-128"/>
              <a:ea typeface="Meiryo" panose="020B0604030504040204" pitchFamily="34" charset="-128"/>
            </a:endParaRPr>
          </a:p>
          <a:p>
            <a:pPr marL="742950" lvl="1" indent="-285750">
              <a:buFont typeface="Arial" panose="020B0604020202020204" pitchFamily="34" charset="0"/>
              <a:buChar char="•"/>
            </a:pPr>
            <a:r>
              <a:rPr lang="en-US" sz="3500" dirty="0">
                <a:latin typeface="Meiryo" panose="020B0604030504040204" pitchFamily="34" charset="-128"/>
                <a:ea typeface="Meiryo" panose="020B0604030504040204" pitchFamily="34" charset="-128"/>
              </a:rPr>
              <a:t>Context of Use, Personas, Scenarios </a:t>
            </a:r>
            <a:r>
              <a:rPr lang="ja-JP" altLang="en-US" sz="3500">
                <a:latin typeface="Meiryo" panose="020B0604030504040204" pitchFamily="34" charset="-128"/>
                <a:ea typeface="Meiryo" panose="020B0604030504040204" pitchFamily="34" charset="-128"/>
              </a:rPr>
              <a:t>を </a:t>
            </a:r>
            <a:r>
              <a:rPr lang="en-US" sz="3500" dirty="0">
                <a:latin typeface="Meiryo" panose="020B0604030504040204" pitchFamily="34" charset="-128"/>
                <a:ea typeface="Meiryo" panose="020B0604030504040204" pitchFamily="34" charset="-128"/>
              </a:rPr>
              <a:t>SbD </a:t>
            </a:r>
            <a:r>
              <a:rPr lang="ja-JP" altLang="en-US" sz="3500">
                <a:latin typeface="Meiryo" panose="020B0604030504040204" pitchFamily="34" charset="-128"/>
                <a:ea typeface="Meiryo" panose="020B0604030504040204" pitchFamily="34" charset="-128"/>
              </a:rPr>
              <a:t>に統合</a:t>
            </a:r>
          </a:p>
          <a:p>
            <a:pPr marL="742950" lvl="1" indent="-285750">
              <a:buFont typeface="Arial" panose="020B0604020202020204" pitchFamily="34" charset="0"/>
              <a:buChar char="•"/>
            </a:pPr>
            <a:r>
              <a:rPr lang="ja-JP" altLang="en-US" sz="3500">
                <a:latin typeface="Meiryo" panose="020B0604030504040204" pitchFamily="34" charset="-128"/>
                <a:ea typeface="Meiryo" panose="020B0604030504040204" pitchFamily="34" charset="-128"/>
              </a:rPr>
              <a:t>ユーザーの行動・環境・目的に基づくセキュリティ設計を実現</a:t>
            </a:r>
            <a:endParaRPr lang="en-US" altLang="ja-JP" sz="3500" dirty="0">
              <a:latin typeface="Meiryo" panose="020B0604030504040204" pitchFamily="34" charset="-128"/>
              <a:ea typeface="Meiryo" panose="020B0604030504040204" pitchFamily="34" charset="-128"/>
            </a:endParaRPr>
          </a:p>
          <a:p>
            <a:pPr marL="742950" lvl="1" indent="-285750">
              <a:buFont typeface="Arial" panose="020B0604020202020204" pitchFamily="34" charset="0"/>
              <a:buChar char="•"/>
            </a:pPr>
            <a:endParaRPr lang="ja-JP" altLang="en-US" sz="3500">
              <a:latin typeface="Meiryo" panose="020B0604030504040204" pitchFamily="34" charset="-128"/>
              <a:ea typeface="Meiryo" panose="020B0604030504040204" pitchFamily="34" charset="-128"/>
            </a:endParaRPr>
          </a:p>
          <a:p>
            <a:pPr marL="0" indent="0">
              <a:buNone/>
            </a:pPr>
            <a:r>
              <a:rPr lang="ja-JP" altLang="en-US" sz="3500" b="1">
                <a:latin typeface="Meiryo" panose="020B0604030504040204" pitchFamily="34" charset="-128"/>
                <a:ea typeface="Meiryo" panose="020B0604030504040204" pitchFamily="34" charset="-128"/>
              </a:rPr>
              <a:t>反復的 </a:t>
            </a:r>
            <a:r>
              <a:rPr lang="en-US" altLang="ja-JP" sz="3500" b="1" dirty="0">
                <a:latin typeface="Meiryo" panose="020B0604030504040204" pitchFamily="34" charset="-128"/>
                <a:ea typeface="Meiryo" panose="020B0604030504040204" pitchFamily="34" charset="-128"/>
              </a:rPr>
              <a:t>/ Case Study Approach</a:t>
            </a:r>
            <a:endParaRPr lang="ja-JP" altLang="en-US" sz="3500">
              <a:latin typeface="Meiryo" panose="020B0604030504040204" pitchFamily="34" charset="-128"/>
              <a:ea typeface="Meiryo" panose="020B0604030504040204" pitchFamily="34" charset="-128"/>
            </a:endParaRPr>
          </a:p>
          <a:p>
            <a:pPr marL="742950" lvl="1" indent="-285750">
              <a:buFont typeface="Arial" panose="020B0604020202020204" pitchFamily="34" charset="0"/>
              <a:buChar char="•"/>
            </a:pPr>
            <a:r>
              <a:rPr lang="en-US" sz="3500" dirty="0">
                <a:latin typeface="Meiryo" panose="020B0604030504040204" pitchFamily="34" charset="-128"/>
                <a:ea typeface="Meiryo" panose="020B0604030504040204" pitchFamily="34" charset="-128"/>
              </a:rPr>
              <a:t>Webinos </a:t>
            </a:r>
            <a:r>
              <a:rPr lang="ja-JP" altLang="en-US" sz="3500">
                <a:latin typeface="Meiryo" panose="020B0604030504040204" pitchFamily="34" charset="-128"/>
                <a:ea typeface="Meiryo" panose="020B0604030504040204" pitchFamily="34" charset="-128"/>
              </a:rPr>
              <a:t>の開発事例を用いてモデル化、評価、改善</a:t>
            </a:r>
          </a:p>
          <a:p>
            <a:pPr marL="742950" lvl="1" indent="-285750">
              <a:buFont typeface="Arial" panose="020B0604020202020204" pitchFamily="34" charset="0"/>
              <a:buChar char="•"/>
            </a:pPr>
            <a:r>
              <a:rPr lang="ja-JP" altLang="en-US" sz="3500">
                <a:latin typeface="Meiryo" panose="020B0604030504040204" pitchFamily="34" charset="-128"/>
                <a:ea typeface="Meiryo" panose="020B0604030504040204" pitchFamily="34" charset="-128"/>
              </a:rPr>
              <a:t>実際の </a:t>
            </a:r>
            <a:r>
              <a:rPr lang="en-US" sz="3500" dirty="0">
                <a:latin typeface="Meiryo" panose="020B0604030504040204" pitchFamily="34" charset="-128"/>
                <a:ea typeface="Meiryo" panose="020B0604030504040204" pitchFamily="34" charset="-128"/>
              </a:rPr>
              <a:t>R&amp;D </a:t>
            </a:r>
            <a:r>
              <a:rPr lang="ja-JP" altLang="en-US" sz="3500">
                <a:latin typeface="Meiryo" panose="020B0604030504040204" pitchFamily="34" charset="-128"/>
                <a:ea typeface="Meiryo" panose="020B0604030504040204" pitchFamily="34" charset="-128"/>
              </a:rPr>
              <a:t>プロジェクトで </a:t>
            </a:r>
            <a:r>
              <a:rPr lang="en-US" sz="3500" dirty="0">
                <a:latin typeface="Meiryo" panose="020B0604030504040204" pitchFamily="34" charset="-128"/>
                <a:ea typeface="Meiryo" panose="020B0604030504040204" pitchFamily="34" charset="-128"/>
              </a:rPr>
              <a:t>SbD </a:t>
            </a:r>
            <a:r>
              <a:rPr lang="ja-JP" altLang="en-US" sz="3500">
                <a:latin typeface="Meiryo" panose="020B0604030504040204" pitchFamily="34" charset="-128"/>
                <a:ea typeface="Meiryo" panose="020B0604030504040204" pitchFamily="34" charset="-128"/>
              </a:rPr>
              <a:t>と </a:t>
            </a:r>
            <a:r>
              <a:rPr lang="en-US" sz="3500" dirty="0">
                <a:latin typeface="Meiryo" panose="020B0604030504040204" pitchFamily="34" charset="-128"/>
                <a:ea typeface="Meiryo" panose="020B0604030504040204" pitchFamily="34" charset="-128"/>
              </a:rPr>
              <a:t>Usability </a:t>
            </a:r>
            <a:r>
              <a:rPr lang="ja-JP" altLang="en-US" sz="3500">
                <a:latin typeface="Meiryo" panose="020B0604030504040204" pitchFamily="34" charset="-128"/>
                <a:ea typeface="Meiryo" panose="020B0604030504040204" pitchFamily="34" charset="-128"/>
              </a:rPr>
              <a:t>を同時に検証</a:t>
            </a:r>
          </a:p>
          <a:p>
            <a:endParaRPr lang="en-JP" dirty="0">
              <a:latin typeface="Meiryo" panose="020B0604030504040204" pitchFamily="34" charset="-128"/>
              <a:ea typeface="Meiryo" panose="020B0604030504040204" pitchFamily="34" charset="-128"/>
            </a:endParaRPr>
          </a:p>
        </p:txBody>
      </p:sp>
      <p:sp>
        <p:nvSpPr>
          <p:cNvPr id="5" name="TextBox 4">
            <a:extLst>
              <a:ext uri="{FF2B5EF4-FFF2-40B4-BE49-F238E27FC236}">
                <a16:creationId xmlns:a16="http://schemas.microsoft.com/office/drawing/2014/main" id="{B815F050-EFDA-D2BC-0DF2-F9945CBEA3CF}"/>
              </a:ext>
            </a:extLst>
          </p:cNvPr>
          <p:cNvSpPr txBox="1"/>
          <p:nvPr/>
        </p:nvSpPr>
        <p:spPr>
          <a:xfrm>
            <a:off x="5671457" y="381782"/>
            <a:ext cx="6096000" cy="369332"/>
          </a:xfrm>
          <a:prstGeom prst="rect">
            <a:avLst/>
          </a:prstGeom>
          <a:noFill/>
        </p:spPr>
        <p:txBody>
          <a:bodyPr wrap="square">
            <a:spAutoFit/>
          </a:bodyPr>
          <a:lstStyle/>
          <a:p>
            <a:pPr marL="0" indent="0">
              <a:buNone/>
            </a:pPr>
            <a:r>
              <a:rPr lang="ja-JP" altLang="en-US" sz="1800" b="1">
                <a:solidFill>
                  <a:srgbClr val="FF0000"/>
                </a:solidFill>
                <a:latin typeface="Meiryo" panose="020B0604030504040204" pitchFamily="34" charset="-128"/>
                <a:ea typeface="Meiryo" panose="020B0604030504040204" pitchFamily="34" charset="-128"/>
              </a:rPr>
              <a:t>方法</a:t>
            </a:r>
            <a:r>
              <a:rPr lang="ja-JP" altLang="en-US" sz="1800" b="1">
                <a:latin typeface="Meiryo" panose="020B0604030504040204" pitchFamily="34" charset="-128"/>
                <a:ea typeface="Meiryo" panose="020B0604030504040204" pitchFamily="34" charset="-128"/>
              </a:rPr>
              <a:t> </a:t>
            </a:r>
            <a:endParaRPr lang="en-US" altLang="ja-JP" sz="1800" b="1" dirty="0">
              <a:latin typeface="Meiryo" panose="020B0604030504040204" pitchFamily="34" charset="-128"/>
              <a:ea typeface="Meiryo" panose="020B0604030504040204" pitchFamily="34" charset="-128"/>
            </a:endParaRPr>
          </a:p>
        </p:txBody>
      </p:sp>
      <p:sp>
        <p:nvSpPr>
          <p:cNvPr id="6" name="Slide Number Placeholder 5">
            <a:extLst>
              <a:ext uri="{FF2B5EF4-FFF2-40B4-BE49-F238E27FC236}">
                <a16:creationId xmlns:a16="http://schemas.microsoft.com/office/drawing/2014/main" id="{70C70B85-D7A2-4EED-378C-2562D684317E}"/>
              </a:ext>
            </a:extLst>
          </p:cNvPr>
          <p:cNvSpPr>
            <a:spLocks noGrp="1"/>
          </p:cNvSpPr>
          <p:nvPr>
            <p:ph type="sldNum" sz="quarter" idx="12"/>
          </p:nvPr>
        </p:nvSpPr>
        <p:spPr/>
        <p:txBody>
          <a:bodyPr/>
          <a:lstStyle/>
          <a:p>
            <a:fld id="{62667D12-7761-1040-82E2-C1925732DACC}" type="slidenum">
              <a:rPr lang="en-JP" smtClean="0"/>
              <a:t>11</a:t>
            </a:fld>
            <a:endParaRPr lang="en-JP"/>
          </a:p>
        </p:txBody>
      </p:sp>
    </p:spTree>
    <p:extLst>
      <p:ext uri="{BB962C8B-B14F-4D97-AF65-F5344CB8AC3E}">
        <p14:creationId xmlns:p14="http://schemas.microsoft.com/office/powerpoint/2010/main" val="216682276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12A063D1-21AF-89B0-BEC5-D8058614878A}"/>
              </a:ext>
            </a:extLst>
          </p:cNvPr>
          <p:cNvPicPr>
            <a:picLocks noChangeAspect="1"/>
          </p:cNvPicPr>
          <p:nvPr/>
        </p:nvPicPr>
        <p:blipFill>
          <a:blip r:embed="rId2"/>
          <a:stretch>
            <a:fillRect/>
          </a:stretch>
        </p:blipFill>
        <p:spPr>
          <a:xfrm>
            <a:off x="3365940" y="10644"/>
            <a:ext cx="5408074" cy="6508007"/>
          </a:xfrm>
          <a:prstGeom prst="rect">
            <a:avLst/>
          </a:prstGeom>
        </p:spPr>
      </p:pic>
      <p:sp>
        <p:nvSpPr>
          <p:cNvPr id="5" name="角丸四角形吹き出し 62">
            <a:extLst>
              <a:ext uri="{FF2B5EF4-FFF2-40B4-BE49-F238E27FC236}">
                <a16:creationId xmlns:a16="http://schemas.microsoft.com/office/drawing/2014/main" id="{D5FDF075-6735-72A0-1A07-0DF26DE543A2}"/>
              </a:ext>
            </a:extLst>
          </p:cNvPr>
          <p:cNvSpPr/>
          <p:nvPr/>
        </p:nvSpPr>
        <p:spPr>
          <a:xfrm>
            <a:off x="9046029" y="286380"/>
            <a:ext cx="2699658" cy="606249"/>
          </a:xfrm>
          <a:prstGeom prst="wedgeRoundRectCallout">
            <a:avLst>
              <a:gd name="adj1" fmla="val -29734"/>
              <a:gd name="adj2" fmla="val 81986"/>
              <a:gd name="adj3" fmla="val 16667"/>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600">
                <a:solidFill>
                  <a:schemeClr val="accent1">
                    <a:lumMod val="50000"/>
                  </a:schemeClr>
                </a:solidFill>
              </a:rPr>
              <a:t>（利用状況分析） </a:t>
            </a:r>
            <a:r>
              <a:rPr lang="en-US" altLang="ja-JP" sz="1600" dirty="0">
                <a:solidFill>
                  <a:schemeClr val="accent1">
                    <a:lumMod val="50000"/>
                  </a:schemeClr>
                </a:solidFill>
              </a:rPr>
              <a:t>– </a:t>
            </a:r>
            <a:r>
              <a:rPr lang="ja-JP" altLang="en-US" sz="1600">
                <a:solidFill>
                  <a:schemeClr val="accent1">
                    <a:lumMod val="50000"/>
                  </a:schemeClr>
                </a:solidFill>
              </a:rPr>
              <a:t>ユーザーの状況を調査する</a:t>
            </a:r>
            <a:endParaRPr kumimoji="1" lang="ja-JP" altLang="en-US" sz="1600">
              <a:solidFill>
                <a:schemeClr val="accent1">
                  <a:lumMod val="50000"/>
                </a:schemeClr>
              </a:solidFill>
              <a:latin typeface="Meiryo" panose="020B0604030504040204" pitchFamily="34" charset="-128"/>
              <a:ea typeface="Meiryo" panose="020B0604030504040204" pitchFamily="34" charset="-128"/>
            </a:endParaRPr>
          </a:p>
        </p:txBody>
      </p:sp>
      <p:sp>
        <p:nvSpPr>
          <p:cNvPr id="8" name="角丸四角形吹き出し 62">
            <a:extLst>
              <a:ext uri="{FF2B5EF4-FFF2-40B4-BE49-F238E27FC236}">
                <a16:creationId xmlns:a16="http://schemas.microsoft.com/office/drawing/2014/main" id="{B4F6CD6D-5DA9-A286-E3F4-5B8189C31785}"/>
              </a:ext>
            </a:extLst>
          </p:cNvPr>
          <p:cNvSpPr/>
          <p:nvPr/>
        </p:nvSpPr>
        <p:spPr>
          <a:xfrm>
            <a:off x="9111343" y="1796142"/>
            <a:ext cx="2699658" cy="606249"/>
          </a:xfrm>
          <a:prstGeom prst="wedgeRoundRectCallout">
            <a:avLst>
              <a:gd name="adj1" fmla="val -29734"/>
              <a:gd name="adj2" fmla="val 81986"/>
              <a:gd name="adj3" fmla="val 16667"/>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600">
                <a:solidFill>
                  <a:schemeClr val="bg2">
                    <a:lumMod val="50000"/>
                  </a:schemeClr>
                </a:solidFill>
              </a:rPr>
              <a:t>セキュリティとユーザビリティ要求</a:t>
            </a:r>
            <a:endParaRPr kumimoji="1" lang="ja-JP" altLang="en-US" sz="1600">
              <a:solidFill>
                <a:schemeClr val="bg2">
                  <a:lumMod val="50000"/>
                </a:schemeClr>
              </a:solidFill>
              <a:latin typeface="Meiryo" panose="020B0604030504040204" pitchFamily="34" charset="-128"/>
              <a:ea typeface="Meiryo" panose="020B0604030504040204" pitchFamily="34" charset="-128"/>
            </a:endParaRPr>
          </a:p>
        </p:txBody>
      </p:sp>
      <p:sp>
        <p:nvSpPr>
          <p:cNvPr id="15" name="角丸四角形吹き出し 62">
            <a:extLst>
              <a:ext uri="{FF2B5EF4-FFF2-40B4-BE49-F238E27FC236}">
                <a16:creationId xmlns:a16="http://schemas.microsoft.com/office/drawing/2014/main" id="{127CDD08-5E11-1B24-9369-3E3421E7EC46}"/>
              </a:ext>
            </a:extLst>
          </p:cNvPr>
          <p:cNvSpPr/>
          <p:nvPr/>
        </p:nvSpPr>
        <p:spPr>
          <a:xfrm>
            <a:off x="9144000" y="2813552"/>
            <a:ext cx="2699658" cy="844059"/>
          </a:xfrm>
          <a:prstGeom prst="wedgeRoundRectCallout">
            <a:avLst>
              <a:gd name="adj1" fmla="val -29734"/>
              <a:gd name="adj2" fmla="val 81986"/>
              <a:gd name="adj3" fmla="val 16667"/>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600">
                <a:solidFill>
                  <a:schemeClr val="bg2">
                    <a:lumMod val="50000"/>
                  </a:schemeClr>
                </a:solidFill>
              </a:rPr>
              <a:t>セキュリティ・リスク分析</a:t>
            </a:r>
            <a:endParaRPr lang="en-US" altLang="ja-JP" sz="1600" dirty="0">
              <a:solidFill>
                <a:schemeClr val="bg2">
                  <a:lumMod val="50000"/>
                </a:schemeClr>
              </a:solidFill>
            </a:endParaRPr>
          </a:p>
          <a:p>
            <a:pPr algn="ctr"/>
            <a:r>
              <a:rPr lang="ja-JP" altLang="en-US" sz="1600">
                <a:solidFill>
                  <a:schemeClr val="bg2">
                    <a:lumMod val="50000"/>
                  </a:schemeClr>
                </a:solidFill>
              </a:rPr>
              <a:t>不適切な使用シナリオ</a:t>
            </a:r>
            <a:endParaRPr lang="en-JP" sz="1600" dirty="0">
              <a:solidFill>
                <a:schemeClr val="bg2">
                  <a:lumMod val="50000"/>
                </a:schemeClr>
              </a:solidFill>
            </a:endParaRPr>
          </a:p>
          <a:p>
            <a:pPr algn="ctr"/>
            <a:endParaRPr kumimoji="1" lang="ja-JP" altLang="en-US" sz="1600">
              <a:solidFill>
                <a:schemeClr val="bg2">
                  <a:lumMod val="50000"/>
                </a:schemeClr>
              </a:solidFill>
              <a:latin typeface="Meiryo" panose="020B0604030504040204" pitchFamily="34" charset="-128"/>
              <a:ea typeface="Meiryo" panose="020B0604030504040204" pitchFamily="34" charset="-128"/>
            </a:endParaRPr>
          </a:p>
        </p:txBody>
      </p:sp>
      <p:sp>
        <p:nvSpPr>
          <p:cNvPr id="18" name="Rounded Rectangle 17">
            <a:extLst>
              <a:ext uri="{FF2B5EF4-FFF2-40B4-BE49-F238E27FC236}">
                <a16:creationId xmlns:a16="http://schemas.microsoft.com/office/drawing/2014/main" id="{3807B705-1239-858C-83EA-CE5105DFB5B5}"/>
              </a:ext>
            </a:extLst>
          </p:cNvPr>
          <p:cNvSpPr/>
          <p:nvPr/>
        </p:nvSpPr>
        <p:spPr>
          <a:xfrm>
            <a:off x="609599" y="707571"/>
            <a:ext cx="3058887" cy="1267141"/>
          </a:xfrm>
          <a:custGeom>
            <a:avLst/>
            <a:gdLst>
              <a:gd name="connsiteX0" fmla="*/ 0 w 1915886"/>
              <a:gd name="connsiteY0" fmla="*/ 103975 h 623838"/>
              <a:gd name="connsiteX1" fmla="*/ 103975 w 1915886"/>
              <a:gd name="connsiteY1" fmla="*/ 0 h 623838"/>
              <a:gd name="connsiteX2" fmla="*/ 1811911 w 1915886"/>
              <a:gd name="connsiteY2" fmla="*/ 0 h 623838"/>
              <a:gd name="connsiteX3" fmla="*/ 1915886 w 1915886"/>
              <a:gd name="connsiteY3" fmla="*/ 103975 h 623838"/>
              <a:gd name="connsiteX4" fmla="*/ 1915886 w 1915886"/>
              <a:gd name="connsiteY4" fmla="*/ 519863 h 623838"/>
              <a:gd name="connsiteX5" fmla="*/ 1811911 w 1915886"/>
              <a:gd name="connsiteY5" fmla="*/ 623838 h 623838"/>
              <a:gd name="connsiteX6" fmla="*/ 103975 w 1915886"/>
              <a:gd name="connsiteY6" fmla="*/ 623838 h 623838"/>
              <a:gd name="connsiteX7" fmla="*/ 0 w 1915886"/>
              <a:gd name="connsiteY7" fmla="*/ 519863 h 623838"/>
              <a:gd name="connsiteX8" fmla="*/ 0 w 1915886"/>
              <a:gd name="connsiteY8" fmla="*/ 103975 h 623838"/>
              <a:gd name="connsiteX0" fmla="*/ 0 w 2783313"/>
              <a:gd name="connsiteY0" fmla="*/ 550289 h 1070152"/>
              <a:gd name="connsiteX1" fmla="*/ 103975 w 2783313"/>
              <a:gd name="connsiteY1" fmla="*/ 446314 h 1070152"/>
              <a:gd name="connsiteX2" fmla="*/ 2780739 w 2783313"/>
              <a:gd name="connsiteY2" fmla="*/ 0 h 1070152"/>
              <a:gd name="connsiteX3" fmla="*/ 1915886 w 2783313"/>
              <a:gd name="connsiteY3" fmla="*/ 550289 h 1070152"/>
              <a:gd name="connsiteX4" fmla="*/ 1915886 w 2783313"/>
              <a:gd name="connsiteY4" fmla="*/ 966177 h 1070152"/>
              <a:gd name="connsiteX5" fmla="*/ 1811911 w 2783313"/>
              <a:gd name="connsiteY5" fmla="*/ 1070152 h 1070152"/>
              <a:gd name="connsiteX6" fmla="*/ 103975 w 2783313"/>
              <a:gd name="connsiteY6" fmla="*/ 1070152 h 1070152"/>
              <a:gd name="connsiteX7" fmla="*/ 0 w 2783313"/>
              <a:gd name="connsiteY7" fmla="*/ 966177 h 1070152"/>
              <a:gd name="connsiteX8" fmla="*/ 0 w 2783313"/>
              <a:gd name="connsiteY8" fmla="*/ 550289 h 1070152"/>
              <a:gd name="connsiteX0" fmla="*/ 0 w 2188854"/>
              <a:gd name="connsiteY0" fmla="*/ 495860 h 1015723"/>
              <a:gd name="connsiteX1" fmla="*/ 103975 w 2188854"/>
              <a:gd name="connsiteY1" fmla="*/ 391885 h 1015723"/>
              <a:gd name="connsiteX2" fmla="*/ 2182025 w 2188854"/>
              <a:gd name="connsiteY2" fmla="*/ 0 h 1015723"/>
              <a:gd name="connsiteX3" fmla="*/ 1915886 w 2188854"/>
              <a:gd name="connsiteY3" fmla="*/ 495860 h 1015723"/>
              <a:gd name="connsiteX4" fmla="*/ 1915886 w 2188854"/>
              <a:gd name="connsiteY4" fmla="*/ 911748 h 1015723"/>
              <a:gd name="connsiteX5" fmla="*/ 1811911 w 2188854"/>
              <a:gd name="connsiteY5" fmla="*/ 1015723 h 1015723"/>
              <a:gd name="connsiteX6" fmla="*/ 103975 w 2188854"/>
              <a:gd name="connsiteY6" fmla="*/ 1015723 h 1015723"/>
              <a:gd name="connsiteX7" fmla="*/ 0 w 2188854"/>
              <a:gd name="connsiteY7" fmla="*/ 911748 h 1015723"/>
              <a:gd name="connsiteX8" fmla="*/ 0 w 2188854"/>
              <a:gd name="connsiteY8" fmla="*/ 495860 h 1015723"/>
              <a:gd name="connsiteX0" fmla="*/ 0 w 2188854"/>
              <a:gd name="connsiteY0" fmla="*/ 495860 h 1015723"/>
              <a:gd name="connsiteX1" fmla="*/ 103975 w 2188854"/>
              <a:gd name="connsiteY1" fmla="*/ 391885 h 1015723"/>
              <a:gd name="connsiteX2" fmla="*/ 2182025 w 2188854"/>
              <a:gd name="connsiteY2" fmla="*/ 0 h 1015723"/>
              <a:gd name="connsiteX3" fmla="*/ 1915886 w 2188854"/>
              <a:gd name="connsiteY3" fmla="*/ 495860 h 1015723"/>
              <a:gd name="connsiteX4" fmla="*/ 1915886 w 2188854"/>
              <a:gd name="connsiteY4" fmla="*/ 911748 h 1015723"/>
              <a:gd name="connsiteX5" fmla="*/ 1811911 w 2188854"/>
              <a:gd name="connsiteY5" fmla="*/ 1015723 h 1015723"/>
              <a:gd name="connsiteX6" fmla="*/ 103975 w 2188854"/>
              <a:gd name="connsiteY6" fmla="*/ 1015723 h 1015723"/>
              <a:gd name="connsiteX7" fmla="*/ 0 w 2188854"/>
              <a:gd name="connsiteY7" fmla="*/ 911748 h 1015723"/>
              <a:gd name="connsiteX8" fmla="*/ 0 w 2188854"/>
              <a:gd name="connsiteY8" fmla="*/ 495860 h 1015723"/>
              <a:gd name="connsiteX0" fmla="*/ 0 w 2188854"/>
              <a:gd name="connsiteY0" fmla="*/ 495860 h 1015723"/>
              <a:gd name="connsiteX1" fmla="*/ 103975 w 2188854"/>
              <a:gd name="connsiteY1" fmla="*/ 391885 h 1015723"/>
              <a:gd name="connsiteX2" fmla="*/ 2182025 w 2188854"/>
              <a:gd name="connsiteY2" fmla="*/ 0 h 1015723"/>
              <a:gd name="connsiteX3" fmla="*/ 1915886 w 2188854"/>
              <a:gd name="connsiteY3" fmla="*/ 495860 h 1015723"/>
              <a:gd name="connsiteX4" fmla="*/ 1915886 w 2188854"/>
              <a:gd name="connsiteY4" fmla="*/ 911748 h 1015723"/>
              <a:gd name="connsiteX5" fmla="*/ 1811911 w 2188854"/>
              <a:gd name="connsiteY5" fmla="*/ 1015723 h 1015723"/>
              <a:gd name="connsiteX6" fmla="*/ 103975 w 2188854"/>
              <a:gd name="connsiteY6" fmla="*/ 1015723 h 1015723"/>
              <a:gd name="connsiteX7" fmla="*/ 0 w 2188854"/>
              <a:gd name="connsiteY7" fmla="*/ 911748 h 1015723"/>
              <a:gd name="connsiteX8" fmla="*/ 0 w 2188854"/>
              <a:gd name="connsiteY8" fmla="*/ 495860 h 1015723"/>
              <a:gd name="connsiteX0" fmla="*/ 0 w 2186637"/>
              <a:gd name="connsiteY0" fmla="*/ 495860 h 1015723"/>
              <a:gd name="connsiteX1" fmla="*/ 103975 w 2186637"/>
              <a:gd name="connsiteY1" fmla="*/ 391885 h 1015723"/>
              <a:gd name="connsiteX2" fmla="*/ 2182025 w 2186637"/>
              <a:gd name="connsiteY2" fmla="*/ 0 h 1015723"/>
              <a:gd name="connsiteX3" fmla="*/ 1741715 w 2186637"/>
              <a:gd name="connsiteY3" fmla="*/ 397889 h 1015723"/>
              <a:gd name="connsiteX4" fmla="*/ 1915886 w 2186637"/>
              <a:gd name="connsiteY4" fmla="*/ 911748 h 1015723"/>
              <a:gd name="connsiteX5" fmla="*/ 1811911 w 2186637"/>
              <a:gd name="connsiteY5" fmla="*/ 1015723 h 1015723"/>
              <a:gd name="connsiteX6" fmla="*/ 103975 w 2186637"/>
              <a:gd name="connsiteY6" fmla="*/ 1015723 h 1015723"/>
              <a:gd name="connsiteX7" fmla="*/ 0 w 2186637"/>
              <a:gd name="connsiteY7" fmla="*/ 911748 h 1015723"/>
              <a:gd name="connsiteX8" fmla="*/ 0 w 2186637"/>
              <a:gd name="connsiteY8" fmla="*/ 495860 h 1015723"/>
              <a:gd name="connsiteX0" fmla="*/ 0 w 2188854"/>
              <a:gd name="connsiteY0" fmla="*/ 495860 h 1015723"/>
              <a:gd name="connsiteX1" fmla="*/ 103975 w 2188854"/>
              <a:gd name="connsiteY1" fmla="*/ 391885 h 1015723"/>
              <a:gd name="connsiteX2" fmla="*/ 2182025 w 2188854"/>
              <a:gd name="connsiteY2" fmla="*/ 0 h 1015723"/>
              <a:gd name="connsiteX3" fmla="*/ 1915887 w 2188854"/>
              <a:gd name="connsiteY3" fmla="*/ 495861 h 1015723"/>
              <a:gd name="connsiteX4" fmla="*/ 1915886 w 2188854"/>
              <a:gd name="connsiteY4" fmla="*/ 911748 h 1015723"/>
              <a:gd name="connsiteX5" fmla="*/ 1811911 w 2188854"/>
              <a:gd name="connsiteY5" fmla="*/ 1015723 h 1015723"/>
              <a:gd name="connsiteX6" fmla="*/ 103975 w 2188854"/>
              <a:gd name="connsiteY6" fmla="*/ 1015723 h 1015723"/>
              <a:gd name="connsiteX7" fmla="*/ 0 w 2188854"/>
              <a:gd name="connsiteY7" fmla="*/ 911748 h 1015723"/>
              <a:gd name="connsiteX8" fmla="*/ 0 w 2188854"/>
              <a:gd name="connsiteY8" fmla="*/ 495860 h 10157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188854" h="1015723">
                <a:moveTo>
                  <a:pt x="0" y="495860"/>
                </a:moveTo>
                <a:cubicBezTo>
                  <a:pt x="0" y="438436"/>
                  <a:pt x="46551" y="391885"/>
                  <a:pt x="103975" y="391885"/>
                </a:cubicBezTo>
                <a:cubicBezTo>
                  <a:pt x="673287" y="391885"/>
                  <a:pt x="1852198" y="413657"/>
                  <a:pt x="2182025" y="0"/>
                </a:cubicBezTo>
                <a:cubicBezTo>
                  <a:pt x="2239449" y="0"/>
                  <a:pt x="1915887" y="438437"/>
                  <a:pt x="1915887" y="495861"/>
                </a:cubicBezTo>
                <a:cubicBezTo>
                  <a:pt x="1915887" y="634490"/>
                  <a:pt x="1915886" y="773119"/>
                  <a:pt x="1915886" y="911748"/>
                </a:cubicBezTo>
                <a:cubicBezTo>
                  <a:pt x="1915886" y="969172"/>
                  <a:pt x="1869335" y="1015723"/>
                  <a:pt x="1811911" y="1015723"/>
                </a:cubicBezTo>
                <a:lnTo>
                  <a:pt x="103975" y="1015723"/>
                </a:lnTo>
                <a:cubicBezTo>
                  <a:pt x="46551" y="1015723"/>
                  <a:pt x="0" y="969172"/>
                  <a:pt x="0" y="911748"/>
                </a:cubicBezTo>
                <a:lnTo>
                  <a:pt x="0" y="495860"/>
                </a:lnTo>
                <a:close/>
              </a:path>
            </a:pathLst>
          </a:custGeom>
          <a:ln>
            <a:solidFill>
              <a:schemeClr val="tx1">
                <a:lumMod val="95000"/>
                <a:lumOff val="5000"/>
              </a:schemeClr>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mn-MN" altLang="ja-JP" sz="1600" dirty="0">
              <a:solidFill>
                <a:schemeClr val="accent1">
                  <a:lumMod val="50000"/>
                </a:schemeClr>
              </a:solidFill>
            </a:endParaRPr>
          </a:p>
          <a:p>
            <a:pPr algn="ctr"/>
            <a:endParaRPr lang="mn-MN" altLang="ja-JP" sz="1600" dirty="0">
              <a:solidFill>
                <a:schemeClr val="accent1">
                  <a:lumMod val="50000"/>
                </a:schemeClr>
              </a:solidFill>
            </a:endParaRPr>
          </a:p>
          <a:p>
            <a:pPr algn="ctr"/>
            <a:endParaRPr lang="mn-MN" altLang="ja-JP" sz="1600" dirty="0">
              <a:solidFill>
                <a:schemeClr val="accent1">
                  <a:lumMod val="50000"/>
                </a:schemeClr>
              </a:solidFill>
            </a:endParaRPr>
          </a:p>
          <a:p>
            <a:pPr algn="ctr"/>
            <a:r>
              <a:rPr lang="ja-JP" altLang="en-US" sz="1600">
                <a:solidFill>
                  <a:schemeClr val="accent1">
                    <a:lumMod val="50000"/>
                  </a:schemeClr>
                </a:solidFill>
              </a:rPr>
              <a:t>システムの利用シナリオ</a:t>
            </a:r>
            <a:endParaRPr lang="mn-MN" altLang="ja-JP" sz="1600" dirty="0">
              <a:solidFill>
                <a:schemeClr val="accent1">
                  <a:lumMod val="50000"/>
                </a:schemeClr>
              </a:solidFill>
            </a:endParaRPr>
          </a:p>
          <a:p>
            <a:pPr algn="ctr"/>
            <a:r>
              <a:rPr lang="ja-JP" altLang="en-US" sz="1600">
                <a:solidFill>
                  <a:schemeClr val="accent1">
                    <a:lumMod val="50000"/>
                  </a:schemeClr>
                </a:solidFill>
              </a:rPr>
              <a:t>を特定する</a:t>
            </a:r>
            <a:endParaRPr kumimoji="1" lang="ja-JP" altLang="en-US" sz="1600">
              <a:solidFill>
                <a:schemeClr val="accent1">
                  <a:lumMod val="50000"/>
                </a:schemeClr>
              </a:solidFill>
              <a:latin typeface="Meiryo" panose="020B0604030504040204" pitchFamily="34" charset="-128"/>
              <a:ea typeface="Meiryo" panose="020B0604030504040204" pitchFamily="34" charset="-128"/>
            </a:endParaRPr>
          </a:p>
        </p:txBody>
      </p:sp>
      <p:sp>
        <p:nvSpPr>
          <p:cNvPr id="19" name="角丸四角形吹き出し 62">
            <a:extLst>
              <a:ext uri="{FF2B5EF4-FFF2-40B4-BE49-F238E27FC236}">
                <a16:creationId xmlns:a16="http://schemas.microsoft.com/office/drawing/2014/main" id="{E29C5665-7C0C-6424-5A49-94CB9E509315}"/>
              </a:ext>
            </a:extLst>
          </p:cNvPr>
          <p:cNvSpPr/>
          <p:nvPr/>
        </p:nvSpPr>
        <p:spPr>
          <a:xfrm>
            <a:off x="9176657" y="4258443"/>
            <a:ext cx="2699658" cy="837748"/>
          </a:xfrm>
          <a:prstGeom prst="wedgeRoundRectCallout">
            <a:avLst>
              <a:gd name="adj1" fmla="val -29734"/>
              <a:gd name="adj2" fmla="val 81986"/>
              <a:gd name="adj3" fmla="val 16667"/>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600" b="1">
                <a:solidFill>
                  <a:schemeClr val="bg2">
                    <a:lumMod val="50000"/>
                  </a:schemeClr>
                </a:solidFill>
              </a:rPr>
              <a:t>セキュリティアーキテクチャ評価）</a:t>
            </a:r>
            <a:r>
              <a:rPr lang="ja-JP" altLang="en-US" sz="1600">
                <a:solidFill>
                  <a:schemeClr val="bg2">
                    <a:lumMod val="50000"/>
                  </a:schemeClr>
                </a:solidFill>
              </a:rPr>
              <a:t> </a:t>
            </a:r>
            <a:r>
              <a:rPr lang="en-US" altLang="ja-JP" sz="1600" dirty="0">
                <a:solidFill>
                  <a:schemeClr val="bg2">
                    <a:lumMod val="50000"/>
                  </a:schemeClr>
                </a:solidFill>
              </a:rPr>
              <a:t>– </a:t>
            </a:r>
            <a:r>
              <a:rPr lang="ja-JP" altLang="en-US" sz="1600">
                <a:solidFill>
                  <a:schemeClr val="bg2">
                    <a:lumMod val="50000"/>
                  </a:schemeClr>
                </a:solidFill>
              </a:rPr>
              <a:t>アーキテクチャの安全性評価</a:t>
            </a:r>
            <a:endParaRPr kumimoji="1" lang="ja-JP" altLang="en-US" sz="1600">
              <a:solidFill>
                <a:schemeClr val="bg2">
                  <a:lumMod val="50000"/>
                </a:schemeClr>
              </a:solidFill>
              <a:latin typeface="Meiryo" panose="020B0604030504040204" pitchFamily="34" charset="-128"/>
              <a:ea typeface="Meiryo" panose="020B0604030504040204" pitchFamily="34" charset="-128"/>
            </a:endParaRPr>
          </a:p>
        </p:txBody>
      </p:sp>
      <p:sp>
        <p:nvSpPr>
          <p:cNvPr id="22" name="Rounded Rectangle 17">
            <a:extLst>
              <a:ext uri="{FF2B5EF4-FFF2-40B4-BE49-F238E27FC236}">
                <a16:creationId xmlns:a16="http://schemas.microsoft.com/office/drawing/2014/main" id="{BAD80EDE-A557-D54C-0CA9-BAE6FF81FCC1}"/>
              </a:ext>
            </a:extLst>
          </p:cNvPr>
          <p:cNvSpPr/>
          <p:nvPr/>
        </p:nvSpPr>
        <p:spPr>
          <a:xfrm>
            <a:off x="185057" y="1883229"/>
            <a:ext cx="3407229" cy="1267141"/>
          </a:xfrm>
          <a:custGeom>
            <a:avLst/>
            <a:gdLst>
              <a:gd name="connsiteX0" fmla="*/ 0 w 1915886"/>
              <a:gd name="connsiteY0" fmla="*/ 103975 h 623838"/>
              <a:gd name="connsiteX1" fmla="*/ 103975 w 1915886"/>
              <a:gd name="connsiteY1" fmla="*/ 0 h 623838"/>
              <a:gd name="connsiteX2" fmla="*/ 1811911 w 1915886"/>
              <a:gd name="connsiteY2" fmla="*/ 0 h 623838"/>
              <a:gd name="connsiteX3" fmla="*/ 1915886 w 1915886"/>
              <a:gd name="connsiteY3" fmla="*/ 103975 h 623838"/>
              <a:gd name="connsiteX4" fmla="*/ 1915886 w 1915886"/>
              <a:gd name="connsiteY4" fmla="*/ 519863 h 623838"/>
              <a:gd name="connsiteX5" fmla="*/ 1811911 w 1915886"/>
              <a:gd name="connsiteY5" fmla="*/ 623838 h 623838"/>
              <a:gd name="connsiteX6" fmla="*/ 103975 w 1915886"/>
              <a:gd name="connsiteY6" fmla="*/ 623838 h 623838"/>
              <a:gd name="connsiteX7" fmla="*/ 0 w 1915886"/>
              <a:gd name="connsiteY7" fmla="*/ 519863 h 623838"/>
              <a:gd name="connsiteX8" fmla="*/ 0 w 1915886"/>
              <a:gd name="connsiteY8" fmla="*/ 103975 h 623838"/>
              <a:gd name="connsiteX0" fmla="*/ 0 w 2783313"/>
              <a:gd name="connsiteY0" fmla="*/ 550289 h 1070152"/>
              <a:gd name="connsiteX1" fmla="*/ 103975 w 2783313"/>
              <a:gd name="connsiteY1" fmla="*/ 446314 h 1070152"/>
              <a:gd name="connsiteX2" fmla="*/ 2780739 w 2783313"/>
              <a:gd name="connsiteY2" fmla="*/ 0 h 1070152"/>
              <a:gd name="connsiteX3" fmla="*/ 1915886 w 2783313"/>
              <a:gd name="connsiteY3" fmla="*/ 550289 h 1070152"/>
              <a:gd name="connsiteX4" fmla="*/ 1915886 w 2783313"/>
              <a:gd name="connsiteY4" fmla="*/ 966177 h 1070152"/>
              <a:gd name="connsiteX5" fmla="*/ 1811911 w 2783313"/>
              <a:gd name="connsiteY5" fmla="*/ 1070152 h 1070152"/>
              <a:gd name="connsiteX6" fmla="*/ 103975 w 2783313"/>
              <a:gd name="connsiteY6" fmla="*/ 1070152 h 1070152"/>
              <a:gd name="connsiteX7" fmla="*/ 0 w 2783313"/>
              <a:gd name="connsiteY7" fmla="*/ 966177 h 1070152"/>
              <a:gd name="connsiteX8" fmla="*/ 0 w 2783313"/>
              <a:gd name="connsiteY8" fmla="*/ 550289 h 1070152"/>
              <a:gd name="connsiteX0" fmla="*/ 0 w 2188854"/>
              <a:gd name="connsiteY0" fmla="*/ 495860 h 1015723"/>
              <a:gd name="connsiteX1" fmla="*/ 103975 w 2188854"/>
              <a:gd name="connsiteY1" fmla="*/ 391885 h 1015723"/>
              <a:gd name="connsiteX2" fmla="*/ 2182025 w 2188854"/>
              <a:gd name="connsiteY2" fmla="*/ 0 h 1015723"/>
              <a:gd name="connsiteX3" fmla="*/ 1915886 w 2188854"/>
              <a:gd name="connsiteY3" fmla="*/ 495860 h 1015723"/>
              <a:gd name="connsiteX4" fmla="*/ 1915886 w 2188854"/>
              <a:gd name="connsiteY4" fmla="*/ 911748 h 1015723"/>
              <a:gd name="connsiteX5" fmla="*/ 1811911 w 2188854"/>
              <a:gd name="connsiteY5" fmla="*/ 1015723 h 1015723"/>
              <a:gd name="connsiteX6" fmla="*/ 103975 w 2188854"/>
              <a:gd name="connsiteY6" fmla="*/ 1015723 h 1015723"/>
              <a:gd name="connsiteX7" fmla="*/ 0 w 2188854"/>
              <a:gd name="connsiteY7" fmla="*/ 911748 h 1015723"/>
              <a:gd name="connsiteX8" fmla="*/ 0 w 2188854"/>
              <a:gd name="connsiteY8" fmla="*/ 495860 h 1015723"/>
              <a:gd name="connsiteX0" fmla="*/ 0 w 2188854"/>
              <a:gd name="connsiteY0" fmla="*/ 495860 h 1015723"/>
              <a:gd name="connsiteX1" fmla="*/ 103975 w 2188854"/>
              <a:gd name="connsiteY1" fmla="*/ 391885 h 1015723"/>
              <a:gd name="connsiteX2" fmla="*/ 2182025 w 2188854"/>
              <a:gd name="connsiteY2" fmla="*/ 0 h 1015723"/>
              <a:gd name="connsiteX3" fmla="*/ 1915886 w 2188854"/>
              <a:gd name="connsiteY3" fmla="*/ 495860 h 1015723"/>
              <a:gd name="connsiteX4" fmla="*/ 1915886 w 2188854"/>
              <a:gd name="connsiteY4" fmla="*/ 911748 h 1015723"/>
              <a:gd name="connsiteX5" fmla="*/ 1811911 w 2188854"/>
              <a:gd name="connsiteY5" fmla="*/ 1015723 h 1015723"/>
              <a:gd name="connsiteX6" fmla="*/ 103975 w 2188854"/>
              <a:gd name="connsiteY6" fmla="*/ 1015723 h 1015723"/>
              <a:gd name="connsiteX7" fmla="*/ 0 w 2188854"/>
              <a:gd name="connsiteY7" fmla="*/ 911748 h 1015723"/>
              <a:gd name="connsiteX8" fmla="*/ 0 w 2188854"/>
              <a:gd name="connsiteY8" fmla="*/ 495860 h 1015723"/>
              <a:gd name="connsiteX0" fmla="*/ 0 w 2188854"/>
              <a:gd name="connsiteY0" fmla="*/ 495860 h 1015723"/>
              <a:gd name="connsiteX1" fmla="*/ 103975 w 2188854"/>
              <a:gd name="connsiteY1" fmla="*/ 391885 h 1015723"/>
              <a:gd name="connsiteX2" fmla="*/ 2182025 w 2188854"/>
              <a:gd name="connsiteY2" fmla="*/ 0 h 1015723"/>
              <a:gd name="connsiteX3" fmla="*/ 1915886 w 2188854"/>
              <a:gd name="connsiteY3" fmla="*/ 495860 h 1015723"/>
              <a:gd name="connsiteX4" fmla="*/ 1915886 w 2188854"/>
              <a:gd name="connsiteY4" fmla="*/ 911748 h 1015723"/>
              <a:gd name="connsiteX5" fmla="*/ 1811911 w 2188854"/>
              <a:gd name="connsiteY5" fmla="*/ 1015723 h 1015723"/>
              <a:gd name="connsiteX6" fmla="*/ 103975 w 2188854"/>
              <a:gd name="connsiteY6" fmla="*/ 1015723 h 1015723"/>
              <a:gd name="connsiteX7" fmla="*/ 0 w 2188854"/>
              <a:gd name="connsiteY7" fmla="*/ 911748 h 1015723"/>
              <a:gd name="connsiteX8" fmla="*/ 0 w 2188854"/>
              <a:gd name="connsiteY8" fmla="*/ 495860 h 1015723"/>
              <a:gd name="connsiteX0" fmla="*/ 0 w 2186637"/>
              <a:gd name="connsiteY0" fmla="*/ 495860 h 1015723"/>
              <a:gd name="connsiteX1" fmla="*/ 103975 w 2186637"/>
              <a:gd name="connsiteY1" fmla="*/ 391885 h 1015723"/>
              <a:gd name="connsiteX2" fmla="*/ 2182025 w 2186637"/>
              <a:gd name="connsiteY2" fmla="*/ 0 h 1015723"/>
              <a:gd name="connsiteX3" fmla="*/ 1741715 w 2186637"/>
              <a:gd name="connsiteY3" fmla="*/ 397889 h 1015723"/>
              <a:gd name="connsiteX4" fmla="*/ 1915886 w 2186637"/>
              <a:gd name="connsiteY4" fmla="*/ 911748 h 1015723"/>
              <a:gd name="connsiteX5" fmla="*/ 1811911 w 2186637"/>
              <a:gd name="connsiteY5" fmla="*/ 1015723 h 1015723"/>
              <a:gd name="connsiteX6" fmla="*/ 103975 w 2186637"/>
              <a:gd name="connsiteY6" fmla="*/ 1015723 h 1015723"/>
              <a:gd name="connsiteX7" fmla="*/ 0 w 2186637"/>
              <a:gd name="connsiteY7" fmla="*/ 911748 h 1015723"/>
              <a:gd name="connsiteX8" fmla="*/ 0 w 2186637"/>
              <a:gd name="connsiteY8" fmla="*/ 495860 h 1015723"/>
              <a:gd name="connsiteX0" fmla="*/ 0 w 2188854"/>
              <a:gd name="connsiteY0" fmla="*/ 495860 h 1015723"/>
              <a:gd name="connsiteX1" fmla="*/ 103975 w 2188854"/>
              <a:gd name="connsiteY1" fmla="*/ 391885 h 1015723"/>
              <a:gd name="connsiteX2" fmla="*/ 2182025 w 2188854"/>
              <a:gd name="connsiteY2" fmla="*/ 0 h 1015723"/>
              <a:gd name="connsiteX3" fmla="*/ 1915887 w 2188854"/>
              <a:gd name="connsiteY3" fmla="*/ 495861 h 1015723"/>
              <a:gd name="connsiteX4" fmla="*/ 1915886 w 2188854"/>
              <a:gd name="connsiteY4" fmla="*/ 911748 h 1015723"/>
              <a:gd name="connsiteX5" fmla="*/ 1811911 w 2188854"/>
              <a:gd name="connsiteY5" fmla="*/ 1015723 h 1015723"/>
              <a:gd name="connsiteX6" fmla="*/ 103975 w 2188854"/>
              <a:gd name="connsiteY6" fmla="*/ 1015723 h 1015723"/>
              <a:gd name="connsiteX7" fmla="*/ 0 w 2188854"/>
              <a:gd name="connsiteY7" fmla="*/ 911748 h 1015723"/>
              <a:gd name="connsiteX8" fmla="*/ 0 w 2188854"/>
              <a:gd name="connsiteY8" fmla="*/ 495860 h 10157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188854" h="1015723">
                <a:moveTo>
                  <a:pt x="0" y="495860"/>
                </a:moveTo>
                <a:cubicBezTo>
                  <a:pt x="0" y="438436"/>
                  <a:pt x="46551" y="391885"/>
                  <a:pt x="103975" y="391885"/>
                </a:cubicBezTo>
                <a:cubicBezTo>
                  <a:pt x="673287" y="391885"/>
                  <a:pt x="1852198" y="413657"/>
                  <a:pt x="2182025" y="0"/>
                </a:cubicBezTo>
                <a:cubicBezTo>
                  <a:pt x="2239449" y="0"/>
                  <a:pt x="1915887" y="438437"/>
                  <a:pt x="1915887" y="495861"/>
                </a:cubicBezTo>
                <a:cubicBezTo>
                  <a:pt x="1915887" y="634490"/>
                  <a:pt x="1915886" y="773119"/>
                  <a:pt x="1915886" y="911748"/>
                </a:cubicBezTo>
                <a:cubicBezTo>
                  <a:pt x="1915886" y="969172"/>
                  <a:pt x="1869335" y="1015723"/>
                  <a:pt x="1811911" y="1015723"/>
                </a:cubicBezTo>
                <a:lnTo>
                  <a:pt x="103975" y="1015723"/>
                </a:lnTo>
                <a:cubicBezTo>
                  <a:pt x="46551" y="1015723"/>
                  <a:pt x="0" y="969172"/>
                  <a:pt x="0" y="911748"/>
                </a:cubicBezTo>
                <a:lnTo>
                  <a:pt x="0" y="495860"/>
                </a:lnTo>
                <a:close/>
              </a:path>
            </a:pathLst>
          </a:custGeom>
          <a:ln>
            <a:solidFill>
              <a:schemeClr val="tx1">
                <a:lumMod val="95000"/>
                <a:lumOff val="5000"/>
              </a:schemeClr>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mn-MN" altLang="ja-JP" sz="1600" dirty="0">
              <a:solidFill>
                <a:schemeClr val="bg2">
                  <a:lumMod val="50000"/>
                </a:schemeClr>
              </a:solidFill>
            </a:endParaRPr>
          </a:p>
          <a:p>
            <a:pPr algn="ctr"/>
            <a:endParaRPr lang="mn-MN" altLang="ja-JP" sz="1600" dirty="0">
              <a:solidFill>
                <a:schemeClr val="bg2">
                  <a:lumMod val="50000"/>
                </a:schemeClr>
              </a:solidFill>
            </a:endParaRPr>
          </a:p>
          <a:p>
            <a:pPr algn="ctr"/>
            <a:endParaRPr lang="mn-MN" altLang="ja-JP" sz="1600" dirty="0">
              <a:solidFill>
                <a:schemeClr val="bg2">
                  <a:lumMod val="50000"/>
                </a:schemeClr>
              </a:solidFill>
            </a:endParaRPr>
          </a:p>
          <a:p>
            <a:pPr algn="ctr"/>
            <a:r>
              <a:rPr lang="ja-JP" altLang="en-US" sz="1600">
                <a:solidFill>
                  <a:schemeClr val="bg2">
                    <a:lumMod val="50000"/>
                  </a:schemeClr>
                </a:solidFill>
              </a:rPr>
              <a:t>ユーザーやシステムの要求を</a:t>
            </a:r>
            <a:endParaRPr lang="en-US" altLang="ja-JP" sz="1600" dirty="0">
              <a:solidFill>
                <a:schemeClr val="bg2">
                  <a:lumMod val="50000"/>
                </a:schemeClr>
              </a:solidFill>
            </a:endParaRPr>
          </a:p>
          <a:p>
            <a:pPr algn="ctr"/>
            <a:r>
              <a:rPr lang="ja-JP" altLang="en-US" sz="1600">
                <a:solidFill>
                  <a:schemeClr val="bg2">
                    <a:lumMod val="50000"/>
                  </a:schemeClr>
                </a:solidFill>
              </a:rPr>
              <a:t>収集し、明確化する</a:t>
            </a:r>
            <a:endParaRPr kumimoji="1" lang="ja-JP" altLang="en-US" sz="1600">
              <a:solidFill>
                <a:schemeClr val="bg2">
                  <a:lumMod val="50000"/>
                </a:schemeClr>
              </a:solidFill>
              <a:latin typeface="Meiryo" panose="020B0604030504040204" pitchFamily="34" charset="-128"/>
              <a:ea typeface="Meiryo" panose="020B0604030504040204" pitchFamily="34" charset="-128"/>
            </a:endParaRPr>
          </a:p>
        </p:txBody>
      </p:sp>
      <p:sp>
        <p:nvSpPr>
          <p:cNvPr id="23" name="Rounded Rectangle 17">
            <a:extLst>
              <a:ext uri="{FF2B5EF4-FFF2-40B4-BE49-F238E27FC236}">
                <a16:creationId xmlns:a16="http://schemas.microsoft.com/office/drawing/2014/main" id="{48FAA26F-339F-F479-30AD-14C9C65CE8F7}"/>
              </a:ext>
            </a:extLst>
          </p:cNvPr>
          <p:cNvSpPr/>
          <p:nvPr/>
        </p:nvSpPr>
        <p:spPr>
          <a:xfrm>
            <a:off x="139621" y="3400889"/>
            <a:ext cx="3619025" cy="1578429"/>
          </a:xfrm>
          <a:custGeom>
            <a:avLst/>
            <a:gdLst>
              <a:gd name="connsiteX0" fmla="*/ 0 w 1915886"/>
              <a:gd name="connsiteY0" fmla="*/ 103975 h 623838"/>
              <a:gd name="connsiteX1" fmla="*/ 103975 w 1915886"/>
              <a:gd name="connsiteY1" fmla="*/ 0 h 623838"/>
              <a:gd name="connsiteX2" fmla="*/ 1811911 w 1915886"/>
              <a:gd name="connsiteY2" fmla="*/ 0 h 623838"/>
              <a:gd name="connsiteX3" fmla="*/ 1915886 w 1915886"/>
              <a:gd name="connsiteY3" fmla="*/ 103975 h 623838"/>
              <a:gd name="connsiteX4" fmla="*/ 1915886 w 1915886"/>
              <a:gd name="connsiteY4" fmla="*/ 519863 h 623838"/>
              <a:gd name="connsiteX5" fmla="*/ 1811911 w 1915886"/>
              <a:gd name="connsiteY5" fmla="*/ 623838 h 623838"/>
              <a:gd name="connsiteX6" fmla="*/ 103975 w 1915886"/>
              <a:gd name="connsiteY6" fmla="*/ 623838 h 623838"/>
              <a:gd name="connsiteX7" fmla="*/ 0 w 1915886"/>
              <a:gd name="connsiteY7" fmla="*/ 519863 h 623838"/>
              <a:gd name="connsiteX8" fmla="*/ 0 w 1915886"/>
              <a:gd name="connsiteY8" fmla="*/ 103975 h 623838"/>
              <a:gd name="connsiteX0" fmla="*/ 0 w 2783313"/>
              <a:gd name="connsiteY0" fmla="*/ 550289 h 1070152"/>
              <a:gd name="connsiteX1" fmla="*/ 103975 w 2783313"/>
              <a:gd name="connsiteY1" fmla="*/ 446314 h 1070152"/>
              <a:gd name="connsiteX2" fmla="*/ 2780739 w 2783313"/>
              <a:gd name="connsiteY2" fmla="*/ 0 h 1070152"/>
              <a:gd name="connsiteX3" fmla="*/ 1915886 w 2783313"/>
              <a:gd name="connsiteY3" fmla="*/ 550289 h 1070152"/>
              <a:gd name="connsiteX4" fmla="*/ 1915886 w 2783313"/>
              <a:gd name="connsiteY4" fmla="*/ 966177 h 1070152"/>
              <a:gd name="connsiteX5" fmla="*/ 1811911 w 2783313"/>
              <a:gd name="connsiteY5" fmla="*/ 1070152 h 1070152"/>
              <a:gd name="connsiteX6" fmla="*/ 103975 w 2783313"/>
              <a:gd name="connsiteY6" fmla="*/ 1070152 h 1070152"/>
              <a:gd name="connsiteX7" fmla="*/ 0 w 2783313"/>
              <a:gd name="connsiteY7" fmla="*/ 966177 h 1070152"/>
              <a:gd name="connsiteX8" fmla="*/ 0 w 2783313"/>
              <a:gd name="connsiteY8" fmla="*/ 550289 h 1070152"/>
              <a:gd name="connsiteX0" fmla="*/ 0 w 2188854"/>
              <a:gd name="connsiteY0" fmla="*/ 495860 h 1015723"/>
              <a:gd name="connsiteX1" fmla="*/ 103975 w 2188854"/>
              <a:gd name="connsiteY1" fmla="*/ 391885 h 1015723"/>
              <a:gd name="connsiteX2" fmla="*/ 2182025 w 2188854"/>
              <a:gd name="connsiteY2" fmla="*/ 0 h 1015723"/>
              <a:gd name="connsiteX3" fmla="*/ 1915886 w 2188854"/>
              <a:gd name="connsiteY3" fmla="*/ 495860 h 1015723"/>
              <a:gd name="connsiteX4" fmla="*/ 1915886 w 2188854"/>
              <a:gd name="connsiteY4" fmla="*/ 911748 h 1015723"/>
              <a:gd name="connsiteX5" fmla="*/ 1811911 w 2188854"/>
              <a:gd name="connsiteY5" fmla="*/ 1015723 h 1015723"/>
              <a:gd name="connsiteX6" fmla="*/ 103975 w 2188854"/>
              <a:gd name="connsiteY6" fmla="*/ 1015723 h 1015723"/>
              <a:gd name="connsiteX7" fmla="*/ 0 w 2188854"/>
              <a:gd name="connsiteY7" fmla="*/ 911748 h 1015723"/>
              <a:gd name="connsiteX8" fmla="*/ 0 w 2188854"/>
              <a:gd name="connsiteY8" fmla="*/ 495860 h 1015723"/>
              <a:gd name="connsiteX0" fmla="*/ 0 w 2188854"/>
              <a:gd name="connsiteY0" fmla="*/ 495860 h 1015723"/>
              <a:gd name="connsiteX1" fmla="*/ 103975 w 2188854"/>
              <a:gd name="connsiteY1" fmla="*/ 391885 h 1015723"/>
              <a:gd name="connsiteX2" fmla="*/ 2182025 w 2188854"/>
              <a:gd name="connsiteY2" fmla="*/ 0 h 1015723"/>
              <a:gd name="connsiteX3" fmla="*/ 1915886 w 2188854"/>
              <a:gd name="connsiteY3" fmla="*/ 495860 h 1015723"/>
              <a:gd name="connsiteX4" fmla="*/ 1915886 w 2188854"/>
              <a:gd name="connsiteY4" fmla="*/ 911748 h 1015723"/>
              <a:gd name="connsiteX5" fmla="*/ 1811911 w 2188854"/>
              <a:gd name="connsiteY5" fmla="*/ 1015723 h 1015723"/>
              <a:gd name="connsiteX6" fmla="*/ 103975 w 2188854"/>
              <a:gd name="connsiteY6" fmla="*/ 1015723 h 1015723"/>
              <a:gd name="connsiteX7" fmla="*/ 0 w 2188854"/>
              <a:gd name="connsiteY7" fmla="*/ 911748 h 1015723"/>
              <a:gd name="connsiteX8" fmla="*/ 0 w 2188854"/>
              <a:gd name="connsiteY8" fmla="*/ 495860 h 1015723"/>
              <a:gd name="connsiteX0" fmla="*/ 0 w 2188854"/>
              <a:gd name="connsiteY0" fmla="*/ 495860 h 1015723"/>
              <a:gd name="connsiteX1" fmla="*/ 103975 w 2188854"/>
              <a:gd name="connsiteY1" fmla="*/ 391885 h 1015723"/>
              <a:gd name="connsiteX2" fmla="*/ 2182025 w 2188854"/>
              <a:gd name="connsiteY2" fmla="*/ 0 h 1015723"/>
              <a:gd name="connsiteX3" fmla="*/ 1915886 w 2188854"/>
              <a:gd name="connsiteY3" fmla="*/ 495860 h 1015723"/>
              <a:gd name="connsiteX4" fmla="*/ 1915886 w 2188854"/>
              <a:gd name="connsiteY4" fmla="*/ 911748 h 1015723"/>
              <a:gd name="connsiteX5" fmla="*/ 1811911 w 2188854"/>
              <a:gd name="connsiteY5" fmla="*/ 1015723 h 1015723"/>
              <a:gd name="connsiteX6" fmla="*/ 103975 w 2188854"/>
              <a:gd name="connsiteY6" fmla="*/ 1015723 h 1015723"/>
              <a:gd name="connsiteX7" fmla="*/ 0 w 2188854"/>
              <a:gd name="connsiteY7" fmla="*/ 911748 h 1015723"/>
              <a:gd name="connsiteX8" fmla="*/ 0 w 2188854"/>
              <a:gd name="connsiteY8" fmla="*/ 495860 h 1015723"/>
              <a:gd name="connsiteX0" fmla="*/ 0 w 2186637"/>
              <a:gd name="connsiteY0" fmla="*/ 495860 h 1015723"/>
              <a:gd name="connsiteX1" fmla="*/ 103975 w 2186637"/>
              <a:gd name="connsiteY1" fmla="*/ 391885 h 1015723"/>
              <a:gd name="connsiteX2" fmla="*/ 2182025 w 2186637"/>
              <a:gd name="connsiteY2" fmla="*/ 0 h 1015723"/>
              <a:gd name="connsiteX3" fmla="*/ 1741715 w 2186637"/>
              <a:gd name="connsiteY3" fmla="*/ 397889 h 1015723"/>
              <a:gd name="connsiteX4" fmla="*/ 1915886 w 2186637"/>
              <a:gd name="connsiteY4" fmla="*/ 911748 h 1015723"/>
              <a:gd name="connsiteX5" fmla="*/ 1811911 w 2186637"/>
              <a:gd name="connsiteY5" fmla="*/ 1015723 h 1015723"/>
              <a:gd name="connsiteX6" fmla="*/ 103975 w 2186637"/>
              <a:gd name="connsiteY6" fmla="*/ 1015723 h 1015723"/>
              <a:gd name="connsiteX7" fmla="*/ 0 w 2186637"/>
              <a:gd name="connsiteY7" fmla="*/ 911748 h 1015723"/>
              <a:gd name="connsiteX8" fmla="*/ 0 w 2186637"/>
              <a:gd name="connsiteY8" fmla="*/ 495860 h 1015723"/>
              <a:gd name="connsiteX0" fmla="*/ 0 w 2188854"/>
              <a:gd name="connsiteY0" fmla="*/ 495860 h 1015723"/>
              <a:gd name="connsiteX1" fmla="*/ 103975 w 2188854"/>
              <a:gd name="connsiteY1" fmla="*/ 391885 h 1015723"/>
              <a:gd name="connsiteX2" fmla="*/ 2182025 w 2188854"/>
              <a:gd name="connsiteY2" fmla="*/ 0 h 1015723"/>
              <a:gd name="connsiteX3" fmla="*/ 1915887 w 2188854"/>
              <a:gd name="connsiteY3" fmla="*/ 495861 h 1015723"/>
              <a:gd name="connsiteX4" fmla="*/ 1915886 w 2188854"/>
              <a:gd name="connsiteY4" fmla="*/ 911748 h 1015723"/>
              <a:gd name="connsiteX5" fmla="*/ 1811911 w 2188854"/>
              <a:gd name="connsiteY5" fmla="*/ 1015723 h 1015723"/>
              <a:gd name="connsiteX6" fmla="*/ 103975 w 2188854"/>
              <a:gd name="connsiteY6" fmla="*/ 1015723 h 1015723"/>
              <a:gd name="connsiteX7" fmla="*/ 0 w 2188854"/>
              <a:gd name="connsiteY7" fmla="*/ 911748 h 1015723"/>
              <a:gd name="connsiteX8" fmla="*/ 0 w 2188854"/>
              <a:gd name="connsiteY8" fmla="*/ 495860 h 10157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188854" h="1015723">
                <a:moveTo>
                  <a:pt x="0" y="495860"/>
                </a:moveTo>
                <a:cubicBezTo>
                  <a:pt x="0" y="438436"/>
                  <a:pt x="46551" y="391885"/>
                  <a:pt x="103975" y="391885"/>
                </a:cubicBezTo>
                <a:cubicBezTo>
                  <a:pt x="673287" y="391885"/>
                  <a:pt x="1852198" y="413657"/>
                  <a:pt x="2182025" y="0"/>
                </a:cubicBezTo>
                <a:cubicBezTo>
                  <a:pt x="2239449" y="0"/>
                  <a:pt x="1915887" y="438437"/>
                  <a:pt x="1915887" y="495861"/>
                </a:cubicBezTo>
                <a:cubicBezTo>
                  <a:pt x="1915887" y="634490"/>
                  <a:pt x="1915886" y="773119"/>
                  <a:pt x="1915886" y="911748"/>
                </a:cubicBezTo>
                <a:cubicBezTo>
                  <a:pt x="1915886" y="969172"/>
                  <a:pt x="1869335" y="1015723"/>
                  <a:pt x="1811911" y="1015723"/>
                </a:cubicBezTo>
                <a:lnTo>
                  <a:pt x="103975" y="1015723"/>
                </a:lnTo>
                <a:cubicBezTo>
                  <a:pt x="46551" y="1015723"/>
                  <a:pt x="0" y="969172"/>
                  <a:pt x="0" y="911748"/>
                </a:cubicBezTo>
                <a:lnTo>
                  <a:pt x="0" y="495860"/>
                </a:lnTo>
                <a:close/>
              </a:path>
            </a:pathLst>
          </a:custGeom>
          <a:ln>
            <a:solidFill>
              <a:schemeClr val="tx1">
                <a:lumMod val="95000"/>
                <a:lumOff val="5000"/>
              </a:schemeClr>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mn-MN" altLang="ja-JP" sz="1600" dirty="0">
              <a:solidFill>
                <a:schemeClr val="accent1">
                  <a:lumMod val="50000"/>
                </a:schemeClr>
              </a:solidFill>
            </a:endParaRPr>
          </a:p>
          <a:p>
            <a:pPr algn="ctr"/>
            <a:endParaRPr lang="mn-MN" altLang="ja-JP" sz="1600" dirty="0">
              <a:solidFill>
                <a:schemeClr val="accent1">
                  <a:lumMod val="50000"/>
                </a:schemeClr>
              </a:solidFill>
            </a:endParaRPr>
          </a:p>
          <a:p>
            <a:pPr algn="ctr"/>
            <a:endParaRPr lang="mn-MN" altLang="ja-JP" sz="1600" dirty="0">
              <a:solidFill>
                <a:schemeClr val="accent1">
                  <a:lumMod val="50000"/>
                </a:schemeClr>
              </a:solidFill>
            </a:endParaRPr>
          </a:p>
          <a:p>
            <a:pPr algn="ctr"/>
            <a:r>
              <a:rPr lang="ja-JP" altLang="en-US" sz="1600">
                <a:solidFill>
                  <a:schemeClr val="bg2">
                    <a:lumMod val="50000"/>
                  </a:schemeClr>
                </a:solidFill>
              </a:rPr>
              <a:t>システムのアーキテクチャを設計</a:t>
            </a:r>
            <a:endParaRPr lang="en-US" altLang="ja-JP" sz="1600" dirty="0">
              <a:solidFill>
                <a:schemeClr val="bg2">
                  <a:lumMod val="50000"/>
                </a:schemeClr>
              </a:solidFill>
            </a:endParaRPr>
          </a:p>
          <a:p>
            <a:pPr algn="ctr"/>
            <a:r>
              <a:rPr lang="ja-JP" altLang="en-US" sz="1600">
                <a:solidFill>
                  <a:schemeClr val="bg2">
                    <a:lumMod val="50000"/>
                  </a:schemeClr>
                </a:solidFill>
              </a:rPr>
              <a:t>し、</a:t>
            </a:r>
            <a:r>
              <a:rPr lang="en-US" altLang="ja-JP" sz="1600" dirty="0">
                <a:solidFill>
                  <a:schemeClr val="bg2">
                    <a:lumMod val="50000"/>
                  </a:schemeClr>
                </a:solidFill>
              </a:rPr>
              <a:t>Platform</a:t>
            </a:r>
            <a:r>
              <a:rPr lang="ja-JP" altLang="en-US" sz="1600">
                <a:solidFill>
                  <a:schemeClr val="bg2">
                    <a:lumMod val="50000"/>
                  </a:schemeClr>
                </a:solidFill>
              </a:rPr>
              <a:t>やコンセプト、アプリ</a:t>
            </a:r>
            <a:endParaRPr lang="en-US" altLang="ja-JP" sz="1600" dirty="0">
              <a:solidFill>
                <a:schemeClr val="bg2">
                  <a:lumMod val="50000"/>
                </a:schemeClr>
              </a:solidFill>
            </a:endParaRPr>
          </a:p>
          <a:p>
            <a:pPr algn="ctr"/>
            <a:r>
              <a:rPr lang="ja-JP" altLang="en-US" sz="1600">
                <a:solidFill>
                  <a:schemeClr val="bg2">
                    <a:lumMod val="50000"/>
                  </a:schemeClr>
                </a:solidFill>
              </a:rPr>
              <a:t>開発に結び付ける</a:t>
            </a:r>
            <a:endParaRPr kumimoji="1" lang="ja-JP" altLang="en-US" sz="1600">
              <a:solidFill>
                <a:schemeClr val="bg2">
                  <a:lumMod val="50000"/>
                </a:schemeClr>
              </a:solidFill>
              <a:latin typeface="Meiryo" panose="020B0604030504040204" pitchFamily="34" charset="-128"/>
              <a:ea typeface="Meiryo" panose="020B0604030504040204" pitchFamily="34" charset="-128"/>
            </a:endParaRPr>
          </a:p>
        </p:txBody>
      </p:sp>
      <p:sp>
        <p:nvSpPr>
          <p:cNvPr id="25" name="TextBox 24">
            <a:extLst>
              <a:ext uri="{FF2B5EF4-FFF2-40B4-BE49-F238E27FC236}">
                <a16:creationId xmlns:a16="http://schemas.microsoft.com/office/drawing/2014/main" id="{97927DE0-90B1-D5C9-3AC6-0C0E4BB3028E}"/>
              </a:ext>
            </a:extLst>
          </p:cNvPr>
          <p:cNvSpPr txBox="1"/>
          <p:nvPr/>
        </p:nvSpPr>
        <p:spPr>
          <a:xfrm>
            <a:off x="76200" y="5229837"/>
            <a:ext cx="3167743" cy="1200329"/>
          </a:xfrm>
          <a:prstGeom prst="rect">
            <a:avLst/>
          </a:prstGeom>
          <a:noFill/>
        </p:spPr>
        <p:txBody>
          <a:bodyPr wrap="square">
            <a:spAutoFit/>
          </a:bodyPr>
          <a:lstStyle/>
          <a:p>
            <a:r>
              <a:rPr lang="ja-JP" altLang="en-US">
                <a:solidFill>
                  <a:schemeClr val="bg2">
                    <a:lumMod val="50000"/>
                  </a:schemeClr>
                </a:solidFill>
              </a:rPr>
              <a:t>図は、</a:t>
            </a:r>
            <a:r>
              <a:rPr lang="en-US" dirty="0">
                <a:solidFill>
                  <a:schemeClr val="bg2">
                    <a:lumMod val="50000"/>
                  </a:schemeClr>
                </a:solidFill>
              </a:rPr>
              <a:t>Webinos</a:t>
            </a:r>
            <a:r>
              <a:rPr lang="en-US" altLang="ja-JP" dirty="0">
                <a:solidFill>
                  <a:schemeClr val="bg2">
                    <a:lumMod val="50000"/>
                  </a:schemeClr>
                </a:solidFill>
              </a:rPr>
              <a:t>PlatF</a:t>
            </a:r>
            <a:r>
              <a:rPr lang="ja-JP" altLang="en-US">
                <a:solidFill>
                  <a:schemeClr val="bg2">
                    <a:lumMod val="50000"/>
                  </a:schemeClr>
                </a:solidFill>
              </a:rPr>
              <a:t>開発プロセスにおいて、セキュリティとユーザビリティがどのように統合されているかを示しています</a:t>
            </a:r>
            <a:endParaRPr lang="en-JP" dirty="0">
              <a:solidFill>
                <a:schemeClr val="bg2">
                  <a:lumMod val="50000"/>
                </a:schemeClr>
              </a:solidFill>
            </a:endParaRPr>
          </a:p>
        </p:txBody>
      </p:sp>
      <p:sp>
        <p:nvSpPr>
          <p:cNvPr id="26" name="Slide Number Placeholder 25">
            <a:extLst>
              <a:ext uri="{FF2B5EF4-FFF2-40B4-BE49-F238E27FC236}">
                <a16:creationId xmlns:a16="http://schemas.microsoft.com/office/drawing/2014/main" id="{9EFF828D-1297-97F9-F9FF-59A93BBE01B7}"/>
              </a:ext>
            </a:extLst>
          </p:cNvPr>
          <p:cNvSpPr>
            <a:spLocks noGrp="1"/>
          </p:cNvSpPr>
          <p:nvPr>
            <p:ph type="sldNum" sz="quarter" idx="12"/>
          </p:nvPr>
        </p:nvSpPr>
        <p:spPr/>
        <p:txBody>
          <a:bodyPr/>
          <a:lstStyle/>
          <a:p>
            <a:fld id="{62667D12-7761-1040-82E2-C1925732DACC}" type="slidenum">
              <a:rPr lang="en-JP" smtClean="0"/>
              <a:t>12</a:t>
            </a:fld>
            <a:endParaRPr lang="en-JP"/>
          </a:p>
        </p:txBody>
      </p:sp>
      <p:sp>
        <p:nvSpPr>
          <p:cNvPr id="28" name="正方形/長方形 6">
            <a:extLst>
              <a:ext uri="{FF2B5EF4-FFF2-40B4-BE49-F238E27FC236}">
                <a16:creationId xmlns:a16="http://schemas.microsoft.com/office/drawing/2014/main" id="{6EE0B21F-45A5-2E87-DFF0-30A5C3B15591}"/>
              </a:ext>
            </a:extLst>
          </p:cNvPr>
          <p:cNvSpPr/>
          <p:nvPr/>
        </p:nvSpPr>
        <p:spPr>
          <a:xfrm>
            <a:off x="6127884" y="599257"/>
            <a:ext cx="2699658" cy="1631910"/>
          </a:xfrm>
          <a:prstGeom prst="rect">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9" name="正方形/長方形 6">
            <a:extLst>
              <a:ext uri="{FF2B5EF4-FFF2-40B4-BE49-F238E27FC236}">
                <a16:creationId xmlns:a16="http://schemas.microsoft.com/office/drawing/2014/main" id="{542B691A-C715-C5FC-B280-1729E5670D90}"/>
              </a:ext>
            </a:extLst>
          </p:cNvPr>
          <p:cNvSpPr/>
          <p:nvPr/>
        </p:nvSpPr>
        <p:spPr>
          <a:xfrm>
            <a:off x="3668486" y="457052"/>
            <a:ext cx="2185661" cy="606249"/>
          </a:xfrm>
          <a:prstGeom prst="rect">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1" name="Left-Up Arrow 30">
            <a:extLst>
              <a:ext uri="{FF2B5EF4-FFF2-40B4-BE49-F238E27FC236}">
                <a16:creationId xmlns:a16="http://schemas.microsoft.com/office/drawing/2014/main" id="{65FD6C2B-245C-C557-F1DB-C2F80D784150}"/>
              </a:ext>
            </a:extLst>
          </p:cNvPr>
          <p:cNvSpPr/>
          <p:nvPr/>
        </p:nvSpPr>
        <p:spPr>
          <a:xfrm rot="12067705">
            <a:off x="5675533" y="363712"/>
            <a:ext cx="1004348" cy="168510"/>
          </a:xfrm>
          <a:prstGeom prst="leftUpArrow">
            <a:avLst/>
          </a:prstGeom>
          <a:solidFill>
            <a:schemeClr val="tx1"/>
          </a:solidFill>
          <a:ln>
            <a:solidFill>
              <a:schemeClr val="tx1">
                <a:lumMod val="95000"/>
                <a:lumOff val="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JP">
              <a:solidFill>
                <a:schemeClr val="tx1"/>
              </a:solidFill>
            </a:endParaRPr>
          </a:p>
        </p:txBody>
      </p:sp>
    </p:spTree>
    <p:extLst>
      <p:ext uri="{BB962C8B-B14F-4D97-AF65-F5344CB8AC3E}">
        <p14:creationId xmlns:p14="http://schemas.microsoft.com/office/powerpoint/2010/main" val="21143481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28"/>
                                        </p:tgtEl>
                                        <p:attrNameLst>
                                          <p:attrName>style.visibility</p:attrName>
                                        </p:attrNameLst>
                                      </p:cBhvr>
                                      <p:to>
                                        <p:strVal val="visible"/>
                                      </p:to>
                                    </p:set>
                                    <p:animEffect transition="in" filter="fade">
                                      <p:cBhvr>
                                        <p:cTn id="7" dur="500"/>
                                        <p:tgtEl>
                                          <p:spTgt spid="28"/>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29"/>
                                        </p:tgtEl>
                                        <p:attrNameLst>
                                          <p:attrName>style.visibility</p:attrName>
                                        </p:attrNameLst>
                                      </p:cBhvr>
                                      <p:to>
                                        <p:strVal val="visible"/>
                                      </p:to>
                                    </p:set>
                                    <p:animEffect transition="in" filter="fade">
                                      <p:cBhvr>
                                        <p:cTn id="10" dur="500"/>
                                        <p:tgtEl>
                                          <p:spTgt spid="2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 grpId="0" animBg="1"/>
      <p:bldP spid="29"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D1BB71B2-CDF2-BC57-BB09-B820DBEE1154}"/>
              </a:ext>
            </a:extLst>
          </p:cNvPr>
          <p:cNvSpPr txBox="1"/>
          <p:nvPr/>
        </p:nvSpPr>
        <p:spPr>
          <a:xfrm>
            <a:off x="1328057" y="653535"/>
            <a:ext cx="6096000" cy="400110"/>
          </a:xfrm>
          <a:prstGeom prst="rect">
            <a:avLst/>
          </a:prstGeom>
          <a:noFill/>
        </p:spPr>
        <p:txBody>
          <a:bodyPr wrap="square">
            <a:spAutoFit/>
          </a:bodyPr>
          <a:lstStyle/>
          <a:p>
            <a:r>
              <a:rPr lang="ja-JP" altLang="en-US" sz="2000">
                <a:solidFill>
                  <a:schemeClr val="tx2">
                    <a:lumMod val="75000"/>
                  </a:schemeClr>
                </a:solidFill>
                <a:latin typeface="Meiryo" panose="020B0604030504040204" pitchFamily="34" charset="-128"/>
                <a:ea typeface="Meiryo" panose="020B0604030504040204" pitchFamily="34" charset="-128"/>
              </a:rPr>
              <a:t>利用状況分析（</a:t>
            </a:r>
            <a:r>
              <a:rPr lang="en-US" sz="2000" dirty="0">
                <a:solidFill>
                  <a:schemeClr val="tx2">
                    <a:lumMod val="75000"/>
                  </a:schemeClr>
                </a:solidFill>
                <a:latin typeface="Meiryo" panose="020B0604030504040204" pitchFamily="34" charset="-128"/>
                <a:ea typeface="Meiryo" panose="020B0604030504040204" pitchFamily="34" charset="-128"/>
              </a:rPr>
              <a:t>Context of Use Analysis）</a:t>
            </a:r>
            <a:endParaRPr lang="en-JP" sz="2000" dirty="0">
              <a:solidFill>
                <a:schemeClr val="tx2">
                  <a:lumMod val="75000"/>
                </a:schemeClr>
              </a:solidFill>
              <a:latin typeface="Meiryo" panose="020B0604030504040204" pitchFamily="34" charset="-128"/>
              <a:ea typeface="Meiryo" panose="020B0604030504040204" pitchFamily="34" charset="-128"/>
            </a:endParaRPr>
          </a:p>
        </p:txBody>
      </p:sp>
      <p:sp>
        <p:nvSpPr>
          <p:cNvPr id="7" name="TextBox 6">
            <a:extLst>
              <a:ext uri="{FF2B5EF4-FFF2-40B4-BE49-F238E27FC236}">
                <a16:creationId xmlns:a16="http://schemas.microsoft.com/office/drawing/2014/main" id="{846C798B-0F7F-7AA2-586C-710877F82234}"/>
              </a:ext>
            </a:extLst>
          </p:cNvPr>
          <p:cNvSpPr txBox="1"/>
          <p:nvPr/>
        </p:nvSpPr>
        <p:spPr>
          <a:xfrm>
            <a:off x="1099456" y="1633249"/>
            <a:ext cx="9329057" cy="400110"/>
          </a:xfrm>
          <a:prstGeom prst="rect">
            <a:avLst/>
          </a:prstGeom>
          <a:noFill/>
        </p:spPr>
        <p:txBody>
          <a:bodyPr wrap="square">
            <a:spAutoFit/>
          </a:bodyPr>
          <a:lstStyle/>
          <a:p>
            <a:r>
              <a:rPr lang="en-JP" sz="2000" dirty="0">
                <a:latin typeface="Meiryo" panose="020B0604030504040204" pitchFamily="34" charset="-128"/>
                <a:ea typeface="Meiryo" panose="020B0604030504040204" pitchFamily="34" charset="-128"/>
              </a:rPr>
              <a:t>Project security and usability</a:t>
            </a:r>
            <a:r>
              <a:rPr lang="mn-MN" sz="2000" dirty="0">
                <a:latin typeface="Meiryo" panose="020B0604030504040204" pitchFamily="34" charset="-128"/>
                <a:ea typeface="Meiryo" panose="020B0604030504040204" pitchFamily="34" charset="-128"/>
              </a:rPr>
              <a:t> </a:t>
            </a:r>
            <a:r>
              <a:rPr lang="ja-JP" altLang="en-US" sz="2000">
                <a:latin typeface="Meiryo" panose="020B0604030504040204" pitchFamily="34" charset="-128"/>
                <a:ea typeface="Meiryo" panose="020B0604030504040204" pitchFamily="34" charset="-128"/>
              </a:rPr>
              <a:t>設計を進めるために「</a:t>
            </a:r>
            <a:r>
              <a:rPr lang="ja-JP" altLang="en-US" sz="2000">
                <a:solidFill>
                  <a:srgbClr val="FF0000"/>
                </a:solidFill>
                <a:latin typeface="Meiryo" panose="020B0604030504040204" pitchFamily="34" charset="-128"/>
                <a:ea typeface="Meiryo" panose="020B0604030504040204" pitchFamily="34" charset="-128"/>
              </a:rPr>
              <a:t>利用状況の記述</a:t>
            </a:r>
            <a:r>
              <a:rPr lang="ja-JP" altLang="en-US" sz="2000">
                <a:latin typeface="Meiryo" panose="020B0604030504040204" pitchFamily="34" charset="-128"/>
                <a:ea typeface="Meiryo" panose="020B0604030504040204" pitchFamily="34" charset="-128"/>
              </a:rPr>
              <a:t>」を作成</a:t>
            </a:r>
            <a:endParaRPr lang="en-JP" sz="2000" dirty="0">
              <a:latin typeface="Meiryo" panose="020B0604030504040204" pitchFamily="34" charset="-128"/>
              <a:ea typeface="Meiryo" panose="020B0604030504040204" pitchFamily="34" charset="-128"/>
            </a:endParaRPr>
          </a:p>
        </p:txBody>
      </p:sp>
      <p:sp>
        <p:nvSpPr>
          <p:cNvPr id="9" name="TextBox 8">
            <a:extLst>
              <a:ext uri="{FF2B5EF4-FFF2-40B4-BE49-F238E27FC236}">
                <a16:creationId xmlns:a16="http://schemas.microsoft.com/office/drawing/2014/main" id="{9DEAA164-439C-F671-180B-C3EC834805F6}"/>
              </a:ext>
            </a:extLst>
          </p:cNvPr>
          <p:cNvSpPr txBox="1"/>
          <p:nvPr/>
        </p:nvSpPr>
        <p:spPr>
          <a:xfrm>
            <a:off x="1426029" y="2536763"/>
            <a:ext cx="8229600" cy="3477875"/>
          </a:xfrm>
          <a:prstGeom prst="rect">
            <a:avLst/>
          </a:prstGeom>
          <a:noFill/>
        </p:spPr>
        <p:txBody>
          <a:bodyPr wrap="square">
            <a:spAutoFit/>
          </a:bodyPr>
          <a:lstStyle/>
          <a:p>
            <a:r>
              <a:rPr lang="en-JP" sz="2000" dirty="0">
                <a:latin typeface="Meiryo" panose="020B0604030504040204" pitchFamily="34" charset="-128"/>
                <a:ea typeface="Meiryo" panose="020B0604030504040204" pitchFamily="34" charset="-128"/>
              </a:rPr>
              <a:t>「</a:t>
            </a:r>
            <a:r>
              <a:rPr lang="en-JP" sz="2000" dirty="0">
                <a:solidFill>
                  <a:srgbClr val="FF0000"/>
                </a:solidFill>
                <a:latin typeface="Meiryo" panose="020B0604030504040204" pitchFamily="34" charset="-128"/>
                <a:ea typeface="Meiryo" panose="020B0604030504040204" pitchFamily="34" charset="-128"/>
              </a:rPr>
              <a:t>利用状況の記述</a:t>
            </a:r>
            <a:r>
              <a:rPr lang="en-JP" sz="2000" dirty="0">
                <a:latin typeface="Meiryo" panose="020B0604030504040204" pitchFamily="34" charset="-128"/>
                <a:ea typeface="Meiryo" panose="020B0604030504040204" pitchFamily="34" charset="-128"/>
              </a:rPr>
              <a:t>」で定義するもの</a:t>
            </a:r>
          </a:p>
          <a:p>
            <a:endParaRPr lang="en-JP" sz="2000" dirty="0">
              <a:latin typeface="Meiryo" panose="020B0604030504040204" pitchFamily="34" charset="-128"/>
              <a:ea typeface="Meiryo" panose="020B0604030504040204" pitchFamily="34" charset="-128"/>
            </a:endParaRPr>
          </a:p>
          <a:p>
            <a:r>
              <a:rPr lang="en-JP" sz="2000" dirty="0">
                <a:latin typeface="Meiryo" panose="020B0604030504040204" pitchFamily="34" charset="-128"/>
                <a:ea typeface="Meiryo" panose="020B0604030504040204" pitchFamily="34" charset="-128"/>
              </a:rPr>
              <a:t>1.システムを使うユーザー</a:t>
            </a:r>
          </a:p>
          <a:p>
            <a:r>
              <a:rPr lang="en-JP" sz="2000" dirty="0">
                <a:latin typeface="Meiryo" panose="020B0604030504040204" pitchFamily="34" charset="-128"/>
                <a:ea typeface="Meiryo" panose="020B0604030504040204" pitchFamily="34" charset="-128"/>
              </a:rPr>
              <a:t>2.ユーザーのタスクや役割</a:t>
            </a:r>
          </a:p>
          <a:p>
            <a:r>
              <a:rPr lang="en-JP" sz="2000" dirty="0">
                <a:latin typeface="Meiryo" panose="020B0604030504040204" pitchFamily="34" charset="-128"/>
                <a:ea typeface="Meiryo" panose="020B0604030504040204" pitchFamily="34" charset="-128"/>
              </a:rPr>
              <a:t>3.システムが動作する環境条件</a:t>
            </a:r>
          </a:p>
          <a:p>
            <a:endParaRPr lang="en-JP" sz="2000" dirty="0">
              <a:latin typeface="Meiryo" panose="020B0604030504040204" pitchFamily="34" charset="-128"/>
              <a:ea typeface="Meiryo" panose="020B0604030504040204" pitchFamily="34" charset="-128"/>
            </a:endParaRPr>
          </a:p>
          <a:p>
            <a:pPr marL="285750" indent="-285750">
              <a:buFont typeface="Arial" panose="020B0604020202020204" pitchFamily="34" charset="0"/>
              <a:buChar char="•"/>
            </a:pPr>
            <a:r>
              <a:rPr lang="en-JP" sz="2000" dirty="0">
                <a:latin typeface="Meiryo" panose="020B0604030504040204" pitchFamily="34" charset="-128"/>
                <a:ea typeface="Meiryo" panose="020B0604030504040204" pitchFamily="34" charset="-128"/>
              </a:rPr>
              <a:t>当初はユーザビリティ評価用だが、セキュリティ設計の意思決定にも活用</a:t>
            </a:r>
          </a:p>
          <a:p>
            <a:pPr marL="285750" indent="-285750">
              <a:buFont typeface="Arial" panose="020B0604020202020204" pitchFamily="34" charset="0"/>
              <a:buChar char="•"/>
            </a:pPr>
            <a:r>
              <a:rPr lang="en-JP" sz="2000" dirty="0">
                <a:latin typeface="Meiryo" panose="020B0604030504040204" pitchFamily="34" charset="-128"/>
                <a:ea typeface="Meiryo" panose="020B0604030504040204" pitchFamily="34" charset="-128"/>
              </a:rPr>
              <a:t>従来の欧州プロジェクトでは、利用調査と設計意思決定が分離していた課題を解決</a:t>
            </a:r>
          </a:p>
          <a:p>
            <a:pPr marL="285750" indent="-285750">
              <a:buFont typeface="Arial" panose="020B0604020202020204" pitchFamily="34" charset="0"/>
              <a:buChar char="•"/>
            </a:pPr>
            <a:r>
              <a:rPr lang="en-JP" sz="2000" dirty="0">
                <a:latin typeface="Meiryo" panose="020B0604030504040204" pitchFamily="34" charset="-128"/>
                <a:ea typeface="Meiryo" panose="020B0604030504040204" pitchFamily="34" charset="-128"/>
              </a:rPr>
              <a:t>webinosでは、ユーザビリティとセキュア設計の手法・理念を統合</a:t>
            </a:r>
          </a:p>
        </p:txBody>
      </p:sp>
      <p:sp>
        <p:nvSpPr>
          <p:cNvPr id="10" name="正方形/長方形 6">
            <a:extLst>
              <a:ext uri="{FF2B5EF4-FFF2-40B4-BE49-F238E27FC236}">
                <a16:creationId xmlns:a16="http://schemas.microsoft.com/office/drawing/2014/main" id="{BE0CBB05-5587-DB7B-4349-DBE60AE618F2}"/>
              </a:ext>
            </a:extLst>
          </p:cNvPr>
          <p:cNvSpPr/>
          <p:nvPr/>
        </p:nvSpPr>
        <p:spPr>
          <a:xfrm>
            <a:off x="1426029" y="3048000"/>
            <a:ext cx="8043091" cy="1046480"/>
          </a:xfrm>
          <a:prstGeom prst="rect">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1" name="Slide Number Placeholder 10">
            <a:extLst>
              <a:ext uri="{FF2B5EF4-FFF2-40B4-BE49-F238E27FC236}">
                <a16:creationId xmlns:a16="http://schemas.microsoft.com/office/drawing/2014/main" id="{51F5CB0B-9167-2817-01E6-58FB9E11E969}"/>
              </a:ext>
            </a:extLst>
          </p:cNvPr>
          <p:cNvSpPr>
            <a:spLocks noGrp="1"/>
          </p:cNvSpPr>
          <p:nvPr>
            <p:ph type="sldNum" sz="quarter" idx="12"/>
          </p:nvPr>
        </p:nvSpPr>
        <p:spPr/>
        <p:txBody>
          <a:bodyPr/>
          <a:lstStyle/>
          <a:p>
            <a:fld id="{62667D12-7761-1040-82E2-C1925732DACC}" type="slidenum">
              <a:rPr lang="en-JP" smtClean="0"/>
              <a:t>13</a:t>
            </a:fld>
            <a:endParaRPr lang="en-JP"/>
          </a:p>
        </p:txBody>
      </p:sp>
    </p:spTree>
    <p:extLst>
      <p:ext uri="{BB962C8B-B14F-4D97-AF65-F5344CB8AC3E}">
        <p14:creationId xmlns:p14="http://schemas.microsoft.com/office/powerpoint/2010/main" val="727914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0" name="Table 9">
            <a:extLst>
              <a:ext uri="{FF2B5EF4-FFF2-40B4-BE49-F238E27FC236}">
                <a16:creationId xmlns:a16="http://schemas.microsoft.com/office/drawing/2014/main" id="{2F188CDB-BDC9-26C4-E90D-5860B6A9DFFC}"/>
              </a:ext>
            </a:extLst>
          </p:cNvPr>
          <p:cNvGraphicFramePr>
            <a:graphicFrameLocks noGrp="1"/>
          </p:cNvGraphicFramePr>
          <p:nvPr>
            <p:extLst>
              <p:ext uri="{D42A27DB-BD31-4B8C-83A1-F6EECF244321}">
                <p14:modId xmlns:p14="http://schemas.microsoft.com/office/powerpoint/2010/main" val="3912550594"/>
              </p:ext>
            </p:extLst>
          </p:nvPr>
        </p:nvGraphicFramePr>
        <p:xfrm>
          <a:off x="0" y="873595"/>
          <a:ext cx="8831944" cy="2903100"/>
        </p:xfrm>
        <a:graphic>
          <a:graphicData uri="http://schemas.openxmlformats.org/drawingml/2006/table">
            <a:tbl>
              <a:tblPr firstRow="1" bandRow="1">
                <a:tableStyleId>{69CF1AB2-1976-4502-BF36-3FF5EA218861}</a:tableStyleId>
              </a:tblPr>
              <a:tblGrid>
                <a:gridCol w="1124859">
                  <a:extLst>
                    <a:ext uri="{9D8B030D-6E8A-4147-A177-3AD203B41FA5}">
                      <a16:colId xmlns:a16="http://schemas.microsoft.com/office/drawing/2014/main" val="1345340065"/>
                    </a:ext>
                  </a:extLst>
                </a:gridCol>
                <a:gridCol w="7707085">
                  <a:extLst>
                    <a:ext uri="{9D8B030D-6E8A-4147-A177-3AD203B41FA5}">
                      <a16:colId xmlns:a16="http://schemas.microsoft.com/office/drawing/2014/main" val="1106714677"/>
                    </a:ext>
                  </a:extLst>
                </a:gridCol>
              </a:tblGrid>
              <a:tr h="1348620">
                <a:tc gridSpan="2">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JP" b="0" dirty="0">
                          <a:latin typeface="Meiryo" panose="020B0604030504040204" pitchFamily="34" charset="-128"/>
                          <a:ea typeface="Meiryo" panose="020B0604030504040204" pitchFamily="34" charset="-128"/>
                        </a:rPr>
                        <a:t>標準的な「利用状況の記述（Context of Use Description）」では、主要（直接）と　二次（間接）ユーザーのスキル、知識、個人属性が記録されます。ユーザーに関する情報を収集・特定するために、2段階のアプローチが採用されました。</a:t>
                      </a:r>
                    </a:p>
                    <a:p>
                      <a:endParaRPr lang="en-JP" dirty="0">
                        <a:latin typeface="Meiryo" panose="020B0604030504040204" pitchFamily="34" charset="-128"/>
                        <a:ea typeface="Meiryo" panose="020B0604030504040204" pitchFamily="34" charset="-128"/>
                      </a:endParaRPr>
                    </a:p>
                  </a:txBody>
                  <a:tcPr/>
                </a:tc>
                <a:tc hMerge="1">
                  <a:txBody>
                    <a:bodyPr/>
                    <a:lstStyle/>
                    <a:p>
                      <a:endParaRPr lang="en-JP" dirty="0"/>
                    </a:p>
                  </a:txBody>
                  <a:tcPr/>
                </a:tc>
                <a:extLst>
                  <a:ext uri="{0D108BD9-81ED-4DB2-BD59-A6C34878D82A}">
                    <a16:rowId xmlns:a16="http://schemas.microsoft.com/office/drawing/2014/main" val="660323542"/>
                  </a:ext>
                </a:extLst>
              </a:tr>
              <a:tr h="596705">
                <a:tc>
                  <a:txBody>
                    <a:bodyPr/>
                    <a:lstStyle/>
                    <a:p>
                      <a:r>
                        <a:rPr lang="ja-JP" altLang="en-US">
                          <a:latin typeface="Meiryo" panose="020B0604030504040204" pitchFamily="34" charset="-128"/>
                          <a:ea typeface="Meiryo" panose="020B0604030504040204" pitchFamily="34" charset="-128"/>
                        </a:rPr>
                        <a:t>第</a:t>
                      </a:r>
                      <a:r>
                        <a:rPr lang="en-US" altLang="ja-JP" dirty="0">
                          <a:latin typeface="Meiryo" panose="020B0604030504040204" pitchFamily="34" charset="-128"/>
                          <a:ea typeface="Meiryo" panose="020B0604030504040204" pitchFamily="34" charset="-128"/>
                        </a:rPr>
                        <a:t>1</a:t>
                      </a:r>
                      <a:r>
                        <a:rPr lang="ja-JP" altLang="en-US">
                          <a:latin typeface="Meiryo" panose="020B0604030504040204" pitchFamily="34" charset="-128"/>
                          <a:ea typeface="Meiryo" panose="020B0604030504040204" pitchFamily="34" charset="-128"/>
                        </a:rPr>
                        <a:t>段階</a:t>
                      </a:r>
                      <a:r>
                        <a:rPr lang="en-US" altLang="ja-JP" dirty="0">
                          <a:latin typeface="Meiryo" panose="020B0604030504040204" pitchFamily="34" charset="-128"/>
                          <a:ea typeface="Meiryo" panose="020B0604030504040204" pitchFamily="34" charset="-128"/>
                        </a:rPr>
                        <a:t>:</a:t>
                      </a:r>
                      <a:endParaRPr lang="en-JP" dirty="0">
                        <a:latin typeface="Meiryo" panose="020B0604030504040204" pitchFamily="34" charset="-128"/>
                        <a:ea typeface="Meiryo" panose="020B0604030504040204" pitchFamily="34" charset="-128"/>
                      </a:endParaRPr>
                    </a:p>
                  </a:txBody>
                  <a:tcPr/>
                </a:tc>
                <a:tc>
                  <a:txBody>
                    <a:bodyPr/>
                    <a:lstStyle/>
                    <a:p>
                      <a:r>
                        <a:rPr lang="ja-JP" altLang="en-US">
                          <a:latin typeface="Meiryo" panose="020B0604030504040204" pitchFamily="34" charset="-128"/>
                          <a:ea typeface="Meiryo" panose="020B0604030504040204" pitchFamily="34" charset="-128"/>
                        </a:rPr>
                        <a:t>プロジェクトチームはプロジェクトの範囲を検討し、</a:t>
                      </a:r>
                      <a:r>
                        <a:rPr lang="en-US" dirty="0">
                          <a:latin typeface="Meiryo" panose="020B0604030504040204" pitchFamily="34" charset="-128"/>
                          <a:ea typeface="Meiryo" panose="020B0604030504040204" pitchFamily="34" charset="-128"/>
                        </a:rPr>
                        <a:t>webinos </a:t>
                      </a:r>
                      <a:r>
                        <a:rPr lang="ja-JP" altLang="en-US">
                          <a:latin typeface="Meiryo" panose="020B0604030504040204" pitchFamily="34" charset="-128"/>
                          <a:ea typeface="Meiryo" panose="020B0604030504040204" pitchFamily="34" charset="-128"/>
                        </a:rPr>
                        <a:t>の設計対象となる</a:t>
                      </a:r>
                      <a:r>
                        <a:rPr lang="en-US" altLang="ja-JP" dirty="0">
                          <a:latin typeface="Meiryo" panose="020B0604030504040204" pitchFamily="34" charset="-128"/>
                          <a:ea typeface="Meiryo" panose="020B0604030504040204" pitchFamily="34" charset="-128"/>
                        </a:rPr>
                        <a:t>2</a:t>
                      </a:r>
                      <a:r>
                        <a:rPr lang="ja-JP" altLang="en-US">
                          <a:latin typeface="Meiryo" panose="020B0604030504040204" pitchFamily="34" charset="-128"/>
                          <a:ea typeface="Meiryo" panose="020B0604030504040204" pitchFamily="34" charset="-128"/>
                        </a:rPr>
                        <a:t>つの主要ユーザーカテゴリを特定しました</a:t>
                      </a:r>
                      <a:r>
                        <a:rPr lang="ja-JP" altLang="en-US" b="0">
                          <a:latin typeface="Meiryo" panose="020B0604030504040204" pitchFamily="34" charset="-128"/>
                          <a:ea typeface="Meiryo" panose="020B0604030504040204" pitchFamily="34" charset="-128"/>
                        </a:rPr>
                        <a:t>：アプリ開発者（</a:t>
                      </a:r>
                      <a:r>
                        <a:rPr lang="en-US" b="0" dirty="0">
                          <a:latin typeface="Meiryo" panose="020B0604030504040204" pitchFamily="34" charset="-128"/>
                          <a:ea typeface="Meiryo" panose="020B0604030504040204" pitchFamily="34" charset="-128"/>
                        </a:rPr>
                        <a:t>App developers） </a:t>
                      </a:r>
                      <a:r>
                        <a:rPr lang="ja-JP" altLang="en-US" b="0">
                          <a:latin typeface="Meiryo" panose="020B0604030504040204" pitchFamily="34" charset="-128"/>
                          <a:ea typeface="Meiryo" panose="020B0604030504040204" pitchFamily="34" charset="-128"/>
                        </a:rPr>
                        <a:t>と アプリ最終ユーザー（</a:t>
                      </a:r>
                      <a:r>
                        <a:rPr lang="en-US" b="0" dirty="0">
                          <a:latin typeface="Meiryo" panose="020B0604030504040204" pitchFamily="34" charset="-128"/>
                          <a:ea typeface="Meiryo" panose="020B0604030504040204" pitchFamily="34" charset="-128"/>
                        </a:rPr>
                        <a:t>App end-users）</a:t>
                      </a:r>
                      <a:endParaRPr lang="en-JP" b="0" dirty="0">
                        <a:latin typeface="Meiryo" panose="020B0604030504040204" pitchFamily="34" charset="-128"/>
                        <a:ea typeface="Meiryo" panose="020B0604030504040204" pitchFamily="34" charset="-128"/>
                      </a:endParaRPr>
                    </a:p>
                  </a:txBody>
                  <a:tcPr/>
                </a:tc>
                <a:extLst>
                  <a:ext uri="{0D108BD9-81ED-4DB2-BD59-A6C34878D82A}">
                    <a16:rowId xmlns:a16="http://schemas.microsoft.com/office/drawing/2014/main" val="2236946792"/>
                  </a:ext>
                </a:extLst>
              </a:tr>
              <a:tr h="0">
                <a:tc>
                  <a:txBody>
                    <a:bodyPr/>
                    <a:lstStyle/>
                    <a:p>
                      <a:r>
                        <a:rPr lang="ja-JP" altLang="en-US" b="0">
                          <a:latin typeface="Meiryo" panose="020B0604030504040204" pitchFamily="34" charset="-128"/>
                          <a:ea typeface="Meiryo" panose="020B0604030504040204" pitchFamily="34" charset="-128"/>
                        </a:rPr>
                        <a:t>第</a:t>
                      </a:r>
                      <a:r>
                        <a:rPr lang="en-US" altLang="ja-JP" b="0" dirty="0">
                          <a:latin typeface="Meiryo" panose="020B0604030504040204" pitchFamily="34" charset="-128"/>
                          <a:ea typeface="Meiryo" panose="020B0604030504040204" pitchFamily="34" charset="-128"/>
                        </a:rPr>
                        <a:t>2</a:t>
                      </a:r>
                      <a:r>
                        <a:rPr lang="ja-JP" altLang="en-US" b="0">
                          <a:latin typeface="Meiryo" panose="020B0604030504040204" pitchFamily="34" charset="-128"/>
                          <a:ea typeface="Meiryo" panose="020B0604030504040204" pitchFamily="34" charset="-128"/>
                        </a:rPr>
                        <a:t>段階</a:t>
                      </a:r>
                      <a:r>
                        <a:rPr lang="en-US" altLang="ja-JP" b="0" dirty="0">
                          <a:latin typeface="Meiryo" panose="020B0604030504040204" pitchFamily="34" charset="-128"/>
                          <a:ea typeface="Meiryo" panose="020B0604030504040204" pitchFamily="34" charset="-128"/>
                        </a:rPr>
                        <a:t>:</a:t>
                      </a:r>
                      <a:r>
                        <a:rPr lang="ja-JP" altLang="en-US" b="0">
                          <a:latin typeface="Meiryo" panose="020B0604030504040204" pitchFamily="34" charset="-128"/>
                          <a:ea typeface="Meiryo" panose="020B0604030504040204" pitchFamily="34" charset="-128"/>
                        </a:rPr>
                        <a:t> </a:t>
                      </a:r>
                      <a:endParaRPr lang="en-JP" b="0" dirty="0">
                        <a:latin typeface="Meiryo" panose="020B0604030504040204" pitchFamily="34" charset="-128"/>
                        <a:ea typeface="Meiryo" panose="020B0604030504040204" pitchFamily="34" charset="-128"/>
                      </a:endParaRPr>
                    </a:p>
                  </a:txBody>
                  <a:tcPr/>
                </a:tc>
                <a:tc>
                  <a:txBody>
                    <a:bodyPr/>
                    <a:lstStyle/>
                    <a:p>
                      <a:r>
                        <a:rPr lang="ja-JP" altLang="en-US">
                          <a:latin typeface="Meiryo" panose="020B0604030504040204" pitchFamily="34" charset="-128"/>
                          <a:ea typeface="Meiryo" panose="020B0604030504040204" pitchFamily="34" charset="-128"/>
                        </a:rPr>
                        <a:t>将来のユーザーのスキルや属性を明らかにするため、</a:t>
                      </a:r>
                      <a:r>
                        <a:rPr lang="en-US" altLang="ja-JP" dirty="0">
                          <a:latin typeface="Meiryo" panose="020B0604030504040204" pitchFamily="34" charset="-128"/>
                          <a:ea typeface="Meiryo" panose="020B0604030504040204" pitchFamily="34" charset="-128"/>
                        </a:rPr>
                        <a:t>12</a:t>
                      </a:r>
                      <a:r>
                        <a:rPr lang="ja-JP" altLang="en-US">
                          <a:latin typeface="Meiryo" panose="020B0604030504040204" pitchFamily="34" charset="-128"/>
                          <a:ea typeface="Meiryo" panose="020B0604030504040204" pitchFamily="34" charset="-128"/>
                        </a:rPr>
                        <a:t>の </a:t>
                      </a:r>
                      <a:r>
                        <a:rPr lang="ja-JP" altLang="en-US" b="1">
                          <a:latin typeface="Meiryo" panose="020B0604030504040204" pitchFamily="34" charset="-128"/>
                          <a:ea typeface="Meiryo" panose="020B0604030504040204" pitchFamily="34" charset="-128"/>
                        </a:rPr>
                        <a:t>ペルソナ（</a:t>
                      </a:r>
                      <a:r>
                        <a:rPr lang="en-US" b="1" dirty="0">
                          <a:latin typeface="Meiryo" panose="020B0604030504040204" pitchFamily="34" charset="-128"/>
                          <a:ea typeface="Meiryo" panose="020B0604030504040204" pitchFamily="34" charset="-128"/>
                        </a:rPr>
                        <a:t>Personas）</a:t>
                      </a:r>
                      <a:r>
                        <a:rPr lang="en-US" dirty="0">
                          <a:latin typeface="Meiryo" panose="020B0604030504040204" pitchFamily="34" charset="-128"/>
                          <a:ea typeface="Meiryo" panose="020B0604030504040204" pitchFamily="34" charset="-128"/>
                        </a:rPr>
                        <a:t> </a:t>
                      </a:r>
                      <a:r>
                        <a:rPr lang="ja-JP" altLang="en-US">
                          <a:latin typeface="Meiryo" panose="020B0604030504040204" pitchFamily="34" charset="-128"/>
                          <a:ea typeface="Meiryo" panose="020B0604030504040204" pitchFamily="34" charset="-128"/>
                        </a:rPr>
                        <a:t>が作成されました。</a:t>
                      </a:r>
                      <a:endParaRPr lang="en-JP" dirty="0">
                        <a:latin typeface="Meiryo" panose="020B0604030504040204" pitchFamily="34" charset="-128"/>
                        <a:ea typeface="Meiryo" panose="020B0604030504040204" pitchFamily="34" charset="-128"/>
                      </a:endParaRPr>
                    </a:p>
                  </a:txBody>
                  <a:tcPr/>
                </a:tc>
                <a:extLst>
                  <a:ext uri="{0D108BD9-81ED-4DB2-BD59-A6C34878D82A}">
                    <a16:rowId xmlns:a16="http://schemas.microsoft.com/office/drawing/2014/main" val="2910892989"/>
                  </a:ext>
                </a:extLst>
              </a:tr>
            </a:tbl>
          </a:graphicData>
        </a:graphic>
      </p:graphicFrame>
      <p:sp>
        <p:nvSpPr>
          <p:cNvPr id="11" name="Oval 10">
            <a:extLst>
              <a:ext uri="{FF2B5EF4-FFF2-40B4-BE49-F238E27FC236}">
                <a16:creationId xmlns:a16="http://schemas.microsoft.com/office/drawing/2014/main" id="{1C2AC5A7-AD24-68E1-6072-9B1FA8702FC1}"/>
              </a:ext>
            </a:extLst>
          </p:cNvPr>
          <p:cNvSpPr/>
          <p:nvPr/>
        </p:nvSpPr>
        <p:spPr>
          <a:xfrm>
            <a:off x="71120" y="4100756"/>
            <a:ext cx="8066315" cy="1782519"/>
          </a:xfrm>
          <a:prstGeom prst="ellipse">
            <a:avLst/>
          </a:prstGeom>
          <a:solidFill>
            <a:schemeClr val="bg2">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latin typeface="Meiryo" panose="020B0604030504040204" pitchFamily="34" charset="-128"/>
                <a:ea typeface="Meiryo" panose="020B0604030504040204" pitchFamily="34" charset="-128"/>
              </a:rPr>
              <a:t>Persona</a:t>
            </a:r>
            <a:r>
              <a:rPr lang="ja-JP" altLang="en-US">
                <a:solidFill>
                  <a:schemeClr val="tx1"/>
                </a:solidFill>
                <a:latin typeface="Meiryo" panose="020B0604030504040204" pitchFamily="34" charset="-128"/>
                <a:ea typeface="Meiryo" panose="020B0604030504040204" pitchFamily="34" charset="-128"/>
              </a:rPr>
              <a:t>とは、ユーザーの目標やニーズを具体化した典型的なユーザー仕様です 。以前の研究では、</a:t>
            </a:r>
            <a:r>
              <a:rPr lang="en-US" b="1" dirty="0">
                <a:latin typeface="Meiryo" panose="020B0604030504040204" pitchFamily="34" charset="-128"/>
                <a:ea typeface="Meiryo" panose="020B0604030504040204" pitchFamily="34" charset="-128"/>
              </a:rPr>
              <a:t>Persona</a:t>
            </a:r>
            <a:r>
              <a:rPr lang="ja-JP" altLang="en-US">
                <a:solidFill>
                  <a:schemeClr val="tx1"/>
                </a:solidFill>
                <a:latin typeface="Meiryo" panose="020B0604030504040204" pitchFamily="34" charset="-128"/>
                <a:ea typeface="Meiryo" panose="020B0604030504040204" pitchFamily="34" charset="-128"/>
              </a:rPr>
              <a:t>の作成と適用は安全なシステム設計にプラスの影響を与えることが示されています</a:t>
            </a:r>
            <a:endParaRPr lang="en-JP" dirty="0">
              <a:solidFill>
                <a:schemeClr val="tx1"/>
              </a:solidFill>
              <a:latin typeface="Meiryo" panose="020B0604030504040204" pitchFamily="34" charset="-128"/>
              <a:ea typeface="Meiryo" panose="020B0604030504040204" pitchFamily="34" charset="-128"/>
            </a:endParaRPr>
          </a:p>
        </p:txBody>
      </p:sp>
      <p:sp>
        <p:nvSpPr>
          <p:cNvPr id="13" name="TextBox 12">
            <a:extLst>
              <a:ext uri="{FF2B5EF4-FFF2-40B4-BE49-F238E27FC236}">
                <a16:creationId xmlns:a16="http://schemas.microsoft.com/office/drawing/2014/main" id="{2AE4DEE2-D8E9-AA3D-CB62-50163B157235}"/>
              </a:ext>
            </a:extLst>
          </p:cNvPr>
          <p:cNvSpPr txBox="1"/>
          <p:nvPr/>
        </p:nvSpPr>
        <p:spPr>
          <a:xfrm>
            <a:off x="8373836" y="4208715"/>
            <a:ext cx="6101442" cy="2031325"/>
          </a:xfrm>
          <a:prstGeom prst="rect">
            <a:avLst/>
          </a:prstGeom>
          <a:noFill/>
        </p:spPr>
        <p:txBody>
          <a:bodyPr wrap="square">
            <a:spAutoFit/>
          </a:bodyPr>
          <a:lstStyle/>
          <a:p>
            <a:r>
              <a:rPr lang="ja-JP" altLang="en-US">
                <a:solidFill>
                  <a:schemeClr val="accent1">
                    <a:lumMod val="50000"/>
                  </a:schemeClr>
                </a:solidFill>
              </a:rPr>
              <a:t>活動（</a:t>
            </a:r>
            <a:r>
              <a:rPr lang="en-US" dirty="0">
                <a:solidFill>
                  <a:schemeClr val="accent1">
                    <a:lumMod val="50000"/>
                  </a:schemeClr>
                </a:solidFill>
              </a:rPr>
              <a:t>Activity）、</a:t>
            </a:r>
          </a:p>
          <a:p>
            <a:r>
              <a:rPr lang="ja-JP" altLang="en-US">
                <a:solidFill>
                  <a:schemeClr val="accent1">
                    <a:lumMod val="50000"/>
                  </a:schemeClr>
                </a:solidFill>
              </a:rPr>
              <a:t>能力（</a:t>
            </a:r>
            <a:r>
              <a:rPr lang="en-US" dirty="0">
                <a:solidFill>
                  <a:schemeClr val="accent1">
                    <a:lumMod val="50000"/>
                  </a:schemeClr>
                </a:solidFill>
              </a:rPr>
              <a:t>Aptitude）、</a:t>
            </a:r>
          </a:p>
          <a:p>
            <a:r>
              <a:rPr lang="ja-JP" altLang="en-US">
                <a:solidFill>
                  <a:schemeClr val="accent1">
                    <a:lumMod val="50000"/>
                  </a:schemeClr>
                </a:solidFill>
              </a:rPr>
              <a:t>態度（</a:t>
            </a:r>
            <a:r>
              <a:rPr lang="en-US" dirty="0">
                <a:solidFill>
                  <a:schemeClr val="accent1">
                    <a:lumMod val="50000"/>
                  </a:schemeClr>
                </a:solidFill>
              </a:rPr>
              <a:t>Attitude）、</a:t>
            </a:r>
          </a:p>
          <a:p>
            <a:r>
              <a:rPr lang="ja-JP" altLang="en-US">
                <a:solidFill>
                  <a:schemeClr val="accent1">
                    <a:lumMod val="50000"/>
                  </a:schemeClr>
                </a:solidFill>
              </a:rPr>
              <a:t>動機（</a:t>
            </a:r>
            <a:r>
              <a:rPr lang="en-US" dirty="0">
                <a:solidFill>
                  <a:schemeClr val="accent1">
                    <a:lumMod val="50000"/>
                  </a:schemeClr>
                </a:solidFill>
              </a:rPr>
              <a:t>Motivation）、</a:t>
            </a:r>
          </a:p>
          <a:p>
            <a:r>
              <a:rPr lang="ja-JP" altLang="en-US"/>
              <a:t>またはスキル関連の個人的目標</a:t>
            </a:r>
            <a:endParaRPr lang="en-US" altLang="ja-JP" dirty="0"/>
          </a:p>
          <a:p>
            <a:r>
              <a:rPr lang="ja-JP" altLang="en-US"/>
              <a:t>（</a:t>
            </a:r>
            <a:r>
              <a:rPr lang="en-US" dirty="0"/>
              <a:t>Skill-related personal goal）</a:t>
            </a:r>
          </a:p>
          <a:p>
            <a:r>
              <a:rPr lang="ja-JP" altLang="en-US"/>
              <a:t>に対応しています。</a:t>
            </a:r>
            <a:endParaRPr lang="en-JP" dirty="0"/>
          </a:p>
        </p:txBody>
      </p:sp>
      <p:sp>
        <p:nvSpPr>
          <p:cNvPr id="15" name="Smiley Face 14">
            <a:extLst>
              <a:ext uri="{FF2B5EF4-FFF2-40B4-BE49-F238E27FC236}">
                <a16:creationId xmlns:a16="http://schemas.microsoft.com/office/drawing/2014/main" id="{44181113-FFF5-2CC2-C995-A606E5538C2E}"/>
              </a:ext>
            </a:extLst>
          </p:cNvPr>
          <p:cNvSpPr/>
          <p:nvPr/>
        </p:nvSpPr>
        <p:spPr>
          <a:xfrm>
            <a:off x="10031185" y="1436915"/>
            <a:ext cx="1034143" cy="1415142"/>
          </a:xfrm>
          <a:prstGeom prst="smileyFac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JP"/>
          </a:p>
        </p:txBody>
      </p:sp>
      <p:sp>
        <p:nvSpPr>
          <p:cNvPr id="16" name="Left-Up Arrow 15">
            <a:extLst>
              <a:ext uri="{FF2B5EF4-FFF2-40B4-BE49-F238E27FC236}">
                <a16:creationId xmlns:a16="http://schemas.microsoft.com/office/drawing/2014/main" id="{B7477956-A272-619D-8FBC-E59F5BD2D10E}"/>
              </a:ext>
            </a:extLst>
          </p:cNvPr>
          <p:cNvSpPr/>
          <p:nvPr/>
        </p:nvSpPr>
        <p:spPr>
          <a:xfrm>
            <a:off x="10983686" y="3233706"/>
            <a:ext cx="653143" cy="1524000"/>
          </a:xfrm>
          <a:prstGeom prst="leftUp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JP"/>
          </a:p>
        </p:txBody>
      </p:sp>
      <p:sp>
        <p:nvSpPr>
          <p:cNvPr id="18" name="TextBox 17">
            <a:extLst>
              <a:ext uri="{FF2B5EF4-FFF2-40B4-BE49-F238E27FC236}">
                <a16:creationId xmlns:a16="http://schemas.microsoft.com/office/drawing/2014/main" id="{A62F2152-58ED-7606-BBC7-F9BB51CF3F72}"/>
              </a:ext>
            </a:extLst>
          </p:cNvPr>
          <p:cNvSpPr txBox="1"/>
          <p:nvPr/>
        </p:nvSpPr>
        <p:spPr>
          <a:xfrm>
            <a:off x="2958193" y="195406"/>
            <a:ext cx="7244442" cy="369332"/>
          </a:xfrm>
          <a:prstGeom prst="rect">
            <a:avLst/>
          </a:prstGeom>
          <a:noFill/>
        </p:spPr>
        <p:txBody>
          <a:bodyPr wrap="square">
            <a:spAutoFit/>
          </a:bodyPr>
          <a:lstStyle/>
          <a:p>
            <a:r>
              <a:rPr lang="en-JP" b="0" dirty="0">
                <a:latin typeface="Meiryo" panose="020B0604030504040204" pitchFamily="34" charset="-128"/>
                <a:ea typeface="Meiryo" panose="020B0604030504040204" pitchFamily="34" charset="-128"/>
              </a:rPr>
              <a:t>利用状況の記述（Context of Use Description）</a:t>
            </a:r>
            <a:endParaRPr lang="en-JP" dirty="0"/>
          </a:p>
        </p:txBody>
      </p:sp>
      <p:sp>
        <p:nvSpPr>
          <p:cNvPr id="20" name="TextBox 19">
            <a:extLst>
              <a:ext uri="{FF2B5EF4-FFF2-40B4-BE49-F238E27FC236}">
                <a16:creationId xmlns:a16="http://schemas.microsoft.com/office/drawing/2014/main" id="{7A2BD725-948B-5891-5D38-6D24C092ADC9}"/>
              </a:ext>
            </a:extLst>
          </p:cNvPr>
          <p:cNvSpPr txBox="1"/>
          <p:nvPr/>
        </p:nvSpPr>
        <p:spPr>
          <a:xfrm>
            <a:off x="7965621" y="205755"/>
            <a:ext cx="1034143" cy="369332"/>
          </a:xfrm>
          <a:prstGeom prst="rect">
            <a:avLst/>
          </a:prstGeom>
          <a:noFill/>
        </p:spPr>
        <p:txBody>
          <a:bodyPr wrap="square">
            <a:spAutoFit/>
          </a:bodyPr>
          <a:lstStyle/>
          <a:p>
            <a:r>
              <a:rPr lang="en-US" dirty="0">
                <a:latin typeface="Meiryo" panose="020B0604030504040204" pitchFamily="34" charset="-128"/>
                <a:ea typeface="Meiryo" panose="020B0604030504040204" pitchFamily="34" charset="-128"/>
              </a:rPr>
              <a:t>Users</a:t>
            </a:r>
            <a:endParaRPr lang="en-JP" dirty="0">
              <a:latin typeface="Meiryo" panose="020B0604030504040204" pitchFamily="34" charset="-128"/>
              <a:ea typeface="Meiryo" panose="020B0604030504040204" pitchFamily="34" charset="-128"/>
            </a:endParaRPr>
          </a:p>
        </p:txBody>
      </p:sp>
      <p:sp>
        <p:nvSpPr>
          <p:cNvPr id="22" name="TextBox 21">
            <a:extLst>
              <a:ext uri="{FF2B5EF4-FFF2-40B4-BE49-F238E27FC236}">
                <a16:creationId xmlns:a16="http://schemas.microsoft.com/office/drawing/2014/main" id="{2733F216-E30A-5991-5BDC-E25432FAF0EF}"/>
              </a:ext>
            </a:extLst>
          </p:cNvPr>
          <p:cNvSpPr txBox="1"/>
          <p:nvPr/>
        </p:nvSpPr>
        <p:spPr>
          <a:xfrm>
            <a:off x="10035268" y="2914745"/>
            <a:ext cx="1896835" cy="369332"/>
          </a:xfrm>
          <a:prstGeom prst="rect">
            <a:avLst/>
          </a:prstGeom>
          <a:noFill/>
        </p:spPr>
        <p:txBody>
          <a:bodyPr wrap="square">
            <a:spAutoFit/>
          </a:bodyPr>
          <a:lstStyle/>
          <a:p>
            <a:r>
              <a:rPr lang="en-US" b="1" dirty="0">
                <a:latin typeface="Meiryo" panose="020B0604030504040204" pitchFamily="34" charset="-128"/>
                <a:ea typeface="Meiryo" panose="020B0604030504040204" pitchFamily="34" charset="-128"/>
              </a:rPr>
              <a:t>Persona</a:t>
            </a:r>
            <a:endParaRPr lang="en-JP" dirty="0"/>
          </a:p>
        </p:txBody>
      </p:sp>
      <p:sp>
        <p:nvSpPr>
          <p:cNvPr id="23" name="Slide Number Placeholder 22">
            <a:extLst>
              <a:ext uri="{FF2B5EF4-FFF2-40B4-BE49-F238E27FC236}">
                <a16:creationId xmlns:a16="http://schemas.microsoft.com/office/drawing/2014/main" id="{5EFF470E-3C58-3400-BD7D-F45376EDBD66}"/>
              </a:ext>
            </a:extLst>
          </p:cNvPr>
          <p:cNvSpPr>
            <a:spLocks noGrp="1"/>
          </p:cNvSpPr>
          <p:nvPr>
            <p:ph type="sldNum" sz="quarter" idx="12"/>
          </p:nvPr>
        </p:nvSpPr>
        <p:spPr/>
        <p:txBody>
          <a:bodyPr/>
          <a:lstStyle/>
          <a:p>
            <a:fld id="{62667D12-7761-1040-82E2-C1925732DACC}" type="slidenum">
              <a:rPr lang="en-JP" smtClean="0"/>
              <a:t>14</a:t>
            </a:fld>
            <a:endParaRPr lang="en-JP"/>
          </a:p>
        </p:txBody>
      </p:sp>
    </p:spTree>
    <p:extLst>
      <p:ext uri="{BB962C8B-B14F-4D97-AF65-F5344CB8AC3E}">
        <p14:creationId xmlns:p14="http://schemas.microsoft.com/office/powerpoint/2010/main" val="57379636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DAB1724A-F399-8E63-1ACC-09E589181AE8}"/>
              </a:ext>
            </a:extLst>
          </p:cNvPr>
          <p:cNvPicPr>
            <a:picLocks noChangeAspect="1"/>
          </p:cNvPicPr>
          <p:nvPr/>
        </p:nvPicPr>
        <p:blipFill>
          <a:blip r:embed="rId2"/>
          <a:stretch>
            <a:fillRect/>
          </a:stretch>
        </p:blipFill>
        <p:spPr>
          <a:xfrm>
            <a:off x="85272" y="0"/>
            <a:ext cx="6413500" cy="5040086"/>
          </a:xfrm>
          <a:prstGeom prst="rect">
            <a:avLst/>
          </a:prstGeom>
        </p:spPr>
      </p:pic>
      <p:sp>
        <p:nvSpPr>
          <p:cNvPr id="8" name="TextBox 7">
            <a:extLst>
              <a:ext uri="{FF2B5EF4-FFF2-40B4-BE49-F238E27FC236}">
                <a16:creationId xmlns:a16="http://schemas.microsoft.com/office/drawing/2014/main" id="{ED1CAA17-2BDA-7836-7801-900C4C875A7B}"/>
              </a:ext>
            </a:extLst>
          </p:cNvPr>
          <p:cNvSpPr txBox="1"/>
          <p:nvPr/>
        </p:nvSpPr>
        <p:spPr>
          <a:xfrm>
            <a:off x="1586676" y="5261840"/>
            <a:ext cx="6096000" cy="1200329"/>
          </a:xfrm>
          <a:prstGeom prst="rect">
            <a:avLst/>
          </a:prstGeom>
          <a:noFill/>
        </p:spPr>
        <p:txBody>
          <a:bodyPr wrap="square">
            <a:spAutoFit/>
          </a:bodyPr>
          <a:lstStyle/>
          <a:p>
            <a:r>
              <a:rPr lang="ja-JP" altLang="en-US">
                <a:latin typeface="Meiryo" panose="020B0604030504040204" pitchFamily="34" charset="-128"/>
                <a:ea typeface="Meiryo" panose="020B0604030504040204" pitchFamily="34" charset="-128"/>
                <a:cs typeface="Times New Roman" panose="02020603050405020304" pitchFamily="18" charset="0"/>
              </a:rPr>
              <a:t>この図は、ユーザビリティの文脈（</a:t>
            </a:r>
            <a:r>
              <a:rPr lang="en-US" dirty="0">
                <a:latin typeface="Meiryo" panose="020B0604030504040204" pitchFamily="34" charset="-128"/>
                <a:ea typeface="Meiryo" panose="020B0604030504040204" pitchFamily="34" charset="-128"/>
                <a:cs typeface="Times New Roman" panose="02020603050405020304" pitchFamily="18" charset="0"/>
              </a:rPr>
              <a:t>usability context）</a:t>
            </a:r>
            <a:r>
              <a:rPr lang="ja-JP" altLang="en-US">
                <a:latin typeface="Meiryo" panose="020B0604030504040204" pitchFamily="34" charset="-128"/>
                <a:ea typeface="Meiryo" panose="020B0604030504040204" pitchFamily="34" charset="-128"/>
                <a:cs typeface="Times New Roman" panose="02020603050405020304" pitchFamily="18" charset="0"/>
              </a:rPr>
              <a:t>とセキュリティの文脈（</a:t>
            </a:r>
            <a:r>
              <a:rPr lang="en-US" dirty="0">
                <a:latin typeface="Meiryo" panose="020B0604030504040204" pitchFamily="34" charset="-128"/>
                <a:ea typeface="Meiryo" panose="020B0604030504040204" pitchFamily="34" charset="-128"/>
                <a:cs typeface="Times New Roman" panose="02020603050405020304" pitchFamily="18" charset="0"/>
              </a:rPr>
              <a:t>security context）</a:t>
            </a:r>
            <a:r>
              <a:rPr lang="ja-JP" altLang="en-US">
                <a:latin typeface="Meiryo" panose="020B0604030504040204" pitchFamily="34" charset="-128"/>
                <a:ea typeface="Meiryo" panose="020B0604030504040204" pitchFamily="34" charset="-128"/>
                <a:cs typeface="Times New Roman" panose="02020603050405020304" pitchFamily="18" charset="0"/>
              </a:rPr>
              <a:t>の概念を、</a:t>
            </a:r>
            <a:r>
              <a:rPr lang="en-US" dirty="0">
                <a:latin typeface="Meiryo" panose="020B0604030504040204" pitchFamily="34" charset="-128"/>
                <a:ea typeface="Meiryo" panose="020B0604030504040204" pitchFamily="34" charset="-128"/>
                <a:cs typeface="Times New Roman" panose="02020603050405020304" pitchFamily="18" charset="0"/>
              </a:rPr>
              <a:t>webinos</a:t>
            </a:r>
            <a:r>
              <a:rPr lang="ja-JP" altLang="en-US">
                <a:latin typeface="Meiryo" panose="020B0604030504040204" pitchFamily="34" charset="-128"/>
                <a:ea typeface="Meiryo" panose="020B0604030504040204" pitchFamily="34" charset="-128"/>
                <a:cs typeface="Times New Roman" panose="02020603050405020304" pitchFamily="18" charset="0"/>
              </a:rPr>
              <a:t>プロジェクトの枠組みの中でどのように関連づけて考えることができるかを示している。</a:t>
            </a:r>
            <a:endParaRPr lang="en-JP" dirty="0">
              <a:latin typeface="Meiryo" panose="020B0604030504040204" pitchFamily="34" charset="-128"/>
              <a:ea typeface="Meiryo" panose="020B0604030504040204" pitchFamily="34" charset="-128"/>
              <a:cs typeface="Times New Roman" panose="02020603050405020304" pitchFamily="18" charset="0"/>
            </a:endParaRPr>
          </a:p>
        </p:txBody>
      </p:sp>
      <p:sp>
        <p:nvSpPr>
          <p:cNvPr id="9" name="吹き出し: 角を丸めた四角形 64">
            <a:extLst>
              <a:ext uri="{FF2B5EF4-FFF2-40B4-BE49-F238E27FC236}">
                <a16:creationId xmlns:a16="http://schemas.microsoft.com/office/drawing/2014/main" id="{7C9DE0E6-1E79-3C31-2075-4EBFFDB4FFB6}"/>
              </a:ext>
            </a:extLst>
          </p:cNvPr>
          <p:cNvSpPr/>
          <p:nvPr/>
        </p:nvSpPr>
        <p:spPr>
          <a:xfrm>
            <a:off x="6318772" y="358561"/>
            <a:ext cx="4450827" cy="1262254"/>
          </a:xfrm>
          <a:prstGeom prst="wedgeRoundRectCallout">
            <a:avLst>
              <a:gd name="adj1" fmla="val -43252"/>
              <a:gd name="adj2" fmla="val 145909"/>
              <a:gd name="adj3" fmla="val 16667"/>
            </a:avLst>
          </a:prstGeom>
          <a:solidFill>
            <a:schemeClr val="bg1"/>
          </a:solidFill>
          <a:ln w="28575">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600">
                <a:solidFill>
                  <a:schemeClr val="tx1"/>
                </a:solidFill>
                <a:latin typeface="Meiryo" panose="020B0604030504040204" pitchFamily="34" charset="-128"/>
                <a:ea typeface="Meiryo" panose="020B0604030504040204" pitchFamily="34" charset="-128"/>
              </a:rPr>
              <a:t>（</a:t>
            </a:r>
            <a:r>
              <a:rPr kumimoji="1" lang="en-US" altLang="ja-JP" sz="1600" dirty="0">
                <a:solidFill>
                  <a:schemeClr val="tx1"/>
                </a:solidFill>
                <a:latin typeface="Meiryo" panose="020B0604030504040204" pitchFamily="34" charset="-128"/>
                <a:ea typeface="Meiryo" panose="020B0604030504040204" pitchFamily="34" charset="-128"/>
              </a:rPr>
              <a:t>Persona</a:t>
            </a:r>
            <a:r>
              <a:rPr kumimoji="1" lang="ja-JP" altLang="en-US" sz="1600">
                <a:solidFill>
                  <a:schemeClr val="tx1"/>
                </a:solidFill>
                <a:latin typeface="Meiryo" panose="020B0604030504040204" pitchFamily="34" charset="-128"/>
                <a:ea typeface="Meiryo" panose="020B0604030504040204" pitchFamily="34" charset="-128"/>
              </a:rPr>
              <a:t>）がどのような状況で、どんな目的で、どんな機器を使ってシステムを利用するのか を具体的に描写した実際の利用状況（</a:t>
            </a:r>
            <a:r>
              <a:rPr kumimoji="1" lang="en-US" altLang="ja-JP" sz="1600" dirty="0">
                <a:solidFill>
                  <a:schemeClr val="tx1"/>
                </a:solidFill>
                <a:latin typeface="Meiryo" panose="020B0604030504040204" pitchFamily="34" charset="-128"/>
                <a:ea typeface="Meiryo" panose="020B0604030504040204" pitchFamily="34" charset="-128"/>
              </a:rPr>
              <a:t>Use Case</a:t>
            </a:r>
            <a:r>
              <a:rPr kumimoji="1" lang="ja-JP" altLang="en-US" sz="1600">
                <a:solidFill>
                  <a:schemeClr val="tx1"/>
                </a:solidFill>
                <a:latin typeface="Meiryo" panose="020B0604030504040204" pitchFamily="34" charset="-128"/>
                <a:ea typeface="Meiryo" panose="020B0604030504040204" pitchFamily="34" charset="-128"/>
              </a:rPr>
              <a:t>）のことです。</a:t>
            </a:r>
          </a:p>
        </p:txBody>
      </p:sp>
      <p:sp>
        <p:nvSpPr>
          <p:cNvPr id="14" name="吹き出し: 角を丸めた四角形 64">
            <a:extLst>
              <a:ext uri="{FF2B5EF4-FFF2-40B4-BE49-F238E27FC236}">
                <a16:creationId xmlns:a16="http://schemas.microsoft.com/office/drawing/2014/main" id="{C23E4381-BEA6-9DE8-16AA-D30B64C83602}"/>
              </a:ext>
            </a:extLst>
          </p:cNvPr>
          <p:cNvSpPr/>
          <p:nvPr/>
        </p:nvSpPr>
        <p:spPr>
          <a:xfrm>
            <a:off x="6411650" y="3429000"/>
            <a:ext cx="4735322" cy="881320"/>
          </a:xfrm>
          <a:prstGeom prst="wedgeRoundRectCallout">
            <a:avLst>
              <a:gd name="adj1" fmla="val -40680"/>
              <a:gd name="adj2" fmla="val -86852"/>
              <a:gd name="adj3" fmla="val 16667"/>
            </a:avLst>
          </a:prstGeom>
          <a:solidFill>
            <a:schemeClr val="bg1"/>
          </a:solidFill>
          <a:ln w="28575">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ja-JP" altLang="en-US" sz="1600">
                <a:solidFill>
                  <a:schemeClr val="tx1"/>
                </a:solidFill>
                <a:latin typeface="Meiryo" panose="020B0604030504040204" pitchFamily="34" charset="-128"/>
                <a:ea typeface="Meiryo" panose="020B0604030504040204" pitchFamily="34" charset="-128"/>
              </a:rPr>
              <a:t>これは、</a:t>
            </a:r>
            <a:r>
              <a:rPr lang="en-US" sz="1600" dirty="0">
                <a:solidFill>
                  <a:schemeClr val="tx1"/>
                </a:solidFill>
                <a:latin typeface="Meiryo" panose="020B0604030504040204" pitchFamily="34" charset="-128"/>
                <a:ea typeface="Meiryo" panose="020B0604030504040204" pitchFamily="34" charset="-128"/>
              </a:rPr>
              <a:t>Usability（</a:t>
            </a:r>
            <a:r>
              <a:rPr lang="ja-JP" altLang="en-US" sz="1600">
                <a:solidFill>
                  <a:schemeClr val="tx1"/>
                </a:solidFill>
                <a:latin typeface="Meiryo" panose="020B0604030504040204" pitchFamily="34" charset="-128"/>
                <a:ea typeface="Meiryo" panose="020B0604030504040204" pitchFamily="34" charset="-128"/>
              </a:rPr>
              <a:t>使いやすさ）</a:t>
            </a:r>
            <a:r>
              <a:rPr lang="ja-JP" altLang="en-US" sz="1600" b="1">
                <a:solidFill>
                  <a:schemeClr val="tx1"/>
                </a:solidFill>
                <a:latin typeface="Meiryo" panose="020B0604030504040204" pitchFamily="34" charset="-128"/>
                <a:ea typeface="Meiryo" panose="020B0604030504040204" pitchFamily="34" charset="-128"/>
              </a:rPr>
              <a:t>と</a:t>
            </a:r>
            <a:r>
              <a:rPr lang="en-US" sz="1600" dirty="0">
                <a:solidFill>
                  <a:schemeClr val="tx1"/>
                </a:solidFill>
                <a:latin typeface="Meiryo" panose="020B0604030504040204" pitchFamily="34" charset="-128"/>
                <a:ea typeface="Meiryo" panose="020B0604030504040204" pitchFamily="34" charset="-128"/>
              </a:rPr>
              <a:t>Security（</a:t>
            </a:r>
            <a:r>
              <a:rPr lang="ja-JP" altLang="en-US" sz="1600">
                <a:solidFill>
                  <a:schemeClr val="tx1"/>
                </a:solidFill>
                <a:latin typeface="Meiryo" panose="020B0604030504040204" pitchFamily="34" charset="-128"/>
                <a:ea typeface="Meiryo" panose="020B0604030504040204" pitchFamily="34" charset="-128"/>
              </a:rPr>
              <a:t>セキュリティ）の両方に関わる非常に重要な要素です。</a:t>
            </a:r>
            <a:endParaRPr lang="en-JP" sz="1600" dirty="0">
              <a:solidFill>
                <a:schemeClr val="tx1"/>
              </a:solidFill>
              <a:latin typeface="Meiryo" panose="020B0604030504040204" pitchFamily="34" charset="-128"/>
              <a:ea typeface="Meiryo" panose="020B0604030504040204" pitchFamily="34" charset="-128"/>
            </a:endParaRPr>
          </a:p>
        </p:txBody>
      </p:sp>
      <p:sp>
        <p:nvSpPr>
          <p:cNvPr id="15" name="正方形/長方形 24">
            <a:extLst>
              <a:ext uri="{FF2B5EF4-FFF2-40B4-BE49-F238E27FC236}">
                <a16:creationId xmlns:a16="http://schemas.microsoft.com/office/drawing/2014/main" id="{128D9D4D-7247-9836-E9F9-266E94FF83DA}"/>
              </a:ext>
            </a:extLst>
          </p:cNvPr>
          <p:cNvSpPr/>
          <p:nvPr/>
        </p:nvSpPr>
        <p:spPr>
          <a:xfrm>
            <a:off x="1254496" y="5132239"/>
            <a:ext cx="7048593" cy="1367200"/>
          </a:xfrm>
          <a:prstGeom prst="rect">
            <a:avLst/>
          </a:prstGeom>
          <a:noFill/>
          <a:ln w="38100">
            <a:solidFill>
              <a:schemeClr val="tx2">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chemeClr val="tx1"/>
              </a:solidFill>
            </a:endParaRPr>
          </a:p>
        </p:txBody>
      </p:sp>
      <p:sp>
        <p:nvSpPr>
          <p:cNvPr id="16" name="正方形/長方形 24">
            <a:extLst>
              <a:ext uri="{FF2B5EF4-FFF2-40B4-BE49-F238E27FC236}">
                <a16:creationId xmlns:a16="http://schemas.microsoft.com/office/drawing/2014/main" id="{F378F812-1628-B24E-837B-2E8005EA7238}"/>
              </a:ext>
            </a:extLst>
          </p:cNvPr>
          <p:cNvSpPr/>
          <p:nvPr/>
        </p:nvSpPr>
        <p:spPr>
          <a:xfrm>
            <a:off x="2775858" y="2369892"/>
            <a:ext cx="2373086" cy="1810221"/>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pic>
        <p:nvPicPr>
          <p:cNvPr id="17" name="Picture 16">
            <a:extLst>
              <a:ext uri="{FF2B5EF4-FFF2-40B4-BE49-F238E27FC236}">
                <a16:creationId xmlns:a16="http://schemas.microsoft.com/office/drawing/2014/main" id="{4E1BACB3-9E37-A7C3-B0C9-F2001474E9AA}"/>
              </a:ext>
            </a:extLst>
          </p:cNvPr>
          <p:cNvPicPr>
            <a:picLocks noChangeAspect="1"/>
          </p:cNvPicPr>
          <p:nvPr/>
        </p:nvPicPr>
        <p:blipFill>
          <a:blip r:embed="rId3"/>
          <a:stretch>
            <a:fillRect/>
          </a:stretch>
        </p:blipFill>
        <p:spPr>
          <a:xfrm>
            <a:off x="9753600" y="4562573"/>
            <a:ext cx="1393372" cy="1555932"/>
          </a:xfrm>
          <a:prstGeom prst="rect">
            <a:avLst/>
          </a:prstGeom>
        </p:spPr>
      </p:pic>
      <p:sp>
        <p:nvSpPr>
          <p:cNvPr id="18" name="Slide Number Placeholder 17">
            <a:extLst>
              <a:ext uri="{FF2B5EF4-FFF2-40B4-BE49-F238E27FC236}">
                <a16:creationId xmlns:a16="http://schemas.microsoft.com/office/drawing/2014/main" id="{1D31ED8C-49F2-24E9-E170-5E91F7FEB0B7}"/>
              </a:ext>
            </a:extLst>
          </p:cNvPr>
          <p:cNvSpPr>
            <a:spLocks noGrp="1"/>
          </p:cNvSpPr>
          <p:nvPr>
            <p:ph type="sldNum" sz="quarter" idx="12"/>
          </p:nvPr>
        </p:nvSpPr>
        <p:spPr/>
        <p:txBody>
          <a:bodyPr/>
          <a:lstStyle/>
          <a:p>
            <a:fld id="{62667D12-7761-1040-82E2-C1925732DACC}" type="slidenum">
              <a:rPr lang="en-JP" smtClean="0"/>
              <a:t>15</a:t>
            </a:fld>
            <a:endParaRPr lang="en-JP"/>
          </a:p>
        </p:txBody>
      </p:sp>
    </p:spTree>
    <p:extLst>
      <p:ext uri="{BB962C8B-B14F-4D97-AF65-F5344CB8AC3E}">
        <p14:creationId xmlns:p14="http://schemas.microsoft.com/office/powerpoint/2010/main" val="37477834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500"/>
                                        <p:tgtEl>
                                          <p:spTgt spid="9"/>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5"/>
                                        </p:tgtEl>
                                        <p:attrNameLst>
                                          <p:attrName>style.visibility</p:attrName>
                                        </p:attrNameLst>
                                      </p:cBhvr>
                                      <p:to>
                                        <p:strVal val="visible"/>
                                      </p:to>
                                    </p:set>
                                    <p:animEffect transition="in" filter="fade">
                                      <p:cBhvr>
                                        <p:cTn id="12" dur="500"/>
                                        <p:tgtEl>
                                          <p:spTgt spid="15"/>
                                        </p:tgtEl>
                                      </p:cBhvr>
                                    </p:animEffect>
                                  </p:childTnLst>
                                </p:cTn>
                              </p:par>
                              <p:par>
                                <p:cTn id="13" presetID="1" presetClass="exit" presetSubtype="0" fill="hold" grpId="1" nodeType="withEffect">
                                  <p:stCondLst>
                                    <p:cond delay="0"/>
                                  </p:stCondLst>
                                  <p:childTnLst>
                                    <p:set>
                                      <p:cBhvr>
                                        <p:cTn id="14" dur="1" fill="hold">
                                          <p:stCondLst>
                                            <p:cond delay="0"/>
                                          </p:stCondLst>
                                        </p:cTn>
                                        <p:tgtEl>
                                          <p:spTgt spid="15"/>
                                        </p:tgtEl>
                                        <p:attrNameLst>
                                          <p:attrName>style.visibility</p:attrName>
                                        </p:attrNameLst>
                                      </p:cBhvr>
                                      <p:to>
                                        <p:strVal val="hidden"/>
                                      </p:to>
                                    </p:set>
                                  </p:childTnLst>
                                </p:cTn>
                              </p:par>
                            </p:childTnLst>
                          </p:cTn>
                        </p:par>
                      </p:childTnLst>
                    </p:cTn>
                  </p:par>
                  <p:par>
                    <p:cTn id="15" fill="hold">
                      <p:stCondLst>
                        <p:cond delay="indefinite"/>
                      </p:stCondLst>
                      <p:childTnLst>
                        <p:par>
                          <p:cTn id="16" fill="hold">
                            <p:stCondLst>
                              <p:cond delay="0"/>
                            </p:stCondLst>
                            <p:childTnLst>
                              <p:par>
                                <p:cTn id="17" presetID="10" presetClass="entr" presetSubtype="0" fill="hold" grpId="0" nodeType="clickEffect">
                                  <p:stCondLst>
                                    <p:cond delay="0"/>
                                  </p:stCondLst>
                                  <p:childTnLst>
                                    <p:set>
                                      <p:cBhvr>
                                        <p:cTn id="18" dur="1" fill="hold">
                                          <p:stCondLst>
                                            <p:cond delay="0"/>
                                          </p:stCondLst>
                                        </p:cTn>
                                        <p:tgtEl>
                                          <p:spTgt spid="16"/>
                                        </p:tgtEl>
                                        <p:attrNameLst>
                                          <p:attrName>style.visibility</p:attrName>
                                        </p:attrNameLst>
                                      </p:cBhvr>
                                      <p:to>
                                        <p:strVal val="visible"/>
                                      </p:to>
                                    </p:set>
                                    <p:animEffect transition="in" filter="fade">
                                      <p:cBhvr>
                                        <p:cTn id="19" dur="500"/>
                                        <p:tgtEl>
                                          <p:spTgt spid="16"/>
                                        </p:tgtEl>
                                      </p:cBhvr>
                                    </p:animEffect>
                                  </p:childTnLst>
                                </p:cTn>
                              </p:par>
                              <p:par>
                                <p:cTn id="20" presetID="1" presetClass="exit" presetSubtype="0" fill="hold" grpId="1" nodeType="withEffect">
                                  <p:stCondLst>
                                    <p:cond delay="0"/>
                                  </p:stCondLst>
                                  <p:childTnLst>
                                    <p:set>
                                      <p:cBhvr>
                                        <p:cTn id="21" dur="1" fill="hold">
                                          <p:stCondLst>
                                            <p:cond delay="0"/>
                                          </p:stCondLst>
                                        </p:cTn>
                                        <p:tgtEl>
                                          <p:spTgt spid="16"/>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5" grpId="0" animBg="1"/>
      <p:bldP spid="15" grpId="1" animBg="1"/>
      <p:bldP spid="16" grpId="0" animBg="1"/>
      <p:bldP spid="16" grpId="1"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正方形/長方形 6">
            <a:extLst>
              <a:ext uri="{FF2B5EF4-FFF2-40B4-BE49-F238E27FC236}">
                <a16:creationId xmlns:a16="http://schemas.microsoft.com/office/drawing/2014/main" id="{F0CD1D6C-2CE0-3D4D-1BB8-7478C5C7EBC4}"/>
              </a:ext>
            </a:extLst>
          </p:cNvPr>
          <p:cNvSpPr/>
          <p:nvPr/>
        </p:nvSpPr>
        <p:spPr>
          <a:xfrm>
            <a:off x="1396473" y="1976284"/>
            <a:ext cx="7797800" cy="4051737"/>
          </a:xfrm>
          <a:prstGeom prst="rect">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 name="TextBox 5">
            <a:extLst>
              <a:ext uri="{FF2B5EF4-FFF2-40B4-BE49-F238E27FC236}">
                <a16:creationId xmlns:a16="http://schemas.microsoft.com/office/drawing/2014/main" id="{2B4E38DD-FDE8-1475-18C7-4438E10BFD06}"/>
              </a:ext>
            </a:extLst>
          </p:cNvPr>
          <p:cNvSpPr txBox="1"/>
          <p:nvPr/>
        </p:nvSpPr>
        <p:spPr>
          <a:xfrm>
            <a:off x="1544894" y="1253301"/>
            <a:ext cx="6098458" cy="400110"/>
          </a:xfrm>
          <a:prstGeom prst="rect">
            <a:avLst/>
          </a:prstGeom>
          <a:noFill/>
        </p:spPr>
        <p:txBody>
          <a:bodyPr wrap="square">
            <a:spAutoFit/>
          </a:bodyPr>
          <a:lstStyle/>
          <a:p>
            <a:r>
              <a:rPr lang="ja-JP" altLang="en-US" sz="2000">
                <a:latin typeface="Meiryo" panose="020B0604030504040204" pitchFamily="34" charset="-128"/>
                <a:ea typeface="Meiryo" panose="020B0604030504040204" pitchFamily="34" charset="-128"/>
              </a:rPr>
              <a:t>なぜ重要なのか</a:t>
            </a:r>
            <a:endParaRPr lang="en-JP" sz="2000" dirty="0">
              <a:latin typeface="Meiryo" panose="020B0604030504040204" pitchFamily="34" charset="-128"/>
              <a:ea typeface="Meiryo" panose="020B0604030504040204" pitchFamily="34" charset="-128"/>
            </a:endParaRPr>
          </a:p>
        </p:txBody>
      </p:sp>
      <p:sp>
        <p:nvSpPr>
          <p:cNvPr id="8" name="TextBox 7">
            <a:extLst>
              <a:ext uri="{FF2B5EF4-FFF2-40B4-BE49-F238E27FC236}">
                <a16:creationId xmlns:a16="http://schemas.microsoft.com/office/drawing/2014/main" id="{5B1026E6-A924-ADB2-3AE6-DDDA24F03F27}"/>
              </a:ext>
            </a:extLst>
          </p:cNvPr>
          <p:cNvSpPr txBox="1"/>
          <p:nvPr/>
        </p:nvSpPr>
        <p:spPr>
          <a:xfrm>
            <a:off x="1544894" y="2356291"/>
            <a:ext cx="6927002" cy="2862322"/>
          </a:xfrm>
          <a:prstGeom prst="rect">
            <a:avLst/>
          </a:prstGeom>
          <a:noFill/>
        </p:spPr>
        <p:txBody>
          <a:bodyPr wrap="square">
            <a:spAutoFit/>
          </a:bodyPr>
          <a:lstStyle/>
          <a:p>
            <a:r>
              <a:rPr lang="en-JP" dirty="0">
                <a:latin typeface="Meiryo" panose="020B0604030504040204" pitchFamily="34" charset="-128"/>
                <a:ea typeface="Meiryo" panose="020B0604030504040204" pitchFamily="34" charset="-128"/>
              </a:rPr>
              <a:t>利用者の行動や環境の影響を正確に把握できる。</a:t>
            </a:r>
          </a:p>
          <a:p>
            <a:r>
              <a:rPr lang="en-JP" dirty="0">
                <a:latin typeface="Meiryo" panose="020B0604030504040204" pitchFamily="34" charset="-128"/>
                <a:ea typeface="Meiryo" panose="020B0604030504040204" pitchFamily="34" charset="-128"/>
              </a:rPr>
              <a:t>→ 例：ユーザーが移動中に</a:t>
            </a:r>
            <a:r>
              <a:rPr lang="en-US" dirty="0">
                <a:latin typeface="Meiryo" panose="020B0604030504040204" pitchFamily="34" charset="-128"/>
                <a:ea typeface="Meiryo" panose="020B0604030504040204" pitchFamily="34" charset="-128"/>
              </a:rPr>
              <a:t>smartphone</a:t>
            </a:r>
            <a:r>
              <a:rPr lang="en-JP" dirty="0">
                <a:latin typeface="Meiryo" panose="020B0604030504040204" pitchFamily="34" charset="-128"/>
                <a:ea typeface="Meiryo" panose="020B0604030504040204" pitchFamily="34" charset="-128"/>
              </a:rPr>
              <a:t>でログインするのか、自宅のWi-Fiで利用するのか。</a:t>
            </a:r>
          </a:p>
          <a:p>
            <a:endParaRPr lang="en-JP" dirty="0">
              <a:latin typeface="Meiryo" panose="020B0604030504040204" pitchFamily="34" charset="-128"/>
              <a:ea typeface="Meiryo" panose="020B0604030504040204" pitchFamily="34" charset="-128"/>
            </a:endParaRPr>
          </a:p>
          <a:p>
            <a:r>
              <a:rPr lang="en-JP" dirty="0">
                <a:latin typeface="Meiryo" panose="020B0604030504040204" pitchFamily="34" charset="-128"/>
                <a:ea typeface="Meiryo" panose="020B0604030504040204" pitchFamily="34" charset="-128"/>
              </a:rPr>
              <a:t>その利用状況においてどんなセキュリティリスクが発生する可能性があるかを予測できる。</a:t>
            </a:r>
          </a:p>
          <a:p>
            <a:r>
              <a:rPr lang="en-JP" dirty="0">
                <a:latin typeface="Meiryo" panose="020B0604030504040204" pitchFamily="34" charset="-128"/>
                <a:ea typeface="Meiryo" panose="020B0604030504040204" pitchFamily="34" charset="-128"/>
              </a:rPr>
              <a:t>→ 例：公共Wi-Fi使用時にデータ漏えいのリスクがあるか。</a:t>
            </a:r>
          </a:p>
          <a:p>
            <a:endParaRPr lang="en-JP" dirty="0">
              <a:latin typeface="Meiryo" panose="020B0604030504040204" pitchFamily="34" charset="-128"/>
              <a:ea typeface="Meiryo" panose="020B0604030504040204" pitchFamily="34" charset="-128"/>
            </a:endParaRPr>
          </a:p>
          <a:p>
            <a:r>
              <a:rPr lang="en-JP" dirty="0">
                <a:latin typeface="Meiryo" panose="020B0604030504040204" pitchFamily="34" charset="-128"/>
                <a:ea typeface="Meiryo" panose="020B0604030504040204" pitchFamily="34" charset="-128"/>
              </a:rPr>
              <a:t>これにより、システムのセキュリティ要件や防御設計を現実的な利用状況に合わせて設計できる。</a:t>
            </a:r>
          </a:p>
        </p:txBody>
      </p:sp>
      <p:sp>
        <p:nvSpPr>
          <p:cNvPr id="9" name="Slide Number Placeholder 8">
            <a:extLst>
              <a:ext uri="{FF2B5EF4-FFF2-40B4-BE49-F238E27FC236}">
                <a16:creationId xmlns:a16="http://schemas.microsoft.com/office/drawing/2014/main" id="{D4F06F07-607E-63B8-60CC-33CB6BD8D1A7}"/>
              </a:ext>
            </a:extLst>
          </p:cNvPr>
          <p:cNvSpPr>
            <a:spLocks noGrp="1"/>
          </p:cNvSpPr>
          <p:nvPr>
            <p:ph type="sldNum" sz="quarter" idx="12"/>
          </p:nvPr>
        </p:nvSpPr>
        <p:spPr/>
        <p:txBody>
          <a:bodyPr/>
          <a:lstStyle/>
          <a:p>
            <a:fld id="{62667D12-7761-1040-82E2-C1925732DACC}" type="slidenum">
              <a:rPr lang="en-JP" smtClean="0"/>
              <a:t>16</a:t>
            </a:fld>
            <a:endParaRPr lang="en-JP"/>
          </a:p>
        </p:txBody>
      </p:sp>
    </p:spTree>
    <p:extLst>
      <p:ext uri="{BB962C8B-B14F-4D97-AF65-F5344CB8AC3E}">
        <p14:creationId xmlns:p14="http://schemas.microsoft.com/office/powerpoint/2010/main" val="4268335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DAB1724A-F399-8E63-1ACC-09E589181AE8}"/>
              </a:ext>
            </a:extLst>
          </p:cNvPr>
          <p:cNvPicPr>
            <a:picLocks noChangeAspect="1"/>
          </p:cNvPicPr>
          <p:nvPr/>
        </p:nvPicPr>
        <p:blipFill>
          <a:blip r:embed="rId2"/>
          <a:stretch>
            <a:fillRect/>
          </a:stretch>
        </p:blipFill>
        <p:spPr>
          <a:xfrm>
            <a:off x="468084" y="1251466"/>
            <a:ext cx="5475517" cy="5040086"/>
          </a:xfrm>
          <a:prstGeom prst="rect">
            <a:avLst/>
          </a:prstGeom>
        </p:spPr>
      </p:pic>
      <p:sp>
        <p:nvSpPr>
          <p:cNvPr id="16" name="正方形/長方形 24">
            <a:extLst>
              <a:ext uri="{FF2B5EF4-FFF2-40B4-BE49-F238E27FC236}">
                <a16:creationId xmlns:a16="http://schemas.microsoft.com/office/drawing/2014/main" id="{F378F812-1628-B24E-837B-2E8005EA7238}"/>
              </a:ext>
            </a:extLst>
          </p:cNvPr>
          <p:cNvSpPr/>
          <p:nvPr/>
        </p:nvSpPr>
        <p:spPr>
          <a:xfrm>
            <a:off x="1064161" y="4089044"/>
            <a:ext cx="3017982" cy="424543"/>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 name="TextBox 2">
            <a:extLst>
              <a:ext uri="{FF2B5EF4-FFF2-40B4-BE49-F238E27FC236}">
                <a16:creationId xmlns:a16="http://schemas.microsoft.com/office/drawing/2014/main" id="{3D5DB523-675E-E581-B5DB-E14CED1F9443}"/>
              </a:ext>
            </a:extLst>
          </p:cNvPr>
          <p:cNvSpPr txBox="1"/>
          <p:nvPr/>
        </p:nvSpPr>
        <p:spPr>
          <a:xfrm>
            <a:off x="1273628" y="851356"/>
            <a:ext cx="6096000" cy="400110"/>
          </a:xfrm>
          <a:prstGeom prst="rect">
            <a:avLst/>
          </a:prstGeom>
          <a:noFill/>
        </p:spPr>
        <p:txBody>
          <a:bodyPr wrap="square">
            <a:spAutoFit/>
          </a:bodyPr>
          <a:lstStyle/>
          <a:p>
            <a:r>
              <a:rPr lang="en-US" sz="2000" dirty="0">
                <a:solidFill>
                  <a:srgbClr val="FF0000"/>
                </a:solidFill>
              </a:rPr>
              <a:t>Tasks</a:t>
            </a:r>
            <a:endParaRPr lang="en-JP" sz="2000" dirty="0">
              <a:solidFill>
                <a:srgbClr val="FF0000"/>
              </a:solidFill>
            </a:endParaRPr>
          </a:p>
        </p:txBody>
      </p:sp>
      <p:sp>
        <p:nvSpPr>
          <p:cNvPr id="10" name="TextBox 9">
            <a:extLst>
              <a:ext uri="{FF2B5EF4-FFF2-40B4-BE49-F238E27FC236}">
                <a16:creationId xmlns:a16="http://schemas.microsoft.com/office/drawing/2014/main" id="{DDD934AC-07EF-FFDA-22B8-37DA544EBE9A}"/>
              </a:ext>
            </a:extLst>
          </p:cNvPr>
          <p:cNvSpPr txBox="1"/>
          <p:nvPr/>
        </p:nvSpPr>
        <p:spPr>
          <a:xfrm>
            <a:off x="5763986" y="3612917"/>
            <a:ext cx="6428013" cy="2031325"/>
          </a:xfrm>
          <a:prstGeom prst="rect">
            <a:avLst/>
          </a:prstGeom>
          <a:noFill/>
        </p:spPr>
        <p:txBody>
          <a:bodyPr wrap="square">
            <a:spAutoFit/>
          </a:bodyPr>
          <a:lstStyle/>
          <a:p>
            <a:r>
              <a:rPr lang="en-US" dirty="0">
                <a:latin typeface="Meiryo" panose="020B0604030504040204" pitchFamily="34" charset="-128"/>
                <a:ea typeface="Meiryo" panose="020B0604030504040204" pitchFamily="34" charset="-128"/>
              </a:rPr>
              <a:t>Use case </a:t>
            </a:r>
            <a:r>
              <a:rPr lang="ja-JP" altLang="en-US">
                <a:latin typeface="Meiryo" panose="020B0604030504040204" pitchFamily="34" charset="-128"/>
                <a:ea typeface="Meiryo" panose="020B0604030504040204" pitchFamily="34" charset="-128"/>
              </a:rPr>
              <a:t>ベースのタスク記述では十分な文脈情報が得られなかった </a:t>
            </a:r>
            <a:r>
              <a:rPr lang="mn-MN" altLang="ja-JP" dirty="0">
                <a:latin typeface="Meiryo" panose="020B0604030504040204" pitchFamily="34" charset="-128"/>
                <a:ea typeface="Meiryo" panose="020B0604030504040204" pitchFamily="34" charset="-128"/>
              </a:rPr>
              <a:t>.</a:t>
            </a:r>
            <a:endParaRPr lang="en-US" altLang="ja-JP" dirty="0">
              <a:latin typeface="Meiryo" panose="020B0604030504040204" pitchFamily="34" charset="-128"/>
              <a:ea typeface="Meiryo" panose="020B0604030504040204" pitchFamily="34" charset="-128"/>
            </a:endParaRPr>
          </a:p>
          <a:p>
            <a:r>
              <a:rPr lang="ja-JP" altLang="en-US">
                <a:latin typeface="Meiryo" panose="020B0604030504040204" pitchFamily="34" charset="-128"/>
                <a:ea typeface="Meiryo" panose="020B0604030504040204" pitchFamily="34" charset="-128"/>
              </a:rPr>
              <a:t>プロジェクトチームの専門知識に基づき、</a:t>
            </a:r>
          </a:p>
          <a:p>
            <a:r>
              <a:rPr lang="ja-JP" altLang="en-US">
                <a:latin typeface="Meiryo" panose="020B0604030504040204" pitchFamily="34" charset="-128"/>
                <a:ea typeface="Meiryo" panose="020B0604030504040204" pitchFamily="34" charset="-128"/>
              </a:rPr>
              <a:t>シナリオの記述と各</a:t>
            </a:r>
            <a:r>
              <a:rPr lang="en-US" altLang="ja-JP" dirty="0">
                <a:latin typeface="Meiryo" panose="020B0604030504040204" pitchFamily="34" charset="-128"/>
                <a:ea typeface="Meiryo" panose="020B0604030504040204" pitchFamily="34" charset="-128"/>
              </a:rPr>
              <a:t>Persona 10</a:t>
            </a:r>
            <a:r>
              <a:rPr lang="ja-JP" altLang="en-US">
                <a:latin typeface="Meiryo" panose="020B0604030504040204" pitchFamily="34" charset="-128"/>
                <a:ea typeface="Meiryo" panose="020B0604030504040204" pitchFamily="34" charset="-128"/>
              </a:rPr>
              <a:t>個の（</a:t>
            </a:r>
            <a:r>
              <a:rPr lang="en-US" dirty="0">
                <a:latin typeface="Meiryo" panose="020B0604030504040204" pitchFamily="34" charset="-128"/>
                <a:ea typeface="Meiryo" panose="020B0604030504040204" pitchFamily="34" charset="-128"/>
              </a:rPr>
              <a:t>Activity scenarios ) </a:t>
            </a:r>
            <a:r>
              <a:rPr lang="ja-JP" altLang="en-US">
                <a:latin typeface="Meiryo" panose="020B0604030504040204" pitchFamily="34" charset="-128"/>
                <a:ea typeface="Meiryo" panose="020B0604030504040204" pitchFamily="34" charset="-128"/>
              </a:rPr>
              <a:t>を作成</a:t>
            </a:r>
            <a:r>
              <a:rPr lang="en-US" altLang="ja-JP" dirty="0">
                <a:latin typeface="Meiryo" panose="020B0604030504040204" pitchFamily="34" charset="-128"/>
                <a:ea typeface="Meiryo" panose="020B0604030504040204" pitchFamily="34" charset="-128"/>
              </a:rPr>
              <a:t>Persona</a:t>
            </a:r>
            <a:r>
              <a:rPr lang="ja-JP" altLang="en-US">
                <a:latin typeface="Meiryo" panose="020B0604030504040204" pitchFamily="34" charset="-128"/>
                <a:ea typeface="Meiryo" panose="020B0604030504040204" pitchFamily="34" charset="-128"/>
              </a:rPr>
              <a:t>の特徴を利用し、表にまとめた</a:t>
            </a:r>
            <a:endParaRPr lang="en-US" altLang="ja-JP" dirty="0">
              <a:latin typeface="Meiryo" panose="020B0604030504040204" pitchFamily="34" charset="-128"/>
              <a:ea typeface="Meiryo" panose="020B0604030504040204" pitchFamily="34" charset="-128"/>
            </a:endParaRPr>
          </a:p>
          <a:p>
            <a:pPr>
              <a:buFont typeface="Arial" panose="020B0604020202020204" pitchFamily="34" charset="0"/>
              <a:buChar char="•"/>
            </a:pPr>
            <a:r>
              <a:rPr lang="ja-JP" altLang="en-US">
                <a:latin typeface="Meiryo" panose="020B0604030504040204" pitchFamily="34" charset="-128"/>
                <a:ea typeface="Meiryo" panose="020B0604030504040204" pitchFamily="34" charset="-128"/>
              </a:rPr>
              <a:t>所要時間（</a:t>
            </a:r>
            <a:r>
              <a:rPr lang="en-US" dirty="0">
                <a:latin typeface="Meiryo" panose="020B0604030504040204" pitchFamily="34" charset="-128"/>
                <a:ea typeface="Meiryo" panose="020B0604030504040204" pitchFamily="34" charset="-128"/>
              </a:rPr>
              <a:t>Duration）</a:t>
            </a:r>
            <a:r>
              <a:rPr lang="ja-JP" altLang="en-US">
                <a:latin typeface="Meiryo" panose="020B0604030504040204" pitchFamily="34" charset="-128"/>
                <a:ea typeface="Meiryo" panose="020B0604030504040204" pitchFamily="34" charset="-128"/>
              </a:rPr>
              <a:t>使用頻度（</a:t>
            </a:r>
            <a:r>
              <a:rPr lang="en-US" dirty="0">
                <a:latin typeface="Meiryo" panose="020B0604030504040204" pitchFamily="34" charset="-128"/>
                <a:ea typeface="Meiryo" panose="020B0604030504040204" pitchFamily="34" charset="-128"/>
              </a:rPr>
              <a:t>Frequency of use）</a:t>
            </a:r>
          </a:p>
          <a:p>
            <a:pPr>
              <a:buFont typeface="Arial" panose="020B0604020202020204" pitchFamily="34" charset="0"/>
              <a:buChar char="•"/>
            </a:pPr>
            <a:r>
              <a:rPr lang="ja-JP" altLang="en-US">
                <a:latin typeface="Meiryo" panose="020B0604030504040204" pitchFamily="34" charset="-128"/>
                <a:ea typeface="Meiryo" panose="020B0604030504040204" pitchFamily="34" charset="-128"/>
              </a:rPr>
              <a:t>身体的・精神的要求（</a:t>
            </a:r>
            <a:r>
              <a:rPr lang="en-US" dirty="0">
                <a:latin typeface="Meiryo" panose="020B0604030504040204" pitchFamily="34" charset="-128"/>
                <a:ea typeface="Meiryo" panose="020B0604030504040204" pitchFamily="34" charset="-128"/>
              </a:rPr>
              <a:t>Physical &amp; mental demands）</a:t>
            </a:r>
            <a:endParaRPr lang="ja-JP" altLang="en-US">
              <a:latin typeface="Meiryo" panose="020B0604030504040204" pitchFamily="34" charset="-128"/>
              <a:ea typeface="Meiryo" panose="020B0604030504040204" pitchFamily="34" charset="-128"/>
            </a:endParaRPr>
          </a:p>
        </p:txBody>
      </p:sp>
      <p:sp>
        <p:nvSpPr>
          <p:cNvPr id="11" name="Rounded Rectangle 10">
            <a:extLst>
              <a:ext uri="{FF2B5EF4-FFF2-40B4-BE49-F238E27FC236}">
                <a16:creationId xmlns:a16="http://schemas.microsoft.com/office/drawing/2014/main" id="{FDD043C4-C785-1D56-7865-082F117735E8}"/>
              </a:ext>
            </a:extLst>
          </p:cNvPr>
          <p:cNvSpPr/>
          <p:nvPr/>
        </p:nvSpPr>
        <p:spPr>
          <a:xfrm>
            <a:off x="6248401" y="783771"/>
            <a:ext cx="5312228" cy="2340429"/>
          </a:xfrm>
          <a:prstGeom prst="roundRect">
            <a:avLst/>
          </a:prstGeom>
          <a:solidFill>
            <a:schemeClr val="accent2">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ja-JP" altLang="en-US">
                <a:solidFill>
                  <a:schemeClr val="tx1"/>
                </a:solidFill>
              </a:rPr>
              <a:t>タスクの属性</a:t>
            </a:r>
            <a:r>
              <a:rPr lang="en-US" altLang="ja-JP" dirty="0">
                <a:solidFill>
                  <a:schemeClr val="tx1"/>
                </a:solidFill>
              </a:rPr>
              <a:t>:</a:t>
            </a:r>
          </a:p>
          <a:p>
            <a:pPr>
              <a:buFont typeface="Arial" panose="020B0604020202020204" pitchFamily="34" charset="0"/>
              <a:buChar char="•"/>
            </a:pPr>
            <a:r>
              <a:rPr lang="ja-JP" altLang="en-US">
                <a:solidFill>
                  <a:schemeClr val="tx1"/>
                </a:solidFill>
              </a:rPr>
              <a:t>名前（</a:t>
            </a:r>
            <a:r>
              <a:rPr lang="en-US" dirty="0">
                <a:solidFill>
                  <a:schemeClr val="tx1"/>
                </a:solidFill>
              </a:rPr>
              <a:t>Name）</a:t>
            </a:r>
          </a:p>
          <a:p>
            <a:pPr>
              <a:buFont typeface="Arial" panose="020B0604020202020204" pitchFamily="34" charset="0"/>
              <a:buChar char="•"/>
            </a:pPr>
            <a:r>
              <a:rPr lang="ja-JP" altLang="en-US">
                <a:solidFill>
                  <a:schemeClr val="tx1"/>
                </a:solidFill>
              </a:rPr>
              <a:t>分解（</a:t>
            </a:r>
            <a:r>
              <a:rPr lang="en-US" dirty="0">
                <a:solidFill>
                  <a:schemeClr val="tx1"/>
                </a:solidFill>
              </a:rPr>
              <a:t>Breakdown）</a:t>
            </a:r>
          </a:p>
          <a:p>
            <a:pPr>
              <a:buFont typeface="Arial" panose="020B0604020202020204" pitchFamily="34" charset="0"/>
              <a:buChar char="•"/>
            </a:pPr>
            <a:r>
              <a:rPr lang="ja-JP" altLang="en-US">
                <a:solidFill>
                  <a:schemeClr val="tx1"/>
                </a:solidFill>
              </a:rPr>
              <a:t>使用頻度（</a:t>
            </a:r>
            <a:r>
              <a:rPr lang="en-US" dirty="0">
                <a:solidFill>
                  <a:schemeClr val="tx1"/>
                </a:solidFill>
              </a:rPr>
              <a:t>Frequency of use）</a:t>
            </a:r>
          </a:p>
          <a:p>
            <a:pPr>
              <a:buFont typeface="Arial" panose="020B0604020202020204" pitchFamily="34" charset="0"/>
              <a:buChar char="•"/>
            </a:pPr>
            <a:r>
              <a:rPr lang="ja-JP" altLang="en-US">
                <a:solidFill>
                  <a:schemeClr val="tx1"/>
                </a:solidFill>
              </a:rPr>
              <a:t>所要時間（</a:t>
            </a:r>
            <a:r>
              <a:rPr lang="en-US" dirty="0">
                <a:solidFill>
                  <a:schemeClr val="tx1"/>
                </a:solidFill>
              </a:rPr>
              <a:t>Duration）</a:t>
            </a:r>
          </a:p>
          <a:p>
            <a:pPr>
              <a:buFont typeface="Arial" panose="020B0604020202020204" pitchFamily="34" charset="0"/>
              <a:buChar char="•"/>
            </a:pPr>
            <a:r>
              <a:rPr lang="ja-JP" altLang="en-US">
                <a:solidFill>
                  <a:schemeClr val="tx1"/>
                </a:solidFill>
              </a:rPr>
              <a:t>身体的・精神的要求（</a:t>
            </a:r>
            <a:r>
              <a:rPr lang="en-US" dirty="0">
                <a:solidFill>
                  <a:schemeClr val="tx1"/>
                </a:solidFill>
              </a:rPr>
              <a:t>Physical &amp; mental demands）</a:t>
            </a:r>
          </a:p>
        </p:txBody>
      </p:sp>
      <p:sp>
        <p:nvSpPr>
          <p:cNvPr id="12" name="Slide Number Placeholder 11">
            <a:extLst>
              <a:ext uri="{FF2B5EF4-FFF2-40B4-BE49-F238E27FC236}">
                <a16:creationId xmlns:a16="http://schemas.microsoft.com/office/drawing/2014/main" id="{CB7AADF2-25D2-E65D-F38B-FB7A6B73204F}"/>
              </a:ext>
            </a:extLst>
          </p:cNvPr>
          <p:cNvSpPr>
            <a:spLocks noGrp="1"/>
          </p:cNvSpPr>
          <p:nvPr>
            <p:ph type="sldNum" sz="quarter" idx="12"/>
          </p:nvPr>
        </p:nvSpPr>
        <p:spPr/>
        <p:txBody>
          <a:bodyPr/>
          <a:lstStyle/>
          <a:p>
            <a:fld id="{62667D12-7761-1040-82E2-C1925732DACC}" type="slidenum">
              <a:rPr lang="en-JP" smtClean="0"/>
              <a:t>17</a:t>
            </a:fld>
            <a:endParaRPr lang="en-JP"/>
          </a:p>
        </p:txBody>
      </p:sp>
    </p:spTree>
    <p:extLst>
      <p:ext uri="{BB962C8B-B14F-4D97-AF65-F5344CB8AC3E}">
        <p14:creationId xmlns:p14="http://schemas.microsoft.com/office/powerpoint/2010/main" val="6008101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fade">
                                      <p:cBhvr>
                                        <p:cTn id="7" dur="500"/>
                                        <p:tgtEl>
                                          <p:spTgt spid="16"/>
                                        </p:tgtEl>
                                      </p:cBhvr>
                                    </p:animEffect>
                                  </p:childTnLst>
                                </p:cTn>
                              </p:par>
                              <p:par>
                                <p:cTn id="8" presetID="1" presetClass="exit" presetSubtype="0" fill="hold" grpId="1" nodeType="withEffect">
                                  <p:stCondLst>
                                    <p:cond delay="0"/>
                                  </p:stCondLst>
                                  <p:childTnLst>
                                    <p:set>
                                      <p:cBhvr>
                                        <p:cTn id="9" dur="1" fill="hold">
                                          <p:stCondLst>
                                            <p:cond delay="0"/>
                                          </p:stCondLst>
                                        </p:cTn>
                                        <p:tgtEl>
                                          <p:spTgt spid="16"/>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animBg="1"/>
      <p:bldP spid="16" grpId="1"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E15354-04D9-5260-9666-E912223A4B0C}"/>
              </a:ext>
            </a:extLst>
          </p:cNvPr>
          <p:cNvSpPr>
            <a:spLocks noGrp="1"/>
          </p:cNvSpPr>
          <p:nvPr>
            <p:ph type="title"/>
          </p:nvPr>
        </p:nvSpPr>
        <p:spPr>
          <a:xfrm>
            <a:off x="0" y="596745"/>
            <a:ext cx="10156997" cy="840169"/>
          </a:xfrm>
        </p:spPr>
        <p:txBody>
          <a:bodyPr>
            <a:normAutofit/>
          </a:bodyPr>
          <a:lstStyle/>
          <a:p>
            <a:r>
              <a:rPr lang="ja-JP" altLang="en-US" sz="2400">
                <a:solidFill>
                  <a:srgbClr val="FF0000"/>
                </a:solidFill>
              </a:rPr>
              <a:t>環境（</a:t>
            </a:r>
            <a:r>
              <a:rPr lang="en-US" sz="2400" dirty="0">
                <a:solidFill>
                  <a:srgbClr val="FF0000"/>
                </a:solidFill>
              </a:rPr>
              <a:t>Environments）</a:t>
            </a:r>
            <a:endParaRPr lang="en-JP" sz="2400" dirty="0">
              <a:solidFill>
                <a:srgbClr val="FF0000"/>
              </a:solidFill>
            </a:endParaRPr>
          </a:p>
        </p:txBody>
      </p:sp>
      <p:sp>
        <p:nvSpPr>
          <p:cNvPr id="8" name="Rounded Rectangle 7">
            <a:extLst>
              <a:ext uri="{FF2B5EF4-FFF2-40B4-BE49-F238E27FC236}">
                <a16:creationId xmlns:a16="http://schemas.microsoft.com/office/drawing/2014/main" id="{B6B680F7-24D9-90E5-5236-C2883A21DA23}"/>
              </a:ext>
            </a:extLst>
          </p:cNvPr>
          <p:cNvSpPr/>
          <p:nvPr/>
        </p:nvSpPr>
        <p:spPr>
          <a:xfrm>
            <a:off x="558801" y="1981199"/>
            <a:ext cx="3817256" cy="3341916"/>
          </a:xfrm>
          <a:prstGeom prst="roundRect">
            <a:avLst/>
          </a:prstGeom>
        </p:spPr>
        <p:style>
          <a:lnRef idx="1">
            <a:schemeClr val="accent2"/>
          </a:lnRef>
          <a:fillRef idx="2">
            <a:schemeClr val="accent2"/>
          </a:fillRef>
          <a:effectRef idx="1">
            <a:schemeClr val="accent2"/>
          </a:effectRef>
          <a:fontRef idx="minor">
            <a:schemeClr val="dk1"/>
          </a:fontRef>
        </p:style>
        <p:txBody>
          <a:bodyPr rtlCol="0" anchor="ctr"/>
          <a:lstStyle/>
          <a:p>
            <a:pPr algn="ctr"/>
            <a:endParaRPr lang="mn-MN" altLang="ja-JP" sz="1600" dirty="0">
              <a:latin typeface="Meiryo" panose="020B0604030504040204" pitchFamily="34" charset="-128"/>
              <a:ea typeface="Meiryo" panose="020B0604030504040204" pitchFamily="34" charset="-128"/>
            </a:endParaRPr>
          </a:p>
          <a:p>
            <a:pPr algn="ctr"/>
            <a:r>
              <a:rPr lang="ja-JP" altLang="en-US" sz="1600">
                <a:latin typeface="Meiryo" panose="020B0604030504040204" pitchFamily="34" charset="-128"/>
                <a:ea typeface="Meiryo" panose="020B0604030504040204" pitchFamily="34" charset="-128"/>
              </a:rPr>
              <a:t>環境は正式には「利用状況の記述」で定義されないが、ユーザー、機器、タスク、物理的・社会的環境、およびワークシステムの目標の</a:t>
            </a:r>
            <a:r>
              <a:rPr lang="ja-JP" altLang="en-US" sz="1600" b="0" i="0">
                <a:solidFill>
                  <a:srgbClr val="222222"/>
                </a:solidFill>
                <a:effectLst/>
                <a:latin typeface="Source Han Sans"/>
              </a:rPr>
              <a:t>いちぶ</a:t>
            </a:r>
            <a:r>
              <a:rPr lang="ja-JP" altLang="en-US" sz="1600">
                <a:latin typeface="Meiryo" panose="020B0604030504040204" pitchFamily="34" charset="-128"/>
                <a:ea typeface="Meiryo" panose="020B0604030504040204" pitchFamily="34" charset="-128"/>
              </a:rPr>
              <a:t>として認識される </a:t>
            </a:r>
            <a:endParaRPr lang="en-US" altLang="ja-JP" sz="1600" dirty="0">
              <a:latin typeface="Meiryo" panose="020B0604030504040204" pitchFamily="34" charset="-128"/>
              <a:ea typeface="Meiryo" panose="020B0604030504040204" pitchFamily="34" charset="-128"/>
            </a:endParaRPr>
          </a:p>
          <a:p>
            <a:pPr algn="ctr"/>
            <a:endParaRPr lang="en-US" altLang="ja-JP" sz="1600" dirty="0">
              <a:latin typeface="Meiryo" panose="020B0604030504040204" pitchFamily="34" charset="-128"/>
              <a:ea typeface="Meiryo" panose="020B0604030504040204" pitchFamily="34" charset="-128"/>
            </a:endParaRPr>
          </a:p>
          <a:p>
            <a:pPr algn="ctr"/>
            <a:r>
              <a:rPr lang="ja-JP" altLang="en-US" sz="1600">
                <a:latin typeface="Meiryo" panose="020B0604030504040204" pitchFamily="34" charset="-128"/>
                <a:ea typeface="Meiryo" panose="020B0604030504040204" pitchFamily="34" charset="-128"/>
              </a:rPr>
              <a:t>ワークシステムは利用状況に類似。環境は </a:t>
            </a:r>
            <a:r>
              <a:rPr lang="en-US" sz="1600" dirty="0">
                <a:latin typeface="Meiryo" panose="020B0604030504040204" pitchFamily="34" charset="-128"/>
                <a:ea typeface="Meiryo" panose="020B0604030504040204" pitchFamily="34" charset="-128"/>
              </a:rPr>
              <a:t>webinos </a:t>
            </a:r>
            <a:r>
              <a:rPr lang="ja-JP" altLang="en-US" sz="1600">
                <a:latin typeface="Meiryo" panose="020B0604030504040204" pitchFamily="34" charset="-128"/>
                <a:ea typeface="Meiryo" panose="020B0604030504040204" pitchFamily="34" charset="-128"/>
              </a:rPr>
              <a:t>使用時の社会的・物理的な周囲と考えられる</a:t>
            </a:r>
          </a:p>
          <a:p>
            <a:pPr algn="ctr"/>
            <a:endParaRPr lang="ja-JP" altLang="en-US" sz="1600">
              <a:latin typeface="Meiryo" panose="020B0604030504040204" pitchFamily="34" charset="-128"/>
              <a:ea typeface="Meiryo" panose="020B0604030504040204" pitchFamily="34" charset="-128"/>
            </a:endParaRPr>
          </a:p>
        </p:txBody>
      </p:sp>
      <p:sp>
        <p:nvSpPr>
          <p:cNvPr id="9" name="Rounded Rectangle 8">
            <a:extLst>
              <a:ext uri="{FF2B5EF4-FFF2-40B4-BE49-F238E27FC236}">
                <a16:creationId xmlns:a16="http://schemas.microsoft.com/office/drawing/2014/main" id="{60D6909E-83F2-5D9C-2E1C-421FEF2A3CC4}"/>
              </a:ext>
            </a:extLst>
          </p:cNvPr>
          <p:cNvSpPr/>
          <p:nvPr/>
        </p:nvSpPr>
        <p:spPr>
          <a:xfrm>
            <a:off x="5355771" y="1981200"/>
            <a:ext cx="5900058" cy="3454396"/>
          </a:xfrm>
          <a:prstGeom prst="roundRect">
            <a:avLst/>
          </a:prstGeom>
        </p:spPr>
        <p:style>
          <a:lnRef idx="1">
            <a:schemeClr val="accent2"/>
          </a:lnRef>
          <a:fillRef idx="2">
            <a:schemeClr val="accent2"/>
          </a:fillRef>
          <a:effectRef idx="1">
            <a:schemeClr val="accent2"/>
          </a:effectRef>
          <a:fontRef idx="minor">
            <a:schemeClr val="dk1"/>
          </a:fontRef>
        </p:style>
        <p:txBody>
          <a:bodyPr rtlCol="0" anchor="ctr"/>
          <a:lstStyle/>
          <a:p>
            <a:pPr algn="just">
              <a:buFont typeface="Arial" panose="020B0604020202020204" pitchFamily="34" charset="0"/>
              <a:buChar char="•"/>
            </a:pPr>
            <a:endParaRPr lang="ja-JP" altLang="en-US">
              <a:latin typeface="Meiryo" panose="020B0604030504040204" pitchFamily="34" charset="-128"/>
              <a:ea typeface="Meiryo" panose="020B0604030504040204" pitchFamily="34" charset="-128"/>
            </a:endParaRPr>
          </a:p>
          <a:p>
            <a:pPr marL="742950" lvl="1" indent="-285750" algn="just">
              <a:buFont typeface="Arial" panose="020B0604020202020204" pitchFamily="34" charset="0"/>
              <a:buChar char="•"/>
            </a:pPr>
            <a:r>
              <a:rPr lang="ja-JP" altLang="en-US">
                <a:latin typeface="Meiryo" panose="020B0604030504040204" pitchFamily="34" charset="-128"/>
                <a:ea typeface="Meiryo" panose="020B0604030504040204" pitchFamily="34" charset="-128"/>
              </a:rPr>
              <a:t>ハードウェア、ソフトウェア、サービス概念など重要な要素を含む</a:t>
            </a:r>
            <a:r>
              <a:rPr lang="mn-MN" altLang="ja-JP" dirty="0">
                <a:latin typeface="Meiryo" panose="020B0604030504040204" pitchFamily="34" charset="-128"/>
                <a:ea typeface="Meiryo" panose="020B0604030504040204" pitchFamily="34" charset="-128"/>
              </a:rPr>
              <a:t> </a:t>
            </a:r>
            <a:endParaRPr lang="ja-JP" altLang="en-US">
              <a:latin typeface="Meiryo" panose="020B0604030504040204" pitchFamily="34" charset="-128"/>
              <a:ea typeface="Meiryo" panose="020B0604030504040204" pitchFamily="34" charset="-128"/>
            </a:endParaRPr>
          </a:p>
          <a:p>
            <a:pPr algn="just">
              <a:buFont typeface="Arial" panose="020B0604020202020204" pitchFamily="34" charset="0"/>
              <a:buChar char="•"/>
            </a:pPr>
            <a:r>
              <a:rPr lang="ja-JP" altLang="en-US">
                <a:latin typeface="Meiryo" panose="020B0604030504040204" pitchFamily="34" charset="-128"/>
                <a:ea typeface="Meiryo" panose="020B0604030504040204" pitchFamily="34" charset="-128"/>
              </a:rPr>
              <a:t>　　　</a:t>
            </a:r>
            <a:r>
              <a:rPr lang="en-US" dirty="0">
                <a:latin typeface="Meiryo" panose="020B0604030504040204" pitchFamily="34" charset="-128"/>
                <a:ea typeface="Meiryo" panose="020B0604030504040204" pitchFamily="34" charset="-128"/>
              </a:rPr>
              <a:t>Webinos </a:t>
            </a:r>
            <a:r>
              <a:rPr lang="ja-JP" altLang="en-US">
                <a:latin typeface="Meiryo" panose="020B0604030504040204" pitchFamily="34" charset="-128"/>
                <a:ea typeface="Meiryo" panose="020B0604030504040204" pitchFamily="34" charset="-128"/>
              </a:rPr>
              <a:t>の設計への環境の影響を理解する　　　　　　　ため、チームは </a:t>
            </a:r>
            <a:r>
              <a:rPr lang="en-US" altLang="ja-JP" dirty="0">
                <a:latin typeface="Meiryo" panose="020B0604030504040204" pitchFamily="34" charset="-128"/>
                <a:ea typeface="Meiryo" panose="020B0604030504040204" pitchFamily="34" charset="-128"/>
              </a:rPr>
              <a:t>Domain Modeling</a:t>
            </a:r>
            <a:r>
              <a:rPr lang="ja-JP" altLang="en-US">
                <a:latin typeface="Meiryo" panose="020B0604030504040204" pitchFamily="34" charset="-128"/>
                <a:ea typeface="Meiryo" panose="020B0604030504040204" pitchFamily="34" charset="-128"/>
              </a:rPr>
              <a:t> を実施</a:t>
            </a:r>
          </a:p>
          <a:p>
            <a:pPr marL="742950" lvl="1" indent="-285750" algn="just">
              <a:buFont typeface="Arial" panose="020B0604020202020204" pitchFamily="34" charset="0"/>
              <a:buChar char="•"/>
            </a:pPr>
            <a:r>
              <a:rPr lang="en-US" altLang="ja-JP" dirty="0">
                <a:latin typeface="Meiryo" panose="020B0604030504040204" pitchFamily="34" charset="-128"/>
                <a:ea typeface="Meiryo" panose="020B0604030504040204" pitchFamily="34" charset="-128"/>
              </a:rPr>
              <a:t>5</a:t>
            </a:r>
            <a:r>
              <a:rPr lang="ja-JP" altLang="en-US">
                <a:latin typeface="Meiryo" panose="020B0604030504040204" pitchFamily="34" charset="-128"/>
                <a:ea typeface="Meiryo" panose="020B0604030504040204" pitchFamily="34" charset="-128"/>
              </a:rPr>
              <a:t>つの機能領域</a:t>
            </a:r>
            <a:r>
              <a:rPr lang="en-US" altLang="ja-JP" dirty="0">
                <a:latin typeface="Meiryo" panose="020B0604030504040204" pitchFamily="34" charset="-128"/>
                <a:ea typeface="Meiryo" panose="020B0604030504040204" pitchFamily="34" charset="-128"/>
              </a:rPr>
              <a:t>: </a:t>
            </a:r>
            <a:r>
              <a:rPr lang="en-US" i="1" dirty="0">
                <a:latin typeface="Meiryo" panose="020B0604030504040204" pitchFamily="34" charset="-128"/>
                <a:ea typeface="Meiryo" panose="020B0604030504040204" pitchFamily="34" charset="-128"/>
              </a:rPr>
              <a:t>Development &amp; Deployment</a:t>
            </a:r>
            <a:r>
              <a:rPr lang="en-US" dirty="0">
                <a:latin typeface="Meiryo" panose="020B0604030504040204" pitchFamily="34" charset="-128"/>
                <a:ea typeface="Meiryo" panose="020B0604030504040204" pitchFamily="34" charset="-128"/>
              </a:rPr>
              <a:t>, </a:t>
            </a:r>
            <a:r>
              <a:rPr lang="en-US" i="1" dirty="0">
                <a:latin typeface="Meiryo" panose="020B0604030504040204" pitchFamily="34" charset="-128"/>
                <a:ea typeface="Meiryo" panose="020B0604030504040204" pitchFamily="34" charset="-128"/>
              </a:rPr>
              <a:t>Media Consumption &amp; Creation</a:t>
            </a:r>
            <a:endParaRPr lang="en-US" dirty="0">
              <a:latin typeface="Meiryo" panose="020B0604030504040204" pitchFamily="34" charset="-128"/>
              <a:ea typeface="Meiryo" panose="020B0604030504040204" pitchFamily="34" charset="-128"/>
            </a:endParaRPr>
          </a:p>
          <a:p>
            <a:pPr marL="742950" lvl="1" indent="-285750" algn="just">
              <a:buFont typeface="Arial" panose="020B0604020202020204" pitchFamily="34" charset="0"/>
              <a:buChar char="•"/>
            </a:pPr>
            <a:r>
              <a:rPr lang="en-US" dirty="0">
                <a:latin typeface="Meiryo" panose="020B0604030504040204" pitchFamily="34" charset="-128"/>
                <a:ea typeface="Meiryo" panose="020B0604030504040204" pitchFamily="34" charset="-128"/>
              </a:rPr>
              <a:t>5</a:t>
            </a:r>
            <a:r>
              <a:rPr lang="ja-JP" altLang="en-US">
                <a:latin typeface="Meiryo" panose="020B0604030504040204" pitchFamily="34" charset="-128"/>
                <a:ea typeface="Meiryo" panose="020B0604030504040204" pitchFamily="34" charset="-128"/>
              </a:rPr>
              <a:t>つのターゲットアプリ領域</a:t>
            </a:r>
            <a:r>
              <a:rPr lang="en-US" altLang="ja-JP" dirty="0">
                <a:latin typeface="Meiryo" panose="020B0604030504040204" pitchFamily="34" charset="-128"/>
                <a:ea typeface="Meiryo" panose="020B0604030504040204" pitchFamily="34" charset="-128"/>
              </a:rPr>
              <a:t>: </a:t>
            </a:r>
            <a:r>
              <a:rPr lang="en-US" i="1" dirty="0">
                <a:latin typeface="Meiryo" panose="020B0604030504040204" pitchFamily="34" charset="-128"/>
                <a:ea typeface="Meiryo" panose="020B0604030504040204" pitchFamily="34" charset="-128"/>
              </a:rPr>
              <a:t>Navigation</a:t>
            </a:r>
            <a:r>
              <a:rPr lang="en-US" dirty="0">
                <a:latin typeface="Meiryo" panose="020B0604030504040204" pitchFamily="34" charset="-128"/>
                <a:ea typeface="Meiryo" panose="020B0604030504040204" pitchFamily="34" charset="-128"/>
              </a:rPr>
              <a:t>, </a:t>
            </a:r>
            <a:r>
              <a:rPr lang="en-US" i="1" dirty="0">
                <a:latin typeface="Meiryo" panose="020B0604030504040204" pitchFamily="34" charset="-128"/>
                <a:ea typeface="Meiryo" panose="020B0604030504040204" pitchFamily="34" charset="-128"/>
              </a:rPr>
              <a:t>Home media &amp; interactive TV</a:t>
            </a:r>
            <a:endParaRPr lang="en-US" dirty="0">
              <a:latin typeface="Meiryo" panose="020B0604030504040204" pitchFamily="34" charset="-128"/>
              <a:ea typeface="Meiryo" panose="020B0604030504040204" pitchFamily="34" charset="-128"/>
            </a:endParaRPr>
          </a:p>
        </p:txBody>
      </p:sp>
      <p:cxnSp>
        <p:nvCxnSpPr>
          <p:cNvPr id="11" name="Straight Arrow Connector 10">
            <a:extLst>
              <a:ext uri="{FF2B5EF4-FFF2-40B4-BE49-F238E27FC236}">
                <a16:creationId xmlns:a16="http://schemas.microsoft.com/office/drawing/2014/main" id="{563BF051-CCBE-7C62-0AA7-72EB84CEBE74}"/>
              </a:ext>
            </a:extLst>
          </p:cNvPr>
          <p:cNvCxnSpPr/>
          <p:nvPr/>
        </p:nvCxnSpPr>
        <p:spPr>
          <a:xfrm>
            <a:off x="4463143" y="2754086"/>
            <a:ext cx="805543" cy="0"/>
          </a:xfrm>
          <a:prstGeom prst="straightConnector1">
            <a:avLst/>
          </a:prstGeom>
          <a:ln>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12" name="Straight Arrow Connector 11">
            <a:extLst>
              <a:ext uri="{FF2B5EF4-FFF2-40B4-BE49-F238E27FC236}">
                <a16:creationId xmlns:a16="http://schemas.microsoft.com/office/drawing/2014/main" id="{48B548DF-B383-94C4-AED3-032206FC4872}"/>
              </a:ext>
            </a:extLst>
          </p:cNvPr>
          <p:cNvCxnSpPr/>
          <p:nvPr/>
        </p:nvCxnSpPr>
        <p:spPr>
          <a:xfrm>
            <a:off x="4463142" y="4332515"/>
            <a:ext cx="805543" cy="0"/>
          </a:xfrm>
          <a:prstGeom prst="straightConnector1">
            <a:avLst/>
          </a:prstGeom>
          <a:ln>
            <a:headEnd type="triangle"/>
            <a:tailEnd type="triangle"/>
          </a:ln>
        </p:spPr>
        <p:style>
          <a:lnRef idx="1">
            <a:schemeClr val="accent1"/>
          </a:lnRef>
          <a:fillRef idx="0">
            <a:schemeClr val="accent1"/>
          </a:fillRef>
          <a:effectRef idx="0">
            <a:schemeClr val="accent1"/>
          </a:effectRef>
          <a:fontRef idx="minor">
            <a:schemeClr val="tx1"/>
          </a:fontRef>
        </p:style>
      </p:cxnSp>
      <p:sp>
        <p:nvSpPr>
          <p:cNvPr id="13" name="Slide Number Placeholder 12">
            <a:extLst>
              <a:ext uri="{FF2B5EF4-FFF2-40B4-BE49-F238E27FC236}">
                <a16:creationId xmlns:a16="http://schemas.microsoft.com/office/drawing/2014/main" id="{9C71255D-5B5A-7C5F-A356-D26F4BE47813}"/>
              </a:ext>
            </a:extLst>
          </p:cNvPr>
          <p:cNvSpPr>
            <a:spLocks noGrp="1"/>
          </p:cNvSpPr>
          <p:nvPr>
            <p:ph type="sldNum" sz="quarter" idx="12"/>
          </p:nvPr>
        </p:nvSpPr>
        <p:spPr/>
        <p:txBody>
          <a:bodyPr/>
          <a:lstStyle/>
          <a:p>
            <a:fld id="{62667D12-7761-1040-82E2-C1925732DACC}" type="slidenum">
              <a:rPr lang="en-JP" smtClean="0"/>
              <a:t>18</a:t>
            </a:fld>
            <a:endParaRPr lang="en-JP"/>
          </a:p>
        </p:txBody>
      </p:sp>
    </p:spTree>
    <p:extLst>
      <p:ext uri="{BB962C8B-B14F-4D97-AF65-F5344CB8AC3E}">
        <p14:creationId xmlns:p14="http://schemas.microsoft.com/office/powerpoint/2010/main" val="247343613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DAB1724A-F399-8E63-1ACC-09E589181AE8}"/>
              </a:ext>
            </a:extLst>
          </p:cNvPr>
          <p:cNvPicPr>
            <a:picLocks noChangeAspect="1"/>
          </p:cNvPicPr>
          <p:nvPr/>
        </p:nvPicPr>
        <p:blipFill>
          <a:blip r:embed="rId2"/>
          <a:stretch>
            <a:fillRect/>
          </a:stretch>
        </p:blipFill>
        <p:spPr>
          <a:xfrm>
            <a:off x="468084" y="1251466"/>
            <a:ext cx="5475517" cy="5040086"/>
          </a:xfrm>
          <a:prstGeom prst="rect">
            <a:avLst/>
          </a:prstGeom>
        </p:spPr>
      </p:pic>
      <p:sp>
        <p:nvSpPr>
          <p:cNvPr id="16" name="正方形/長方形 24">
            <a:extLst>
              <a:ext uri="{FF2B5EF4-FFF2-40B4-BE49-F238E27FC236}">
                <a16:creationId xmlns:a16="http://schemas.microsoft.com/office/drawing/2014/main" id="{F378F812-1628-B24E-837B-2E8005EA7238}"/>
              </a:ext>
            </a:extLst>
          </p:cNvPr>
          <p:cNvSpPr/>
          <p:nvPr/>
        </p:nvSpPr>
        <p:spPr>
          <a:xfrm>
            <a:off x="1096818" y="4495801"/>
            <a:ext cx="4629068" cy="519614"/>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 name="TextBox 2">
            <a:extLst>
              <a:ext uri="{FF2B5EF4-FFF2-40B4-BE49-F238E27FC236}">
                <a16:creationId xmlns:a16="http://schemas.microsoft.com/office/drawing/2014/main" id="{3D5DB523-675E-E581-B5DB-E14CED1F9443}"/>
              </a:ext>
            </a:extLst>
          </p:cNvPr>
          <p:cNvSpPr txBox="1"/>
          <p:nvPr/>
        </p:nvSpPr>
        <p:spPr>
          <a:xfrm>
            <a:off x="838199" y="715557"/>
            <a:ext cx="6096000" cy="400110"/>
          </a:xfrm>
          <a:prstGeom prst="rect">
            <a:avLst/>
          </a:prstGeom>
          <a:noFill/>
        </p:spPr>
        <p:txBody>
          <a:bodyPr wrap="square">
            <a:spAutoFit/>
          </a:bodyPr>
          <a:lstStyle/>
          <a:p>
            <a:r>
              <a:rPr lang="en-US" sz="2000" dirty="0">
                <a:solidFill>
                  <a:srgbClr val="FF0000"/>
                </a:solidFill>
              </a:rPr>
              <a:t>Equipment → Asset → Attack Tree</a:t>
            </a:r>
            <a:endParaRPr lang="en-JP" sz="2000" dirty="0">
              <a:solidFill>
                <a:srgbClr val="FF0000"/>
              </a:solidFill>
            </a:endParaRPr>
          </a:p>
        </p:txBody>
      </p:sp>
      <p:sp>
        <p:nvSpPr>
          <p:cNvPr id="11" name="Rounded Rectangle 10">
            <a:extLst>
              <a:ext uri="{FF2B5EF4-FFF2-40B4-BE49-F238E27FC236}">
                <a16:creationId xmlns:a16="http://schemas.microsoft.com/office/drawing/2014/main" id="{FDD043C4-C785-1D56-7865-082F117735E8}"/>
              </a:ext>
            </a:extLst>
          </p:cNvPr>
          <p:cNvSpPr/>
          <p:nvPr/>
        </p:nvSpPr>
        <p:spPr>
          <a:xfrm>
            <a:off x="6411688" y="1937658"/>
            <a:ext cx="5312228" cy="3008332"/>
          </a:xfrm>
          <a:prstGeom prst="roundRect">
            <a:avLst/>
          </a:prstGeom>
          <a:solidFill>
            <a:schemeClr val="accent3">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ja-JP" altLang="en-US">
                <a:solidFill>
                  <a:schemeClr val="tx1"/>
                </a:solidFill>
                <a:latin typeface="Meiryo" panose="020B0604030504040204" pitchFamily="34" charset="-128"/>
                <a:ea typeface="Meiryo" panose="020B0604030504040204" pitchFamily="34" charset="-128"/>
              </a:rPr>
              <a:t>この部分では、</a:t>
            </a:r>
            <a:r>
              <a:rPr lang="en-US" dirty="0">
                <a:solidFill>
                  <a:schemeClr val="tx1"/>
                </a:solidFill>
                <a:latin typeface="Meiryo" panose="020B0604030504040204" pitchFamily="34" charset="-128"/>
                <a:ea typeface="Meiryo" panose="020B0604030504040204" pitchFamily="34" charset="-128"/>
              </a:rPr>
              <a:t>webinos </a:t>
            </a:r>
            <a:r>
              <a:rPr lang="ja-JP" altLang="en-US">
                <a:solidFill>
                  <a:schemeClr val="tx1"/>
                </a:solidFill>
                <a:latin typeface="Meiryo" panose="020B0604030504040204" pitchFamily="34" charset="-128"/>
                <a:ea typeface="Meiryo" panose="020B0604030504040204" pitchFamily="34" charset="-128"/>
              </a:rPr>
              <a:t>プロジェクトのチームがシステム設計の初期段階からセキュリティを組み込む（</a:t>
            </a:r>
            <a:r>
              <a:rPr lang="en-US" dirty="0">
                <a:solidFill>
                  <a:schemeClr val="tx1"/>
                </a:solidFill>
                <a:latin typeface="Meiryo" panose="020B0604030504040204" pitchFamily="34" charset="-128"/>
                <a:ea typeface="Meiryo" panose="020B0604030504040204" pitchFamily="34" charset="-128"/>
              </a:rPr>
              <a:t>Security by Design）</a:t>
            </a:r>
            <a:r>
              <a:rPr lang="ja-JP" altLang="en-US">
                <a:solidFill>
                  <a:schemeClr val="tx1"/>
                </a:solidFill>
                <a:latin typeface="Meiryo" panose="020B0604030504040204" pitchFamily="34" charset="-128"/>
                <a:ea typeface="Meiryo" panose="020B0604030504040204" pitchFamily="34" charset="-128"/>
              </a:rPr>
              <a:t>原則をどのように実践したかが説明されています。</a:t>
            </a:r>
            <a:endParaRPr lang="en-US" dirty="0">
              <a:solidFill>
                <a:schemeClr val="tx1"/>
              </a:solidFill>
              <a:latin typeface="Meiryo" panose="020B0604030504040204" pitchFamily="34" charset="-128"/>
              <a:ea typeface="Meiryo" panose="020B0604030504040204" pitchFamily="34" charset="-128"/>
            </a:endParaRPr>
          </a:p>
        </p:txBody>
      </p:sp>
      <p:sp>
        <p:nvSpPr>
          <p:cNvPr id="5" name="Slide Number Placeholder 4">
            <a:extLst>
              <a:ext uri="{FF2B5EF4-FFF2-40B4-BE49-F238E27FC236}">
                <a16:creationId xmlns:a16="http://schemas.microsoft.com/office/drawing/2014/main" id="{953C11B0-F16F-0498-515A-2854C42051DF}"/>
              </a:ext>
            </a:extLst>
          </p:cNvPr>
          <p:cNvSpPr>
            <a:spLocks noGrp="1"/>
          </p:cNvSpPr>
          <p:nvPr>
            <p:ph type="sldNum" sz="quarter" idx="12"/>
          </p:nvPr>
        </p:nvSpPr>
        <p:spPr/>
        <p:txBody>
          <a:bodyPr/>
          <a:lstStyle/>
          <a:p>
            <a:fld id="{62667D12-7761-1040-82E2-C1925732DACC}" type="slidenum">
              <a:rPr lang="en-JP" smtClean="0"/>
              <a:t>19</a:t>
            </a:fld>
            <a:endParaRPr lang="en-JP"/>
          </a:p>
        </p:txBody>
      </p:sp>
    </p:spTree>
    <p:extLst>
      <p:ext uri="{BB962C8B-B14F-4D97-AF65-F5344CB8AC3E}">
        <p14:creationId xmlns:p14="http://schemas.microsoft.com/office/powerpoint/2010/main" val="38308306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fade">
                                      <p:cBhvr>
                                        <p:cTn id="7" dur="500"/>
                                        <p:tgtEl>
                                          <p:spTgt spid="16"/>
                                        </p:tgtEl>
                                      </p:cBhvr>
                                    </p:animEffect>
                                  </p:childTnLst>
                                </p:cTn>
                              </p:par>
                              <p:par>
                                <p:cTn id="8" presetID="1" presetClass="exit" presetSubtype="0" fill="hold" grpId="1" nodeType="withEffect">
                                  <p:stCondLst>
                                    <p:cond delay="0"/>
                                  </p:stCondLst>
                                  <p:childTnLst>
                                    <p:set>
                                      <p:cBhvr>
                                        <p:cTn id="9" dur="1" fill="hold">
                                          <p:stCondLst>
                                            <p:cond delay="0"/>
                                          </p:stCondLst>
                                        </p:cTn>
                                        <p:tgtEl>
                                          <p:spTgt spid="16"/>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animBg="1"/>
      <p:bldP spid="16" grpId="1" animBg="1"/>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ounded Rectangle 5">
            <a:extLst>
              <a:ext uri="{FF2B5EF4-FFF2-40B4-BE49-F238E27FC236}">
                <a16:creationId xmlns:a16="http://schemas.microsoft.com/office/drawing/2014/main" id="{A754A337-9BEA-EA73-2157-6138711CDE5D}"/>
              </a:ext>
            </a:extLst>
          </p:cNvPr>
          <p:cNvSpPr/>
          <p:nvPr/>
        </p:nvSpPr>
        <p:spPr>
          <a:xfrm>
            <a:off x="87086" y="2460172"/>
            <a:ext cx="3864428" cy="3929743"/>
          </a:xfrm>
          <a:prstGeom prst="roundRect">
            <a:avLst/>
          </a:prstGeom>
          <a:solidFill>
            <a:schemeClr val="accent1">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altLang="ja-JP" dirty="0">
                <a:solidFill>
                  <a:schemeClr val="tx1"/>
                </a:solidFill>
              </a:rPr>
              <a:t>1. </a:t>
            </a:r>
            <a:r>
              <a:rPr lang="ja-JP" altLang="en-US">
                <a:solidFill>
                  <a:schemeClr val="tx1"/>
                </a:solidFill>
              </a:rPr>
              <a:t>初期段階（ユースケースと要件定義）</a:t>
            </a:r>
          </a:p>
          <a:p>
            <a:pPr>
              <a:buFont typeface="Arial" panose="020B0604020202020204" pitchFamily="34" charset="0"/>
              <a:buChar char="•"/>
            </a:pPr>
            <a:r>
              <a:rPr lang="ja-JP" altLang="en-US">
                <a:solidFill>
                  <a:schemeClr val="tx1"/>
                </a:solidFill>
              </a:rPr>
              <a:t>開発の初期では、</a:t>
            </a:r>
            <a:r>
              <a:rPr lang="en-US" dirty="0">
                <a:solidFill>
                  <a:schemeClr val="tx1"/>
                </a:solidFill>
              </a:rPr>
              <a:t>webinos </a:t>
            </a:r>
            <a:r>
              <a:rPr lang="ja-JP" altLang="en-US">
                <a:solidFill>
                  <a:schemeClr val="tx1"/>
                </a:solidFill>
              </a:rPr>
              <a:t>を ブラックボックス（</a:t>
            </a:r>
            <a:r>
              <a:rPr lang="en-US" dirty="0">
                <a:solidFill>
                  <a:schemeClr val="tx1"/>
                </a:solidFill>
              </a:rPr>
              <a:t>black box） </a:t>
            </a:r>
            <a:r>
              <a:rPr lang="ja-JP" altLang="en-US">
                <a:solidFill>
                  <a:schemeClr val="tx1"/>
                </a:solidFill>
              </a:rPr>
              <a:t>として扱い、</a:t>
            </a:r>
            <a:br>
              <a:rPr lang="ja-JP" altLang="en-US">
                <a:solidFill>
                  <a:schemeClr val="tx1"/>
                </a:solidFill>
              </a:rPr>
            </a:br>
            <a:r>
              <a:rPr lang="ja-JP" altLang="en-US">
                <a:solidFill>
                  <a:schemeClr val="tx1"/>
                </a:solidFill>
              </a:rPr>
              <a:t>ユーザーや開発者の 期待や目的を明確化 した。</a:t>
            </a:r>
          </a:p>
          <a:p>
            <a:pPr>
              <a:buFont typeface="Arial" panose="020B0604020202020204" pitchFamily="34" charset="0"/>
              <a:buChar char="•"/>
            </a:pPr>
            <a:r>
              <a:rPr lang="ja-JP" altLang="en-US">
                <a:solidFill>
                  <a:schemeClr val="tx1"/>
                </a:solidFill>
              </a:rPr>
              <a:t>各ペルソナの 特徴・目標・期待 をまとめた </a:t>
            </a:r>
            <a:r>
              <a:rPr lang="en-US" dirty="0">
                <a:solidFill>
                  <a:schemeClr val="tx1"/>
                </a:solidFill>
              </a:rPr>
              <a:t>A4 </a:t>
            </a:r>
            <a:r>
              <a:rPr lang="ja-JP" altLang="en-US">
                <a:solidFill>
                  <a:schemeClr val="tx1"/>
                </a:solidFill>
              </a:rPr>
              <a:t>ポスター を作成し、オフィスに掲示。</a:t>
            </a:r>
            <a:br>
              <a:rPr lang="ja-JP" altLang="en-US">
                <a:solidFill>
                  <a:schemeClr val="tx1"/>
                </a:solidFill>
              </a:rPr>
            </a:br>
            <a:r>
              <a:rPr lang="ja-JP" altLang="en-US">
                <a:solidFill>
                  <a:schemeClr val="tx1"/>
                </a:solidFill>
              </a:rPr>
              <a:t>➡️ チーム全体が「ユーザー視点」を意識できるようにした。</a:t>
            </a:r>
          </a:p>
        </p:txBody>
      </p:sp>
      <p:sp>
        <p:nvSpPr>
          <p:cNvPr id="7" name="Rounded Rectangle 6">
            <a:extLst>
              <a:ext uri="{FF2B5EF4-FFF2-40B4-BE49-F238E27FC236}">
                <a16:creationId xmlns:a16="http://schemas.microsoft.com/office/drawing/2014/main" id="{55B17A7F-2F7E-6B8F-8CF0-33C61DD87361}"/>
              </a:ext>
            </a:extLst>
          </p:cNvPr>
          <p:cNvSpPr/>
          <p:nvPr/>
        </p:nvSpPr>
        <p:spPr>
          <a:xfrm>
            <a:off x="4038601" y="131353"/>
            <a:ext cx="3864428" cy="3799113"/>
          </a:xfrm>
          <a:prstGeom prst="roundRect">
            <a:avLst/>
          </a:prstGeom>
          <a:solidFill>
            <a:schemeClr val="accent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mn-MN" altLang="ja-JP" dirty="0">
                <a:solidFill>
                  <a:schemeClr val="tx1"/>
                </a:solidFill>
                <a:latin typeface="Meiryo" panose="020B0604030504040204" pitchFamily="34" charset="-128"/>
                <a:ea typeface="Meiryo" panose="020B0604030504040204" pitchFamily="34" charset="-128"/>
              </a:rPr>
              <a:t>2. </a:t>
            </a:r>
            <a:r>
              <a:rPr lang="ja-JP" altLang="en-US">
                <a:solidFill>
                  <a:schemeClr val="tx1"/>
                </a:solidFill>
                <a:latin typeface="Meiryo" panose="020B0604030504040204" pitchFamily="34" charset="-128"/>
                <a:ea typeface="Meiryo" panose="020B0604030504040204" pitchFamily="34" charset="-128"/>
              </a:rPr>
              <a:t>アーキテクチャ設計段階</a:t>
            </a:r>
          </a:p>
          <a:p>
            <a:pPr>
              <a:buFont typeface="Arial" panose="020B0604020202020204" pitchFamily="34" charset="0"/>
              <a:buChar char="•"/>
            </a:pPr>
            <a:r>
              <a:rPr lang="ja-JP" altLang="en-US">
                <a:solidFill>
                  <a:schemeClr val="tx1"/>
                </a:solidFill>
                <a:latin typeface="Meiryo" panose="020B0604030504040204" pitchFamily="34" charset="-128"/>
                <a:ea typeface="Meiryo" panose="020B0604030504040204" pitchFamily="34" charset="-128"/>
              </a:rPr>
              <a:t>設計段階では </a:t>
            </a:r>
            <a:r>
              <a:rPr lang="en-US" dirty="0">
                <a:solidFill>
                  <a:schemeClr val="tx1"/>
                </a:solidFill>
                <a:latin typeface="Meiryo" panose="020B0604030504040204" pitchFamily="34" charset="-128"/>
                <a:ea typeface="Meiryo" panose="020B0604030504040204" pitchFamily="34" charset="-128"/>
              </a:rPr>
              <a:t>webinos </a:t>
            </a:r>
            <a:r>
              <a:rPr lang="ja-JP" altLang="en-US">
                <a:solidFill>
                  <a:schemeClr val="tx1"/>
                </a:solidFill>
                <a:latin typeface="Meiryo" panose="020B0604030504040204" pitchFamily="34" charset="-128"/>
                <a:ea typeface="Meiryo" panose="020B0604030504040204" pitchFamily="34" charset="-128"/>
              </a:rPr>
              <a:t>を ホワイトボックス（</a:t>
            </a:r>
            <a:r>
              <a:rPr lang="en-US" dirty="0">
                <a:solidFill>
                  <a:schemeClr val="tx1"/>
                </a:solidFill>
                <a:latin typeface="Meiryo" panose="020B0604030504040204" pitchFamily="34" charset="-128"/>
                <a:ea typeface="Meiryo" panose="020B0604030504040204" pitchFamily="34" charset="-128"/>
              </a:rPr>
              <a:t>white box） </a:t>
            </a:r>
            <a:r>
              <a:rPr lang="ja-JP" altLang="en-US">
                <a:solidFill>
                  <a:schemeClr val="tx1"/>
                </a:solidFill>
                <a:latin typeface="Meiryo" panose="020B0604030504040204" pitchFamily="34" charset="-128"/>
                <a:ea typeface="Meiryo" panose="020B0604030504040204" pitchFamily="34" charset="-128"/>
              </a:rPr>
              <a:t>として扱い、</a:t>
            </a:r>
            <a:br>
              <a:rPr lang="ja-JP" altLang="en-US">
                <a:solidFill>
                  <a:schemeClr val="tx1"/>
                </a:solidFill>
                <a:latin typeface="Meiryo" panose="020B0604030504040204" pitchFamily="34" charset="-128"/>
                <a:ea typeface="Meiryo" panose="020B0604030504040204" pitchFamily="34" charset="-128"/>
              </a:rPr>
            </a:br>
            <a:r>
              <a:rPr lang="ja-JP" altLang="en-US">
                <a:solidFill>
                  <a:schemeClr val="tx1"/>
                </a:solidFill>
                <a:latin typeface="Meiryo" panose="020B0604030504040204" pitchFamily="34" charset="-128"/>
                <a:ea typeface="Meiryo" panose="020B0604030504040204" pitchFamily="34" charset="-128"/>
              </a:rPr>
              <a:t>詳細なセキュリティ分析 を実施。</a:t>
            </a:r>
          </a:p>
          <a:p>
            <a:pPr>
              <a:buFont typeface="Arial" panose="020B0604020202020204" pitchFamily="34" charset="0"/>
              <a:buChar char="•"/>
            </a:pPr>
            <a:r>
              <a:rPr lang="ja-JP" altLang="en-US">
                <a:solidFill>
                  <a:schemeClr val="tx1"/>
                </a:solidFill>
                <a:latin typeface="Meiryo" panose="020B0604030504040204" pitchFamily="34" charset="-128"/>
                <a:ea typeface="Meiryo" panose="020B0604030504040204" pitchFamily="34" charset="-128"/>
              </a:rPr>
              <a:t>新たに生じた「ユーザーの期待」に関する課題に対応するため、</a:t>
            </a:r>
            <a:br>
              <a:rPr lang="ja-JP" altLang="en-US">
                <a:solidFill>
                  <a:schemeClr val="tx1"/>
                </a:solidFill>
                <a:latin typeface="Meiryo" panose="020B0604030504040204" pitchFamily="34" charset="-128"/>
                <a:ea typeface="Meiryo" panose="020B0604030504040204" pitchFamily="34" charset="-128"/>
              </a:rPr>
            </a:br>
            <a:r>
              <a:rPr lang="ja-JP" altLang="en-US">
                <a:solidFill>
                  <a:schemeClr val="tx1"/>
                </a:solidFill>
                <a:latin typeface="Meiryo" panose="020B0604030504040204" pitchFamily="34" charset="-128"/>
                <a:ea typeface="Meiryo" panose="020B0604030504040204" pitchFamily="34" charset="-128"/>
              </a:rPr>
              <a:t>セキュリティ分析とユーザビリティ研究を統合 した。</a:t>
            </a:r>
          </a:p>
        </p:txBody>
      </p:sp>
      <p:sp>
        <p:nvSpPr>
          <p:cNvPr id="8" name="Rounded Rectangle 7">
            <a:extLst>
              <a:ext uri="{FF2B5EF4-FFF2-40B4-BE49-F238E27FC236}">
                <a16:creationId xmlns:a16="http://schemas.microsoft.com/office/drawing/2014/main" id="{04E90506-5CFB-8904-1FBD-E8C59FB93B05}"/>
              </a:ext>
            </a:extLst>
          </p:cNvPr>
          <p:cNvSpPr/>
          <p:nvPr/>
        </p:nvSpPr>
        <p:spPr>
          <a:xfrm>
            <a:off x="8153400" y="2460172"/>
            <a:ext cx="3951514" cy="3799113"/>
          </a:xfrm>
          <a:prstGeom prst="roundRect">
            <a:avLst/>
          </a:prstGeom>
          <a:solidFill>
            <a:schemeClr val="accent5">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altLang="ja-JP" dirty="0">
                <a:solidFill>
                  <a:schemeClr val="tx1"/>
                </a:solidFill>
                <a:latin typeface="Meiryo" panose="020B0604030504040204" pitchFamily="34" charset="-128"/>
                <a:ea typeface="Meiryo" panose="020B0604030504040204" pitchFamily="34" charset="-128"/>
              </a:rPr>
              <a:t>3. </a:t>
            </a:r>
            <a:r>
              <a:rPr lang="ja-JP" altLang="en-US">
                <a:solidFill>
                  <a:schemeClr val="tx1"/>
                </a:solidFill>
                <a:latin typeface="Meiryo" panose="020B0604030504040204" pitchFamily="34" charset="-128"/>
                <a:ea typeface="Meiryo" panose="020B0604030504040204" pitchFamily="34" charset="-128"/>
              </a:rPr>
              <a:t>セキュリティ分析の実施</a:t>
            </a:r>
          </a:p>
          <a:p>
            <a:r>
              <a:rPr lang="en-US" altLang="ja-JP" dirty="0">
                <a:solidFill>
                  <a:schemeClr val="tx1"/>
                </a:solidFill>
                <a:latin typeface="Meiryo" panose="020B0604030504040204" pitchFamily="34" charset="-128"/>
                <a:ea typeface="Meiryo" panose="020B0604030504040204" pitchFamily="34" charset="-128"/>
              </a:rPr>
              <a:t>2 </a:t>
            </a:r>
            <a:r>
              <a:rPr lang="ja-JP" altLang="en-US">
                <a:solidFill>
                  <a:schemeClr val="tx1"/>
                </a:solidFill>
                <a:latin typeface="Meiryo" panose="020B0604030504040204" pitchFamily="34" charset="-128"/>
                <a:ea typeface="Meiryo" panose="020B0604030504040204" pitchFamily="34" charset="-128"/>
              </a:rPr>
              <a:t>日間のリスク分析ワークショップ を開催し、</a:t>
            </a:r>
            <a:br>
              <a:rPr lang="ja-JP" altLang="en-US">
                <a:solidFill>
                  <a:schemeClr val="tx1"/>
                </a:solidFill>
                <a:latin typeface="Meiryo" panose="020B0604030504040204" pitchFamily="34" charset="-128"/>
                <a:ea typeface="Meiryo" panose="020B0604030504040204" pitchFamily="34" charset="-128"/>
              </a:rPr>
            </a:br>
            <a:r>
              <a:rPr lang="ja-JP" altLang="en-US">
                <a:solidFill>
                  <a:schemeClr val="tx1"/>
                </a:solidFill>
                <a:latin typeface="Meiryo" panose="020B0604030504040204" pitchFamily="34" charset="-128"/>
                <a:ea typeface="Meiryo" panose="020B0604030504040204" pitchFamily="34" charset="-128"/>
              </a:rPr>
              <a:t>チームの専門知識を活かして 脆弱性・脅威の特定 を行った。</a:t>
            </a:r>
          </a:p>
          <a:p>
            <a:pPr>
              <a:buFont typeface="Arial" panose="020B0604020202020204" pitchFamily="34" charset="0"/>
              <a:buChar char="•"/>
            </a:pPr>
            <a:r>
              <a:rPr lang="ja-JP" altLang="en-US">
                <a:solidFill>
                  <a:schemeClr val="tx1"/>
                </a:solidFill>
                <a:latin typeface="Meiryo" panose="020B0604030504040204" pitchFamily="34" charset="-128"/>
                <a:ea typeface="Meiryo" panose="020B0604030504040204" pitchFamily="34" charset="-128"/>
              </a:rPr>
              <a:t>資産モデル（</a:t>
            </a:r>
            <a:r>
              <a:rPr lang="en-US" dirty="0">
                <a:solidFill>
                  <a:schemeClr val="tx1"/>
                </a:solidFill>
                <a:latin typeface="Meiryo" panose="020B0604030504040204" pitchFamily="34" charset="-128"/>
                <a:ea typeface="Meiryo" panose="020B0604030504040204" pitchFamily="34" charset="-128"/>
              </a:rPr>
              <a:t>asset model） </a:t>
            </a:r>
            <a:r>
              <a:rPr lang="ja-JP" altLang="en-US">
                <a:solidFill>
                  <a:schemeClr val="tx1"/>
                </a:solidFill>
                <a:latin typeface="Meiryo" panose="020B0604030504040204" pitchFamily="34" charset="-128"/>
                <a:ea typeface="Meiryo" panose="020B0604030504040204" pitchFamily="34" charset="-128"/>
              </a:rPr>
              <a:t>を更新し、</a:t>
            </a:r>
            <a:br>
              <a:rPr lang="ja-JP" altLang="en-US">
                <a:solidFill>
                  <a:schemeClr val="tx1"/>
                </a:solidFill>
                <a:latin typeface="Meiryo" panose="020B0604030504040204" pitchFamily="34" charset="-128"/>
                <a:ea typeface="Meiryo" panose="020B0604030504040204" pitchFamily="34" charset="-128"/>
              </a:rPr>
            </a:br>
            <a:r>
              <a:rPr lang="ja-JP" altLang="en-US">
                <a:solidFill>
                  <a:schemeClr val="tx1"/>
                </a:solidFill>
                <a:latin typeface="Meiryo" panose="020B0604030504040204" pitchFamily="34" charset="-128"/>
                <a:ea typeface="Meiryo" panose="020B0604030504040204" pitchFamily="34" charset="-128"/>
              </a:rPr>
              <a:t>各資産の セキュリティとプライバシー特性（機密性・完全性・可用性など） を評価した。</a:t>
            </a:r>
          </a:p>
        </p:txBody>
      </p:sp>
      <p:sp>
        <p:nvSpPr>
          <p:cNvPr id="14" name="Slide Number Placeholder 13">
            <a:extLst>
              <a:ext uri="{FF2B5EF4-FFF2-40B4-BE49-F238E27FC236}">
                <a16:creationId xmlns:a16="http://schemas.microsoft.com/office/drawing/2014/main" id="{DA7D416D-2732-7C66-BAA9-BC8850A009F8}"/>
              </a:ext>
            </a:extLst>
          </p:cNvPr>
          <p:cNvSpPr>
            <a:spLocks noGrp="1"/>
          </p:cNvSpPr>
          <p:nvPr>
            <p:ph type="sldNum" sz="quarter" idx="12"/>
          </p:nvPr>
        </p:nvSpPr>
        <p:spPr/>
        <p:txBody>
          <a:bodyPr/>
          <a:lstStyle/>
          <a:p>
            <a:fld id="{62667D12-7761-1040-82E2-C1925732DACC}" type="slidenum">
              <a:rPr lang="en-JP" smtClean="0"/>
              <a:t>20</a:t>
            </a:fld>
            <a:endParaRPr lang="en-JP"/>
          </a:p>
        </p:txBody>
      </p:sp>
    </p:spTree>
    <p:extLst>
      <p:ext uri="{BB962C8B-B14F-4D97-AF65-F5344CB8AC3E}">
        <p14:creationId xmlns:p14="http://schemas.microsoft.com/office/powerpoint/2010/main" val="42738083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正方形/長方形 6">
            <a:extLst>
              <a:ext uri="{FF2B5EF4-FFF2-40B4-BE49-F238E27FC236}">
                <a16:creationId xmlns:a16="http://schemas.microsoft.com/office/drawing/2014/main" id="{E65CD3F2-78F1-C2B9-F0CF-2795850EE19F}"/>
              </a:ext>
            </a:extLst>
          </p:cNvPr>
          <p:cNvSpPr/>
          <p:nvPr/>
        </p:nvSpPr>
        <p:spPr>
          <a:xfrm>
            <a:off x="873958" y="1170742"/>
            <a:ext cx="4743069" cy="4051737"/>
          </a:xfrm>
          <a:prstGeom prst="rect">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 name="TextBox 5">
            <a:extLst>
              <a:ext uri="{FF2B5EF4-FFF2-40B4-BE49-F238E27FC236}">
                <a16:creationId xmlns:a16="http://schemas.microsoft.com/office/drawing/2014/main" id="{962351EB-A488-4668-D4C8-B1261304FCE9}"/>
              </a:ext>
            </a:extLst>
          </p:cNvPr>
          <p:cNvSpPr txBox="1"/>
          <p:nvPr/>
        </p:nvSpPr>
        <p:spPr>
          <a:xfrm>
            <a:off x="873958" y="2000078"/>
            <a:ext cx="4579785" cy="2031325"/>
          </a:xfrm>
          <a:prstGeom prst="rect">
            <a:avLst/>
          </a:prstGeom>
          <a:noFill/>
        </p:spPr>
        <p:txBody>
          <a:bodyPr wrap="square">
            <a:spAutoFit/>
          </a:bodyPr>
          <a:lstStyle/>
          <a:p>
            <a:r>
              <a:rPr lang="en-US" dirty="0">
                <a:latin typeface="Meiryo" panose="020B0604030504040204" pitchFamily="34" charset="-128"/>
                <a:ea typeface="Meiryo" panose="020B0604030504040204" pitchFamily="34" charset="-128"/>
              </a:rPr>
              <a:t>4. Misuse Case </a:t>
            </a:r>
            <a:r>
              <a:rPr lang="ja-JP" altLang="en-US">
                <a:latin typeface="Meiryo" panose="020B0604030504040204" pitchFamily="34" charset="-128"/>
                <a:ea typeface="Meiryo" panose="020B0604030504040204" pitchFamily="34" charset="-128"/>
              </a:rPr>
              <a:t>によるリスク検証</a:t>
            </a:r>
          </a:p>
          <a:p>
            <a:pPr>
              <a:buFont typeface="Arial" panose="020B0604020202020204" pitchFamily="34" charset="0"/>
              <a:buChar char="•"/>
            </a:pPr>
            <a:r>
              <a:rPr lang="ja-JP" altLang="en-US">
                <a:latin typeface="Meiryo" panose="020B0604030504040204" pitchFamily="34" charset="-128"/>
                <a:ea typeface="Meiryo" panose="020B0604030504040204" pitchFamily="34" charset="-128"/>
              </a:rPr>
              <a:t>発見された </a:t>
            </a:r>
            <a:r>
              <a:rPr lang="en-US" altLang="ja-JP" dirty="0">
                <a:latin typeface="Meiryo" panose="020B0604030504040204" pitchFamily="34" charset="-128"/>
                <a:ea typeface="Meiryo" panose="020B0604030504040204" pitchFamily="34" charset="-128"/>
              </a:rPr>
              <a:t>12 </a:t>
            </a:r>
            <a:r>
              <a:rPr lang="ja-JP" altLang="en-US">
                <a:latin typeface="Meiryo" panose="020B0604030504040204" pitchFamily="34" charset="-128"/>
                <a:ea typeface="Meiryo" panose="020B0604030504040204" pitchFamily="34" charset="-128"/>
              </a:rPr>
              <a:t>のリスク を </a:t>
            </a:r>
            <a:r>
              <a:rPr lang="en-US" dirty="0">
                <a:latin typeface="Meiryo" panose="020B0604030504040204" pitchFamily="34" charset="-128"/>
                <a:ea typeface="Meiryo" panose="020B0604030504040204" pitchFamily="34" charset="-128"/>
              </a:rPr>
              <a:t>misuse case（</a:t>
            </a:r>
            <a:r>
              <a:rPr lang="ja-JP" altLang="en-US">
                <a:latin typeface="Meiryo" panose="020B0604030504040204" pitchFamily="34" charset="-128"/>
                <a:ea typeface="Meiryo" panose="020B0604030504040204" pitchFamily="34" charset="-128"/>
              </a:rPr>
              <a:t>誤用シナリオ） に基づいて検証。</a:t>
            </a:r>
          </a:p>
          <a:p>
            <a:pPr>
              <a:buFont typeface="Arial" panose="020B0604020202020204" pitchFamily="34" charset="0"/>
              <a:buChar char="•"/>
            </a:pPr>
            <a:r>
              <a:rPr lang="ja-JP" altLang="en-US">
                <a:latin typeface="Meiryo" panose="020B0604030504040204" pitchFamily="34" charset="-128"/>
                <a:ea typeface="Meiryo" panose="020B0604030504040204" pitchFamily="34" charset="-128"/>
              </a:rPr>
              <a:t>攻撃者の行動を再現することで、リスクの 人間的影響 を理解し、</a:t>
            </a:r>
            <a:br>
              <a:rPr lang="ja-JP" altLang="en-US">
                <a:latin typeface="Meiryo" panose="020B0604030504040204" pitchFamily="34" charset="-128"/>
                <a:ea typeface="Meiryo" panose="020B0604030504040204" pitchFamily="34" charset="-128"/>
              </a:rPr>
            </a:br>
            <a:r>
              <a:rPr lang="ja-JP" altLang="en-US">
                <a:latin typeface="Meiryo" panose="020B0604030504040204" pitchFamily="34" charset="-128"/>
                <a:ea typeface="Meiryo" panose="020B0604030504040204" pitchFamily="34" charset="-128"/>
              </a:rPr>
              <a:t>分析結果の 妥当性（サニティチェック） を確認した。</a:t>
            </a:r>
          </a:p>
        </p:txBody>
      </p:sp>
      <p:sp>
        <p:nvSpPr>
          <p:cNvPr id="8" name="TextBox 7">
            <a:extLst>
              <a:ext uri="{FF2B5EF4-FFF2-40B4-BE49-F238E27FC236}">
                <a16:creationId xmlns:a16="http://schemas.microsoft.com/office/drawing/2014/main" id="{728F3A45-3057-3D8B-D09D-0CA3CCBDCB1A}"/>
              </a:ext>
            </a:extLst>
          </p:cNvPr>
          <p:cNvSpPr txBox="1"/>
          <p:nvPr/>
        </p:nvSpPr>
        <p:spPr>
          <a:xfrm>
            <a:off x="6574975" y="1584579"/>
            <a:ext cx="4604657" cy="3139321"/>
          </a:xfrm>
          <a:prstGeom prst="rect">
            <a:avLst/>
          </a:prstGeom>
          <a:noFill/>
        </p:spPr>
        <p:txBody>
          <a:bodyPr wrap="square">
            <a:spAutoFit/>
          </a:bodyPr>
          <a:lstStyle/>
          <a:p>
            <a:r>
              <a:rPr lang="en-US" altLang="ja-JP" dirty="0">
                <a:latin typeface="Meiryo" panose="020B0604030504040204" pitchFamily="34" charset="-128"/>
                <a:ea typeface="Meiryo" panose="020B0604030504040204" pitchFamily="34" charset="-128"/>
              </a:rPr>
              <a:t>5. </a:t>
            </a:r>
            <a:r>
              <a:rPr lang="ja-JP" altLang="en-US">
                <a:latin typeface="Meiryo" panose="020B0604030504040204" pitchFamily="34" charset="-128"/>
                <a:ea typeface="Meiryo" panose="020B0604030504040204" pitchFamily="34" charset="-128"/>
              </a:rPr>
              <a:t>結果と設計への反映</a:t>
            </a:r>
          </a:p>
          <a:p>
            <a:pPr>
              <a:buFont typeface="Arial" panose="020B0604020202020204" pitchFamily="34" charset="0"/>
              <a:buChar char="•"/>
            </a:pPr>
            <a:r>
              <a:rPr lang="ja-JP" altLang="en-US">
                <a:latin typeface="Meiryo" panose="020B0604030504040204" pitchFamily="34" charset="-128"/>
                <a:ea typeface="Meiryo" panose="020B0604030504040204" pitchFamily="34" charset="-128"/>
              </a:rPr>
              <a:t>分析結果を セキュリティアーキテクチャ設計と評価 に反映。</a:t>
            </a:r>
          </a:p>
          <a:p>
            <a:pPr>
              <a:buFont typeface="Arial" panose="020B0604020202020204" pitchFamily="34" charset="0"/>
              <a:buChar char="•"/>
            </a:pPr>
            <a:r>
              <a:rPr lang="ja-JP" altLang="en-US">
                <a:latin typeface="Meiryo" panose="020B0604030504040204" pitchFamily="34" charset="-128"/>
                <a:ea typeface="Meiryo" panose="020B0604030504040204" pitchFamily="34" charset="-128"/>
              </a:rPr>
              <a:t>例：支払い </a:t>
            </a:r>
            <a:r>
              <a:rPr lang="en-US" dirty="0">
                <a:latin typeface="Meiryo" panose="020B0604030504040204" pitchFamily="34" charset="-128"/>
                <a:ea typeface="Meiryo" panose="020B0604030504040204" pitchFamily="34" charset="-128"/>
              </a:rPr>
              <a:t>API </a:t>
            </a:r>
            <a:r>
              <a:rPr lang="ja-JP" altLang="en-US">
                <a:latin typeface="Meiryo" panose="020B0604030504040204" pitchFamily="34" charset="-128"/>
                <a:ea typeface="Meiryo" panose="020B0604030504040204" pitchFamily="34" charset="-128"/>
              </a:rPr>
              <a:t>の誤用による詐欺ケースを分析 →</a:t>
            </a:r>
            <a:br>
              <a:rPr lang="ja-JP" altLang="en-US">
                <a:latin typeface="Meiryo" panose="020B0604030504040204" pitchFamily="34" charset="-128"/>
                <a:ea typeface="Meiryo" panose="020B0604030504040204" pitchFamily="34" charset="-128"/>
              </a:rPr>
            </a:br>
            <a:r>
              <a:rPr lang="en-US" dirty="0">
                <a:latin typeface="Meiryo" panose="020B0604030504040204" pitchFamily="34" charset="-128"/>
                <a:ea typeface="Meiryo" panose="020B0604030504040204" pitchFamily="34" charset="-128"/>
              </a:rPr>
              <a:t>JavaScript API </a:t>
            </a:r>
            <a:r>
              <a:rPr lang="ja-JP" altLang="en-US">
                <a:latin typeface="Meiryo" panose="020B0604030504040204" pitchFamily="34" charset="-128"/>
                <a:ea typeface="Meiryo" panose="020B0604030504040204" pitchFamily="34" charset="-128"/>
              </a:rPr>
              <a:t>の使いにくさがセキュリティ低下の要因 となる可能性を発見。</a:t>
            </a:r>
          </a:p>
          <a:p>
            <a:pPr>
              <a:buFont typeface="Arial" panose="020B0604020202020204" pitchFamily="34" charset="0"/>
              <a:buChar char="•"/>
            </a:pPr>
            <a:r>
              <a:rPr lang="ja-JP" altLang="en-US">
                <a:latin typeface="Meiryo" panose="020B0604030504040204" pitchFamily="34" charset="-128"/>
                <a:ea typeface="Meiryo" panose="020B0604030504040204" pitchFamily="34" charset="-128"/>
              </a:rPr>
              <a:t>この議論により、セキュリティとユーザビリティの両立の重要性 を再認識し、</a:t>
            </a:r>
            <a:br>
              <a:rPr lang="ja-JP" altLang="en-US">
                <a:latin typeface="Meiryo" panose="020B0604030504040204" pitchFamily="34" charset="-128"/>
                <a:ea typeface="Meiryo" panose="020B0604030504040204" pitchFamily="34" charset="-128"/>
              </a:rPr>
            </a:br>
            <a:r>
              <a:rPr lang="ja-JP" altLang="en-US">
                <a:latin typeface="Meiryo" panose="020B0604030504040204" pitchFamily="34" charset="-128"/>
                <a:ea typeface="Meiryo" panose="020B0604030504040204" pitchFamily="34" charset="-128"/>
              </a:rPr>
              <a:t>脆弱なコードが発生する要因 をさらに分析できた。</a:t>
            </a:r>
          </a:p>
        </p:txBody>
      </p:sp>
      <p:sp>
        <p:nvSpPr>
          <p:cNvPr id="9" name="正方形/長方形 6">
            <a:extLst>
              <a:ext uri="{FF2B5EF4-FFF2-40B4-BE49-F238E27FC236}">
                <a16:creationId xmlns:a16="http://schemas.microsoft.com/office/drawing/2014/main" id="{FC92FB78-ED38-7FCD-CB32-221791936A58}"/>
              </a:ext>
            </a:extLst>
          </p:cNvPr>
          <p:cNvSpPr/>
          <p:nvPr/>
        </p:nvSpPr>
        <p:spPr>
          <a:xfrm>
            <a:off x="6240615" y="1221684"/>
            <a:ext cx="5254699" cy="4051737"/>
          </a:xfrm>
          <a:prstGeom prst="rect">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4" name="Slide Number Placeholder 13">
            <a:extLst>
              <a:ext uri="{FF2B5EF4-FFF2-40B4-BE49-F238E27FC236}">
                <a16:creationId xmlns:a16="http://schemas.microsoft.com/office/drawing/2014/main" id="{BF54A283-B9D7-C2FF-1D13-934699B4B2AA}"/>
              </a:ext>
            </a:extLst>
          </p:cNvPr>
          <p:cNvSpPr>
            <a:spLocks noGrp="1"/>
          </p:cNvSpPr>
          <p:nvPr>
            <p:ph type="sldNum" sz="quarter" idx="12"/>
          </p:nvPr>
        </p:nvSpPr>
        <p:spPr/>
        <p:txBody>
          <a:bodyPr/>
          <a:lstStyle/>
          <a:p>
            <a:fld id="{62667D12-7761-1040-82E2-C1925732DACC}" type="slidenum">
              <a:rPr lang="en-JP" smtClean="0"/>
              <a:t>21</a:t>
            </a:fld>
            <a:endParaRPr lang="en-JP"/>
          </a:p>
        </p:txBody>
      </p:sp>
    </p:spTree>
    <p:extLst>
      <p:ext uri="{BB962C8B-B14F-4D97-AF65-F5344CB8AC3E}">
        <p14:creationId xmlns:p14="http://schemas.microsoft.com/office/powerpoint/2010/main" val="11254703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9"/>
                                        </p:tgtEl>
                                        <p:attrNameLst>
                                          <p:attrName>style.visibility</p:attrName>
                                        </p:attrNameLst>
                                      </p:cBhvr>
                                      <p:to>
                                        <p:strVal val="visible"/>
                                      </p:to>
                                    </p:set>
                                    <p:animEffect transition="in" filter="fade">
                                      <p:cBhvr>
                                        <p:cTn id="10"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9" grpId="0" animBg="1"/>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3AFF01-94B2-6187-F9CE-2B31A1A95D4B}"/>
              </a:ext>
            </a:extLst>
          </p:cNvPr>
          <p:cNvSpPr>
            <a:spLocks noGrp="1"/>
          </p:cNvSpPr>
          <p:nvPr>
            <p:ph type="title"/>
          </p:nvPr>
        </p:nvSpPr>
        <p:spPr>
          <a:xfrm>
            <a:off x="903515" y="1034143"/>
            <a:ext cx="2688772" cy="614494"/>
          </a:xfrm>
        </p:spPr>
        <p:txBody>
          <a:bodyPr>
            <a:normAutofit/>
          </a:bodyPr>
          <a:lstStyle/>
          <a:p>
            <a:r>
              <a:rPr lang="ja-JP" altLang="en-US">
                <a:latin typeface="Meiryo UI" panose="020B0604030504040204" pitchFamily="50" charset="-128"/>
                <a:ea typeface="Meiryo UI" panose="020B0604030504040204" pitchFamily="50" charset="-128"/>
              </a:rPr>
              <a:t>目次</a:t>
            </a:r>
            <a:endParaRPr lang="en-JP" dirty="0"/>
          </a:p>
        </p:txBody>
      </p:sp>
      <p:sp>
        <p:nvSpPr>
          <p:cNvPr id="5" name="TextBox 4">
            <a:extLst>
              <a:ext uri="{FF2B5EF4-FFF2-40B4-BE49-F238E27FC236}">
                <a16:creationId xmlns:a16="http://schemas.microsoft.com/office/drawing/2014/main" id="{56BC3D14-406B-F67B-CEF3-386DE9A5C773}"/>
              </a:ext>
            </a:extLst>
          </p:cNvPr>
          <p:cNvSpPr txBox="1"/>
          <p:nvPr/>
        </p:nvSpPr>
        <p:spPr>
          <a:xfrm>
            <a:off x="1328057" y="2106384"/>
            <a:ext cx="6096000" cy="2135200"/>
          </a:xfrm>
          <a:prstGeom prst="rect">
            <a:avLst/>
          </a:prstGeom>
          <a:noFill/>
        </p:spPr>
        <p:txBody>
          <a:bodyPr wrap="square">
            <a:spAutoFit/>
          </a:bodyPr>
          <a:lstStyle/>
          <a:p>
            <a:pPr marL="761981" indent="-548626">
              <a:lnSpc>
                <a:spcPct val="150000"/>
              </a:lnSpc>
              <a:spcBef>
                <a:spcPts val="0"/>
              </a:spcBef>
              <a:buSzPts val="2800"/>
              <a:buFont typeface="Wingdings" pitchFamily="2" charset="2"/>
              <a:buChar char="§"/>
            </a:pPr>
            <a:r>
              <a:rPr lang="ja-JP" altLang="en-US" sz="1800">
                <a:latin typeface="Meiryo" panose="020B0604030504040204" pitchFamily="34" charset="-128"/>
                <a:ea typeface="Meiryo" panose="020B0604030504040204" pitchFamily="34" charset="-128"/>
              </a:rPr>
              <a:t>はじめに </a:t>
            </a:r>
            <a:r>
              <a:rPr lang="en-US" altLang="ja-JP" sz="1800" dirty="0">
                <a:latin typeface="Meiryo" panose="020B0604030504040204" pitchFamily="34" charset="-128"/>
                <a:ea typeface="Meiryo" panose="020B0604030504040204" pitchFamily="34" charset="-128"/>
              </a:rPr>
              <a:t>(Introduction)</a:t>
            </a:r>
          </a:p>
          <a:p>
            <a:pPr marL="761981" indent="-548626">
              <a:lnSpc>
                <a:spcPct val="150000"/>
              </a:lnSpc>
              <a:spcBef>
                <a:spcPts val="0"/>
              </a:spcBef>
              <a:buSzPts val="2800"/>
              <a:buFont typeface="Wingdings" pitchFamily="2" charset="2"/>
              <a:buChar char="§"/>
            </a:pPr>
            <a:r>
              <a:rPr lang="ja-JP" altLang="en-US" sz="1800">
                <a:latin typeface="Meiryo" panose="020B0604030504040204" pitchFamily="34" charset="-128"/>
                <a:ea typeface="Meiryo" panose="020B0604030504040204" pitchFamily="34" charset="-128"/>
              </a:rPr>
              <a:t>研究の目的 </a:t>
            </a:r>
            <a:r>
              <a:rPr lang="en-US" altLang="ja-JP" sz="1800" dirty="0">
                <a:latin typeface="Meiryo" panose="020B0604030504040204" pitchFamily="34" charset="-128"/>
                <a:ea typeface="Meiryo" panose="020B0604030504040204" pitchFamily="34" charset="-128"/>
              </a:rPr>
              <a:t>(Purpose)</a:t>
            </a:r>
          </a:p>
          <a:p>
            <a:pPr marL="761981" indent="-548626">
              <a:lnSpc>
                <a:spcPct val="150000"/>
              </a:lnSpc>
              <a:spcBef>
                <a:spcPts val="0"/>
              </a:spcBef>
              <a:buSzPts val="2800"/>
              <a:buFont typeface="Wingdings" pitchFamily="2" charset="2"/>
              <a:buChar char="§"/>
            </a:pPr>
            <a:r>
              <a:rPr lang="ja-JP" altLang="en-US" sz="1800">
                <a:latin typeface="Meiryo" panose="020B0604030504040204" pitchFamily="34" charset="-128"/>
                <a:ea typeface="Meiryo" panose="020B0604030504040204" pitchFamily="34" charset="-128"/>
              </a:rPr>
              <a:t>方法 </a:t>
            </a:r>
            <a:r>
              <a:rPr lang="en-US" altLang="ja-JP" sz="1800" dirty="0">
                <a:latin typeface="Meiryo" panose="020B0604030504040204" pitchFamily="34" charset="-128"/>
                <a:ea typeface="Meiryo" panose="020B0604030504040204" pitchFamily="34" charset="-128"/>
              </a:rPr>
              <a:t>(Method / Approach)</a:t>
            </a:r>
          </a:p>
          <a:p>
            <a:pPr marL="761981" indent="-548626">
              <a:lnSpc>
                <a:spcPct val="150000"/>
              </a:lnSpc>
              <a:spcBef>
                <a:spcPts val="0"/>
              </a:spcBef>
              <a:buSzPts val="2800"/>
              <a:buFont typeface="Wingdings" pitchFamily="2" charset="2"/>
              <a:buChar char="§"/>
            </a:pPr>
            <a:r>
              <a:rPr lang="ja-JP" altLang="en-US" sz="1800">
                <a:solidFill>
                  <a:srgbClr val="FF0000"/>
                </a:solidFill>
              </a:rPr>
              <a:t>課題・困難点</a:t>
            </a:r>
            <a:endParaRPr lang="en-US" altLang="ja-JP" sz="1800" dirty="0">
              <a:solidFill>
                <a:srgbClr val="FF0000"/>
              </a:solidFill>
            </a:endParaRPr>
          </a:p>
          <a:p>
            <a:pPr marL="761981" indent="-548626">
              <a:lnSpc>
                <a:spcPct val="150000"/>
              </a:lnSpc>
              <a:spcBef>
                <a:spcPts val="0"/>
              </a:spcBef>
              <a:buSzPts val="2800"/>
              <a:buFont typeface="Wingdings" pitchFamily="2" charset="2"/>
              <a:buChar char="§"/>
            </a:pPr>
            <a:r>
              <a:rPr lang="ja-JP" altLang="en-US" sz="1800">
                <a:latin typeface="Meiryo" panose="020B0604030504040204" pitchFamily="34" charset="-128"/>
                <a:ea typeface="Meiryo" panose="020B0604030504040204" pitchFamily="34" charset="-128"/>
              </a:rPr>
              <a:t>まとめ </a:t>
            </a:r>
            <a:r>
              <a:rPr lang="en-US" altLang="ja-JP" sz="1800" dirty="0">
                <a:latin typeface="Meiryo" panose="020B0604030504040204" pitchFamily="34" charset="-128"/>
                <a:ea typeface="Meiryo" panose="020B0604030504040204" pitchFamily="34" charset="-128"/>
              </a:rPr>
              <a:t>(Conclusion)</a:t>
            </a:r>
            <a:endParaRPr lang="en-JP" sz="1800" dirty="0">
              <a:latin typeface="Meiryo" panose="020B0604030504040204" pitchFamily="34" charset="-128"/>
              <a:ea typeface="Meiryo" panose="020B0604030504040204" pitchFamily="34" charset="-128"/>
            </a:endParaRPr>
          </a:p>
        </p:txBody>
      </p:sp>
      <p:sp>
        <p:nvSpPr>
          <p:cNvPr id="3" name="Slide Number Placeholder 2">
            <a:extLst>
              <a:ext uri="{FF2B5EF4-FFF2-40B4-BE49-F238E27FC236}">
                <a16:creationId xmlns:a16="http://schemas.microsoft.com/office/drawing/2014/main" id="{F4615911-DCFE-AECF-323E-CE0F165B7463}"/>
              </a:ext>
            </a:extLst>
          </p:cNvPr>
          <p:cNvSpPr>
            <a:spLocks noGrp="1"/>
          </p:cNvSpPr>
          <p:nvPr>
            <p:ph type="sldNum" sz="quarter" idx="12"/>
          </p:nvPr>
        </p:nvSpPr>
        <p:spPr/>
        <p:txBody>
          <a:bodyPr/>
          <a:lstStyle/>
          <a:p>
            <a:fld id="{62667D12-7761-1040-82E2-C1925732DACC}" type="slidenum">
              <a:rPr lang="en-JP" smtClean="0"/>
              <a:t>22</a:t>
            </a:fld>
            <a:endParaRPr lang="en-JP"/>
          </a:p>
        </p:txBody>
      </p:sp>
    </p:spTree>
    <p:extLst>
      <p:ext uri="{BB962C8B-B14F-4D97-AF65-F5344CB8AC3E}">
        <p14:creationId xmlns:p14="http://schemas.microsoft.com/office/powerpoint/2010/main" val="141014299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2329ED-8FA1-C88A-255C-AD703F004843}"/>
              </a:ext>
            </a:extLst>
          </p:cNvPr>
          <p:cNvSpPr>
            <a:spLocks noGrp="1"/>
          </p:cNvSpPr>
          <p:nvPr>
            <p:ph type="title"/>
          </p:nvPr>
        </p:nvSpPr>
        <p:spPr>
          <a:xfrm>
            <a:off x="-109481" y="1240970"/>
            <a:ext cx="7337597" cy="381000"/>
          </a:xfrm>
        </p:spPr>
        <p:txBody>
          <a:bodyPr>
            <a:normAutofit fontScale="90000"/>
          </a:bodyPr>
          <a:lstStyle/>
          <a:p>
            <a:r>
              <a:rPr lang="en-US" sz="2400" dirty="0"/>
              <a:t>DIFFICULTIES </a:t>
            </a:r>
            <a:r>
              <a:rPr lang="ja-JP" altLang="en-US" sz="2400"/>
              <a:t>課題・困難点</a:t>
            </a:r>
            <a:endParaRPr lang="en-JP" sz="2400" dirty="0"/>
          </a:p>
        </p:txBody>
      </p:sp>
      <p:sp>
        <p:nvSpPr>
          <p:cNvPr id="5" name="TextBox 4">
            <a:extLst>
              <a:ext uri="{FF2B5EF4-FFF2-40B4-BE49-F238E27FC236}">
                <a16:creationId xmlns:a16="http://schemas.microsoft.com/office/drawing/2014/main" id="{1AB02E6F-3B81-AEC6-D492-F712F4365586}"/>
              </a:ext>
            </a:extLst>
          </p:cNvPr>
          <p:cNvSpPr txBox="1"/>
          <p:nvPr/>
        </p:nvSpPr>
        <p:spPr>
          <a:xfrm>
            <a:off x="1676402" y="2242457"/>
            <a:ext cx="6302828" cy="2585323"/>
          </a:xfrm>
          <a:prstGeom prst="rect">
            <a:avLst/>
          </a:prstGeom>
          <a:noFill/>
        </p:spPr>
        <p:txBody>
          <a:bodyPr wrap="square">
            <a:spAutoFit/>
          </a:bodyPr>
          <a:lstStyle/>
          <a:p>
            <a:pPr marL="342900" indent="-342900">
              <a:buAutoNum type="arabicPeriod"/>
            </a:pPr>
            <a:r>
              <a:rPr lang="ja-JP" altLang="en-US">
                <a:latin typeface="Meiryo" panose="020B0604030504040204" pitchFamily="34" charset="-128"/>
                <a:ea typeface="Meiryo" panose="020B0604030504040204" pitchFamily="34" charset="-128"/>
              </a:rPr>
              <a:t>異なるデバイス環境の統合の難しさ</a:t>
            </a:r>
            <a:endParaRPr lang="mn-MN" altLang="ja-JP" dirty="0">
              <a:latin typeface="Meiryo" panose="020B0604030504040204" pitchFamily="34" charset="-128"/>
              <a:ea typeface="Meiryo" panose="020B0604030504040204" pitchFamily="34" charset="-128"/>
            </a:endParaRPr>
          </a:p>
          <a:p>
            <a:pPr marL="342900" indent="-342900">
              <a:buAutoNum type="arabicPeriod"/>
            </a:pPr>
            <a:endParaRPr lang="ja-JP" altLang="en-US">
              <a:latin typeface="Meiryo" panose="020B0604030504040204" pitchFamily="34" charset="-128"/>
              <a:ea typeface="Meiryo" panose="020B0604030504040204" pitchFamily="34" charset="-128"/>
            </a:endParaRPr>
          </a:p>
          <a:p>
            <a:r>
              <a:rPr lang="en-US" altLang="ja-JP" dirty="0">
                <a:latin typeface="Meiryo" panose="020B0604030504040204" pitchFamily="34" charset="-128"/>
                <a:ea typeface="Meiryo" panose="020B0604030504040204" pitchFamily="34" charset="-128"/>
              </a:rPr>
              <a:t>2. </a:t>
            </a:r>
            <a:r>
              <a:rPr lang="ja-JP" altLang="en-US">
                <a:latin typeface="Meiryo" panose="020B0604030504040204" pitchFamily="34" charset="-128"/>
                <a:ea typeface="Meiryo" panose="020B0604030504040204" pitchFamily="34" charset="-128"/>
              </a:rPr>
              <a:t>ユーザ</a:t>
            </a:r>
            <a:r>
              <a:rPr lang="en-US" altLang="ja-JP" dirty="0">
                <a:latin typeface="Meiryo" panose="020B0604030504040204" pitchFamily="34" charset="-128"/>
                <a:ea typeface="Meiryo" panose="020B0604030504040204" pitchFamily="34" charset="-128"/>
              </a:rPr>
              <a:t>privacy</a:t>
            </a:r>
            <a:r>
              <a:rPr lang="ja-JP" altLang="en-US">
                <a:latin typeface="Meiryo" panose="020B0604030504040204" pitchFamily="34" charset="-128"/>
                <a:ea typeface="Meiryo" panose="020B0604030504040204" pitchFamily="34" charset="-128"/>
              </a:rPr>
              <a:t>と利便性の両立</a:t>
            </a:r>
            <a:endParaRPr lang="mn-MN" altLang="ja-JP" dirty="0">
              <a:latin typeface="Meiryo" panose="020B0604030504040204" pitchFamily="34" charset="-128"/>
              <a:ea typeface="Meiryo" panose="020B0604030504040204" pitchFamily="34" charset="-128"/>
            </a:endParaRPr>
          </a:p>
          <a:p>
            <a:endParaRPr lang="ja-JP" altLang="en-US">
              <a:latin typeface="Meiryo" panose="020B0604030504040204" pitchFamily="34" charset="-128"/>
              <a:ea typeface="Meiryo" panose="020B0604030504040204" pitchFamily="34" charset="-128"/>
            </a:endParaRPr>
          </a:p>
          <a:p>
            <a:r>
              <a:rPr lang="en-US" altLang="ja-JP" dirty="0">
                <a:latin typeface="Meiryo" panose="020B0604030504040204" pitchFamily="34" charset="-128"/>
                <a:ea typeface="Meiryo" panose="020B0604030504040204" pitchFamily="34" charset="-128"/>
              </a:rPr>
              <a:t>3. </a:t>
            </a:r>
            <a:r>
              <a:rPr lang="ja-JP" altLang="en-US">
                <a:latin typeface="Meiryo" panose="020B0604030504040204" pitchFamily="34" charset="-128"/>
                <a:ea typeface="Meiryo" panose="020B0604030504040204" pitchFamily="34" charset="-128"/>
              </a:rPr>
              <a:t>セキュリティ要件の早期定義の困難さ</a:t>
            </a:r>
            <a:endParaRPr lang="mn-MN" altLang="ja-JP" dirty="0">
              <a:latin typeface="Meiryo" panose="020B0604030504040204" pitchFamily="34" charset="-128"/>
              <a:ea typeface="Meiryo" panose="020B0604030504040204" pitchFamily="34" charset="-128"/>
            </a:endParaRPr>
          </a:p>
          <a:p>
            <a:endParaRPr lang="mn-MN" altLang="ja-JP" dirty="0">
              <a:latin typeface="Meiryo" panose="020B0604030504040204" pitchFamily="34" charset="-128"/>
              <a:ea typeface="Meiryo" panose="020B0604030504040204" pitchFamily="34" charset="-128"/>
            </a:endParaRPr>
          </a:p>
          <a:p>
            <a:r>
              <a:rPr lang="en-US" altLang="ja-JP" dirty="0">
                <a:latin typeface="Meiryo" panose="020B0604030504040204" pitchFamily="34" charset="-128"/>
                <a:ea typeface="Meiryo" panose="020B0604030504040204" pitchFamily="34" charset="-128"/>
              </a:rPr>
              <a:t>4. </a:t>
            </a:r>
            <a:r>
              <a:rPr lang="ja-JP" altLang="en-US">
                <a:latin typeface="Meiryo" panose="020B0604030504040204" pitchFamily="34" charset="-128"/>
                <a:ea typeface="Meiryo" panose="020B0604030504040204" pitchFamily="34" charset="-128"/>
              </a:rPr>
              <a:t>分散環境における信頼関係の確立</a:t>
            </a:r>
            <a:endParaRPr lang="mn-MN" altLang="ja-JP" dirty="0">
              <a:latin typeface="Meiryo" panose="020B0604030504040204" pitchFamily="34" charset="-128"/>
              <a:ea typeface="Meiryo" panose="020B0604030504040204" pitchFamily="34" charset="-128"/>
            </a:endParaRPr>
          </a:p>
          <a:p>
            <a:pPr>
              <a:buFont typeface="Arial" panose="020B0604020202020204" pitchFamily="34" charset="0"/>
              <a:buChar char="•"/>
            </a:pPr>
            <a:endParaRPr lang="mn-MN" altLang="ja-JP" dirty="0">
              <a:latin typeface="Meiryo" panose="020B0604030504040204" pitchFamily="34" charset="-128"/>
              <a:ea typeface="Meiryo" panose="020B0604030504040204" pitchFamily="34" charset="-128"/>
            </a:endParaRPr>
          </a:p>
          <a:p>
            <a:r>
              <a:rPr lang="en-US" altLang="ja-JP" dirty="0">
                <a:latin typeface="Meiryo" panose="020B0604030504040204" pitchFamily="34" charset="-128"/>
                <a:ea typeface="Meiryo" panose="020B0604030504040204" pitchFamily="34" charset="-128"/>
              </a:rPr>
              <a:t>5. </a:t>
            </a:r>
            <a:r>
              <a:rPr lang="en-US" b="0" i="0" dirty="0">
                <a:solidFill>
                  <a:srgbClr val="222222"/>
                </a:solidFill>
                <a:effectLst/>
                <a:latin typeface="Helvetica Neue" panose="02000503000000020004" pitchFamily="2" charset="0"/>
              </a:rPr>
              <a:t>standardisation</a:t>
            </a:r>
            <a:r>
              <a:rPr lang="ja-JP" altLang="en-US">
                <a:latin typeface="Meiryo" panose="020B0604030504040204" pitchFamily="34" charset="-128"/>
                <a:ea typeface="Meiryo" panose="020B0604030504040204" pitchFamily="34" charset="-128"/>
              </a:rPr>
              <a:t>との整合性確保</a:t>
            </a:r>
          </a:p>
        </p:txBody>
      </p:sp>
      <p:sp>
        <p:nvSpPr>
          <p:cNvPr id="8" name="Slide Number Placeholder 7">
            <a:extLst>
              <a:ext uri="{FF2B5EF4-FFF2-40B4-BE49-F238E27FC236}">
                <a16:creationId xmlns:a16="http://schemas.microsoft.com/office/drawing/2014/main" id="{ED4F1548-758B-3DED-730B-C222ED83C096}"/>
              </a:ext>
            </a:extLst>
          </p:cNvPr>
          <p:cNvSpPr>
            <a:spLocks noGrp="1"/>
          </p:cNvSpPr>
          <p:nvPr>
            <p:ph type="sldNum" sz="quarter" idx="12"/>
          </p:nvPr>
        </p:nvSpPr>
        <p:spPr/>
        <p:txBody>
          <a:bodyPr/>
          <a:lstStyle/>
          <a:p>
            <a:fld id="{62667D12-7761-1040-82E2-C1925732DACC}" type="slidenum">
              <a:rPr lang="en-JP" smtClean="0"/>
              <a:t>23</a:t>
            </a:fld>
            <a:endParaRPr lang="en-JP"/>
          </a:p>
        </p:txBody>
      </p:sp>
    </p:spTree>
    <p:extLst>
      <p:ext uri="{BB962C8B-B14F-4D97-AF65-F5344CB8AC3E}">
        <p14:creationId xmlns:p14="http://schemas.microsoft.com/office/powerpoint/2010/main" val="333357790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3AFF01-94B2-6187-F9CE-2B31A1A95D4B}"/>
              </a:ext>
            </a:extLst>
          </p:cNvPr>
          <p:cNvSpPr>
            <a:spLocks noGrp="1"/>
          </p:cNvSpPr>
          <p:nvPr>
            <p:ph type="title"/>
          </p:nvPr>
        </p:nvSpPr>
        <p:spPr>
          <a:xfrm>
            <a:off x="903515" y="1034143"/>
            <a:ext cx="2688772" cy="614494"/>
          </a:xfrm>
        </p:spPr>
        <p:txBody>
          <a:bodyPr>
            <a:normAutofit/>
          </a:bodyPr>
          <a:lstStyle/>
          <a:p>
            <a:r>
              <a:rPr lang="ja-JP" altLang="en-US">
                <a:latin typeface="Meiryo UI" panose="020B0604030504040204" pitchFamily="50" charset="-128"/>
                <a:ea typeface="Meiryo UI" panose="020B0604030504040204" pitchFamily="50" charset="-128"/>
              </a:rPr>
              <a:t>目次</a:t>
            </a:r>
            <a:endParaRPr lang="en-JP" dirty="0"/>
          </a:p>
        </p:txBody>
      </p:sp>
      <p:sp>
        <p:nvSpPr>
          <p:cNvPr id="5" name="TextBox 4">
            <a:extLst>
              <a:ext uri="{FF2B5EF4-FFF2-40B4-BE49-F238E27FC236}">
                <a16:creationId xmlns:a16="http://schemas.microsoft.com/office/drawing/2014/main" id="{56BC3D14-406B-F67B-CEF3-386DE9A5C773}"/>
              </a:ext>
            </a:extLst>
          </p:cNvPr>
          <p:cNvSpPr txBox="1"/>
          <p:nvPr/>
        </p:nvSpPr>
        <p:spPr>
          <a:xfrm>
            <a:off x="1328057" y="2106384"/>
            <a:ext cx="6096000" cy="2135200"/>
          </a:xfrm>
          <a:prstGeom prst="rect">
            <a:avLst/>
          </a:prstGeom>
          <a:noFill/>
        </p:spPr>
        <p:txBody>
          <a:bodyPr wrap="square">
            <a:spAutoFit/>
          </a:bodyPr>
          <a:lstStyle/>
          <a:p>
            <a:pPr marL="761981" indent="-548626">
              <a:lnSpc>
                <a:spcPct val="150000"/>
              </a:lnSpc>
              <a:spcBef>
                <a:spcPts val="0"/>
              </a:spcBef>
              <a:buSzPts val="2800"/>
              <a:buFont typeface="Wingdings" pitchFamily="2" charset="2"/>
              <a:buChar char="§"/>
            </a:pPr>
            <a:r>
              <a:rPr lang="ja-JP" altLang="en-US" sz="1800">
                <a:latin typeface="Meiryo" panose="020B0604030504040204" pitchFamily="34" charset="-128"/>
                <a:ea typeface="Meiryo" panose="020B0604030504040204" pitchFamily="34" charset="-128"/>
              </a:rPr>
              <a:t>はじめに </a:t>
            </a:r>
            <a:r>
              <a:rPr lang="en-US" altLang="ja-JP" sz="1800" dirty="0">
                <a:latin typeface="Meiryo" panose="020B0604030504040204" pitchFamily="34" charset="-128"/>
                <a:ea typeface="Meiryo" panose="020B0604030504040204" pitchFamily="34" charset="-128"/>
              </a:rPr>
              <a:t>(Introduction)</a:t>
            </a:r>
          </a:p>
          <a:p>
            <a:pPr marL="761981" indent="-548626">
              <a:lnSpc>
                <a:spcPct val="150000"/>
              </a:lnSpc>
              <a:spcBef>
                <a:spcPts val="0"/>
              </a:spcBef>
              <a:buSzPts val="2800"/>
              <a:buFont typeface="Wingdings" pitchFamily="2" charset="2"/>
              <a:buChar char="§"/>
            </a:pPr>
            <a:r>
              <a:rPr lang="ja-JP" altLang="en-US" sz="1800">
                <a:latin typeface="Meiryo" panose="020B0604030504040204" pitchFamily="34" charset="-128"/>
                <a:ea typeface="Meiryo" panose="020B0604030504040204" pitchFamily="34" charset="-128"/>
              </a:rPr>
              <a:t>研究の目的 </a:t>
            </a:r>
            <a:r>
              <a:rPr lang="en-US" altLang="ja-JP" sz="1800" dirty="0">
                <a:latin typeface="Meiryo" panose="020B0604030504040204" pitchFamily="34" charset="-128"/>
                <a:ea typeface="Meiryo" panose="020B0604030504040204" pitchFamily="34" charset="-128"/>
              </a:rPr>
              <a:t>(Purpose)</a:t>
            </a:r>
          </a:p>
          <a:p>
            <a:pPr marL="761981" indent="-548626">
              <a:lnSpc>
                <a:spcPct val="150000"/>
              </a:lnSpc>
              <a:spcBef>
                <a:spcPts val="0"/>
              </a:spcBef>
              <a:buSzPts val="2800"/>
              <a:buFont typeface="Wingdings" pitchFamily="2" charset="2"/>
              <a:buChar char="§"/>
            </a:pPr>
            <a:r>
              <a:rPr lang="ja-JP" altLang="en-US" sz="1800">
                <a:latin typeface="Meiryo" panose="020B0604030504040204" pitchFamily="34" charset="-128"/>
                <a:ea typeface="Meiryo" panose="020B0604030504040204" pitchFamily="34" charset="-128"/>
              </a:rPr>
              <a:t>方法 </a:t>
            </a:r>
            <a:r>
              <a:rPr lang="en-US" altLang="ja-JP" sz="1800" dirty="0">
                <a:latin typeface="Meiryo" panose="020B0604030504040204" pitchFamily="34" charset="-128"/>
                <a:ea typeface="Meiryo" panose="020B0604030504040204" pitchFamily="34" charset="-128"/>
              </a:rPr>
              <a:t>(Method / Approach)</a:t>
            </a:r>
          </a:p>
          <a:p>
            <a:pPr marL="761981" indent="-548626">
              <a:lnSpc>
                <a:spcPct val="150000"/>
              </a:lnSpc>
              <a:spcBef>
                <a:spcPts val="0"/>
              </a:spcBef>
              <a:buSzPts val="2800"/>
              <a:buFont typeface="Wingdings" pitchFamily="2" charset="2"/>
              <a:buChar char="§"/>
            </a:pPr>
            <a:r>
              <a:rPr lang="ja-JP" altLang="en-US" sz="1800"/>
              <a:t>課題・困難点</a:t>
            </a:r>
            <a:endParaRPr lang="en-US" altLang="ja-JP" sz="1800" dirty="0"/>
          </a:p>
          <a:p>
            <a:pPr marL="761981" indent="-548626">
              <a:lnSpc>
                <a:spcPct val="150000"/>
              </a:lnSpc>
              <a:spcBef>
                <a:spcPts val="0"/>
              </a:spcBef>
              <a:buSzPts val="2800"/>
              <a:buFont typeface="Wingdings" pitchFamily="2" charset="2"/>
              <a:buChar char="§"/>
            </a:pPr>
            <a:r>
              <a:rPr lang="ja-JP" altLang="en-US" sz="1800">
                <a:solidFill>
                  <a:srgbClr val="FF0000"/>
                </a:solidFill>
                <a:latin typeface="Meiryo" panose="020B0604030504040204" pitchFamily="34" charset="-128"/>
                <a:ea typeface="Meiryo" panose="020B0604030504040204" pitchFamily="34" charset="-128"/>
              </a:rPr>
              <a:t>まとめ </a:t>
            </a:r>
            <a:r>
              <a:rPr lang="en-US" altLang="ja-JP" sz="1800" dirty="0">
                <a:solidFill>
                  <a:srgbClr val="FF0000"/>
                </a:solidFill>
                <a:latin typeface="Meiryo" panose="020B0604030504040204" pitchFamily="34" charset="-128"/>
                <a:ea typeface="Meiryo" panose="020B0604030504040204" pitchFamily="34" charset="-128"/>
              </a:rPr>
              <a:t>(Conclusion)</a:t>
            </a:r>
            <a:endParaRPr lang="en-JP" sz="1800" dirty="0">
              <a:solidFill>
                <a:srgbClr val="FF0000"/>
              </a:solidFill>
              <a:latin typeface="Meiryo" panose="020B0604030504040204" pitchFamily="34" charset="-128"/>
              <a:ea typeface="Meiryo" panose="020B0604030504040204" pitchFamily="34" charset="-128"/>
            </a:endParaRPr>
          </a:p>
        </p:txBody>
      </p:sp>
      <p:sp>
        <p:nvSpPr>
          <p:cNvPr id="3" name="Slide Number Placeholder 2">
            <a:extLst>
              <a:ext uri="{FF2B5EF4-FFF2-40B4-BE49-F238E27FC236}">
                <a16:creationId xmlns:a16="http://schemas.microsoft.com/office/drawing/2014/main" id="{260CB68B-6FFB-2512-AFED-763664499518}"/>
              </a:ext>
            </a:extLst>
          </p:cNvPr>
          <p:cNvSpPr>
            <a:spLocks noGrp="1"/>
          </p:cNvSpPr>
          <p:nvPr>
            <p:ph type="sldNum" sz="quarter" idx="12"/>
          </p:nvPr>
        </p:nvSpPr>
        <p:spPr/>
        <p:txBody>
          <a:bodyPr/>
          <a:lstStyle/>
          <a:p>
            <a:fld id="{62667D12-7761-1040-82E2-C1925732DACC}" type="slidenum">
              <a:rPr lang="en-JP" smtClean="0"/>
              <a:t>24</a:t>
            </a:fld>
            <a:endParaRPr lang="en-JP"/>
          </a:p>
        </p:txBody>
      </p:sp>
    </p:spTree>
    <p:extLst>
      <p:ext uri="{BB962C8B-B14F-4D97-AF65-F5344CB8AC3E}">
        <p14:creationId xmlns:p14="http://schemas.microsoft.com/office/powerpoint/2010/main" val="293985289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ED5C25-417E-8D41-6656-F3B543B9FB4C}"/>
              </a:ext>
            </a:extLst>
          </p:cNvPr>
          <p:cNvSpPr>
            <a:spLocks noGrp="1"/>
          </p:cNvSpPr>
          <p:nvPr>
            <p:ph type="title"/>
          </p:nvPr>
        </p:nvSpPr>
        <p:spPr>
          <a:xfrm>
            <a:off x="-729968" y="140531"/>
            <a:ext cx="10364451" cy="1046997"/>
          </a:xfrm>
        </p:spPr>
        <p:txBody>
          <a:bodyPr/>
          <a:lstStyle/>
          <a:p>
            <a:r>
              <a:rPr lang="ja-JP" altLang="en-US"/>
              <a:t>まとめ</a:t>
            </a:r>
            <a:endParaRPr lang="en-JP" dirty="0"/>
          </a:p>
        </p:txBody>
      </p:sp>
      <p:sp>
        <p:nvSpPr>
          <p:cNvPr id="3" name="Content Placeholder 2">
            <a:extLst>
              <a:ext uri="{FF2B5EF4-FFF2-40B4-BE49-F238E27FC236}">
                <a16:creationId xmlns:a16="http://schemas.microsoft.com/office/drawing/2014/main" id="{D0075EDB-3935-864C-4CBB-D6418919D526}"/>
              </a:ext>
            </a:extLst>
          </p:cNvPr>
          <p:cNvSpPr>
            <a:spLocks noGrp="1"/>
          </p:cNvSpPr>
          <p:nvPr>
            <p:ph sz="quarter" idx="13"/>
          </p:nvPr>
        </p:nvSpPr>
        <p:spPr>
          <a:xfrm>
            <a:off x="913774" y="1590300"/>
            <a:ext cx="10363826" cy="4200900"/>
          </a:xfrm>
        </p:spPr>
        <p:txBody>
          <a:bodyPr>
            <a:normAutofit fontScale="92500" lnSpcReduction="10000"/>
          </a:bodyPr>
          <a:lstStyle/>
          <a:p>
            <a:pPr marL="0" indent="0">
              <a:buNone/>
            </a:pPr>
            <a:r>
              <a:rPr lang="ja-JP" altLang="en-US">
                <a:latin typeface="Meiryo" panose="020B0604030504040204" pitchFamily="34" charset="-128"/>
                <a:ea typeface="Meiryo" panose="020B0604030504040204" pitchFamily="34" charset="-128"/>
              </a:rPr>
              <a:t>セキュリティは開発後に追加するものではなく、初期段階から組み込むべき</a:t>
            </a:r>
          </a:p>
          <a:p>
            <a:endParaRPr lang="en-US" dirty="0">
              <a:latin typeface="Meiryo" panose="020B0604030504040204" pitchFamily="34" charset="-128"/>
              <a:ea typeface="Meiryo" panose="020B0604030504040204" pitchFamily="34" charset="-128"/>
            </a:endParaRPr>
          </a:p>
          <a:p>
            <a:pPr marL="0" indent="0">
              <a:buNone/>
            </a:pPr>
            <a:r>
              <a:rPr lang="en-US" dirty="0">
                <a:solidFill>
                  <a:srgbClr val="FF0000"/>
                </a:solidFill>
                <a:latin typeface="Meiryo" panose="020B0604030504040204" pitchFamily="34" charset="-128"/>
                <a:ea typeface="Meiryo" panose="020B0604030504040204" pitchFamily="34" charset="-128"/>
              </a:rPr>
              <a:t>Webinos </a:t>
            </a:r>
            <a:r>
              <a:rPr lang="ja-JP" altLang="en-US">
                <a:solidFill>
                  <a:srgbClr val="FF0000"/>
                </a:solidFill>
                <a:latin typeface="Meiryo" panose="020B0604030504040204" pitchFamily="34" charset="-128"/>
                <a:ea typeface="Meiryo" panose="020B0604030504040204" pitchFamily="34" charset="-128"/>
              </a:rPr>
              <a:t>チームの成果：</a:t>
            </a:r>
          </a:p>
          <a:p>
            <a:pPr>
              <a:buFont typeface="Arial" panose="020B0604020202020204" pitchFamily="34" charset="0"/>
              <a:buChar char="•"/>
            </a:pPr>
            <a:r>
              <a:rPr lang="ja-JP" altLang="en-US">
                <a:latin typeface="Meiryo" panose="020B0604030504040204" pitchFamily="34" charset="-128"/>
                <a:ea typeface="Meiryo" panose="020B0604030504040204" pitchFamily="34" charset="-128"/>
              </a:rPr>
              <a:t>システム全体の信頼性・機密性を確保</a:t>
            </a:r>
          </a:p>
          <a:p>
            <a:pPr>
              <a:buFont typeface="Arial" panose="020B0604020202020204" pitchFamily="34" charset="0"/>
              <a:buChar char="•"/>
            </a:pPr>
            <a:r>
              <a:rPr lang="ja-JP" altLang="en-US">
                <a:latin typeface="Meiryo" panose="020B0604030504040204" pitchFamily="34" charset="-128"/>
                <a:ea typeface="Meiryo" panose="020B0604030504040204" pitchFamily="34" charset="-128"/>
              </a:rPr>
              <a:t>異なるデバイス環境を接続するセキュアな</a:t>
            </a:r>
            <a:r>
              <a:rPr lang="en-US" altLang="ja-JP" dirty="0">
                <a:latin typeface="Meiryo" panose="020B0604030504040204" pitchFamily="34" charset="-128"/>
                <a:ea typeface="Meiryo" panose="020B0604030504040204" pitchFamily="34" charset="-128"/>
              </a:rPr>
              <a:t>framework</a:t>
            </a:r>
            <a:r>
              <a:rPr lang="ja-JP" altLang="en-US">
                <a:latin typeface="Meiryo" panose="020B0604030504040204" pitchFamily="34" charset="-128"/>
                <a:ea typeface="Meiryo" panose="020B0604030504040204" pitchFamily="34" charset="-128"/>
              </a:rPr>
              <a:t>を形成</a:t>
            </a:r>
          </a:p>
          <a:p>
            <a:pPr>
              <a:buFont typeface="Arial" panose="020B0604020202020204" pitchFamily="34" charset="0"/>
              <a:buChar char="•"/>
            </a:pPr>
            <a:r>
              <a:rPr lang="ja-JP" altLang="en-US">
                <a:latin typeface="Meiryo" panose="020B0604030504040204" pitchFamily="34" charset="-128"/>
                <a:ea typeface="Meiryo" panose="020B0604030504040204" pitchFamily="34" charset="-128"/>
              </a:rPr>
              <a:t>ユーザーの</a:t>
            </a:r>
            <a:r>
              <a:rPr lang="en-US" altLang="ja-JP" dirty="0">
                <a:latin typeface="Meiryo" panose="020B0604030504040204" pitchFamily="34" charset="-128"/>
                <a:ea typeface="Meiryo" panose="020B0604030504040204" pitchFamily="34" charset="-128"/>
              </a:rPr>
              <a:t>Privacy</a:t>
            </a:r>
            <a:r>
              <a:rPr lang="ja-JP" altLang="en-US">
                <a:latin typeface="Meiryo" panose="020B0604030504040204" pitchFamily="34" charset="-128"/>
                <a:ea typeface="Meiryo" panose="020B0604030504040204" pitchFamily="34" charset="-128"/>
              </a:rPr>
              <a:t>と使いやすさのバランスを実現</a:t>
            </a:r>
          </a:p>
          <a:p>
            <a:pPr marL="0" indent="0">
              <a:buNone/>
            </a:pPr>
            <a:r>
              <a:rPr lang="ja-JP" altLang="en-US">
                <a:solidFill>
                  <a:srgbClr val="FF0000"/>
                </a:solidFill>
                <a:latin typeface="Meiryo" panose="020B0604030504040204" pitchFamily="34" charset="-128"/>
                <a:ea typeface="Meiryo" panose="020B0604030504040204" pitchFamily="34" charset="-128"/>
              </a:rPr>
              <a:t>課題から得られた教訓：</a:t>
            </a:r>
          </a:p>
          <a:p>
            <a:pPr>
              <a:buFont typeface="Arial" panose="020B0604020202020204" pitchFamily="34" charset="0"/>
              <a:buChar char="•"/>
            </a:pPr>
            <a:r>
              <a:rPr lang="en-US" dirty="0">
                <a:latin typeface="Meiryo" panose="020B0604030504040204" pitchFamily="34" charset="-128"/>
                <a:ea typeface="Meiryo" panose="020B0604030504040204" pitchFamily="34" charset="-128"/>
              </a:rPr>
              <a:t>Security by Design </a:t>
            </a:r>
            <a:r>
              <a:rPr lang="ja-JP" altLang="en-US">
                <a:latin typeface="Meiryo" panose="020B0604030504040204" pitchFamily="34" charset="-128"/>
                <a:ea typeface="Meiryo" panose="020B0604030504040204" pitchFamily="34" charset="-128"/>
              </a:rPr>
              <a:t>は技術だけでなく、組織・信頼・ユーザー体験の統合が重要</a:t>
            </a:r>
          </a:p>
          <a:p>
            <a:r>
              <a:rPr lang="en-US" dirty="0">
                <a:latin typeface="Meiryo" panose="020B0604030504040204" pitchFamily="34" charset="-128"/>
                <a:ea typeface="Meiryo" panose="020B0604030504040204" pitchFamily="34" charset="-128"/>
              </a:rPr>
              <a:t>Webinos </a:t>
            </a:r>
            <a:r>
              <a:rPr lang="ja-JP" altLang="en-US">
                <a:latin typeface="Meiryo" panose="020B0604030504040204" pitchFamily="34" charset="-128"/>
                <a:ea typeface="Meiryo" panose="020B0604030504040204" pitchFamily="34" charset="-128"/>
              </a:rPr>
              <a:t>の経験は 今後の </a:t>
            </a:r>
            <a:r>
              <a:rPr lang="en-US" dirty="0">
                <a:latin typeface="Meiryo" panose="020B0604030504040204" pitchFamily="34" charset="-128"/>
                <a:ea typeface="Meiryo" panose="020B0604030504040204" pitchFamily="34" charset="-128"/>
              </a:rPr>
              <a:t>IoT </a:t>
            </a:r>
            <a:r>
              <a:rPr lang="ja-JP" altLang="en-US">
                <a:latin typeface="Meiryo" panose="020B0604030504040204" pitchFamily="34" charset="-128"/>
                <a:ea typeface="Meiryo" panose="020B0604030504040204" pitchFamily="34" charset="-128"/>
              </a:rPr>
              <a:t>や分散システム設計の指針となる</a:t>
            </a:r>
          </a:p>
          <a:p>
            <a:endParaRPr lang="en-JP" dirty="0">
              <a:latin typeface="Meiryo" panose="020B0604030504040204" pitchFamily="34" charset="-128"/>
              <a:ea typeface="Meiryo" panose="020B0604030504040204" pitchFamily="34" charset="-128"/>
            </a:endParaRPr>
          </a:p>
        </p:txBody>
      </p:sp>
      <p:sp>
        <p:nvSpPr>
          <p:cNvPr id="4" name="Slide Number Placeholder 3">
            <a:extLst>
              <a:ext uri="{FF2B5EF4-FFF2-40B4-BE49-F238E27FC236}">
                <a16:creationId xmlns:a16="http://schemas.microsoft.com/office/drawing/2014/main" id="{F481CFB7-649F-0B51-F565-73218F720EF1}"/>
              </a:ext>
            </a:extLst>
          </p:cNvPr>
          <p:cNvSpPr>
            <a:spLocks noGrp="1"/>
          </p:cNvSpPr>
          <p:nvPr>
            <p:ph type="sldNum" sz="quarter" idx="12"/>
          </p:nvPr>
        </p:nvSpPr>
        <p:spPr/>
        <p:txBody>
          <a:bodyPr/>
          <a:lstStyle/>
          <a:p>
            <a:fld id="{62667D12-7761-1040-82E2-C1925732DACC}" type="slidenum">
              <a:rPr lang="en-JP" smtClean="0"/>
              <a:t>25</a:t>
            </a:fld>
            <a:endParaRPr lang="en-JP"/>
          </a:p>
        </p:txBody>
      </p:sp>
    </p:spTree>
    <p:extLst>
      <p:ext uri="{BB962C8B-B14F-4D97-AF65-F5344CB8AC3E}">
        <p14:creationId xmlns:p14="http://schemas.microsoft.com/office/powerpoint/2010/main" val="320322433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C40522-1281-9E8C-24C6-B7E4DC292F56}"/>
              </a:ext>
            </a:extLst>
          </p:cNvPr>
          <p:cNvSpPr>
            <a:spLocks noGrp="1"/>
          </p:cNvSpPr>
          <p:nvPr>
            <p:ph type="title"/>
          </p:nvPr>
        </p:nvSpPr>
        <p:spPr/>
        <p:txBody>
          <a:bodyPr/>
          <a:lstStyle/>
          <a:p>
            <a:endParaRPr lang="en-JP"/>
          </a:p>
        </p:txBody>
      </p:sp>
      <p:sp>
        <p:nvSpPr>
          <p:cNvPr id="3" name="Content Placeholder 2">
            <a:extLst>
              <a:ext uri="{FF2B5EF4-FFF2-40B4-BE49-F238E27FC236}">
                <a16:creationId xmlns:a16="http://schemas.microsoft.com/office/drawing/2014/main" id="{43C52184-31E3-7E4A-5A57-54CE4D18C4AB}"/>
              </a:ext>
            </a:extLst>
          </p:cNvPr>
          <p:cNvSpPr>
            <a:spLocks noGrp="1"/>
          </p:cNvSpPr>
          <p:nvPr>
            <p:ph sz="quarter" idx="13"/>
          </p:nvPr>
        </p:nvSpPr>
        <p:spPr/>
        <p:txBody>
          <a:bodyPr/>
          <a:lstStyle/>
          <a:p>
            <a:endParaRPr lang="en-JP"/>
          </a:p>
        </p:txBody>
      </p:sp>
      <p:sp>
        <p:nvSpPr>
          <p:cNvPr id="4" name="Slide Number Placeholder 3">
            <a:extLst>
              <a:ext uri="{FF2B5EF4-FFF2-40B4-BE49-F238E27FC236}">
                <a16:creationId xmlns:a16="http://schemas.microsoft.com/office/drawing/2014/main" id="{564B652A-9E40-D871-BF95-C0DDE0E21C57}"/>
              </a:ext>
            </a:extLst>
          </p:cNvPr>
          <p:cNvSpPr>
            <a:spLocks noGrp="1"/>
          </p:cNvSpPr>
          <p:nvPr>
            <p:ph type="sldNum" sz="quarter" idx="12"/>
          </p:nvPr>
        </p:nvSpPr>
        <p:spPr/>
        <p:txBody>
          <a:bodyPr/>
          <a:lstStyle/>
          <a:p>
            <a:fld id="{62667D12-7761-1040-82E2-C1925732DACC}" type="slidenum">
              <a:rPr lang="en-JP" smtClean="0"/>
              <a:t>26</a:t>
            </a:fld>
            <a:endParaRPr lang="en-JP"/>
          </a:p>
        </p:txBody>
      </p:sp>
    </p:spTree>
    <p:extLst>
      <p:ext uri="{BB962C8B-B14F-4D97-AF65-F5344CB8AC3E}">
        <p14:creationId xmlns:p14="http://schemas.microsoft.com/office/powerpoint/2010/main" val="421681010"/>
      </p:ext>
    </p:extLst>
  </p:cSld>
  <p:clrMapOvr>
    <a:masterClrMapping/>
  </p:clrMapOvr>
</p:sld>
</file>

<file path=ppt/theme/theme1.xml><?xml version="1.0" encoding="utf-8"?>
<a:theme xmlns:a="http://schemas.openxmlformats.org/drawingml/2006/main" name="Droplet">
  <a:themeElements>
    <a:clrScheme name="Droplet">
      <a:dk1>
        <a:sysClr val="windowText" lastClr="000000"/>
      </a:dk1>
      <a:lt1>
        <a:sysClr val="window" lastClr="FFFFFF"/>
      </a:lt1>
      <a:dk2>
        <a:srgbClr val="355071"/>
      </a:dk2>
      <a:lt2>
        <a:srgbClr val="AABED7"/>
      </a:lt2>
      <a:accent1>
        <a:srgbClr val="2FA3EE"/>
      </a:accent1>
      <a:accent2>
        <a:srgbClr val="4BCAAD"/>
      </a:accent2>
      <a:accent3>
        <a:srgbClr val="86C157"/>
      </a:accent3>
      <a:accent4>
        <a:srgbClr val="D99C3F"/>
      </a:accent4>
      <a:accent5>
        <a:srgbClr val="CE6633"/>
      </a:accent5>
      <a:accent6>
        <a:srgbClr val="A35DD1"/>
      </a:accent6>
      <a:hlink>
        <a:srgbClr val="56BCFE"/>
      </a:hlink>
      <a:folHlink>
        <a:srgbClr val="97C5E3"/>
      </a:folHlink>
    </a:clrScheme>
    <a:fontScheme name="Droplet">
      <a:majorFont>
        <a:latin typeface="Tw Cen MT" panose="020B0602020104020603"/>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Tw Cen MT" panose="020B0602020104020603"/>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Droplet">
      <a:fillStyleLst>
        <a:solidFill>
          <a:schemeClr val="phClr"/>
        </a:solidFill>
        <a:solidFill>
          <a:schemeClr val="phClr">
            <a:tint val="69000"/>
            <a:satMod val="105000"/>
            <a:lumMod val="110000"/>
          </a:schemeClr>
        </a:solidFill>
        <a:gradFill rotWithShape="1">
          <a:gsLst>
            <a:gs pos="0">
              <a:schemeClr val="phClr">
                <a:tint val="94000"/>
                <a:satMod val="100000"/>
                <a:lumMod val="108000"/>
              </a:schemeClr>
            </a:gs>
            <a:gs pos="50000">
              <a:schemeClr val="phClr">
                <a:tint val="98000"/>
                <a:shade val="100000"/>
                <a:satMod val="100000"/>
                <a:lumMod val="100000"/>
              </a:schemeClr>
            </a:gs>
            <a:gs pos="100000">
              <a:schemeClr val="phClr">
                <a:shade val="72000"/>
                <a:satMod val="120000"/>
                <a:lumMod val="100000"/>
              </a:schemeClr>
            </a:gs>
          </a:gsLst>
          <a:lin ang="5400000" scaled="0"/>
        </a:gradFill>
      </a:fillStyleLst>
      <a:lnStyleLst>
        <a:ln w="9525" cap="flat" cmpd="sng" algn="ctr">
          <a:solidFill>
            <a:schemeClr val="phClr">
              <a:shade val="60000"/>
            </a:scheme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outerShdw blurRad="50800" dist="25400" dir="5400000" rotWithShape="0">
              <a:srgbClr val="000000">
                <a:alpha val="28000"/>
              </a:srgbClr>
            </a:outerShdw>
          </a:effectLst>
        </a:effectStyle>
        <a:effectStyle>
          <a:effectLst>
            <a:outerShdw blurRad="63500" dist="25400" dir="5400000" algn="ctr" rotWithShape="0">
              <a:srgbClr val="000000">
                <a:alpha val="69000"/>
              </a:srgbClr>
            </a:outerShdw>
          </a:effectLst>
          <a:scene3d>
            <a:camera prst="orthographicFront">
              <a:rot lat="0" lon="0" rev="0"/>
            </a:camera>
            <a:lightRig rig="balanced" dir="t">
              <a:rot lat="0" lon="0" rev="1200000"/>
            </a:lightRig>
          </a:scene3d>
          <a:sp3d prstMaterial="plastic">
            <a:bevelT w="25400" h="25400"/>
          </a:sp3d>
        </a:effectStyle>
      </a:effectStyleLst>
      <a:bgFillStyleLst>
        <a:solidFill>
          <a:schemeClr val="phClr"/>
        </a:solidFill>
        <a:gradFill rotWithShape="1">
          <a:gsLst>
            <a:gs pos="0">
              <a:schemeClr val="phClr">
                <a:tint val="90000"/>
                <a:lumMod val="110000"/>
              </a:schemeClr>
            </a:gs>
            <a:gs pos="100000">
              <a:schemeClr val="phClr">
                <a:shade val="64000"/>
                <a:lumMod val="88000"/>
              </a:schemeClr>
            </a:gs>
          </a:gsLst>
          <a:lin ang="5400000" scaled="0"/>
        </a:gradFill>
        <a:gradFill rotWithShape="1">
          <a:gsLst>
            <a:gs pos="0">
              <a:schemeClr val="phClr">
                <a:tint val="84000"/>
                <a:shade val="100000"/>
                <a:hueMod val="130000"/>
                <a:satMod val="150000"/>
                <a:lumMod val="112000"/>
              </a:schemeClr>
            </a:gs>
            <a:gs pos="100000">
              <a:schemeClr val="phClr">
                <a:shade val="92000"/>
                <a:satMod val="140000"/>
                <a:lumMod val="110000"/>
              </a:schemeClr>
            </a:gs>
          </a:gsLst>
          <a:lin ang="5400000" scaled="0"/>
        </a:gradFill>
      </a:bgFillStyleLst>
    </a:fmtScheme>
  </a:themeElements>
  <a:objectDefaults/>
  <a:extraClrSchemeLst/>
  <a:extLst>
    <a:ext uri="{05A4C25C-085E-4340-85A3-A5531E510DB2}">
      <thm15:themeFamily xmlns:thm15="http://schemas.microsoft.com/office/thememl/2012/main" name="Droplet" id="{8984A317-299A-4E50-B45D-BFC9EDE2337A}" vid="{A633B6A3-9E7F-4C10-9C98-2517A3134361}"/>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{5366502D-1E5D-5747-8BDA-DDAEC8313608}tf10001073</Template>
  <TotalTime>12134</TotalTime>
  <Words>2324</Words>
  <Application>Microsoft Macintosh PowerPoint</Application>
  <PresentationFormat>Widescreen</PresentationFormat>
  <Paragraphs>267</Paragraphs>
  <Slides>27</Slides>
  <Notes>0</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27</vt:i4>
      </vt:variant>
    </vt:vector>
  </HeadingPairs>
  <TitlesOfParts>
    <vt:vector size="37" baseType="lpstr">
      <vt:lpstr>Meiryo</vt:lpstr>
      <vt:lpstr>Meiryo UI</vt:lpstr>
      <vt:lpstr>Source Han Sans</vt:lpstr>
      <vt:lpstr>Arial</vt:lpstr>
      <vt:lpstr>Calibri</vt:lpstr>
      <vt:lpstr>Helvetica Neue</vt:lpstr>
      <vt:lpstr>Times New Roman</vt:lpstr>
      <vt:lpstr>Tw Cen MT</vt:lpstr>
      <vt:lpstr>Wingdings</vt:lpstr>
      <vt:lpstr>Droplet</vt:lpstr>
      <vt:lpstr>Usability and Security by Design: A Case Study in Research and Development</vt:lpstr>
      <vt:lpstr>目次</vt:lpstr>
      <vt:lpstr>PowerPoint Presentation</vt:lpstr>
      <vt:lpstr>PowerPoint Presentation</vt:lpstr>
      <vt:lpstr>研究のポイント</vt:lpstr>
      <vt:lpstr>PowerPoint Presentation</vt:lpstr>
      <vt:lpstr>PowerPoint Presentation</vt:lpstr>
      <vt:lpstr>目次</vt:lpstr>
      <vt:lpstr>PowerPoint Presentation</vt:lpstr>
      <vt:lpstr>研究背景・目的 </vt:lpstr>
      <vt:lpstr>目次</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環境（Environments）</vt:lpstr>
      <vt:lpstr>PowerPoint Presentation</vt:lpstr>
      <vt:lpstr>PowerPoint Presentation</vt:lpstr>
      <vt:lpstr>PowerPoint Presentation</vt:lpstr>
      <vt:lpstr>目次</vt:lpstr>
      <vt:lpstr>DIFFICULTIES 課題・困難点</vt:lpstr>
      <vt:lpstr>目次</vt:lpstr>
      <vt:lpstr>まとめ</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Usability and Security by Design: A Case Study in Research and Development</dc:title>
  <dc:creator>undarmaa581@gmail.com</dc:creator>
  <cp:lastModifiedBy>undarmaa581@gmail.com</cp:lastModifiedBy>
  <cp:revision>8</cp:revision>
  <dcterms:created xsi:type="dcterms:W3CDTF">2025-10-22T10:12:58Z</dcterms:created>
  <dcterms:modified xsi:type="dcterms:W3CDTF">2025-10-31T01:49:51Z</dcterms:modified>
</cp:coreProperties>
</file>