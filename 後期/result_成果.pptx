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35"/>
  </p:notesMasterIdLst>
  <p:sldIdLst>
    <p:sldId id="256" r:id="rId2"/>
    <p:sldId id="257" r:id="rId3"/>
    <p:sldId id="293" r:id="rId4"/>
    <p:sldId id="288" r:id="rId5"/>
    <p:sldId id="289" r:id="rId6"/>
    <p:sldId id="290" r:id="rId7"/>
    <p:sldId id="259" r:id="rId8"/>
    <p:sldId id="291" r:id="rId9"/>
    <p:sldId id="261" r:id="rId10"/>
    <p:sldId id="263" r:id="rId11"/>
    <p:sldId id="262" r:id="rId12"/>
    <p:sldId id="264" r:id="rId13"/>
    <p:sldId id="269" r:id="rId14"/>
    <p:sldId id="265" r:id="rId15"/>
    <p:sldId id="285" r:id="rId16"/>
    <p:sldId id="267" r:id="rId17"/>
    <p:sldId id="286" r:id="rId18"/>
    <p:sldId id="294" r:id="rId19"/>
    <p:sldId id="272" r:id="rId20"/>
    <p:sldId id="274" r:id="rId21"/>
    <p:sldId id="276" r:id="rId22"/>
    <p:sldId id="277" r:id="rId23"/>
    <p:sldId id="278" r:id="rId24"/>
    <p:sldId id="268" r:id="rId25"/>
    <p:sldId id="279" r:id="rId26"/>
    <p:sldId id="280" r:id="rId27"/>
    <p:sldId id="281" r:id="rId28"/>
    <p:sldId id="282" r:id="rId29"/>
    <p:sldId id="292" r:id="rId30"/>
    <p:sldId id="283" r:id="rId31"/>
    <p:sldId id="284" r:id="rId32"/>
    <p:sldId id="266" r:id="rId33"/>
    <p:sldId id="270"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43"/>
    <p:restoredTop sz="83740"/>
  </p:normalViewPr>
  <p:slideViewPr>
    <p:cSldViewPr snapToGrid="0">
      <p:cViewPr>
        <p:scale>
          <a:sx n="111" d="100"/>
          <a:sy n="111" d="100"/>
        </p:scale>
        <p:origin x="187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2E8719-168B-AD42-BDC2-E7BED96442EC}" type="datetimeFigureOut">
              <a:rPr lang="en-JP" smtClean="0"/>
              <a:t>2026/03/08</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EF1469-F2AA-C947-B986-497C543001F2}" type="slidenum">
              <a:rPr lang="en-JP" smtClean="0"/>
              <a:t>‹#›</a:t>
            </a:fld>
            <a:endParaRPr lang="en-JP"/>
          </a:p>
        </p:txBody>
      </p:sp>
    </p:spTree>
    <p:extLst>
      <p:ext uri="{BB962C8B-B14F-4D97-AF65-F5344CB8AC3E}">
        <p14:creationId xmlns:p14="http://schemas.microsoft.com/office/powerpoint/2010/main" val="4207679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jisho.org/search/%E9%80%A3%E9%8E%96"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jisho.org/search/%E6%A7%8B%E9%80%A0"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だんかい</a:t>
            </a:r>
            <a:r>
              <a:rPr lang="en-US" altLang="ja-JP" b="0" i="0" dirty="0">
                <a:solidFill>
                  <a:srgbClr val="222222"/>
                </a:solidFill>
                <a:effectLst/>
                <a:latin typeface="Source Han Sans"/>
              </a:rPr>
              <a:t>-</a:t>
            </a:r>
            <a:r>
              <a:rPr lang="ja-JP" altLang="en-US" b="0" i="0">
                <a:solidFill>
                  <a:srgbClr val="222222"/>
                </a:solidFill>
                <a:effectLst/>
                <a:latin typeface="Source Han Sans"/>
              </a:rPr>
              <a:t>段階</a:t>
            </a:r>
            <a:r>
              <a:rPr lang="en-US" altLang="ja-JP" b="0" i="0" dirty="0">
                <a:solidFill>
                  <a:srgbClr val="222222"/>
                </a:solidFill>
                <a:effectLst/>
                <a:latin typeface="Source Han Sans"/>
              </a:rPr>
              <a:t> ,</a:t>
            </a:r>
            <a:r>
              <a:rPr lang="ja-JP" altLang="en-US" b="0" i="0">
                <a:solidFill>
                  <a:srgbClr val="222222"/>
                </a:solidFill>
                <a:effectLst/>
                <a:latin typeface="Source Han Sans"/>
              </a:rPr>
              <a:t> せいのう</a:t>
            </a:r>
            <a:r>
              <a:rPr lang="en-US" altLang="ja-JP" b="0" i="0" dirty="0">
                <a:solidFill>
                  <a:srgbClr val="222222"/>
                </a:solidFill>
                <a:effectLst/>
                <a:latin typeface="Source Han Sans"/>
              </a:rPr>
              <a:t>-</a:t>
            </a:r>
            <a:r>
              <a:rPr lang="ja-JP" altLang="en-US" b="0" i="0">
                <a:solidFill>
                  <a:srgbClr val="222222"/>
                </a:solidFill>
                <a:effectLst/>
                <a:latin typeface="Source Han Sans"/>
              </a:rPr>
              <a:t>性能</a:t>
            </a:r>
            <a:r>
              <a:rPr lang="en-US" altLang="ja-JP" b="0" i="0" dirty="0">
                <a:solidFill>
                  <a:srgbClr val="222222"/>
                </a:solidFill>
                <a:effectLst/>
                <a:latin typeface="Source Han Sans"/>
              </a:rPr>
              <a:t>,</a:t>
            </a:r>
            <a:r>
              <a:rPr lang="ja-JP" altLang="en-US" b="0" i="0">
                <a:solidFill>
                  <a:srgbClr val="222222"/>
                </a:solidFill>
                <a:effectLst/>
                <a:latin typeface="Source Han Sans"/>
              </a:rPr>
              <a:t> りょうりつ</a:t>
            </a:r>
            <a:r>
              <a:rPr lang="en-US" altLang="ja-JP" b="0" i="0" dirty="0">
                <a:solidFill>
                  <a:srgbClr val="222222"/>
                </a:solidFill>
                <a:effectLst/>
                <a:latin typeface="Source Han Sans"/>
              </a:rPr>
              <a:t>-</a:t>
            </a:r>
            <a:r>
              <a:rPr lang="ja-JP" altLang="en-US" b="0" i="0">
                <a:solidFill>
                  <a:srgbClr val="222222"/>
                </a:solidFill>
                <a:effectLst/>
                <a:latin typeface="Source Han Sans"/>
              </a:rPr>
              <a:t>両立</a:t>
            </a:r>
            <a:r>
              <a:rPr lang="en-US" altLang="ja-JP" b="0" i="0" dirty="0">
                <a:solidFill>
                  <a:srgbClr val="222222"/>
                </a:solidFill>
                <a:effectLst/>
                <a:latin typeface="Source Han Sans"/>
              </a:rPr>
              <a:t>,</a:t>
            </a:r>
            <a:r>
              <a:rPr lang="ja-JP" altLang="en-US" b="0" i="0">
                <a:solidFill>
                  <a:srgbClr val="222222"/>
                </a:solidFill>
                <a:effectLst/>
                <a:latin typeface="Source Han Sans"/>
              </a:rPr>
              <a:t> きょうゆう</a:t>
            </a:r>
            <a:r>
              <a:rPr lang="en-US" altLang="ja-JP" b="0" i="0" dirty="0">
                <a:solidFill>
                  <a:srgbClr val="222222"/>
                </a:solidFill>
                <a:effectLst/>
                <a:latin typeface="Source Han Sans"/>
              </a:rPr>
              <a:t>-</a:t>
            </a:r>
            <a:r>
              <a:rPr lang="ja-JP" altLang="en-US" b="0" i="0">
                <a:solidFill>
                  <a:srgbClr val="222222"/>
                </a:solidFill>
                <a:effectLst/>
                <a:latin typeface="Source Han Sans"/>
              </a:rPr>
              <a:t>共有</a:t>
            </a:r>
            <a:r>
              <a:rPr lang="en-US" altLang="ja-JP" b="0" i="0" dirty="0">
                <a:solidFill>
                  <a:srgbClr val="222222"/>
                </a:solidFill>
                <a:effectLst/>
                <a:latin typeface="Source Han Sans"/>
              </a:rPr>
              <a:t>,</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4</a:t>
            </a:fld>
            <a:endParaRPr lang="en-JP"/>
          </a:p>
        </p:txBody>
      </p:sp>
    </p:spTree>
    <p:extLst>
      <p:ext uri="{BB962C8B-B14F-4D97-AF65-F5344CB8AC3E}">
        <p14:creationId xmlns:p14="http://schemas.microsoft.com/office/powerpoint/2010/main" val="836959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そくど</a:t>
            </a:r>
            <a:r>
              <a:rPr lang="en-US" altLang="ja-JP" b="0" i="0" dirty="0">
                <a:solidFill>
                  <a:srgbClr val="222222"/>
                </a:solidFill>
                <a:effectLst/>
                <a:latin typeface="Source Han Sans"/>
              </a:rPr>
              <a:t>-</a:t>
            </a:r>
            <a:r>
              <a:rPr lang="ja-JP" altLang="en-US" b="0" i="0">
                <a:solidFill>
                  <a:srgbClr val="222222"/>
                </a:solidFill>
                <a:effectLst/>
                <a:latin typeface="Source Han Sans"/>
              </a:rPr>
              <a:t>速度</a:t>
            </a:r>
            <a:r>
              <a:rPr lang="en-US" altLang="ja-JP" b="0" i="0" dirty="0">
                <a:solidFill>
                  <a:srgbClr val="222222"/>
                </a:solidFill>
                <a:effectLst/>
                <a:latin typeface="Source Han Sans"/>
              </a:rPr>
              <a:t>,</a:t>
            </a:r>
            <a:r>
              <a:rPr lang="ja-JP" altLang="en-US" b="0" i="0">
                <a:solidFill>
                  <a:srgbClr val="222222"/>
                </a:solidFill>
                <a:effectLst/>
                <a:latin typeface="Source Han Sans"/>
              </a:rPr>
              <a:t> ほんぶん</a:t>
            </a:r>
            <a:r>
              <a:rPr lang="en-US" altLang="ja-JP" b="0" i="0" dirty="0">
                <a:solidFill>
                  <a:srgbClr val="222222"/>
                </a:solidFill>
                <a:effectLst/>
                <a:latin typeface="Source Han Sans"/>
              </a:rPr>
              <a:t>-</a:t>
            </a:r>
            <a:r>
              <a:rPr lang="ja-JP" altLang="en-US" b="0" i="0">
                <a:solidFill>
                  <a:srgbClr val="222222"/>
                </a:solidFill>
                <a:effectLst/>
                <a:latin typeface="Source Han Sans"/>
              </a:rPr>
              <a:t>本文</a:t>
            </a:r>
            <a:r>
              <a:rPr lang="en-US" altLang="ja-JP" b="0" i="0" dirty="0">
                <a:solidFill>
                  <a:srgbClr val="222222"/>
                </a:solidFill>
                <a:effectLst/>
                <a:latin typeface="Source Han Sans"/>
              </a:rPr>
              <a:t>,</a:t>
            </a:r>
            <a:r>
              <a:rPr lang="ja-JP" altLang="en-US" b="0" i="0">
                <a:solidFill>
                  <a:srgbClr val="222222"/>
                </a:solidFill>
                <a:effectLst/>
                <a:latin typeface="Source Han Sans"/>
              </a:rPr>
              <a:t> ほご</a:t>
            </a:r>
            <a:r>
              <a:rPr lang="en-US" altLang="ja-JP" b="0" i="0" dirty="0">
                <a:solidFill>
                  <a:srgbClr val="222222"/>
                </a:solidFill>
                <a:effectLst/>
                <a:latin typeface="Source Han Sans"/>
              </a:rPr>
              <a:t>-</a:t>
            </a:r>
            <a:r>
              <a:rPr lang="ja-JP" altLang="en-US" b="0" i="0">
                <a:solidFill>
                  <a:srgbClr val="222222"/>
                </a:solidFill>
                <a:effectLst/>
                <a:latin typeface="Source Han Sans"/>
              </a:rPr>
              <a:t>保護</a:t>
            </a:r>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5</a:t>
            </a:fld>
            <a:endParaRPr lang="en-JP"/>
          </a:p>
        </p:txBody>
      </p:sp>
    </p:spTree>
    <p:extLst>
      <p:ext uri="{BB962C8B-B14F-4D97-AF65-F5344CB8AC3E}">
        <p14:creationId xmlns:p14="http://schemas.microsoft.com/office/powerpoint/2010/main" val="2359825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れんさ</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3"/>
              </a:rPr>
              <a:t>連鎖</a:t>
            </a:r>
            <a:endParaRPr lang="ja-JP" altLang="en-US" b="0" i="0">
              <a:solidFill>
                <a:srgbClr val="222222"/>
              </a:solidFill>
              <a:effectLst/>
              <a:latin typeface="Source Han Sans"/>
            </a:endParaRPr>
          </a:p>
          <a:p>
            <a:pPr algn="l">
              <a:buFont typeface="Arial" panose="020B0604020202020204" pitchFamily="34" charset="0"/>
              <a:buChar char="•"/>
            </a:pPr>
            <a:r>
              <a:rPr lang="ja-JP" altLang="en-US" b="0" i="0">
                <a:solidFill>
                  <a:srgbClr val="222222"/>
                </a:solidFill>
                <a:effectLst/>
                <a:latin typeface="Source Han Sans"/>
              </a:rPr>
              <a:t> こうぞう</a:t>
            </a:r>
            <a:r>
              <a:rPr lang="en-US" altLang="ja-JP" b="0" i="0" dirty="0">
                <a:solidFill>
                  <a:srgbClr val="222222"/>
                </a:solidFill>
                <a:effectLst/>
                <a:latin typeface="Source Han Sans"/>
              </a:rPr>
              <a:t> </a:t>
            </a:r>
            <a:r>
              <a:rPr lang="ja-JP" altLang="en-US" b="0" i="0" u="none" strike="noStrike">
                <a:solidFill>
                  <a:srgbClr val="3A251C"/>
                </a:solidFill>
                <a:effectLst/>
                <a:latin typeface="Source Han Sans"/>
                <a:hlinkClick r:id="rId4"/>
              </a:rPr>
              <a:t>構造</a:t>
            </a:r>
            <a:endParaRPr lang="ja-JP" altLang="en-US" b="0" i="0">
              <a:solidFill>
                <a:srgbClr val="222222"/>
              </a:solidFill>
              <a:effectLst/>
              <a:latin typeface="Source Han Sans"/>
            </a:endParaRPr>
          </a:p>
          <a:p>
            <a:endParaRPr lang="en-JP" dirty="0"/>
          </a:p>
        </p:txBody>
      </p:sp>
      <p:sp>
        <p:nvSpPr>
          <p:cNvPr id="4" name="Slide Number Placeholder 3"/>
          <p:cNvSpPr>
            <a:spLocks noGrp="1"/>
          </p:cNvSpPr>
          <p:nvPr>
            <p:ph type="sldNum" sz="quarter" idx="5"/>
          </p:nvPr>
        </p:nvSpPr>
        <p:spPr/>
        <p:txBody>
          <a:bodyPr/>
          <a:lstStyle/>
          <a:p>
            <a:fld id="{2F49AB56-CE06-1F4A-B272-291AECC6115A}" type="slidenum">
              <a:rPr lang="en-JP" smtClean="0"/>
              <a:t>7</a:t>
            </a:fld>
            <a:endParaRPr lang="en-JP"/>
          </a:p>
        </p:txBody>
      </p:sp>
    </p:spTree>
    <p:extLst>
      <p:ext uri="{BB962C8B-B14F-4D97-AF65-F5344CB8AC3E}">
        <p14:creationId xmlns:p14="http://schemas.microsoft.com/office/powerpoint/2010/main" val="483956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ja-JP" altLang="en-US">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本演習を通して、</a:t>
            </a:r>
            <a:r>
              <a:rPr lang="en-US" dirty="0">
                <a:latin typeface="Meiryo" panose="020B0604030504040204" pitchFamily="34" charset="-128"/>
                <a:ea typeface="Meiryo" panose="020B0604030504040204" pitchFamily="34" charset="-128"/>
              </a:rPr>
              <a:t>PKI</a:t>
            </a:r>
            <a:r>
              <a:rPr lang="ja-JP" altLang="en-US">
                <a:latin typeface="Meiryo" panose="020B0604030504040204" pitchFamily="34" charset="-128"/>
                <a:ea typeface="Meiryo" panose="020B0604030504040204" pitchFamily="34" charset="-128"/>
              </a:rPr>
              <a:t>に基づくデータ暗号化基盤について理論と実践の両面から理解することができた。</a:t>
            </a:r>
          </a:p>
          <a:p>
            <a:pPr marL="285750" indent="-285750">
              <a:buFont typeface="Arial" panose="020B0604020202020204" pitchFamily="34" charset="0"/>
              <a:buChar char="•"/>
            </a:pPr>
            <a:r>
              <a:rPr lang="en-US" dirty="0">
                <a:latin typeface="Meiryo" panose="020B0604030504040204" pitchFamily="34" charset="-128"/>
                <a:ea typeface="Meiryo" panose="020B0604030504040204" pitchFamily="34" charset="-128"/>
              </a:rPr>
              <a:t>Private CA</a:t>
            </a:r>
            <a:r>
              <a:rPr lang="ja-JP" altLang="en-US">
                <a:latin typeface="Meiryo" panose="020B0604030504040204" pitchFamily="34" charset="-128"/>
                <a:ea typeface="Meiryo" panose="020B0604030504040204" pitchFamily="34" charset="-128"/>
              </a:rPr>
              <a:t>の構築やサーバ証明書の発行を実際に行うことで、</a:t>
            </a:r>
            <a:r>
              <a:rPr lang="en-US" dirty="0">
                <a:latin typeface="Meiryo" panose="020B0604030504040204" pitchFamily="34" charset="-128"/>
                <a:ea typeface="Meiryo" panose="020B0604030504040204" pitchFamily="34" charset="-128"/>
              </a:rPr>
              <a:t>PKI</a:t>
            </a:r>
            <a:r>
              <a:rPr lang="ja-JP" altLang="en-US">
                <a:latin typeface="Meiryo" panose="020B0604030504040204" pitchFamily="34" charset="-128"/>
                <a:ea typeface="Meiryo" panose="020B0604030504040204" pitchFamily="34" charset="-128"/>
              </a:rPr>
              <a:t>が「信頼」を技術的に実現する仕組みであることを学んだ。</a:t>
            </a: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また、証明書警告や</a:t>
            </a:r>
            <a:r>
              <a:rPr lang="en-US" dirty="0">
                <a:latin typeface="Meiryo" panose="020B0604030504040204" pitchFamily="34" charset="-128"/>
                <a:ea typeface="Meiryo" panose="020B0604030504040204" pitchFamily="34" charset="-128"/>
              </a:rPr>
              <a:t>CA</a:t>
            </a:r>
            <a:r>
              <a:rPr lang="ja-JP" altLang="en-US">
                <a:latin typeface="Meiryo" panose="020B0604030504040204" pitchFamily="34" charset="-128"/>
                <a:ea typeface="Meiryo" panose="020B0604030504040204" pitchFamily="34" charset="-128"/>
              </a:rPr>
              <a:t>秘密鍵漏洩のシナリオを考察することで、信頼モデルや多層防御の重要性を理解することができた。</a:t>
            </a:r>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企業の視点</a:t>
            </a:r>
          </a:p>
          <a:p>
            <a:endParaRPr lang="en-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a:latin typeface="Meiryo" panose="020B0604030504040204" pitchFamily="34" charset="-128"/>
                <a:ea typeface="Meiryo" panose="020B0604030504040204" pitchFamily="34" charset="-128"/>
              </a:rPr>
              <a:t>企業では</a:t>
            </a:r>
            <a:r>
              <a:rPr lang="en-US" dirty="0">
                <a:latin typeface="Meiryo" panose="020B0604030504040204" pitchFamily="34" charset="-128"/>
                <a:ea typeface="Meiryo" panose="020B0604030504040204" pitchFamily="34" charset="-128"/>
              </a:rPr>
              <a:t>HTTPS</a:t>
            </a:r>
            <a:r>
              <a:rPr lang="ja-JP" altLang="en-US">
                <a:latin typeface="Meiryo" panose="020B0604030504040204" pitchFamily="34" charset="-128"/>
                <a:ea typeface="Meiryo" panose="020B0604030504040204" pitchFamily="34" charset="-128"/>
              </a:rPr>
              <a:t>通信を利用し、</a:t>
            </a:r>
            <a:r>
              <a:rPr lang="en-US" dirty="0">
                <a:latin typeface="Meiryo" panose="020B0604030504040204" pitchFamily="34" charset="-128"/>
                <a:ea typeface="Meiryo" panose="020B0604030504040204" pitchFamily="34" charset="-128"/>
              </a:rPr>
              <a:t>PKI</a:t>
            </a:r>
            <a:r>
              <a:rPr lang="ja-JP" altLang="en-US">
                <a:latin typeface="Meiryo" panose="020B0604030504040204" pitchFamily="34" charset="-128"/>
                <a:ea typeface="Meiryo" panose="020B0604030504040204" pitchFamily="34" charset="-128"/>
              </a:rPr>
              <a:t>による</a:t>
            </a:r>
            <a:r>
              <a:rPr lang="en-US" dirty="0">
                <a:latin typeface="Meiryo" panose="020B0604030504040204" pitchFamily="34" charset="-128"/>
                <a:ea typeface="Meiryo" panose="020B0604030504040204" pitchFamily="34" charset="-128"/>
              </a:rPr>
              <a:t>TLS</a:t>
            </a:r>
            <a:r>
              <a:rPr lang="ja-JP" altLang="en-US">
                <a:latin typeface="Meiryo" panose="020B0604030504040204" pitchFamily="34" charset="-128"/>
                <a:ea typeface="Meiryo" panose="020B0604030504040204" pitchFamily="34" charset="-128"/>
              </a:rPr>
              <a:t>証明書を用いて通信の安全性を確保している</a:t>
            </a:r>
          </a:p>
          <a:p>
            <a:pPr marL="285750" indent="-285750">
              <a:buFont typeface="Wingdings" pitchFamily="2" charset="2"/>
              <a:buChar char="§"/>
            </a:pPr>
            <a:r>
              <a:rPr lang="ja-JP" altLang="en-US">
                <a:latin typeface="Meiryo" panose="020B0604030504040204" pitchFamily="34" charset="-128"/>
                <a:ea typeface="Meiryo" panose="020B0604030504040204" pitchFamily="34" charset="-128"/>
              </a:rPr>
              <a:t>例えば、</a:t>
            </a:r>
            <a:r>
              <a:rPr lang="en-US" dirty="0">
                <a:latin typeface="Meiryo" panose="020B0604030504040204" pitchFamily="34" charset="-128"/>
                <a:ea typeface="Meiryo" panose="020B0604030504040204" pitchFamily="34" charset="-128"/>
              </a:rPr>
              <a:t>backmarket.co.jp </a:t>
            </a:r>
            <a:r>
              <a:rPr lang="ja-JP" altLang="en-US">
                <a:latin typeface="Meiryo" panose="020B0604030504040204" pitchFamily="34" charset="-128"/>
                <a:ea typeface="Meiryo" panose="020B0604030504040204" pitchFamily="34" charset="-128"/>
              </a:rPr>
              <a:t>のようなオンラインサービスでは、</a:t>
            </a:r>
            <a:r>
              <a:rPr lang="en-US" dirty="0" err="1">
                <a:latin typeface="Meiryo" panose="020B0604030504040204" pitchFamily="34" charset="-128"/>
                <a:ea typeface="Meiryo" panose="020B0604030504040204" pitchFamily="34" charset="-128"/>
              </a:rPr>
              <a:t>CA（Google</a:t>
            </a:r>
            <a:r>
              <a:rPr lang="en-US" dirty="0">
                <a:latin typeface="Meiryo" panose="020B0604030504040204" pitchFamily="34" charset="-128"/>
                <a:ea typeface="Meiryo" panose="020B0604030504040204" pitchFamily="34" charset="-128"/>
              </a:rPr>
              <a:t> Trust Services）</a:t>
            </a:r>
            <a:r>
              <a:rPr lang="ja-JP" altLang="en-US">
                <a:latin typeface="Meiryo" panose="020B0604030504040204" pitchFamily="34" charset="-128"/>
                <a:ea typeface="Meiryo" panose="020B0604030504040204" pitchFamily="34" charset="-128"/>
              </a:rPr>
              <a:t>が発行した証明書を利用してサーバの正当性を証明している</a:t>
            </a:r>
          </a:p>
          <a:p>
            <a:pPr marL="285750" indent="-285750">
              <a:buFont typeface="Wingdings" pitchFamily="2" charset="2"/>
              <a:buChar char="§"/>
            </a:pPr>
            <a:r>
              <a:rPr lang="ja-JP" altLang="en-US">
                <a:latin typeface="Meiryo" panose="020B0604030504040204" pitchFamily="34" charset="-128"/>
                <a:ea typeface="Meiryo" panose="020B0604030504040204" pitchFamily="34" charset="-128"/>
              </a:rPr>
              <a:t>この仕組みにより、通信の暗号化やなりすまし攻撃の防止が可能になる</a:t>
            </a:r>
            <a:endParaRPr lang="en-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JP" dirty="0">
                <a:latin typeface="Meiryo" panose="020B0604030504040204" pitchFamily="34" charset="-128"/>
                <a:ea typeface="Meiryo" panose="020B0604030504040204" pitchFamily="34" charset="-128"/>
              </a:rPr>
              <a:t>また、万が一の鍵漏洩などのリスクに備えた多層的なセキュリティ対策も必要であると考えられる。</a:t>
            </a:r>
          </a:p>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8</a:t>
            </a:fld>
            <a:endParaRPr lang="en-JP"/>
          </a:p>
        </p:txBody>
      </p:sp>
    </p:spTree>
    <p:extLst>
      <p:ext uri="{BB962C8B-B14F-4D97-AF65-F5344CB8AC3E}">
        <p14:creationId xmlns:p14="http://schemas.microsoft.com/office/powerpoint/2010/main" val="943129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11</a:t>
            </a:fld>
            <a:endParaRPr lang="en-JP"/>
          </a:p>
        </p:txBody>
      </p:sp>
    </p:spTree>
    <p:extLst>
      <p:ext uri="{BB962C8B-B14F-4D97-AF65-F5344CB8AC3E}">
        <p14:creationId xmlns:p14="http://schemas.microsoft.com/office/powerpoint/2010/main" val="3397604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eiryo" panose="020B0604030504040204" pitchFamily="34" charset="-128"/>
                <a:ea typeface="Meiryo" panose="020B0604030504040204" pitchFamily="34" charset="-128"/>
                <a:cs typeface="Times New Roman" panose="02020603050405020304" pitchFamily="18" charset="0"/>
              </a:rPr>
              <a:t>Institute of Systems, Information Technologies and Nanotechnologies (ISIT) </a:t>
            </a:r>
            <a:endParaRPr lang="en-JP" dirty="0"/>
          </a:p>
        </p:txBody>
      </p:sp>
      <p:sp>
        <p:nvSpPr>
          <p:cNvPr id="4" name="Slide Number Placeholder 3"/>
          <p:cNvSpPr>
            <a:spLocks noGrp="1"/>
          </p:cNvSpPr>
          <p:nvPr>
            <p:ph type="sldNum" sz="quarter" idx="5"/>
          </p:nvPr>
        </p:nvSpPr>
        <p:spPr/>
        <p:txBody>
          <a:bodyPr/>
          <a:lstStyle/>
          <a:p>
            <a:fld id="{64EF1469-F2AA-C947-B986-497C543001F2}" type="slidenum">
              <a:rPr lang="en-JP" smtClean="0"/>
              <a:t>18</a:t>
            </a:fld>
            <a:endParaRPr lang="en-JP"/>
          </a:p>
        </p:txBody>
      </p:sp>
    </p:spTree>
    <p:extLst>
      <p:ext uri="{BB962C8B-B14F-4D97-AF65-F5344CB8AC3E}">
        <p14:creationId xmlns:p14="http://schemas.microsoft.com/office/powerpoint/2010/main" val="2224953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24</a:t>
            </a:fld>
            <a:endParaRPr lang="en-JP"/>
          </a:p>
        </p:txBody>
      </p:sp>
    </p:spTree>
    <p:extLst>
      <p:ext uri="{BB962C8B-B14F-4D97-AF65-F5344CB8AC3E}">
        <p14:creationId xmlns:p14="http://schemas.microsoft.com/office/powerpoint/2010/main" val="3529007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0" i="0" dirty="0">
                <a:effectLst/>
              </a:rPr>
              <a:t>SQL</a:t>
            </a:r>
            <a:r>
              <a:rPr lang="ja-JP" altLang="en-US" b="0" i="0">
                <a:effectLst/>
              </a:rPr>
              <a:t>インジェクションや</a:t>
            </a:r>
            <a:r>
              <a:rPr lang="en-US" b="0" i="0" dirty="0">
                <a:effectLst/>
              </a:rPr>
              <a:t>XSS</a:t>
            </a:r>
            <a:r>
              <a:rPr lang="ja-JP" altLang="en-US" b="0" i="0">
                <a:effectLst/>
              </a:rPr>
              <a:t>など、実際にどうやって情報が取られるか体験した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ログイン画面で特別な文字を入れて、パスワードを見ることができた</a:t>
            </a:r>
            <a:endParaRPr lang="ja-JP" altLang="en-US"/>
          </a:p>
          <a:p>
            <a:pPr>
              <a:buFont typeface="Arial" panose="020B0604020202020204" pitchFamily="34" charset="0"/>
              <a:buChar char="•"/>
            </a:pPr>
            <a:r>
              <a:rPr lang="ja-JP" altLang="en-US" b="0" i="0">
                <a:effectLst/>
              </a:rPr>
              <a:t>正しい権限管理や暗号化の大切さがわかった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他人のデータを見られないようにすること</a:t>
            </a:r>
            <a:endParaRPr lang="ja-JP" altLang="en-US"/>
          </a:p>
          <a:p>
            <a:pPr>
              <a:buFont typeface="Arial" panose="020B0604020202020204" pitchFamily="34" charset="0"/>
              <a:buChar char="•"/>
            </a:pPr>
            <a:r>
              <a:rPr lang="ja-JP" altLang="en-US" b="0" i="0">
                <a:effectLst/>
              </a:rPr>
              <a:t>攻撃がどう行われるかを知ることで、防御の方法も学べた</a:t>
            </a:r>
            <a:endParaRPr lang="ja-JP" altLang="en-US"/>
          </a:p>
          <a:p>
            <a:pPr>
              <a:buFont typeface="Arial" panose="020B0604020202020204" pitchFamily="34" charset="0"/>
              <a:buChar char="•"/>
            </a:pPr>
            <a:r>
              <a:rPr lang="ja-JP" altLang="en-US" b="0" i="0">
                <a:effectLst/>
              </a:rPr>
              <a:t>例</a:t>
            </a:r>
            <a:r>
              <a:rPr lang="en-US" altLang="ja-JP" b="0" i="0" dirty="0">
                <a:effectLst/>
              </a:rPr>
              <a:t>: </a:t>
            </a:r>
            <a:r>
              <a:rPr lang="ja-JP" altLang="en-US" b="0" i="0">
                <a:effectLst/>
              </a:rPr>
              <a:t>入力値のチェックや</a:t>
            </a:r>
            <a:r>
              <a:rPr lang="en-US" b="0" i="0" dirty="0">
                <a:effectLst/>
              </a:rPr>
              <a:t>Prepared Statement</a:t>
            </a:r>
            <a:r>
              <a:rPr lang="ja-JP" altLang="en-US" b="0" i="0">
                <a:effectLst/>
              </a:rPr>
              <a:t>の必要性</a:t>
            </a:r>
            <a:endParaRPr lang="ja-JP" altLang="en-US"/>
          </a:p>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27</a:t>
            </a:fld>
            <a:endParaRPr lang="en-JP"/>
          </a:p>
        </p:txBody>
      </p:sp>
    </p:spTree>
    <p:extLst>
      <p:ext uri="{BB962C8B-B14F-4D97-AF65-F5344CB8AC3E}">
        <p14:creationId xmlns:p14="http://schemas.microsoft.com/office/powerpoint/2010/main" val="369710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BBF6E4DC-9BF0-B044-8E6E-65888F61EE07}" type="slidenum">
              <a:rPr lang="en-JP" smtClean="0"/>
              <a:t>30</a:t>
            </a:fld>
            <a:endParaRPr lang="en-JP"/>
          </a:p>
        </p:txBody>
      </p:sp>
    </p:spTree>
    <p:extLst>
      <p:ext uri="{BB962C8B-B14F-4D97-AF65-F5344CB8AC3E}">
        <p14:creationId xmlns:p14="http://schemas.microsoft.com/office/powerpoint/2010/main" val="185191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AC6058B-0564-1644-BEBB-B95C7BC2C2D5}" type="datetime1">
              <a:rPr lang="en-US" smtClean="0"/>
              <a:t>3/12/26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370199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004FDAC-49DF-8740-AE75-E8A38DAC57A0}" type="datetime1">
              <a:rPr lang="en-US" smtClean="0"/>
              <a:t>3/12/26</a:t>
            </a:fld>
            <a:endParaRPr lang="en-JP"/>
          </a:p>
        </p:txBody>
      </p:sp>
      <p:sp>
        <p:nvSpPr>
          <p:cNvPr id="5" name="Footer Placeholder 4"/>
          <p:cNvSpPr>
            <a:spLocks noGrp="1"/>
          </p:cNvSpPr>
          <p:nvPr>
            <p:ph type="ftr" sz="quarter" idx="11"/>
          </p:nvPr>
        </p:nvSpPr>
        <p:spPr/>
        <p:txBody>
          <a:bodyPr/>
          <a:lstStyle/>
          <a:p>
            <a:endParaRPr lang="en-JP" dirty="0"/>
          </a:p>
        </p:txBody>
      </p:sp>
      <p:sp>
        <p:nvSpPr>
          <p:cNvPr id="6" name="Slide Number Placeholder 5"/>
          <p:cNvSpPr>
            <a:spLocks noGrp="1"/>
          </p:cNvSpPr>
          <p:nvPr>
            <p:ph type="sldNum" sz="quarter" idx="12"/>
          </p:nvPr>
        </p:nvSpPr>
        <p:spPr/>
        <p:txBody>
          <a:bodyPr/>
          <a:lstStyle>
            <a:lvl1pPr>
              <a:defRPr sz="1800">
                <a:solidFill>
                  <a:schemeClr val="tx1"/>
                </a:solidFill>
                <a:latin typeface="Meiryo" panose="020B0604030504040204" pitchFamily="34" charset="-128"/>
                <a:ea typeface="Meiryo" panose="020B0604030504040204" pitchFamily="34" charset="-128"/>
              </a:defRPr>
            </a:lvl1pPr>
          </a:lstStyle>
          <a:p>
            <a:fld id="{D8C05D5D-75E2-3144-9168-CA833390726D}" type="slidenum">
              <a:rPr lang="en-JP" smtClean="0"/>
              <a:pPr/>
              <a:t>‹#›</a:t>
            </a:fld>
            <a:endParaRPr lang="en-JP" dirty="0"/>
          </a:p>
        </p:txBody>
      </p:sp>
    </p:spTree>
    <p:extLst>
      <p:ext uri="{BB962C8B-B14F-4D97-AF65-F5344CB8AC3E}">
        <p14:creationId xmlns:p14="http://schemas.microsoft.com/office/powerpoint/2010/main" val="511981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E38E6-4C82-7B4F-929F-44A08DB5CFC2}" type="datetime1">
              <a:rPr lang="en-US" smtClean="0"/>
              <a:t>3/12/26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dirty="0"/>
          </a:p>
        </p:txBody>
      </p:sp>
    </p:spTree>
    <p:extLst>
      <p:ext uri="{BB962C8B-B14F-4D97-AF65-F5344CB8AC3E}">
        <p14:creationId xmlns:p14="http://schemas.microsoft.com/office/powerpoint/2010/main" val="3997411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28482A-0D3D-B24D-8205-2E07E5C181D0}" type="datetime1">
              <a:rPr lang="en-US" smtClean="0"/>
              <a:t>3/12/26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77381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005AC4-91B0-074F-91AF-38719C65C002}" type="datetime1">
              <a:rPr lang="en-US" smtClean="0"/>
              <a:t>3/12/26</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53780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F4F620-A589-A443-A7D5-0FBE8FA90207}" type="datetime1">
              <a:rPr lang="en-US" smtClean="0"/>
              <a:t>3/12/26</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916321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314F3F-734E-1A40-9F84-0CB012D14BFC}" type="datetime1">
              <a:rPr lang="en-US" smtClean="0"/>
              <a:t>3/12/26</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15693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065D79-470C-6441-A9B1-0FB5E05EB669}" type="datetime1">
              <a:rPr lang="en-US" smtClean="0"/>
              <a:t>3/12/26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2733619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3D8788-1A3A-EF42-A4F2-C7988D5682AA}" type="datetime1">
              <a:rPr lang="en-US" smtClean="0"/>
              <a:t>3/12/26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19514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61102-13D0-054F-8400-5023CD7AADB4}" type="datetime1">
              <a:rPr lang="en-US" smtClean="0"/>
              <a:t>3/12/26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3708061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629217-1756-B745-B5F5-3B28CD2613FA}" type="datetime1">
              <a:rPr lang="en-US" smtClean="0"/>
              <a:t>3/12/26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8C05D5D-75E2-3144-9168-CA833390726D}" type="slidenum">
              <a:rPr lang="en-JP" smtClean="0"/>
              <a:t>‹#›</a:t>
            </a:fld>
            <a:endParaRPr lang="en-JP"/>
          </a:p>
        </p:txBody>
      </p:sp>
    </p:spTree>
    <p:extLst>
      <p:ext uri="{BB962C8B-B14F-4D97-AF65-F5344CB8AC3E}">
        <p14:creationId xmlns:p14="http://schemas.microsoft.com/office/powerpoint/2010/main" val="18818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DC034A-49ED-524E-87E3-49528A15D40D}" type="datetime1">
              <a:rPr lang="en-US" smtClean="0"/>
              <a:t>3/12/26</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C05D5D-75E2-3144-9168-CA833390726D}" type="slidenum">
              <a:rPr lang="en-JP" smtClean="0"/>
              <a:t>‹#›</a:t>
            </a:fld>
            <a:endParaRPr lang="en-JP"/>
          </a:p>
        </p:txBody>
      </p:sp>
    </p:spTree>
    <p:extLst>
      <p:ext uri="{BB962C8B-B14F-4D97-AF65-F5344CB8AC3E}">
        <p14:creationId xmlns:p14="http://schemas.microsoft.com/office/powerpoint/2010/main" val="39093764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3.png"/><Relationship Id="rId4"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186702-4226-362C-2A00-87316700D46D}"/>
              </a:ext>
            </a:extLst>
          </p:cNvPr>
          <p:cNvSpPr txBox="1"/>
          <p:nvPr/>
        </p:nvSpPr>
        <p:spPr>
          <a:xfrm>
            <a:off x="655864" y="1712925"/>
            <a:ext cx="7571303" cy="1200329"/>
          </a:xfrm>
          <a:prstGeom prst="rect">
            <a:avLst/>
          </a:prstGeom>
          <a:noFill/>
        </p:spPr>
        <p:txBody>
          <a:bodyPr wrap="none" rtlCol="0">
            <a:spAutoFit/>
          </a:bodyPr>
          <a:lstStyle/>
          <a:p>
            <a:r>
              <a:rPr lang="ja-JP" altLang="en-US" sz="3600">
                <a:latin typeface="Meiryo" panose="020B0604030504040204" pitchFamily="34" charset="-128"/>
                <a:ea typeface="Meiryo" panose="020B0604030504040204" pitchFamily="34" charset="-128"/>
              </a:rPr>
              <a:t>九経連実践インターンシップと学内</a:t>
            </a:r>
            <a:endParaRPr lang="mn-MN" altLang="ja-JP" sz="3600" dirty="0">
              <a:latin typeface="Meiryo" panose="020B0604030504040204" pitchFamily="34" charset="-128"/>
              <a:ea typeface="Meiryo" panose="020B0604030504040204" pitchFamily="34" charset="-128"/>
            </a:endParaRPr>
          </a:p>
          <a:p>
            <a:r>
              <a:rPr lang="ja-JP" altLang="en-US" sz="3600">
                <a:latin typeface="Meiryo" panose="020B0604030504040204" pitchFamily="34" charset="-128"/>
                <a:ea typeface="Meiryo" panose="020B0604030504040204" pitchFamily="34" charset="-128"/>
              </a:rPr>
              <a:t>セキュリティ実践演習</a:t>
            </a:r>
            <a:r>
              <a:rPr lang="en-US" altLang="ja-JP" sz="3600" dirty="0">
                <a:latin typeface="Meiryo" panose="020B0604030504040204" pitchFamily="34" charset="-128"/>
                <a:ea typeface="Meiryo" panose="020B0604030504040204" pitchFamily="34" charset="-128"/>
              </a:rPr>
              <a:t>Ⅰ</a:t>
            </a:r>
            <a:r>
              <a:rPr lang="ja-JP" altLang="en-US" sz="3600">
                <a:latin typeface="Meiryo" panose="020B0604030504040204" pitchFamily="34" charset="-128"/>
                <a:ea typeface="Meiryo" panose="020B0604030504040204" pitchFamily="34" charset="-128"/>
              </a:rPr>
              <a:t>の成果</a:t>
            </a:r>
            <a:endParaRPr lang="en-JP" sz="3600"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3C958CF0-BE7E-1BF4-7ACE-C1D6BDF4A6B4}"/>
              </a:ext>
            </a:extLst>
          </p:cNvPr>
          <p:cNvSpPr txBox="1"/>
          <p:nvPr/>
        </p:nvSpPr>
        <p:spPr>
          <a:xfrm>
            <a:off x="1616566" y="3662741"/>
            <a:ext cx="7160934" cy="1938992"/>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所属　　： 情報基盤システム学研究室</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発表者　：</a:t>
            </a:r>
            <a:r>
              <a:rPr lang="en-US" altLang="ja-JP" sz="2400" dirty="0">
                <a:latin typeface="Meiryo" panose="020B0604030504040204" pitchFamily="34" charset="-128"/>
                <a:ea typeface="Meiryo" panose="020B0604030504040204" pitchFamily="34" charset="-128"/>
              </a:rPr>
              <a:t>DAVAAKHUU   UNDARMAA</a:t>
            </a:r>
          </a:p>
          <a:p>
            <a:r>
              <a:rPr lang="ja-JP" altLang="en-US" sz="2400">
                <a:latin typeface="Meiryo" panose="020B0604030504040204" pitchFamily="34" charset="-128"/>
                <a:ea typeface="Meiryo" panose="020B0604030504040204" pitchFamily="34" charset="-128"/>
              </a:rPr>
              <a:t>指導教員： 池部 実 講師</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発表日　： </a:t>
            </a:r>
            <a:r>
              <a:rPr lang="en-US" altLang="ja-JP" sz="2400" dirty="0">
                <a:latin typeface="Meiryo" panose="020B0604030504040204" pitchFamily="34" charset="-128"/>
                <a:ea typeface="Meiryo" panose="020B0604030504040204" pitchFamily="34" charset="-128"/>
              </a:rPr>
              <a:t>2025</a:t>
            </a:r>
            <a:r>
              <a:rPr lang="ja-JP" altLang="en-US" sz="2400">
                <a:latin typeface="Meiryo" panose="020B0604030504040204" pitchFamily="34" charset="-128"/>
                <a:ea typeface="Meiryo" panose="020B0604030504040204" pitchFamily="34" charset="-128"/>
              </a:rPr>
              <a:t>年</a:t>
            </a:r>
            <a:r>
              <a:rPr lang="mn-MN"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月</a:t>
            </a:r>
            <a:r>
              <a:rPr lang="mn-MN" altLang="ja-JP" sz="2400" dirty="0">
                <a:latin typeface="Meiryo" panose="020B0604030504040204" pitchFamily="34" charset="-128"/>
                <a:ea typeface="Meiryo" panose="020B0604030504040204" pitchFamily="34" charset="-128"/>
              </a:rPr>
              <a:t>13</a:t>
            </a:r>
            <a:r>
              <a:rPr lang="ja-JP" altLang="en-US" sz="2400">
                <a:latin typeface="Meiryo" panose="020B0604030504040204" pitchFamily="34" charset="-128"/>
                <a:ea typeface="Meiryo" panose="020B0604030504040204" pitchFamily="34" charset="-128"/>
              </a:rPr>
              <a:t>日</a:t>
            </a:r>
            <a:endParaRPr lang="en-US"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43958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1. </a:t>
            </a:r>
            <a:r>
              <a:rPr lang="ja-JP" sz="2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a:latin typeface="Meiryo" panose="020B0604030504040204" pitchFamily="34" charset="-128"/>
                <a:ea typeface="Meiryo" panose="020B0604030504040204" pitchFamily="34" charset="-128"/>
              </a:rPr>
              <a:t>の概要</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a:t>
            </a:r>
            <a:endParaRPr lang="en-US" altLang="ja-JP" sz="2400"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a:t>
            </a:r>
            <a:r>
              <a:rPr lang="en-US" sz="2400" i="0" dirty="0" err="1">
                <a:effectLst/>
                <a:latin typeface="Meiryo" panose="020B0604030504040204" pitchFamily="34" charset="-128"/>
                <a:ea typeface="Meiryo" panose="020B0604030504040204" pitchFamily="34" charset="-128"/>
              </a:rPr>
              <a:t>Eye_Log</a:t>
            </a:r>
            <a:r>
              <a:rPr lang="en-US" sz="2400" i="0" dirty="0">
                <a:effectLst/>
                <a:latin typeface="Meiryo" panose="020B0604030504040204" pitchFamily="34" charset="-128"/>
                <a:ea typeface="Meiryo" panose="020B0604030504040204" pitchFamily="34" charset="-128"/>
              </a:rPr>
              <a:t>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12" name="Slide Number Placeholder 11">
            <a:extLst>
              <a:ext uri="{FF2B5EF4-FFF2-40B4-BE49-F238E27FC236}">
                <a16:creationId xmlns:a16="http://schemas.microsoft.com/office/drawing/2014/main" id="{005F96D6-D955-0E14-790D-A1723596E4BF}"/>
              </a:ext>
            </a:extLst>
          </p:cNvPr>
          <p:cNvSpPr>
            <a:spLocks noGrp="1"/>
          </p:cNvSpPr>
          <p:nvPr>
            <p:ph type="sldNum" sz="quarter" idx="12"/>
          </p:nvPr>
        </p:nvSpPr>
        <p:spPr/>
        <p:txBody>
          <a:bodyPr/>
          <a:lstStyle/>
          <a:p>
            <a:fld id="{D8C05D5D-75E2-3144-9168-CA833390726D}" type="slidenum">
              <a:rPr lang="en-JP" smtClean="0"/>
              <a:t>1</a:t>
            </a:fld>
            <a:endParaRPr lang="en-JP"/>
          </a:p>
        </p:txBody>
      </p:sp>
    </p:spTree>
    <p:extLst>
      <p:ext uri="{BB962C8B-B14F-4D97-AF65-F5344CB8AC3E}">
        <p14:creationId xmlns:p14="http://schemas.microsoft.com/office/powerpoint/2010/main" val="1440735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b="1" dirty="0">
                <a:solidFill>
                  <a:srgbClr val="C00000"/>
                </a:solidFill>
                <a:latin typeface="Meiryo" panose="020B0604030504040204" pitchFamily="34" charset="-128"/>
                <a:ea typeface="Meiryo" panose="020B0604030504040204" pitchFamily="34" charset="-128"/>
              </a:rPr>
              <a:t>1. </a:t>
            </a:r>
            <a:r>
              <a:rPr lang="ja-JP" sz="2400" b="1">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b="1">
                <a:solidFill>
                  <a:srgbClr val="C00000"/>
                </a:solidFill>
                <a:latin typeface="Meiryo" panose="020B0604030504040204" pitchFamily="34" charset="-128"/>
                <a:ea typeface="Meiryo" panose="020B0604030504040204" pitchFamily="34" charset="-128"/>
              </a:rPr>
              <a:t>の概要</a:t>
            </a:r>
            <a:endParaRPr lang="mn-MN" altLang="ja-JP" sz="2400" b="1" dirty="0">
              <a:solidFill>
                <a:srgbClr val="C00000"/>
              </a:solidFill>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a:t>
            </a:r>
            <a:endParaRPr lang="en-US" altLang="ja-JP" sz="2400"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a:t>
            </a:r>
            <a:r>
              <a:rPr lang="en-US" sz="2400" i="0" dirty="0" err="1">
                <a:effectLst/>
                <a:latin typeface="Meiryo" panose="020B0604030504040204" pitchFamily="34" charset="-128"/>
                <a:ea typeface="Meiryo" panose="020B0604030504040204" pitchFamily="34" charset="-128"/>
              </a:rPr>
              <a:t>Eye_Log</a:t>
            </a:r>
            <a:r>
              <a:rPr lang="en-US" sz="2400" i="0" dirty="0">
                <a:effectLst/>
                <a:latin typeface="Meiryo" panose="020B0604030504040204" pitchFamily="34" charset="-128"/>
                <a:ea typeface="Meiryo" panose="020B0604030504040204" pitchFamily="34" charset="-128"/>
              </a:rPr>
              <a:t>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9913C944-861B-B7C9-3831-B7FD1FDF916F}"/>
              </a:ext>
            </a:extLst>
          </p:cNvPr>
          <p:cNvSpPr>
            <a:spLocks noGrp="1"/>
          </p:cNvSpPr>
          <p:nvPr>
            <p:ph type="sldNum" sz="quarter" idx="12"/>
          </p:nvPr>
        </p:nvSpPr>
        <p:spPr/>
        <p:txBody>
          <a:bodyPr/>
          <a:lstStyle/>
          <a:p>
            <a:fld id="{D8C05D5D-75E2-3144-9168-CA833390726D}" type="slidenum">
              <a:rPr lang="en-JP" smtClean="0"/>
              <a:t>2</a:t>
            </a:fld>
            <a:endParaRPr lang="en-JP"/>
          </a:p>
        </p:txBody>
      </p:sp>
    </p:spTree>
    <p:extLst>
      <p:ext uri="{BB962C8B-B14F-4D97-AF65-F5344CB8AC3E}">
        <p14:creationId xmlns:p14="http://schemas.microsoft.com/office/powerpoint/2010/main" val="3756593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0E3C3A-801C-ACC7-4548-98D12A68BD57}"/>
              </a:ext>
            </a:extLst>
          </p:cNvPr>
          <p:cNvPicPr>
            <a:picLocks noChangeAspect="1"/>
          </p:cNvPicPr>
          <p:nvPr/>
        </p:nvPicPr>
        <p:blipFill>
          <a:blip r:embed="rId2"/>
          <a:stretch>
            <a:fillRect/>
          </a:stretch>
        </p:blipFill>
        <p:spPr>
          <a:xfrm>
            <a:off x="716431" y="1220184"/>
            <a:ext cx="7347128" cy="4452616"/>
          </a:xfrm>
          <a:prstGeom prst="rect">
            <a:avLst/>
          </a:prstGeom>
        </p:spPr>
      </p:pic>
      <p:sp>
        <p:nvSpPr>
          <p:cNvPr id="6" name="TextBox 5">
            <a:extLst>
              <a:ext uri="{FF2B5EF4-FFF2-40B4-BE49-F238E27FC236}">
                <a16:creationId xmlns:a16="http://schemas.microsoft.com/office/drawing/2014/main" id="{2286EA61-67E2-18EF-CF7E-6EFD3D62B768}"/>
              </a:ext>
            </a:extLst>
          </p:cNvPr>
          <p:cNvSpPr txBox="1"/>
          <p:nvPr/>
        </p:nvSpPr>
        <p:spPr>
          <a:xfrm>
            <a:off x="228600" y="895521"/>
            <a:ext cx="8017328"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cs typeface="Times New Roman" panose="02020603050405020304" pitchFamily="18" charset="0"/>
              </a:rPr>
              <a:t>PKI（Public Key Infrastructure） </a:t>
            </a:r>
            <a:r>
              <a:rPr lang="ja-JP" altLang="en-US" sz="2000">
                <a:latin typeface="Meiryo" panose="020B0604030504040204" pitchFamily="34" charset="-128"/>
                <a:ea typeface="Meiryo" panose="020B0604030504040204" pitchFamily="34" charset="-128"/>
                <a:cs typeface="Times New Roman" panose="02020603050405020304" pitchFamily="18" charset="0"/>
              </a:rPr>
              <a:t>とは，公開鍵暗号を用いて 通信相手の真正性を保証し，安全な通信を実現するための基盤 である</a:t>
            </a:r>
            <a:r>
              <a:rPr lang="en-US" altLang="ja-JP" sz="2000" dirty="0">
                <a:latin typeface="Meiryo" panose="020B0604030504040204" pitchFamily="34" charset="-128"/>
                <a:ea typeface="Meiryo" panose="020B0604030504040204" pitchFamily="34" charset="-128"/>
                <a:cs typeface="Times New Roman" panose="02020603050405020304" pitchFamily="18" charset="0"/>
              </a:rPr>
              <a:t>.</a:t>
            </a:r>
            <a:endParaRPr lang="en-JP" sz="20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0" name="TextBox 9">
            <a:extLst>
              <a:ext uri="{FF2B5EF4-FFF2-40B4-BE49-F238E27FC236}">
                <a16:creationId xmlns:a16="http://schemas.microsoft.com/office/drawing/2014/main" id="{B01B9870-892D-E6D4-7990-57DEB0478771}"/>
              </a:ext>
            </a:extLst>
          </p:cNvPr>
          <p:cNvSpPr txBox="1"/>
          <p:nvPr/>
        </p:nvSpPr>
        <p:spPr>
          <a:xfrm>
            <a:off x="228600" y="6075145"/>
            <a:ext cx="5954486" cy="553998"/>
          </a:xfrm>
          <a:prstGeom prst="rect">
            <a:avLst/>
          </a:prstGeom>
          <a:noFill/>
        </p:spPr>
        <p:txBody>
          <a:bodyPr wrap="square">
            <a:spAutoFit/>
          </a:bodyPr>
          <a:lstStyle/>
          <a:p>
            <a:r>
              <a:rPr lang="en-JP" sz="1400" dirty="0">
                <a:latin typeface="Times New Roman" panose="02020603050405020304" pitchFamily="18" charset="0"/>
                <a:cs typeface="Times New Roman" panose="02020603050405020304" pitchFamily="18" charset="0"/>
              </a:rPr>
              <a:t>https://doubleoctopus.com/security-wiki/digital-certificates/public-key-infrastructure</a:t>
            </a:r>
            <a:r>
              <a:rPr lang="en-JP" sz="1600" dirty="0">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82E162F6-7868-C394-DCE7-546C8B0E79D7}"/>
              </a:ext>
            </a:extLst>
          </p:cNvPr>
          <p:cNvSpPr txBox="1"/>
          <p:nvPr/>
        </p:nvSpPr>
        <p:spPr>
          <a:xfrm>
            <a:off x="97283" y="417730"/>
            <a:ext cx="4572000" cy="400110"/>
          </a:xfrm>
          <a:prstGeom prst="rect">
            <a:avLst/>
          </a:prstGeom>
          <a:noFill/>
        </p:spPr>
        <p:txBody>
          <a:bodyPr wrap="square">
            <a:spAutoFit/>
          </a:bodyPr>
          <a:lstStyle/>
          <a:p>
            <a:pPr marL="342900" indent="-342900">
              <a:buFont typeface="Wingdings" pitchFamily="2" charset="2"/>
              <a:buChar char="§"/>
            </a:pPr>
            <a:r>
              <a:rPr lang="en-US"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PKI</a:t>
            </a:r>
            <a:r>
              <a:rPr lang="ja-JP" altLang="en-US" sz="2000" b="1">
                <a:solidFill>
                  <a:srgbClr val="C00000"/>
                </a:solidFill>
                <a:latin typeface="Meiryo" panose="020B0604030504040204" pitchFamily="34" charset="-128"/>
                <a:ea typeface="Meiryo" panose="020B0604030504040204" pitchFamily="34" charset="-128"/>
                <a:cs typeface="Times New Roman" panose="02020603050405020304" pitchFamily="18" charset="0"/>
              </a:rPr>
              <a:t>とデータ暗号化の関係</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9D0B14D4-4EAF-C544-C5AE-9CBDB3C3CBF9}"/>
              </a:ext>
            </a:extLst>
          </p:cNvPr>
          <p:cNvSpPr txBox="1"/>
          <p:nvPr/>
        </p:nvSpPr>
        <p:spPr>
          <a:xfrm>
            <a:off x="97283" y="48898"/>
            <a:ext cx="4572000"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mn-MN" altLang="ja-JP" sz="1400" dirty="0">
                <a:latin typeface="Meiryo" panose="020B0604030504040204" pitchFamily="34" charset="-128"/>
                <a:ea typeface="Meiryo" panose="020B0604030504040204" pitchFamily="34" charset="-128"/>
              </a:rPr>
              <a:t>1</a:t>
            </a:r>
            <a:endParaRPr lang="en-JP" sz="1400" dirty="0"/>
          </a:p>
        </p:txBody>
      </p:sp>
      <p:sp>
        <p:nvSpPr>
          <p:cNvPr id="5" name="Slide Number Placeholder 4">
            <a:extLst>
              <a:ext uri="{FF2B5EF4-FFF2-40B4-BE49-F238E27FC236}">
                <a16:creationId xmlns:a16="http://schemas.microsoft.com/office/drawing/2014/main" id="{0116FEC1-E241-B779-79D2-C14EC0F96FDA}"/>
              </a:ext>
            </a:extLst>
          </p:cNvPr>
          <p:cNvSpPr>
            <a:spLocks noGrp="1"/>
          </p:cNvSpPr>
          <p:nvPr>
            <p:ph type="sldNum" sz="quarter" idx="12"/>
          </p:nvPr>
        </p:nvSpPr>
        <p:spPr/>
        <p:txBody>
          <a:bodyPr/>
          <a:lstStyle/>
          <a:p>
            <a:fld id="{D8C05D5D-75E2-3144-9168-CA833390726D}" type="slidenum">
              <a:rPr lang="en-JP" smtClean="0"/>
              <a:t>3</a:t>
            </a:fld>
            <a:endParaRPr lang="en-JP"/>
          </a:p>
        </p:txBody>
      </p:sp>
    </p:spTree>
    <p:extLst>
      <p:ext uri="{BB962C8B-B14F-4D97-AF65-F5344CB8AC3E}">
        <p14:creationId xmlns:p14="http://schemas.microsoft.com/office/powerpoint/2010/main" val="2337425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068F242-E7BB-0F8F-D4FC-DE398BD85C8D}"/>
              </a:ext>
            </a:extLst>
          </p:cNvPr>
          <p:cNvSpPr txBox="1"/>
          <p:nvPr/>
        </p:nvSpPr>
        <p:spPr>
          <a:xfrm>
            <a:off x="379186" y="552901"/>
            <a:ext cx="8240485" cy="3200876"/>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TLS通信では，公開鍵暗号方式 と 共通鍵暗号方式 を通信の段階に応じて使い分けることで，安全性と処理性能の両立 を実現している。</a:t>
            </a:r>
            <a:endParaRPr lang="mn-MN" dirty="0">
              <a:latin typeface="Meiryo" panose="020B0604030504040204" pitchFamily="34" charset="-128"/>
              <a:ea typeface="Meiryo" panose="020B0604030504040204" pitchFamily="34" charset="-128"/>
            </a:endParaRPr>
          </a:p>
          <a:p>
            <a:endParaRPr lang="mn-MN" dirty="0">
              <a:solidFill>
                <a:srgbClr val="92D050"/>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en-JP" dirty="0">
                <a:solidFill>
                  <a:srgbClr val="92D050"/>
                </a:solidFill>
                <a:latin typeface="Meiryo" panose="020B0604030504040204" pitchFamily="34" charset="-128"/>
                <a:ea typeface="Meiryo" panose="020B0604030504040204" pitchFamily="34" charset="-128"/>
              </a:rPr>
              <a:t>TLSハンドシェイク段階（公開鍵暗号の利用）</a:t>
            </a:r>
          </a:p>
          <a:p>
            <a:r>
              <a:rPr lang="en-JP" dirty="0">
                <a:latin typeface="Meiryo" panose="020B0604030504040204" pitchFamily="34" charset="-128"/>
                <a:ea typeface="Meiryo" panose="020B0604030504040204" pitchFamily="34" charset="-128"/>
              </a:rPr>
              <a:t>通信開始時の TLSハンドシェイク では，公開鍵暗号方式が用いられる。</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クライアントは，サーバから送信された サーバ証明書 を検証</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証明書に含まれる サーバの公開鍵 を用いて，</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共通鍵（セッション鍵）を安全に共有</a:t>
            </a:r>
          </a:p>
          <a:p>
            <a:r>
              <a:rPr lang="en-JP" dirty="0">
                <a:latin typeface="Meiryo" panose="020B0604030504040204" pitchFamily="34" charset="-128"/>
                <a:ea typeface="Meiryo" panose="020B0604030504040204" pitchFamily="34" charset="-128"/>
              </a:rPr>
              <a:t>この段階では，RSA や ECDHE などの公開鍵暗号アルゴリズムが使用される</a:t>
            </a:r>
          </a:p>
          <a:p>
            <a:endParaRPr lang="mn-MN" sz="2000" dirty="0">
              <a:latin typeface="Meiryo" panose="020B0604030504040204" pitchFamily="34" charset="-128"/>
              <a:ea typeface="Meiryo" panose="020B0604030504040204" pitchFamily="34" charset="-128"/>
            </a:endParaRPr>
          </a:p>
          <a:p>
            <a:endParaRPr lang="en-JP" sz="20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0356948E-9DDA-EB01-8561-180123ECF2EF}"/>
              </a:ext>
            </a:extLst>
          </p:cNvPr>
          <p:cNvSpPr txBox="1"/>
          <p:nvPr/>
        </p:nvSpPr>
        <p:spPr>
          <a:xfrm>
            <a:off x="87085" y="152791"/>
            <a:ext cx="6106885"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TLS通信における暗号化方式の使い分け 1/2</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12" name="TextBox 11">
            <a:extLst>
              <a:ext uri="{FF2B5EF4-FFF2-40B4-BE49-F238E27FC236}">
                <a16:creationId xmlns:a16="http://schemas.microsoft.com/office/drawing/2014/main" id="{FE3DF628-C9C9-F952-962A-B763ABDD470C}"/>
              </a:ext>
            </a:extLst>
          </p:cNvPr>
          <p:cNvSpPr txBox="1"/>
          <p:nvPr/>
        </p:nvSpPr>
        <p:spPr>
          <a:xfrm>
            <a:off x="379186" y="6445210"/>
            <a:ext cx="4572000"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https://itinfranote.com/ssl-handshake/</a:t>
            </a:r>
          </a:p>
        </p:txBody>
      </p:sp>
      <p:pic>
        <p:nvPicPr>
          <p:cNvPr id="13" name="Picture 12">
            <a:extLst>
              <a:ext uri="{FF2B5EF4-FFF2-40B4-BE49-F238E27FC236}">
                <a16:creationId xmlns:a16="http://schemas.microsoft.com/office/drawing/2014/main" id="{EFE7DD14-D15C-1669-F93F-E800E807C62B}"/>
              </a:ext>
            </a:extLst>
          </p:cNvPr>
          <p:cNvPicPr>
            <a:picLocks noChangeAspect="1"/>
          </p:cNvPicPr>
          <p:nvPr/>
        </p:nvPicPr>
        <p:blipFill>
          <a:blip r:embed="rId3"/>
          <a:stretch>
            <a:fillRect/>
          </a:stretch>
        </p:blipFill>
        <p:spPr>
          <a:xfrm>
            <a:off x="653141" y="3244334"/>
            <a:ext cx="7012215" cy="2576356"/>
          </a:xfrm>
          <a:prstGeom prst="rect">
            <a:avLst/>
          </a:prstGeom>
        </p:spPr>
      </p:pic>
      <p:sp>
        <p:nvSpPr>
          <p:cNvPr id="2" name="Slide Number Placeholder 1">
            <a:extLst>
              <a:ext uri="{FF2B5EF4-FFF2-40B4-BE49-F238E27FC236}">
                <a16:creationId xmlns:a16="http://schemas.microsoft.com/office/drawing/2014/main" id="{367AEDAC-35F8-90B6-2496-B2EB9C50AB4E}"/>
              </a:ext>
            </a:extLst>
          </p:cNvPr>
          <p:cNvSpPr>
            <a:spLocks noGrp="1"/>
          </p:cNvSpPr>
          <p:nvPr>
            <p:ph type="sldNum" sz="quarter" idx="12"/>
          </p:nvPr>
        </p:nvSpPr>
        <p:spPr/>
        <p:txBody>
          <a:bodyPr/>
          <a:lstStyle/>
          <a:p>
            <a:fld id="{D8C05D5D-75E2-3144-9168-CA833390726D}" type="slidenum">
              <a:rPr lang="en-JP" smtClean="0"/>
              <a:t>4</a:t>
            </a:fld>
            <a:endParaRPr lang="en-JP"/>
          </a:p>
        </p:txBody>
      </p:sp>
    </p:spTree>
    <p:extLst>
      <p:ext uri="{BB962C8B-B14F-4D97-AF65-F5344CB8AC3E}">
        <p14:creationId xmlns:p14="http://schemas.microsoft.com/office/powerpoint/2010/main" val="3635273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E3E629B-911B-B75D-2975-EA2F6C002C65}"/>
              </a:ext>
            </a:extLst>
          </p:cNvPr>
          <p:cNvSpPr txBox="1"/>
          <p:nvPr/>
        </p:nvSpPr>
        <p:spPr>
          <a:xfrm>
            <a:off x="326570" y="749494"/>
            <a:ext cx="8199665" cy="2308324"/>
          </a:xfrm>
          <a:prstGeom prst="rect">
            <a:avLst/>
          </a:prstGeom>
          <a:noFill/>
        </p:spPr>
        <p:txBody>
          <a:bodyPr wrap="square">
            <a:spAutoFit/>
          </a:bodyPr>
          <a:lstStyle/>
          <a:p>
            <a:pPr marL="285750" indent="-285750">
              <a:buFont typeface="Wingdings" pitchFamily="2" charset="2"/>
              <a:buChar char="Ø"/>
            </a:pPr>
            <a:r>
              <a:rPr lang="en-JP" dirty="0">
                <a:solidFill>
                  <a:srgbClr val="92D050"/>
                </a:solidFill>
                <a:latin typeface="Meiryo" panose="020B0604030504040204" pitchFamily="34" charset="-128"/>
                <a:ea typeface="Meiryo" panose="020B0604030504040204" pitchFamily="34" charset="-128"/>
              </a:rPr>
              <a:t>暗号化通信段階（共通鍵暗号の利用）</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TLSハンドシェイク完了後は，共通鍵暗号方式 によって実際のデータ通信が行われる</a:t>
            </a:r>
            <a:r>
              <a:rPr lang="mn-MN"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共有されたセッション鍵を用いて通信データを暗号化</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AES などの共通鍵暗号アルゴリズムが使用される</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共通鍵暗号は 処理速度が高速 であり，大量のデータ通信に適している</a:t>
            </a:r>
          </a:p>
          <a:p>
            <a:r>
              <a:rPr lang="en-JP" dirty="0">
                <a:latin typeface="Meiryo" panose="020B0604030504040204" pitchFamily="34" charset="-128"/>
                <a:ea typeface="Meiryo" panose="020B0604030504040204" pitchFamily="34" charset="-128"/>
              </a:rPr>
              <a:t>(HTTPS通信の本文データは，すべて共通鍵暗号で保護される</a:t>
            </a:r>
            <a:r>
              <a:rPr lang="mn-MN" dirty="0">
                <a:latin typeface="Meiryo" panose="020B0604030504040204" pitchFamily="34" charset="-128"/>
                <a:ea typeface="Meiryo" panose="020B0604030504040204" pitchFamily="34" charset="-128"/>
              </a:rPr>
              <a:t>.</a:t>
            </a:r>
            <a:r>
              <a:rPr lang="en-JP"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0AEAE57C-E9D6-C15C-B0CE-CBF39AA75260}"/>
              </a:ext>
            </a:extLst>
          </p:cNvPr>
          <p:cNvSpPr txBox="1"/>
          <p:nvPr/>
        </p:nvSpPr>
        <p:spPr>
          <a:xfrm>
            <a:off x="0" y="184314"/>
            <a:ext cx="6457950"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TLS通信における暗号化方式の使い分け 2/2</a:t>
            </a:r>
            <a:endParaRPr lang="en-US" altLang="ja-JP" sz="20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10" name="Picture 9">
            <a:extLst>
              <a:ext uri="{FF2B5EF4-FFF2-40B4-BE49-F238E27FC236}">
                <a16:creationId xmlns:a16="http://schemas.microsoft.com/office/drawing/2014/main" id="{57D202A7-019B-F0C6-1F0C-3E35CA3711FF}"/>
              </a:ext>
            </a:extLst>
          </p:cNvPr>
          <p:cNvPicPr>
            <a:picLocks noChangeAspect="1"/>
          </p:cNvPicPr>
          <p:nvPr/>
        </p:nvPicPr>
        <p:blipFill>
          <a:blip r:embed="rId3"/>
          <a:stretch>
            <a:fillRect/>
          </a:stretch>
        </p:blipFill>
        <p:spPr>
          <a:xfrm>
            <a:off x="525236" y="3123517"/>
            <a:ext cx="7541078" cy="3232834"/>
          </a:xfrm>
          <a:prstGeom prst="rect">
            <a:avLst/>
          </a:prstGeom>
        </p:spPr>
      </p:pic>
      <p:sp>
        <p:nvSpPr>
          <p:cNvPr id="12" name="TextBox 11">
            <a:extLst>
              <a:ext uri="{FF2B5EF4-FFF2-40B4-BE49-F238E27FC236}">
                <a16:creationId xmlns:a16="http://schemas.microsoft.com/office/drawing/2014/main" id="{EE11B385-570B-A507-8AB6-3C1109A0F7C4}"/>
              </a:ext>
            </a:extLst>
          </p:cNvPr>
          <p:cNvSpPr txBox="1"/>
          <p:nvPr/>
        </p:nvSpPr>
        <p:spPr>
          <a:xfrm>
            <a:off x="326570" y="6437534"/>
            <a:ext cx="4593770" cy="276999"/>
          </a:xfrm>
          <a:prstGeom prst="rect">
            <a:avLst/>
          </a:prstGeom>
          <a:noFill/>
        </p:spPr>
        <p:txBody>
          <a:bodyPr wrap="square">
            <a:spAutoFit/>
          </a:bodyPr>
          <a:lstStyle/>
          <a:p>
            <a:r>
              <a:rPr lang="en-JP" sz="1200" dirty="0">
                <a:latin typeface="Times New Roman" panose="02020603050405020304" pitchFamily="18" charset="0"/>
                <a:cs typeface="Times New Roman" panose="02020603050405020304" pitchFamily="18" charset="0"/>
              </a:rPr>
              <a:t>https://itinfranote.com/ssl-handshake/</a:t>
            </a:r>
          </a:p>
        </p:txBody>
      </p:sp>
      <p:sp>
        <p:nvSpPr>
          <p:cNvPr id="2" name="Slide Number Placeholder 1">
            <a:extLst>
              <a:ext uri="{FF2B5EF4-FFF2-40B4-BE49-F238E27FC236}">
                <a16:creationId xmlns:a16="http://schemas.microsoft.com/office/drawing/2014/main" id="{A69A98F5-DA54-1D05-2757-2E2F181D44C9}"/>
              </a:ext>
            </a:extLst>
          </p:cNvPr>
          <p:cNvSpPr>
            <a:spLocks noGrp="1"/>
          </p:cNvSpPr>
          <p:nvPr>
            <p:ph type="sldNum" sz="quarter" idx="12"/>
          </p:nvPr>
        </p:nvSpPr>
        <p:spPr/>
        <p:txBody>
          <a:bodyPr/>
          <a:lstStyle/>
          <a:p>
            <a:fld id="{D8C05D5D-75E2-3144-9168-CA833390726D}" type="slidenum">
              <a:rPr lang="en-JP" smtClean="0"/>
              <a:t>5</a:t>
            </a:fld>
            <a:endParaRPr lang="en-JP"/>
          </a:p>
        </p:txBody>
      </p:sp>
    </p:spTree>
    <p:extLst>
      <p:ext uri="{BB962C8B-B14F-4D97-AF65-F5344CB8AC3E}">
        <p14:creationId xmlns:p14="http://schemas.microsoft.com/office/powerpoint/2010/main" val="2899414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B415DA4B-8C42-C904-75A2-26035837C59E}"/>
              </a:ext>
            </a:extLst>
          </p:cNvPr>
          <p:cNvSpPr/>
          <p:nvPr/>
        </p:nvSpPr>
        <p:spPr>
          <a:xfrm>
            <a:off x="375590" y="1600200"/>
            <a:ext cx="4027714" cy="2252668"/>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a:solidFill>
                  <a:srgbClr val="C00000"/>
                </a:solidFill>
                <a:latin typeface="Meiryo" panose="020B0604030504040204" pitchFamily="34" charset="-128"/>
                <a:ea typeface="Meiryo" panose="020B0604030504040204" pitchFamily="34" charset="-128"/>
              </a:rPr>
              <a:t>認証局（</a:t>
            </a:r>
            <a:r>
              <a:rPr lang="en-US" sz="1600" dirty="0">
                <a:solidFill>
                  <a:srgbClr val="C00000"/>
                </a:solidFill>
                <a:latin typeface="Meiryo" panose="020B0604030504040204" pitchFamily="34" charset="-128"/>
                <a:ea typeface="Meiryo" panose="020B0604030504040204" pitchFamily="34" charset="-128"/>
              </a:rPr>
              <a:t>CA：Certificate Authority）</a:t>
            </a:r>
            <a:endParaRPr lang="mn-MN" sz="1600" dirty="0">
              <a:solidFill>
                <a:srgbClr val="C00000"/>
              </a:solidFill>
              <a:latin typeface="Meiryo" panose="020B0604030504040204" pitchFamily="34" charset="-128"/>
              <a:ea typeface="Meiryo" panose="020B0604030504040204" pitchFamily="34" charset="-128"/>
            </a:endParaRPr>
          </a:p>
          <a:p>
            <a:pPr algn="ctr"/>
            <a:endParaRPr lang="en-US" sz="16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証明書を発行・管理する信頼された第三者機関</a:t>
            </a: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サーバやユーザの公開鍵が正当であることを保証</a:t>
            </a: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秘密鍵を用いて証明書に電子署名を行う</a:t>
            </a:r>
            <a:endParaRPr lang="en-JP" sz="1600"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625900E2-16A5-7BC8-2634-74212AAD1C30}"/>
              </a:ext>
            </a:extLst>
          </p:cNvPr>
          <p:cNvSpPr/>
          <p:nvPr/>
        </p:nvSpPr>
        <p:spPr>
          <a:xfrm>
            <a:off x="4713514" y="1600200"/>
            <a:ext cx="4027714" cy="2252668"/>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a:solidFill>
                  <a:srgbClr val="C00000"/>
                </a:solidFill>
                <a:latin typeface="Meiryo" panose="020B0604030504040204" pitchFamily="34" charset="-128"/>
                <a:ea typeface="Meiryo" panose="020B0604030504040204" pitchFamily="34" charset="-128"/>
              </a:rPr>
              <a:t>サーバ証明書（</a:t>
            </a:r>
            <a:r>
              <a:rPr lang="en-US" altLang="ja-JP" sz="1600" dirty="0">
                <a:solidFill>
                  <a:srgbClr val="C00000"/>
                </a:solidFill>
                <a:latin typeface="Meiryo" panose="020B0604030504040204" pitchFamily="34" charset="-128"/>
                <a:ea typeface="Meiryo" panose="020B0604030504040204" pitchFamily="34" charset="-128"/>
              </a:rPr>
              <a:t>Server Certificate</a:t>
            </a:r>
            <a:r>
              <a:rPr lang="ja-JP" altLang="en-US" sz="1600">
                <a:latin typeface="Meiryo" panose="020B0604030504040204" pitchFamily="34" charset="-128"/>
                <a:ea typeface="Meiryo" panose="020B0604030504040204" pitchFamily="34" charset="-128"/>
              </a:rPr>
              <a:t>）</a:t>
            </a:r>
            <a:endParaRPr lang="en-US" altLang="ja-JP" sz="1600" dirty="0">
              <a:latin typeface="Meiryo" panose="020B0604030504040204" pitchFamily="34" charset="-128"/>
              <a:ea typeface="Meiryo" panose="020B0604030504040204" pitchFamily="34" charset="-128"/>
            </a:endParaRPr>
          </a:p>
          <a:p>
            <a:pPr algn="ctr"/>
            <a:endParaRPr lang="ja-JP" altLang="en-US" sz="16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altLang="ja-JP" sz="1600" dirty="0">
                <a:latin typeface="Meiryo" panose="020B0604030504040204" pitchFamily="34" charset="-128"/>
                <a:ea typeface="Meiryo" panose="020B0604030504040204" pitchFamily="34" charset="-128"/>
              </a:rPr>
              <a:t>Web</a:t>
            </a:r>
            <a:r>
              <a:rPr lang="ja-JP" altLang="en-US" sz="1600">
                <a:latin typeface="Meiryo" panose="020B0604030504040204" pitchFamily="34" charset="-128"/>
                <a:ea typeface="Meiryo" panose="020B0604030504040204" pitchFamily="34" charset="-128"/>
              </a:rPr>
              <a:t>サーバの身元（正当性）を証明する電子証明書</a:t>
            </a: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サーバの公開鍵とドメイン名（</a:t>
            </a:r>
            <a:r>
              <a:rPr lang="en-US" altLang="ja-JP" sz="1600" dirty="0">
                <a:latin typeface="Meiryo" panose="020B0604030504040204" pitchFamily="34" charset="-128"/>
                <a:ea typeface="Meiryo" panose="020B0604030504040204" pitchFamily="34" charset="-128"/>
              </a:rPr>
              <a:t>CN</a:t>
            </a:r>
            <a:r>
              <a:rPr lang="ja-JP" altLang="en-US" sz="1600">
                <a:latin typeface="Meiryo" panose="020B0604030504040204" pitchFamily="34" charset="-128"/>
                <a:ea typeface="Meiryo" panose="020B0604030504040204" pitchFamily="34" charset="-128"/>
              </a:rPr>
              <a:t>）を含む</a:t>
            </a:r>
          </a:p>
          <a:p>
            <a:pPr marL="214313" indent="-214313">
              <a:buFont typeface="Arial" panose="020B0604020202020204" pitchFamily="34" charset="0"/>
              <a:buChar char="•"/>
            </a:pPr>
            <a:r>
              <a:rPr lang="en-US" altLang="ja-JP" sz="1600" dirty="0">
                <a:latin typeface="Meiryo" panose="020B0604030504040204" pitchFamily="34" charset="-128"/>
                <a:ea typeface="Meiryo" panose="020B0604030504040204" pitchFamily="34" charset="-128"/>
              </a:rPr>
              <a:t>CA </a:t>
            </a:r>
            <a:r>
              <a:rPr lang="ja-JP" altLang="en-US" sz="1600">
                <a:latin typeface="Meiryo" panose="020B0604030504040204" pitchFamily="34" charset="-128"/>
                <a:ea typeface="Meiryo" panose="020B0604030504040204" pitchFamily="34" charset="-128"/>
              </a:rPr>
              <a:t>によって署名されている</a:t>
            </a:r>
            <a:endParaRPr lang="en-JP" sz="1600" dirty="0">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B1BC9AE6-BFE7-5988-DD62-FF86CA38C697}"/>
              </a:ext>
            </a:extLst>
          </p:cNvPr>
          <p:cNvSpPr/>
          <p:nvPr/>
        </p:nvSpPr>
        <p:spPr>
          <a:xfrm>
            <a:off x="1774436" y="4403337"/>
            <a:ext cx="5257736" cy="1708925"/>
          </a:xfrm>
          <a:prstGeom prst="roundRect">
            <a:avLst/>
          </a:prstGeom>
          <a:solidFill>
            <a:schemeClr val="accent4">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a:solidFill>
                  <a:srgbClr val="C00000"/>
                </a:solidFill>
                <a:latin typeface="Meiryo" panose="020B0604030504040204" pitchFamily="34" charset="-128"/>
                <a:ea typeface="Meiryo" panose="020B0604030504040204" pitchFamily="34" charset="-128"/>
              </a:rPr>
              <a:t>公開鍵・秘密鍵（</a:t>
            </a:r>
            <a:r>
              <a:rPr lang="en-US" altLang="ja-JP" sz="1600" dirty="0">
                <a:solidFill>
                  <a:srgbClr val="C00000"/>
                </a:solidFill>
                <a:latin typeface="Meiryo" panose="020B0604030504040204" pitchFamily="34" charset="-128"/>
                <a:ea typeface="Meiryo" panose="020B0604030504040204" pitchFamily="34" charset="-128"/>
              </a:rPr>
              <a:t>Public / Private Key</a:t>
            </a:r>
            <a:r>
              <a:rPr lang="ja-JP" altLang="en-US" sz="1600">
                <a:solidFill>
                  <a:srgbClr val="C00000"/>
                </a:solidFill>
                <a:latin typeface="Meiryo" panose="020B0604030504040204" pitchFamily="34" charset="-128"/>
                <a:ea typeface="Meiryo" panose="020B0604030504040204" pitchFamily="34" charset="-128"/>
              </a:rPr>
              <a:t>）</a:t>
            </a:r>
            <a:endParaRPr lang="mn-MN" altLang="ja-JP" sz="1600" dirty="0">
              <a:solidFill>
                <a:srgbClr val="C00000"/>
              </a:solidFill>
              <a:latin typeface="Meiryo" panose="020B0604030504040204" pitchFamily="34" charset="-128"/>
              <a:ea typeface="Meiryo" panose="020B0604030504040204" pitchFamily="34" charset="-128"/>
            </a:endParaRPr>
          </a:p>
          <a:p>
            <a:endParaRPr lang="ja-JP" altLang="en-US" sz="16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公開鍵：暗号化や署名検証に使用（誰でも取得可能）</a:t>
            </a: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秘密鍵：復号や電子署名に使用（所有者のみ保持</a:t>
            </a:r>
            <a:endParaRPr lang="en-JP" sz="16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9E81DE51-090E-2DBE-CE82-63FACACAFBB7}"/>
              </a:ext>
            </a:extLst>
          </p:cNvPr>
          <p:cNvSpPr txBox="1"/>
          <p:nvPr/>
        </p:nvSpPr>
        <p:spPr>
          <a:xfrm>
            <a:off x="212302" y="545683"/>
            <a:ext cx="5883697"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PKIを構成する要素とその役割</a:t>
            </a:r>
            <a:r>
              <a:rPr lang="mn-MN" sz="2000" b="1" dirty="0">
                <a:solidFill>
                  <a:srgbClr val="C00000"/>
                </a:solidFill>
                <a:latin typeface="Meiryo" panose="020B0604030504040204" pitchFamily="34" charset="-128"/>
                <a:ea typeface="Meiryo" panose="020B0604030504040204" pitchFamily="34" charset="-128"/>
              </a:rPr>
              <a:t> </a:t>
            </a:r>
            <a:r>
              <a:rPr lang="en-US" sz="2000" b="1" dirty="0">
                <a:solidFill>
                  <a:srgbClr val="C00000"/>
                </a:solidFill>
                <a:latin typeface="Meiryo" panose="020B0604030504040204" pitchFamily="34" charset="-128"/>
                <a:ea typeface="Meiryo" panose="020B0604030504040204" pitchFamily="34" charset="-128"/>
              </a:rPr>
              <a:t>1/2</a:t>
            </a:r>
            <a:endParaRPr lang="en-JP" sz="2000" b="1" dirty="0">
              <a:solidFill>
                <a:srgbClr val="C00000"/>
              </a:solidFill>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163F1308-A0AF-5887-29FA-3D18E5872D8B}"/>
              </a:ext>
            </a:extLst>
          </p:cNvPr>
          <p:cNvSpPr>
            <a:spLocks noGrp="1"/>
          </p:cNvSpPr>
          <p:nvPr>
            <p:ph type="sldNum" sz="quarter" idx="12"/>
          </p:nvPr>
        </p:nvSpPr>
        <p:spPr/>
        <p:txBody>
          <a:bodyPr/>
          <a:lstStyle/>
          <a:p>
            <a:fld id="{D8C05D5D-75E2-3144-9168-CA833390726D}" type="slidenum">
              <a:rPr lang="en-JP" smtClean="0"/>
              <a:t>6</a:t>
            </a:fld>
            <a:endParaRPr lang="en-JP"/>
          </a:p>
        </p:txBody>
      </p:sp>
    </p:spTree>
    <p:extLst>
      <p:ext uri="{BB962C8B-B14F-4D97-AF65-F5344CB8AC3E}">
        <p14:creationId xmlns:p14="http://schemas.microsoft.com/office/powerpoint/2010/main" val="480893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F8B3F59D-31DE-5801-4791-88432CDA5636}"/>
              </a:ext>
            </a:extLst>
          </p:cNvPr>
          <p:cNvSpPr/>
          <p:nvPr/>
        </p:nvSpPr>
        <p:spPr>
          <a:xfrm>
            <a:off x="473528" y="1518911"/>
            <a:ext cx="3943350" cy="3347003"/>
          </a:xfrm>
          <a:prstGeom prst="round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a:solidFill>
                  <a:srgbClr val="C00000"/>
                </a:solidFill>
                <a:latin typeface="Meiryo" panose="020B0604030504040204" pitchFamily="34" charset="-128"/>
                <a:ea typeface="Meiryo" panose="020B0604030504040204" pitchFamily="34" charset="-128"/>
              </a:rPr>
              <a:t>ルート証明書</a:t>
            </a:r>
            <a:endParaRPr lang="en-US" altLang="ja-JP" sz="1600" dirty="0">
              <a:solidFill>
                <a:srgbClr val="C00000"/>
              </a:solidFill>
              <a:latin typeface="Meiryo" panose="020B0604030504040204" pitchFamily="34" charset="-128"/>
              <a:ea typeface="Meiryo" panose="020B0604030504040204" pitchFamily="34" charset="-128"/>
            </a:endParaRPr>
          </a:p>
          <a:p>
            <a:pPr algn="ctr"/>
            <a:r>
              <a:rPr lang="ja-JP" altLang="en-US" sz="1600">
                <a:solidFill>
                  <a:srgbClr val="C00000"/>
                </a:solidFill>
                <a:latin typeface="Meiryo" panose="020B0604030504040204" pitchFamily="34" charset="-128"/>
                <a:ea typeface="Meiryo" panose="020B0604030504040204" pitchFamily="34" charset="-128"/>
              </a:rPr>
              <a:t>（</a:t>
            </a:r>
            <a:r>
              <a:rPr lang="en-US" sz="1600" dirty="0">
                <a:solidFill>
                  <a:srgbClr val="C00000"/>
                </a:solidFill>
                <a:latin typeface="Meiryo" panose="020B0604030504040204" pitchFamily="34" charset="-128"/>
                <a:ea typeface="Meiryo" panose="020B0604030504040204" pitchFamily="34" charset="-128"/>
              </a:rPr>
              <a:t>Root Certificate）</a:t>
            </a:r>
          </a:p>
          <a:p>
            <a:pPr algn="ctr"/>
            <a:endParaRPr lang="en-US" sz="1600" dirty="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1600" dirty="0">
                <a:latin typeface="Meiryo" panose="020B0604030504040204" pitchFamily="34" charset="-128"/>
                <a:ea typeface="Meiryo" panose="020B0604030504040204" pitchFamily="34" charset="-128"/>
              </a:rPr>
              <a:t>CA</a:t>
            </a:r>
            <a:r>
              <a:rPr lang="ja-JP" altLang="en-US" sz="1600">
                <a:latin typeface="Meiryo" panose="020B0604030504040204" pitchFamily="34" charset="-128"/>
                <a:ea typeface="Meiryo" panose="020B0604030504040204" pitchFamily="34" charset="-128"/>
              </a:rPr>
              <a:t>自身を証明する最上位の証明書</a:t>
            </a:r>
            <a:endParaRPr lang="en-US"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en-US" sz="1600" dirty="0">
                <a:latin typeface="Meiryo" panose="020B0604030504040204" pitchFamily="34" charset="-128"/>
                <a:ea typeface="Meiryo" panose="020B0604030504040204" pitchFamily="34" charset="-128"/>
              </a:rPr>
              <a:t>OS</a:t>
            </a:r>
            <a:r>
              <a:rPr lang="ja-JP" altLang="en-US" sz="1600">
                <a:latin typeface="Meiryo" panose="020B0604030504040204" pitchFamily="34" charset="-128"/>
                <a:ea typeface="Meiryo" panose="020B0604030504040204" pitchFamily="34" charset="-128"/>
              </a:rPr>
              <a:t>や</a:t>
            </a:r>
            <a:r>
              <a:rPr lang="en-US" sz="1600" dirty="0">
                <a:latin typeface="Meiryo" panose="020B0604030504040204" pitchFamily="34" charset="-128"/>
                <a:ea typeface="Meiryo" panose="020B0604030504040204" pitchFamily="34" charset="-128"/>
              </a:rPr>
              <a:t>Web</a:t>
            </a:r>
            <a:r>
              <a:rPr lang="ja-JP" altLang="en-US" sz="1600">
                <a:latin typeface="Meiryo" panose="020B0604030504040204" pitchFamily="34" charset="-128"/>
                <a:ea typeface="Meiryo" panose="020B0604030504040204" pitchFamily="34" charset="-128"/>
              </a:rPr>
              <a:t>ブラウザの信頼ストアに登録されている</a:t>
            </a:r>
            <a:r>
              <a:rPr lang="en-US" altLang="ja-JP" sz="1600" dirty="0">
                <a:latin typeface="Meiryo" panose="020B0604030504040204" pitchFamily="34" charset="-128"/>
                <a:ea typeface="Meiryo" panose="020B0604030504040204" pitchFamily="34" charset="-128"/>
              </a:rPr>
              <a:t>.</a:t>
            </a:r>
          </a:p>
          <a:p>
            <a:pPr marL="214313" indent="-214313">
              <a:buFont typeface="Arial" panose="020B0604020202020204" pitchFamily="34" charset="0"/>
              <a:buChar char="•"/>
            </a:pPr>
            <a:endParaRPr lang="ja-JP" altLang="en-US" sz="16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証明書チェーンの起点となる</a:t>
            </a:r>
            <a:r>
              <a:rPr lang="en-US" altLang="ja-JP" sz="1600" dirty="0">
                <a:latin typeface="Meiryo" panose="020B0604030504040204" pitchFamily="34" charset="-128"/>
                <a:ea typeface="Meiryo" panose="020B0604030504040204" pitchFamily="34" charset="-128"/>
              </a:rPr>
              <a:t>.</a:t>
            </a:r>
            <a:endParaRPr lang="en-JP" sz="1600" dirty="0">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AB33E748-8CFC-652F-13FA-25C6FB34A760}"/>
              </a:ext>
            </a:extLst>
          </p:cNvPr>
          <p:cNvSpPr/>
          <p:nvPr/>
        </p:nvSpPr>
        <p:spPr>
          <a:xfrm>
            <a:off x="4572000" y="1518911"/>
            <a:ext cx="3943350" cy="3423203"/>
          </a:xfrm>
          <a:prstGeom prst="roundRect">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600" dirty="0">
                <a:solidFill>
                  <a:srgbClr val="C00000"/>
                </a:solidFill>
                <a:latin typeface="Meiryo" panose="020B0604030504040204" pitchFamily="34" charset="-128"/>
                <a:ea typeface="Meiryo" panose="020B0604030504040204" pitchFamily="34" charset="-128"/>
              </a:rPr>
              <a:t>   </a:t>
            </a:r>
            <a:r>
              <a:rPr lang="ja-JP" altLang="en-US" sz="1600">
                <a:solidFill>
                  <a:srgbClr val="C00000"/>
                </a:solidFill>
                <a:latin typeface="Meiryo" panose="020B0604030504040204" pitchFamily="34" charset="-128"/>
                <a:ea typeface="Meiryo" panose="020B0604030504040204" pitchFamily="34" charset="-128"/>
              </a:rPr>
              <a:t>証明書チェーン</a:t>
            </a:r>
            <a:endParaRPr lang="en-US" altLang="ja-JP" sz="1600" dirty="0">
              <a:solidFill>
                <a:srgbClr val="C00000"/>
              </a:solidFill>
              <a:latin typeface="Meiryo" panose="020B0604030504040204" pitchFamily="34" charset="-128"/>
              <a:ea typeface="Meiryo" panose="020B0604030504040204" pitchFamily="34" charset="-128"/>
            </a:endParaRPr>
          </a:p>
          <a:p>
            <a:pPr algn="ctr"/>
            <a:r>
              <a:rPr lang="ja-JP" altLang="en-US" sz="1600">
                <a:solidFill>
                  <a:srgbClr val="C00000"/>
                </a:solidFill>
                <a:latin typeface="Meiryo" panose="020B0604030504040204" pitchFamily="34" charset="-128"/>
                <a:ea typeface="Meiryo" panose="020B0604030504040204" pitchFamily="34" charset="-128"/>
              </a:rPr>
              <a:t>（</a:t>
            </a:r>
            <a:r>
              <a:rPr lang="en-US" altLang="ja-JP" sz="1600" dirty="0">
                <a:solidFill>
                  <a:srgbClr val="C00000"/>
                </a:solidFill>
                <a:latin typeface="Meiryo" panose="020B0604030504040204" pitchFamily="34" charset="-128"/>
                <a:ea typeface="Meiryo" panose="020B0604030504040204" pitchFamily="34" charset="-128"/>
              </a:rPr>
              <a:t>Certificate Chain</a:t>
            </a:r>
            <a:r>
              <a:rPr lang="ja-JP" altLang="en-US" sz="1600">
                <a:solidFill>
                  <a:srgbClr val="C00000"/>
                </a:solidFill>
                <a:latin typeface="Meiryo" panose="020B0604030504040204" pitchFamily="34" charset="-128"/>
                <a:ea typeface="Meiryo" panose="020B0604030504040204" pitchFamily="34" charset="-128"/>
              </a:rPr>
              <a:t>）</a:t>
            </a:r>
            <a:endParaRPr lang="en-US" altLang="ja-JP" sz="1600" dirty="0">
              <a:solidFill>
                <a:srgbClr val="C00000"/>
              </a:solidFill>
              <a:latin typeface="Meiryo" panose="020B0604030504040204" pitchFamily="34" charset="-128"/>
              <a:ea typeface="Meiryo" panose="020B0604030504040204" pitchFamily="34" charset="-128"/>
            </a:endParaRPr>
          </a:p>
          <a:p>
            <a:pPr algn="ctr"/>
            <a:endParaRPr lang="en-US" altLang="ja-JP" sz="1600" dirty="0">
              <a:solidFill>
                <a:srgbClr val="C00000"/>
              </a:solidFill>
              <a:latin typeface="Meiryo" panose="020B0604030504040204" pitchFamily="34" charset="-128"/>
              <a:ea typeface="Meiryo" panose="020B0604030504040204" pitchFamily="34" charset="-128"/>
            </a:endParaRPr>
          </a:p>
          <a:p>
            <a:pPr algn="ctr"/>
            <a:endParaRPr lang="ja-JP" altLang="en-US" sz="1600">
              <a:solidFill>
                <a:srgbClr val="C00000"/>
              </a:solidFill>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サーバ証明書 → 中間</a:t>
            </a:r>
            <a:r>
              <a:rPr lang="en-US" altLang="ja-JP" sz="1600" dirty="0">
                <a:latin typeface="Meiryo" panose="020B0604030504040204" pitchFamily="34" charset="-128"/>
                <a:ea typeface="Meiryo" panose="020B0604030504040204" pitchFamily="34" charset="-128"/>
              </a:rPr>
              <a:t>CA</a:t>
            </a:r>
            <a:r>
              <a:rPr lang="ja-JP" altLang="en-US" sz="1600">
                <a:latin typeface="Meiryo" panose="020B0604030504040204" pitchFamily="34" charset="-128"/>
                <a:ea typeface="Meiryo" panose="020B0604030504040204" pitchFamily="34" charset="-128"/>
              </a:rPr>
              <a:t>証明書 → ルート証明書 の連鎖構造</a:t>
            </a:r>
            <a:endParaRPr lang="en-US" altLang="ja-JP" sz="1600" dirty="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endParaRPr lang="ja-JP" altLang="en-US" sz="1600">
              <a:latin typeface="Meiryo" panose="020B0604030504040204" pitchFamily="34" charset="-128"/>
              <a:ea typeface="Meiryo" panose="020B0604030504040204" pitchFamily="34" charset="-128"/>
            </a:endParaRPr>
          </a:p>
          <a:p>
            <a:pPr marL="214313" indent="-214313">
              <a:buFont typeface="Arial" panose="020B0604020202020204" pitchFamily="34" charset="0"/>
              <a:buChar char="•"/>
            </a:pPr>
            <a:r>
              <a:rPr lang="ja-JP" altLang="en-US" sz="1600">
                <a:latin typeface="Meiryo" panose="020B0604030504040204" pitchFamily="34" charset="-128"/>
                <a:ea typeface="Meiryo" panose="020B0604030504040204" pitchFamily="34" charset="-128"/>
              </a:rPr>
              <a:t>クライアントはチェーンを検証して信頼性を判断</a:t>
            </a:r>
            <a:endParaRPr lang="en-JP" sz="16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A2EFA8E0-1252-8966-15E6-280B03757B4D}"/>
              </a:ext>
            </a:extLst>
          </p:cNvPr>
          <p:cNvSpPr txBox="1"/>
          <p:nvPr/>
        </p:nvSpPr>
        <p:spPr>
          <a:xfrm>
            <a:off x="598714" y="547272"/>
            <a:ext cx="4974771" cy="400110"/>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PKIを構成する要素とその役割</a:t>
            </a:r>
            <a:r>
              <a:rPr lang="mn-MN" sz="2000" b="1" dirty="0">
                <a:solidFill>
                  <a:srgbClr val="C00000"/>
                </a:solidFill>
                <a:latin typeface="Meiryo" panose="020B0604030504040204" pitchFamily="34" charset="-128"/>
                <a:ea typeface="Meiryo" panose="020B0604030504040204" pitchFamily="34" charset="-128"/>
              </a:rPr>
              <a:t> </a:t>
            </a:r>
            <a:r>
              <a:rPr lang="en-US" sz="2000" b="1" dirty="0">
                <a:solidFill>
                  <a:srgbClr val="C00000"/>
                </a:solidFill>
                <a:latin typeface="Meiryo" panose="020B0604030504040204" pitchFamily="34" charset="-128"/>
                <a:ea typeface="Meiryo" panose="020B0604030504040204" pitchFamily="34" charset="-128"/>
              </a:rPr>
              <a:t>2/2</a:t>
            </a:r>
            <a:endParaRPr lang="en-JP" sz="2000" b="1" dirty="0">
              <a:solidFill>
                <a:srgbClr val="C00000"/>
              </a:solidFill>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8FD1AE73-6981-F761-21F0-20C983F49B57}"/>
              </a:ext>
            </a:extLst>
          </p:cNvPr>
          <p:cNvSpPr>
            <a:spLocks noGrp="1"/>
          </p:cNvSpPr>
          <p:nvPr>
            <p:ph type="sldNum" sz="quarter" idx="12"/>
          </p:nvPr>
        </p:nvSpPr>
        <p:spPr/>
        <p:txBody>
          <a:bodyPr/>
          <a:lstStyle/>
          <a:p>
            <a:fld id="{D8C05D5D-75E2-3144-9168-CA833390726D}" type="slidenum">
              <a:rPr lang="en-JP" smtClean="0"/>
              <a:t>7</a:t>
            </a:fld>
            <a:endParaRPr lang="en-JP"/>
          </a:p>
        </p:txBody>
      </p:sp>
    </p:spTree>
    <p:extLst>
      <p:ext uri="{BB962C8B-B14F-4D97-AF65-F5344CB8AC3E}">
        <p14:creationId xmlns:p14="http://schemas.microsoft.com/office/powerpoint/2010/main" val="3797442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BE86AF-6ECB-A005-7970-AB16125F74BD}"/>
              </a:ext>
            </a:extLst>
          </p:cNvPr>
          <p:cNvSpPr txBox="1"/>
          <p:nvPr/>
        </p:nvSpPr>
        <p:spPr>
          <a:xfrm>
            <a:off x="181803" y="309319"/>
            <a:ext cx="4621906" cy="461665"/>
          </a:xfrm>
          <a:prstGeom prst="rect">
            <a:avLst/>
          </a:prstGeom>
          <a:noFill/>
        </p:spPr>
        <p:txBody>
          <a:bodyPr wrap="none" rtlCol="0">
            <a:spAutoFit/>
          </a:bodyPr>
          <a:lstStyle/>
          <a:p>
            <a:pPr marL="285750" indent="-285750">
              <a:buFont typeface="Wingdings" pitchFamily="2" charset="2"/>
              <a:buChar char="Ø"/>
            </a:pPr>
            <a:r>
              <a:rPr lang="en-US" sz="2400" b="1" dirty="0">
                <a:solidFill>
                  <a:srgbClr val="92D050"/>
                </a:solidFill>
                <a:latin typeface="Meiryo" panose="020B0604030504040204" pitchFamily="34" charset="-128"/>
                <a:ea typeface="Meiryo" panose="020B0604030504040204" pitchFamily="34" charset="-128"/>
              </a:rPr>
              <a:t>Private CA</a:t>
            </a:r>
            <a:r>
              <a:rPr lang="ja-JP" altLang="en-US" sz="2400" b="1">
                <a:solidFill>
                  <a:srgbClr val="92D050"/>
                </a:solidFill>
                <a:latin typeface="Meiryo" panose="020B0604030504040204" pitchFamily="34" charset="-128"/>
                <a:ea typeface="Meiryo" panose="020B0604030504040204" pitchFamily="34" charset="-128"/>
              </a:rPr>
              <a:t>構築演習のまとめ</a:t>
            </a:r>
            <a:endParaRPr lang="en-JP" sz="2400" dirty="0">
              <a:solidFill>
                <a:srgbClr val="92D050"/>
              </a:solidFill>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B5506DC0-84F1-501C-FC94-573D1DCDCF6C}"/>
              </a:ext>
            </a:extLst>
          </p:cNvPr>
          <p:cNvSpPr txBox="1"/>
          <p:nvPr/>
        </p:nvSpPr>
        <p:spPr>
          <a:xfrm>
            <a:off x="447674" y="1123593"/>
            <a:ext cx="8458201" cy="4154984"/>
          </a:xfrm>
          <a:prstGeom prst="rect">
            <a:avLst/>
          </a:prstGeom>
          <a:noFill/>
        </p:spPr>
        <p:txBody>
          <a:bodyPr wrap="square">
            <a:spAutoFit/>
          </a:bodyPr>
          <a:lstStyle/>
          <a:p>
            <a:pPr marL="457200" indent="-457200">
              <a:buAutoNum type="arabicPeriod"/>
            </a:pPr>
            <a:r>
              <a:rPr lang="en-JP" sz="2400" dirty="0">
                <a:latin typeface="Meiryo" panose="020B0604030504040204" pitchFamily="34" charset="-128"/>
                <a:ea typeface="Meiryo" panose="020B0604030504040204" pitchFamily="34" charset="-128"/>
              </a:rPr>
              <a:t>PKIの理解</a:t>
            </a:r>
          </a:p>
          <a:p>
            <a:r>
              <a:rPr lang="en-JP" sz="2400" dirty="0">
                <a:latin typeface="Meiryo" panose="020B0604030504040204" pitchFamily="34" charset="-128"/>
                <a:ea typeface="Meiryo" panose="020B0604030504040204" pitchFamily="34" charset="-128"/>
              </a:rPr>
              <a:t>PKIは公開鍵暗号を用いて通信の信頼性を確保する仕組みである</a:t>
            </a: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2.</a:t>
            </a:r>
            <a:r>
              <a:rPr lang="en-JP" sz="2400" dirty="0">
                <a:latin typeface="Meiryo" panose="020B0604030504040204" pitchFamily="34" charset="-128"/>
                <a:ea typeface="Meiryo" panose="020B0604030504040204" pitchFamily="34" charset="-128"/>
              </a:rPr>
              <a:t> 実験で学んだこと</a:t>
            </a:r>
          </a:p>
          <a:p>
            <a:r>
              <a:rPr lang="en-JP" sz="2400" dirty="0">
                <a:latin typeface="Meiryo" panose="020B0604030504040204" pitchFamily="34" charset="-128"/>
                <a:ea typeface="Meiryo" panose="020B0604030504040204" pitchFamily="34" charset="-128"/>
              </a:rPr>
              <a:t>Private CAを構築し、サーバ証明書の発行を実際に確認した</a:t>
            </a:r>
          </a:p>
          <a:p>
            <a:r>
              <a:rPr lang="en-JP" sz="2400" dirty="0">
                <a:latin typeface="Meiryo" panose="020B0604030504040204" pitchFamily="34" charset="-128"/>
                <a:ea typeface="Meiryo" panose="020B0604030504040204" pitchFamily="34" charset="-128"/>
              </a:rPr>
              <a:t>TLS handshake による証明書検証とHTTPS通信を理解した</a:t>
            </a: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3.</a:t>
            </a:r>
            <a:r>
              <a:rPr lang="en-JP" sz="2400" dirty="0">
                <a:latin typeface="Meiryo" panose="020B0604030504040204" pitchFamily="34" charset="-128"/>
                <a:ea typeface="Meiryo" panose="020B0604030504040204" pitchFamily="34" charset="-128"/>
              </a:rPr>
              <a:t> セキュリティの重要性</a:t>
            </a:r>
          </a:p>
          <a:p>
            <a:r>
              <a:rPr lang="en-JP" sz="2400" dirty="0">
                <a:latin typeface="Meiryo" panose="020B0604030504040204" pitchFamily="34" charset="-128"/>
                <a:ea typeface="Meiryo" panose="020B0604030504040204" pitchFamily="34" charset="-128"/>
              </a:rPr>
              <a:t>証明書管理や秘密鍵保護など、多層的なセキュリティ対策が重要である</a:t>
            </a:r>
          </a:p>
        </p:txBody>
      </p:sp>
      <p:sp>
        <p:nvSpPr>
          <p:cNvPr id="15" name="Slide Number Placeholder 14">
            <a:extLst>
              <a:ext uri="{FF2B5EF4-FFF2-40B4-BE49-F238E27FC236}">
                <a16:creationId xmlns:a16="http://schemas.microsoft.com/office/drawing/2014/main" id="{F88A63E3-115E-A981-B8C2-8D60DD4589BA}"/>
              </a:ext>
            </a:extLst>
          </p:cNvPr>
          <p:cNvSpPr>
            <a:spLocks noGrp="1"/>
          </p:cNvSpPr>
          <p:nvPr>
            <p:ph type="sldNum" sz="quarter" idx="12"/>
          </p:nvPr>
        </p:nvSpPr>
        <p:spPr/>
        <p:txBody>
          <a:bodyPr/>
          <a:lstStyle/>
          <a:p>
            <a:fld id="{D8C05D5D-75E2-3144-9168-CA833390726D}" type="slidenum">
              <a:rPr lang="en-JP" smtClean="0"/>
              <a:t>8</a:t>
            </a:fld>
            <a:endParaRPr lang="en-JP"/>
          </a:p>
        </p:txBody>
      </p:sp>
    </p:spTree>
    <p:extLst>
      <p:ext uri="{BB962C8B-B14F-4D97-AF65-F5344CB8AC3E}">
        <p14:creationId xmlns:p14="http://schemas.microsoft.com/office/powerpoint/2010/main" val="3968690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0F73E5B-3604-3F64-DF76-2583DAE19FC3}"/>
              </a:ext>
            </a:extLst>
          </p:cNvPr>
          <p:cNvSpPr txBox="1"/>
          <p:nvPr/>
        </p:nvSpPr>
        <p:spPr>
          <a:xfrm>
            <a:off x="136873" y="520505"/>
            <a:ext cx="6778486" cy="400110"/>
          </a:xfrm>
          <a:prstGeom prst="rect">
            <a:avLst/>
          </a:prstGeom>
          <a:noFill/>
        </p:spPr>
        <p:txBody>
          <a:bodyPr wrap="square">
            <a:spAutoFit/>
          </a:bodyPr>
          <a:lstStyle/>
          <a:p>
            <a:pPr marL="285750" indent="-285750">
              <a:buFont typeface="Wingdings" pitchFamily="2" charset="2"/>
              <a:buChar char="Ø"/>
            </a:pPr>
            <a:r>
              <a:rPr lang="ja-JP" altLang="en-US" sz="2000" b="1">
                <a:solidFill>
                  <a:srgbClr val="C00000"/>
                </a:solidFill>
                <a:latin typeface="Meiryo" panose="020B0604030504040204" pitchFamily="34" charset="-128"/>
                <a:ea typeface="Meiryo" panose="020B0604030504040204" pitchFamily="34" charset="-128"/>
              </a:rPr>
              <a:t>セキュリティ対策の観点から見たマルウェア解析手法</a:t>
            </a:r>
            <a:endParaRPr lang="en-JP" sz="2000" b="1" dirty="0">
              <a:solidFill>
                <a:srgbClr val="C00000"/>
              </a:solidFill>
            </a:endParaRPr>
          </a:p>
        </p:txBody>
      </p:sp>
      <p:sp>
        <p:nvSpPr>
          <p:cNvPr id="9" name="TextBox 8">
            <a:extLst>
              <a:ext uri="{FF2B5EF4-FFF2-40B4-BE49-F238E27FC236}">
                <a16:creationId xmlns:a16="http://schemas.microsoft.com/office/drawing/2014/main" id="{E5C65A0A-78DA-BD72-F25E-C96FD3335743}"/>
              </a:ext>
            </a:extLst>
          </p:cNvPr>
          <p:cNvSpPr txBox="1"/>
          <p:nvPr/>
        </p:nvSpPr>
        <p:spPr>
          <a:xfrm>
            <a:off x="758378" y="1064460"/>
            <a:ext cx="6415086" cy="461665"/>
          </a:xfrm>
          <a:prstGeom prst="rect">
            <a:avLst/>
          </a:prstGeom>
          <a:noFill/>
        </p:spPr>
        <p:txBody>
          <a:bodyPr wrap="square">
            <a:spAutoFit/>
          </a:bodyPr>
          <a:lstStyle/>
          <a:p>
            <a:pPr marL="342900" indent="-342900">
              <a:buFont typeface="Wingdings" pitchFamily="2" charset="2"/>
              <a:buChar char="Ø"/>
            </a:pPr>
            <a:r>
              <a:rPr lang="en-US" sz="2400" dirty="0">
                <a:solidFill>
                  <a:srgbClr val="92D050"/>
                </a:solidFill>
                <a:latin typeface="Meiryo" panose="020B0604030504040204" pitchFamily="34" charset="-128"/>
                <a:ea typeface="Meiryo" panose="020B0604030504040204" pitchFamily="34" charset="-128"/>
              </a:rPr>
              <a:t>Binary Refinery</a:t>
            </a:r>
            <a:r>
              <a:rPr lang="en-JP" sz="2400" dirty="0">
                <a:solidFill>
                  <a:srgbClr val="92D050"/>
                </a:solidFill>
                <a:latin typeface="Meiryo" panose="020B0604030504040204" pitchFamily="34" charset="-128"/>
                <a:ea typeface="Meiryo" panose="020B0604030504040204" pitchFamily="34" charset="-128"/>
              </a:rPr>
              <a:t> を用いたバイナリ解析</a:t>
            </a:r>
          </a:p>
        </p:txBody>
      </p:sp>
      <p:sp>
        <p:nvSpPr>
          <p:cNvPr id="19" name="TextBox 18">
            <a:extLst>
              <a:ext uri="{FF2B5EF4-FFF2-40B4-BE49-F238E27FC236}">
                <a16:creationId xmlns:a16="http://schemas.microsoft.com/office/drawing/2014/main" id="{0251E4CD-EFE1-2065-48E8-48DA16A4F268}"/>
              </a:ext>
            </a:extLst>
          </p:cNvPr>
          <p:cNvSpPr txBox="1"/>
          <p:nvPr/>
        </p:nvSpPr>
        <p:spPr>
          <a:xfrm>
            <a:off x="136873" y="105456"/>
            <a:ext cx="4814886"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en-US" altLang="ja-JP" sz="1400" dirty="0">
                <a:latin typeface="Meiryo" panose="020B0604030504040204" pitchFamily="34" charset="-128"/>
                <a:ea typeface="Meiryo" panose="020B0604030504040204" pitchFamily="34" charset="-128"/>
              </a:rPr>
              <a:t>2</a:t>
            </a:r>
            <a:endParaRPr lang="en-JP" sz="1400" dirty="0"/>
          </a:p>
        </p:txBody>
      </p:sp>
      <p:sp>
        <p:nvSpPr>
          <p:cNvPr id="25" name="TextBox 24">
            <a:extLst>
              <a:ext uri="{FF2B5EF4-FFF2-40B4-BE49-F238E27FC236}">
                <a16:creationId xmlns:a16="http://schemas.microsoft.com/office/drawing/2014/main" id="{B5AD75D3-FA91-2D3A-1EC7-DE8E2F5D5AF6}"/>
              </a:ext>
            </a:extLst>
          </p:cNvPr>
          <p:cNvSpPr txBox="1"/>
          <p:nvPr/>
        </p:nvSpPr>
        <p:spPr>
          <a:xfrm>
            <a:off x="300089" y="1264515"/>
            <a:ext cx="8715324" cy="4524315"/>
          </a:xfrm>
          <a:prstGeom prst="rect">
            <a:avLst/>
          </a:prstGeom>
          <a:noFill/>
        </p:spPr>
        <p:txBody>
          <a:bodyPr wrap="square">
            <a:spAutoFit/>
          </a:bodyPr>
          <a:lstStyle/>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1. </a:t>
            </a:r>
            <a:r>
              <a:rPr lang="en-JP" sz="2400" dirty="0">
                <a:latin typeface="Meiryo" panose="020B0604030504040204" pitchFamily="34" charset="-128"/>
                <a:ea typeface="Meiryo" panose="020B0604030504040204" pitchFamily="34" charset="-128"/>
              </a:rPr>
              <a:t>目的</a:t>
            </a:r>
          </a:p>
          <a:p>
            <a:r>
              <a:rPr lang="en-JP" sz="2400" dirty="0">
                <a:latin typeface="Meiryo" panose="020B0604030504040204" pitchFamily="34" charset="-128"/>
                <a:ea typeface="Meiryo" panose="020B0604030504040204" pitchFamily="34" charset="-128"/>
              </a:rPr>
              <a:t>・Binary Refinery を用いてバイナリデータの解析方法を理解</a:t>
            </a:r>
            <a:endParaRPr lang="mn-MN"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2.</a:t>
            </a:r>
            <a:r>
              <a:rPr lang="en-JP" sz="2400" dirty="0">
                <a:latin typeface="Meiryo" panose="020B0604030504040204" pitchFamily="34" charset="-128"/>
                <a:ea typeface="Meiryo" panose="020B0604030504040204" pitchFamily="34" charset="-128"/>
              </a:rPr>
              <a:t> 実施内容</a:t>
            </a:r>
          </a:p>
          <a:p>
            <a:r>
              <a:rPr lang="en-JP" sz="2400" dirty="0">
                <a:latin typeface="Meiryo" panose="020B0604030504040204" pitchFamily="34" charset="-128"/>
                <a:ea typeface="Meiryo" panose="020B0604030504040204" pitchFamily="34" charset="-128"/>
              </a:rPr>
              <a:t>・サンプルバイナリファイルを読み込み、データ構造を確認</a:t>
            </a:r>
          </a:p>
          <a:p>
            <a:r>
              <a:rPr lang="en-JP" sz="2400" dirty="0">
                <a:latin typeface="Meiryo" panose="020B0604030504040204" pitchFamily="34" charset="-128"/>
                <a:ea typeface="Meiryo" panose="020B0604030504040204" pitchFamily="34" charset="-128"/>
              </a:rPr>
              <a:t>・難読化されたデータをデコードして内容を解析</a:t>
            </a:r>
          </a:p>
          <a:p>
            <a:endParaRPr lang="en-JP" sz="2400" dirty="0">
              <a:latin typeface="Meiryo" panose="020B0604030504040204" pitchFamily="34" charset="-128"/>
              <a:ea typeface="Meiryo" panose="020B0604030504040204" pitchFamily="34" charset="-128"/>
            </a:endParaRPr>
          </a:p>
          <a:p>
            <a:r>
              <a:rPr lang="mn-MN" sz="2400" dirty="0">
                <a:latin typeface="Meiryo" panose="020B0604030504040204" pitchFamily="34" charset="-128"/>
                <a:ea typeface="Meiryo" panose="020B0604030504040204" pitchFamily="34" charset="-128"/>
              </a:rPr>
              <a:t>3.</a:t>
            </a:r>
            <a:r>
              <a:rPr lang="en-JP" sz="2400" dirty="0">
                <a:latin typeface="Meiryo" panose="020B0604030504040204" pitchFamily="34" charset="-128"/>
                <a:ea typeface="Meiryo" panose="020B0604030504040204" pitchFamily="34" charset="-128"/>
              </a:rPr>
              <a:t> 結果</a:t>
            </a:r>
          </a:p>
          <a:p>
            <a:r>
              <a:rPr lang="en-JP" sz="2400" dirty="0">
                <a:latin typeface="Meiryo" panose="020B0604030504040204" pitchFamily="34" charset="-128"/>
                <a:ea typeface="Meiryo" panose="020B0604030504040204" pitchFamily="34" charset="-128"/>
              </a:rPr>
              <a:t>・一部のデータがエンコードされていることを確認</a:t>
            </a:r>
          </a:p>
          <a:p>
            <a:r>
              <a:rPr lang="en-JP" sz="2400" dirty="0">
                <a:latin typeface="Meiryo" panose="020B0604030504040204" pitchFamily="34" charset="-128"/>
                <a:ea typeface="Meiryo" panose="020B0604030504040204" pitchFamily="34" charset="-128"/>
              </a:rPr>
              <a:t>・Binary Refinery を用いることでデータ抽出やデコードが可能であることを理解した</a:t>
            </a:r>
          </a:p>
        </p:txBody>
      </p:sp>
      <p:sp>
        <p:nvSpPr>
          <p:cNvPr id="26" name="Slide Number Placeholder 25">
            <a:extLst>
              <a:ext uri="{FF2B5EF4-FFF2-40B4-BE49-F238E27FC236}">
                <a16:creationId xmlns:a16="http://schemas.microsoft.com/office/drawing/2014/main" id="{1E768B2D-0072-70F1-6220-114CF73F1E5E}"/>
              </a:ext>
            </a:extLst>
          </p:cNvPr>
          <p:cNvSpPr>
            <a:spLocks noGrp="1"/>
          </p:cNvSpPr>
          <p:nvPr>
            <p:ph type="sldNum" sz="quarter" idx="12"/>
          </p:nvPr>
        </p:nvSpPr>
        <p:spPr/>
        <p:txBody>
          <a:bodyPr/>
          <a:lstStyle/>
          <a:p>
            <a:fld id="{D8C05D5D-75E2-3144-9168-CA833390726D}" type="slidenum">
              <a:rPr lang="en-JP" smtClean="0"/>
              <a:t>9</a:t>
            </a:fld>
            <a:endParaRPr lang="en-JP"/>
          </a:p>
        </p:txBody>
      </p:sp>
    </p:spTree>
    <p:extLst>
      <p:ext uri="{BB962C8B-B14F-4D97-AF65-F5344CB8AC3E}">
        <p14:creationId xmlns:p14="http://schemas.microsoft.com/office/powerpoint/2010/main" val="2619699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64F389-7F9E-A11A-03FC-DCBA2A0F948C}"/>
              </a:ext>
            </a:extLst>
          </p:cNvPr>
          <p:cNvSpPr txBox="1"/>
          <p:nvPr/>
        </p:nvSpPr>
        <p:spPr>
          <a:xfrm>
            <a:off x="250729" y="527605"/>
            <a:ext cx="4572000" cy="400110"/>
          </a:xfrm>
          <a:prstGeom prst="rect">
            <a:avLst/>
          </a:prstGeom>
          <a:noFill/>
        </p:spPr>
        <p:txBody>
          <a:bodyPr wrap="square">
            <a:spAutoFit/>
          </a:bodyPr>
          <a:lstStyle/>
          <a:p>
            <a:pPr marL="285750" indent="-285750">
              <a:buFont typeface="Wingdings" pitchFamily="2" charset="2"/>
              <a:buChar char="§"/>
            </a:pPr>
            <a:r>
              <a:rPr lang="ja-JP" altLang="en-US" sz="2000" b="1">
                <a:solidFill>
                  <a:srgbClr val="92D050"/>
                </a:solidFill>
                <a:latin typeface="Meiryo" panose="020B0604030504040204" pitchFamily="34" charset="-128"/>
                <a:ea typeface="Meiryo" panose="020B0604030504040204" pitchFamily="34" charset="-128"/>
              </a:rPr>
              <a:t>マルウェア分類と機械学習</a:t>
            </a:r>
            <a:r>
              <a:rPr lang="mn-MN" altLang="ja-JP" sz="2000" b="1" dirty="0">
                <a:solidFill>
                  <a:srgbClr val="92D050"/>
                </a:solidFill>
                <a:latin typeface="Meiryo" panose="020B0604030504040204" pitchFamily="34" charset="-128"/>
                <a:ea typeface="Meiryo" panose="020B0604030504040204" pitchFamily="34" charset="-128"/>
              </a:rPr>
              <a:t> 1</a:t>
            </a:r>
            <a:r>
              <a:rPr lang="en-US" altLang="ja-JP" sz="2000" b="1" dirty="0">
                <a:solidFill>
                  <a:srgbClr val="92D050"/>
                </a:solidFill>
                <a:latin typeface="Meiryo" panose="020B0604030504040204" pitchFamily="34" charset="-128"/>
                <a:ea typeface="Meiryo" panose="020B0604030504040204" pitchFamily="34" charset="-128"/>
              </a:rPr>
              <a:t>/3</a:t>
            </a:r>
            <a:endParaRPr lang="en-JP" sz="2000" b="1" dirty="0">
              <a:solidFill>
                <a:srgbClr val="92D05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F5A52BBE-2034-E027-83ED-4E8A5EEDB396}"/>
              </a:ext>
            </a:extLst>
          </p:cNvPr>
          <p:cNvSpPr txBox="1"/>
          <p:nvPr/>
        </p:nvSpPr>
        <p:spPr>
          <a:xfrm>
            <a:off x="373857" y="1810169"/>
            <a:ext cx="8396285" cy="1323439"/>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 解析の流れ</a:t>
            </a:r>
          </a:p>
          <a:p>
            <a:r>
              <a:rPr lang="ja-JP" altLang="en-US" sz="2000">
                <a:latin typeface="Meiryo" panose="020B0604030504040204" pitchFamily="34" charset="-128"/>
                <a:ea typeface="Meiryo" panose="020B0604030504040204" pitchFamily="34" charset="-128"/>
              </a:rPr>
              <a:t>・</a:t>
            </a:r>
            <a:r>
              <a:rPr lang="en-US" altLang="ja-JP" sz="2000" dirty="0">
                <a:latin typeface="Meiryo" panose="020B0604030504040204" pitchFamily="34" charset="-128"/>
                <a:ea typeface="Meiryo" panose="020B0604030504040204" pitchFamily="34" charset="-128"/>
              </a:rPr>
              <a:t>PE</a:t>
            </a:r>
            <a:r>
              <a:rPr lang="ja-JP" altLang="en-US" sz="2000">
                <a:latin typeface="Meiryo" panose="020B0604030504040204" pitchFamily="34" charset="-128"/>
                <a:ea typeface="Meiryo" panose="020B0604030504040204" pitchFamily="34" charset="-128"/>
              </a:rPr>
              <a:t>ファイル（</a:t>
            </a:r>
            <a:r>
              <a:rPr lang="en-US" altLang="ja-JP" sz="2000" dirty="0">
                <a:latin typeface="Meiryo" panose="020B0604030504040204" pitchFamily="34" charset="-128"/>
                <a:ea typeface="Meiryo" panose="020B0604030504040204" pitchFamily="34" charset="-128"/>
              </a:rPr>
              <a:t>.exe, .dll</a:t>
            </a:r>
            <a:r>
              <a:rPr lang="ja-JP" altLang="en-US" sz="2000">
                <a:latin typeface="Meiryo" panose="020B0604030504040204" pitchFamily="34" charset="-128"/>
                <a:ea typeface="Meiryo" panose="020B0604030504040204" pitchFamily="34" charset="-128"/>
              </a:rPr>
              <a:t>）から特徴量を抽出</a:t>
            </a:r>
          </a:p>
          <a:p>
            <a:r>
              <a:rPr lang="ja-JP" altLang="en-US" sz="2000">
                <a:latin typeface="Meiryo" panose="020B0604030504040204" pitchFamily="34" charset="-128"/>
                <a:ea typeface="Meiryo" panose="020B0604030504040204" pitchFamily="34" charset="-128"/>
              </a:rPr>
              <a:t>・抽出した特徴量を機械学習モデルに入力</a:t>
            </a:r>
          </a:p>
          <a:p>
            <a:r>
              <a:rPr lang="ja-JP" altLang="en-US" sz="2000">
                <a:latin typeface="Meiryo" panose="020B0604030504040204" pitchFamily="34" charset="-128"/>
                <a:ea typeface="Meiryo" panose="020B0604030504040204" pitchFamily="34" charset="-128"/>
              </a:rPr>
              <a:t>・モデルが正常ファイルとマルウェアを分類</a:t>
            </a:r>
          </a:p>
        </p:txBody>
      </p:sp>
      <p:sp>
        <p:nvSpPr>
          <p:cNvPr id="17" name="正方形/長方形 9">
            <a:extLst>
              <a:ext uri="{FF2B5EF4-FFF2-40B4-BE49-F238E27FC236}">
                <a16:creationId xmlns:a16="http://schemas.microsoft.com/office/drawing/2014/main" id="{F40CAF9F-3CF2-33F3-A750-6D348F1E4B25}"/>
              </a:ext>
            </a:extLst>
          </p:cNvPr>
          <p:cNvSpPr/>
          <p:nvPr/>
        </p:nvSpPr>
        <p:spPr>
          <a:xfrm>
            <a:off x="250729" y="1327004"/>
            <a:ext cx="8396285" cy="2409112"/>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8" name="正方形/長方形 9">
            <a:extLst>
              <a:ext uri="{FF2B5EF4-FFF2-40B4-BE49-F238E27FC236}">
                <a16:creationId xmlns:a16="http://schemas.microsoft.com/office/drawing/2014/main" id="{1A854E01-01F1-131E-D23F-D1ECB16E11EA}"/>
              </a:ext>
            </a:extLst>
          </p:cNvPr>
          <p:cNvSpPr/>
          <p:nvPr/>
        </p:nvSpPr>
        <p:spPr>
          <a:xfrm>
            <a:off x="5005387" y="3966229"/>
            <a:ext cx="3619498" cy="2409112"/>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9" name="正方形/長方形 9">
            <a:extLst>
              <a:ext uri="{FF2B5EF4-FFF2-40B4-BE49-F238E27FC236}">
                <a16:creationId xmlns:a16="http://schemas.microsoft.com/office/drawing/2014/main" id="{B63AF331-5CF4-DB31-2814-69379F27CEB6}"/>
              </a:ext>
            </a:extLst>
          </p:cNvPr>
          <p:cNvSpPr/>
          <p:nvPr/>
        </p:nvSpPr>
        <p:spPr>
          <a:xfrm>
            <a:off x="228600" y="3964492"/>
            <a:ext cx="4492719" cy="2418891"/>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2" name="TextBox 21">
            <a:extLst>
              <a:ext uri="{FF2B5EF4-FFF2-40B4-BE49-F238E27FC236}">
                <a16:creationId xmlns:a16="http://schemas.microsoft.com/office/drawing/2014/main" id="{57863AC3-E2AE-950A-B806-69887E287945}"/>
              </a:ext>
            </a:extLst>
          </p:cNvPr>
          <p:cNvSpPr txBox="1"/>
          <p:nvPr/>
        </p:nvSpPr>
        <p:spPr>
          <a:xfrm>
            <a:off x="250729" y="838329"/>
            <a:ext cx="6419365"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PE file → Feature → ML model → Malware / Normal</a:t>
            </a:r>
            <a:endParaRPr lang="en-JP"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2B8AC310-DD66-927B-CBFE-BB978C40DE38}"/>
              </a:ext>
            </a:extLst>
          </p:cNvPr>
          <p:cNvSpPr txBox="1"/>
          <p:nvPr/>
        </p:nvSpPr>
        <p:spPr>
          <a:xfrm>
            <a:off x="5129560" y="4136614"/>
            <a:ext cx="3409950" cy="2246769"/>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3.</a:t>
            </a:r>
            <a:r>
              <a:rPr lang="ja-JP" altLang="en-US" sz="2000">
                <a:latin typeface="Meiryo" panose="020B0604030504040204" pitchFamily="34" charset="-128"/>
                <a:ea typeface="Meiryo" panose="020B0604030504040204" pitchFamily="34" charset="-128"/>
              </a:rPr>
              <a:t> 使用データセット</a:t>
            </a:r>
            <a:endParaRPr lang="mn-MN" altLang="ja-JP" sz="2000" dirty="0">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・正常</a:t>
            </a:r>
            <a:r>
              <a:rPr lang="en-US" sz="2000" dirty="0">
                <a:latin typeface="Meiryo" panose="020B0604030504040204" pitchFamily="34" charset="-128"/>
                <a:ea typeface="Meiryo" panose="020B0604030504040204" pitchFamily="34" charset="-128"/>
              </a:rPr>
              <a:t>Windows</a:t>
            </a:r>
            <a:r>
              <a:rPr lang="ja-JP" altLang="en-US" sz="2000">
                <a:latin typeface="Meiryo" panose="020B0604030504040204" pitchFamily="34" charset="-128"/>
                <a:ea typeface="Meiryo" panose="020B0604030504040204" pitchFamily="34" charset="-128"/>
              </a:rPr>
              <a:t>バイナリ：</a:t>
            </a:r>
            <a:r>
              <a:rPr lang="en-US" altLang="ja-JP" sz="2000" dirty="0">
                <a:latin typeface="Meiryo" panose="020B0604030504040204" pitchFamily="34" charset="-128"/>
                <a:ea typeface="Meiryo" panose="020B0604030504040204" pitchFamily="34" charset="-128"/>
              </a:rPr>
              <a:t>41,323</a:t>
            </a:r>
            <a:r>
              <a:rPr lang="ja-JP" altLang="en-US" sz="2000">
                <a:latin typeface="Meiryo" panose="020B0604030504040204" pitchFamily="34" charset="-128"/>
                <a:ea typeface="Meiryo" panose="020B0604030504040204" pitchFamily="34" charset="-128"/>
              </a:rPr>
              <a:t>ファイル</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・マルウェアサンプル：</a:t>
            </a:r>
            <a:r>
              <a:rPr lang="en-US" altLang="ja-JP" sz="2000" dirty="0">
                <a:latin typeface="Meiryo" panose="020B0604030504040204" pitchFamily="34" charset="-128"/>
                <a:ea typeface="Meiryo" panose="020B0604030504040204" pitchFamily="34" charset="-128"/>
              </a:rPr>
              <a:t>96,724</a:t>
            </a:r>
            <a:r>
              <a:rPr lang="ja-JP" altLang="en-US" sz="2000">
                <a:latin typeface="Meiryo" panose="020B0604030504040204" pitchFamily="34" charset="-128"/>
                <a:ea typeface="Meiryo" panose="020B0604030504040204" pitchFamily="34" charset="-128"/>
              </a:rPr>
              <a:t>検体</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VirusShare</a:t>
            </a:r>
            <a:r>
              <a:rPr lang="ja-JP" altLang="en-US" sz="2000">
                <a:latin typeface="Meiryo" panose="020B0604030504040204" pitchFamily="34" charset="-128"/>
                <a:ea typeface="Meiryo" panose="020B0604030504040204" pitchFamily="34" charset="-128"/>
              </a:rPr>
              <a:t>から取得</a:t>
            </a:r>
          </a:p>
        </p:txBody>
      </p:sp>
      <p:sp>
        <p:nvSpPr>
          <p:cNvPr id="28" name="TextBox 27">
            <a:extLst>
              <a:ext uri="{FF2B5EF4-FFF2-40B4-BE49-F238E27FC236}">
                <a16:creationId xmlns:a16="http://schemas.microsoft.com/office/drawing/2014/main" id="{4CA32DF9-C481-02E7-BFCC-8520B97D15A8}"/>
              </a:ext>
            </a:extLst>
          </p:cNvPr>
          <p:cNvSpPr txBox="1"/>
          <p:nvPr/>
        </p:nvSpPr>
        <p:spPr>
          <a:xfrm>
            <a:off x="250729" y="4485359"/>
            <a:ext cx="4793456" cy="1631216"/>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2. </a:t>
            </a:r>
            <a:r>
              <a:rPr lang="ja-JP" altLang="en-US" sz="2000">
                <a:latin typeface="Meiryo" panose="020B0604030504040204" pitchFamily="34" charset="-128"/>
                <a:ea typeface="Meiryo" panose="020B0604030504040204" pitchFamily="34" charset="-128"/>
              </a:rPr>
              <a:t>使用したアルゴリズム</a:t>
            </a:r>
            <a:endParaRPr lang="mn-MN" altLang="ja-JP" sz="2000" dirty="0">
              <a:latin typeface="Meiryo" panose="020B0604030504040204" pitchFamily="34" charset="-128"/>
              <a:ea typeface="Meiryo" panose="020B0604030504040204" pitchFamily="34" charset="-128"/>
            </a:endParaRPr>
          </a:p>
          <a:p>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Random Forest</a:t>
            </a:r>
            <a:br>
              <a:rPr lang="en-US" sz="2000" dirty="0">
                <a:latin typeface="Meiryo" panose="020B0604030504040204" pitchFamily="34" charset="-128"/>
                <a:ea typeface="Meiryo" panose="020B0604030504040204" pitchFamily="34" charset="-128"/>
              </a:rPr>
            </a:br>
            <a:r>
              <a:rPr lang="en-US" sz="2000" dirty="0">
                <a:latin typeface="Meiryo" panose="020B0604030504040204" pitchFamily="34" charset="-128"/>
                <a:ea typeface="Meiryo" panose="020B0604030504040204" pitchFamily="34" charset="-128"/>
              </a:rPr>
              <a:t>・Gradient Boosting</a:t>
            </a:r>
            <a:br>
              <a:rPr lang="en-US" sz="2000" dirty="0">
                <a:latin typeface="Meiryo" panose="020B0604030504040204" pitchFamily="34" charset="-128"/>
                <a:ea typeface="Meiryo" panose="020B0604030504040204" pitchFamily="34" charset="-128"/>
              </a:rPr>
            </a:br>
            <a:r>
              <a:rPr lang="en-US" sz="2000" dirty="0">
                <a:latin typeface="Meiryo" panose="020B0604030504040204" pitchFamily="34" charset="-128"/>
                <a:ea typeface="Meiryo" panose="020B0604030504040204" pitchFamily="34" charset="-128"/>
              </a:rPr>
              <a:t>・AdaBoost</a:t>
            </a:r>
          </a:p>
        </p:txBody>
      </p:sp>
      <p:sp>
        <p:nvSpPr>
          <p:cNvPr id="29" name="Slide Number Placeholder 28">
            <a:extLst>
              <a:ext uri="{FF2B5EF4-FFF2-40B4-BE49-F238E27FC236}">
                <a16:creationId xmlns:a16="http://schemas.microsoft.com/office/drawing/2014/main" id="{618B3037-57EB-4409-B023-61D5665BBA80}"/>
              </a:ext>
            </a:extLst>
          </p:cNvPr>
          <p:cNvSpPr>
            <a:spLocks noGrp="1"/>
          </p:cNvSpPr>
          <p:nvPr>
            <p:ph type="sldNum" sz="quarter" idx="12"/>
          </p:nvPr>
        </p:nvSpPr>
        <p:spPr/>
        <p:txBody>
          <a:bodyPr/>
          <a:lstStyle/>
          <a:p>
            <a:fld id="{D8C05D5D-75E2-3144-9168-CA833390726D}" type="slidenum">
              <a:rPr lang="en-JP" smtClean="0"/>
              <a:t>10</a:t>
            </a:fld>
            <a:endParaRPr lang="en-JP"/>
          </a:p>
        </p:txBody>
      </p:sp>
      <p:sp>
        <p:nvSpPr>
          <p:cNvPr id="31" name="TextBox 30">
            <a:extLst>
              <a:ext uri="{FF2B5EF4-FFF2-40B4-BE49-F238E27FC236}">
                <a16:creationId xmlns:a16="http://schemas.microsoft.com/office/drawing/2014/main" id="{763756A9-2AF4-0046-79C4-DF59A5417D28}"/>
              </a:ext>
            </a:extLst>
          </p:cNvPr>
          <p:cNvSpPr txBox="1"/>
          <p:nvPr/>
        </p:nvSpPr>
        <p:spPr>
          <a:xfrm>
            <a:off x="-2" y="130925"/>
            <a:ext cx="6670095" cy="338554"/>
          </a:xfrm>
          <a:prstGeom prst="rect">
            <a:avLst/>
          </a:prstGeom>
          <a:noFill/>
        </p:spPr>
        <p:txBody>
          <a:bodyPr wrap="square">
            <a:spAutoFit/>
          </a:bodyPr>
          <a:lstStyle/>
          <a:p>
            <a:pPr marL="285750" indent="-285750">
              <a:buFont typeface="Wingdings" pitchFamily="2" charset="2"/>
              <a:buChar char="Ø"/>
            </a:pPr>
            <a:r>
              <a:rPr lang="ja-JP" altLang="en-US" sz="1600" b="1">
                <a:solidFill>
                  <a:srgbClr val="C00000"/>
                </a:solidFill>
                <a:latin typeface="Meiryo" panose="020B0604030504040204" pitchFamily="34" charset="-128"/>
                <a:ea typeface="Meiryo" panose="020B0604030504040204" pitchFamily="34" charset="-128"/>
              </a:rPr>
              <a:t>セキュリティ対策の観点から見たマルウェア解析手法</a:t>
            </a:r>
            <a:endParaRPr lang="en-JP" sz="1600" b="1" dirty="0">
              <a:solidFill>
                <a:srgbClr val="C00000"/>
              </a:solidFill>
            </a:endParaRPr>
          </a:p>
        </p:txBody>
      </p:sp>
    </p:spTree>
    <p:extLst>
      <p:ext uri="{BB962C8B-B14F-4D97-AF65-F5344CB8AC3E}">
        <p14:creationId xmlns:p14="http://schemas.microsoft.com/office/powerpoint/2010/main" val="1468693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5524E24-5AF5-FE15-BE79-8CC8EF9774E2}"/>
              </a:ext>
            </a:extLst>
          </p:cNvPr>
          <p:cNvSpPr txBox="1"/>
          <p:nvPr/>
        </p:nvSpPr>
        <p:spPr>
          <a:xfrm>
            <a:off x="287424" y="566678"/>
            <a:ext cx="8361275" cy="2862322"/>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cs typeface="Times New Roman" panose="02020603050405020304" pitchFamily="18" charset="0"/>
              </a:rPr>
              <a:t>探索的データ解析（</a:t>
            </a:r>
            <a:r>
              <a:rPr lang="en-US" sz="2000" dirty="0">
                <a:latin typeface="Meiryo" panose="020B0604030504040204" pitchFamily="34" charset="-128"/>
                <a:ea typeface="Meiryo" panose="020B0604030504040204" pitchFamily="34" charset="-128"/>
                <a:cs typeface="Times New Roman" panose="02020603050405020304" pitchFamily="18" charset="0"/>
              </a:rPr>
              <a:t>EDA）</a:t>
            </a:r>
            <a:r>
              <a:rPr lang="ja-JP" altLang="en-US" sz="2000">
                <a:latin typeface="Meiryo" panose="020B0604030504040204" pitchFamily="34" charset="-128"/>
                <a:ea typeface="Meiryo" panose="020B0604030504040204" pitchFamily="34" charset="-128"/>
                <a:cs typeface="Times New Roman" panose="02020603050405020304" pitchFamily="18" charset="0"/>
              </a:rPr>
              <a:t>実施内容</a:t>
            </a:r>
          </a:p>
          <a:p>
            <a:r>
              <a:rPr lang="ja-JP" altLang="en-US" sz="2000">
                <a:latin typeface="Meiryo" panose="020B0604030504040204" pitchFamily="34" charset="-128"/>
                <a:ea typeface="Meiryo" panose="020B0604030504040204" pitchFamily="34" charset="-128"/>
                <a:cs typeface="Times New Roman" panose="02020603050405020304" pitchFamily="18" charset="0"/>
              </a:rPr>
              <a:t>・</a:t>
            </a:r>
            <a:r>
              <a:rPr lang="en-US" sz="2000" dirty="0">
                <a:latin typeface="Meiryo" panose="020B0604030504040204" pitchFamily="34" charset="-128"/>
                <a:ea typeface="Meiryo" panose="020B0604030504040204" pitchFamily="34" charset="-128"/>
                <a:cs typeface="Times New Roman" panose="02020603050405020304" pitchFamily="18" charset="0"/>
              </a:rPr>
              <a:t>PE</a:t>
            </a:r>
            <a:r>
              <a:rPr lang="ja-JP" altLang="en-US" sz="2000">
                <a:latin typeface="Meiryo" panose="020B0604030504040204" pitchFamily="34" charset="-128"/>
                <a:ea typeface="Meiryo" panose="020B0604030504040204" pitchFamily="34" charset="-128"/>
                <a:cs typeface="Times New Roman" panose="02020603050405020304" pitchFamily="18" charset="0"/>
              </a:rPr>
              <a:t>ファイルの特徴量データを分析</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・欠損値やデータ分布を確認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・特徴量の関係性を可視化</a:t>
            </a:r>
          </a:p>
          <a:p>
            <a:r>
              <a:rPr lang="ja-JP" altLang="en-US" sz="2000">
                <a:latin typeface="Meiryo" panose="020B0604030504040204" pitchFamily="34" charset="-128"/>
                <a:ea typeface="Meiryo" panose="020B0604030504040204" pitchFamily="34" charset="-128"/>
                <a:cs typeface="Times New Roman" panose="02020603050405020304" pitchFamily="18" charset="0"/>
              </a:rPr>
              <a:t>結果</a:t>
            </a:r>
          </a:p>
          <a:p>
            <a:r>
              <a:rPr lang="ja-JP" altLang="en-US" sz="2000">
                <a:latin typeface="Meiryo" panose="020B0604030504040204" pitchFamily="34" charset="-128"/>
                <a:ea typeface="Meiryo" panose="020B0604030504040204" pitchFamily="34" charset="-128"/>
                <a:cs typeface="Times New Roman" panose="02020603050405020304" pitchFamily="18" charset="0"/>
              </a:rPr>
              <a:t>・一部の特徴量に偏りがあることを確認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・欠損値がほとんど存在しないことを確認</a:t>
            </a:r>
            <a:br>
              <a:rPr lang="ja-JP" altLang="en-US" sz="2000">
                <a:latin typeface="Meiryo" panose="020B0604030504040204" pitchFamily="34" charset="-128"/>
                <a:ea typeface="Meiryo" panose="020B0604030504040204" pitchFamily="34" charset="-128"/>
                <a:cs typeface="Times New Roman" panose="02020603050405020304" pitchFamily="18" charset="0"/>
              </a:rPr>
            </a:br>
            <a:r>
              <a:rPr lang="ja-JP" altLang="en-US" sz="2000">
                <a:latin typeface="Meiryo" panose="020B0604030504040204" pitchFamily="34" charset="-128"/>
                <a:ea typeface="Meiryo" panose="020B0604030504040204" pitchFamily="34" charset="-128"/>
                <a:cs typeface="Times New Roman" panose="02020603050405020304" pitchFamily="18" charset="0"/>
              </a:rPr>
              <a:t>・特徴量の分布を把握し、機械学習の前処理に活用</a:t>
            </a:r>
          </a:p>
          <a:p>
            <a:endParaRPr lang="en-JP" sz="20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89F10C1F-E5EF-5980-F8C0-EA115B3D83DB}"/>
              </a:ext>
            </a:extLst>
          </p:cNvPr>
          <p:cNvSpPr txBox="1"/>
          <p:nvPr/>
        </p:nvSpPr>
        <p:spPr>
          <a:xfrm>
            <a:off x="287424" y="193219"/>
            <a:ext cx="5265650" cy="707886"/>
          </a:xfrm>
          <a:prstGeom prst="rect">
            <a:avLst/>
          </a:prstGeom>
          <a:noFill/>
        </p:spPr>
        <p:txBody>
          <a:bodyPr wrap="square">
            <a:spAutoFit/>
          </a:bodyPr>
          <a:lstStyle/>
          <a:p>
            <a:pPr marL="342900" indent="-342900">
              <a:buFont typeface="Wingdings" pitchFamily="2" charset="2"/>
              <a:buChar char="Ø"/>
            </a:pPr>
            <a:r>
              <a:rPr lang="ja-JP" altLang="en-US" sz="2000" b="1">
                <a:solidFill>
                  <a:srgbClr val="92D050"/>
                </a:solidFill>
                <a:latin typeface="Meiryo" panose="020B0604030504040204" pitchFamily="34" charset="-128"/>
                <a:ea typeface="Meiryo" panose="020B0604030504040204" pitchFamily="34" charset="-128"/>
              </a:rPr>
              <a:t>マルウェア分類と機械学習</a:t>
            </a:r>
            <a:r>
              <a:rPr lang="mn-MN" altLang="ja-JP" sz="2000" b="1" dirty="0">
                <a:solidFill>
                  <a:srgbClr val="92D050"/>
                </a:solidFill>
                <a:latin typeface="Meiryo" panose="020B0604030504040204" pitchFamily="34" charset="-128"/>
                <a:ea typeface="Meiryo" panose="020B0604030504040204" pitchFamily="34" charset="-128"/>
              </a:rPr>
              <a:t> 2</a:t>
            </a:r>
            <a:r>
              <a:rPr lang="en-US" altLang="ja-JP" sz="2000" b="1" dirty="0">
                <a:solidFill>
                  <a:srgbClr val="92D050"/>
                </a:solidFill>
                <a:latin typeface="Meiryo" panose="020B0604030504040204" pitchFamily="34" charset="-128"/>
                <a:ea typeface="Meiryo" panose="020B0604030504040204" pitchFamily="34" charset="-128"/>
              </a:rPr>
              <a:t>/3</a:t>
            </a:r>
            <a:endParaRPr lang="en-JP" sz="2000" b="1" dirty="0">
              <a:solidFill>
                <a:srgbClr val="92D050"/>
              </a:solidFill>
              <a:latin typeface="Meiryo" panose="020B0604030504040204" pitchFamily="34" charset="-128"/>
              <a:ea typeface="Meiryo" panose="020B0604030504040204" pitchFamily="34" charset="-128"/>
            </a:endParaRPr>
          </a:p>
          <a:p>
            <a:endParaRPr lang="en-JP" sz="2000" b="1" dirty="0">
              <a:solidFill>
                <a:srgbClr val="C00000"/>
              </a:solidFill>
              <a:latin typeface="Meiryo" panose="020B0604030504040204" pitchFamily="34" charset="-128"/>
              <a:ea typeface="Meiryo" panose="020B0604030504040204" pitchFamily="34" charset="-128"/>
            </a:endParaRPr>
          </a:p>
        </p:txBody>
      </p:sp>
      <p:pic>
        <p:nvPicPr>
          <p:cNvPr id="10" name="Picture 9">
            <a:extLst>
              <a:ext uri="{FF2B5EF4-FFF2-40B4-BE49-F238E27FC236}">
                <a16:creationId xmlns:a16="http://schemas.microsoft.com/office/drawing/2014/main" id="{D89A3C69-D19E-E37F-F01C-AD83F0E91225}"/>
              </a:ext>
            </a:extLst>
          </p:cNvPr>
          <p:cNvPicPr>
            <a:picLocks noChangeAspect="1"/>
          </p:cNvPicPr>
          <p:nvPr/>
        </p:nvPicPr>
        <p:blipFill>
          <a:blip r:embed="rId3"/>
          <a:stretch>
            <a:fillRect/>
          </a:stretch>
        </p:blipFill>
        <p:spPr>
          <a:xfrm>
            <a:off x="287424" y="3045447"/>
            <a:ext cx="8569151" cy="1979754"/>
          </a:xfrm>
          <a:prstGeom prst="rect">
            <a:avLst/>
          </a:prstGeom>
        </p:spPr>
      </p:pic>
      <p:pic>
        <p:nvPicPr>
          <p:cNvPr id="12" name="Picture 11">
            <a:extLst>
              <a:ext uri="{FF2B5EF4-FFF2-40B4-BE49-F238E27FC236}">
                <a16:creationId xmlns:a16="http://schemas.microsoft.com/office/drawing/2014/main" id="{28417238-9FAC-FE43-2306-22E44D747907}"/>
              </a:ext>
            </a:extLst>
          </p:cNvPr>
          <p:cNvPicPr>
            <a:picLocks noChangeAspect="1"/>
          </p:cNvPicPr>
          <p:nvPr/>
        </p:nvPicPr>
        <p:blipFill>
          <a:blip r:embed="rId4"/>
          <a:stretch>
            <a:fillRect/>
          </a:stretch>
        </p:blipFill>
        <p:spPr>
          <a:xfrm>
            <a:off x="161925" y="4643029"/>
            <a:ext cx="4000500" cy="2063750"/>
          </a:xfrm>
          <a:prstGeom prst="rect">
            <a:avLst/>
          </a:prstGeom>
        </p:spPr>
      </p:pic>
      <p:pic>
        <p:nvPicPr>
          <p:cNvPr id="13" name="Picture 12">
            <a:extLst>
              <a:ext uri="{FF2B5EF4-FFF2-40B4-BE49-F238E27FC236}">
                <a16:creationId xmlns:a16="http://schemas.microsoft.com/office/drawing/2014/main" id="{0FDFF57C-7997-544D-805E-1BF55966A32B}"/>
              </a:ext>
            </a:extLst>
          </p:cNvPr>
          <p:cNvPicPr>
            <a:picLocks noChangeAspect="1"/>
          </p:cNvPicPr>
          <p:nvPr/>
        </p:nvPicPr>
        <p:blipFill>
          <a:blip r:embed="rId5"/>
          <a:stretch>
            <a:fillRect/>
          </a:stretch>
        </p:blipFill>
        <p:spPr>
          <a:xfrm>
            <a:off x="4173625" y="4685027"/>
            <a:ext cx="4600574" cy="1979754"/>
          </a:xfrm>
          <a:prstGeom prst="rect">
            <a:avLst/>
          </a:prstGeom>
        </p:spPr>
      </p:pic>
      <p:sp>
        <p:nvSpPr>
          <p:cNvPr id="14" name="Slide Number Placeholder 13">
            <a:extLst>
              <a:ext uri="{FF2B5EF4-FFF2-40B4-BE49-F238E27FC236}">
                <a16:creationId xmlns:a16="http://schemas.microsoft.com/office/drawing/2014/main" id="{B77D87DE-451C-58F6-D1A9-D0123620C748}"/>
              </a:ext>
            </a:extLst>
          </p:cNvPr>
          <p:cNvSpPr>
            <a:spLocks noGrp="1"/>
          </p:cNvSpPr>
          <p:nvPr>
            <p:ph type="sldNum" sz="quarter" idx="12"/>
          </p:nvPr>
        </p:nvSpPr>
        <p:spPr/>
        <p:txBody>
          <a:bodyPr/>
          <a:lstStyle/>
          <a:p>
            <a:fld id="{D8C05D5D-75E2-3144-9168-CA833390726D}" type="slidenum">
              <a:rPr lang="en-JP" smtClean="0"/>
              <a:t>11</a:t>
            </a:fld>
            <a:endParaRPr lang="en-JP"/>
          </a:p>
        </p:txBody>
      </p:sp>
    </p:spTree>
    <p:extLst>
      <p:ext uri="{BB962C8B-B14F-4D97-AF65-F5344CB8AC3E}">
        <p14:creationId xmlns:p14="http://schemas.microsoft.com/office/powerpoint/2010/main" val="2777491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F84A7D-0BB7-FF08-55D1-A217A931CF28}"/>
              </a:ext>
            </a:extLst>
          </p:cNvPr>
          <p:cNvSpPr txBox="1"/>
          <p:nvPr/>
        </p:nvSpPr>
        <p:spPr>
          <a:xfrm>
            <a:off x="265339" y="912481"/>
            <a:ext cx="4572000" cy="400110"/>
          </a:xfrm>
          <a:prstGeom prst="rect">
            <a:avLst/>
          </a:prstGeom>
          <a:noFill/>
        </p:spPr>
        <p:txBody>
          <a:bodyPr wrap="square">
            <a:spAutoFit/>
          </a:bodyPr>
          <a:lstStyle/>
          <a:p>
            <a:pPr marL="285750" indent="-285750">
              <a:buFont typeface="Wingdings" pitchFamily="2" charset="2"/>
              <a:buChar char="§"/>
            </a:pPr>
            <a:r>
              <a:rPr lang="ja-JP" altLang="en-US" sz="2000" b="1">
                <a:solidFill>
                  <a:srgbClr val="C00000"/>
                </a:solidFill>
                <a:latin typeface="Meiryo" panose="020B0604030504040204" pitchFamily="34" charset="-128"/>
                <a:ea typeface="Meiryo" panose="020B0604030504040204" pitchFamily="34" charset="-128"/>
              </a:rPr>
              <a:t>統合的活用モデルの提案</a:t>
            </a:r>
            <a:endParaRPr lang="en-JP" sz="2000" b="1" dirty="0">
              <a:solidFill>
                <a:srgbClr val="C00000"/>
              </a:solidFill>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76E1C735-7FB7-15DA-B625-63DB083D9B11}"/>
              </a:ext>
            </a:extLst>
          </p:cNvPr>
          <p:cNvSpPr txBox="1"/>
          <p:nvPr/>
        </p:nvSpPr>
        <p:spPr>
          <a:xfrm>
            <a:off x="491217" y="1478259"/>
            <a:ext cx="7826829" cy="4801314"/>
          </a:xfrm>
          <a:prstGeom prst="rect">
            <a:avLst/>
          </a:prstGeom>
          <a:noFill/>
        </p:spPr>
        <p:txBody>
          <a:bodyPr wrap="square">
            <a:spAutoFit/>
          </a:bodyPr>
          <a:lstStyle/>
          <a:p>
            <a:r>
              <a:rPr lang="ja-JP" sz="1800" b="1" kern="100">
                <a:solidFill>
                  <a:srgbClr val="92D050"/>
                </a:solidFill>
                <a:effectLst/>
                <a:latin typeface="Meiryo" panose="020B0604030504040204" pitchFamily="34" charset="-128"/>
                <a:ea typeface="Meiryo" panose="020B0604030504040204" pitchFamily="34" charset="-128"/>
                <a:cs typeface="Times New Roman" panose="02020603050405020304" pitchFamily="18" charset="0"/>
              </a:rPr>
              <a:t>レポートの目的と範囲</a:t>
            </a:r>
            <a:endParaRPr lang="en-JP" sz="1800" b="1" kern="100" dirty="0">
              <a:solidFill>
                <a:srgbClr val="92D050"/>
              </a:solidFill>
              <a:effectLst/>
              <a:latin typeface="Meiryo" panose="020B0604030504040204" pitchFamily="34" charset="-128"/>
              <a:ea typeface="Meiryo" panose="020B0604030504040204" pitchFamily="34" charset="-128"/>
              <a:cs typeface="Times New Roman" panose="02020603050405020304" pitchFamily="18" charset="0"/>
            </a:endParaRPr>
          </a:p>
          <a:p>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本レポートでは、実際の組織におけるマルウェア解析・検知・対応の統合アーキテクチャを設計し、以下の観点から評価</a:t>
            </a:r>
            <a:endParaRPr lang="en-US"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設計範囲</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境界防御（メール、</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Web</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EDR</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）での活用シナリオ</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侵入後（内部不正・ラテラルムーブメント）の検知メカニズム</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インシデント対応・フォレンジックでの利用方法</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SOC/CSIRT</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運用体制の最適</a:t>
            </a:r>
            <a:endParaRPr lang="en-US" altLang="ja-JP"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endParaRPr>
          </a:p>
          <a:p>
            <a:pPr lvl="0"/>
            <a:endParaRPr lang="en-US" kern="100" dirty="0">
              <a:solidFill>
                <a:srgbClr val="000000"/>
              </a:solidFill>
              <a:latin typeface="Meiryo" panose="020B0604030504040204" pitchFamily="34" charset="-128"/>
              <a:ea typeface="Meiryo" panose="020B0604030504040204" pitchFamily="34" charset="-128"/>
              <a:cs typeface="Times New Roman" panose="02020603050405020304" pitchFamily="18" charset="0"/>
            </a:endParaRPr>
          </a:p>
          <a:p>
            <a:pPr lvl="0"/>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b.</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評価観点</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誤検知（</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Positive</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）と見逃し（</a:t>
            </a: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False Negative</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）のバランス</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運用負荷（人的・計算リソース・時間）の現実性</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アラートトリアージプロセスへの影響</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必要なセキュリティ人材のスキル要件</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p>
            <a:pPr marL="342900" lvl="0" indent="-342900">
              <a:buFont typeface="Wingdings" pitchFamily="2" charset="2"/>
              <a:buChar char=""/>
            </a:pPr>
            <a:r>
              <a:rPr lang="en-US" sz="1800" kern="100" dirty="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AI</a:t>
            </a:r>
            <a:r>
              <a:rPr lang="ja-JP" sz="1800" kern="100">
                <a:solidFill>
                  <a:srgbClr val="000000"/>
                </a:solidFill>
                <a:effectLst/>
                <a:latin typeface="Meiryo" panose="020B0604030504040204" pitchFamily="34" charset="-128"/>
                <a:ea typeface="Meiryo" panose="020B0604030504040204" pitchFamily="34" charset="-128"/>
                <a:cs typeface="Times New Roman" panose="02020603050405020304" pitchFamily="18" charset="0"/>
              </a:rPr>
              <a:t>技術の活用と今後の課題</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F7550B61-4E2D-35E6-4CD3-71AFE518AC5E}"/>
              </a:ext>
            </a:extLst>
          </p:cNvPr>
          <p:cNvSpPr txBox="1"/>
          <p:nvPr/>
        </p:nvSpPr>
        <p:spPr>
          <a:xfrm>
            <a:off x="172742" y="189372"/>
            <a:ext cx="4572000" cy="646331"/>
          </a:xfrm>
          <a:prstGeom prst="rect">
            <a:avLst/>
          </a:prstGeom>
          <a:noFill/>
        </p:spPr>
        <p:txBody>
          <a:bodyPr wrap="square">
            <a:spAutoFit/>
          </a:bodyPr>
          <a:lstStyle/>
          <a:p>
            <a:pPr marL="285750" indent="-285750">
              <a:buFont typeface="Wingdings" pitchFamily="2" charset="2"/>
              <a:buChar char="Ø"/>
            </a:pPr>
            <a:r>
              <a:rPr lang="ja-JP" altLang="en-US" b="1">
                <a:solidFill>
                  <a:srgbClr val="92D050"/>
                </a:solidFill>
                <a:latin typeface="Meiryo" panose="020B0604030504040204" pitchFamily="34" charset="-128"/>
                <a:ea typeface="Meiryo" panose="020B0604030504040204" pitchFamily="34" charset="-128"/>
              </a:rPr>
              <a:t>マルウェア分類と機械学習</a:t>
            </a:r>
            <a:r>
              <a:rPr lang="mn-MN" altLang="ja-JP" b="1" dirty="0">
                <a:solidFill>
                  <a:srgbClr val="92D050"/>
                </a:solidFill>
                <a:latin typeface="Meiryo" panose="020B0604030504040204" pitchFamily="34" charset="-128"/>
                <a:ea typeface="Meiryo" panose="020B0604030504040204" pitchFamily="34" charset="-128"/>
              </a:rPr>
              <a:t> 3</a:t>
            </a:r>
            <a:r>
              <a:rPr lang="en-US" altLang="ja-JP" b="1" dirty="0">
                <a:solidFill>
                  <a:srgbClr val="92D050"/>
                </a:solidFill>
                <a:latin typeface="Meiryo" panose="020B0604030504040204" pitchFamily="34" charset="-128"/>
                <a:ea typeface="Meiryo" panose="020B0604030504040204" pitchFamily="34" charset="-128"/>
              </a:rPr>
              <a:t>/3</a:t>
            </a:r>
            <a:endParaRPr lang="en-JP" b="1" dirty="0">
              <a:solidFill>
                <a:srgbClr val="92D050"/>
              </a:solidFill>
              <a:latin typeface="Meiryo" panose="020B0604030504040204" pitchFamily="34" charset="-128"/>
              <a:ea typeface="Meiryo" panose="020B0604030504040204" pitchFamily="34" charset="-128"/>
            </a:endParaRPr>
          </a:p>
          <a:p>
            <a:endParaRPr lang="en-JP" dirty="0"/>
          </a:p>
        </p:txBody>
      </p:sp>
      <p:sp>
        <p:nvSpPr>
          <p:cNvPr id="4" name="Slide Number Placeholder 3">
            <a:extLst>
              <a:ext uri="{FF2B5EF4-FFF2-40B4-BE49-F238E27FC236}">
                <a16:creationId xmlns:a16="http://schemas.microsoft.com/office/drawing/2014/main" id="{DEB5AB4F-2825-ACF4-133A-AF69361483D5}"/>
              </a:ext>
            </a:extLst>
          </p:cNvPr>
          <p:cNvSpPr>
            <a:spLocks noGrp="1"/>
          </p:cNvSpPr>
          <p:nvPr>
            <p:ph type="sldNum" sz="quarter" idx="12"/>
          </p:nvPr>
        </p:nvSpPr>
        <p:spPr/>
        <p:txBody>
          <a:bodyPr/>
          <a:lstStyle/>
          <a:p>
            <a:fld id="{D8C05D5D-75E2-3144-9168-CA833390726D}" type="slidenum">
              <a:rPr lang="en-JP" smtClean="0"/>
              <a:t>12</a:t>
            </a:fld>
            <a:endParaRPr lang="en-JP"/>
          </a:p>
        </p:txBody>
      </p:sp>
    </p:spTree>
    <p:extLst>
      <p:ext uri="{BB962C8B-B14F-4D97-AF65-F5344CB8AC3E}">
        <p14:creationId xmlns:p14="http://schemas.microsoft.com/office/powerpoint/2010/main" val="654515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9E71C8-2364-EE0C-C1F3-6557492B936F}"/>
              </a:ext>
            </a:extLst>
          </p:cNvPr>
          <p:cNvSpPr txBox="1"/>
          <p:nvPr/>
        </p:nvSpPr>
        <p:spPr>
          <a:xfrm>
            <a:off x="476250" y="815459"/>
            <a:ext cx="4572000" cy="369332"/>
          </a:xfrm>
          <a:prstGeom prst="rect">
            <a:avLst/>
          </a:prstGeom>
          <a:noFill/>
        </p:spPr>
        <p:txBody>
          <a:bodyPr wrap="square">
            <a:spAutoFit/>
          </a:bodyPr>
          <a:lstStyle/>
          <a:p>
            <a:pPr marL="285750" indent="-285750">
              <a:buFont typeface="Wingdings" pitchFamily="2" charset="2"/>
              <a:buChar char="§"/>
            </a:pPr>
            <a:r>
              <a:rPr lang="ja-JP" altLang="en-US" b="1">
                <a:solidFill>
                  <a:srgbClr val="C00000"/>
                </a:solidFill>
                <a:latin typeface="Meiryo" panose="020B0604030504040204" pitchFamily="34" charset="-128"/>
                <a:ea typeface="Meiryo" panose="020B0604030504040204" pitchFamily="34" charset="-128"/>
              </a:rPr>
              <a:t>統合アーキテクチャ</a:t>
            </a:r>
            <a:r>
              <a:rPr lang="ja-JP" altLang="en-US" sz="1800" b="1">
                <a:solidFill>
                  <a:srgbClr val="C00000"/>
                </a:solidFill>
                <a:latin typeface="Meiryo" panose="020B0604030504040204" pitchFamily="34" charset="-128"/>
                <a:ea typeface="Meiryo" panose="020B0604030504040204" pitchFamily="34" charset="-128"/>
              </a:rPr>
              <a:t>提案</a:t>
            </a:r>
            <a:endParaRPr lang="en-US" altLang="ja-JP" sz="1800" b="1" dirty="0">
              <a:solidFill>
                <a:srgbClr val="C0000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6B301D20-3EA5-6387-D104-7A3F72E065A9}"/>
              </a:ext>
            </a:extLst>
          </p:cNvPr>
          <p:cNvSpPr txBox="1"/>
          <p:nvPr/>
        </p:nvSpPr>
        <p:spPr>
          <a:xfrm>
            <a:off x="171450" y="215384"/>
            <a:ext cx="4572000" cy="646331"/>
          </a:xfrm>
          <a:prstGeom prst="rect">
            <a:avLst/>
          </a:prstGeom>
          <a:noFill/>
        </p:spPr>
        <p:txBody>
          <a:bodyPr wrap="square">
            <a:spAutoFit/>
          </a:bodyPr>
          <a:lstStyle/>
          <a:p>
            <a:pPr marL="285750" indent="-285750">
              <a:buFont typeface="Wingdings" pitchFamily="2" charset="2"/>
              <a:buChar char="Ø"/>
            </a:pPr>
            <a:r>
              <a:rPr lang="ja-JP" altLang="en-US" b="1">
                <a:solidFill>
                  <a:srgbClr val="92D050"/>
                </a:solidFill>
                <a:latin typeface="Meiryo" panose="020B0604030504040204" pitchFamily="34" charset="-128"/>
                <a:ea typeface="Meiryo" panose="020B0604030504040204" pitchFamily="34" charset="-128"/>
              </a:rPr>
              <a:t>マルウェア分類と機械学習</a:t>
            </a:r>
            <a:r>
              <a:rPr lang="mn-MN" altLang="ja-JP" b="1" dirty="0">
                <a:solidFill>
                  <a:srgbClr val="92D050"/>
                </a:solidFill>
                <a:latin typeface="Meiryo" panose="020B0604030504040204" pitchFamily="34" charset="-128"/>
                <a:ea typeface="Meiryo" panose="020B0604030504040204" pitchFamily="34" charset="-128"/>
              </a:rPr>
              <a:t> 3</a:t>
            </a:r>
            <a:r>
              <a:rPr lang="en-US" altLang="ja-JP" b="1" dirty="0">
                <a:solidFill>
                  <a:srgbClr val="92D050"/>
                </a:solidFill>
                <a:latin typeface="Meiryo" panose="020B0604030504040204" pitchFamily="34" charset="-128"/>
                <a:ea typeface="Meiryo" panose="020B0604030504040204" pitchFamily="34" charset="-128"/>
              </a:rPr>
              <a:t>/3</a:t>
            </a:r>
            <a:endParaRPr lang="en-JP" b="1" dirty="0">
              <a:solidFill>
                <a:srgbClr val="92D050"/>
              </a:solidFill>
              <a:latin typeface="Meiryo" panose="020B0604030504040204" pitchFamily="34" charset="-128"/>
              <a:ea typeface="Meiryo" panose="020B0604030504040204" pitchFamily="34" charset="-128"/>
            </a:endParaRPr>
          </a:p>
          <a:p>
            <a:endParaRPr lang="en-JP" dirty="0"/>
          </a:p>
        </p:txBody>
      </p:sp>
      <p:pic>
        <p:nvPicPr>
          <p:cNvPr id="8" name="Picture 7">
            <a:extLst>
              <a:ext uri="{FF2B5EF4-FFF2-40B4-BE49-F238E27FC236}">
                <a16:creationId xmlns:a16="http://schemas.microsoft.com/office/drawing/2014/main" id="{8FA0AA44-1817-5660-1551-2A0825424679}"/>
              </a:ext>
            </a:extLst>
          </p:cNvPr>
          <p:cNvPicPr>
            <a:picLocks noChangeAspect="1"/>
          </p:cNvPicPr>
          <p:nvPr/>
        </p:nvPicPr>
        <p:blipFill>
          <a:blip r:embed="rId2"/>
          <a:stretch>
            <a:fillRect/>
          </a:stretch>
        </p:blipFill>
        <p:spPr>
          <a:xfrm>
            <a:off x="476250" y="1415534"/>
            <a:ext cx="7772400" cy="5160220"/>
          </a:xfrm>
          <a:prstGeom prst="rect">
            <a:avLst/>
          </a:prstGeom>
        </p:spPr>
      </p:pic>
      <p:sp>
        <p:nvSpPr>
          <p:cNvPr id="9" name="Slide Number Placeholder 8">
            <a:extLst>
              <a:ext uri="{FF2B5EF4-FFF2-40B4-BE49-F238E27FC236}">
                <a16:creationId xmlns:a16="http://schemas.microsoft.com/office/drawing/2014/main" id="{F00B1F0B-9A10-3C8E-8290-0BE45EBD79C1}"/>
              </a:ext>
            </a:extLst>
          </p:cNvPr>
          <p:cNvSpPr>
            <a:spLocks noGrp="1"/>
          </p:cNvSpPr>
          <p:nvPr>
            <p:ph type="sldNum" sz="quarter" idx="12"/>
          </p:nvPr>
        </p:nvSpPr>
        <p:spPr/>
        <p:txBody>
          <a:bodyPr/>
          <a:lstStyle/>
          <a:p>
            <a:fld id="{D8C05D5D-75E2-3144-9168-CA833390726D}" type="slidenum">
              <a:rPr lang="en-JP" smtClean="0"/>
              <a:t>13</a:t>
            </a:fld>
            <a:endParaRPr lang="en-JP"/>
          </a:p>
        </p:txBody>
      </p:sp>
    </p:spTree>
    <p:extLst>
      <p:ext uri="{BB962C8B-B14F-4D97-AF65-F5344CB8AC3E}">
        <p14:creationId xmlns:p14="http://schemas.microsoft.com/office/powerpoint/2010/main" val="2714740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B96E93-1AD6-2A16-5798-6079AE5739BF}"/>
              </a:ext>
            </a:extLst>
          </p:cNvPr>
          <p:cNvSpPr txBox="1"/>
          <p:nvPr/>
        </p:nvSpPr>
        <p:spPr>
          <a:xfrm>
            <a:off x="381000" y="301109"/>
            <a:ext cx="4572000" cy="400110"/>
          </a:xfrm>
          <a:prstGeom prst="rect">
            <a:avLst/>
          </a:prstGeom>
          <a:noFill/>
        </p:spPr>
        <p:txBody>
          <a:bodyPr wrap="square">
            <a:spAutoFit/>
          </a:bodyPr>
          <a:lstStyle/>
          <a:p>
            <a:pPr marL="285750" indent="-285750">
              <a:buFont typeface="Wingdings" pitchFamily="2" charset="2"/>
              <a:buChar char="Ø"/>
            </a:pPr>
            <a:r>
              <a:rPr lang="ja-JP" altLang="en-US" sz="2000" b="1">
                <a:solidFill>
                  <a:srgbClr val="92D050"/>
                </a:solidFill>
                <a:latin typeface="Meiryo" panose="020B0604030504040204" pitchFamily="34" charset="-128"/>
                <a:ea typeface="Meiryo" panose="020B0604030504040204" pitchFamily="34" charset="-128"/>
              </a:rPr>
              <a:t>マルウェア解析に演習のまとめ</a:t>
            </a:r>
            <a:endParaRPr lang="en-JP" sz="2000" b="1" dirty="0">
              <a:solidFill>
                <a:srgbClr val="92D050"/>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DCE6630D-7F3C-454A-3282-8DCDF3FED03C}"/>
              </a:ext>
            </a:extLst>
          </p:cNvPr>
          <p:cNvSpPr txBox="1"/>
          <p:nvPr/>
        </p:nvSpPr>
        <p:spPr>
          <a:xfrm>
            <a:off x="205752" y="1034385"/>
            <a:ext cx="8938248" cy="2246769"/>
          </a:xfrm>
          <a:prstGeom prst="rect">
            <a:avLst/>
          </a:prstGeom>
          <a:noFill/>
        </p:spPr>
        <p:txBody>
          <a:bodyPr wrap="square">
            <a:spAutoFit/>
          </a:bodyPr>
          <a:lstStyle/>
          <a:p>
            <a:pPr marL="342900" indent="-342900">
              <a:buFont typeface="Wingdings" pitchFamily="2" charset="2"/>
              <a:buChar char="§"/>
            </a:pPr>
            <a:r>
              <a:rPr lang="ja-JP" altLang="en-US" sz="2000" b="1">
                <a:solidFill>
                  <a:srgbClr val="C00000"/>
                </a:solidFill>
                <a:latin typeface="Meiryo" panose="020B0604030504040204" pitchFamily="34" charset="-128"/>
                <a:ea typeface="Meiryo" panose="020B0604030504040204" pitchFamily="34" charset="-128"/>
              </a:rPr>
              <a:t>個人の視点</a:t>
            </a:r>
          </a:p>
          <a:p>
            <a:endParaRPr lang="ja-JP" altLang="en-US" sz="200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これまでセキュリティは主に理論を中心に学んできた</a:t>
            </a:r>
            <a:endParaRPr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実践演習を通して、ツールを使った分析やネットワーク設計を体験できた</a:t>
            </a:r>
            <a:endParaRPr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探索的データ解析やマルウェア解析を通して、攻撃の仕組みや検知方法への理解を深めることができた</a:t>
            </a:r>
            <a:endParaRPr lang="en-US"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その結果、セキュリティに関する実践的な経験を得ることができた</a:t>
            </a:r>
            <a:endParaRPr lang="en-JP" sz="20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888C2342-D20E-FB7D-7351-214C42DF68E0}"/>
              </a:ext>
            </a:extLst>
          </p:cNvPr>
          <p:cNvSpPr txBox="1"/>
          <p:nvPr/>
        </p:nvSpPr>
        <p:spPr>
          <a:xfrm>
            <a:off x="205751" y="4009042"/>
            <a:ext cx="7931251" cy="1938992"/>
          </a:xfrm>
          <a:prstGeom prst="rect">
            <a:avLst/>
          </a:prstGeom>
          <a:noFill/>
        </p:spPr>
        <p:txBody>
          <a:bodyPr wrap="square">
            <a:spAutoFit/>
          </a:bodyPr>
          <a:lstStyle/>
          <a:p>
            <a:pPr marL="342900" indent="-342900">
              <a:buFont typeface="Wingdings" pitchFamily="2" charset="2"/>
              <a:buChar char="§"/>
            </a:pPr>
            <a:r>
              <a:rPr lang="en-JP" sz="2000" b="1" dirty="0">
                <a:solidFill>
                  <a:srgbClr val="C00000"/>
                </a:solidFill>
                <a:latin typeface="Meiryo" panose="020B0604030504040204" pitchFamily="34" charset="-128"/>
                <a:ea typeface="Meiryo" panose="020B0604030504040204" pitchFamily="34" charset="-128"/>
              </a:rPr>
              <a:t>企業のマルウェア対策（初期分析</a:t>
            </a:r>
            <a:r>
              <a:rPr lang="en-JP" sz="2000" b="1" dirty="0">
                <a:latin typeface="Meiryo" panose="020B0604030504040204" pitchFamily="34" charset="-128"/>
                <a:ea typeface="Meiryo" panose="020B0604030504040204" pitchFamily="34" charset="-128"/>
              </a:rPr>
              <a:t>）</a:t>
            </a:r>
            <a:endParaRPr lang="mn-MN" sz="2000" b="1"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マルウェアを早期に検知するために、ファイルの初期分析を行う</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suspicious ファイルのハッシュ値や特徴量を確認</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機械学習などを利用してマルウェアの可能性を分類</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感染の拡大を防ぐために、隔離やネットワーク監視を行う</a:t>
            </a:r>
          </a:p>
        </p:txBody>
      </p:sp>
      <p:sp>
        <p:nvSpPr>
          <p:cNvPr id="12" name="Down Arrow 11">
            <a:extLst>
              <a:ext uri="{FF2B5EF4-FFF2-40B4-BE49-F238E27FC236}">
                <a16:creationId xmlns:a16="http://schemas.microsoft.com/office/drawing/2014/main" id="{8F2E7A53-D233-CF32-7F79-9304CBA3AF2E}"/>
              </a:ext>
            </a:extLst>
          </p:cNvPr>
          <p:cNvSpPr/>
          <p:nvPr/>
        </p:nvSpPr>
        <p:spPr>
          <a:xfrm>
            <a:off x="4354940" y="3485880"/>
            <a:ext cx="182336" cy="318436"/>
          </a:xfrm>
          <a:prstGeom prst="down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3" name="Slide Number Placeholder 12">
            <a:extLst>
              <a:ext uri="{FF2B5EF4-FFF2-40B4-BE49-F238E27FC236}">
                <a16:creationId xmlns:a16="http://schemas.microsoft.com/office/drawing/2014/main" id="{891FFE49-C153-9520-E004-1AF0074E3112}"/>
              </a:ext>
            </a:extLst>
          </p:cNvPr>
          <p:cNvSpPr>
            <a:spLocks noGrp="1"/>
          </p:cNvSpPr>
          <p:nvPr>
            <p:ph type="sldNum" sz="quarter" idx="12"/>
          </p:nvPr>
        </p:nvSpPr>
        <p:spPr/>
        <p:txBody>
          <a:bodyPr/>
          <a:lstStyle/>
          <a:p>
            <a:fld id="{D8C05D5D-75E2-3144-9168-CA833390726D}" type="slidenum">
              <a:rPr lang="en-JP" smtClean="0"/>
              <a:t>14</a:t>
            </a:fld>
            <a:endParaRPr lang="en-JP"/>
          </a:p>
        </p:txBody>
      </p:sp>
    </p:spTree>
    <p:extLst>
      <p:ext uri="{BB962C8B-B14F-4D97-AF65-F5344CB8AC3E}">
        <p14:creationId xmlns:p14="http://schemas.microsoft.com/office/powerpoint/2010/main" val="1295970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749180-4748-43B1-1962-482F096C4FDC}"/>
              </a:ext>
            </a:extLst>
          </p:cNvPr>
          <p:cNvSpPr txBox="1"/>
          <p:nvPr/>
        </p:nvSpPr>
        <p:spPr>
          <a:xfrm>
            <a:off x="76200" y="79617"/>
            <a:ext cx="4572000" cy="307777"/>
          </a:xfrm>
          <a:prstGeom prst="rect">
            <a:avLst/>
          </a:prstGeom>
          <a:noFill/>
        </p:spPr>
        <p:txBody>
          <a:bodyPr wrap="square">
            <a:spAutoFit/>
          </a:bodyPr>
          <a:lstStyle/>
          <a:p>
            <a:pPr marL="285750" indent="-285750">
              <a:buFont typeface="Wingdings" pitchFamily="2" charset="2"/>
              <a:buChar char="§"/>
            </a:pPr>
            <a:r>
              <a:rPr lang="ja-JP" sz="1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1400">
                <a:latin typeface="Meiryo" panose="020B0604030504040204" pitchFamily="34" charset="-128"/>
                <a:ea typeface="Meiryo" panose="020B0604030504040204" pitchFamily="34" charset="-128"/>
              </a:rPr>
              <a:t>の概要・</a:t>
            </a:r>
            <a:r>
              <a:rPr lang="en-US" altLang="ja-JP" sz="1400" dirty="0">
                <a:latin typeface="Meiryo" panose="020B0604030504040204" pitchFamily="34" charset="-128"/>
                <a:ea typeface="Meiryo" panose="020B0604030504040204" pitchFamily="34" charset="-128"/>
              </a:rPr>
              <a:t>3</a:t>
            </a:r>
            <a:endParaRPr lang="en-JP" sz="1400" dirty="0"/>
          </a:p>
        </p:txBody>
      </p:sp>
      <p:sp>
        <p:nvSpPr>
          <p:cNvPr id="7" name="TextBox 6">
            <a:extLst>
              <a:ext uri="{FF2B5EF4-FFF2-40B4-BE49-F238E27FC236}">
                <a16:creationId xmlns:a16="http://schemas.microsoft.com/office/drawing/2014/main" id="{24569529-37C9-CBF5-8CE8-C39640F0BD71}"/>
              </a:ext>
            </a:extLst>
          </p:cNvPr>
          <p:cNvSpPr txBox="1"/>
          <p:nvPr/>
        </p:nvSpPr>
        <p:spPr>
          <a:xfrm>
            <a:off x="238124" y="275676"/>
            <a:ext cx="4572000" cy="515526"/>
          </a:xfrm>
          <a:prstGeom prst="rect">
            <a:avLst/>
          </a:prstGeom>
          <a:noFill/>
        </p:spPr>
        <p:txBody>
          <a:bodyPr wrap="square">
            <a:spAutoFit/>
          </a:bodyPr>
          <a:lstStyle/>
          <a:p>
            <a:pPr marL="742950" lvl="1" indent="-285750">
              <a:lnSpc>
                <a:spcPct val="150000"/>
              </a:lnSpc>
              <a:buFont typeface="Wingdings" pitchFamily="2" charset="2"/>
              <a:buChar char="Ø"/>
            </a:pPr>
            <a:r>
              <a:rPr lang="ja-JP" altLang="en-US" sz="2000" b="1">
                <a:solidFill>
                  <a:srgbClr val="C00000"/>
                </a:solidFill>
                <a:latin typeface="Meiryo" panose="020B0604030504040204" pitchFamily="34" charset="-128"/>
                <a:ea typeface="Meiryo" panose="020B0604030504040204" pitchFamily="34" charset="-128"/>
              </a:rPr>
              <a:t>安全なネットワーク構成の設計</a:t>
            </a:r>
            <a:endParaRPr lang="en-US" altLang="ja-JP" sz="2000" b="1" dirty="0">
              <a:solidFill>
                <a:srgbClr val="C00000"/>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E5617C3F-5B87-9B38-0CEB-C67FB963A5D0}"/>
              </a:ext>
            </a:extLst>
          </p:cNvPr>
          <p:cNvSpPr txBox="1"/>
          <p:nvPr/>
        </p:nvSpPr>
        <p:spPr>
          <a:xfrm>
            <a:off x="428623" y="820725"/>
            <a:ext cx="7870425" cy="5909310"/>
          </a:xfrm>
          <a:prstGeom prst="rect">
            <a:avLst/>
          </a:prstGeom>
          <a:noFill/>
        </p:spPr>
        <p:txBody>
          <a:bodyPr wrap="square">
            <a:spAutoFit/>
          </a:bodyPr>
          <a:lstStyle/>
          <a:p>
            <a:r>
              <a:rPr lang="en-US" dirty="0"/>
              <a:t>1.</a:t>
            </a:r>
            <a:r>
              <a:rPr lang="mn-MN" dirty="0"/>
              <a:t> </a:t>
            </a:r>
            <a:r>
              <a:rPr lang="en-JP" dirty="0">
                <a:latin typeface="Meiryo" panose="020B0604030504040204" pitchFamily="34" charset="-128"/>
                <a:ea typeface="Meiryo" panose="020B0604030504040204" pitchFamily="34" charset="-128"/>
              </a:rPr>
              <a:t>ネットワーク設計演習</a:t>
            </a:r>
          </a:p>
          <a:p>
            <a:r>
              <a:rPr lang="en-JP" dirty="0">
                <a:latin typeface="Meiryo" panose="020B0604030504040204" pitchFamily="34" charset="-128"/>
                <a:ea typeface="Meiryo" panose="020B0604030504040204" pitchFamily="34" charset="-128"/>
              </a:rPr>
              <a:t>社内ネットワーク構成を設計事務NWと開発NWを分離</a:t>
            </a:r>
            <a:r>
              <a:rPr lang="mn-MN" dirty="0">
                <a:latin typeface="Meiryo" panose="020B0604030504040204" pitchFamily="34" charset="-128"/>
                <a:ea typeface="Meiryo" panose="020B0604030504040204" pitchFamily="34" charset="-128"/>
              </a:rPr>
              <a:t> </a:t>
            </a:r>
            <a:r>
              <a:rPr lang="en-JP" dirty="0">
                <a:latin typeface="Meiryo" panose="020B0604030504040204" pitchFamily="34" charset="-128"/>
                <a:ea typeface="Meiryo" panose="020B0604030504040204" pitchFamily="34" charset="-128"/>
              </a:rPr>
              <a:t>FWによるアクセス制御を設定</a:t>
            </a:r>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mn-MN"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2. インシデントレスポンス対応検討セキュリティインシデント発生時の対</a:t>
            </a:r>
            <a:r>
              <a:rPr lang="mn-MN" dirty="0">
                <a:latin typeface="Meiryo" panose="020B0604030504040204" pitchFamily="34" charset="-128"/>
                <a:ea typeface="Meiryo" panose="020B0604030504040204" pitchFamily="34" charset="-128"/>
              </a:rPr>
              <a:t>        </a:t>
            </a:r>
            <a:r>
              <a:rPr lang="en-JP" dirty="0">
                <a:latin typeface="Meiryo" panose="020B0604030504040204" pitchFamily="34" charset="-128"/>
                <a:ea typeface="Meiryo" panose="020B0604030504040204" pitchFamily="34" charset="-128"/>
              </a:rPr>
              <a:t>応を検討被害拡大防止の対策を検討</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3. 原因分析</a:t>
            </a:r>
            <a:r>
              <a:rPr lang="en-US" dirty="0">
                <a:latin typeface="Meiryo" panose="020B0604030504040204" pitchFamily="34" charset="-128"/>
                <a:ea typeface="Meiryo" panose="020B0604030504040204" pitchFamily="34" charset="-128"/>
              </a:rPr>
              <a:t>:</a:t>
            </a:r>
            <a:r>
              <a:rPr lang="en-JP" dirty="0">
                <a:latin typeface="Meiryo" panose="020B0604030504040204" pitchFamily="34" charset="-128"/>
                <a:ea typeface="Meiryo" panose="020B0604030504040204" pitchFamily="34" charset="-128"/>
              </a:rPr>
              <a:t>インシデントの原因を分析再発防止策を検討</a:t>
            </a:r>
          </a:p>
        </p:txBody>
      </p:sp>
      <p:pic>
        <p:nvPicPr>
          <p:cNvPr id="11" name="Picture 10">
            <a:extLst>
              <a:ext uri="{FF2B5EF4-FFF2-40B4-BE49-F238E27FC236}">
                <a16:creationId xmlns:a16="http://schemas.microsoft.com/office/drawing/2014/main" id="{EC28C77B-02BD-5317-1859-A27BAD0EB6E6}"/>
              </a:ext>
            </a:extLst>
          </p:cNvPr>
          <p:cNvPicPr>
            <a:picLocks noChangeAspect="1"/>
          </p:cNvPicPr>
          <p:nvPr/>
        </p:nvPicPr>
        <p:blipFill>
          <a:blip r:embed="rId2"/>
          <a:stretch>
            <a:fillRect/>
          </a:stretch>
        </p:blipFill>
        <p:spPr>
          <a:xfrm>
            <a:off x="523875" y="1647825"/>
            <a:ext cx="7458076" cy="3648075"/>
          </a:xfrm>
          <a:prstGeom prst="rect">
            <a:avLst/>
          </a:prstGeom>
        </p:spPr>
      </p:pic>
      <p:sp>
        <p:nvSpPr>
          <p:cNvPr id="12" name="Slide Number Placeholder 11">
            <a:extLst>
              <a:ext uri="{FF2B5EF4-FFF2-40B4-BE49-F238E27FC236}">
                <a16:creationId xmlns:a16="http://schemas.microsoft.com/office/drawing/2014/main" id="{9B52CCA5-708F-8F07-16C6-5EC12560D1E2}"/>
              </a:ext>
            </a:extLst>
          </p:cNvPr>
          <p:cNvSpPr>
            <a:spLocks noGrp="1"/>
          </p:cNvSpPr>
          <p:nvPr>
            <p:ph type="sldNum" sz="quarter" idx="12"/>
          </p:nvPr>
        </p:nvSpPr>
        <p:spPr/>
        <p:txBody>
          <a:bodyPr/>
          <a:lstStyle/>
          <a:p>
            <a:fld id="{D8C05D5D-75E2-3144-9168-CA833390726D}" type="slidenum">
              <a:rPr lang="en-JP" smtClean="0"/>
              <a:t>15</a:t>
            </a:fld>
            <a:endParaRPr lang="en-JP"/>
          </a:p>
        </p:txBody>
      </p:sp>
    </p:spTree>
    <p:extLst>
      <p:ext uri="{BB962C8B-B14F-4D97-AF65-F5344CB8AC3E}">
        <p14:creationId xmlns:p14="http://schemas.microsoft.com/office/powerpoint/2010/main" val="392529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3BAD283-20F4-5043-091C-B045C8BEE6F6}"/>
              </a:ext>
            </a:extLst>
          </p:cNvPr>
          <p:cNvSpPr txBox="1"/>
          <p:nvPr/>
        </p:nvSpPr>
        <p:spPr>
          <a:xfrm>
            <a:off x="302750" y="598233"/>
            <a:ext cx="6686446" cy="461665"/>
          </a:xfrm>
          <a:prstGeom prst="rect">
            <a:avLst/>
          </a:prstGeom>
          <a:noFill/>
        </p:spPr>
        <p:txBody>
          <a:bodyPr wrap="none" rtlCol="0">
            <a:spAutoFit/>
          </a:bodyPr>
          <a:lstStyle/>
          <a:p>
            <a:pPr marL="342900" indent="-342900">
              <a:buFont typeface="Wingdings" pitchFamily="2" charset="2"/>
              <a:buChar char="Ø"/>
            </a:pPr>
            <a:r>
              <a:rPr lang="en-JP" sz="2400" b="1" dirty="0">
                <a:solidFill>
                  <a:srgbClr val="92D050"/>
                </a:solidFill>
                <a:latin typeface="Meiryo" panose="020B0604030504040204" pitchFamily="34" charset="-128"/>
                <a:ea typeface="Meiryo" panose="020B0604030504040204" pitchFamily="34" charset="-128"/>
              </a:rPr>
              <a:t>インシデントレスポンス演習のまとめと感想</a:t>
            </a:r>
          </a:p>
        </p:txBody>
      </p:sp>
      <p:sp>
        <p:nvSpPr>
          <p:cNvPr id="12" name="TextBox 11">
            <a:extLst>
              <a:ext uri="{FF2B5EF4-FFF2-40B4-BE49-F238E27FC236}">
                <a16:creationId xmlns:a16="http://schemas.microsoft.com/office/drawing/2014/main" id="{B82DD5D5-7094-1CC4-495A-A8C78C82BDFD}"/>
              </a:ext>
            </a:extLst>
          </p:cNvPr>
          <p:cNvSpPr txBox="1"/>
          <p:nvPr/>
        </p:nvSpPr>
        <p:spPr>
          <a:xfrm>
            <a:off x="212035" y="1163389"/>
            <a:ext cx="8474765" cy="4524315"/>
          </a:xfrm>
          <a:prstGeom prst="rect">
            <a:avLst/>
          </a:prstGeom>
          <a:noFill/>
        </p:spPr>
        <p:txBody>
          <a:bodyPr wrap="square">
            <a:spAutoFit/>
          </a:bodyPr>
          <a:lstStyle/>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インシデント発生時の初期対応の重要性について理解を深めることができた</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技術的対策だけでなく、関係部署への迅速な報告も重要であると感じた</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グ管理やアクセス監視など、日常的なセキュリティ対策の重要性を学んだ</a:t>
            </a:r>
          </a:p>
          <a:p>
            <a:endParaRPr lang="en-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企業では、被害を最小限に抑えるための対応体制を整備することが必要である</a:t>
            </a:r>
          </a:p>
        </p:txBody>
      </p:sp>
      <p:sp>
        <p:nvSpPr>
          <p:cNvPr id="13" name="Slide Number Placeholder 12">
            <a:extLst>
              <a:ext uri="{FF2B5EF4-FFF2-40B4-BE49-F238E27FC236}">
                <a16:creationId xmlns:a16="http://schemas.microsoft.com/office/drawing/2014/main" id="{80C77ED0-2C02-A6DE-D514-C1BF997AC0D8}"/>
              </a:ext>
            </a:extLst>
          </p:cNvPr>
          <p:cNvSpPr>
            <a:spLocks noGrp="1"/>
          </p:cNvSpPr>
          <p:nvPr>
            <p:ph type="sldNum" sz="quarter" idx="12"/>
          </p:nvPr>
        </p:nvSpPr>
        <p:spPr/>
        <p:txBody>
          <a:bodyPr/>
          <a:lstStyle/>
          <a:p>
            <a:fld id="{D8C05D5D-75E2-3144-9168-CA833390726D}" type="slidenum">
              <a:rPr lang="en-JP" smtClean="0"/>
              <a:t>16</a:t>
            </a:fld>
            <a:endParaRPr lang="en-JP"/>
          </a:p>
        </p:txBody>
      </p:sp>
    </p:spTree>
    <p:extLst>
      <p:ext uri="{BB962C8B-B14F-4D97-AF65-F5344CB8AC3E}">
        <p14:creationId xmlns:p14="http://schemas.microsoft.com/office/powerpoint/2010/main" val="2072548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7D1F3E-70AB-1AC6-B092-9508A8444753}"/>
              </a:ext>
            </a:extLst>
          </p:cNvPr>
          <p:cNvSpPr txBox="1"/>
          <p:nvPr/>
        </p:nvSpPr>
        <p:spPr>
          <a:xfrm>
            <a:off x="643250" y="268646"/>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目次</a:t>
            </a:r>
            <a:endParaRPr lang="en-JP" sz="2400" dirty="0"/>
          </a:p>
        </p:txBody>
      </p:sp>
      <p:sp>
        <p:nvSpPr>
          <p:cNvPr id="6" name="TextBox 5">
            <a:extLst>
              <a:ext uri="{FF2B5EF4-FFF2-40B4-BE49-F238E27FC236}">
                <a16:creationId xmlns:a16="http://schemas.microsoft.com/office/drawing/2014/main" id="{D73A16CB-E4F7-B2A1-7591-02013CEF4CDD}"/>
              </a:ext>
            </a:extLst>
          </p:cNvPr>
          <p:cNvSpPr txBox="1"/>
          <p:nvPr/>
        </p:nvSpPr>
        <p:spPr>
          <a:xfrm>
            <a:off x="501108" y="999615"/>
            <a:ext cx="5203669" cy="2631490"/>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1. </a:t>
            </a:r>
            <a:r>
              <a:rPr lang="ja-JP" sz="2400">
                <a:effectLst/>
                <a:latin typeface="Meiryo" panose="020B0604030504040204" pitchFamily="34" charset="-128"/>
                <a:ea typeface="Meiryo" panose="020B0604030504040204" pitchFamily="34" charset="-128"/>
                <a:cs typeface="Times New Roman" panose="02020603050405020304" pitchFamily="18" charset="0"/>
              </a:rPr>
              <a:t>セキュリティ実践演習第一</a:t>
            </a:r>
            <a:r>
              <a:rPr lang="ja-JP" altLang="en-US" sz="2400">
                <a:latin typeface="Meiryo" panose="020B0604030504040204" pitchFamily="34" charset="-128"/>
                <a:ea typeface="Meiryo" panose="020B0604030504040204" pitchFamily="34" charset="-128"/>
              </a:rPr>
              <a:t>の概要</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公開鍵認証基盤（</a:t>
            </a:r>
            <a:r>
              <a:rPr lang="en-US" sz="2400" dirty="0">
                <a:latin typeface="Meiryo" panose="020B0604030504040204" pitchFamily="34" charset="-128"/>
                <a:ea typeface="Meiryo" panose="020B0604030504040204" pitchFamily="34" charset="-128"/>
              </a:rPr>
              <a:t>PKI）</a:t>
            </a:r>
            <a:r>
              <a:rPr lang="ja-JP" altLang="en-US" sz="2400">
                <a:latin typeface="Meiryo" panose="020B0604030504040204" pitchFamily="34" charset="-128"/>
                <a:ea typeface="Meiryo" panose="020B0604030504040204" pitchFamily="34" charset="-128"/>
              </a:rPr>
              <a:t>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マルウェア解析演習</a:t>
            </a:r>
            <a:endParaRPr lang="mn-MN"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インシデントレスポンス</a:t>
            </a:r>
            <a:endParaRPr lang="en-US" altLang="ja-JP" sz="2400" dirty="0">
              <a:latin typeface="Meiryo" panose="020B0604030504040204" pitchFamily="34" charset="-128"/>
              <a:ea typeface="Meiryo" panose="020B0604030504040204" pitchFamily="34" charset="-128"/>
            </a:endParaRPr>
          </a:p>
          <a:p>
            <a:pPr marL="742950" lvl="1" indent="-285750">
              <a:lnSpc>
                <a:spcPct val="150000"/>
              </a:lnSpc>
              <a:buFont typeface="Arial" panose="020B0604020202020204" pitchFamily="34" charset="0"/>
              <a:buChar char="•"/>
            </a:pPr>
            <a:endParaRPr lang="mn-MN" altLang="ja-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F2F575F4-36B4-5A02-EF5F-41965BE75F4A}"/>
              </a:ext>
            </a:extLst>
          </p:cNvPr>
          <p:cNvSpPr txBox="1"/>
          <p:nvPr/>
        </p:nvSpPr>
        <p:spPr>
          <a:xfrm>
            <a:off x="175004" y="3157898"/>
            <a:ext cx="6978150" cy="2816156"/>
          </a:xfrm>
          <a:prstGeom prst="rect">
            <a:avLst/>
          </a:prstGeom>
          <a:noFill/>
        </p:spPr>
        <p:txBody>
          <a:bodyPr wrap="square">
            <a:spAutoFit/>
          </a:bodyPr>
          <a:lstStyle/>
          <a:p>
            <a:pPr marL="213355">
              <a:lnSpc>
                <a:spcPct val="150000"/>
              </a:lnSpc>
              <a:spcBef>
                <a:spcPts val="0"/>
              </a:spcBef>
              <a:buSzPts val="2800"/>
            </a:pPr>
            <a:r>
              <a:rPr lang="mn-MN" altLang="ja-JP" sz="2400" b="1" dirty="0">
                <a:solidFill>
                  <a:srgbClr val="C00000"/>
                </a:solidFill>
                <a:latin typeface="Meiryo" panose="020B0604030504040204" pitchFamily="34" charset="-128"/>
                <a:ea typeface="Meiryo" panose="020B0604030504040204" pitchFamily="34" charset="-128"/>
              </a:rPr>
              <a:t>2. </a:t>
            </a:r>
            <a:r>
              <a:rPr lang="ja-JP" altLang="en-US" sz="2400" b="1">
                <a:solidFill>
                  <a:srgbClr val="C00000"/>
                </a:solidFill>
                <a:latin typeface="Meiryo" panose="020B0604030504040204" pitchFamily="34" charset="-128"/>
                <a:ea typeface="Meiryo" panose="020B0604030504040204" pitchFamily="34" charset="-128"/>
              </a:rPr>
              <a:t>インターンシップで</a:t>
            </a:r>
            <a:r>
              <a:rPr lang="en-US" altLang="ja-JP" sz="2400" b="1" dirty="0">
                <a:solidFill>
                  <a:srgbClr val="C00000"/>
                </a:solidFill>
                <a:latin typeface="Meiryo" panose="020B0604030504040204" pitchFamily="34" charset="-128"/>
                <a:ea typeface="Meiryo" panose="020B0604030504040204" pitchFamily="34" charset="-128"/>
              </a:rPr>
              <a:t>3</a:t>
            </a:r>
            <a:r>
              <a:rPr lang="ja-JP" altLang="en-US" sz="2400" b="1">
                <a:solidFill>
                  <a:srgbClr val="C00000"/>
                </a:solidFill>
                <a:latin typeface="Meiryo" panose="020B0604030504040204" pitchFamily="34" charset="-128"/>
                <a:ea typeface="Meiryo" panose="020B0604030504040204" pitchFamily="34" charset="-128"/>
              </a:rPr>
              <a:t>つの活動</a:t>
            </a:r>
            <a:endParaRPr lang="en-US" altLang="ja-JP" sz="2400" b="1" dirty="0">
              <a:solidFill>
                <a:srgbClr val="C00000"/>
              </a:solidFill>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i="0" dirty="0">
                <a:effectLst/>
                <a:latin typeface="Meiryo" panose="020B0604030504040204" pitchFamily="34" charset="-128"/>
                <a:ea typeface="Meiryo" panose="020B0604030504040204" pitchFamily="34" charset="-128"/>
              </a:rPr>
              <a:t>Traffic Eye_Log Analyzer</a:t>
            </a:r>
            <a:endParaRPr lang="mn-MN" sz="240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アプリケーションの構築</a:t>
            </a:r>
            <a:endParaRPr lang="mn-MN" altLang="ja-JP" sz="2400" dirty="0">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en-US" sz="2400" b="0" i="0" dirty="0">
                <a:effectLst/>
                <a:latin typeface="Meiryo" panose="020B0604030504040204" pitchFamily="34" charset="-128"/>
                <a:ea typeface="Meiryo" panose="020B0604030504040204" pitchFamily="34" charset="-128"/>
              </a:rPr>
              <a:t>Damn Vulnerable Web Application</a:t>
            </a:r>
            <a:endParaRPr lang="mn-MN" sz="2400" b="0" i="0" dirty="0">
              <a:effectLst/>
              <a:latin typeface="Meiryo" panose="020B0604030504040204" pitchFamily="34" charset="-128"/>
              <a:ea typeface="Meiryo" panose="020B0604030504040204" pitchFamily="34" charset="-128"/>
            </a:endParaRPr>
          </a:p>
          <a:p>
            <a:pPr marL="956305" lvl="1" indent="-285750">
              <a:lnSpc>
                <a:spcPct val="150000"/>
              </a:lnSpc>
              <a:buSzPts val="2800"/>
              <a:buFont typeface="Arial" panose="020B0604020202020204" pitchFamily="34" charset="0"/>
              <a:buChar char="•"/>
            </a:pPr>
            <a:r>
              <a:rPr lang="ja-JP" altLang="en-US" sz="2400" i="0">
                <a:effectLst/>
                <a:latin typeface="Meiryo" panose="020B0604030504040204" pitchFamily="34" charset="-128"/>
                <a:ea typeface="Meiryo" panose="020B0604030504040204" pitchFamily="34" charset="-128"/>
              </a:rPr>
              <a:t>インターンシップで学んだこと</a:t>
            </a:r>
            <a:endParaRPr lang="en-US" altLang="ja-JP" sz="2400" i="0" dirty="0">
              <a:effectLst/>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7FFB9608-EFFE-920F-4525-DCB9CDD67855}"/>
              </a:ext>
            </a:extLst>
          </p:cNvPr>
          <p:cNvSpPr txBox="1"/>
          <p:nvPr/>
        </p:nvSpPr>
        <p:spPr>
          <a:xfrm>
            <a:off x="501108" y="6027003"/>
            <a:ext cx="1510350" cy="830997"/>
          </a:xfrm>
          <a:prstGeom prst="rect">
            <a:avLst/>
          </a:prstGeom>
          <a:noFill/>
        </p:spPr>
        <p:txBody>
          <a:bodyPr wrap="none" rtlCol="0">
            <a:spAutoFit/>
          </a:bodyPr>
          <a:lstStyle/>
          <a:p>
            <a:r>
              <a:rPr lang="mn-MN" sz="2400" dirty="0">
                <a:latin typeface="Meiryo" panose="020B0604030504040204" pitchFamily="34" charset="-128"/>
                <a:ea typeface="Meiryo" panose="020B0604030504040204" pitchFamily="34" charset="-128"/>
              </a:rPr>
              <a:t>3. </a:t>
            </a:r>
            <a:r>
              <a:rPr lang="ja-JP" altLang="en-US" sz="2400">
                <a:latin typeface="Meiryo" panose="020B0604030504040204" pitchFamily="34" charset="-128"/>
                <a:ea typeface="Meiryo" panose="020B0604030504040204" pitchFamily="34" charset="-128"/>
              </a:rPr>
              <a:t>まとめ</a:t>
            </a:r>
            <a:endParaRPr lang="en-US" altLang="ja-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E665E1DE-9C52-99AD-3D30-16F799A12EE4}"/>
              </a:ext>
            </a:extLst>
          </p:cNvPr>
          <p:cNvSpPr>
            <a:spLocks noGrp="1"/>
          </p:cNvSpPr>
          <p:nvPr>
            <p:ph type="sldNum" sz="quarter" idx="12"/>
          </p:nvPr>
        </p:nvSpPr>
        <p:spPr/>
        <p:txBody>
          <a:bodyPr/>
          <a:lstStyle/>
          <a:p>
            <a:fld id="{D8C05D5D-75E2-3144-9168-CA833390726D}" type="slidenum">
              <a:rPr lang="en-JP" smtClean="0"/>
              <a:t>17</a:t>
            </a:fld>
            <a:endParaRPr lang="en-JP"/>
          </a:p>
        </p:txBody>
      </p:sp>
    </p:spTree>
    <p:extLst>
      <p:ext uri="{BB962C8B-B14F-4D97-AF65-F5344CB8AC3E}">
        <p14:creationId xmlns:p14="http://schemas.microsoft.com/office/powerpoint/2010/main" val="2891206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A2E5F8E-F96B-E2F2-A546-46C71417CDA7}"/>
              </a:ext>
            </a:extLst>
          </p:cNvPr>
          <p:cNvSpPr txBox="1"/>
          <p:nvPr/>
        </p:nvSpPr>
        <p:spPr>
          <a:xfrm>
            <a:off x="283947" y="510981"/>
            <a:ext cx="8231403" cy="830997"/>
          </a:xfrm>
          <a:prstGeom prst="rect">
            <a:avLst/>
          </a:prstGeom>
          <a:noFill/>
        </p:spPr>
        <p:txBody>
          <a:bodyPr wrap="square">
            <a:spAutoFit/>
          </a:bodyPr>
          <a:lstStyle/>
          <a:p>
            <a:pPr marL="342900" indent="-342900">
              <a:buFont typeface="Wingdings" pitchFamily="2" charset="2"/>
              <a:buChar char="Ø"/>
            </a:pPr>
            <a:r>
              <a:rPr lang="ja-JP" altLang="en-US" sz="2400">
                <a:latin typeface="Meiryo" panose="020B0604030504040204" pitchFamily="34" charset="-128"/>
                <a:ea typeface="Meiryo" panose="020B0604030504040204" pitchFamily="34" charset="-128"/>
              </a:rPr>
              <a:t>私は</a:t>
            </a:r>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私は九州先端科学技術研究所（</a:t>
            </a:r>
            <a:r>
              <a:rPr lang="en-US" altLang="ja-JP" sz="2400" dirty="0">
                <a:latin typeface="Meiryo" panose="020B0604030504040204" pitchFamily="34" charset="-128"/>
                <a:ea typeface="Meiryo" panose="020B0604030504040204" pitchFamily="34" charset="-128"/>
              </a:rPr>
              <a:t>ISIT</a:t>
            </a:r>
            <a:r>
              <a:rPr lang="ja-JP" altLang="en-US" sz="2400">
                <a:latin typeface="Meiryo" panose="020B0604030504040204" pitchFamily="34" charset="-128"/>
                <a:ea typeface="Meiryo" panose="020B0604030504040204" pitchFamily="34" charset="-128"/>
              </a:rPr>
              <a:t>）のセキュリティインターンシップで</a:t>
            </a:r>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つの活動を行いました</a:t>
            </a:r>
            <a:r>
              <a:rPr lang="en-US"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CBBEDD0C-5E81-F99E-1E2C-96E98C9673A8}"/>
              </a:ext>
            </a:extLst>
          </p:cNvPr>
          <p:cNvSpPr txBox="1"/>
          <p:nvPr/>
        </p:nvSpPr>
        <p:spPr>
          <a:xfrm>
            <a:off x="446773" y="2505411"/>
            <a:ext cx="7905750" cy="3624069"/>
          </a:xfrm>
          <a:prstGeom prst="rect">
            <a:avLst/>
          </a:prstGeom>
          <a:noFill/>
        </p:spPr>
        <p:txBody>
          <a:bodyPr wrap="square">
            <a:spAutoFit/>
          </a:bodyPr>
          <a:lstStyle/>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「ネットワークセキュリティ分析ツール」を作成しました。ログ解析を行いました</a:t>
            </a:r>
            <a:r>
              <a:rPr lang="mn-MN" altLang="ja-JP" sz="2400" dirty="0">
                <a:latin typeface="Meiryo" panose="020B0604030504040204" pitchFamily="34" charset="-128"/>
                <a:ea typeface="Meiryo" panose="020B0604030504040204" pitchFamily="34" charset="-128"/>
                <a:cs typeface="Times New Roman" panose="02020603050405020304" pitchFamily="18" charset="0"/>
              </a:rPr>
              <a:t>.</a:t>
            </a:r>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pPr marL="214313" indent="-214313">
              <a:buFont typeface="Arial" panose="020B0604020202020204" pitchFamily="34" charset="0"/>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テスト用の</a:t>
            </a:r>
            <a:r>
              <a:rPr lang="en-US" sz="2400" dirty="0">
                <a:latin typeface="Meiryo" panose="020B0604030504040204" pitchFamily="34" charset="-128"/>
                <a:ea typeface="Meiryo" panose="020B0604030504040204" pitchFamily="34" charset="-128"/>
                <a:cs typeface="Times New Roman" panose="02020603050405020304" pitchFamily="18" charset="0"/>
              </a:rPr>
              <a:t>Web</a:t>
            </a:r>
            <a:r>
              <a:rPr lang="ja-JP" altLang="en-US" sz="2400">
                <a:latin typeface="Meiryo" panose="020B0604030504040204" pitchFamily="34" charset="-128"/>
                <a:ea typeface="Meiryo" panose="020B0604030504040204" pitchFamily="34" charset="-128"/>
                <a:cs typeface="Times New Roman" panose="02020603050405020304" pitchFamily="18" charset="0"/>
              </a:rPr>
              <a:t>サイトを作成して、攻撃からの守り方の基本を学びました</a:t>
            </a:r>
            <a:r>
              <a:rPr lang="mn-MN" altLang="ja-JP" sz="2400" dirty="0">
                <a:latin typeface="Meiryo" panose="020B0604030504040204" pitchFamily="34" charset="-128"/>
                <a:ea typeface="Meiryo" panose="020B0604030504040204" pitchFamily="34" charset="-128"/>
                <a:cs typeface="Times New Roman" panose="02020603050405020304" pitchFamily="18" charset="0"/>
              </a:rPr>
              <a:t>.</a:t>
            </a:r>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endParaRPr lang="en-US" sz="2400" dirty="0">
              <a:latin typeface="Meiryo" panose="020B0604030504040204" pitchFamily="34" charset="-128"/>
              <a:ea typeface="Meiryo" panose="020B0604030504040204" pitchFamily="34" charset="-128"/>
              <a:cs typeface="Times New Roman" panose="02020603050405020304" pitchFamily="18" charset="0"/>
            </a:endParaRPr>
          </a:p>
          <a:p>
            <a:pPr marL="214313" indent="-214313">
              <a:buFont typeface="Arial" panose="020B0604020202020204" pitchFamily="34" charset="0"/>
              <a:buChar char="•"/>
            </a:pPr>
            <a:r>
              <a:rPr lang="en-US" sz="2400" dirty="0">
                <a:latin typeface="Meiryo" panose="020B0604030504040204" pitchFamily="34" charset="-128"/>
                <a:ea typeface="Meiryo" panose="020B0604030504040204" pitchFamily="34" charset="-128"/>
                <a:cs typeface="Times New Roman" panose="02020603050405020304" pitchFamily="18" charset="0"/>
              </a:rPr>
              <a:t>DVWA</a:t>
            </a:r>
            <a:r>
              <a:rPr lang="ja-JP" altLang="en-US" sz="2400">
                <a:latin typeface="Meiryo" panose="020B0604030504040204" pitchFamily="34" charset="-128"/>
                <a:ea typeface="Meiryo" panose="020B0604030504040204" pitchFamily="34" charset="-128"/>
                <a:cs typeface="Times New Roman" panose="02020603050405020304" pitchFamily="18" charset="0"/>
              </a:rPr>
              <a:t>というウェブ攻撃のパターンを学べるテスト用プログラムを使用していろいろな攻撃パターンで攻撃させながら、その基本を学びました</a:t>
            </a:r>
            <a:r>
              <a:rPr lang="mn-MN" altLang="ja-JP" sz="2400" dirty="0">
                <a:latin typeface="Meiryo" panose="020B0604030504040204" pitchFamily="34" charset="-128"/>
                <a:ea typeface="Meiryo" panose="020B0604030504040204" pitchFamily="34" charset="-128"/>
                <a:cs typeface="Times New Roman" panose="02020603050405020304" pitchFamily="18" charset="0"/>
              </a:rPr>
              <a:t>.</a:t>
            </a:r>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endParaRPr lang="en-JP" sz="1350" dirty="0"/>
          </a:p>
        </p:txBody>
      </p:sp>
      <p:sp>
        <p:nvSpPr>
          <p:cNvPr id="2" name="Down Arrow 1">
            <a:extLst>
              <a:ext uri="{FF2B5EF4-FFF2-40B4-BE49-F238E27FC236}">
                <a16:creationId xmlns:a16="http://schemas.microsoft.com/office/drawing/2014/main" id="{D6BAD75B-013E-2822-B307-BC1A584B628C}"/>
              </a:ext>
            </a:extLst>
          </p:cNvPr>
          <p:cNvSpPr/>
          <p:nvPr/>
        </p:nvSpPr>
        <p:spPr>
          <a:xfrm>
            <a:off x="3957210" y="1739028"/>
            <a:ext cx="263019" cy="369332"/>
          </a:xfrm>
          <a:prstGeom prst="downArrow">
            <a:avLst>
              <a:gd name="adj1" fmla="val 66562"/>
              <a:gd name="adj2" fmla="val 50000"/>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4" name="Slide Number Placeholder 3">
            <a:extLst>
              <a:ext uri="{FF2B5EF4-FFF2-40B4-BE49-F238E27FC236}">
                <a16:creationId xmlns:a16="http://schemas.microsoft.com/office/drawing/2014/main" id="{83DEE604-3B81-AA85-6C68-1195420CB7E4}"/>
              </a:ext>
            </a:extLst>
          </p:cNvPr>
          <p:cNvSpPr>
            <a:spLocks noGrp="1"/>
          </p:cNvSpPr>
          <p:nvPr>
            <p:ph type="sldNum" sz="quarter" idx="12"/>
          </p:nvPr>
        </p:nvSpPr>
        <p:spPr/>
        <p:txBody>
          <a:bodyPr/>
          <a:lstStyle/>
          <a:p>
            <a:fld id="{D8C05D5D-75E2-3144-9168-CA833390726D}" type="slidenum">
              <a:rPr lang="en-JP" smtClean="0"/>
              <a:t>18</a:t>
            </a:fld>
            <a:endParaRPr lang="en-JP"/>
          </a:p>
        </p:txBody>
      </p:sp>
    </p:spTree>
    <p:extLst>
      <p:ext uri="{BB962C8B-B14F-4D97-AF65-F5344CB8AC3E}">
        <p14:creationId xmlns:p14="http://schemas.microsoft.com/office/powerpoint/2010/main" val="1514416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53061F-A2F5-72C2-DAAE-84692BD0026F}"/>
              </a:ext>
            </a:extLst>
          </p:cNvPr>
          <p:cNvPicPr>
            <a:picLocks noChangeAspect="1"/>
          </p:cNvPicPr>
          <p:nvPr/>
        </p:nvPicPr>
        <p:blipFill>
          <a:blip r:embed="rId2"/>
          <a:stretch>
            <a:fillRect/>
          </a:stretch>
        </p:blipFill>
        <p:spPr>
          <a:xfrm>
            <a:off x="298717" y="1579921"/>
            <a:ext cx="8546565" cy="3280606"/>
          </a:xfrm>
          <a:prstGeom prst="rect">
            <a:avLst/>
          </a:prstGeom>
        </p:spPr>
      </p:pic>
      <p:sp>
        <p:nvSpPr>
          <p:cNvPr id="7" name="TextBox 6">
            <a:extLst>
              <a:ext uri="{FF2B5EF4-FFF2-40B4-BE49-F238E27FC236}">
                <a16:creationId xmlns:a16="http://schemas.microsoft.com/office/drawing/2014/main" id="{30EAFAFD-DA5F-F646-489B-171776468979}"/>
              </a:ext>
            </a:extLst>
          </p:cNvPr>
          <p:cNvSpPr txBox="1"/>
          <p:nvPr/>
        </p:nvSpPr>
        <p:spPr>
          <a:xfrm>
            <a:off x="487563" y="521306"/>
            <a:ext cx="7295881" cy="707886"/>
          </a:xfrm>
          <a:prstGeom prst="rect">
            <a:avLst/>
          </a:prstGeom>
          <a:noFill/>
        </p:spPr>
        <p:txBody>
          <a:bodyPr wrap="square">
            <a:spAutoFit/>
          </a:bodyPr>
          <a:lstStyle/>
          <a:p>
            <a:r>
              <a:rPr lang="ja-JP" altLang="en-US" sz="2000" i="0">
                <a:effectLst/>
                <a:latin typeface="Meiryo" panose="020B0604030504040204" pitchFamily="34" charset="-128"/>
                <a:ea typeface="Meiryo" panose="020B0604030504040204" pitchFamily="34" charset="-128"/>
              </a:rPr>
              <a:t>実際に稼働しているサーバーのログ分析に取り組んでもらう</a:t>
            </a:r>
            <a:endParaRPr lang="mn-MN" altLang="ja-JP" sz="2000" i="0" dirty="0">
              <a:effectLst/>
              <a:latin typeface="Meiryo" panose="020B0604030504040204" pitchFamily="34" charset="-128"/>
              <a:ea typeface="Meiryo" panose="020B0604030504040204" pitchFamily="34" charset="-128"/>
            </a:endParaRPr>
          </a:p>
          <a:p>
            <a:r>
              <a:rPr lang="ja-JP" altLang="en-US" sz="2000" i="0">
                <a:effectLst/>
                <a:latin typeface="Meiryo" panose="020B0604030504040204" pitchFamily="34" charset="-128"/>
                <a:ea typeface="Meiryo" panose="020B0604030504040204" pitchFamily="34" charset="-128"/>
              </a:rPr>
              <a:t>１日間かけて手作業にて分析をしました</a:t>
            </a:r>
            <a:r>
              <a:rPr lang="en-US" altLang="ja-JP" sz="2000" dirty="0">
                <a:latin typeface="Meiryo" panose="020B0604030504040204" pitchFamily="34" charset="-128"/>
                <a:ea typeface="Meiryo" panose="020B0604030504040204" pitchFamily="34" charset="-128"/>
              </a:rPr>
              <a:t>.(</a:t>
            </a:r>
            <a:r>
              <a:rPr lang="en-US" sz="2000" b="0" i="0" u="none" strike="noStrike" dirty="0">
                <a:solidFill>
                  <a:srgbClr val="000000"/>
                </a:solidFill>
                <a:effectLst/>
                <a:latin typeface="Meiryo" panose="020B0604030504040204" pitchFamily="34" charset="-128"/>
                <a:ea typeface="Meiryo" panose="020B0604030504040204" pitchFamily="34" charset="-128"/>
              </a:rPr>
              <a:t>Powershell )</a:t>
            </a:r>
            <a:r>
              <a:rPr lang="en-US" altLang="ja-JP" sz="2000" dirty="0">
                <a:latin typeface="Meiryo" panose="020B0604030504040204" pitchFamily="34" charset="-128"/>
                <a:ea typeface="Meiryo" panose="020B0604030504040204" pitchFamily="34" charset="-128"/>
              </a:rPr>
              <a:t>.</a:t>
            </a:r>
            <a:endParaRPr lang="ja-JP" altLang="en-US" sz="2000">
              <a:effectLst/>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22907F9-9C39-4F9C-B617-8EFAF78FD9A7}"/>
              </a:ext>
            </a:extLst>
          </p:cNvPr>
          <p:cNvSpPr txBox="1"/>
          <p:nvPr/>
        </p:nvSpPr>
        <p:spPr>
          <a:xfrm>
            <a:off x="585719" y="5456317"/>
            <a:ext cx="7972560" cy="707886"/>
          </a:xfrm>
          <a:prstGeom prst="rect">
            <a:avLst/>
          </a:prstGeom>
          <a:noFill/>
        </p:spPr>
        <p:txBody>
          <a:bodyPr wrap="square">
            <a:spAutoFit/>
          </a:bodyPr>
          <a:lstStyle/>
          <a:p>
            <a:r>
              <a:rPr lang="ja-JP" altLang="en-US" sz="2000" i="0">
                <a:solidFill>
                  <a:schemeClr val="accent1">
                    <a:lumMod val="75000"/>
                  </a:schemeClr>
                </a:solidFill>
                <a:effectLst/>
                <a:latin typeface="Meiryo" panose="020B0604030504040204" pitchFamily="34" charset="-128"/>
                <a:ea typeface="Meiryo" panose="020B0604030504040204" pitchFamily="34" charset="-128"/>
              </a:rPr>
              <a:t>その大変さから、「このサーバーのログ分析を自動化できないか」</a:t>
            </a:r>
            <a:r>
              <a:rPr lang="ja-JP" altLang="en-US" sz="2000">
                <a:solidFill>
                  <a:schemeClr val="accent1">
                    <a:lumMod val="75000"/>
                  </a:schemeClr>
                </a:solidFill>
                <a:latin typeface="Meiryo" panose="020B0604030504040204" pitchFamily="34" charset="-128"/>
                <a:ea typeface="Meiryo" panose="020B0604030504040204" pitchFamily="34" charset="-128"/>
              </a:rPr>
              <a:t> と考えました</a:t>
            </a:r>
            <a:endParaRPr lang="ja-JP" altLang="en-US" sz="2000" dirty="0">
              <a:solidFill>
                <a:schemeClr val="accent1">
                  <a:lumMod val="75000"/>
                </a:schemeClr>
              </a:solidFill>
              <a:effectLst/>
              <a:latin typeface="Meiryo" panose="020B0604030504040204" pitchFamily="34" charset="-128"/>
              <a:ea typeface="Meiryo" panose="020B0604030504040204" pitchFamily="34" charset="-128"/>
            </a:endParaRPr>
          </a:p>
        </p:txBody>
      </p:sp>
      <p:sp>
        <p:nvSpPr>
          <p:cNvPr id="13" name="Down Arrow 12">
            <a:extLst>
              <a:ext uri="{FF2B5EF4-FFF2-40B4-BE49-F238E27FC236}">
                <a16:creationId xmlns:a16="http://schemas.microsoft.com/office/drawing/2014/main" id="{7D9DC17D-F792-E05C-EB7D-6F24FF62DCE7}"/>
              </a:ext>
            </a:extLst>
          </p:cNvPr>
          <p:cNvSpPr/>
          <p:nvPr/>
        </p:nvSpPr>
        <p:spPr>
          <a:xfrm>
            <a:off x="5801128" y="1401683"/>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 name="Down Arrow 1">
            <a:extLst>
              <a:ext uri="{FF2B5EF4-FFF2-40B4-BE49-F238E27FC236}">
                <a16:creationId xmlns:a16="http://schemas.microsoft.com/office/drawing/2014/main" id="{182760B6-0851-0CB7-1CB8-EC460DDD5C30}"/>
              </a:ext>
            </a:extLst>
          </p:cNvPr>
          <p:cNvSpPr/>
          <p:nvPr/>
        </p:nvSpPr>
        <p:spPr>
          <a:xfrm>
            <a:off x="1633319" y="4743558"/>
            <a:ext cx="290580" cy="4260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6" name="Slide Number Placeholder 5">
            <a:extLst>
              <a:ext uri="{FF2B5EF4-FFF2-40B4-BE49-F238E27FC236}">
                <a16:creationId xmlns:a16="http://schemas.microsoft.com/office/drawing/2014/main" id="{37F898B7-612D-1FA7-A4EB-EC83981E04A9}"/>
              </a:ext>
            </a:extLst>
          </p:cNvPr>
          <p:cNvSpPr>
            <a:spLocks noGrp="1"/>
          </p:cNvSpPr>
          <p:nvPr>
            <p:ph type="sldNum" sz="quarter" idx="12"/>
          </p:nvPr>
        </p:nvSpPr>
        <p:spPr/>
        <p:txBody>
          <a:bodyPr/>
          <a:lstStyle/>
          <a:p>
            <a:fld id="{D8C05D5D-75E2-3144-9168-CA833390726D}" type="slidenum">
              <a:rPr lang="en-JP" smtClean="0"/>
              <a:t>19</a:t>
            </a:fld>
            <a:endParaRPr lang="en-JP"/>
          </a:p>
        </p:txBody>
      </p:sp>
    </p:spTree>
    <p:extLst>
      <p:ext uri="{BB962C8B-B14F-4D97-AF65-F5344CB8AC3E}">
        <p14:creationId xmlns:p14="http://schemas.microsoft.com/office/powerpoint/2010/main" val="2964388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008A5-755A-0524-9B12-C10865EC57CD}"/>
              </a:ext>
            </a:extLst>
          </p:cNvPr>
          <p:cNvSpPr>
            <a:spLocks noGrp="1"/>
          </p:cNvSpPr>
          <p:nvPr>
            <p:ph idx="1"/>
          </p:nvPr>
        </p:nvSpPr>
        <p:spPr>
          <a:xfrm>
            <a:off x="256616" y="1764507"/>
            <a:ext cx="8579784" cy="1380153"/>
          </a:xfrm>
        </p:spPr>
        <p:txBody>
          <a:bodyPr>
            <a:normAutofit/>
          </a:bodyPr>
          <a:lstStyle/>
          <a:p>
            <a:pPr marL="0" indent="0">
              <a:buNone/>
            </a:pPr>
            <a:r>
              <a:rPr lang="en-US" sz="2000" i="0" dirty="0">
                <a:effectLst/>
                <a:latin typeface="Meiryo" panose="020B0604030504040204" pitchFamily="34" charset="-128"/>
                <a:ea typeface="Meiryo" panose="020B0604030504040204" pitchFamily="34" charset="-128"/>
              </a:rPr>
              <a:t>Traffic Eye_Log Analyzer</a:t>
            </a:r>
            <a:r>
              <a:rPr lang="ja-JP" altLang="en-US" sz="2000" i="0">
                <a:effectLst/>
                <a:latin typeface="Meiryo" panose="020B0604030504040204" pitchFamily="34" charset="-128"/>
                <a:ea typeface="Meiryo" panose="020B0604030504040204" pitchFamily="34" charset="-128"/>
              </a:rPr>
              <a:t>は、ログを自動で解析し、グラフで可視化することで、疑わしい</a:t>
            </a:r>
            <a:r>
              <a:rPr lang="en-US" sz="2000" i="0" dirty="0">
                <a:effectLst/>
                <a:latin typeface="Meiryo" panose="020B0604030504040204" pitchFamily="34" charset="-128"/>
                <a:ea typeface="Meiryo" panose="020B0604030504040204" pitchFamily="34" charset="-128"/>
              </a:rPr>
              <a:t>IP</a:t>
            </a:r>
            <a:r>
              <a:rPr lang="ja-JP" altLang="en-US" sz="2000" i="0">
                <a:effectLst/>
                <a:latin typeface="Meiryo" panose="020B0604030504040204" pitchFamily="34" charset="-128"/>
                <a:ea typeface="Meiryo" panose="020B0604030504040204" pitchFamily="34" charset="-128"/>
              </a:rPr>
              <a:t>や高負荷を迅速に特定し、管理者の作業時間を節約し、セキュリティを向上させます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pic>
        <p:nvPicPr>
          <p:cNvPr id="5" name="Picture 4">
            <a:extLst>
              <a:ext uri="{FF2B5EF4-FFF2-40B4-BE49-F238E27FC236}">
                <a16:creationId xmlns:a16="http://schemas.microsoft.com/office/drawing/2014/main" id="{E9646336-6A68-AA39-B12A-FE77C7F12F26}"/>
              </a:ext>
            </a:extLst>
          </p:cNvPr>
          <p:cNvPicPr>
            <a:picLocks noChangeAspect="1"/>
          </p:cNvPicPr>
          <p:nvPr/>
        </p:nvPicPr>
        <p:blipFill>
          <a:blip r:embed="rId2"/>
          <a:stretch>
            <a:fillRect/>
          </a:stretch>
        </p:blipFill>
        <p:spPr>
          <a:xfrm>
            <a:off x="159026" y="2738054"/>
            <a:ext cx="3499591" cy="3721100"/>
          </a:xfrm>
          <a:prstGeom prst="rect">
            <a:avLst/>
          </a:prstGeom>
        </p:spPr>
      </p:pic>
      <p:sp>
        <p:nvSpPr>
          <p:cNvPr id="7" name="TextBox 6">
            <a:extLst>
              <a:ext uri="{FF2B5EF4-FFF2-40B4-BE49-F238E27FC236}">
                <a16:creationId xmlns:a16="http://schemas.microsoft.com/office/drawing/2014/main" id="{771E4AA6-4BC5-7245-9CB1-DC2251F961CD}"/>
              </a:ext>
            </a:extLst>
          </p:cNvPr>
          <p:cNvSpPr txBox="1"/>
          <p:nvPr/>
        </p:nvSpPr>
        <p:spPr>
          <a:xfrm>
            <a:off x="3864195" y="2738054"/>
            <a:ext cx="4972206" cy="707886"/>
          </a:xfrm>
          <a:prstGeom prst="rect">
            <a:avLst/>
          </a:prstGeom>
          <a:noFill/>
        </p:spPr>
        <p:txBody>
          <a:bodyPr wrap="square">
            <a:spAutoFit/>
          </a:bodyPr>
          <a:lstStyle/>
          <a:p>
            <a:r>
              <a:rPr lang="ja-JP" altLang="en-US" sz="2000" b="1" i="0">
                <a:solidFill>
                  <a:srgbClr val="C00000"/>
                </a:solidFill>
                <a:effectLst/>
                <a:latin typeface="Meiryo" panose="020B0604030504040204" pitchFamily="34" charset="-128"/>
                <a:ea typeface="Meiryo" panose="020B0604030504040204" pitchFamily="34" charset="-128"/>
              </a:rPr>
              <a:t>主な特徴 </a:t>
            </a:r>
            <a:r>
              <a:rPr lang="en-US" altLang="ja-JP" sz="2000" b="1" i="0" dirty="0">
                <a:solidFill>
                  <a:srgbClr val="C00000"/>
                </a:solidFill>
                <a:effectLst/>
                <a:latin typeface="Meiryo" panose="020B0604030504040204" pitchFamily="34" charset="-128"/>
                <a:ea typeface="Meiryo" panose="020B0604030504040204" pitchFamily="34" charset="-128"/>
              </a:rPr>
              <a:t>1</a:t>
            </a:r>
            <a:endParaRPr lang="mn-MN" altLang="ja-JP" sz="2000" b="1" i="0" dirty="0">
              <a:solidFill>
                <a:srgbClr val="C00000"/>
              </a:solidFill>
              <a:effectLst/>
              <a:latin typeface="Meiryo" panose="020B0604030504040204" pitchFamily="34" charset="-128"/>
              <a:ea typeface="Meiryo" panose="020B0604030504040204" pitchFamily="34" charset="-128"/>
            </a:endParaRPr>
          </a:p>
          <a:p>
            <a:endParaRPr lang="en-US" altLang="ja-JP" sz="2000" b="1" i="0" dirty="0">
              <a:solidFill>
                <a:srgbClr val="C00000"/>
              </a:solidFill>
              <a:effectLst/>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6F8BF241-70A8-43B7-3A57-FCCFB47829BA}"/>
              </a:ext>
            </a:extLst>
          </p:cNvPr>
          <p:cNvSpPr txBox="1"/>
          <p:nvPr/>
        </p:nvSpPr>
        <p:spPr>
          <a:xfrm>
            <a:off x="216031" y="228652"/>
            <a:ext cx="7270619" cy="400110"/>
          </a:xfrm>
          <a:prstGeom prst="rect">
            <a:avLst/>
          </a:prstGeom>
          <a:noFill/>
        </p:spPr>
        <p:txBody>
          <a:bodyPr wrap="square">
            <a:spAutoFit/>
          </a:bodyPr>
          <a:lstStyle/>
          <a:p>
            <a:pPr marL="342900" indent="-342900">
              <a:buFont typeface="Wingdings" pitchFamily="2" charset="2"/>
              <a:buChar char="Ø"/>
            </a:pPr>
            <a:r>
              <a:rPr lang="ja-JP" altLang="en-US" sz="2000" b="1" i="0">
                <a:solidFill>
                  <a:srgbClr val="92D050"/>
                </a:solidFill>
                <a:effectLst/>
                <a:latin typeface="Meiryo" panose="020B0604030504040204" pitchFamily="34" charset="-128"/>
                <a:ea typeface="Meiryo" panose="020B0604030504040204" pitchFamily="34" charset="-128"/>
              </a:rPr>
              <a:t>「ネットワークセキュリティ分析ツール」を作成しました</a:t>
            </a:r>
            <a:endParaRPr lang="en-US" altLang="ja-JP" sz="2000" b="1" i="0" dirty="0">
              <a:solidFill>
                <a:srgbClr val="92D050"/>
              </a:solidFill>
              <a:effectLst/>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A6C7A221-91D6-B090-C21F-078595F53195}"/>
              </a:ext>
            </a:extLst>
          </p:cNvPr>
          <p:cNvSpPr txBox="1"/>
          <p:nvPr/>
        </p:nvSpPr>
        <p:spPr>
          <a:xfrm>
            <a:off x="256616" y="901363"/>
            <a:ext cx="8728358" cy="400110"/>
          </a:xfrm>
          <a:prstGeom prst="rect">
            <a:avLst/>
          </a:prstGeom>
          <a:noFill/>
        </p:spPr>
        <p:txBody>
          <a:bodyPr wrap="square">
            <a:spAutoFit/>
          </a:bodyPr>
          <a:lstStyle/>
          <a:p>
            <a:pPr marL="0" indent="0">
              <a:buNone/>
            </a:pPr>
            <a:r>
              <a:rPr lang="ja-JP" altLang="en-US" sz="2000" i="0">
                <a:effectLst/>
                <a:latin typeface="Meiryo" panose="020B0604030504040204" pitchFamily="34" charset="-128"/>
                <a:ea typeface="Meiryo" panose="020B0604030504040204" pitchFamily="34" charset="-128"/>
              </a:rPr>
              <a:t>その名前は「</a:t>
            </a:r>
            <a:r>
              <a:rPr lang="en-US" sz="2000" i="0" dirty="0">
                <a:solidFill>
                  <a:srgbClr val="C00000"/>
                </a:solidFill>
                <a:effectLst/>
                <a:latin typeface="Meiryo" panose="020B0604030504040204" pitchFamily="34" charset="-128"/>
                <a:ea typeface="Meiryo" panose="020B0604030504040204" pitchFamily="34" charset="-128"/>
              </a:rPr>
              <a:t>Traffic Eye_Log analyzer</a:t>
            </a:r>
            <a:r>
              <a:rPr lang="en-US" sz="2000" i="0" dirty="0">
                <a:effectLst/>
                <a:latin typeface="Meiryo" panose="020B0604030504040204" pitchFamily="34" charset="-128"/>
                <a:ea typeface="Meiryo" panose="020B0604030504040204" pitchFamily="34" charset="-128"/>
              </a:rPr>
              <a:t>」</a:t>
            </a:r>
            <a:r>
              <a:rPr lang="ja-JP" altLang="en-US" sz="2000" i="0">
                <a:effectLst/>
                <a:latin typeface="Meiryo" panose="020B0604030504040204" pitchFamily="34" charset="-128"/>
                <a:ea typeface="Meiryo" panose="020B0604030504040204" pitchFamily="34" charset="-128"/>
              </a:rPr>
              <a:t>です</a:t>
            </a:r>
            <a:r>
              <a:rPr lang="mn-MN" altLang="ja-JP" sz="2000" i="0" dirty="0">
                <a:effectLst/>
                <a:latin typeface="Meiryo" panose="020B0604030504040204" pitchFamily="34" charset="-128"/>
                <a:ea typeface="Meiryo" panose="020B0604030504040204" pitchFamily="34" charset="-128"/>
              </a:rPr>
              <a:t>. </a:t>
            </a:r>
            <a:r>
              <a:rPr lang="ja-JP" altLang="en-US" sz="2000" i="0">
                <a:effectLst/>
                <a:latin typeface="Meiryo" panose="020B0604030504040204" pitchFamily="34" charset="-128"/>
                <a:ea typeface="Meiryo" panose="020B0604030504040204" pitchFamily="34" charset="-128"/>
              </a:rPr>
              <a:t>サーバーログ解析システム</a:t>
            </a:r>
            <a:endParaRPr lang="ja-JP" altLang="en-US" sz="2000" dirty="0">
              <a:effectLst/>
              <a:latin typeface="Meiryo" panose="020B0604030504040204" pitchFamily="34" charset="-128"/>
              <a:ea typeface="Meiryo" panose="020B0604030504040204" pitchFamily="34" charset="-128"/>
            </a:endParaRPr>
          </a:p>
        </p:txBody>
      </p:sp>
      <p:sp>
        <p:nvSpPr>
          <p:cNvPr id="10" name="Down Arrow 9">
            <a:extLst>
              <a:ext uri="{FF2B5EF4-FFF2-40B4-BE49-F238E27FC236}">
                <a16:creationId xmlns:a16="http://schemas.microsoft.com/office/drawing/2014/main" id="{7146ABD0-565F-78D4-4CD1-29574FBE1C1E}"/>
              </a:ext>
            </a:extLst>
          </p:cNvPr>
          <p:cNvSpPr/>
          <p:nvPr/>
        </p:nvSpPr>
        <p:spPr>
          <a:xfrm>
            <a:off x="2718719" y="1323588"/>
            <a:ext cx="263019" cy="369332"/>
          </a:xfrm>
          <a:prstGeom prst="downArrow">
            <a:avLst>
              <a:gd name="adj1" fmla="val 66562"/>
              <a:gd name="adj2" fmla="val 50000"/>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11" name="Slide Number Placeholder 10">
            <a:extLst>
              <a:ext uri="{FF2B5EF4-FFF2-40B4-BE49-F238E27FC236}">
                <a16:creationId xmlns:a16="http://schemas.microsoft.com/office/drawing/2014/main" id="{758B4746-F9F1-B88F-7DFC-D0AE20F04032}"/>
              </a:ext>
            </a:extLst>
          </p:cNvPr>
          <p:cNvSpPr>
            <a:spLocks noGrp="1"/>
          </p:cNvSpPr>
          <p:nvPr>
            <p:ph type="sldNum" sz="quarter" idx="12"/>
          </p:nvPr>
        </p:nvSpPr>
        <p:spPr/>
        <p:txBody>
          <a:bodyPr/>
          <a:lstStyle/>
          <a:p>
            <a:fld id="{D8C05D5D-75E2-3144-9168-CA833390726D}" type="slidenum">
              <a:rPr lang="en-JP" smtClean="0"/>
              <a:t>20</a:t>
            </a:fld>
            <a:endParaRPr lang="en-JP"/>
          </a:p>
        </p:txBody>
      </p:sp>
      <p:sp>
        <p:nvSpPr>
          <p:cNvPr id="13" name="TextBox 12">
            <a:extLst>
              <a:ext uri="{FF2B5EF4-FFF2-40B4-BE49-F238E27FC236}">
                <a16:creationId xmlns:a16="http://schemas.microsoft.com/office/drawing/2014/main" id="{7D3143FC-D9CE-D7B7-55DD-3B86854E7845}"/>
              </a:ext>
            </a:extLst>
          </p:cNvPr>
          <p:cNvSpPr txBox="1"/>
          <p:nvPr/>
        </p:nvSpPr>
        <p:spPr>
          <a:xfrm>
            <a:off x="3333509" y="3144660"/>
            <a:ext cx="5651465" cy="3170099"/>
          </a:xfrm>
          <a:prstGeom prst="rect">
            <a:avLst/>
          </a:prstGeom>
          <a:noFill/>
        </p:spPr>
        <p:txBody>
          <a:bodyPr wrap="square">
            <a:spAutoFit/>
          </a:bodyPr>
          <a:lstStyle/>
          <a:p>
            <a:r>
              <a:rPr lang="mn-MN"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ログファイルの読み込み</a:t>
            </a:r>
          </a:p>
          <a:p>
            <a:r>
              <a:rPr lang="ja-JP" altLang="en-US" sz="2000">
                <a:latin typeface="Meiryo" panose="020B0604030504040204" pitchFamily="34" charset="-128"/>
                <a:ea typeface="Meiryo" panose="020B0604030504040204" pitchFamily="34" charset="-128"/>
              </a:rPr>
              <a:t>サーバーの </a:t>
            </a:r>
            <a:r>
              <a:rPr lang="en-US" sz="2000" dirty="0">
                <a:latin typeface="Meiryo" panose="020B0604030504040204" pitchFamily="34" charset="-128"/>
                <a:ea typeface="Meiryo" panose="020B0604030504040204" pitchFamily="34" charset="-128"/>
              </a:rPr>
              <a:t>access.log </a:t>
            </a:r>
            <a:r>
              <a:rPr lang="ja-JP" altLang="en-US" sz="2000">
                <a:latin typeface="Meiryo" panose="020B0604030504040204" pitchFamily="34" charset="-128"/>
                <a:ea typeface="Meiryo" panose="020B0604030504040204" pitchFamily="34" charset="-128"/>
              </a:rPr>
              <a:t>や </a:t>
            </a:r>
            <a:r>
              <a:rPr lang="en-US" sz="2000" dirty="0">
                <a:latin typeface="Meiryo" panose="020B0604030504040204" pitchFamily="34" charset="-128"/>
                <a:ea typeface="Meiryo" panose="020B0604030504040204" pitchFamily="34" charset="-128"/>
              </a:rPr>
              <a:t>error.log </a:t>
            </a:r>
            <a:r>
              <a:rPr lang="ja-JP" altLang="en-US" sz="2000">
                <a:latin typeface="Meiryo" panose="020B0604030504040204" pitchFamily="34" charset="-128"/>
                <a:ea typeface="Meiryo" panose="020B0604030504040204" pitchFamily="34" charset="-128"/>
              </a:rPr>
              <a:t>を読み込み、ログデータを取得する</a:t>
            </a:r>
            <a:endParaRPr lang="mn-MN" altLang="ja-JP" sz="2000" dirty="0">
              <a:latin typeface="Meiryo" panose="020B0604030504040204" pitchFamily="34" charset="-128"/>
              <a:ea typeface="Meiryo" panose="020B0604030504040204" pitchFamily="34" charset="-128"/>
            </a:endParaRPr>
          </a:p>
          <a:p>
            <a:endParaRPr lang="ja-JP" altLang="en-US" sz="2000">
              <a:latin typeface="Meiryo" panose="020B0604030504040204" pitchFamily="34" charset="-128"/>
              <a:ea typeface="Meiryo" panose="020B0604030504040204" pitchFamily="34" charset="-128"/>
            </a:endParaRPr>
          </a:p>
          <a:p>
            <a:r>
              <a:rPr lang="mn-MN" altLang="ja-JP" sz="2000" dirty="0">
                <a:latin typeface="Meiryo" panose="020B0604030504040204" pitchFamily="34" charset="-128"/>
                <a:ea typeface="Meiryo" panose="020B0604030504040204" pitchFamily="34" charset="-128"/>
              </a:rPr>
              <a:t>2. </a:t>
            </a:r>
            <a:r>
              <a:rPr lang="ja-JP" altLang="en-US" sz="2000">
                <a:latin typeface="Meiryo" panose="020B0604030504040204" pitchFamily="34" charset="-128"/>
                <a:ea typeface="Meiryo" panose="020B0604030504040204" pitchFamily="34" charset="-128"/>
              </a:rPr>
              <a:t>データ処理</a:t>
            </a:r>
          </a:p>
          <a:p>
            <a:r>
              <a:rPr lang="ja-JP" altLang="en-US" sz="2000">
                <a:latin typeface="Meiryo" panose="020B0604030504040204" pitchFamily="34" charset="-128"/>
                <a:ea typeface="Meiryo" panose="020B0604030504040204" pitchFamily="34" charset="-128"/>
              </a:rPr>
              <a:t>ログデータから以下の情報を解析</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IP</a:t>
            </a:r>
            <a:r>
              <a:rPr lang="ja-JP" altLang="en-US" sz="2000">
                <a:latin typeface="Meiryo" panose="020B0604030504040204" pitchFamily="34" charset="-128"/>
                <a:ea typeface="Meiryo" panose="020B0604030504040204" pitchFamily="34" charset="-128"/>
              </a:rPr>
              <a:t>アドレス</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リクエストタイプ（</a:t>
            </a:r>
            <a:r>
              <a:rPr lang="en-US" sz="2000" dirty="0">
                <a:latin typeface="Meiryo" panose="020B0604030504040204" pitchFamily="34" charset="-128"/>
                <a:ea typeface="Meiryo" panose="020B0604030504040204" pitchFamily="34" charset="-128"/>
              </a:rPr>
              <a:t>GET / POST </a:t>
            </a:r>
            <a:r>
              <a:rPr lang="ja-JP" altLang="en-US" sz="2000">
                <a:latin typeface="Meiryo" panose="020B0604030504040204" pitchFamily="34" charset="-128"/>
                <a:ea typeface="Meiryo" panose="020B0604030504040204" pitchFamily="34" charset="-128"/>
              </a:rPr>
              <a:t>など）</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リクエスト時間</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ステータスコード（</a:t>
            </a:r>
            <a:r>
              <a:rPr lang="en-US" altLang="ja-JP" sz="2000" dirty="0">
                <a:latin typeface="Meiryo" panose="020B0604030504040204" pitchFamily="34" charset="-128"/>
                <a:ea typeface="Meiryo" panose="020B0604030504040204" pitchFamily="34" charset="-128"/>
              </a:rPr>
              <a:t>200 / 404 / 500 </a:t>
            </a:r>
            <a:r>
              <a:rPr lang="ja-JP" altLang="en-US" sz="2000">
                <a:latin typeface="Meiryo" panose="020B0604030504040204" pitchFamily="34" charset="-128"/>
                <a:ea typeface="Meiryo" panose="020B0604030504040204" pitchFamily="34" charset="-128"/>
              </a:rPr>
              <a:t>など）</a:t>
            </a:r>
          </a:p>
        </p:txBody>
      </p:sp>
    </p:spTree>
    <p:extLst>
      <p:ext uri="{BB962C8B-B14F-4D97-AF65-F5344CB8AC3E}">
        <p14:creationId xmlns:p14="http://schemas.microsoft.com/office/powerpoint/2010/main" val="2165865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BC6D8F-A6E7-824D-BFF0-DD3341C03EA4}"/>
              </a:ext>
            </a:extLst>
          </p:cNvPr>
          <p:cNvSpPr>
            <a:spLocks noGrp="1"/>
          </p:cNvSpPr>
          <p:nvPr>
            <p:ph idx="1"/>
          </p:nvPr>
        </p:nvSpPr>
        <p:spPr>
          <a:xfrm>
            <a:off x="661595" y="725259"/>
            <a:ext cx="7886700" cy="2640390"/>
          </a:xfrm>
        </p:spPr>
        <p:txBody>
          <a:bodyPr>
            <a:normAutofit fontScale="92500" lnSpcReduction="10000"/>
          </a:bodyPr>
          <a:lstStyle/>
          <a:p>
            <a:pPr marL="0" indent="0">
              <a:buNone/>
            </a:pPr>
            <a:endParaRPr lang="en-US" altLang="ja-JP" sz="2000" b="1" i="0" dirty="0">
              <a:effectLst/>
              <a:latin typeface="Meiryo" panose="020B0604030504040204" pitchFamily="34" charset="-128"/>
              <a:ea typeface="Meiryo" panose="020B0604030504040204" pitchFamily="34" charset="-128"/>
            </a:endParaRPr>
          </a:p>
          <a:p>
            <a:r>
              <a:rPr lang="en-US" sz="2400" b="0" i="0" dirty="0">
                <a:effectLst/>
                <a:latin typeface="Meiryo" panose="020B0604030504040204" pitchFamily="34" charset="-128"/>
                <a:ea typeface="Meiryo" panose="020B0604030504040204" pitchFamily="34" charset="-128"/>
              </a:rPr>
              <a:t>total number of distinct IP addresses </a:t>
            </a:r>
            <a:r>
              <a:rPr lang="ja-JP" altLang="en-US" sz="2400" b="0" i="0">
                <a:effectLst/>
                <a:latin typeface="Meiryo" panose="020B0604030504040204" pitchFamily="34" charset="-128"/>
                <a:ea typeface="Meiryo" panose="020B0604030504040204" pitchFamily="34" charset="-128"/>
              </a:rPr>
              <a:t>総ユニーク</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数</a:t>
            </a:r>
            <a:endParaRPr lang="ja-JP" altLang="en-US" sz="240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最大リクエスト数を送信した</a:t>
            </a:r>
            <a:r>
              <a:rPr lang="en-US" sz="2400" b="0" i="0" dirty="0">
                <a:effectLst/>
                <a:latin typeface="Meiryo" panose="020B0604030504040204" pitchFamily="34" charset="-128"/>
                <a:ea typeface="Meiryo" panose="020B0604030504040204" pitchFamily="34" charset="-128"/>
              </a:rPr>
              <a:t>IP</a:t>
            </a:r>
            <a:endParaRPr lang="en-US" sz="2400" dirty="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最もアクセスされた</a:t>
            </a:r>
            <a:r>
              <a:rPr lang="en-US" sz="2400" b="0" i="0" dirty="0">
                <a:effectLst/>
                <a:latin typeface="Meiryo" panose="020B0604030504040204" pitchFamily="34" charset="-128"/>
                <a:ea typeface="Meiryo" panose="020B0604030504040204" pitchFamily="34" charset="-128"/>
              </a:rPr>
              <a:t>URL</a:t>
            </a:r>
            <a:endParaRPr lang="en-US" sz="2400" dirty="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日別・時間別・分別トラフィックのグラフ</a:t>
            </a:r>
            <a:endParaRPr lang="ja-JP" altLang="en-US" sz="2400">
              <a:effectLst/>
              <a:latin typeface="Meiryo" panose="020B0604030504040204" pitchFamily="34" charset="-128"/>
              <a:ea typeface="Meiryo" panose="020B0604030504040204" pitchFamily="34" charset="-128"/>
            </a:endParaRPr>
          </a:p>
          <a:p>
            <a:r>
              <a:rPr lang="ja-JP" altLang="en-US" sz="2400" b="0" i="0">
                <a:effectLst/>
                <a:latin typeface="Meiryo" panose="020B0604030504040204" pitchFamily="34" charset="-128"/>
                <a:ea typeface="Meiryo" panose="020B0604030504040204" pitchFamily="34" charset="-128"/>
              </a:rPr>
              <a:t>可視化 </a:t>
            </a:r>
            <a:r>
              <a:rPr lang="en-US" altLang="ja-JP" sz="2400" b="0" i="0" dirty="0">
                <a:effectLst/>
                <a:latin typeface="Meiryo" panose="020B0604030504040204" pitchFamily="34" charset="-128"/>
                <a:ea typeface="Meiryo" panose="020B0604030504040204" pitchFamily="34" charset="-128"/>
              </a:rPr>
              <a:t>– </a:t>
            </a:r>
            <a:r>
              <a:rPr lang="ja-JP" altLang="en-US" sz="2400" b="0" i="0">
                <a:effectLst/>
                <a:latin typeface="Meiryo" panose="020B0604030504040204" pitchFamily="34" charset="-128"/>
                <a:ea typeface="Meiryo" panose="020B0604030504040204" pitchFamily="34" charset="-128"/>
              </a:rPr>
              <a:t>横棒グラフ、縦棒グラフ、円グラフ、折れ線グラフでデータを見やすく表示</a:t>
            </a:r>
            <a:endParaRPr lang="ja-JP" altLang="en-US" sz="2400">
              <a:effectLst/>
              <a:latin typeface="Meiryo" panose="020B0604030504040204" pitchFamily="34" charset="-128"/>
              <a:ea typeface="Meiryo" panose="020B0604030504040204" pitchFamily="34" charset="-128"/>
            </a:endParaRPr>
          </a:p>
          <a:p>
            <a:endParaRPr lang="en-JP" dirty="0"/>
          </a:p>
        </p:txBody>
      </p:sp>
      <p:sp>
        <p:nvSpPr>
          <p:cNvPr id="6" name="TextBox 5">
            <a:extLst>
              <a:ext uri="{FF2B5EF4-FFF2-40B4-BE49-F238E27FC236}">
                <a16:creationId xmlns:a16="http://schemas.microsoft.com/office/drawing/2014/main" id="{D46BA06D-433D-7988-D331-1F9371A9F432}"/>
              </a:ext>
            </a:extLst>
          </p:cNvPr>
          <p:cNvSpPr txBox="1"/>
          <p:nvPr/>
        </p:nvSpPr>
        <p:spPr>
          <a:xfrm>
            <a:off x="375948" y="3693767"/>
            <a:ext cx="4572000" cy="400110"/>
          </a:xfrm>
          <a:prstGeom prst="rect">
            <a:avLst/>
          </a:prstGeom>
          <a:noFill/>
        </p:spPr>
        <p:txBody>
          <a:bodyPr wrap="square">
            <a:spAutoFit/>
          </a:bodyPr>
          <a:lstStyle/>
          <a:p>
            <a:pPr marL="342900" indent="-342900">
              <a:buFont typeface="Wingdings" pitchFamily="2" charset="2"/>
              <a:buChar char="§"/>
            </a:pPr>
            <a:r>
              <a:rPr lang="ja-JP" altLang="en-US" sz="2000" b="1" i="0">
                <a:solidFill>
                  <a:srgbClr val="C00000"/>
                </a:solidFill>
                <a:effectLst/>
                <a:latin typeface="Meiryo" panose="020B0604030504040204" pitchFamily="34" charset="-128"/>
                <a:ea typeface="Meiryo" panose="020B0604030504040204" pitchFamily="34" charset="-128"/>
              </a:rPr>
              <a:t>主な特徴 </a:t>
            </a:r>
            <a:r>
              <a:rPr lang="en-US" altLang="ja-JP" sz="2000" b="1" i="0" dirty="0">
                <a:solidFill>
                  <a:srgbClr val="C00000"/>
                </a:solidFill>
                <a:effectLst/>
                <a:latin typeface="Meiryo" panose="020B0604030504040204" pitchFamily="34" charset="-128"/>
                <a:ea typeface="Meiryo" panose="020B0604030504040204" pitchFamily="34" charset="-128"/>
              </a:rPr>
              <a:t>3</a:t>
            </a:r>
            <a:endParaRPr lang="en-JP" sz="2000"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A4880331-BF4D-98D9-FB3E-96CF6229DED5}"/>
              </a:ext>
            </a:extLst>
          </p:cNvPr>
          <p:cNvSpPr txBox="1"/>
          <p:nvPr/>
        </p:nvSpPr>
        <p:spPr>
          <a:xfrm>
            <a:off x="898264" y="4397403"/>
            <a:ext cx="5559686" cy="1938992"/>
          </a:xfrm>
          <a:prstGeom prst="rect">
            <a:avLst/>
          </a:prstGeom>
          <a:noFill/>
        </p:spPr>
        <p:txBody>
          <a:bodyPr wrap="square">
            <a:spAutoFit/>
          </a:bodyPr>
          <a:lstStyle/>
          <a:p>
            <a:pPr marL="285750" indent="-285750">
              <a:buFont typeface="Arial" panose="020B0604020202020204" pitchFamily="34" charset="0"/>
              <a:buChar char="•"/>
            </a:pPr>
            <a:r>
              <a:rPr lang="ja-JP" altLang="en-US" sz="2400" b="0" i="0">
                <a:solidFill>
                  <a:srgbClr val="222222"/>
                </a:solidFill>
                <a:effectLst/>
                <a:latin typeface="Meiryo" panose="020B0604030504040204" pitchFamily="34" charset="-128"/>
                <a:ea typeface="Meiryo" panose="020B0604030504040204" pitchFamily="34" charset="-128"/>
              </a:rPr>
              <a:t>セ</a:t>
            </a:r>
            <a:r>
              <a:rPr lang="ja-JP" altLang="en-US" sz="2400" b="0" i="0">
                <a:effectLst/>
                <a:latin typeface="Meiryo" panose="020B0604030504040204" pitchFamily="34" charset="-128"/>
                <a:ea typeface="Meiryo" panose="020B0604030504040204" pitchFamily="34" charset="-128"/>
              </a:rPr>
              <a:t>キュリティ分析 </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繰り返しリクエストを送る</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の特定</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過剰リクエスト</a:t>
            </a:r>
            <a:r>
              <a:rPr lang="en-US" sz="2400" b="0" i="0" dirty="0">
                <a:effectLst/>
                <a:latin typeface="Meiryo" panose="020B0604030504040204" pitchFamily="34" charset="-128"/>
                <a:ea typeface="Meiryo" panose="020B0604030504040204" pitchFamily="34" charset="-128"/>
              </a:rPr>
              <a:t>IP</a:t>
            </a:r>
            <a:r>
              <a:rPr lang="ja-JP" altLang="en-US" sz="2400" b="0" i="0">
                <a:effectLst/>
                <a:latin typeface="Meiryo" panose="020B0604030504040204" pitchFamily="34" charset="-128"/>
                <a:ea typeface="Meiryo" panose="020B0604030504040204" pitchFamily="34" charset="-128"/>
              </a:rPr>
              <a:t>のブロック提案</a:t>
            </a:r>
            <a:endParaRPr lang="ja-JP" altLang="en-US" sz="2400">
              <a:effectLst/>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b="0" i="0">
                <a:effectLst/>
                <a:latin typeface="Meiryo" panose="020B0604030504040204" pitchFamily="34" charset="-128"/>
                <a:ea typeface="Meiryo" panose="020B0604030504040204" pitchFamily="34" charset="-128"/>
              </a:rPr>
              <a:t>ブルートフォース</a:t>
            </a:r>
            <a:r>
              <a:rPr lang="en-US" altLang="ja-JP" sz="2400" dirty="0">
                <a:latin typeface="Meiryo" panose="020B0604030504040204" pitchFamily="34" charset="-128"/>
                <a:ea typeface="Meiryo" panose="020B0604030504040204" pitchFamily="34" charset="-128"/>
              </a:rPr>
              <a:t>(</a:t>
            </a:r>
            <a:r>
              <a:rPr lang="en-US" sz="2400" b="0" i="0" dirty="0">
                <a:solidFill>
                  <a:srgbClr val="222222"/>
                </a:solidFill>
                <a:effectLst/>
                <a:latin typeface="Helvetica Neue" panose="02000503000000020004" pitchFamily="2" charset="0"/>
              </a:rPr>
              <a:t>brute force</a:t>
            </a:r>
            <a:r>
              <a:rPr lang="en-US" sz="2400" dirty="0">
                <a:solidFill>
                  <a:srgbClr val="222222"/>
                </a:solidFill>
                <a:latin typeface="Meiryo" panose="020B0604030504040204" pitchFamily="34" charset="-128"/>
                <a:ea typeface="Meiryo" panose="020B0604030504040204" pitchFamily="34" charset="-128"/>
              </a:rPr>
              <a:t>)</a:t>
            </a:r>
            <a:r>
              <a:rPr lang="ja-JP" altLang="en-US" sz="2400" b="0" i="0">
                <a:effectLst/>
                <a:latin typeface="Meiryo" panose="020B0604030504040204" pitchFamily="34" charset="-128"/>
                <a:ea typeface="Meiryo" panose="020B0604030504040204" pitchFamily="34" charset="-128"/>
              </a:rPr>
              <a:t>攻撃などの兆候検出</a:t>
            </a:r>
            <a:endParaRPr lang="ja-JP" altLang="en-US" sz="2400">
              <a:effectLst/>
              <a:latin typeface="Meiryo" panose="020B0604030504040204" pitchFamily="34" charset="-128"/>
              <a:ea typeface="Meiryo" panose="020B0604030504040204" pitchFamily="34" charset="-128"/>
            </a:endParaRPr>
          </a:p>
        </p:txBody>
      </p:sp>
      <p:sp>
        <p:nvSpPr>
          <p:cNvPr id="2" name="Slide Number Placeholder 1">
            <a:extLst>
              <a:ext uri="{FF2B5EF4-FFF2-40B4-BE49-F238E27FC236}">
                <a16:creationId xmlns:a16="http://schemas.microsoft.com/office/drawing/2014/main" id="{18D08C3D-1A2C-7734-4714-E493F770EAA0}"/>
              </a:ext>
            </a:extLst>
          </p:cNvPr>
          <p:cNvSpPr>
            <a:spLocks noGrp="1"/>
          </p:cNvSpPr>
          <p:nvPr>
            <p:ph type="sldNum" sz="quarter" idx="12"/>
          </p:nvPr>
        </p:nvSpPr>
        <p:spPr/>
        <p:txBody>
          <a:bodyPr/>
          <a:lstStyle/>
          <a:p>
            <a:fld id="{D8C05D5D-75E2-3144-9168-CA833390726D}" type="slidenum">
              <a:rPr lang="en-JP" smtClean="0"/>
              <a:t>21</a:t>
            </a:fld>
            <a:endParaRPr lang="en-JP"/>
          </a:p>
        </p:txBody>
      </p:sp>
      <p:sp>
        <p:nvSpPr>
          <p:cNvPr id="7" name="TextBox 6">
            <a:extLst>
              <a:ext uri="{FF2B5EF4-FFF2-40B4-BE49-F238E27FC236}">
                <a16:creationId xmlns:a16="http://schemas.microsoft.com/office/drawing/2014/main" id="{5CEA3FAD-1B99-D502-1FEE-160232BB7035}"/>
              </a:ext>
            </a:extLst>
          </p:cNvPr>
          <p:cNvSpPr txBox="1"/>
          <p:nvPr/>
        </p:nvSpPr>
        <p:spPr>
          <a:xfrm>
            <a:off x="375948" y="505248"/>
            <a:ext cx="4572000" cy="400110"/>
          </a:xfrm>
          <a:prstGeom prst="rect">
            <a:avLst/>
          </a:prstGeom>
          <a:noFill/>
        </p:spPr>
        <p:txBody>
          <a:bodyPr wrap="square">
            <a:spAutoFit/>
          </a:bodyPr>
          <a:lstStyle/>
          <a:p>
            <a:pPr>
              <a:buFont typeface="Wingdings" pitchFamily="2" charset="2"/>
              <a:buChar char="§"/>
            </a:pPr>
            <a:r>
              <a:rPr lang="ja-JP" altLang="en-US" sz="2000" b="1" i="0">
                <a:solidFill>
                  <a:srgbClr val="C00000"/>
                </a:solidFill>
                <a:effectLst/>
                <a:latin typeface="Meiryo" panose="020B0604030504040204" pitchFamily="34" charset="-128"/>
                <a:ea typeface="Meiryo" panose="020B0604030504040204" pitchFamily="34" charset="-128"/>
              </a:rPr>
              <a:t>主な特徴 </a:t>
            </a:r>
            <a:r>
              <a:rPr lang="en-US" altLang="ja-JP" sz="2000" b="1" i="0" dirty="0">
                <a:solidFill>
                  <a:srgbClr val="C00000"/>
                </a:solidFill>
                <a:effectLst/>
                <a:latin typeface="Meiryo" panose="020B0604030504040204" pitchFamily="34" charset="-128"/>
                <a:ea typeface="Meiryo" panose="020B0604030504040204" pitchFamily="34" charset="-128"/>
              </a:rPr>
              <a:t>2</a:t>
            </a:r>
          </a:p>
        </p:txBody>
      </p:sp>
    </p:spTree>
    <p:extLst>
      <p:ext uri="{BB962C8B-B14F-4D97-AF65-F5344CB8AC3E}">
        <p14:creationId xmlns:p14="http://schemas.microsoft.com/office/powerpoint/2010/main" val="3182687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B4B1CB-8079-E882-CA2A-7994CA267341}"/>
              </a:ext>
            </a:extLst>
          </p:cNvPr>
          <p:cNvSpPr txBox="1"/>
          <p:nvPr/>
        </p:nvSpPr>
        <p:spPr>
          <a:xfrm>
            <a:off x="0" y="184139"/>
            <a:ext cx="8515350" cy="646331"/>
          </a:xfrm>
          <a:prstGeom prst="rect">
            <a:avLst/>
          </a:prstGeom>
          <a:noFill/>
        </p:spPr>
        <p:txBody>
          <a:bodyPr wrap="square" rtlCol="0">
            <a:spAutoFit/>
          </a:bodyPr>
          <a:lstStyle/>
          <a:p>
            <a:pPr marL="285750" indent="-285750">
              <a:buFont typeface="Wingdings" pitchFamily="2" charset="2"/>
              <a:buChar char="Ø"/>
            </a:pPr>
            <a:r>
              <a:rPr lang="ja-JP" altLang="en-US">
                <a:latin typeface="Meiryo" panose="020B0604030504040204" pitchFamily="34" charset="-128"/>
                <a:ea typeface="Meiryo" panose="020B0604030504040204" pitchFamily="34" charset="-128"/>
              </a:rPr>
              <a:t>これは私が作成したプログラムの出力画面です</a:t>
            </a:r>
            <a:r>
              <a:rPr lang="mn-MN" altLang="ja-JP" dirty="0">
                <a:latin typeface="Meiryo" panose="020B0604030504040204" pitchFamily="34" charset="-128"/>
                <a:ea typeface="Meiryo" panose="020B0604030504040204" pitchFamily="34" charset="-128"/>
              </a:rPr>
              <a:t>.</a:t>
            </a:r>
            <a:endParaRPr lang="ja-JP" altLang="en-US">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a:latin typeface="Meiryo" panose="020B0604030504040204" pitchFamily="34" charset="-128"/>
                <a:ea typeface="Meiryo" panose="020B0604030504040204" pitchFamily="34" charset="-128"/>
              </a:rPr>
              <a:t>ログデータを分析した結果をグラフで表示することができます</a:t>
            </a:r>
            <a:r>
              <a:rPr lang="mn-MN" altLang="ja-JP"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p:txBody>
      </p:sp>
      <p:pic>
        <p:nvPicPr>
          <p:cNvPr id="3" name="2025-09-08 12-29-59">
            <a:hlinkClick r:id="" action="ppaction://media"/>
            <a:extLst>
              <a:ext uri="{FF2B5EF4-FFF2-40B4-BE49-F238E27FC236}">
                <a16:creationId xmlns:a16="http://schemas.microsoft.com/office/drawing/2014/main" id="{746AC4A3-2612-986C-DCD5-EC4436FE1D3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38460"/>
            <a:ext cx="9144000" cy="5512235"/>
          </a:xfrm>
          <a:prstGeom prst="rect">
            <a:avLst/>
          </a:prstGeom>
        </p:spPr>
      </p:pic>
      <p:sp>
        <p:nvSpPr>
          <p:cNvPr id="4" name="Slide Number Placeholder 3">
            <a:extLst>
              <a:ext uri="{FF2B5EF4-FFF2-40B4-BE49-F238E27FC236}">
                <a16:creationId xmlns:a16="http://schemas.microsoft.com/office/drawing/2014/main" id="{88850123-7BA4-9DCE-A39F-ACD84DEF99F4}"/>
              </a:ext>
            </a:extLst>
          </p:cNvPr>
          <p:cNvSpPr>
            <a:spLocks noGrp="1"/>
          </p:cNvSpPr>
          <p:nvPr>
            <p:ph type="sldNum" sz="quarter" idx="12"/>
          </p:nvPr>
        </p:nvSpPr>
        <p:spPr/>
        <p:txBody>
          <a:bodyPr/>
          <a:lstStyle/>
          <a:p>
            <a:fld id="{D8C05D5D-75E2-3144-9168-CA833390726D}" type="slidenum">
              <a:rPr lang="en-JP" smtClean="0"/>
              <a:t>22</a:t>
            </a:fld>
            <a:endParaRPr lang="en-JP"/>
          </a:p>
        </p:txBody>
      </p:sp>
    </p:spTree>
    <p:extLst>
      <p:ext uri="{BB962C8B-B14F-4D97-AF65-F5344CB8AC3E}">
        <p14:creationId xmlns:p14="http://schemas.microsoft.com/office/powerpoint/2010/main" val="104135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364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0F609E-4C2A-FB51-D3D2-B6B5763AA1A0}"/>
              </a:ext>
            </a:extLst>
          </p:cNvPr>
          <p:cNvSpPr>
            <a:spLocks noGrp="1"/>
          </p:cNvSpPr>
          <p:nvPr>
            <p:ph idx="1"/>
          </p:nvPr>
        </p:nvSpPr>
        <p:spPr>
          <a:xfrm>
            <a:off x="535716" y="437322"/>
            <a:ext cx="7886700" cy="4995123"/>
          </a:xfrm>
        </p:spPr>
        <p:txBody>
          <a:bodyPr/>
          <a:lstStyle/>
          <a:p>
            <a:pPr>
              <a:buFont typeface="Wingdings" pitchFamily="2" charset="2"/>
              <a:buChar char="Ø"/>
            </a:pPr>
            <a:r>
              <a:rPr lang="en-US" sz="2400" b="1" dirty="0">
                <a:solidFill>
                  <a:srgbClr val="92D050"/>
                </a:solidFill>
                <a:latin typeface="Meiryo" panose="020B0604030504040204" pitchFamily="34" charset="-128"/>
                <a:ea typeface="Meiryo" panose="020B0604030504040204" pitchFamily="34" charset="-128"/>
              </a:rPr>
              <a:t>Web</a:t>
            </a:r>
            <a:r>
              <a:rPr lang="ja-JP" altLang="en-US" sz="2400" b="1">
                <a:solidFill>
                  <a:srgbClr val="92D050"/>
                </a:solidFill>
                <a:latin typeface="Meiryo" panose="020B0604030504040204" pitchFamily="34" charset="-128"/>
                <a:ea typeface="Meiryo" panose="020B0604030504040204" pitchFamily="34" charset="-128"/>
              </a:rPr>
              <a:t>アプリケーションの構築</a:t>
            </a:r>
          </a:p>
          <a:p>
            <a:pPr marL="0" indent="0">
              <a:buNone/>
            </a:pPr>
            <a:endParaRPr lang="ja-JP" altLang="en-US">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B7FEC659-1F07-6710-6E80-4E625B3143ED}"/>
              </a:ext>
            </a:extLst>
          </p:cNvPr>
          <p:cNvSpPr txBox="1"/>
          <p:nvPr/>
        </p:nvSpPr>
        <p:spPr>
          <a:xfrm>
            <a:off x="535715" y="1306286"/>
            <a:ext cx="8263727" cy="4462760"/>
          </a:xfrm>
          <a:prstGeom prst="rect">
            <a:avLst/>
          </a:prstGeom>
          <a:noFill/>
          <a:ln>
            <a:noFill/>
          </a:ln>
        </p:spPr>
        <p:txBody>
          <a:bodyPr wrap="square">
            <a:spAutoFit/>
          </a:bodyPr>
          <a:lstStyle/>
          <a:p>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アプリケーションは多くの攻撃（</a:t>
            </a:r>
            <a:r>
              <a:rPr lang="en-US" sz="2400" dirty="0">
                <a:latin typeface="Meiryo" panose="020B0604030504040204" pitchFamily="34" charset="-128"/>
                <a:ea typeface="Meiryo" panose="020B0604030504040204" pitchFamily="34" charset="-128"/>
              </a:rPr>
              <a:t>SQL</a:t>
            </a:r>
            <a:r>
              <a:rPr lang="ja-JP" altLang="en-US" sz="2400">
                <a:latin typeface="Meiryo" panose="020B0604030504040204" pitchFamily="34" charset="-128"/>
                <a:ea typeface="Meiryo" panose="020B0604030504040204" pitchFamily="34" charset="-128"/>
              </a:rPr>
              <a:t>インジェクション、</a:t>
            </a:r>
            <a:r>
              <a:rPr lang="en-US" sz="2400" dirty="0">
                <a:latin typeface="Meiryo" panose="020B0604030504040204" pitchFamily="34" charset="-128"/>
                <a:ea typeface="Meiryo" panose="020B0604030504040204" pitchFamily="34" charset="-128"/>
              </a:rPr>
              <a:t>XSS</a:t>
            </a:r>
            <a:r>
              <a:rPr lang="ja-JP" altLang="en-US" sz="2400">
                <a:latin typeface="Meiryo" panose="020B0604030504040204" pitchFamily="34" charset="-128"/>
                <a:ea typeface="Meiryo" panose="020B0604030504040204" pitchFamily="34" charset="-128"/>
              </a:rPr>
              <a:t>など）の対象となるため、セキュリティの基本を学ぶための環境としてテスト用</a:t>
            </a: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サイトを構築した。</a:t>
            </a:r>
            <a:endParaRPr lang="mn-MN" altLang="ja-JP" sz="2400" dirty="0">
              <a:latin typeface="Meiryo" panose="020B0604030504040204" pitchFamily="34" charset="-128"/>
              <a:ea typeface="Meiryo" panose="020B0604030504040204" pitchFamily="34" charset="-128"/>
            </a:endParaRPr>
          </a:p>
          <a:p>
            <a:endParaRPr lang="en-US" altLang="ja-JP" sz="2000" dirty="0"/>
          </a:p>
          <a:p>
            <a:endParaRPr lang="mn-MN" altLang="ja-JP" sz="2400" dirty="0">
              <a:latin typeface="Meiryo" panose="020B0604030504040204" pitchFamily="34" charset="-128"/>
              <a:ea typeface="Meiryo" panose="020B0604030504040204" pitchFamily="34" charset="-128"/>
            </a:endParaRPr>
          </a:p>
          <a:p>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目的</a:t>
            </a:r>
            <a:r>
              <a:rPr lang="en-US" altLang="ja-JP" sz="2400" dirty="0">
                <a:latin typeface="Meiryo" panose="020B0604030504040204" pitchFamily="34" charset="-128"/>
                <a:ea typeface="Meiryo" panose="020B0604030504040204" pitchFamily="34" charset="-128"/>
              </a:rPr>
              <a:t>:</a:t>
            </a:r>
            <a:endParaRPr lang="mn-MN" altLang="ja-JP" sz="2400" dirty="0">
              <a:latin typeface="Meiryo" panose="020B0604030504040204" pitchFamily="34" charset="-128"/>
              <a:ea typeface="Meiryo" panose="020B0604030504040204" pitchFamily="34" charset="-128"/>
            </a:endParaRPr>
          </a:p>
          <a:p>
            <a:pPr marL="342900" indent="-342900">
              <a:buFont typeface="Wingdings" pitchFamily="2" charset="2"/>
              <a:buChar char="Ø"/>
            </a:pPr>
            <a:endParaRPr lang="mn-MN"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テスト用の</a:t>
            </a: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ページを作成</a:t>
            </a:r>
            <a:endParaRPr lang="en-US"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アプリケーションの基本構造を理解すること</a:t>
            </a:r>
            <a:endParaRPr lang="en-US"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ログイン機能や入力フォームなどを追加することで、</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　セキュリティ検証が可能になると考えた。</a:t>
            </a:r>
            <a:endParaRPr lang="en-JP" sz="2400" dirty="0">
              <a:latin typeface="Meiryo" panose="020B0604030504040204" pitchFamily="34" charset="-128"/>
              <a:ea typeface="Meiryo" panose="020B0604030504040204" pitchFamily="34" charset="-128"/>
            </a:endParaRPr>
          </a:p>
        </p:txBody>
      </p:sp>
      <p:sp>
        <p:nvSpPr>
          <p:cNvPr id="6" name="Down Arrow 5">
            <a:extLst>
              <a:ext uri="{FF2B5EF4-FFF2-40B4-BE49-F238E27FC236}">
                <a16:creationId xmlns:a16="http://schemas.microsoft.com/office/drawing/2014/main" id="{734E272D-639B-4F5C-FD43-909DE60A24D7}"/>
              </a:ext>
            </a:extLst>
          </p:cNvPr>
          <p:cNvSpPr/>
          <p:nvPr/>
        </p:nvSpPr>
        <p:spPr>
          <a:xfrm>
            <a:off x="3333352" y="2934883"/>
            <a:ext cx="263019" cy="369332"/>
          </a:xfrm>
          <a:prstGeom prst="downArrow">
            <a:avLst>
              <a:gd name="adj1" fmla="val 66562"/>
              <a:gd name="adj2" fmla="val 50000"/>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7" name="Slide Number Placeholder 6">
            <a:extLst>
              <a:ext uri="{FF2B5EF4-FFF2-40B4-BE49-F238E27FC236}">
                <a16:creationId xmlns:a16="http://schemas.microsoft.com/office/drawing/2014/main" id="{EFDCDF2F-B96A-E5A6-D34A-532AE33C05C3}"/>
              </a:ext>
            </a:extLst>
          </p:cNvPr>
          <p:cNvSpPr>
            <a:spLocks noGrp="1"/>
          </p:cNvSpPr>
          <p:nvPr>
            <p:ph type="sldNum" sz="quarter" idx="12"/>
          </p:nvPr>
        </p:nvSpPr>
        <p:spPr/>
        <p:txBody>
          <a:bodyPr/>
          <a:lstStyle/>
          <a:p>
            <a:fld id="{D8C05D5D-75E2-3144-9168-CA833390726D}" type="slidenum">
              <a:rPr lang="en-JP" smtClean="0"/>
              <a:t>23</a:t>
            </a:fld>
            <a:endParaRPr lang="en-JP"/>
          </a:p>
        </p:txBody>
      </p:sp>
    </p:spTree>
    <p:extLst>
      <p:ext uri="{BB962C8B-B14F-4D97-AF65-F5344CB8AC3E}">
        <p14:creationId xmlns:p14="http://schemas.microsoft.com/office/powerpoint/2010/main" val="3737193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047613-1DDB-6005-ABA2-2F25FDA1E1F8}"/>
              </a:ext>
            </a:extLst>
          </p:cNvPr>
          <p:cNvSpPr txBox="1"/>
          <p:nvPr/>
        </p:nvSpPr>
        <p:spPr>
          <a:xfrm>
            <a:off x="137491" y="588188"/>
            <a:ext cx="8688457" cy="5632311"/>
          </a:xfrm>
          <a:prstGeom prst="rect">
            <a:avLst/>
          </a:prstGeom>
          <a:noFill/>
        </p:spPr>
        <p:txBody>
          <a:bodyPr wrap="square">
            <a:spAutoFit/>
          </a:bodyPr>
          <a:lstStyle/>
          <a:p>
            <a:pPr marL="342900" indent="-342900">
              <a:buFont typeface="Wingdings" pitchFamily="2" charset="2"/>
              <a:buChar char="Ø"/>
            </a:pPr>
            <a:r>
              <a:rPr lang="en-JP" sz="2000" dirty="0">
                <a:solidFill>
                  <a:srgbClr val="92D050"/>
                </a:solidFill>
                <a:latin typeface="Meiryo" panose="020B0604030504040204" pitchFamily="34" charset="-128"/>
                <a:ea typeface="Meiryo" panose="020B0604030504040204" pitchFamily="34" charset="-128"/>
              </a:rPr>
              <a:t> </a:t>
            </a:r>
            <a:r>
              <a:rPr lang="en-JP" sz="2000" b="1" dirty="0">
                <a:solidFill>
                  <a:srgbClr val="92D050"/>
                </a:solidFill>
                <a:latin typeface="Meiryo" panose="020B0604030504040204" pitchFamily="34" charset="-128"/>
                <a:ea typeface="Meiryo" panose="020B0604030504040204" pitchFamily="34" charset="-128"/>
              </a:rPr>
              <a:t>ウェブサーバーでよくある攻撃</a:t>
            </a:r>
            <a:endParaRPr lang="mn-MN" sz="2000" b="1" dirty="0">
              <a:solidFill>
                <a:srgbClr val="92D050"/>
              </a:solidFill>
              <a:latin typeface="Meiryo" panose="020B0604030504040204" pitchFamily="34" charset="-128"/>
              <a:ea typeface="Meiryo" panose="020B0604030504040204" pitchFamily="34" charset="-128"/>
            </a:endParaRPr>
          </a:p>
          <a:p>
            <a:endParaRPr lang="mn-MN"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SQLインジェクション</a:t>
            </a:r>
            <a:endParaRPr lang="en-JP"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ウェブサイトの入力欄に悪意のある文字を入れて、</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データベースの情報を盗む攻撃</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US" sz="2000" dirty="0">
                <a:solidFill>
                  <a:srgbClr val="C00000"/>
                </a:solidFill>
                <a:latin typeface="Meiryo" panose="020B0604030504040204" pitchFamily="34" charset="-128"/>
                <a:ea typeface="Meiryo" panose="020B0604030504040204" pitchFamily="34" charset="-128"/>
              </a:rPr>
              <a:t>Cross-site scripting</a:t>
            </a:r>
            <a:r>
              <a:rPr lang="en-JP" sz="2000" dirty="0">
                <a:solidFill>
                  <a:srgbClr val="C00000"/>
                </a:solidFill>
                <a:latin typeface="Meiryo" panose="020B0604030504040204" pitchFamily="34" charset="-128"/>
                <a:ea typeface="Meiryo" panose="020B0604030504040204" pitchFamily="34" charset="-128"/>
              </a:rPr>
              <a:t>（XSS</a:t>
            </a:r>
            <a:r>
              <a:rPr lang="en-JP" sz="2000" dirty="0">
                <a:solidFill>
                  <a:schemeClr val="tx2">
                    <a:lumMod val="50000"/>
                  </a:schemeClr>
                </a:solidFill>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他の人のブラウザで勝手にコードを動かして情報を盗む</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 </a:t>
            </a:r>
            <a:r>
              <a:rPr lang="en-US" sz="2000" dirty="0">
                <a:solidFill>
                  <a:srgbClr val="C00000"/>
                </a:solidFill>
                <a:latin typeface="Meiryo" panose="020B0604030504040204" pitchFamily="34" charset="-128"/>
                <a:ea typeface="Meiryo" panose="020B0604030504040204" pitchFamily="34" charset="-128"/>
              </a:rPr>
              <a:t>Cross site request </a:t>
            </a:r>
            <a:r>
              <a:rPr lang="en-JP" sz="2000" dirty="0">
                <a:solidFill>
                  <a:srgbClr val="C00000"/>
                </a:solidFill>
                <a:latin typeface="Meiryo" panose="020B0604030504040204" pitchFamily="34" charset="-128"/>
                <a:ea typeface="Meiryo" panose="020B0604030504040204" pitchFamily="34" charset="-128"/>
              </a:rPr>
              <a:t>（CSRF）</a:t>
            </a:r>
            <a:endParaRPr lang="en-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ユーザーの許可なしに、ウェブサイトにリクエストを送る攻撃</a:t>
            </a:r>
          </a:p>
          <a:p>
            <a:endParaRPr lang="en-JP" sz="2000" dirty="0">
              <a:solidFill>
                <a:srgbClr val="C00000"/>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 認証の破損（Broken Authentication</a:t>
            </a:r>
            <a:r>
              <a:rPr lang="en-JP" sz="2000" dirty="0">
                <a:latin typeface="Meiryo" panose="020B0604030504040204" pitchFamily="34" charset="-128"/>
                <a:ea typeface="Meiryo" panose="020B0604030504040204" pitchFamily="34" charset="-128"/>
              </a:rPr>
              <a:t>）</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パスワードが弱い、セッション管理が悪いことで発生する脆弱性</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solidFill>
                  <a:srgbClr val="C00000"/>
                </a:solidFill>
                <a:latin typeface="Meiryo" panose="020B0604030504040204" pitchFamily="34" charset="-128"/>
                <a:ea typeface="Meiryo" panose="020B0604030504040204" pitchFamily="34" charset="-128"/>
              </a:rPr>
              <a:t>機密データの漏えい（Sensitive Data Exposure）</a:t>
            </a:r>
          </a:p>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HTTPS未使用、データが暗号化されていないことが原因で情報</a:t>
            </a:r>
            <a:endParaRPr lang="mn-MN"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    </a:t>
            </a:r>
            <a:r>
              <a:rPr lang="en-JP" sz="2000" dirty="0">
                <a:latin typeface="Meiryo" panose="020B0604030504040204" pitchFamily="34" charset="-128"/>
                <a:ea typeface="Meiryo" panose="020B0604030504040204" pitchFamily="34" charset="-128"/>
              </a:rPr>
              <a:t>が漏れる</a:t>
            </a:r>
          </a:p>
        </p:txBody>
      </p:sp>
      <p:sp>
        <p:nvSpPr>
          <p:cNvPr id="2" name="Slide Number Placeholder 1">
            <a:extLst>
              <a:ext uri="{FF2B5EF4-FFF2-40B4-BE49-F238E27FC236}">
                <a16:creationId xmlns:a16="http://schemas.microsoft.com/office/drawing/2014/main" id="{867552BF-A4DE-17B6-5967-89AB460FAA21}"/>
              </a:ext>
            </a:extLst>
          </p:cNvPr>
          <p:cNvSpPr>
            <a:spLocks noGrp="1"/>
          </p:cNvSpPr>
          <p:nvPr>
            <p:ph type="sldNum" sz="quarter" idx="12"/>
          </p:nvPr>
        </p:nvSpPr>
        <p:spPr/>
        <p:txBody>
          <a:bodyPr/>
          <a:lstStyle/>
          <a:p>
            <a:fld id="{D8C05D5D-75E2-3144-9168-CA833390726D}" type="slidenum">
              <a:rPr lang="en-JP" smtClean="0"/>
              <a:t>24</a:t>
            </a:fld>
            <a:endParaRPr lang="en-JP"/>
          </a:p>
        </p:txBody>
      </p:sp>
    </p:spTree>
    <p:extLst>
      <p:ext uri="{BB962C8B-B14F-4D97-AF65-F5344CB8AC3E}">
        <p14:creationId xmlns:p14="http://schemas.microsoft.com/office/powerpoint/2010/main" val="772377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2FD5A-C2D0-C0E3-4BB3-F86E2E9E8F61}"/>
              </a:ext>
            </a:extLst>
          </p:cNvPr>
          <p:cNvSpPr>
            <a:spLocks noGrp="1"/>
          </p:cNvSpPr>
          <p:nvPr>
            <p:ph type="title"/>
          </p:nvPr>
        </p:nvSpPr>
        <p:spPr>
          <a:xfrm>
            <a:off x="-12701" y="149224"/>
            <a:ext cx="8862163" cy="492124"/>
          </a:xfrm>
        </p:spPr>
        <p:txBody>
          <a:bodyPr>
            <a:normAutofit fontScale="90000"/>
          </a:bodyPr>
          <a:lstStyle/>
          <a:p>
            <a:br>
              <a:rPr lang="en-US" altLang="ja-JP" sz="2000" i="0" dirty="0">
                <a:effectLst/>
                <a:latin typeface="Meiryo" panose="020B0604030504040204" pitchFamily="34" charset="-128"/>
                <a:ea typeface="Meiryo" panose="020B0604030504040204" pitchFamily="34" charset="-128"/>
              </a:rPr>
            </a:b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ページへの攻撃テストを実施するために，自身でこのような</a:t>
            </a:r>
            <a:r>
              <a:rPr lang="en-US" sz="2000" b="0" i="0" dirty="0">
                <a:solidFill>
                  <a:srgbClr val="222222"/>
                </a:solidFill>
                <a:effectLst/>
                <a:latin typeface="Meiryo" panose="020B0604030504040204" pitchFamily="34" charset="-128"/>
                <a:ea typeface="Meiryo" panose="020B0604030504040204" pitchFamily="34" charset="-128"/>
              </a:rPr>
              <a:t>Web</a:t>
            </a:r>
            <a:r>
              <a:rPr lang="ja-JP" altLang="en-US" sz="2000" b="0" i="0">
                <a:solidFill>
                  <a:srgbClr val="222222"/>
                </a:solidFill>
                <a:effectLst/>
                <a:latin typeface="Meiryo" panose="020B0604030504040204" pitchFamily="34" charset="-128"/>
                <a:ea typeface="Meiryo" panose="020B0604030504040204" pitchFamily="34" charset="-128"/>
              </a:rPr>
              <a:t>ページを作成してみました</a:t>
            </a:r>
            <a:r>
              <a:rPr lang="mn-MN" altLang="ja-JP" sz="2000" dirty="0">
                <a:solidFill>
                  <a:srgbClr val="222222"/>
                </a:solidFill>
                <a:latin typeface="Meiryo" panose="020B0604030504040204" pitchFamily="34" charset="-128"/>
                <a:ea typeface="Meiryo" panose="020B0604030504040204" pitchFamily="34" charset="-128"/>
              </a:rPr>
              <a:t>.</a:t>
            </a:r>
            <a:endParaRPr lang="en-US" sz="2000" dirty="0">
              <a:latin typeface="Meiryo" panose="020B0604030504040204" pitchFamily="34" charset="-128"/>
              <a:ea typeface="Meiryo" panose="020B0604030504040204" pitchFamily="34" charset="-128"/>
            </a:endParaRPr>
          </a:p>
        </p:txBody>
      </p:sp>
      <p:pic>
        <p:nvPicPr>
          <p:cNvPr id="4" name="2025-09-08 12-47-26">
            <a:hlinkClick r:id="" action="ppaction://media"/>
            <a:extLst>
              <a:ext uri="{FF2B5EF4-FFF2-40B4-BE49-F238E27FC236}">
                <a16:creationId xmlns:a16="http://schemas.microsoft.com/office/drawing/2014/main" id="{D3259A91-67C4-33E3-79FB-D6DAA75B97F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780960"/>
            <a:ext cx="8862164" cy="5492838"/>
          </a:xfrm>
          <a:prstGeom prst="rect">
            <a:avLst/>
          </a:prstGeom>
        </p:spPr>
      </p:pic>
      <p:sp>
        <p:nvSpPr>
          <p:cNvPr id="5" name="Slide Number Placeholder 4">
            <a:extLst>
              <a:ext uri="{FF2B5EF4-FFF2-40B4-BE49-F238E27FC236}">
                <a16:creationId xmlns:a16="http://schemas.microsoft.com/office/drawing/2014/main" id="{32BC5CD7-9236-D2C9-3B27-448757E6C6ED}"/>
              </a:ext>
            </a:extLst>
          </p:cNvPr>
          <p:cNvSpPr>
            <a:spLocks noGrp="1"/>
          </p:cNvSpPr>
          <p:nvPr>
            <p:ph type="sldNum" sz="quarter" idx="12"/>
          </p:nvPr>
        </p:nvSpPr>
        <p:spPr/>
        <p:txBody>
          <a:bodyPr/>
          <a:lstStyle/>
          <a:p>
            <a:fld id="{D8C05D5D-75E2-3144-9168-CA833390726D}" type="slidenum">
              <a:rPr lang="en-JP" smtClean="0"/>
              <a:t>25</a:t>
            </a:fld>
            <a:endParaRPr lang="en-JP"/>
          </a:p>
        </p:txBody>
      </p:sp>
    </p:spTree>
    <p:extLst>
      <p:ext uri="{BB962C8B-B14F-4D97-AF65-F5344CB8AC3E}">
        <p14:creationId xmlns:p14="http://schemas.microsoft.com/office/powerpoint/2010/main" val="17464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42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5EB8-0F9F-88D8-5935-F6216DDEDF44}"/>
              </a:ext>
            </a:extLst>
          </p:cNvPr>
          <p:cNvSpPr>
            <a:spLocks noGrp="1"/>
          </p:cNvSpPr>
          <p:nvPr>
            <p:ph type="title"/>
          </p:nvPr>
        </p:nvSpPr>
        <p:spPr>
          <a:xfrm>
            <a:off x="165100" y="591597"/>
            <a:ext cx="8515350" cy="496423"/>
          </a:xfrm>
        </p:spPr>
        <p:txBody>
          <a:bodyPr>
            <a:noAutofit/>
          </a:bodyPr>
          <a:lstStyle/>
          <a:p>
            <a:pPr marL="457200" indent="-457200">
              <a:buFont typeface="Wingdings" pitchFamily="2" charset="2"/>
              <a:buChar char="Ø"/>
            </a:pPr>
            <a:r>
              <a:rPr lang="en-US" sz="2800" b="1" i="0" dirty="0">
                <a:solidFill>
                  <a:srgbClr val="92D050"/>
                </a:solidFill>
                <a:effectLst/>
                <a:latin typeface="Times New Roman" panose="02020603050405020304" pitchFamily="18" charset="0"/>
                <a:ea typeface="Meiryo" panose="020B0604030504040204" pitchFamily="34" charset="-128"/>
                <a:cs typeface="Times New Roman" panose="02020603050405020304" pitchFamily="18" charset="0"/>
              </a:rPr>
              <a:t>  DVWA = Damn Vulnerable Web Application</a:t>
            </a:r>
            <a:br>
              <a:rPr lang="mn-MN" sz="2800" b="1" i="0" dirty="0">
                <a:solidFill>
                  <a:srgbClr val="92D050"/>
                </a:solidFill>
                <a:effectLst/>
                <a:latin typeface="Times New Roman" panose="02020603050405020304" pitchFamily="18" charset="0"/>
                <a:ea typeface="Meiryo" panose="020B0604030504040204" pitchFamily="34" charset="-128"/>
                <a:cs typeface="Times New Roman" panose="02020603050405020304" pitchFamily="18" charset="0"/>
              </a:rPr>
            </a:br>
            <a:endParaRPr lang="en-JP" sz="2800" b="1" dirty="0">
              <a:solidFill>
                <a:srgbClr val="92D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23BBD65-B03E-CE56-20A7-4E9AA29473DD}"/>
              </a:ext>
            </a:extLst>
          </p:cNvPr>
          <p:cNvSpPr>
            <a:spLocks noGrp="1"/>
          </p:cNvSpPr>
          <p:nvPr>
            <p:ph idx="1"/>
          </p:nvPr>
        </p:nvSpPr>
        <p:spPr>
          <a:xfrm>
            <a:off x="352104" y="930273"/>
            <a:ext cx="7886700" cy="2498727"/>
          </a:xfrm>
        </p:spPr>
        <p:txBody>
          <a:bodyPr>
            <a:normAutofit/>
          </a:bodyPr>
          <a:lstStyle/>
          <a:p>
            <a:pPr>
              <a:buFont typeface="Wingdings" pitchFamily="2" charset="2"/>
              <a:buChar char="§"/>
            </a:pPr>
            <a:endParaRPr lang="en-US" sz="2400" dirty="0">
              <a:latin typeface="Meiryo" panose="020B0604030504040204" pitchFamily="34" charset="-128"/>
              <a:ea typeface="Meiryo" panose="020B0604030504040204" pitchFamily="34" charset="-128"/>
            </a:endParaRPr>
          </a:p>
          <a:p>
            <a:pPr>
              <a:buFont typeface="Wingdings" pitchFamily="2" charset="2"/>
              <a:buChar char="§"/>
            </a:pPr>
            <a:r>
              <a:rPr lang="en-US" sz="2400" b="0" i="0" dirty="0">
                <a:effectLst/>
                <a:latin typeface="Meiryo" panose="020B0604030504040204" pitchFamily="34" charset="-128"/>
                <a:ea typeface="Meiryo" panose="020B0604030504040204" pitchFamily="34" charset="-128"/>
              </a:rPr>
              <a:t>「</a:t>
            </a:r>
            <a:r>
              <a:rPr lang="ja-JP" altLang="en-US" sz="2400" b="0" i="0">
                <a:effectLst/>
                <a:latin typeface="Meiryo" panose="020B0604030504040204" pitchFamily="34" charset="-128"/>
                <a:ea typeface="Meiryo" panose="020B0604030504040204" pitchFamily="34" charset="-128"/>
              </a:rPr>
              <a:t>弱いウェブサイト」のテスト用アプリ</a:t>
            </a:r>
            <a:endParaRPr lang="ja-JP" altLang="en-US" sz="2400">
              <a:latin typeface="Meiryo" panose="020B0604030504040204" pitchFamily="34" charset="-128"/>
              <a:ea typeface="Meiryo" panose="020B0604030504040204" pitchFamily="34" charset="-128"/>
            </a:endParaRPr>
          </a:p>
          <a:p>
            <a:pPr>
              <a:buFont typeface="Wingdings" pitchFamily="2" charset="2"/>
              <a:buChar char="§"/>
            </a:pPr>
            <a:r>
              <a:rPr lang="ja-JP" altLang="en-US" sz="2400" b="0" i="0">
                <a:effectLst/>
                <a:latin typeface="Meiryo" panose="020B0604030504040204" pitchFamily="34" charset="-128"/>
                <a:ea typeface="Meiryo" panose="020B0604030504040204" pitchFamily="34" charset="-128"/>
              </a:rPr>
              <a:t>目的</a:t>
            </a:r>
            <a:r>
              <a:rPr lang="en-US" altLang="ja-JP" sz="2400" b="0" i="0" dirty="0">
                <a:effectLst/>
                <a:latin typeface="Meiryo" panose="020B0604030504040204" pitchFamily="34" charset="-128"/>
                <a:ea typeface="Meiryo" panose="020B0604030504040204" pitchFamily="34" charset="-128"/>
              </a:rPr>
              <a:t>: </a:t>
            </a:r>
            <a:r>
              <a:rPr lang="ja-JP" altLang="en-US" sz="2400" b="0" i="0">
                <a:effectLst/>
                <a:latin typeface="Meiryo" panose="020B0604030504040204" pitchFamily="34" charset="-128"/>
                <a:ea typeface="Meiryo" panose="020B0604030504040204" pitchFamily="34" charset="-128"/>
              </a:rPr>
              <a:t>ウェブの危険を安全に学ぶこと</a:t>
            </a:r>
            <a:endParaRPr lang="ja-JP" altLang="en-US" sz="2400">
              <a:latin typeface="Meiryo" panose="020B0604030504040204" pitchFamily="34" charset="-128"/>
              <a:ea typeface="Meiryo" panose="020B0604030504040204" pitchFamily="34" charset="-128"/>
            </a:endParaRPr>
          </a:p>
          <a:p>
            <a:pPr>
              <a:buFont typeface="Wingdings" pitchFamily="2" charset="2"/>
              <a:buChar char="§"/>
            </a:pPr>
            <a:r>
              <a:rPr lang="ja-JP" altLang="en-US" sz="2400" b="0" i="0">
                <a:effectLst/>
                <a:latin typeface="Meiryo" panose="020B0604030504040204" pitchFamily="34" charset="-128"/>
                <a:ea typeface="Meiryo" panose="020B0604030504040204" pitchFamily="34" charset="-128"/>
              </a:rPr>
              <a:t>ユーザーの名前やパスワードに簡単にアクセスできる</a:t>
            </a:r>
            <a:endParaRPr lang="en-JP" sz="2400" dirty="0">
              <a:latin typeface="Meiryo" panose="020B0604030504040204" pitchFamily="34" charset="-128"/>
              <a:ea typeface="Meiryo" panose="020B0604030504040204" pitchFamily="34" charset="-128"/>
            </a:endParaRPr>
          </a:p>
          <a:p>
            <a:pPr>
              <a:buFont typeface="Wingdings" pitchFamily="2" charset="2"/>
              <a:buChar char="§"/>
            </a:pPr>
            <a:endParaRPr lang="en-JP" sz="2400" dirty="0"/>
          </a:p>
        </p:txBody>
      </p:sp>
      <p:sp>
        <p:nvSpPr>
          <p:cNvPr id="8" name="TextBox 7">
            <a:extLst>
              <a:ext uri="{FF2B5EF4-FFF2-40B4-BE49-F238E27FC236}">
                <a16:creationId xmlns:a16="http://schemas.microsoft.com/office/drawing/2014/main" id="{4A28EE56-E985-4309-269C-AEA387145BD3}"/>
              </a:ext>
            </a:extLst>
          </p:cNvPr>
          <p:cNvSpPr txBox="1"/>
          <p:nvPr/>
        </p:nvSpPr>
        <p:spPr>
          <a:xfrm>
            <a:off x="26204" y="4171630"/>
            <a:ext cx="9117796" cy="1200329"/>
          </a:xfrm>
          <a:prstGeom prst="rect">
            <a:avLst/>
          </a:prstGeom>
          <a:noFill/>
        </p:spPr>
        <p:txBody>
          <a:bodyPr wrap="square">
            <a:spAutoFit/>
          </a:bodyPr>
          <a:lstStyle/>
          <a:p>
            <a:r>
              <a:rPr lang="en-US" sz="2400" dirty="0">
                <a:latin typeface="Meiryo" panose="020B0604030504040204" pitchFamily="34" charset="-128"/>
                <a:ea typeface="Meiryo" panose="020B0604030504040204" pitchFamily="34" charset="-128"/>
              </a:rPr>
              <a:t>・DVWA</a:t>
            </a:r>
            <a:r>
              <a:rPr lang="ja-JP" altLang="en-US" sz="2400">
                <a:latin typeface="Meiryo" panose="020B0604030504040204" pitchFamily="34" charset="-128"/>
                <a:ea typeface="Meiryo" panose="020B0604030504040204" pitchFamily="34" charset="-128"/>
              </a:rPr>
              <a:t>を使用して</a:t>
            </a:r>
            <a:r>
              <a:rPr lang="en-US" sz="2400" dirty="0">
                <a:latin typeface="Meiryo" panose="020B0604030504040204" pitchFamily="34" charset="-128"/>
                <a:ea typeface="Meiryo" panose="020B0604030504040204" pitchFamily="34" charset="-128"/>
              </a:rPr>
              <a:t>SQL</a:t>
            </a:r>
            <a:r>
              <a:rPr lang="ja-JP" altLang="en-US" sz="2400">
                <a:latin typeface="Meiryo" panose="020B0604030504040204" pitchFamily="34" charset="-128"/>
                <a:ea typeface="Meiryo" panose="020B0604030504040204" pitchFamily="34" charset="-128"/>
              </a:rPr>
              <a:t>インジェクションの脆弱性を確認した</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a:t>
            </a:r>
            <a:r>
              <a:rPr lang="en-US" sz="2400" dirty="0">
                <a:latin typeface="Meiryo" panose="020B0604030504040204" pitchFamily="34" charset="-128"/>
                <a:ea typeface="Meiryo" panose="020B0604030504040204" pitchFamily="34" charset="-128"/>
              </a:rPr>
              <a:t>XSS</a:t>
            </a:r>
            <a:r>
              <a:rPr lang="ja-JP" altLang="en-US" sz="2400">
                <a:latin typeface="Meiryo" panose="020B0604030504040204" pitchFamily="34" charset="-128"/>
                <a:ea typeface="Meiryo" panose="020B0604030504040204" pitchFamily="34" charset="-128"/>
              </a:rPr>
              <a:t>攻撃の仕組みをテスト環境で検証した</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・ログイン機能に対する</a:t>
            </a:r>
            <a:r>
              <a:rPr lang="en-US" sz="2400" dirty="0">
                <a:latin typeface="Meiryo" panose="020B0604030504040204" pitchFamily="34" charset="-128"/>
                <a:ea typeface="Meiryo" panose="020B0604030504040204" pitchFamily="34" charset="-128"/>
              </a:rPr>
              <a:t>Brute force</a:t>
            </a:r>
            <a:r>
              <a:rPr lang="ja-JP" altLang="en-US" sz="2400">
                <a:latin typeface="Meiryo" panose="020B0604030504040204" pitchFamily="34" charset="-128"/>
                <a:ea typeface="Meiryo" panose="020B0604030504040204" pitchFamily="34" charset="-128"/>
              </a:rPr>
              <a:t>攻撃の可能性を確認した</a:t>
            </a:r>
            <a:endParaRPr lang="en-JP" sz="2400" dirty="0">
              <a:latin typeface="Meiryo" panose="020B0604030504040204" pitchFamily="34" charset="-128"/>
              <a:ea typeface="Meiryo" panose="020B0604030504040204" pitchFamily="34" charset="-128"/>
            </a:endParaRPr>
          </a:p>
        </p:txBody>
      </p:sp>
      <p:sp>
        <p:nvSpPr>
          <p:cNvPr id="9" name="正方形/長方形 9">
            <a:extLst>
              <a:ext uri="{FF2B5EF4-FFF2-40B4-BE49-F238E27FC236}">
                <a16:creationId xmlns:a16="http://schemas.microsoft.com/office/drawing/2014/main" id="{6DB5834E-3777-26F3-20D7-41D3D756F967}"/>
              </a:ext>
            </a:extLst>
          </p:cNvPr>
          <p:cNvSpPr/>
          <p:nvPr/>
        </p:nvSpPr>
        <p:spPr>
          <a:xfrm>
            <a:off x="165100" y="3779352"/>
            <a:ext cx="8677958" cy="1834369"/>
          </a:xfrm>
          <a:prstGeom prst="rect">
            <a:avLst/>
          </a:prstGeom>
          <a:noFill/>
          <a:ln w="317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0" name="Down Arrow 9">
            <a:extLst>
              <a:ext uri="{FF2B5EF4-FFF2-40B4-BE49-F238E27FC236}">
                <a16:creationId xmlns:a16="http://schemas.microsoft.com/office/drawing/2014/main" id="{8FF25356-0730-FFF8-AC59-715881C89795}"/>
              </a:ext>
            </a:extLst>
          </p:cNvPr>
          <p:cNvSpPr/>
          <p:nvPr/>
        </p:nvSpPr>
        <p:spPr>
          <a:xfrm>
            <a:off x="3946810" y="2995883"/>
            <a:ext cx="263019" cy="369332"/>
          </a:xfrm>
          <a:prstGeom prst="downArrow">
            <a:avLst>
              <a:gd name="adj1" fmla="val 66562"/>
              <a:gd name="adj2" fmla="val 50000"/>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rgbClr val="C00000"/>
              </a:solidFill>
            </a:endParaRPr>
          </a:p>
        </p:txBody>
      </p:sp>
      <p:sp>
        <p:nvSpPr>
          <p:cNvPr id="11" name="Slide Number Placeholder 10">
            <a:extLst>
              <a:ext uri="{FF2B5EF4-FFF2-40B4-BE49-F238E27FC236}">
                <a16:creationId xmlns:a16="http://schemas.microsoft.com/office/drawing/2014/main" id="{65DF70C1-57C8-4A8C-8279-6D43B19A930C}"/>
              </a:ext>
            </a:extLst>
          </p:cNvPr>
          <p:cNvSpPr>
            <a:spLocks noGrp="1"/>
          </p:cNvSpPr>
          <p:nvPr>
            <p:ph type="sldNum" sz="quarter" idx="12"/>
          </p:nvPr>
        </p:nvSpPr>
        <p:spPr/>
        <p:txBody>
          <a:bodyPr/>
          <a:lstStyle/>
          <a:p>
            <a:fld id="{D8C05D5D-75E2-3144-9168-CA833390726D}" type="slidenum">
              <a:rPr lang="en-JP" smtClean="0"/>
              <a:t>26</a:t>
            </a:fld>
            <a:endParaRPr lang="en-JP"/>
          </a:p>
        </p:txBody>
      </p:sp>
    </p:spTree>
    <p:extLst>
      <p:ext uri="{BB962C8B-B14F-4D97-AF65-F5344CB8AC3E}">
        <p14:creationId xmlns:p14="http://schemas.microsoft.com/office/powerpoint/2010/main" val="539918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5086-01FF-7448-2FAE-57A1BE43216C}"/>
              </a:ext>
            </a:extLst>
          </p:cNvPr>
          <p:cNvSpPr>
            <a:spLocks noGrp="1"/>
          </p:cNvSpPr>
          <p:nvPr>
            <p:ph type="title"/>
          </p:nvPr>
        </p:nvSpPr>
        <p:spPr>
          <a:xfrm>
            <a:off x="230617" y="207965"/>
            <a:ext cx="7886700" cy="717194"/>
          </a:xfrm>
        </p:spPr>
        <p:txBody>
          <a:bodyPr>
            <a:normAutofit/>
          </a:bodyPr>
          <a:lstStyle/>
          <a:p>
            <a:r>
              <a:rPr lang="en-US" sz="2000" b="0" i="0" dirty="0">
                <a:effectLst/>
                <a:latin typeface="Meiryo" panose="020B0604030504040204" pitchFamily="34" charset="-128"/>
                <a:ea typeface="Meiryo" panose="020B0604030504040204" pitchFamily="34" charset="-128"/>
              </a:rPr>
              <a:t>DVWA = Damn Vulnerable Web Application</a:t>
            </a:r>
            <a:r>
              <a:rPr lang="ja-JP" altLang="en-US" sz="2000" i="0">
                <a:effectLst/>
                <a:latin typeface="Meiryo" panose="020B0604030504040204" pitchFamily="34" charset="-128"/>
                <a:ea typeface="Meiryo" panose="020B0604030504040204" pitchFamily="34" charset="-128"/>
              </a:rPr>
              <a:t>の画面</a:t>
            </a:r>
            <a:endParaRPr lang="en-US" sz="2000" dirty="0"/>
          </a:p>
        </p:txBody>
      </p:sp>
      <p:pic>
        <p:nvPicPr>
          <p:cNvPr id="4" name="2025-09-08 13-00-44">
            <a:hlinkClick r:id="" action="ppaction://media"/>
            <a:extLst>
              <a:ext uri="{FF2B5EF4-FFF2-40B4-BE49-F238E27FC236}">
                <a16:creationId xmlns:a16="http://schemas.microsoft.com/office/drawing/2014/main" id="{19CB4C95-DBFD-22B7-200B-98FE9E3B3B2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30617" y="1077503"/>
            <a:ext cx="8708988" cy="4989810"/>
          </a:xfrm>
        </p:spPr>
      </p:pic>
      <p:sp>
        <p:nvSpPr>
          <p:cNvPr id="5" name="Slide Number Placeholder 4">
            <a:extLst>
              <a:ext uri="{FF2B5EF4-FFF2-40B4-BE49-F238E27FC236}">
                <a16:creationId xmlns:a16="http://schemas.microsoft.com/office/drawing/2014/main" id="{528EA574-4347-AED7-E727-1C7C9EE9D8A5}"/>
              </a:ext>
            </a:extLst>
          </p:cNvPr>
          <p:cNvSpPr>
            <a:spLocks noGrp="1"/>
          </p:cNvSpPr>
          <p:nvPr>
            <p:ph type="sldNum" sz="quarter" idx="12"/>
          </p:nvPr>
        </p:nvSpPr>
        <p:spPr/>
        <p:txBody>
          <a:bodyPr/>
          <a:lstStyle/>
          <a:p>
            <a:fld id="{D8C05D5D-75E2-3144-9168-CA833390726D}" type="slidenum">
              <a:rPr lang="en-JP" smtClean="0"/>
              <a:t>27</a:t>
            </a:fld>
            <a:endParaRPr lang="en-JP"/>
          </a:p>
        </p:txBody>
      </p:sp>
    </p:spTree>
    <p:extLst>
      <p:ext uri="{BB962C8B-B14F-4D97-AF65-F5344CB8AC3E}">
        <p14:creationId xmlns:p14="http://schemas.microsoft.com/office/powerpoint/2010/main" val="155130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868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3FE997-B334-2AB2-FF4E-E50D2A8A96BE}"/>
              </a:ext>
            </a:extLst>
          </p:cNvPr>
          <p:cNvSpPr txBox="1"/>
          <p:nvPr/>
        </p:nvSpPr>
        <p:spPr>
          <a:xfrm>
            <a:off x="329878" y="573475"/>
            <a:ext cx="6406587" cy="461665"/>
          </a:xfrm>
          <a:prstGeom prst="rect">
            <a:avLst/>
          </a:prstGeom>
          <a:noFill/>
        </p:spPr>
        <p:txBody>
          <a:bodyPr wrap="square">
            <a:spAutoFit/>
          </a:bodyPr>
          <a:lstStyle/>
          <a:p>
            <a:pPr marL="285750" indent="-285750">
              <a:buFont typeface="Wingdings" pitchFamily="2" charset="2"/>
              <a:buChar char="Ø"/>
            </a:pPr>
            <a:r>
              <a:rPr lang="en-US" sz="2400" b="1" dirty="0">
                <a:solidFill>
                  <a:srgbClr val="92D050"/>
                </a:solidFill>
                <a:latin typeface="Meiryo" panose="020B0604030504040204" pitchFamily="34" charset="-128"/>
                <a:ea typeface="Meiryo" panose="020B0604030504040204" pitchFamily="34" charset="-128"/>
                <a:cs typeface="Times New Roman" panose="02020603050405020304" pitchFamily="18" charset="0"/>
              </a:rPr>
              <a:t>Web</a:t>
            </a:r>
            <a:r>
              <a:rPr lang="ja-JP" altLang="en-US" sz="2400" b="1">
                <a:solidFill>
                  <a:srgbClr val="92D050"/>
                </a:solidFill>
                <a:latin typeface="Meiryo" panose="020B0604030504040204" pitchFamily="34" charset="-128"/>
                <a:ea typeface="Meiryo" panose="020B0604030504040204" pitchFamily="34" charset="-128"/>
                <a:cs typeface="Times New Roman" panose="02020603050405020304" pitchFamily="18" charset="0"/>
              </a:rPr>
              <a:t>サーバ監視ダッシュボード（テスト）</a:t>
            </a:r>
            <a:endParaRPr lang="en-JP" sz="2400" b="1" dirty="0">
              <a:solidFill>
                <a:srgbClr val="92D050"/>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794AACBA-C8AD-B6BC-DA87-916BB471B6C7}"/>
              </a:ext>
            </a:extLst>
          </p:cNvPr>
          <p:cNvSpPr txBox="1"/>
          <p:nvPr/>
        </p:nvSpPr>
        <p:spPr>
          <a:xfrm>
            <a:off x="167833" y="1524981"/>
            <a:ext cx="8478456" cy="3046988"/>
          </a:xfrm>
          <a:prstGeom prst="rect">
            <a:avLst/>
          </a:prstGeom>
          <a:noFill/>
        </p:spPr>
        <p:txBody>
          <a:bodyPr wrap="square">
            <a:spAutoFit/>
          </a:bodyPr>
          <a:lstStyle/>
          <a:p>
            <a:pPr marL="457200" indent="-457200">
              <a:buFont typeface="+mj-lt"/>
              <a:buAutoNum type="arabicPeriod"/>
            </a:pPr>
            <a:r>
              <a:rPr lang="en-US" sz="2400" dirty="0">
                <a:latin typeface="Meiryo" panose="020B0604030504040204" pitchFamily="34" charset="-128"/>
                <a:ea typeface="Meiryo" panose="020B0604030504040204" pitchFamily="34" charset="-128"/>
              </a:rPr>
              <a:t>Web</a:t>
            </a:r>
            <a:r>
              <a:rPr lang="ja-JP" altLang="en-US" sz="2400">
                <a:latin typeface="Meiryo" panose="020B0604030504040204" pitchFamily="34" charset="-128"/>
                <a:ea typeface="Meiryo" panose="020B0604030504040204" pitchFamily="34" charset="-128"/>
              </a:rPr>
              <a:t>サーバの状態監視が可能かを確認するために作成したテスト用ダッシュボード</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en-US" sz="2400" dirty="0">
                <a:latin typeface="Meiryo" panose="020B0604030504040204" pitchFamily="34" charset="-128"/>
                <a:ea typeface="Meiryo" panose="020B0604030504040204" pitchFamily="34" charset="-128"/>
              </a:rPr>
              <a:t>CPU</a:t>
            </a:r>
            <a:r>
              <a:rPr lang="ja-JP" altLang="en-US" sz="2400">
                <a:latin typeface="Meiryo" panose="020B0604030504040204" pitchFamily="34" charset="-128"/>
                <a:ea typeface="Meiryo" panose="020B0604030504040204" pitchFamily="34" charset="-128"/>
              </a:rPr>
              <a:t>使用率、メモリ使用量、ディスク使用率などのシステム情報をリアルタイムで表示</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a:latin typeface="Meiryo" panose="020B0604030504040204" pitchFamily="34" charset="-128"/>
                <a:ea typeface="Meiryo" panose="020B0604030504040204" pitchFamily="34" charset="-128"/>
              </a:rPr>
              <a:t>サーバーの負荷状況や異常の兆候を簡単に把握でき、管理者の監視作業を支援する</a:t>
            </a:r>
            <a:endParaRPr lang="en-JP" sz="2400"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DA15F1D3-8D14-A4FE-E4E1-52F2307EAA74}"/>
              </a:ext>
            </a:extLst>
          </p:cNvPr>
          <p:cNvSpPr>
            <a:spLocks noGrp="1"/>
          </p:cNvSpPr>
          <p:nvPr>
            <p:ph type="sldNum" sz="quarter" idx="12"/>
          </p:nvPr>
        </p:nvSpPr>
        <p:spPr/>
        <p:txBody>
          <a:bodyPr/>
          <a:lstStyle/>
          <a:p>
            <a:fld id="{D8C05D5D-75E2-3144-9168-CA833390726D}" type="slidenum">
              <a:rPr lang="en-JP" smtClean="0"/>
              <a:t>28</a:t>
            </a:fld>
            <a:endParaRPr lang="en-JP"/>
          </a:p>
        </p:txBody>
      </p:sp>
    </p:spTree>
    <p:extLst>
      <p:ext uri="{BB962C8B-B14F-4D97-AF65-F5344CB8AC3E}">
        <p14:creationId xmlns:p14="http://schemas.microsoft.com/office/powerpoint/2010/main" val="794867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9C34-233C-DE8A-0F8B-75F2922A921E}"/>
              </a:ext>
            </a:extLst>
          </p:cNvPr>
          <p:cNvSpPr>
            <a:spLocks noGrp="1"/>
          </p:cNvSpPr>
          <p:nvPr>
            <p:ph type="title"/>
          </p:nvPr>
        </p:nvSpPr>
        <p:spPr>
          <a:xfrm>
            <a:off x="202765" y="120086"/>
            <a:ext cx="6972586" cy="737164"/>
          </a:xfrm>
        </p:spPr>
        <p:txBody>
          <a:bodyPr>
            <a:normAutofit/>
          </a:bodyPr>
          <a:lstStyle/>
          <a:p>
            <a:r>
              <a:rPr lang="en-US" sz="2400" dirty="0">
                <a:latin typeface="Times New Roman" panose="02020603050405020304" pitchFamily="18" charset="0"/>
                <a:cs typeface="Times New Roman" panose="02020603050405020304" pitchFamily="18" charset="0"/>
              </a:rPr>
              <a:t>Web_Server_Dashboard</a:t>
            </a:r>
            <a:r>
              <a:rPr lang="en-US" sz="2400" dirty="0">
                <a:latin typeface="Meiryo" panose="020B0604030504040204" pitchFamily="34" charset="-128"/>
                <a:ea typeface="Meiryo" panose="020B0604030504040204" pitchFamily="34" charset="-128"/>
                <a:cs typeface="Times New Roman" panose="02020603050405020304" pitchFamily="18" charset="0"/>
              </a:rPr>
              <a:t>の</a:t>
            </a:r>
            <a:r>
              <a:rPr lang="ja-JP" altLang="en-US" sz="2400">
                <a:latin typeface="Meiryo" panose="020B0604030504040204" pitchFamily="34" charset="-128"/>
                <a:ea typeface="Meiryo" panose="020B0604030504040204" pitchFamily="34" charset="-128"/>
              </a:rPr>
              <a:t>プログラムの画面</a:t>
            </a:r>
            <a:endParaRPr lang="en-US" sz="2400"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4" name="2025-09-08 12-55-31">
            <a:hlinkClick r:id="" action="ppaction://media"/>
            <a:extLst>
              <a:ext uri="{FF2B5EF4-FFF2-40B4-BE49-F238E27FC236}">
                <a16:creationId xmlns:a16="http://schemas.microsoft.com/office/drawing/2014/main" id="{641C6F83-F420-FF70-7333-E150C44EDD1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57250"/>
            <a:ext cx="9144000" cy="5143500"/>
          </a:xfrm>
          <a:prstGeom prst="rect">
            <a:avLst/>
          </a:prstGeom>
        </p:spPr>
      </p:pic>
      <p:sp>
        <p:nvSpPr>
          <p:cNvPr id="5" name="Slide Number Placeholder 4">
            <a:extLst>
              <a:ext uri="{FF2B5EF4-FFF2-40B4-BE49-F238E27FC236}">
                <a16:creationId xmlns:a16="http://schemas.microsoft.com/office/drawing/2014/main" id="{AA7FBC0F-94AA-60AA-4783-FF67286A07C2}"/>
              </a:ext>
            </a:extLst>
          </p:cNvPr>
          <p:cNvSpPr>
            <a:spLocks noGrp="1"/>
          </p:cNvSpPr>
          <p:nvPr>
            <p:ph type="sldNum" sz="quarter" idx="12"/>
          </p:nvPr>
        </p:nvSpPr>
        <p:spPr/>
        <p:txBody>
          <a:bodyPr/>
          <a:lstStyle/>
          <a:p>
            <a:fld id="{D8C05D5D-75E2-3144-9168-CA833390726D}" type="slidenum">
              <a:rPr lang="en-JP" smtClean="0"/>
              <a:t>29</a:t>
            </a:fld>
            <a:endParaRPr lang="en-JP"/>
          </a:p>
        </p:txBody>
      </p:sp>
    </p:spTree>
    <p:extLst>
      <p:ext uri="{BB962C8B-B14F-4D97-AF65-F5344CB8AC3E}">
        <p14:creationId xmlns:p14="http://schemas.microsoft.com/office/powerpoint/2010/main" val="337228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459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7E9CC-49A5-0481-ACD5-B0B46BD76A83}"/>
              </a:ext>
            </a:extLst>
          </p:cNvPr>
          <p:cNvSpPr>
            <a:spLocks noGrp="1"/>
          </p:cNvSpPr>
          <p:nvPr>
            <p:ph type="title"/>
          </p:nvPr>
        </p:nvSpPr>
        <p:spPr>
          <a:xfrm>
            <a:off x="628650" y="365127"/>
            <a:ext cx="7886700" cy="624578"/>
          </a:xfrm>
        </p:spPr>
        <p:txBody>
          <a:bodyPr>
            <a:normAutofit/>
          </a:bodyPr>
          <a:lstStyle/>
          <a:p>
            <a:pPr marL="457200" indent="-457200">
              <a:buFont typeface="Wingdings" pitchFamily="2" charset="2"/>
              <a:buChar char="Ø"/>
            </a:pPr>
            <a:r>
              <a:rPr lang="ja-JP" altLang="en-US" sz="2400" b="1" i="0">
                <a:solidFill>
                  <a:srgbClr val="92D050"/>
                </a:solidFill>
                <a:effectLst/>
                <a:latin typeface="Meiryo" panose="020B0604030504040204" pitchFamily="34" charset="-128"/>
                <a:ea typeface="Meiryo" panose="020B0604030504040204" pitchFamily="34" charset="-128"/>
              </a:rPr>
              <a:t>インターンシップで学んだこと</a:t>
            </a:r>
            <a:r>
              <a:rPr lang="mn-MN" altLang="ja-JP" sz="2400" b="1" dirty="0">
                <a:solidFill>
                  <a:srgbClr val="92D050"/>
                </a:solidFill>
                <a:latin typeface="Meiryo" panose="020B0604030504040204" pitchFamily="34" charset="-128"/>
                <a:ea typeface="Meiryo" panose="020B0604030504040204" pitchFamily="34" charset="-128"/>
              </a:rPr>
              <a:t> </a:t>
            </a:r>
            <a:r>
              <a:rPr lang="en-US" altLang="ja-JP" sz="2400" b="1" dirty="0">
                <a:solidFill>
                  <a:srgbClr val="92D050"/>
                </a:solidFill>
                <a:latin typeface="Meiryo" panose="020B0604030504040204" pitchFamily="34" charset="-128"/>
                <a:ea typeface="Meiryo" panose="020B0604030504040204" pitchFamily="34" charset="-128"/>
              </a:rPr>
              <a:t>1/2</a:t>
            </a:r>
            <a:endParaRPr lang="en-JP" sz="2400" b="1" dirty="0">
              <a:solidFill>
                <a:srgbClr val="92D050"/>
              </a:solidFill>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D93977AA-1C2D-98E5-E2ED-98D72561E26F}"/>
              </a:ext>
            </a:extLst>
          </p:cNvPr>
          <p:cNvSpPr>
            <a:spLocks noGrp="1"/>
          </p:cNvSpPr>
          <p:nvPr>
            <p:ph idx="1"/>
          </p:nvPr>
        </p:nvSpPr>
        <p:spPr>
          <a:xfrm>
            <a:off x="501328" y="1253331"/>
            <a:ext cx="8133385" cy="4351338"/>
          </a:xfrm>
        </p:spPr>
        <p:txBody>
          <a:bodyPr>
            <a:normAutofit/>
          </a:bodyPr>
          <a:lstStyle/>
          <a:p>
            <a:pPr>
              <a:buFont typeface="Wingdings" pitchFamily="2" charset="2"/>
              <a:buChar char="§"/>
            </a:pPr>
            <a:r>
              <a:rPr lang="ja-JP" altLang="en-US" sz="2400">
                <a:latin typeface="Meiryo" panose="020B0604030504040204" pitchFamily="34" charset="-128"/>
                <a:ea typeface="Meiryo" panose="020B0604030504040204" pitchFamily="34" charset="-128"/>
              </a:rPr>
              <a:t>専門的なスキル</a:t>
            </a:r>
            <a:endParaRPr lang="mn-MN" altLang="ja-JP" sz="2400" dirty="0">
              <a:latin typeface="Meiryo" panose="020B0604030504040204" pitchFamily="34" charset="-128"/>
              <a:ea typeface="Meiryo" panose="020B0604030504040204" pitchFamily="34" charset="-128"/>
            </a:endParaRPr>
          </a:p>
          <a:p>
            <a:pPr marL="0" indent="0">
              <a:buNone/>
            </a:pPr>
            <a:endParaRPr lang="ja-JP" altLang="en-US" sz="240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a:latin typeface="Meiryo" panose="020B0604030504040204" pitchFamily="34" charset="-128"/>
                <a:ea typeface="Meiryo" panose="020B0604030504040204" pitchFamily="34" charset="-128"/>
              </a:rPr>
              <a:t>ウェブ開発、サーバー監視、プログラミング、</a:t>
            </a:r>
            <a:r>
              <a:rPr lang="en-US" sz="2400" dirty="0">
                <a:latin typeface="Meiryo" panose="020B0604030504040204" pitchFamily="34" charset="-128"/>
                <a:ea typeface="Meiryo" panose="020B0604030504040204" pitchFamily="34" charset="-128"/>
              </a:rPr>
              <a:t>ＷＢＳ</a:t>
            </a:r>
            <a:r>
              <a:rPr lang="ja-JP" altLang="en-US" sz="2400">
                <a:latin typeface="Meiryo" panose="020B0604030504040204" pitchFamily="34" charset="-128"/>
                <a:ea typeface="Meiryo" panose="020B0604030504040204" pitchFamily="34" charset="-128"/>
              </a:rPr>
              <a:t>データベースの基礎を学んだ</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en-US" sz="2400" dirty="0">
                <a:latin typeface="Meiryo" panose="020B0604030504040204" pitchFamily="34" charset="-128"/>
                <a:ea typeface="Meiryo" panose="020B0604030504040204" pitchFamily="34" charset="-128"/>
              </a:rPr>
              <a:t>DVWA</a:t>
            </a:r>
            <a:r>
              <a:rPr lang="ja-JP" altLang="en-US" sz="2400">
                <a:latin typeface="Meiryo" panose="020B0604030504040204" pitchFamily="34" charset="-128"/>
                <a:ea typeface="Meiryo" panose="020B0604030504040204" pitchFamily="34" charset="-128"/>
              </a:rPr>
              <a:t>での攻撃テストやサーバーログの確認など、実践的な経験を積んだ</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a:latin typeface="Meiryo" panose="020B0604030504040204" pitchFamily="34" charset="-128"/>
                <a:ea typeface="Meiryo" panose="020B0604030504040204" pitchFamily="34" charset="-128"/>
              </a:rPr>
              <a:t>問題が発生した時に、自分で調べて解決する能力を身につけた</a:t>
            </a:r>
            <a:endParaRPr lang="en-JP" sz="2400" dirty="0">
              <a:latin typeface="Meiryo" panose="020B0604030504040204" pitchFamily="34" charset="-128"/>
              <a:ea typeface="Meiryo" panose="020B0604030504040204" pitchFamily="34" charset="-128"/>
            </a:endParaRPr>
          </a:p>
        </p:txBody>
      </p:sp>
      <p:sp>
        <p:nvSpPr>
          <p:cNvPr id="5" name="Slide Number Placeholder 4">
            <a:extLst>
              <a:ext uri="{FF2B5EF4-FFF2-40B4-BE49-F238E27FC236}">
                <a16:creationId xmlns:a16="http://schemas.microsoft.com/office/drawing/2014/main" id="{6510B880-AF54-4A2F-0769-B8ADAA2EBA75}"/>
              </a:ext>
            </a:extLst>
          </p:cNvPr>
          <p:cNvSpPr>
            <a:spLocks noGrp="1"/>
          </p:cNvSpPr>
          <p:nvPr>
            <p:ph type="sldNum" sz="quarter" idx="12"/>
          </p:nvPr>
        </p:nvSpPr>
        <p:spPr/>
        <p:txBody>
          <a:bodyPr/>
          <a:lstStyle/>
          <a:p>
            <a:fld id="{D8C05D5D-75E2-3144-9168-CA833390726D}" type="slidenum">
              <a:rPr lang="en-JP" smtClean="0"/>
              <a:t>30</a:t>
            </a:fld>
            <a:endParaRPr lang="en-JP"/>
          </a:p>
        </p:txBody>
      </p:sp>
    </p:spTree>
    <p:extLst>
      <p:ext uri="{BB962C8B-B14F-4D97-AF65-F5344CB8AC3E}">
        <p14:creationId xmlns:p14="http://schemas.microsoft.com/office/powerpoint/2010/main" val="9247237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CDC9-45E7-DF94-D6EA-ECF4F2E5EA45}"/>
              </a:ext>
            </a:extLst>
          </p:cNvPr>
          <p:cNvSpPr>
            <a:spLocks noGrp="1"/>
          </p:cNvSpPr>
          <p:nvPr>
            <p:ph type="title"/>
          </p:nvPr>
        </p:nvSpPr>
        <p:spPr>
          <a:xfrm>
            <a:off x="545457" y="365127"/>
            <a:ext cx="7886700" cy="1162732"/>
          </a:xfrm>
        </p:spPr>
        <p:txBody>
          <a:bodyPr>
            <a:noAutofit/>
          </a:bodyPr>
          <a:lstStyle/>
          <a:p>
            <a:r>
              <a:rPr lang="ja-JP" altLang="en-US" sz="2800" b="1" i="0">
                <a:solidFill>
                  <a:srgbClr val="92D050"/>
                </a:solidFill>
                <a:effectLst/>
                <a:latin typeface="Meiryo" panose="020B0604030504040204" pitchFamily="34" charset="-128"/>
                <a:ea typeface="Meiryo" panose="020B0604030504040204" pitchFamily="34" charset="-128"/>
              </a:rPr>
              <a:t>インターンシップで学んだこと</a:t>
            </a:r>
            <a:r>
              <a:rPr lang="mn-MN" altLang="ja-JP" sz="2800" b="1" dirty="0">
                <a:solidFill>
                  <a:srgbClr val="92D050"/>
                </a:solidFill>
                <a:latin typeface="Meiryo" panose="020B0604030504040204" pitchFamily="34" charset="-128"/>
                <a:ea typeface="Meiryo" panose="020B0604030504040204" pitchFamily="34" charset="-128"/>
              </a:rPr>
              <a:t> </a:t>
            </a:r>
            <a:r>
              <a:rPr lang="en-US" altLang="ja-JP" sz="2800" b="1" dirty="0">
                <a:solidFill>
                  <a:srgbClr val="92D050"/>
                </a:solidFill>
                <a:latin typeface="Meiryo" panose="020B0604030504040204" pitchFamily="34" charset="-128"/>
                <a:ea typeface="Meiryo" panose="020B0604030504040204" pitchFamily="34" charset="-128"/>
              </a:rPr>
              <a:t>2/2</a:t>
            </a:r>
            <a:endParaRPr lang="en-JP" sz="2800"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9BFA28AF-9966-590B-E0D5-67199BDC1923}"/>
              </a:ext>
            </a:extLst>
          </p:cNvPr>
          <p:cNvSpPr txBox="1"/>
          <p:nvPr/>
        </p:nvSpPr>
        <p:spPr>
          <a:xfrm>
            <a:off x="628650" y="1898543"/>
            <a:ext cx="8144960" cy="3785652"/>
          </a:xfrm>
          <a:prstGeom prst="rect">
            <a:avLst/>
          </a:prstGeom>
          <a:noFill/>
        </p:spPr>
        <p:txBody>
          <a:bodyPr wrap="square">
            <a:spAutoFit/>
          </a:bodyPr>
          <a:lstStyle/>
          <a:p>
            <a:pPr marL="342900" indent="-342900">
              <a:buFont typeface="+mj-lt"/>
              <a:buAutoNum type="arabicPeriod"/>
            </a:pPr>
            <a:r>
              <a:rPr lang="en-JP" sz="2000" dirty="0">
                <a:latin typeface="Meiryo" panose="020B0604030504040204" pitchFamily="34" charset="-128"/>
                <a:ea typeface="Meiryo" panose="020B0604030504040204" pitchFamily="34" charset="-128"/>
              </a:rPr>
              <a:t>チーム内のコミュニケーションの重要性</a:t>
            </a:r>
          </a:p>
          <a:p>
            <a:r>
              <a:rPr lang="en-JP" sz="2000" dirty="0">
                <a:latin typeface="Meiryo" panose="020B0604030504040204" pitchFamily="34" charset="-128"/>
                <a:ea typeface="Meiryo" panose="020B0604030504040204" pitchFamily="34" charset="-128"/>
              </a:rPr>
              <a:t>インターンシップ中、作業の進捗や問題点について担当者と情報共有を行うことの重要性を学んだ。</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2. 分かりやすく簡潔に伝える力の向上</a:t>
            </a:r>
          </a:p>
          <a:p>
            <a:r>
              <a:rPr lang="en-JP" sz="2000" dirty="0">
                <a:latin typeface="Meiryo" panose="020B0604030504040204" pitchFamily="34" charset="-128"/>
                <a:ea typeface="Meiryo" panose="020B0604030504040204" pitchFamily="34" charset="-128"/>
              </a:rPr>
              <a:t>作業内容や結果を説明する際に、重要なポイントをまとめて伝えることを意識した。</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3.期限内にタスクをやり遂げる意識の向上</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インターンシップのスケジュールに合わせて、計画的に作業を進めるようになった。</a:t>
            </a:r>
          </a:p>
        </p:txBody>
      </p:sp>
      <p:sp>
        <p:nvSpPr>
          <p:cNvPr id="7" name="TextBox 6">
            <a:extLst>
              <a:ext uri="{FF2B5EF4-FFF2-40B4-BE49-F238E27FC236}">
                <a16:creationId xmlns:a16="http://schemas.microsoft.com/office/drawing/2014/main" id="{B78F5A22-D7DB-DBC6-9F92-E901422C4916}"/>
              </a:ext>
            </a:extLst>
          </p:cNvPr>
          <p:cNvSpPr txBox="1"/>
          <p:nvPr/>
        </p:nvSpPr>
        <p:spPr>
          <a:xfrm>
            <a:off x="711843" y="1425284"/>
            <a:ext cx="4572000" cy="400110"/>
          </a:xfrm>
          <a:prstGeom prst="rect">
            <a:avLst/>
          </a:prstGeom>
          <a:noFill/>
        </p:spPr>
        <p:txBody>
          <a:bodyPr wrap="square">
            <a:spAutoFit/>
          </a:bodyPr>
          <a:lstStyle/>
          <a:p>
            <a:pPr marL="342900" indent="-342900">
              <a:buFont typeface="Wingdings" pitchFamily="2" charset="2"/>
              <a:buChar char="§"/>
            </a:pPr>
            <a:r>
              <a:rPr lang="ja-JP" altLang="en-US" sz="2000">
                <a:latin typeface="Meiryo" panose="020B0604030504040204" pitchFamily="34" charset="-128"/>
                <a:ea typeface="Meiryo" panose="020B0604030504040204" pitchFamily="34" charset="-128"/>
              </a:rPr>
              <a:t>ソフトスキル</a:t>
            </a:r>
            <a:endParaRPr lang="en-JP" sz="2000" dirty="0">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076D2AF4-B1EB-8214-0F7A-50BCF763AD32}"/>
              </a:ext>
            </a:extLst>
          </p:cNvPr>
          <p:cNvSpPr>
            <a:spLocks noGrp="1"/>
          </p:cNvSpPr>
          <p:nvPr>
            <p:ph type="sldNum" sz="quarter" idx="12"/>
          </p:nvPr>
        </p:nvSpPr>
        <p:spPr/>
        <p:txBody>
          <a:bodyPr/>
          <a:lstStyle/>
          <a:p>
            <a:fld id="{D8C05D5D-75E2-3144-9168-CA833390726D}" type="slidenum">
              <a:rPr lang="en-JP" smtClean="0"/>
              <a:t>31</a:t>
            </a:fld>
            <a:endParaRPr lang="en-JP"/>
          </a:p>
        </p:txBody>
      </p:sp>
    </p:spTree>
    <p:extLst>
      <p:ext uri="{BB962C8B-B14F-4D97-AF65-F5344CB8AC3E}">
        <p14:creationId xmlns:p14="http://schemas.microsoft.com/office/powerpoint/2010/main" val="874564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087575-6203-B5BB-4FB8-C3B2C1C0C195}"/>
              </a:ext>
            </a:extLst>
          </p:cNvPr>
          <p:cNvSpPr txBox="1"/>
          <p:nvPr/>
        </p:nvSpPr>
        <p:spPr>
          <a:xfrm>
            <a:off x="666750" y="446455"/>
            <a:ext cx="4572000" cy="461665"/>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まとめ</a:t>
            </a:r>
            <a:endParaRPr lang="en-JP" sz="2400" b="1" dirty="0"/>
          </a:p>
        </p:txBody>
      </p:sp>
      <p:sp>
        <p:nvSpPr>
          <p:cNvPr id="7" name="TextBox 6">
            <a:extLst>
              <a:ext uri="{FF2B5EF4-FFF2-40B4-BE49-F238E27FC236}">
                <a16:creationId xmlns:a16="http://schemas.microsoft.com/office/drawing/2014/main" id="{6018F5D4-D857-042C-10D7-3236EC371EF6}"/>
              </a:ext>
            </a:extLst>
          </p:cNvPr>
          <p:cNvSpPr txBox="1"/>
          <p:nvPr/>
        </p:nvSpPr>
        <p:spPr>
          <a:xfrm>
            <a:off x="504824" y="1355021"/>
            <a:ext cx="7896225" cy="3693319"/>
          </a:xfrm>
          <a:prstGeom prst="rect">
            <a:avLst/>
          </a:prstGeom>
          <a:noFill/>
        </p:spPr>
        <p:txBody>
          <a:bodyPr wrap="square">
            <a:spAutoFit/>
          </a:bodyPr>
          <a:lstStyle/>
          <a:p>
            <a:pPr marL="285750" indent="-285750">
              <a:buFont typeface="Wingdings" pitchFamily="2" charset="2"/>
              <a:buChar char="§"/>
            </a:pPr>
            <a:r>
              <a:rPr lang="en-JP" dirty="0">
                <a:latin typeface="Meiryo" panose="020B0604030504040204" pitchFamily="34" charset="-128"/>
                <a:ea typeface="Meiryo" panose="020B0604030504040204" pitchFamily="34" charset="-128"/>
              </a:rPr>
              <a:t>セキュリティ実践演習を通して、データ分析、マルウェア解析、インシデントレスポンス、PKIなどの内容を理論だけでなく実践的に学ぶことができた。</a:t>
            </a:r>
          </a:p>
          <a:p>
            <a:endParaRPr lang="en-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JP" dirty="0">
                <a:latin typeface="Meiryo" panose="020B0604030504040204" pitchFamily="34" charset="-128"/>
                <a:ea typeface="Meiryo" panose="020B0604030504040204" pitchFamily="34" charset="-128"/>
              </a:rPr>
              <a:t>また、自分自身で分析や対応方法を考えることで、今後どのような技術や能力を強化すべきかについても考えることができた。</a:t>
            </a:r>
          </a:p>
          <a:p>
            <a:endParaRPr lang="en-JP" dirty="0">
              <a:latin typeface="Meiryo" panose="020B0604030504040204" pitchFamily="34" charset="-128"/>
              <a:ea typeface="Meiryo" panose="020B0604030504040204" pitchFamily="34" charset="-128"/>
            </a:endParaRPr>
          </a:p>
          <a:p>
            <a:pPr marL="285750" indent="-285750">
              <a:buFont typeface="Wingdings" pitchFamily="2" charset="2"/>
              <a:buChar char="§"/>
            </a:pPr>
            <a:r>
              <a:rPr lang="en-JP" dirty="0">
                <a:latin typeface="Meiryo" panose="020B0604030504040204" pitchFamily="34" charset="-128"/>
                <a:ea typeface="Meiryo" panose="020B0604030504040204" pitchFamily="34" charset="-128"/>
              </a:rPr>
              <a:t>セキュリティ実践演習では、限られた時間の中で課題に取り組むことで、技術的な理解を深めるとともに、実践的な経験を得ることができた。</a:t>
            </a:r>
          </a:p>
          <a:p>
            <a:endParaRPr lang="en-JP"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dirty="0">
                <a:latin typeface="Meiryo" panose="020B0604030504040204" pitchFamily="34" charset="-128"/>
                <a:ea typeface="Meiryo" panose="020B0604030504040204" pitchFamily="34" charset="-128"/>
              </a:rPr>
              <a:t>一方、インターンシップでは多くの人とコミュニケーションを取りながら業務を進める必要があり、特にコミュニケーション能力や言語能力の重要性を強く感じた。</a:t>
            </a:r>
          </a:p>
        </p:txBody>
      </p:sp>
      <p:sp>
        <p:nvSpPr>
          <p:cNvPr id="8" name="Slide Number Placeholder 7">
            <a:extLst>
              <a:ext uri="{FF2B5EF4-FFF2-40B4-BE49-F238E27FC236}">
                <a16:creationId xmlns:a16="http://schemas.microsoft.com/office/drawing/2014/main" id="{184E19EF-F03A-7957-B2CD-2B7BB3D2B35F}"/>
              </a:ext>
            </a:extLst>
          </p:cNvPr>
          <p:cNvSpPr>
            <a:spLocks noGrp="1"/>
          </p:cNvSpPr>
          <p:nvPr>
            <p:ph type="sldNum" sz="quarter" idx="12"/>
          </p:nvPr>
        </p:nvSpPr>
        <p:spPr/>
        <p:txBody>
          <a:bodyPr/>
          <a:lstStyle/>
          <a:p>
            <a:fld id="{D8C05D5D-75E2-3144-9168-CA833390726D}" type="slidenum">
              <a:rPr lang="en-JP" smtClean="0"/>
              <a:t>32</a:t>
            </a:fld>
            <a:endParaRPr lang="en-JP"/>
          </a:p>
        </p:txBody>
      </p:sp>
    </p:spTree>
    <p:extLst>
      <p:ext uri="{BB962C8B-B14F-4D97-AF65-F5344CB8AC3E}">
        <p14:creationId xmlns:p14="http://schemas.microsoft.com/office/powerpoint/2010/main" val="22213551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11525</TotalTime>
  <Words>2216</Words>
  <Application>Microsoft Macintosh PowerPoint</Application>
  <PresentationFormat>On-screen Show (4:3)</PresentationFormat>
  <Paragraphs>366</Paragraphs>
  <Slides>33</Slides>
  <Notes>9</Notes>
  <HiddenSlides>0</HiddenSlides>
  <MMClips>4</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Meiryo</vt:lpstr>
      <vt:lpstr>Source Han Sans</vt:lpstr>
      <vt:lpstr>Arial</vt:lpstr>
      <vt:lpstr>Calibri</vt:lpstr>
      <vt:lpstr>Calibri Light</vt:lpstr>
      <vt:lpstr>Helvetica Neue</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Webページへの攻撃テストを実施するために，自身でこのようなWebページを作成してみました.</vt:lpstr>
      <vt:lpstr>  DVWA = Damn Vulnerable Web Application </vt:lpstr>
      <vt:lpstr>DVWA = Damn Vulnerable Web Applicationの画面</vt:lpstr>
      <vt:lpstr>PowerPoint Presentation</vt:lpstr>
      <vt:lpstr>Web_Server_Dashboardのプログラムの画面</vt:lpstr>
      <vt:lpstr>インターンシップで学んだこと 1/2</vt:lpstr>
      <vt:lpstr>インターンシップで学んだこと 2/2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26</cp:revision>
  <dcterms:created xsi:type="dcterms:W3CDTF">2026-03-04T05:09:07Z</dcterms:created>
  <dcterms:modified xsi:type="dcterms:W3CDTF">2026-03-12T05:14:46Z</dcterms:modified>
</cp:coreProperties>
</file>