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40"/>
  </p:notesMasterIdLst>
  <p:sldIdLst>
    <p:sldId id="295" r:id="rId2"/>
    <p:sldId id="257" r:id="rId3"/>
    <p:sldId id="293" r:id="rId4"/>
    <p:sldId id="288" r:id="rId5"/>
    <p:sldId id="305" r:id="rId6"/>
    <p:sldId id="296" r:id="rId7"/>
    <p:sldId id="259" r:id="rId8"/>
    <p:sldId id="291" r:id="rId9"/>
    <p:sldId id="297" r:id="rId10"/>
    <p:sldId id="299" r:id="rId11"/>
    <p:sldId id="298" r:id="rId12"/>
    <p:sldId id="263" r:id="rId13"/>
    <p:sldId id="262" r:id="rId14"/>
    <p:sldId id="264" r:id="rId15"/>
    <p:sldId id="269" r:id="rId16"/>
    <p:sldId id="265" r:id="rId17"/>
    <p:sldId id="285" r:id="rId18"/>
    <p:sldId id="267" r:id="rId19"/>
    <p:sldId id="286" r:id="rId20"/>
    <p:sldId id="294" r:id="rId21"/>
    <p:sldId id="301" r:id="rId22"/>
    <p:sldId id="272" r:id="rId23"/>
    <p:sldId id="274" r:id="rId24"/>
    <p:sldId id="276" r:id="rId25"/>
    <p:sldId id="277" r:id="rId26"/>
    <p:sldId id="278" r:id="rId27"/>
    <p:sldId id="304" r:id="rId28"/>
    <p:sldId id="303" r:id="rId29"/>
    <p:sldId id="279" r:id="rId30"/>
    <p:sldId id="280" r:id="rId31"/>
    <p:sldId id="281" r:id="rId32"/>
    <p:sldId id="282" r:id="rId33"/>
    <p:sldId id="292" r:id="rId34"/>
    <p:sldId id="283" r:id="rId35"/>
    <p:sldId id="284" r:id="rId36"/>
    <p:sldId id="266" r:id="rId37"/>
    <p:sldId id="270" r:id="rId38"/>
    <p:sldId id="30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38"/>
    <p:restoredTop sz="83740"/>
  </p:normalViewPr>
  <p:slideViewPr>
    <p:cSldViewPr snapToGrid="0">
      <p:cViewPr varScale="1">
        <p:scale>
          <a:sx n="107" d="100"/>
          <a:sy n="107" d="100"/>
        </p:scale>
        <p:origin x="1992"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E8719-168B-AD42-BDC2-E7BED96442EC}" type="datetimeFigureOut">
              <a:rPr lang="en-JP" smtClean="0"/>
              <a:t>2026/03/13</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F1469-F2AA-C947-B986-497C543001F2}" type="slidenum">
              <a:rPr lang="en-JP" smtClean="0"/>
              <a:t>‹#›</a:t>
            </a:fld>
            <a:endParaRPr lang="en-JP"/>
          </a:p>
        </p:txBody>
      </p:sp>
    </p:spTree>
    <p:extLst>
      <p:ext uri="{BB962C8B-B14F-4D97-AF65-F5344CB8AC3E}">
        <p14:creationId xmlns:p14="http://schemas.microsoft.com/office/powerpoint/2010/main" val="420767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jisho.org/search/%E9%80%A3%E9%8E%96"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jisho.org/search/%E6%A7%8B%E9%80%A0"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公開鍵認証基盤（</a:t>
            </a:r>
            <a:r>
              <a:rPr lang="en-US" dirty="0"/>
              <a:t>PKI）</a:t>
            </a:r>
            <a:r>
              <a:rPr lang="ja-JP" altLang="en-US"/>
              <a:t>演習では、</a:t>
            </a:r>
            <a:br>
              <a:rPr lang="ja-JP" altLang="en-US"/>
            </a:br>
            <a:r>
              <a:rPr lang="ja-JP" altLang="en-US"/>
              <a:t>プライベート</a:t>
            </a:r>
            <a:r>
              <a:rPr lang="en-US" dirty="0"/>
              <a:t>CA</a:t>
            </a:r>
            <a:r>
              <a:rPr lang="ja-JP" altLang="en-US"/>
              <a:t>を構築し、サーバ証明書を発行して暗号化通信を確認した。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PKI（</a:t>
            </a:r>
            <a:r>
              <a:rPr lang="ja-JP" altLang="en-US"/>
              <a:t>公開鍵認証基盤）とは、公開鍵暗号方式を利用して通信の安全性と信頼性を確保する仕組みです。</a:t>
            </a:r>
            <a:br>
              <a:rPr lang="ja-JP" altLang="en-US"/>
            </a:br>
            <a:r>
              <a:rPr lang="ja-JP" altLang="en-US"/>
              <a:t>認証局（</a:t>
            </a:r>
            <a:r>
              <a:rPr lang="en-US" dirty="0"/>
              <a:t>CA）</a:t>
            </a:r>
            <a:r>
              <a:rPr lang="ja-JP" altLang="en-US"/>
              <a:t>がサーバ証明書を発行することで、サーバの正当性を証明し、</a:t>
            </a:r>
            <a:r>
              <a:rPr lang="en-US" dirty="0"/>
              <a:t>HTTPS</a:t>
            </a:r>
            <a:r>
              <a:rPr lang="ja-JP" altLang="en-US"/>
              <a:t>などの暗号化通信を実現します。</a:t>
            </a:r>
            <a:endParaRPr lang="en-JP" dirty="0"/>
          </a:p>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3</a:t>
            </a:fld>
            <a:endParaRPr lang="en-JP"/>
          </a:p>
        </p:txBody>
      </p:sp>
    </p:spTree>
    <p:extLst>
      <p:ext uri="{BB962C8B-B14F-4D97-AF65-F5344CB8AC3E}">
        <p14:creationId xmlns:p14="http://schemas.microsoft.com/office/powerpoint/2010/main" val="305658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そくど</a:t>
            </a:r>
            <a:r>
              <a:rPr lang="en-US" altLang="ja-JP" b="0" i="0" dirty="0">
                <a:solidFill>
                  <a:srgbClr val="222222"/>
                </a:solidFill>
                <a:effectLst/>
                <a:latin typeface="Source Han Sans"/>
              </a:rPr>
              <a:t>-</a:t>
            </a:r>
            <a:r>
              <a:rPr lang="ja-JP" altLang="en-US" b="0" i="0">
                <a:solidFill>
                  <a:srgbClr val="222222"/>
                </a:solidFill>
                <a:effectLst/>
                <a:latin typeface="Source Han Sans"/>
              </a:rPr>
              <a:t>速度</a:t>
            </a:r>
            <a:r>
              <a:rPr lang="en-US" altLang="ja-JP" b="0" i="0" dirty="0">
                <a:solidFill>
                  <a:srgbClr val="222222"/>
                </a:solidFill>
                <a:effectLst/>
                <a:latin typeface="Source Han Sans"/>
              </a:rPr>
              <a:t>,</a:t>
            </a:r>
            <a:r>
              <a:rPr lang="ja-JP" altLang="en-US" b="0" i="0">
                <a:solidFill>
                  <a:srgbClr val="222222"/>
                </a:solidFill>
                <a:effectLst/>
                <a:latin typeface="Source Han Sans"/>
              </a:rPr>
              <a:t> ほんぶん</a:t>
            </a:r>
            <a:r>
              <a:rPr lang="en-US" altLang="ja-JP" b="0" i="0" dirty="0">
                <a:solidFill>
                  <a:srgbClr val="222222"/>
                </a:solidFill>
                <a:effectLst/>
                <a:latin typeface="Source Han Sans"/>
              </a:rPr>
              <a:t>-</a:t>
            </a:r>
            <a:r>
              <a:rPr lang="ja-JP" altLang="en-US" b="0" i="0">
                <a:solidFill>
                  <a:srgbClr val="222222"/>
                </a:solidFill>
                <a:effectLst/>
                <a:latin typeface="Source Han Sans"/>
              </a:rPr>
              <a:t>本文</a:t>
            </a:r>
            <a:r>
              <a:rPr lang="en-US" altLang="ja-JP" b="0" i="0" dirty="0">
                <a:solidFill>
                  <a:srgbClr val="222222"/>
                </a:solidFill>
                <a:effectLst/>
                <a:latin typeface="Source Han Sans"/>
              </a:rPr>
              <a:t>,</a:t>
            </a:r>
            <a:r>
              <a:rPr lang="ja-JP" altLang="en-US" b="0" i="0">
                <a:solidFill>
                  <a:srgbClr val="222222"/>
                </a:solidFill>
                <a:effectLst/>
                <a:latin typeface="Source Han Sans"/>
              </a:rPr>
              <a:t> ほご</a:t>
            </a:r>
            <a:r>
              <a:rPr lang="en-US" altLang="ja-JP" b="0" i="0" dirty="0">
                <a:solidFill>
                  <a:srgbClr val="222222"/>
                </a:solidFill>
                <a:effectLst/>
                <a:latin typeface="Source Han Sans"/>
              </a:rPr>
              <a:t>-</a:t>
            </a:r>
            <a:r>
              <a:rPr lang="ja-JP" altLang="en-US" b="0" i="0">
                <a:solidFill>
                  <a:srgbClr val="222222"/>
                </a:solidFill>
                <a:effectLst/>
                <a:latin typeface="Source Han Sans"/>
              </a:rPr>
              <a:t>保護</a:t>
            </a:r>
            <a:r>
              <a:rPr lang="mn-MN" altLang="ja-JP" b="0" i="0" dirty="0">
                <a:solidFill>
                  <a:srgbClr val="222222"/>
                </a:solidFill>
                <a:effectLst/>
                <a:latin typeface="Source Han Sans"/>
              </a:rPr>
              <a:t> </a:t>
            </a:r>
            <a:r>
              <a:rPr lang="en-US" dirty="0"/>
              <a:t>CA (Certificate Authority) </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4</a:t>
            </a:fld>
            <a:endParaRPr lang="en-JP"/>
          </a:p>
        </p:txBody>
      </p:sp>
    </p:spTree>
    <p:extLst>
      <p:ext uri="{BB962C8B-B14F-4D97-AF65-F5344CB8AC3E}">
        <p14:creationId xmlns:p14="http://schemas.microsoft.com/office/powerpoint/2010/main" val="2359825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ドメイン配下に，</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DNS</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localdns.example.jp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Private CA</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pki.example.jp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Web</a:t>
            </a:r>
            <a:r>
              <a:rPr lang="ja-JP" sz="1800">
                <a:effectLst/>
                <a:latin typeface="Cambria" panose="02040503050406030204" pitchFamily="18" charset="0"/>
                <a:ea typeface="MS Mincho" panose="02020609040205080304" pitchFamily="49" charset="-128"/>
                <a:cs typeface="Times New Roman" panose="02020603050405020304" pitchFamily="18" charset="0"/>
              </a:rPr>
              <a:t>サーバ（</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www1.example.jp</a:t>
            </a:r>
            <a:r>
              <a:rPr lang="ja-JP" sz="1800">
                <a:effectLst/>
                <a:latin typeface="Cambria" panose="02040503050406030204" pitchFamily="18" charset="0"/>
                <a:ea typeface="MS Mincho" panose="02020609040205080304" pitchFamily="49" charset="-128"/>
                <a:cs typeface="Times New Roman" panose="02020603050405020304" pitchFamily="18" charset="0"/>
              </a:rPr>
              <a:t>）を配置し，すべて同一ネットワークセグメント（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10.0.0.0/24</a:t>
            </a:r>
            <a:r>
              <a:rPr lang="ja-JP" sz="1800">
                <a:effectLst/>
                <a:latin typeface="Cambria" panose="02040503050406030204" pitchFamily="18" charset="0"/>
                <a:ea typeface="MS Mincho" panose="02020609040205080304" pitchFamily="49" charset="-128"/>
                <a:cs typeface="Times New Roman" panose="02020603050405020304" pitchFamily="18" charset="0"/>
              </a:rPr>
              <a:t>）上で構成した。クライアントとして</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Ubuntu</a:t>
            </a:r>
            <a:r>
              <a:rPr lang="ja-JP" sz="1800">
                <a:effectLst/>
                <a:latin typeface="Cambria" panose="02040503050406030204" pitchFamily="18" charset="0"/>
                <a:ea typeface="MS Mincho" panose="02020609040205080304" pitchFamily="49" charset="-128"/>
                <a:cs typeface="Times New Roman" panose="02020603050405020304" pitchFamily="18" charset="0"/>
              </a:rPr>
              <a:t>ノート</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PC</a:t>
            </a:r>
            <a:r>
              <a:rPr lang="ja-JP" sz="1800">
                <a:effectLst/>
                <a:latin typeface="Cambria" panose="02040503050406030204" pitchFamily="18" charset="0"/>
                <a:ea typeface="MS Mincho" panose="02020609040205080304" pitchFamily="49" charset="-128"/>
                <a:cs typeface="Times New Roman" panose="02020603050405020304" pitchFamily="18" charset="0"/>
              </a:rPr>
              <a:t>を用い，無線</a:t>
            </a:r>
            <a:r>
              <a:rPr lang="en-US" sz="1800" dirty="0">
                <a:effectLst/>
                <a:latin typeface="MS Mincho" panose="02020609040205080304" pitchFamily="49" charset="-128"/>
                <a:ea typeface="MS Mincho" panose="02020609040205080304" pitchFamily="49" charset="-128"/>
                <a:cs typeface="Times New Roman" panose="02020603050405020304" pitchFamily="18" charset="0"/>
              </a:rPr>
              <a:t>LAN</a:t>
            </a:r>
            <a:r>
              <a:rPr lang="ja-JP" sz="1800">
                <a:effectLst/>
                <a:latin typeface="Cambria" panose="02040503050406030204" pitchFamily="18" charset="0"/>
                <a:ea typeface="MS Mincho" panose="02020609040205080304" pitchFamily="49" charset="-128"/>
                <a:cs typeface="Times New Roman" panose="02020603050405020304" pitchFamily="18" charset="0"/>
              </a:rPr>
              <a:t>（</a:t>
            </a:r>
            <a:r>
              <a:rPr lang="en-US" sz="1800" dirty="0" err="1">
                <a:effectLst/>
                <a:latin typeface="MS Mincho" panose="02020609040205080304" pitchFamily="49" charset="-128"/>
                <a:ea typeface="MS Mincho" panose="02020609040205080304" pitchFamily="49" charset="-128"/>
                <a:cs typeface="Times New Roman" panose="02020603050405020304" pitchFamily="18" charset="0"/>
              </a:rPr>
              <a:t>SecurityLab</a:t>
            </a:r>
            <a:r>
              <a:rPr lang="ja-JP" sz="1800">
                <a:effectLst/>
                <a:latin typeface="Cambria" panose="02040503050406030204" pitchFamily="18" charset="0"/>
                <a:ea typeface="MS Mincho" panose="02020609040205080304" pitchFamily="49" charset="-128"/>
                <a:cs typeface="Times New Roman" panose="02020603050405020304" pitchFamily="18" charset="0"/>
              </a:rPr>
              <a:t>）を介して演習用ネットワークに接続した。</a:t>
            </a:r>
            <a:endParaRPr lang="en-JP"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5</a:t>
            </a:fld>
            <a:endParaRPr lang="en-JP"/>
          </a:p>
        </p:txBody>
      </p:sp>
    </p:spTree>
    <p:extLst>
      <p:ext uri="{BB962C8B-B14F-4D97-AF65-F5344CB8AC3E}">
        <p14:creationId xmlns:p14="http://schemas.microsoft.com/office/powerpoint/2010/main" val="417382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200">
                <a:latin typeface="Meiryo" panose="020B0604030504040204" pitchFamily="34" charset="-128"/>
                <a:ea typeface="Meiryo" panose="020B0604030504040204" pitchFamily="34" charset="-128"/>
              </a:rPr>
              <a:t>正当</a:t>
            </a:r>
            <a:r>
              <a:rPr lang="en-US" altLang="ja-JP" sz="12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せいとう</a:t>
            </a:r>
            <a:r>
              <a:rPr lang="en-US" altLang="ja-JP" b="0" i="0" dirty="0">
                <a:solidFill>
                  <a:srgbClr val="222222"/>
                </a:solidFill>
                <a:effectLst/>
                <a:latin typeface="Source Han Sans"/>
              </a:rPr>
              <a:t> ,</a:t>
            </a:r>
            <a:r>
              <a:rPr lang="ja-JP" altLang="en-US" b="0" i="0">
                <a:solidFill>
                  <a:srgbClr val="222222"/>
                </a:solidFill>
                <a:effectLst/>
                <a:latin typeface="Source Han Sans"/>
              </a:rPr>
              <a:t> ほしょう</a:t>
            </a:r>
            <a:r>
              <a:rPr lang="en-US" altLang="ja-JP" b="0" i="0" dirty="0">
                <a:solidFill>
                  <a:srgbClr val="222222"/>
                </a:solidFill>
                <a:effectLst/>
                <a:latin typeface="Source Han Sans"/>
              </a:rPr>
              <a:t>-</a:t>
            </a:r>
            <a:r>
              <a:rPr lang="ja-JP" altLang="en-US" b="0" i="0">
                <a:solidFill>
                  <a:srgbClr val="222222"/>
                </a:solidFill>
                <a:effectLst/>
                <a:latin typeface="Source Han Sans"/>
              </a:rPr>
              <a:t>保証</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batalgaa</a:t>
            </a:r>
            <a:r>
              <a:rPr lang="en-US" altLang="ja-JP" b="0" i="0" dirty="0">
                <a:solidFill>
                  <a:srgbClr val="222222"/>
                </a:solidFill>
                <a:effectLst/>
                <a:latin typeface="Source Han Sans"/>
              </a:rPr>
              <a:t> </a:t>
            </a:r>
            <a:r>
              <a:rPr lang="ja-JP" altLang="en-US" b="0" i="0">
                <a:solidFill>
                  <a:srgbClr val="222222"/>
                </a:solidFill>
                <a:effectLst/>
                <a:latin typeface="Source Han Sans"/>
              </a:rPr>
              <a:t>けんしょう</a:t>
            </a:r>
            <a:r>
              <a:rPr lang="en-US" altLang="ja-JP" b="0" i="0" dirty="0">
                <a:solidFill>
                  <a:srgbClr val="222222"/>
                </a:solidFill>
                <a:effectLst/>
                <a:latin typeface="Source Han Sans"/>
              </a:rPr>
              <a:t>-</a:t>
            </a:r>
            <a:r>
              <a:rPr lang="ja-JP" altLang="en-US" b="0" i="0">
                <a:solidFill>
                  <a:srgbClr val="222222"/>
                </a:solidFill>
                <a:effectLst/>
                <a:latin typeface="Source Han Sans"/>
              </a:rPr>
              <a:t>検証</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verification, </a:t>
            </a:r>
            <a:r>
              <a:rPr lang="ja-JP" altLang="en-US" b="0" i="0">
                <a:solidFill>
                  <a:srgbClr val="222222"/>
                </a:solidFill>
                <a:effectLst/>
                <a:latin typeface="Source Han Sans"/>
              </a:rPr>
              <a:t>ふくごう</a:t>
            </a:r>
            <a:r>
              <a:rPr lang="en-US" altLang="ja-JP" b="0" i="0" dirty="0">
                <a:solidFill>
                  <a:srgbClr val="222222"/>
                </a:solidFill>
                <a:effectLst/>
                <a:latin typeface="Source Han Sans"/>
              </a:rPr>
              <a:t>-</a:t>
            </a:r>
            <a:r>
              <a:rPr lang="ja-JP" altLang="en-US" b="0" i="0">
                <a:solidFill>
                  <a:srgbClr val="222222"/>
                </a:solidFill>
                <a:effectLst/>
                <a:latin typeface="Source Han Sans"/>
              </a:rPr>
              <a:t>復号</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6</a:t>
            </a:fld>
            <a:endParaRPr lang="en-JP"/>
          </a:p>
        </p:txBody>
      </p:sp>
    </p:spTree>
    <p:extLst>
      <p:ext uri="{BB962C8B-B14F-4D97-AF65-F5344CB8AC3E}">
        <p14:creationId xmlns:p14="http://schemas.microsoft.com/office/powerpoint/2010/main" val="3282076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れんさ</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3"/>
              </a:rPr>
              <a:t>連鎖</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こうぞう</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4"/>
              </a:rPr>
              <a:t>構造</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7</a:t>
            </a:fld>
            <a:endParaRPr lang="en-JP"/>
          </a:p>
        </p:txBody>
      </p:sp>
    </p:spTree>
    <p:extLst>
      <p:ext uri="{BB962C8B-B14F-4D97-AF65-F5344CB8AC3E}">
        <p14:creationId xmlns:p14="http://schemas.microsoft.com/office/powerpoint/2010/main" val="483956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12</a:t>
            </a:fld>
            <a:endParaRPr lang="en-JP"/>
          </a:p>
        </p:txBody>
      </p:sp>
    </p:spTree>
    <p:extLst>
      <p:ext uri="{BB962C8B-B14F-4D97-AF65-F5344CB8AC3E}">
        <p14:creationId xmlns:p14="http://schemas.microsoft.com/office/powerpoint/2010/main" val="1980938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13</a:t>
            </a:fld>
            <a:endParaRPr lang="en-JP"/>
          </a:p>
        </p:txBody>
      </p:sp>
    </p:spTree>
    <p:extLst>
      <p:ext uri="{BB962C8B-B14F-4D97-AF65-F5344CB8AC3E}">
        <p14:creationId xmlns:p14="http://schemas.microsoft.com/office/powerpoint/2010/main" val="3397604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16</a:t>
            </a:fld>
            <a:endParaRPr lang="en-JP"/>
          </a:p>
        </p:txBody>
      </p:sp>
    </p:spTree>
    <p:extLst>
      <p:ext uri="{BB962C8B-B14F-4D97-AF65-F5344CB8AC3E}">
        <p14:creationId xmlns:p14="http://schemas.microsoft.com/office/powerpoint/2010/main" val="747850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0" name="Google Shape;240;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eiryo" panose="020B0604030504040204" pitchFamily="34" charset="-128"/>
                <a:ea typeface="Meiryo" panose="020B0604030504040204" pitchFamily="34" charset="-128"/>
                <a:cs typeface="Times New Roman" panose="02020603050405020304" pitchFamily="18" charset="0"/>
              </a:rPr>
              <a:t>Institute of Systems, Information Technologies and Nanotechnologies (ISIT) </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21</a:t>
            </a:fld>
            <a:endParaRPr lang="en-JP"/>
          </a:p>
        </p:txBody>
      </p:sp>
    </p:spTree>
    <p:extLst>
      <p:ext uri="{BB962C8B-B14F-4D97-AF65-F5344CB8AC3E}">
        <p14:creationId xmlns:p14="http://schemas.microsoft.com/office/powerpoint/2010/main" val="2224953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28</a:t>
            </a:fld>
            <a:endParaRPr lang="en-JP"/>
          </a:p>
        </p:txBody>
      </p:sp>
    </p:spTree>
    <p:extLst>
      <p:ext uri="{BB962C8B-B14F-4D97-AF65-F5344CB8AC3E}">
        <p14:creationId xmlns:p14="http://schemas.microsoft.com/office/powerpoint/2010/main" val="3529007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29</a:t>
            </a:fld>
            <a:endParaRPr lang="en-JP"/>
          </a:p>
        </p:txBody>
      </p:sp>
    </p:spTree>
    <p:extLst>
      <p:ext uri="{BB962C8B-B14F-4D97-AF65-F5344CB8AC3E}">
        <p14:creationId xmlns:p14="http://schemas.microsoft.com/office/powerpoint/2010/main" val="615437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i="0" dirty="0">
                <a:effectLst/>
              </a:rPr>
              <a:t>SQL</a:t>
            </a:r>
            <a:r>
              <a:rPr lang="ja-JP" altLang="en-US" b="0" i="0">
                <a:effectLst/>
              </a:rPr>
              <a:t>インジェクションや</a:t>
            </a:r>
            <a:r>
              <a:rPr lang="en-US" b="0" i="0" dirty="0">
                <a:effectLst/>
              </a:rPr>
              <a:t>XSS</a:t>
            </a:r>
            <a:r>
              <a:rPr lang="ja-JP" altLang="en-US" b="0" i="0">
                <a:effectLst/>
              </a:rPr>
              <a:t>など、実際にどうやって情報が取られるか体験した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ログイン画面で特別な文字を入れて、パスワードを見ることができた</a:t>
            </a:r>
            <a:endParaRPr lang="ja-JP" altLang="en-US"/>
          </a:p>
          <a:p>
            <a:pPr>
              <a:buFont typeface="Arial" panose="020B0604020202020204" pitchFamily="34" charset="0"/>
              <a:buChar char="•"/>
            </a:pPr>
            <a:r>
              <a:rPr lang="ja-JP" altLang="en-US" b="0" i="0">
                <a:effectLst/>
              </a:rPr>
              <a:t>正しい権限管理や暗号化の大切さがわかった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他人のデータを見られないようにすること</a:t>
            </a:r>
            <a:endParaRPr lang="ja-JP" altLang="en-US"/>
          </a:p>
          <a:p>
            <a:pPr>
              <a:buFont typeface="Arial" panose="020B0604020202020204" pitchFamily="34" charset="0"/>
              <a:buChar char="•"/>
            </a:pPr>
            <a:r>
              <a:rPr lang="ja-JP" altLang="en-US" b="0" i="0">
                <a:effectLst/>
              </a:rPr>
              <a:t>攻撃がどう行われるかを知ることで、防御の方法も学べた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入力値のチェックや</a:t>
            </a:r>
            <a:r>
              <a:rPr lang="en-US" b="0" i="0" dirty="0">
                <a:effectLst/>
              </a:rPr>
              <a:t>Prepared Statement</a:t>
            </a:r>
            <a:r>
              <a:rPr lang="ja-JP" altLang="en-US" b="0" i="0">
                <a:effectLst/>
              </a:rPr>
              <a:t>の必要性</a:t>
            </a:r>
            <a:endParaRPr lang="ja-JP" altLang="en-US"/>
          </a:p>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31</a:t>
            </a:fld>
            <a:endParaRPr lang="en-JP"/>
          </a:p>
        </p:txBody>
      </p:sp>
    </p:spTree>
    <p:extLst>
      <p:ext uri="{BB962C8B-B14F-4D97-AF65-F5344CB8AC3E}">
        <p14:creationId xmlns:p14="http://schemas.microsoft.com/office/powerpoint/2010/main" val="369710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34</a:t>
            </a:fld>
            <a:endParaRPr lang="en-JP"/>
          </a:p>
        </p:txBody>
      </p:sp>
    </p:spTree>
    <p:extLst>
      <p:ext uri="{BB962C8B-B14F-4D97-AF65-F5344CB8AC3E}">
        <p14:creationId xmlns:p14="http://schemas.microsoft.com/office/powerpoint/2010/main" val="185191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B629CA-5EBA-3E43-80FA-27ADB6159275}"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37019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05D209-0597-9646-BB9C-1FF36B7C156C}" type="datetime1">
              <a:rPr lang="en-US" smtClean="0"/>
              <a:t>3/13/26</a:t>
            </a:fld>
            <a:endParaRPr lang="en-JP"/>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1800">
                <a:solidFill>
                  <a:schemeClr val="tx1"/>
                </a:solidFill>
                <a:latin typeface="Meiryo" panose="020B0604030504040204" pitchFamily="34" charset="-128"/>
                <a:ea typeface="Meiryo" panose="020B0604030504040204" pitchFamily="34" charset="-128"/>
              </a:defRPr>
            </a:lvl1pPr>
          </a:lstStyle>
          <a:p>
            <a:fld id="{D8C05D5D-75E2-3144-9168-CA833390726D}" type="slidenum">
              <a:rPr lang="en-JP" smtClean="0"/>
              <a:pPr/>
              <a:t>‹#›</a:t>
            </a:fld>
            <a:endParaRPr lang="en-JP" dirty="0"/>
          </a:p>
        </p:txBody>
      </p:sp>
    </p:spTree>
    <p:extLst>
      <p:ext uri="{BB962C8B-B14F-4D97-AF65-F5344CB8AC3E}">
        <p14:creationId xmlns:p14="http://schemas.microsoft.com/office/powerpoint/2010/main" val="51198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14E70C-CE93-0043-B02C-6C6586E125D6}"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dirty="0"/>
          </a:p>
        </p:txBody>
      </p:sp>
    </p:spTree>
    <p:extLst>
      <p:ext uri="{BB962C8B-B14F-4D97-AF65-F5344CB8AC3E}">
        <p14:creationId xmlns:p14="http://schemas.microsoft.com/office/powerpoint/2010/main" val="399741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705359-8985-FA44-8994-E7046F5C6EF2}"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7381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2E1A56-D664-4248-AA8E-337ACDB486A1}" type="datetime1">
              <a:rPr lang="en-US" smtClean="0"/>
              <a:t>3/13/26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5378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0DC186-2A94-2C40-80C2-55C9DFE0CBF5}" type="datetime1">
              <a:rPr lang="en-US" smtClean="0"/>
              <a:t>3/13/26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916321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54B04D-F1E2-3C4F-A915-6312BD1DEE1C}" type="datetime1">
              <a:rPr lang="en-US" smtClean="0"/>
              <a:t>3/13/26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569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D8AE4E-6F88-9548-9093-55FBAA3257CA}"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3361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C23DFA-4D75-5341-ABDD-4B2043C0BA0E}" type="datetime1">
              <a:rPr lang="en-US" smtClean="0"/>
              <a:t>3/13/26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9514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0FAD34-A435-204D-A90C-E551B1DB13C9}"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708061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7ED50A-3487-6743-B043-5C0CC62BA07E}" type="datetime1">
              <a:rPr lang="en-US" smtClean="0"/>
              <a:t>3/13/26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8818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A289A-871F-C541-97A2-0CE1A25978A0}" type="datetime1">
              <a:rPr lang="en-US" smtClean="0"/>
              <a:t>3/13/26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C05D5D-75E2-3144-9168-CA833390726D}" type="slidenum">
              <a:rPr lang="en-JP" smtClean="0"/>
              <a:t>‹#›</a:t>
            </a:fld>
            <a:endParaRPr lang="en-JP"/>
          </a:p>
        </p:txBody>
      </p:sp>
    </p:spTree>
    <p:extLst>
      <p:ext uri="{BB962C8B-B14F-4D97-AF65-F5344CB8AC3E}">
        <p14:creationId xmlns:p14="http://schemas.microsoft.com/office/powerpoint/2010/main" val="3909376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3.png"/><Relationship Id="rId4"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7461447" y="165412"/>
            <a:ext cx="1374440" cy="1509332"/>
          </a:xfrm>
          <a:prstGeom prst="rect">
            <a:avLst/>
          </a:prstGeom>
          <a:noFill/>
          <a:ln>
            <a:noFill/>
          </a:ln>
        </p:spPr>
      </p:pic>
      <p:sp>
        <p:nvSpPr>
          <p:cNvPr id="89" name="Google Shape;89;p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Meiryo"/>
              <a:buNone/>
            </a:pPr>
            <a:r>
              <a:rPr lang="ja-JP" sz="4800">
                <a:latin typeface="Meiryo"/>
                <a:ea typeface="Meiryo"/>
                <a:cs typeface="Meiryo"/>
                <a:sym typeface="Meiryo"/>
              </a:rPr>
              <a:t>セキュリティ実践演習第一</a:t>
            </a:r>
            <a:br>
              <a:rPr lang="ja-JP" sz="4800">
                <a:latin typeface="Meiryo"/>
                <a:ea typeface="Meiryo"/>
                <a:cs typeface="Meiryo"/>
                <a:sym typeface="Meiryo"/>
              </a:rPr>
            </a:br>
            <a:r>
              <a:rPr lang="ja-JP" sz="4800">
                <a:latin typeface="Meiryo"/>
                <a:ea typeface="Meiryo"/>
                <a:cs typeface="Meiryo"/>
                <a:sym typeface="Meiryo"/>
              </a:rPr>
              <a:t>報告会</a:t>
            </a:r>
            <a:endParaRPr dirty="0"/>
          </a:p>
        </p:txBody>
      </p:sp>
      <p:sp>
        <p:nvSpPr>
          <p:cNvPr id="90" name="Google Shape;90;p1"/>
          <p:cNvSpPr txBox="1">
            <a:spLocks noGrp="1"/>
          </p:cNvSpPr>
          <p:nvPr>
            <p:ph type="subTitle" idx="1"/>
          </p:nvPr>
        </p:nvSpPr>
        <p:spPr>
          <a:xfrm>
            <a:off x="549156" y="3760728"/>
            <a:ext cx="8045689" cy="18769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ct val="100000"/>
              <a:buNone/>
            </a:pP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担当教員  </a:t>
            </a:r>
            <a:r>
              <a:rPr lang="ja-JP" sz="2000">
                <a:latin typeface="Meiryo"/>
                <a:ea typeface="Meiryo"/>
                <a:cs typeface="Meiryo"/>
                <a:sym typeface="Meiryo"/>
              </a:rPr>
              <a:t>: 池部 実 講師 </a:t>
            </a:r>
            <a:endParaRPr sz="2000"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発表者</a:t>
            </a:r>
            <a:r>
              <a:rPr lang="ja-JP" sz="2000">
                <a:latin typeface="Meiryo"/>
                <a:ea typeface="Meiryo"/>
                <a:cs typeface="Meiryo"/>
                <a:sym typeface="Meiryo"/>
              </a:rPr>
              <a:t>　 ：DAVAAKHUU   UNDARMAA</a:t>
            </a:r>
            <a:endParaRPr sz="2000" dirty="0"/>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所属       </a:t>
            </a:r>
            <a:r>
              <a:rPr lang="ja-JP" sz="2000">
                <a:latin typeface="Meiryo"/>
                <a:ea typeface="Meiryo"/>
                <a:cs typeface="Meiryo"/>
                <a:sym typeface="Meiryo"/>
              </a:rPr>
              <a:t>：理工学研究科 工学専攻</a:t>
            </a:r>
            <a:br>
              <a:rPr lang="ja-JP" sz="2000">
                <a:latin typeface="Meiryo"/>
                <a:ea typeface="Meiryo"/>
                <a:cs typeface="Meiryo"/>
                <a:sym typeface="Meiryo"/>
              </a:rPr>
            </a:br>
            <a:r>
              <a:rPr lang="ja-JP" sz="2000">
                <a:latin typeface="Meiryo"/>
                <a:ea typeface="Meiryo"/>
                <a:cs typeface="Meiryo"/>
                <a:sym typeface="Meiryo"/>
              </a:rPr>
              <a:t>                情報・数理・データサイエンスプログラム(高度実践系)</a:t>
            </a:r>
            <a:endParaRPr sz="2000" b="1" dirty="0">
              <a:latin typeface="Meiryo"/>
              <a:ea typeface="Meiryo"/>
              <a:cs typeface="Meiryo"/>
              <a:sym typeface="Meiryo"/>
            </a:endParaRPr>
          </a:p>
          <a:p>
            <a:pPr marL="0" lvl="0" indent="0" algn="l" rtl="0">
              <a:lnSpc>
                <a:spcPct val="90000"/>
              </a:lnSpc>
              <a:spcBef>
                <a:spcPts val="1000"/>
              </a:spcBef>
              <a:spcAft>
                <a:spcPts val="0"/>
              </a:spcAft>
              <a:buClr>
                <a:schemeClr val="dk1"/>
              </a:buClr>
              <a:buSzPct val="100000"/>
              <a:buNone/>
            </a:pPr>
            <a:r>
              <a:rPr lang="ja-JP" sz="2000" b="1">
                <a:latin typeface="Meiryo"/>
                <a:ea typeface="Meiryo"/>
                <a:cs typeface="Meiryo"/>
                <a:sym typeface="Meiryo"/>
              </a:rPr>
              <a:t>発表日　 </a:t>
            </a:r>
            <a:r>
              <a:rPr lang="ja-JP" sz="2000">
                <a:latin typeface="Meiryo"/>
                <a:ea typeface="Meiryo"/>
                <a:cs typeface="Meiryo"/>
                <a:sym typeface="Meiryo"/>
              </a:rPr>
              <a:t>：2026年3月13日(金)</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2" name="Slide Number Placeholder 11">
            <a:extLst>
              <a:ext uri="{FF2B5EF4-FFF2-40B4-BE49-F238E27FC236}">
                <a16:creationId xmlns:a16="http://schemas.microsoft.com/office/drawing/2014/main" id="{005F96D6-D955-0E14-790D-A1723596E4BF}"/>
              </a:ext>
            </a:extLst>
          </p:cNvPr>
          <p:cNvSpPr>
            <a:spLocks noGrp="1"/>
          </p:cNvSpPr>
          <p:nvPr>
            <p:ph type="sldNum" sz="quarter" idx="12"/>
          </p:nvPr>
        </p:nvSpPr>
        <p:spPr/>
        <p:txBody>
          <a:bodyPr/>
          <a:lstStyle/>
          <a:p>
            <a:fld id="{D8C05D5D-75E2-3144-9168-CA833390726D}" type="slidenum">
              <a:rPr lang="en-JP" smtClean="0"/>
              <a:t>1</a:t>
            </a:fld>
            <a:endParaRPr lang="en-JP" dirty="0"/>
          </a:p>
        </p:txBody>
      </p:sp>
    </p:spTree>
    <p:extLst>
      <p:ext uri="{BB962C8B-B14F-4D97-AF65-F5344CB8AC3E}">
        <p14:creationId xmlns:p14="http://schemas.microsoft.com/office/powerpoint/2010/main" val="1440735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b="1" dirty="0">
                <a:solidFill>
                  <a:srgbClr val="C00000"/>
                </a:solidFill>
                <a:latin typeface="Meiryo" panose="020B0604030504040204" pitchFamily="34" charset="-128"/>
                <a:ea typeface="Meiryo" panose="020B0604030504040204" pitchFamily="34" charset="-128"/>
              </a:rPr>
              <a:t>1. </a:t>
            </a:r>
            <a:r>
              <a:rPr lang="ja-JP" sz="24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b="1">
                <a:solidFill>
                  <a:srgbClr val="C00000"/>
                </a:solidFill>
                <a:latin typeface="Meiryo" panose="020B0604030504040204" pitchFamily="34" charset="-128"/>
                <a:ea typeface="Meiryo" panose="020B0604030504040204" pitchFamily="34" charset="-128"/>
              </a:rPr>
              <a:t>の概要</a:t>
            </a:r>
            <a:endParaRPr lang="mn-MN" altLang="ja-JP" sz="2400" b="1" dirty="0">
              <a:solidFill>
                <a:srgbClr val="C00000"/>
              </a:solidFill>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9913C944-861B-B7C9-3831-B7FD1FDF916F}"/>
              </a:ext>
            </a:extLst>
          </p:cNvPr>
          <p:cNvSpPr>
            <a:spLocks noGrp="1"/>
          </p:cNvSpPr>
          <p:nvPr>
            <p:ph type="sldNum" sz="quarter" idx="12"/>
          </p:nvPr>
        </p:nvSpPr>
        <p:spPr/>
        <p:txBody>
          <a:bodyPr/>
          <a:lstStyle/>
          <a:p>
            <a:fld id="{D8C05D5D-75E2-3144-9168-CA833390726D}" type="slidenum">
              <a:rPr lang="en-JP" smtClean="0"/>
              <a:t>2</a:t>
            </a:fld>
            <a:endParaRPr lang="en-JP"/>
          </a:p>
        </p:txBody>
      </p:sp>
    </p:spTree>
    <p:extLst>
      <p:ext uri="{BB962C8B-B14F-4D97-AF65-F5344CB8AC3E}">
        <p14:creationId xmlns:p14="http://schemas.microsoft.com/office/powerpoint/2010/main" val="375659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E3C3A-801C-ACC7-4548-98D12A68BD57}"/>
              </a:ext>
            </a:extLst>
          </p:cNvPr>
          <p:cNvPicPr>
            <a:picLocks noChangeAspect="1"/>
          </p:cNvPicPr>
          <p:nvPr/>
        </p:nvPicPr>
        <p:blipFill>
          <a:blip r:embed="rId3"/>
          <a:stretch>
            <a:fillRect/>
          </a:stretch>
        </p:blipFill>
        <p:spPr>
          <a:xfrm>
            <a:off x="0" y="1584960"/>
            <a:ext cx="4255008" cy="4534000"/>
          </a:xfrm>
          <a:prstGeom prst="rect">
            <a:avLst/>
          </a:prstGeom>
        </p:spPr>
      </p:pic>
      <p:sp>
        <p:nvSpPr>
          <p:cNvPr id="6" name="TextBox 5">
            <a:extLst>
              <a:ext uri="{FF2B5EF4-FFF2-40B4-BE49-F238E27FC236}">
                <a16:creationId xmlns:a16="http://schemas.microsoft.com/office/drawing/2014/main" id="{2286EA61-67E2-18EF-CF7E-6EFD3D62B768}"/>
              </a:ext>
            </a:extLst>
          </p:cNvPr>
          <p:cNvSpPr txBox="1"/>
          <p:nvPr/>
        </p:nvSpPr>
        <p:spPr>
          <a:xfrm>
            <a:off x="325592" y="1082357"/>
            <a:ext cx="8017328"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公開鍵認証基盤とは</a:t>
            </a:r>
            <a:r>
              <a:rPr lang="mn-MN" altLang="ja-JP" sz="2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公開鍵暗号方式を利用して、通信相手の認証やデータの安全な通信を実現する仕組みである</a:t>
            </a:r>
          </a:p>
        </p:txBody>
      </p:sp>
      <p:sp>
        <p:nvSpPr>
          <p:cNvPr id="10" name="TextBox 9">
            <a:extLst>
              <a:ext uri="{FF2B5EF4-FFF2-40B4-BE49-F238E27FC236}">
                <a16:creationId xmlns:a16="http://schemas.microsoft.com/office/drawing/2014/main" id="{B01B9870-892D-E6D4-7990-57DEB0478771}"/>
              </a:ext>
            </a:extLst>
          </p:cNvPr>
          <p:cNvSpPr txBox="1"/>
          <p:nvPr/>
        </p:nvSpPr>
        <p:spPr>
          <a:xfrm>
            <a:off x="97283" y="6283357"/>
            <a:ext cx="5954486" cy="553998"/>
          </a:xfrm>
          <a:prstGeom prst="rect">
            <a:avLst/>
          </a:prstGeom>
          <a:noFill/>
        </p:spPr>
        <p:txBody>
          <a:bodyPr wrap="square">
            <a:spAutoFit/>
          </a:bodyPr>
          <a:lstStyle/>
          <a:p>
            <a:r>
              <a:rPr lang="en-JP" sz="1400" dirty="0">
                <a:latin typeface="Times New Roman" panose="02020603050405020304" pitchFamily="18" charset="0"/>
                <a:cs typeface="Times New Roman" panose="02020603050405020304" pitchFamily="18" charset="0"/>
              </a:rPr>
              <a:t>https://doubleoctopus.com/security-wiki/digital-certificates/public-key-infrastructure</a:t>
            </a:r>
            <a:r>
              <a:rPr lang="en-JP" sz="16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82E162F6-7868-C394-DCE7-546C8B0E79D7}"/>
              </a:ext>
            </a:extLst>
          </p:cNvPr>
          <p:cNvSpPr txBox="1"/>
          <p:nvPr/>
        </p:nvSpPr>
        <p:spPr>
          <a:xfrm>
            <a:off x="109475" y="568398"/>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公開鍵認証基盤</a:t>
            </a:r>
            <a:r>
              <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a:t>
            </a:r>
            <a:r>
              <a:rPr lang="en-US"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PKI)</a:t>
            </a:r>
            <a:r>
              <a:rPr lang="ja-JP" altLang="en-US" sz="2400" b="1">
                <a:solidFill>
                  <a:srgbClr val="C00000"/>
                </a:solidFill>
                <a:latin typeface="Meiryo" panose="020B0604030504040204" pitchFamily="34" charset="-128"/>
                <a:ea typeface="Meiryo" panose="020B0604030504040204" pitchFamily="34" charset="-128"/>
                <a:cs typeface="Times New Roman" panose="02020603050405020304" pitchFamily="18" charset="0"/>
              </a:rPr>
              <a:t>演習</a:t>
            </a:r>
            <a:endParaRPr lang="en-US" altLang="ja-JP" sz="24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9D0B14D4-4EAF-C544-C5AE-9CBDB3C3CBF9}"/>
              </a:ext>
            </a:extLst>
          </p:cNvPr>
          <p:cNvSpPr txBox="1"/>
          <p:nvPr/>
        </p:nvSpPr>
        <p:spPr>
          <a:xfrm>
            <a:off x="97283" y="48898"/>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mn-MN" altLang="ja-JP" sz="1400" dirty="0">
                <a:latin typeface="Meiryo" panose="020B0604030504040204" pitchFamily="34" charset="-128"/>
                <a:ea typeface="Meiryo" panose="020B0604030504040204" pitchFamily="34" charset="-128"/>
              </a:rPr>
              <a:t>1</a:t>
            </a:r>
            <a:endParaRPr lang="en-JP" sz="1400" dirty="0"/>
          </a:p>
        </p:txBody>
      </p:sp>
      <p:sp>
        <p:nvSpPr>
          <p:cNvPr id="5" name="Slide Number Placeholder 4">
            <a:extLst>
              <a:ext uri="{FF2B5EF4-FFF2-40B4-BE49-F238E27FC236}">
                <a16:creationId xmlns:a16="http://schemas.microsoft.com/office/drawing/2014/main" id="{0116FEC1-E241-B779-79D2-C14EC0F96FDA}"/>
              </a:ext>
            </a:extLst>
          </p:cNvPr>
          <p:cNvSpPr>
            <a:spLocks noGrp="1"/>
          </p:cNvSpPr>
          <p:nvPr>
            <p:ph type="sldNum" sz="quarter" idx="12"/>
          </p:nvPr>
        </p:nvSpPr>
        <p:spPr/>
        <p:txBody>
          <a:bodyPr/>
          <a:lstStyle/>
          <a:p>
            <a:fld id="{D8C05D5D-75E2-3144-9168-CA833390726D}" type="slidenum">
              <a:rPr lang="en-JP" smtClean="0"/>
              <a:t>3</a:t>
            </a:fld>
            <a:endParaRPr lang="en-JP"/>
          </a:p>
        </p:txBody>
      </p:sp>
      <p:sp>
        <p:nvSpPr>
          <p:cNvPr id="7" name="TextBox 6">
            <a:extLst>
              <a:ext uri="{FF2B5EF4-FFF2-40B4-BE49-F238E27FC236}">
                <a16:creationId xmlns:a16="http://schemas.microsoft.com/office/drawing/2014/main" id="{3D5CF97E-CFA5-0374-960E-0F483D70CEEC}"/>
              </a:ext>
            </a:extLst>
          </p:cNvPr>
          <p:cNvSpPr txBox="1"/>
          <p:nvPr/>
        </p:nvSpPr>
        <p:spPr>
          <a:xfrm>
            <a:off x="4413504" y="2214579"/>
            <a:ext cx="4572000" cy="3785652"/>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演習内容</a:t>
            </a:r>
            <a:r>
              <a:rPr lang="en-US" altLang="ja-JP" sz="2400" b="1" dirty="0">
                <a:latin typeface="Meiryo" panose="020B0604030504040204" pitchFamily="34" charset="-128"/>
                <a:ea typeface="Meiryo" panose="020B0604030504040204" pitchFamily="34" charset="-128"/>
              </a:rPr>
              <a:t>:</a:t>
            </a:r>
          </a:p>
          <a:p>
            <a:endParaRPr lang="ja-JP" altLang="en-US" sz="2400" b="1">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プライベート</a:t>
            </a: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認証局）を構築した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サーバ証明書を発行し、電子署名を行った。</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証明書を利用して暗号化通信の仕組みを確認した。</a:t>
            </a:r>
          </a:p>
        </p:txBody>
      </p:sp>
    </p:spTree>
    <p:extLst>
      <p:ext uri="{BB962C8B-B14F-4D97-AF65-F5344CB8AC3E}">
        <p14:creationId xmlns:p14="http://schemas.microsoft.com/office/powerpoint/2010/main" val="233742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77066-D283-3DF4-B0F2-97526273361E}"/>
              </a:ext>
            </a:extLst>
          </p:cNvPr>
          <p:cNvSpPr>
            <a:spLocks noGrp="1"/>
          </p:cNvSpPr>
          <p:nvPr>
            <p:ph type="sldNum" sz="quarter" idx="12"/>
          </p:nvPr>
        </p:nvSpPr>
        <p:spPr/>
        <p:txBody>
          <a:bodyPr/>
          <a:lstStyle/>
          <a:p>
            <a:r>
              <a:rPr lang="en-JP" dirty="0"/>
              <a:t>6</a:t>
            </a:r>
          </a:p>
        </p:txBody>
      </p:sp>
      <p:sp>
        <p:nvSpPr>
          <p:cNvPr id="6" name="TextBox 5">
            <a:extLst>
              <a:ext uri="{FF2B5EF4-FFF2-40B4-BE49-F238E27FC236}">
                <a16:creationId xmlns:a16="http://schemas.microsoft.com/office/drawing/2014/main" id="{3E3E629B-911B-B75D-2975-EA2F6C002C65}"/>
              </a:ext>
            </a:extLst>
          </p:cNvPr>
          <p:cNvSpPr txBox="1"/>
          <p:nvPr/>
        </p:nvSpPr>
        <p:spPr>
          <a:xfrm>
            <a:off x="195942" y="501649"/>
            <a:ext cx="8948058" cy="2554545"/>
          </a:xfrm>
          <a:prstGeom prst="rect">
            <a:avLst/>
          </a:prstGeom>
          <a:noFill/>
        </p:spPr>
        <p:txBody>
          <a:bodyPr wrap="square">
            <a:spAutoFit/>
          </a:bodyPr>
          <a:lstStyle/>
          <a:p>
            <a:pPr marL="285750" indent="-285750">
              <a:buFont typeface="Wingdings" pitchFamily="2" charset="2"/>
              <a:buChar char="Ø"/>
            </a:pPr>
            <a:r>
              <a:rPr lang="en-JP" sz="2000" b="1" dirty="0">
                <a:latin typeface="Meiryo" panose="020B0604030504040204" pitchFamily="34" charset="-128"/>
                <a:ea typeface="Meiryo" panose="020B0604030504040204" pitchFamily="34" charset="-128"/>
              </a:rPr>
              <a:t>暗号化通信段階（共通鍵暗号の利用）</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TLSハンドシェイク完了後は，共通鍵暗号方式 によって実際のデータ通信が行われる</a:t>
            </a:r>
            <a:r>
              <a:rPr lang="mn-MN"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共有された</a:t>
            </a:r>
            <a:r>
              <a:rPr lang="en-US" sz="2000" b="0" i="0" dirty="0">
                <a:solidFill>
                  <a:srgbClr val="222222"/>
                </a:solidFill>
                <a:effectLst/>
                <a:latin typeface="Helvetica Neue" panose="02000503000000020004" pitchFamily="2" charset="0"/>
              </a:rPr>
              <a:t>session</a:t>
            </a:r>
            <a:r>
              <a:rPr lang="en-JP" sz="2000" dirty="0">
                <a:latin typeface="Meiryo" panose="020B0604030504040204" pitchFamily="34" charset="-128"/>
                <a:ea typeface="Meiryo" panose="020B0604030504040204" pitchFamily="34" charset="-128"/>
              </a:rPr>
              <a:t>鍵を用いて通信データを暗号化</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AES などの共通鍵暗号アルゴリズムが使用される</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共通鍵暗号は 処理速度が高速 であり，大量のデータ通信に適している</a:t>
            </a:r>
          </a:p>
          <a:p>
            <a:r>
              <a:rPr lang="en-JP" sz="2000" dirty="0">
                <a:latin typeface="Meiryo" panose="020B0604030504040204" pitchFamily="34" charset="-128"/>
                <a:ea typeface="Meiryo" panose="020B0604030504040204" pitchFamily="34" charset="-128"/>
              </a:rPr>
              <a:t>(HTTPS通信の本文データは，すべて共通鍵暗号で保護される</a:t>
            </a:r>
            <a:r>
              <a:rPr lang="mn-MN"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0AEAE57C-E9D6-C15C-B0CE-CBF39AA75260}"/>
              </a:ext>
            </a:extLst>
          </p:cNvPr>
          <p:cNvSpPr txBox="1"/>
          <p:nvPr/>
        </p:nvSpPr>
        <p:spPr>
          <a:xfrm>
            <a:off x="0" y="184314"/>
            <a:ext cx="6457950"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57D202A7-019B-F0C6-1F0C-3E35CA3711FF}"/>
              </a:ext>
            </a:extLst>
          </p:cNvPr>
          <p:cNvPicPr>
            <a:picLocks noChangeAspect="1"/>
          </p:cNvPicPr>
          <p:nvPr/>
        </p:nvPicPr>
        <p:blipFill>
          <a:blip r:embed="rId3"/>
          <a:stretch>
            <a:fillRect/>
          </a:stretch>
        </p:blipFill>
        <p:spPr>
          <a:xfrm>
            <a:off x="525236" y="3123517"/>
            <a:ext cx="7541078" cy="3232834"/>
          </a:xfrm>
          <a:prstGeom prst="rect">
            <a:avLst/>
          </a:prstGeom>
        </p:spPr>
      </p:pic>
      <p:sp>
        <p:nvSpPr>
          <p:cNvPr id="12" name="TextBox 11">
            <a:extLst>
              <a:ext uri="{FF2B5EF4-FFF2-40B4-BE49-F238E27FC236}">
                <a16:creationId xmlns:a16="http://schemas.microsoft.com/office/drawing/2014/main" id="{EE11B385-570B-A507-8AB6-3C1109A0F7C4}"/>
              </a:ext>
            </a:extLst>
          </p:cNvPr>
          <p:cNvSpPr txBox="1"/>
          <p:nvPr/>
        </p:nvSpPr>
        <p:spPr>
          <a:xfrm>
            <a:off x="326570" y="6437534"/>
            <a:ext cx="459377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spTree>
    <p:extLst>
      <p:ext uri="{BB962C8B-B14F-4D97-AF65-F5344CB8AC3E}">
        <p14:creationId xmlns:p14="http://schemas.microsoft.com/office/powerpoint/2010/main" val="289941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4667D8-3112-733A-9D55-431CF09A1CF2}"/>
              </a:ext>
            </a:extLst>
          </p:cNvPr>
          <p:cNvSpPr txBox="1"/>
          <p:nvPr/>
        </p:nvSpPr>
        <p:spPr>
          <a:xfrm>
            <a:off x="917188" y="906574"/>
            <a:ext cx="7598162" cy="369332"/>
          </a:xfrm>
          <a:prstGeom prst="rect">
            <a:avLst/>
          </a:prstGeom>
          <a:noFill/>
        </p:spPr>
        <p:txBody>
          <a:bodyPr wrap="square">
            <a:spAutoFit/>
          </a:bodyPr>
          <a:lstStyle/>
          <a:p>
            <a:pPr marL="342900" indent="-342900">
              <a:buFont typeface="Wingdings" pitchFamily="2" charset="2"/>
              <a:buChar char="Ø"/>
            </a:pPr>
            <a:r>
              <a:rPr lang="ja-JP" altLang="en-US">
                <a:solidFill>
                  <a:srgbClr val="C00000"/>
                </a:solidFill>
                <a:latin typeface="Meiryo" panose="020B0604030504040204" pitchFamily="34" charset="-128"/>
                <a:ea typeface="Meiryo" panose="020B0604030504040204" pitchFamily="34" charset="-128"/>
              </a:rPr>
              <a:t>システム構成</a:t>
            </a:r>
            <a:endParaRPr lang="en-JP" dirty="0">
              <a:solidFill>
                <a:srgbClr val="C00000"/>
              </a:solidFill>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316A2AA4-FEB1-98AD-07A6-BB6A81F27491}"/>
              </a:ext>
            </a:extLst>
          </p:cNvPr>
          <p:cNvSpPr/>
          <p:nvPr/>
        </p:nvSpPr>
        <p:spPr>
          <a:xfrm>
            <a:off x="5235756" y="1034059"/>
            <a:ext cx="3115492" cy="20490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1600" dirty="0">
              <a:solidFill>
                <a:srgbClr val="C00000"/>
              </a:solidFill>
              <a:latin typeface="Meiryo" panose="020B0604030504040204" pitchFamily="34" charset="-128"/>
              <a:ea typeface="Meiryo" panose="020B0604030504040204" pitchFamily="34" charset="-128"/>
            </a:endParaRPr>
          </a:p>
          <a:p>
            <a:pPr algn="ctr"/>
            <a:r>
              <a:rPr lang="en-US" sz="1600" dirty="0">
                <a:solidFill>
                  <a:srgbClr val="C00000"/>
                </a:solidFill>
                <a:latin typeface="Meiryo" panose="020B0604030504040204" pitchFamily="34" charset="-128"/>
                <a:ea typeface="Meiryo" panose="020B0604030504040204" pitchFamily="34" charset="-128"/>
              </a:rPr>
              <a:t>pki.example.jp</a:t>
            </a:r>
          </a:p>
          <a:p>
            <a:pPr algn="ctr"/>
            <a:r>
              <a:rPr lang="en-US" sz="1600" dirty="0">
                <a:solidFill>
                  <a:srgbClr val="C00000"/>
                </a:solidFill>
                <a:latin typeface="Meiryo" panose="020B0604030504040204" pitchFamily="34" charset="-128"/>
                <a:ea typeface="Meiryo" panose="020B0604030504040204" pitchFamily="34" charset="-128"/>
              </a:rPr>
              <a:t>(Private Ca)</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OpenSSL</a:t>
            </a: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秘密鍵</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ルート証明</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a:t>
            </a:r>
            <a:r>
              <a:rPr lang="en-US" sz="1600" dirty="0">
                <a:latin typeface="Meiryo" panose="020B0604030504040204" pitchFamily="34" charset="-128"/>
                <a:ea typeface="Meiryo" panose="020B0604030504040204" pitchFamily="34" charset="-128"/>
              </a:rPr>
              <a:t>DB</a:t>
            </a:r>
          </a:p>
          <a:p>
            <a:pPr marL="214313" indent="-214313" algn="ctr">
              <a:buFont typeface="Arial" panose="020B0604020202020204" pitchFamily="34" charset="0"/>
              <a:buChar char="•"/>
            </a:pPr>
            <a:endParaRPr lang="en-JP" sz="1600"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92AAB95C-879B-D725-3D68-5B44025492FC}"/>
              </a:ext>
            </a:extLst>
          </p:cNvPr>
          <p:cNvSpPr/>
          <p:nvPr/>
        </p:nvSpPr>
        <p:spPr>
          <a:xfrm>
            <a:off x="374741" y="1341968"/>
            <a:ext cx="3115492" cy="16401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rgbClr val="C00000"/>
                </a:solidFill>
                <a:latin typeface="Meiryo" panose="020B0604030504040204" pitchFamily="34" charset="-128"/>
                <a:ea typeface="Meiryo" panose="020B0604030504040204" pitchFamily="34" charset="-128"/>
              </a:rPr>
              <a:t> www1.example.jp</a:t>
            </a:r>
          </a:p>
          <a:p>
            <a:pPr algn="ctr"/>
            <a:r>
              <a:rPr lang="en-US" sz="1600" dirty="0">
                <a:solidFill>
                  <a:srgbClr val="C00000"/>
                </a:solidFill>
                <a:latin typeface="Meiryo" panose="020B0604030504040204" pitchFamily="34" charset="-128"/>
                <a:ea typeface="Meiryo" panose="020B0604030504040204" pitchFamily="34" charset="-128"/>
              </a:rPr>
              <a:t> (Web</a:t>
            </a:r>
            <a:r>
              <a:rPr lang="ja-JP" altLang="en-US" sz="1600">
                <a:solidFill>
                  <a:srgbClr val="C00000"/>
                </a:solidFill>
                <a:latin typeface="Meiryo" panose="020B0604030504040204" pitchFamily="34" charset="-128"/>
                <a:ea typeface="Meiryo" panose="020B0604030504040204" pitchFamily="34" charset="-128"/>
              </a:rPr>
              <a:t>サーバ</a:t>
            </a:r>
            <a:r>
              <a:rPr lang="en-US" altLang="ja-JP" sz="1600" dirty="0">
                <a:solidFill>
                  <a:srgbClr val="C00000"/>
                </a:solidFill>
                <a:latin typeface="Meiryo" panose="020B0604030504040204" pitchFamily="34" charset="-128"/>
                <a:ea typeface="Meiryo" panose="020B0604030504040204" pitchFamily="34" charset="-128"/>
              </a:rPr>
              <a:t>)</a:t>
            </a:r>
            <a:endParaRPr lang="en-US" sz="1600" dirty="0">
              <a:solidFill>
                <a:srgbClr val="C00000"/>
              </a:solidFill>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sz="1600" dirty="0">
                <a:latin typeface="Meiryo" panose="020B0604030504040204" pitchFamily="34" charset="-128"/>
                <a:ea typeface="Meiryo" panose="020B0604030504040204" pitchFamily="34" charset="-128"/>
              </a:rPr>
              <a:t>Apache httpd</a:t>
            </a: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サーバ証明書</a:t>
            </a:r>
            <a:endParaRPr lang="en-US" altLang="ja-JP" sz="1600"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サーバ秘密鍵</a:t>
            </a:r>
            <a:endParaRPr lang="en-JP" sz="1600" dirty="0">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723F219E-4BA7-915E-9055-C637A4142F86}"/>
              </a:ext>
            </a:extLst>
          </p:cNvPr>
          <p:cNvSpPr/>
          <p:nvPr/>
        </p:nvSpPr>
        <p:spPr>
          <a:xfrm>
            <a:off x="1319348" y="4193177"/>
            <a:ext cx="5799909" cy="216317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a:solidFill>
                  <a:srgbClr val="C00000"/>
                </a:solidFill>
                <a:latin typeface="Meiryo" panose="020B0604030504040204" pitchFamily="34" charset="-128"/>
                <a:ea typeface="Meiryo" panose="020B0604030504040204" pitchFamily="34" charset="-128"/>
              </a:rPr>
              <a:t>クライアント </a:t>
            </a:r>
            <a:r>
              <a:rPr lang="en-US" altLang="ja-JP" dirty="0">
                <a:solidFill>
                  <a:srgbClr val="C00000"/>
                </a:solidFill>
                <a:latin typeface="Meiryo" panose="020B0604030504040204" pitchFamily="34" charset="-128"/>
                <a:ea typeface="Meiryo" panose="020B0604030504040204" pitchFamily="34" charset="-128"/>
              </a:rPr>
              <a:t>(</a:t>
            </a:r>
            <a:r>
              <a:rPr lang="en-US" dirty="0">
                <a:solidFill>
                  <a:srgbClr val="C00000"/>
                </a:solidFill>
                <a:latin typeface="Meiryo" panose="020B0604030504040204" pitchFamily="34" charset="-128"/>
                <a:ea typeface="Meiryo" panose="020B0604030504040204" pitchFamily="34" charset="-128"/>
              </a:rPr>
              <a:t>Ubuntu / Web</a:t>
            </a:r>
            <a:r>
              <a:rPr lang="ja-JP" altLang="en-US">
                <a:solidFill>
                  <a:srgbClr val="C00000"/>
                </a:solidFill>
                <a:latin typeface="Meiryo" panose="020B0604030504040204" pitchFamily="34" charset="-128"/>
                <a:ea typeface="Meiryo" panose="020B0604030504040204" pitchFamily="34" charset="-128"/>
              </a:rPr>
              <a:t>ブラウザ</a:t>
            </a:r>
            <a:r>
              <a:rPr lang="en-US" altLang="ja-JP" dirty="0">
                <a:solidFill>
                  <a:srgbClr val="C00000"/>
                </a:solidFill>
                <a:latin typeface="Meiryo" panose="020B0604030504040204" pitchFamily="34" charset="-128"/>
                <a:ea typeface="Meiryo" panose="020B0604030504040204" pitchFamily="34" charset="-128"/>
              </a:rPr>
              <a:t>) </a:t>
            </a:r>
          </a:p>
          <a:p>
            <a:pPr marL="214313" indent="-214313" algn="ctr">
              <a:buFont typeface="Arial" panose="020B0604020202020204" pitchFamily="34" charset="0"/>
              <a:buChar char="•"/>
            </a:pPr>
            <a:r>
              <a:rPr lang="en-US" dirty="0">
                <a:latin typeface="Meiryo" panose="020B0604030504040204" pitchFamily="34" charset="-128"/>
                <a:ea typeface="Meiryo" panose="020B0604030504040204" pitchFamily="34" charset="-128"/>
              </a:rPr>
              <a:t>CA</a:t>
            </a:r>
            <a:r>
              <a:rPr lang="ja-JP" altLang="en-US">
                <a:latin typeface="Meiryo" panose="020B0604030504040204" pitchFamily="34" charset="-128"/>
                <a:ea typeface="Meiryo" panose="020B0604030504040204" pitchFamily="34" charset="-128"/>
              </a:rPr>
              <a:t>証明書を信頼ストアにインポート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ja-JP" altLang="en-US">
                <a:latin typeface="Meiryo" panose="020B0604030504040204" pitchFamily="34" charset="-128"/>
                <a:ea typeface="Meiryo" panose="020B0604030504040204" pitchFamily="34" charset="-128"/>
              </a:rPr>
              <a:t>証明書チェーンの検証 </a:t>
            </a:r>
            <a:endParaRPr lang="en-US" altLang="ja-JP" dirty="0">
              <a:latin typeface="Meiryo" panose="020B0604030504040204" pitchFamily="34" charset="-128"/>
              <a:ea typeface="Meiryo" panose="020B0604030504040204" pitchFamily="34" charset="-128"/>
            </a:endParaRPr>
          </a:p>
          <a:p>
            <a:pPr marL="214313" indent="-214313" algn="ct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TLS handshake・</a:t>
            </a:r>
            <a:r>
              <a:rPr lang="ja-JP" altLang="en-US">
                <a:latin typeface="Meiryo" panose="020B0604030504040204" pitchFamily="34" charset="-128"/>
                <a:ea typeface="Meiryo" panose="020B0604030504040204" pitchFamily="34" charset="-128"/>
              </a:rPr>
              <a:t>暗号化通信 </a:t>
            </a:r>
            <a:endParaRPr lang="en-JP" dirty="0">
              <a:latin typeface="Meiryo" panose="020B0604030504040204" pitchFamily="34" charset="-128"/>
              <a:ea typeface="Meiryo" panose="020B0604030504040204" pitchFamily="34" charset="-128"/>
            </a:endParaRPr>
          </a:p>
        </p:txBody>
      </p:sp>
      <p:cxnSp>
        <p:nvCxnSpPr>
          <p:cNvPr id="9" name="Straight Arrow Connector 8">
            <a:extLst>
              <a:ext uri="{FF2B5EF4-FFF2-40B4-BE49-F238E27FC236}">
                <a16:creationId xmlns:a16="http://schemas.microsoft.com/office/drawing/2014/main" id="{FAE8B698-D8CB-A541-5E98-A9C76E11CEF3}"/>
              </a:ext>
            </a:extLst>
          </p:cNvPr>
          <p:cNvCxnSpPr/>
          <p:nvPr/>
        </p:nvCxnSpPr>
        <p:spPr>
          <a:xfrm>
            <a:off x="3654335" y="1964327"/>
            <a:ext cx="1449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A3713F-3264-3361-FB7A-3A64E3A61E2F}"/>
              </a:ext>
            </a:extLst>
          </p:cNvPr>
          <p:cNvCxnSpPr>
            <a:cxnSpLocks/>
          </p:cNvCxnSpPr>
          <p:nvPr/>
        </p:nvCxnSpPr>
        <p:spPr>
          <a:xfrm flipH="1">
            <a:off x="3582488" y="2640330"/>
            <a:ext cx="15218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27ACB8-8267-5339-B4D1-FB42D591C014}"/>
              </a:ext>
            </a:extLst>
          </p:cNvPr>
          <p:cNvSpPr txBox="1"/>
          <p:nvPr/>
        </p:nvSpPr>
        <p:spPr>
          <a:xfrm>
            <a:off x="3879025" y="1546815"/>
            <a:ext cx="1000595" cy="369332"/>
          </a:xfrm>
          <a:prstGeom prst="rect">
            <a:avLst/>
          </a:prstGeom>
          <a:noFill/>
        </p:spPr>
        <p:txBody>
          <a:bodyPr wrap="none" rtlCol="0">
            <a:spAutoFit/>
          </a:bodyPr>
          <a:lstStyle/>
          <a:p>
            <a:r>
              <a:rPr lang="en-US" dirty="0"/>
              <a:t>CSR</a:t>
            </a:r>
            <a:r>
              <a:rPr lang="ja-JP" altLang="en-US"/>
              <a:t>送信</a:t>
            </a:r>
            <a:endParaRPr lang="en-JP" dirty="0"/>
          </a:p>
        </p:txBody>
      </p:sp>
      <p:sp>
        <p:nvSpPr>
          <p:cNvPr id="12" name="TextBox 11">
            <a:extLst>
              <a:ext uri="{FF2B5EF4-FFF2-40B4-BE49-F238E27FC236}">
                <a16:creationId xmlns:a16="http://schemas.microsoft.com/office/drawing/2014/main" id="{DF10AEB6-904A-958C-C04A-46BD9800E90C}"/>
              </a:ext>
            </a:extLst>
          </p:cNvPr>
          <p:cNvSpPr txBox="1"/>
          <p:nvPr/>
        </p:nvSpPr>
        <p:spPr>
          <a:xfrm>
            <a:off x="3458752" y="2984686"/>
            <a:ext cx="2175009" cy="369332"/>
          </a:xfrm>
          <a:prstGeom prst="rect">
            <a:avLst/>
          </a:prstGeom>
          <a:noFill/>
        </p:spPr>
        <p:txBody>
          <a:bodyPr wrap="square">
            <a:spAutoFit/>
          </a:bodyPr>
          <a:lstStyle/>
          <a:p>
            <a:r>
              <a:rPr lang="ja-JP" altLang="en-US"/>
              <a:t>サーバ証明書発行</a:t>
            </a:r>
            <a:endParaRPr lang="en-JP" dirty="0"/>
          </a:p>
        </p:txBody>
      </p:sp>
      <p:cxnSp>
        <p:nvCxnSpPr>
          <p:cNvPr id="13" name="Straight Arrow Connector 12">
            <a:extLst>
              <a:ext uri="{FF2B5EF4-FFF2-40B4-BE49-F238E27FC236}">
                <a16:creationId xmlns:a16="http://schemas.microsoft.com/office/drawing/2014/main" id="{9C741B0C-6212-CD6D-EF8C-51F8DA12B7DA}"/>
              </a:ext>
            </a:extLst>
          </p:cNvPr>
          <p:cNvCxnSpPr>
            <a:cxnSpLocks/>
            <a:stCxn id="7" idx="2"/>
          </p:cNvCxnSpPr>
          <p:nvPr/>
        </p:nvCxnSpPr>
        <p:spPr>
          <a:xfrm>
            <a:off x="1932487" y="2982088"/>
            <a:ext cx="0" cy="1074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8AB7275-148E-017E-61E7-B43738207504}"/>
              </a:ext>
            </a:extLst>
          </p:cNvPr>
          <p:cNvCxnSpPr>
            <a:cxnSpLocks/>
          </p:cNvCxnSpPr>
          <p:nvPr/>
        </p:nvCxnSpPr>
        <p:spPr>
          <a:xfrm>
            <a:off x="6106886" y="3100796"/>
            <a:ext cx="0" cy="1074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9EC672-856C-AC1A-B337-BFDADE68236F}"/>
              </a:ext>
            </a:extLst>
          </p:cNvPr>
          <p:cNvSpPr txBox="1"/>
          <p:nvPr/>
        </p:nvSpPr>
        <p:spPr>
          <a:xfrm>
            <a:off x="1974127" y="3429000"/>
            <a:ext cx="1327201" cy="369332"/>
          </a:xfrm>
          <a:prstGeom prst="rect">
            <a:avLst/>
          </a:prstGeom>
          <a:noFill/>
        </p:spPr>
        <p:txBody>
          <a:bodyPr wrap="square">
            <a:spAutoFit/>
          </a:bodyPr>
          <a:lstStyle/>
          <a:p>
            <a:r>
              <a:rPr lang="en-US" dirty="0"/>
              <a:t>HTTPS</a:t>
            </a:r>
            <a:r>
              <a:rPr lang="ja-JP" altLang="en-US"/>
              <a:t>通信 </a:t>
            </a:r>
            <a:endParaRPr lang="en-JP" dirty="0"/>
          </a:p>
        </p:txBody>
      </p:sp>
      <p:sp>
        <p:nvSpPr>
          <p:cNvPr id="16" name="TextBox 15">
            <a:extLst>
              <a:ext uri="{FF2B5EF4-FFF2-40B4-BE49-F238E27FC236}">
                <a16:creationId xmlns:a16="http://schemas.microsoft.com/office/drawing/2014/main" id="{5462E71E-20B1-D4CC-2210-6B6704CBE170}"/>
              </a:ext>
            </a:extLst>
          </p:cNvPr>
          <p:cNvSpPr txBox="1"/>
          <p:nvPr/>
        </p:nvSpPr>
        <p:spPr>
          <a:xfrm>
            <a:off x="6106885" y="3385793"/>
            <a:ext cx="1671443" cy="369332"/>
          </a:xfrm>
          <a:prstGeom prst="rect">
            <a:avLst/>
          </a:prstGeom>
          <a:noFill/>
        </p:spPr>
        <p:txBody>
          <a:bodyPr wrap="square">
            <a:spAutoFit/>
          </a:bodyPr>
          <a:lstStyle/>
          <a:p>
            <a:r>
              <a:rPr lang="en-US" dirty="0"/>
              <a:t>CA</a:t>
            </a:r>
            <a:r>
              <a:rPr lang="ja-JP" altLang="en-US"/>
              <a:t>証明書配布</a:t>
            </a:r>
            <a:endParaRPr lang="en-JP" dirty="0"/>
          </a:p>
        </p:txBody>
      </p:sp>
      <p:sp>
        <p:nvSpPr>
          <p:cNvPr id="17" name="Slide Number Placeholder 16">
            <a:extLst>
              <a:ext uri="{FF2B5EF4-FFF2-40B4-BE49-F238E27FC236}">
                <a16:creationId xmlns:a16="http://schemas.microsoft.com/office/drawing/2014/main" id="{454A9CA2-3F77-0A8D-AAF5-89C9A8859101}"/>
              </a:ext>
            </a:extLst>
          </p:cNvPr>
          <p:cNvSpPr>
            <a:spLocks noGrp="1"/>
          </p:cNvSpPr>
          <p:nvPr>
            <p:ph type="sldNum" sz="quarter" idx="12"/>
          </p:nvPr>
        </p:nvSpPr>
        <p:spPr/>
        <p:txBody>
          <a:bodyPr/>
          <a:lstStyle/>
          <a:p>
            <a:fld id="{B37FC626-4DBB-F044-A20D-82FDEAFAFBD6}" type="slidenum">
              <a:rPr lang="en-JP" smtClean="0"/>
              <a:t>5</a:t>
            </a:fld>
            <a:endParaRPr lang="en-JP"/>
          </a:p>
        </p:txBody>
      </p:sp>
      <p:sp>
        <p:nvSpPr>
          <p:cNvPr id="19" name="TextBox 18">
            <a:extLst>
              <a:ext uri="{FF2B5EF4-FFF2-40B4-BE49-F238E27FC236}">
                <a16:creationId xmlns:a16="http://schemas.microsoft.com/office/drawing/2014/main" id="{24151EA2-E662-E0F0-246B-F5A34846F07F}"/>
              </a:ext>
            </a:extLst>
          </p:cNvPr>
          <p:cNvSpPr txBox="1"/>
          <p:nvPr/>
        </p:nvSpPr>
        <p:spPr>
          <a:xfrm>
            <a:off x="205146" y="287396"/>
            <a:ext cx="6754683" cy="461665"/>
          </a:xfrm>
          <a:prstGeom prst="rect">
            <a:avLst/>
          </a:prstGeom>
          <a:noFill/>
        </p:spPr>
        <p:txBody>
          <a:bodyPr wrap="square">
            <a:spAutoFit/>
          </a:bodyPr>
          <a:lstStyle/>
          <a:p>
            <a:pPr marL="285750" indent="-285750">
              <a:buFont typeface="Wingdings" pitchFamily="2" charset="2"/>
              <a:buChar char="§"/>
            </a:pPr>
            <a:r>
              <a:rPr lang="en-JP" sz="2400" b="1" dirty="0">
                <a:latin typeface="Meiryo" panose="020B0604030504040204" pitchFamily="34" charset="-128"/>
                <a:ea typeface="Meiryo" panose="020B0604030504040204" pitchFamily="34" charset="-128"/>
              </a:rPr>
              <a:t> 演習で構築したPrivate CA構成</a:t>
            </a:r>
          </a:p>
        </p:txBody>
      </p:sp>
    </p:spTree>
    <p:extLst>
      <p:ext uri="{BB962C8B-B14F-4D97-AF65-F5344CB8AC3E}">
        <p14:creationId xmlns:p14="http://schemas.microsoft.com/office/powerpoint/2010/main" val="255845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B415DA4B-8C42-C904-75A2-26035837C59E}"/>
              </a:ext>
            </a:extLst>
          </p:cNvPr>
          <p:cNvSpPr/>
          <p:nvPr/>
        </p:nvSpPr>
        <p:spPr>
          <a:xfrm>
            <a:off x="375590" y="671682"/>
            <a:ext cx="4027714" cy="3377804"/>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認証局（</a:t>
            </a:r>
            <a:r>
              <a:rPr lang="en-US" sz="2000" dirty="0">
                <a:solidFill>
                  <a:srgbClr val="C00000"/>
                </a:solidFill>
                <a:latin typeface="Meiryo" panose="020B0604030504040204" pitchFamily="34" charset="-128"/>
                <a:ea typeface="Meiryo" panose="020B0604030504040204" pitchFamily="34" charset="-128"/>
              </a:rPr>
              <a:t>CA：Certificate Authority）</a:t>
            </a:r>
            <a:endParaRPr lang="mn-MN" sz="2000" dirty="0">
              <a:solidFill>
                <a:srgbClr val="C00000"/>
              </a:solidFill>
              <a:latin typeface="Meiryo" panose="020B0604030504040204" pitchFamily="34" charset="-128"/>
              <a:ea typeface="Meiryo" panose="020B0604030504040204" pitchFamily="34" charset="-128"/>
            </a:endParaRPr>
          </a:p>
          <a:p>
            <a:pPr algn="ctr"/>
            <a:endParaRPr lang="en-US" sz="20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証明書を発行・管理する信頼された第三者機関</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サーバやユーザの公開鍵が正当であることを保証</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秘密鍵を用いて証明書に電子署名を行う</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625900E2-16A5-7BC8-2634-74212AAD1C30}"/>
              </a:ext>
            </a:extLst>
          </p:cNvPr>
          <p:cNvSpPr/>
          <p:nvPr/>
        </p:nvSpPr>
        <p:spPr>
          <a:xfrm>
            <a:off x="4713514" y="671683"/>
            <a:ext cx="4027714" cy="337780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サーバ証明書（</a:t>
            </a:r>
            <a:r>
              <a:rPr lang="en-US" altLang="ja-JP" sz="2000" dirty="0">
                <a:solidFill>
                  <a:srgbClr val="C00000"/>
                </a:solidFill>
                <a:latin typeface="Meiryo" panose="020B0604030504040204" pitchFamily="34" charset="-128"/>
                <a:ea typeface="Meiryo" panose="020B0604030504040204" pitchFamily="34" charset="-128"/>
              </a:rPr>
              <a:t>Server Certificate</a:t>
            </a:r>
            <a:r>
              <a:rPr lang="ja-JP" altLang="en-US" sz="2000">
                <a:solidFill>
                  <a:srgbClr val="C00000"/>
                </a:solidFill>
                <a:latin typeface="Meiryo" panose="020B0604030504040204" pitchFamily="34" charset="-128"/>
                <a:ea typeface="Meiryo" panose="020B0604030504040204" pitchFamily="34" charset="-128"/>
              </a:rPr>
              <a:t>）</a:t>
            </a:r>
            <a:endParaRPr lang="en-US" altLang="ja-JP" sz="2000" dirty="0">
              <a:solidFill>
                <a:srgbClr val="C00000"/>
              </a:solidFill>
              <a:latin typeface="Meiryo" panose="020B0604030504040204" pitchFamily="34" charset="-128"/>
              <a:ea typeface="Meiryo" panose="020B0604030504040204" pitchFamily="34" charset="-128"/>
            </a:endParaRPr>
          </a:p>
          <a:p>
            <a:pPr algn="ctr"/>
            <a:endParaRPr lang="ja-JP" altLang="en-US" sz="20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Web</a:t>
            </a:r>
            <a:r>
              <a:rPr lang="ja-JP" altLang="en-US" sz="2000">
                <a:latin typeface="Meiryo" panose="020B0604030504040204" pitchFamily="34" charset="-128"/>
                <a:ea typeface="Meiryo" panose="020B0604030504040204" pitchFamily="34" charset="-128"/>
              </a:rPr>
              <a:t>サーバの</a:t>
            </a:r>
            <a:r>
              <a:rPr lang="ja-JP" altLang="en-US" sz="2000" b="0" i="0">
                <a:solidFill>
                  <a:srgbClr val="222222"/>
                </a:solidFill>
                <a:effectLst/>
                <a:latin typeface="Meiryo" panose="020B0604030504040204" pitchFamily="34" charset="-128"/>
                <a:ea typeface="Meiryo" panose="020B0604030504040204" pitchFamily="34" charset="-128"/>
              </a:rPr>
              <a:t>みもと </a:t>
            </a:r>
            <a:r>
              <a:rPr lang="ja-JP" altLang="en-US" sz="2000">
                <a:latin typeface="Meiryo" panose="020B0604030504040204" pitchFamily="34" charset="-128"/>
                <a:ea typeface="Meiryo" panose="020B0604030504040204" pitchFamily="34" charset="-128"/>
              </a:rPr>
              <a:t>（正当性）を証明する電子証明書</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サーバの公開鍵とドメイン名（</a:t>
            </a:r>
            <a:r>
              <a:rPr lang="en-US" altLang="ja-JP" sz="2000" dirty="0">
                <a:latin typeface="Meiryo" panose="020B0604030504040204" pitchFamily="34" charset="-128"/>
                <a:ea typeface="Meiryo" panose="020B0604030504040204" pitchFamily="34" charset="-128"/>
              </a:rPr>
              <a:t>CN</a:t>
            </a:r>
            <a:r>
              <a:rPr lang="ja-JP" altLang="en-US" sz="2000">
                <a:latin typeface="Meiryo" panose="020B0604030504040204" pitchFamily="34" charset="-128"/>
                <a:ea typeface="Meiryo" panose="020B0604030504040204" pitchFamily="34" charset="-128"/>
              </a:rPr>
              <a:t>）を含む</a:t>
            </a:r>
          </a:p>
          <a:p>
            <a:pPr marL="214313" indent="-214313">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CA </a:t>
            </a:r>
            <a:r>
              <a:rPr lang="ja-JP" altLang="en-US" sz="2000">
                <a:latin typeface="Meiryo" panose="020B0604030504040204" pitchFamily="34" charset="-128"/>
                <a:ea typeface="Meiryo" panose="020B0604030504040204" pitchFamily="34" charset="-128"/>
              </a:rPr>
              <a:t>によって署名されている</a:t>
            </a:r>
            <a:endParaRPr lang="en-JP" sz="2000"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B1BC9AE6-BFE7-5988-DD62-FF86CA38C697}"/>
              </a:ext>
            </a:extLst>
          </p:cNvPr>
          <p:cNvSpPr/>
          <p:nvPr/>
        </p:nvSpPr>
        <p:spPr>
          <a:xfrm>
            <a:off x="848360" y="4263930"/>
            <a:ext cx="6894351" cy="2441957"/>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a:solidFill>
                  <a:srgbClr val="C00000"/>
                </a:solidFill>
                <a:latin typeface="Meiryo" panose="020B0604030504040204" pitchFamily="34" charset="-128"/>
                <a:ea typeface="Meiryo" panose="020B0604030504040204" pitchFamily="34" charset="-128"/>
              </a:rPr>
              <a:t>公開鍵・秘密鍵（</a:t>
            </a:r>
            <a:r>
              <a:rPr lang="en-US" altLang="ja-JP" sz="2000" dirty="0">
                <a:solidFill>
                  <a:srgbClr val="C00000"/>
                </a:solidFill>
                <a:latin typeface="Meiryo" panose="020B0604030504040204" pitchFamily="34" charset="-128"/>
                <a:ea typeface="Meiryo" panose="020B0604030504040204" pitchFamily="34" charset="-128"/>
              </a:rPr>
              <a:t>Public / Private Key</a:t>
            </a:r>
            <a:r>
              <a:rPr lang="ja-JP" altLang="en-US" sz="2000">
                <a:solidFill>
                  <a:srgbClr val="C00000"/>
                </a:solidFill>
                <a:latin typeface="Meiryo" panose="020B0604030504040204" pitchFamily="34" charset="-128"/>
                <a:ea typeface="Meiryo" panose="020B0604030504040204" pitchFamily="34" charset="-128"/>
              </a:rPr>
              <a:t>）</a:t>
            </a:r>
            <a:endParaRPr lang="mn-MN" altLang="ja-JP" sz="2000" dirty="0">
              <a:solidFill>
                <a:srgbClr val="C00000"/>
              </a:solidFill>
              <a:latin typeface="Meiryo" panose="020B0604030504040204" pitchFamily="34" charset="-128"/>
              <a:ea typeface="Meiryo" panose="020B0604030504040204" pitchFamily="34" charset="-128"/>
            </a:endParaRPr>
          </a:p>
          <a:p>
            <a:endParaRPr lang="ja-JP" altLang="en-US" sz="20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公開鍵：暗号化や署名検証に使用（誰でも取得可能）</a:t>
            </a:r>
          </a:p>
          <a:p>
            <a:pPr marL="214313" indent="-214313">
              <a:buFont typeface="Arial" panose="020B0604020202020204" pitchFamily="34" charset="0"/>
              <a:buChar char="•"/>
            </a:pPr>
            <a:r>
              <a:rPr lang="ja-JP" altLang="en-US" sz="2000">
                <a:latin typeface="Meiryo" panose="020B0604030504040204" pitchFamily="34" charset="-128"/>
                <a:ea typeface="Meiryo" panose="020B0604030504040204" pitchFamily="34" charset="-128"/>
              </a:rPr>
              <a:t>秘密鍵：復号や電子署名に使用（所有者のみ保持</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9E81DE51-090E-2DBE-CE82-63FACACAFBB7}"/>
              </a:ext>
            </a:extLst>
          </p:cNvPr>
          <p:cNvSpPr txBox="1"/>
          <p:nvPr/>
        </p:nvSpPr>
        <p:spPr>
          <a:xfrm>
            <a:off x="142854" y="210017"/>
            <a:ext cx="5883697"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1/2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63F1308-A0AF-5887-29FA-3D18E5872D8B}"/>
              </a:ext>
            </a:extLst>
          </p:cNvPr>
          <p:cNvSpPr>
            <a:spLocks noGrp="1"/>
          </p:cNvSpPr>
          <p:nvPr>
            <p:ph type="sldNum" sz="quarter" idx="12"/>
          </p:nvPr>
        </p:nvSpPr>
        <p:spPr/>
        <p:txBody>
          <a:bodyPr/>
          <a:lstStyle/>
          <a:p>
            <a:fld id="{D8C05D5D-75E2-3144-9168-CA833390726D}" type="slidenum">
              <a:rPr lang="en-JP" smtClean="0"/>
              <a:t>6</a:t>
            </a:fld>
            <a:endParaRPr lang="en-JP"/>
          </a:p>
        </p:txBody>
      </p:sp>
    </p:spTree>
    <p:extLst>
      <p:ext uri="{BB962C8B-B14F-4D97-AF65-F5344CB8AC3E}">
        <p14:creationId xmlns:p14="http://schemas.microsoft.com/office/powerpoint/2010/main" val="48089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8B3F59D-31DE-5801-4791-88432CDA5636}"/>
              </a:ext>
            </a:extLst>
          </p:cNvPr>
          <p:cNvSpPr/>
          <p:nvPr/>
        </p:nvSpPr>
        <p:spPr>
          <a:xfrm>
            <a:off x="188519" y="1282302"/>
            <a:ext cx="4205350" cy="4595296"/>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400">
                <a:solidFill>
                  <a:srgbClr val="C00000"/>
                </a:solidFill>
                <a:latin typeface="Meiryo" panose="020B0604030504040204" pitchFamily="34" charset="-128"/>
                <a:ea typeface="Meiryo" panose="020B0604030504040204" pitchFamily="34" charset="-128"/>
              </a:rPr>
              <a:t>ルート証明書</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sz="2400" dirty="0">
                <a:solidFill>
                  <a:srgbClr val="C00000"/>
                </a:solidFill>
                <a:latin typeface="Meiryo" panose="020B0604030504040204" pitchFamily="34" charset="-128"/>
                <a:ea typeface="Meiryo" panose="020B0604030504040204" pitchFamily="34" charset="-128"/>
              </a:rPr>
              <a:t>Root Certificate）</a:t>
            </a:r>
          </a:p>
          <a:p>
            <a:pPr algn="ctr"/>
            <a:endParaRPr lang="en-US" sz="24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自身を証明する最上位の証明書</a:t>
            </a:r>
            <a:endParaRPr lang="en-US"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rPr>
              <a:t>OS</a:t>
            </a:r>
            <a:r>
              <a:rPr lang="ja-JP" altLang="en-US" sz="2400">
                <a:latin typeface="Meiryo" panose="020B0604030504040204" pitchFamily="34" charset="-128"/>
                <a:ea typeface="Meiryo" panose="020B0604030504040204" pitchFamily="34" charset="-128"/>
              </a:rPr>
              <a:t>や</a:t>
            </a: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ブラウザの信頼ストアに登録されている</a:t>
            </a:r>
            <a:r>
              <a:rPr lang="en-US" altLang="ja-JP" sz="2400" dirty="0">
                <a:latin typeface="Meiryo" panose="020B0604030504040204" pitchFamily="34" charset="-128"/>
                <a:ea typeface="Meiryo" panose="020B0604030504040204" pitchFamily="34" charset="-128"/>
              </a:rPr>
              <a:t>.</a:t>
            </a: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証明書チェーンの起点となる</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AB33E748-8CFC-652F-13FA-25C6FB34A760}"/>
              </a:ext>
            </a:extLst>
          </p:cNvPr>
          <p:cNvSpPr/>
          <p:nvPr/>
        </p:nvSpPr>
        <p:spPr>
          <a:xfrm>
            <a:off x="4667003" y="1282302"/>
            <a:ext cx="4393870" cy="459529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dirty="0">
                <a:solidFill>
                  <a:srgbClr val="C00000"/>
                </a:solidFill>
                <a:latin typeface="Meiryo" panose="020B0604030504040204" pitchFamily="34" charset="-128"/>
                <a:ea typeface="Meiryo" panose="020B0604030504040204" pitchFamily="34" charset="-128"/>
              </a:rPr>
              <a:t>   </a:t>
            </a:r>
            <a:r>
              <a:rPr lang="ja-JP" altLang="en-US" sz="2400">
                <a:solidFill>
                  <a:srgbClr val="C00000"/>
                </a:solidFill>
                <a:latin typeface="Meiryo" panose="020B0604030504040204" pitchFamily="34" charset="-128"/>
                <a:ea typeface="Meiryo" panose="020B0604030504040204" pitchFamily="34" charset="-128"/>
              </a:rPr>
              <a:t>証明書チェーン</a:t>
            </a:r>
            <a:endParaRPr lang="en-US" altLang="ja-JP" sz="2400" dirty="0">
              <a:solidFill>
                <a:srgbClr val="C00000"/>
              </a:solidFill>
              <a:latin typeface="Meiryo" panose="020B0604030504040204" pitchFamily="34" charset="-128"/>
              <a:ea typeface="Meiryo" panose="020B0604030504040204" pitchFamily="34" charset="-128"/>
            </a:endParaRPr>
          </a:p>
          <a:p>
            <a:pPr algn="ctr"/>
            <a:r>
              <a:rPr lang="ja-JP" altLang="en-US" sz="2400">
                <a:solidFill>
                  <a:srgbClr val="C00000"/>
                </a:solidFill>
                <a:latin typeface="Meiryo" panose="020B0604030504040204" pitchFamily="34" charset="-128"/>
                <a:ea typeface="Meiryo" panose="020B0604030504040204" pitchFamily="34" charset="-128"/>
              </a:rPr>
              <a:t>（</a:t>
            </a:r>
            <a:r>
              <a:rPr lang="en-US" altLang="ja-JP" sz="2400" dirty="0">
                <a:solidFill>
                  <a:srgbClr val="C00000"/>
                </a:solidFill>
                <a:latin typeface="Meiryo" panose="020B0604030504040204" pitchFamily="34" charset="-128"/>
                <a:ea typeface="Meiryo" panose="020B0604030504040204" pitchFamily="34" charset="-128"/>
              </a:rPr>
              <a:t>Certificate Chain</a:t>
            </a:r>
            <a:r>
              <a:rPr lang="ja-JP" altLang="en-US" sz="2400">
                <a:solidFill>
                  <a:srgbClr val="C00000"/>
                </a:solidFill>
                <a:latin typeface="Meiryo" panose="020B0604030504040204" pitchFamily="34" charset="-128"/>
                <a:ea typeface="Meiryo" panose="020B0604030504040204" pitchFamily="34" charset="-128"/>
              </a:rPr>
              <a:t>）</a:t>
            </a:r>
            <a:endParaRPr lang="en-US" altLang="ja-JP" sz="2400" dirty="0">
              <a:solidFill>
                <a:srgbClr val="C00000"/>
              </a:solidFill>
              <a:latin typeface="Meiryo" panose="020B0604030504040204" pitchFamily="34" charset="-128"/>
              <a:ea typeface="Meiryo" panose="020B0604030504040204" pitchFamily="34" charset="-128"/>
            </a:endParaRPr>
          </a:p>
          <a:p>
            <a:pPr algn="ctr"/>
            <a:endParaRPr lang="ja-JP" altLang="en-US" sz="24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サーバ証明書 → 中間</a:t>
            </a:r>
            <a:r>
              <a:rPr lang="en-US" altLang="ja-JP" sz="2400" dirty="0">
                <a:latin typeface="Meiryo" panose="020B0604030504040204" pitchFamily="34" charset="-128"/>
                <a:ea typeface="Meiryo" panose="020B0604030504040204" pitchFamily="34" charset="-128"/>
              </a:rPr>
              <a:t>CA</a:t>
            </a:r>
            <a:r>
              <a:rPr lang="ja-JP" altLang="en-US" sz="2400">
                <a:latin typeface="Meiryo" panose="020B0604030504040204" pitchFamily="34" charset="-128"/>
                <a:ea typeface="Meiryo" panose="020B0604030504040204" pitchFamily="34" charset="-128"/>
              </a:rPr>
              <a:t>証明書 → ルート証明書 の連鎖構造</a:t>
            </a:r>
            <a:endParaRPr lang="en-US" altLang="ja-JP" sz="2400" dirty="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クライアントはチェーンを検証して信頼性を判断</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A2EFA8E0-1252-8966-15E6-280B03757B4D}"/>
              </a:ext>
            </a:extLst>
          </p:cNvPr>
          <p:cNvSpPr txBox="1"/>
          <p:nvPr/>
        </p:nvSpPr>
        <p:spPr>
          <a:xfrm>
            <a:off x="598714" y="547272"/>
            <a:ext cx="5683333" cy="461665"/>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PKIを構成する要素とその役割</a:t>
            </a:r>
            <a:r>
              <a:rPr lang="mn-MN"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2/2</a:t>
            </a:r>
            <a:endParaRPr lang="en-JP" sz="2400" b="1"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8FD1AE73-6981-F761-21F0-20C983F49B57}"/>
              </a:ext>
            </a:extLst>
          </p:cNvPr>
          <p:cNvSpPr>
            <a:spLocks noGrp="1"/>
          </p:cNvSpPr>
          <p:nvPr>
            <p:ph type="sldNum" sz="quarter" idx="12"/>
          </p:nvPr>
        </p:nvSpPr>
        <p:spPr/>
        <p:txBody>
          <a:bodyPr/>
          <a:lstStyle/>
          <a:p>
            <a:fld id="{D8C05D5D-75E2-3144-9168-CA833390726D}" type="slidenum">
              <a:rPr lang="en-JP" smtClean="0"/>
              <a:t>7</a:t>
            </a:fld>
            <a:endParaRPr lang="en-JP"/>
          </a:p>
        </p:txBody>
      </p:sp>
    </p:spTree>
    <p:extLst>
      <p:ext uri="{BB962C8B-B14F-4D97-AF65-F5344CB8AC3E}">
        <p14:creationId xmlns:p14="http://schemas.microsoft.com/office/powerpoint/2010/main" val="379744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323850" y="-98169"/>
            <a:ext cx="7886700" cy="1155074"/>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latin typeface="Meiryo"/>
                <a:ea typeface="Meiryo"/>
                <a:cs typeface="Meiryo"/>
                <a:sym typeface="Meiryo"/>
              </a:rPr>
              <a:t>Private CA構築演習のまとめ</a:t>
            </a:r>
            <a:endParaRPr sz="3600" dirty="0"/>
          </a:p>
        </p:txBody>
      </p:sp>
      <p:sp>
        <p:nvSpPr>
          <p:cNvPr id="140" name="Google Shape;140;p7"/>
          <p:cNvSpPr txBox="1">
            <a:spLocks noGrp="1"/>
          </p:cNvSpPr>
          <p:nvPr>
            <p:ph type="body" idx="1"/>
          </p:nvPr>
        </p:nvSpPr>
        <p:spPr>
          <a:xfrm>
            <a:off x="433578" y="1253331"/>
            <a:ext cx="8442198"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Ø"/>
            </a:pPr>
            <a:r>
              <a:rPr lang="mn-MN" altLang="ja-JP" dirty="0">
                <a:solidFill>
                  <a:srgbClr val="C00000"/>
                </a:solidFill>
                <a:latin typeface="Meiryo" panose="020B0604030504040204" pitchFamily="34" charset="-128"/>
                <a:ea typeface="Meiryo" panose="020B0604030504040204" pitchFamily="34" charset="-128"/>
              </a:rPr>
              <a:t> </a:t>
            </a:r>
            <a:r>
              <a:rPr lang="ja-JP" altLang="en-US">
                <a:solidFill>
                  <a:srgbClr val="C00000"/>
                </a:solidFill>
                <a:latin typeface="Meiryo" panose="020B0604030504040204" pitchFamily="34" charset="-128"/>
                <a:ea typeface="Meiryo" panose="020B0604030504040204" pitchFamily="34" charset="-128"/>
              </a:rPr>
              <a:t>私自身の視点から</a:t>
            </a:r>
            <a:endParaRPr lang="mn-MN" altLang="ja-JP" dirty="0">
              <a:solidFill>
                <a:srgbClr val="C00000"/>
              </a:solidFill>
              <a:latin typeface="Meiryo" panose="020B0604030504040204" pitchFamily="34" charset="-128"/>
              <a:ea typeface="Meiryo" panose="020B0604030504040204" pitchFamily="34" charset="-128"/>
            </a:endParaRPr>
          </a:p>
          <a:p>
            <a:pPr marL="0" lvl="0" indent="0" algn="l" rtl="0">
              <a:lnSpc>
                <a:spcPct val="90000"/>
              </a:lnSpc>
              <a:spcBef>
                <a:spcPts val="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PKIに基づくデータ暗号化基盤について理論と実践の両面から理解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Private CAの構築やサーバ証明書の発行を実際に行うことで、PKIが「信頼」を技術的に実現する仕組みを理解</a:t>
            </a:r>
            <a:endParaRPr lang="mn-MN" altLang="ja-JP" dirty="0">
              <a:latin typeface="Meiryo" panose="020B0604030504040204" pitchFamily="34" charset="-128"/>
              <a:ea typeface="Meiryo" panose="020B0604030504040204" pitchFamily="34" charset="-128"/>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panose="020B0604030504040204" pitchFamily="34" charset="-128"/>
                <a:ea typeface="Meiryo" panose="020B0604030504040204" pitchFamily="34" charset="-128"/>
                <a:cs typeface="Meiryo"/>
                <a:sym typeface="Meiryo"/>
              </a:rPr>
              <a:t>サーバ証明書警告やCA秘密鍵漏洩のシナリオを考察することで、信頼モデルや多層防御の重要性を理解</a:t>
            </a:r>
            <a:endParaRPr dirty="0">
              <a:latin typeface="Meiryo" panose="020B0604030504040204" pitchFamily="34" charset="-128"/>
              <a:ea typeface="Meiryo" panose="020B0604030504040204" pitchFamily="34" charset="-128"/>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C4D5A86B-16B4-F68A-23F7-54399BEC8095}"/>
              </a:ext>
            </a:extLst>
          </p:cNvPr>
          <p:cNvSpPr>
            <a:spLocks noGrp="1"/>
          </p:cNvSpPr>
          <p:nvPr>
            <p:ph type="sldNum" sz="quarter" idx="12"/>
          </p:nvPr>
        </p:nvSpPr>
        <p:spPr/>
        <p:txBody>
          <a:bodyPr/>
          <a:lstStyle/>
          <a:p>
            <a:fld id="{D8C05D5D-75E2-3144-9168-CA833390726D}" type="slidenum">
              <a:rPr lang="en-JP" smtClean="0"/>
              <a:pPr/>
              <a:t>8</a:t>
            </a:fld>
            <a:endParaRPr lang="en-JP"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1105324" y="4205465"/>
            <a:ext cx="82875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Meiryo"/>
              <a:ea typeface="Meiryo"/>
              <a:cs typeface="Meiryo"/>
              <a:sym typeface="Meiryo"/>
            </a:endParaRPr>
          </a:p>
        </p:txBody>
      </p:sp>
      <p:sp>
        <p:nvSpPr>
          <p:cNvPr id="146" name="Google Shape;146;p8"/>
          <p:cNvSpPr txBox="1">
            <a:spLocks noGrp="1"/>
          </p:cNvSpPr>
          <p:nvPr>
            <p:ph type="title"/>
          </p:nvPr>
        </p:nvSpPr>
        <p:spPr>
          <a:xfrm>
            <a:off x="262890" y="223459"/>
            <a:ext cx="7886700" cy="8397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Private CA構築演習のまとめ</a:t>
            </a:r>
            <a:endParaRPr sz="3600" dirty="0"/>
          </a:p>
        </p:txBody>
      </p:sp>
      <p:sp>
        <p:nvSpPr>
          <p:cNvPr id="147" name="Google Shape;147;p8"/>
          <p:cNvSpPr txBox="1">
            <a:spLocks noGrp="1"/>
          </p:cNvSpPr>
          <p:nvPr>
            <p:ph type="body" idx="1"/>
          </p:nvPr>
        </p:nvSpPr>
        <p:spPr>
          <a:xfrm>
            <a:off x="262890" y="1158651"/>
            <a:ext cx="7886700" cy="5239222"/>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dk1"/>
              </a:buClr>
              <a:buSzPts val="2800"/>
              <a:buFont typeface="Wingdings" pitchFamily="2" charset="2"/>
              <a:buChar char="Ø"/>
            </a:pPr>
            <a:r>
              <a:rPr lang="en-US" altLang="ja-JP" dirty="0">
                <a:solidFill>
                  <a:srgbClr val="C00000"/>
                </a:solidFill>
                <a:latin typeface="Meiryo"/>
                <a:ea typeface="Meiryo"/>
                <a:cs typeface="Meiryo"/>
                <a:sym typeface="Meiryo"/>
              </a:rPr>
              <a:t>Web</a:t>
            </a:r>
            <a:r>
              <a:rPr lang="ja-JP" altLang="en-US">
                <a:solidFill>
                  <a:srgbClr val="C00000"/>
                </a:solidFill>
                <a:latin typeface="Meiryo"/>
                <a:ea typeface="Meiryo"/>
                <a:cs typeface="Meiryo"/>
                <a:sym typeface="Meiryo"/>
              </a:rPr>
              <a:t>サービス企業の視点</a:t>
            </a:r>
          </a:p>
          <a:p>
            <a:pPr marL="228600" lvl="0" indent="-228600" algn="l" rtl="0">
              <a:lnSpc>
                <a:spcPct val="90000"/>
              </a:lnSpc>
              <a:spcBef>
                <a:spcPts val="0"/>
              </a:spcBef>
              <a:spcAft>
                <a:spcPts val="0"/>
              </a:spcAft>
              <a:buClr>
                <a:schemeClr val="dk1"/>
              </a:buClr>
              <a:buSzPts val="2800"/>
              <a:buChar char="•"/>
            </a:pPr>
            <a:endParaRPr lang="ja-JP" altLang="en-US">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en-US" altLang="ja-JP" dirty="0">
                <a:latin typeface="Meiryo"/>
                <a:ea typeface="Meiryo"/>
                <a:cs typeface="Meiryo"/>
                <a:sym typeface="Meiryo"/>
              </a:rPr>
              <a:t>HTTPS</a:t>
            </a:r>
            <a:r>
              <a:rPr lang="ja-JP" altLang="en-US">
                <a:latin typeface="Meiryo"/>
                <a:ea typeface="Meiryo"/>
                <a:cs typeface="Meiryo"/>
                <a:sym typeface="Meiryo"/>
              </a:rPr>
              <a:t>通信と</a:t>
            </a:r>
            <a:r>
              <a:rPr lang="en-US" altLang="ja-JP" dirty="0">
                <a:latin typeface="Meiryo"/>
                <a:ea typeface="Meiryo"/>
                <a:cs typeface="Meiryo"/>
                <a:sym typeface="Meiryo"/>
              </a:rPr>
              <a:t>PKI</a:t>
            </a:r>
            <a:r>
              <a:rPr lang="ja-JP" altLang="en-US">
                <a:latin typeface="Meiryo"/>
                <a:ea typeface="Meiryo"/>
                <a:cs typeface="Meiryo"/>
                <a:sym typeface="Meiryo"/>
              </a:rPr>
              <a:t>に基づく</a:t>
            </a:r>
            <a:r>
              <a:rPr lang="en-US" altLang="ja-JP" dirty="0">
                <a:latin typeface="Meiryo"/>
                <a:ea typeface="Meiryo"/>
                <a:cs typeface="Meiryo"/>
                <a:sym typeface="Meiryo"/>
              </a:rPr>
              <a:t>TLS</a:t>
            </a:r>
            <a:r>
              <a:rPr lang="ja-JP" altLang="en-US">
                <a:latin typeface="Meiryo"/>
                <a:ea typeface="Meiryo"/>
                <a:cs typeface="Meiryo"/>
                <a:sym typeface="Meiryo"/>
              </a:rPr>
              <a:t>証明書を利用し、通信の安全性を確保する。</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例えば </a:t>
            </a:r>
            <a:r>
              <a:rPr lang="en-US" altLang="ja-JP" dirty="0" err="1">
                <a:latin typeface="Meiryo"/>
                <a:ea typeface="Meiryo"/>
                <a:cs typeface="Meiryo"/>
                <a:sym typeface="Meiryo"/>
              </a:rPr>
              <a:t>backmarket.co.jp</a:t>
            </a:r>
            <a:r>
              <a:rPr lang="en-US" altLang="ja-JP" dirty="0">
                <a:latin typeface="Meiryo"/>
                <a:ea typeface="Meiryo"/>
                <a:cs typeface="Meiryo"/>
                <a:sym typeface="Meiryo"/>
              </a:rPr>
              <a:t> </a:t>
            </a:r>
            <a:r>
              <a:rPr lang="ja-JP" altLang="en-US">
                <a:latin typeface="Meiryo"/>
                <a:ea typeface="Meiryo"/>
                <a:cs typeface="Meiryo"/>
                <a:sym typeface="Meiryo"/>
              </a:rPr>
              <a:t>では、</a:t>
            </a:r>
            <a:r>
              <a:rPr lang="en-US" altLang="ja-JP" dirty="0">
                <a:latin typeface="Meiryo"/>
                <a:ea typeface="Meiryo"/>
                <a:cs typeface="Meiryo"/>
                <a:sym typeface="Meiryo"/>
              </a:rPr>
              <a:t>CA</a:t>
            </a:r>
            <a:r>
              <a:rPr lang="ja-JP" altLang="en-US">
                <a:latin typeface="Meiryo"/>
                <a:ea typeface="Meiryo"/>
                <a:cs typeface="Meiryo"/>
                <a:sym typeface="Meiryo"/>
              </a:rPr>
              <a:t>（</a:t>
            </a:r>
            <a:r>
              <a:rPr lang="en-US" altLang="ja-JP" dirty="0">
                <a:latin typeface="Meiryo"/>
                <a:ea typeface="Meiryo"/>
                <a:cs typeface="Meiryo"/>
                <a:sym typeface="Meiryo"/>
              </a:rPr>
              <a:t>Google Trust Services</a:t>
            </a:r>
            <a:r>
              <a:rPr lang="ja-JP" altLang="en-US">
                <a:latin typeface="Meiryo"/>
                <a:ea typeface="Meiryo"/>
                <a:cs typeface="Meiryo"/>
                <a:sym typeface="Meiryo"/>
              </a:rPr>
              <a:t>）が発行した証明書を利用してサーバの正当性を証明してい</a:t>
            </a: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endParaRPr lang="mn-MN" altLang="ja-JP" dirty="0">
              <a:latin typeface="Meiryo"/>
              <a:ea typeface="Meiryo"/>
              <a:cs typeface="Meiryo"/>
              <a:sym typeface="Meiryo"/>
            </a:endParaRPr>
          </a:p>
          <a:p>
            <a:pPr lvl="0" indent="-457200" algn="l" rtl="0">
              <a:lnSpc>
                <a:spcPct val="90000"/>
              </a:lnSpc>
              <a:spcBef>
                <a:spcPts val="0"/>
              </a:spcBef>
              <a:spcAft>
                <a:spcPts val="0"/>
              </a:spcAft>
              <a:buClr>
                <a:schemeClr val="dk1"/>
              </a:buClr>
              <a:buSzPts val="2800"/>
              <a:buFont typeface="Wingdings" pitchFamily="2" charset="2"/>
              <a:buChar char="§"/>
            </a:pPr>
            <a:r>
              <a:rPr lang="ja-JP" altLang="en-US">
                <a:latin typeface="Meiryo"/>
                <a:ea typeface="Meiryo"/>
                <a:cs typeface="Meiryo"/>
                <a:sym typeface="Meiryo"/>
              </a:rPr>
              <a:t>この仕組みにより、通信の暗号化やなりすまし攻撃の防止が可能となる。</a:t>
            </a:r>
          </a:p>
          <a:p>
            <a:pPr marL="0" lvl="0" indent="0" algn="l" rtl="0">
              <a:lnSpc>
                <a:spcPct val="90000"/>
              </a:lnSpc>
              <a:spcBef>
                <a:spcPts val="0"/>
              </a:spcBef>
              <a:spcAft>
                <a:spcPts val="0"/>
              </a:spcAft>
              <a:buClr>
                <a:schemeClr val="dk1"/>
              </a:buClr>
              <a:buSzPts val="2800"/>
              <a:buNone/>
            </a:pPr>
            <a:r>
              <a:rPr lang="ja-JP" altLang="en-US">
                <a:latin typeface="Meiryo"/>
                <a:ea typeface="Meiryo"/>
                <a:cs typeface="Meiryo"/>
                <a:sym typeface="Meiryo"/>
              </a:rPr>
              <a:t>また、鍵漏洩などのリスクに備え、多層的なセキュリティ対策も重要である。</a:t>
            </a:r>
            <a:endParaRPr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9E3E5E6C-265A-0514-1496-1600D1314C77}"/>
              </a:ext>
            </a:extLst>
          </p:cNvPr>
          <p:cNvSpPr>
            <a:spLocks noGrp="1"/>
          </p:cNvSpPr>
          <p:nvPr>
            <p:ph type="sldNum" sz="quarter" idx="12"/>
          </p:nvPr>
        </p:nvSpPr>
        <p:spPr/>
        <p:txBody>
          <a:bodyPr/>
          <a:lstStyle/>
          <a:p>
            <a:fld id="{D8C05D5D-75E2-3144-9168-CA833390726D}" type="slidenum">
              <a:rPr lang="en-JP" smtClean="0"/>
              <a:pPr/>
              <a:t>9</a:t>
            </a:fld>
            <a:endParaRPr lang="en-JP"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376893" y="646304"/>
            <a:ext cx="7886700" cy="878458"/>
          </a:xfrm>
          <a:prstGeom prst="rect">
            <a:avLst/>
          </a:prstGeom>
          <a:noFill/>
          <a:ln>
            <a:noFill/>
          </a:ln>
        </p:spPr>
        <p:txBody>
          <a:bodyPr spcFirstLastPara="1" wrap="square" lIns="91425" tIns="45700" rIns="91425" bIns="45700" anchor="ctr" anchorCtr="0">
            <a:normAutofit/>
          </a:bodyPr>
          <a:lstStyle/>
          <a:p>
            <a:pPr lvl="0" algn="l" rtl="0">
              <a:lnSpc>
                <a:spcPct val="90000"/>
              </a:lnSpc>
              <a:spcBef>
                <a:spcPts val="0"/>
              </a:spcBef>
              <a:spcAft>
                <a:spcPts val="0"/>
              </a:spcAft>
              <a:buClr>
                <a:schemeClr val="dk1"/>
              </a:buClr>
              <a:buSzPts val="4400"/>
            </a:pPr>
            <a:r>
              <a:rPr lang="ja-JP" sz="3600">
                <a:solidFill>
                  <a:srgbClr val="C00000"/>
                </a:solidFill>
                <a:latin typeface="Meiryo"/>
                <a:ea typeface="Meiryo"/>
                <a:cs typeface="Meiryo"/>
                <a:sym typeface="Meiryo"/>
              </a:rPr>
              <a:t>マルウェア解析演習</a:t>
            </a:r>
            <a:endParaRPr sz="3600" dirty="0">
              <a:solidFill>
                <a:srgbClr val="C00000"/>
              </a:solidFill>
            </a:endParaRPr>
          </a:p>
        </p:txBody>
      </p:sp>
      <p:sp>
        <p:nvSpPr>
          <p:cNvPr id="153" name="Google Shape;153;p9"/>
          <p:cNvSpPr txBox="1">
            <a:spLocks noGrp="1"/>
          </p:cNvSpPr>
          <p:nvPr>
            <p:ph type="body" idx="1"/>
          </p:nvPr>
        </p:nvSpPr>
        <p:spPr>
          <a:xfrm>
            <a:off x="628650" y="2118233"/>
            <a:ext cx="7886700" cy="30511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ja-JP">
                <a:latin typeface="Meiryo"/>
                <a:ea typeface="Meiryo"/>
                <a:cs typeface="Meiryo"/>
                <a:sym typeface="Meiryo"/>
              </a:rPr>
              <a:t>演習内容</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Pythonを用いてバイナリファイルを解析</a:t>
            </a:r>
            <a:endParaRPr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機械学習によりマルウェアを分類</a:t>
            </a:r>
            <a:endParaRPr sz="2800"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演習内容を踏まえて，マルウェア対策・攻撃</a:t>
            </a:r>
            <a:br>
              <a:rPr lang="ja-JP">
                <a:latin typeface="Meiryo"/>
                <a:ea typeface="Meiryo"/>
                <a:cs typeface="Meiryo"/>
                <a:sym typeface="Meiryo"/>
              </a:rPr>
            </a:br>
            <a:r>
              <a:rPr lang="ja-JP">
                <a:latin typeface="Meiryo"/>
                <a:ea typeface="Meiryo"/>
                <a:cs typeface="Meiryo"/>
                <a:sym typeface="Meiryo"/>
              </a:rPr>
              <a:t>検知のための方法を検討</a:t>
            </a:r>
            <a:endParaRPr dirty="0">
              <a:latin typeface="Meiryo"/>
              <a:ea typeface="Meiryo"/>
              <a:cs typeface="Meiryo"/>
              <a:sym typeface="Meiryo"/>
            </a:endParaRPr>
          </a:p>
          <a:p>
            <a:pPr marL="685800" lvl="1" indent="-76200" algn="l" rtl="0">
              <a:lnSpc>
                <a:spcPct val="90000"/>
              </a:lnSpc>
              <a:spcBef>
                <a:spcPts val="500"/>
              </a:spcBef>
              <a:spcAft>
                <a:spcPts val="0"/>
              </a:spcAft>
              <a:buClr>
                <a:schemeClr val="dk1"/>
              </a:buClr>
              <a:buSzPts val="2400"/>
              <a:buNone/>
            </a:pPr>
            <a:endParaRPr sz="2800"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1E883FC4-B508-378A-5A8A-85F394FB9755}"/>
              </a:ext>
            </a:extLst>
          </p:cNvPr>
          <p:cNvSpPr>
            <a:spLocks noGrp="1"/>
          </p:cNvSpPr>
          <p:nvPr>
            <p:ph type="sldNum" sz="quarter" idx="12"/>
          </p:nvPr>
        </p:nvSpPr>
        <p:spPr/>
        <p:txBody>
          <a:bodyPr/>
          <a:lstStyle/>
          <a:p>
            <a:fld id="{D8C05D5D-75E2-3144-9168-CA833390726D}" type="slidenum">
              <a:rPr lang="en-JP" smtClean="0"/>
              <a:pPr/>
              <a:t>10</a:t>
            </a:fld>
            <a:endParaRPr lang="en-JP" dirty="0"/>
          </a:p>
        </p:txBody>
      </p:sp>
      <p:sp>
        <p:nvSpPr>
          <p:cNvPr id="4" name="TextBox 3">
            <a:extLst>
              <a:ext uri="{FF2B5EF4-FFF2-40B4-BE49-F238E27FC236}">
                <a16:creationId xmlns:a16="http://schemas.microsoft.com/office/drawing/2014/main" id="{57164F4D-2EF4-B785-9BE2-BF638C1137DD}"/>
              </a:ext>
            </a:extLst>
          </p:cNvPr>
          <p:cNvSpPr txBox="1"/>
          <p:nvPr/>
        </p:nvSpPr>
        <p:spPr>
          <a:xfrm>
            <a:off x="0" y="0"/>
            <a:ext cx="4572000" cy="369332"/>
          </a:xfrm>
          <a:prstGeom prst="rect">
            <a:avLst/>
          </a:prstGeom>
          <a:noFill/>
        </p:spPr>
        <p:txBody>
          <a:bodyPr wrap="square">
            <a:spAutoFit/>
          </a:bodyPr>
          <a:lstStyle/>
          <a:p>
            <a:pPr marL="285750" indent="-285750">
              <a:buFont typeface="Wingdings" pitchFamily="2" charset="2"/>
              <a:buChar char="§"/>
            </a:pPr>
            <a:r>
              <a:rPr lang="ja-JP" sz="18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800">
                <a:latin typeface="Meiryo" panose="020B0604030504040204" pitchFamily="34" charset="-128"/>
                <a:ea typeface="Meiryo" panose="020B0604030504040204" pitchFamily="34" charset="-128"/>
              </a:rPr>
              <a:t>の概要・</a:t>
            </a:r>
            <a:r>
              <a:rPr lang="en-US" altLang="ja-JP" sz="1800" dirty="0">
                <a:latin typeface="Meiryo" panose="020B0604030504040204" pitchFamily="34" charset="-128"/>
                <a:ea typeface="Meiryo" panose="020B0604030504040204" pitchFamily="34" charset="-128"/>
              </a:rPr>
              <a:t>2</a:t>
            </a:r>
            <a:endParaRPr lang="en-JP"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F73E5B-3604-3F64-DF76-2583DAE19FC3}"/>
              </a:ext>
            </a:extLst>
          </p:cNvPr>
          <p:cNvSpPr txBox="1"/>
          <p:nvPr/>
        </p:nvSpPr>
        <p:spPr>
          <a:xfrm>
            <a:off x="136873" y="520505"/>
            <a:ext cx="6778486" cy="461665"/>
          </a:xfrm>
          <a:prstGeom prst="rect">
            <a:avLst/>
          </a:prstGeom>
          <a:noFill/>
        </p:spPr>
        <p:txBody>
          <a:bodyPr wrap="square">
            <a:spAutoFit/>
          </a:bodyPr>
          <a:lstStyle/>
          <a:p>
            <a:pPr marL="285750" indent="-285750">
              <a:buFont typeface="Wingdings" pitchFamily="2" charset="2"/>
              <a:buChar char="Ø"/>
            </a:pPr>
            <a:r>
              <a:rPr lang="ja-JP" altLang="en-US" sz="2400" b="1">
                <a:latin typeface="Meiryo" panose="020B0604030504040204" pitchFamily="34" charset="-128"/>
                <a:ea typeface="Meiryo" panose="020B0604030504040204" pitchFamily="34" charset="-128"/>
              </a:rPr>
              <a:t>マルウェア解析手法</a:t>
            </a:r>
            <a:endParaRPr lang="en-JP" sz="2400" b="1" dirty="0"/>
          </a:p>
        </p:txBody>
      </p:sp>
      <p:sp>
        <p:nvSpPr>
          <p:cNvPr id="9" name="TextBox 8">
            <a:extLst>
              <a:ext uri="{FF2B5EF4-FFF2-40B4-BE49-F238E27FC236}">
                <a16:creationId xmlns:a16="http://schemas.microsoft.com/office/drawing/2014/main" id="{E5C65A0A-78DA-BD72-F25E-C96FD3335743}"/>
              </a:ext>
            </a:extLst>
          </p:cNvPr>
          <p:cNvSpPr txBox="1"/>
          <p:nvPr/>
        </p:nvSpPr>
        <p:spPr>
          <a:xfrm>
            <a:off x="733994" y="1178695"/>
            <a:ext cx="7434646" cy="523220"/>
          </a:xfrm>
          <a:prstGeom prst="rect">
            <a:avLst/>
          </a:prstGeom>
          <a:noFill/>
        </p:spPr>
        <p:txBody>
          <a:bodyPr wrap="square">
            <a:spAutoFit/>
          </a:bodyPr>
          <a:lstStyle/>
          <a:p>
            <a:pPr marL="342900" indent="-342900">
              <a:buFont typeface="Wingdings" pitchFamily="2" charset="2"/>
              <a:buChar char="Ø"/>
            </a:pPr>
            <a:r>
              <a:rPr lang="en-US" sz="2800" b="1" dirty="0">
                <a:solidFill>
                  <a:srgbClr val="C00000"/>
                </a:solidFill>
                <a:latin typeface="Meiryo" panose="020B0604030504040204" pitchFamily="34" charset="-128"/>
                <a:ea typeface="Meiryo" panose="020B0604030504040204" pitchFamily="34" charset="-128"/>
              </a:rPr>
              <a:t>Binary Refinery</a:t>
            </a:r>
            <a:r>
              <a:rPr lang="en-JP" sz="2800" b="1" dirty="0">
                <a:solidFill>
                  <a:srgbClr val="C00000"/>
                </a:solidFill>
                <a:latin typeface="Meiryo" panose="020B0604030504040204" pitchFamily="34" charset="-128"/>
                <a:ea typeface="Meiryo" panose="020B0604030504040204" pitchFamily="34" charset="-128"/>
              </a:rPr>
              <a:t> を用いたバイナリ解析</a:t>
            </a:r>
          </a:p>
        </p:txBody>
      </p:sp>
      <p:sp>
        <p:nvSpPr>
          <p:cNvPr id="19" name="TextBox 18">
            <a:extLst>
              <a:ext uri="{FF2B5EF4-FFF2-40B4-BE49-F238E27FC236}">
                <a16:creationId xmlns:a16="http://schemas.microsoft.com/office/drawing/2014/main" id="{0251E4CD-EFE1-2065-48E8-48DA16A4F268}"/>
              </a:ext>
            </a:extLst>
          </p:cNvPr>
          <p:cNvSpPr txBox="1"/>
          <p:nvPr/>
        </p:nvSpPr>
        <p:spPr>
          <a:xfrm>
            <a:off x="136873" y="105456"/>
            <a:ext cx="4814886"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2</a:t>
            </a:r>
            <a:endParaRPr lang="en-JP" sz="1400" dirty="0"/>
          </a:p>
        </p:txBody>
      </p:sp>
      <p:sp>
        <p:nvSpPr>
          <p:cNvPr id="25" name="TextBox 24">
            <a:extLst>
              <a:ext uri="{FF2B5EF4-FFF2-40B4-BE49-F238E27FC236}">
                <a16:creationId xmlns:a16="http://schemas.microsoft.com/office/drawing/2014/main" id="{B5AD75D3-FA91-2D3A-1EC7-DE8E2F5D5AF6}"/>
              </a:ext>
            </a:extLst>
          </p:cNvPr>
          <p:cNvSpPr txBox="1"/>
          <p:nvPr/>
        </p:nvSpPr>
        <p:spPr>
          <a:xfrm>
            <a:off x="214338" y="1587680"/>
            <a:ext cx="8715324"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1. </a:t>
            </a:r>
            <a:r>
              <a:rPr lang="en-JP" sz="2400" dirty="0">
                <a:latin typeface="Meiryo" panose="020B0604030504040204" pitchFamily="34" charset="-128"/>
                <a:ea typeface="Meiryo" panose="020B0604030504040204" pitchFamily="34" charset="-128"/>
              </a:rPr>
              <a:t>目的</a:t>
            </a:r>
          </a:p>
          <a:p>
            <a:r>
              <a:rPr lang="en-JP" sz="2400" dirty="0">
                <a:latin typeface="Meiryo" panose="020B0604030504040204" pitchFamily="34" charset="-128"/>
                <a:ea typeface="Meiryo" panose="020B0604030504040204" pitchFamily="34" charset="-128"/>
              </a:rPr>
              <a:t>・Binary Refinery を用いてバイナリデータの解析方法を理解</a:t>
            </a:r>
            <a:endParaRPr lang="mn-MN"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2.</a:t>
            </a:r>
            <a:r>
              <a:rPr lang="en-JP" sz="2400" dirty="0">
                <a:latin typeface="Meiryo" panose="020B0604030504040204" pitchFamily="34" charset="-128"/>
                <a:ea typeface="Meiryo" panose="020B0604030504040204" pitchFamily="34" charset="-128"/>
              </a:rPr>
              <a:t> 実施内容</a:t>
            </a:r>
          </a:p>
          <a:p>
            <a:r>
              <a:rPr lang="en-JP" sz="2400" dirty="0">
                <a:latin typeface="Meiryo" panose="020B0604030504040204" pitchFamily="34" charset="-128"/>
                <a:ea typeface="Meiryo" panose="020B0604030504040204" pitchFamily="34" charset="-128"/>
              </a:rPr>
              <a:t>・サンプルバイナリファイルを読み込み、データ構造を確認</a:t>
            </a:r>
          </a:p>
          <a:p>
            <a:r>
              <a:rPr lang="en-JP" sz="2400" dirty="0">
                <a:latin typeface="Meiryo" panose="020B0604030504040204" pitchFamily="34" charset="-128"/>
                <a:ea typeface="Meiryo" panose="020B0604030504040204" pitchFamily="34" charset="-128"/>
              </a:rPr>
              <a:t>・難読化されたデータをデコードして内容を解析</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3.</a:t>
            </a:r>
            <a:r>
              <a:rPr lang="en-JP" sz="2400" dirty="0">
                <a:latin typeface="Meiryo" panose="020B0604030504040204" pitchFamily="34" charset="-128"/>
                <a:ea typeface="Meiryo" panose="020B0604030504040204" pitchFamily="34" charset="-128"/>
              </a:rPr>
              <a:t> 結果</a:t>
            </a:r>
          </a:p>
          <a:p>
            <a:r>
              <a:rPr lang="en-JP" sz="2400" dirty="0">
                <a:latin typeface="Meiryo" panose="020B0604030504040204" pitchFamily="34" charset="-128"/>
                <a:ea typeface="Meiryo" panose="020B0604030504040204" pitchFamily="34" charset="-128"/>
              </a:rPr>
              <a:t>・一部のデータがエンコードされていることを確認</a:t>
            </a:r>
          </a:p>
          <a:p>
            <a:r>
              <a:rPr lang="en-JP" sz="2400" dirty="0">
                <a:latin typeface="Meiryo" panose="020B0604030504040204" pitchFamily="34" charset="-128"/>
                <a:ea typeface="Meiryo" panose="020B0604030504040204" pitchFamily="34" charset="-128"/>
              </a:rPr>
              <a:t>・Binary Refinery を用いることでデータ抽出やデコードが</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可能であることを理解した</a:t>
            </a:r>
          </a:p>
        </p:txBody>
      </p:sp>
      <p:sp>
        <p:nvSpPr>
          <p:cNvPr id="26" name="Slide Number Placeholder 25">
            <a:extLst>
              <a:ext uri="{FF2B5EF4-FFF2-40B4-BE49-F238E27FC236}">
                <a16:creationId xmlns:a16="http://schemas.microsoft.com/office/drawing/2014/main" id="{1E768B2D-0072-70F1-6220-114CF73F1E5E}"/>
              </a:ext>
            </a:extLst>
          </p:cNvPr>
          <p:cNvSpPr>
            <a:spLocks noGrp="1"/>
          </p:cNvSpPr>
          <p:nvPr>
            <p:ph type="sldNum" sz="quarter" idx="12"/>
          </p:nvPr>
        </p:nvSpPr>
        <p:spPr/>
        <p:txBody>
          <a:bodyPr/>
          <a:lstStyle/>
          <a:p>
            <a:fld id="{D8C05D5D-75E2-3144-9168-CA833390726D}" type="slidenum">
              <a:rPr lang="en-JP" smtClean="0"/>
              <a:t>11</a:t>
            </a:fld>
            <a:endParaRPr lang="en-JP"/>
          </a:p>
        </p:txBody>
      </p:sp>
    </p:spTree>
    <p:extLst>
      <p:ext uri="{BB962C8B-B14F-4D97-AF65-F5344CB8AC3E}">
        <p14:creationId xmlns:p14="http://schemas.microsoft.com/office/powerpoint/2010/main" val="261969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64F389-7F9E-A11A-03FC-DCBA2A0F948C}"/>
              </a:ext>
            </a:extLst>
          </p:cNvPr>
          <p:cNvSpPr txBox="1"/>
          <p:nvPr/>
        </p:nvSpPr>
        <p:spPr>
          <a:xfrm>
            <a:off x="250728" y="527605"/>
            <a:ext cx="6207221" cy="461665"/>
          </a:xfrm>
          <a:prstGeom prst="rect">
            <a:avLst/>
          </a:prstGeom>
          <a:noFill/>
        </p:spPr>
        <p:txBody>
          <a:bodyPr wrap="square">
            <a:spAutoFit/>
          </a:bodyPr>
          <a:lstStyle/>
          <a:p>
            <a:pPr marL="285750" indent="-28575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1</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F5A52BBE-2034-E027-83ED-4E8A5EEDB396}"/>
              </a:ext>
            </a:extLst>
          </p:cNvPr>
          <p:cNvSpPr txBox="1"/>
          <p:nvPr/>
        </p:nvSpPr>
        <p:spPr>
          <a:xfrm>
            <a:off x="373857" y="1810169"/>
            <a:ext cx="8396285"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 解析の流れ</a:t>
            </a:r>
          </a:p>
          <a:p>
            <a:r>
              <a:rPr lang="ja-JP" altLang="en-US" sz="2400">
                <a:latin typeface="Meiryo" panose="020B0604030504040204" pitchFamily="34" charset="-128"/>
                <a:ea typeface="Meiryo" panose="020B0604030504040204" pitchFamily="34" charset="-128"/>
              </a:rPr>
              <a:t>・</a:t>
            </a:r>
            <a:r>
              <a:rPr lang="en-US" altLang="ja-JP" sz="2400" dirty="0">
                <a:latin typeface="Meiryo" panose="020B0604030504040204" pitchFamily="34" charset="-128"/>
                <a:ea typeface="Meiryo" panose="020B0604030504040204" pitchFamily="34" charset="-128"/>
              </a:rPr>
              <a:t>PE</a:t>
            </a:r>
            <a:r>
              <a:rPr lang="ja-JP" altLang="en-US" sz="2400">
                <a:latin typeface="Meiryo" panose="020B0604030504040204" pitchFamily="34" charset="-128"/>
                <a:ea typeface="Meiryo" panose="020B0604030504040204" pitchFamily="34" charset="-128"/>
              </a:rPr>
              <a:t>ファイル（</a:t>
            </a:r>
            <a:r>
              <a:rPr lang="en-US" altLang="ja-JP" sz="2400" dirty="0">
                <a:latin typeface="Meiryo" panose="020B0604030504040204" pitchFamily="34" charset="-128"/>
                <a:ea typeface="Meiryo" panose="020B0604030504040204" pitchFamily="34" charset="-128"/>
              </a:rPr>
              <a:t>.exe, .dll</a:t>
            </a:r>
            <a:r>
              <a:rPr lang="ja-JP" altLang="en-US" sz="2400">
                <a:latin typeface="Meiryo" panose="020B0604030504040204" pitchFamily="34" charset="-128"/>
                <a:ea typeface="Meiryo" panose="020B0604030504040204" pitchFamily="34" charset="-128"/>
              </a:rPr>
              <a:t>）から特徴量を抽出</a:t>
            </a:r>
          </a:p>
          <a:p>
            <a:r>
              <a:rPr lang="ja-JP" altLang="en-US" sz="2400">
                <a:latin typeface="Meiryo" panose="020B0604030504040204" pitchFamily="34" charset="-128"/>
                <a:ea typeface="Meiryo" panose="020B0604030504040204" pitchFamily="34" charset="-128"/>
              </a:rPr>
              <a:t>・抽出した特徴量を機械学習モデルに入力</a:t>
            </a:r>
          </a:p>
          <a:p>
            <a:r>
              <a:rPr lang="ja-JP" altLang="en-US" sz="2400">
                <a:latin typeface="Meiryo" panose="020B0604030504040204" pitchFamily="34" charset="-128"/>
                <a:ea typeface="Meiryo" panose="020B0604030504040204" pitchFamily="34" charset="-128"/>
              </a:rPr>
              <a:t>・モデルが正常ファイルとマルウェアを分類</a:t>
            </a:r>
          </a:p>
        </p:txBody>
      </p:sp>
      <p:sp>
        <p:nvSpPr>
          <p:cNvPr id="17" name="正方形/長方形 9">
            <a:extLst>
              <a:ext uri="{FF2B5EF4-FFF2-40B4-BE49-F238E27FC236}">
                <a16:creationId xmlns:a16="http://schemas.microsoft.com/office/drawing/2014/main" id="{F40CAF9F-3CF2-33F3-A750-6D348F1E4B25}"/>
              </a:ext>
            </a:extLst>
          </p:cNvPr>
          <p:cNvSpPr/>
          <p:nvPr/>
        </p:nvSpPr>
        <p:spPr>
          <a:xfrm>
            <a:off x="250729" y="1327004"/>
            <a:ext cx="8396285"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1A854E01-01F1-131E-D23F-D1ECB16E11EA}"/>
              </a:ext>
            </a:extLst>
          </p:cNvPr>
          <p:cNvSpPr/>
          <p:nvPr/>
        </p:nvSpPr>
        <p:spPr>
          <a:xfrm>
            <a:off x="5005387" y="3966229"/>
            <a:ext cx="3619498"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B63AF331-5CF4-DB31-2814-69379F27CEB6}"/>
              </a:ext>
            </a:extLst>
          </p:cNvPr>
          <p:cNvSpPr/>
          <p:nvPr/>
        </p:nvSpPr>
        <p:spPr>
          <a:xfrm>
            <a:off x="228600" y="3964492"/>
            <a:ext cx="4492719" cy="2418891"/>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TextBox 21">
            <a:extLst>
              <a:ext uri="{FF2B5EF4-FFF2-40B4-BE49-F238E27FC236}">
                <a16:creationId xmlns:a16="http://schemas.microsoft.com/office/drawing/2014/main" id="{57863AC3-E2AE-950A-B806-69887E287945}"/>
              </a:ext>
            </a:extLst>
          </p:cNvPr>
          <p:cNvSpPr txBox="1"/>
          <p:nvPr/>
        </p:nvSpPr>
        <p:spPr>
          <a:xfrm>
            <a:off x="690116" y="1333935"/>
            <a:ext cx="641936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PE file → Feature → ML model → Malware / Normal</a:t>
            </a:r>
            <a:endParaRPr lang="en-JP"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B8AC310-DD66-927B-CBFE-BB978C40DE38}"/>
              </a:ext>
            </a:extLst>
          </p:cNvPr>
          <p:cNvSpPr txBox="1"/>
          <p:nvPr/>
        </p:nvSpPr>
        <p:spPr>
          <a:xfrm>
            <a:off x="5129560" y="4136614"/>
            <a:ext cx="3409950" cy="1938992"/>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3.</a:t>
            </a:r>
            <a:r>
              <a:rPr lang="ja-JP" altLang="en-US" sz="2000">
                <a:latin typeface="Meiryo" panose="020B0604030504040204" pitchFamily="34" charset="-128"/>
                <a:ea typeface="Meiryo" panose="020B0604030504040204" pitchFamily="34" charset="-128"/>
              </a:rPr>
              <a:t> 使用データセット</a:t>
            </a:r>
          </a:p>
          <a:p>
            <a:r>
              <a:rPr lang="ja-JP" altLang="en-US" sz="2000">
                <a:latin typeface="Meiryo" panose="020B0604030504040204" pitchFamily="34" charset="-128"/>
                <a:ea typeface="Meiryo" panose="020B0604030504040204" pitchFamily="34" charset="-128"/>
              </a:rPr>
              <a:t>正常</a:t>
            </a:r>
            <a:r>
              <a:rPr lang="en-US" sz="2000" dirty="0">
                <a:latin typeface="Meiryo" panose="020B0604030504040204" pitchFamily="34" charset="-128"/>
                <a:ea typeface="Meiryo" panose="020B0604030504040204" pitchFamily="34" charset="-128"/>
              </a:rPr>
              <a:t>Windows</a:t>
            </a:r>
            <a:r>
              <a:rPr lang="ja-JP" altLang="en-US" sz="2000">
                <a:latin typeface="Meiryo" panose="020B0604030504040204" pitchFamily="34" charset="-128"/>
                <a:ea typeface="Meiryo" panose="020B0604030504040204" pitchFamily="34" charset="-128"/>
              </a:rPr>
              <a:t>バイナリ：</a:t>
            </a:r>
            <a:r>
              <a:rPr lang="mn-MN" altLang="ja-JP" sz="2000" dirty="0">
                <a:latin typeface="Meiryo" panose="020B0604030504040204" pitchFamily="34" charset="-128"/>
                <a:ea typeface="Meiryo" panose="020B0604030504040204" pitchFamily="34" charset="-128"/>
              </a:rPr>
              <a:t>   </a:t>
            </a:r>
            <a:r>
              <a:rPr lang="en-US" altLang="ja-JP" sz="2000" dirty="0">
                <a:latin typeface="Meiryo" panose="020B0604030504040204" pitchFamily="34" charset="-128"/>
                <a:ea typeface="Meiryo" panose="020B0604030504040204" pitchFamily="34" charset="-128"/>
              </a:rPr>
              <a:t>41,323</a:t>
            </a:r>
            <a:r>
              <a:rPr lang="ja-JP" altLang="en-US" sz="2000">
                <a:latin typeface="Meiryo" panose="020B0604030504040204" pitchFamily="34" charset="-128"/>
                <a:ea typeface="Meiryo" panose="020B0604030504040204" pitchFamily="34" charset="-128"/>
              </a:rPr>
              <a:t>ファイル</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マルウェアサンプル：</a:t>
            </a:r>
            <a:r>
              <a:rPr lang="en-US" altLang="ja-JP" sz="2000" dirty="0">
                <a:latin typeface="Meiryo" panose="020B0604030504040204" pitchFamily="34" charset="-128"/>
                <a:ea typeface="Meiryo" panose="020B0604030504040204" pitchFamily="34" charset="-128"/>
              </a:rPr>
              <a:t>96,724</a:t>
            </a:r>
            <a:r>
              <a:rPr lang="ja-JP" altLang="en-US" sz="2000">
                <a:latin typeface="Meiryo" panose="020B0604030504040204" pitchFamily="34" charset="-128"/>
                <a:ea typeface="Meiryo" panose="020B0604030504040204" pitchFamily="34" charset="-128"/>
              </a:rPr>
              <a:t>検体</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VirusShare</a:t>
            </a:r>
            <a:r>
              <a:rPr lang="ja-JP" altLang="en-US" sz="2000">
                <a:latin typeface="Meiryo" panose="020B0604030504040204" pitchFamily="34" charset="-128"/>
                <a:ea typeface="Meiryo" panose="020B0604030504040204" pitchFamily="34" charset="-128"/>
              </a:rPr>
              <a:t>から取得</a:t>
            </a:r>
          </a:p>
        </p:txBody>
      </p:sp>
      <p:sp>
        <p:nvSpPr>
          <p:cNvPr id="28" name="TextBox 27">
            <a:extLst>
              <a:ext uri="{FF2B5EF4-FFF2-40B4-BE49-F238E27FC236}">
                <a16:creationId xmlns:a16="http://schemas.microsoft.com/office/drawing/2014/main" id="{4CA32DF9-C481-02E7-BFCC-8520B97D15A8}"/>
              </a:ext>
            </a:extLst>
          </p:cNvPr>
          <p:cNvSpPr txBox="1"/>
          <p:nvPr/>
        </p:nvSpPr>
        <p:spPr>
          <a:xfrm>
            <a:off x="274018" y="4231393"/>
            <a:ext cx="4793456" cy="1569660"/>
          </a:xfrm>
          <a:prstGeom prst="rect">
            <a:avLst/>
          </a:prstGeom>
          <a:noFill/>
        </p:spPr>
        <p:txBody>
          <a:bodyPr wrap="square">
            <a:spAutoFit/>
          </a:bodyPr>
          <a:lstStyle/>
          <a:p>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使用したアルゴリズム</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Random Forest</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・Gradient Boosting</a:t>
            </a:r>
            <a:br>
              <a:rPr lang="en-US" sz="2400" dirty="0">
                <a:latin typeface="Meiryo" panose="020B0604030504040204" pitchFamily="34" charset="-128"/>
                <a:ea typeface="Meiryo" panose="020B0604030504040204" pitchFamily="34" charset="-128"/>
              </a:rPr>
            </a:br>
            <a:r>
              <a:rPr lang="en-US" sz="2400" dirty="0">
                <a:latin typeface="Meiryo" panose="020B0604030504040204" pitchFamily="34" charset="-128"/>
                <a:ea typeface="Meiryo" panose="020B0604030504040204" pitchFamily="34" charset="-128"/>
              </a:rPr>
              <a:t>・AdaBoost</a:t>
            </a:r>
          </a:p>
        </p:txBody>
      </p:sp>
      <p:sp>
        <p:nvSpPr>
          <p:cNvPr id="29" name="Slide Number Placeholder 28">
            <a:extLst>
              <a:ext uri="{FF2B5EF4-FFF2-40B4-BE49-F238E27FC236}">
                <a16:creationId xmlns:a16="http://schemas.microsoft.com/office/drawing/2014/main" id="{618B3037-57EB-4409-B023-61D5665BBA80}"/>
              </a:ext>
            </a:extLst>
          </p:cNvPr>
          <p:cNvSpPr>
            <a:spLocks noGrp="1"/>
          </p:cNvSpPr>
          <p:nvPr>
            <p:ph type="sldNum" sz="quarter" idx="12"/>
          </p:nvPr>
        </p:nvSpPr>
        <p:spPr/>
        <p:txBody>
          <a:bodyPr/>
          <a:lstStyle/>
          <a:p>
            <a:fld id="{D8C05D5D-75E2-3144-9168-CA833390726D}" type="slidenum">
              <a:rPr lang="en-JP" smtClean="0"/>
              <a:t>12</a:t>
            </a:fld>
            <a:endParaRPr lang="en-JP"/>
          </a:p>
        </p:txBody>
      </p:sp>
      <p:sp>
        <p:nvSpPr>
          <p:cNvPr id="31" name="TextBox 30">
            <a:extLst>
              <a:ext uri="{FF2B5EF4-FFF2-40B4-BE49-F238E27FC236}">
                <a16:creationId xmlns:a16="http://schemas.microsoft.com/office/drawing/2014/main" id="{763756A9-2AF4-0046-79C4-DF59A5417D28}"/>
              </a:ext>
            </a:extLst>
          </p:cNvPr>
          <p:cNvSpPr txBox="1"/>
          <p:nvPr/>
        </p:nvSpPr>
        <p:spPr>
          <a:xfrm>
            <a:off x="-2" y="130925"/>
            <a:ext cx="6670095" cy="338554"/>
          </a:xfrm>
          <a:prstGeom prst="rect">
            <a:avLst/>
          </a:prstGeom>
          <a:noFill/>
        </p:spPr>
        <p:txBody>
          <a:bodyPr wrap="square">
            <a:spAutoFit/>
          </a:bodyPr>
          <a:lstStyle/>
          <a:p>
            <a:pPr marL="285750" indent="-285750">
              <a:buFont typeface="Wingdings" pitchFamily="2" charset="2"/>
              <a:buChar char="Ø"/>
            </a:pPr>
            <a:r>
              <a:rPr lang="ja-JP" altLang="en-US" sz="1600" b="1">
                <a:latin typeface="Meiryo" panose="020B0604030504040204" pitchFamily="34" charset="-128"/>
                <a:ea typeface="Meiryo" panose="020B0604030504040204" pitchFamily="34" charset="-128"/>
              </a:rPr>
              <a:t>セキュリティ対策の観点から見たマルウェア解析手法</a:t>
            </a:r>
            <a:endParaRPr lang="en-JP" sz="1600" b="1" dirty="0"/>
          </a:p>
        </p:txBody>
      </p:sp>
    </p:spTree>
    <p:extLst>
      <p:ext uri="{BB962C8B-B14F-4D97-AF65-F5344CB8AC3E}">
        <p14:creationId xmlns:p14="http://schemas.microsoft.com/office/powerpoint/2010/main" val="1468693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524E24-5AF5-FE15-BE79-8CC8EF9774E2}"/>
              </a:ext>
            </a:extLst>
          </p:cNvPr>
          <p:cNvSpPr txBox="1"/>
          <p:nvPr/>
        </p:nvSpPr>
        <p:spPr>
          <a:xfrm>
            <a:off x="287424" y="566678"/>
            <a:ext cx="8361275" cy="2862322"/>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探索的データ解析（</a:t>
            </a:r>
            <a:r>
              <a:rPr lang="en-US" sz="2000" dirty="0">
                <a:latin typeface="Meiryo" panose="020B0604030504040204" pitchFamily="34" charset="-128"/>
                <a:ea typeface="Meiryo" panose="020B0604030504040204" pitchFamily="34" charset="-128"/>
                <a:cs typeface="Times New Roman" panose="02020603050405020304" pitchFamily="18" charset="0"/>
              </a:rPr>
              <a:t>EDA）</a:t>
            </a:r>
            <a:r>
              <a:rPr lang="ja-JP" altLang="en-US" sz="2000">
                <a:latin typeface="Meiryo" panose="020B0604030504040204" pitchFamily="34" charset="-128"/>
                <a:ea typeface="Meiryo" panose="020B0604030504040204" pitchFamily="34" charset="-128"/>
                <a:cs typeface="Times New Roman" panose="02020603050405020304" pitchFamily="18" charset="0"/>
              </a:rPr>
              <a:t>実施内容</a:t>
            </a:r>
          </a:p>
          <a:p>
            <a:r>
              <a:rPr lang="ja-JP" altLang="en-US" sz="2000">
                <a:latin typeface="Meiryo" panose="020B0604030504040204" pitchFamily="34" charset="-128"/>
                <a:ea typeface="Meiryo" panose="020B0604030504040204" pitchFamily="34" charset="-128"/>
                <a:cs typeface="Times New Roman" panose="02020603050405020304" pitchFamily="18" charset="0"/>
              </a:rPr>
              <a:t>・</a:t>
            </a:r>
            <a:r>
              <a:rPr lang="en-US" sz="2000" dirty="0">
                <a:latin typeface="Meiryo" panose="020B0604030504040204" pitchFamily="34" charset="-128"/>
                <a:ea typeface="Meiryo" panose="020B0604030504040204" pitchFamily="34" charset="-128"/>
                <a:cs typeface="Times New Roman" panose="02020603050405020304" pitchFamily="18" charset="0"/>
              </a:rPr>
              <a:t>PE</a:t>
            </a:r>
            <a:r>
              <a:rPr lang="ja-JP" altLang="en-US" sz="2000">
                <a:latin typeface="Meiryo" panose="020B0604030504040204" pitchFamily="34" charset="-128"/>
                <a:ea typeface="Meiryo" panose="020B0604030504040204" pitchFamily="34" charset="-128"/>
                <a:cs typeface="Times New Roman" panose="02020603050405020304" pitchFamily="18" charset="0"/>
              </a:rPr>
              <a:t>ファイルの特徴量データを分析</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・欠損値やデータ分布を確認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・特徴量の関係性を可視化</a:t>
            </a:r>
          </a:p>
          <a:p>
            <a:r>
              <a:rPr lang="ja-JP" altLang="en-US" sz="2000">
                <a:latin typeface="Meiryo" panose="020B0604030504040204" pitchFamily="34" charset="-128"/>
                <a:ea typeface="Meiryo" panose="020B0604030504040204" pitchFamily="34" charset="-128"/>
                <a:cs typeface="Times New Roman" panose="02020603050405020304" pitchFamily="18" charset="0"/>
              </a:rPr>
              <a:t>結果</a:t>
            </a:r>
          </a:p>
          <a:p>
            <a:r>
              <a:rPr lang="ja-JP" altLang="en-US" sz="2000">
                <a:latin typeface="Meiryo" panose="020B0604030504040204" pitchFamily="34" charset="-128"/>
                <a:ea typeface="Meiryo" panose="020B0604030504040204" pitchFamily="34" charset="-128"/>
                <a:cs typeface="Times New Roman" panose="02020603050405020304" pitchFamily="18" charset="0"/>
              </a:rPr>
              <a:t>・一部の特徴量に偏りがあることを確認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・欠損値がほとんど存在しないことを確認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・特徴量の分布を把握し、機械学習の前処理に活用</a:t>
            </a:r>
          </a:p>
          <a:p>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9F10C1F-E5EF-5980-F8C0-EA115B3D83DB}"/>
              </a:ext>
            </a:extLst>
          </p:cNvPr>
          <p:cNvSpPr txBox="1"/>
          <p:nvPr/>
        </p:nvSpPr>
        <p:spPr>
          <a:xfrm>
            <a:off x="287424" y="193219"/>
            <a:ext cx="5265650" cy="769441"/>
          </a:xfrm>
          <a:prstGeom prst="rect">
            <a:avLst/>
          </a:prstGeom>
          <a:noFill/>
        </p:spPr>
        <p:txBody>
          <a:bodyPr wrap="square">
            <a:spAutoFit/>
          </a:bodyPr>
          <a:lstStyle/>
          <a:p>
            <a:pPr marL="342900" indent="-34290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2</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D89A3C69-D19E-E37F-F01C-AD83F0E91225}"/>
              </a:ext>
            </a:extLst>
          </p:cNvPr>
          <p:cNvPicPr>
            <a:picLocks noChangeAspect="1"/>
          </p:cNvPicPr>
          <p:nvPr/>
        </p:nvPicPr>
        <p:blipFill>
          <a:blip r:embed="rId3"/>
          <a:stretch>
            <a:fillRect/>
          </a:stretch>
        </p:blipFill>
        <p:spPr>
          <a:xfrm>
            <a:off x="287424" y="3045447"/>
            <a:ext cx="8569151" cy="1979754"/>
          </a:xfrm>
          <a:prstGeom prst="rect">
            <a:avLst/>
          </a:prstGeom>
        </p:spPr>
      </p:pic>
      <p:pic>
        <p:nvPicPr>
          <p:cNvPr id="12" name="Picture 11">
            <a:extLst>
              <a:ext uri="{FF2B5EF4-FFF2-40B4-BE49-F238E27FC236}">
                <a16:creationId xmlns:a16="http://schemas.microsoft.com/office/drawing/2014/main" id="{28417238-9FAC-FE43-2306-22E44D747907}"/>
              </a:ext>
            </a:extLst>
          </p:cNvPr>
          <p:cNvPicPr>
            <a:picLocks noChangeAspect="1"/>
          </p:cNvPicPr>
          <p:nvPr/>
        </p:nvPicPr>
        <p:blipFill>
          <a:blip r:embed="rId4"/>
          <a:stretch>
            <a:fillRect/>
          </a:stretch>
        </p:blipFill>
        <p:spPr>
          <a:xfrm>
            <a:off x="161925" y="4643029"/>
            <a:ext cx="4000500" cy="2063750"/>
          </a:xfrm>
          <a:prstGeom prst="rect">
            <a:avLst/>
          </a:prstGeom>
        </p:spPr>
      </p:pic>
      <p:pic>
        <p:nvPicPr>
          <p:cNvPr id="13" name="Picture 12">
            <a:extLst>
              <a:ext uri="{FF2B5EF4-FFF2-40B4-BE49-F238E27FC236}">
                <a16:creationId xmlns:a16="http://schemas.microsoft.com/office/drawing/2014/main" id="{0FDFF57C-7997-544D-805E-1BF55966A32B}"/>
              </a:ext>
            </a:extLst>
          </p:cNvPr>
          <p:cNvPicPr>
            <a:picLocks noChangeAspect="1"/>
          </p:cNvPicPr>
          <p:nvPr/>
        </p:nvPicPr>
        <p:blipFill>
          <a:blip r:embed="rId5"/>
          <a:stretch>
            <a:fillRect/>
          </a:stretch>
        </p:blipFill>
        <p:spPr>
          <a:xfrm>
            <a:off x="4173625" y="4685027"/>
            <a:ext cx="4600574" cy="1979754"/>
          </a:xfrm>
          <a:prstGeom prst="rect">
            <a:avLst/>
          </a:prstGeom>
        </p:spPr>
      </p:pic>
      <p:sp>
        <p:nvSpPr>
          <p:cNvPr id="14" name="Slide Number Placeholder 13">
            <a:extLst>
              <a:ext uri="{FF2B5EF4-FFF2-40B4-BE49-F238E27FC236}">
                <a16:creationId xmlns:a16="http://schemas.microsoft.com/office/drawing/2014/main" id="{B77D87DE-451C-58F6-D1A9-D0123620C748}"/>
              </a:ext>
            </a:extLst>
          </p:cNvPr>
          <p:cNvSpPr>
            <a:spLocks noGrp="1"/>
          </p:cNvSpPr>
          <p:nvPr>
            <p:ph type="sldNum" sz="quarter" idx="12"/>
          </p:nvPr>
        </p:nvSpPr>
        <p:spPr/>
        <p:txBody>
          <a:bodyPr/>
          <a:lstStyle/>
          <a:p>
            <a:fld id="{D8C05D5D-75E2-3144-9168-CA833390726D}" type="slidenum">
              <a:rPr lang="en-JP" smtClean="0"/>
              <a:t>13</a:t>
            </a:fld>
            <a:endParaRPr lang="en-JP"/>
          </a:p>
        </p:txBody>
      </p:sp>
    </p:spTree>
    <p:extLst>
      <p:ext uri="{BB962C8B-B14F-4D97-AF65-F5344CB8AC3E}">
        <p14:creationId xmlns:p14="http://schemas.microsoft.com/office/powerpoint/2010/main" val="277749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84A7D-0BB7-FF08-55D1-A217A931CF28}"/>
              </a:ext>
            </a:extLst>
          </p:cNvPr>
          <p:cNvSpPr txBox="1"/>
          <p:nvPr/>
        </p:nvSpPr>
        <p:spPr>
          <a:xfrm>
            <a:off x="265339" y="912481"/>
            <a:ext cx="4572000" cy="461665"/>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統合的活用モデルの提案</a:t>
            </a:r>
            <a:endParaRPr lang="en-JP" sz="24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76E1C735-7FB7-15DA-B625-63DB083D9B11}"/>
              </a:ext>
            </a:extLst>
          </p:cNvPr>
          <p:cNvSpPr txBox="1"/>
          <p:nvPr/>
        </p:nvSpPr>
        <p:spPr>
          <a:xfrm>
            <a:off x="467466" y="1435701"/>
            <a:ext cx="7826829" cy="5324535"/>
          </a:xfrm>
          <a:prstGeom prst="rect">
            <a:avLst/>
          </a:prstGeom>
          <a:noFill/>
        </p:spPr>
        <p:txBody>
          <a:bodyPr wrap="square">
            <a:spAutoFit/>
          </a:bodyPr>
          <a:lstStyle/>
          <a:p>
            <a:r>
              <a:rPr lang="ja-JP" sz="2000" b="1" kern="100">
                <a:effectLst/>
                <a:latin typeface="Meiryo" panose="020B0604030504040204" pitchFamily="34" charset="-128"/>
                <a:ea typeface="Meiryo" panose="020B0604030504040204" pitchFamily="34" charset="-128"/>
                <a:cs typeface="Times New Roman" panose="02020603050405020304" pitchFamily="18" charset="0"/>
              </a:rPr>
              <a:t>レポートの目的と範囲</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本レポートでは、実際の組織におけるマルウェア解析・検知・対応の統合アーキテクチャを設計し、以下の観点から評価</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設計範囲</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境界防御（メール、</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）での活用シナリオ</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侵入後（内部不正・ラテラルムーブメント）の検知メカニズム</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インシデント対応・フォレンジックでの利用方法</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SOC/CSIRT</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運用体制の最適</a:t>
            </a:r>
            <a:endParaRPr lang="en-US" altLang="ja-JP"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b.</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評価観点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運用負荷（人的・計算リソース・時間）の現実性</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アラートトリアージプロセスへの影響</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必要なセキュリティ人材のスキル要件</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20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AI</a:t>
            </a:r>
            <a:r>
              <a:rPr lang="ja-JP" sz="20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技術の活用と今後の課題</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F7550B61-4E2D-35E6-4CD3-71AFE518AC5E}"/>
              </a:ext>
            </a:extLst>
          </p:cNvPr>
          <p:cNvSpPr txBox="1"/>
          <p:nvPr/>
        </p:nvSpPr>
        <p:spPr>
          <a:xfrm>
            <a:off x="172741" y="189372"/>
            <a:ext cx="6109305" cy="830997"/>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a:p>
            <a:endParaRPr lang="en-JP" sz="2400" dirty="0">
              <a:solidFill>
                <a:srgbClr val="C00000"/>
              </a:solidFill>
            </a:endParaRPr>
          </a:p>
        </p:txBody>
      </p:sp>
      <p:sp>
        <p:nvSpPr>
          <p:cNvPr id="4" name="Slide Number Placeholder 3">
            <a:extLst>
              <a:ext uri="{FF2B5EF4-FFF2-40B4-BE49-F238E27FC236}">
                <a16:creationId xmlns:a16="http://schemas.microsoft.com/office/drawing/2014/main" id="{DEB5AB4F-2825-ACF4-133A-AF69361483D5}"/>
              </a:ext>
            </a:extLst>
          </p:cNvPr>
          <p:cNvSpPr>
            <a:spLocks noGrp="1"/>
          </p:cNvSpPr>
          <p:nvPr>
            <p:ph type="sldNum" sz="quarter" idx="12"/>
          </p:nvPr>
        </p:nvSpPr>
        <p:spPr/>
        <p:txBody>
          <a:bodyPr/>
          <a:lstStyle/>
          <a:p>
            <a:fld id="{D8C05D5D-75E2-3144-9168-CA833390726D}" type="slidenum">
              <a:rPr lang="en-JP" smtClean="0"/>
              <a:t>14</a:t>
            </a:fld>
            <a:endParaRPr lang="en-JP"/>
          </a:p>
        </p:txBody>
      </p:sp>
    </p:spTree>
    <p:extLst>
      <p:ext uri="{BB962C8B-B14F-4D97-AF65-F5344CB8AC3E}">
        <p14:creationId xmlns:p14="http://schemas.microsoft.com/office/powerpoint/2010/main" val="654515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9E71C8-2364-EE0C-C1F3-6557492B936F}"/>
              </a:ext>
            </a:extLst>
          </p:cNvPr>
          <p:cNvSpPr txBox="1"/>
          <p:nvPr/>
        </p:nvSpPr>
        <p:spPr>
          <a:xfrm>
            <a:off x="476250" y="815459"/>
            <a:ext cx="4572000" cy="461665"/>
          </a:xfrm>
          <a:prstGeom prst="rect">
            <a:avLst/>
          </a:prstGeom>
          <a:noFill/>
        </p:spPr>
        <p:txBody>
          <a:bodyPr wrap="square">
            <a:spAutoFit/>
          </a:bodyPr>
          <a:lstStyle/>
          <a:p>
            <a:pPr marL="285750" indent="-285750">
              <a:buFont typeface="Wingdings" pitchFamily="2" charset="2"/>
              <a:buChar char="§"/>
            </a:pPr>
            <a:r>
              <a:rPr lang="ja-JP" altLang="en-US" sz="2400" b="1">
                <a:latin typeface="Meiryo" panose="020B0604030504040204" pitchFamily="34" charset="-128"/>
                <a:ea typeface="Meiryo" panose="020B0604030504040204" pitchFamily="34" charset="-128"/>
              </a:rPr>
              <a:t>統合アーキテクチャ提案</a:t>
            </a:r>
            <a:endParaRPr lang="en-US" altLang="ja-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6B301D20-3EA5-6387-D104-7A3F72E065A9}"/>
              </a:ext>
            </a:extLst>
          </p:cNvPr>
          <p:cNvSpPr txBox="1"/>
          <p:nvPr/>
        </p:nvSpPr>
        <p:spPr>
          <a:xfrm>
            <a:off x="171450" y="215384"/>
            <a:ext cx="7559386"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マルウェア分類と機械学習</a:t>
            </a:r>
            <a:r>
              <a:rPr lang="mn-MN" altLang="ja-JP" sz="2400" b="1" dirty="0">
                <a:solidFill>
                  <a:srgbClr val="C00000"/>
                </a:solidFill>
                <a:latin typeface="Meiryo" panose="020B0604030504040204" pitchFamily="34" charset="-128"/>
                <a:ea typeface="Meiryo" panose="020B0604030504040204" pitchFamily="34" charset="-128"/>
              </a:rPr>
              <a:t> 3</a:t>
            </a:r>
            <a:r>
              <a:rPr lang="en-US" altLang="ja-JP" sz="2400" b="1" dirty="0">
                <a:solidFill>
                  <a:srgbClr val="C00000"/>
                </a:solidFill>
                <a:latin typeface="Meiryo" panose="020B0604030504040204" pitchFamily="34" charset="-128"/>
                <a:ea typeface="Meiryo" panose="020B0604030504040204" pitchFamily="34" charset="-128"/>
              </a:rPr>
              <a:t>/3</a:t>
            </a:r>
            <a:endParaRPr lang="en-JP" sz="2400" b="1" dirty="0">
              <a:solidFill>
                <a:srgbClr val="C00000"/>
              </a:solidFill>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8FA0AA44-1817-5660-1551-2A0825424679}"/>
              </a:ext>
            </a:extLst>
          </p:cNvPr>
          <p:cNvPicPr>
            <a:picLocks noChangeAspect="1"/>
          </p:cNvPicPr>
          <p:nvPr/>
        </p:nvPicPr>
        <p:blipFill>
          <a:blip r:embed="rId2"/>
          <a:stretch>
            <a:fillRect/>
          </a:stretch>
        </p:blipFill>
        <p:spPr>
          <a:xfrm>
            <a:off x="381247" y="1196131"/>
            <a:ext cx="7772400" cy="5160220"/>
          </a:xfrm>
          <a:prstGeom prst="rect">
            <a:avLst/>
          </a:prstGeom>
        </p:spPr>
      </p:pic>
      <p:sp>
        <p:nvSpPr>
          <p:cNvPr id="9" name="Slide Number Placeholder 8">
            <a:extLst>
              <a:ext uri="{FF2B5EF4-FFF2-40B4-BE49-F238E27FC236}">
                <a16:creationId xmlns:a16="http://schemas.microsoft.com/office/drawing/2014/main" id="{F00B1F0B-9A10-3C8E-8290-0BE45EBD79C1}"/>
              </a:ext>
            </a:extLst>
          </p:cNvPr>
          <p:cNvSpPr>
            <a:spLocks noGrp="1"/>
          </p:cNvSpPr>
          <p:nvPr>
            <p:ph type="sldNum" sz="quarter" idx="12"/>
          </p:nvPr>
        </p:nvSpPr>
        <p:spPr/>
        <p:txBody>
          <a:bodyPr/>
          <a:lstStyle/>
          <a:p>
            <a:fld id="{D8C05D5D-75E2-3144-9168-CA833390726D}" type="slidenum">
              <a:rPr lang="en-JP" smtClean="0"/>
              <a:t>15</a:t>
            </a:fld>
            <a:endParaRPr lang="en-JP"/>
          </a:p>
        </p:txBody>
      </p:sp>
    </p:spTree>
    <p:extLst>
      <p:ext uri="{BB962C8B-B14F-4D97-AF65-F5344CB8AC3E}">
        <p14:creationId xmlns:p14="http://schemas.microsoft.com/office/powerpoint/2010/main" val="271474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96E93-1AD6-2A16-5798-6079AE5739BF}"/>
              </a:ext>
            </a:extLst>
          </p:cNvPr>
          <p:cNvSpPr txBox="1"/>
          <p:nvPr/>
        </p:nvSpPr>
        <p:spPr>
          <a:xfrm>
            <a:off x="381000" y="301109"/>
            <a:ext cx="6263640" cy="461665"/>
          </a:xfrm>
          <a:prstGeom prst="rect">
            <a:avLst/>
          </a:prstGeom>
          <a:noFill/>
        </p:spPr>
        <p:txBody>
          <a:bodyPr wrap="square">
            <a:spAutoFit/>
          </a:bodyPr>
          <a:lstStyle/>
          <a:p>
            <a:pPr marL="285750" indent="-285750">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マルウェア解析に演習のまとめ</a:t>
            </a:r>
            <a:endParaRPr lang="en-JP" sz="2400" b="1" dirty="0">
              <a:solidFill>
                <a:srgbClr val="C0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CE6630D-7F3C-454A-3282-8DCDF3FED03C}"/>
              </a:ext>
            </a:extLst>
          </p:cNvPr>
          <p:cNvSpPr txBox="1"/>
          <p:nvPr/>
        </p:nvSpPr>
        <p:spPr>
          <a:xfrm>
            <a:off x="381000" y="809402"/>
            <a:ext cx="8938248" cy="3046988"/>
          </a:xfrm>
          <a:prstGeom prst="rect">
            <a:avLst/>
          </a:prstGeom>
          <a:noFill/>
        </p:spPr>
        <p:txBody>
          <a:bodyPr wrap="square">
            <a:spAutoFit/>
          </a:bodyPr>
          <a:lstStyle/>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rPr>
              <a:t>私自身の視点から</a:t>
            </a: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これまでセキュリティは主に理論を中心に学んできた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実践演習を通して、ツールを使った分析やネットワーク</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設計を体験できた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探索的データ解析やマルウェア解析を通して、攻撃の</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仕組みや検知方法への理解を深めることができた</a:t>
            </a:r>
            <a:endParaRPr lang="en-US"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その結果、セキュリティに関する実践的な経験を得ること</a:t>
            </a:r>
            <a:endParaRPr lang="mn-MN" altLang="ja-JP" sz="2400" dirty="0">
              <a:latin typeface="Meiryo" panose="020B0604030504040204" pitchFamily="34" charset="-128"/>
              <a:ea typeface="Meiryo" panose="020B0604030504040204" pitchFamily="34" charset="-128"/>
            </a:endParaRPr>
          </a:p>
          <a:p>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ができた</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888C2342-D20E-FB7D-7351-214C42DF68E0}"/>
              </a:ext>
            </a:extLst>
          </p:cNvPr>
          <p:cNvSpPr txBox="1"/>
          <p:nvPr/>
        </p:nvSpPr>
        <p:spPr>
          <a:xfrm>
            <a:off x="381000" y="4048027"/>
            <a:ext cx="9243048" cy="2308324"/>
          </a:xfrm>
          <a:prstGeom prst="rect">
            <a:avLst/>
          </a:prstGeom>
          <a:noFill/>
        </p:spPr>
        <p:txBody>
          <a:bodyPr wrap="square">
            <a:spAutoFit/>
          </a:bodyPr>
          <a:lstStyle/>
          <a:p>
            <a:pPr marL="342900" indent="-342900">
              <a:buFont typeface="Wingdings" pitchFamily="2" charset="2"/>
              <a:buChar char="§"/>
            </a:pPr>
            <a:r>
              <a:rPr lang="en-JP" sz="2400" b="1" dirty="0">
                <a:latin typeface="Meiryo" panose="020B0604030504040204" pitchFamily="34" charset="-128"/>
                <a:ea typeface="Meiryo" panose="020B0604030504040204" pitchFamily="34" charset="-128"/>
              </a:rPr>
              <a:t>企業のマルウェア対策（初期分析）</a:t>
            </a: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マルウェアを早期に検知するために、</a:t>
            </a:r>
            <a:endParaRPr lang="mn-MN"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ファイルの初期分析を行う</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suspicious ファイルのハッシュ値や特徴量を確認</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機械学習などを利用してマルウェアの可能性を分類</a:t>
            </a: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感染の拡大を防ぐために、隔離やネットワーク監視を行う</a:t>
            </a:r>
          </a:p>
        </p:txBody>
      </p:sp>
      <p:sp>
        <p:nvSpPr>
          <p:cNvPr id="12" name="Down Arrow 11">
            <a:extLst>
              <a:ext uri="{FF2B5EF4-FFF2-40B4-BE49-F238E27FC236}">
                <a16:creationId xmlns:a16="http://schemas.microsoft.com/office/drawing/2014/main" id="{8F2E7A53-D233-CF32-7F79-9304CBA3AF2E}"/>
              </a:ext>
            </a:extLst>
          </p:cNvPr>
          <p:cNvSpPr/>
          <p:nvPr/>
        </p:nvSpPr>
        <p:spPr>
          <a:xfrm>
            <a:off x="3684380" y="3697172"/>
            <a:ext cx="182336" cy="318436"/>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3" name="Slide Number Placeholder 12">
            <a:extLst>
              <a:ext uri="{FF2B5EF4-FFF2-40B4-BE49-F238E27FC236}">
                <a16:creationId xmlns:a16="http://schemas.microsoft.com/office/drawing/2014/main" id="{891FFE49-C153-9520-E004-1AF0074E3112}"/>
              </a:ext>
            </a:extLst>
          </p:cNvPr>
          <p:cNvSpPr>
            <a:spLocks noGrp="1"/>
          </p:cNvSpPr>
          <p:nvPr>
            <p:ph type="sldNum" sz="quarter" idx="12"/>
          </p:nvPr>
        </p:nvSpPr>
        <p:spPr/>
        <p:txBody>
          <a:bodyPr/>
          <a:lstStyle/>
          <a:p>
            <a:fld id="{D8C05D5D-75E2-3144-9168-CA833390726D}" type="slidenum">
              <a:rPr lang="en-JP" smtClean="0"/>
              <a:t>16</a:t>
            </a:fld>
            <a:endParaRPr lang="en-JP"/>
          </a:p>
        </p:txBody>
      </p:sp>
    </p:spTree>
    <p:extLst>
      <p:ext uri="{BB962C8B-B14F-4D97-AF65-F5344CB8AC3E}">
        <p14:creationId xmlns:p14="http://schemas.microsoft.com/office/powerpoint/2010/main" val="1295970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749180-4748-43B1-1962-482F096C4FDC}"/>
              </a:ext>
            </a:extLst>
          </p:cNvPr>
          <p:cNvSpPr txBox="1"/>
          <p:nvPr/>
        </p:nvSpPr>
        <p:spPr>
          <a:xfrm>
            <a:off x="76200" y="79617"/>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3</a:t>
            </a:r>
            <a:endParaRPr lang="en-JP" sz="1400" dirty="0"/>
          </a:p>
        </p:txBody>
      </p:sp>
      <p:sp>
        <p:nvSpPr>
          <p:cNvPr id="7" name="TextBox 6">
            <a:extLst>
              <a:ext uri="{FF2B5EF4-FFF2-40B4-BE49-F238E27FC236}">
                <a16:creationId xmlns:a16="http://schemas.microsoft.com/office/drawing/2014/main" id="{24569529-37C9-CBF5-8CE8-C39640F0BD71}"/>
              </a:ext>
            </a:extLst>
          </p:cNvPr>
          <p:cNvSpPr txBox="1"/>
          <p:nvPr/>
        </p:nvSpPr>
        <p:spPr>
          <a:xfrm>
            <a:off x="238123" y="275676"/>
            <a:ext cx="5865793" cy="600164"/>
          </a:xfrm>
          <a:prstGeom prst="rect">
            <a:avLst/>
          </a:prstGeom>
          <a:noFill/>
        </p:spPr>
        <p:txBody>
          <a:bodyPr wrap="square">
            <a:spAutoFit/>
          </a:bodyPr>
          <a:lstStyle/>
          <a:p>
            <a:pPr marL="742950" lvl="1" indent="-285750">
              <a:lnSpc>
                <a:spcPct val="150000"/>
              </a:lnSpc>
              <a:buFont typeface="Wingdings" pitchFamily="2" charset="2"/>
              <a:buChar char="Ø"/>
            </a:pPr>
            <a:r>
              <a:rPr lang="ja-JP" altLang="en-US" sz="2400" b="1">
                <a:solidFill>
                  <a:srgbClr val="C00000"/>
                </a:solidFill>
                <a:latin typeface="Meiryo" panose="020B0604030504040204" pitchFamily="34" charset="-128"/>
                <a:ea typeface="Meiryo" panose="020B0604030504040204" pitchFamily="34" charset="-128"/>
              </a:rPr>
              <a:t>安全なネットワーク構成の設計</a:t>
            </a:r>
            <a:endParaRPr lang="en-US" altLang="ja-JP" sz="2400" b="1" dirty="0">
              <a:solidFill>
                <a:srgbClr val="C0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5617C3F-5B87-9B38-0CEB-C67FB963A5D0}"/>
              </a:ext>
            </a:extLst>
          </p:cNvPr>
          <p:cNvSpPr txBox="1"/>
          <p:nvPr/>
        </p:nvSpPr>
        <p:spPr>
          <a:xfrm>
            <a:off x="428623" y="820725"/>
            <a:ext cx="7870425" cy="6001643"/>
          </a:xfrm>
          <a:prstGeom prst="rect">
            <a:avLst/>
          </a:prstGeom>
          <a:noFill/>
        </p:spPr>
        <p:txBody>
          <a:bodyPr wrap="square">
            <a:spAutoFit/>
          </a:bodyPr>
          <a:lstStyle/>
          <a:p>
            <a:r>
              <a:rPr lang="en-US" sz="2400" dirty="0"/>
              <a:t>1.</a:t>
            </a:r>
            <a:r>
              <a:rPr lang="mn-MN" sz="2400" dirty="0"/>
              <a:t> </a:t>
            </a:r>
            <a:r>
              <a:rPr lang="en-JP" sz="2000" dirty="0">
                <a:latin typeface="Meiryo" panose="020B0604030504040204" pitchFamily="34" charset="-128"/>
                <a:ea typeface="Meiryo" panose="020B0604030504040204" pitchFamily="34" charset="-128"/>
              </a:rPr>
              <a:t>ネットワーク設計演習</a:t>
            </a:r>
          </a:p>
          <a:p>
            <a:r>
              <a:rPr lang="en-JP" sz="2000" dirty="0">
                <a:latin typeface="Meiryo" panose="020B0604030504040204" pitchFamily="34" charset="-128"/>
                <a:ea typeface="Meiryo" panose="020B0604030504040204" pitchFamily="34" charset="-128"/>
              </a:rPr>
              <a:t>社内ネットワーク構成を設計事務NWと開発NWを分離</a:t>
            </a:r>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FWによるアクセス制御を設定</a:t>
            </a:r>
            <a:endParaRPr lang="mn-MN" sz="2000"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2. インシデントレスポンス対応検討セキュリティインシデント発生時の対応を検討被害拡大防止の対策を検討</a:t>
            </a:r>
          </a:p>
          <a:p>
            <a:r>
              <a:rPr lang="en-JP" sz="2000" dirty="0">
                <a:latin typeface="Meiryo" panose="020B0604030504040204" pitchFamily="34" charset="-128"/>
                <a:ea typeface="Meiryo" panose="020B0604030504040204" pitchFamily="34" charset="-128"/>
              </a:rPr>
              <a:t>3. 原因分析</a:t>
            </a:r>
            <a:r>
              <a:rPr lang="en-US" sz="2000" dirty="0">
                <a:latin typeface="Meiryo" panose="020B0604030504040204" pitchFamily="34" charset="-128"/>
                <a:ea typeface="Meiryo" panose="020B0604030504040204" pitchFamily="34" charset="-128"/>
              </a:rPr>
              <a:t>:</a:t>
            </a:r>
            <a:r>
              <a:rPr lang="en-JP" sz="2000" dirty="0">
                <a:latin typeface="Meiryo" panose="020B0604030504040204" pitchFamily="34" charset="-128"/>
                <a:ea typeface="Meiryo" panose="020B0604030504040204" pitchFamily="34" charset="-128"/>
              </a:rPr>
              <a:t>インシデントの原因を分析再発防止策を検討</a:t>
            </a:r>
          </a:p>
        </p:txBody>
      </p:sp>
      <p:pic>
        <p:nvPicPr>
          <p:cNvPr id="11" name="Picture 10">
            <a:extLst>
              <a:ext uri="{FF2B5EF4-FFF2-40B4-BE49-F238E27FC236}">
                <a16:creationId xmlns:a16="http://schemas.microsoft.com/office/drawing/2014/main" id="{EC28C77B-02BD-5317-1859-A27BAD0EB6E6}"/>
              </a:ext>
            </a:extLst>
          </p:cNvPr>
          <p:cNvPicPr>
            <a:picLocks noChangeAspect="1"/>
          </p:cNvPicPr>
          <p:nvPr/>
        </p:nvPicPr>
        <p:blipFill>
          <a:blip r:embed="rId2"/>
          <a:stretch>
            <a:fillRect/>
          </a:stretch>
        </p:blipFill>
        <p:spPr>
          <a:xfrm>
            <a:off x="428623" y="1764501"/>
            <a:ext cx="7458076" cy="3648075"/>
          </a:xfrm>
          <a:prstGeom prst="rect">
            <a:avLst/>
          </a:prstGeom>
        </p:spPr>
      </p:pic>
      <p:sp>
        <p:nvSpPr>
          <p:cNvPr id="12" name="Slide Number Placeholder 11">
            <a:extLst>
              <a:ext uri="{FF2B5EF4-FFF2-40B4-BE49-F238E27FC236}">
                <a16:creationId xmlns:a16="http://schemas.microsoft.com/office/drawing/2014/main" id="{9B52CCA5-708F-8F07-16C6-5EC12560D1E2}"/>
              </a:ext>
            </a:extLst>
          </p:cNvPr>
          <p:cNvSpPr>
            <a:spLocks noGrp="1"/>
          </p:cNvSpPr>
          <p:nvPr>
            <p:ph type="sldNum" sz="quarter" idx="12"/>
          </p:nvPr>
        </p:nvSpPr>
        <p:spPr/>
        <p:txBody>
          <a:bodyPr/>
          <a:lstStyle/>
          <a:p>
            <a:fld id="{D8C05D5D-75E2-3144-9168-CA833390726D}" type="slidenum">
              <a:rPr lang="en-JP" smtClean="0"/>
              <a:t>17</a:t>
            </a:fld>
            <a:endParaRPr lang="en-JP" dirty="0"/>
          </a:p>
        </p:txBody>
      </p:sp>
    </p:spTree>
    <p:extLst>
      <p:ext uri="{BB962C8B-B14F-4D97-AF65-F5344CB8AC3E}">
        <p14:creationId xmlns:p14="http://schemas.microsoft.com/office/powerpoint/2010/main" val="392529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BAD283-20F4-5043-091C-B045C8BEE6F6}"/>
              </a:ext>
            </a:extLst>
          </p:cNvPr>
          <p:cNvSpPr txBox="1"/>
          <p:nvPr/>
        </p:nvSpPr>
        <p:spPr>
          <a:xfrm>
            <a:off x="80272" y="494742"/>
            <a:ext cx="7725192" cy="523220"/>
          </a:xfrm>
          <a:prstGeom prst="rect">
            <a:avLst/>
          </a:prstGeom>
          <a:noFill/>
        </p:spPr>
        <p:txBody>
          <a:bodyPr wrap="none" rtlCol="0">
            <a:spAutoFit/>
          </a:bodyPr>
          <a:lstStyle/>
          <a:p>
            <a:r>
              <a:rPr lang="ja-JP" altLang="en-US" sz="2800" b="1">
                <a:solidFill>
                  <a:srgbClr val="C00000"/>
                </a:solidFill>
                <a:latin typeface="Meiryo" panose="020B0604030504040204" pitchFamily="34" charset="-128"/>
                <a:ea typeface="Meiryo" panose="020B0604030504040204" pitchFamily="34" charset="-128"/>
              </a:rPr>
              <a:t>　</a:t>
            </a:r>
            <a:r>
              <a:rPr lang="en-JP" sz="2800" b="1" dirty="0">
                <a:solidFill>
                  <a:srgbClr val="C00000"/>
                </a:solidFill>
                <a:latin typeface="Meiryo" panose="020B0604030504040204" pitchFamily="34" charset="-128"/>
                <a:ea typeface="Meiryo" panose="020B0604030504040204" pitchFamily="34" charset="-128"/>
              </a:rPr>
              <a:t>インシデントレスポンス演習のまとめと感想</a:t>
            </a:r>
          </a:p>
        </p:txBody>
      </p:sp>
      <p:sp>
        <p:nvSpPr>
          <p:cNvPr id="12" name="TextBox 11">
            <a:extLst>
              <a:ext uri="{FF2B5EF4-FFF2-40B4-BE49-F238E27FC236}">
                <a16:creationId xmlns:a16="http://schemas.microsoft.com/office/drawing/2014/main" id="{B82DD5D5-7094-1CC4-495A-A8C78C82BDFD}"/>
              </a:ext>
            </a:extLst>
          </p:cNvPr>
          <p:cNvSpPr txBox="1"/>
          <p:nvPr/>
        </p:nvSpPr>
        <p:spPr>
          <a:xfrm>
            <a:off x="212035" y="1163389"/>
            <a:ext cx="8474765"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インシデント発生時の初期対応の重要性について理解を深めることができた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技術的対策だけでなく、関係部署への迅速な報告も重要であると感じた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グ管理やアクセス監視など、日常的なセキュリティ対策の重要性を学んだ</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企業では、被害を最小限に抑えるための対応体制を整備することが必要である</a:t>
            </a:r>
          </a:p>
        </p:txBody>
      </p:sp>
      <p:sp>
        <p:nvSpPr>
          <p:cNvPr id="13" name="Slide Number Placeholder 12">
            <a:extLst>
              <a:ext uri="{FF2B5EF4-FFF2-40B4-BE49-F238E27FC236}">
                <a16:creationId xmlns:a16="http://schemas.microsoft.com/office/drawing/2014/main" id="{80C77ED0-2C02-A6DE-D514-C1BF997AC0D8}"/>
              </a:ext>
            </a:extLst>
          </p:cNvPr>
          <p:cNvSpPr>
            <a:spLocks noGrp="1"/>
          </p:cNvSpPr>
          <p:nvPr>
            <p:ph type="sldNum" sz="quarter" idx="12"/>
          </p:nvPr>
        </p:nvSpPr>
        <p:spPr/>
        <p:txBody>
          <a:bodyPr/>
          <a:lstStyle/>
          <a:p>
            <a:fld id="{D8C05D5D-75E2-3144-9168-CA833390726D}" type="slidenum">
              <a:rPr lang="en-JP" smtClean="0"/>
              <a:t>18</a:t>
            </a:fld>
            <a:endParaRPr lang="en-JP"/>
          </a:p>
        </p:txBody>
      </p:sp>
    </p:spTree>
    <p:extLst>
      <p:ext uri="{BB962C8B-B14F-4D97-AF65-F5344CB8AC3E}">
        <p14:creationId xmlns:p14="http://schemas.microsoft.com/office/powerpoint/2010/main" val="2072548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b="1" dirty="0">
                <a:solidFill>
                  <a:srgbClr val="C00000"/>
                </a:solidFill>
                <a:latin typeface="Meiryo" panose="020B0604030504040204" pitchFamily="34" charset="-128"/>
                <a:ea typeface="Meiryo" panose="020B0604030504040204" pitchFamily="34" charset="-128"/>
              </a:rPr>
              <a:t>2. </a:t>
            </a:r>
            <a:r>
              <a:rPr lang="ja-JP" altLang="en-US" sz="2400" b="1">
                <a:solidFill>
                  <a:srgbClr val="C00000"/>
                </a:solidFill>
                <a:latin typeface="Meiryo" panose="020B0604030504040204" pitchFamily="34" charset="-128"/>
                <a:ea typeface="Meiryo" panose="020B0604030504040204" pitchFamily="34" charset="-128"/>
              </a:rPr>
              <a:t>インターンシップで</a:t>
            </a:r>
            <a:r>
              <a:rPr lang="en-US" altLang="ja-JP" sz="2400" b="1" dirty="0">
                <a:solidFill>
                  <a:srgbClr val="C00000"/>
                </a:solidFill>
                <a:latin typeface="Meiryo" panose="020B0604030504040204" pitchFamily="34" charset="-128"/>
                <a:ea typeface="Meiryo" panose="020B0604030504040204" pitchFamily="34" charset="-128"/>
              </a:rPr>
              <a:t>3</a:t>
            </a:r>
            <a:r>
              <a:rPr lang="ja-JP" altLang="en-US" sz="2400" b="1">
                <a:solidFill>
                  <a:srgbClr val="C00000"/>
                </a:solidFill>
                <a:latin typeface="Meiryo" panose="020B0604030504040204" pitchFamily="34" charset="-128"/>
                <a:ea typeface="Meiryo" panose="020B0604030504040204" pitchFamily="34" charset="-128"/>
              </a:rPr>
              <a:t>つの活動</a:t>
            </a:r>
            <a:endParaRPr lang="en-US" altLang="ja-JP" sz="2400" b="1"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Eye_Log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E665E1DE-9C52-99AD-3D30-16F799A12EE4}"/>
              </a:ext>
            </a:extLst>
          </p:cNvPr>
          <p:cNvSpPr>
            <a:spLocks noGrp="1"/>
          </p:cNvSpPr>
          <p:nvPr>
            <p:ph type="sldNum" sz="quarter" idx="12"/>
          </p:nvPr>
        </p:nvSpPr>
        <p:spPr/>
        <p:txBody>
          <a:bodyPr/>
          <a:lstStyle/>
          <a:p>
            <a:fld id="{D8C05D5D-75E2-3144-9168-CA833390726D}" type="slidenum">
              <a:rPr lang="en-JP" smtClean="0"/>
              <a:t>19</a:t>
            </a:fld>
            <a:endParaRPr lang="en-JP"/>
          </a:p>
        </p:txBody>
      </p:sp>
    </p:spTree>
    <p:extLst>
      <p:ext uri="{BB962C8B-B14F-4D97-AF65-F5344CB8AC3E}">
        <p14:creationId xmlns:p14="http://schemas.microsoft.com/office/powerpoint/2010/main" val="2891206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b="1">
                <a:latin typeface="Meiryo"/>
                <a:ea typeface="Meiryo"/>
                <a:cs typeface="Meiryo"/>
                <a:sym typeface="Meiryo"/>
              </a:rPr>
              <a:t>実践インターンシップ</a:t>
            </a:r>
            <a:br>
              <a:rPr lang="ja-JP" sz="3600" b="1">
                <a:latin typeface="Meiryo"/>
                <a:ea typeface="Meiryo"/>
                <a:cs typeface="Meiryo"/>
                <a:sym typeface="Meiryo"/>
              </a:rPr>
            </a:br>
            <a:r>
              <a:rPr lang="ja-JP" sz="3600" b="1">
                <a:latin typeface="Meiryo"/>
                <a:ea typeface="Meiryo"/>
                <a:cs typeface="Meiryo"/>
                <a:sym typeface="Meiryo"/>
              </a:rPr>
              <a:t>(先導的ICT人材育成事業)</a:t>
            </a:r>
            <a:endParaRPr sz="3600" b="1" dirty="0">
              <a:latin typeface="Meiryo"/>
              <a:ea typeface="Meiryo"/>
              <a:cs typeface="Meiryo"/>
              <a:sym typeface="Meiryo"/>
            </a:endParaRPr>
          </a:p>
        </p:txBody>
      </p:sp>
      <p:sp>
        <p:nvSpPr>
          <p:cNvPr id="243" name="Google Shape;243;p19"/>
          <p:cNvSpPr txBox="1">
            <a:spLocks noGrp="1"/>
          </p:cNvSpPr>
          <p:nvPr>
            <p:ph type="body" idx="1"/>
          </p:nvPr>
        </p:nvSpPr>
        <p:spPr>
          <a:xfrm>
            <a:off x="506730" y="2275648"/>
            <a:ext cx="7886700" cy="435133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インターンシップ先</a:t>
            </a:r>
            <a:endParaRPr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r>
              <a:rPr lang="ja-JP" sz="2800">
                <a:latin typeface="Meiryo"/>
                <a:ea typeface="Meiryo"/>
                <a:cs typeface="Meiryo"/>
                <a:sym typeface="Meiryo"/>
              </a:rPr>
              <a:t>公益財団法人九州先端科学技術研究所 (ISIT)</a:t>
            </a:r>
            <a:endParaRPr lang="en-US" altLang="ja-JP" sz="2800" dirty="0">
              <a:latin typeface="Meiryo"/>
              <a:ea typeface="Meiryo"/>
              <a:cs typeface="Meiryo"/>
              <a:sym typeface="Meiryo"/>
            </a:endParaRPr>
          </a:p>
          <a:p>
            <a:pPr marL="457200" lvl="1" indent="0" algn="l" rtl="0">
              <a:lnSpc>
                <a:spcPct val="90000"/>
              </a:lnSpc>
              <a:spcBef>
                <a:spcPts val="500"/>
              </a:spcBef>
              <a:spcAft>
                <a:spcPts val="0"/>
              </a:spcAft>
              <a:buClr>
                <a:schemeClr val="dk1"/>
              </a:buClr>
              <a:buSzPts val="2400"/>
              <a:buNone/>
            </a:pPr>
            <a:endParaRPr lang="en-US" sz="2800" dirty="0">
              <a:latin typeface="Meiryo"/>
              <a:ea typeface="Meiryo"/>
              <a:cs typeface="Meiryo"/>
              <a:sym typeface="Meiryo"/>
            </a:endParaRPr>
          </a:p>
          <a:p>
            <a:pPr marL="685800" lvl="1" indent="-228600" algn="l" rtl="0">
              <a:lnSpc>
                <a:spcPct val="90000"/>
              </a:lnSpc>
              <a:spcBef>
                <a:spcPts val="500"/>
              </a:spcBef>
              <a:spcAft>
                <a:spcPts val="0"/>
              </a:spcAft>
              <a:buClr>
                <a:schemeClr val="dk1"/>
              </a:buClr>
              <a:buSzPts val="2400"/>
              <a:buChar char="•"/>
            </a:pPr>
            <a:endParaRPr sz="2800" dirty="0">
              <a:latin typeface="Meiryo"/>
              <a:ea typeface="Meiryo"/>
              <a:cs typeface="Meiryo"/>
              <a:sym typeface="Meiryo"/>
            </a:endParaRPr>
          </a:p>
          <a:p>
            <a:pPr lvl="0" algn="l" rtl="0">
              <a:lnSpc>
                <a:spcPct val="90000"/>
              </a:lnSpc>
              <a:spcBef>
                <a:spcPts val="1000"/>
              </a:spcBef>
              <a:spcAft>
                <a:spcPts val="0"/>
              </a:spcAft>
              <a:buClr>
                <a:schemeClr val="dk1"/>
              </a:buClr>
              <a:buSzPts val="2800"/>
              <a:buFont typeface="Wingdings" pitchFamily="2" charset="2"/>
              <a:buChar char="§"/>
            </a:pPr>
            <a:r>
              <a:rPr lang="ja-JP">
                <a:latin typeface="Meiryo"/>
                <a:ea typeface="Meiryo"/>
                <a:cs typeface="Meiryo"/>
                <a:sym typeface="Meiryo"/>
              </a:rPr>
              <a:t>インターンシップ期間を明記</a:t>
            </a:r>
            <a:endParaRPr dirty="0">
              <a:latin typeface="Meiryo"/>
              <a:ea typeface="Meiryo"/>
              <a:cs typeface="Meiryo"/>
              <a:sym typeface="Meiryo"/>
            </a:endParaRPr>
          </a:p>
          <a:p>
            <a:pPr marL="635000" lvl="0" indent="-457200" algn="l" rtl="0">
              <a:lnSpc>
                <a:spcPct val="90000"/>
              </a:lnSpc>
              <a:spcBef>
                <a:spcPts val="1000"/>
              </a:spcBef>
              <a:spcAft>
                <a:spcPts val="0"/>
              </a:spcAft>
              <a:buClr>
                <a:schemeClr val="dk1"/>
              </a:buClr>
              <a:buSzPts val="2800"/>
            </a:pPr>
            <a:r>
              <a:rPr lang="en-US" altLang="ja-JP" dirty="0">
                <a:latin typeface="Meiryo"/>
                <a:ea typeface="Meiryo"/>
                <a:cs typeface="Meiryo"/>
                <a:sym typeface="Meiryo"/>
              </a:rPr>
              <a:t>2025</a:t>
            </a:r>
            <a:r>
              <a:rPr lang="ja-JP" altLang="en-US">
                <a:latin typeface="Meiryo"/>
                <a:ea typeface="Meiryo"/>
                <a:cs typeface="Meiryo"/>
                <a:sym typeface="Meiryo"/>
              </a:rPr>
              <a:t>年８月５日ー</a:t>
            </a:r>
            <a:r>
              <a:rPr lang="en-US" altLang="ja-JP" dirty="0">
                <a:latin typeface="Meiryo"/>
                <a:ea typeface="Meiryo"/>
                <a:cs typeface="Meiryo"/>
                <a:sym typeface="Meiryo"/>
              </a:rPr>
              <a:t>2025</a:t>
            </a:r>
            <a:r>
              <a:rPr lang="ja-JP" altLang="en-US">
                <a:latin typeface="Meiryo"/>
                <a:ea typeface="Meiryo"/>
                <a:cs typeface="Meiryo"/>
                <a:sym typeface="Meiryo"/>
              </a:rPr>
              <a:t>年９月ー</a:t>
            </a:r>
            <a:r>
              <a:rPr lang="en-US" altLang="ja-JP" dirty="0">
                <a:latin typeface="Meiryo"/>
                <a:ea typeface="Meiryo"/>
                <a:cs typeface="Meiryo"/>
                <a:sym typeface="Meiryo"/>
              </a:rPr>
              <a:t>15</a:t>
            </a:r>
            <a:r>
              <a:rPr lang="ja-JP" altLang="en-US">
                <a:latin typeface="Meiryo"/>
                <a:ea typeface="Meiryo"/>
                <a:cs typeface="Meiryo"/>
                <a:sym typeface="Meiryo"/>
              </a:rPr>
              <a:t>日</a:t>
            </a:r>
            <a:endParaRPr lang="en-US" altLang="ja-JP" dirty="0">
              <a:latin typeface="Meiryo"/>
              <a:ea typeface="Meiryo"/>
              <a:cs typeface="Meiryo"/>
              <a:sym typeface="Meiryo"/>
            </a:endParaRPr>
          </a:p>
        </p:txBody>
      </p:sp>
      <p:sp>
        <p:nvSpPr>
          <p:cNvPr id="2" name="Slide Number Placeholder 1">
            <a:extLst>
              <a:ext uri="{FF2B5EF4-FFF2-40B4-BE49-F238E27FC236}">
                <a16:creationId xmlns:a16="http://schemas.microsoft.com/office/drawing/2014/main" id="{6238F9E5-D247-2806-C7A3-F5992E103B70}"/>
              </a:ext>
            </a:extLst>
          </p:cNvPr>
          <p:cNvSpPr>
            <a:spLocks noGrp="1"/>
          </p:cNvSpPr>
          <p:nvPr>
            <p:ph type="sldNum" sz="quarter" idx="12"/>
          </p:nvPr>
        </p:nvSpPr>
        <p:spPr/>
        <p:txBody>
          <a:bodyPr/>
          <a:lstStyle/>
          <a:p>
            <a:fld id="{D8C05D5D-75E2-3144-9168-CA833390726D}" type="slidenum">
              <a:rPr lang="en-JP" smtClean="0"/>
              <a:pPr/>
              <a:t>20</a:t>
            </a:fld>
            <a:endParaRPr lang="en-JP"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E5F8E-F96B-E2F2-A546-46C71417CDA7}"/>
              </a:ext>
            </a:extLst>
          </p:cNvPr>
          <p:cNvSpPr txBox="1"/>
          <p:nvPr/>
        </p:nvSpPr>
        <p:spPr>
          <a:xfrm>
            <a:off x="283947" y="620285"/>
            <a:ext cx="8231403" cy="584775"/>
          </a:xfrm>
          <a:prstGeom prst="rect">
            <a:avLst/>
          </a:prstGeom>
          <a:noFill/>
        </p:spPr>
        <p:txBody>
          <a:bodyPr wrap="square">
            <a:spAutoFit/>
          </a:bodyPr>
          <a:lstStyle/>
          <a:p>
            <a:r>
              <a:rPr lang="ja-JP" sz="3200" b="1">
                <a:latin typeface="Meiryo"/>
                <a:ea typeface="Meiryo"/>
                <a:cs typeface="Meiryo"/>
                <a:sym typeface="Meiryo"/>
              </a:rPr>
              <a:t>実践インターンシップでの活動報告</a:t>
            </a:r>
            <a:endParaRPr lang="en-JP" sz="32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CBBEDD0C-5E81-F99E-1E2C-96E98C9673A8}"/>
              </a:ext>
            </a:extLst>
          </p:cNvPr>
          <p:cNvSpPr txBox="1"/>
          <p:nvPr/>
        </p:nvSpPr>
        <p:spPr>
          <a:xfrm>
            <a:off x="446773" y="2505411"/>
            <a:ext cx="7905750" cy="3470694"/>
          </a:xfrm>
          <a:prstGeom prst="rect">
            <a:avLst/>
          </a:prstGeom>
          <a:noFill/>
        </p:spPr>
        <p:txBody>
          <a:bodyPr wrap="square">
            <a:spAutoFit/>
          </a:bodyPr>
          <a:lstStyle/>
          <a:p>
            <a:pPr marL="228600" lvl="0" indent="-228600" algn="l" rtl="0">
              <a:lnSpc>
                <a:spcPct val="90000"/>
              </a:lnSpc>
              <a:spcBef>
                <a:spcPts val="0"/>
              </a:spcBef>
              <a:spcAft>
                <a:spcPts val="0"/>
              </a:spcAft>
              <a:buClr>
                <a:schemeClr val="dk1"/>
              </a:buClr>
              <a:buSzPts val="2800"/>
              <a:buChar char="•"/>
            </a:pPr>
            <a:r>
              <a:rPr lang="ja-JP" altLang="en-US" sz="3200">
                <a:latin typeface="Meiryo"/>
                <a:ea typeface="Meiryo"/>
                <a:cs typeface="Meiryo"/>
                <a:sym typeface="Meiryo"/>
              </a:rPr>
              <a:t>ログ解析のための「ネットワークセキュリティ分析ツール」を開発</a:t>
            </a:r>
          </a:p>
          <a:p>
            <a:endParaRPr lang="en-US" altLang="ja-JP" sz="3200" dirty="0">
              <a:latin typeface="Meiryo" panose="020B0604030504040204" pitchFamily="34" charset="-128"/>
              <a:ea typeface="Meiryo" panose="020B0604030504040204" pitchFamily="34" charset="-128"/>
              <a:cs typeface="Times New Roman" panose="02020603050405020304" pitchFamily="18" charset="0"/>
            </a:endParaRPr>
          </a:p>
          <a:p>
            <a:pPr marL="228600" lvl="0" indent="-228600" algn="l" rtl="0">
              <a:lnSpc>
                <a:spcPct val="90000"/>
              </a:lnSpc>
              <a:spcBef>
                <a:spcPts val="1000"/>
              </a:spcBef>
              <a:spcAft>
                <a:spcPts val="0"/>
              </a:spcAft>
              <a:buClr>
                <a:schemeClr val="dk1"/>
              </a:buClr>
              <a:buSzPts val="2800"/>
              <a:buChar char="•"/>
            </a:pPr>
            <a:r>
              <a:rPr lang="en-US" altLang="ja-JP" sz="3200" dirty="0">
                <a:latin typeface="Meiryo"/>
                <a:ea typeface="Meiryo"/>
                <a:cs typeface="Meiryo"/>
                <a:sym typeface="Meiryo"/>
              </a:rPr>
              <a:t>Web</a:t>
            </a:r>
            <a:r>
              <a:rPr lang="ja-JP" altLang="en-US" sz="3200">
                <a:latin typeface="Meiryo"/>
                <a:ea typeface="Meiryo"/>
                <a:cs typeface="Meiryo"/>
                <a:sym typeface="Meiryo"/>
              </a:rPr>
              <a:t>サイトへの攻撃からの守り方の基本を学ぶ</a:t>
            </a:r>
          </a:p>
          <a:p>
            <a:endParaRPr lang="en-US" sz="32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en-US" sz="3200"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a:latin typeface="Meiryo" panose="020B0604030504040204" pitchFamily="34" charset="-128"/>
                <a:ea typeface="Meiryo" panose="020B0604030504040204" pitchFamily="34" charset="-128"/>
                <a:cs typeface="Times New Roman" panose="02020603050405020304" pitchFamily="18" charset="0"/>
              </a:rPr>
              <a:t>サーバ監視ダッシュボード</a:t>
            </a:r>
            <a:endParaRPr lang="en-JP" sz="3200" dirty="0"/>
          </a:p>
        </p:txBody>
      </p:sp>
      <p:sp>
        <p:nvSpPr>
          <p:cNvPr id="2" name="Down Arrow 1">
            <a:extLst>
              <a:ext uri="{FF2B5EF4-FFF2-40B4-BE49-F238E27FC236}">
                <a16:creationId xmlns:a16="http://schemas.microsoft.com/office/drawing/2014/main" id="{D6BAD75B-013E-2822-B307-BC1A584B628C}"/>
              </a:ext>
            </a:extLst>
          </p:cNvPr>
          <p:cNvSpPr/>
          <p:nvPr/>
        </p:nvSpPr>
        <p:spPr>
          <a:xfrm>
            <a:off x="3957210" y="173902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4" name="Slide Number Placeholder 3">
            <a:extLst>
              <a:ext uri="{FF2B5EF4-FFF2-40B4-BE49-F238E27FC236}">
                <a16:creationId xmlns:a16="http://schemas.microsoft.com/office/drawing/2014/main" id="{83DEE604-3B81-AA85-6C68-1195420CB7E4}"/>
              </a:ext>
            </a:extLst>
          </p:cNvPr>
          <p:cNvSpPr>
            <a:spLocks noGrp="1"/>
          </p:cNvSpPr>
          <p:nvPr>
            <p:ph type="sldNum" sz="quarter" idx="12"/>
          </p:nvPr>
        </p:nvSpPr>
        <p:spPr/>
        <p:txBody>
          <a:bodyPr/>
          <a:lstStyle/>
          <a:p>
            <a:fld id="{D8C05D5D-75E2-3144-9168-CA833390726D}" type="slidenum">
              <a:rPr lang="en-JP" smtClean="0"/>
              <a:t>21</a:t>
            </a:fld>
            <a:endParaRPr lang="en-JP"/>
          </a:p>
        </p:txBody>
      </p:sp>
    </p:spTree>
    <p:extLst>
      <p:ext uri="{BB962C8B-B14F-4D97-AF65-F5344CB8AC3E}">
        <p14:creationId xmlns:p14="http://schemas.microsoft.com/office/powerpoint/2010/main" val="1514416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3061F-A2F5-72C2-DAAE-84692BD0026F}"/>
              </a:ext>
            </a:extLst>
          </p:cNvPr>
          <p:cNvPicPr>
            <a:picLocks noChangeAspect="1"/>
          </p:cNvPicPr>
          <p:nvPr/>
        </p:nvPicPr>
        <p:blipFill>
          <a:blip r:embed="rId2"/>
          <a:stretch>
            <a:fillRect/>
          </a:stretch>
        </p:blipFill>
        <p:spPr>
          <a:xfrm>
            <a:off x="298717" y="1579921"/>
            <a:ext cx="8546565" cy="3280606"/>
          </a:xfrm>
          <a:prstGeom prst="rect">
            <a:avLst/>
          </a:prstGeom>
        </p:spPr>
      </p:pic>
      <p:sp>
        <p:nvSpPr>
          <p:cNvPr id="7" name="TextBox 6">
            <a:extLst>
              <a:ext uri="{FF2B5EF4-FFF2-40B4-BE49-F238E27FC236}">
                <a16:creationId xmlns:a16="http://schemas.microsoft.com/office/drawing/2014/main" id="{30EAFAFD-DA5F-F646-489B-171776468979}"/>
              </a:ext>
            </a:extLst>
          </p:cNvPr>
          <p:cNvSpPr txBox="1"/>
          <p:nvPr/>
        </p:nvSpPr>
        <p:spPr>
          <a:xfrm>
            <a:off x="298716" y="427350"/>
            <a:ext cx="8546565" cy="830997"/>
          </a:xfrm>
          <a:prstGeom prst="rect">
            <a:avLst/>
          </a:prstGeom>
          <a:noFill/>
        </p:spPr>
        <p:txBody>
          <a:bodyPr wrap="square">
            <a:spAutoFit/>
          </a:bodyPr>
          <a:lstStyle/>
          <a:p>
            <a:r>
              <a:rPr lang="ja-JP" altLang="en-US" sz="2400" i="0">
                <a:effectLst/>
                <a:latin typeface="Meiryo" panose="020B0604030504040204" pitchFamily="34" charset="-128"/>
                <a:ea typeface="Meiryo" panose="020B0604030504040204" pitchFamily="34" charset="-128"/>
              </a:rPr>
              <a:t>実際に稼働しているサーバーのログ分析に取り組んでもらう</a:t>
            </a:r>
            <a:endParaRPr lang="mn-MN" altLang="ja-JP" sz="2400" i="0" dirty="0">
              <a:effectLst/>
              <a:latin typeface="Meiryo" panose="020B0604030504040204" pitchFamily="34" charset="-128"/>
              <a:ea typeface="Meiryo" panose="020B0604030504040204" pitchFamily="34" charset="-128"/>
            </a:endParaRPr>
          </a:p>
          <a:p>
            <a:r>
              <a:rPr lang="ja-JP" altLang="en-US" sz="2400" i="0">
                <a:effectLst/>
                <a:latin typeface="Meiryo" panose="020B0604030504040204" pitchFamily="34" charset="-128"/>
                <a:ea typeface="Meiryo" panose="020B0604030504040204" pitchFamily="34" charset="-128"/>
              </a:rPr>
              <a:t>１日間かけて手作業にて分析をしました</a:t>
            </a:r>
            <a:r>
              <a:rPr lang="en-US" altLang="ja-JP" sz="2400" dirty="0">
                <a:latin typeface="Meiryo" panose="020B0604030504040204" pitchFamily="34" charset="-128"/>
                <a:ea typeface="Meiryo" panose="020B0604030504040204" pitchFamily="34" charset="-128"/>
              </a:rPr>
              <a:t>.(</a:t>
            </a:r>
            <a:r>
              <a:rPr lang="en-US" sz="2400" b="0" i="0" u="none" strike="noStrike" dirty="0">
                <a:solidFill>
                  <a:srgbClr val="000000"/>
                </a:solidFill>
                <a:effectLst/>
                <a:latin typeface="Meiryo" panose="020B0604030504040204" pitchFamily="34" charset="-128"/>
                <a:ea typeface="Meiryo" panose="020B0604030504040204" pitchFamily="34" charset="-128"/>
              </a:rPr>
              <a:t>Powershell )</a:t>
            </a:r>
            <a:r>
              <a:rPr lang="en-US" altLang="ja-JP" sz="2400" dirty="0">
                <a:latin typeface="Meiryo" panose="020B0604030504040204" pitchFamily="34" charset="-128"/>
                <a:ea typeface="Meiryo" panose="020B0604030504040204" pitchFamily="34" charset="-128"/>
              </a:rPr>
              <a:t>.</a:t>
            </a:r>
            <a:endParaRPr lang="ja-JP" altLang="en-US" sz="2400">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22907F9-9C39-4F9C-B617-8EFAF78FD9A7}"/>
              </a:ext>
            </a:extLst>
          </p:cNvPr>
          <p:cNvSpPr txBox="1"/>
          <p:nvPr/>
        </p:nvSpPr>
        <p:spPr>
          <a:xfrm>
            <a:off x="585719" y="5456317"/>
            <a:ext cx="7972560" cy="830997"/>
          </a:xfrm>
          <a:prstGeom prst="rect">
            <a:avLst/>
          </a:prstGeom>
          <a:noFill/>
        </p:spPr>
        <p:txBody>
          <a:bodyPr wrap="square">
            <a:spAutoFit/>
          </a:bodyPr>
          <a:lstStyle/>
          <a:p>
            <a:r>
              <a:rPr lang="ja-JP" altLang="en-US" sz="2400" i="0">
                <a:solidFill>
                  <a:schemeClr val="accent1">
                    <a:lumMod val="75000"/>
                  </a:schemeClr>
                </a:solidFill>
                <a:effectLst/>
                <a:latin typeface="Meiryo" panose="020B0604030504040204" pitchFamily="34" charset="-128"/>
                <a:ea typeface="Meiryo" panose="020B0604030504040204" pitchFamily="34" charset="-128"/>
              </a:rPr>
              <a:t>その大変さから、「このサーバーのログ分析を自動化できないか」</a:t>
            </a:r>
            <a:r>
              <a:rPr lang="ja-JP" altLang="en-US" sz="2400">
                <a:solidFill>
                  <a:schemeClr val="accent1">
                    <a:lumMod val="75000"/>
                  </a:schemeClr>
                </a:solidFill>
                <a:latin typeface="Meiryo" panose="020B0604030504040204" pitchFamily="34" charset="-128"/>
                <a:ea typeface="Meiryo" panose="020B0604030504040204" pitchFamily="34" charset="-128"/>
              </a:rPr>
              <a:t> と考えました</a:t>
            </a:r>
            <a:endParaRPr lang="ja-JP" altLang="en-US" sz="2400" dirty="0">
              <a:solidFill>
                <a:schemeClr val="accent1">
                  <a:lumMod val="75000"/>
                </a:schemeClr>
              </a:solidFill>
              <a:effectLst/>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7D9DC17D-F792-E05C-EB7D-6F24FF62DCE7}"/>
              </a:ext>
            </a:extLst>
          </p:cNvPr>
          <p:cNvSpPr/>
          <p:nvPr/>
        </p:nvSpPr>
        <p:spPr>
          <a:xfrm>
            <a:off x="5801128" y="1401683"/>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Down Arrow 1">
            <a:extLst>
              <a:ext uri="{FF2B5EF4-FFF2-40B4-BE49-F238E27FC236}">
                <a16:creationId xmlns:a16="http://schemas.microsoft.com/office/drawing/2014/main" id="{182760B6-0851-0CB7-1CB8-EC460DDD5C30}"/>
              </a:ext>
            </a:extLst>
          </p:cNvPr>
          <p:cNvSpPr/>
          <p:nvPr/>
        </p:nvSpPr>
        <p:spPr>
          <a:xfrm>
            <a:off x="1633319" y="4743558"/>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Slide Number Placeholder 5">
            <a:extLst>
              <a:ext uri="{FF2B5EF4-FFF2-40B4-BE49-F238E27FC236}">
                <a16:creationId xmlns:a16="http://schemas.microsoft.com/office/drawing/2014/main" id="{37F898B7-612D-1FA7-A4EB-EC83981E04A9}"/>
              </a:ext>
            </a:extLst>
          </p:cNvPr>
          <p:cNvSpPr>
            <a:spLocks noGrp="1"/>
          </p:cNvSpPr>
          <p:nvPr>
            <p:ph type="sldNum" sz="quarter" idx="12"/>
          </p:nvPr>
        </p:nvSpPr>
        <p:spPr/>
        <p:txBody>
          <a:bodyPr/>
          <a:lstStyle/>
          <a:p>
            <a:fld id="{D8C05D5D-75E2-3144-9168-CA833390726D}" type="slidenum">
              <a:rPr lang="en-JP" smtClean="0"/>
              <a:t>22</a:t>
            </a:fld>
            <a:endParaRPr lang="en-JP"/>
          </a:p>
        </p:txBody>
      </p:sp>
    </p:spTree>
    <p:extLst>
      <p:ext uri="{BB962C8B-B14F-4D97-AF65-F5344CB8AC3E}">
        <p14:creationId xmlns:p14="http://schemas.microsoft.com/office/powerpoint/2010/main" val="2964388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008A5-755A-0524-9B12-C10865EC57CD}"/>
              </a:ext>
            </a:extLst>
          </p:cNvPr>
          <p:cNvSpPr>
            <a:spLocks noGrp="1"/>
          </p:cNvSpPr>
          <p:nvPr>
            <p:ph idx="1"/>
          </p:nvPr>
        </p:nvSpPr>
        <p:spPr>
          <a:xfrm>
            <a:off x="256616" y="1764507"/>
            <a:ext cx="8579784" cy="1380153"/>
          </a:xfrm>
        </p:spPr>
        <p:txBody>
          <a:bodyPr>
            <a:normAutofit/>
          </a:bodyPr>
          <a:lstStyle/>
          <a:p>
            <a:pPr marL="0" indent="0">
              <a:buNone/>
            </a:pPr>
            <a:r>
              <a:rPr lang="en-US" sz="2000" i="0" dirty="0">
                <a:effectLst/>
                <a:latin typeface="Meiryo" panose="020B0604030504040204" pitchFamily="34" charset="-128"/>
                <a:ea typeface="Meiryo" panose="020B0604030504040204" pitchFamily="34" charset="-128"/>
              </a:rPr>
              <a:t>Traffic Eye_Log Analyzer</a:t>
            </a:r>
            <a:r>
              <a:rPr lang="ja-JP" altLang="en-US" sz="2000" i="0">
                <a:effectLst/>
                <a:latin typeface="Meiryo" panose="020B0604030504040204" pitchFamily="34" charset="-128"/>
                <a:ea typeface="Meiryo" panose="020B0604030504040204" pitchFamily="34" charset="-128"/>
              </a:rPr>
              <a:t>は、ログを自動で解析し、グラフで可視化することで、疑わしい</a:t>
            </a:r>
            <a:r>
              <a:rPr lang="en-US" sz="2000" i="0" dirty="0">
                <a:effectLst/>
                <a:latin typeface="Meiryo" panose="020B0604030504040204" pitchFamily="34" charset="-128"/>
                <a:ea typeface="Meiryo" panose="020B0604030504040204" pitchFamily="34" charset="-128"/>
              </a:rPr>
              <a:t>IP</a:t>
            </a:r>
            <a:r>
              <a:rPr lang="ja-JP" altLang="en-US" sz="2000" i="0">
                <a:effectLst/>
                <a:latin typeface="Meiryo" panose="020B0604030504040204" pitchFamily="34" charset="-128"/>
                <a:ea typeface="Meiryo" panose="020B0604030504040204" pitchFamily="34" charset="-128"/>
              </a:rPr>
              <a:t>や高負荷を迅速に特定し、管理者の作業時間を節約し、セキュリティを向上させます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E9646336-6A68-AA39-B12A-FE77C7F12F26}"/>
              </a:ext>
            </a:extLst>
          </p:cNvPr>
          <p:cNvPicPr>
            <a:picLocks noChangeAspect="1"/>
          </p:cNvPicPr>
          <p:nvPr/>
        </p:nvPicPr>
        <p:blipFill>
          <a:blip r:embed="rId2"/>
          <a:stretch>
            <a:fillRect/>
          </a:stretch>
        </p:blipFill>
        <p:spPr>
          <a:xfrm>
            <a:off x="159026" y="2738054"/>
            <a:ext cx="3499591" cy="3721100"/>
          </a:xfrm>
          <a:prstGeom prst="rect">
            <a:avLst/>
          </a:prstGeom>
        </p:spPr>
      </p:pic>
      <p:sp>
        <p:nvSpPr>
          <p:cNvPr id="7" name="TextBox 6">
            <a:extLst>
              <a:ext uri="{FF2B5EF4-FFF2-40B4-BE49-F238E27FC236}">
                <a16:creationId xmlns:a16="http://schemas.microsoft.com/office/drawing/2014/main" id="{771E4AA6-4BC5-7245-9CB1-DC2251F961CD}"/>
              </a:ext>
            </a:extLst>
          </p:cNvPr>
          <p:cNvSpPr txBox="1"/>
          <p:nvPr/>
        </p:nvSpPr>
        <p:spPr>
          <a:xfrm>
            <a:off x="3864195" y="2738054"/>
            <a:ext cx="4972206" cy="707886"/>
          </a:xfrm>
          <a:prstGeom prst="rect">
            <a:avLst/>
          </a:prstGeom>
          <a:noFill/>
        </p:spPr>
        <p:txBody>
          <a:bodyPr wrap="square">
            <a:spAutoFit/>
          </a:bodyPr>
          <a:lstStyle/>
          <a:p>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1</a:t>
            </a:r>
            <a:endParaRPr lang="mn-MN" altLang="ja-JP" sz="2000" b="1" i="0" dirty="0">
              <a:solidFill>
                <a:srgbClr val="C00000"/>
              </a:solidFill>
              <a:effectLst/>
              <a:latin typeface="Meiryo" panose="020B0604030504040204" pitchFamily="34" charset="-128"/>
              <a:ea typeface="Meiryo" panose="020B0604030504040204" pitchFamily="34" charset="-128"/>
            </a:endParaRPr>
          </a:p>
          <a:p>
            <a:endParaRPr lang="en-US" altLang="ja-JP" sz="2000" b="1" i="0" dirty="0">
              <a:solidFill>
                <a:srgbClr val="C00000"/>
              </a:solidFill>
              <a:effectLst/>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6F8BF241-70A8-43B7-3A57-FCCFB47829BA}"/>
              </a:ext>
            </a:extLst>
          </p:cNvPr>
          <p:cNvSpPr txBox="1"/>
          <p:nvPr/>
        </p:nvSpPr>
        <p:spPr>
          <a:xfrm>
            <a:off x="216031" y="269736"/>
            <a:ext cx="8579784" cy="461665"/>
          </a:xfrm>
          <a:prstGeom prst="rect">
            <a:avLst/>
          </a:prstGeom>
          <a:noFill/>
        </p:spPr>
        <p:txBody>
          <a:bodyPr wrap="square">
            <a:spAutoFit/>
          </a:bodyPr>
          <a:lstStyle/>
          <a:p>
            <a:pPr marL="342900" indent="-342900">
              <a:buFont typeface="Wingdings" pitchFamily="2" charset="2"/>
              <a:buChar char="Ø"/>
            </a:pPr>
            <a:r>
              <a:rPr lang="ja-JP" altLang="en-US" sz="2400" b="1" i="0">
                <a:effectLst/>
                <a:latin typeface="Meiryo" panose="020B0604030504040204" pitchFamily="34" charset="-128"/>
                <a:ea typeface="Meiryo" panose="020B0604030504040204" pitchFamily="34" charset="-128"/>
              </a:rPr>
              <a:t>「ネットワークセキュリティ分析ツール」を作成しました</a:t>
            </a:r>
            <a:endParaRPr lang="en-US" altLang="ja-JP" sz="2400" b="1" i="0" dirty="0">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6C7A221-91D6-B090-C21F-078595F53195}"/>
              </a:ext>
            </a:extLst>
          </p:cNvPr>
          <p:cNvSpPr txBox="1"/>
          <p:nvPr/>
        </p:nvSpPr>
        <p:spPr>
          <a:xfrm>
            <a:off x="256616" y="901363"/>
            <a:ext cx="8728358" cy="830997"/>
          </a:xfrm>
          <a:prstGeom prst="rect">
            <a:avLst/>
          </a:prstGeom>
          <a:noFill/>
        </p:spPr>
        <p:txBody>
          <a:bodyPr wrap="square">
            <a:spAutoFit/>
          </a:bodyPr>
          <a:lstStyle/>
          <a:p>
            <a:pPr marL="0" indent="0">
              <a:buNone/>
            </a:pPr>
            <a:r>
              <a:rPr lang="ja-JP" altLang="en-US" sz="2400" i="0">
                <a:effectLst/>
                <a:latin typeface="Meiryo" panose="020B0604030504040204" pitchFamily="34" charset="-128"/>
                <a:ea typeface="Meiryo" panose="020B0604030504040204" pitchFamily="34" charset="-128"/>
              </a:rPr>
              <a:t>その名前は「</a:t>
            </a:r>
            <a:r>
              <a:rPr lang="en-US" sz="2400" i="0" dirty="0">
                <a:solidFill>
                  <a:srgbClr val="C00000"/>
                </a:solidFill>
                <a:effectLst/>
                <a:latin typeface="Meiryo" panose="020B0604030504040204" pitchFamily="34" charset="-128"/>
                <a:ea typeface="Meiryo" panose="020B0604030504040204" pitchFamily="34" charset="-128"/>
              </a:rPr>
              <a:t>Traffic Eye_Log analyzer</a:t>
            </a:r>
            <a:r>
              <a:rPr lang="en-US" sz="2400" i="0" dirty="0">
                <a:effectLst/>
                <a:latin typeface="Meiryo" panose="020B0604030504040204" pitchFamily="34" charset="-128"/>
                <a:ea typeface="Meiryo" panose="020B0604030504040204" pitchFamily="34" charset="-128"/>
              </a:rPr>
              <a:t>」</a:t>
            </a:r>
            <a:r>
              <a:rPr lang="ja-JP" altLang="en-US" sz="2400" i="0">
                <a:effectLst/>
                <a:latin typeface="Meiryo" panose="020B0604030504040204" pitchFamily="34" charset="-128"/>
                <a:ea typeface="Meiryo" panose="020B0604030504040204" pitchFamily="34" charset="-128"/>
              </a:rPr>
              <a:t>です</a:t>
            </a:r>
            <a:r>
              <a:rPr lang="mn-MN" altLang="ja-JP" sz="2400" i="0" dirty="0">
                <a:effectLst/>
                <a:latin typeface="Meiryo" panose="020B0604030504040204" pitchFamily="34" charset="-128"/>
                <a:ea typeface="Meiryo" panose="020B0604030504040204" pitchFamily="34" charset="-128"/>
              </a:rPr>
              <a:t>. </a:t>
            </a:r>
            <a:r>
              <a:rPr lang="ja-JP" altLang="en-US" sz="2400" i="0">
                <a:effectLst/>
                <a:latin typeface="Meiryo" panose="020B0604030504040204" pitchFamily="34" charset="-128"/>
                <a:ea typeface="Meiryo" panose="020B0604030504040204" pitchFamily="34" charset="-128"/>
              </a:rPr>
              <a:t>サーバーログ解析システム</a:t>
            </a:r>
            <a:endParaRPr lang="ja-JP" altLang="en-US" sz="2400" dirty="0">
              <a:effectLst/>
              <a:latin typeface="Meiryo" panose="020B0604030504040204" pitchFamily="34" charset="-128"/>
              <a:ea typeface="Meiryo" panose="020B0604030504040204" pitchFamily="34" charset="-128"/>
            </a:endParaRPr>
          </a:p>
        </p:txBody>
      </p:sp>
      <p:sp>
        <p:nvSpPr>
          <p:cNvPr id="10" name="Down Arrow 9">
            <a:extLst>
              <a:ext uri="{FF2B5EF4-FFF2-40B4-BE49-F238E27FC236}">
                <a16:creationId xmlns:a16="http://schemas.microsoft.com/office/drawing/2014/main" id="{7146ABD0-565F-78D4-4CD1-29574FBE1C1E}"/>
              </a:ext>
            </a:extLst>
          </p:cNvPr>
          <p:cNvSpPr/>
          <p:nvPr/>
        </p:nvSpPr>
        <p:spPr>
          <a:xfrm>
            <a:off x="2718719" y="132358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758B4746-F9F1-B88F-7DFC-D0AE20F04032}"/>
              </a:ext>
            </a:extLst>
          </p:cNvPr>
          <p:cNvSpPr>
            <a:spLocks noGrp="1"/>
          </p:cNvSpPr>
          <p:nvPr>
            <p:ph type="sldNum" sz="quarter" idx="12"/>
          </p:nvPr>
        </p:nvSpPr>
        <p:spPr/>
        <p:txBody>
          <a:bodyPr/>
          <a:lstStyle/>
          <a:p>
            <a:fld id="{D8C05D5D-75E2-3144-9168-CA833390726D}" type="slidenum">
              <a:rPr lang="en-JP" smtClean="0"/>
              <a:t>23</a:t>
            </a:fld>
            <a:endParaRPr lang="en-JP"/>
          </a:p>
        </p:txBody>
      </p:sp>
      <p:sp>
        <p:nvSpPr>
          <p:cNvPr id="13" name="TextBox 12">
            <a:extLst>
              <a:ext uri="{FF2B5EF4-FFF2-40B4-BE49-F238E27FC236}">
                <a16:creationId xmlns:a16="http://schemas.microsoft.com/office/drawing/2014/main" id="{7D3143FC-D9CE-D7B7-55DD-3B86854E7845}"/>
              </a:ext>
            </a:extLst>
          </p:cNvPr>
          <p:cNvSpPr txBox="1"/>
          <p:nvPr/>
        </p:nvSpPr>
        <p:spPr>
          <a:xfrm>
            <a:off x="3333509" y="3144660"/>
            <a:ext cx="5651465" cy="317009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ログファイルの読み込み</a:t>
            </a:r>
          </a:p>
          <a:p>
            <a:r>
              <a:rPr lang="ja-JP" altLang="en-US" sz="2000">
                <a:latin typeface="Meiryo" panose="020B0604030504040204" pitchFamily="34" charset="-128"/>
                <a:ea typeface="Meiryo" panose="020B0604030504040204" pitchFamily="34" charset="-128"/>
              </a:rPr>
              <a:t>サーバーの </a:t>
            </a:r>
            <a:r>
              <a:rPr lang="en-US" sz="2000" dirty="0">
                <a:latin typeface="Meiryo" panose="020B0604030504040204" pitchFamily="34" charset="-128"/>
                <a:ea typeface="Meiryo" panose="020B0604030504040204" pitchFamily="34" charset="-128"/>
              </a:rPr>
              <a:t>access.log </a:t>
            </a:r>
            <a:r>
              <a:rPr lang="ja-JP" altLang="en-US" sz="2000">
                <a:latin typeface="Meiryo" panose="020B0604030504040204" pitchFamily="34" charset="-128"/>
                <a:ea typeface="Meiryo" panose="020B0604030504040204" pitchFamily="34" charset="-128"/>
              </a:rPr>
              <a:t>や </a:t>
            </a:r>
            <a:r>
              <a:rPr lang="en-US" sz="2000" dirty="0">
                <a:latin typeface="Meiryo" panose="020B0604030504040204" pitchFamily="34" charset="-128"/>
                <a:ea typeface="Meiryo" panose="020B0604030504040204" pitchFamily="34" charset="-128"/>
              </a:rPr>
              <a:t>error.log </a:t>
            </a:r>
            <a:r>
              <a:rPr lang="ja-JP" altLang="en-US" sz="2000">
                <a:latin typeface="Meiryo" panose="020B0604030504040204" pitchFamily="34" charset="-128"/>
                <a:ea typeface="Meiryo" panose="020B0604030504040204" pitchFamily="34" charset="-128"/>
              </a:rPr>
              <a:t>を読み込み、ログデータを取得する</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mn-MN" altLang="ja-JP" sz="2000" dirty="0">
                <a:latin typeface="Meiryo" panose="020B0604030504040204" pitchFamily="34" charset="-128"/>
                <a:ea typeface="Meiryo" panose="020B0604030504040204" pitchFamily="34" charset="-128"/>
              </a:rPr>
              <a:t>2. </a:t>
            </a:r>
            <a:r>
              <a:rPr lang="ja-JP" altLang="en-US" sz="2000">
                <a:latin typeface="Meiryo" panose="020B0604030504040204" pitchFamily="34" charset="-128"/>
                <a:ea typeface="Meiryo" panose="020B0604030504040204" pitchFamily="34" charset="-128"/>
              </a:rPr>
              <a:t>データ処理</a:t>
            </a:r>
          </a:p>
          <a:p>
            <a:r>
              <a:rPr lang="ja-JP" altLang="en-US" sz="2000">
                <a:latin typeface="Meiryo" panose="020B0604030504040204" pitchFamily="34" charset="-128"/>
                <a:ea typeface="Meiryo" panose="020B0604030504040204" pitchFamily="34" charset="-128"/>
              </a:rPr>
              <a:t>ログデータから以下の情報を解析</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IP</a:t>
            </a:r>
            <a:r>
              <a:rPr lang="ja-JP" altLang="en-US" sz="2000">
                <a:latin typeface="Meiryo" panose="020B0604030504040204" pitchFamily="34" charset="-128"/>
                <a:ea typeface="Meiryo" panose="020B0604030504040204" pitchFamily="34" charset="-128"/>
              </a:rPr>
              <a:t>アドレス</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リクエストタイプ（</a:t>
            </a:r>
            <a:r>
              <a:rPr lang="en-US" sz="2000" dirty="0">
                <a:latin typeface="Meiryo" panose="020B0604030504040204" pitchFamily="34" charset="-128"/>
                <a:ea typeface="Meiryo" panose="020B0604030504040204" pitchFamily="34" charset="-128"/>
              </a:rPr>
              <a:t>GET / POST </a:t>
            </a:r>
            <a:r>
              <a:rPr lang="ja-JP" altLang="en-US" sz="2000">
                <a:latin typeface="Meiryo" panose="020B0604030504040204" pitchFamily="34" charset="-128"/>
                <a:ea typeface="Meiryo" panose="020B0604030504040204" pitchFamily="34" charset="-128"/>
              </a:rPr>
              <a:t>など）</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リクエスト時間</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ステータスコード（</a:t>
            </a:r>
            <a:r>
              <a:rPr lang="en-US" altLang="ja-JP" sz="2000" dirty="0">
                <a:latin typeface="Meiryo" panose="020B0604030504040204" pitchFamily="34" charset="-128"/>
                <a:ea typeface="Meiryo" panose="020B0604030504040204" pitchFamily="34" charset="-128"/>
              </a:rPr>
              <a:t>200 / 404 / 500 </a:t>
            </a:r>
            <a:r>
              <a:rPr lang="ja-JP" altLang="en-US" sz="2000">
                <a:latin typeface="Meiryo" panose="020B0604030504040204" pitchFamily="34" charset="-128"/>
                <a:ea typeface="Meiryo" panose="020B0604030504040204" pitchFamily="34" charset="-128"/>
              </a:rPr>
              <a:t>など）</a:t>
            </a:r>
          </a:p>
        </p:txBody>
      </p:sp>
    </p:spTree>
    <p:extLst>
      <p:ext uri="{BB962C8B-B14F-4D97-AF65-F5344CB8AC3E}">
        <p14:creationId xmlns:p14="http://schemas.microsoft.com/office/powerpoint/2010/main" val="216586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6D8F-A6E7-824D-BFF0-DD3341C03EA4}"/>
              </a:ext>
            </a:extLst>
          </p:cNvPr>
          <p:cNvSpPr>
            <a:spLocks noGrp="1"/>
          </p:cNvSpPr>
          <p:nvPr>
            <p:ph idx="1"/>
          </p:nvPr>
        </p:nvSpPr>
        <p:spPr>
          <a:xfrm>
            <a:off x="898264" y="932392"/>
            <a:ext cx="7886700" cy="2640390"/>
          </a:xfrm>
        </p:spPr>
        <p:txBody>
          <a:bodyPr>
            <a:normAutofit fontScale="92500" lnSpcReduction="10000"/>
          </a:bodyPr>
          <a:lstStyle/>
          <a:p>
            <a:pPr marL="0" indent="0">
              <a:buNone/>
            </a:pPr>
            <a:endParaRPr lang="en-US" altLang="ja-JP" sz="2000" b="1" i="0" dirty="0">
              <a:effectLst/>
              <a:latin typeface="Meiryo" panose="020B0604030504040204" pitchFamily="34" charset="-128"/>
              <a:ea typeface="Meiryo" panose="020B0604030504040204" pitchFamily="34" charset="-128"/>
            </a:endParaRPr>
          </a:p>
          <a:p>
            <a:r>
              <a:rPr lang="en-US" sz="2400" b="0" i="0" dirty="0">
                <a:effectLst/>
                <a:latin typeface="Meiryo" panose="020B0604030504040204" pitchFamily="34" charset="-128"/>
                <a:ea typeface="Meiryo" panose="020B0604030504040204" pitchFamily="34" charset="-128"/>
              </a:rPr>
              <a:t>total number of distinct IP addresses </a:t>
            </a:r>
            <a:r>
              <a:rPr lang="ja-JP" altLang="en-US" sz="2400" b="0" i="0">
                <a:effectLst/>
                <a:latin typeface="Meiryo" panose="020B0604030504040204" pitchFamily="34" charset="-128"/>
                <a:ea typeface="Meiryo" panose="020B0604030504040204" pitchFamily="34" charset="-128"/>
              </a:rPr>
              <a:t>総ユニーク</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数</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最大リクエスト数を送信した</a:t>
            </a:r>
            <a:r>
              <a:rPr lang="en-US" sz="2400" b="0" i="0" dirty="0">
                <a:effectLst/>
                <a:latin typeface="Meiryo" panose="020B0604030504040204" pitchFamily="34" charset="-128"/>
                <a:ea typeface="Meiryo" panose="020B0604030504040204" pitchFamily="34" charset="-128"/>
              </a:rPr>
              <a:t>IP</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最もアクセスされた</a:t>
            </a:r>
            <a:r>
              <a:rPr lang="en-US" sz="2400" b="0" i="0" dirty="0">
                <a:effectLst/>
                <a:latin typeface="Meiryo" panose="020B0604030504040204" pitchFamily="34" charset="-128"/>
                <a:ea typeface="Meiryo" panose="020B0604030504040204" pitchFamily="34" charset="-128"/>
              </a:rPr>
              <a:t>URL</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日別・時間別・分別トラフィックのグラフ</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可視化 </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横棒グラフ、縦棒グラフ、円グラフ、折れ線グラフでデータを見やすく表示</a:t>
            </a:r>
            <a:endParaRPr lang="ja-JP" altLang="en-US" sz="2400">
              <a:effectLst/>
              <a:latin typeface="Meiryo" panose="020B0604030504040204" pitchFamily="34" charset="-128"/>
              <a:ea typeface="Meiryo" panose="020B0604030504040204" pitchFamily="34" charset="-128"/>
            </a:endParaRPr>
          </a:p>
          <a:p>
            <a:endParaRPr lang="en-JP" dirty="0"/>
          </a:p>
        </p:txBody>
      </p:sp>
      <p:sp>
        <p:nvSpPr>
          <p:cNvPr id="6" name="TextBox 5">
            <a:extLst>
              <a:ext uri="{FF2B5EF4-FFF2-40B4-BE49-F238E27FC236}">
                <a16:creationId xmlns:a16="http://schemas.microsoft.com/office/drawing/2014/main" id="{D46BA06D-433D-7988-D331-1F9371A9F432}"/>
              </a:ext>
            </a:extLst>
          </p:cNvPr>
          <p:cNvSpPr txBox="1"/>
          <p:nvPr/>
        </p:nvSpPr>
        <p:spPr>
          <a:xfrm>
            <a:off x="375948" y="3693767"/>
            <a:ext cx="4572000" cy="461665"/>
          </a:xfrm>
          <a:prstGeom prst="rect">
            <a:avLst/>
          </a:prstGeom>
          <a:noFill/>
        </p:spPr>
        <p:txBody>
          <a:bodyPr wrap="square">
            <a:spAutoFit/>
          </a:bodyPr>
          <a:lstStyle/>
          <a:p>
            <a:pPr marL="342900" indent="-342900">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3</a:t>
            </a:r>
            <a:endParaRPr lang="en-JP" sz="24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4880331-BF4D-98D9-FB3E-96CF6229DED5}"/>
              </a:ext>
            </a:extLst>
          </p:cNvPr>
          <p:cNvSpPr txBox="1"/>
          <p:nvPr/>
        </p:nvSpPr>
        <p:spPr>
          <a:xfrm>
            <a:off x="898264" y="4397403"/>
            <a:ext cx="5559686" cy="1938992"/>
          </a:xfrm>
          <a:prstGeom prst="rect">
            <a:avLst/>
          </a:prstGeom>
          <a:noFill/>
        </p:spPr>
        <p:txBody>
          <a:bodyPr wrap="square">
            <a:spAutoFit/>
          </a:bodyPr>
          <a:lstStyle/>
          <a:p>
            <a:pPr marL="285750" indent="-285750">
              <a:buFont typeface="Arial" panose="020B0604020202020204" pitchFamily="34" charset="0"/>
              <a:buChar char="•"/>
            </a:pPr>
            <a:r>
              <a:rPr lang="ja-JP" altLang="en-US" sz="2400" b="0" i="0">
                <a:solidFill>
                  <a:srgbClr val="222222"/>
                </a:solidFill>
                <a:effectLst/>
                <a:latin typeface="Meiryo" panose="020B0604030504040204" pitchFamily="34" charset="-128"/>
                <a:ea typeface="Meiryo" panose="020B0604030504040204" pitchFamily="34" charset="-128"/>
              </a:rPr>
              <a:t>セ</a:t>
            </a:r>
            <a:r>
              <a:rPr lang="ja-JP" altLang="en-US" sz="2400" b="0" i="0">
                <a:effectLst/>
                <a:latin typeface="Meiryo" panose="020B0604030504040204" pitchFamily="34" charset="-128"/>
                <a:ea typeface="Meiryo" panose="020B0604030504040204" pitchFamily="34" charset="-128"/>
              </a:rPr>
              <a:t>キュリティ分析 </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繰り返しリクエストを送る</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の特定</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過剰リクエスト</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のブロック提案</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ブルートフォース</a:t>
            </a:r>
            <a:r>
              <a:rPr lang="en-US" altLang="ja-JP" sz="2400" dirty="0">
                <a:latin typeface="Meiryo" panose="020B0604030504040204" pitchFamily="34" charset="-128"/>
                <a:ea typeface="Meiryo" panose="020B0604030504040204" pitchFamily="34" charset="-128"/>
              </a:rPr>
              <a:t>(</a:t>
            </a:r>
            <a:r>
              <a:rPr lang="en-US" sz="2400" b="0" i="0" dirty="0">
                <a:solidFill>
                  <a:srgbClr val="222222"/>
                </a:solidFill>
                <a:effectLst/>
                <a:latin typeface="Helvetica Neue" panose="02000503000000020004" pitchFamily="2" charset="0"/>
              </a:rPr>
              <a:t>brute force</a:t>
            </a:r>
            <a:r>
              <a:rPr lang="en-US" sz="2400" dirty="0">
                <a:solidFill>
                  <a:srgbClr val="222222"/>
                </a:solidFill>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攻撃などの兆候検出</a:t>
            </a:r>
            <a:endParaRPr lang="ja-JP" altLang="en-US" sz="2400">
              <a:effectLst/>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8D08C3D-1A2C-7734-4714-E493F770EAA0}"/>
              </a:ext>
            </a:extLst>
          </p:cNvPr>
          <p:cNvSpPr>
            <a:spLocks noGrp="1"/>
          </p:cNvSpPr>
          <p:nvPr>
            <p:ph type="sldNum" sz="quarter" idx="12"/>
          </p:nvPr>
        </p:nvSpPr>
        <p:spPr/>
        <p:txBody>
          <a:bodyPr/>
          <a:lstStyle/>
          <a:p>
            <a:fld id="{D8C05D5D-75E2-3144-9168-CA833390726D}" type="slidenum">
              <a:rPr lang="en-JP" smtClean="0"/>
              <a:t>24</a:t>
            </a:fld>
            <a:endParaRPr lang="en-JP"/>
          </a:p>
        </p:txBody>
      </p:sp>
      <p:sp>
        <p:nvSpPr>
          <p:cNvPr id="7" name="TextBox 6">
            <a:extLst>
              <a:ext uri="{FF2B5EF4-FFF2-40B4-BE49-F238E27FC236}">
                <a16:creationId xmlns:a16="http://schemas.microsoft.com/office/drawing/2014/main" id="{5CEA3FAD-1B99-D502-1FEE-160232BB7035}"/>
              </a:ext>
            </a:extLst>
          </p:cNvPr>
          <p:cNvSpPr txBox="1"/>
          <p:nvPr/>
        </p:nvSpPr>
        <p:spPr>
          <a:xfrm>
            <a:off x="375948" y="505248"/>
            <a:ext cx="4572000" cy="461665"/>
          </a:xfrm>
          <a:prstGeom prst="rect">
            <a:avLst/>
          </a:prstGeom>
          <a:noFill/>
        </p:spPr>
        <p:txBody>
          <a:bodyPr wrap="square">
            <a:spAutoFit/>
          </a:bodyPr>
          <a:lstStyle/>
          <a:p>
            <a:pPr>
              <a:buFont typeface="Wingdings" pitchFamily="2" charset="2"/>
              <a:buChar char="§"/>
            </a:pPr>
            <a:r>
              <a:rPr lang="ja-JP" altLang="en-US" sz="2400" b="1" i="0">
                <a:solidFill>
                  <a:srgbClr val="C00000"/>
                </a:solidFill>
                <a:effectLst/>
                <a:latin typeface="Meiryo" panose="020B0604030504040204" pitchFamily="34" charset="-128"/>
                <a:ea typeface="Meiryo" panose="020B0604030504040204" pitchFamily="34" charset="-128"/>
              </a:rPr>
              <a:t>主な特徴 </a:t>
            </a:r>
            <a:r>
              <a:rPr lang="en-US" altLang="ja-JP" sz="2400" b="1" i="0" dirty="0">
                <a:solidFill>
                  <a:srgbClr val="C00000"/>
                </a:solidFill>
                <a:effectLst/>
                <a:latin typeface="Meiryo" panose="020B0604030504040204" pitchFamily="34" charset="-128"/>
                <a:ea typeface="Meiryo" panose="020B0604030504040204" pitchFamily="34" charset="-128"/>
              </a:rPr>
              <a:t>2</a:t>
            </a:r>
          </a:p>
        </p:txBody>
      </p:sp>
    </p:spTree>
    <p:extLst>
      <p:ext uri="{BB962C8B-B14F-4D97-AF65-F5344CB8AC3E}">
        <p14:creationId xmlns:p14="http://schemas.microsoft.com/office/powerpoint/2010/main" val="3182687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B1CB-8079-E882-CA2A-7994CA267341}"/>
              </a:ext>
            </a:extLst>
          </p:cNvPr>
          <p:cNvSpPr txBox="1"/>
          <p:nvPr/>
        </p:nvSpPr>
        <p:spPr>
          <a:xfrm>
            <a:off x="0" y="184139"/>
            <a:ext cx="8515350" cy="707886"/>
          </a:xfrm>
          <a:prstGeom prst="rect">
            <a:avLst/>
          </a:prstGeom>
          <a:noFill/>
        </p:spPr>
        <p:txBody>
          <a:bodyPr wrap="square" rtlCol="0">
            <a:spAutoFit/>
          </a:bodyPr>
          <a:lstStyle/>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これは私が作成したプログラムの出力画面です</a:t>
            </a:r>
            <a:r>
              <a:rPr lang="mn-MN"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ログデータを分析した結果をグラフで表示することができます</a:t>
            </a:r>
            <a:r>
              <a:rPr lang="mn-MN"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3" name="2025-09-08 12-29-59">
            <a:hlinkClick r:id="" action="ppaction://media"/>
            <a:extLst>
              <a:ext uri="{FF2B5EF4-FFF2-40B4-BE49-F238E27FC236}">
                <a16:creationId xmlns:a16="http://schemas.microsoft.com/office/drawing/2014/main" id="{746AC4A3-2612-986C-DCD5-EC4436FE1D3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68071"/>
            <a:ext cx="9144000" cy="5512235"/>
          </a:xfrm>
          <a:prstGeom prst="rect">
            <a:avLst/>
          </a:prstGeom>
        </p:spPr>
      </p:pic>
      <p:sp>
        <p:nvSpPr>
          <p:cNvPr id="4" name="Slide Number Placeholder 3">
            <a:extLst>
              <a:ext uri="{FF2B5EF4-FFF2-40B4-BE49-F238E27FC236}">
                <a16:creationId xmlns:a16="http://schemas.microsoft.com/office/drawing/2014/main" id="{88850123-7BA4-9DCE-A39F-ACD84DEF99F4}"/>
              </a:ext>
            </a:extLst>
          </p:cNvPr>
          <p:cNvSpPr>
            <a:spLocks noGrp="1"/>
          </p:cNvSpPr>
          <p:nvPr>
            <p:ph type="sldNum" sz="quarter" idx="12"/>
          </p:nvPr>
        </p:nvSpPr>
        <p:spPr/>
        <p:txBody>
          <a:bodyPr/>
          <a:lstStyle/>
          <a:p>
            <a:fld id="{D8C05D5D-75E2-3144-9168-CA833390726D}" type="slidenum">
              <a:rPr lang="en-JP" smtClean="0"/>
              <a:t>25</a:t>
            </a:fld>
            <a:endParaRPr lang="en-JP"/>
          </a:p>
        </p:txBody>
      </p:sp>
    </p:spTree>
    <p:extLst>
      <p:ext uri="{BB962C8B-B14F-4D97-AF65-F5344CB8AC3E}">
        <p14:creationId xmlns:p14="http://schemas.microsoft.com/office/powerpoint/2010/main" val="104135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6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8"/>
          <p:cNvSpPr txBox="1">
            <a:spLocks noGrp="1"/>
          </p:cNvSpPr>
          <p:nvPr>
            <p:ph type="title"/>
          </p:nvPr>
        </p:nvSpPr>
        <p:spPr>
          <a:xfrm>
            <a:off x="482346" y="579120"/>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eiryo"/>
              <a:buNone/>
            </a:pPr>
            <a:r>
              <a:rPr lang="ja-JP" sz="3600">
                <a:latin typeface="Meiryo"/>
                <a:ea typeface="Meiryo"/>
                <a:cs typeface="Meiryo"/>
                <a:sym typeface="Meiryo"/>
              </a:rPr>
              <a:t>Webサーバへの攻撃方法から検討する防御手法</a:t>
            </a:r>
            <a:endParaRPr sz="3600" dirty="0"/>
          </a:p>
        </p:txBody>
      </p:sp>
      <p:sp>
        <p:nvSpPr>
          <p:cNvPr id="316" name="Google Shape;316;p28"/>
          <p:cNvSpPr txBox="1">
            <a:spLocks noGrp="1"/>
          </p:cNvSpPr>
          <p:nvPr>
            <p:ph type="body" idx="1"/>
          </p:nvPr>
        </p:nvSpPr>
        <p:spPr>
          <a:xfrm>
            <a:off x="628650" y="2414015"/>
            <a:ext cx="8430006" cy="3864865"/>
          </a:xfrm>
          <a:prstGeom prst="rect">
            <a:avLst/>
          </a:prstGeom>
          <a:noFill/>
          <a:ln>
            <a:noFill/>
          </a:ln>
        </p:spPr>
        <p:txBody>
          <a:bodyPr spcFirstLastPara="1" wrap="square" lIns="91425" tIns="45700" rIns="91425" bIns="45700" anchor="t" anchorCtr="0">
            <a:noAutofit/>
          </a:bodyPr>
          <a:lstStyle/>
          <a:p>
            <a:pPr lvl="0" algn="l" rtl="0">
              <a:lnSpc>
                <a:spcPct val="90000"/>
              </a:lnSpc>
              <a:spcBef>
                <a:spcPts val="0"/>
              </a:spcBef>
              <a:spcAft>
                <a:spcPts val="0"/>
              </a:spcAft>
              <a:buClr>
                <a:schemeClr val="dk1"/>
              </a:buClr>
              <a:buSzPts val="2800"/>
              <a:buFont typeface="Wingdings" pitchFamily="2" charset="2"/>
              <a:buChar char="§"/>
            </a:pPr>
            <a:r>
              <a:rPr lang="ja-JP">
                <a:latin typeface="Meiryo" panose="020B0604030504040204" pitchFamily="34" charset="-128"/>
                <a:ea typeface="Meiryo" panose="020B0604030504040204" pitchFamily="34" charset="-128"/>
                <a:cs typeface="Meiryo"/>
                <a:sym typeface="Meiryo"/>
              </a:rPr>
              <a:t>このトピックの目的</a:t>
            </a:r>
            <a:endParaRPr dirty="0">
              <a:latin typeface="Meiryo" panose="020B0604030504040204" pitchFamily="34" charset="-128"/>
              <a:ea typeface="Meiryo" panose="020B0604030504040204" pitchFamily="34" charset="-128"/>
              <a:cs typeface="Meiryo"/>
              <a:sym typeface="Meiryo"/>
            </a:endParaRPr>
          </a:p>
          <a:p>
            <a:pPr marL="228600" lvl="0" indent="-50800" algn="l" rtl="0">
              <a:lnSpc>
                <a:spcPct val="90000"/>
              </a:lnSpc>
              <a:spcBef>
                <a:spcPts val="1000"/>
              </a:spcBef>
              <a:spcAft>
                <a:spcPts val="0"/>
              </a:spcAft>
              <a:buClr>
                <a:schemeClr val="dk1"/>
              </a:buClr>
              <a:buSzPts val="2800"/>
              <a:buNone/>
            </a:pP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Webアプリケーションの自作</a:t>
            </a:r>
            <a:endParaRPr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ja-JP">
                <a:latin typeface="Meiryo" panose="020B0604030504040204" pitchFamily="34" charset="-128"/>
                <a:ea typeface="Meiryo" panose="020B0604030504040204" pitchFamily="34" charset="-128"/>
                <a:cs typeface="Meiryo"/>
                <a:sym typeface="Meiryo"/>
              </a:rPr>
              <a:t>DVWAの利用</a:t>
            </a:r>
            <a:endParaRPr lang="mn-MN" altLang="ja-JP" dirty="0">
              <a:latin typeface="Meiryo" panose="020B0604030504040204" pitchFamily="34" charset="-128"/>
              <a:ea typeface="Meiryo" panose="020B0604030504040204" pitchFamily="34" charset="-128"/>
              <a:cs typeface="Meiryo"/>
              <a:sym typeface="Meiryo"/>
            </a:endParaRPr>
          </a:p>
          <a:p>
            <a:pPr marL="514350" lvl="0" indent="-514350" algn="l" rtl="0">
              <a:lnSpc>
                <a:spcPct val="90000"/>
              </a:lnSpc>
              <a:spcBef>
                <a:spcPts val="1000"/>
              </a:spcBef>
              <a:spcAft>
                <a:spcPts val="0"/>
              </a:spcAft>
              <a:buClr>
                <a:schemeClr val="dk1"/>
              </a:buClr>
              <a:buSzPts val="2800"/>
              <a:buFont typeface="Calibri"/>
              <a:buAutoNum type="arabicPeriod"/>
            </a:pPr>
            <a:r>
              <a:rPr lang="en-US" dirty="0">
                <a:latin typeface="Meiryo" panose="020B0604030504040204" pitchFamily="34" charset="-128"/>
                <a:ea typeface="Meiryo" panose="020B0604030504040204" pitchFamily="34" charset="-128"/>
              </a:rPr>
              <a:t>Web</a:t>
            </a:r>
            <a:r>
              <a:rPr lang="ja-JP" altLang="en-US">
                <a:latin typeface="Meiryo" panose="020B0604030504040204" pitchFamily="34" charset="-128"/>
                <a:ea typeface="Meiryo" panose="020B0604030504040204" pitchFamily="34" charset="-128"/>
              </a:rPr>
              <a:t>アプリの攻撃（</a:t>
            </a:r>
            <a:r>
              <a:rPr lang="en-US" dirty="0">
                <a:latin typeface="Meiryo" panose="020B0604030504040204" pitchFamily="34" charset="-128"/>
                <a:ea typeface="Meiryo" panose="020B0604030504040204" pitchFamily="34" charset="-128"/>
              </a:rPr>
              <a:t>SQL</a:t>
            </a:r>
            <a:r>
              <a:rPr lang="ja-JP" altLang="en-US">
                <a:latin typeface="Meiryo" panose="020B0604030504040204" pitchFamily="34" charset="-128"/>
                <a:ea typeface="Meiryo" panose="020B0604030504040204" pitchFamily="34" charset="-128"/>
              </a:rPr>
              <a:t>インジェクション、</a:t>
            </a:r>
            <a:r>
              <a:rPr lang="en-US" dirty="0">
                <a:latin typeface="Meiryo" panose="020B0604030504040204" pitchFamily="34" charset="-128"/>
                <a:ea typeface="Meiryo" panose="020B0604030504040204" pitchFamily="34" charset="-128"/>
              </a:rPr>
              <a:t>XSS</a:t>
            </a:r>
            <a:r>
              <a:rPr lang="ja-JP" altLang="en-US">
                <a:latin typeface="Meiryo" panose="020B0604030504040204" pitchFamily="34" charset="-128"/>
                <a:ea typeface="Meiryo" panose="020B0604030504040204" pitchFamily="34" charset="-128"/>
              </a:rPr>
              <a:t>など）を理解するためのテスト環境を構築</a:t>
            </a:r>
            <a:endParaRPr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5D8FCEF0-956A-1557-FE03-2B5628CE8945}"/>
              </a:ext>
            </a:extLst>
          </p:cNvPr>
          <p:cNvSpPr>
            <a:spLocks noGrp="1"/>
          </p:cNvSpPr>
          <p:nvPr>
            <p:ph type="sldNum" sz="quarter" idx="12"/>
          </p:nvPr>
        </p:nvSpPr>
        <p:spPr/>
        <p:txBody>
          <a:bodyPr/>
          <a:lstStyle/>
          <a:p>
            <a:fld id="{D8C05D5D-75E2-3144-9168-CA833390726D}" type="slidenum">
              <a:rPr lang="en-JP" smtClean="0"/>
              <a:pPr/>
              <a:t>26</a:t>
            </a:fld>
            <a:endParaRPr lang="en-JP"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9"/>
          <p:cNvSpPr txBox="1">
            <a:spLocks noGrp="1"/>
          </p:cNvSpPr>
          <p:nvPr>
            <p:ph type="body" idx="1"/>
          </p:nvPr>
        </p:nvSpPr>
        <p:spPr>
          <a:xfrm>
            <a:off x="523840" y="986105"/>
            <a:ext cx="78867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ja-JP" b="1">
                <a:latin typeface="Meiryo"/>
                <a:ea typeface="Meiryo"/>
                <a:cs typeface="Meiryo"/>
                <a:sym typeface="Meiryo"/>
              </a:rPr>
              <a:t>Webアプリケーションの構築</a:t>
            </a:r>
            <a:endParaRPr dirty="0"/>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テスト用のWebサイトを作成して、攻撃から守り方の基本を学びました.</a:t>
            </a:r>
            <a:endParaRPr dirty="0">
              <a:latin typeface="Meiryo"/>
              <a:ea typeface="Meiryo"/>
              <a:cs typeface="Meiryo"/>
              <a:sym typeface="Meiryo"/>
            </a:endParaRPr>
          </a:p>
          <a:p>
            <a:pPr marL="0" lvl="0" indent="0" algn="l" rtl="0">
              <a:lnSpc>
                <a:spcPct val="90000"/>
              </a:lnSpc>
              <a:spcBef>
                <a:spcPts val="1000"/>
              </a:spcBef>
              <a:spcAft>
                <a:spcPts val="0"/>
              </a:spcAft>
              <a:buClr>
                <a:schemeClr val="dk1"/>
              </a:buClr>
              <a:buSzPts val="2800"/>
              <a:buNone/>
            </a:pPr>
            <a:endParaRPr dirty="0">
              <a:latin typeface="Meiryo"/>
              <a:ea typeface="Meiryo"/>
              <a:cs typeface="Meiryo"/>
              <a:sym typeface="Meiryo"/>
            </a:endParaRPr>
          </a:p>
          <a:p>
            <a:pPr marL="228600" lvl="0" indent="-228600" algn="l" rtl="0">
              <a:lnSpc>
                <a:spcPct val="90000"/>
              </a:lnSpc>
              <a:spcBef>
                <a:spcPts val="1000"/>
              </a:spcBef>
              <a:spcAft>
                <a:spcPts val="0"/>
              </a:spcAft>
              <a:buClr>
                <a:schemeClr val="dk1"/>
              </a:buClr>
              <a:buSzPts val="2800"/>
              <a:buChar char="•"/>
            </a:pPr>
            <a:r>
              <a:rPr lang="ja-JP">
                <a:latin typeface="Meiryo"/>
                <a:ea typeface="Meiryo"/>
                <a:cs typeface="Meiryo"/>
                <a:sym typeface="Meiryo"/>
              </a:rPr>
              <a:t>これにより、単なる理論的な学習に留まらず、実際の動作環境に近い形でセキュリティ上の課題を検証できる環境を整えた. </a:t>
            </a:r>
            <a:endParaRPr dirty="0">
              <a:latin typeface="Meiryo"/>
              <a:ea typeface="Meiryo"/>
              <a:cs typeface="Meiryo"/>
              <a:sym typeface="Meiryo"/>
            </a:endParaRPr>
          </a:p>
        </p:txBody>
      </p:sp>
      <p:sp>
        <p:nvSpPr>
          <p:cNvPr id="322" name="Google Shape;322;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tLang="ja-JP"/>
              <a:t>27</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047613-1DDB-6005-ABA2-2F25FDA1E1F8}"/>
              </a:ext>
            </a:extLst>
          </p:cNvPr>
          <p:cNvSpPr txBox="1"/>
          <p:nvPr/>
        </p:nvSpPr>
        <p:spPr>
          <a:xfrm>
            <a:off x="137491" y="588188"/>
            <a:ext cx="8688457" cy="5755422"/>
          </a:xfrm>
          <a:prstGeom prst="rect">
            <a:avLst/>
          </a:prstGeom>
          <a:noFill/>
        </p:spPr>
        <p:txBody>
          <a:bodyPr wrap="square">
            <a:spAutoFit/>
          </a:bodyPr>
          <a:lstStyle/>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 </a:t>
            </a:r>
            <a:r>
              <a:rPr lang="en-JP" sz="2800" b="1" dirty="0">
                <a:latin typeface="Meiryo" panose="020B0604030504040204" pitchFamily="34" charset="-128"/>
                <a:ea typeface="Meiryo" panose="020B0604030504040204" pitchFamily="34" charset="-128"/>
              </a:rPr>
              <a:t>ウェブサーバーでよくある攻撃</a:t>
            </a:r>
            <a:endParaRPr lang="mn-MN" sz="2800" b="1" dirty="0">
              <a:latin typeface="Meiryo" panose="020B0604030504040204" pitchFamily="34" charset="-128"/>
              <a:ea typeface="Meiryo" panose="020B0604030504040204" pitchFamily="34" charset="-128"/>
            </a:endParaRPr>
          </a:p>
          <a:p>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SQLインジェクション</a:t>
            </a:r>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ウェブサイトの入力欄に悪意のある文字を入れて、</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データベースの情報を盗む攻撃</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2000" dirty="0">
                <a:solidFill>
                  <a:srgbClr val="C00000"/>
                </a:solidFill>
                <a:latin typeface="Meiryo" panose="020B0604030504040204" pitchFamily="34" charset="-128"/>
                <a:ea typeface="Meiryo" panose="020B0604030504040204" pitchFamily="34" charset="-128"/>
              </a:rPr>
              <a:t>Cross-site scripting</a:t>
            </a:r>
            <a:r>
              <a:rPr lang="en-JP" sz="2000" dirty="0">
                <a:solidFill>
                  <a:srgbClr val="C00000"/>
                </a:solidFill>
                <a:latin typeface="Meiryo" panose="020B0604030504040204" pitchFamily="34" charset="-128"/>
                <a:ea typeface="Meiryo" panose="020B0604030504040204" pitchFamily="34" charset="-128"/>
              </a:rPr>
              <a:t>（XSS</a:t>
            </a:r>
            <a:r>
              <a:rPr lang="en-JP" sz="2000" dirty="0">
                <a:solidFill>
                  <a:schemeClr val="tx2">
                    <a:lumMod val="50000"/>
                  </a:schemeClr>
                </a:solidFill>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他の人のブラウザで勝手にコードを動かして情報を盗む</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 </a:t>
            </a:r>
            <a:r>
              <a:rPr lang="en-US" sz="2000" dirty="0">
                <a:solidFill>
                  <a:srgbClr val="C00000"/>
                </a:solidFill>
                <a:latin typeface="Meiryo" panose="020B0604030504040204" pitchFamily="34" charset="-128"/>
                <a:ea typeface="Meiryo" panose="020B0604030504040204" pitchFamily="34" charset="-128"/>
              </a:rPr>
              <a:t>Cross site request </a:t>
            </a:r>
            <a:r>
              <a:rPr lang="en-JP" sz="2000" dirty="0">
                <a:solidFill>
                  <a:srgbClr val="C00000"/>
                </a:solidFill>
                <a:latin typeface="Meiryo" panose="020B0604030504040204" pitchFamily="34" charset="-128"/>
                <a:ea typeface="Meiryo" panose="020B0604030504040204" pitchFamily="34" charset="-128"/>
              </a:rPr>
              <a:t>（CSRF）</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ユーザーの許可なしに、ウェブサイトにリクエストを送る攻撃</a:t>
            </a:r>
          </a:p>
          <a:p>
            <a:endParaRPr lang="en-JP" sz="2000" dirty="0">
              <a:solidFill>
                <a:srgbClr val="C0000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 認証の破損（Broken Authentication</a:t>
            </a:r>
            <a:r>
              <a:rPr lang="en-JP" sz="2000" dirty="0">
                <a:latin typeface="Meiryo" panose="020B0604030504040204" pitchFamily="34" charset="-128"/>
                <a:ea typeface="Meiryo" panose="020B0604030504040204" pitchFamily="34" charset="-128"/>
              </a:rPr>
              <a:t>）</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パスワードが弱い、セッション管理が悪いことで発生する脆弱性</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機密データの漏えい（Sensitive Data Exposure）</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HTTPS未使用、データが暗号化されていないことが原因で情報</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が漏れる</a:t>
            </a:r>
          </a:p>
        </p:txBody>
      </p:sp>
      <p:sp>
        <p:nvSpPr>
          <p:cNvPr id="2" name="Slide Number Placeholder 1">
            <a:extLst>
              <a:ext uri="{FF2B5EF4-FFF2-40B4-BE49-F238E27FC236}">
                <a16:creationId xmlns:a16="http://schemas.microsoft.com/office/drawing/2014/main" id="{867552BF-A4DE-17B6-5967-89AB460FAA21}"/>
              </a:ext>
            </a:extLst>
          </p:cNvPr>
          <p:cNvSpPr>
            <a:spLocks noGrp="1"/>
          </p:cNvSpPr>
          <p:nvPr>
            <p:ph type="sldNum" sz="quarter" idx="12"/>
          </p:nvPr>
        </p:nvSpPr>
        <p:spPr/>
        <p:txBody>
          <a:bodyPr/>
          <a:lstStyle/>
          <a:p>
            <a:fld id="{D8C05D5D-75E2-3144-9168-CA833390726D}" type="slidenum">
              <a:rPr lang="en-JP" smtClean="0"/>
              <a:t>28</a:t>
            </a:fld>
            <a:endParaRPr lang="en-JP"/>
          </a:p>
        </p:txBody>
      </p:sp>
    </p:spTree>
    <p:extLst>
      <p:ext uri="{BB962C8B-B14F-4D97-AF65-F5344CB8AC3E}">
        <p14:creationId xmlns:p14="http://schemas.microsoft.com/office/powerpoint/2010/main" val="772377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FD5A-C2D0-C0E3-4BB3-F86E2E9E8F61}"/>
              </a:ext>
            </a:extLst>
          </p:cNvPr>
          <p:cNvSpPr>
            <a:spLocks noGrp="1"/>
          </p:cNvSpPr>
          <p:nvPr>
            <p:ph type="title"/>
          </p:nvPr>
        </p:nvSpPr>
        <p:spPr>
          <a:xfrm>
            <a:off x="-12701" y="149224"/>
            <a:ext cx="8862163" cy="492124"/>
          </a:xfrm>
        </p:spPr>
        <p:txBody>
          <a:bodyPr>
            <a:noAutofit/>
          </a:bodyPr>
          <a:lstStyle/>
          <a:p>
            <a:br>
              <a:rPr lang="en-US" altLang="ja-JP" sz="2000" i="0" dirty="0">
                <a:effectLst/>
                <a:latin typeface="Meiryo" panose="020B0604030504040204" pitchFamily="34" charset="-128"/>
                <a:ea typeface="Meiryo" panose="020B0604030504040204" pitchFamily="34" charset="-128"/>
              </a:rPr>
            </a:b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ページへの攻撃テストを実施するために，自身でこのような</a:t>
            </a: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ページを作成してみました</a:t>
            </a:r>
            <a:r>
              <a:rPr lang="mn-MN" altLang="ja-JP" sz="2000" dirty="0">
                <a:solidFill>
                  <a:srgbClr val="222222"/>
                </a:solidFill>
                <a:latin typeface="Meiryo" panose="020B0604030504040204" pitchFamily="34" charset="-128"/>
                <a:ea typeface="Meiryo" panose="020B0604030504040204" pitchFamily="34" charset="-128"/>
              </a:rPr>
              <a:t>.</a:t>
            </a:r>
            <a:endParaRPr lang="en-US" sz="2000" dirty="0">
              <a:latin typeface="Meiryo" panose="020B0604030504040204" pitchFamily="34" charset="-128"/>
              <a:ea typeface="Meiryo" panose="020B0604030504040204" pitchFamily="34" charset="-128"/>
            </a:endParaRPr>
          </a:p>
        </p:txBody>
      </p:sp>
      <p:pic>
        <p:nvPicPr>
          <p:cNvPr id="4" name="2025-09-08 12-47-26">
            <a:hlinkClick r:id="" action="ppaction://media"/>
            <a:extLst>
              <a:ext uri="{FF2B5EF4-FFF2-40B4-BE49-F238E27FC236}">
                <a16:creationId xmlns:a16="http://schemas.microsoft.com/office/drawing/2014/main" id="{D3259A91-67C4-33E3-79FB-D6DAA75B97F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863513"/>
            <a:ext cx="8862164" cy="5492838"/>
          </a:xfrm>
          <a:prstGeom prst="rect">
            <a:avLst/>
          </a:prstGeom>
        </p:spPr>
      </p:pic>
      <p:sp>
        <p:nvSpPr>
          <p:cNvPr id="5" name="Slide Number Placeholder 4">
            <a:extLst>
              <a:ext uri="{FF2B5EF4-FFF2-40B4-BE49-F238E27FC236}">
                <a16:creationId xmlns:a16="http://schemas.microsoft.com/office/drawing/2014/main" id="{32BC5CD7-9236-D2C9-3B27-448757E6C6ED}"/>
              </a:ext>
            </a:extLst>
          </p:cNvPr>
          <p:cNvSpPr>
            <a:spLocks noGrp="1"/>
          </p:cNvSpPr>
          <p:nvPr>
            <p:ph type="sldNum" sz="quarter" idx="12"/>
          </p:nvPr>
        </p:nvSpPr>
        <p:spPr/>
        <p:txBody>
          <a:bodyPr/>
          <a:lstStyle/>
          <a:p>
            <a:fld id="{D8C05D5D-75E2-3144-9168-CA833390726D}" type="slidenum">
              <a:rPr lang="en-JP" smtClean="0"/>
              <a:t>29</a:t>
            </a:fld>
            <a:endParaRPr lang="en-JP"/>
          </a:p>
        </p:txBody>
      </p:sp>
    </p:spTree>
    <p:extLst>
      <p:ext uri="{BB962C8B-B14F-4D97-AF65-F5344CB8AC3E}">
        <p14:creationId xmlns:p14="http://schemas.microsoft.com/office/powerpoint/2010/main" val="17464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5EB8-0F9F-88D8-5935-F6216DDEDF44}"/>
              </a:ext>
            </a:extLst>
          </p:cNvPr>
          <p:cNvSpPr>
            <a:spLocks noGrp="1"/>
          </p:cNvSpPr>
          <p:nvPr>
            <p:ph type="title"/>
          </p:nvPr>
        </p:nvSpPr>
        <p:spPr>
          <a:xfrm>
            <a:off x="165100" y="591597"/>
            <a:ext cx="8515350" cy="496423"/>
          </a:xfrm>
        </p:spPr>
        <p:txBody>
          <a:bodyPr>
            <a:noAutofit/>
          </a:bodyPr>
          <a:lstStyle/>
          <a:p>
            <a:pPr marL="457200" indent="-457200">
              <a:buFont typeface="Wingdings" pitchFamily="2" charset="2"/>
              <a:buChar char="Ø"/>
            </a:pPr>
            <a:r>
              <a:rPr lang="en-US" sz="2800" b="1" i="0" dirty="0">
                <a:effectLst/>
                <a:latin typeface="Times New Roman" panose="02020603050405020304" pitchFamily="18" charset="0"/>
                <a:ea typeface="Meiryo" panose="020B0604030504040204" pitchFamily="34" charset="-128"/>
                <a:cs typeface="Times New Roman" panose="02020603050405020304" pitchFamily="18" charset="0"/>
              </a:rPr>
              <a:t>  DVWA = Damn Vulnerable Web Application</a:t>
            </a:r>
            <a:br>
              <a:rPr lang="mn-MN" sz="2800" b="1" i="0" dirty="0">
                <a:effectLst/>
                <a:latin typeface="Times New Roman" panose="02020603050405020304" pitchFamily="18" charset="0"/>
                <a:ea typeface="Meiryo" panose="020B0604030504040204" pitchFamily="34" charset="-128"/>
                <a:cs typeface="Times New Roman" panose="02020603050405020304" pitchFamily="18" charset="0"/>
              </a:rPr>
            </a:br>
            <a:endParaRPr lang="en-JP"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3BBD65-B03E-CE56-20A7-4E9AA29473DD}"/>
              </a:ext>
            </a:extLst>
          </p:cNvPr>
          <p:cNvSpPr>
            <a:spLocks noGrp="1"/>
          </p:cNvSpPr>
          <p:nvPr>
            <p:ph idx="1"/>
          </p:nvPr>
        </p:nvSpPr>
        <p:spPr>
          <a:xfrm>
            <a:off x="352104" y="930273"/>
            <a:ext cx="7886700" cy="2498727"/>
          </a:xfrm>
        </p:spPr>
        <p:txBody>
          <a:bodyPr>
            <a:normAutofit/>
          </a:bodyPr>
          <a:lstStyle/>
          <a:p>
            <a:pPr>
              <a:buFont typeface="Wingdings" pitchFamily="2" charset="2"/>
              <a:buChar char="§"/>
            </a:pPr>
            <a:endParaRPr lang="en-US" sz="2400" dirty="0">
              <a:latin typeface="Meiryo" panose="020B0604030504040204" pitchFamily="34" charset="-128"/>
              <a:ea typeface="Meiryo" panose="020B0604030504040204" pitchFamily="34" charset="-128"/>
            </a:endParaRPr>
          </a:p>
          <a:p>
            <a:pPr>
              <a:buFont typeface="Wingdings" pitchFamily="2" charset="2"/>
              <a:buChar char="§"/>
            </a:pPr>
            <a:r>
              <a:rPr lang="en-US" sz="2400" b="0" i="0" dirty="0">
                <a:effectLst/>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弱いウェブサイト」のテスト用アプリ</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目的</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ウェブの危険を安全に学ぶこと</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ユーザーの名前やパスワードに簡単にアクセスできる</a:t>
            </a:r>
            <a:endParaRPr lang="en-JP" sz="2400" dirty="0">
              <a:latin typeface="Meiryo" panose="020B0604030504040204" pitchFamily="34" charset="-128"/>
              <a:ea typeface="Meiryo" panose="020B0604030504040204" pitchFamily="34" charset="-128"/>
            </a:endParaRPr>
          </a:p>
          <a:p>
            <a:pPr>
              <a:buFont typeface="Wingdings" pitchFamily="2" charset="2"/>
              <a:buChar char="§"/>
            </a:pPr>
            <a:endParaRPr lang="en-JP" sz="2400" dirty="0"/>
          </a:p>
        </p:txBody>
      </p:sp>
      <p:sp>
        <p:nvSpPr>
          <p:cNvPr id="8" name="TextBox 7">
            <a:extLst>
              <a:ext uri="{FF2B5EF4-FFF2-40B4-BE49-F238E27FC236}">
                <a16:creationId xmlns:a16="http://schemas.microsoft.com/office/drawing/2014/main" id="{4A28EE56-E985-4309-269C-AEA387145BD3}"/>
              </a:ext>
            </a:extLst>
          </p:cNvPr>
          <p:cNvSpPr txBox="1"/>
          <p:nvPr/>
        </p:nvSpPr>
        <p:spPr>
          <a:xfrm>
            <a:off x="26204" y="4171630"/>
            <a:ext cx="911779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・DVWA</a:t>
            </a:r>
            <a:r>
              <a:rPr lang="ja-JP" altLang="en-US" sz="2400">
                <a:latin typeface="Meiryo" panose="020B0604030504040204" pitchFamily="34" charset="-128"/>
                <a:ea typeface="Meiryo" panose="020B0604030504040204" pitchFamily="34" charset="-128"/>
              </a:rPr>
              <a:t>を使用して</a:t>
            </a:r>
            <a:r>
              <a:rPr lang="en-US" sz="2400" dirty="0">
                <a:latin typeface="Meiryo" panose="020B0604030504040204" pitchFamily="34" charset="-128"/>
                <a:ea typeface="Meiryo" panose="020B0604030504040204" pitchFamily="34" charset="-128"/>
              </a:rPr>
              <a:t>SQL</a:t>
            </a:r>
            <a:r>
              <a:rPr lang="ja-JP" altLang="en-US" sz="2400">
                <a:latin typeface="Meiryo" panose="020B0604030504040204" pitchFamily="34" charset="-128"/>
                <a:ea typeface="Meiryo" panose="020B0604030504040204" pitchFamily="34" charset="-128"/>
              </a:rPr>
              <a:t>インジェクションの脆弱性を確認した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XSS</a:t>
            </a:r>
            <a:r>
              <a:rPr lang="ja-JP" altLang="en-US" sz="2400">
                <a:latin typeface="Meiryo" panose="020B0604030504040204" pitchFamily="34" charset="-128"/>
                <a:ea typeface="Meiryo" panose="020B0604030504040204" pitchFamily="34" charset="-128"/>
              </a:rPr>
              <a:t>攻撃の仕組みをテスト環境で検証した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・ログイン機能に対する</a:t>
            </a:r>
            <a:r>
              <a:rPr lang="en-US" sz="2400" dirty="0">
                <a:latin typeface="Meiryo" panose="020B0604030504040204" pitchFamily="34" charset="-128"/>
                <a:ea typeface="Meiryo" panose="020B0604030504040204" pitchFamily="34" charset="-128"/>
              </a:rPr>
              <a:t>Brute force</a:t>
            </a:r>
            <a:r>
              <a:rPr lang="ja-JP" altLang="en-US" sz="2400">
                <a:latin typeface="Meiryo" panose="020B0604030504040204" pitchFamily="34" charset="-128"/>
                <a:ea typeface="Meiryo" panose="020B0604030504040204" pitchFamily="34" charset="-128"/>
              </a:rPr>
              <a:t>攻撃の可能性を確認した</a:t>
            </a:r>
            <a:endParaRPr lang="en-JP" sz="2400" dirty="0">
              <a:latin typeface="Meiryo" panose="020B0604030504040204" pitchFamily="34" charset="-128"/>
              <a:ea typeface="Meiryo" panose="020B0604030504040204" pitchFamily="34" charset="-128"/>
            </a:endParaRPr>
          </a:p>
        </p:txBody>
      </p:sp>
      <p:sp>
        <p:nvSpPr>
          <p:cNvPr id="9" name="正方形/長方形 9">
            <a:extLst>
              <a:ext uri="{FF2B5EF4-FFF2-40B4-BE49-F238E27FC236}">
                <a16:creationId xmlns:a16="http://schemas.microsoft.com/office/drawing/2014/main" id="{6DB5834E-3777-26F3-20D7-41D3D756F967}"/>
              </a:ext>
            </a:extLst>
          </p:cNvPr>
          <p:cNvSpPr/>
          <p:nvPr/>
        </p:nvSpPr>
        <p:spPr>
          <a:xfrm>
            <a:off x="165100" y="3779352"/>
            <a:ext cx="8677958" cy="1834369"/>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0" name="Down Arrow 9">
            <a:extLst>
              <a:ext uri="{FF2B5EF4-FFF2-40B4-BE49-F238E27FC236}">
                <a16:creationId xmlns:a16="http://schemas.microsoft.com/office/drawing/2014/main" id="{8FF25356-0730-FFF8-AC59-715881C89795}"/>
              </a:ext>
            </a:extLst>
          </p:cNvPr>
          <p:cNvSpPr/>
          <p:nvPr/>
        </p:nvSpPr>
        <p:spPr>
          <a:xfrm>
            <a:off x="3946810" y="2995883"/>
            <a:ext cx="263019" cy="369332"/>
          </a:xfrm>
          <a:prstGeom prst="downArrow">
            <a:avLst>
              <a:gd name="adj1" fmla="val 66562"/>
              <a:gd name="adj2" fmla="val 50000"/>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65DF70C1-57C8-4A8C-8279-6D43B19A930C}"/>
              </a:ext>
            </a:extLst>
          </p:cNvPr>
          <p:cNvSpPr>
            <a:spLocks noGrp="1"/>
          </p:cNvSpPr>
          <p:nvPr>
            <p:ph type="sldNum" sz="quarter" idx="12"/>
          </p:nvPr>
        </p:nvSpPr>
        <p:spPr/>
        <p:txBody>
          <a:bodyPr/>
          <a:lstStyle/>
          <a:p>
            <a:fld id="{D8C05D5D-75E2-3144-9168-CA833390726D}" type="slidenum">
              <a:rPr lang="en-JP" smtClean="0"/>
              <a:t>30</a:t>
            </a:fld>
            <a:endParaRPr lang="en-JP"/>
          </a:p>
        </p:txBody>
      </p:sp>
    </p:spTree>
    <p:extLst>
      <p:ext uri="{BB962C8B-B14F-4D97-AF65-F5344CB8AC3E}">
        <p14:creationId xmlns:p14="http://schemas.microsoft.com/office/powerpoint/2010/main" val="539918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5086-01FF-7448-2FAE-57A1BE43216C}"/>
              </a:ext>
            </a:extLst>
          </p:cNvPr>
          <p:cNvSpPr>
            <a:spLocks noGrp="1"/>
          </p:cNvSpPr>
          <p:nvPr>
            <p:ph type="title"/>
          </p:nvPr>
        </p:nvSpPr>
        <p:spPr>
          <a:xfrm>
            <a:off x="230617" y="207965"/>
            <a:ext cx="7886700" cy="717194"/>
          </a:xfrm>
        </p:spPr>
        <p:txBody>
          <a:bodyPr>
            <a:normAutofit/>
          </a:bodyPr>
          <a:lstStyle/>
          <a:p>
            <a:r>
              <a:rPr lang="en-US" sz="2400" b="0" i="0" dirty="0">
                <a:effectLst/>
                <a:latin typeface="Meiryo" panose="020B0604030504040204" pitchFamily="34" charset="-128"/>
                <a:ea typeface="Meiryo" panose="020B0604030504040204" pitchFamily="34" charset="-128"/>
              </a:rPr>
              <a:t>DVWA = Damn Vulnerable Web Application</a:t>
            </a:r>
            <a:r>
              <a:rPr lang="ja-JP" altLang="en-US" sz="2400" i="0">
                <a:effectLst/>
                <a:latin typeface="Meiryo" panose="020B0604030504040204" pitchFamily="34" charset="-128"/>
                <a:ea typeface="Meiryo" panose="020B0604030504040204" pitchFamily="34" charset="-128"/>
              </a:rPr>
              <a:t>の画面</a:t>
            </a:r>
            <a:endParaRPr lang="en-US" sz="2400" dirty="0"/>
          </a:p>
        </p:txBody>
      </p:sp>
      <p:pic>
        <p:nvPicPr>
          <p:cNvPr id="4" name="2025-09-08 13-00-44">
            <a:hlinkClick r:id="" action="ppaction://media"/>
            <a:extLst>
              <a:ext uri="{FF2B5EF4-FFF2-40B4-BE49-F238E27FC236}">
                <a16:creationId xmlns:a16="http://schemas.microsoft.com/office/drawing/2014/main" id="{19CB4C95-DBFD-22B7-200B-98FE9E3B3B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617" y="1077503"/>
            <a:ext cx="8708988" cy="4989810"/>
          </a:xfrm>
        </p:spPr>
      </p:pic>
      <p:sp>
        <p:nvSpPr>
          <p:cNvPr id="5" name="Slide Number Placeholder 4">
            <a:extLst>
              <a:ext uri="{FF2B5EF4-FFF2-40B4-BE49-F238E27FC236}">
                <a16:creationId xmlns:a16="http://schemas.microsoft.com/office/drawing/2014/main" id="{528EA574-4347-AED7-E727-1C7C9EE9D8A5}"/>
              </a:ext>
            </a:extLst>
          </p:cNvPr>
          <p:cNvSpPr>
            <a:spLocks noGrp="1"/>
          </p:cNvSpPr>
          <p:nvPr>
            <p:ph type="sldNum" sz="quarter" idx="12"/>
          </p:nvPr>
        </p:nvSpPr>
        <p:spPr/>
        <p:txBody>
          <a:bodyPr/>
          <a:lstStyle/>
          <a:p>
            <a:fld id="{D8C05D5D-75E2-3144-9168-CA833390726D}" type="slidenum">
              <a:rPr lang="en-JP" smtClean="0"/>
              <a:t>31</a:t>
            </a:fld>
            <a:endParaRPr lang="en-JP"/>
          </a:p>
        </p:txBody>
      </p:sp>
    </p:spTree>
    <p:extLst>
      <p:ext uri="{BB962C8B-B14F-4D97-AF65-F5344CB8AC3E}">
        <p14:creationId xmlns:p14="http://schemas.microsoft.com/office/powerpoint/2010/main" val="15513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3FE997-B334-2AB2-FF4E-E50D2A8A96BE}"/>
              </a:ext>
            </a:extLst>
          </p:cNvPr>
          <p:cNvSpPr txBox="1"/>
          <p:nvPr/>
        </p:nvSpPr>
        <p:spPr>
          <a:xfrm>
            <a:off x="148591" y="726533"/>
            <a:ext cx="8659743" cy="584775"/>
          </a:xfrm>
          <a:prstGeom prst="rect">
            <a:avLst/>
          </a:prstGeom>
          <a:noFill/>
        </p:spPr>
        <p:txBody>
          <a:bodyPr wrap="square">
            <a:spAutoFit/>
          </a:bodyPr>
          <a:lstStyle/>
          <a:p>
            <a:r>
              <a:rPr lang="mn-MN" sz="3200" b="1" dirty="0">
                <a:latin typeface="Meiryo" panose="020B0604030504040204" pitchFamily="34" charset="-128"/>
                <a:ea typeface="Meiryo" panose="020B0604030504040204" pitchFamily="34" charset="-128"/>
                <a:cs typeface="Times New Roman" panose="02020603050405020304" pitchFamily="18" charset="0"/>
              </a:rPr>
              <a:t>   </a:t>
            </a:r>
            <a:r>
              <a:rPr lang="en-US" sz="3200" b="1" dirty="0">
                <a:latin typeface="Meiryo" panose="020B0604030504040204" pitchFamily="34" charset="-128"/>
                <a:ea typeface="Meiryo" panose="020B0604030504040204" pitchFamily="34" charset="-128"/>
                <a:cs typeface="Times New Roman" panose="02020603050405020304" pitchFamily="18" charset="0"/>
              </a:rPr>
              <a:t>Web</a:t>
            </a:r>
            <a:r>
              <a:rPr lang="ja-JP" altLang="en-US" sz="3200" b="1">
                <a:latin typeface="Meiryo" panose="020B0604030504040204" pitchFamily="34" charset="-128"/>
                <a:ea typeface="Meiryo" panose="020B0604030504040204" pitchFamily="34" charset="-128"/>
                <a:cs typeface="Times New Roman" panose="02020603050405020304" pitchFamily="18" charset="0"/>
              </a:rPr>
              <a:t>サーバ監視ダッシュボード（テスト）</a:t>
            </a:r>
            <a:endParaRPr lang="en-JP" sz="32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794AACBA-C8AD-B6BC-DA87-916BB471B6C7}"/>
              </a:ext>
            </a:extLst>
          </p:cNvPr>
          <p:cNvSpPr txBox="1"/>
          <p:nvPr/>
        </p:nvSpPr>
        <p:spPr>
          <a:xfrm>
            <a:off x="329878" y="2005997"/>
            <a:ext cx="8478456" cy="3046988"/>
          </a:xfrm>
          <a:prstGeom prst="rect">
            <a:avLst/>
          </a:prstGeom>
          <a:noFill/>
        </p:spPr>
        <p:txBody>
          <a:bodyPr wrap="square">
            <a:spAutoFit/>
          </a:bodyPr>
          <a:lstStyle/>
          <a:p>
            <a:pPr marL="457200" indent="-457200">
              <a:buFont typeface="+mj-lt"/>
              <a:buAutoNum type="arabicPeriod"/>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サーバの状態監視が可能かを確認するために作成したテスト用ダッシュボード</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使用率、メモリ使用量、ディスク使用率などのシステム情報をリアルタイムで表示</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サーバーの負荷状況や異常の兆候を簡単に把握でき、管理者の監視作業を支援する</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DA15F1D3-8D14-A4FE-E4E1-52F2307EAA74}"/>
              </a:ext>
            </a:extLst>
          </p:cNvPr>
          <p:cNvSpPr>
            <a:spLocks noGrp="1"/>
          </p:cNvSpPr>
          <p:nvPr>
            <p:ph type="sldNum" sz="quarter" idx="12"/>
          </p:nvPr>
        </p:nvSpPr>
        <p:spPr/>
        <p:txBody>
          <a:bodyPr/>
          <a:lstStyle/>
          <a:p>
            <a:fld id="{D8C05D5D-75E2-3144-9168-CA833390726D}" type="slidenum">
              <a:rPr lang="en-JP" smtClean="0"/>
              <a:t>32</a:t>
            </a:fld>
            <a:endParaRPr lang="en-JP"/>
          </a:p>
        </p:txBody>
      </p:sp>
    </p:spTree>
    <p:extLst>
      <p:ext uri="{BB962C8B-B14F-4D97-AF65-F5344CB8AC3E}">
        <p14:creationId xmlns:p14="http://schemas.microsoft.com/office/powerpoint/2010/main" val="794867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9C34-233C-DE8A-0F8B-75F2922A921E}"/>
              </a:ext>
            </a:extLst>
          </p:cNvPr>
          <p:cNvSpPr>
            <a:spLocks noGrp="1"/>
          </p:cNvSpPr>
          <p:nvPr>
            <p:ph type="title"/>
          </p:nvPr>
        </p:nvSpPr>
        <p:spPr>
          <a:xfrm>
            <a:off x="202765" y="120086"/>
            <a:ext cx="6972586" cy="737164"/>
          </a:xfrm>
        </p:spPr>
        <p:txBody>
          <a:bodyPr>
            <a:normAutofit/>
          </a:bodyPr>
          <a:lstStyle/>
          <a:p>
            <a:r>
              <a:rPr lang="en-US" sz="2400" dirty="0">
                <a:latin typeface="Times New Roman" panose="02020603050405020304" pitchFamily="18" charset="0"/>
                <a:cs typeface="Times New Roman" panose="02020603050405020304" pitchFamily="18" charset="0"/>
              </a:rPr>
              <a:t>Web_Server_Dashboard</a:t>
            </a:r>
            <a:r>
              <a:rPr lang="en-US" sz="2400" dirty="0">
                <a:latin typeface="Meiryo" panose="020B0604030504040204" pitchFamily="34" charset="-128"/>
                <a:ea typeface="Meiryo" panose="020B0604030504040204" pitchFamily="34" charset="-128"/>
                <a:cs typeface="Times New Roman" panose="02020603050405020304" pitchFamily="18" charset="0"/>
              </a:rPr>
              <a:t>の</a:t>
            </a:r>
            <a:r>
              <a:rPr lang="ja-JP" altLang="en-US" sz="2400">
                <a:latin typeface="Meiryo" panose="020B0604030504040204" pitchFamily="34" charset="-128"/>
                <a:ea typeface="Meiryo" panose="020B0604030504040204" pitchFamily="34" charset="-128"/>
              </a:rPr>
              <a:t>プログラムの画面</a:t>
            </a:r>
            <a:endParaRPr lang="en-US" sz="24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2025-09-08 12-55-31">
            <a:hlinkClick r:id="" action="ppaction://media"/>
            <a:extLst>
              <a:ext uri="{FF2B5EF4-FFF2-40B4-BE49-F238E27FC236}">
                <a16:creationId xmlns:a16="http://schemas.microsoft.com/office/drawing/2014/main" id="{641C6F83-F420-FF70-7333-E150C44EDD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
        <p:nvSpPr>
          <p:cNvPr id="5" name="Slide Number Placeholder 4">
            <a:extLst>
              <a:ext uri="{FF2B5EF4-FFF2-40B4-BE49-F238E27FC236}">
                <a16:creationId xmlns:a16="http://schemas.microsoft.com/office/drawing/2014/main" id="{AA7FBC0F-94AA-60AA-4783-FF67286A07C2}"/>
              </a:ext>
            </a:extLst>
          </p:cNvPr>
          <p:cNvSpPr>
            <a:spLocks noGrp="1"/>
          </p:cNvSpPr>
          <p:nvPr>
            <p:ph type="sldNum" sz="quarter" idx="12"/>
          </p:nvPr>
        </p:nvSpPr>
        <p:spPr/>
        <p:txBody>
          <a:bodyPr/>
          <a:lstStyle/>
          <a:p>
            <a:fld id="{D8C05D5D-75E2-3144-9168-CA833390726D}" type="slidenum">
              <a:rPr lang="en-JP" smtClean="0"/>
              <a:t>33</a:t>
            </a:fld>
            <a:endParaRPr lang="en-JP"/>
          </a:p>
        </p:txBody>
      </p:sp>
    </p:spTree>
    <p:extLst>
      <p:ext uri="{BB962C8B-B14F-4D97-AF65-F5344CB8AC3E}">
        <p14:creationId xmlns:p14="http://schemas.microsoft.com/office/powerpoint/2010/main" val="337228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E9CC-49A5-0481-ACD5-B0B46BD76A83}"/>
              </a:ext>
            </a:extLst>
          </p:cNvPr>
          <p:cNvSpPr>
            <a:spLocks noGrp="1"/>
          </p:cNvSpPr>
          <p:nvPr>
            <p:ph type="title"/>
          </p:nvPr>
        </p:nvSpPr>
        <p:spPr>
          <a:xfrm>
            <a:off x="628650" y="365127"/>
            <a:ext cx="7886700" cy="624578"/>
          </a:xfrm>
        </p:spPr>
        <p:txBody>
          <a:bodyPr>
            <a:norm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1/2</a:t>
            </a:r>
            <a:endParaRPr lang="en-JP" sz="28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93977AA-1C2D-98E5-E2ED-98D72561E26F}"/>
              </a:ext>
            </a:extLst>
          </p:cNvPr>
          <p:cNvSpPr>
            <a:spLocks noGrp="1"/>
          </p:cNvSpPr>
          <p:nvPr>
            <p:ph idx="1"/>
          </p:nvPr>
        </p:nvSpPr>
        <p:spPr>
          <a:xfrm>
            <a:off x="501328" y="1253331"/>
            <a:ext cx="8133385" cy="4351338"/>
          </a:xfrm>
        </p:spPr>
        <p:txBody>
          <a:bodyPr>
            <a:noAutofit/>
          </a:bodyPr>
          <a:lstStyle/>
          <a:p>
            <a:pPr>
              <a:buFont typeface="Wingdings" pitchFamily="2" charset="2"/>
              <a:buChar char="§"/>
            </a:pPr>
            <a:r>
              <a:rPr lang="ja-JP" altLang="en-US" b="1">
                <a:solidFill>
                  <a:srgbClr val="C00000"/>
                </a:solidFill>
                <a:latin typeface="Meiryo" panose="020B0604030504040204" pitchFamily="34" charset="-128"/>
                <a:ea typeface="Meiryo" panose="020B0604030504040204" pitchFamily="34" charset="-128"/>
              </a:rPr>
              <a:t>専門的なスキル</a:t>
            </a:r>
            <a:endParaRPr lang="mn-MN" altLang="ja-JP" b="1" dirty="0">
              <a:solidFill>
                <a:srgbClr val="C00000"/>
              </a:solidFill>
              <a:latin typeface="Meiryo" panose="020B0604030504040204" pitchFamily="34" charset="-128"/>
              <a:ea typeface="Meiryo" panose="020B0604030504040204" pitchFamily="34" charset="-128"/>
            </a:endParaRPr>
          </a:p>
          <a:p>
            <a:pPr marL="0" indent="0">
              <a:buNone/>
            </a:pPr>
            <a:endParaRPr lang="ja-JP" altLang="en-US">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ウェブ開発、サーバー監視、プログラミング、</a:t>
            </a:r>
            <a:r>
              <a:rPr lang="en-US" dirty="0">
                <a:latin typeface="Meiryo" panose="020B0604030504040204" pitchFamily="34" charset="-128"/>
                <a:ea typeface="Meiryo" panose="020B0604030504040204" pitchFamily="34" charset="-128"/>
              </a:rPr>
              <a:t>ＷＢＳ</a:t>
            </a:r>
            <a:r>
              <a:rPr lang="ja-JP" altLang="en-US">
                <a:latin typeface="Meiryo" panose="020B0604030504040204" pitchFamily="34" charset="-128"/>
                <a:ea typeface="Meiryo" panose="020B0604030504040204" pitchFamily="34" charset="-128"/>
              </a:rPr>
              <a:t>データベースの基礎を学んだ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en-US" dirty="0">
                <a:latin typeface="Meiryo" panose="020B0604030504040204" pitchFamily="34" charset="-128"/>
                <a:ea typeface="Meiryo" panose="020B0604030504040204" pitchFamily="34" charset="-128"/>
              </a:rPr>
              <a:t>DVWA</a:t>
            </a:r>
            <a:r>
              <a:rPr lang="ja-JP" altLang="en-US">
                <a:latin typeface="Meiryo" panose="020B0604030504040204" pitchFamily="34" charset="-128"/>
                <a:ea typeface="Meiryo" panose="020B0604030504040204" pitchFamily="34" charset="-128"/>
              </a:rPr>
              <a:t>での攻撃テストやサーバーログの確認など、実践的な経験を積んだ</a:t>
            </a: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a:latin typeface="Meiryo" panose="020B0604030504040204" pitchFamily="34" charset="-128"/>
                <a:ea typeface="Meiryo" panose="020B0604030504040204" pitchFamily="34" charset="-128"/>
              </a:rPr>
              <a:t>問題が発生した時に、自分で調べて解決する能力を身につけた</a:t>
            </a:r>
            <a:endParaRPr lang="en-JP" dirty="0">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6510B880-AF54-4A2F-0769-B8ADAA2EBA75}"/>
              </a:ext>
            </a:extLst>
          </p:cNvPr>
          <p:cNvSpPr>
            <a:spLocks noGrp="1"/>
          </p:cNvSpPr>
          <p:nvPr>
            <p:ph type="sldNum" sz="quarter" idx="12"/>
          </p:nvPr>
        </p:nvSpPr>
        <p:spPr/>
        <p:txBody>
          <a:bodyPr/>
          <a:lstStyle/>
          <a:p>
            <a:fld id="{D8C05D5D-75E2-3144-9168-CA833390726D}" type="slidenum">
              <a:rPr lang="en-JP" smtClean="0"/>
              <a:t>34</a:t>
            </a:fld>
            <a:endParaRPr lang="en-JP"/>
          </a:p>
        </p:txBody>
      </p:sp>
    </p:spTree>
    <p:extLst>
      <p:ext uri="{BB962C8B-B14F-4D97-AF65-F5344CB8AC3E}">
        <p14:creationId xmlns:p14="http://schemas.microsoft.com/office/powerpoint/2010/main" val="924723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CDC9-45E7-DF94-D6EA-ECF4F2E5EA45}"/>
              </a:ext>
            </a:extLst>
          </p:cNvPr>
          <p:cNvSpPr>
            <a:spLocks noGrp="1"/>
          </p:cNvSpPr>
          <p:nvPr>
            <p:ph type="title"/>
          </p:nvPr>
        </p:nvSpPr>
        <p:spPr>
          <a:xfrm>
            <a:off x="545457" y="365127"/>
            <a:ext cx="7886700" cy="1162732"/>
          </a:xfrm>
        </p:spPr>
        <p:txBody>
          <a:bodyPr>
            <a:noAutofit/>
          </a:bodyPr>
          <a:lstStyle/>
          <a:p>
            <a:pPr marL="457200" indent="-457200">
              <a:buFont typeface="Wingdings" pitchFamily="2" charset="2"/>
              <a:buChar char="Ø"/>
            </a:pPr>
            <a:r>
              <a:rPr lang="ja-JP" altLang="en-US" sz="2800" b="1" i="0">
                <a:effectLst/>
                <a:latin typeface="Meiryo" panose="020B0604030504040204" pitchFamily="34" charset="-128"/>
                <a:ea typeface="Meiryo" panose="020B0604030504040204" pitchFamily="34" charset="-128"/>
              </a:rPr>
              <a:t>インターンシップで学んだこと</a:t>
            </a:r>
            <a:r>
              <a:rPr lang="mn-MN" altLang="ja-JP" sz="2800" b="1" dirty="0">
                <a:latin typeface="Meiryo" panose="020B0604030504040204" pitchFamily="34" charset="-128"/>
                <a:ea typeface="Meiryo" panose="020B0604030504040204" pitchFamily="34" charset="-128"/>
              </a:rPr>
              <a:t> </a:t>
            </a:r>
            <a:r>
              <a:rPr lang="en-US" altLang="ja-JP" sz="2800" b="1" dirty="0">
                <a:latin typeface="Meiryo" panose="020B0604030504040204" pitchFamily="34" charset="-128"/>
                <a:ea typeface="Meiryo" panose="020B0604030504040204" pitchFamily="34" charset="-128"/>
              </a:rPr>
              <a:t>2/2</a:t>
            </a:r>
            <a:endParaRPr lang="en-JP" sz="2800"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9BFA28AF-9966-590B-E0D5-67199BDC1923}"/>
              </a:ext>
            </a:extLst>
          </p:cNvPr>
          <p:cNvSpPr txBox="1"/>
          <p:nvPr/>
        </p:nvSpPr>
        <p:spPr>
          <a:xfrm>
            <a:off x="628650" y="1898543"/>
            <a:ext cx="8144960" cy="4154984"/>
          </a:xfrm>
          <a:prstGeom prst="rect">
            <a:avLst/>
          </a:prstGeom>
          <a:noFill/>
        </p:spPr>
        <p:txBody>
          <a:bodyPr wrap="square">
            <a:spAutoFit/>
          </a:bodyPr>
          <a:lstStyle/>
          <a:p>
            <a:pPr marL="342900" indent="-342900">
              <a:buFont typeface="+mj-lt"/>
              <a:buAutoNum type="arabicPeriod"/>
            </a:pPr>
            <a:r>
              <a:rPr lang="en-JP" sz="2400" dirty="0">
                <a:latin typeface="Meiryo" panose="020B0604030504040204" pitchFamily="34" charset="-128"/>
                <a:ea typeface="Meiryo" panose="020B0604030504040204" pitchFamily="34" charset="-128"/>
              </a:rPr>
              <a:t>チーム内のコミュニケーションの重要性</a:t>
            </a:r>
          </a:p>
          <a:p>
            <a:r>
              <a:rPr lang="en-JP" sz="2400" dirty="0">
                <a:latin typeface="Meiryo" panose="020B0604030504040204" pitchFamily="34" charset="-128"/>
                <a:ea typeface="Meiryo" panose="020B0604030504040204" pitchFamily="34" charset="-128"/>
              </a:rPr>
              <a:t>インターンシップ中、作業の進捗や問題点について担当者と情報共有を行うことの重要性を学んだ。</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2. 分かりやすく簡潔に伝える力の向上</a:t>
            </a:r>
          </a:p>
          <a:p>
            <a:r>
              <a:rPr lang="en-JP" sz="2400" dirty="0">
                <a:latin typeface="Meiryo" panose="020B0604030504040204" pitchFamily="34" charset="-128"/>
                <a:ea typeface="Meiryo" panose="020B0604030504040204" pitchFamily="34" charset="-128"/>
              </a:rPr>
              <a:t>作業内容や結果を説明する際に、重要なポイントをまとめて伝えることを意識した。</a:t>
            </a: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3.期限内にタスクをやり遂げる意識の向上</a:t>
            </a:r>
          </a:p>
          <a:p>
            <a:r>
              <a:rPr lang="en-JP" sz="2400" dirty="0">
                <a:latin typeface="Meiryo" panose="020B0604030504040204" pitchFamily="34" charset="-128"/>
                <a:ea typeface="Meiryo" panose="020B0604030504040204" pitchFamily="34" charset="-128"/>
              </a:rPr>
              <a:t>インターンシップのスケジュールに合わせて、計画的に作業を進めるようになった。</a:t>
            </a:r>
          </a:p>
        </p:txBody>
      </p:sp>
      <p:sp>
        <p:nvSpPr>
          <p:cNvPr id="7" name="TextBox 6">
            <a:extLst>
              <a:ext uri="{FF2B5EF4-FFF2-40B4-BE49-F238E27FC236}">
                <a16:creationId xmlns:a16="http://schemas.microsoft.com/office/drawing/2014/main" id="{B78F5A22-D7DB-DBC6-9F92-E901422C4916}"/>
              </a:ext>
            </a:extLst>
          </p:cNvPr>
          <p:cNvSpPr txBox="1"/>
          <p:nvPr/>
        </p:nvSpPr>
        <p:spPr>
          <a:xfrm>
            <a:off x="628650" y="1369092"/>
            <a:ext cx="4572000" cy="461665"/>
          </a:xfrm>
          <a:prstGeom prst="rect">
            <a:avLst/>
          </a:prstGeom>
          <a:noFill/>
        </p:spPr>
        <p:txBody>
          <a:bodyPr wrap="square">
            <a:spAutoFit/>
          </a:bodyPr>
          <a:lstStyle/>
          <a:p>
            <a:pPr marL="342900" indent="-342900">
              <a:buFont typeface="Wingdings" pitchFamily="2" charset="2"/>
              <a:buChar char="§"/>
            </a:pPr>
            <a:r>
              <a:rPr lang="ja-JP" altLang="en-US" sz="2400" b="1">
                <a:solidFill>
                  <a:srgbClr val="C00000"/>
                </a:solidFill>
                <a:latin typeface="Meiryo" panose="020B0604030504040204" pitchFamily="34" charset="-128"/>
                <a:ea typeface="Meiryo" panose="020B0604030504040204" pitchFamily="34" charset="-128"/>
              </a:rPr>
              <a:t>ソフトスキル</a:t>
            </a:r>
            <a:endParaRPr lang="en-JP" sz="2400" b="1" dirty="0">
              <a:solidFill>
                <a:srgbClr val="C00000"/>
              </a:solidFill>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076D2AF4-B1EB-8214-0F7A-50BCF763AD32}"/>
              </a:ext>
            </a:extLst>
          </p:cNvPr>
          <p:cNvSpPr>
            <a:spLocks noGrp="1"/>
          </p:cNvSpPr>
          <p:nvPr>
            <p:ph type="sldNum" sz="quarter" idx="12"/>
          </p:nvPr>
        </p:nvSpPr>
        <p:spPr/>
        <p:txBody>
          <a:bodyPr/>
          <a:lstStyle/>
          <a:p>
            <a:fld id="{D8C05D5D-75E2-3144-9168-CA833390726D}" type="slidenum">
              <a:rPr lang="en-JP" smtClean="0"/>
              <a:t>35</a:t>
            </a:fld>
            <a:endParaRPr lang="en-JP"/>
          </a:p>
        </p:txBody>
      </p:sp>
    </p:spTree>
    <p:extLst>
      <p:ext uri="{BB962C8B-B14F-4D97-AF65-F5344CB8AC3E}">
        <p14:creationId xmlns:p14="http://schemas.microsoft.com/office/powerpoint/2010/main" val="874564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087575-6203-B5BB-4FB8-C3B2C1C0C195}"/>
              </a:ext>
            </a:extLst>
          </p:cNvPr>
          <p:cNvSpPr txBox="1"/>
          <p:nvPr/>
        </p:nvSpPr>
        <p:spPr>
          <a:xfrm>
            <a:off x="666750" y="446455"/>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まとめ</a:t>
            </a:r>
            <a:endParaRPr lang="en-JP" sz="2400" b="1" dirty="0"/>
          </a:p>
        </p:txBody>
      </p:sp>
      <p:sp>
        <p:nvSpPr>
          <p:cNvPr id="7" name="TextBox 6">
            <a:extLst>
              <a:ext uri="{FF2B5EF4-FFF2-40B4-BE49-F238E27FC236}">
                <a16:creationId xmlns:a16="http://schemas.microsoft.com/office/drawing/2014/main" id="{6018F5D4-D857-042C-10D7-3236EC371EF6}"/>
              </a:ext>
            </a:extLst>
          </p:cNvPr>
          <p:cNvSpPr txBox="1"/>
          <p:nvPr/>
        </p:nvSpPr>
        <p:spPr>
          <a:xfrm>
            <a:off x="362320" y="998369"/>
            <a:ext cx="7909971" cy="5632311"/>
          </a:xfrm>
          <a:prstGeom prst="rect">
            <a:avLst/>
          </a:prstGeom>
          <a:noFill/>
        </p:spPr>
        <p:txBody>
          <a:bodyPr wrap="square">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セキュリティ実践演習を通して、データ分析、マルウェア解析、インシデントレスポンス、</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などを実践的に学ぶことができた。</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また、分析や対応方法を考えることで、今後強化すべき技術や能力について考えることができた。</a:t>
            </a: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限られた時間の中で課題に取り組むことで、技術的理解を深めるとともに実践的な経験を得ることができた。</a:t>
            </a:r>
          </a:p>
          <a:p>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一方、インターンシップでは多くの人と協力して業務を進める必要があり、コミュニケーション能力や言語能力の重要性を強く感じた。</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184E19EF-F03A-7957-B2CD-2B7BB3D2B35F}"/>
              </a:ext>
            </a:extLst>
          </p:cNvPr>
          <p:cNvSpPr>
            <a:spLocks noGrp="1"/>
          </p:cNvSpPr>
          <p:nvPr>
            <p:ph type="sldNum" sz="quarter" idx="12"/>
          </p:nvPr>
        </p:nvSpPr>
        <p:spPr/>
        <p:txBody>
          <a:bodyPr/>
          <a:lstStyle/>
          <a:p>
            <a:fld id="{D8C05D5D-75E2-3144-9168-CA833390726D}" type="slidenum">
              <a:rPr lang="en-JP" smtClean="0"/>
              <a:t>36</a:t>
            </a:fld>
            <a:endParaRPr lang="en-JP"/>
          </a:p>
        </p:txBody>
      </p:sp>
    </p:spTree>
    <p:extLst>
      <p:ext uri="{BB962C8B-B14F-4D97-AF65-F5344CB8AC3E}">
        <p14:creationId xmlns:p14="http://schemas.microsoft.com/office/powerpoint/2010/main" val="2221355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2C88EE-61BB-FA72-9318-14F12D4C0C1D}"/>
              </a:ext>
            </a:extLst>
          </p:cNvPr>
          <p:cNvSpPr>
            <a:spLocks noGrp="1"/>
          </p:cNvSpPr>
          <p:nvPr>
            <p:ph type="sldNum" sz="quarter" idx="12"/>
          </p:nvPr>
        </p:nvSpPr>
        <p:spPr/>
        <p:txBody>
          <a:bodyPr/>
          <a:lstStyle/>
          <a:p>
            <a:fld id="{D8C05D5D-75E2-3144-9168-CA833390726D}" type="slidenum">
              <a:rPr lang="en-JP" smtClean="0"/>
              <a:pPr/>
              <a:t>37</a:t>
            </a:fld>
            <a:endParaRPr lang="en-JP" dirty="0"/>
          </a:p>
        </p:txBody>
      </p:sp>
      <p:pic>
        <p:nvPicPr>
          <p:cNvPr id="2" name="Picture 1">
            <a:extLst>
              <a:ext uri="{FF2B5EF4-FFF2-40B4-BE49-F238E27FC236}">
                <a16:creationId xmlns:a16="http://schemas.microsoft.com/office/drawing/2014/main" id="{9EAF4A23-F3E6-414D-E526-5A8301705A9E}"/>
              </a:ext>
            </a:extLst>
          </p:cNvPr>
          <p:cNvPicPr>
            <a:picLocks noChangeAspect="1"/>
          </p:cNvPicPr>
          <p:nvPr/>
        </p:nvPicPr>
        <p:blipFill>
          <a:blip r:embed="rId2"/>
          <a:stretch>
            <a:fillRect/>
          </a:stretch>
        </p:blipFill>
        <p:spPr>
          <a:xfrm>
            <a:off x="4322960" y="154853"/>
            <a:ext cx="4507096" cy="828896"/>
          </a:xfrm>
          <a:prstGeom prst="rect">
            <a:avLst/>
          </a:prstGeom>
        </p:spPr>
      </p:pic>
      <p:sp>
        <p:nvSpPr>
          <p:cNvPr id="5" name="TextBox 4">
            <a:extLst>
              <a:ext uri="{FF2B5EF4-FFF2-40B4-BE49-F238E27FC236}">
                <a16:creationId xmlns:a16="http://schemas.microsoft.com/office/drawing/2014/main" id="{BEEE50F9-5AFF-ECF0-1E06-037D8F0F7E43}"/>
              </a:ext>
            </a:extLst>
          </p:cNvPr>
          <p:cNvSpPr txBox="1"/>
          <p:nvPr/>
        </p:nvSpPr>
        <p:spPr>
          <a:xfrm>
            <a:off x="2286000" y="3108883"/>
            <a:ext cx="4572000" cy="369332"/>
          </a:xfrm>
          <a:prstGeom prst="rect">
            <a:avLst/>
          </a:prstGeom>
          <a:noFill/>
        </p:spPr>
        <p:txBody>
          <a:bodyPr wrap="square">
            <a:spAutoFit/>
          </a:bodyPr>
          <a:lstStyle/>
          <a:p>
            <a:endParaRPr lang="en-JP" dirty="0"/>
          </a:p>
        </p:txBody>
      </p:sp>
      <p:sp>
        <p:nvSpPr>
          <p:cNvPr id="7" name="TextBox 6">
            <a:extLst>
              <a:ext uri="{FF2B5EF4-FFF2-40B4-BE49-F238E27FC236}">
                <a16:creationId xmlns:a16="http://schemas.microsoft.com/office/drawing/2014/main" id="{ADE51157-CABD-F875-133D-A290F2639019}"/>
              </a:ext>
            </a:extLst>
          </p:cNvPr>
          <p:cNvSpPr txBox="1"/>
          <p:nvPr/>
        </p:nvSpPr>
        <p:spPr>
          <a:xfrm>
            <a:off x="471297" y="2736502"/>
            <a:ext cx="8201406" cy="1384995"/>
          </a:xfrm>
          <a:prstGeom prst="rect">
            <a:avLst/>
          </a:prstGeom>
          <a:noFill/>
        </p:spPr>
        <p:txBody>
          <a:bodyPr wrap="square">
            <a:spAutoFit/>
          </a:bodyPr>
          <a:lstStyle/>
          <a:p>
            <a:r>
              <a:rPr lang="en-JP" sz="2800" dirty="0">
                <a:latin typeface="Meiryo" panose="020B0604030504040204" pitchFamily="34" charset="-128"/>
                <a:ea typeface="Meiryo" panose="020B0604030504040204" pitchFamily="34" charset="-128"/>
                <a:cs typeface="Times New Roman" panose="02020603050405020304" pitchFamily="18" charset="0"/>
              </a:rPr>
              <a:t>本インターンシップの機会を与えていただいた</a:t>
            </a:r>
          </a:p>
          <a:p>
            <a:r>
              <a:rPr lang="en-JP" sz="2800" dirty="0">
                <a:latin typeface="Meiryo" panose="020B0604030504040204" pitchFamily="34" charset="-128"/>
                <a:ea typeface="Meiryo" panose="020B0604030504040204" pitchFamily="34" charset="-128"/>
                <a:cs typeface="Times New Roman" panose="02020603050405020304" pitchFamily="18" charset="0"/>
              </a:rPr>
              <a:t>公益財団法人九州先端科学技術研究所（ISIT）</a:t>
            </a:r>
            <a:endParaRPr lang="mn-MN" sz="2800" dirty="0">
              <a:latin typeface="Meiryo" panose="020B0604030504040204" pitchFamily="34" charset="-128"/>
              <a:ea typeface="Meiryo" panose="020B0604030504040204" pitchFamily="34" charset="-128"/>
              <a:cs typeface="Times New Roman" panose="02020603050405020304" pitchFamily="18" charset="0"/>
            </a:endParaRPr>
          </a:p>
          <a:p>
            <a:r>
              <a:rPr lang="en-JP" sz="2800" dirty="0">
                <a:latin typeface="Meiryo" panose="020B0604030504040204" pitchFamily="34" charset="-128"/>
                <a:ea typeface="Meiryo" panose="020B0604030504040204" pitchFamily="34" charset="-128"/>
                <a:cs typeface="Times New Roman" panose="02020603050405020304" pitchFamily="18" charset="0"/>
              </a:rPr>
              <a:t>の皆様に心より感謝申し上げます。</a:t>
            </a:r>
          </a:p>
        </p:txBody>
      </p:sp>
      <p:sp>
        <p:nvSpPr>
          <p:cNvPr id="9" name="TextBox 8">
            <a:extLst>
              <a:ext uri="{FF2B5EF4-FFF2-40B4-BE49-F238E27FC236}">
                <a16:creationId xmlns:a16="http://schemas.microsoft.com/office/drawing/2014/main" id="{9B67DFC3-4D52-C9D8-93C9-09A8DD4F7BC7}"/>
              </a:ext>
            </a:extLst>
          </p:cNvPr>
          <p:cNvSpPr txBox="1"/>
          <p:nvPr/>
        </p:nvSpPr>
        <p:spPr>
          <a:xfrm>
            <a:off x="313944" y="460529"/>
            <a:ext cx="4258056" cy="523220"/>
          </a:xfrm>
          <a:prstGeom prst="rect">
            <a:avLst/>
          </a:prstGeom>
          <a:noFill/>
        </p:spPr>
        <p:txBody>
          <a:bodyPr wrap="square">
            <a:spAutoFit/>
          </a:bodyPr>
          <a:lstStyle/>
          <a:p>
            <a:r>
              <a:rPr lang="ja-JP" altLang="en-US" sz="2800" b="1" i="0" u="none" strike="noStrike">
                <a:solidFill>
                  <a:srgbClr val="000000"/>
                </a:solidFill>
                <a:effectLst/>
                <a:latin typeface="Meiryo" panose="020B0604030504040204" pitchFamily="34" charset="-128"/>
                <a:ea typeface="Meiryo" panose="020B0604030504040204" pitchFamily="34" charset="-128"/>
              </a:rPr>
              <a:t>謝辞</a:t>
            </a:r>
            <a:endParaRPr lang="en-JP" sz="2800" b="1" dirty="0"/>
          </a:p>
        </p:txBody>
      </p:sp>
    </p:spTree>
    <p:extLst>
      <p:ext uri="{BB962C8B-B14F-4D97-AF65-F5344CB8AC3E}">
        <p14:creationId xmlns:p14="http://schemas.microsoft.com/office/powerpoint/2010/main" val="34855576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12275</TotalTime>
  <Words>2553</Words>
  <Application>Microsoft Macintosh PowerPoint</Application>
  <PresentationFormat>On-screen Show (4:3)</PresentationFormat>
  <Paragraphs>410</Paragraphs>
  <Slides>38</Slides>
  <Notes>20</Notes>
  <HiddenSlides>0</HiddenSlides>
  <MMClips>4</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Meiryo</vt:lpstr>
      <vt:lpstr>MS Mincho</vt:lpstr>
      <vt:lpstr>Source Han Sans</vt:lpstr>
      <vt:lpstr>Arial</vt:lpstr>
      <vt:lpstr>Calibri</vt:lpstr>
      <vt:lpstr>Calibri Light</vt:lpstr>
      <vt:lpstr>Cambria</vt:lpstr>
      <vt:lpstr>Helvetica Neue</vt:lpstr>
      <vt:lpstr>Times New Roman</vt:lpstr>
      <vt:lpstr>Wingdings</vt:lpstr>
      <vt:lpstr>Office Theme</vt:lpstr>
      <vt:lpstr>セキュリティ実践演習第一 報告会</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Private CA構築演習のまとめ</vt:lpstr>
      <vt:lpstr>Private CA構築演習のまとめ</vt:lpstr>
      <vt:lpstr>マルウェア解析演習</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実践インターンシップ (先導的ICT人材育成事業)</vt:lpstr>
      <vt:lpstr>PowerPoint Presentation</vt:lpstr>
      <vt:lpstr>PowerPoint Presentation</vt:lpstr>
      <vt:lpstr>PowerPoint Presentation</vt:lpstr>
      <vt:lpstr>PowerPoint Presentation</vt:lpstr>
      <vt:lpstr>PowerPoint Presentation</vt:lpstr>
      <vt:lpstr>Webサーバへの攻撃方法から検討する防御手法</vt:lpstr>
      <vt:lpstr>PowerPoint Presentation</vt:lpstr>
      <vt:lpstr>PowerPoint Presentation</vt:lpstr>
      <vt:lpstr> Webページへの攻撃テストを実施するために，自身でこのようなWebページを作成してみました.</vt:lpstr>
      <vt:lpstr>  DVWA = Damn Vulnerable Web Application </vt:lpstr>
      <vt:lpstr>DVWA = Damn Vulnerable Web Applicationの画面</vt:lpstr>
      <vt:lpstr>PowerPoint Presentation</vt:lpstr>
      <vt:lpstr>Web_Server_Dashboardのプログラムの画面</vt:lpstr>
      <vt:lpstr>インターンシップで学んだこと 1/2</vt:lpstr>
      <vt:lpstr>インターンシップで学んだこと 2/2</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59</cp:revision>
  <dcterms:created xsi:type="dcterms:W3CDTF">2026-03-04T05:09:07Z</dcterms:created>
  <dcterms:modified xsi:type="dcterms:W3CDTF">2026-03-13T01:41:25Z</dcterms:modified>
</cp:coreProperties>
</file>