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21" r:id="rId1"/>
    <p:sldMasterId id="2147483696" r:id="rId2"/>
    <p:sldMasterId id="2147483709" r:id="rId3"/>
    <p:sldMasterId id="2147483734" r:id="rId4"/>
  </p:sldMasterIdLst>
  <p:notesMasterIdLst>
    <p:notesMasterId r:id="rId61"/>
  </p:notesMasterIdLst>
  <p:sldIdLst>
    <p:sldId id="256" r:id="rId5"/>
    <p:sldId id="331" r:id="rId6"/>
    <p:sldId id="337" r:id="rId7"/>
    <p:sldId id="257" r:id="rId8"/>
    <p:sldId id="284" r:id="rId9"/>
    <p:sldId id="290" r:id="rId10"/>
    <p:sldId id="338" r:id="rId11"/>
    <p:sldId id="336" r:id="rId12"/>
    <p:sldId id="314" r:id="rId13"/>
    <p:sldId id="340" r:id="rId14"/>
    <p:sldId id="311" r:id="rId15"/>
    <p:sldId id="299" r:id="rId16"/>
    <p:sldId id="303" r:id="rId17"/>
    <p:sldId id="302" r:id="rId18"/>
    <p:sldId id="319" r:id="rId19"/>
    <p:sldId id="298" r:id="rId20"/>
    <p:sldId id="291" r:id="rId21"/>
    <p:sldId id="318" r:id="rId22"/>
    <p:sldId id="332" r:id="rId23"/>
    <p:sldId id="321" r:id="rId24"/>
    <p:sldId id="333" r:id="rId25"/>
    <p:sldId id="320" r:id="rId26"/>
    <p:sldId id="322" r:id="rId27"/>
    <p:sldId id="323" r:id="rId28"/>
    <p:sldId id="324" r:id="rId29"/>
    <p:sldId id="325" r:id="rId30"/>
    <p:sldId id="326" r:id="rId31"/>
    <p:sldId id="327" r:id="rId32"/>
    <p:sldId id="343" r:id="rId33"/>
    <p:sldId id="312" r:id="rId34"/>
    <p:sldId id="334" r:id="rId35"/>
    <p:sldId id="335" r:id="rId36"/>
    <p:sldId id="309" r:id="rId37"/>
    <p:sldId id="310" r:id="rId38"/>
    <p:sldId id="329" r:id="rId39"/>
    <p:sldId id="263" r:id="rId40"/>
    <p:sldId id="289" r:id="rId41"/>
    <p:sldId id="272" r:id="rId42"/>
    <p:sldId id="313" r:id="rId43"/>
    <p:sldId id="287" r:id="rId44"/>
    <p:sldId id="315" r:id="rId45"/>
    <p:sldId id="293" r:id="rId46"/>
    <p:sldId id="265" r:id="rId47"/>
    <p:sldId id="330" r:id="rId48"/>
    <p:sldId id="268" r:id="rId49"/>
    <p:sldId id="341" r:id="rId50"/>
    <p:sldId id="301" r:id="rId51"/>
    <p:sldId id="305" r:id="rId52"/>
    <p:sldId id="292" r:id="rId53"/>
    <p:sldId id="339" r:id="rId54"/>
    <p:sldId id="317" r:id="rId55"/>
    <p:sldId id="328" r:id="rId56"/>
    <p:sldId id="308" r:id="rId57"/>
    <p:sldId id="261" r:id="rId58"/>
    <p:sldId id="304" r:id="rId59"/>
    <p:sldId id="316" r:id="rId60"/>
  </p:sldIdLst>
  <p:sldSz cx="10972800" cy="8229600" type="B4JIS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ndarmaa581@gmail.com" initials="" lastIdx="1" clrIdx="0">
    <p:extLst>
      <p:ext uri="{19B8F6BF-5375-455C-9EA6-DF929625EA0E}">
        <p15:presenceInfo xmlns:p15="http://schemas.microsoft.com/office/powerpoint/2012/main" userId="2e6f2e160844526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EBE"/>
    <a:srgbClr val="FF9E9D"/>
    <a:srgbClr val="F1F1F2"/>
    <a:srgbClr val="FBFBFB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30"/>
    <p:restoredTop sz="85675"/>
  </p:normalViewPr>
  <p:slideViewPr>
    <p:cSldViewPr snapToGrid="0">
      <p:cViewPr varScale="1">
        <p:scale>
          <a:sx n="89" d="100"/>
          <a:sy n="89" d="100"/>
        </p:scale>
        <p:origin x="936" y="184"/>
      </p:cViewPr>
      <p:guideLst/>
    </p:cSldViewPr>
  </p:slideViewPr>
  <p:outlineViewPr>
    <p:cViewPr>
      <p:scale>
        <a:sx n="33" d="100"/>
        <a:sy n="33" d="100"/>
      </p:scale>
      <p:origin x="0" y="-77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3A8D3-39B6-4047-9EAA-4F4C30A589C2}" type="datetimeFigureOut">
              <a:rPr lang="en-JP" smtClean="0"/>
              <a:t>2026/01/06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1F159-79E2-E24F-9993-34E52B426EB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4357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37787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2810-4FE1-8631-18AE-8D86161E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8D6094-23FF-E15E-7A67-C43DF72D4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E24F4-4635-F5E5-AB98-DF49E6E0B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はいけい</a:t>
            </a: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9229D-3AE2-FAC8-E0F5-9609A77C8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8046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はいけい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96478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4000" dirty="0"/>
              <a:t>2025 </a:t>
            </a:r>
            <a:r>
              <a:rPr lang="ja-JP" altLang="en-US" sz="4000"/>
              <a:t>年に </a:t>
            </a:r>
            <a:r>
              <a:rPr lang="en-US" altLang="ja-JP" sz="4000" dirty="0"/>
              <a:t>211 </a:t>
            </a:r>
            <a:r>
              <a:rPr lang="ja-JP" altLang="en-US" sz="4000"/>
              <a:t>億に到達し、その後も増加を続けて </a:t>
            </a:r>
            <a:r>
              <a:rPr lang="en-US" altLang="ja-JP" sz="4000" dirty="0"/>
              <a:t>2035 </a:t>
            </a:r>
            <a:r>
              <a:rPr lang="ja-JP" altLang="en-US" sz="4000"/>
              <a:t>年には </a:t>
            </a:r>
            <a:r>
              <a:rPr lang="en-US" altLang="ja-JP" sz="4000" dirty="0"/>
              <a:t>550 </a:t>
            </a:r>
            <a:r>
              <a:rPr lang="ja-JP" altLang="en-US" sz="4000"/>
              <a:t>億に達すると予測されています</a:t>
            </a:r>
            <a:r>
              <a:rPr lang="en-JP" sz="3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。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31527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不備ー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ふび　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主なー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おもな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75707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担うー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になう　</a:t>
            </a:r>
            <a:r>
              <a:rPr lang="ja-JP" altLang="en-US" sz="1600" b="0" i="0">
                <a:solidFill>
                  <a:srgbClr val="222222"/>
                </a:solidFill>
                <a:effectLst/>
                <a:latin typeface="Source Han Sans"/>
              </a:rPr>
              <a:t>保護ーほご　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電力ー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でんりょく　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非常ー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ひじょう</a:t>
            </a:r>
            <a:endParaRPr lang="en-US" altLang="ja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制約ー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せいやく　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重大ー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じゅうだい　　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弱点 ー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じゃくてん</a:t>
            </a:r>
            <a:endParaRPr lang="en-US" altLang="ja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　中継ーちゅうけい</a:t>
            </a:r>
            <a:endParaRPr lang="en-US" altLang="ja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重くて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おもくて　　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一般的ー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いっぱんてき　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弱点 ー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じゃくてん</a:t>
            </a:r>
            <a:endParaRPr lang="en-US" altLang="ja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導入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どうにゅう　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困難ー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こんなん　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 重大ー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じゅうだい</a:t>
            </a:r>
            <a:r>
              <a:rPr lang="en-US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important</a:t>
            </a:r>
            <a:endParaRPr lang="en-US" altLang="ja-JP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77158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境界ー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きょうかい　</a:t>
            </a:r>
            <a:r>
              <a:rPr kumimoji="1" lang="ja-JP" altLang="en-US"/>
              <a:t>検出ー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けんしゅつ　</a:t>
            </a:r>
            <a:r>
              <a:rPr kumimoji="1" lang="ja-JP" altLang="en-US"/>
              <a:t>実行ー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じっこう</a:t>
            </a:r>
            <a:endParaRPr kumimoji="1" lang="en-US" altLang="ja-JP" dirty="0"/>
          </a:p>
          <a:p>
            <a:r>
              <a:rPr kumimoji="1" lang="ja-JP" altLang="en-US"/>
              <a:t>設置ー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せっち</a:t>
            </a:r>
            <a:endParaRPr kumimoji="1" lang="en-US" altLang="ja-JP" dirty="0"/>
          </a:p>
          <a:p>
            <a:r>
              <a:rPr kumimoji="1" lang="ja-JP" altLang="en-US"/>
              <a:t>応じてー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おう</a:t>
            </a:r>
            <a:endParaRPr kumimoji="1" lang="en-US" altLang="ja-JP" dirty="0"/>
          </a:p>
          <a:p>
            <a:r>
              <a:rPr kumimoji="1" lang="ja-JP" altLang="en-US"/>
              <a:t>出力ー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しゅつりょく</a:t>
            </a:r>
            <a:endParaRPr kumimoji="1" lang="en-US" altLang="ja-JP" dirty="0"/>
          </a:p>
          <a:p>
            <a:r>
              <a:rPr kumimoji="1" lang="ja-JP" altLang="en-US"/>
              <a:t>発出ー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はっしゅつ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78273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93647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資源ー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しげんー</a:t>
            </a:r>
            <a:r>
              <a:rPr lang="en-US" b="0" i="0" dirty="0">
                <a:solidFill>
                  <a:srgbClr val="999999"/>
                </a:solidFill>
                <a:effectLst/>
                <a:latin typeface="Helvetica Neue" panose="02000503000000020004" pitchFamily="2" charset="0"/>
              </a:rPr>
              <a:t> </a:t>
            </a:r>
            <a:r>
              <a:rPr lang="en-US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resources</a:t>
            </a:r>
            <a:r>
              <a:rPr lang="ja-JP" altLang="en-US" b="0" i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　　　</a:t>
            </a: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複数ー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ふくすう　　</a:t>
            </a: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速度ー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そくど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 じゅうらい</a:t>
            </a:r>
            <a:endParaRPr lang="en-US" b="0" i="0" dirty="0">
              <a:solidFill>
                <a:srgbClr val="222222"/>
              </a:solidFill>
              <a:effectLst/>
              <a:latin typeface="Helvetica Neue" panose="02000503000000020004" pitchFamily="2" charset="0"/>
            </a:endParaRPr>
          </a:p>
          <a:p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電力</a:t>
            </a:r>
            <a:r>
              <a:rPr lang="ja-JP" altLang="en-US" sz="1600" b="0" i="0">
                <a:solidFill>
                  <a:srgbClr val="222222"/>
                </a:solidFill>
                <a:effectLst/>
                <a:latin typeface="Helvetica Neue" panose="02000503000000020004" pitchFamily="2" charset="0"/>
                <a:ea typeface="Meiryo" panose="020B0604030504040204" pitchFamily="34" charset="-128"/>
              </a:rPr>
              <a:t>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でんりょくー</a:t>
            </a:r>
            <a:r>
              <a:rPr lang="en-US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electric power</a:t>
            </a:r>
            <a:r>
              <a:rPr lang="ja-JP" altLang="en-US" b="0" i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　　　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どうさー</a:t>
            </a:r>
            <a:r>
              <a:rPr lang="en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動作</a:t>
            </a: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　実際ー　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じっさい</a:t>
            </a:r>
            <a:endParaRPr lang="en-US" b="0" i="0" dirty="0">
              <a:solidFill>
                <a:srgbClr val="222222"/>
              </a:solidFill>
              <a:effectLst/>
              <a:latin typeface="Helvetica Neue" panose="02000503000000020004" pitchFamily="2" charset="0"/>
            </a:endParaRPr>
          </a:p>
          <a:p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制限</a:t>
            </a:r>
            <a:r>
              <a:rPr lang="ja-JP" altLang="en-US" sz="1600" b="0" i="0">
                <a:solidFill>
                  <a:srgbClr val="222222"/>
                </a:solidFill>
                <a:effectLst/>
                <a:latin typeface="Helvetica Neue" panose="02000503000000020004" pitchFamily="2" charset="0"/>
                <a:ea typeface="Meiryo" panose="020B0604030504040204" pitchFamily="34" charset="-128"/>
              </a:rPr>
              <a:t>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せいげん　　</a:t>
            </a: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評価ー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ひょうか　　</a:t>
            </a: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使用量ー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しようりょう</a:t>
            </a:r>
            <a:endParaRPr lang="en-US" altLang="ja-JP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実現</a:t>
            </a:r>
            <a:r>
              <a:rPr lang="ja-JP" altLang="en-US" sz="1600" b="0" i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じつげん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.     </a:t>
            </a: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条件</a:t>
            </a:r>
            <a:r>
              <a:rPr lang="en-US" altLang="ja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じょうけん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.   -</a:t>
            </a: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近い</a:t>
            </a:r>
            <a:endParaRPr lang="en-US" altLang="ja-JP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構築</a:t>
            </a:r>
            <a:r>
              <a:rPr lang="ja-JP" altLang="en-US" sz="1600" b="0" i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ー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こうちく</a:t>
            </a:r>
            <a:endParaRPr lang="mn-MN" altLang="ja-JP" sz="16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41873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36247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独自性</a:t>
            </a:r>
            <a:r>
              <a:rPr lang="en-US" altLang="ja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どくじせい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 </a:t>
            </a:r>
            <a:r>
              <a:rPr lang="en-JP" sz="1600" dirty="0">
                <a:latin typeface="Meiryo" panose="020B0604030504040204" pitchFamily="34" charset="-128"/>
                <a:ea typeface="Meiryo" panose="020B0604030504040204" pitchFamily="34" charset="-128"/>
              </a:rPr>
              <a:t>設計-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せっけい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.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単体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たんたい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.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実行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じっこう</a:t>
            </a:r>
            <a:endParaRPr lang="en-US" altLang="ja-JP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観測</a:t>
            </a:r>
            <a:r>
              <a:rPr lang="en-US" altLang="ja-JP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-</a:t>
            </a:r>
            <a:r>
              <a:rPr lang="ja-JP" altLang="en-US" sz="1600" b="0" i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かんそく</a:t>
            </a:r>
            <a:r>
              <a:rPr lang="en-US" altLang="ja-JP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.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抽出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ちゅうしゅつ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47055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。</a:t>
            </a:r>
          </a:p>
          <a:p>
            <a:r>
              <a:rPr lang="en-JP" sz="1600" dirty="0">
                <a:latin typeface="Meiryo" panose="020B0604030504040204" pitchFamily="34" charset="-128"/>
                <a:ea typeface="Meiryo" panose="020B0604030504040204" pitchFamily="34" charset="-128"/>
              </a:rPr>
              <a:t>予測ー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よそく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</a:t>
            </a:r>
            <a:r>
              <a:rPr lang="ja-JP" altLang="en-US" sz="1600" b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資源</a:t>
            </a:r>
            <a:r>
              <a:rPr lang="en-US" altLang="ja-JP" sz="1600" b="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しげん</a:t>
            </a:r>
            <a:endParaRPr lang="en-JP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6274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正常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せいじょう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識別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しきべつ</a:t>
            </a:r>
            <a:endParaRPr lang="en-US" altLang="ja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76291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独自性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2400" b="0" i="0">
                <a:solidFill>
                  <a:srgbClr val="222222"/>
                </a:solidFill>
                <a:effectLst/>
                <a:latin typeface="Source Han Sans"/>
              </a:rPr>
              <a:t>どくじせい</a:t>
            </a:r>
            <a:r>
              <a:rPr lang="en-US" altLang="ja-JP" sz="2400" b="0" i="0" dirty="0">
                <a:solidFill>
                  <a:srgbClr val="222222"/>
                </a:solidFill>
                <a:effectLst/>
                <a:latin typeface="Source Han Sans"/>
              </a:rPr>
              <a:t> ,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最適化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2400" b="0" i="0">
                <a:solidFill>
                  <a:srgbClr val="222222"/>
                </a:solidFill>
                <a:effectLst/>
                <a:latin typeface="Source Han Sans"/>
              </a:rPr>
              <a:t>さいてきか</a:t>
            </a:r>
            <a:r>
              <a:rPr lang="en-US" altLang="ja-JP" sz="2400" b="0" i="0" dirty="0">
                <a:solidFill>
                  <a:srgbClr val="222222"/>
                </a:solidFill>
                <a:effectLst/>
                <a:latin typeface="Source Han Sans"/>
              </a:rPr>
              <a:t>. </a:t>
            </a:r>
            <a:r>
              <a:rPr lang="ja-JP" altLang="en-US" sz="2800" b="0" i="0">
                <a:solidFill>
                  <a:srgbClr val="222222"/>
                </a:solidFill>
                <a:effectLst/>
                <a:latin typeface="Source Han Sans"/>
              </a:rPr>
              <a:t>こうりつてき</a:t>
            </a:r>
            <a:r>
              <a:rPr lang="en-US" altLang="ja-JP" sz="2800" b="0" i="0" dirty="0">
                <a:solidFill>
                  <a:srgbClr val="222222"/>
                </a:solidFill>
                <a:effectLst/>
                <a:latin typeface="Source Han Sans"/>
              </a:rPr>
              <a:t>-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効率的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,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構造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2400" b="0" i="0">
                <a:solidFill>
                  <a:srgbClr val="222222"/>
                </a:solidFill>
                <a:effectLst/>
                <a:latin typeface="Source Han Sans"/>
              </a:rPr>
              <a:t>こうぞう</a:t>
            </a: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軽量・高速・高精度を同時に実現した 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IoT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向けネットワーク侵入検知システムとして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、既存研究よりも低負荷で実用性が高い点が最大の独自性である。</a:t>
            </a:r>
          </a:p>
          <a:p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381031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06518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Realguard IDS</a:t>
            </a:r>
            <a:r>
              <a:rPr lang="ja-JP" altLang="en-US"/>
              <a:t>は、</a:t>
            </a:r>
            <a:r>
              <a:rPr lang="en-US" dirty="0"/>
              <a:t>IoT</a:t>
            </a:r>
            <a:r>
              <a:rPr lang="ja-JP" altLang="en-US"/>
              <a:t>ゲートウェイ上で動作する軽量なネットワーク侵入検知システムであり、</a:t>
            </a:r>
            <a:endParaRPr lang="mn-MN" altLang="ja-JP" dirty="0"/>
          </a:p>
          <a:p>
            <a:r>
              <a:rPr lang="ja-JP" altLang="en-US"/>
              <a:t>本章ではそのアーキテクチャ概要、特徴量抽出方法、および攻撃検知モデルについて説明する</a:t>
            </a:r>
            <a:endParaRPr lang="mn-MN" altLang="ja-JP" dirty="0"/>
          </a:p>
          <a:p>
            <a:endParaRPr lang="mn-MN" altLang="ja-JP" dirty="0"/>
          </a:p>
          <a:p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通過</a:t>
            </a:r>
            <a:r>
              <a:rPr lang="mn-MN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つうか</a:t>
            </a:r>
            <a:r>
              <a:rPr lang="mn-MN" altLang="ja-JP" b="0" i="0" dirty="0">
                <a:solidFill>
                  <a:srgbClr val="222222"/>
                </a:solidFill>
                <a:effectLst/>
                <a:latin typeface="Source Han Sans"/>
              </a:rPr>
              <a:t> , 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後続</a:t>
            </a:r>
            <a:r>
              <a:rPr lang="mn-MN" altLang="ja-JP" b="0" i="0" dirty="0">
                <a:solidFill>
                  <a:srgbClr val="222222"/>
                </a:solidFill>
                <a:effectLst/>
                <a:latin typeface="Source Han Sans"/>
              </a:rPr>
              <a:t> 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こうぞく、原始ーげんし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渡す</a:t>
            </a:r>
            <a:r>
              <a: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わた</a:t>
            </a:r>
            <a:r>
              <a:rPr lang="en-US" altLang="ja-JP" b="0" i="0" dirty="0" err="1">
                <a:solidFill>
                  <a:srgbClr val="222222"/>
                </a:solidFill>
                <a:effectLst/>
                <a:latin typeface="Source Han Sans"/>
              </a:rPr>
              <a:t>su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.  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原始</a:t>
            </a:r>
            <a:r>
              <a: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げんし</a:t>
            </a:r>
            <a:endParaRPr lang="en-US" altLang="ja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11360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保存ー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ほぞん、</a:t>
            </a: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不審ー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ふしん、</a:t>
            </a: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判断</a:t>
            </a:r>
            <a:r>
              <a:rPr lang="en-US" altLang="ja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はんだん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497117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LASSO</a:t>
            </a:r>
            <a:r>
              <a:rPr lang="ja-JP" altLang="en-US"/>
              <a:t>は、多くの特徴量の中から最も重要な</a:t>
            </a:r>
            <a:r>
              <a:rPr lang="en-US" altLang="ja-JP" dirty="0"/>
              <a:t>36</a:t>
            </a:r>
            <a:r>
              <a:rPr lang="ja-JP" altLang="en-US"/>
              <a:t>個を自動的に選択し、</a:t>
            </a:r>
            <a:endParaRPr lang="mn-MN" altLang="ja-JP" dirty="0"/>
          </a:p>
          <a:p>
            <a:r>
              <a:rPr lang="ja-JP" altLang="en-US"/>
              <a:t>残りの特徴量は不要とみなすアルゴリズムである。これにより、</a:t>
            </a:r>
            <a:endParaRPr lang="mn-MN" altLang="ja-JP" dirty="0"/>
          </a:p>
          <a:p>
            <a:r>
              <a:rPr lang="ja-JP" altLang="en-US"/>
              <a:t>モデルは高速かつ高精度に動作できる。</a:t>
            </a:r>
            <a:endParaRPr lang="en-US" altLang="ja-JP" dirty="0"/>
          </a:p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到着ー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とうちゃくー</a:t>
            </a:r>
            <a:r>
              <a:rPr lang="en-US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arrival</a:t>
            </a:r>
            <a:r>
              <a:rPr lang="ja-JP" altLang="en-US" b="0" i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　、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すうちー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数値、</a:t>
            </a:r>
            <a:endParaRPr lang="en-US" altLang="ja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19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49056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主要ー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しゅよう　</a:t>
            </a:r>
            <a:r>
              <a:rPr lang="en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統計ー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とうけい</a:t>
            </a:r>
            <a:r>
              <a:rPr lang="ja-JP" altLang="en-US" sz="1600"/>
              <a:t>。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累積和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るいせきわ</a:t>
            </a:r>
            <a:r>
              <a:rPr lang="en-US" altLang="ja-JP" sz="2000" b="0" i="0" dirty="0">
                <a:solidFill>
                  <a:srgbClr val="222222"/>
                </a:solidFill>
                <a:effectLst/>
                <a:latin typeface="Source Han Sans"/>
              </a:rPr>
              <a:t>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指数減衰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 しすう げんすい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削減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さくげん</a:t>
            </a:r>
            <a:r>
              <a:rPr lang="en-US" altLang="ja-JP" sz="2000" b="0" i="0" dirty="0">
                <a:solidFill>
                  <a:srgbClr val="222222"/>
                </a:solidFill>
                <a:effectLst/>
                <a:latin typeface="Source Han Sans"/>
              </a:rPr>
              <a:t>, </a:t>
            </a:r>
            <a:r>
              <a:rPr lang="ja-JP" altLang="en-US" sz="2400" b="0" i="0">
                <a:solidFill>
                  <a:srgbClr val="222222"/>
                </a:solidFill>
                <a:effectLst/>
                <a:latin typeface="Source Han Sans"/>
              </a:rPr>
              <a:t>ほぞん</a:t>
            </a:r>
            <a:endParaRPr lang="en-US" altLang="ja-JP" sz="2000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br>
              <a:rPr lang="ja-JP" altLang="en-US" sz="1600"/>
            </a:br>
            <a:r>
              <a:rPr lang="ja-JP" altLang="en-US" sz="1600"/>
              <a:t>これにより、高速で多数のネットワーク特徴を同時に抽出することが可能になる。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Incremental Statistics（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増分統計）</a:t>
            </a:r>
            <a:endParaRPr lang="en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US" altLang="ja-JP" b="0" i="0" dirty="0">
              <a:solidFill>
                <a:srgbClr val="222222"/>
              </a:solidFill>
              <a:effectLst/>
              <a:latin typeface="Source Han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335272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9600" b="0" i="0">
                <a:solidFill>
                  <a:srgbClr val="222222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げんすいりつ</a:t>
            </a:r>
            <a:r>
              <a:rPr lang="en-US" altLang="ja-JP" sz="9600" b="0" i="0" dirty="0">
                <a:solidFill>
                  <a:srgbClr val="222222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9600" b="0">
                <a:latin typeface="Meiryo" panose="020B0604030504040204" pitchFamily="34" charset="-128"/>
                <a:ea typeface="Meiryo" panose="020B0604030504040204" pitchFamily="34" charset="-128"/>
              </a:rPr>
              <a:t>減衰率　、減衰ー</a:t>
            </a:r>
            <a:r>
              <a:rPr lang="ja-JP" altLang="en-US" sz="9600" b="0" i="0">
                <a:solidFill>
                  <a:srgbClr val="222222"/>
                </a:solidFill>
                <a:effectLst/>
                <a:latin typeface="Source Han Sans"/>
              </a:rPr>
              <a:t>げんすい、</a:t>
            </a:r>
            <a:r>
              <a:rPr lang="ja-JP" altLang="en-US" sz="9600">
                <a:latin typeface="Meiryo" panose="020B0604030504040204" pitchFamily="34" charset="-128"/>
                <a:ea typeface="Meiryo" panose="020B0604030504040204" pitchFamily="34" charset="-128"/>
              </a:rPr>
              <a:t>優先ー</a:t>
            </a:r>
            <a:r>
              <a:rPr lang="ja-JP" altLang="en-US" sz="9600" b="0" i="0">
                <a:solidFill>
                  <a:srgbClr val="222222"/>
                </a:solidFill>
                <a:effectLst/>
                <a:latin typeface="Source Han Sans"/>
              </a:rPr>
              <a:t>ゆうせん　</a:t>
            </a:r>
            <a:r>
              <a:rPr lang="en-US" altLang="ja-JP" sz="9600" b="0" i="0" dirty="0" err="1">
                <a:solidFill>
                  <a:srgbClr val="222222"/>
                </a:solidFill>
                <a:effectLst/>
                <a:latin typeface="Source Han Sans"/>
              </a:rPr>
              <a:t>dawu</a:t>
            </a:r>
            <a:r>
              <a:rPr lang="en-US" altLang="ja-JP" sz="9600" b="0" i="0" dirty="0">
                <a:solidFill>
                  <a:srgbClr val="222222"/>
                </a:solidFill>
                <a:effectLst/>
                <a:latin typeface="Source Han Sans"/>
              </a:rPr>
              <a:t> </a:t>
            </a:r>
            <a:r>
              <a:rPr lang="en-US" altLang="ja-JP" sz="9600" b="0" i="0" dirty="0" err="1">
                <a:solidFill>
                  <a:srgbClr val="222222"/>
                </a:solidFill>
                <a:effectLst/>
                <a:latin typeface="Source Han Sans"/>
              </a:rPr>
              <a:t>erh</a:t>
            </a:r>
            <a:r>
              <a:rPr lang="en-US" altLang="ja-JP" sz="9600" b="0" i="0" dirty="0">
                <a:solidFill>
                  <a:srgbClr val="222222"/>
                </a:solidFill>
                <a:effectLst/>
                <a:latin typeface="Source Han Sans"/>
              </a:rPr>
              <a:t> </a:t>
            </a:r>
            <a:endParaRPr lang="en-US" altLang="ja-JP" sz="9600" b="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9600">
                <a:solidFill>
                  <a:schemeClr val="tx1"/>
                </a:solidFill>
              </a:rPr>
              <a:t>配列</a:t>
            </a:r>
            <a:r>
              <a:rPr lang="en-US" altLang="ja-JP" sz="9600" b="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9600" b="0" i="0">
                <a:solidFill>
                  <a:srgbClr val="222222"/>
                </a:solidFill>
                <a:effectLst/>
                <a:latin typeface="Source Han Sans"/>
              </a:rPr>
              <a:t>はいれつ</a:t>
            </a:r>
            <a:endParaRPr lang="en-JP" sz="9600" b="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90285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かんそく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 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はいれつ</a:t>
            </a:r>
            <a:r>
              <a:rPr lang="ja-JP" altLang="en-US" sz="1600" b="1">
                <a:latin typeface="Meiryo" panose="020B0604030504040204" pitchFamily="34" charset="-128"/>
                <a:ea typeface="Meiryo" panose="020B0604030504040204" pitchFamily="34" charset="-128"/>
              </a:rPr>
              <a:t>配列保存</a:t>
            </a:r>
            <a:r>
              <a:rPr lang="en-US" altLang="ja-JP" sz="1600" b="1" dirty="0">
                <a:latin typeface="Meiryo" panose="020B0604030504040204" pitchFamily="34" charset="-128"/>
                <a:ea typeface="Meiryo" panose="020B0604030504040204" pitchFamily="34" charset="-128"/>
              </a:rPr>
              <a:t>- 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ほぞん</a:t>
            </a:r>
            <a:endParaRPr lang="en-US" altLang="ja-JP" sz="16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公式</a:t>
            </a:r>
            <a:r>
              <a:rPr lang="en-US" altLang="ja-JP" sz="1600" b="1" i="0" dirty="0">
                <a:solidFill>
                  <a:srgbClr val="222222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こうしき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806040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加算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en-US" altLang="ja-JP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kansan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 ,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減衰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げんすい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値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あたい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086162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初期値（しょきち</a:t>
            </a:r>
            <a:r>
              <a:rPr lang="en-US" altLang="ja-JP" dirty="0"/>
              <a:t>, </a:t>
            </a:r>
            <a:r>
              <a:rPr lang="en-US" dirty="0" err="1"/>
              <a:t>Shokichi</a:t>
            </a:r>
            <a:r>
              <a:rPr lang="en-US" dirty="0"/>
              <a:t>）</a:t>
            </a:r>
            <a:r>
              <a:rPr lang="ja-JP" altLang="en-US" sz="16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適用</a:t>
            </a:r>
            <a:r>
              <a:rPr lang="en-US" altLang="ja-JP" sz="16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てきよう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075197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正規化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せいきか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82620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即時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そくじ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-</a:t>
            </a:r>
            <a:r>
              <a:rPr lang="en-US" altLang="ja-JP" b="0" i="0" dirty="0" err="1">
                <a:solidFill>
                  <a:srgbClr val="222222"/>
                </a:solidFill>
                <a:effectLst/>
                <a:latin typeface="Source Han Sans"/>
              </a:rPr>
              <a:t>realtime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.</a:t>
            </a:r>
            <a:r>
              <a:rPr lang="ja-JP" altLang="en-US" sz="1600" b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統計</a:t>
            </a:r>
            <a:r>
              <a:rPr lang="en-US" altLang="ja-JP" sz="1600" b="1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とうけい</a:t>
            </a:r>
            <a:endParaRPr lang="en-US" altLang="ja-JP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最小限</a:t>
            </a:r>
            <a:r>
              <a:rPr lang="en-US" altLang="ja-JP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-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さいしょうげん</a:t>
            </a:r>
            <a:endParaRPr lang="en-US" altLang="ja-JP" sz="1600" b="0" i="0" dirty="0">
              <a:solidFill>
                <a:srgbClr val="222222"/>
              </a:solidFill>
              <a:effectLst/>
              <a:latin typeface="Source Han Sans"/>
              <a:ea typeface="Meiryo" panose="020B0604030504040204" pitchFamily="34" charset="-128"/>
            </a:endParaRPr>
          </a:p>
          <a:p>
            <a:r>
              <a:rPr lang="ja-JP" altLang="en-US" sz="1600" b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減衰</a:t>
            </a:r>
            <a:r>
              <a:rPr lang="en-US" altLang="ja-JP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-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げんすい</a:t>
            </a:r>
            <a:endParaRPr lang="en-US" altLang="ja-JP" sz="1600" b="0" i="0" dirty="0">
              <a:solidFill>
                <a:srgbClr val="222222"/>
              </a:solidFill>
              <a:effectLst/>
              <a:latin typeface="Source Han Sans"/>
              <a:ea typeface="Meiryo" panose="020B0604030504040204" pitchFamily="34" charset="-128"/>
            </a:endParaRPr>
          </a:p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重み</a:t>
            </a:r>
            <a:r>
              <a:rPr lang="en-US" altLang="ja-JP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- 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おも</a:t>
            </a:r>
            <a:endParaRPr lang="en-US" altLang="ja-JP" sz="1600" b="0" i="0" dirty="0">
              <a:solidFill>
                <a:srgbClr val="222222"/>
              </a:solidFill>
              <a:effectLst/>
              <a:latin typeface="Source Han Sans"/>
              <a:ea typeface="Meiryo" panose="020B0604030504040204" pitchFamily="34" charset="-128"/>
            </a:endParaRPr>
          </a:p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減らし</a:t>
            </a:r>
            <a:endParaRPr lang="en-US" altLang="ja-JP" sz="1600" b="0" i="0" dirty="0">
              <a:solidFill>
                <a:srgbClr val="222222"/>
              </a:solidFill>
              <a:effectLst/>
              <a:latin typeface="Source Han Sans"/>
              <a:ea typeface="Meiryo" panose="020B0604030504040204" pitchFamily="34" charset="-128"/>
            </a:endParaRP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222461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攻撃検出</a:t>
            </a:r>
            <a:r>
              <a:rPr lang="en-US" altLang="ja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* </a:t>
            </a:r>
            <a:r>
              <a:rPr lang="en-JP" sz="1600" dirty="0">
                <a:latin typeface="Meiryo" panose="020B0604030504040204" pitchFamily="34" charset="-128"/>
                <a:ea typeface="Meiryo" panose="020B0604030504040204" pitchFamily="34" charset="-128"/>
              </a:rPr>
              <a:t>Attack Detection Component の主な役割は、ネットワークトラフィックをリアルタイムで解析し、攻撃を検出することである</a:t>
            </a:r>
          </a:p>
          <a:p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次元</a:t>
            </a:r>
            <a:r>
              <a:rPr lang="en-US" altLang="ja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じげん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. </a:t>
            </a:r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投入</a:t>
            </a:r>
            <a:r>
              <a:rPr lang="en-US" altLang="ja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とうにゅう</a:t>
            </a:r>
            <a:r>
              <a:rPr lang="en-US" altLang="ja-JP" sz="2000" b="0" i="0" dirty="0">
                <a:solidFill>
                  <a:srgbClr val="222222"/>
                </a:solidFill>
                <a:effectLst/>
                <a:latin typeface="Source Han Sans"/>
              </a:rPr>
              <a:t>,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全結合</a:t>
            </a:r>
            <a:r>
              <a:rPr lang="en-US" altLang="ja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ぜんけつごう</a:t>
            </a:r>
            <a:endParaRPr lang="en-US" altLang="ja-JP" sz="16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非線形関係</a:t>
            </a:r>
            <a:r>
              <a:rPr lang="en-US" altLang="ja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ひせんけい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072774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ひょうか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29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1672884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正常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せいじょう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102225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Keras</a:t>
            </a:r>
            <a:r>
              <a:rPr lang="en-US" dirty="0"/>
              <a:t> 2.4.3 </a:t>
            </a:r>
            <a:r>
              <a:rPr lang="ja-JP" altLang="en-US"/>
              <a:t>と </a:t>
            </a:r>
            <a:r>
              <a:rPr lang="en-US" dirty="0" err="1"/>
              <a:t>Tensorflow</a:t>
            </a:r>
            <a:r>
              <a:rPr lang="en-US" dirty="0"/>
              <a:t> 2.4.0 </a:t>
            </a:r>
            <a:r>
              <a:rPr lang="ja-JP" altLang="en-US"/>
              <a:t>をインストール → 攻撃検出モデルを実行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092220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2800" b="0" i="0">
                <a:solidFill>
                  <a:srgbClr val="222222"/>
                </a:solidFill>
                <a:effectLst/>
                <a:latin typeface="Source Han Sans"/>
              </a:rPr>
              <a:t>せいじょう</a:t>
            </a:r>
            <a:endParaRPr lang="en-US" altLang="ja-JP" sz="2800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r>
              <a:rPr lang="ja-JP" altLang="en-US" sz="2400"/>
              <a:t>これは、</a:t>
            </a:r>
            <a:r>
              <a:rPr lang="en-US" sz="2400" dirty="0"/>
              <a:t>Realguard</a:t>
            </a:r>
            <a:r>
              <a:rPr lang="ja-JP" altLang="en-US" sz="2400"/>
              <a:t>システムが攻撃を含むネットワークトラフィックを高い精度で検出できることを示している。これは、提案する攻撃検知モデルの利点である。</a:t>
            </a:r>
            <a:endParaRPr lang="en-JP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125027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TPR:</a:t>
            </a:r>
            <a:r>
              <a:rPr lang="en-US" dirty="0"/>
              <a:t> </a:t>
            </a:r>
            <a:r>
              <a:rPr lang="mn-MN" dirty="0"/>
              <a:t>Систем зөв ажилласан тохиолдол (</a:t>
            </a:r>
            <a:r>
              <a:rPr lang="en-US" dirty="0"/>
              <a:t>correct detection)</a:t>
            </a:r>
            <a:r>
              <a:rPr lang="mn-MN" dirty="0"/>
              <a:t> </a:t>
            </a:r>
            <a:r>
              <a:rPr lang="en-US" b="1" dirty="0"/>
              <a:t>TN:</a:t>
            </a:r>
            <a:r>
              <a:rPr lang="en-US" dirty="0"/>
              <a:t> </a:t>
            </a:r>
            <a:r>
              <a:rPr lang="mn-MN" dirty="0"/>
              <a:t>Халдлага бишийг зөв “аюулгүй” гэж үнэлсэн </a:t>
            </a:r>
            <a:r>
              <a:rPr lang="en-US" b="1" dirty="0"/>
              <a:t>FP:</a:t>
            </a:r>
            <a:r>
              <a:rPr lang="en-US" dirty="0"/>
              <a:t> </a:t>
            </a:r>
            <a:r>
              <a:rPr lang="mn-MN" dirty="0"/>
              <a:t>Систем “</a:t>
            </a:r>
            <a:r>
              <a:rPr lang="en-US" dirty="0"/>
              <a:t>false alarm” </a:t>
            </a:r>
            <a:r>
              <a:rPr lang="mn-MN" dirty="0"/>
              <a:t>гаргасан</a:t>
            </a:r>
          </a:p>
          <a:p>
            <a:r>
              <a:rPr lang="en-US" b="1" dirty="0"/>
              <a:t>FN:</a:t>
            </a:r>
            <a:r>
              <a:rPr lang="en-US" dirty="0"/>
              <a:t> </a:t>
            </a:r>
            <a:r>
              <a:rPr lang="mn-MN" dirty="0"/>
              <a:t>Систем халдлагыг өнгөрөөсөн, илрүүлээгүй</a:t>
            </a:r>
          </a:p>
          <a:p>
            <a:r>
              <a:rPr lang="en-US" dirty="0"/>
              <a:t>Accuracy </a:t>
            </a:r>
            <a:r>
              <a:rPr lang="ja-JP" altLang="en-US"/>
              <a:t>は、正しく分類されたすべてのケースの割合、つまりシステムが正しく動作した総ケースに対する比率である。</a:t>
            </a:r>
            <a:endParaRPr lang="mn-MN" dirty="0"/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998192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既存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きそん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処理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しょり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</a:t>
            </a:r>
            <a:r>
              <a:rPr lang="ja-JP" sz="1600" kern="100"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軽量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けいりょう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 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最適化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さいてきか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357168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 err="1"/>
              <a:t>Mlbasedids</a:t>
            </a:r>
            <a:r>
              <a:rPr lang="ja-JP" altLang="en-US"/>
              <a:t>の</a:t>
            </a:r>
            <a:r>
              <a:rPr lang="en-JP" dirty="0"/>
              <a:t>精度</a:t>
            </a:r>
            <a:r>
              <a:rPr lang="ja-JP" altLang="en-US"/>
              <a:t>　　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Machine Learning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ベースの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IDSの精度比較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478984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/>
              <a:t>（</a:t>
            </a:r>
            <a:r>
              <a:rPr lang="en-US" sz="1600" dirty="0"/>
              <a:t>Kitsune </a:t>
            </a:r>
            <a:r>
              <a:rPr lang="ja-JP" altLang="en-US" sz="1600"/>
              <a:t> </a:t>
            </a:r>
            <a:r>
              <a:rPr lang="en-US" sz="1600" dirty="0"/>
              <a:t>Ahmim </a:t>
            </a:r>
            <a:r>
              <a:rPr lang="ja-JP" altLang="en-US" sz="1600"/>
              <a:t>ら）はそれぞれ </a:t>
            </a:r>
            <a:r>
              <a:rPr lang="en-US" altLang="ja-JP" sz="1600" dirty="0"/>
              <a:t>1,100 </a:t>
            </a:r>
            <a:r>
              <a:rPr lang="ja-JP" altLang="en-US" sz="1600"/>
              <a:t>パケット／秒 と </a:t>
            </a:r>
            <a:r>
              <a:rPr lang="en-US" altLang="ja-JP" sz="1600" dirty="0"/>
              <a:t>200 </a:t>
            </a:r>
            <a:r>
              <a:rPr lang="ja-JP" altLang="en-US" sz="1600"/>
              <a:t>パケット／秒 しか処理できない。</a:t>
            </a:r>
            <a:endParaRPr lang="en-US" altLang="ja-JP" sz="1600" dirty="0"/>
          </a:p>
          <a:p>
            <a:r>
              <a:rPr lang="ja-JP" altLang="en-US"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秒間</a:t>
            </a:r>
            <a:r>
              <a:rPr lang="en-US" altLang="ja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びょう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109216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273955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速度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そくど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-speed 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消費量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しょうひりょう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 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競合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きょうごう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-</a:t>
            </a:r>
            <a:r>
              <a:rPr lang="en-US" altLang="ja-JP" b="0" i="0" dirty="0" err="1">
                <a:solidFill>
                  <a:srgbClr val="222222"/>
                </a:solidFill>
                <a:effectLst/>
                <a:latin typeface="Source Han Sans"/>
              </a:rPr>
              <a:t>orsoldoon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 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貢献</a:t>
            </a:r>
            <a:r>
              <a:rPr lang="en-US" altLang="ja-JP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こうけん</a:t>
            </a:r>
            <a:endParaRPr lang="en-US" altLang="ja-JP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実現</a:t>
            </a:r>
            <a:r>
              <a:rPr lang="en-US" altLang="ja-JP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じつげん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 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特定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とくてい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実践的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じっせんてき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安全性</a:t>
            </a:r>
            <a:r>
              <a:rPr lang="en-US" altLang="ja-JP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あんぜんせい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39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166361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40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895575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増分統計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ぞうぶん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 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とうけい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活かし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-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いかす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 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特化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とっか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 </a:t>
            </a:r>
          </a:p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産業用</a:t>
            </a:r>
            <a:r>
              <a:rPr lang="en-US" altLang="ja-JP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  <a:cs typeface="Times New Roman" panose="02020603050405020304" pitchFamily="18" charset="0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さんぎょうよう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 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41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634417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600" dirty="0">
              <a:solidFill>
                <a:srgbClr val="0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自身の研究では，</a:t>
            </a:r>
            <a:r>
              <a:rPr lang="en-US" sz="1800" dirty="0">
                <a:solidFill>
                  <a:srgbClr val="212121"/>
                </a:solidFill>
                <a:effectLst/>
                <a:latin typeface="MS"/>
              </a:rPr>
              <a:t>CoAP/DTLS 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による </a:t>
            </a:r>
            <a:r>
              <a:rPr lang="en-US" sz="1800" dirty="0">
                <a:solidFill>
                  <a:srgbClr val="212121"/>
                </a:solidFill>
                <a:effectLst/>
                <a:latin typeface="MS"/>
              </a:rPr>
              <a:t>IoT 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通信を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たいしょう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とし，</a:t>
            </a:r>
            <a:r>
              <a:rPr lang="en-US" sz="1800" dirty="0">
                <a:solidFill>
                  <a:srgbClr val="212121"/>
                </a:solidFill>
                <a:effectLst/>
                <a:latin typeface="MS"/>
              </a:rPr>
              <a:t>UDP 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プロト コルの軽量な</a:t>
            </a:r>
            <a:r>
              <a:rPr lang="en-US" altLang="ja-JP" sz="1800" dirty="0">
                <a:solidFill>
                  <a:srgbClr val="212121"/>
                </a:solidFill>
                <a:effectLst/>
                <a:latin typeface="MS"/>
              </a:rPr>
              <a:t>Handshake 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やさいそう  せいぎょを悪用する攻撃を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そうてい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して，</a:t>
            </a:r>
            <a:r>
              <a:rPr lang="en-US" sz="1800" dirty="0">
                <a:solidFill>
                  <a:srgbClr val="212121"/>
                </a:solidFill>
                <a:effectLst/>
                <a:latin typeface="MS"/>
              </a:rPr>
              <a:t>CoAP/DTLS 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に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とっか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した機械 学習ベース</a:t>
            </a:r>
            <a:r>
              <a:rPr lang="en-US" sz="1800" dirty="0">
                <a:solidFill>
                  <a:srgbClr val="212121"/>
                </a:solidFill>
                <a:effectLst/>
                <a:latin typeface="MS"/>
              </a:rPr>
              <a:t>IDS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に取り組んでいる</a:t>
            </a:r>
            <a:r>
              <a:rPr lang="en-US" altLang="ja-JP" sz="1800" dirty="0">
                <a:solidFill>
                  <a:srgbClr val="212121"/>
                </a:solidFill>
                <a:effectLst/>
                <a:latin typeface="MS"/>
              </a:rPr>
              <a:t>.</a:t>
            </a:r>
            <a:r>
              <a:rPr lang="en-US" sz="1800" dirty="0">
                <a:solidFill>
                  <a:srgbClr val="212121"/>
                </a:solidFill>
                <a:effectLst/>
                <a:latin typeface="MS"/>
              </a:rPr>
              <a:t>Realguard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のシステムアーキテクチャや軽量な機械学習ベー スの </a:t>
            </a:r>
            <a:r>
              <a:rPr lang="en-US" sz="1800" dirty="0">
                <a:solidFill>
                  <a:srgbClr val="212121"/>
                </a:solidFill>
                <a:effectLst/>
                <a:latin typeface="MS"/>
              </a:rPr>
              <a:t>IDS 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を</a:t>
            </a:r>
            <a:r>
              <a:rPr lang="ja-JP" altLang="en-US" sz="2000" b="0" i="0">
                <a:solidFill>
                  <a:srgbClr val="222222"/>
                </a:solidFill>
                <a:effectLst/>
                <a:latin typeface="Source Han Sans"/>
              </a:rPr>
              <a:t>さんこう</a:t>
            </a:r>
            <a:r>
              <a:rPr lang="ja-JP" altLang="en-US" sz="1800">
                <a:solidFill>
                  <a:srgbClr val="212121"/>
                </a:solidFill>
                <a:effectLst/>
                <a:latin typeface="MS"/>
              </a:rPr>
              <a:t>にする</a:t>
            </a:r>
            <a:r>
              <a:rPr lang="en-US" altLang="ja-JP" sz="1800" dirty="0">
                <a:solidFill>
                  <a:srgbClr val="212121"/>
                </a:solidFill>
                <a:effectLst/>
                <a:latin typeface="MS"/>
              </a:rPr>
              <a:t>. </a:t>
            </a:r>
            <a:endParaRPr lang="ja-JP" altLang="en-US" sz="2000"/>
          </a:p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600" dirty="0">
              <a:solidFill>
                <a:srgbClr val="0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600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正常／悪意のあるトラフィックを区別するために、軽量な機械学習手法を用いて</a:t>
            </a:r>
            <a:r>
              <a:rPr lang="en-US" sz="1600" dirty="0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IDS</a:t>
            </a:r>
            <a:r>
              <a:rPr lang="ja-JP" altLang="en-US" sz="1600">
                <a:solidFill>
                  <a:srgbClr val="0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を開発・実装することを考えております。</a:t>
            </a:r>
            <a:endParaRPr lang="en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IoT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環境における二層セキュリティアーキテクチャの研究開発環境。</a:t>
            </a:r>
            <a:endParaRPr lang="mn-MN" altLang="ja-JP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第一層で機械学習ベースの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IDS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が全トラフィックを分析し攻撃を検知・遮断</a:t>
            </a:r>
            <a:r>
              <a:rPr lang="en-US" altLang="ja-JP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</a:t>
            </a:r>
            <a:r>
              <a:rPr lang="ja-JP" altLang="en-US" sz="1800" b="0" i="0" u="none" strike="noStrike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しゃだん</a:t>
            </a:r>
            <a:r>
              <a:rPr lang="en-US" altLang="ja-JP" sz="1800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)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、</a:t>
            </a:r>
            <a:endParaRPr lang="mn-MN" altLang="ja-JP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第二層で正常と判定されたトラフィックのみが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CoAP-DTLS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プロトコルで暗号化通信を行う。</a:t>
            </a:r>
            <a:endParaRPr lang="mn-MN" altLang="ja-JP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現在は開発段階で、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Raspberry Pi 3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台と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Ubuntu Server</a:t>
            </a:r>
            <a:r>
              <a:rPr lang="ja-JP" altLang="en-US" sz="1800" b="0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で構成され、手動による構成管理を実施している。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42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315352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>
                <a:effectLst/>
              </a:rPr>
              <a:t>従来の </a:t>
            </a:r>
            <a:r>
              <a:rPr lang="en-US" b="1" dirty="0">
                <a:effectLst/>
              </a:rPr>
              <a:t>NIDS </a:t>
            </a:r>
            <a:r>
              <a:rPr lang="ja-JP" altLang="en-US" b="1">
                <a:effectLst/>
              </a:rPr>
              <a:t>が </a:t>
            </a:r>
            <a:r>
              <a:rPr lang="en-US" b="1" dirty="0">
                <a:effectLst/>
              </a:rPr>
              <a:t>IoT </a:t>
            </a:r>
            <a:r>
              <a:rPr lang="ja-JP" altLang="en-US" b="1">
                <a:effectLst/>
              </a:rPr>
              <a:t>ゲートウェイで適さない理由</a:t>
            </a:r>
            <a:endParaRPr lang="mn-MN" altLang="ja-JP" b="1" dirty="0">
              <a:effectLst/>
            </a:endParaRPr>
          </a:p>
          <a:p>
            <a:r>
              <a:rPr lang="ja-JP" altLang="en-US" b="1"/>
              <a:t>従来の </a:t>
            </a:r>
            <a:r>
              <a:rPr lang="en-US" b="1" dirty="0"/>
              <a:t>NIDS </a:t>
            </a:r>
            <a:r>
              <a:rPr lang="ja-JP" altLang="en-US" b="1"/>
              <a:t>が </a:t>
            </a:r>
            <a:r>
              <a:rPr lang="en-US" b="1" dirty="0"/>
              <a:t>IoT </a:t>
            </a:r>
            <a:r>
              <a:rPr lang="ja-JP" altLang="en-US" b="1"/>
              <a:t>ゲートウェイで適さない理由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従来型 </a:t>
            </a:r>
            <a:r>
              <a:rPr lang="en-US" dirty="0"/>
              <a:t>NIDS </a:t>
            </a:r>
            <a:r>
              <a:rPr lang="ja-JP" altLang="en-US"/>
              <a:t>は：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高い </a:t>
            </a:r>
            <a:r>
              <a:rPr lang="en-US" b="1" dirty="0"/>
              <a:t>CPU </a:t>
            </a:r>
            <a:r>
              <a:rPr lang="ja-JP" altLang="en-US" b="1"/>
              <a:t>とメモリを必要とする</a:t>
            </a:r>
            <a:endParaRPr lang="ja-JP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リアルタイム監視には処理が遅い</a:t>
            </a:r>
            <a:endParaRPr lang="ja-JP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リソースが限られた </a:t>
            </a:r>
            <a:r>
              <a:rPr lang="en-US" b="1" dirty="0"/>
              <a:t>IoT </a:t>
            </a:r>
            <a:r>
              <a:rPr lang="ja-JP" altLang="en-US" b="1"/>
              <a:t>デバイスで動作しにくい</a:t>
            </a:r>
            <a:endParaRPr lang="ja-JP" altLang="en-US"/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したがって、</a:t>
            </a:r>
            <a:r>
              <a:rPr lang="ja-JP" altLang="en-US" b="1"/>
              <a:t>軽量で高速、低リソース消費のシステム</a:t>
            </a:r>
            <a:r>
              <a:rPr lang="ja-JP" altLang="en-US"/>
              <a:t> が求められる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43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374176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ffectLst/>
              </a:rPr>
              <a:t>Blocked List (BL)</a:t>
            </a:r>
            <a:r>
              <a:rPr lang="ja-JP" altLang="en-US">
                <a:effectLst/>
              </a:rPr>
              <a:t>通信を許可されない悪意のある</a:t>
            </a:r>
            <a:r>
              <a:rPr lang="en-US" dirty="0">
                <a:effectLst/>
              </a:rPr>
              <a:t>IP</a:t>
            </a:r>
            <a:r>
              <a:rPr lang="ja-JP" altLang="en-US">
                <a:effectLst/>
              </a:rPr>
              <a:t>アドレスのリスト。パケットを</a:t>
            </a:r>
            <a:r>
              <a:rPr lang="ja-JP" altLang="en-US" b="1">
                <a:effectLst/>
              </a:rPr>
              <a:t>即時破棄</a:t>
            </a:r>
            <a:endParaRPr lang="en-US" altLang="ja-JP" b="1" dirty="0">
              <a:effectLst/>
            </a:endParaRPr>
          </a:p>
          <a:p>
            <a:r>
              <a:rPr lang="en-US" b="1" dirty="0">
                <a:effectLst/>
              </a:rPr>
              <a:t>Suspicious List (SL)</a:t>
            </a:r>
            <a:r>
              <a:rPr lang="ja-JP" altLang="en-US">
                <a:effectLst/>
              </a:rPr>
              <a:t>攻撃（</a:t>
            </a:r>
            <a:r>
              <a:rPr lang="en-US" dirty="0">
                <a:effectLst/>
              </a:rPr>
              <a:t>DoS</a:t>
            </a:r>
            <a:r>
              <a:rPr lang="ja-JP" altLang="en-US">
                <a:effectLst/>
              </a:rPr>
              <a:t>など）の可能性がある</a:t>
            </a:r>
            <a:r>
              <a:rPr lang="en-US" dirty="0">
                <a:effectLst/>
              </a:rPr>
              <a:t>IP</a:t>
            </a:r>
            <a:r>
              <a:rPr lang="ja-JP" altLang="en-US">
                <a:effectLst/>
              </a:rPr>
              <a:t>アドレスのリスト。パケットを</a:t>
            </a:r>
            <a:r>
              <a:rPr lang="ja-JP" altLang="en-US" b="1">
                <a:effectLst/>
              </a:rPr>
              <a:t>監視・検証</a:t>
            </a:r>
            <a:endParaRPr lang="en-US" altLang="ja-JP" b="1" dirty="0">
              <a:effectLst/>
            </a:endParaRPr>
          </a:p>
          <a:p>
            <a:r>
              <a:rPr lang="en-US" b="1" dirty="0">
                <a:effectLst/>
              </a:rPr>
              <a:t>Trusted List (TL)</a:t>
            </a:r>
            <a:r>
              <a:rPr lang="ja-JP" altLang="en-US">
                <a:effectLst/>
              </a:rPr>
              <a:t>信頼できる安全な</a:t>
            </a:r>
            <a:r>
              <a:rPr lang="en-US" dirty="0">
                <a:effectLst/>
              </a:rPr>
              <a:t>IP</a:t>
            </a:r>
            <a:r>
              <a:rPr lang="ja-JP" altLang="en-US">
                <a:effectLst/>
              </a:rPr>
              <a:t>アドレスのリスト。パケットを</a:t>
            </a:r>
            <a:r>
              <a:rPr lang="ja-JP" altLang="en-US" b="1">
                <a:effectLst/>
              </a:rPr>
              <a:t>許可</a:t>
            </a:r>
            <a:endParaRPr lang="en-US" altLang="ja-JP" b="1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0" i="0">
                <a:solidFill>
                  <a:srgbClr val="404040"/>
                </a:solidFill>
                <a:effectLst/>
                <a:latin typeface="quote-cjk-patch"/>
              </a:rPr>
              <a:t>攻撃（</a:t>
            </a:r>
            <a:r>
              <a:rPr lang="en-US" b="0" i="0" dirty="0">
                <a:solidFill>
                  <a:srgbClr val="404040"/>
                </a:solidFill>
                <a:effectLst/>
                <a:latin typeface="quote-cjk-patch"/>
              </a:rPr>
              <a:t>DoS</a:t>
            </a:r>
            <a:r>
              <a:rPr lang="ja-JP" altLang="en-US" b="0" i="0">
                <a:solidFill>
                  <a:srgbClr val="404040"/>
                </a:solidFill>
                <a:effectLst/>
                <a:latin typeface="quote-cjk-patch"/>
              </a:rPr>
              <a:t>など）の可能性がある</a:t>
            </a:r>
            <a:r>
              <a:rPr lang="en-US" b="0" i="0" dirty="0">
                <a:solidFill>
                  <a:srgbClr val="404040"/>
                </a:solidFill>
                <a:effectLst/>
                <a:latin typeface="quote-cjk-patch"/>
              </a:rPr>
              <a:t>IP</a:t>
            </a:r>
            <a:r>
              <a:rPr lang="ja-JP" altLang="en-US" b="0" i="0">
                <a:solidFill>
                  <a:srgbClr val="404040"/>
                </a:solidFill>
                <a:effectLst/>
                <a:latin typeface="quote-cjk-patch"/>
              </a:rPr>
              <a:t>アドレスのリスト</a:t>
            </a:r>
            <a:r>
              <a:rPr lang="en-US" altLang="ja-JP" b="0" i="0" dirty="0">
                <a:solidFill>
                  <a:srgbClr val="404040"/>
                </a:solidFill>
                <a:effectLst/>
                <a:latin typeface="quote-cjk-patch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0" i="0" dirty="0">
                <a:solidFill>
                  <a:srgbClr val="404040"/>
                </a:solidFill>
                <a:effectLst/>
                <a:latin typeface="quote-cjk-patch"/>
              </a:rPr>
              <a:t>(</a:t>
            </a:r>
            <a:r>
              <a:rPr lang="ja-JP" altLang="en-US" sz="1200" b="0" i="0">
                <a:solidFill>
                  <a:srgbClr val="404040"/>
                </a:solidFill>
                <a:effectLst/>
                <a:latin typeface="quote-cjk-patch"/>
              </a:rPr>
              <a:t>クライアントが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quote-cjk-patch"/>
              </a:rPr>
              <a:t>DTLS</a:t>
            </a:r>
            <a:r>
              <a:rPr lang="ja-JP" altLang="en-US" sz="1200" b="0" i="0">
                <a:solidFill>
                  <a:srgbClr val="404040"/>
                </a:solidFill>
                <a:effectLst/>
                <a:latin typeface="quote-cjk-patch"/>
              </a:rPr>
              <a:t>通信を開始する際、</a:t>
            </a:r>
            <a:r>
              <a:rPr lang="ja-JP" altLang="en-US" sz="1200" b="1" i="0">
                <a:solidFill>
                  <a:srgbClr val="404040"/>
                </a:solidFill>
                <a:effectLst/>
                <a:latin typeface="quote-cjk-patch"/>
              </a:rPr>
              <a:t>認証要求（</a:t>
            </a:r>
            <a:r>
              <a:rPr lang="en-US" sz="1200" b="1" i="0" dirty="0">
                <a:solidFill>
                  <a:srgbClr val="404040"/>
                </a:solidFill>
                <a:effectLst/>
                <a:latin typeface="quote-cjk-patch"/>
              </a:rPr>
              <a:t>AuthREQ）</a:t>
            </a:r>
            <a:r>
              <a:rPr lang="ja-JP" altLang="en-US" sz="1200" b="0" i="0">
                <a:solidFill>
                  <a:srgbClr val="404040"/>
                </a:solidFill>
                <a:effectLst/>
                <a:latin typeface="quote-cjk-patch"/>
              </a:rPr>
              <a:t>を</a:t>
            </a:r>
            <a:r>
              <a:rPr lang="en-US" sz="1200" b="0" i="0" dirty="0">
                <a:solidFill>
                  <a:srgbClr val="404040"/>
                </a:solidFill>
                <a:effectLst/>
                <a:latin typeface="quote-cjk-patch"/>
              </a:rPr>
              <a:t>Trusted Party（TP）</a:t>
            </a:r>
            <a:r>
              <a:rPr lang="ja-JP" altLang="en-US" sz="1200" b="0" i="0">
                <a:solidFill>
                  <a:srgbClr val="404040"/>
                </a:solidFill>
                <a:effectLst/>
                <a:latin typeface="quote-cjk-patch"/>
              </a:rPr>
              <a:t>に送信</a:t>
            </a:r>
            <a:r>
              <a:rPr lang="en-US" altLang="ja-JP" sz="1200" b="0" i="0" dirty="0">
                <a:solidFill>
                  <a:srgbClr val="404040"/>
                </a:solidFill>
                <a:effectLst/>
                <a:latin typeface="quote-cjk-patch"/>
              </a:rPr>
              <a:t> )</a:t>
            </a:r>
            <a:endParaRPr lang="ja-JP" altLang="en-US" sz="1200" i="0" kern="1200">
              <a:solidFill>
                <a:srgbClr val="404040"/>
              </a:solidFill>
              <a:effectLst/>
              <a:latin typeface="+mj-ea"/>
              <a:ea typeface="+mn-ea"/>
              <a:cs typeface="+mn-cs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医師の診断結果：</a:t>
            </a:r>
            <a:endParaRPr lang="ja-JP" altLang="en-US" b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ja-JP" sz="16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38</a:t>
            </a:r>
            <a:r>
              <a:rPr lang="ja-JP" altLang="en-US" sz="1600" b="0" i="0" u="none" strike="noStrike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人</a:t>
            </a:r>
            <a:r>
              <a:rPr lang="ja-JP" altLang="en-US" sz="16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を病気と正しく診断（</a:t>
            </a:r>
            <a:r>
              <a:rPr lang="en-US" sz="1600" b="0" i="0" u="none" strike="noStrik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TP）True</a:t>
            </a:r>
            <a:r>
              <a:rPr lang="en-US" sz="16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 positives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2</a:t>
            </a:r>
            <a:r>
              <a:rPr lang="ja-JP" altLang="en-US" sz="1600" b="0" i="0" u="none" strike="noStrike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人</a:t>
            </a:r>
            <a:r>
              <a:rPr lang="ja-JP" altLang="en-US" sz="16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の病気を見逃した（</a:t>
            </a:r>
            <a:r>
              <a:rPr lang="en-US" sz="16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FN） False positives</a:t>
            </a: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55</a:t>
            </a:r>
            <a:r>
              <a:rPr lang="ja-JP" altLang="en-US" sz="1600" b="0" i="0" u="none" strike="noStrike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人</a:t>
            </a:r>
            <a:r>
              <a:rPr lang="ja-JP" altLang="en-US" sz="16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を健康と正しく判定（</a:t>
            </a:r>
            <a:r>
              <a:rPr lang="en-US" sz="1600" b="0" i="0" u="none" strike="noStrik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TN）True</a:t>
            </a:r>
            <a:r>
              <a:rPr lang="en-US" sz="16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 negatives</a:t>
            </a:r>
            <a:endParaRPr lang="en-US" b="0" dirty="0">
              <a:effectLst/>
            </a:endParaRPr>
          </a:p>
          <a:p>
            <a:r>
              <a:rPr lang="en-US" sz="16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5</a:t>
            </a:r>
            <a:r>
              <a:rPr lang="ja-JP" altLang="en-US" sz="1600" b="0" i="0" u="none" strike="noStrike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人</a:t>
            </a:r>
            <a:r>
              <a:rPr lang="ja-JP" altLang="en-US" sz="16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を誤って病気と判定（</a:t>
            </a:r>
            <a:r>
              <a:rPr lang="en-US" sz="1600" b="0" i="0" u="none" strike="noStrike" dirty="0" err="1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FP）False</a:t>
            </a:r>
            <a:r>
              <a:rPr lang="en-US" sz="1600" b="0" i="0" u="none" strike="noStrike" dirty="0">
                <a:solidFill>
                  <a:srgbClr val="FF0000"/>
                </a:solidFill>
                <a:effectLst/>
                <a:latin typeface="Calibri" panose="020F0502020204030204" pitchFamily="34" charset="0"/>
              </a:rPr>
              <a:t> negatives </a:t>
            </a:r>
            <a:endParaRPr lang="en-JP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44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824119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時間的特徴</a:t>
            </a:r>
            <a:r>
              <a:rPr lang="en-US" altLang="ja-JP" b="1" dirty="0"/>
              <a:t>:</a:t>
            </a:r>
            <a:r>
              <a:rPr lang="ja-JP" altLang="en-US"/>
              <a:t> パケット間の時間間隔 </a:t>
            </a:r>
            <a:r>
              <a:rPr lang="en-US" altLang="ja-JP" dirty="0"/>
              <a:t>(</a:t>
            </a:r>
            <a:r>
              <a:rPr lang="en-US" dirty="0"/>
              <a:t>Inter-Arrival Time)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サイズ特徴</a:t>
            </a:r>
            <a:r>
              <a:rPr lang="en-US" altLang="ja-JP" b="1" dirty="0"/>
              <a:t>:</a:t>
            </a:r>
            <a:r>
              <a:rPr lang="ja-JP" altLang="en-US"/>
              <a:t> パケット長 </a:t>
            </a:r>
            <a:r>
              <a:rPr lang="en-US" altLang="ja-JP" dirty="0"/>
              <a:t>(</a:t>
            </a:r>
            <a:r>
              <a:rPr lang="en-US" dirty="0"/>
              <a:t>Packet Length)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プロトコル特徴</a:t>
            </a:r>
            <a:r>
              <a:rPr lang="en-US" altLang="ja-JP" b="1" dirty="0"/>
              <a:t>:</a:t>
            </a:r>
            <a:r>
              <a:rPr lang="ja-JP" altLang="en-US"/>
              <a:t> 使用されているネットワークプロトコル</a:t>
            </a:r>
          </a:p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45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476037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拡張-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かくちょう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 </a:t>
            </a:r>
            <a:r>
              <a:rPr lang="en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転送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てんそう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 –transfer ,</a:t>
            </a:r>
            <a:r>
              <a:rPr lang="en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確保-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かくほ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 </a:t>
            </a:r>
            <a:r>
              <a:rPr lang="en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保護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ほご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 </a:t>
            </a:r>
            <a:r>
              <a:rPr lang="en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運用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うんよう</a:t>
            </a:r>
            <a:endParaRPr lang="en-US" altLang="ja-JP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endParaRPr lang="en-US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endParaRPr lang="en-US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隠しスライドでいい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46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695918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 sz="1600" dirty="0">
                <a:latin typeface="Meiryo" panose="020B0604030504040204" pitchFamily="34" charset="-128"/>
                <a:ea typeface="Meiryo" panose="020B0604030504040204" pitchFamily="34" charset="-128"/>
              </a:rPr>
              <a:t>単純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たんじゅん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-</a:t>
            </a:r>
            <a:r>
              <a:rPr lang="en-US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simple; plain; 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入力層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保持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ほじ、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隠れーかくれー</a:t>
            </a:r>
            <a:r>
              <a:rPr lang="en-US" altLang="ja-JP" b="0" i="0" dirty="0" err="1">
                <a:solidFill>
                  <a:srgbClr val="222222"/>
                </a:solidFill>
                <a:effectLst/>
                <a:latin typeface="Source Han Sans"/>
              </a:rPr>
              <a:t>hidder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 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圧縮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あっしゅく</a:t>
            </a:r>
            <a:endParaRPr lang="en-US" altLang="ja-JP" b="0" i="0" dirty="0">
              <a:solidFill>
                <a:srgbClr val="222222"/>
              </a:solidFill>
              <a:effectLst/>
              <a:latin typeface="Source Han Sans"/>
            </a:endParaRPr>
          </a:p>
          <a:p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効率的</a:t>
            </a:r>
            <a:r>
              <a:rPr lang="en-US" altLang="ja-JP" sz="1600" b="0" i="0" dirty="0">
                <a:solidFill>
                  <a:srgbClr val="222222"/>
                </a:solidFill>
                <a:effectLst/>
                <a:latin typeface="Source Han Sans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こうりつてき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-</a:t>
            </a:r>
            <a:r>
              <a:rPr lang="en-US" altLang="ja-JP" b="0" i="0" dirty="0" err="1">
                <a:solidFill>
                  <a:srgbClr val="222222"/>
                </a:solidFill>
                <a:effectLst/>
                <a:latin typeface="Source Han Sans"/>
              </a:rPr>
              <a:t>effict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 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47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568094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 sz="1600" dirty="0">
                <a:latin typeface="Meiryo" panose="020B0604030504040204" pitchFamily="34" charset="-128"/>
                <a:ea typeface="Meiryo" panose="020B0604030504040204" pitchFamily="34" charset="-128"/>
              </a:rPr>
              <a:t>構築-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こうちく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 </a:t>
            </a:r>
            <a:r>
              <a:rPr lang="en-JP" sz="16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競合-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きょうごう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 </a:t>
            </a:r>
            <a:r>
              <a:rPr lang="ja-JP" altLang="en-US" b="0" i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じつ うんよう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48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299037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絞り込むー</a:t>
            </a:r>
            <a:r>
              <a:rPr lang="ja-JP" altLang="en-US" sz="3600" b="1" i="0">
                <a:solidFill>
                  <a:srgbClr val="222222"/>
                </a:solidFill>
                <a:effectLst/>
                <a:latin typeface="Source Han Sans"/>
              </a:rPr>
              <a:t>しぼりこむ、</a:t>
            </a:r>
            <a:r>
              <a:rPr lang="ja-JP" altLang="en-US" sz="3600">
                <a:latin typeface="Meiryo" panose="020B0604030504040204" pitchFamily="34" charset="-128"/>
                <a:ea typeface="Meiryo" panose="020B0604030504040204" pitchFamily="34" charset="-128"/>
              </a:rPr>
              <a:t>考慮ー</a:t>
            </a:r>
            <a:r>
              <a:rPr lang="ja-JP" altLang="en-US" sz="4000" b="0" i="0">
                <a:solidFill>
                  <a:srgbClr val="222222"/>
                </a:solidFill>
                <a:effectLst/>
                <a:latin typeface="Source Han Sans"/>
              </a:rPr>
              <a:t>こうりょ</a:t>
            </a:r>
            <a:r>
              <a:rPr lang="en-US" altLang="ja-JP" sz="4000" b="0" i="0" dirty="0">
                <a:solidFill>
                  <a:srgbClr val="222222"/>
                </a:solidFill>
                <a:effectLst/>
                <a:latin typeface="Source Han Sans"/>
              </a:rPr>
              <a:t>- </a:t>
            </a:r>
            <a:r>
              <a:rPr lang="en-US" altLang="ja-JP" sz="4000" b="0" i="0" dirty="0" err="1">
                <a:solidFill>
                  <a:srgbClr val="222222"/>
                </a:solidFill>
                <a:effectLst/>
                <a:latin typeface="Source Han Sans"/>
              </a:rPr>
              <a:t>consedr</a:t>
            </a:r>
            <a:r>
              <a:rPr lang="en-US" altLang="ja-JP" sz="4000" b="0" i="0" dirty="0">
                <a:solidFill>
                  <a:srgbClr val="222222"/>
                </a:solidFill>
                <a:effectLst/>
                <a:latin typeface="Source Han Sans"/>
              </a:rPr>
              <a:t>,</a:t>
            </a:r>
            <a:r>
              <a:rPr lang="ja-JP" altLang="en-US" sz="4000">
                <a:latin typeface="Meiryo" panose="020B0604030504040204" pitchFamily="34" charset="-128"/>
                <a:ea typeface="Meiryo" panose="020B0604030504040204" pitchFamily="34" charset="-128"/>
              </a:rPr>
              <a:t>保持</a:t>
            </a:r>
            <a:r>
              <a:rPr lang="en-US" altLang="ja-JP" sz="40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sz="4000" b="0" i="0">
                <a:solidFill>
                  <a:srgbClr val="222222"/>
                </a:solidFill>
                <a:effectLst/>
                <a:latin typeface="Source Han Sans"/>
              </a:rPr>
              <a:t>ほじ</a:t>
            </a:r>
            <a:r>
              <a:rPr lang="en-US" altLang="ja-JP" sz="4000" b="0" i="0" dirty="0">
                <a:solidFill>
                  <a:srgbClr val="222222"/>
                </a:solidFill>
                <a:effectLst/>
                <a:latin typeface="Source Han Sans"/>
              </a:rPr>
              <a:t> </a:t>
            </a:r>
            <a:r>
              <a:rPr lang="mn-MN" altLang="ja-JP" sz="4000" b="0" i="0" dirty="0">
                <a:solidFill>
                  <a:srgbClr val="222222"/>
                </a:solidFill>
                <a:effectLst/>
                <a:latin typeface="Source Han Sans"/>
              </a:rPr>
              <a:t>хадгалах </a:t>
            </a:r>
            <a:endParaRPr lang="en-JP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50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7251396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効果的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こうかてき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Source Han Sans"/>
              </a:rPr>
              <a:t>,</a:t>
            </a:r>
            <a:r>
              <a:rPr lang="ja-JP" altLang="en-US" sz="1600">
                <a:latin typeface="Meiryo" panose="020B0604030504040204" pitchFamily="34" charset="-128"/>
                <a:ea typeface="Meiryo" panose="020B0604030504040204" pitchFamily="34" charset="-128"/>
              </a:rPr>
              <a:t>捉える</a:t>
            </a:r>
            <a:r>
              <a:rPr lang="en-US" altLang="ja-JP" sz="1600" dirty="0">
                <a:latin typeface="Meiryo" panose="020B0604030504040204" pitchFamily="34" charset="-128"/>
                <a:ea typeface="Meiryo" panose="020B0604030504040204" pitchFamily="34" charset="-128"/>
              </a:rPr>
              <a:t>-</a:t>
            </a:r>
            <a:r>
              <a:rPr lang="ja-JP" altLang="en-US" b="0" i="0">
                <a:solidFill>
                  <a:srgbClr val="222222"/>
                </a:solidFill>
                <a:effectLst/>
                <a:latin typeface="Source Han Sans"/>
              </a:rPr>
              <a:t>とらえるー</a:t>
            </a:r>
            <a:r>
              <a:rPr lang="mn-MN" altLang="ja-JP" b="0" i="0" dirty="0">
                <a:solidFill>
                  <a:srgbClr val="222222"/>
                </a:solidFill>
                <a:effectLst/>
                <a:latin typeface="Source Han Sans"/>
              </a:rPr>
              <a:t>бариж авах </a:t>
            </a: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1F159-79E2-E24F-9993-34E52B426EB4}" type="slidenum">
              <a:rPr lang="en-JP" smtClean="0"/>
              <a:t>54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46915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B03B-5E2A-77A9-F150-37D5239C5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346200"/>
            <a:ext cx="8229600" cy="286543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A6E60-F716-96DB-3A90-434F833A5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22763"/>
            <a:ext cx="8229600" cy="19859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BDA30-DADE-FC20-E9BC-02B5AFE60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28C06-48E9-3D41-B8CF-A482EEBDC039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18956-EA74-B435-56C2-1DDEB644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D552-916C-04C8-F4CC-5BC7D9A7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5059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1934-A847-B48D-6CE4-16A37D475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4E95F-1CBE-52F6-70E2-799B57A36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E4EEC-2B4F-E761-EED8-D27E51874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F83F4-DE50-AA43-B82E-9FB2DBC2CE5F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3E2A1-971F-5FA2-3606-1C7A29095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B993B-3651-7B04-7ABD-DBA3D9D6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1256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C3A3-3A3A-C2F6-83D2-2D9C269C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04" y="2051050"/>
            <a:ext cx="9464278" cy="3424238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92E6B-8BC8-CBB8-0624-26FDF0B32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904" y="5507039"/>
            <a:ext cx="9464278" cy="180022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84564-0AAD-C96B-087C-EF767B21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D197D-D0CC-F048-B58E-231C07808BA0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9C993-FFFA-B8E2-CA0A-920E8E62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A688E-0D0F-4DE9-AC25-2D31DAA4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1737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3165-4B66-38FA-5B4F-176A35D83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D8226-C265-D591-C4B9-D39856755C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857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2C145-31AC-2055-1579-9B6D14C2C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43550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EC17D-6CAD-A7AA-0B3E-9B5CCF0C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F62DD-CB3C-F24A-AAD4-E369697FCC23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63C0B-702D-DB6B-FBDE-AC82F0EC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28D42-6D39-CDB9-411F-015F25F7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13531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17A9B-B0B9-6C6B-BDA1-C287D3537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8" y="438150"/>
            <a:ext cx="9464278" cy="1590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25807-BD9F-D6FB-9A9C-962B17831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047" y="2017713"/>
            <a:ext cx="4642247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DFEAA-6307-69A1-859E-F5E4BF053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6047" y="3006725"/>
            <a:ext cx="4642247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B50131-C410-E45E-D8B4-2A9790914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5457" y="2017713"/>
            <a:ext cx="4664869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D5A9F-EACE-C594-B90B-BB943554B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5457" y="3006725"/>
            <a:ext cx="4664869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190691-23DC-D60C-EE7A-665DB192A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FEE4-FFD8-7447-8582-A5A29728C4CD}" type="datetime1">
              <a:rPr lang="en-US" smtClean="0"/>
              <a:t>1/6/26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DF6F75-E32C-5736-CE6C-F6A7EA7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D5A1E5-2095-694C-ECF7-DDC76BC4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599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E106-BA8D-D14C-C286-0AC9CD593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A72F0-97EC-ED19-1C0D-9046FCBD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D4F9-2C49-8E45-BFDA-CD39570DA728}" type="datetime1">
              <a:rPr lang="en-US" smtClean="0"/>
              <a:t>1/6/26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42B98-859B-0EBD-6CF8-0DF9D7D54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724F9-FC87-DEE7-6876-59FACF21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4072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9E265-8A1E-126F-5C09-5B90BBBA2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332B6-23BC-A545-9485-49BA085B001C}" type="datetime1">
              <a:rPr lang="en-US" smtClean="0"/>
              <a:t>1/6/26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1D7992-22A0-90BB-44C7-10E26C9F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25659-485B-B3CA-F00A-EDF5BEAA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5704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5BC7-BD6B-A930-277F-682F6703F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9D9AE-E11E-FBFB-D17C-3CF7F8D41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3DE840-B659-5F6C-6DB6-1B13EB87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15BB6-495B-3247-0770-5162FBF9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FA13E-4FAB-3E4C-BC59-E1BABF76900F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57993-BBB3-8E85-57E3-881361ED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46DB4-EB93-D0C3-E8F3-19449977C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0641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B935-CF5B-C4FA-7B4E-4A6705BED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25753A-43E0-4269-75EE-5BFFEAD00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E8D53-EC37-454D-1279-19C246053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948F2-B487-B672-415B-702FFBC9C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C9FA1-CBF0-4443-95B6-4B7CEF8AD802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5A789-2675-555A-1BD7-6111FE7F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2CC77-6121-73B5-78C8-6F03DF49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36760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5F83B-878C-E82A-C7B3-B1CD3B16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5F162-E4DD-976B-F27C-CD7320E09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BE042-E800-5342-9186-9E8DE359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8A058-A285-284D-9662-57855FD4B561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F1388-5E1D-61AE-0901-08487A44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88250-6BCF-229B-85F6-AEEDFD31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7626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68CD8E-A27C-4CD8-A6CB-B8ACA12D1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172" y="438150"/>
            <a:ext cx="2365772" cy="6973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1C54F-BF1E-7916-6850-78EE07FA4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856" y="438150"/>
            <a:ext cx="6983016" cy="6973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7C8C6-94AE-15B8-53E2-10B0752C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FDC0C-2B4B-E346-A163-DC157A58588E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97973-C064-1B20-C51A-A6B877C5D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7C5FD-CA9A-5BDA-726D-149EE157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8203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19F4-B37F-8A25-15D9-75692BC9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6C4BC-5165-4048-B82E-3BBC4C000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EDE61E-AAF1-884D-ABF0-FC33E23748E8}" type="datetime1">
              <a:rPr lang="en-US" smtClean="0"/>
              <a:t>1/6/26</a:t>
            </a:fld>
            <a:endParaRPr lang="en-JP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4AD2E-4CE1-65C4-32F4-585D92B2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6F8AA2-B45D-83B0-0159-73C9F7FF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B9C13-1D13-1243-A0D0-B9A0896330A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59758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B486-E7E6-D675-4DA2-ED562A886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346200"/>
            <a:ext cx="8229600" cy="2865438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7B56D-63D2-5361-47AB-2F3DA32B2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22763"/>
            <a:ext cx="8229600" cy="19859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90878-4674-F697-B5AF-810D856A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81B2D-D5E5-8B4D-8C39-64C71D19A01A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32F67-5918-95D1-FC3F-1E936702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5DF42-1E65-E9E8-8829-7BAC4FDA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12333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204B-7F65-A14A-5C65-581FAC0B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43BF4-84FB-EC1E-C713-ACF8207AC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3CD54-2628-1132-FF83-57438FB7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45A9-6E4D-2A42-9A35-4CDBDC80A5D5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BA0A3-A09A-4B43-2CFE-7DAA3A5E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B7D9C-E569-09D2-A1E4-C91D91FD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91083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F2732-45C7-9FB9-9A02-6E34877E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04" y="2051050"/>
            <a:ext cx="9464278" cy="3424238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CFC36-F9F0-3091-1F4F-0B811466D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904" y="5507039"/>
            <a:ext cx="9464278" cy="180022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EFF21-0828-1873-7BFB-448D8592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7C1D-4419-C442-9E02-FB0318C3BA24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46096-70EA-83C4-7C7D-B274AA1D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0163C-18CC-F808-A373-42F6F907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35340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0EB90-98F6-A59A-2FD3-C52B7DFC3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8E10E-0A69-950E-AF1E-3E44D67C7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857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CDD09-D6C4-FD93-43B3-67664781A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43550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1D200-87AA-9A83-C3FF-18EA0376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69BD-8218-DC4E-97C2-155B71896995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17384-8C6C-F224-1552-DD2D39F1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878D5-76AC-2AB1-254E-B4C230DB7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03411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DF09-6E74-9EEF-0E9B-9FF8D30F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8" y="438150"/>
            <a:ext cx="9464278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D155E-AC72-3CF6-5AF5-C3AFB9010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047" y="2017713"/>
            <a:ext cx="4642247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AF9F2-A00A-A751-1CF5-A1C78B9BC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6047" y="3006725"/>
            <a:ext cx="4642247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2830FB-6277-AD9D-2EC4-FB33A7E36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5457" y="2017713"/>
            <a:ext cx="4664869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A5E510-8C54-9436-1524-452BFF14E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5457" y="3006725"/>
            <a:ext cx="4664869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DE775A-DBFA-FAED-0BFC-60FB8091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997C4-E9A3-3F42-B5F2-2B4E142B59BC}" type="datetime1">
              <a:rPr lang="en-US" smtClean="0"/>
              <a:t>1/6/26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A908A-87FC-B2DF-1F3F-3BEA56646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D52DAB-9ABD-731C-8315-7E72037D1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42210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019B-34F2-1877-AEA1-329AAC5E7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85E48-F416-E30C-752E-4919D04A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473E3-22E1-674E-8FFD-3809CC987FB2}" type="datetime1">
              <a:rPr lang="en-US" smtClean="0"/>
              <a:t>1/6/26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D77CA-379D-64F3-830F-543076A0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3A1D9-0F70-687E-D1D3-46EDE421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41499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45BD9-2CFC-B9BA-5395-014CC76B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C550-90C0-1F49-B4B0-D11C91DA19ED}" type="datetime1">
              <a:rPr lang="en-US" smtClean="0"/>
              <a:t>1/6/26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94B1C-749F-866A-0AA4-0B57BFFD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F7E6F-2A42-2D07-AE3B-9F6CD093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061763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86CAA-AC40-283D-313F-7BB784CF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9D07E-C75F-7E29-F7B9-A676C89D9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E8002-B3AA-3F49-8DE8-04D509247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74855-190C-5440-11A1-8E4EFC5C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BC0-DEE5-4541-B0CC-18CDD0E66A34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BB797-9E5E-D15C-7A1B-C20A2E18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14BB5-C07B-B57D-A3B8-FE2FC01CD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65270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BA2C-9A5A-B384-BDF9-D27E6BE8F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025D70-7DE4-F565-1491-EEA841A20F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48444-B2F8-ED49-87C4-A2D5017B6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8E227-5C9C-227A-8D27-BE359B1D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7A7E9-D8D8-0841-82A8-8D5C509ABE46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1E6F6-D04F-EAC1-758B-BFC872D8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59617-AF52-F08A-9A2F-F294A237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97724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EE5D8-96AC-D912-21E6-217B7D24D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559CB-9BBE-7BCD-9B6C-157B46F03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24E83-40E6-6F51-51D2-B96CE5D2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6D3CB-7821-5246-897A-370FFE78AA1C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79D22-7437-AFBA-69C0-171B3281C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27287-1FCF-BA26-A565-589C23FD1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629864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421F2-005D-7D58-8776-EDAA1CB01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172" y="438150"/>
            <a:ext cx="2365772" cy="697388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BF8E0-D45C-C232-7DCE-CD5C6C839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856" y="438150"/>
            <a:ext cx="6983016" cy="6973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755D6-32F0-C701-20C9-DD2A04F8B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A01D9-3A44-9A44-8472-D71C81B384EF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1231E-D726-648E-FC50-F49B8635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F46D5-992B-CB8D-4442-07A09D23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877449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52F5-CDFA-49AC-FFC1-28931DA6B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12FE2-2105-46AC-05D2-9F33BA4E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FB75-C1B4-8A40-9BCC-8979E61F8CFE}" type="datetime1">
              <a:rPr lang="en-US" smtClean="0"/>
              <a:t>1/6/26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8C46B-7951-528E-4449-5BF16E76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3AAD1-A609-2D10-3FB6-95A891517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747541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4F2E6-44DD-B328-322C-2A18872CD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346200"/>
            <a:ext cx="8229600" cy="286543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0C367-58A6-3597-28E2-BA2E818F6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22763"/>
            <a:ext cx="8229600" cy="19859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67042-B0A7-6D29-6A2C-706161083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5EAE3-C9C9-1D4E-8614-E28BDA395A19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89067-ADB8-EF9F-7C68-27FC8162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ADAD0-B40A-E867-E381-E5559CEB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765034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F9284-2DEF-8153-8A50-7D6EEE51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4B1F6-5627-1A9A-3632-6751D08AF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81591-C904-5AF9-AD6F-E8437A41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4E81-407D-DE44-8C24-F86098ED2E3F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E2106-7EB2-CE94-550E-ADDE5EBE7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48E5E-7355-38E4-74A2-25DB718C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590640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348E-D736-B452-D519-9379E5D9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04" y="2051050"/>
            <a:ext cx="9464278" cy="3424238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B9153-DC76-FF33-69E9-C4FD63A50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904" y="5507039"/>
            <a:ext cx="9464278" cy="180022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4CAE8-B1E8-E412-454E-BFBF10E6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267B-9CD0-EF49-9E3E-452AEF61EE4B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1944-C26F-8114-D701-0A7778E3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182A5-3E7A-F308-20D4-6B1AE6B32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191429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9479-A3BB-40AF-9563-16F4F075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8161B-C994-C511-4F18-EE2F11C2A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857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1853F-C0CF-232B-F046-CDB857CFC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43550" y="2190750"/>
            <a:ext cx="4674394" cy="5221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54220-4C15-ABFB-8541-CF5D41A8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272C8-242E-054B-BCAF-8577726E83C4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6DA8F-E5B2-F3CB-0861-3EB67548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0B561-28D4-9770-AD79-18C19A104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691448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50E54-BAE3-6C83-1934-C2B9BE73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8" y="438150"/>
            <a:ext cx="9464278" cy="15906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27568-E3A8-2660-0024-AA7CB0AB0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047" y="2017713"/>
            <a:ext cx="4642247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56838-DE89-E1CD-A89A-6EE71A24B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6047" y="3006725"/>
            <a:ext cx="4642247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7F0053-A9EA-D984-B7E7-199CEE22C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5457" y="2017713"/>
            <a:ext cx="4664869" cy="9890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19BC5-6B57-EA04-C738-CFE9FA209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5457" y="3006725"/>
            <a:ext cx="4664869" cy="442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A903D-9866-A8F7-B58A-553BA3669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F6197-3FC5-324C-BDBB-3602A38385D4}" type="datetime1">
              <a:rPr lang="en-US" smtClean="0"/>
              <a:t>1/6/26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1DAD1F-CDE7-B67E-4620-42CADC72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60AD52-59BA-E0A0-60E3-C02EAB153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55775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1318-C10D-F870-45EE-2E19C47C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F5909-9C1B-7404-B382-6C896108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9B82-91F1-E44C-B246-FEDB19454D51}" type="datetime1">
              <a:rPr lang="en-US" smtClean="0"/>
              <a:t>1/6/26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BC8FF-A46A-994C-8DC7-94CF7337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48D87-A3BF-C033-E88A-970DEF6B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306702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D9D58-ECBD-BB6D-1ADC-4401DCDB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B01F-2C5E-D34C-B604-03AC5CB7FCD1}" type="datetime1">
              <a:rPr lang="en-US" smtClean="0"/>
              <a:t>1/6/26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726D8-C730-4556-7F4F-12A5C0BB8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AF386-89B2-7DEA-A137-846C7DB5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595649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9F08-727E-A0B6-2EF1-43C15269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94813-847F-919C-8424-F54104550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9BC44-9D1D-EECC-D98E-29FA513A4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389DC-D12B-65DA-4288-BA19B96A6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A0D6D-04BE-2647-B515-18E6EAFE1DBE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5EF9E-EB64-0F08-90A8-A7F84A28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DB0DF-CC8E-D1C6-8ED1-17D606079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900514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E09F7-955C-B9F8-1461-CE7843D1F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47" y="549275"/>
            <a:ext cx="3538538" cy="191928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CB3ABF-1462-6370-55BE-4D92309F3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1184275"/>
            <a:ext cx="5555456" cy="58483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85545-A0CE-AD88-13FB-CDF7A004B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6047" y="2468564"/>
            <a:ext cx="3538538" cy="4573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2DAF6-0025-C98F-D979-C1ABF3E74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FB3B-A5EA-AF41-A254-247C3988087B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2B7F0-2F12-0322-0B3F-FA1967A8F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CD900-15F6-0971-230F-097CD835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52942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6D5E7-AA96-29B6-567C-A4E5BEAE7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908A4-3351-DD44-D8F1-DC2F16255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59147-83CE-ECB5-D29C-B1CDA7BCC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6443-F4A6-C64C-B0E9-3B238EA819FE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DBC6-DE9D-F5B1-53AD-E6B1520EA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064D3-889E-116E-7472-8EFB59612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974166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E7053-7825-F71D-BBFF-6B9453DED7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172" y="438150"/>
            <a:ext cx="2365772" cy="6973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85F046-A990-0CD5-091C-97B2815EA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856" y="438150"/>
            <a:ext cx="6983016" cy="6973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B9617-F979-D30A-CFA2-16DFEC8FC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031EA-17C8-0A4F-AE21-D45158ED2220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0F11A-49AB-4B5E-743C-C2A9D8026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B88B5-45FD-99B9-02B3-AC1CA9C6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042095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346836"/>
            <a:ext cx="932688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22446"/>
            <a:ext cx="82296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9765C-3D97-5540-ABF0-223CE55BA16E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16857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0B296-DC36-8345-8E0D-8DF03FA5664C}" type="datetime1">
              <a:rPr lang="en-US" smtClean="0"/>
              <a:pPr/>
              <a:t>1/6/26</a:t>
            </a:fld>
            <a:endParaRPr lang="en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BB44241B-2579-694C-B40C-A1E3D5F0E4EC}" type="slidenum">
              <a:rPr lang="en-JP" smtClean="0"/>
              <a:pPr/>
              <a:t>‹#›</a:t>
            </a:fld>
            <a:endParaRPr lang="en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28056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2051688"/>
            <a:ext cx="946404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5507358"/>
            <a:ext cx="946404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6521-4FC8-764E-BB1F-57594C671824}" type="datetime1">
              <a:rPr lang="en-US" smtClean="0"/>
              <a:t>1/6/26</a:t>
            </a:fld>
            <a:endParaRPr lang="en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‹#›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1554220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2190750"/>
            <a:ext cx="46634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2190750"/>
            <a:ext cx="46634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AFDF2-1198-3B4D-B568-A2E3C3AD01CE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49630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38152"/>
            <a:ext cx="946404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2017396"/>
            <a:ext cx="4642008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3006090"/>
            <a:ext cx="4642008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2017396"/>
            <a:ext cx="466486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3006090"/>
            <a:ext cx="4664869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826E-8B34-CD42-B22B-92207F7EE9A4}" type="datetime1">
              <a:rPr lang="en-US" smtClean="0"/>
              <a:t>1/6/26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24312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B4929-3879-8141-8AAE-20EE1616273B}" type="datetime1">
              <a:rPr lang="en-US" smtClean="0"/>
              <a:t>1/6/26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480971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90B08-E463-CB4B-84C4-1A68FF584F65}" type="datetime1">
              <a:rPr lang="en-US" smtClean="0"/>
              <a:t>1/6/26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080363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48640"/>
            <a:ext cx="353901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184912"/>
            <a:ext cx="555498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468880"/>
            <a:ext cx="353901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30C7-1DAA-D245-B66F-97CC5DC42346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0558659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548640"/>
            <a:ext cx="353901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184912"/>
            <a:ext cx="555498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468880"/>
            <a:ext cx="353901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CAC79-2202-944F-A05D-F5D8BC2531DE}" type="datetime1">
              <a:rPr lang="en-US" smtClean="0"/>
              <a:t>1/6/26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491579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3F2E-CB71-164B-9B7B-8EE15B11C111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415362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438150"/>
            <a:ext cx="236601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438150"/>
            <a:ext cx="696087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DD0A7-161A-564E-A576-D412E9CE08DF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2560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B27D3-9C3C-69A7-EBEE-63DA64E0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2E0D0-562C-EDAE-7374-6F22CC50A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856" y="2190750"/>
            <a:ext cx="9463088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5FF2E-3FB9-33EF-4D7E-48614A8F0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856" y="7627938"/>
            <a:ext cx="2468166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F1AF847B-2E0D-2F4C-B677-A794587F37D6}" type="datetime1">
              <a:rPr lang="en-US" smtClean="0"/>
              <a:pPr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DE953-0E55-7A84-F14A-91EE84C82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979" y="7627938"/>
            <a:ext cx="370284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85BCA-A32E-1B1D-A537-1289087DF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779" y="7627938"/>
            <a:ext cx="24681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9F6B9C13-1D13-1243-A0D0-B9A0896330AC}" type="slidenum">
              <a:rPr lang="en-JP" smtClean="0"/>
              <a:pPr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1009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ED023-492F-F0DC-6E06-5E07114DD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856" y="2190750"/>
            <a:ext cx="9463088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D8022-1832-BC57-EA9F-1B5978FC4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856" y="7627938"/>
            <a:ext cx="2468166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1850F-F756-D04A-A678-2A969394E806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E87C8-C564-198E-144C-DBD0290E2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979" y="7627938"/>
            <a:ext cx="370284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4661F-7ACC-800F-4349-0E9B012E5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779" y="7627938"/>
            <a:ext cx="24681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6F2A-F6DB-8C4D-8FEF-34A665CD3D52}" type="slidenum">
              <a:rPr lang="en-JP" smtClean="0"/>
              <a:t>‹#›</a:t>
            </a:fld>
            <a:endParaRPr lang="en-JP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2A1CFA1-CAE1-4D8F-3F30-E8A8DDA43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758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940023-088D-65EA-CD4F-F232CAD5D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856" y="438150"/>
            <a:ext cx="9463088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183F3-FCAD-0675-E3D0-F482548A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856" y="2190750"/>
            <a:ext cx="9463088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E8941-D270-D9AC-1D41-715AA9CB3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856" y="7627938"/>
            <a:ext cx="2468166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0EC56-3911-0E40-A861-6727CDA1E4C2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62580-155A-50B4-79DE-EAE97E443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979" y="7627938"/>
            <a:ext cx="370284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589F1-3208-F1EC-F7DE-B538B5C72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779" y="7627938"/>
            <a:ext cx="24681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E7DEF-C53B-4347-9693-B48E6FD4D6D8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0680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190750"/>
            <a:ext cx="946404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8E5F3-D459-8E4F-AAD1-51A7D68ED6FF}" type="datetime1">
              <a:rPr lang="en-US" smtClean="0"/>
              <a:t>1/6/26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4241B-2579-694C-B40C-A1E3D5F0E4EC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3630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dpi.com/journal/sensors/special_issues/CybersecurityIoT" TargetMode="External"/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journal/sensors/special_issues/CybersecurityIo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6CD778-B5F1-E14A-411B-8E0AE18D20A3}"/>
              </a:ext>
            </a:extLst>
          </p:cNvPr>
          <p:cNvSpPr txBox="1"/>
          <p:nvPr/>
        </p:nvSpPr>
        <p:spPr>
          <a:xfrm>
            <a:off x="2741528" y="820775"/>
            <a:ext cx="5489744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520" b="1">
                <a:latin typeface="Meiryo" panose="020B0604030504040204" pitchFamily="34" charset="-128"/>
                <a:ea typeface="Meiryo" panose="020B0604030504040204" pitchFamily="34" charset="-128"/>
              </a:rPr>
              <a:t>第</a:t>
            </a:r>
            <a:r>
              <a:rPr lang="en-US" altLang="ja-JP" sz="2520" b="1" dirty="0">
                <a:latin typeface="Meiryo" panose="020B0604030504040204" pitchFamily="34" charset="-128"/>
                <a:ea typeface="Meiryo" panose="020B0604030504040204" pitchFamily="34" charset="-128"/>
              </a:rPr>
              <a:t>8</a:t>
            </a:r>
            <a:r>
              <a:rPr lang="ja-JP" altLang="en-US" sz="2520" b="1">
                <a:latin typeface="Meiryo" panose="020B0604030504040204" pitchFamily="34" charset="-128"/>
                <a:ea typeface="Meiryo" panose="020B0604030504040204" pitchFamily="34" charset="-128"/>
              </a:rPr>
              <a:t>回</a:t>
            </a:r>
            <a:r>
              <a:rPr lang="en-US" altLang="ja-JP" sz="252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2520" b="1">
                <a:latin typeface="Meiryo" panose="020B0604030504040204" pitchFamily="34" charset="-128"/>
                <a:ea typeface="Meiryo" panose="020B0604030504040204" pitchFamily="34" charset="-128"/>
              </a:rPr>
              <a:t>談話会</a:t>
            </a:r>
            <a:r>
              <a:rPr lang="ja-JP" altLang="en-US" sz="2520" b="1" dirty="0">
                <a:latin typeface="Meiryo" panose="020B0604030504040204" pitchFamily="34" charset="-128"/>
                <a:ea typeface="Meiryo" panose="020B0604030504040204" pitchFamily="34" charset="-128"/>
              </a:rPr>
              <a:t>発表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109025-35DE-BC47-916D-50FA479740D9}"/>
              </a:ext>
            </a:extLst>
          </p:cNvPr>
          <p:cNvSpPr txBox="1"/>
          <p:nvPr/>
        </p:nvSpPr>
        <p:spPr>
          <a:xfrm>
            <a:off x="1631353" y="2252881"/>
            <a:ext cx="77100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Realguard: A Lightweight Network Intrusion Detection System for IoT Gateways </a:t>
            </a:r>
            <a:endParaRPr lang="en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4762F-7835-874D-3F51-43B9F8C1F934}"/>
              </a:ext>
            </a:extLst>
          </p:cNvPr>
          <p:cNvSpPr txBox="1"/>
          <p:nvPr/>
        </p:nvSpPr>
        <p:spPr>
          <a:xfrm>
            <a:off x="2327863" y="5437517"/>
            <a:ext cx="73971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所属　　： 情報基盤システム学研究室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発表者　：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DAVAAKHUU   UNDARMAA</a:t>
            </a:r>
          </a:p>
          <a:p>
            <a:r>
              <a:rPr lang="ja-JP" alt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指導教員： 池部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実 講師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　　　　　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吉崎 </a:t>
            </a:r>
            <a:r>
              <a:rPr lang="ja-JP" alt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弘一 教授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発表日　： 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2025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年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11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月</a:t>
            </a:r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27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日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会場　　： セミナー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1(</a:t>
            </a:r>
            <a:r>
              <a:rPr lang="ja-JP" alt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第三講義棟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7003B-EB06-46D0-6E0B-F1BEED829DC3}"/>
              </a:ext>
            </a:extLst>
          </p:cNvPr>
          <p:cNvSpPr txBox="1"/>
          <p:nvPr/>
        </p:nvSpPr>
        <p:spPr>
          <a:xfrm>
            <a:off x="2744872" y="1536828"/>
            <a:ext cx="5486400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520" b="1" dirty="0">
                <a:latin typeface="Meiryo" panose="020B0604030504040204" pitchFamily="34" charset="-128"/>
                <a:ea typeface="Meiryo" panose="020B0604030504040204" pitchFamily="34" charset="-128"/>
              </a:rPr>
              <a:t>論文紹介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DB68E-0AEC-F452-71C4-2FD4BA8868C1}"/>
              </a:ext>
            </a:extLst>
          </p:cNvPr>
          <p:cNvSpPr txBox="1"/>
          <p:nvPr/>
        </p:nvSpPr>
        <p:spPr>
          <a:xfrm>
            <a:off x="1095375" y="3516426"/>
            <a:ext cx="87820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Xuan-Ha Nguyen  , Xuan-Duong Nguyen , Hoang-Hai Huynh , and Kim-Hung Le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Computer Networks and Communications, University of Information Technology, Ho Chi Minh City 70000, Vietnam Submission received: 3 November 2021 / Accepted: 27 December 2021 / Published: 7 January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 Computer Science and Engineering This article belongs to the Special Issue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Cybersecurity in the Internet of Things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573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987EF-29F6-8EA5-0BD4-C5F8C897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</a:t>
            </a:fld>
            <a:endParaRPr lang="en-JP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37A79-C44C-50DF-381A-7519048B0E6B}"/>
              </a:ext>
            </a:extLst>
          </p:cNvPr>
          <p:cNvSpPr txBox="1"/>
          <p:nvPr/>
        </p:nvSpPr>
        <p:spPr>
          <a:xfrm>
            <a:off x="1099931" y="2193971"/>
            <a:ext cx="79910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Realguard: A Lightweight Network Intrusion Detection System for IoT Gateways </a:t>
            </a:r>
            <a:endParaRPr lang="en-J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51ED0D-955F-FC18-1AC2-B74B9B3F603D}"/>
              </a:ext>
            </a:extLst>
          </p:cNvPr>
          <p:cNvSpPr txBox="1"/>
          <p:nvPr/>
        </p:nvSpPr>
        <p:spPr>
          <a:xfrm>
            <a:off x="1504122" y="3148078"/>
            <a:ext cx="71826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Xuan-Ha Nguyen  , Xuan-Duong Nguyen , Hoang-Hai Huynh , and Kim-Hung Le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of Computer Networks and Communications, University of Information Technology, Ho Chi Minh City 70000, Vietnam Submission received: 3 November 2021 / Accepted: 27 December 2021 / Published: 7 January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 Computer Science and Engineering This article belongs to the Special Issue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Cybersecurity in the Internet of Things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73D93-2704-4467-59BB-EC0DB694B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1590676"/>
          </a:xfrm>
        </p:spPr>
        <p:txBody>
          <a:bodyPr/>
          <a:lstStyle/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紹介論文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634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E66E0-14AB-652B-7001-12348BAE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1A35-512B-E447-364C-1C2964CD2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7FFF8-4B31-87D5-0448-5C9B68A29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023566"/>
            <a:ext cx="9464040" cy="5053095"/>
          </a:xfrm>
        </p:spPr>
        <p:txBody>
          <a:bodyPr>
            <a:normAutofit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研究背景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endParaRPr lang="ja-JP" altLang="en-US" sz="3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評価実験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/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02A8F-8768-DEA3-EBDE-3C909001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2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716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F4777-263A-D285-FE95-4A835C74B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023566"/>
            <a:ext cx="9464040" cy="5053095"/>
          </a:xfrm>
        </p:spPr>
        <p:txBody>
          <a:bodyPr>
            <a:normAutofit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研究背景</a:t>
            </a:r>
            <a:endParaRPr lang="mn-MN" altLang="ja-JP" sz="30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endParaRPr lang="ja-JP" altLang="en-US" sz="3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評価実験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/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3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6077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39F8FBC4-24D7-97E0-240B-C9C49E978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68" y="2464298"/>
            <a:ext cx="10345064" cy="4484341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19F2BA-2905-DFD6-71AA-6107682B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4360A-F402-6E48-BA01-8A5E455C98CB}" type="slidenum">
              <a:rPr lang="en-JP" smtClean="0"/>
              <a:t>4</a:t>
            </a:fld>
            <a:endParaRPr lang="en-JP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053020-3255-3510-33C3-A5C17DB34F62}"/>
              </a:ext>
            </a:extLst>
          </p:cNvPr>
          <p:cNvSpPr txBox="1"/>
          <p:nvPr/>
        </p:nvSpPr>
        <p:spPr>
          <a:xfrm>
            <a:off x="147579" y="7579742"/>
            <a:ext cx="9749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[1]Satyajit Sinha, State of IoT 2025: Number of connected IoT devices growing 14% to 21.1 billion globally, https://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iot-analytics.com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/number-connected-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-devices/  (参照日:2025/11/27)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63840-7BC9-4184-065D-D1BC5DCB1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1590676"/>
          </a:xfrm>
        </p:spPr>
        <p:txBody>
          <a:bodyPr/>
          <a:lstStyle/>
          <a:p>
            <a:r>
              <a:rPr 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IoT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デバイス数の推移</a:t>
            </a:r>
            <a:r>
              <a:rPr lang="en-US" altLang="ja-JP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[1]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DAC89E7-51F4-1D06-4034-A88182D4ED82}"/>
              </a:ext>
            </a:extLst>
          </p:cNvPr>
          <p:cNvSpPr/>
          <p:nvPr/>
        </p:nvSpPr>
        <p:spPr>
          <a:xfrm>
            <a:off x="2996913" y="6719186"/>
            <a:ext cx="515082" cy="2641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8C51983-F570-1557-571B-88E9D3B1A7A9}"/>
              </a:ext>
            </a:extLst>
          </p:cNvPr>
          <p:cNvSpPr/>
          <p:nvPr/>
        </p:nvSpPr>
        <p:spPr>
          <a:xfrm>
            <a:off x="7970398" y="6722061"/>
            <a:ext cx="468256" cy="2905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3B0B5EB-3318-4B7F-74DC-DD53A8EB987B}"/>
              </a:ext>
            </a:extLst>
          </p:cNvPr>
          <p:cNvSpPr/>
          <p:nvPr/>
        </p:nvSpPr>
        <p:spPr>
          <a:xfrm>
            <a:off x="10488706" y="1640541"/>
            <a:ext cx="389965" cy="502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吹き出し 83">
            <a:extLst>
              <a:ext uri="{FF2B5EF4-FFF2-40B4-BE49-F238E27FC236}">
                <a16:creationId xmlns:a16="http://schemas.microsoft.com/office/drawing/2014/main" id="{8CEB5C6A-D7B1-4783-4299-1870967C1D73}"/>
              </a:ext>
            </a:extLst>
          </p:cNvPr>
          <p:cNvSpPr/>
          <p:nvPr/>
        </p:nvSpPr>
        <p:spPr>
          <a:xfrm>
            <a:off x="7316342" y="631153"/>
            <a:ext cx="3548881" cy="1857412"/>
          </a:xfrm>
          <a:prstGeom prst="wedgeRoundRectCallout">
            <a:avLst>
              <a:gd name="adj1" fmla="val -31839"/>
              <a:gd name="adj2" fmla="val 66931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2025</a:t>
            </a:r>
            <a:r>
              <a:rPr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年は </a:t>
            </a:r>
            <a:r>
              <a:rPr lang="en-US" altLang="ja-JP" sz="28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211</a:t>
            </a:r>
            <a:r>
              <a:rPr lang="ja-JP" altLang="en-US" sz="28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億</a:t>
            </a:r>
            <a:r>
              <a:rPr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、</a:t>
            </a:r>
            <a:br>
              <a:rPr lang="en-US" altLang="ja-JP" sz="28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28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2035</a:t>
            </a:r>
            <a:r>
              <a:rPr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年は </a:t>
            </a:r>
            <a:r>
              <a:rPr lang="en-US" altLang="ja-JP" sz="28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550</a:t>
            </a:r>
            <a:r>
              <a:rPr lang="ja-JP" altLang="en-US" sz="28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億</a:t>
            </a:r>
            <a:r>
              <a:rPr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に</a:t>
            </a:r>
            <a:br>
              <a:rPr lang="en-US" altLang="ja-JP" sz="28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28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増加する見込み</a:t>
            </a:r>
            <a:endParaRPr lang="en-US" altLang="ja-JP" sz="28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(2025年10月時点)</a:t>
            </a:r>
            <a:endParaRPr lang="en-JP" sz="1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3554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3613F9A6-CFF0-5606-8B90-8BD6007D7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088806"/>
            <a:ext cx="9404604" cy="549675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8D9E6-0DA4-1456-EA60-A439F389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/>
              <a:t>5</a:t>
            </a:fld>
            <a:endParaRPr lang="en-JP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86E745-BDEE-1E3D-B945-3E8A4A60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1590676"/>
          </a:xfrm>
        </p:spPr>
        <p:txBody>
          <a:bodyPr/>
          <a:lstStyle/>
          <a:p>
            <a:r>
              <a:rPr 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IoT</a:t>
            </a:r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デバイスに対する主な攻撃</a:t>
            </a:r>
            <a:r>
              <a:rPr lang="en-US" altLang="ja-JP" sz="3600" dirty="0">
                <a:latin typeface="Meiryo UI" panose="020B0604030504040204" pitchFamily="50" charset="-128"/>
                <a:ea typeface="Meiryo UI" panose="020B0604030504040204" pitchFamily="50" charset="-128"/>
              </a:rPr>
              <a:t>[2]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D2CF878-62F6-48DB-3D21-2E2CD28FCAF9}"/>
              </a:ext>
            </a:extLst>
          </p:cNvPr>
          <p:cNvSpPr/>
          <p:nvPr/>
        </p:nvSpPr>
        <p:spPr>
          <a:xfrm>
            <a:off x="7827398" y="2518210"/>
            <a:ext cx="2951079" cy="7091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アプリケーションの</a:t>
            </a:r>
            <a:br>
              <a:rPr kumimoji="1" lang="en-US" altLang="ja-JP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脆弱性を利用した攻撃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193348-E912-2E5E-EE56-F06E3F8585A2}"/>
              </a:ext>
            </a:extLst>
          </p:cNvPr>
          <p:cNvSpPr/>
          <p:nvPr/>
        </p:nvSpPr>
        <p:spPr>
          <a:xfrm>
            <a:off x="134887" y="4590189"/>
            <a:ext cx="2951079" cy="7091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 startAt="2"/>
            </a:pPr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マルウェアやウイルス、</a:t>
            </a:r>
            <a:br>
              <a:rPr kumimoji="1" lang="en-US" altLang="ja-JP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ボットネットの感染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1D3DB1E-8B01-1F67-544F-11BBDB111341}"/>
              </a:ext>
            </a:extLst>
          </p:cNvPr>
          <p:cNvSpPr/>
          <p:nvPr/>
        </p:nvSpPr>
        <p:spPr>
          <a:xfrm>
            <a:off x="1866512" y="1618530"/>
            <a:ext cx="2438908" cy="7091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 startAt="3"/>
            </a:pPr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ユーザによる</a:t>
            </a:r>
            <a:br>
              <a:rPr kumimoji="1" lang="en-US" altLang="ja-JP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kumimoji="1" lang="ja-JP" altLang="en-US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セキュリティ不備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3C5E2FA-D74F-80A6-404F-8FE976F27B2B}"/>
              </a:ext>
            </a:extLst>
          </p:cNvPr>
          <p:cNvSpPr txBox="1"/>
          <p:nvPr/>
        </p:nvSpPr>
        <p:spPr>
          <a:xfrm>
            <a:off x="134887" y="7585560"/>
            <a:ext cx="96949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[2]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Chimdesa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Diriba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, What are the Top IoT Security issues ?, https://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teleforum.ethiotelecom.et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b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blogs/2100/What-are-the-Top-IoT-Security-issues(参照日:2025/11/27)</a:t>
            </a:r>
          </a:p>
        </p:txBody>
      </p:sp>
    </p:spTree>
    <p:extLst>
      <p:ext uri="{BB962C8B-B14F-4D97-AF65-F5344CB8AC3E}">
        <p14:creationId xmlns:p14="http://schemas.microsoft.com/office/powerpoint/2010/main" val="2330933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059D37-B84A-445F-8340-34EF43AE5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838" y="0"/>
            <a:ext cx="9464040" cy="1590676"/>
          </a:xfrm>
        </p:spPr>
        <p:txBody>
          <a:bodyPr>
            <a:normAutofit/>
          </a:bodyPr>
          <a:lstStyle/>
          <a:p>
            <a:r>
              <a:rPr kumimoji="1" lang="en-US" altLang="ja-JP" sz="4800" b="1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kumimoji="1" lang="ja-JP" altLang="en-US" sz="4800" b="1">
                <a:latin typeface="Meiryo" panose="020B0604030504040204" pitchFamily="34" charset="-128"/>
                <a:ea typeface="Meiryo" panose="020B0604030504040204" pitchFamily="34" charset="-128"/>
              </a:rPr>
              <a:t>ゲートウェイ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ABD68B-DE0C-BCCB-87EE-4F2CF6A2A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49" y="1272230"/>
            <a:ext cx="9464040" cy="1171013"/>
          </a:xfrm>
        </p:spPr>
        <p:txBody>
          <a:bodyPr>
            <a:normAutofit fontScale="92500"/>
          </a:bodyPr>
          <a:lstStyle/>
          <a:p>
            <a:r>
              <a:rPr kumimoji="1"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デバイスと外部ネットワークの通信を中継</a:t>
            </a:r>
            <a:r>
              <a:rPr kumimoji="1"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[3]</a:t>
            </a:r>
            <a:endParaRPr kumimoji="1"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トラフィックの管理・変換・保護を担う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4957F0-D920-0139-7B1B-9F3C38B98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6</a:t>
            </a:fld>
            <a:endParaRPr lang="en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Picture 20">
            <a:extLst>
              <a:ext uri="{FF2B5EF4-FFF2-40B4-BE49-F238E27FC236}">
                <a16:creationId xmlns:a16="http://schemas.microsoft.com/office/drawing/2014/main" id="{8FD3EABD-D661-52B9-4CDF-0063E29D2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38" y="2332624"/>
            <a:ext cx="8429491" cy="2997438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CAD31A5E-1FE2-6AC0-5F51-F2BF1691FCA9}"/>
              </a:ext>
            </a:extLst>
          </p:cNvPr>
          <p:cNvSpPr txBox="1"/>
          <p:nvPr/>
        </p:nvSpPr>
        <p:spPr>
          <a:xfrm>
            <a:off x="152159" y="7490936"/>
            <a:ext cx="104433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Meiryo" panose="020B0604030504040204" pitchFamily="34" charset="-128"/>
                <a:ea typeface="Meiryo" panose="020B0604030504040204" pitchFamily="34" charset="-128"/>
              </a:rPr>
              <a:t>[3] Yatin Sapra, What Role Do IoT Gateways Play In The Overall IoT Ecosystem?, </a:t>
            </a:r>
          </a:p>
          <a:p>
            <a:r>
              <a:rPr lang="en-US" sz="1400" dirty="0">
                <a:latin typeface="Meiryo" panose="020B0604030504040204" pitchFamily="34" charset="-128"/>
                <a:ea typeface="Meiryo" panose="020B0604030504040204" pitchFamily="34" charset="-128"/>
              </a:rPr>
              <a:t>https://</a:t>
            </a:r>
            <a:r>
              <a:rPr lang="en-US" sz="1400" dirty="0" err="1">
                <a:latin typeface="Meiryo" panose="020B0604030504040204" pitchFamily="34" charset="-128"/>
                <a:ea typeface="Meiryo" panose="020B0604030504040204" pitchFamily="34" charset="-128"/>
              </a:rPr>
              <a:t>www.hashstudioz.com</a:t>
            </a:r>
            <a:r>
              <a:rPr lang="en-US" sz="1400" dirty="0">
                <a:latin typeface="Meiryo" panose="020B0604030504040204" pitchFamily="34" charset="-128"/>
                <a:ea typeface="Meiryo" panose="020B0604030504040204" pitchFamily="34" charset="-128"/>
              </a:rPr>
              <a:t>/blog/what-role-do-</a:t>
            </a:r>
            <a:r>
              <a:rPr lang="en-US" sz="1400" dirty="0" err="1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en-US" sz="1400" dirty="0">
                <a:latin typeface="Meiryo" panose="020B0604030504040204" pitchFamily="34" charset="-128"/>
                <a:ea typeface="Meiryo" panose="020B0604030504040204" pitchFamily="34" charset="-128"/>
              </a:rPr>
              <a:t>-gateways-play-in-the-overall-</a:t>
            </a:r>
            <a:r>
              <a:rPr lang="en-US" sz="1400" dirty="0" err="1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en-US" sz="1400" dirty="0">
                <a:latin typeface="Meiryo" panose="020B0604030504040204" pitchFamily="34" charset="-128"/>
                <a:ea typeface="Meiryo" panose="020B0604030504040204" pitchFamily="34" charset="-128"/>
              </a:rPr>
              <a:t>-ecosystem/(参照日:2025/11/27)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ECACD715-0415-D2C2-A794-A7EEE5778407}"/>
              </a:ext>
            </a:extLst>
          </p:cNvPr>
          <p:cNvSpPr txBox="1">
            <a:spLocks/>
          </p:cNvSpPr>
          <p:nvPr/>
        </p:nvSpPr>
        <p:spPr>
          <a:xfrm>
            <a:off x="703671" y="5605854"/>
            <a:ext cx="9464040" cy="1885082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36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8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7200">
                <a:latin typeface="Meiryo" panose="020B0604030504040204" pitchFamily="34" charset="-128"/>
                <a:ea typeface="Meiryo" panose="020B0604030504040204" pitchFamily="34" charset="-128"/>
              </a:rPr>
              <a:t>リソース制約によるセキュリティ課題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7200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ja-JP" altLang="en-US" sz="7200">
                <a:latin typeface="Meiryo" panose="020B0604030504040204" pitchFamily="34" charset="-128"/>
                <a:ea typeface="Meiryo" panose="020B0604030504040204" pitchFamily="34" charset="-128"/>
              </a:rPr>
              <a:t>ゲートウェイは </a:t>
            </a:r>
            <a:r>
              <a:rPr lang="en-US" sz="7200" dirty="0">
                <a:latin typeface="Meiryo" panose="020B0604030504040204" pitchFamily="34" charset="-128"/>
                <a:ea typeface="Meiryo" panose="020B0604030504040204" pitchFamily="34" charset="-128"/>
              </a:rPr>
              <a:t>CPU・RAM・</a:t>
            </a:r>
            <a:r>
              <a:rPr lang="ja-JP" altLang="en-US" sz="7200">
                <a:latin typeface="Meiryo" panose="020B0604030504040204" pitchFamily="34" charset="-128"/>
                <a:ea typeface="Meiryo" panose="020B0604030504040204" pitchFamily="34" charset="-128"/>
              </a:rPr>
              <a:t>電力が非常に限られている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7200">
                <a:latin typeface="Meiryo" panose="020B0604030504040204" pitchFamily="34" charset="-128"/>
                <a:ea typeface="Meiryo" panose="020B0604030504040204" pitchFamily="34" charset="-128"/>
              </a:rPr>
              <a:t>一般的なセキュリティソフトは 重くて導入が困難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7200">
                <a:latin typeface="Meiryo" panose="020B0604030504040204" pitchFamily="34" charset="-128"/>
                <a:ea typeface="Meiryo" panose="020B0604030504040204" pitchFamily="34" charset="-128"/>
              </a:rPr>
              <a:t>この制約が 重大なセキュリティ上の弱点 となる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0370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33515F-B78D-209A-A983-779F52E13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ネットワーク侵入検知システム</a:t>
            </a:r>
            <a:r>
              <a:rPr kumimoji="1" lang="en-US" altLang="ja-JP" dirty="0"/>
              <a:t>(NIDS*)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E952C1E-7902-2181-0E6C-1720BE6C9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80" y="2190750"/>
            <a:ext cx="9868796" cy="1399615"/>
          </a:xfrm>
        </p:spPr>
        <p:txBody>
          <a:bodyPr/>
          <a:lstStyle/>
          <a:p>
            <a:r>
              <a:rPr kumimoji="1" lang="ja-JP" altLang="en-US"/>
              <a:t>ネットワークトラフィックの監視から</a:t>
            </a:r>
            <a:r>
              <a:rPr kumimoji="1" lang="ja-JP" altLang="en-US" u="sng"/>
              <a:t>異常な動作</a:t>
            </a:r>
            <a:r>
              <a:rPr kumimoji="1" lang="ja-JP" altLang="en-US"/>
              <a:t>を検出</a:t>
            </a:r>
            <a:r>
              <a:rPr kumimoji="1" lang="en-US" altLang="ja-JP" sz="2400" dirty="0"/>
              <a:t>[4]</a:t>
            </a:r>
            <a:endParaRPr kumimoji="1" lang="en-US" altLang="ja-JP" dirty="0"/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kumimoji="1" lang="ja-JP" altLang="en-US"/>
              <a:t>攻撃・マルウェア・不正アクセスなどを監視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2FC18E-4B34-34DB-9C0F-0D7E66AA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7</a:t>
            </a:fld>
            <a:endParaRPr lang="en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F568A4-8AB4-E9AF-C41E-B2E65421C677}"/>
              </a:ext>
            </a:extLst>
          </p:cNvPr>
          <p:cNvSpPr/>
          <p:nvPr/>
        </p:nvSpPr>
        <p:spPr>
          <a:xfrm>
            <a:off x="2043632" y="5727798"/>
            <a:ext cx="4249591" cy="1214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(* Network Intrusion Detection System)</a:t>
            </a:r>
            <a:endParaRPr kumimoji="1" lang="ja-JP" altLang="en-US" sz="2000" b="1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7F8EFA64-77A7-50BC-A3EC-E10B8A8029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62" t="28384" r="13235" b="19257"/>
          <a:stretch>
            <a:fillRect/>
          </a:stretch>
        </p:blipFill>
        <p:spPr>
          <a:xfrm>
            <a:off x="5718111" y="4326980"/>
            <a:ext cx="4634235" cy="3300642"/>
          </a:xfrm>
          <a:prstGeom prst="rect">
            <a:avLst/>
          </a:prstGeom>
        </p:spPr>
      </p:pic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03320AD8-8840-DD9A-08B2-451B0C966718}"/>
              </a:ext>
            </a:extLst>
          </p:cNvPr>
          <p:cNvSpPr txBox="1">
            <a:spLocks/>
          </p:cNvSpPr>
          <p:nvPr/>
        </p:nvSpPr>
        <p:spPr>
          <a:xfrm>
            <a:off x="754380" y="3696820"/>
            <a:ext cx="9464040" cy="2638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36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8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/>
              <a:t>インターネットと</a:t>
            </a:r>
            <a:r>
              <a:rPr kumimoji="1" lang="en-US" altLang="ja-JP" dirty="0"/>
              <a:t>LAN</a:t>
            </a:r>
            <a:r>
              <a:rPr kumimoji="1" lang="ja-JP" altLang="en-US"/>
              <a:t>の境界に設置</a:t>
            </a:r>
            <a:endParaRPr kumimoji="1" lang="en-US" altLang="ja-JP" dirty="0"/>
          </a:p>
          <a:p>
            <a:r>
              <a:rPr kumimoji="1" lang="ja-JP" altLang="en-US"/>
              <a:t>検出内容に応じて</a:t>
            </a:r>
            <a:br>
              <a:rPr kumimoji="1" lang="en-US" altLang="ja-JP" dirty="0"/>
            </a:br>
            <a:r>
              <a:rPr kumimoji="1" lang="ja-JP" altLang="en-US"/>
              <a:t>ログ出力・アラート発出の</a:t>
            </a:r>
            <a:br>
              <a:rPr kumimoji="1" lang="en-US" altLang="ja-JP" dirty="0"/>
            </a:br>
            <a:r>
              <a:rPr kumimoji="1" lang="ja-JP" altLang="en-US"/>
              <a:t>アクションを実行</a:t>
            </a:r>
            <a:endParaRPr kumimoji="1" lang="en-US" altLang="ja-JP" dirty="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17501F2-71F1-94D8-4F41-7E706C06A15C}"/>
              </a:ext>
            </a:extLst>
          </p:cNvPr>
          <p:cNvSpPr/>
          <p:nvPr/>
        </p:nvSpPr>
        <p:spPr>
          <a:xfrm rot="5400000">
            <a:off x="4982204" y="5062887"/>
            <a:ext cx="2934432" cy="1462618"/>
          </a:xfrm>
          <a:prstGeom prst="triangle">
            <a:avLst>
              <a:gd name="adj" fmla="val 0"/>
            </a:avLst>
          </a:prstGeom>
          <a:solidFill>
            <a:srgbClr val="FBFBFB"/>
          </a:solidFill>
          <a:ln>
            <a:solidFill>
              <a:srgbClr val="FBFB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F75B75A-98EF-975B-1F7B-119563FF9419}"/>
              </a:ext>
            </a:extLst>
          </p:cNvPr>
          <p:cNvSpPr/>
          <p:nvPr/>
        </p:nvSpPr>
        <p:spPr>
          <a:xfrm>
            <a:off x="10112188" y="4326980"/>
            <a:ext cx="240158" cy="796349"/>
          </a:xfrm>
          <a:prstGeom prst="rect">
            <a:avLst/>
          </a:prstGeom>
          <a:solidFill>
            <a:srgbClr val="F1F1F2"/>
          </a:solidFill>
          <a:ln>
            <a:solidFill>
              <a:srgbClr val="F1F1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A33455DB-F42A-6D6E-1F1A-E986644579E9}"/>
              </a:ext>
            </a:extLst>
          </p:cNvPr>
          <p:cNvSpPr txBox="1"/>
          <p:nvPr/>
        </p:nvSpPr>
        <p:spPr>
          <a:xfrm>
            <a:off x="134887" y="6988554"/>
            <a:ext cx="558322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[4] Stephen Cooper, Intrusion Detection Systems Explained: 12 Best IDS Software Tools Reviewed, https://</a:t>
            </a:r>
            <a:r>
              <a:rPr lang="en-US" sz="1600" dirty="0" err="1">
                <a:latin typeface="Meiryo" panose="020B0604030504040204" pitchFamily="34" charset="-128"/>
                <a:ea typeface="Meiryo" panose="020B0604030504040204" pitchFamily="34" charset="-128"/>
              </a:rPr>
              <a:t>www.comparitech.com</a:t>
            </a:r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/net-admin/network-intrusion-detection-tools/ (参照日:2025/11/27)</a:t>
            </a:r>
          </a:p>
        </p:txBody>
      </p:sp>
    </p:spTree>
    <p:extLst>
      <p:ext uri="{BB962C8B-B14F-4D97-AF65-F5344CB8AC3E}">
        <p14:creationId xmlns:p14="http://schemas.microsoft.com/office/powerpoint/2010/main" val="2924556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8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BC70DF0-0B54-3D3B-E833-8E306908B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023566"/>
            <a:ext cx="9464040" cy="5053095"/>
          </a:xfrm>
        </p:spPr>
        <p:txBody>
          <a:bodyPr>
            <a:normAutofit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研究背景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lang="en-US" altLang="ja-JP" sz="30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endParaRPr lang="ja-JP" altLang="en-US" sz="3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評価実験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/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5309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DDC41-6F9C-F98F-DCD8-67303D0B5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9</a:t>
            </a:fld>
            <a:endParaRPr lang="en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7262A6-7E94-FB59-C9CE-980436E27C6B}"/>
              </a:ext>
            </a:extLst>
          </p:cNvPr>
          <p:cNvSpPr txBox="1"/>
          <p:nvPr/>
        </p:nvSpPr>
        <p:spPr>
          <a:xfrm>
            <a:off x="590844" y="3419753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目的</a:t>
            </a:r>
            <a:endParaRPr lang="en-JP" sz="28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正方形/長方形 9">
            <a:extLst>
              <a:ext uri="{FF2B5EF4-FFF2-40B4-BE49-F238E27FC236}">
                <a16:creationId xmlns:a16="http://schemas.microsoft.com/office/drawing/2014/main" id="{66327C72-00AB-E9A2-B192-4289C3A622ED}"/>
              </a:ext>
            </a:extLst>
          </p:cNvPr>
          <p:cNvSpPr/>
          <p:nvPr/>
        </p:nvSpPr>
        <p:spPr>
          <a:xfrm>
            <a:off x="458406" y="3832765"/>
            <a:ext cx="9487452" cy="38447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Ø"/>
            </a:pP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IoT ゲートウェイ上で動作する軽量かつ高精度な</a:t>
            </a:r>
            <a:b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攻撃検知システム</a:t>
            </a:r>
            <a: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(NIDS)の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構築</a:t>
            </a:r>
          </a:p>
          <a:p>
            <a:r>
              <a:rPr lang="en-US" altLang="ja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endParaRPr lang="mn-MN" altLang="ja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高精度な攻撃検知の実現</a:t>
            </a:r>
            <a:endParaRPr lang="en-US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複数種類の攻撃に対して、高い精度（高</a:t>
            </a:r>
            <a: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TPR）</a:t>
            </a: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で検知できるモデルを構築</a:t>
            </a:r>
            <a:endParaRPr lang="mn-MN" altLang="ja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24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実際の </a:t>
            </a:r>
            <a: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IoT </a:t>
            </a: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環境での評価（</a:t>
            </a:r>
            <a: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Real-world IoT Evaluation）</a:t>
            </a:r>
          </a:p>
          <a:p>
            <a: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Raspberry Pi </a:t>
            </a: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などの </a:t>
            </a:r>
            <a: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IoT </a:t>
            </a: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ゲートウェイ上で、処理速度やリソース使用量を実環境に近い条件で評価</a:t>
            </a:r>
          </a:p>
        </p:txBody>
      </p:sp>
      <p:sp>
        <p:nvSpPr>
          <p:cNvPr id="13" name="正方形/長方形 9">
            <a:extLst>
              <a:ext uri="{FF2B5EF4-FFF2-40B4-BE49-F238E27FC236}">
                <a16:creationId xmlns:a16="http://schemas.microsoft.com/office/drawing/2014/main" id="{C2D74CB6-1BB3-1EB9-756E-F14D69503C23}"/>
              </a:ext>
            </a:extLst>
          </p:cNvPr>
          <p:cNvSpPr/>
          <p:nvPr/>
        </p:nvSpPr>
        <p:spPr>
          <a:xfrm>
            <a:off x="458406" y="1063165"/>
            <a:ext cx="9322259" cy="17670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itchFamily="2" charset="2"/>
              <a:buChar char="Ø"/>
            </a:pP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従来のネットワーク侵入検知システム（</a:t>
            </a:r>
            <a: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NIDS）</a:t>
            </a: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は、多くの計算資源を必要とするため、</a:t>
            </a:r>
            <a: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CPU・</a:t>
            </a: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メモリ・電力が制限された </a:t>
            </a:r>
            <a:r>
              <a:rPr lang="en-US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IoT </a:t>
            </a: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ゲートウェイ上では適切に動作しないことが多い</a:t>
            </a:r>
            <a:endParaRPr kumimoji="1" lang="ja-JP" altLang="en-US" sz="240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407F9-F196-4C51-B87D-F09E211EE119}"/>
              </a:ext>
            </a:extLst>
          </p:cNvPr>
          <p:cNvSpPr txBox="1"/>
          <p:nvPr/>
        </p:nvSpPr>
        <p:spPr>
          <a:xfrm>
            <a:off x="590844" y="573225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課題</a:t>
            </a:r>
            <a:endParaRPr lang="en-US" altLang="ja-JP" sz="24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1326D739-9472-D714-C3CF-4C030062724C}"/>
              </a:ext>
            </a:extLst>
          </p:cNvPr>
          <p:cNvSpPr/>
          <p:nvPr/>
        </p:nvSpPr>
        <p:spPr>
          <a:xfrm>
            <a:off x="4849435" y="3156777"/>
            <a:ext cx="369679" cy="525952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84574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10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36C868-3D28-5B62-8033-31CA353F4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023566"/>
            <a:ext cx="9464040" cy="5053095"/>
          </a:xfrm>
        </p:spPr>
        <p:txBody>
          <a:bodyPr>
            <a:normAutofit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研究背景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endParaRPr lang="ja-JP" altLang="en-US" sz="300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評価実験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/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39034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496E2-C454-7567-25B9-30434133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11</a:t>
            </a:fld>
            <a:endParaRPr lang="en-J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749B4-DAF1-FEB6-6BF5-F93D30F2469D}"/>
              </a:ext>
            </a:extLst>
          </p:cNvPr>
          <p:cNvSpPr txBox="1"/>
          <p:nvPr/>
        </p:nvSpPr>
        <p:spPr>
          <a:xfrm>
            <a:off x="416376" y="334517"/>
            <a:ext cx="5486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16">
              <a:lnSpc>
                <a:spcPct val="150000"/>
              </a:lnSpc>
              <a:buSzPts val="2800"/>
            </a:pPr>
            <a:r>
              <a:rPr lang="en-US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endParaRPr lang="ja-JP" altLang="en-US" sz="32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A7CDB8-0D71-C36B-352B-8D7A901B643F}"/>
              </a:ext>
            </a:extLst>
          </p:cNvPr>
          <p:cNvSpPr txBox="1"/>
          <p:nvPr/>
        </p:nvSpPr>
        <p:spPr>
          <a:xfrm>
            <a:off x="257902" y="1442713"/>
            <a:ext cx="104569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Realguard は、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Deep learning </a:t>
            </a:r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に基づくネットワーク侵入検知システム（NIDS）です.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IoT 環境において、CPU や RAM が限られたデバイス上でも動作できるよう設計されている</a:t>
            </a:r>
            <a:r>
              <a:rPr lang="mn-MN" sz="28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en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A6349-B761-CCA6-6220-EBC036FB8D2D}"/>
              </a:ext>
            </a:extLst>
          </p:cNvPr>
          <p:cNvSpPr txBox="1"/>
          <p:nvPr/>
        </p:nvSpPr>
        <p:spPr>
          <a:xfrm>
            <a:off x="659307" y="3553327"/>
            <a:ext cx="76486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endParaRPr lang="ja-JP" altLang="en-US" sz="28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ネットワークトラフィックの監視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特徴量（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features）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の抽出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DNN 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を用いた攻撃の検知</a:t>
            </a:r>
            <a:endParaRPr lang="mn-MN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パケットの観測・特徴量抽出・攻撃検知をゲートウェイ単体で実行</a:t>
            </a:r>
          </a:p>
        </p:txBody>
      </p:sp>
    </p:spTree>
    <p:extLst>
      <p:ext uri="{BB962C8B-B14F-4D97-AF65-F5344CB8AC3E}">
        <p14:creationId xmlns:p14="http://schemas.microsoft.com/office/powerpoint/2010/main" val="2385979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75838-8A78-616D-45AA-9C6650A4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12</a:t>
            </a:fld>
            <a:endParaRPr lang="en-J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40277-22B8-E773-8826-079564DBD04D}"/>
              </a:ext>
            </a:extLst>
          </p:cNvPr>
          <p:cNvSpPr txBox="1"/>
          <p:nvPr/>
        </p:nvSpPr>
        <p:spPr>
          <a:xfrm>
            <a:off x="435938" y="417313"/>
            <a:ext cx="90597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機械学習</a:t>
            </a:r>
            <a:endParaRPr lang="en-US" sz="3200" b="1" dirty="0">
              <a:solidFill>
                <a:srgbClr val="273239"/>
              </a:solidFill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2" name="吹き出し: 角を丸めた四角形 47">
            <a:extLst>
              <a:ext uri="{FF2B5EF4-FFF2-40B4-BE49-F238E27FC236}">
                <a16:creationId xmlns:a16="http://schemas.microsoft.com/office/drawing/2014/main" id="{6CA0EAC8-A804-BA57-E241-15B065B6DEFC}"/>
              </a:ext>
            </a:extLst>
          </p:cNvPr>
          <p:cNvSpPr/>
          <p:nvPr/>
        </p:nvSpPr>
        <p:spPr>
          <a:xfrm rot="10800000" flipV="1">
            <a:off x="7038684" y="828799"/>
            <a:ext cx="3498178" cy="1675346"/>
          </a:xfrm>
          <a:prstGeom prst="wedgeRoundRectCallout">
            <a:avLst>
              <a:gd name="adj1" fmla="val 59416"/>
              <a:gd name="adj2" fmla="val -12782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1.</a:t>
            </a:r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人間がプログラムしなくても、経験（データ）から学習する仕組み</a:t>
            </a:r>
            <a:endParaRPr lang="ja-JP" altLang="en-US" sz="20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sz="20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2BF3404-2B90-011E-68E4-21895743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71" y="894365"/>
            <a:ext cx="6523513" cy="592444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3F8C54A-C1D3-0F8A-A8BE-1F6C6FA40FE2}"/>
              </a:ext>
            </a:extLst>
          </p:cNvPr>
          <p:cNvSpPr txBox="1"/>
          <p:nvPr/>
        </p:nvSpPr>
        <p:spPr>
          <a:xfrm>
            <a:off x="260093" y="7662031"/>
            <a:ext cx="5866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https://ischool.syracuse.edu/what-is-machine-learning/</a:t>
            </a:r>
          </a:p>
        </p:txBody>
      </p:sp>
      <p:sp>
        <p:nvSpPr>
          <p:cNvPr id="19" name="吹き出し: 角を丸めた四角形 47">
            <a:extLst>
              <a:ext uri="{FF2B5EF4-FFF2-40B4-BE49-F238E27FC236}">
                <a16:creationId xmlns:a16="http://schemas.microsoft.com/office/drawing/2014/main" id="{7653D000-6485-0111-549C-0284DE58E530}"/>
              </a:ext>
            </a:extLst>
          </p:cNvPr>
          <p:cNvSpPr/>
          <p:nvPr/>
        </p:nvSpPr>
        <p:spPr>
          <a:xfrm rot="10800000" flipV="1">
            <a:off x="6648736" y="2865429"/>
            <a:ext cx="3888125" cy="1358703"/>
          </a:xfrm>
          <a:prstGeom prst="wedgeRoundRectCallout">
            <a:avLst>
              <a:gd name="adj1" fmla="val 58612"/>
              <a:gd name="adj2" fmla="val 22485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画像認識・異常検知・音声認識などに広く利用される</a:t>
            </a:r>
            <a:endParaRPr lang="en-US" altLang="ja-JP" sz="20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ja-JP" altLang="en-US" sz="200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吹き出し: 角を丸めた四角形 47">
            <a:extLst>
              <a:ext uri="{FF2B5EF4-FFF2-40B4-BE49-F238E27FC236}">
                <a16:creationId xmlns:a16="http://schemas.microsoft.com/office/drawing/2014/main" id="{68ECF0A3-0DE0-FBC1-1D18-67F734532813}"/>
              </a:ext>
            </a:extLst>
          </p:cNvPr>
          <p:cNvSpPr/>
          <p:nvPr/>
        </p:nvSpPr>
        <p:spPr>
          <a:xfrm rot="10800000" flipV="1">
            <a:off x="6981664" y="4775229"/>
            <a:ext cx="3555196" cy="1419967"/>
          </a:xfrm>
          <a:prstGeom prst="wedgeRoundRectCallout">
            <a:avLst>
              <a:gd name="adj1" fmla="val 58612"/>
              <a:gd name="adj2" fmla="val 22485"/>
              <a:gd name="adj3" fmla="val 16667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endParaRPr lang="en-US" altLang="ja-JP" sz="20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US" altLang="ja-JP" sz="20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3.</a:t>
            </a:r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大量のデータ </a:t>
            </a:r>
            <a:r>
              <a:rPr lang="en-US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+ </a:t>
            </a:r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アルゴリズム </a:t>
            </a:r>
            <a:r>
              <a:rPr lang="en-US" altLang="ja-JP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+ </a:t>
            </a:r>
            <a:r>
              <a:rPr lang="ja-JP" altLang="en-US" sz="2000" b="1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計算資源 → 高精度な予測</a:t>
            </a:r>
            <a:endParaRPr lang="en-US" altLang="ja-JP" sz="20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372356-A1FC-12E3-172F-2814DF70F933}"/>
              </a:ext>
            </a:extLst>
          </p:cNvPr>
          <p:cNvSpPr txBox="1"/>
          <p:nvPr/>
        </p:nvSpPr>
        <p:spPr>
          <a:xfrm>
            <a:off x="118667" y="6888692"/>
            <a:ext cx="10418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JP" sz="1800" dirty="0">
                <a:latin typeface="Meiryo" panose="020B0604030504040204" pitchFamily="34" charset="-128"/>
                <a:ea typeface="Meiryo" panose="020B0604030504040204" pitchFamily="34" charset="-128"/>
              </a:rPr>
              <a:t>Machine Learning（機械学習）とは、コンピュータが明確なプログラムを書かなくても、</a:t>
            </a:r>
          </a:p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JP" sz="1800" dirty="0">
                <a:latin typeface="Meiryo" panose="020B0604030504040204" pitchFamily="34" charset="-128"/>
                <a:ea typeface="Meiryo" panose="020B0604030504040204" pitchFamily="34" charset="-128"/>
              </a:rPr>
              <a:t>データや経験から自動的に学習し、パターンを見つけたり、将来の結果を予測したりする技術です.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78548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3B970-0980-9259-5CD0-04ED1094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13</a:t>
            </a:fld>
            <a:endParaRPr lang="en-JP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04D7E6-1295-A698-AD09-D317E07F65DD}"/>
              </a:ext>
            </a:extLst>
          </p:cNvPr>
          <p:cNvSpPr txBox="1"/>
          <p:nvPr/>
        </p:nvSpPr>
        <p:spPr>
          <a:xfrm>
            <a:off x="528638" y="992435"/>
            <a:ext cx="63002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Deep Neural Network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とは何か？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AFEC1B-CBED-D710-1916-DE1D7560856F}"/>
              </a:ext>
            </a:extLst>
          </p:cNvPr>
          <p:cNvSpPr txBox="1"/>
          <p:nvPr/>
        </p:nvSpPr>
        <p:spPr>
          <a:xfrm>
            <a:off x="212526" y="159423"/>
            <a:ext cx="8771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3200" b="1">
                <a:latin typeface="Meiryo" panose="020B0604030504040204" pitchFamily="34" charset="-128"/>
                <a:ea typeface="Meiryo" panose="020B0604030504040204" pitchFamily="34" charset="-128"/>
              </a:rPr>
              <a:t>Machine learning types</a:t>
            </a:r>
            <a:endParaRPr lang="mn-MN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F6A1BDC-933A-7249-A63A-ADE3A2C3F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05" y="1767442"/>
            <a:ext cx="9647167" cy="325061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097DF5A-2FF0-0D04-02E7-5FBE011A6DC6}"/>
              </a:ext>
            </a:extLst>
          </p:cNvPr>
          <p:cNvSpPr txBox="1"/>
          <p:nvPr/>
        </p:nvSpPr>
        <p:spPr>
          <a:xfrm>
            <a:off x="772221" y="5338773"/>
            <a:ext cx="659061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Deep Learning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に基づく人工ニューラルネットワーク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複数の隠れ層（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Hidden Layers）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を持つ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データの複雑なパターンや特徴を学習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正常データと異常データを高精度で識別可能</a:t>
            </a:r>
          </a:p>
        </p:txBody>
      </p:sp>
    </p:spTree>
    <p:extLst>
      <p:ext uri="{BB962C8B-B14F-4D97-AF65-F5344CB8AC3E}">
        <p14:creationId xmlns:p14="http://schemas.microsoft.com/office/powerpoint/2010/main" val="1752434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3137F-DE51-79E3-F306-10634029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14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57B9A-3014-E3BE-F014-7F53EAF6749A}"/>
              </a:ext>
            </a:extLst>
          </p:cNvPr>
          <p:cNvSpPr txBox="1"/>
          <p:nvPr/>
        </p:nvSpPr>
        <p:spPr>
          <a:xfrm>
            <a:off x="535576" y="403162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Realguard IDS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の独自性</a:t>
            </a:r>
            <a:endParaRPr lang="en-JP" sz="3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4DB42AE-9026-1B20-DC64-584421762A1B}"/>
              </a:ext>
            </a:extLst>
          </p:cNvPr>
          <p:cNvSpPr/>
          <p:nvPr/>
        </p:nvSpPr>
        <p:spPr>
          <a:xfrm>
            <a:off x="996042" y="1158282"/>
            <a:ext cx="4278089" cy="264300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1.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軽量かつリアルタイムの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ゲートウェイ向けに最適化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CEEC820-D83C-84F6-F475-B4208BC7450A}"/>
              </a:ext>
            </a:extLst>
          </p:cNvPr>
          <p:cNvSpPr/>
          <p:nvPr/>
        </p:nvSpPr>
        <p:spPr>
          <a:xfrm>
            <a:off x="5830932" y="1158282"/>
            <a:ext cx="4002134" cy="27490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効率的な特徴抽出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フロー統計ベースの軽量特徴量</a:t>
            </a:r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高速抽出（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Damped Incremental Statistics）</a:t>
            </a: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7C14F64-A926-25CD-9170-E9B0C5CE0C80}"/>
              </a:ext>
            </a:extLst>
          </p:cNvPr>
          <p:cNvSpPr/>
          <p:nvPr/>
        </p:nvSpPr>
        <p:spPr>
          <a:xfrm>
            <a:off x="996041" y="3999345"/>
            <a:ext cx="4310745" cy="2868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3.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高精度な攻撃検知モデル</a:t>
            </a:r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重要特徴量を最適化した 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DNN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モデル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Alternate Process 15">
            <a:extLst>
              <a:ext uri="{FF2B5EF4-FFF2-40B4-BE49-F238E27FC236}">
                <a16:creationId xmlns:a16="http://schemas.microsoft.com/office/drawing/2014/main" id="{8AFCA90D-76F9-2531-868A-D9D5EAA5B2B3}"/>
              </a:ext>
            </a:extLst>
          </p:cNvPr>
          <p:cNvSpPr/>
          <p:nvPr/>
        </p:nvSpPr>
        <p:spPr>
          <a:xfrm>
            <a:off x="5666014" y="4077722"/>
            <a:ext cx="4167052" cy="286852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mn-MN" altLang="ja-JP" sz="2400" b="1" dirty="0"/>
              <a:t>4</a:t>
            </a:r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マルチステージ構造による高効率処理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Observation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Detection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Manager</a:t>
            </a:r>
          </a:p>
        </p:txBody>
      </p:sp>
    </p:spTree>
    <p:extLst>
      <p:ext uri="{BB962C8B-B14F-4D97-AF65-F5344CB8AC3E}">
        <p14:creationId xmlns:p14="http://schemas.microsoft.com/office/powerpoint/2010/main" val="2124835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15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5B75FE-F71C-851C-8DA5-01F23A718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023566"/>
            <a:ext cx="9464040" cy="5053095"/>
          </a:xfrm>
        </p:spPr>
        <p:txBody>
          <a:bodyPr>
            <a:normAutofit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研究背景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endParaRPr lang="ja-JP" altLang="en-US" sz="3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評価実験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/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8466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62088-FD83-FA7E-10E9-FC8313C6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16</a:t>
            </a:fld>
            <a:endParaRPr lang="en-JP"/>
          </a:p>
        </p:txBody>
      </p:sp>
      <p:sp>
        <p:nvSpPr>
          <p:cNvPr id="7" name="角丸四角形吹き出し 83">
            <a:extLst>
              <a:ext uri="{FF2B5EF4-FFF2-40B4-BE49-F238E27FC236}">
                <a16:creationId xmlns:a16="http://schemas.microsoft.com/office/drawing/2014/main" id="{9E85A9CA-BAA6-6D22-1B08-37FA2C811B3A}"/>
              </a:ext>
            </a:extLst>
          </p:cNvPr>
          <p:cNvSpPr/>
          <p:nvPr/>
        </p:nvSpPr>
        <p:spPr>
          <a:xfrm>
            <a:off x="6031198" y="1543784"/>
            <a:ext cx="4336352" cy="2469428"/>
          </a:xfrm>
          <a:prstGeom prst="wedgeRoundRectCallout">
            <a:avLst>
              <a:gd name="adj1" fmla="val -63995"/>
              <a:gd name="adj2" fmla="val 43356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Packet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ゲートウェイを通過するネットワークパケットを収集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メタデータ情報を抽出し、後続</a:t>
            </a:r>
            <a:endParaRPr lang="mn-MN" altLang="ja-JP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mn-MN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   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処理に渡す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役割：原始データ（パケット情報）を集める部分</a:t>
            </a:r>
          </a:p>
          <a:p>
            <a:endParaRPr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F421E-845B-2A98-ED5B-AC031CDA38C7}"/>
              </a:ext>
            </a:extLst>
          </p:cNvPr>
          <p:cNvSpPr txBox="1"/>
          <p:nvPr/>
        </p:nvSpPr>
        <p:spPr>
          <a:xfrm>
            <a:off x="508497" y="388362"/>
            <a:ext cx="93670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Realguard IDS 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のシステムアーキテクチャ</a:t>
            </a:r>
            <a:r>
              <a:rPr lang="en-US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1/2</a:t>
            </a:r>
            <a:endParaRPr lang="en-US" sz="3200" b="1" dirty="0">
              <a:solidFill>
                <a:srgbClr val="0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角丸四角形吹き出し 83">
            <a:extLst>
              <a:ext uri="{FF2B5EF4-FFF2-40B4-BE49-F238E27FC236}">
                <a16:creationId xmlns:a16="http://schemas.microsoft.com/office/drawing/2014/main" id="{BBA8EB72-0C13-944C-CA4B-A68588AAD94A}"/>
              </a:ext>
            </a:extLst>
          </p:cNvPr>
          <p:cNvSpPr/>
          <p:nvPr/>
        </p:nvSpPr>
        <p:spPr>
          <a:xfrm>
            <a:off x="6191794" y="4876246"/>
            <a:ext cx="4175755" cy="2076994"/>
          </a:xfrm>
          <a:prstGeom prst="wedgeRoundRectCallout">
            <a:avLst>
              <a:gd name="adj1" fmla="val -71381"/>
              <a:gd name="adj2" fmla="val 27998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en-US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Feature Extraction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収集したパケット情報から統計情報や特徴量を計算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DNN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モデルに入力可能な特徴ベクトルを生成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E6083A-A82F-160C-5D77-AA046154C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4677"/>
            <a:ext cx="5342682" cy="5887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AB936A-536D-7F33-66FF-9532E952E206}"/>
              </a:ext>
            </a:extLst>
          </p:cNvPr>
          <p:cNvSpPr txBox="1"/>
          <p:nvPr/>
        </p:nvSpPr>
        <p:spPr>
          <a:xfrm>
            <a:off x="117591" y="7669128"/>
            <a:ext cx="72890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Realguard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は 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4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つの主要コンポーネントで構成されている。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正方形/長方形 9">
            <a:extLst>
              <a:ext uri="{FF2B5EF4-FFF2-40B4-BE49-F238E27FC236}">
                <a16:creationId xmlns:a16="http://schemas.microsoft.com/office/drawing/2014/main" id="{173369CC-A477-DAB6-3D1E-0A621F9E7419}"/>
              </a:ext>
            </a:extLst>
          </p:cNvPr>
          <p:cNvSpPr/>
          <p:nvPr/>
        </p:nvSpPr>
        <p:spPr>
          <a:xfrm>
            <a:off x="1567543" y="3500847"/>
            <a:ext cx="927463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15" name="正方形/長方形 9">
            <a:extLst>
              <a:ext uri="{FF2B5EF4-FFF2-40B4-BE49-F238E27FC236}">
                <a16:creationId xmlns:a16="http://schemas.microsoft.com/office/drawing/2014/main" id="{A2C7833C-FCAB-6FF1-FB5D-E5E82BFAEE59}"/>
              </a:ext>
            </a:extLst>
          </p:cNvPr>
          <p:cNvSpPr/>
          <p:nvPr/>
        </p:nvSpPr>
        <p:spPr>
          <a:xfrm>
            <a:off x="3183522" y="3509557"/>
            <a:ext cx="927463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</p:spTree>
    <p:extLst>
      <p:ext uri="{BB962C8B-B14F-4D97-AF65-F5344CB8AC3E}">
        <p14:creationId xmlns:p14="http://schemas.microsoft.com/office/powerpoint/2010/main" val="126804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B96C0-D9FB-AD47-E593-B27B0582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17</a:t>
            </a:fld>
            <a:endParaRPr lang="en-J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A6B57-CAD4-7A30-066B-598551025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6" y="1110344"/>
            <a:ext cx="5210175" cy="6244045"/>
          </a:xfrm>
          <a:prstGeom prst="rect">
            <a:avLst/>
          </a:prstGeom>
        </p:spPr>
      </p:pic>
      <p:sp>
        <p:nvSpPr>
          <p:cNvPr id="8" name="角丸四角形吹き出し 83">
            <a:extLst>
              <a:ext uri="{FF2B5EF4-FFF2-40B4-BE49-F238E27FC236}">
                <a16:creationId xmlns:a16="http://schemas.microsoft.com/office/drawing/2014/main" id="{DC023362-6FE7-7BE1-B31C-CA87C328C358}"/>
              </a:ext>
            </a:extLst>
          </p:cNvPr>
          <p:cNvSpPr/>
          <p:nvPr/>
        </p:nvSpPr>
        <p:spPr>
          <a:xfrm>
            <a:off x="5904380" y="1110344"/>
            <a:ext cx="4428340" cy="2870650"/>
          </a:xfrm>
          <a:prstGeom prst="wedgeRoundRectCallout">
            <a:avLst>
              <a:gd name="adj1" fmla="val -63947"/>
              <a:gd name="adj2" fmla="val 42272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3.Attack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FEC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で作成した特徴ベクトルからリアルタイムに異常を検知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DNN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モデルを使用し、</a:t>
            </a:r>
          </a:p>
          <a:p>
            <a:pPr lvl="1"/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攻撃の有無の判断</a:t>
            </a:r>
          </a:p>
          <a:p>
            <a:pPr lvl="1"/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攻撃の種類の特定</a:t>
            </a:r>
          </a:p>
        </p:txBody>
      </p:sp>
      <p:sp>
        <p:nvSpPr>
          <p:cNvPr id="9" name="角丸四角形吹き出し 83">
            <a:extLst>
              <a:ext uri="{FF2B5EF4-FFF2-40B4-BE49-F238E27FC236}">
                <a16:creationId xmlns:a16="http://schemas.microsoft.com/office/drawing/2014/main" id="{07AA2B0E-1151-B3BC-6DC7-9D62B04A05DF}"/>
              </a:ext>
            </a:extLst>
          </p:cNvPr>
          <p:cNvSpPr/>
          <p:nvPr/>
        </p:nvSpPr>
        <p:spPr>
          <a:xfrm>
            <a:off x="5865160" y="4627430"/>
            <a:ext cx="4467559" cy="2519615"/>
          </a:xfrm>
          <a:prstGeom prst="wedgeRoundRectCallout">
            <a:avLst>
              <a:gd name="adj1" fmla="val -61450"/>
              <a:gd name="adj2" fmla="val 26431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4.Action Manager</a:t>
            </a:r>
          </a:p>
          <a:p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ADC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が異常を検知した後のアクションを実行</a:t>
            </a:r>
          </a:p>
          <a:p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対応例：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異常トラフィックのログ保存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不審な通信をブロック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管理者にメール通知</a:t>
            </a:r>
            <a:endParaRPr lang="en-JP" sz="20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CA42DC-DF15-151B-3226-2AB58428CF28}"/>
              </a:ext>
            </a:extLst>
          </p:cNvPr>
          <p:cNvSpPr txBox="1"/>
          <p:nvPr/>
        </p:nvSpPr>
        <p:spPr>
          <a:xfrm>
            <a:off x="355963" y="285597"/>
            <a:ext cx="98624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Realguard IDS 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のシステムアーキテクチャ</a:t>
            </a:r>
            <a:r>
              <a:rPr lang="en-US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2/2</a:t>
            </a:r>
            <a:endParaRPr lang="en-US" sz="3200" b="1" dirty="0">
              <a:solidFill>
                <a:srgbClr val="0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正方形/長方形 9">
            <a:extLst>
              <a:ext uri="{FF2B5EF4-FFF2-40B4-BE49-F238E27FC236}">
                <a16:creationId xmlns:a16="http://schemas.microsoft.com/office/drawing/2014/main" id="{D0F7DF4B-1F0B-1138-3ECC-F8A382F63E31}"/>
              </a:ext>
            </a:extLst>
          </p:cNvPr>
          <p:cNvSpPr/>
          <p:nvPr/>
        </p:nvSpPr>
        <p:spPr>
          <a:xfrm>
            <a:off x="2416629" y="4627430"/>
            <a:ext cx="78377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13" name="正方形/長方形 9">
            <a:extLst>
              <a:ext uri="{FF2B5EF4-FFF2-40B4-BE49-F238E27FC236}">
                <a16:creationId xmlns:a16="http://schemas.microsoft.com/office/drawing/2014/main" id="{01ADD2D7-65DD-D42C-FAE8-C38A6EB442F3}"/>
              </a:ext>
            </a:extLst>
          </p:cNvPr>
          <p:cNvSpPr/>
          <p:nvPr/>
        </p:nvSpPr>
        <p:spPr>
          <a:xfrm>
            <a:off x="2416629" y="6125304"/>
            <a:ext cx="78377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</p:spTree>
    <p:extLst>
      <p:ext uri="{BB962C8B-B14F-4D97-AF65-F5344CB8AC3E}">
        <p14:creationId xmlns:p14="http://schemas.microsoft.com/office/powerpoint/2010/main" val="244716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05CC9-7B91-0348-D643-3D91DF9B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18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E0041-B9AF-5FF6-BAC7-7D42F76BDCA7}"/>
              </a:ext>
            </a:extLst>
          </p:cNvPr>
          <p:cNvSpPr txBox="1"/>
          <p:nvPr/>
        </p:nvSpPr>
        <p:spPr>
          <a:xfrm>
            <a:off x="914401" y="378551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3200" b="1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Packet 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B8040-F08D-C9BE-7BB1-8C8DB9009764}"/>
              </a:ext>
            </a:extLst>
          </p:cNvPr>
          <p:cNvSpPr txBox="1"/>
          <p:nvPr/>
        </p:nvSpPr>
        <p:spPr>
          <a:xfrm>
            <a:off x="1046921" y="1483568"/>
            <a:ext cx="698091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パケットメタデータの収集</a:t>
            </a: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ネットワークを通過するパケットから、以下の情報を収集する：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送信元 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IP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アドレス（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Source IP）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宛先 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IP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アドレス（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Destination IP）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ポート番号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プロトコル種別</a:t>
            </a:r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パケットサイズ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タイムスタンプ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接続状態（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Connection Status）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DF958352-2F11-93F2-1715-5A82324BACC3}"/>
              </a:ext>
            </a:extLst>
          </p:cNvPr>
          <p:cNvSpPr/>
          <p:nvPr/>
        </p:nvSpPr>
        <p:spPr>
          <a:xfrm>
            <a:off x="1557746" y="6358475"/>
            <a:ext cx="705394" cy="5259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5A5DDA-CF42-7CF6-AEF4-543A3A5EFFB5}"/>
              </a:ext>
            </a:extLst>
          </p:cNvPr>
          <p:cNvSpPr txBox="1"/>
          <p:nvPr/>
        </p:nvSpPr>
        <p:spPr>
          <a:xfrm>
            <a:off x="2743200" y="6205952"/>
            <a:ext cx="5486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抽出されたメタデータは、さらなる処理のために 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FEC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に送信されます</a:t>
            </a:r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4251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6843-8BE9-A74A-F2E4-A57288B17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4" y="272823"/>
            <a:ext cx="9464040" cy="119280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Meiryo" panose="020B0604030504040204" pitchFamily="34" charset="-128"/>
                <a:ea typeface="Meiryo" panose="020B0604030504040204" pitchFamily="34" charset="-128"/>
              </a:rPr>
              <a:t>Feature Extraction</a:t>
            </a:r>
            <a:r>
              <a:rPr lang="ja-JP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r>
              <a:rPr lang="en-US" sz="1100" dirty="0"/>
              <a:t> </a:t>
            </a:r>
            <a:r>
              <a:rPr lang="en-US" sz="3600" b="1" dirty="0">
                <a:latin typeface="Meiryo" panose="020B0604030504040204" pitchFamily="34" charset="-128"/>
                <a:ea typeface="Meiryo" panose="020B0604030504040204" pitchFamily="34" charset="-128"/>
              </a:rPr>
              <a:t>(Overview)</a:t>
            </a:r>
            <a:endParaRPr lang="en-JP" sz="36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69E5A-926E-1947-6D63-AA961DE1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19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5BA394-D634-FC46-E7C4-9854C1640A0D}"/>
              </a:ext>
            </a:extLst>
          </p:cNvPr>
          <p:cNvSpPr txBox="1"/>
          <p:nvPr/>
        </p:nvSpPr>
        <p:spPr>
          <a:xfrm>
            <a:off x="299119" y="1425093"/>
            <a:ext cx="946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FEC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は、ネットワークトラフィックから数値的な統計情報を抽出し、機械学習モデルに入力可能なベクトル形式へ変換する 役割</a:t>
            </a:r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mn-MN" altLang="ja-JP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F15E4-6644-085B-C664-71D041A0C8D0}"/>
              </a:ext>
            </a:extLst>
          </p:cNvPr>
          <p:cNvSpPr txBox="1"/>
          <p:nvPr/>
        </p:nvSpPr>
        <p:spPr>
          <a:xfrm>
            <a:off x="651626" y="2838463"/>
            <a:ext cx="99236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ネットワークパケットから特徴量を抽出</a:t>
            </a:r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特徴量はネットワークの現在の状態を表す</a:t>
            </a:r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異常行動の検出に使用可能</a:t>
            </a:r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例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TCP SYN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パケットの速度が高い → </a:t>
            </a: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DoS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攻撃検出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SYN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パケットが突然増加・ジッターが大きい → 中間者攻撃の可能性</a:t>
            </a:r>
          </a:p>
        </p:txBody>
      </p:sp>
    </p:spTree>
    <p:extLst>
      <p:ext uri="{BB962C8B-B14F-4D97-AF65-F5344CB8AC3E}">
        <p14:creationId xmlns:p14="http://schemas.microsoft.com/office/powerpoint/2010/main" val="1924134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BFFF-1C42-1BC9-74CA-59E8A8B0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96558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Meiryo" panose="020B0604030504040204" pitchFamily="34" charset="-128"/>
                <a:ea typeface="Meiryo" panose="020B0604030504040204" pitchFamily="34" charset="-128"/>
              </a:rPr>
              <a:t>Feature Extraction</a:t>
            </a:r>
            <a:r>
              <a:rPr lang="ja-JP" altLang="en-US" sz="4000" b="1">
                <a:latin typeface="Meiryo" panose="020B0604030504040204" pitchFamily="34" charset="-128"/>
                <a:ea typeface="Meiryo" panose="020B0604030504040204" pitchFamily="34" charset="-128"/>
              </a:rPr>
              <a:t>の 流れ</a:t>
            </a:r>
            <a:endParaRPr lang="en-JP" sz="40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119B6-9150-2028-4632-9D8E406E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20</a:t>
            </a:fld>
            <a:endParaRPr lang="en-JP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8C70B2-E604-D658-DC8A-D65FEE06083E}"/>
              </a:ext>
            </a:extLst>
          </p:cNvPr>
          <p:cNvSpPr/>
          <p:nvPr/>
        </p:nvSpPr>
        <p:spPr>
          <a:xfrm>
            <a:off x="1679045" y="2082538"/>
            <a:ext cx="1961322" cy="2275480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Metadata</a:t>
            </a:r>
            <a:endParaRPr lang="en-JP" sz="28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000A8E-CF82-0D67-BBBD-22CD33CBD5E5}"/>
              </a:ext>
            </a:extLst>
          </p:cNvPr>
          <p:cNvSpPr/>
          <p:nvPr/>
        </p:nvSpPr>
        <p:spPr>
          <a:xfrm>
            <a:off x="4735661" y="2038888"/>
            <a:ext cx="2623931" cy="2319130"/>
          </a:xfrm>
          <a:prstGeom prst="round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Damped Incremental         Statistics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endParaRPr lang="en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9D3DF1-B9BC-312B-E48D-055F37F19766}"/>
              </a:ext>
            </a:extLst>
          </p:cNvPr>
          <p:cNvSpPr/>
          <p:nvPr/>
        </p:nvSpPr>
        <p:spPr>
          <a:xfrm>
            <a:off x="8454887" y="2023070"/>
            <a:ext cx="1961322" cy="2314654"/>
          </a:xfrm>
          <a:prstGeom prst="round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</a:t>
            </a:r>
            <a:endParaRPr lang="en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1B646F-8201-6FCF-A5CA-BF3F3E8729E5}"/>
              </a:ext>
            </a:extLst>
          </p:cNvPr>
          <p:cNvSpPr/>
          <p:nvPr/>
        </p:nvSpPr>
        <p:spPr>
          <a:xfrm>
            <a:off x="8454887" y="5517418"/>
            <a:ext cx="1961322" cy="1378224"/>
          </a:xfrm>
          <a:prstGeom prst="round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Detection Component</a:t>
            </a:r>
            <a:endParaRPr lang="en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F937DE-8C50-F037-ED92-9D3C90375948}"/>
              </a:ext>
            </a:extLst>
          </p:cNvPr>
          <p:cNvCxnSpPr>
            <a:cxnSpLocks/>
          </p:cNvCxnSpPr>
          <p:nvPr/>
        </p:nvCxnSpPr>
        <p:spPr>
          <a:xfrm>
            <a:off x="424432" y="3434761"/>
            <a:ext cx="848139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22CE350-4126-0685-21E5-799B9AC2D3D6}"/>
              </a:ext>
            </a:extLst>
          </p:cNvPr>
          <p:cNvSpPr txBox="1"/>
          <p:nvPr/>
        </p:nvSpPr>
        <p:spPr>
          <a:xfrm>
            <a:off x="322844" y="2768079"/>
            <a:ext cx="1051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lang="en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3CDE0A-DB1E-4D95-FD79-99781ECD09E5}"/>
              </a:ext>
            </a:extLst>
          </p:cNvPr>
          <p:cNvCxnSpPr>
            <a:cxnSpLocks/>
          </p:cNvCxnSpPr>
          <p:nvPr/>
        </p:nvCxnSpPr>
        <p:spPr>
          <a:xfrm>
            <a:off x="3772889" y="3434761"/>
            <a:ext cx="848139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59945B-68EA-091C-4AA3-3EFB651B657B}"/>
              </a:ext>
            </a:extLst>
          </p:cNvPr>
          <p:cNvCxnSpPr>
            <a:cxnSpLocks/>
          </p:cNvCxnSpPr>
          <p:nvPr/>
        </p:nvCxnSpPr>
        <p:spPr>
          <a:xfrm>
            <a:off x="7606748" y="3343321"/>
            <a:ext cx="706346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D2592A0-DBB5-FD32-2FDE-47210D80C016}"/>
              </a:ext>
            </a:extLst>
          </p:cNvPr>
          <p:cNvCxnSpPr>
            <a:cxnSpLocks/>
          </p:cNvCxnSpPr>
          <p:nvPr/>
        </p:nvCxnSpPr>
        <p:spPr>
          <a:xfrm>
            <a:off x="9468016" y="4520604"/>
            <a:ext cx="0" cy="863302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43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31E7C-475B-533D-CC4C-91C9DECCB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21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E45234-9184-3BB3-03F8-31D60E227861}"/>
              </a:ext>
            </a:extLst>
          </p:cNvPr>
          <p:cNvSpPr txBox="1"/>
          <p:nvPr/>
        </p:nvSpPr>
        <p:spPr>
          <a:xfrm>
            <a:off x="308611" y="-211258"/>
            <a:ext cx="96142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mn-MN" sz="28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Feature Extraction</a:t>
            </a:r>
            <a:r>
              <a:rPr lang="mn-MN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r>
              <a:rPr lang="mn-MN" altLang="ja-JP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Damped Incremental Statistics – </a:t>
            </a:r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主要アイデア</a:t>
            </a:r>
            <a:endParaRPr lang="en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2B1CE3-480C-FED0-126C-757612F5AB95}"/>
              </a:ext>
            </a:extLst>
          </p:cNvPr>
          <p:cNvSpPr txBox="1"/>
          <p:nvPr/>
        </p:nvSpPr>
        <p:spPr>
          <a:xfrm>
            <a:off x="250641" y="1086845"/>
            <a:ext cx="90607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Damped Incremental Statistics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アルゴリズムは、複数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session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のパケットから統計的特徴量を効率的に抽出する手法であり、累積和と指数減衰を用いて計算コストとメモリ使用量を削減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br>
              <a:rPr lang="ja-JP" altLang="en-US" sz="2000"/>
            </a:b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01E5459E-9E6F-0ED1-AC34-8FAD45CAD786}"/>
              </a:ext>
            </a:extLst>
          </p:cNvPr>
          <p:cNvSpPr/>
          <p:nvPr/>
        </p:nvSpPr>
        <p:spPr>
          <a:xfrm rot="16200000">
            <a:off x="5265176" y="3207104"/>
            <a:ext cx="194253" cy="1162597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B7E7E646-12D1-0F1E-7B8B-8E216DEF2830}"/>
              </a:ext>
            </a:extLst>
          </p:cNvPr>
          <p:cNvSpPr/>
          <p:nvPr/>
        </p:nvSpPr>
        <p:spPr>
          <a:xfrm>
            <a:off x="6270172" y="2226365"/>
            <a:ext cx="3827985" cy="2099226"/>
          </a:xfrm>
          <a:prstGeom prst="triangle">
            <a:avLst>
              <a:gd name="adj" fmla="val 514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すべてのデータをメモリに保持できない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!</a:t>
            </a:r>
            <a:endParaRPr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JP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F7F891-0D97-3F67-D5A2-9EAF9BC8380A}"/>
              </a:ext>
            </a:extLst>
          </p:cNvPr>
          <p:cNvSpPr txBox="1"/>
          <p:nvPr/>
        </p:nvSpPr>
        <p:spPr>
          <a:xfrm>
            <a:off x="4656247" y="2617588"/>
            <a:ext cx="21031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ネットワーク</a:t>
            </a:r>
            <a:endParaRPr lang="en-US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トラフィックは連続的に到着</a:t>
            </a:r>
          </a:p>
          <a:p>
            <a:endParaRPr lang="en-JP" sz="2000" dirty="0"/>
          </a:p>
        </p:txBody>
      </p:sp>
      <p:sp>
        <p:nvSpPr>
          <p:cNvPr id="17" name="Can 16">
            <a:extLst>
              <a:ext uri="{FF2B5EF4-FFF2-40B4-BE49-F238E27FC236}">
                <a16:creationId xmlns:a16="http://schemas.microsoft.com/office/drawing/2014/main" id="{765F4A86-C31B-601E-BE0F-E80423327A15}"/>
              </a:ext>
            </a:extLst>
          </p:cNvPr>
          <p:cNvSpPr/>
          <p:nvPr/>
        </p:nvSpPr>
        <p:spPr>
          <a:xfrm>
            <a:off x="5007198" y="4533982"/>
            <a:ext cx="2246812" cy="414608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b="1"/>
              <a:t>解決策</a:t>
            </a:r>
            <a:endParaRPr lang="en-JP" dirty="0"/>
          </a:p>
        </p:txBody>
      </p:sp>
      <p:sp>
        <p:nvSpPr>
          <p:cNvPr id="24" name="Oval Callout 23">
            <a:extLst>
              <a:ext uri="{FF2B5EF4-FFF2-40B4-BE49-F238E27FC236}">
                <a16:creationId xmlns:a16="http://schemas.microsoft.com/office/drawing/2014/main" id="{5529FFCF-6B03-FD33-4B27-91D2549FFB72}"/>
              </a:ext>
            </a:extLst>
          </p:cNvPr>
          <p:cNvSpPr/>
          <p:nvPr/>
        </p:nvSpPr>
        <p:spPr>
          <a:xfrm>
            <a:off x="6457948" y="4741286"/>
            <a:ext cx="3464927" cy="1681563"/>
          </a:xfrm>
          <a:prstGeom prst="wedgeEllipseCallout">
            <a:avLst>
              <a:gd name="adj1" fmla="val -61788"/>
              <a:gd name="adj2" fmla="val -1888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新しいパケットが来るたび 統計のみを更新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08EF9B-F412-B02D-9DB3-41AAFB7F9CA2}"/>
              </a:ext>
            </a:extLst>
          </p:cNvPr>
          <p:cNvSpPr txBox="1"/>
          <p:nvPr/>
        </p:nvSpPr>
        <p:spPr>
          <a:xfrm>
            <a:off x="666205" y="6043263"/>
            <a:ext cx="52773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数値データのみを保持するインクリメンタル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(Incremental)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方式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15B5DF83-A4C3-A972-C4E1-BB4932285C68}"/>
              </a:ext>
            </a:extLst>
          </p:cNvPr>
          <p:cNvSpPr/>
          <p:nvPr/>
        </p:nvSpPr>
        <p:spPr>
          <a:xfrm>
            <a:off x="4197281" y="4800597"/>
            <a:ext cx="194253" cy="1162597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69C2F3-4958-B213-C29A-7B82825E4EFC}"/>
              </a:ext>
            </a:extLst>
          </p:cNvPr>
          <p:cNvSpPr txBox="1"/>
          <p:nvPr/>
        </p:nvSpPr>
        <p:spPr>
          <a:xfrm>
            <a:off x="829493" y="6727483"/>
            <a:ext cx="55190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1 →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統計を更新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2 →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統計を更新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31A02F-8247-4C61-442F-1F6CF4FA2450}"/>
              </a:ext>
            </a:extLst>
          </p:cNvPr>
          <p:cNvSpPr txBox="1"/>
          <p:nvPr/>
        </p:nvSpPr>
        <p:spPr>
          <a:xfrm>
            <a:off x="5486400" y="7154335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Decay Function – </a:t>
            </a:r>
            <a:r>
              <a:rPr lang="ja-JP" altLang="en-US" sz="2000" b="1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古いデータ</a:t>
            </a:r>
            <a:r>
              <a:rPr lang="en-US" altLang="ja-JP" sz="2000" b="1" dirty="0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?</a:t>
            </a:r>
            <a:endParaRPr lang="en-JP" sz="2000" b="1" dirty="0">
              <a:solidFill>
                <a:schemeClr val="accent2">
                  <a:lumMod val="7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14E4E3-B147-E9BA-DB77-DB8AD9724897}"/>
              </a:ext>
            </a:extLst>
          </p:cNvPr>
          <p:cNvSpPr/>
          <p:nvPr/>
        </p:nvSpPr>
        <p:spPr>
          <a:xfrm>
            <a:off x="666205" y="2471840"/>
            <a:ext cx="3530372" cy="25498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従来の方法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100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万パケット → すべて保存 → 平均を計算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メモリ使用量が非常に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大きい</a:t>
            </a:r>
          </a:p>
        </p:txBody>
      </p:sp>
    </p:spTree>
    <p:extLst>
      <p:ext uri="{BB962C8B-B14F-4D97-AF65-F5344CB8AC3E}">
        <p14:creationId xmlns:p14="http://schemas.microsoft.com/office/powerpoint/2010/main" val="332516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DECA7-057C-5DC3-BC94-2EAF3F21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22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2ED94-551F-CD13-E18F-9854D5F998BB}"/>
              </a:ext>
            </a:extLst>
          </p:cNvPr>
          <p:cNvSpPr txBox="1"/>
          <p:nvPr/>
        </p:nvSpPr>
        <p:spPr>
          <a:xfrm>
            <a:off x="365757" y="372215"/>
            <a:ext cx="88043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Damped Incremental Statistics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endParaRPr lang="mn-MN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Decay Function – 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古いデータを減衰させる</a:t>
            </a:r>
            <a:endParaRPr lang="en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703D93-1464-6282-24A5-565AEDDB6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180" y="1516822"/>
            <a:ext cx="2044700" cy="11958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CC828F-39D3-247C-4A30-2048FC8DB4C9}"/>
              </a:ext>
            </a:extLst>
          </p:cNvPr>
          <p:cNvSpPr txBox="1"/>
          <p:nvPr/>
        </p:nvSpPr>
        <p:spPr>
          <a:xfrm>
            <a:off x="692330" y="1951192"/>
            <a:ext cx="5486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Meiryo" panose="020B0604030504040204" pitchFamily="34" charset="-128"/>
                <a:ea typeface="Meiryo" panose="020B0604030504040204" pitchFamily="34" charset="-128"/>
              </a:rPr>
              <a:t>Equation: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7BFBA6-3F58-1A4B-F272-C580D4C3F275}"/>
              </a:ext>
            </a:extLst>
          </p:cNvPr>
          <p:cNvSpPr txBox="1"/>
          <p:nvPr/>
        </p:nvSpPr>
        <p:spPr>
          <a:xfrm>
            <a:off x="5424668" y="1697023"/>
            <a:ext cx="5486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Idea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ネットワークトラフィックは急速に変化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新しいデータを優先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2A9158-FC92-2A80-61E6-ED5272641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266595"/>
              </p:ext>
            </p:extLst>
          </p:nvPr>
        </p:nvGraphicFramePr>
        <p:xfrm>
          <a:off x="692330" y="2954896"/>
          <a:ext cx="9464676" cy="21338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41388">
                  <a:extLst>
                    <a:ext uri="{9D8B030D-6E8A-4147-A177-3AD203B41FA5}">
                      <a16:colId xmlns:a16="http://schemas.microsoft.com/office/drawing/2014/main" val="3296651091"/>
                    </a:ext>
                  </a:extLst>
                </a:gridCol>
                <a:gridCol w="3654019">
                  <a:extLst>
                    <a:ext uri="{9D8B030D-6E8A-4147-A177-3AD203B41FA5}">
                      <a16:colId xmlns:a16="http://schemas.microsoft.com/office/drawing/2014/main" val="797663847"/>
                    </a:ext>
                  </a:extLst>
                </a:gridCol>
                <a:gridCol w="3769269">
                  <a:extLst>
                    <a:ext uri="{9D8B030D-6E8A-4147-A177-3AD203B41FA5}">
                      <a16:colId xmlns:a16="http://schemas.microsoft.com/office/drawing/2014/main" val="1153025432"/>
                    </a:ext>
                  </a:extLst>
                </a:gridCol>
              </a:tblGrid>
              <a:tr h="426763"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時間</a:t>
                      </a:r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(t)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重み</a:t>
                      </a:r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(Weight)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重要度</a:t>
                      </a:r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(%)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5869063"/>
                  </a:ext>
                </a:extLst>
              </a:tr>
              <a:tr h="426763"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現在</a:t>
                      </a:r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(t=0)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2^0 = 1.0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100%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695741"/>
                  </a:ext>
                </a:extLst>
              </a:tr>
              <a:tr h="426763"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1</a:t>
                      </a:r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秒前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2^-1 = 0.5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50%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89863648"/>
                  </a:ext>
                </a:extLst>
              </a:tr>
              <a:tr h="426763"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</a:t>
                      </a:r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秒前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2^-2 = 0.25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25%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35653170"/>
                  </a:ext>
                </a:extLst>
              </a:tr>
              <a:tr h="426763"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sz="2000" b="1" kern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秒前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2^-3 = 0.125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kern="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12%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4333594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7A4235B-D375-DDF8-D748-59CA3274528D}"/>
              </a:ext>
            </a:extLst>
          </p:cNvPr>
          <p:cNvSpPr txBox="1"/>
          <p:nvPr/>
        </p:nvSpPr>
        <p:spPr>
          <a:xfrm>
            <a:off x="692330" y="5431036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α = </a:t>
            </a:r>
            <a:r>
              <a:rPr lang="en-US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Decay factor（</a:t>
            </a:r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減衰率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  <a:p>
            <a:r>
              <a:rPr lang="en-US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t = </a:t>
            </a:r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時間差</a:t>
            </a:r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BDC86E-7151-C8C1-86FE-2A4090009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0407" y="5627012"/>
            <a:ext cx="1216599" cy="1462308"/>
          </a:xfrm>
          <a:prstGeom prst="rect">
            <a:avLst/>
          </a:prstGeom>
        </p:spPr>
      </p:pic>
      <p:sp>
        <p:nvSpPr>
          <p:cNvPr id="18" name="Cloud Callout 17">
            <a:extLst>
              <a:ext uri="{FF2B5EF4-FFF2-40B4-BE49-F238E27FC236}">
                <a16:creationId xmlns:a16="http://schemas.microsoft.com/office/drawing/2014/main" id="{0025EC55-8947-BEBD-20A1-0F7E2BF5A7A8}"/>
              </a:ext>
            </a:extLst>
          </p:cNvPr>
          <p:cNvSpPr/>
          <p:nvPr/>
        </p:nvSpPr>
        <p:spPr>
          <a:xfrm>
            <a:off x="4666296" y="5627136"/>
            <a:ext cx="3024867" cy="2438636"/>
          </a:xfrm>
          <a:prstGeom prst="cloudCallout">
            <a:avLst>
              <a:gd name="adj1" fmla="val 81864"/>
              <a:gd name="adj2" fmla="val -29438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Incremental Vector Array</a:t>
            </a:r>
            <a:r>
              <a:rPr lang="mn-MN" sz="2400" dirty="0">
                <a:solidFill>
                  <a:schemeClr val="tx1"/>
                </a:solidFill>
              </a:rPr>
              <a:t>(</a:t>
            </a:r>
            <a:r>
              <a:rPr lang="en-US" sz="2400" dirty="0">
                <a:solidFill>
                  <a:schemeClr val="tx1"/>
                </a:solidFill>
              </a:rPr>
              <a:t>IV</a:t>
            </a:r>
            <a:r>
              <a:rPr lang="ja-JP" altLang="en-US" sz="2400">
                <a:solidFill>
                  <a:schemeClr val="tx1"/>
                </a:solidFill>
              </a:rPr>
              <a:t>配列</a:t>
            </a:r>
            <a:r>
              <a:rPr lang="en-US" altLang="ja-JP" sz="2400" dirty="0">
                <a:solidFill>
                  <a:schemeClr val="tx1"/>
                </a:solidFill>
              </a:rPr>
              <a:t>)</a:t>
            </a:r>
            <a:r>
              <a:rPr lang="ja-JP" altLang="en-US"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何ですか？</a:t>
            </a:r>
            <a:endParaRPr lang="en-JP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794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95363-95F3-A2A0-DE81-2E55116C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23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F3112-678B-87F2-E498-202A8FBDE84C}"/>
              </a:ext>
            </a:extLst>
          </p:cNvPr>
          <p:cNvSpPr txBox="1"/>
          <p:nvPr/>
        </p:nvSpPr>
        <p:spPr>
          <a:xfrm>
            <a:off x="338498" y="141486"/>
            <a:ext cx="9601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Feature Extraction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endParaRPr lang="mn-MN" altLang="ja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IV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配列 </a:t>
            </a:r>
            <a:r>
              <a:rPr lang="en-US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– 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保存する情報</a:t>
            </a:r>
            <a:endParaRPr lang="en-US" altLang="ja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Information Stored per Feature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6D22F1-05A4-5BB3-80D6-B03FE889C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830" y="1630116"/>
            <a:ext cx="4051300" cy="939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C67345-3B59-3D37-9661-B16A07CDE42D}"/>
              </a:ext>
            </a:extLst>
          </p:cNvPr>
          <p:cNvSpPr txBox="1"/>
          <p:nvPr/>
        </p:nvSpPr>
        <p:spPr>
          <a:xfrm>
            <a:off x="727347" y="2100016"/>
            <a:ext cx="3190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各特徴量の情報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38A6C6-67E9-9CCD-5554-FC27C906BABF}"/>
              </a:ext>
            </a:extLst>
          </p:cNvPr>
          <p:cNvSpPr txBox="1"/>
          <p:nvPr/>
        </p:nvSpPr>
        <p:spPr>
          <a:xfrm>
            <a:off x="4104141" y="5407161"/>
            <a:ext cx="5486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w = 1000 (1000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パケット観測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LSI = 50000 (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合計バイト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SSI = 3,000,000 (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二乗和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t_L = 12:34:56 (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最後の更新時間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147B9CD-F4CE-CAA1-B53C-7187D3F87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33262"/>
              </p:ext>
            </p:extLst>
          </p:nvPr>
        </p:nvGraphicFramePr>
        <p:xfrm>
          <a:off x="780779" y="2552563"/>
          <a:ext cx="9464674" cy="26639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7251">
                  <a:extLst>
                    <a:ext uri="{9D8B030D-6E8A-4147-A177-3AD203B41FA5}">
                      <a16:colId xmlns:a16="http://schemas.microsoft.com/office/drawing/2014/main" val="4262175882"/>
                    </a:ext>
                  </a:extLst>
                </a:gridCol>
                <a:gridCol w="7867423">
                  <a:extLst>
                    <a:ext uri="{9D8B030D-6E8A-4147-A177-3AD203B41FA5}">
                      <a16:colId xmlns:a16="http://schemas.microsoft.com/office/drawing/2014/main" val="383615325"/>
                    </a:ext>
                  </a:extLst>
                </a:gridCol>
              </a:tblGrid>
              <a:tr h="443997"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項目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意味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45734023"/>
                  </a:ext>
                </a:extLst>
              </a:tr>
              <a:tr h="443997"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w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重み</a:t>
                      </a:r>
                      <a:r>
                        <a:rPr lang="en-JP" sz="2000" b="1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(Weight)</a:t>
                      </a:r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、観測</a:t>
                      </a:r>
                      <a:r>
                        <a:rPr lang="en-US" altLang="ja-JP" sz="2000" b="1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number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8241392"/>
                  </a:ext>
                </a:extLst>
              </a:tr>
              <a:tr h="443997"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LSI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Linear Sum of Instances</a:t>
                      </a:r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、値の合計</a:t>
                      </a:r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(Σx)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51785440"/>
                  </a:ext>
                </a:extLst>
              </a:tr>
              <a:tr h="443997"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SSI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b="1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Squared Sum of Instances</a:t>
                      </a:r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、値の二乗和</a:t>
                      </a:r>
                      <a:r>
                        <a:rPr lang="en-JP" sz="2000" b="1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 (Σx²)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82209296"/>
                  </a:ext>
                </a:extLst>
              </a:tr>
              <a:tr h="443997"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SR_ij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Sum of Residual products</a:t>
                      </a:r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、相関計算</a:t>
                      </a:r>
                      <a:endParaRPr lang="en-JP" sz="2000" b="1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11552677"/>
                  </a:ext>
                </a:extLst>
              </a:tr>
              <a:tr h="443997">
                <a:tc>
                  <a:txBody>
                    <a:bodyPr/>
                    <a:lstStyle/>
                    <a:p>
                      <a:r>
                        <a:rPr lang="en-JP" sz="2000" b="1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t_L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ja-JP" sz="2000" b="1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最後に更新した時刻</a:t>
                      </a:r>
                      <a:endParaRPr lang="en-JP" sz="20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4247410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8BCC6E9-421F-3271-ADC7-640765AADBDB}"/>
              </a:ext>
            </a:extLst>
          </p:cNvPr>
          <p:cNvSpPr txBox="1"/>
          <p:nvPr/>
        </p:nvSpPr>
        <p:spPr>
          <a:xfrm>
            <a:off x="1174750" y="6222028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パケットサイズ特徴量</a:t>
            </a:r>
          </a:p>
        </p:txBody>
      </p:sp>
    </p:spTree>
    <p:extLst>
      <p:ext uri="{BB962C8B-B14F-4D97-AF65-F5344CB8AC3E}">
        <p14:creationId xmlns:p14="http://schemas.microsoft.com/office/powerpoint/2010/main" val="986914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9675-A520-016D-C8FE-2BCEC8BC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123" y="163828"/>
            <a:ext cx="9464040" cy="828945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Feature Extraction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br>
              <a:rPr lang="mn-MN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アルゴリズム</a:t>
            </a:r>
            <a:r>
              <a:rPr lang="en-US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1 – </a:t>
            </a:r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IV_{i,</a:t>
            </a:r>
            <a:r>
              <a:rPr lang="el-GR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α} 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の更新手順</a:t>
            </a:r>
            <a:endParaRPr lang="en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2EB97-58C3-56B8-283E-04D4A3A7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24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26D740-D211-0962-424F-471C53EBABFA}"/>
              </a:ext>
            </a:extLst>
          </p:cNvPr>
          <p:cNvSpPr txBox="1"/>
          <p:nvPr/>
        </p:nvSpPr>
        <p:spPr>
          <a:xfrm>
            <a:off x="514714" y="101995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Algorithm 1: Update IV_{i,</a:t>
            </a:r>
            <a:r>
              <a:rPr lang="el-GR" dirty="0">
                <a:latin typeface="Meiryo" panose="020B0604030504040204" pitchFamily="34" charset="-128"/>
                <a:ea typeface="Meiryo" panose="020B0604030504040204" pitchFamily="34" charset="-128"/>
              </a:rPr>
              <a:t>α}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2DC18-D2F2-C999-B80E-494408CA8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153" y="1618802"/>
            <a:ext cx="2852783" cy="1028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443890-4CF5-F845-7A86-19BF46ACF5E8}"/>
              </a:ext>
            </a:extLst>
          </p:cNvPr>
          <p:cNvSpPr txBox="1"/>
          <p:nvPr/>
        </p:nvSpPr>
        <p:spPr>
          <a:xfrm>
            <a:off x="627017" y="1883581"/>
            <a:ext cx="781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Step1:</a:t>
            </a:r>
          </a:p>
          <a:p>
            <a:endParaRPr lang="en-JP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42545E-EBCF-B38A-E9F7-2CFA8B0D2271}"/>
              </a:ext>
            </a:extLst>
          </p:cNvPr>
          <p:cNvSpPr txBox="1"/>
          <p:nvPr/>
        </p:nvSpPr>
        <p:spPr>
          <a:xfrm>
            <a:off x="914399" y="2626528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Decay factor 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を計算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古いデータの重みを減衰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AB8B8F-4EB7-6AA3-DF31-293CF424215F}"/>
              </a:ext>
            </a:extLst>
          </p:cNvPr>
          <p:cNvSpPr txBox="1"/>
          <p:nvPr/>
        </p:nvSpPr>
        <p:spPr>
          <a:xfrm>
            <a:off x="5342709" y="1856367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Step2:</a:t>
            </a:r>
            <a:endParaRPr lang="en-JP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4D5331-12EC-1784-AA42-66EBAFF63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355" y="1425564"/>
            <a:ext cx="4838700" cy="1104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F976A26-D510-02BF-58AF-207B4AB723C9}"/>
              </a:ext>
            </a:extLst>
          </p:cNvPr>
          <p:cNvSpPr txBox="1"/>
          <p:nvPr/>
        </p:nvSpPr>
        <p:spPr>
          <a:xfrm>
            <a:off x="6523447" y="2444727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古い値に 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decay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を適用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時刻を更新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5E5D7E-62E3-98D9-9977-F4400A1DECF5}"/>
              </a:ext>
            </a:extLst>
          </p:cNvPr>
          <p:cNvSpPr txBox="1"/>
          <p:nvPr/>
        </p:nvSpPr>
        <p:spPr>
          <a:xfrm>
            <a:off x="627017" y="3797748"/>
            <a:ext cx="6061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Step3:</a:t>
            </a:r>
          </a:p>
          <a:p>
            <a:endParaRPr lang="en-JP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9233FA1-363A-9235-D90D-98FCD8F6A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0957" y="3388786"/>
            <a:ext cx="6990712" cy="11657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B9D9C72-771D-966D-BF61-8755E0312B7A}"/>
              </a:ext>
            </a:extLst>
          </p:cNvPr>
          <p:cNvSpPr txBox="1"/>
          <p:nvPr/>
        </p:nvSpPr>
        <p:spPr>
          <a:xfrm>
            <a:off x="1528354" y="4685555"/>
            <a:ext cx="60611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新しい値を加算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w: +1（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観測回数を増やす）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LSI: +xC（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新しい値を加算）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SSI: +x_C²（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平方を加算）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6FC99B-4407-6202-E35D-C17A231C6505}"/>
              </a:ext>
            </a:extLst>
          </p:cNvPr>
          <p:cNvSpPr txBox="1"/>
          <p:nvPr/>
        </p:nvSpPr>
        <p:spPr>
          <a:xfrm>
            <a:off x="709479" y="6634759"/>
            <a:ext cx="6061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Step4: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A88B8A0-1783-BA77-02C4-B2AB72066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205" y="6392355"/>
            <a:ext cx="1968500" cy="106947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2E86777-3C42-9731-FBCF-40788602E050}"/>
              </a:ext>
            </a:extLst>
          </p:cNvPr>
          <p:cNvSpPr txBox="1"/>
          <p:nvPr/>
        </p:nvSpPr>
        <p:spPr>
          <a:xfrm>
            <a:off x="3956417" y="6603981"/>
            <a:ext cx="60611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更新済み 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IV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配列を返す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7" name="正方形/長方形 9">
            <a:extLst>
              <a:ext uri="{FF2B5EF4-FFF2-40B4-BE49-F238E27FC236}">
                <a16:creationId xmlns:a16="http://schemas.microsoft.com/office/drawing/2014/main" id="{4F70C882-7B35-C3F9-B53F-D2C5AD4ACA24}"/>
              </a:ext>
            </a:extLst>
          </p:cNvPr>
          <p:cNvSpPr/>
          <p:nvPr/>
        </p:nvSpPr>
        <p:spPr>
          <a:xfrm>
            <a:off x="627018" y="1766019"/>
            <a:ext cx="376210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28" name="正方形/長方形 9">
            <a:extLst>
              <a:ext uri="{FF2B5EF4-FFF2-40B4-BE49-F238E27FC236}">
                <a16:creationId xmlns:a16="http://schemas.microsoft.com/office/drawing/2014/main" id="{D3AF6369-5654-FF0C-D949-3AC84A611C46}"/>
              </a:ext>
            </a:extLst>
          </p:cNvPr>
          <p:cNvSpPr/>
          <p:nvPr/>
        </p:nvSpPr>
        <p:spPr>
          <a:xfrm>
            <a:off x="5267417" y="1484076"/>
            <a:ext cx="556169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29" name="正方形/長方形 9">
            <a:extLst>
              <a:ext uri="{FF2B5EF4-FFF2-40B4-BE49-F238E27FC236}">
                <a16:creationId xmlns:a16="http://schemas.microsoft.com/office/drawing/2014/main" id="{45929000-6A7E-858D-6FE8-5516F28C26FA}"/>
              </a:ext>
            </a:extLst>
          </p:cNvPr>
          <p:cNvSpPr/>
          <p:nvPr/>
        </p:nvSpPr>
        <p:spPr>
          <a:xfrm>
            <a:off x="627017" y="3684040"/>
            <a:ext cx="773321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30" name="正方形/長方形 9">
            <a:extLst>
              <a:ext uri="{FF2B5EF4-FFF2-40B4-BE49-F238E27FC236}">
                <a16:creationId xmlns:a16="http://schemas.microsoft.com/office/drawing/2014/main" id="{B0F5625B-5F98-47A3-3F96-A4775529149A}"/>
              </a:ext>
            </a:extLst>
          </p:cNvPr>
          <p:cNvSpPr/>
          <p:nvPr/>
        </p:nvSpPr>
        <p:spPr>
          <a:xfrm>
            <a:off x="627017" y="6374348"/>
            <a:ext cx="7733212" cy="74458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</p:spTree>
    <p:extLst>
      <p:ext uri="{BB962C8B-B14F-4D97-AF65-F5344CB8AC3E}">
        <p14:creationId xmlns:p14="http://schemas.microsoft.com/office/powerpoint/2010/main" val="249870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D01F-106E-3946-DAD6-59619FA9D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873" y="209342"/>
            <a:ext cx="9464040" cy="711379"/>
          </a:xfrm>
        </p:spPr>
        <p:txBody>
          <a:bodyPr>
            <a:normAutofit fontScale="9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Feature Extraction</a:t>
            </a:r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br>
              <a:rPr lang="mn-MN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例 </a:t>
            </a:r>
            <a:r>
              <a:rPr lang="en-US" altLang="ja-JP" sz="3200" dirty="0">
                <a:latin typeface="Meiryo" panose="020B0604030504040204" pitchFamily="34" charset="-128"/>
                <a:ea typeface="Meiryo" panose="020B0604030504040204" pitchFamily="34" charset="-128"/>
              </a:rPr>
              <a:t>–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実践的計算</a:t>
            </a:r>
            <a:endParaRPr lang="en-JP" sz="3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69097-5C29-1640-69F6-09821E2E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25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EC2C1-390F-503A-1230-0225B94C111E}"/>
              </a:ext>
            </a:extLst>
          </p:cNvPr>
          <p:cNvSpPr txBox="1"/>
          <p:nvPr/>
        </p:nvSpPr>
        <p:spPr>
          <a:xfrm>
            <a:off x="1022573" y="722751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特徴量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: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パケットサイズ 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バイト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5641EC-A207-FC64-9F76-7790D2E63039}"/>
              </a:ext>
            </a:extLst>
          </p:cNvPr>
          <p:cNvSpPr txBox="1"/>
          <p:nvPr/>
        </p:nvSpPr>
        <p:spPr>
          <a:xfrm>
            <a:off x="953588" y="1696904"/>
            <a:ext cx="842554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mn-M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=0秒: 開始</a:t>
            </a: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 = (w=0, LSI=0, SSI=0, SR=0, t_L=0)</a:t>
            </a:r>
          </a:p>
          <a:p>
            <a:endParaRPr lang="en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t=1秒</a:t>
            </a:r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100バイトのパケット到着</a:t>
            </a: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ステップ1: δ = 2^(-α×0) = 1.0</a:t>
            </a:r>
            <a:r>
              <a:rPr lang="mn-M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sz="1800"/>
              <a:t>初期値</a:t>
            </a:r>
            <a:endParaRPr lang="en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ステップ2: IV = (0×1, 0×1, 0×1, 0×1, 1)</a:t>
            </a: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ステップ3: IV = (0+1, 0+100, 0+10000, 0, 1)</a:t>
            </a: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= (1, 100, 10000, 0, 1)</a:t>
            </a:r>
          </a:p>
          <a:p>
            <a:endParaRPr lang="en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t=2秒</a:t>
            </a:r>
            <a:r>
              <a:rPr lang="en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150バイトのパケット到着</a:t>
            </a:r>
          </a:p>
          <a:p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ステップ1: δ = 2^(-α×1) = 0.5 (α=1 の場合)</a:t>
            </a:r>
          </a:p>
          <a:p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ステップ2: IV = (1×0.5, 100×0.5, 10000×0.5, 0, 2)</a:t>
            </a:r>
          </a:p>
          <a:p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= (0.5, 50, 5000, 0, 2)</a:t>
            </a:r>
          </a:p>
          <a:p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ステップ3: IV = (0.5+1, 50+150, 5000+22500, 0, 2)</a:t>
            </a:r>
          </a:p>
          <a:p>
            <a:r>
              <a:rPr lang="en-JP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= (1.5, 200, 27500, 0, 2)</a:t>
            </a:r>
          </a:p>
          <a:p>
            <a:endParaRPr lang="en-JP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J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平均 = LSI / w = 200 / 1.5 ≈ 133バイト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141C1-F532-5B30-DBBC-90387D67BE48}"/>
              </a:ext>
            </a:extLst>
          </p:cNvPr>
          <p:cNvSpPr txBox="1"/>
          <p:nvPr/>
        </p:nvSpPr>
        <p:spPr>
          <a:xfrm>
            <a:off x="7269480" y="2652565"/>
            <a:ext cx="54864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新しいパケット</a:t>
            </a:r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20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decay</a:t>
            </a:r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適用</a:t>
            </a:r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 </a:t>
            </a:r>
            <a:r>
              <a:rPr lang="en-US" sz="20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IV</a:t>
            </a:r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更新</a:t>
            </a:r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altLang="ja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平均計算</a:t>
            </a:r>
            <a:endParaRPr lang="en-JP" sz="2000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Bent Arrow 10">
            <a:extLst>
              <a:ext uri="{FF2B5EF4-FFF2-40B4-BE49-F238E27FC236}">
                <a16:creationId xmlns:a16="http://schemas.microsoft.com/office/drawing/2014/main" id="{68458086-1488-8C48-350B-5DF7D37D6A47}"/>
              </a:ext>
            </a:extLst>
          </p:cNvPr>
          <p:cNvSpPr/>
          <p:nvPr/>
        </p:nvSpPr>
        <p:spPr>
          <a:xfrm rot="10800000">
            <a:off x="7009035" y="1228043"/>
            <a:ext cx="589463" cy="1148386"/>
          </a:xfrm>
          <a:prstGeom prst="ben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B12CE5-913D-5FE6-CC4F-E83A0B455E8D}"/>
              </a:ext>
            </a:extLst>
          </p:cNvPr>
          <p:cNvSpPr txBox="1"/>
          <p:nvPr/>
        </p:nvSpPr>
        <p:spPr>
          <a:xfrm>
            <a:off x="953588" y="959105"/>
            <a:ext cx="8698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この例では、新しいパケットが到着するたびに 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IV 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配列がどのように減衰され、新しい値が加算され、平均や統計が更新されるかを示している</a:t>
            </a:r>
            <a:r>
              <a:rPr lang="ja-JP" altLang="en-US"/>
              <a:t>。</a:t>
            </a:r>
            <a:endParaRPr lang="en-JP" dirty="0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1FF56080-C048-6357-8AA0-425FEA19A7D9}"/>
              </a:ext>
            </a:extLst>
          </p:cNvPr>
          <p:cNvSpPr/>
          <p:nvPr/>
        </p:nvSpPr>
        <p:spPr>
          <a:xfrm flipH="1">
            <a:off x="7951446" y="3313095"/>
            <a:ext cx="207159" cy="315751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8A3BF658-580D-593D-4083-EC32942BCAAA}"/>
              </a:ext>
            </a:extLst>
          </p:cNvPr>
          <p:cNvSpPr/>
          <p:nvPr/>
        </p:nvSpPr>
        <p:spPr>
          <a:xfrm flipH="1">
            <a:off x="7951444" y="4478851"/>
            <a:ext cx="207159" cy="315751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6A628BF0-6C64-F644-951E-2616C7A9555C}"/>
              </a:ext>
            </a:extLst>
          </p:cNvPr>
          <p:cNvSpPr/>
          <p:nvPr/>
        </p:nvSpPr>
        <p:spPr>
          <a:xfrm flipH="1">
            <a:off x="7951444" y="5644607"/>
            <a:ext cx="207159" cy="315751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747600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F056-D970-13A6-2A43-D2D25075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318997"/>
            <a:ext cx="9464040" cy="778447"/>
          </a:xfrm>
        </p:spPr>
        <p:txBody>
          <a:bodyPr>
            <a:normAutofit fontScale="90000"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b="1" dirty="0">
                <a:latin typeface="Meiryo" panose="020B0604030504040204" pitchFamily="34" charset="-128"/>
                <a:ea typeface="Meiryo" panose="020B0604030504040204" pitchFamily="34" charset="-128"/>
              </a:rPr>
              <a:t>Feature Extraction</a:t>
            </a:r>
            <a:r>
              <a:rPr lang="ja-JP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br>
              <a:rPr lang="mn-MN" altLang="ja-JP" sz="3600" b="1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3600" b="1" dirty="0">
                <a:latin typeface="Meiryo" panose="020B0604030504040204" pitchFamily="34" charset="-128"/>
                <a:ea typeface="Meiryo" panose="020B0604030504040204" pitchFamily="34" charset="-128"/>
              </a:rPr>
              <a:t>Normalization – </a:t>
            </a:r>
            <a:r>
              <a:rPr lang="ja-JP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正規化</a:t>
            </a:r>
            <a:endParaRPr lang="en-JP" sz="36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28996-17B0-8CF3-72AB-065842EAF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26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829BFD-ED8A-AF5E-7B57-45CBD57E8F14}"/>
              </a:ext>
            </a:extLst>
          </p:cNvPr>
          <p:cNvSpPr txBox="1"/>
          <p:nvPr/>
        </p:nvSpPr>
        <p:spPr>
          <a:xfrm>
            <a:off x="754380" y="122612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なぜ正規化するのか？</a:t>
            </a:r>
            <a:endParaRPr lang="en-JP" sz="2000" dirty="0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2A144B-745C-7D5F-BFE0-B667BE5DB0B7}"/>
              </a:ext>
            </a:extLst>
          </p:cNvPr>
          <p:cNvSpPr txBox="1"/>
          <p:nvPr/>
        </p:nvSpPr>
        <p:spPr>
          <a:xfrm>
            <a:off x="5097780" y="4707524"/>
            <a:ext cx="548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すべての特徴量を同じスケール 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[0,1]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に正規化することで、機械学習モデルの学習が安定し、精度が向上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548936A8-0220-2E0C-4B65-F78624C28BA3}"/>
              </a:ext>
            </a:extLst>
          </p:cNvPr>
          <p:cNvSpPr/>
          <p:nvPr/>
        </p:nvSpPr>
        <p:spPr>
          <a:xfrm rot="16200000" flipH="1">
            <a:off x="4149221" y="1209931"/>
            <a:ext cx="287599" cy="545004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1E00CC-FA62-87C4-2995-60F287969A98}"/>
              </a:ext>
            </a:extLst>
          </p:cNvPr>
          <p:cNvSpPr txBox="1"/>
          <p:nvPr/>
        </p:nvSpPr>
        <p:spPr>
          <a:xfrm>
            <a:off x="5006340" y="1286355"/>
            <a:ext cx="5486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000" b="1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課題: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特徴量1: パケット数 (1-1000)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特徴量2: バイト数 (0-65535)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特徴量3: 時間 (0-86400)</a:t>
            </a:r>
          </a:p>
          <a:p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異なるスケール → MLアルゴリズムが正しく動作しない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E44B0E8B-681F-36E1-0770-C350FD598818}"/>
              </a:ext>
            </a:extLst>
          </p:cNvPr>
          <p:cNvSpPr/>
          <p:nvPr/>
        </p:nvSpPr>
        <p:spPr>
          <a:xfrm flipH="1">
            <a:off x="1606732" y="2215589"/>
            <a:ext cx="326571" cy="400110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3315F2-A7AF-C2D4-2AED-2BE1C908D565}"/>
              </a:ext>
            </a:extLst>
          </p:cNvPr>
          <p:cNvSpPr txBox="1"/>
          <p:nvPr/>
        </p:nvSpPr>
        <p:spPr>
          <a:xfrm>
            <a:off x="418011" y="3474867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x ∈ R^n (n=100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特徴量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すべての値を 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[0, 1]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にスケーリング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508047-EBAB-9BD0-363B-F48DF583F84F}"/>
              </a:ext>
            </a:extLst>
          </p:cNvPr>
          <p:cNvSpPr txBox="1"/>
          <p:nvPr/>
        </p:nvSpPr>
        <p:spPr>
          <a:xfrm>
            <a:off x="1386860" y="3005001"/>
            <a:ext cx="12472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解決策</a:t>
            </a:r>
            <a:r>
              <a:rPr lang="en-US" altLang="ja-JP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 :</a:t>
            </a:r>
            <a:endParaRPr lang="en-JP" sz="20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76510A-AC36-F26C-1EFC-E9A3F2D60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95" y="4390479"/>
            <a:ext cx="3217754" cy="10033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A49565-B3DB-8807-6619-9F332829AADF}"/>
              </a:ext>
            </a:extLst>
          </p:cNvPr>
          <p:cNvSpPr txBox="1"/>
          <p:nvPr/>
        </p:nvSpPr>
        <p:spPr>
          <a:xfrm>
            <a:off x="326571" y="6432625"/>
            <a:ext cx="548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パケット数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: 500 → (500-0)/(1000-0) = 0.5</a:t>
            </a: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バイト数</a:t>
            </a:r>
            <a:r>
              <a:rPr lang="en-US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: 32768 → (32768-0)/(65535-0) = 0.5</a:t>
            </a:r>
          </a:p>
        </p:txBody>
      </p:sp>
      <p:sp>
        <p:nvSpPr>
          <p:cNvPr id="21" name="正方形/長方形 9">
            <a:extLst>
              <a:ext uri="{FF2B5EF4-FFF2-40B4-BE49-F238E27FC236}">
                <a16:creationId xmlns:a16="http://schemas.microsoft.com/office/drawing/2014/main" id="{57026821-364A-2FDF-0E9A-4DC348B21476}"/>
              </a:ext>
            </a:extLst>
          </p:cNvPr>
          <p:cNvSpPr/>
          <p:nvPr/>
        </p:nvSpPr>
        <p:spPr>
          <a:xfrm>
            <a:off x="5097780" y="4454841"/>
            <a:ext cx="5394960" cy="159911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37155A56-31B1-3FF4-1CD9-30AC05430E57}"/>
              </a:ext>
            </a:extLst>
          </p:cNvPr>
          <p:cNvSpPr/>
          <p:nvPr/>
        </p:nvSpPr>
        <p:spPr>
          <a:xfrm rot="16200000" flipH="1">
            <a:off x="4005036" y="5184579"/>
            <a:ext cx="326571" cy="400110"/>
          </a:xfrm>
          <a:prstGeom prst="downArrow">
            <a:avLst>
              <a:gd name="adj1" fmla="val 50000"/>
              <a:gd name="adj2" fmla="val 51389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602773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CA75-FC3C-A648-292D-7CC4A73E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809213"/>
            <a:ext cx="9464040" cy="1338397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Damped Incremental Statistics – </a:t>
            </a: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Realguard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の強み</a:t>
            </a:r>
            <a:endParaRPr lang="en-JP" sz="3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16E1D-83A6-573D-DBB5-85186D9C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27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860ABE-0238-E849-34FF-D164CE8B53FA}"/>
              </a:ext>
            </a:extLst>
          </p:cNvPr>
          <p:cNvSpPr txBox="1"/>
          <p:nvPr/>
        </p:nvSpPr>
        <p:spPr>
          <a:xfrm>
            <a:off x="1096144" y="2591306"/>
            <a:ext cx="931381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1.</a:t>
            </a:r>
            <a:r>
              <a:rPr lang="ja-JP" altLang="en-US" sz="2400" b="1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リアルタイム特徴抽出</a:t>
            </a:r>
            <a:endParaRPr lang="ja-JP" altLang="en-US" sz="2400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ネットワークトラフィックから即時に特徴を抽出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2400" b="1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ja-JP" altLang="en-US" sz="2400" b="1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少ない統計情報で管理</a:t>
            </a:r>
            <a:endParaRPr lang="ja-JP" altLang="en-US" sz="2400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すべてのデータを保存せず、必要最小限の統計値のみ保持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sz="2400" b="1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3.Decay function </a:t>
            </a:r>
            <a:r>
              <a:rPr lang="ja-JP" altLang="en-US" sz="2400" b="1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による古いデータ減衰</a:t>
            </a:r>
            <a:endParaRPr lang="ja-JP" altLang="en-US" sz="2400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古いデータの重みを減らし、新しいトラフィック変化に迅速対応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17974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DBFFF-1C42-1BC9-74CA-59E8A8B0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965584"/>
          </a:xfrm>
        </p:spPr>
        <p:txBody>
          <a:bodyPr>
            <a:normAutofit fontScale="90000"/>
          </a:bodyPr>
          <a:lstStyle/>
          <a:p>
            <a:r>
              <a:rPr lang="en-JP" sz="4000" b="1" dirty="0">
                <a:latin typeface="Meiryo" panose="020B0604030504040204" pitchFamily="34" charset="-128"/>
                <a:ea typeface="Meiryo" panose="020B0604030504040204" pitchFamily="34" charset="-128"/>
              </a:rPr>
              <a:t>Attack Detection Component</a:t>
            </a:r>
            <a:r>
              <a:rPr lang="mn-MN" sz="40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en-US" sz="4000" b="1">
                <a:latin typeface="Meiryo" panose="020B0604030504040204" pitchFamily="34" charset="-128"/>
                <a:ea typeface="Meiryo" panose="020B0604030504040204" pitchFamily="34" charset="-128"/>
              </a:rPr>
              <a:t>の 流れ</a:t>
            </a:r>
            <a:endParaRPr lang="en-JP" sz="40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119B6-9150-2028-4632-9D8E406E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28</a:t>
            </a:fld>
            <a:endParaRPr lang="en-JP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8C70B2-E604-D658-DC8A-D65FEE06083E}"/>
              </a:ext>
            </a:extLst>
          </p:cNvPr>
          <p:cNvSpPr/>
          <p:nvPr/>
        </p:nvSpPr>
        <p:spPr>
          <a:xfrm>
            <a:off x="1040402" y="1472570"/>
            <a:ext cx="1740745" cy="1255053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Feature Extraction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000A8E-CF82-0D67-BBBD-22CD33CBD5E5}"/>
              </a:ext>
            </a:extLst>
          </p:cNvPr>
          <p:cNvSpPr/>
          <p:nvPr/>
        </p:nvSpPr>
        <p:spPr>
          <a:xfrm>
            <a:off x="3473097" y="1573785"/>
            <a:ext cx="2542735" cy="1087556"/>
          </a:xfrm>
          <a:prstGeom prst="round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DNN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への入力層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Input Layer)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49D3DF1-B9BC-312B-E48D-055F37F19766}"/>
              </a:ext>
            </a:extLst>
          </p:cNvPr>
          <p:cNvSpPr/>
          <p:nvPr/>
        </p:nvSpPr>
        <p:spPr>
          <a:xfrm>
            <a:off x="6618549" y="1502316"/>
            <a:ext cx="3847814" cy="1156473"/>
          </a:xfrm>
          <a:prstGeom prst="round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隠れ層 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Hidden Layers)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1B646F-8201-6FCF-A5CA-BF3F3E8729E5}"/>
              </a:ext>
            </a:extLst>
          </p:cNvPr>
          <p:cNvSpPr/>
          <p:nvPr/>
        </p:nvSpPr>
        <p:spPr>
          <a:xfrm>
            <a:off x="3770970" y="4941982"/>
            <a:ext cx="2205329" cy="1378224"/>
          </a:xfrm>
          <a:prstGeom prst="round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分類結果の出力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7F937DE-8C50-F037-ED92-9D3C90375948}"/>
              </a:ext>
            </a:extLst>
          </p:cNvPr>
          <p:cNvCxnSpPr>
            <a:cxnSpLocks/>
          </p:cNvCxnSpPr>
          <p:nvPr/>
        </p:nvCxnSpPr>
        <p:spPr>
          <a:xfrm flipV="1">
            <a:off x="205035" y="2261189"/>
            <a:ext cx="648943" cy="2243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22CE350-4126-0685-21E5-799B9AC2D3D6}"/>
              </a:ext>
            </a:extLst>
          </p:cNvPr>
          <p:cNvSpPr txBox="1"/>
          <p:nvPr/>
        </p:nvSpPr>
        <p:spPr>
          <a:xfrm>
            <a:off x="47378" y="1687707"/>
            <a:ext cx="1061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ket</a:t>
            </a:r>
            <a:r>
              <a:rPr lang="en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D3CDE0A-DB1E-4D95-FD79-99781ECD09E5}"/>
              </a:ext>
            </a:extLst>
          </p:cNvPr>
          <p:cNvCxnSpPr>
            <a:cxnSpLocks/>
          </p:cNvCxnSpPr>
          <p:nvPr/>
        </p:nvCxnSpPr>
        <p:spPr>
          <a:xfrm>
            <a:off x="2899931" y="2110989"/>
            <a:ext cx="483933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D2592A0-DBB5-FD32-2FDE-47210D80C016}"/>
              </a:ext>
            </a:extLst>
          </p:cNvPr>
          <p:cNvCxnSpPr>
            <a:cxnSpLocks/>
          </p:cNvCxnSpPr>
          <p:nvPr/>
        </p:nvCxnSpPr>
        <p:spPr>
          <a:xfrm>
            <a:off x="177761" y="5631094"/>
            <a:ext cx="579014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9">
            <a:extLst>
              <a:ext uri="{FF2B5EF4-FFF2-40B4-BE49-F238E27FC236}">
                <a16:creationId xmlns:a16="http://schemas.microsoft.com/office/drawing/2014/main" id="{033D5DF7-17E9-3C81-6872-808688381AD7}"/>
              </a:ext>
            </a:extLst>
          </p:cNvPr>
          <p:cNvSpPr/>
          <p:nvPr/>
        </p:nvSpPr>
        <p:spPr>
          <a:xfrm>
            <a:off x="3579818" y="2820540"/>
            <a:ext cx="2436014" cy="1637099"/>
          </a:xfrm>
          <a:prstGeom prst="rect">
            <a:avLst/>
          </a:prstGeom>
          <a:solidFill>
            <a:srgbClr val="FFBEBE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正規化された特徴ベクトル を </a:t>
            </a: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DNN 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に投入</a:t>
            </a:r>
            <a:endParaRPr lang="en-JP" sz="20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正方形/長方形 9">
            <a:extLst>
              <a:ext uri="{FF2B5EF4-FFF2-40B4-BE49-F238E27FC236}">
                <a16:creationId xmlns:a16="http://schemas.microsoft.com/office/drawing/2014/main" id="{E7F917DA-498A-5844-1F11-08C94186EC83}"/>
              </a:ext>
            </a:extLst>
          </p:cNvPr>
          <p:cNvSpPr/>
          <p:nvPr/>
        </p:nvSpPr>
        <p:spPr>
          <a:xfrm>
            <a:off x="6618549" y="2774390"/>
            <a:ext cx="4135840" cy="26484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隠れ層 </a:t>
            </a:r>
            <a:r>
              <a:rPr lang="en-US" altLang="ja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Hidden Layers)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5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層の軽量</a:t>
            </a: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DNN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全結合 </a:t>
            </a:r>
            <a:r>
              <a:rPr lang="en-US" altLang="ja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Fully Connected)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非線形関係・複雑な特徴の学習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Growing Approach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で最適なノード数・構造を確保</a:t>
            </a:r>
          </a:p>
        </p:txBody>
      </p:sp>
      <p:sp>
        <p:nvSpPr>
          <p:cNvPr id="22" name="正方形/長方形 9">
            <a:extLst>
              <a:ext uri="{FF2B5EF4-FFF2-40B4-BE49-F238E27FC236}">
                <a16:creationId xmlns:a16="http://schemas.microsoft.com/office/drawing/2014/main" id="{730CD6AC-EE2B-47E7-3A78-7F96EA75E8F3}"/>
              </a:ext>
            </a:extLst>
          </p:cNvPr>
          <p:cNvSpPr/>
          <p:nvPr/>
        </p:nvSpPr>
        <p:spPr>
          <a:xfrm>
            <a:off x="967771" y="6417417"/>
            <a:ext cx="2373705" cy="1660845"/>
          </a:xfrm>
          <a:prstGeom prst="rect">
            <a:avLst/>
          </a:prstGeom>
          <a:solidFill>
            <a:srgbClr val="FFBEBE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itchFamily="2" charset="2"/>
              <a:buChar char="Ø"/>
            </a:pP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トラフィックを </a:t>
            </a:r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Normal / Attack type 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に分類</a:t>
            </a:r>
            <a:endParaRPr kumimoji="1" lang="ja-JP" altLang="en-US" sz="1944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9F20104-954A-5DA7-8305-6BE416B95584}"/>
              </a:ext>
            </a:extLst>
          </p:cNvPr>
          <p:cNvSpPr/>
          <p:nvPr/>
        </p:nvSpPr>
        <p:spPr>
          <a:xfrm>
            <a:off x="967771" y="4941982"/>
            <a:ext cx="2373706" cy="1378224"/>
          </a:xfrm>
          <a:prstGeom prst="round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出力層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Output Layer)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12EFDE0-7B37-5DC0-DF39-8691EFCEB118}"/>
              </a:ext>
            </a:extLst>
          </p:cNvPr>
          <p:cNvCxnSpPr>
            <a:cxnSpLocks/>
          </p:cNvCxnSpPr>
          <p:nvPr/>
        </p:nvCxnSpPr>
        <p:spPr>
          <a:xfrm>
            <a:off x="6128379" y="2054674"/>
            <a:ext cx="483933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正方形/長方形 9">
            <a:extLst>
              <a:ext uri="{FF2B5EF4-FFF2-40B4-BE49-F238E27FC236}">
                <a16:creationId xmlns:a16="http://schemas.microsoft.com/office/drawing/2014/main" id="{43FA9800-85E5-ABEB-12F5-F8B26EDCA245}"/>
              </a:ext>
            </a:extLst>
          </p:cNvPr>
          <p:cNvSpPr/>
          <p:nvPr/>
        </p:nvSpPr>
        <p:spPr>
          <a:xfrm>
            <a:off x="1089423" y="2972940"/>
            <a:ext cx="1915600" cy="16608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各パケットから </a:t>
            </a:r>
            <a:r>
              <a:rPr lang="en-US" altLang="ja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100 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次元の特徴ベクトル を生成</a:t>
            </a:r>
            <a:endParaRPr kumimoji="1" lang="ja-JP" altLang="en-US" sz="1944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2" name="正方形/長方形 9">
            <a:extLst>
              <a:ext uri="{FF2B5EF4-FFF2-40B4-BE49-F238E27FC236}">
                <a16:creationId xmlns:a16="http://schemas.microsoft.com/office/drawing/2014/main" id="{3A8300BA-2D0A-ABC1-5743-37B8E960883B}"/>
              </a:ext>
            </a:extLst>
          </p:cNvPr>
          <p:cNvSpPr/>
          <p:nvPr/>
        </p:nvSpPr>
        <p:spPr>
          <a:xfrm>
            <a:off x="3754674" y="6417417"/>
            <a:ext cx="2373705" cy="16608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chemeClr val="tx1"/>
                </a:solidFill>
              </a:rPr>
              <a:t>監視</a:t>
            </a:r>
            <a:r>
              <a:rPr lang="en-US" altLang="ja-JP" sz="2000" dirty="0">
                <a:solidFill>
                  <a:schemeClr val="tx1"/>
                </a:solidFill>
              </a:rPr>
              <a:t>/</a:t>
            </a:r>
            <a:r>
              <a:rPr lang="ja-JP" altLang="en-US" sz="2000">
                <a:solidFill>
                  <a:schemeClr val="tx1"/>
                </a:solidFill>
              </a:rPr>
              <a:t>通知システムに送信可能</a:t>
            </a:r>
            <a:endParaRPr kumimoji="1" lang="ja-JP" altLang="en-US" sz="1944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071370-A80E-EE8B-AD1A-445E7CCBA0A7}"/>
              </a:ext>
            </a:extLst>
          </p:cNvPr>
          <p:cNvCxnSpPr>
            <a:cxnSpLocks/>
          </p:cNvCxnSpPr>
          <p:nvPr/>
        </p:nvCxnSpPr>
        <p:spPr>
          <a:xfrm>
            <a:off x="3418420" y="5621475"/>
            <a:ext cx="289507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2A32BA7-778E-3B04-CC7E-02436659034E}"/>
              </a:ext>
            </a:extLst>
          </p:cNvPr>
          <p:cNvSpPr/>
          <p:nvPr/>
        </p:nvSpPr>
        <p:spPr>
          <a:xfrm>
            <a:off x="7379209" y="6201311"/>
            <a:ext cx="2097602" cy="1051945"/>
          </a:xfrm>
          <a:prstGeom prst="roundRect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Action Manager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46384045-9A2C-E2F6-B6CA-9B33791BA851}"/>
              </a:ext>
            </a:extLst>
          </p:cNvPr>
          <p:cNvCxnSpPr>
            <a:endCxn id="36" idx="1"/>
          </p:cNvCxnSpPr>
          <p:nvPr/>
        </p:nvCxnSpPr>
        <p:spPr>
          <a:xfrm>
            <a:off x="6039342" y="5631094"/>
            <a:ext cx="1339867" cy="1096190"/>
          </a:xfrm>
          <a:prstGeom prst="curvedConnector3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261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29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91418AE-206A-509A-DE02-E7556EB49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023566"/>
            <a:ext cx="9464040" cy="5053095"/>
          </a:xfrm>
        </p:spPr>
        <p:txBody>
          <a:bodyPr>
            <a:normAutofit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研究背景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endParaRPr lang="ja-JP" altLang="en-US" sz="3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評価実験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/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6335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8ADA4-1B3D-1D35-D5FF-593B202B1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54" y="583926"/>
            <a:ext cx="9464040" cy="887065"/>
          </a:xfrm>
        </p:spPr>
        <p:txBody>
          <a:bodyPr>
            <a:normAutofit/>
          </a:bodyPr>
          <a:lstStyle/>
          <a:p>
            <a:r>
              <a:rPr lang="ja-JP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使用したデータセット</a:t>
            </a:r>
            <a:endParaRPr lang="en-JP" sz="36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2C213-09C8-3AF7-74CF-00CFBB5E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30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F8454D-5628-251C-D939-C1E8447B686B}"/>
              </a:ext>
            </a:extLst>
          </p:cNvPr>
          <p:cNvSpPr txBox="1"/>
          <p:nvPr/>
        </p:nvSpPr>
        <p:spPr>
          <a:xfrm>
            <a:off x="722241" y="1681140"/>
            <a:ext cx="96578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CIC-IDS2017（University of New Brunswick </a:t>
            </a:r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提供）</a:t>
            </a:r>
            <a:endParaRPr lang="en-JP" sz="28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0264A-8B0E-388F-946E-03465D531D96}"/>
              </a:ext>
            </a:extLst>
          </p:cNvPr>
          <p:cNvSpPr txBox="1"/>
          <p:nvPr/>
        </p:nvSpPr>
        <p:spPr>
          <a:xfrm>
            <a:off x="796600" y="2814620"/>
            <a:ext cx="946403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データ量：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51.1 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GB</a:t>
            </a:r>
            <a:r>
              <a:rPr lang="mn-MN" sz="28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endParaRPr lang="en-US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mn-MN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トラフィック種類：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13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種類</a:t>
            </a:r>
            <a:r>
              <a:rPr lang="mn-MN" altLang="ja-JP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正常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1 + 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攻撃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12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  <a:endParaRPr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収集期間：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2017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年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7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月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3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日 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09:00 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～ 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7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月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7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日 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17:00</a:t>
            </a:r>
          </a:p>
          <a:p>
            <a:endParaRPr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パケット数：約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159.5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億パケット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28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2057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8BE7F-D94A-F648-1894-1ED8A003D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評価環境</a:t>
            </a:r>
            <a:endParaRPr lang="en-JP" sz="36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D8289-75B6-092C-53E3-B8993888E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80" y="1872698"/>
            <a:ext cx="9464040" cy="5221606"/>
          </a:xfrm>
        </p:spPr>
        <p:txBody>
          <a:bodyPr>
            <a:normAutofit fontScale="92500"/>
          </a:bodyPr>
          <a:lstStyle/>
          <a:p>
            <a:pPr>
              <a:buFont typeface="+mj-lt"/>
              <a:buAutoNum type="arabicPeriod"/>
            </a:pP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Edge Gateway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Raspberry Pi 4B（single board computer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Quad-core Cortex-A72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プロセッサ、</a:t>
            </a:r>
            <a:r>
              <a:rPr lang="en-US" altLang="ja-JP" sz="3200" dirty="0">
                <a:latin typeface="Meiryo" panose="020B0604030504040204" pitchFamily="34" charset="-128"/>
                <a:ea typeface="Meiryo" panose="020B0604030504040204" pitchFamily="34" charset="-128"/>
              </a:rPr>
              <a:t>8</a:t>
            </a: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GB RAM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小型デバイス上での </a:t>
            </a: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IDS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の性能を評価</a:t>
            </a:r>
          </a:p>
          <a:p>
            <a:pPr>
              <a:buFont typeface="+mj-lt"/>
              <a:buAutoNum type="arabicPeriod"/>
            </a:pP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Edge Server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PC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環境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ja-JP" sz="3200" dirty="0">
                <a:latin typeface="Meiryo" panose="020B0604030504040204" pitchFamily="34" charset="-128"/>
                <a:ea typeface="Meiryo" panose="020B0604030504040204" pitchFamily="34" charset="-128"/>
              </a:rPr>
              <a:t>8 </a:t>
            </a: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Intel-i7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プロセッサ、</a:t>
            </a:r>
            <a:r>
              <a:rPr lang="en-US" altLang="ja-JP" sz="3200" dirty="0">
                <a:latin typeface="Meiryo" panose="020B0604030504040204" pitchFamily="34" charset="-128"/>
                <a:ea typeface="Meiryo" panose="020B0604030504040204" pitchFamily="34" charset="-128"/>
              </a:rPr>
              <a:t>16</a:t>
            </a: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GB RAM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高性能サーバーでの </a:t>
            </a: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IDS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性能評価</a:t>
            </a:r>
          </a:p>
          <a:p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共通環境：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 sz="3200" dirty="0">
                <a:latin typeface="Meiryo" panose="020B0604030504040204" pitchFamily="34" charset="-128"/>
                <a:ea typeface="Meiryo" panose="020B0604030504040204" pitchFamily="34" charset="-128"/>
              </a:rPr>
              <a:t>64-</a:t>
            </a:r>
            <a:r>
              <a:rPr lang="en-US" sz="3200" dirty="0">
                <a:latin typeface="Meiryo" panose="020B0604030504040204" pitchFamily="34" charset="-128"/>
                <a:ea typeface="Meiryo" panose="020B0604030504040204" pitchFamily="34" charset="-128"/>
              </a:rPr>
              <a:t>bit Ubuntu OS </a:t>
            </a: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上で稼働</a:t>
            </a:r>
          </a:p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155AE-7494-EC57-C9F6-B15479AE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31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2304179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42D4E-1E54-5493-2499-ACAEAD1C6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32</a:t>
            </a:fld>
            <a:endParaRPr lang="en-J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1B122-646E-9B5D-7DFF-DC00F6367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" y="1002742"/>
            <a:ext cx="5372100" cy="43138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CAC981-9711-557E-6D6E-BBEBA697A288}"/>
              </a:ext>
            </a:extLst>
          </p:cNvPr>
          <p:cNvSpPr txBox="1"/>
          <p:nvPr/>
        </p:nvSpPr>
        <p:spPr>
          <a:xfrm>
            <a:off x="666750" y="5569677"/>
            <a:ext cx="4819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mn-MN" sz="24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JP" sz="2400" dirty="0">
                <a:latin typeface="Meiryo" panose="020B0604030504040204" pitchFamily="34" charset="-128"/>
                <a:ea typeface="Meiryo" panose="020B0604030504040204" pitchFamily="34" charset="-128"/>
              </a:rPr>
              <a:t>図 + 表4</a:t>
            </a:r>
          </a:p>
          <a:p>
            <a:r>
              <a:rPr lang="en-JP" sz="2400" dirty="0">
                <a:latin typeface="Meiryo" panose="020B0604030504040204" pitchFamily="34" charset="-128"/>
                <a:ea typeface="Meiryo" panose="020B0604030504040204" pitchFamily="34" charset="-128"/>
              </a:rPr>
              <a:t>システムはネットワークトラフィックを </a:t>
            </a:r>
            <a:r>
              <a:rPr lang="en-JP" sz="2400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「</a:t>
            </a:r>
            <a:r>
              <a:rPr lang="ja-JP" altLang="en-US" sz="2400" b="0" i="0">
                <a:solidFill>
                  <a:srgbClr val="222222"/>
                </a:solidFill>
                <a:effectLst/>
                <a:latin typeface="Source Han Sans"/>
              </a:rPr>
              <a:t> </a:t>
            </a:r>
            <a:r>
              <a:rPr lang="ja-JP" altLang="en-US" sz="2400" b="0" i="0">
                <a:solidFill>
                  <a:srgbClr val="92D05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正常</a:t>
            </a:r>
            <a:r>
              <a:rPr lang="ja-JP" altLang="en-US" sz="2400" b="0" i="0">
                <a:solidFill>
                  <a:srgbClr val="222222"/>
                </a:solidFill>
                <a:effectLst/>
                <a:latin typeface="Source Han Sans"/>
              </a:rPr>
              <a:t> </a:t>
            </a:r>
            <a:r>
              <a:rPr lang="en-JP" sz="2400" dirty="0">
                <a:solidFill>
                  <a:srgbClr val="00B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」 </a:t>
            </a:r>
            <a:r>
              <a:rPr lang="en-JP" sz="2400" dirty="0">
                <a:latin typeface="Meiryo" panose="020B0604030504040204" pitchFamily="34" charset="-128"/>
                <a:ea typeface="Meiryo" panose="020B0604030504040204" pitchFamily="34" charset="-128"/>
              </a:rPr>
              <a:t>と </a:t>
            </a:r>
            <a:endParaRPr lang="mn-MN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24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「攻撃」 </a:t>
            </a:r>
            <a:r>
              <a:rPr lang="en-JP" sz="2400" dirty="0">
                <a:latin typeface="Meiryo" panose="020B0604030504040204" pitchFamily="34" charset="-128"/>
                <a:ea typeface="Meiryo" panose="020B0604030504040204" pitchFamily="34" charset="-128"/>
              </a:rPr>
              <a:t>の2クラスに分類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C7CD4-51CD-9406-3BB3-53D85A6B7037}"/>
              </a:ext>
            </a:extLst>
          </p:cNvPr>
          <p:cNvSpPr txBox="1"/>
          <p:nvPr/>
        </p:nvSpPr>
        <p:spPr>
          <a:xfrm>
            <a:off x="352424" y="417967"/>
            <a:ext cx="103591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二値分類攻撃検出 </a:t>
            </a:r>
            <a:r>
              <a:rPr lang="en-US" altLang="ja-JP" sz="3200" dirty="0"/>
              <a:t>(</a:t>
            </a:r>
            <a:r>
              <a:rPr lang="en-US" sz="3200" dirty="0"/>
              <a:t>Binary-class Attack Detection)</a:t>
            </a:r>
            <a:endParaRPr lang="en-JP" sz="3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E8CE9-B70C-8AA1-6F23-15008D1C59D2}"/>
              </a:ext>
            </a:extLst>
          </p:cNvPr>
          <p:cNvSpPr txBox="1"/>
          <p:nvPr/>
        </p:nvSpPr>
        <p:spPr>
          <a:xfrm>
            <a:off x="5454015" y="1512778"/>
            <a:ext cx="5486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Realguard の結果</a:t>
            </a:r>
          </a:p>
          <a:p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TPR (True Positive Rate) = 99.66% → 攻撃を正しく検知する能力</a:t>
            </a:r>
          </a:p>
          <a:p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FPR (False Positive Rate) = 0.40% → 誤警報の割合</a:t>
            </a:r>
          </a:p>
          <a:p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Accuracy = 99.64% → 全体の正確性</a:t>
            </a:r>
          </a:p>
        </p:txBody>
      </p:sp>
      <p:sp>
        <p:nvSpPr>
          <p:cNvPr id="16" name="角丸四角形吹き出し 83">
            <a:extLst>
              <a:ext uri="{FF2B5EF4-FFF2-40B4-BE49-F238E27FC236}">
                <a16:creationId xmlns:a16="http://schemas.microsoft.com/office/drawing/2014/main" id="{9C0C7BFF-73B9-BC04-4D18-31F8EBC42A77}"/>
              </a:ext>
            </a:extLst>
          </p:cNvPr>
          <p:cNvSpPr/>
          <p:nvPr/>
        </p:nvSpPr>
        <p:spPr>
          <a:xfrm>
            <a:off x="6153149" y="4320417"/>
            <a:ext cx="4558393" cy="3307205"/>
          </a:xfrm>
          <a:prstGeom prst="cloudCallout">
            <a:avLst>
              <a:gd name="adj1" fmla="val -75102"/>
              <a:gd name="adj2" fmla="val -36514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0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　</a:t>
            </a:r>
            <a:r>
              <a:rPr lang="en-US" sz="2400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TPR : </a:t>
            </a:r>
            <a:r>
              <a:rPr lang="ja-JP" altLang="en-US" sz="24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正しく攻撃を検出した割合 → </a:t>
            </a:r>
            <a:r>
              <a:rPr lang="en-US" sz="2400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Realguard </a:t>
            </a:r>
            <a:r>
              <a:rPr lang="ja-JP" altLang="en-US" sz="240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が最も高い</a:t>
            </a:r>
            <a:endParaRPr lang="en-JP" sz="2400" dirty="0">
              <a:solidFill>
                <a:srgbClr val="C0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59686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8252F-30C6-4D87-F868-A9BE5CE2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33</a:t>
            </a:fld>
            <a:endParaRPr lang="en-JP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F7832-F8D5-B792-D69C-F93A71076138}"/>
              </a:ext>
            </a:extLst>
          </p:cNvPr>
          <p:cNvSpPr txBox="1"/>
          <p:nvPr/>
        </p:nvSpPr>
        <p:spPr>
          <a:xfrm>
            <a:off x="475471" y="163828"/>
            <a:ext cx="96169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二値分類（</a:t>
            </a:r>
            <a:r>
              <a:rPr lang="en-US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Binary-class）</a:t>
            </a:r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検知の結果</a:t>
            </a:r>
            <a:endParaRPr lang="en-JP" sz="28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4B8FD-CA8D-B574-1B91-78D36D3729D5}"/>
              </a:ext>
            </a:extLst>
          </p:cNvPr>
          <p:cNvSpPr txBox="1"/>
          <p:nvPr/>
        </p:nvSpPr>
        <p:spPr>
          <a:xfrm>
            <a:off x="1223317" y="4741287"/>
            <a:ext cx="63792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Realguard: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 TPR = 99.66%（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最も高い）</a:t>
            </a:r>
            <a:b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FPR = 0.40%（PSO+LSTM-RNN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よりやや高い）</a:t>
            </a:r>
            <a:b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ACC = 99.64%（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最も高い）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B1B0C-8270-727A-3789-444843BE4095}"/>
              </a:ext>
            </a:extLst>
          </p:cNvPr>
          <p:cNvSpPr txBox="1"/>
          <p:nvPr/>
        </p:nvSpPr>
        <p:spPr>
          <a:xfrm>
            <a:off x="1223317" y="6167793"/>
            <a:ext cx="66274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主要指標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  <a:endParaRPr lang="ja-JP" altLang="en-US" sz="2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TPR (True Positive Rate):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攻撃を正しく検知した割合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FPR (False Positive Rate):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誤警報の割合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ACC (Accuracy):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全体の正確性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3A22DD-CF55-FED6-669F-20A324BF988E}"/>
              </a:ext>
            </a:extLst>
          </p:cNvPr>
          <p:cNvSpPr txBox="1"/>
          <p:nvPr/>
        </p:nvSpPr>
        <p:spPr>
          <a:xfrm>
            <a:off x="919608" y="1696407"/>
            <a:ext cx="9298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Meiryo" panose="020B0604030504040204" pitchFamily="34" charset="-128"/>
                <a:ea typeface="Meiryo" panose="020B0604030504040204" pitchFamily="34" charset="-128"/>
              </a:rPr>
              <a:t>Realguard 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は </a:t>
            </a: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8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つの競合システム（</a:t>
            </a:r>
            <a:r>
              <a:rPr lang="en-US" sz="1800" dirty="0">
                <a:latin typeface="Meiryo" panose="020B0604030504040204" pitchFamily="34" charset="-128"/>
                <a:ea typeface="Meiryo" panose="020B0604030504040204" pitchFamily="34" charset="-128"/>
              </a:rPr>
              <a:t>NB-SVM、DT-EnSVM、DBN 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など）と比較された。</a:t>
            </a:r>
            <a:endParaRPr lang="en-JP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22D3EB-5907-4D29-952D-26B684585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442321"/>
              </p:ext>
            </p:extLst>
          </p:nvPr>
        </p:nvGraphicFramePr>
        <p:xfrm>
          <a:off x="754060" y="2425444"/>
          <a:ext cx="9464679" cy="1905001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051631">
                  <a:extLst>
                    <a:ext uri="{9D8B030D-6E8A-4147-A177-3AD203B41FA5}">
                      <a16:colId xmlns:a16="http://schemas.microsoft.com/office/drawing/2014/main" val="1180504597"/>
                    </a:ext>
                  </a:extLst>
                </a:gridCol>
                <a:gridCol w="1259242">
                  <a:extLst>
                    <a:ext uri="{9D8B030D-6E8A-4147-A177-3AD203B41FA5}">
                      <a16:colId xmlns:a16="http://schemas.microsoft.com/office/drawing/2014/main" val="4014388271"/>
                    </a:ext>
                  </a:extLst>
                </a:gridCol>
                <a:gridCol w="844020">
                  <a:extLst>
                    <a:ext uri="{9D8B030D-6E8A-4147-A177-3AD203B41FA5}">
                      <a16:colId xmlns:a16="http://schemas.microsoft.com/office/drawing/2014/main" val="1937664285"/>
                    </a:ext>
                  </a:extLst>
                </a:gridCol>
                <a:gridCol w="1051631">
                  <a:extLst>
                    <a:ext uri="{9D8B030D-6E8A-4147-A177-3AD203B41FA5}">
                      <a16:colId xmlns:a16="http://schemas.microsoft.com/office/drawing/2014/main" val="1221395706"/>
                    </a:ext>
                  </a:extLst>
                </a:gridCol>
                <a:gridCol w="1051631">
                  <a:extLst>
                    <a:ext uri="{9D8B030D-6E8A-4147-A177-3AD203B41FA5}">
                      <a16:colId xmlns:a16="http://schemas.microsoft.com/office/drawing/2014/main" val="3100717248"/>
                    </a:ext>
                  </a:extLst>
                </a:gridCol>
                <a:gridCol w="1051631">
                  <a:extLst>
                    <a:ext uri="{9D8B030D-6E8A-4147-A177-3AD203B41FA5}">
                      <a16:colId xmlns:a16="http://schemas.microsoft.com/office/drawing/2014/main" val="4180601562"/>
                    </a:ext>
                  </a:extLst>
                </a:gridCol>
                <a:gridCol w="1051631">
                  <a:extLst>
                    <a:ext uri="{9D8B030D-6E8A-4147-A177-3AD203B41FA5}">
                      <a16:colId xmlns:a16="http://schemas.microsoft.com/office/drawing/2014/main" val="1964844793"/>
                    </a:ext>
                  </a:extLst>
                </a:gridCol>
                <a:gridCol w="1051631">
                  <a:extLst>
                    <a:ext uri="{9D8B030D-6E8A-4147-A177-3AD203B41FA5}">
                      <a16:colId xmlns:a16="http://schemas.microsoft.com/office/drawing/2014/main" val="1909642738"/>
                    </a:ext>
                  </a:extLst>
                </a:gridCol>
                <a:gridCol w="1051631">
                  <a:extLst>
                    <a:ext uri="{9D8B030D-6E8A-4147-A177-3AD203B41FA5}">
                      <a16:colId xmlns:a16="http://schemas.microsoft.com/office/drawing/2014/main" val="1028090184"/>
                    </a:ext>
                  </a:extLst>
                </a:gridCol>
              </a:tblGrid>
              <a:tr h="748393"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 dirty="0">
                          <a:effectLst/>
                        </a:rPr>
                        <a:t>(%)</a:t>
                      </a:r>
                      <a:endParaRPr lang="en-JP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 dirty="0">
                          <a:solidFill>
                            <a:srgbClr val="C00000"/>
                          </a:solidFill>
                          <a:effectLst/>
                        </a:rPr>
                        <a:t>Realguard</a:t>
                      </a:r>
                      <a:endParaRPr lang="en-JP" sz="2000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 dirty="0">
                          <a:effectLst/>
                        </a:rPr>
                        <a:t>NB-SVM</a:t>
                      </a:r>
                      <a:endParaRPr lang="en-JP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</a:rPr>
                        <a:t>DT-EnSVM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 dirty="0">
                          <a:effectLst/>
                        </a:rPr>
                        <a:t>DBN</a:t>
                      </a:r>
                      <a:endParaRPr lang="en-JP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</a:rPr>
                        <a:t>PSO+LSTM-RNN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</a:rPr>
                        <a:t>PSO+DNN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</a:rPr>
                        <a:t>XGB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</a:rPr>
                        <a:t>AE+ANN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30874120"/>
                  </a:ext>
                </a:extLst>
              </a:tr>
              <a:tr h="385536"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TPR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 dirty="0">
                          <a:solidFill>
                            <a:srgbClr val="C00000"/>
                          </a:solidFill>
                          <a:effectLst/>
                        </a:rPr>
                        <a:t>99.66</a:t>
                      </a:r>
                      <a:endParaRPr lang="en-JP" sz="2000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99.46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99.15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99.00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98.68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97.58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97.40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95.81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10541895"/>
                  </a:ext>
                </a:extLst>
              </a:tr>
              <a:tr h="385536"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FPR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0.40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3.00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4.00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 dirty="0">
                          <a:effectLst/>
                        </a:rPr>
                        <a:t>2.10</a:t>
                      </a:r>
                      <a:endParaRPr lang="en-JP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 dirty="0">
                          <a:effectLst/>
                        </a:rPr>
                        <a:t>0.16</a:t>
                      </a:r>
                      <a:endParaRPr lang="en-JP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0.28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12.00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1.23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24859259"/>
                  </a:ext>
                </a:extLst>
              </a:tr>
              <a:tr h="385536"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ACC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 dirty="0">
                          <a:solidFill>
                            <a:srgbClr val="C00000"/>
                          </a:solidFill>
                          <a:effectLst/>
                        </a:rPr>
                        <a:t>99.64</a:t>
                      </a:r>
                      <a:endParaRPr lang="en-JP" sz="2000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98.92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98.46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98.24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98.83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97.85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91.36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 dirty="0">
                          <a:effectLst/>
                        </a:rPr>
                        <a:t>98.18</a:t>
                      </a:r>
                      <a:endParaRPr lang="en-JP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8732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42293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989C9-E563-512F-789F-497EB194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34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03391-C7B0-482D-B45D-567148A32DC3}"/>
              </a:ext>
            </a:extLst>
          </p:cNvPr>
          <p:cNvSpPr txBox="1"/>
          <p:nvPr/>
        </p:nvSpPr>
        <p:spPr>
          <a:xfrm>
            <a:off x="496389" y="724993"/>
            <a:ext cx="100061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これらの既存研究はすべて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Machine Learning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ベースの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IDS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であるが、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Realguard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のみが</a:t>
            </a: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IoT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ゲートウェイのリアルタイム処理に最適化された軽量モデルである</a:t>
            </a:r>
            <a:r>
              <a:rPr lang="mn-MN" altLang="ja-JP" sz="20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.</a:t>
            </a: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5B0785-0C9F-F7AB-4FB4-8E7DFC194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093299"/>
              </p:ext>
            </p:extLst>
          </p:nvPr>
        </p:nvGraphicFramePr>
        <p:xfrm>
          <a:off x="496389" y="1524000"/>
          <a:ext cx="10006149" cy="6076410"/>
        </p:xfrm>
        <a:graphic>
          <a:graphicData uri="http://schemas.openxmlformats.org/drawingml/2006/table">
            <a:tbl>
              <a:tblPr firstRow="1" firstCol="1" bandRow="1">
                <a:tableStyleId>{C083E6E3-FA7D-4D7B-A595-EF9225AFEA82}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930128742"/>
                    </a:ext>
                  </a:extLst>
                </a:gridCol>
                <a:gridCol w="2769325">
                  <a:extLst>
                    <a:ext uri="{9D8B030D-6E8A-4147-A177-3AD203B41FA5}">
                      <a16:colId xmlns:a16="http://schemas.microsoft.com/office/drawing/2014/main" val="1525391986"/>
                    </a:ext>
                  </a:extLst>
                </a:gridCol>
                <a:gridCol w="4493624">
                  <a:extLst>
                    <a:ext uri="{9D8B030D-6E8A-4147-A177-3AD203B41FA5}">
                      <a16:colId xmlns:a16="http://schemas.microsoft.com/office/drawing/2014/main" val="2920564913"/>
                    </a:ext>
                  </a:extLst>
                </a:gridCol>
              </a:tblGrid>
              <a:tr h="596760">
                <a:tc>
                  <a:txBody>
                    <a:bodyPr/>
                    <a:lstStyle/>
                    <a:p>
                      <a:pPr algn="ctr"/>
                      <a:r>
                        <a:rPr lang="ja-JP" sz="1800" kern="100">
                          <a:effectLst/>
                        </a:rPr>
                        <a:t>手法</a:t>
                      </a:r>
                      <a:endParaRPr lang="en-JP" sz="18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800" kern="100" dirty="0">
                          <a:effectLst/>
                        </a:rPr>
                        <a:t>ML</a:t>
                      </a:r>
                      <a:r>
                        <a:rPr lang="ja-JP" sz="1800" kern="100">
                          <a:effectLst/>
                        </a:rPr>
                        <a:t>の種類</a:t>
                      </a:r>
                      <a:endParaRPr lang="en-JP" sz="18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800" kern="100">
                          <a:effectLst/>
                        </a:rPr>
                        <a:t>説明</a:t>
                      </a:r>
                      <a:endParaRPr lang="en-JP" sz="18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46076111"/>
                  </a:ext>
                </a:extLst>
              </a:tr>
              <a:tr h="757907"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Naive Bayes + SVM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Classical ML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軽量に見えるが、</a:t>
                      </a:r>
                      <a:r>
                        <a:rPr lang="en-JP" sz="2000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SVM</a:t>
                      </a:r>
                      <a:r>
                        <a:rPr lang="ja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はリアルタイム環境では計算負荷が高い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31098366"/>
                  </a:ext>
                </a:extLst>
              </a:tr>
              <a:tr h="728133"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Decision Tree + Ensemble SVM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Ensemble ML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アンサンブル構造のため計算量が大きく、遅延が発生しやすい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86235348"/>
                  </a:ext>
                </a:extLst>
              </a:tr>
              <a:tr h="604807"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DBN</a:t>
                      </a:r>
                      <a:endParaRPr lang="en-JP" sz="20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Deep Learning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多層構造により、ゲートウェイ上では重すぎる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50762075"/>
                  </a:ext>
                </a:extLst>
              </a:tr>
              <a:tr h="604807"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PSO + LSTM</a:t>
                      </a:r>
                      <a:endParaRPr lang="en-JP" sz="20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Optimization + DL</a:t>
                      </a:r>
                      <a:endParaRPr lang="en-US" sz="2000" dirty="0"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LSTM</a:t>
                      </a:r>
                      <a:r>
                        <a:rPr lang="ja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の計算が重く、リアルタイム処理に不向き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7640568"/>
                  </a:ext>
                </a:extLst>
              </a:tr>
              <a:tr h="604807"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PSO + DNN</a:t>
                      </a:r>
                      <a:endParaRPr lang="en-JP" sz="20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Deep Learning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DNN</a:t>
                      </a:r>
                      <a:r>
                        <a:rPr lang="ja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モデルが大きく、メモリ消費が高い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42113948"/>
                  </a:ext>
                </a:extLst>
              </a:tr>
              <a:tr h="604807"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XGBoost</a:t>
                      </a:r>
                      <a:endParaRPr lang="en-JP" sz="20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Ensemble ML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高精度だが計算コストが非常に高い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50952066"/>
                  </a:ext>
                </a:extLst>
              </a:tr>
              <a:tr h="604807"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AE + ANN</a:t>
                      </a:r>
                      <a:endParaRPr lang="en-JP" sz="20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特徴表現学習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異常検知は得意だが、</a:t>
                      </a:r>
                      <a:r>
                        <a:rPr lang="en-JP" sz="2000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TPR</a:t>
                      </a:r>
                      <a:r>
                        <a:rPr lang="ja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が低め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46880660"/>
                  </a:ext>
                </a:extLst>
              </a:tr>
              <a:tr h="898046"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Realguard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DNN+NIDS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 dirty="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IoT</a:t>
                      </a:r>
                      <a:r>
                        <a:rPr lang="ja-JP" sz="2000" kern="100">
                          <a:effectLst/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ゲートウェイ向けに軽量化された唯一のリアルタイム対応モデル</a:t>
                      </a:r>
                      <a:endParaRPr lang="en-JP" sz="20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9001588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39B87-FEB2-9FAD-92A3-E0A9E7EA4240}"/>
              </a:ext>
            </a:extLst>
          </p:cNvPr>
          <p:cNvSpPr txBox="1"/>
          <p:nvPr/>
        </p:nvSpPr>
        <p:spPr>
          <a:xfrm>
            <a:off x="496389" y="405838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既存</a:t>
            </a:r>
            <a:r>
              <a:rPr lang="en-US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ML</a:t>
            </a:r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ベース</a:t>
            </a:r>
            <a:r>
              <a:rPr lang="en-US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IDS</a:t>
            </a:r>
            <a:r>
              <a:rPr lang="ja-JP" altLang="en-US" sz="2000" b="1">
                <a:latin typeface="Meiryo" panose="020B0604030504040204" pitchFamily="34" charset="-128"/>
                <a:ea typeface="Meiryo" panose="020B0604030504040204" pitchFamily="34" charset="-128"/>
              </a:rPr>
              <a:t>手法の比較</a:t>
            </a:r>
            <a:endParaRPr lang="en-JP" sz="20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正方形/長方形 9">
            <a:extLst>
              <a:ext uri="{FF2B5EF4-FFF2-40B4-BE49-F238E27FC236}">
                <a16:creationId xmlns:a16="http://schemas.microsoft.com/office/drawing/2014/main" id="{5485EB41-5E30-1D5C-FA8B-765E1DA2208C}"/>
              </a:ext>
            </a:extLst>
          </p:cNvPr>
          <p:cNvSpPr/>
          <p:nvPr/>
        </p:nvSpPr>
        <p:spPr>
          <a:xfrm>
            <a:off x="496388" y="6705600"/>
            <a:ext cx="10006149" cy="89481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</p:spTree>
    <p:extLst>
      <p:ext uri="{BB962C8B-B14F-4D97-AF65-F5344CB8AC3E}">
        <p14:creationId xmlns:p14="http://schemas.microsoft.com/office/powerpoint/2010/main" val="28874261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646DDAA-2B3F-105E-F64B-57441A72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35</a:t>
            </a:fld>
            <a:endParaRPr lang="en-JP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7146D4-A611-790A-7342-509E15697F1C}"/>
              </a:ext>
            </a:extLst>
          </p:cNvPr>
          <p:cNvSpPr txBox="1"/>
          <p:nvPr/>
        </p:nvSpPr>
        <p:spPr>
          <a:xfrm>
            <a:off x="826579" y="288075"/>
            <a:ext cx="77818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Multi-class attack detection</a:t>
            </a:r>
            <a:endParaRPr lang="en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276A98-2B16-E95A-0A70-D0D77D719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1269"/>
            <a:ext cx="7315200" cy="6106760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6A9706E-34B4-7D0F-7816-A0EEA4D4399A}"/>
              </a:ext>
            </a:extLst>
          </p:cNvPr>
          <p:cNvSpPr/>
          <p:nvPr/>
        </p:nvSpPr>
        <p:spPr>
          <a:xfrm>
            <a:off x="7067005" y="2020534"/>
            <a:ext cx="3600213" cy="25351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システムは 11種類の攻撃（DoS、FTP-Patator、SSH-Patator など）をそれぞれ検知。</a:t>
            </a:r>
          </a:p>
          <a:p>
            <a:r>
              <a:rPr lang="en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平均 TPR = 99.57%（非常に良好な結果）</a:t>
            </a:r>
          </a:p>
        </p:txBody>
      </p:sp>
    </p:spTree>
    <p:extLst>
      <p:ext uri="{BB962C8B-B14F-4D97-AF65-F5344CB8AC3E}">
        <p14:creationId xmlns:p14="http://schemas.microsoft.com/office/powerpoint/2010/main" val="16904626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D7159-2A81-C789-6C22-803A5CC0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36</a:t>
            </a:fld>
            <a:endParaRPr lang="en-JP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FA9F6-DBD3-3382-B6E5-6A88BA526C76}"/>
              </a:ext>
            </a:extLst>
          </p:cNvPr>
          <p:cNvSpPr txBox="1"/>
          <p:nvPr/>
        </p:nvSpPr>
        <p:spPr>
          <a:xfrm>
            <a:off x="304804" y="111089"/>
            <a:ext cx="10195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Multi-class </a:t>
            </a:r>
            <a:r>
              <a:rPr lang="en-US" sz="2400" b="1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Machine Learning</a:t>
            </a:r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ベースの</a:t>
            </a:r>
            <a:r>
              <a:rPr lang="en-US" sz="2400" b="1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IDSの精度比較</a:t>
            </a:r>
            <a:endParaRPr lang="en-JP" sz="24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93D255-83E2-EB89-7036-396BA3C1E71F}"/>
              </a:ext>
            </a:extLst>
          </p:cNvPr>
          <p:cNvSpPr txBox="1"/>
          <p:nvPr/>
        </p:nvSpPr>
        <p:spPr>
          <a:xfrm>
            <a:off x="754380" y="6512851"/>
            <a:ext cx="75644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主要指標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TPR (True Positive Rate):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攻撃を正しく検知した割合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FPR (False Positive Rate):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誤警報の割合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Meiryo" panose="020B0604030504040204" pitchFamily="34" charset="-128"/>
                <a:ea typeface="Meiryo" panose="020B0604030504040204" pitchFamily="34" charset="-128"/>
              </a:rPr>
              <a:t>ACC (Accuracy):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全体の正確性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2E8403-8B50-508B-E893-B0A3AEA40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114248"/>
              </p:ext>
            </p:extLst>
          </p:nvPr>
        </p:nvGraphicFramePr>
        <p:xfrm>
          <a:off x="472646" y="1018773"/>
          <a:ext cx="10195350" cy="4999935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130867">
                  <a:extLst>
                    <a:ext uri="{9D8B030D-6E8A-4147-A177-3AD203B41FA5}">
                      <a16:colId xmlns:a16="http://schemas.microsoft.com/office/drawing/2014/main" val="1309361206"/>
                    </a:ext>
                  </a:extLst>
                </a:gridCol>
                <a:gridCol w="722833">
                  <a:extLst>
                    <a:ext uri="{9D8B030D-6E8A-4147-A177-3AD203B41FA5}">
                      <a16:colId xmlns:a16="http://schemas.microsoft.com/office/drawing/2014/main" val="1584820212"/>
                    </a:ext>
                  </a:extLst>
                </a:gridCol>
                <a:gridCol w="926850">
                  <a:extLst>
                    <a:ext uri="{9D8B030D-6E8A-4147-A177-3AD203B41FA5}">
                      <a16:colId xmlns:a16="http://schemas.microsoft.com/office/drawing/2014/main" val="1140203197"/>
                    </a:ext>
                  </a:extLst>
                </a:gridCol>
                <a:gridCol w="926850">
                  <a:extLst>
                    <a:ext uri="{9D8B030D-6E8A-4147-A177-3AD203B41FA5}">
                      <a16:colId xmlns:a16="http://schemas.microsoft.com/office/drawing/2014/main" val="3781523566"/>
                    </a:ext>
                  </a:extLst>
                </a:gridCol>
                <a:gridCol w="926850">
                  <a:extLst>
                    <a:ext uri="{9D8B030D-6E8A-4147-A177-3AD203B41FA5}">
                      <a16:colId xmlns:a16="http://schemas.microsoft.com/office/drawing/2014/main" val="3879473058"/>
                    </a:ext>
                  </a:extLst>
                </a:gridCol>
                <a:gridCol w="926850">
                  <a:extLst>
                    <a:ext uri="{9D8B030D-6E8A-4147-A177-3AD203B41FA5}">
                      <a16:colId xmlns:a16="http://schemas.microsoft.com/office/drawing/2014/main" val="1149267263"/>
                    </a:ext>
                  </a:extLst>
                </a:gridCol>
                <a:gridCol w="926850">
                  <a:extLst>
                    <a:ext uri="{9D8B030D-6E8A-4147-A177-3AD203B41FA5}">
                      <a16:colId xmlns:a16="http://schemas.microsoft.com/office/drawing/2014/main" val="3444747407"/>
                    </a:ext>
                  </a:extLst>
                </a:gridCol>
                <a:gridCol w="926850">
                  <a:extLst>
                    <a:ext uri="{9D8B030D-6E8A-4147-A177-3AD203B41FA5}">
                      <a16:colId xmlns:a16="http://schemas.microsoft.com/office/drawing/2014/main" val="2152763213"/>
                    </a:ext>
                  </a:extLst>
                </a:gridCol>
                <a:gridCol w="926850">
                  <a:extLst>
                    <a:ext uri="{9D8B030D-6E8A-4147-A177-3AD203B41FA5}">
                      <a16:colId xmlns:a16="http://schemas.microsoft.com/office/drawing/2014/main" val="4251592409"/>
                    </a:ext>
                  </a:extLst>
                </a:gridCol>
                <a:gridCol w="926850">
                  <a:extLst>
                    <a:ext uri="{9D8B030D-6E8A-4147-A177-3AD203B41FA5}">
                      <a16:colId xmlns:a16="http://schemas.microsoft.com/office/drawing/2014/main" val="302188089"/>
                    </a:ext>
                  </a:extLst>
                </a:gridCol>
                <a:gridCol w="926850">
                  <a:extLst>
                    <a:ext uri="{9D8B030D-6E8A-4147-A177-3AD203B41FA5}">
                      <a16:colId xmlns:a16="http://schemas.microsoft.com/office/drawing/2014/main" val="1480993433"/>
                    </a:ext>
                  </a:extLst>
                </a:gridCol>
              </a:tblGrid>
              <a:tr h="331601">
                <a:tc>
                  <a:txBody>
                    <a:bodyPr/>
                    <a:lstStyle/>
                    <a:p>
                      <a:pPr algn="ctr"/>
                      <a:r>
                        <a:rPr lang="en-JP" sz="1200" kern="100" dirty="0">
                          <a:effectLst/>
                        </a:rPr>
                        <a:t>(%)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kern="100" dirty="0">
                          <a:solidFill>
                            <a:srgbClr val="C00000"/>
                          </a:solidFill>
                          <a:effectLst/>
                        </a:rPr>
                        <a:t>Realguard</a:t>
                      </a:r>
                      <a:endParaRPr lang="en-JP" sz="1200" kern="100" dirty="0">
                        <a:solidFill>
                          <a:srgbClr val="C00000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kern="100">
                          <a:effectLst/>
                        </a:rPr>
                        <a:t>MLP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kern="100">
                          <a:effectLst/>
                        </a:rPr>
                        <a:t>CNN-MCL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kern="100">
                          <a:effectLst/>
                        </a:rPr>
                        <a:t>XGB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kern="100">
                          <a:effectLst/>
                        </a:rPr>
                        <a:t>RF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kern="100">
                          <a:effectLst/>
                        </a:rPr>
                        <a:t>SVC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kern="100">
                          <a:effectLst/>
                        </a:rPr>
                        <a:t>ANN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kern="100" dirty="0">
                          <a:effectLst/>
                        </a:rPr>
                        <a:t>LSTM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kern="100">
                          <a:effectLst/>
                        </a:rPr>
                        <a:t>E-ML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1200" kern="100">
                          <a:effectLst/>
                        </a:rPr>
                        <a:t>REP Tree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1388435579"/>
                  </a:ext>
                </a:extLst>
              </a:tr>
              <a:tr h="310782"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TPR Normal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99.60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99.66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x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–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99.93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98.89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99.73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99.69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x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x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3336065059"/>
                  </a:ext>
                </a:extLst>
              </a:tr>
              <a:tr h="173493">
                <a:tc>
                  <a:txBody>
                    <a:bodyPr/>
                    <a:lstStyle/>
                    <a:p>
                      <a:r>
                        <a:rPr lang="en-JP" sz="1200" b="1" kern="100" dirty="0">
                          <a:effectLst/>
                        </a:rPr>
                        <a:t>TPR Botnet</a:t>
                      </a:r>
                      <a:endParaRPr lang="en-JP" sz="1200" b="1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solidFill>
                            <a:srgbClr val="C00000"/>
                          </a:solidFill>
                          <a:effectLst/>
                        </a:rPr>
                        <a:t>98.46</a:t>
                      </a:r>
                      <a:endParaRPr lang="en-JP" sz="1200" kern="100" dirty="0">
                        <a:solidFill>
                          <a:srgbClr val="C00000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99.32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95.19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x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64.45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79.18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38.36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35.81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46.47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47.76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91603835"/>
                  </a:ext>
                </a:extLst>
              </a:tr>
              <a:tr h="489708"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TPR DoSSlowhttptest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99.89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99.75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91.50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94.45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94.36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83.65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98.82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98.64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93.84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75.36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2019724246"/>
                  </a:ext>
                </a:extLst>
              </a:tr>
              <a:tr h="489708"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TPR DoSGoldenEye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solidFill>
                            <a:srgbClr val="C00000"/>
                          </a:solidFill>
                          <a:effectLst/>
                        </a:rPr>
                        <a:t>99.98</a:t>
                      </a:r>
                      <a:endParaRPr lang="en-JP" sz="1200" kern="100" dirty="0">
                        <a:solidFill>
                          <a:srgbClr val="C00000"/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98.71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99.27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99.76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99.36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99.87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97.67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67.53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66.43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4168553834"/>
                  </a:ext>
                </a:extLst>
              </a:tr>
              <a:tr h="458480"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TPR DoSSlowloris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99.52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99.85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97.96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91.62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98.04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98.07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98.27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97.07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97.06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92.73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3942523097"/>
                  </a:ext>
                </a:extLst>
              </a:tr>
              <a:tr h="310782"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TPR DoSHulk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98.40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99.57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90.94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99.92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98.35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93.36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99.73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99.62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99.62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98.22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2739389310"/>
                  </a:ext>
                </a:extLst>
              </a:tr>
              <a:tr h="331601"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TPR FTP-Patator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99.92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99.99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99.77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x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99.94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99.59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99.62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99.64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99.64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99.18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1143477339"/>
                  </a:ext>
                </a:extLst>
              </a:tr>
              <a:tr h="331601"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TPR SSH-Patator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99.92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99.95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98.16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x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99.75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99.42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99.63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96.91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99.60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100.00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66476612"/>
                  </a:ext>
                </a:extLst>
              </a:tr>
              <a:tr h="331601"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TPR Heartbleed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x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100.00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99.97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x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99.97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x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100.00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100.00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3652454994"/>
                  </a:ext>
                </a:extLst>
              </a:tr>
              <a:tr h="173493"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TPR DDoS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100.00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100.00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x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–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effectLst/>
                        </a:rPr>
                        <a:t>99.94</a:t>
                      </a:r>
                      <a:endParaRPr lang="en-JP" sz="1200" kern="100" dirty="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99.88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99.88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99.88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99.79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3375569322"/>
                  </a:ext>
                </a:extLst>
              </a:tr>
              <a:tr h="390479"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TPR PortScan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99.94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99.28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99.86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99.95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99.39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99.81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99.81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99.89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99.88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effectLst/>
                        </a:rPr>
                        <a:t>99.88</a:t>
                      </a:r>
                      <a:endParaRPr lang="en-JP" sz="1200" kern="100"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556883884"/>
                  </a:ext>
                </a:extLst>
              </a:tr>
              <a:tr h="173493">
                <a:tc>
                  <a:txBody>
                    <a:bodyPr/>
                    <a:lstStyle/>
                    <a:p>
                      <a:r>
                        <a:rPr lang="en-JP" sz="1200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TPR (Avg)</a:t>
                      </a:r>
                      <a:endParaRPr lang="en-JP" sz="12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99.57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98.95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97.72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97.52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96.51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92.16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92.39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97.07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96.17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87.33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3259419088"/>
                  </a:ext>
                </a:extLst>
              </a:tr>
              <a:tr h="310782"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FPR (Overall)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0.04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0.06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0.23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0.24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0.20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0.63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1.17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1.15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4.84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–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2121324946"/>
                  </a:ext>
                </a:extLst>
              </a:tr>
              <a:tr h="310782"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ACC (Overall)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99.93</a:t>
                      </a:r>
                      <a:endParaRPr lang="en-JP" sz="12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99.66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99.49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99.54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99.64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99.58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99.52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99.67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96.67</a:t>
                      </a:r>
                      <a:endParaRPr lang="en-JP" sz="1200" kern="1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tc>
                  <a:txBody>
                    <a:bodyPr/>
                    <a:lstStyle/>
                    <a:p>
                      <a:r>
                        <a:rPr lang="en-JP" sz="1200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93.40</a:t>
                      </a:r>
                      <a:endParaRPr lang="en-JP" sz="1200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eiryo" panose="020B0604030504040204" pitchFamily="34" charset="-128"/>
                        <a:ea typeface="Meiryo" panose="020B060403050404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8898" marR="8898" marT="8898" marB="8898" anchor="ctr"/>
                </a:tc>
                <a:extLst>
                  <a:ext uri="{0D108BD9-81ED-4DB2-BD59-A6C34878D82A}">
                    <a16:rowId xmlns:a16="http://schemas.microsoft.com/office/drawing/2014/main" val="2678948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414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6E1B73-71B6-0197-B148-BDB362D249EF}"/>
              </a:ext>
            </a:extLst>
          </p:cNvPr>
          <p:cNvSpPr txBox="1"/>
          <p:nvPr/>
        </p:nvSpPr>
        <p:spPr>
          <a:xfrm>
            <a:off x="426353" y="2600018"/>
            <a:ext cx="3314148" cy="39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JP" sz="1944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DD39767-C245-1941-5161-BFCCE1DB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37</a:t>
            </a:fld>
            <a:endParaRPr lang="en-JP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136AC-CFCE-340D-5BF9-04EA74544183}"/>
              </a:ext>
            </a:extLst>
          </p:cNvPr>
          <p:cNvSpPr txBox="1"/>
          <p:nvPr/>
        </p:nvSpPr>
        <p:spPr>
          <a:xfrm>
            <a:off x="1584471" y="338962"/>
            <a:ext cx="7803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Realguard Runtime Performance</a:t>
            </a:r>
            <a:endParaRPr lang="en-JP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D7FAAB-8D65-F5BB-B997-A925F9E9C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965" y="1310609"/>
            <a:ext cx="8296743" cy="16496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52FA0B-87BC-2801-52F6-5F216E2E5ACC}"/>
              </a:ext>
            </a:extLst>
          </p:cNvPr>
          <p:cNvSpPr txBox="1"/>
          <p:nvPr/>
        </p:nvSpPr>
        <p:spPr>
          <a:xfrm>
            <a:off x="1409965" y="3455779"/>
            <a:ext cx="46610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Realguard:</a:t>
            </a:r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学習速度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: 6,000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処理速度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: 88,200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</a:p>
          <a:p>
            <a:r>
              <a:rPr lang="en-US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Kitsune [23]:</a:t>
            </a:r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学習速度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: 1,100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処理速度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: 37,300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</a:p>
          <a:p>
            <a:r>
              <a:rPr lang="en-US" sz="2000" b="1" dirty="0">
                <a:latin typeface="Meiryo" panose="020B0604030504040204" pitchFamily="34" charset="-128"/>
                <a:ea typeface="Meiryo" panose="020B0604030504040204" pitchFamily="34" charset="-128"/>
              </a:rPr>
              <a:t>Ahmim et al. [24]:</a:t>
            </a:r>
            <a:endParaRPr lang="en-US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学習速度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: 200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  <a:endParaRPr lang="mn-MN" altLang="ja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処理速度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: 17,600 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200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</a:p>
        </p:txBody>
      </p:sp>
      <p:sp>
        <p:nvSpPr>
          <p:cNvPr id="6" name="正方形/長方形 9">
            <a:extLst>
              <a:ext uri="{FF2B5EF4-FFF2-40B4-BE49-F238E27FC236}">
                <a16:creationId xmlns:a16="http://schemas.microsoft.com/office/drawing/2014/main" id="{287656E8-237B-F5BB-9B03-7DB0604A1AA6}"/>
              </a:ext>
            </a:extLst>
          </p:cNvPr>
          <p:cNvSpPr/>
          <p:nvPr/>
        </p:nvSpPr>
        <p:spPr>
          <a:xfrm>
            <a:off x="5812820" y="3893346"/>
            <a:ext cx="3893888" cy="1987187"/>
          </a:xfrm>
          <a:prstGeom prst="rect">
            <a:avLst/>
          </a:prstGeom>
          <a:solidFill>
            <a:srgbClr val="FFBEBE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Realguard 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システムは </a:t>
            </a:r>
            <a:r>
              <a:rPr lang="en-US" altLang="ja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 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秒間に </a:t>
            </a:r>
            <a:r>
              <a:rPr lang="en-US" altLang="ja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6,000 </a:t>
            </a:r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パケットの速度で学習を行うことができる</a:t>
            </a:r>
            <a:endParaRPr lang="en-JP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5365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38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3FC7C6-2217-845E-3091-6C1F4FB60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023566"/>
            <a:ext cx="9464040" cy="5053095"/>
          </a:xfrm>
        </p:spPr>
        <p:txBody>
          <a:bodyPr>
            <a:normAutofit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研究背景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endParaRPr lang="ja-JP" altLang="en-US" sz="3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評価実験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/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9248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F2BBB-61F2-6993-718F-79ECD003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39</a:t>
            </a:fld>
            <a:endParaRPr lang="en-JP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34A01-6E27-4B01-02EF-09E00C4BB20D}"/>
              </a:ext>
            </a:extLst>
          </p:cNvPr>
          <p:cNvSpPr txBox="1"/>
          <p:nvPr/>
        </p:nvSpPr>
        <p:spPr>
          <a:xfrm>
            <a:off x="4257697" y="982795"/>
            <a:ext cx="54880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まとめ</a:t>
            </a:r>
            <a:endParaRPr lang="en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89193-9AF9-9375-AC98-2A93482CF325}"/>
              </a:ext>
            </a:extLst>
          </p:cNvPr>
          <p:cNvSpPr txBox="1"/>
          <p:nvPr/>
        </p:nvSpPr>
        <p:spPr>
          <a:xfrm>
            <a:off x="529795" y="2270019"/>
            <a:ext cx="9913209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Realguard 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は 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ゲートウェイ向けに 軽量・高精度・リアルタイム な攻撃検知を実現</a:t>
            </a:r>
            <a:endParaRPr lang="mn-MN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28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DNN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ベースのモデルにより 攻撃の種類まで特定可能</a:t>
            </a:r>
            <a:endParaRPr lang="mn-MN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28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実験結果で 処理速度、精度、リソース消費量 が競合システムより優れていることを確認</a:t>
            </a:r>
            <a:endParaRPr lang="mn-MN" altLang="ja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28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実践的な 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IoT 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環境でも 安全性向上に貢献できる</a:t>
            </a:r>
          </a:p>
          <a:p>
            <a:endParaRPr lang="en-JP" sz="21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13565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B426-797B-9E93-F9E1-D5F99B8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目次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E72E-8D3B-327B-7659-89789A41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>
                <a:latin typeface="Meiryo" panose="020B0604030504040204" pitchFamily="34" charset="-128"/>
                <a:ea typeface="Meiryo" panose="020B0604030504040204" pitchFamily="34" charset="-128"/>
              </a:rPr>
              <a:t>40</a:t>
            </a:fld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8424962-B746-4C61-4C50-ECFE9D9A5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15" y="2023566"/>
            <a:ext cx="9464040" cy="5053095"/>
          </a:xfrm>
        </p:spPr>
        <p:txBody>
          <a:bodyPr>
            <a:normAutofit/>
          </a:bodyPr>
          <a:lstStyle/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研究背景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en-US" altLang="ja-JP" sz="3000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endParaRPr lang="ja-JP" altLang="en-US" sz="300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検知手法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" panose="020B0604030504040204" pitchFamily="34" charset="-128"/>
                <a:ea typeface="Meiryo" panose="020B0604030504040204" pitchFamily="34" charset="-128"/>
              </a:rPr>
              <a:t>評価実験</a:t>
            </a: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latin typeface="Meiryo UI" panose="020B0604030504040204" pitchFamily="50" charset="-128"/>
                <a:ea typeface="Meiryo UI" panose="020B0604030504040204" pitchFamily="50" charset="-128"/>
              </a:rPr>
              <a:t>まとめ</a:t>
            </a:r>
            <a:endParaRPr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r>
              <a:rPr lang="ja-JP" altLang="en-US" sz="300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endParaRPr lang="en-JP" sz="3000" dirty="0">
              <a:solidFill>
                <a:srgbClr val="FF0000"/>
              </a:solidFill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mn-MN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kumimoji="1"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71486" indent="-411470">
              <a:lnSpc>
                <a:spcPct val="150000"/>
              </a:lnSpc>
              <a:spcBef>
                <a:spcPts val="0"/>
              </a:spcBef>
              <a:buSzPts val="2800"/>
              <a:buFont typeface="Wingdings" pitchFamily="2" charset="2"/>
              <a:buChar char="§"/>
            </a:pPr>
            <a:endParaRPr lang="en-US" altLang="ja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JP" sz="3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42200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BB812-F4FF-1210-4CC8-66B09E60E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41</a:t>
            </a:fld>
            <a:endParaRPr lang="en-JP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A0AC0-8629-2E88-66F5-EEBD9FADDB71}"/>
              </a:ext>
            </a:extLst>
          </p:cNvPr>
          <p:cNvSpPr txBox="1"/>
          <p:nvPr/>
        </p:nvSpPr>
        <p:spPr>
          <a:xfrm>
            <a:off x="504860" y="331305"/>
            <a:ext cx="5486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16">
              <a:lnSpc>
                <a:spcPct val="150000"/>
              </a:lnSpc>
              <a:buSzPts val="2800"/>
            </a:pPr>
            <a:r>
              <a:rPr lang="ja-JP" altLang="en-US" sz="3200" b="1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r>
              <a:rPr lang="mn-MN" altLang="ja-JP" sz="32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32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2/</a:t>
            </a:r>
            <a:r>
              <a:rPr lang="mn-MN" altLang="ja-JP" sz="32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lang="en-JP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D4A48-514F-264F-18B8-27E75A408AC2}"/>
              </a:ext>
            </a:extLst>
          </p:cNvPr>
          <p:cNvSpPr txBox="1"/>
          <p:nvPr/>
        </p:nvSpPr>
        <p:spPr>
          <a:xfrm>
            <a:off x="780639" y="1100746"/>
            <a:ext cx="8023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400" b="1" dirty="0">
                <a:solidFill>
                  <a:srgbClr val="990000"/>
                </a:solidFill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テーマ</a:t>
            </a:r>
            <a:r>
              <a:rPr lang="en-US" sz="2400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：Machine Learning-based IDS for Coap -DTLS </a:t>
            </a:r>
            <a:endParaRPr lang="en-J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DD05F7-2ABD-72B5-1F39-5E5D16157AF0}"/>
              </a:ext>
            </a:extLst>
          </p:cNvPr>
          <p:cNvSpPr txBox="1"/>
          <p:nvPr/>
        </p:nvSpPr>
        <p:spPr>
          <a:xfrm>
            <a:off x="689199" y="1963527"/>
            <a:ext cx="931695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Realguard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の利点である「軽量」「増分統計」「リアルタイム」を活かし、</a:t>
            </a:r>
            <a:b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</a:b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CoAP-DTLS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プロトコルに特化した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ML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ベースの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IDS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システムを開発することを目指している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ja-JP" altLang="en-US" sz="280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ただ、私が気づいた点として、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Realguard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は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HTTP、FTP、SSH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などの従来型プロトコルで学習されている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.</a:t>
            </a:r>
          </a:p>
          <a:p>
            <a:endParaRPr lang="ja-JP" altLang="en-US" sz="280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一方、現代の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IoT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デバイス（スマートホーム、産業用センサー、医療機器など）は、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CoAP-DTLS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プロトコルを使用している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.</a:t>
            </a:r>
            <a:endParaRPr lang="ja-JP" altLang="en-US" sz="280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7844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6910D3-3090-2BBB-D153-8944E39ED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9373" y="2514045"/>
            <a:ext cx="1118180" cy="1729833"/>
          </a:xfrm>
          <a:prstGeom prst="rect">
            <a:avLst/>
          </a:prstGeom>
        </p:spPr>
      </p:pic>
      <p:sp>
        <p:nvSpPr>
          <p:cNvPr id="19" name="Left-Right Arrow 18">
            <a:extLst>
              <a:ext uri="{FF2B5EF4-FFF2-40B4-BE49-F238E27FC236}">
                <a16:creationId xmlns:a16="http://schemas.microsoft.com/office/drawing/2014/main" id="{BE439358-D81D-75A7-8A1E-C4D6799A7ABD}"/>
              </a:ext>
            </a:extLst>
          </p:cNvPr>
          <p:cNvSpPr/>
          <p:nvPr/>
        </p:nvSpPr>
        <p:spPr>
          <a:xfrm>
            <a:off x="1190526" y="3776485"/>
            <a:ext cx="1507771" cy="157682"/>
          </a:xfrm>
          <a:prstGeom prst="left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2D4093D-AE87-3993-FD2B-5CB283B08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609" y="1119508"/>
            <a:ext cx="912954" cy="572387"/>
          </a:xfrm>
          <a:prstGeom prst="rect">
            <a:avLst/>
          </a:prstGeom>
        </p:spPr>
      </p:pic>
      <p:sp>
        <p:nvSpPr>
          <p:cNvPr id="46" name="Bent Arrow 45">
            <a:extLst>
              <a:ext uri="{FF2B5EF4-FFF2-40B4-BE49-F238E27FC236}">
                <a16:creationId xmlns:a16="http://schemas.microsoft.com/office/drawing/2014/main" id="{7C11349D-3AF5-ECB8-5C22-074F0C9F2A25}"/>
              </a:ext>
            </a:extLst>
          </p:cNvPr>
          <p:cNvSpPr/>
          <p:nvPr/>
        </p:nvSpPr>
        <p:spPr>
          <a:xfrm rot="10800000">
            <a:off x="7070884" y="3987360"/>
            <a:ext cx="1979809" cy="226432"/>
          </a:xfrm>
          <a:prstGeom prst="ben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 dirty="0">
              <a:solidFill>
                <a:schemeClr val="tx1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242EC0E-823D-0539-252E-FE3698BDE6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8174" y="1894310"/>
            <a:ext cx="985777" cy="113136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FC1EF38-B3C8-4959-0A80-3741677F9330}"/>
              </a:ext>
            </a:extLst>
          </p:cNvPr>
          <p:cNvSpPr txBox="1"/>
          <p:nvPr/>
        </p:nvSpPr>
        <p:spPr>
          <a:xfrm>
            <a:off x="8218886" y="3037684"/>
            <a:ext cx="962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rgbClr val="C00000"/>
                </a:solidFill>
              </a:rPr>
              <a:t>Attacker</a:t>
            </a:r>
          </a:p>
        </p:txBody>
      </p:sp>
      <p:sp>
        <p:nvSpPr>
          <p:cNvPr id="49" name="Left-Right Arrow 48">
            <a:extLst>
              <a:ext uri="{FF2B5EF4-FFF2-40B4-BE49-F238E27FC236}">
                <a16:creationId xmlns:a16="http://schemas.microsoft.com/office/drawing/2014/main" id="{1A47444E-9524-0334-8B6D-33B2E0A4D864}"/>
              </a:ext>
            </a:extLst>
          </p:cNvPr>
          <p:cNvSpPr/>
          <p:nvPr/>
        </p:nvSpPr>
        <p:spPr>
          <a:xfrm>
            <a:off x="7158401" y="3433416"/>
            <a:ext cx="1226559" cy="153114"/>
          </a:xfrm>
          <a:prstGeom prst="left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CFD3722-4FB7-9603-24F0-072A9421029B}"/>
              </a:ext>
            </a:extLst>
          </p:cNvPr>
          <p:cNvSpPr txBox="1"/>
          <p:nvPr/>
        </p:nvSpPr>
        <p:spPr>
          <a:xfrm>
            <a:off x="7083272" y="3674404"/>
            <a:ext cx="1509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solidFill>
                  <a:srgbClr val="C00000"/>
                </a:solidFill>
              </a:rPr>
              <a:t>Dos/Scan/Flood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E7F1857C-32CF-5FC8-AB7D-D96FFB8BE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75" y="1171825"/>
            <a:ext cx="1227926" cy="634365"/>
          </a:xfrm>
          <a:prstGeom prst="rect">
            <a:avLst/>
          </a:prstGeom>
        </p:spPr>
      </p:pic>
      <p:sp>
        <p:nvSpPr>
          <p:cNvPr id="55" name="Bent Arrow 54">
            <a:extLst>
              <a:ext uri="{FF2B5EF4-FFF2-40B4-BE49-F238E27FC236}">
                <a16:creationId xmlns:a16="http://schemas.microsoft.com/office/drawing/2014/main" id="{71DCE43E-E4DC-DB63-1CE8-D0A7F2FC1E6E}"/>
              </a:ext>
            </a:extLst>
          </p:cNvPr>
          <p:cNvSpPr/>
          <p:nvPr/>
        </p:nvSpPr>
        <p:spPr>
          <a:xfrm flipV="1">
            <a:off x="895072" y="5577281"/>
            <a:ext cx="1507771" cy="320748"/>
          </a:xfrm>
          <a:prstGeom prst="ben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1AB5D9-182E-25DA-5AF2-2607A252597A}"/>
              </a:ext>
            </a:extLst>
          </p:cNvPr>
          <p:cNvSpPr txBox="1"/>
          <p:nvPr/>
        </p:nvSpPr>
        <p:spPr>
          <a:xfrm>
            <a:off x="803921" y="5914945"/>
            <a:ext cx="1906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Enctypted Traffic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A88AA2-713E-292F-37BC-DEFDFA0B5F38}"/>
              </a:ext>
            </a:extLst>
          </p:cNvPr>
          <p:cNvSpPr txBox="1"/>
          <p:nvPr/>
        </p:nvSpPr>
        <p:spPr>
          <a:xfrm>
            <a:off x="7161974" y="4370958"/>
            <a:ext cx="3034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>
                <a:solidFill>
                  <a:srgbClr val="C00000"/>
                </a:solidFill>
              </a:rPr>
              <a:t>Malicious Traffic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43E0002-502B-4332-50FE-25EC941789E1}"/>
              </a:ext>
            </a:extLst>
          </p:cNvPr>
          <p:cNvCxnSpPr>
            <a:cxnSpLocks/>
          </p:cNvCxnSpPr>
          <p:nvPr/>
        </p:nvCxnSpPr>
        <p:spPr>
          <a:xfrm flipH="1">
            <a:off x="1625279" y="1489008"/>
            <a:ext cx="777564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5C0994D-DE4E-C824-2D4D-04EA154EC4AF}"/>
              </a:ext>
            </a:extLst>
          </p:cNvPr>
          <p:cNvSpPr txBox="1"/>
          <p:nvPr/>
        </p:nvSpPr>
        <p:spPr>
          <a:xfrm>
            <a:off x="88688" y="5014825"/>
            <a:ext cx="5711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ncrypte communication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504446D-2D8F-4558-50FC-7D796330FFCD}"/>
              </a:ext>
            </a:extLst>
          </p:cNvPr>
          <p:cNvSpPr/>
          <p:nvPr/>
        </p:nvSpPr>
        <p:spPr>
          <a:xfrm>
            <a:off x="2809031" y="1749261"/>
            <a:ext cx="4163507" cy="5014419"/>
          </a:xfrm>
          <a:prstGeom prst="rect">
            <a:avLst/>
          </a:prstGeom>
          <a:ln w="444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sz="1620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15823733-1759-595E-061D-867B43F90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1383" y="2944014"/>
            <a:ext cx="850717" cy="995283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BAB59F2A-2C15-6B64-879F-0962A65240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9659" y="2006393"/>
            <a:ext cx="1108710" cy="596279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D6B0973-C973-C2DB-2360-734D9A600D13}"/>
              </a:ext>
            </a:extLst>
          </p:cNvPr>
          <p:cNvCxnSpPr>
            <a:cxnSpLocks/>
          </p:cNvCxnSpPr>
          <p:nvPr/>
        </p:nvCxnSpPr>
        <p:spPr>
          <a:xfrm flipV="1">
            <a:off x="4817774" y="2423148"/>
            <a:ext cx="0" cy="409649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29D365C1-027F-8B86-7EDD-104EF734B89C}"/>
              </a:ext>
            </a:extLst>
          </p:cNvPr>
          <p:cNvSpPr/>
          <p:nvPr/>
        </p:nvSpPr>
        <p:spPr>
          <a:xfrm>
            <a:off x="3305324" y="3044941"/>
            <a:ext cx="1283596" cy="49372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20" dirty="0"/>
              <a:t>IoT </a:t>
            </a:r>
            <a:r>
              <a:rPr lang="mn-MN" sz="1620" dirty="0"/>
              <a:t>G</a:t>
            </a:r>
            <a:r>
              <a:rPr lang="en-US" sz="1620" dirty="0"/>
              <a:t>ateway</a:t>
            </a:r>
            <a:endParaRPr lang="en-JP" sz="162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BCDBDA-8FA8-D6BB-1EC1-433FB61C2A89}"/>
              </a:ext>
            </a:extLst>
          </p:cNvPr>
          <p:cNvSpPr txBox="1"/>
          <p:nvPr/>
        </p:nvSpPr>
        <p:spPr>
          <a:xfrm>
            <a:off x="5856597" y="2590277"/>
            <a:ext cx="168542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80" dirty="0"/>
              <a:t>A</a:t>
            </a:r>
            <a:r>
              <a:rPr lang="en-JP" sz="1080" dirty="0"/>
              <a:t>ttack detected </a:t>
            </a:r>
          </a:p>
          <a:p>
            <a:r>
              <a:rPr lang="en-JP" sz="1080" dirty="0"/>
              <a:t>      blocked</a:t>
            </a: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2522D428-DA88-8105-A9FD-3F9A961CEE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2763" y="2094602"/>
            <a:ext cx="501412" cy="375066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487F1D6-DB80-2319-057B-590470F5B5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3197" y="3037116"/>
            <a:ext cx="408366" cy="52994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43C226B-965D-EC73-25B8-EB65EC9BD1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8528" y="5352446"/>
            <a:ext cx="3657353" cy="136894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551B34E5-387C-D7B0-D5C6-7EDF595166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3872" y="5566794"/>
            <a:ext cx="354330" cy="51435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269842F5-839E-4CCB-3E53-49919684E3D9}"/>
              </a:ext>
            </a:extLst>
          </p:cNvPr>
          <p:cNvSpPr txBox="1"/>
          <p:nvPr/>
        </p:nvSpPr>
        <p:spPr>
          <a:xfrm>
            <a:off x="4204580" y="1986505"/>
            <a:ext cx="130670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620" dirty="0"/>
              <a:t>Home Router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06830F6-9980-48BA-FE75-6E6228A9C36F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3301563" y="1405701"/>
            <a:ext cx="282483" cy="337665"/>
          </a:xfrm>
          <a:prstGeom prst="bentConnector2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6D4E73D-98FD-997D-C073-2B686C7D397A}"/>
              </a:ext>
            </a:extLst>
          </p:cNvPr>
          <p:cNvSpPr txBox="1"/>
          <p:nvPr/>
        </p:nvSpPr>
        <p:spPr>
          <a:xfrm>
            <a:off x="3097380" y="5086545"/>
            <a:ext cx="608792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20" dirty="0"/>
              <a:t>IoT Device</a:t>
            </a:r>
            <a:endParaRPr lang="en-JP" sz="1620" dirty="0"/>
          </a:p>
        </p:txBody>
      </p:sp>
      <p:sp>
        <p:nvSpPr>
          <p:cNvPr id="2" name="Left-Right Arrow 1">
            <a:extLst>
              <a:ext uri="{FF2B5EF4-FFF2-40B4-BE49-F238E27FC236}">
                <a16:creationId xmlns:a16="http://schemas.microsoft.com/office/drawing/2014/main" id="{971EB2E9-2C75-2F34-CB92-92682BE3D27D}"/>
              </a:ext>
            </a:extLst>
          </p:cNvPr>
          <p:cNvSpPr/>
          <p:nvPr/>
        </p:nvSpPr>
        <p:spPr>
          <a:xfrm rot="5400000">
            <a:off x="3624595" y="3850141"/>
            <a:ext cx="539568" cy="105485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2C00CE-E3E9-31F5-6F0C-1CDF6E7696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0054" y="2772853"/>
            <a:ext cx="919061" cy="844036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5601E7-4251-F033-BCF1-09C9B2A2B194}"/>
              </a:ext>
            </a:extLst>
          </p:cNvPr>
          <p:cNvSpPr/>
          <p:nvPr/>
        </p:nvSpPr>
        <p:spPr>
          <a:xfrm>
            <a:off x="4783303" y="3728717"/>
            <a:ext cx="1675614" cy="32339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20" dirty="0"/>
              <a:t>ML-Based IDS</a:t>
            </a:r>
            <a:endParaRPr lang="en-JP" sz="162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04EF8-CD42-CA7E-BA41-374A8A72BB84}"/>
              </a:ext>
            </a:extLst>
          </p:cNvPr>
          <p:cNvSpPr txBox="1"/>
          <p:nvPr/>
        </p:nvSpPr>
        <p:spPr>
          <a:xfrm>
            <a:off x="2230765" y="4860523"/>
            <a:ext cx="6744275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20" dirty="0"/>
              <a:t>CoAP+DTLS</a:t>
            </a:r>
          </a:p>
          <a:p>
            <a:pPr algn="ctr"/>
            <a:r>
              <a:rPr lang="en-US" sz="1620" dirty="0"/>
              <a:t>Encrypted Traffic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E8DE3B-2133-4077-78FB-2AED9F854DA6}"/>
              </a:ext>
            </a:extLst>
          </p:cNvPr>
          <p:cNvSpPr/>
          <p:nvPr/>
        </p:nvSpPr>
        <p:spPr>
          <a:xfrm>
            <a:off x="4634335" y="4202682"/>
            <a:ext cx="2034095" cy="433717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Monitoring before encryption</a:t>
            </a:r>
            <a:endParaRPr lang="en-JP" sz="1600" dirty="0"/>
          </a:p>
        </p:txBody>
      </p:sp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F987DCA4-F04F-CCF6-E614-BE4CE0D434DC}"/>
              </a:ext>
            </a:extLst>
          </p:cNvPr>
          <p:cNvSpPr/>
          <p:nvPr/>
        </p:nvSpPr>
        <p:spPr>
          <a:xfrm rot="5400000">
            <a:off x="5478255" y="4773490"/>
            <a:ext cx="244562" cy="41147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62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87074D-85F1-26FD-4405-B5FC9E741F05}"/>
              </a:ext>
            </a:extLst>
          </p:cNvPr>
          <p:cNvCxnSpPr>
            <a:cxnSpLocks/>
          </p:cNvCxnSpPr>
          <p:nvPr/>
        </p:nvCxnSpPr>
        <p:spPr>
          <a:xfrm>
            <a:off x="4689703" y="3374771"/>
            <a:ext cx="236243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87472E4-6484-F57A-1DEB-1194E83964DA}"/>
              </a:ext>
            </a:extLst>
          </p:cNvPr>
          <p:cNvSpPr txBox="1"/>
          <p:nvPr/>
        </p:nvSpPr>
        <p:spPr>
          <a:xfrm>
            <a:off x="1273508" y="3362422"/>
            <a:ext cx="137672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traffic</a:t>
            </a:r>
            <a:endParaRPr lang="en-JP" sz="16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3528C9-DEBB-8727-73CE-904925C67FB3}"/>
              </a:ext>
            </a:extLst>
          </p:cNvPr>
          <p:cNvCxnSpPr/>
          <p:nvPr/>
        </p:nvCxnSpPr>
        <p:spPr>
          <a:xfrm>
            <a:off x="2815263" y="4750194"/>
            <a:ext cx="4163507" cy="19903"/>
          </a:xfrm>
          <a:prstGeom prst="line">
            <a:avLst/>
          </a:prstGeom>
          <a:ln w="38100">
            <a:solidFill>
              <a:schemeClr val="tx1">
                <a:alpha val="7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178E61-EE0F-A76D-BCCD-626F4CB026C1}"/>
              </a:ext>
            </a:extLst>
          </p:cNvPr>
          <p:cNvSpPr txBox="1"/>
          <p:nvPr/>
        </p:nvSpPr>
        <p:spPr>
          <a:xfrm>
            <a:off x="177832" y="63398"/>
            <a:ext cx="5839096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16">
              <a:lnSpc>
                <a:spcPct val="150000"/>
              </a:lnSpc>
              <a:buSzPts val="2800"/>
            </a:pPr>
            <a:r>
              <a:rPr lang="ja-JP" altLang="en-US" sz="2800" b="1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r>
              <a:rPr lang="mn-MN" altLang="ja-JP" sz="28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28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2/1</a:t>
            </a:r>
            <a:endParaRPr lang="en-JP" sz="28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ACDADB-5F2C-6703-6486-762FC8643FD1}"/>
              </a:ext>
            </a:extLst>
          </p:cNvPr>
          <p:cNvSpPr txBox="1"/>
          <p:nvPr/>
        </p:nvSpPr>
        <p:spPr>
          <a:xfrm>
            <a:off x="265220" y="720531"/>
            <a:ext cx="75725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000" b="1" dirty="0">
                <a:solidFill>
                  <a:srgbClr val="C0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テーマ：Machine Learning-based IDS for Coap -DTLS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F7A396-1E58-5A82-461A-41D431FA986F}"/>
              </a:ext>
            </a:extLst>
          </p:cNvPr>
          <p:cNvSpPr txBox="1"/>
          <p:nvPr/>
        </p:nvSpPr>
        <p:spPr>
          <a:xfrm>
            <a:off x="2845086" y="7248959"/>
            <a:ext cx="5512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システムの構成図 </a:t>
            </a:r>
            <a:r>
              <a:rPr lang="en-US" altLang="ja-JP" sz="1800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altLang="ja-JP" sz="1800" dirty="0">
                <a:solidFill>
                  <a:srgbClr val="222222"/>
                </a:solidFill>
                <a:latin typeface="Arial" panose="020B0604020202020204" pitchFamily="34" charset="0"/>
              </a:rPr>
              <a:t>DTLS+CoAP+IDS)</a:t>
            </a:r>
            <a:endParaRPr lang="en-JP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CFCC1-72CE-1E40-D2B3-5094C28E7954}"/>
              </a:ext>
            </a:extLst>
          </p:cNvPr>
          <p:cNvSpPr txBox="1"/>
          <p:nvPr/>
        </p:nvSpPr>
        <p:spPr>
          <a:xfrm>
            <a:off x="8852452" y="60811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065576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31B2A-6995-76DE-4B86-79099623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43</a:t>
            </a:fld>
            <a:endParaRPr lang="en-JP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1B8AC-5827-E41B-9B45-2F46626D99E1}"/>
              </a:ext>
            </a:extLst>
          </p:cNvPr>
          <p:cNvSpPr txBox="1"/>
          <p:nvPr/>
        </p:nvSpPr>
        <p:spPr>
          <a:xfrm>
            <a:off x="1209822" y="1111348"/>
            <a:ext cx="58099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n-MN" dirty="0"/>
              <a:t>Хэрвээ энэ талаарх бодолын хуучин дата байвал яах уу гэж байна.</a:t>
            </a:r>
            <a:r>
              <a:rPr lang="en-US" dirty="0"/>
              <a:t>DNN </a:t>
            </a:r>
            <a:r>
              <a:rPr lang="en-US" dirty="0" err="1"/>
              <a:t>т</a:t>
            </a:r>
            <a:r>
              <a:rPr lang="mn-MN" dirty="0"/>
              <a:t>алаарх мэдээллийн хувьд </a:t>
            </a:r>
          </a:p>
          <a:p>
            <a:r>
              <a:rPr lang="mn-MN" dirty="0"/>
              <a:t>2. Цагын яаж бариж байгаа вэ гэдэг ч билүү тэрний талаарх c</a:t>
            </a:r>
            <a:r>
              <a:rPr lang="en-US" dirty="0" err="1"/>
              <a:t>omment</a:t>
            </a:r>
            <a:r>
              <a:rPr lang="en-US" dirty="0"/>
              <a:t> </a:t>
            </a:r>
            <a:r>
              <a:rPr lang="en-US" dirty="0" err="1"/>
              <a:t>е</a:t>
            </a:r>
            <a:r>
              <a:rPr lang="mn-MN" dirty="0"/>
              <a:t>рөөсөө сайн ойлгосонгүй</a:t>
            </a:r>
          </a:p>
          <a:p>
            <a:r>
              <a:rPr lang="mn-MN" dirty="0"/>
              <a:t>Хэрвээ энэ талаарх мэдээллийн хувьд арай өөр байвал энэ хэсгийг алгасаж байна. </a:t>
            </a:r>
          </a:p>
          <a:p>
            <a:r>
              <a:rPr lang="mn-MN" dirty="0"/>
              <a:t>Хэрвээ</a:t>
            </a:r>
          </a:p>
          <a:p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B8402-1DB8-D729-7ADD-1BA04C984728}"/>
              </a:ext>
            </a:extLst>
          </p:cNvPr>
          <p:cNvSpPr txBox="1"/>
          <p:nvPr/>
        </p:nvSpPr>
        <p:spPr>
          <a:xfrm>
            <a:off x="1371600" y="3419672"/>
            <a:ext cx="81240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ja-JP" altLang="en-US"/>
            </a:br>
            <a:r>
              <a:rPr lang="ja-JP" altLang="en-US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質問：提案システムは最新のデータセットで学習しなおす必要はないですか？また、それは可能ですか？</a:t>
            </a:r>
            <a:br>
              <a:rPr lang="ja-JP" altLang="en-US"/>
            </a:br>
            <a:r>
              <a:rPr lang="ja-JP" altLang="en-US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　　：リアルタイム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IDS</a:t>
            </a:r>
            <a:r>
              <a:rPr lang="ja-JP" altLang="en-US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に求められる計算速度はどの程度ですか？</a:t>
            </a:r>
            <a:br>
              <a:rPr lang="ja-JP" altLang="en-US"/>
            </a:br>
            <a:r>
              <a:rPr lang="ja-JP" altLang="en-US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　　：最近は新たな攻撃が出てきていると思うのですが、攻撃はラベルで示されたもので全てですか？</a:t>
            </a:r>
            <a:br>
              <a:rPr lang="ja-JP" altLang="en-US"/>
            </a:br>
            <a:r>
              <a:rPr lang="ja-JP" altLang="en-US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　　：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TPR99.57%</a:t>
            </a:r>
            <a:r>
              <a:rPr lang="ja-JP" altLang="en-US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というのは良い数値なのですか？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False Negative </a:t>
            </a:r>
            <a:r>
              <a:rPr lang="ja-JP" altLang="en-US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とかを考えると、どうなのでしょうか？</a:t>
            </a:r>
            <a:r>
              <a:rPr lang="en-US" altLang="ja-JP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0218003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1218390-E01A-CE2B-A62A-0B0A50A6E386}"/>
              </a:ext>
            </a:extLst>
          </p:cNvPr>
          <p:cNvSpPr txBox="1"/>
          <p:nvPr/>
        </p:nvSpPr>
        <p:spPr>
          <a:xfrm>
            <a:off x="327295" y="370894"/>
            <a:ext cx="79092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>
                <a:latin typeface="Meiryo" panose="020B0604030504040204" pitchFamily="34" charset="-128"/>
                <a:ea typeface="Meiryo" panose="020B0604030504040204" pitchFamily="34" charset="-128"/>
              </a:rPr>
              <a:t>評価指標</a:t>
            </a:r>
            <a:r>
              <a:rPr lang="mn-MN" altLang="ja-JP" sz="32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3200" dirty="0">
                <a:latin typeface="Meiryo" panose="020B0604030504040204" pitchFamily="34" charset="-128"/>
                <a:ea typeface="Meiryo" panose="020B0604030504040204" pitchFamily="34" charset="-128"/>
              </a:rPr>
              <a:t>/ Evaluation Metrics</a:t>
            </a:r>
            <a:endParaRPr lang="mn-MN" altLang="ja-JP" sz="32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CDC4545-E5FD-18A7-A4ED-733A052FFB47}"/>
              </a:ext>
            </a:extLst>
          </p:cNvPr>
          <p:cNvSpPr/>
          <p:nvPr/>
        </p:nvSpPr>
        <p:spPr>
          <a:xfrm>
            <a:off x="3342602" y="1547092"/>
            <a:ext cx="2528595" cy="73152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Realguard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の性能評価方法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1ABE562A-183A-06EE-5B15-FD550892E375}"/>
              </a:ext>
            </a:extLst>
          </p:cNvPr>
          <p:cNvSpPr/>
          <p:nvPr/>
        </p:nvSpPr>
        <p:spPr>
          <a:xfrm rot="2480938" flipH="1">
            <a:off x="3802357" y="2801416"/>
            <a:ext cx="104864" cy="612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944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D54C5DA-08B2-E535-E34B-DCF74B41BE45}"/>
              </a:ext>
            </a:extLst>
          </p:cNvPr>
          <p:cNvSpPr/>
          <p:nvPr/>
        </p:nvSpPr>
        <p:spPr>
          <a:xfrm>
            <a:off x="1807446" y="3277051"/>
            <a:ext cx="1542151" cy="111506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JP" sz="21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29EB590-3116-18BC-B1FE-1F8A5CF10DD3}"/>
              </a:ext>
            </a:extLst>
          </p:cNvPr>
          <p:cNvSpPr/>
          <p:nvPr/>
        </p:nvSpPr>
        <p:spPr>
          <a:xfrm>
            <a:off x="5028085" y="3960093"/>
            <a:ext cx="1686224" cy="126603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sz="1944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56F46E6-2616-7B29-1AB6-9728D1415FEE}"/>
              </a:ext>
            </a:extLst>
          </p:cNvPr>
          <p:cNvSpPr/>
          <p:nvPr/>
        </p:nvSpPr>
        <p:spPr>
          <a:xfrm>
            <a:off x="7309024" y="4241527"/>
            <a:ext cx="1952542" cy="125303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944" dirty="0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682723C2-4AE4-6867-2069-B28BF0549A17}"/>
              </a:ext>
            </a:extLst>
          </p:cNvPr>
          <p:cNvSpPr/>
          <p:nvPr/>
        </p:nvSpPr>
        <p:spPr>
          <a:xfrm>
            <a:off x="5679951" y="3463934"/>
            <a:ext cx="75110" cy="4457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944" dirty="0"/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138F1696-5D4F-08A3-57AE-355A273E54E8}"/>
              </a:ext>
            </a:extLst>
          </p:cNvPr>
          <p:cNvSpPr/>
          <p:nvPr/>
        </p:nvSpPr>
        <p:spPr>
          <a:xfrm rot="18643095">
            <a:off x="6860455" y="3334617"/>
            <a:ext cx="59636" cy="8644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sz="1944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6DDD74-A4D7-19BE-EA0E-FBE83B5899C1}"/>
              </a:ext>
            </a:extLst>
          </p:cNvPr>
          <p:cNvSpPr txBox="1"/>
          <p:nvPr/>
        </p:nvSpPr>
        <p:spPr>
          <a:xfrm>
            <a:off x="990701" y="5166771"/>
            <a:ext cx="1826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TPR = 38 / (38 + 2) = 38 / 40 = 0.95 = 95%</a:t>
            </a:r>
            <a:endParaRPr lang="en-JP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0B7206-298A-57F9-A9CE-A8CC42FE8B08}"/>
              </a:ext>
            </a:extLst>
          </p:cNvPr>
          <p:cNvSpPr txBox="1"/>
          <p:nvPr/>
        </p:nvSpPr>
        <p:spPr>
          <a:xfrm>
            <a:off x="4801966" y="5166771"/>
            <a:ext cx="14953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FPR = 5 / (5 + 55) = 5 / 60 = 0.083 = 8.3%</a:t>
            </a:r>
            <a:endParaRPr lang="en-JP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01C866-D0AD-2BE3-C996-1B0CB970A0FD}"/>
              </a:ext>
            </a:extLst>
          </p:cNvPr>
          <p:cNvSpPr txBox="1"/>
          <p:nvPr/>
        </p:nvSpPr>
        <p:spPr>
          <a:xfrm>
            <a:off x="7573230" y="5633928"/>
            <a:ext cx="14953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ACC = (38 + 55) / (38 + 5 + 55 + 2) = 93 / 100 = 0.93 = 93%</a:t>
            </a:r>
            <a:endParaRPr lang="en-JP" sz="1260" dirty="0"/>
          </a:p>
        </p:txBody>
      </p:sp>
      <p:sp>
        <p:nvSpPr>
          <p:cNvPr id="59" name="Slide Number Placeholder 58">
            <a:extLst>
              <a:ext uri="{FF2B5EF4-FFF2-40B4-BE49-F238E27FC236}">
                <a16:creationId xmlns:a16="http://schemas.microsoft.com/office/drawing/2014/main" id="{5AB27DF6-36DC-20BB-1D0E-8D21266B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44</a:t>
            </a:fld>
            <a:endParaRPr lang="en-JP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B6BC13-2FBC-F11D-4DFD-1B6FB16AE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724" y="3462292"/>
            <a:ext cx="1104900" cy="8294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134854-2AB4-E3ED-0467-84DA6FFF3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462" y="4088214"/>
            <a:ext cx="1362747" cy="983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D22381-A402-A921-CB0E-C4B3BFED6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654" y="4380889"/>
            <a:ext cx="1790700" cy="845234"/>
          </a:xfrm>
          <a:prstGeom prst="rect">
            <a:avLst/>
          </a:prstGeom>
        </p:spPr>
      </p:pic>
      <p:sp>
        <p:nvSpPr>
          <p:cNvPr id="18" name="角丸四角形吹き出し 83">
            <a:extLst>
              <a:ext uri="{FF2B5EF4-FFF2-40B4-BE49-F238E27FC236}">
                <a16:creationId xmlns:a16="http://schemas.microsoft.com/office/drawing/2014/main" id="{CA938878-BD90-9728-13A2-BDD69F4B7E28}"/>
              </a:ext>
            </a:extLst>
          </p:cNvPr>
          <p:cNvSpPr/>
          <p:nvPr/>
        </p:nvSpPr>
        <p:spPr>
          <a:xfrm>
            <a:off x="406623" y="6078844"/>
            <a:ext cx="2853192" cy="1384825"/>
          </a:xfrm>
          <a:prstGeom prst="wedgeRoundRectCallout">
            <a:avLst>
              <a:gd name="adj1" fmla="val 38818"/>
              <a:gd name="adj2" fmla="val -84923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JP" sz="1500" dirty="0">
                <a:solidFill>
                  <a:schemeClr val="tx1"/>
                </a:solidFill>
              </a:rPr>
              <a:t>40人の患者のうち38人を検出</a:t>
            </a:r>
          </a:p>
          <a:p>
            <a:r>
              <a:rPr lang="en-JP" sz="1500" dirty="0">
                <a:solidFill>
                  <a:schemeClr val="tx1"/>
                </a:solidFill>
              </a:rPr>
              <a:t>2人の患者を見逃した</a:t>
            </a:r>
          </a:p>
          <a:p>
            <a:r>
              <a:rPr lang="en-JP" sz="1500" dirty="0">
                <a:solidFill>
                  <a:schemeClr val="tx1"/>
                </a:solidFill>
              </a:rPr>
              <a:t>医師は 患者の</a:t>
            </a:r>
            <a:r>
              <a:rPr lang="en-JP" sz="1500" dirty="0">
                <a:solidFill>
                  <a:srgbClr val="92D050"/>
                </a:solidFill>
              </a:rPr>
              <a:t>95% を正しく検出できた</a:t>
            </a:r>
          </a:p>
        </p:txBody>
      </p:sp>
      <p:sp>
        <p:nvSpPr>
          <p:cNvPr id="19" name="角丸四角形吹き出し 83">
            <a:extLst>
              <a:ext uri="{FF2B5EF4-FFF2-40B4-BE49-F238E27FC236}">
                <a16:creationId xmlns:a16="http://schemas.microsoft.com/office/drawing/2014/main" id="{D43EA512-0E13-45DE-2A10-E2BFE6CFE2A6}"/>
              </a:ext>
            </a:extLst>
          </p:cNvPr>
          <p:cNvSpPr/>
          <p:nvPr/>
        </p:nvSpPr>
        <p:spPr>
          <a:xfrm>
            <a:off x="4145904" y="6000468"/>
            <a:ext cx="3068093" cy="1384825"/>
          </a:xfrm>
          <a:prstGeom prst="wedgeRoundRectCallout">
            <a:avLst>
              <a:gd name="adj1" fmla="val 3097"/>
              <a:gd name="adj2" fmla="val -74606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35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60</a:t>
            </a:r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人の健康な人のうち</a:t>
            </a:r>
            <a:r>
              <a:rPr lang="en-US" altLang="ja-JP" sz="135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55</a:t>
            </a:r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人を正しく判定</a:t>
            </a:r>
          </a:p>
          <a:p>
            <a:r>
              <a:rPr lang="en-US" altLang="ja-JP" sz="135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5</a:t>
            </a:r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人の健康な人を誤って患者と判定</a:t>
            </a:r>
          </a:p>
          <a:p>
            <a:r>
              <a:rPr lang="ja-JP" altLang="en-US" sz="135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医師は 健康な人の</a:t>
            </a:r>
            <a:r>
              <a:rPr lang="en-US" altLang="ja-JP" sz="1350" dirty="0">
                <a:solidFill>
                  <a:srgbClr val="FFC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8.3% </a:t>
            </a:r>
            <a:r>
              <a:rPr lang="ja-JP" altLang="en-US" sz="1350">
                <a:solidFill>
                  <a:srgbClr val="FFC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を誤診した！</a:t>
            </a:r>
            <a:endParaRPr lang="en-JP" sz="1350" dirty="0">
              <a:solidFill>
                <a:srgbClr val="FFC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角丸四角形吹き出し 83">
            <a:extLst>
              <a:ext uri="{FF2B5EF4-FFF2-40B4-BE49-F238E27FC236}">
                <a16:creationId xmlns:a16="http://schemas.microsoft.com/office/drawing/2014/main" id="{E90AB7FA-A502-2C9D-56FE-E524C1D73B86}"/>
              </a:ext>
            </a:extLst>
          </p:cNvPr>
          <p:cNvSpPr/>
          <p:nvPr/>
        </p:nvSpPr>
        <p:spPr>
          <a:xfrm>
            <a:off x="7642014" y="2493935"/>
            <a:ext cx="2853192" cy="1384825"/>
          </a:xfrm>
          <a:prstGeom prst="wedgeRoundRectCallout">
            <a:avLst>
              <a:gd name="adj1" fmla="val -49315"/>
              <a:gd name="adj2" fmla="val 77401"/>
              <a:gd name="adj3" fmla="val 16667"/>
            </a:avLst>
          </a:prstGeom>
          <a:solidFill>
            <a:srgbClr val="FFFFFF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100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人のうち</a:t>
            </a:r>
            <a:r>
              <a: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93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人を正しく判定</a:t>
            </a:r>
          </a:p>
          <a:p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7</a:t>
            </a:r>
            <a:r>
              <a:rPr lang="ja-JP" altLang="en-US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人を誤って判定</a:t>
            </a:r>
          </a:p>
          <a:p>
            <a:endParaRPr lang="ja-JP" altLang="en-US">
              <a:solidFill>
                <a:schemeClr val="accent2">
                  <a:lumMod val="7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医師の 精度は</a:t>
            </a:r>
            <a:r>
              <a:rPr lang="en-US" altLang="ja-JP" dirty="0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93%</a:t>
            </a:r>
            <a:r>
              <a:rPr lang="ja-JP" altLang="en-US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！</a:t>
            </a:r>
            <a:r>
              <a:rPr lang="mn-MN" altLang="ja-JP" dirty="0">
                <a:solidFill>
                  <a:schemeClr val="accent2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я</a:t>
            </a:r>
            <a:endParaRPr lang="en-JP" dirty="0">
              <a:solidFill>
                <a:schemeClr val="accent2">
                  <a:lumMod val="7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383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7ACC3-F850-AA2A-D586-2C6FEF0F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45</a:t>
            </a:fld>
            <a:endParaRPr lang="en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BAD1A-AF35-033B-B01F-AD1421F0B44A}"/>
              </a:ext>
            </a:extLst>
          </p:cNvPr>
          <p:cNvSpPr txBox="1"/>
          <p:nvPr/>
        </p:nvSpPr>
        <p:spPr>
          <a:xfrm>
            <a:off x="576774" y="420491"/>
            <a:ext cx="91017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攻撃検出</a:t>
            </a:r>
            <a:r>
              <a:rPr lang="en-US" altLang="ja-JP" sz="20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* </a:t>
            </a: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Attack Detection Component の主な役割は、ネットワークトラフィックをリアルタイムで解析し、攻撃を検出することである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DED8C-155D-F3D4-C90A-A8F6F7CBDB6C}"/>
              </a:ext>
            </a:extLst>
          </p:cNvPr>
          <p:cNvSpPr txBox="1"/>
          <p:nvPr/>
        </p:nvSpPr>
        <p:spPr>
          <a:xfrm>
            <a:off x="829994" y="1840079"/>
            <a:ext cx="79623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/>
              <a:t>特徴抽出 </a:t>
            </a:r>
            <a:r>
              <a:rPr lang="en-US" altLang="ja-JP" b="1" dirty="0"/>
              <a:t>(</a:t>
            </a:r>
            <a:r>
              <a:rPr lang="en-US" b="1" dirty="0"/>
              <a:t>Feature Extraction)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ネットワークパケットから </a:t>
            </a:r>
            <a:r>
              <a:rPr lang="en-US" altLang="ja-JP" b="1" dirty="0"/>
              <a:t>14 </a:t>
            </a:r>
            <a:r>
              <a:rPr lang="ja-JP" altLang="en-US" b="1"/>
              <a:t>の重要な特徴</a:t>
            </a:r>
            <a:r>
              <a:rPr lang="ja-JP" altLang="en-US"/>
              <a:t> を抽出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時間的特徴</a:t>
            </a:r>
            <a:r>
              <a:rPr lang="en-US" altLang="ja-JP" b="1" dirty="0"/>
              <a:t>:</a:t>
            </a:r>
            <a:r>
              <a:rPr lang="ja-JP" altLang="en-US"/>
              <a:t> パケット間の時間間隔 </a:t>
            </a:r>
            <a:r>
              <a:rPr lang="en-US" altLang="ja-JP" dirty="0"/>
              <a:t>(</a:t>
            </a:r>
            <a:r>
              <a:rPr lang="en-US" dirty="0"/>
              <a:t>Inter-Arrival Time)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サイズ特徴</a:t>
            </a:r>
            <a:r>
              <a:rPr lang="en-US" altLang="ja-JP" b="1" dirty="0"/>
              <a:t>:</a:t>
            </a:r>
            <a:r>
              <a:rPr lang="ja-JP" altLang="en-US"/>
              <a:t> パケット長 </a:t>
            </a:r>
            <a:r>
              <a:rPr lang="en-US" altLang="ja-JP" dirty="0"/>
              <a:t>(</a:t>
            </a:r>
            <a:r>
              <a:rPr lang="en-US" dirty="0"/>
              <a:t>Packet Length)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b="1"/>
              <a:t>プロトコル特徴</a:t>
            </a:r>
            <a:r>
              <a:rPr lang="en-US" altLang="ja-JP" b="1" dirty="0"/>
              <a:t>:</a:t>
            </a:r>
            <a:r>
              <a:rPr lang="ja-JP" altLang="en-US"/>
              <a:t> 使用されているネットワークプロトコル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F2386D-E1D6-990C-8378-3109F3E544BE}"/>
              </a:ext>
            </a:extLst>
          </p:cNvPr>
          <p:cNvSpPr txBox="1"/>
          <p:nvPr/>
        </p:nvSpPr>
        <p:spPr>
          <a:xfrm>
            <a:off x="942536" y="4384153"/>
            <a:ext cx="62741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/>
              <a:t>動作原理（</a:t>
            </a:r>
            <a:r>
              <a:rPr lang="en-US" b="1" dirty="0"/>
              <a:t>Working Principle）</a:t>
            </a:r>
          </a:p>
          <a:p>
            <a:pPr>
              <a:buFont typeface="+mj-lt"/>
              <a:buAutoNum type="arabicPeriod"/>
            </a:pPr>
            <a:r>
              <a:rPr lang="ja-JP" altLang="en-US" b="1"/>
              <a:t>特徴ベクトル </a:t>
            </a:r>
            <a:r>
              <a:rPr lang="en-US" altLang="ja-JP" b="1" dirty="0"/>
              <a:t>(</a:t>
            </a:r>
            <a:r>
              <a:rPr lang="en-US" b="1" dirty="0"/>
              <a:t>Feature Vector)</a:t>
            </a:r>
            <a:r>
              <a:rPr lang="en-US" dirty="0"/>
              <a:t> </a:t>
            </a:r>
            <a:r>
              <a:rPr lang="ja-JP" altLang="en-US"/>
              <a:t>を </a:t>
            </a:r>
            <a:r>
              <a:rPr lang="en-US" dirty="0"/>
              <a:t>DNN </a:t>
            </a:r>
            <a:r>
              <a:rPr lang="ja-JP" altLang="en-US"/>
              <a:t>に入力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DNN </a:t>
            </a:r>
            <a:r>
              <a:rPr lang="ja-JP" altLang="en-US" b="1"/>
              <a:t>モデル</a:t>
            </a:r>
            <a:r>
              <a:rPr lang="ja-JP" altLang="en-US"/>
              <a:t> がトラフィックの複雑な関係を学習</a:t>
            </a:r>
          </a:p>
          <a:p>
            <a:pPr>
              <a:buFont typeface="+mj-lt"/>
              <a:buAutoNum type="arabicPeriod"/>
            </a:pPr>
            <a:r>
              <a:rPr lang="ja-JP" altLang="en-US" b="1"/>
              <a:t>出力層 </a:t>
            </a:r>
            <a:r>
              <a:rPr lang="en-US" altLang="ja-JP" b="1" dirty="0"/>
              <a:t>(</a:t>
            </a:r>
            <a:r>
              <a:rPr lang="en-US" b="1" dirty="0"/>
              <a:t>Output Layer)</a:t>
            </a:r>
            <a:r>
              <a:rPr lang="en-US" dirty="0"/>
              <a:t> </a:t>
            </a:r>
            <a:r>
              <a:rPr lang="ja-JP" altLang="en-US"/>
              <a:t>で分類</a:t>
            </a:r>
            <a:r>
              <a:rPr lang="en-US" altLang="ja-JP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Normal（</a:t>
            </a:r>
            <a:r>
              <a:rPr lang="ja-JP" altLang="en-US" b="1"/>
              <a:t>正常）</a:t>
            </a:r>
            <a:endParaRPr lang="ja-JP" altLang="en-US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Attack（</a:t>
            </a:r>
            <a:r>
              <a:rPr lang="ja-JP" altLang="en-US" b="1"/>
              <a:t>攻撃）</a:t>
            </a:r>
            <a:endParaRPr lang="ja-JP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D706AA-DBDA-4399-8320-791DFFFB1182}"/>
              </a:ext>
            </a:extLst>
          </p:cNvPr>
          <p:cNvSpPr txBox="1"/>
          <p:nvPr/>
        </p:nvSpPr>
        <p:spPr>
          <a:xfrm>
            <a:off x="942536" y="6389521"/>
            <a:ext cx="5486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1"/>
              <a:t>判定 </a:t>
            </a:r>
            <a:r>
              <a:rPr lang="en-US" altLang="ja-JP" b="1" dirty="0"/>
              <a:t>(</a:t>
            </a:r>
            <a:r>
              <a:rPr lang="en-US" b="1" dirty="0"/>
              <a:t>Decision Making)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分析結果に基づき、ネットワークフローが </a:t>
            </a:r>
            <a:r>
              <a:rPr lang="ja-JP" altLang="en-US" b="1"/>
              <a:t>危険</a:t>
            </a:r>
            <a:r>
              <a:rPr lang="ja-JP" altLang="en-US"/>
              <a:t> と判断されれば</a:t>
            </a:r>
            <a:br>
              <a:rPr lang="ja-JP" altLang="en-US"/>
            </a:br>
            <a:r>
              <a:rPr lang="ja-JP" altLang="en-US"/>
              <a:t>→ 次の </a:t>
            </a:r>
            <a:r>
              <a:rPr lang="en-US" b="1" dirty="0"/>
              <a:t>Attack Mitigation Component</a:t>
            </a:r>
            <a:r>
              <a:rPr lang="en-US" dirty="0"/>
              <a:t> </a:t>
            </a:r>
            <a:r>
              <a:rPr lang="ja-JP" altLang="en-US"/>
              <a:t>に信号</a:t>
            </a:r>
            <a:r>
              <a:rPr lang="en-US" altLang="ja-JP" dirty="0"/>
              <a:t>/</a:t>
            </a:r>
            <a:r>
              <a:rPr lang="ja-JP" altLang="en-US"/>
              <a:t>通知を送信</a:t>
            </a:r>
          </a:p>
        </p:txBody>
      </p:sp>
    </p:spTree>
    <p:extLst>
      <p:ext uri="{BB962C8B-B14F-4D97-AF65-F5344CB8AC3E}">
        <p14:creationId xmlns:p14="http://schemas.microsoft.com/office/powerpoint/2010/main" val="21521428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AFB1C-290F-19B6-B4FE-93AD02AF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46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F1983-F0AF-8414-E7F0-AD21ACCFBF71}"/>
              </a:ext>
            </a:extLst>
          </p:cNvPr>
          <p:cNvSpPr txBox="1"/>
          <p:nvPr/>
        </p:nvSpPr>
        <p:spPr>
          <a:xfrm>
            <a:off x="231913" y="301403"/>
            <a:ext cx="108453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IoT</a:t>
            </a:r>
            <a:r>
              <a:rPr lang="ja-JP" altLang="en-US" sz="2800">
                <a:latin typeface="Meiryo" panose="020B0604030504040204" pitchFamily="34" charset="-128"/>
                <a:ea typeface="Meiryo" panose="020B0604030504040204" pitchFamily="34" charset="-128"/>
              </a:rPr>
              <a:t>ゲートウェイの機能と重要性</a:t>
            </a:r>
            <a:r>
              <a:rPr lang="en-US" altLang="ja-JP" sz="2800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Benefits of IoT Gateway</a:t>
            </a:r>
            <a:endParaRPr lang="en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sz="28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9DD94A1-C3F6-9778-E182-69C5CFC338E3}"/>
              </a:ext>
            </a:extLst>
          </p:cNvPr>
          <p:cNvSpPr/>
          <p:nvPr/>
        </p:nvSpPr>
        <p:spPr>
          <a:xfrm>
            <a:off x="964016" y="1255510"/>
            <a:ext cx="4690592" cy="145856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2400" dirty="0">
                <a:solidFill>
                  <a:schemeClr val="tx1"/>
                </a:solidFill>
              </a:rPr>
              <a:t>1.</a:t>
            </a:r>
            <a:r>
              <a:rPr lang="en-JP" sz="2400" dirty="0">
                <a:solidFill>
                  <a:schemeClr val="tx1"/>
                </a:solidFill>
              </a:rPr>
              <a:t>Protocol Translation: デバイスとサーバー間のデータを適切なプロトコルに変換</a:t>
            </a:r>
            <a:endParaRPr lang="mn-MN" sz="2400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7816BD0-F572-54F6-68A5-6B7FAB33D25F}"/>
              </a:ext>
            </a:extLst>
          </p:cNvPr>
          <p:cNvSpPr/>
          <p:nvPr/>
        </p:nvSpPr>
        <p:spPr>
          <a:xfrm>
            <a:off x="964016" y="3091349"/>
            <a:ext cx="4690592" cy="129016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2.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Edge Computing: 事前処理や計算をゲートウェイで実行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D25F43E-6744-C534-3905-38D2A5860E19}"/>
              </a:ext>
            </a:extLst>
          </p:cNvPr>
          <p:cNvSpPr/>
          <p:nvPr/>
        </p:nvSpPr>
        <p:spPr>
          <a:xfrm>
            <a:off x="964016" y="4884761"/>
            <a:ext cx="4648200" cy="146882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3.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Security: 暗号化、ファイアウォール、攻撃からの保護</a:t>
            </a:r>
            <a:endParaRPr lang="en-JP" sz="24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784A949-15BD-4D2C-8A6A-BD8C60E156E4}"/>
              </a:ext>
            </a:extLst>
          </p:cNvPr>
          <p:cNvSpPr/>
          <p:nvPr/>
        </p:nvSpPr>
        <p:spPr>
          <a:xfrm>
            <a:off x="5911473" y="1309818"/>
            <a:ext cx="4648200" cy="14042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4.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Scalability: ネットワークの拡張に対応可能</a:t>
            </a:r>
            <a:endParaRPr lang="en-JP" sz="2400" b="1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0CB3FF3-7EDE-1202-0689-812691D8C65C}"/>
              </a:ext>
            </a:extLst>
          </p:cNvPr>
          <p:cNvSpPr/>
          <p:nvPr/>
        </p:nvSpPr>
        <p:spPr>
          <a:xfrm>
            <a:off x="5953867" y="3144315"/>
            <a:ext cx="4605806" cy="129016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5.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信頼性（Reliability）: 安定したデータ転送を確保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CD6F8C5-EB50-495B-59B8-46400EB55DEB}"/>
              </a:ext>
            </a:extLst>
          </p:cNvPr>
          <p:cNvSpPr/>
          <p:nvPr/>
        </p:nvSpPr>
        <p:spPr>
          <a:xfrm>
            <a:off x="5953867" y="4949330"/>
            <a:ext cx="4605806" cy="140426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mn-MN" sz="135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mn-MN" sz="24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mn-MN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6.</a:t>
            </a:r>
            <a:r>
              <a:rPr lang="en-JP" sz="24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経済性（Economical）: 低コストで IoT システムを運用可能</a:t>
            </a:r>
          </a:p>
          <a:p>
            <a:pPr algn="ctr"/>
            <a:endParaRPr lang="mn-MN" sz="135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86E3D6-BC5F-F6E0-482B-260FF320A008}"/>
              </a:ext>
            </a:extLst>
          </p:cNvPr>
          <p:cNvSpPr txBox="1"/>
          <p:nvPr/>
        </p:nvSpPr>
        <p:spPr>
          <a:xfrm>
            <a:off x="1120770" y="7662031"/>
            <a:ext cx="6036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dirty="0"/>
              <a:t>https://psiborg.in/iot-gateway/</a:t>
            </a:r>
          </a:p>
        </p:txBody>
      </p:sp>
    </p:spTree>
    <p:extLst>
      <p:ext uri="{BB962C8B-B14F-4D97-AF65-F5344CB8AC3E}">
        <p14:creationId xmlns:p14="http://schemas.microsoft.com/office/powerpoint/2010/main" val="3439033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10837-5259-9B49-A4DD-A7DA6C1E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47</a:t>
            </a:fld>
            <a:endParaRPr lang="en-JP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5F243A-CD56-0384-16D3-904233942460}"/>
              </a:ext>
            </a:extLst>
          </p:cNvPr>
          <p:cNvSpPr txBox="1"/>
          <p:nvPr/>
        </p:nvSpPr>
        <p:spPr>
          <a:xfrm>
            <a:off x="451023" y="268176"/>
            <a:ext cx="90710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子どもの成長と学び（</a:t>
            </a:r>
            <a:r>
              <a:rPr lang="en-JP" sz="2400" b="1" dirty="0">
                <a:solidFill>
                  <a:schemeClr val="accent1">
                    <a:lumMod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Growing Approach</a:t>
            </a:r>
            <a:r>
              <a:rPr lang="en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との比較）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721E46F-4392-E1AB-BBE0-BF58930F2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30" y="1784317"/>
            <a:ext cx="3193514" cy="249628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D4237A5-CF20-9E27-9941-9A85D8E38D36}"/>
              </a:ext>
            </a:extLst>
          </p:cNvPr>
          <p:cNvSpPr txBox="1"/>
          <p:nvPr/>
        </p:nvSpPr>
        <p:spPr>
          <a:xfrm>
            <a:off x="451023" y="729841"/>
            <a:ext cx="9529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子どもは年齢とともに観察力・判断力が向上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単純な区別 → 専門的な識別まで学習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A9C812-9C70-378F-6B72-995ADB5A8566}"/>
              </a:ext>
            </a:extLst>
          </p:cNvPr>
          <p:cNvSpPr txBox="1"/>
          <p:nvPr/>
        </p:nvSpPr>
        <p:spPr>
          <a:xfrm>
            <a:off x="176703" y="4723156"/>
            <a:ext cx="53096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DNNも段階的にデータから特徴を学習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簡単な分類 → 複雑なパターン認識まで能力向上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DB2BA9E-73B7-E6B4-6A71-C891F9A97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112437"/>
              </p:ext>
            </p:extLst>
          </p:nvPr>
        </p:nvGraphicFramePr>
        <p:xfrm>
          <a:off x="4099019" y="1701473"/>
          <a:ext cx="6119401" cy="2579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336">
                  <a:extLst>
                    <a:ext uri="{9D8B030D-6E8A-4147-A177-3AD203B41FA5}">
                      <a16:colId xmlns:a16="http://schemas.microsoft.com/office/drawing/2014/main" val="2876973817"/>
                    </a:ext>
                  </a:extLst>
                </a:gridCol>
                <a:gridCol w="3488055">
                  <a:extLst>
                    <a:ext uri="{9D8B030D-6E8A-4147-A177-3AD203B41FA5}">
                      <a16:colId xmlns:a16="http://schemas.microsoft.com/office/drawing/2014/main" val="3681611696"/>
                    </a:ext>
                  </a:extLst>
                </a:gridCol>
                <a:gridCol w="1720010">
                  <a:extLst>
                    <a:ext uri="{9D8B030D-6E8A-4147-A177-3AD203B41FA5}">
                      <a16:colId xmlns:a16="http://schemas.microsoft.com/office/drawing/2014/main" val="272751239"/>
                    </a:ext>
                  </a:extLst>
                </a:gridCol>
              </a:tblGrid>
              <a:tr h="77497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b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年齢</a:t>
                      </a:r>
                    </a:p>
                    <a:p>
                      <a:pPr algn="ctr"/>
                      <a:endParaRPr lang="en-JP" sz="1600" b="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mn-MN" altLang="ja-JP" sz="1600" b="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b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学習・観察</a:t>
                      </a:r>
                    </a:p>
                    <a:p>
                      <a:pPr algn="ctr"/>
                      <a:endParaRPr lang="en-JP" sz="1600" b="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600" b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識別可能</a:t>
                      </a:r>
                    </a:p>
                    <a:p>
                      <a:pPr algn="ctr"/>
                      <a:endParaRPr lang="en-JP" sz="1600" b="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850458"/>
                  </a:ext>
                </a:extLst>
              </a:tr>
              <a:tr h="597927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3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歳</a:t>
                      </a:r>
                    </a:p>
                    <a:p>
                      <a:pPr algn="ctr"/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4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本足 → 動物と認識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動物 </a:t>
                      </a:r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/ 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非動物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874969"/>
                  </a:ext>
                </a:extLst>
              </a:tr>
              <a:tr h="54534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4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歳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4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本足 </a:t>
                      </a:r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+ 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耳 → 犬か猫か推測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犬 ↔ 猫（時々間違い）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076857"/>
                  </a:ext>
                </a:extLst>
              </a:tr>
              <a:tr h="54534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600" dirty="0"/>
                        <a:t>10</a:t>
                      </a:r>
                      <a:r>
                        <a:rPr lang="ja-JP" altLang="en-US" sz="1600"/>
                        <a:t>歳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長毛・鼻低いペルシャ猫、青目</a:t>
                      </a:r>
                    </a:p>
                    <a:p>
                      <a:pPr algn="l"/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動きで異常判断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種類識別 </a:t>
                      </a:r>
                      <a:r>
                        <a:rPr lang="en-US" altLang="ja-JP" sz="1600" dirty="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+ </a:t>
                      </a:r>
                      <a:r>
                        <a:rPr lang="ja-JP" altLang="en-US" sz="1600">
                          <a:latin typeface="Meiryo" panose="020B0604030504040204" pitchFamily="34" charset="-128"/>
                          <a:ea typeface="Meiryo" panose="020B0604030504040204" pitchFamily="34" charset="-128"/>
                        </a:rPr>
                        <a:t>異常判断</a:t>
                      </a:r>
                      <a:endParaRPr lang="en-JP" sz="1600" dirty="0">
                        <a:latin typeface="Meiryo" panose="020B0604030504040204" pitchFamily="34" charset="-128"/>
                        <a:ea typeface="Meiryo" panose="020B0604030504040204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7138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604A6E8-3720-DE19-746C-A9DCE6F0F428}"/>
              </a:ext>
            </a:extLst>
          </p:cNvPr>
          <p:cNvSpPr txBox="1"/>
          <p:nvPr/>
        </p:nvSpPr>
        <p:spPr>
          <a:xfrm>
            <a:off x="512895" y="6175218"/>
            <a:ext cx="481401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ja-JP" altLang="en-US" sz="2000" b="0" i="0" u="none" strike="noStrike">
                <a:solidFill>
                  <a:srgbClr val="00000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なぜ層のニューロン数が減少するのか？</a:t>
            </a:r>
            <a:endParaRPr lang="ja-JP" altLang="en-US" sz="2000" b="0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ja-JP" altLang="en-US" sz="2000" b="0" i="0" u="none" strike="noStrike">
                <a:solidFill>
                  <a:srgbClr val="00000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lang="en-US" altLang="ja-JP" sz="2000" b="0" i="0" u="none" strike="noStrike" dirty="0">
                <a:solidFill>
                  <a:srgbClr val="00000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128 → 96 → 64 → 32 → 16</a:t>
            </a:r>
            <a:r>
              <a:rPr lang="ja-JP" altLang="en-US" sz="2000" b="0" i="0" u="none" strike="noStrike">
                <a:solidFill>
                  <a:srgbClr val="000000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  <a:endParaRPr lang="ja-JP" altLang="en-US" sz="2000" b="0">
              <a:effectLst/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b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</a:br>
            <a:endParaRPr lang="en-JP" sz="20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E9CE26-C64B-0563-EC30-E84ADAFF4A64}"/>
              </a:ext>
            </a:extLst>
          </p:cNvPr>
          <p:cNvSpPr txBox="1"/>
          <p:nvPr/>
        </p:nvSpPr>
        <p:spPr>
          <a:xfrm>
            <a:off x="6504379" y="4923211"/>
            <a:ext cx="386589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入力層では多くの特徴を保持するためニューロン数が多い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隠れ層を進むごとに重要な特徴だけを抽出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>
                <a:latin typeface="Meiryo" panose="020B0604030504040204" pitchFamily="34" charset="-128"/>
                <a:ea typeface="Meiryo" panose="020B0604030504040204" pitchFamily="34" charset="-128"/>
              </a:rPr>
              <a:t>情報を圧縮して効率的に学習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CC422A76-A577-B543-FF08-7EE3EBBB498C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5145133" y="5402329"/>
            <a:ext cx="1182367" cy="112579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9">
            <a:extLst>
              <a:ext uri="{FF2B5EF4-FFF2-40B4-BE49-F238E27FC236}">
                <a16:creationId xmlns:a16="http://schemas.microsoft.com/office/drawing/2014/main" id="{5EEB536E-C5B4-0F3B-AE6A-4D16D8F60969}"/>
              </a:ext>
            </a:extLst>
          </p:cNvPr>
          <p:cNvSpPr/>
          <p:nvPr/>
        </p:nvSpPr>
        <p:spPr>
          <a:xfrm>
            <a:off x="437960" y="6020295"/>
            <a:ext cx="4707173" cy="10156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</p:spTree>
    <p:extLst>
      <p:ext uri="{BB962C8B-B14F-4D97-AF65-F5344CB8AC3E}">
        <p14:creationId xmlns:p14="http://schemas.microsoft.com/office/powerpoint/2010/main" val="882024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36" grpId="2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9">
            <a:extLst>
              <a:ext uri="{FF2B5EF4-FFF2-40B4-BE49-F238E27FC236}">
                <a16:creationId xmlns:a16="http://schemas.microsoft.com/office/drawing/2014/main" id="{B1B2DBC6-1D0F-BFC3-001A-97A826F2C599}"/>
              </a:ext>
            </a:extLst>
          </p:cNvPr>
          <p:cNvSpPr/>
          <p:nvPr/>
        </p:nvSpPr>
        <p:spPr>
          <a:xfrm>
            <a:off x="1121243" y="1893683"/>
            <a:ext cx="8730313" cy="1162986"/>
          </a:xfrm>
          <a:prstGeom prst="rect">
            <a:avLst/>
          </a:prstGeom>
          <a:solidFill>
            <a:srgbClr val="FFBEBE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944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CD180-A8CD-DFB4-B159-31234997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48</a:t>
            </a:fld>
            <a:endParaRPr lang="en-JP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B8A281-283D-8765-4A4C-721E42956B65}"/>
              </a:ext>
            </a:extLst>
          </p:cNvPr>
          <p:cNvSpPr txBox="1"/>
          <p:nvPr/>
        </p:nvSpPr>
        <p:spPr>
          <a:xfrm>
            <a:off x="1202996" y="2685126"/>
            <a:ext cx="88319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JP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IoT ゲートウェイ</a:t>
            </a:r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上で動作する軽量かつ高精度な</a:t>
            </a:r>
            <a:b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JP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攻撃検知システム</a:t>
            </a:r>
            <a:r>
              <a:rPr lang="en-US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(NIDS)</a:t>
            </a:r>
            <a:r>
              <a:rPr lang="en-US" sz="2800" dirty="0">
                <a:latin typeface="Meiryo" panose="020B0604030504040204" pitchFamily="34" charset="-128"/>
                <a:ea typeface="Meiryo" panose="020B0604030504040204" pitchFamily="34" charset="-128"/>
              </a:rPr>
              <a:t>の</a:t>
            </a:r>
            <a:r>
              <a:rPr lang="en-JP" sz="2800" dirty="0">
                <a:latin typeface="Meiryo" panose="020B0604030504040204" pitchFamily="34" charset="-128"/>
                <a:ea typeface="Meiryo" panose="020B0604030504040204" pitchFamily="34" charset="-128"/>
              </a:rPr>
              <a:t>構築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DBFA5EB-3F69-0AB6-8912-99A8167C9201}"/>
              </a:ext>
            </a:extLst>
          </p:cNvPr>
          <p:cNvSpPr/>
          <p:nvPr/>
        </p:nvSpPr>
        <p:spPr>
          <a:xfrm>
            <a:off x="188166" y="4094125"/>
            <a:ext cx="3348410" cy="266368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sz="2200" b="1" dirty="0">
                <a:solidFill>
                  <a:srgbClr val="92D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科学的貢献</a:t>
            </a:r>
            <a:r>
              <a:rPr lang="en-JP" sz="2200" dirty="0">
                <a:solidFill>
                  <a:srgbClr val="92D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JP" sz="2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競合システムより</a:t>
            </a:r>
            <a:br>
              <a:rPr lang="en-US" sz="2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JP" sz="2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優れる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JP" sz="2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実運用に適した設計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328799-039D-E321-E08E-E1768B04CA37}"/>
              </a:ext>
            </a:extLst>
          </p:cNvPr>
          <p:cNvSpPr/>
          <p:nvPr/>
        </p:nvSpPr>
        <p:spPr>
          <a:xfrm>
            <a:off x="3703388" y="4094124"/>
            <a:ext cx="3528045" cy="266368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sz="2200" b="1" dirty="0">
                <a:solidFill>
                  <a:srgbClr val="92D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高精度</a:t>
            </a:r>
            <a:endParaRPr lang="mn-MN" sz="2200" b="1" dirty="0">
              <a:solidFill>
                <a:srgbClr val="92D05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JP" sz="2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99%以上の精度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JP" sz="2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11種類の攻撃を検知</a:t>
            </a:r>
            <a:r>
              <a:rPr lang="en-US" sz="2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false alarm </a:t>
            </a:r>
            <a:r>
              <a:rPr lang="en-JP" sz="2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を最小化</a:t>
            </a:r>
            <a:endParaRPr lang="mn-MN" sz="22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6899EF0-1F82-8A63-3EDE-2C2D66AD9F4C}"/>
              </a:ext>
            </a:extLst>
          </p:cNvPr>
          <p:cNvSpPr/>
          <p:nvPr/>
        </p:nvSpPr>
        <p:spPr>
          <a:xfrm>
            <a:off x="7398246" y="4094125"/>
            <a:ext cx="3348410" cy="266368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JP" sz="2200" b="1" dirty="0">
                <a:solidFill>
                  <a:srgbClr val="92D05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技術的解決策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JP" sz="2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軽量アーキテクチャ</a:t>
            </a:r>
            <a:endParaRPr lang="en-US" sz="22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JP" sz="2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リアルタイム検知</a:t>
            </a:r>
            <a:endParaRPr lang="en-US" sz="2200" dirty="0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JP" sz="2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限られたリソースで動作可能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0061B7A-0FAC-DE8B-B635-6D6981CE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438152"/>
            <a:ext cx="9464040" cy="1590676"/>
          </a:xfrm>
        </p:spPr>
        <p:txBody>
          <a:bodyPr/>
          <a:lstStyle/>
          <a:p>
            <a:r>
              <a:rPr lang="ja-JP" altLang="en-US">
                <a:latin typeface="Meiryo UI" panose="020B0604030504040204" pitchFamily="50" charset="-128"/>
                <a:ea typeface="Meiryo UI" panose="020B0604030504040204" pitchFamily="50" charset="-128"/>
              </a:rPr>
              <a:t>目的</a:t>
            </a:r>
            <a:endParaRPr lang="en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9FB73D35-5BE6-CFC2-944A-A7BCF4D84D50}"/>
              </a:ext>
            </a:extLst>
          </p:cNvPr>
          <p:cNvSpPr txBox="1">
            <a:spLocks/>
          </p:cNvSpPr>
          <p:nvPr/>
        </p:nvSpPr>
        <p:spPr>
          <a:xfrm>
            <a:off x="754380" y="3279964"/>
            <a:ext cx="9464040" cy="637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336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8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/>
              <a:t>具体的な目標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554350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0F1B18-7032-21BE-40A5-213A3CE5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IoT</a:t>
            </a:r>
            <a:r>
              <a:rPr kumimoji="1" lang="ja-JP" altLang="en-US"/>
              <a:t>ゲートウェイへの</a:t>
            </a:r>
            <a:r>
              <a:rPr kumimoji="1" lang="en-US" altLang="ja-JP" dirty="0"/>
              <a:t>NIDS</a:t>
            </a:r>
            <a:r>
              <a:rPr kumimoji="1" lang="ja-JP" altLang="en-US"/>
              <a:t>導入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8F2001-3C96-EC1B-43DF-2AD16582E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(IoT</a:t>
            </a:r>
            <a:r>
              <a:rPr kumimoji="1" lang="ja-JP" altLang="en-US"/>
              <a:t>ゲートウェイに</a:t>
            </a:r>
            <a:r>
              <a:rPr kumimoji="1" lang="en-US" altLang="ja-JP" dirty="0"/>
              <a:t>NIDS</a:t>
            </a:r>
            <a:r>
              <a:rPr kumimoji="1" lang="ja-JP" altLang="en-US"/>
              <a:t>を導入するメリットを書く：</a:t>
            </a:r>
            <a:br>
              <a:rPr kumimoji="1" lang="en-US" altLang="ja-JP" dirty="0"/>
            </a:br>
            <a:r>
              <a:rPr kumimoji="1" lang="ja-JP" altLang="en-US"/>
              <a:t>できれば</a:t>
            </a:r>
            <a:r>
              <a:rPr kumimoji="1" lang="en-US" altLang="ja-JP" dirty="0"/>
              <a:t>2</a:t>
            </a:r>
            <a:r>
              <a:rPr kumimoji="1" lang="ja-JP" altLang="en-US"/>
              <a:t>個以上</a:t>
            </a:r>
            <a:r>
              <a:rPr kumimoji="1" lang="en-US" altLang="ja-JP" dirty="0"/>
              <a:t>)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(</a:t>
            </a:r>
            <a:r>
              <a:rPr kumimoji="1" lang="ja-JP" altLang="en-US"/>
              <a:t>紹介論文の研究まで取り組まれていなかった</a:t>
            </a:r>
            <a:br>
              <a:rPr kumimoji="1" lang="en-US" altLang="ja-JP" dirty="0"/>
            </a:br>
            <a:r>
              <a:rPr kumimoji="1" lang="en-US" altLang="ja-JP" dirty="0"/>
              <a:t>or </a:t>
            </a:r>
            <a:r>
              <a:rPr kumimoji="1" lang="ja-JP" altLang="en-US"/>
              <a:t>取り組みに課題があったことを書く</a:t>
            </a:r>
            <a:r>
              <a:rPr kumimoji="1" lang="en-US" altLang="ja-JP" dirty="0"/>
              <a:t>)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(↑</a:t>
            </a:r>
            <a:r>
              <a:rPr kumimoji="1" lang="ja-JP" altLang="en-US"/>
              <a:t>のことを解決する必要がある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775145-0363-F66C-DAB2-764743C5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49</a:t>
            </a:fld>
            <a:endParaRPr lang="en-JP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61370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E1A97-DF62-9811-B40B-DBAB63E0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50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CD901-651E-6FA9-2208-8B70F75F81ED}"/>
              </a:ext>
            </a:extLst>
          </p:cNvPr>
          <p:cNvSpPr txBox="1"/>
          <p:nvPr/>
        </p:nvSpPr>
        <p:spPr>
          <a:xfrm>
            <a:off x="824426" y="5504192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（</a:t>
            </a:r>
            <a:r>
              <a:rPr lang="en-JP" sz="2000" dirty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Growing Approach</a:t>
            </a:r>
            <a:r>
              <a:rPr lang="en-JP" sz="2000" dirty="0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37D6B4-5DB0-7BDF-D2F2-EA79413634CE}"/>
              </a:ext>
            </a:extLst>
          </p:cNvPr>
          <p:cNvSpPr txBox="1"/>
          <p:nvPr/>
        </p:nvSpPr>
        <p:spPr>
          <a:xfrm>
            <a:off x="561702" y="396724"/>
            <a:ext cx="100061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Machine learning types </a:t>
            </a:r>
            <a:r>
              <a:rPr lang="ja-JP" altLang="mn-MN" sz="2800" b="1">
                <a:latin typeface="Meiryo" panose="020B0604030504040204" pitchFamily="34" charset="-128"/>
                <a:ea typeface="Meiryo" panose="020B0604030504040204" pitchFamily="34" charset="-128"/>
              </a:rPr>
              <a:t>・</a:t>
            </a:r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仕組み</a:t>
            </a:r>
            <a:endParaRPr lang="en-US" sz="2800" b="1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Why choose （Deep Neural Network)</a:t>
            </a:r>
            <a:endParaRPr lang="en-JP" sz="2800" b="1" dirty="0">
              <a:latin typeface="Meiryo" panose="020B0604030504040204" pitchFamily="34" charset="-128"/>
              <a:ea typeface="Meiryo" panose="020B0604030504040204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2D19B9-D2C5-CC25-F75B-AC9855B92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36" y="1579282"/>
            <a:ext cx="5253373" cy="34628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C3EEC1-B884-329E-2800-7A185D0DE48D}"/>
              </a:ext>
            </a:extLst>
          </p:cNvPr>
          <p:cNvSpPr txBox="1"/>
          <p:nvPr/>
        </p:nvSpPr>
        <p:spPr>
          <a:xfrm>
            <a:off x="6048102" y="1600051"/>
            <a:ext cx="5486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800" dirty="0">
                <a:latin typeface="Meiryo" panose="020B0604030504040204" pitchFamily="34" charset="-128"/>
                <a:ea typeface="Meiryo" panose="020B0604030504040204" pitchFamily="34" charset="-128"/>
              </a:rPr>
              <a:t>なぜ層のニューロン数が減少するのか？</a:t>
            </a:r>
          </a:p>
          <a:p>
            <a:r>
              <a:rPr lang="en-JP" sz="1800" dirty="0">
                <a:latin typeface="Meiryo" panose="020B0604030504040204" pitchFamily="34" charset="-128"/>
                <a:ea typeface="Meiryo" panose="020B0604030504040204" pitchFamily="34" charset="-128"/>
              </a:rPr>
              <a:t>（128 → 96 → 64 → 32 → 16）</a:t>
            </a:r>
            <a:endParaRPr lang="mn-MN" sz="18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たとえば：</a:t>
            </a:r>
          </a:p>
          <a:p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100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個の特徴量 ➜ 情報がとても多い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128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ニューロン ➜ すべての情報を考慮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96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ニューロン ➜ 重要な特徴を抽出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64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ニューロン ➜ より絞り込む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32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ニューロン ➜ 主要な特徴を保持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16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ニューロン ➜ 最も重要な情報のみ残す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　↓</a:t>
            </a:r>
            <a:b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altLang="ja-JP" sz="1800" dirty="0">
                <a:latin typeface="Meiryo" panose="020B0604030504040204" pitchFamily="34" charset="-128"/>
                <a:ea typeface="Meiryo" panose="020B0604030504040204" pitchFamily="34" charset="-128"/>
              </a:rPr>
              <a:t>11</a:t>
            </a:r>
            <a:r>
              <a:rPr lang="ja-JP" altLang="en-US" sz="1800">
                <a:latin typeface="Meiryo" panose="020B0604030504040204" pitchFamily="34" charset="-128"/>
                <a:ea typeface="Meiryo" panose="020B0604030504040204" pitchFamily="34" charset="-128"/>
              </a:rPr>
              <a:t>クラス ➜ 最終的な分類結果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693944C4-A1C7-4287-86DF-E1D3986428D7}"/>
              </a:ext>
            </a:extLst>
          </p:cNvPr>
          <p:cNvSpPr/>
          <p:nvPr/>
        </p:nvSpPr>
        <p:spPr>
          <a:xfrm rot="16200000">
            <a:off x="4136466" y="5441272"/>
            <a:ext cx="245964" cy="5259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295942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2DCEA-0CCA-D29A-A55F-4527BED6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51</a:t>
            </a:fld>
            <a:endParaRPr lang="en-JP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E7BE27-8B99-C3B8-3038-3ECB2790F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724580"/>
              </p:ext>
            </p:extLst>
          </p:nvPr>
        </p:nvGraphicFramePr>
        <p:xfrm>
          <a:off x="753744" y="981075"/>
          <a:ext cx="9464676" cy="6010797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257936">
                  <a:extLst>
                    <a:ext uri="{9D8B030D-6E8A-4147-A177-3AD203B41FA5}">
                      <a16:colId xmlns:a16="http://schemas.microsoft.com/office/drawing/2014/main" val="659875666"/>
                    </a:ext>
                  </a:extLst>
                </a:gridCol>
                <a:gridCol w="1896956">
                  <a:extLst>
                    <a:ext uri="{9D8B030D-6E8A-4147-A177-3AD203B41FA5}">
                      <a16:colId xmlns:a16="http://schemas.microsoft.com/office/drawing/2014/main" val="2179014180"/>
                    </a:ext>
                  </a:extLst>
                </a:gridCol>
                <a:gridCol w="1577446">
                  <a:extLst>
                    <a:ext uri="{9D8B030D-6E8A-4147-A177-3AD203B41FA5}">
                      <a16:colId xmlns:a16="http://schemas.microsoft.com/office/drawing/2014/main" val="1790990073"/>
                    </a:ext>
                  </a:extLst>
                </a:gridCol>
                <a:gridCol w="1577446">
                  <a:extLst>
                    <a:ext uri="{9D8B030D-6E8A-4147-A177-3AD203B41FA5}">
                      <a16:colId xmlns:a16="http://schemas.microsoft.com/office/drawing/2014/main" val="633526717"/>
                    </a:ext>
                  </a:extLst>
                </a:gridCol>
                <a:gridCol w="878689">
                  <a:extLst>
                    <a:ext uri="{9D8B030D-6E8A-4147-A177-3AD203B41FA5}">
                      <a16:colId xmlns:a16="http://schemas.microsoft.com/office/drawing/2014/main" val="3074602870"/>
                    </a:ext>
                  </a:extLst>
                </a:gridCol>
                <a:gridCol w="2276203">
                  <a:extLst>
                    <a:ext uri="{9D8B030D-6E8A-4147-A177-3AD203B41FA5}">
                      <a16:colId xmlns:a16="http://schemas.microsoft.com/office/drawing/2014/main" val="1762978026"/>
                    </a:ext>
                  </a:extLst>
                </a:gridCol>
              </a:tblGrid>
              <a:tr h="294169">
                <a:tc>
                  <a:txBody>
                    <a:bodyPr/>
                    <a:lstStyle/>
                    <a:p>
                      <a:pPr algn="ctr"/>
                      <a:r>
                        <a:rPr lang="ja-JP" sz="2000" kern="100">
                          <a:effectLst/>
                        </a:rPr>
                        <a:t>システム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kern="100">
                          <a:effectLst/>
                        </a:rPr>
                        <a:t>アルゴリズム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</a:rPr>
                        <a:t>TPR (%)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</a:rPr>
                        <a:t>FPR (%)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kern="100">
                          <a:effectLst/>
                        </a:rPr>
                        <a:t>ACC (%)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2000" kern="100">
                          <a:effectLst/>
                        </a:rPr>
                        <a:t>特徴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47724648"/>
                  </a:ext>
                </a:extLst>
              </a:tr>
              <a:tr h="847899">
                <a:tc>
                  <a:txBody>
                    <a:bodyPr/>
                    <a:lstStyle/>
                    <a:p>
                      <a:r>
                        <a:rPr lang="en-JP" sz="2000" kern="100" dirty="0">
                          <a:effectLst/>
                        </a:rPr>
                        <a:t> Realguard</a:t>
                      </a:r>
                      <a:endParaRPr lang="en-JP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RF + DNN + LASSO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 dirty="0">
                          <a:effectLst/>
                        </a:rPr>
                        <a:t>99.66</a:t>
                      </a:r>
                      <a:endParaRPr lang="en-JP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 dirty="0">
                          <a:effectLst/>
                        </a:rPr>
                        <a:t>0.40</a:t>
                      </a:r>
                      <a:endParaRPr lang="en-JP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99.64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ja-JP" sz="2000" kern="100">
                          <a:effectLst/>
                        </a:rPr>
                        <a:t>軽量・高速（</a:t>
                      </a:r>
                      <a:r>
                        <a:rPr lang="en-JP" sz="2000" kern="100">
                          <a:effectLst/>
                        </a:rPr>
                        <a:t>88k pkt/s </a:t>
                      </a:r>
                      <a:r>
                        <a:rPr lang="ja-JP" sz="2000" kern="100">
                          <a:effectLst/>
                        </a:rPr>
                        <a:t>処理）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34545547"/>
                  </a:ext>
                </a:extLst>
              </a:tr>
              <a:tr h="571034"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NB-SVM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 dirty="0">
                          <a:effectLst/>
                        </a:rPr>
                        <a:t>Naive Bayes + SVM</a:t>
                      </a:r>
                      <a:endParaRPr lang="en-JP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99.46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3.00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98.92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ja-JP" sz="2000" kern="100">
                          <a:effectLst/>
                        </a:rPr>
                        <a:t>シンプルだが誤検知多い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7291437"/>
                  </a:ext>
                </a:extLst>
              </a:tr>
              <a:tr h="847899"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DT-EnSVM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Decision Tree + Ensemble SVM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99.15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4.00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98.46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ja-JP" sz="2000" kern="100">
                          <a:effectLst/>
                        </a:rPr>
                        <a:t>アンサンブル、</a:t>
                      </a:r>
                      <a:r>
                        <a:rPr lang="en-JP" sz="2000" kern="100">
                          <a:effectLst/>
                        </a:rPr>
                        <a:t>FPR </a:t>
                      </a:r>
                      <a:r>
                        <a:rPr lang="ja-JP" sz="2000" kern="100">
                          <a:effectLst/>
                        </a:rPr>
                        <a:t>高め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78615089"/>
                  </a:ext>
                </a:extLst>
              </a:tr>
              <a:tr h="571034"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DBN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Deep Belief Network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99.00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2.10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98.24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ja-JP" sz="2000" kern="100">
                          <a:effectLst/>
                        </a:rPr>
                        <a:t>深層学習、計算コスト重い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76221856"/>
                  </a:ext>
                </a:extLst>
              </a:tr>
              <a:tr h="571034"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PSO+LSTM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PSO </a:t>
                      </a:r>
                      <a:r>
                        <a:rPr lang="ja-JP" sz="2000" kern="100">
                          <a:effectLst/>
                        </a:rPr>
                        <a:t>最適化</a:t>
                      </a:r>
                      <a:r>
                        <a:rPr lang="en-JP" sz="2000" kern="100">
                          <a:effectLst/>
                        </a:rPr>
                        <a:t> + LSTM-RNN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98.68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0.16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98.83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FPR </a:t>
                      </a:r>
                      <a:r>
                        <a:rPr lang="ja-JP" sz="2000" kern="100">
                          <a:effectLst/>
                        </a:rPr>
                        <a:t>は低いが</a:t>
                      </a:r>
                      <a:r>
                        <a:rPr lang="en-JP" sz="2000" kern="100">
                          <a:effectLst/>
                        </a:rPr>
                        <a:t> TPR </a:t>
                      </a:r>
                      <a:r>
                        <a:rPr lang="ja-JP" sz="2000" kern="100">
                          <a:effectLst/>
                        </a:rPr>
                        <a:t>が低め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5926925"/>
                  </a:ext>
                </a:extLst>
              </a:tr>
              <a:tr h="847899"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PSO+DNN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PSO + Deep Neural Network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97.58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0.28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97.85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ja-JP" sz="2000" kern="100">
                          <a:effectLst/>
                        </a:rPr>
                        <a:t>最適化された</a:t>
                      </a:r>
                      <a:r>
                        <a:rPr lang="en-JP" sz="2000" kern="100">
                          <a:effectLst/>
                        </a:rPr>
                        <a:t> DNN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14840269"/>
                  </a:ext>
                </a:extLst>
              </a:tr>
              <a:tr h="571034"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XGBoost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Gradient Boosting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97.40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12.00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91.36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ja-JP" sz="2000" kern="100">
                          <a:effectLst/>
                        </a:rPr>
                        <a:t>誤検知が非常に多い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1402631"/>
                  </a:ext>
                </a:extLst>
              </a:tr>
              <a:tr h="571034"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AE+ANN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Autoencoder + ANN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95.81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1.23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>
                          <a:effectLst/>
                        </a:rPr>
                        <a:t>98.18</a:t>
                      </a:r>
                      <a:endParaRPr lang="en-JP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JP" sz="2000" kern="100" dirty="0">
                          <a:effectLst/>
                        </a:rPr>
                        <a:t>TPR </a:t>
                      </a:r>
                      <a:r>
                        <a:rPr lang="ja-JP" sz="2000" kern="100">
                          <a:effectLst/>
                        </a:rPr>
                        <a:t>が最も低い</a:t>
                      </a:r>
                      <a:endParaRPr lang="en-JP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447550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BEF6561-2A45-1239-C785-72FBF5EF0F95}"/>
              </a:ext>
            </a:extLst>
          </p:cNvPr>
          <p:cNvSpPr txBox="1"/>
          <p:nvPr/>
        </p:nvSpPr>
        <p:spPr>
          <a:xfrm>
            <a:off x="265678" y="492960"/>
            <a:ext cx="104408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Realguard vs </a:t>
            </a:r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競合手法（</a:t>
            </a:r>
            <a:r>
              <a:rPr lang="en-US" sz="2800" b="1" dirty="0">
                <a:latin typeface="Meiryo" panose="020B0604030504040204" pitchFamily="34" charset="-128"/>
                <a:ea typeface="Meiryo" panose="020B0604030504040204" pitchFamily="34" charset="-128"/>
              </a:rPr>
              <a:t>Binary-class Detection </a:t>
            </a:r>
            <a:r>
              <a:rPr lang="ja-JP" altLang="en-US" sz="2800" b="1">
                <a:latin typeface="Meiryo" panose="020B0604030504040204" pitchFamily="34" charset="-128"/>
                <a:ea typeface="Meiryo" panose="020B0604030504040204" pitchFamily="34" charset="-128"/>
              </a:rPr>
              <a:t>比較）</a:t>
            </a:r>
            <a:endParaRPr lang="en-JP" sz="28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97165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0318CA3-DF71-2DFE-B028-3D1A36FA480C}"/>
              </a:ext>
            </a:extLst>
          </p:cNvPr>
          <p:cNvSpPr txBox="1"/>
          <p:nvPr/>
        </p:nvSpPr>
        <p:spPr>
          <a:xfrm>
            <a:off x="3757264" y="1182475"/>
            <a:ext cx="6237434" cy="39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44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Algorithm1 Update </a:t>
            </a:r>
            <a:endParaRPr lang="mn-MN" altLang="ja-JP" sz="1944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9D2D6E5-468A-07E3-2428-347F75DD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52</a:t>
            </a:fld>
            <a:endParaRPr lang="en-JP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E7B9086-4B32-B28F-C8E0-84F259B045F0}"/>
              </a:ext>
            </a:extLst>
          </p:cNvPr>
          <p:cNvCxnSpPr>
            <a:cxnSpLocks/>
          </p:cNvCxnSpPr>
          <p:nvPr/>
        </p:nvCxnSpPr>
        <p:spPr>
          <a:xfrm>
            <a:off x="5118259" y="1676896"/>
            <a:ext cx="101441" cy="55240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C16A7DA-7233-5695-C51A-3583072AC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251" y="1648447"/>
            <a:ext cx="4173379" cy="23400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0655B4-3E91-7693-B223-384F6B6097FF}"/>
              </a:ext>
            </a:extLst>
          </p:cNvPr>
          <p:cNvSpPr txBox="1"/>
          <p:nvPr/>
        </p:nvSpPr>
        <p:spPr>
          <a:xfrm>
            <a:off x="5682137" y="4293315"/>
            <a:ext cx="4389120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DDoS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攻撃 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数秒で大量のパケット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   → アルゴリズム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1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は即座に検知</a:t>
            </a:r>
            <a:endParaRPr lang="mn-MN" altLang="ja-JP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135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通常トラフィック 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徐々に到着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   → 古い情報は忘れられる</a:t>
            </a:r>
            <a:endParaRPr lang="mn-MN" altLang="ja-JP" sz="135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ja-JP" altLang="en-US" sz="135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最新の異常のみが検出される</a:t>
            </a:r>
            <a:endParaRPr lang="en-JP" sz="135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D5F630-5006-0AE1-43D2-F84F509C3E06}"/>
              </a:ext>
            </a:extLst>
          </p:cNvPr>
          <p:cNvCxnSpPr>
            <a:cxnSpLocks/>
          </p:cNvCxnSpPr>
          <p:nvPr/>
        </p:nvCxnSpPr>
        <p:spPr>
          <a:xfrm flipV="1">
            <a:off x="5176837" y="3963718"/>
            <a:ext cx="5795963" cy="491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CB9488-2F44-645E-E1C9-CB7A496FA0BF}"/>
              </a:ext>
            </a:extLst>
          </p:cNvPr>
          <p:cNvCxnSpPr>
            <a:cxnSpLocks/>
          </p:cNvCxnSpPr>
          <p:nvPr/>
        </p:nvCxnSpPr>
        <p:spPr>
          <a:xfrm flipH="1">
            <a:off x="0" y="4343687"/>
            <a:ext cx="51768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B99D5DB-0847-D4D6-9864-A8F397FE27C2}"/>
              </a:ext>
            </a:extLst>
          </p:cNvPr>
          <p:cNvSpPr txBox="1"/>
          <p:nvPr/>
        </p:nvSpPr>
        <p:spPr>
          <a:xfrm>
            <a:off x="266702" y="4343687"/>
            <a:ext cx="50239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step3: IVᵢ,</a:t>
            </a:r>
            <a:r>
              <a:rPr lang="el-GR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α ← (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w+1, LSI+xc, SSI+xc², SRᵢⱼ+rᵢrⱼ, tc)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新しいパケットの情報を加える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新しいパケット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xc = 512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バイト（新しいパケットのサイズ）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rᵢ = 10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秒（速度）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rⱼ = 8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/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更新後の値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w = 90 + 1 = 91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　（パケット数が増加）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LSI = 4500 + 512 = 5012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　（総サイズが増加）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SSI = 22500 + 512² = 22500 + 262144 = 284644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SRᵢⱼ = 1080 + (10×8) = 1080 + 80 = 1160</a:t>
            </a:r>
          </a:p>
          <a:p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tc = 10:00:05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　（現在時刻）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10F3E-0FC6-1C0B-2F76-8CEE24FF194B}"/>
              </a:ext>
            </a:extLst>
          </p:cNvPr>
          <p:cNvSpPr txBox="1"/>
          <p:nvPr/>
        </p:nvSpPr>
        <p:spPr>
          <a:xfrm>
            <a:off x="266702" y="1529121"/>
            <a:ext cx="4598907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350" b="1" dirty="0"/>
              <a:t>Step2:</a:t>
            </a:r>
            <a:r>
              <a:rPr lang="ja-JP" altLang="en-US" sz="1350"/>
              <a:t> </a:t>
            </a:r>
            <a:r>
              <a:rPr lang="en-US" sz="1350" dirty="0"/>
              <a:t>IVᵢ,</a:t>
            </a:r>
            <a:r>
              <a:rPr lang="el-GR" sz="1350" dirty="0"/>
              <a:t>α ← (δ</a:t>
            </a:r>
            <a:r>
              <a:rPr lang="en-US" sz="1350" dirty="0"/>
              <a:t>w, </a:t>
            </a:r>
            <a:r>
              <a:rPr lang="el-GR" sz="1350" dirty="0"/>
              <a:t>δ</a:t>
            </a:r>
            <a:r>
              <a:rPr lang="en-US" sz="1350" dirty="0"/>
              <a:t>LSI, </a:t>
            </a:r>
            <a:r>
              <a:rPr lang="el-GR" sz="1350" dirty="0"/>
              <a:t>δ</a:t>
            </a:r>
            <a:r>
              <a:rPr lang="en-US" sz="1350" dirty="0"/>
              <a:t>SSI, </a:t>
            </a:r>
            <a:r>
              <a:rPr lang="el-GR" sz="1350" dirty="0"/>
              <a:t>δ</a:t>
            </a:r>
            <a:r>
              <a:rPr lang="en-US" sz="1350" dirty="0"/>
              <a:t>SRᵢⱼ, tc)</a:t>
            </a:r>
            <a:br>
              <a:rPr lang="en-US" sz="1350" dirty="0"/>
            </a:br>
            <a:r>
              <a:rPr lang="ja-JP" altLang="en-US" sz="1350"/>
              <a:t>古い情報に </a:t>
            </a:r>
            <a:r>
              <a:rPr lang="el-GR" sz="1350" dirty="0"/>
              <a:t>δ </a:t>
            </a:r>
            <a:r>
              <a:rPr lang="ja-JP" altLang="en-US" sz="1350"/>
              <a:t>を掛けて重みを減少させる</a:t>
            </a:r>
          </a:p>
          <a:p>
            <a:r>
              <a:rPr lang="ja-JP" altLang="en-US" sz="1350"/>
              <a:t>以前の </a:t>
            </a:r>
            <a:r>
              <a:rPr lang="en-US" sz="1350" dirty="0"/>
              <a:t>IVᵢ, </a:t>
            </a:r>
            <a:r>
              <a:rPr lang="el-GR" sz="1350" dirty="0"/>
              <a:t>α:</a:t>
            </a:r>
            <a:r>
              <a:rPr lang="en-US" sz="1350" dirty="0"/>
              <a:t>    </a:t>
            </a:r>
            <a:r>
              <a:rPr lang="ja-JP" altLang="en-US" sz="1350"/>
              <a:t>減衰係数</a:t>
            </a:r>
            <a:r>
              <a:rPr lang="en-US" altLang="ja-JP" sz="1350" dirty="0"/>
              <a:t>:</a:t>
            </a:r>
            <a:r>
              <a:rPr lang="ja-JP" altLang="en-US" sz="1350"/>
              <a:t> </a:t>
            </a:r>
            <a:r>
              <a:rPr lang="el-GR" sz="1350" dirty="0"/>
              <a:t>δ = 0.9（1</a:t>
            </a:r>
            <a:r>
              <a:rPr lang="ja-JP" altLang="en-US" sz="1350"/>
              <a:t>秒経過）</a:t>
            </a:r>
            <a:endParaRPr lang="el-GR" sz="13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/>
              <a:t>w = 100　（</a:t>
            </a:r>
            <a:r>
              <a:rPr lang="ja-JP" altLang="en-US" sz="1350"/>
              <a:t>総パケット数）</a:t>
            </a:r>
            <a:r>
              <a:rPr lang="en-US" sz="1350" dirty="0"/>
              <a:t> w = 0.9 × 100 = 90</a:t>
            </a:r>
            <a:endParaRPr lang="ja-JP" altLang="en-US" sz="1350"/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/>
              <a:t>LSI = 5000　（</a:t>
            </a:r>
            <a:r>
              <a:rPr lang="ja-JP" altLang="en-US" sz="1350"/>
              <a:t>総サイズ）</a:t>
            </a:r>
            <a:r>
              <a:rPr lang="en-US" altLang="ja-JP" sz="1350" dirty="0"/>
              <a:t> </a:t>
            </a:r>
            <a:r>
              <a:rPr lang="en-US" sz="1350" dirty="0"/>
              <a:t>LSI = 0.9 × 5000 = 4500</a:t>
            </a:r>
            <a:endParaRPr lang="ja-JP" altLang="en-US" sz="1350"/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/>
              <a:t>SSI = 25000　（</a:t>
            </a:r>
            <a:r>
              <a:rPr lang="ja-JP" altLang="en-US" sz="1350"/>
              <a:t>二乗和）</a:t>
            </a:r>
            <a:r>
              <a:rPr lang="en-US" altLang="ja-JP" sz="1350" dirty="0"/>
              <a:t>   </a:t>
            </a:r>
            <a:r>
              <a:rPr lang="en-US" sz="1350" dirty="0"/>
              <a:t> 0.9 × 1200 = 1080</a:t>
            </a:r>
            <a:endParaRPr lang="ja-JP" altLang="en-US" sz="1350"/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/>
              <a:t>SRᵢⱼ = 1200　（</a:t>
            </a:r>
            <a:r>
              <a:rPr lang="ja-JP" altLang="en-US" sz="1350"/>
              <a:t>速度の相関）</a:t>
            </a:r>
            <a:r>
              <a:rPr lang="en-US" sz="1350" dirty="0"/>
              <a:t>0.9 × 1200 = 1080</a:t>
            </a:r>
            <a:endParaRPr lang="mn-MN" sz="1350" dirty="0"/>
          </a:p>
          <a:p>
            <a:br>
              <a:rPr lang="ja-JP" altLang="en-US" sz="1350"/>
            </a:br>
            <a:r>
              <a:rPr lang="ja-JP" altLang="en-US" sz="1350"/>
              <a:t>以前</a:t>
            </a:r>
            <a:r>
              <a:rPr lang="en-US" altLang="ja-JP" sz="1350" dirty="0"/>
              <a:t>: </a:t>
            </a:r>
            <a:r>
              <a:rPr lang="ja-JP" altLang="en-US" sz="1350"/>
              <a:t>「</a:t>
            </a:r>
            <a:r>
              <a:rPr lang="en-US" altLang="ja-JP" sz="1350" dirty="0"/>
              <a:t>100</a:t>
            </a:r>
            <a:r>
              <a:rPr lang="ja-JP" altLang="en-US" sz="1350"/>
              <a:t>個のパケットを観測した」</a:t>
            </a:r>
            <a:br>
              <a:rPr lang="ja-JP" altLang="en-US" sz="1350"/>
            </a:br>
            <a:r>
              <a:rPr lang="ja-JP" altLang="en-US" sz="1350"/>
              <a:t>現在</a:t>
            </a:r>
            <a:r>
              <a:rPr lang="en-US" altLang="ja-JP" sz="1350" dirty="0"/>
              <a:t>: </a:t>
            </a:r>
            <a:r>
              <a:rPr lang="ja-JP" altLang="en-US" sz="1350"/>
              <a:t>「</a:t>
            </a:r>
            <a:r>
              <a:rPr lang="en-US" altLang="ja-JP" sz="1350" dirty="0"/>
              <a:t>90</a:t>
            </a:r>
            <a:r>
              <a:rPr lang="ja-JP" altLang="en-US" sz="1350"/>
              <a:t>個のパケットを覚えていて、</a:t>
            </a:r>
            <a:r>
              <a:rPr lang="en-US" altLang="ja-JP" sz="1350" dirty="0"/>
              <a:t>10</a:t>
            </a:r>
            <a:r>
              <a:rPr lang="ja-JP" altLang="en-US" sz="1350"/>
              <a:t>個のパケットは忘れた」</a:t>
            </a:r>
          </a:p>
        </p:txBody>
      </p:sp>
    </p:spTree>
    <p:extLst>
      <p:ext uri="{BB962C8B-B14F-4D97-AF65-F5344CB8AC3E}">
        <p14:creationId xmlns:p14="http://schemas.microsoft.com/office/powerpoint/2010/main" val="41917963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0318CA3-DF71-2DFE-B028-3D1A36FA480C}"/>
              </a:ext>
            </a:extLst>
          </p:cNvPr>
          <p:cNvSpPr txBox="1"/>
          <p:nvPr/>
        </p:nvSpPr>
        <p:spPr>
          <a:xfrm>
            <a:off x="3757264" y="1182475"/>
            <a:ext cx="6237434" cy="39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44" dirty="0">
                <a:latin typeface="Meiryo" panose="020B0604030504040204" pitchFamily="34" charset="-128"/>
                <a:ea typeface="Meiryo" panose="020B0604030504040204" pitchFamily="34" charset="-128"/>
                <a:cs typeface="Times New Roman" panose="02020603050405020304" pitchFamily="18" charset="0"/>
              </a:rPr>
              <a:t>Algorithm1 Update </a:t>
            </a:r>
            <a:endParaRPr lang="mn-MN" altLang="ja-JP" sz="1944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9D2D6E5-468A-07E3-2428-347F75DD4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t>53</a:t>
            </a:fld>
            <a:endParaRPr lang="en-JP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E7B9086-4B32-B28F-C8E0-84F259B045F0}"/>
              </a:ext>
            </a:extLst>
          </p:cNvPr>
          <p:cNvCxnSpPr>
            <a:cxnSpLocks/>
          </p:cNvCxnSpPr>
          <p:nvPr/>
        </p:nvCxnSpPr>
        <p:spPr>
          <a:xfrm>
            <a:off x="5118259" y="1676896"/>
            <a:ext cx="101441" cy="55240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C16A7DA-7233-5695-C51A-3583072AC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251" y="1648447"/>
            <a:ext cx="4173379" cy="2340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F43AA2-3344-2A25-85A9-D229F3EA2237}"/>
              </a:ext>
            </a:extLst>
          </p:cNvPr>
          <p:cNvSpPr txBox="1"/>
          <p:nvPr/>
        </p:nvSpPr>
        <p:spPr>
          <a:xfrm>
            <a:off x="894039" y="1750685"/>
            <a:ext cx="258901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350" dirty="0"/>
              <a:t>….の朝ごはん、覚えていますか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511BA-8D0B-5EF7-65F3-87A9271F97E5}"/>
              </a:ext>
            </a:extLst>
          </p:cNvPr>
          <p:cNvSpPr txBox="1"/>
          <p:nvPr/>
        </p:nvSpPr>
        <p:spPr>
          <a:xfrm>
            <a:off x="887256" y="2190276"/>
            <a:ext cx="2381249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1350" dirty="0"/>
              <a:t>1分 → 100％ 覚えている </a:t>
            </a:r>
          </a:p>
          <a:p>
            <a:r>
              <a:rPr lang="en-JP" sz="1350" dirty="0"/>
              <a:t>1時間 → 80％ 覚えている </a:t>
            </a:r>
          </a:p>
          <a:p>
            <a:r>
              <a:rPr lang="en-JP" sz="1350" dirty="0"/>
              <a:t>1日 → 30％ 覚えている </a:t>
            </a:r>
          </a:p>
          <a:p>
            <a:r>
              <a:rPr lang="en-JP" sz="1350" dirty="0"/>
              <a:t>1か月 → 5％ ほぼ忘れる </a:t>
            </a:r>
          </a:p>
          <a:p>
            <a:endParaRPr lang="en-JP" sz="1350" dirty="0"/>
          </a:p>
          <a:p>
            <a:r>
              <a:rPr lang="en-JP" sz="1350" dirty="0"/>
              <a:t> Algorithm 1 は“人間の記憶”と同じ仕組みで動く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0655B4-3E91-7693-B223-384F6B6097FF}"/>
              </a:ext>
            </a:extLst>
          </p:cNvPr>
          <p:cNvSpPr txBox="1"/>
          <p:nvPr/>
        </p:nvSpPr>
        <p:spPr>
          <a:xfrm>
            <a:off x="5682137" y="4293314"/>
            <a:ext cx="4389120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step1: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δ ← 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d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α(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tc - tL)</a:t>
            </a:r>
            <a:b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時間経過を考慮して減衰係数（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Damping weight）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を計算する</a:t>
            </a:r>
          </a:p>
          <a:p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数学的表現</a:t>
            </a:r>
            <a:r>
              <a:rPr lang="en-US" altLang="ja-JP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:</a:t>
            </a:r>
            <a:endParaRPr lang="ja-JP" altLang="en-US" sz="135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tc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現在の時刻（例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 10:00:05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tL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最後に更新した時刻（例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: 10:00:00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経過時間 </a:t>
            </a:r>
            <a:r>
              <a:rPr lang="en-US" altLang="ja-JP" sz="1350" dirty="0">
                <a:latin typeface="Meiryo" panose="020B0604030504040204" pitchFamily="34" charset="-128"/>
                <a:ea typeface="Meiryo" panose="020B0604030504040204" pitchFamily="34" charset="-128"/>
              </a:rPr>
              <a:t>= 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tc - tL = 5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秒</a:t>
            </a:r>
          </a:p>
          <a:p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δ = 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d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α(5) = </a:t>
            </a: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e^(−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λ × 5</a:t>
            </a:r>
            <a:r>
              <a:rPr lang="el-GR" sz="1350" dirty="0"/>
              <a:t>)</a:t>
            </a:r>
          </a:p>
          <a:p>
            <a:endParaRPr lang="en-JP" sz="135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D5F630-5006-0AE1-43D2-F84F509C3E06}"/>
              </a:ext>
            </a:extLst>
          </p:cNvPr>
          <p:cNvCxnSpPr>
            <a:cxnSpLocks/>
          </p:cNvCxnSpPr>
          <p:nvPr/>
        </p:nvCxnSpPr>
        <p:spPr>
          <a:xfrm flipV="1">
            <a:off x="5176837" y="3963718"/>
            <a:ext cx="5795963" cy="491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CB9488-2F44-645E-E1C9-CB7A496FA0BF}"/>
              </a:ext>
            </a:extLst>
          </p:cNvPr>
          <p:cNvCxnSpPr>
            <a:cxnSpLocks/>
          </p:cNvCxnSpPr>
          <p:nvPr/>
        </p:nvCxnSpPr>
        <p:spPr>
          <a:xfrm flipH="1">
            <a:off x="0" y="4343687"/>
            <a:ext cx="51768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B99D5DB-0847-D4D6-9864-A8F397FE27C2}"/>
              </a:ext>
            </a:extLst>
          </p:cNvPr>
          <p:cNvSpPr txBox="1"/>
          <p:nvPr/>
        </p:nvSpPr>
        <p:spPr>
          <a:xfrm>
            <a:off x="660085" y="4674502"/>
            <a:ext cx="3533297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350" b="1">
                <a:latin typeface="Meiryo" panose="020B0604030504040204" pitchFamily="34" charset="-128"/>
                <a:ea typeface="Meiryo" panose="020B0604030504040204" pitchFamily="34" charset="-128"/>
              </a:rPr>
              <a:t>入力 </a:t>
            </a:r>
            <a:r>
              <a:rPr lang="en-US" altLang="ja-JP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Input):</a:t>
            </a:r>
            <a:b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IVᵢ,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α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以前の情報（古い統計）</a:t>
            </a:r>
            <a:b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xc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新しく到着したパケットのサイズ</a:t>
            </a:r>
            <a:b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tc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現在の時刻</a:t>
            </a:r>
            <a:b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rⱼ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パケットの速度</a:t>
            </a:r>
          </a:p>
          <a:p>
            <a:r>
              <a:rPr lang="ja-JP" altLang="en-US" sz="1350" b="1">
                <a:latin typeface="Meiryo" panose="020B0604030504040204" pitchFamily="34" charset="-128"/>
                <a:ea typeface="Meiryo" panose="020B0604030504040204" pitchFamily="34" charset="-128"/>
              </a:rPr>
              <a:t>出力 </a:t>
            </a:r>
            <a:r>
              <a:rPr lang="en-US" altLang="ja-JP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en-US" sz="1350" b="1" dirty="0">
                <a:latin typeface="Meiryo" panose="020B0604030504040204" pitchFamily="34" charset="-128"/>
                <a:ea typeface="Meiryo" panose="020B0604030504040204" pitchFamily="34" charset="-128"/>
              </a:rPr>
              <a:t>Output):</a:t>
            </a:r>
            <a:b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</a:br>
            <a:r>
              <a:rPr lang="en-US" sz="1350" dirty="0">
                <a:latin typeface="Meiryo" panose="020B0604030504040204" pitchFamily="34" charset="-128"/>
                <a:ea typeface="Meiryo" panose="020B0604030504040204" pitchFamily="34" charset="-128"/>
              </a:rPr>
              <a:t>IVᵢ,</a:t>
            </a:r>
            <a:r>
              <a:rPr lang="el-GR" sz="1350" dirty="0">
                <a:latin typeface="Meiryo" panose="020B0604030504040204" pitchFamily="34" charset="-128"/>
                <a:ea typeface="Meiryo" panose="020B0604030504040204" pitchFamily="34" charset="-128"/>
              </a:rPr>
              <a:t>α = </a:t>
            </a:r>
            <a:r>
              <a:rPr lang="ja-JP" altLang="en-US" sz="1350">
                <a:latin typeface="Meiryo" panose="020B0604030504040204" pitchFamily="34" charset="-128"/>
                <a:ea typeface="Meiryo" panose="020B0604030504040204" pitchFamily="34" charset="-128"/>
              </a:rPr>
              <a:t>更新された情報</a:t>
            </a:r>
          </a:p>
        </p:txBody>
      </p:sp>
    </p:spTree>
    <p:extLst>
      <p:ext uri="{BB962C8B-B14F-4D97-AF65-F5344CB8AC3E}">
        <p14:creationId xmlns:p14="http://schemas.microsoft.com/office/powerpoint/2010/main" val="9929539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ACA59-73E6-F90F-F8DD-C80B33ED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54</a:t>
            </a:fld>
            <a:endParaRPr lang="en-JP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35061-E5E1-A05E-CE50-D0961A541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61019"/>
            <a:ext cx="9191625" cy="26535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1B52F4-1D98-E81B-0DA3-57C22DB3D19D}"/>
              </a:ext>
            </a:extLst>
          </p:cNvPr>
          <p:cNvSpPr txBox="1"/>
          <p:nvPr/>
        </p:nvSpPr>
        <p:spPr>
          <a:xfrm>
            <a:off x="242886" y="1074256"/>
            <a:ext cx="9772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機械学習は、データの利用方法によってさまざまな形態がある、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画像認識に強い 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Convolutional Neural Network (CNN)、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時系列データに適した </a:t>
            </a:r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Long Short-Term Memory (LSTM)、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そしてデータのパターンを学習する他のモデルが含まれる</a:t>
            </a:r>
            <a:r>
              <a:rPr lang="mn-MN" altLang="ja-JP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en-US" altLang="ja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C03D71-C237-2E8A-F85A-1190146EE86D}"/>
              </a:ext>
            </a:extLst>
          </p:cNvPr>
          <p:cNvSpPr txBox="1"/>
          <p:nvPr/>
        </p:nvSpPr>
        <p:spPr>
          <a:xfrm>
            <a:off x="609600" y="5216352"/>
            <a:ext cx="54864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JP" sz="1350" dirty="0">
              <a:latin typeface="Roboto" panose="02000000000000000000" pitchFamily="2" charset="0"/>
            </a:endParaRPr>
          </a:p>
          <a:p>
            <a:br>
              <a:rPr lang="en-JP" sz="1350" dirty="0"/>
            </a:br>
            <a:endParaRPr lang="en-JP" sz="13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DF35BE-B120-D651-0516-55FCA273094C}"/>
              </a:ext>
            </a:extLst>
          </p:cNvPr>
          <p:cNvSpPr txBox="1"/>
          <p:nvPr/>
        </p:nvSpPr>
        <p:spPr>
          <a:xfrm>
            <a:off x="2583770" y="4102371"/>
            <a:ext cx="54864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JP" sz="1350" dirty="0">
              <a:latin typeface="Roboto" panose="02000000000000000000" pitchFamily="2" charset="0"/>
            </a:endParaRPr>
          </a:p>
          <a:p>
            <a:br>
              <a:rPr lang="en-JP" sz="1350" dirty="0"/>
            </a:br>
            <a:endParaRPr lang="en-JP" sz="13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BC6B55-1447-18E0-A9A8-7149DB7371FC}"/>
              </a:ext>
            </a:extLst>
          </p:cNvPr>
          <p:cNvSpPr txBox="1"/>
          <p:nvPr/>
        </p:nvSpPr>
        <p:spPr>
          <a:xfrm>
            <a:off x="668135" y="5216352"/>
            <a:ext cx="42663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CNN</a:t>
            </a:r>
            <a:r>
              <a:rPr lang="ja-JP" altLang="mn-MN" sz="2400" b="1">
                <a:latin typeface="Meiryo" panose="020B0604030504040204" pitchFamily="34" charset="-128"/>
                <a:ea typeface="Meiryo" panose="020B0604030504040204" pitchFamily="34" charset="-128"/>
              </a:rPr>
              <a:t> ・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特徴</a:t>
            </a:r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画像や映像などの</a:t>
            </a:r>
            <a:r>
              <a:rPr lang="en-US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次元データから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localized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パターンを</a:t>
            </a:r>
            <a:endParaRPr lang="mn-MN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自動的に抽出し、高精度な認識を可能</a:t>
            </a:r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ja-JP" altLang="en-US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DA600E-5945-506C-267F-803063021D8C}"/>
              </a:ext>
            </a:extLst>
          </p:cNvPr>
          <p:cNvSpPr txBox="1"/>
          <p:nvPr/>
        </p:nvSpPr>
        <p:spPr>
          <a:xfrm>
            <a:off x="5601892" y="4570021"/>
            <a:ext cx="476130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ja-JP" dirty="0"/>
          </a:p>
          <a:p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en-US" altLang="ja-JP" sz="2400" b="1" dirty="0">
                <a:latin typeface="Meiryo" panose="020B0604030504040204" pitchFamily="34" charset="-128"/>
                <a:ea typeface="Meiryo" panose="020B0604030504040204" pitchFamily="34" charset="-128"/>
              </a:rPr>
              <a:t>LSTM</a:t>
            </a:r>
            <a:r>
              <a:rPr lang="ja-JP" altLang="mn-MN" sz="2400" b="1">
                <a:latin typeface="Meiryo" panose="020B0604030504040204" pitchFamily="34" charset="-128"/>
                <a:ea typeface="Meiryo" panose="020B0604030504040204" pitchFamily="34" charset="-128"/>
              </a:rPr>
              <a:t> ・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特徴</a:t>
            </a:r>
            <a:endParaRPr lang="en-US" altLang="ja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過去の情報を「記憶」しながら学習し、時間的特徴を持つデータの長期依存関係を効果的に捉えることができる</a:t>
            </a:r>
            <a:r>
              <a:rPr lang="mn-MN" altLang="ja-JP" sz="2400" dirty="0">
                <a:latin typeface="Meiryo" panose="020B0604030504040204" pitchFamily="34" charset="-128"/>
                <a:ea typeface="Meiryo" panose="020B0604030504040204" pitchFamily="34" charset="-128"/>
              </a:rPr>
              <a:t>.</a:t>
            </a:r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sz="24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66246D-EC46-148F-A96F-798BB8B67875}"/>
              </a:ext>
            </a:extLst>
          </p:cNvPr>
          <p:cNvSpPr txBox="1"/>
          <p:nvPr/>
        </p:nvSpPr>
        <p:spPr>
          <a:xfrm>
            <a:off x="609599" y="332945"/>
            <a:ext cx="903922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latin typeface="Meiryo" panose="020B0604030504040204" pitchFamily="34" charset="-128"/>
                <a:ea typeface="Meiryo" panose="020B0604030504040204" pitchFamily="34" charset="-128"/>
              </a:rPr>
              <a:t>研究背景</a:t>
            </a:r>
            <a:r>
              <a:rPr lang="mn-MN" altLang="ja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ja-JP" altLang="mn-MN" sz="3200" b="1">
                <a:latin typeface="Meiryo" panose="020B0604030504040204" pitchFamily="34" charset="-128"/>
                <a:ea typeface="Meiryo" panose="020B0604030504040204" pitchFamily="34" charset="-128"/>
              </a:rPr>
              <a:t>・ </a:t>
            </a:r>
            <a:r>
              <a:rPr lang="en-JP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Machine learning types</a:t>
            </a:r>
            <a:r>
              <a:rPr lang="mn-MN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sz="3200" b="1" dirty="0">
                <a:latin typeface="Meiryo" panose="020B0604030504040204" pitchFamily="34" charset="-128"/>
                <a:ea typeface="Meiryo" panose="020B0604030504040204" pitchFamily="34" charset="-128"/>
              </a:rPr>
              <a:t>2/1</a:t>
            </a:r>
            <a:endParaRPr lang="mn-MN" sz="32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endParaRPr lang="en-JP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88879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AA789-EFA8-CC35-9238-13E5359A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4241B-2579-694C-B40C-A1E3D5F0E4EC}" type="slidenum">
              <a:rPr lang="en-JP" smtClean="0"/>
              <a:pPr/>
              <a:t>55</a:t>
            </a:fld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E9576-072A-4F86-AB28-8390026F43F0}"/>
              </a:ext>
            </a:extLst>
          </p:cNvPr>
          <p:cNvSpPr txBox="1"/>
          <p:nvPr/>
        </p:nvSpPr>
        <p:spPr>
          <a:xfrm>
            <a:off x="537210" y="334897"/>
            <a:ext cx="548640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0016">
              <a:lnSpc>
                <a:spcPct val="150000"/>
              </a:lnSpc>
              <a:buSzPts val="2800"/>
            </a:pPr>
            <a:r>
              <a:rPr lang="ja-JP" altLang="en-US" sz="1800" b="1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自身の研究について</a:t>
            </a:r>
            <a:r>
              <a:rPr lang="mn-MN" altLang="ja-JP" sz="18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</a:t>
            </a:r>
            <a:r>
              <a:rPr lang="en-US" altLang="ja-JP" sz="1800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2/</a:t>
            </a:r>
            <a:r>
              <a:rPr lang="mn-MN" altLang="ja-JP" b="1" dirty="0">
                <a:solidFill>
                  <a:srgbClr val="222222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</a:t>
            </a:r>
            <a:endParaRPr lang="en-JP" sz="18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05083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29550</TotalTime>
  <Words>6159</Words>
  <Application>Microsoft Macintosh PowerPoint</Application>
  <PresentationFormat>Custom</PresentationFormat>
  <Paragraphs>1104</Paragraphs>
  <Slides>56</Slides>
  <Notes>47</Notes>
  <HiddenSlides>7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56</vt:i4>
      </vt:variant>
    </vt:vector>
  </HeadingPairs>
  <TitlesOfParts>
    <vt:vector size="73" baseType="lpstr">
      <vt:lpstr>Meiryo</vt:lpstr>
      <vt:lpstr>Meiryo UI</vt:lpstr>
      <vt:lpstr>MS</vt:lpstr>
      <vt:lpstr>quote-cjk-patch</vt:lpstr>
      <vt:lpstr>Source Han Sans</vt:lpstr>
      <vt:lpstr>游ゴシック Light</vt:lpstr>
      <vt:lpstr>Arial</vt:lpstr>
      <vt:lpstr>Calibri</vt:lpstr>
      <vt:lpstr>Calibri Light</vt:lpstr>
      <vt:lpstr>Helvetica Neue</vt:lpstr>
      <vt:lpstr>Roboto</vt:lpstr>
      <vt:lpstr>Times New Roman</vt:lpstr>
      <vt:lpstr>Wingdings</vt:lpstr>
      <vt:lpstr>2_Custom Design</vt:lpstr>
      <vt:lpstr>Custom Design</vt:lpstr>
      <vt:lpstr>1_Custom Design</vt:lpstr>
      <vt:lpstr>Office Theme</vt:lpstr>
      <vt:lpstr>PowerPoint Presentation</vt:lpstr>
      <vt:lpstr>紹介論文</vt:lpstr>
      <vt:lpstr>目次</vt:lpstr>
      <vt:lpstr>目次</vt:lpstr>
      <vt:lpstr>IoTデバイス数の推移[1]</vt:lpstr>
      <vt:lpstr>IoTデバイスに対する主な攻撃[2]</vt:lpstr>
      <vt:lpstr>IoTゲートウェイ</vt:lpstr>
      <vt:lpstr>ネットワーク侵入検知システム(NIDS*)</vt:lpstr>
      <vt:lpstr>目次</vt:lpstr>
      <vt:lpstr>PowerPoint Presentation</vt:lpstr>
      <vt:lpstr>目次</vt:lpstr>
      <vt:lpstr>PowerPoint Presentation</vt:lpstr>
      <vt:lpstr>PowerPoint Presentation</vt:lpstr>
      <vt:lpstr>PowerPoint Presentation</vt:lpstr>
      <vt:lpstr>PowerPoint Presentation</vt:lpstr>
      <vt:lpstr>目次</vt:lpstr>
      <vt:lpstr>PowerPoint Presentation</vt:lpstr>
      <vt:lpstr>PowerPoint Presentation</vt:lpstr>
      <vt:lpstr>PowerPoint Presentation</vt:lpstr>
      <vt:lpstr>Feature Extractionの (Overview)</vt:lpstr>
      <vt:lpstr>Feature Extractionの 流れ</vt:lpstr>
      <vt:lpstr>PowerPoint Presentation</vt:lpstr>
      <vt:lpstr>PowerPoint Presentation</vt:lpstr>
      <vt:lpstr>PowerPoint Presentation</vt:lpstr>
      <vt:lpstr>Feature Extractionの アルゴリズム1 – IV_{i,α} の更新手順</vt:lpstr>
      <vt:lpstr>Feature Extractionの 例 – 実践的計算</vt:lpstr>
      <vt:lpstr>Feature Extractionの Normalization – 正規化</vt:lpstr>
      <vt:lpstr>Damped Incremental Statistics – Realguard の強み</vt:lpstr>
      <vt:lpstr>Attack Detection Component の 流れ</vt:lpstr>
      <vt:lpstr>目次</vt:lpstr>
      <vt:lpstr>使用したデータセット</vt:lpstr>
      <vt:lpstr>評価環境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目次</vt:lpstr>
      <vt:lpstr>PowerPoint Presentation</vt:lpstr>
      <vt:lpstr>目次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目的</vt:lpstr>
      <vt:lpstr>IoTゲートウェイへのNIDS導入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undarmaa581@gmail.com</dc:creator>
  <cp:lastModifiedBy>undarmaa581@gmail.com</cp:lastModifiedBy>
  <cp:revision>63</cp:revision>
  <dcterms:created xsi:type="dcterms:W3CDTF">2025-05-25T03:58:30Z</dcterms:created>
  <dcterms:modified xsi:type="dcterms:W3CDTF">2026-01-06T05:52:59Z</dcterms:modified>
</cp:coreProperties>
</file>