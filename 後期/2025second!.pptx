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1" r:id="rId1"/>
    <p:sldMasterId id="2147483696" r:id="rId2"/>
    <p:sldMasterId id="2147483709" r:id="rId3"/>
    <p:sldMasterId id="2147483734" r:id="rId4"/>
  </p:sldMasterIdLst>
  <p:notesMasterIdLst>
    <p:notesMasterId r:id="rId48"/>
  </p:notesMasterIdLst>
  <p:sldIdLst>
    <p:sldId id="256" r:id="rId5"/>
    <p:sldId id="257" r:id="rId6"/>
    <p:sldId id="284" r:id="rId7"/>
    <p:sldId id="290" r:id="rId8"/>
    <p:sldId id="303" r:id="rId9"/>
    <p:sldId id="304" r:id="rId10"/>
    <p:sldId id="302" r:id="rId11"/>
    <p:sldId id="317" r:id="rId12"/>
    <p:sldId id="305" r:id="rId13"/>
    <p:sldId id="297" r:id="rId14"/>
    <p:sldId id="300" r:id="rId15"/>
    <p:sldId id="301" r:id="rId16"/>
    <p:sldId id="314" r:id="rId17"/>
    <p:sldId id="292" r:id="rId18"/>
    <p:sldId id="311" r:id="rId19"/>
    <p:sldId id="299" r:id="rId20"/>
    <p:sldId id="319" r:id="rId21"/>
    <p:sldId id="298" r:id="rId22"/>
    <p:sldId id="291" r:id="rId23"/>
    <p:sldId id="318" r:id="rId24"/>
    <p:sldId id="321" r:id="rId25"/>
    <p:sldId id="320" r:id="rId26"/>
    <p:sldId id="322" r:id="rId27"/>
    <p:sldId id="323" r:id="rId28"/>
    <p:sldId id="324" r:id="rId29"/>
    <p:sldId id="325" r:id="rId30"/>
    <p:sldId id="326" r:id="rId31"/>
    <p:sldId id="327" r:id="rId32"/>
    <p:sldId id="312" r:id="rId33"/>
    <p:sldId id="268" r:id="rId34"/>
    <p:sldId id="309" r:id="rId35"/>
    <p:sldId id="310" r:id="rId36"/>
    <p:sldId id="263" r:id="rId37"/>
    <p:sldId id="289" r:id="rId38"/>
    <p:sldId id="272" r:id="rId39"/>
    <p:sldId id="313" r:id="rId40"/>
    <p:sldId id="287" r:id="rId41"/>
    <p:sldId id="315" r:id="rId42"/>
    <p:sldId id="265" r:id="rId43"/>
    <p:sldId id="293" r:id="rId44"/>
    <p:sldId id="308" r:id="rId45"/>
    <p:sldId id="261" r:id="rId46"/>
    <p:sldId id="316" r:id="rId47"/>
  </p:sldIdLst>
  <p:sldSz cx="10972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darmaa581@gmail.com" initials="" lastIdx="1" clrIdx="0">
    <p:extLst>
      <p:ext uri="{19B8F6BF-5375-455C-9EA6-DF929625EA0E}">
        <p15:presenceInfo xmlns:p15="http://schemas.microsoft.com/office/powerpoint/2012/main" userId="2e6f2e16084452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64"/>
    <p:restoredTop sz="76965"/>
  </p:normalViewPr>
  <p:slideViewPr>
    <p:cSldViewPr snapToGrid="0">
      <p:cViewPr>
        <p:scale>
          <a:sx n="98" d="100"/>
          <a:sy n="98" d="100"/>
        </p:scale>
        <p:origin x="1080" y="144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3A8D3-39B6-4047-9EAA-4F4C30A589C2}" type="datetimeFigureOut">
              <a:rPr lang="en-JP" smtClean="0"/>
              <a:t>2025/11/10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1F159-79E2-E24F-9993-34E52B426EB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357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はいけい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96478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4000" dirty="0"/>
              <a:t>2025 </a:t>
            </a:r>
            <a:r>
              <a:rPr lang="ja-JP" altLang="en-US" sz="4000"/>
              <a:t>年に </a:t>
            </a:r>
            <a:r>
              <a:rPr lang="en-US" altLang="ja-JP" sz="4000" dirty="0"/>
              <a:t>198 </a:t>
            </a:r>
            <a:r>
              <a:rPr lang="ja-JP" altLang="en-US" sz="4000"/>
              <a:t>億に到達し、その後も増加を続けて </a:t>
            </a:r>
            <a:r>
              <a:rPr lang="en-US" altLang="ja-JP" sz="4000" dirty="0"/>
              <a:t>2034 </a:t>
            </a:r>
            <a:r>
              <a:rPr lang="ja-JP" altLang="en-US" sz="4000"/>
              <a:t>年には </a:t>
            </a:r>
            <a:r>
              <a:rPr lang="en-US" altLang="ja-JP" sz="4000" dirty="0"/>
              <a:t>406 </a:t>
            </a:r>
            <a:r>
              <a:rPr lang="ja-JP" altLang="en-US" sz="4000"/>
              <a:t>億に達すると予測されています</a:t>
            </a:r>
            <a:r>
              <a:rPr lang="en-JP" sz="3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3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しかし、2025年時点で、前年から平均 11.86% 増加し、世界中で 177 億件の IoT 接続があると報告されています。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152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7570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Learning（機械学習）とは、コンピュータが明確なプログラムを書かなくても、</a:t>
            </a: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データや経験から自動的に学習し、パターンを見つけたり、将来の結果を予測したりする技術です。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68318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93647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36247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軽量・高速・高精度を同時に実現した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向けネットワーク侵入検知システムとして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、既存研究よりも低負荷で実用性が高い点が最大の独自性である。</a:t>
            </a:r>
          </a:p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8103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06518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Realguard IDS</a:t>
            </a:r>
            <a:r>
              <a:rPr lang="ja-JP" altLang="en-US"/>
              <a:t>は、</a:t>
            </a:r>
            <a:r>
              <a:rPr lang="en-US" dirty="0"/>
              <a:t>IoT</a:t>
            </a:r>
            <a:r>
              <a:rPr lang="ja-JP" altLang="en-US"/>
              <a:t>ゲートウェイ上で動作する軽量なネットワーク侵入検知システムであり、</a:t>
            </a:r>
            <a:endParaRPr lang="mn-MN" altLang="ja-JP" dirty="0"/>
          </a:p>
          <a:p>
            <a:r>
              <a:rPr lang="ja-JP" altLang="en-US"/>
              <a:t>本章ではそのアーキテクチャ概要、特徴量抽出方法、および攻撃検知モデルについて説明する。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1360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</a:t>
            </a:r>
            <a:r>
              <a:rPr lang="ja-JP" altLang="en-US"/>
              <a:t>は、多くの特徴量の中から最も重要な</a:t>
            </a:r>
            <a:r>
              <a:rPr lang="en-US" altLang="ja-JP" dirty="0"/>
              <a:t>36</a:t>
            </a:r>
            <a:r>
              <a:rPr lang="ja-JP" altLang="en-US"/>
              <a:t>個を自動的に選択し、</a:t>
            </a:r>
            <a:endParaRPr lang="mn-MN" altLang="ja-JP" dirty="0"/>
          </a:p>
          <a:p>
            <a:r>
              <a:rPr lang="ja-JP" altLang="en-US"/>
              <a:t>残りの特徴量は不要とみなすアルゴリズムである。これにより、</a:t>
            </a:r>
            <a:endParaRPr lang="mn-MN" altLang="ja-JP" dirty="0"/>
          </a:p>
          <a:p>
            <a:r>
              <a:rPr lang="ja-JP" altLang="en-US"/>
              <a:t>モデルは高速かつ高精度に動作できる。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9056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9600" b="0" i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げんすいりつ</a:t>
            </a:r>
            <a:r>
              <a:rPr lang="en-US" altLang="ja-JP" sz="9600" b="0" i="0" dirty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9600" b="0">
                <a:latin typeface="Meiryo" panose="020B0604030504040204" pitchFamily="34" charset="-128"/>
                <a:ea typeface="Meiryo" panose="020B0604030504040204" pitchFamily="34" charset="-128"/>
              </a:rPr>
              <a:t>減衰率</a:t>
            </a:r>
            <a:endParaRPr lang="en-US" altLang="ja-JP" sz="9600" b="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9600">
                <a:solidFill>
                  <a:schemeClr val="tx1"/>
                </a:solidFill>
              </a:rPr>
              <a:t>配列</a:t>
            </a:r>
            <a:r>
              <a:rPr lang="en-US" altLang="ja-JP" sz="9600" b="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9600" b="0" i="0">
                <a:solidFill>
                  <a:srgbClr val="222222"/>
                </a:solidFill>
                <a:effectLst/>
                <a:latin typeface="Source Han Sans"/>
              </a:rPr>
              <a:t>はいれつ</a:t>
            </a:r>
            <a:endParaRPr lang="en-JP" sz="9600" b="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90285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かんそく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0604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初期値（しょきち</a:t>
            </a:r>
            <a:r>
              <a:rPr lang="en-US" altLang="ja-JP" dirty="0"/>
              <a:t>, </a:t>
            </a:r>
            <a:r>
              <a:rPr lang="en-US" dirty="0" err="1"/>
              <a:t>Shokichi</a:t>
            </a:r>
            <a:r>
              <a:rPr lang="en-US" dirty="0"/>
              <a:t>）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7519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67288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Blocked List (BL)</a:t>
            </a:r>
            <a:r>
              <a:rPr lang="ja-JP" altLang="en-US">
                <a:effectLst/>
              </a:rPr>
              <a:t>通信を許可されない悪意のある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即時破棄</a:t>
            </a:r>
            <a:endParaRPr lang="en-US" altLang="ja-JP" b="1" dirty="0">
              <a:effectLst/>
            </a:endParaRPr>
          </a:p>
          <a:p>
            <a:r>
              <a:rPr lang="en-US" b="1" dirty="0">
                <a:effectLst/>
              </a:rPr>
              <a:t>Suspicious List (SL)</a:t>
            </a:r>
            <a:r>
              <a:rPr lang="ja-JP" altLang="en-US">
                <a:effectLst/>
              </a:rPr>
              <a:t>攻撃（</a:t>
            </a:r>
            <a:r>
              <a:rPr lang="en-US" dirty="0">
                <a:effectLst/>
              </a:rPr>
              <a:t>DoS</a:t>
            </a:r>
            <a:r>
              <a:rPr lang="ja-JP" altLang="en-US">
                <a:effectLst/>
              </a:rPr>
              <a:t>など）の可能性がある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監視・検証</a:t>
            </a:r>
            <a:endParaRPr lang="en-US" altLang="ja-JP" b="1" dirty="0">
              <a:effectLst/>
            </a:endParaRPr>
          </a:p>
          <a:p>
            <a:r>
              <a:rPr lang="en-US" b="1" dirty="0">
                <a:effectLst/>
              </a:rPr>
              <a:t>Trusted List (TL)</a:t>
            </a:r>
            <a:r>
              <a:rPr lang="ja-JP" altLang="en-US">
                <a:effectLst/>
              </a:rPr>
              <a:t>信頼できる安全な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許可</a:t>
            </a:r>
            <a:endParaRPr lang="en-US" altLang="ja-JP" b="1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攻撃（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DoS</a:t>
            </a: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など）の可能性がある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IP</a:t>
            </a: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アドレスのリスト</a:t>
            </a:r>
            <a:r>
              <a:rPr lang="en-US" altLang="ja-JP" b="0" i="0" dirty="0">
                <a:solidFill>
                  <a:srgbClr val="404040"/>
                </a:solidFill>
                <a:effectLst/>
                <a:latin typeface="quote-cjk-patch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404040"/>
                </a:solidFill>
                <a:effectLst/>
                <a:latin typeface="quote-cjk-patch"/>
              </a:rPr>
              <a:t>(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クライアントが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quote-cjk-patch"/>
              </a:rPr>
              <a:t>DTLS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通信を開始する際、</a:t>
            </a:r>
            <a:r>
              <a:rPr lang="ja-JP" altLang="en-US" sz="1200" b="1" i="0">
                <a:solidFill>
                  <a:srgbClr val="404040"/>
                </a:solidFill>
                <a:effectLst/>
                <a:latin typeface="quote-cjk-patch"/>
              </a:rPr>
              <a:t>認証要求（</a:t>
            </a:r>
            <a:r>
              <a:rPr lang="en-US" sz="1200" b="1" i="0" dirty="0">
                <a:solidFill>
                  <a:srgbClr val="404040"/>
                </a:solidFill>
                <a:effectLst/>
                <a:latin typeface="quote-cjk-patch"/>
              </a:rPr>
              <a:t>AuthREQ）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を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quote-cjk-patch"/>
              </a:rPr>
              <a:t>Trusted Party（TP）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に送信</a:t>
            </a:r>
            <a:r>
              <a:rPr lang="en-US" altLang="ja-JP" sz="1200" b="0" i="0" dirty="0">
                <a:solidFill>
                  <a:srgbClr val="404040"/>
                </a:solidFill>
                <a:effectLst/>
                <a:latin typeface="quote-cjk-patch"/>
              </a:rPr>
              <a:t> )</a:t>
            </a:r>
            <a:endParaRPr lang="ja-JP" altLang="en-US" sz="1200" i="0" kern="1200">
              <a:solidFill>
                <a:srgbClr val="404040"/>
              </a:solidFill>
              <a:effectLst/>
              <a:latin typeface="+mj-e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82411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7395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89557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正常／悪意のあるトラフィックを区別するために、軽量な機械学習手法を用いて</a:t>
            </a:r>
            <a:r>
              <a:rPr lang="en-US" sz="1600" dirty="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IDS</a:t>
            </a:r>
            <a:r>
              <a:rPr lang="ja-JP" altLang="en-US" sz="160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を開発・実装することを考えております。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IoT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環境における二層セキュリティアーキテクチャの研究開発環境。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第一層で機械学習ベースの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IDS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が全トラフィックを分析し攻撃を検知・遮断</a:t>
            </a:r>
            <a:r>
              <a:rPr lang="en-US" altLang="ja-JP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ja-JP" altLang="en-US" sz="1800" b="0" i="0" u="none" strike="noStrike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しゃだん</a:t>
            </a:r>
            <a:r>
              <a:rPr lang="en-US" altLang="ja-JP" sz="1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、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第二層で正常と判定されたトラフィックのみが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CoAP-DTLS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プロトコルで暗号化通信を行う。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現在は開発段階で、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Raspberry Pi 3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台と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Ubuntu Server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で構成され、手動による構成管理を実施している。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53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B03B-5E2A-77A9-F150-37D5239C5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A6E60-F716-96DB-3A90-434F833A5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BDA30-DADE-FC20-E9BC-02B5AFE6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8C06-48E9-3D41-B8CF-A482EEBDC039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18956-EA74-B435-56C2-1DDEB644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D552-916C-04C8-F4CC-5BC7D9A7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059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1934-A847-B48D-6CE4-16A37D47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E95F-1CBE-52F6-70E2-799B57A3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E4EEC-2B4F-E761-EED8-D27E5187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83F4-DE50-AA43-B82E-9FB2DBC2CE5F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3E2A1-971F-5FA2-3606-1C7A2909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993B-3651-7B04-7ABD-DBA3D9D6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1256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C3A3-3A3A-C2F6-83D2-2D9C269C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92E6B-8BC8-CBB8-0624-26FDF0B32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84564-0AAD-C96B-087C-EF767B21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197D-D0CC-F048-B58E-231C07808BA0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C993-FFFA-B8E2-CA0A-920E8E62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A688E-0D0F-4DE9-AC25-2D31DAA4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1737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3165-4B66-38FA-5B4F-176A35D8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8226-C265-D591-C4B9-D39856755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2C145-31AC-2055-1579-9B6D14C2C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EC17D-6CAD-A7AA-0B3E-9B5CCF0C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62DD-CB3C-F24A-AAD4-E369697FCC23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63C0B-702D-DB6B-FBDE-AC82F0EC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28D42-6D39-CDB9-411F-015F25F7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1353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7A9B-B0B9-6C6B-BDA1-C287D353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5807-BD9F-D6FB-9A9C-962B17831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DFEAA-6307-69A1-859E-F5E4BF053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50131-C410-E45E-D8B4-2A9790914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D5A9F-EACE-C594-B90B-BB943554B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90691-23DC-D60C-EE7A-665DB192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FEE4-FFD8-7447-8582-A5A29728C4CD}" type="datetime1">
              <a:rPr lang="en-US" smtClean="0"/>
              <a:t>11/10/25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F6F75-E32C-5736-CE6C-F6A7EA7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5A1E5-2095-694C-ECF7-DDC76BC4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599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E106-BA8D-D14C-C286-0AC9CD59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A72F0-97EC-ED19-1C0D-9046FCBD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D4F9-2C49-8E45-BFDA-CD39570DA728}" type="datetime1">
              <a:rPr lang="en-US" smtClean="0"/>
              <a:t>11/10/25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42B98-859B-0EBD-6CF8-0DF9D7D5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724F9-FC87-DEE7-6876-59FACF21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072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9E265-8A1E-126F-5C09-5B90BBBA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332B6-23BC-A545-9485-49BA085B001C}" type="datetime1">
              <a:rPr lang="en-US" smtClean="0"/>
              <a:t>11/10/25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D7992-22A0-90BB-44C7-10E26C9F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25659-485B-B3CA-F00A-EDF5BEA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704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5BC7-BD6B-A930-277F-682F6703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D9AE-E11E-FBFB-D17C-3CF7F8D41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DE840-B659-5F6C-6DB6-1B13EB87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15BB6-495B-3247-0770-5162FBF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A13E-4FAB-3E4C-BC59-E1BABF76900F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57993-BBB3-8E85-57E3-881361ED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46DB4-EB93-D0C3-E8F3-19449977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064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B935-CF5B-C4FA-7B4E-4A6705BE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5753A-43E0-4269-75EE-5BFFEAD00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E8D53-EC37-454D-1279-19C246053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48F2-B487-B672-415B-702FFBC9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C9FA1-CBF0-4443-95B6-4B7CEF8AD802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5A789-2675-555A-1BD7-6111FE7F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2CC77-6121-73B5-78C8-6F03DF49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3676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F83B-878C-E82A-C7B3-B1CD3B16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5F162-E4DD-976B-F27C-CD7320E09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BE042-E800-5342-9186-9E8DE359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A058-A285-284D-9662-57855FD4B561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1388-5E1D-61AE-0901-08487A44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88250-6BCF-229B-85F6-AEEDFD31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7626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8CD8E-A27C-4CD8-A6CB-B8ACA12D1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1C54F-BF1E-7916-6850-78EE07FA4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7C8C6-94AE-15B8-53E2-10B0752C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DC0C-2B4B-E346-A163-DC157A58588E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97973-C064-1B20-C51A-A6B877C5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7C5FD-CA9A-5BDA-726D-149EE157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8203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19F4-B37F-8A25-15D9-75692BC9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6C4BC-5165-4048-B82E-3BBC4C00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EDE61E-AAF1-884D-ABF0-FC33E23748E8}" type="datetime1">
              <a:rPr lang="en-US" smtClean="0"/>
              <a:t>11/10/25</a:t>
            </a:fld>
            <a:endParaRPr lang="en-JP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AD2E-4CE1-65C4-32F4-585D92B2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F8AA2-B45D-83B0-0159-73C9F7FF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59758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B486-E7E6-D675-4DA2-ED562A886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7B56D-63D2-5361-47AB-2F3DA32B2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0878-4674-F697-B5AF-810D856A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1B2D-D5E5-8B4D-8C39-64C71D19A01A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32F67-5918-95D1-FC3F-1E936702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5DF42-1E65-E9E8-8829-7BAC4FDA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12333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204B-7F65-A14A-5C65-581FAC0B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43BF4-84FB-EC1E-C713-ACF8207AC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CD54-2628-1132-FF83-57438FB7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45A9-6E4D-2A42-9A35-4CDBDC80A5D5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A0A3-A09A-4B43-2CFE-7DAA3A5E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7D9C-E569-09D2-A1E4-C91D91F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91083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2732-45C7-9FB9-9A02-6E34877E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CFC36-F9F0-3091-1F4F-0B811466D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EFF21-0828-1873-7BFB-448D8592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7C1D-4419-C442-9E02-FB0318C3BA24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46096-70EA-83C4-7C7D-B274AA1D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163C-18CC-F808-A373-42F6F907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35340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EB90-98F6-A59A-2FD3-C52B7DFC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8E10E-0A69-950E-AF1E-3E44D67C7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CDD09-D6C4-FD93-43B3-67664781A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1D200-87AA-9A83-C3FF-18EA0376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9BD-8218-DC4E-97C2-155B71896995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17384-8C6C-F224-1552-DD2D39F1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878D5-76AC-2AB1-254E-B4C230DB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03411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DF09-6E74-9EEF-0E9B-9FF8D30F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D155E-AC72-3CF6-5AF5-C3AFB9010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AF9F2-A00A-A751-1CF5-A1C78B9BC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830FB-6277-AD9D-2EC4-FB33A7E36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5E510-8C54-9436-1524-452BFF14E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E775A-DBFA-FAED-0BFC-60FB8091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97C4-E9A3-3F42-B5F2-2B4E142B59BC}" type="datetime1">
              <a:rPr lang="en-US" smtClean="0"/>
              <a:t>11/10/25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A908A-87FC-B2DF-1F3F-3BEA5664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52DAB-9ABD-731C-8315-7E72037D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42210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019B-34F2-1877-AEA1-329AAC5E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85E48-F416-E30C-752E-4919D04A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73E3-22E1-674E-8FFD-3809CC987FB2}" type="datetime1">
              <a:rPr lang="en-US" smtClean="0"/>
              <a:t>11/10/25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D77CA-379D-64F3-830F-543076A0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3A1D9-0F70-687E-D1D3-46EDE421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41499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45BD9-2CFC-B9BA-5395-014CC76B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C550-90C0-1F49-B4B0-D11C91DA19ED}" type="datetime1">
              <a:rPr lang="en-US" smtClean="0"/>
              <a:t>11/10/25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4B1C-749F-866A-0AA4-0B57BFFD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7E6F-2A42-2D07-AE3B-9F6CD093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6176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6CAA-AC40-283D-313F-7BB784CF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D07E-C75F-7E29-F7B9-A676C89D9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E8002-B3AA-3F49-8DE8-04D509247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74855-190C-5440-11A1-8E4EFC5C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BC0-DEE5-4541-B0CC-18CDD0E66A34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B797-9E5E-D15C-7A1B-C20A2E18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14BB5-C07B-B57D-A3B8-FE2FC01C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65270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BA2C-9A5A-B384-BDF9-D27E6BE8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25D70-7DE4-F565-1491-EEA841A20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48444-B2F8-ED49-87C4-A2D5017B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8E227-5C9C-227A-8D27-BE359B1D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A7E9-D8D8-0841-82A8-8D5C509ABE46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1E6F6-D04F-EAC1-758B-BFC872D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59617-AF52-F08A-9A2F-F294A237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977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E5D8-96AC-D912-21E6-217B7D24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559CB-9BBE-7BCD-9B6C-157B46F03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4E83-40E6-6F51-51D2-B96CE5D2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D3CB-7821-5246-897A-370FFE78AA1C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79D22-7437-AFBA-69C0-171B3281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27287-1FCF-BA26-A565-589C23FD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62986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421F2-005D-7D58-8776-EDAA1CB01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BF8E0-D45C-C232-7DCE-CD5C6C839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55D6-32F0-C701-20C9-DD2A04F8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01D9-3A44-9A44-8472-D71C81B384EF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231E-D726-648E-FC50-F49B8635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46D5-992B-CB8D-4442-07A09D23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877449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52F5-CDFA-49AC-FFC1-28931DA6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12FE2-2105-46AC-05D2-9F33BA4E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FB75-C1B4-8A40-9BCC-8979E61F8CFE}" type="datetime1">
              <a:rPr lang="en-US" smtClean="0"/>
              <a:t>11/10/25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8C46B-7951-528E-4449-5BF16E76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AAD1-A609-2D10-3FB6-95A89151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47541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F2E6-44DD-B328-322C-2A18872CD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0C367-58A6-3597-28E2-BA2E818F6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67042-B0A7-6D29-6A2C-70616108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5EAE3-C9C9-1D4E-8614-E28BDA395A19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9067-ADB8-EF9F-7C68-27FC816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ADAD0-B40A-E867-E381-E5559CEB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76503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9284-2DEF-8153-8A50-7D6EEE51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B1F6-5627-1A9A-3632-6751D08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81591-C904-5AF9-AD6F-E8437A41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4E81-407D-DE44-8C24-F86098ED2E3F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E2106-7EB2-CE94-550E-ADDE5EBE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48E5E-7355-38E4-74A2-25DB718C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90640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348E-D736-B452-D519-9379E5D9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B9153-DC76-FF33-69E9-C4FD63A50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CAE8-B1E8-E412-454E-BFBF10E6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267B-9CD0-EF49-9E3E-452AEF61EE4B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1944-C26F-8114-D701-0A7778E3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182A5-3E7A-F308-20D4-6B1AE6B3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9142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9479-A3BB-40AF-9563-16F4F075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161B-C994-C511-4F18-EE2F11C2A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1853F-C0CF-232B-F046-CDB857CFC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54220-4C15-ABFB-8541-CF5D41A8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72C8-242E-054B-BCAF-8577726E83C4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6DA8F-E5B2-F3CB-0861-3EB67548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B561-28D4-9770-AD79-18C19A10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91448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0E54-BAE3-6C83-1934-C2B9BE73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27568-E3A8-2660-0024-AA7CB0AB0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56838-DE89-E1CD-A89A-6EE71A24B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F0053-A9EA-D984-B7E7-199CEE22C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19BC5-6B57-EA04-C738-CFE9FA209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A903D-9866-A8F7-B58A-553BA366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6197-3FC5-324C-BDBB-3602A38385D4}" type="datetime1">
              <a:rPr lang="en-US" smtClean="0"/>
              <a:t>11/10/25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DAD1F-CDE7-B67E-4620-42CADC72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0AD52-59BA-E0A0-60E3-C02EAB15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55775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1318-C10D-F870-45EE-2E19C47C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F5909-9C1B-7404-B382-6C896108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9B82-91F1-E44C-B246-FEDB19454D51}" type="datetime1">
              <a:rPr lang="en-US" smtClean="0"/>
              <a:t>11/10/25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BC8FF-A46A-994C-8DC7-94CF7337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48D87-A3BF-C033-E88A-970DEF6B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306702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D9D58-ECBD-BB6D-1ADC-4401DCDB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B01F-2C5E-D34C-B604-03AC5CB7FCD1}" type="datetime1">
              <a:rPr lang="en-US" smtClean="0"/>
              <a:t>11/10/25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726D8-C730-4556-7F4F-12A5C0BB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AF386-89B2-7DEA-A137-846C7DB5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59564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9F08-727E-A0B6-2EF1-43C15269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4813-847F-919C-8424-F54104550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9BC44-9D1D-EECC-D98E-29FA513A4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389DC-D12B-65DA-4288-BA19B96A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0D6D-04BE-2647-B515-18E6EAFE1DBE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5EF9E-EB64-0F08-90A8-A7F84A28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DB0DF-CC8E-D1C6-8ED1-17D60607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90051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09F7-955C-B9F8-1461-CE7843D1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B3ABF-1462-6370-55BE-4D92309F3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5545-A0CE-AD88-13FB-CDF7A004B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2DAF6-0025-C98F-D979-C1ABF3E74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FB3B-A5EA-AF41-A254-247C3988087B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2B7F0-2F12-0322-0B3F-FA1967A8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CD900-15F6-0971-230F-097CD835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2942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D5E7-AA96-29B6-567C-A4E5BEAE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08A4-3351-DD44-D8F1-DC2F16255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9147-83CE-ECB5-D29C-B1CDA7BCC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6443-F4A6-C64C-B0E9-3B238EA819FE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DBC6-DE9D-F5B1-53AD-E6B1520EA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064D3-889E-116E-7472-8EFB5961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97416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E7053-7825-F71D-BBFF-6B9453DED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5F046-A990-0CD5-091C-97B2815EA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B9617-F979-D30A-CFA2-16DFEC8F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31EA-17C8-0A4F-AE21-D45158ED2220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0F11A-49AB-4B5E-743C-C2A9D802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B88B5-45FD-99B9-02B3-AC1CA9C6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042095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346836"/>
            <a:ext cx="932688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765C-3D97-5540-ABF0-223CE55BA16E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16857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0B296-DC36-8345-8E0D-8DF03FA5664C}" type="datetime1">
              <a:rPr lang="en-US" smtClean="0"/>
              <a:pPr/>
              <a:t>11/10/25</a:t>
            </a:fld>
            <a:endParaRPr lang="en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BB44241B-2579-694C-B40C-A1E3D5F0E4EC}" type="slidenum">
              <a:rPr lang="en-JP" smtClean="0"/>
              <a:pPr/>
              <a:t>‹#›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9228056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051688"/>
            <a:ext cx="946404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507358"/>
            <a:ext cx="946404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6521-4FC8-764E-BB1F-57594C671824}" type="datetime1">
              <a:rPr lang="en-US" smtClean="0"/>
              <a:t>11/10/25</a:t>
            </a:fld>
            <a:endParaRPr lang="en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‹#›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1554220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FDF2-1198-3B4D-B568-A2E3C3AD01CE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49630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38152"/>
            <a:ext cx="946404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017396"/>
            <a:ext cx="466486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3006090"/>
            <a:ext cx="466486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826E-8B34-CD42-B22B-92207F7EE9A4}" type="datetime1">
              <a:rPr lang="en-US" smtClean="0"/>
              <a:t>11/10/25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24312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4929-3879-8141-8AAE-20EE1616273B}" type="datetime1">
              <a:rPr lang="en-US" smtClean="0"/>
              <a:t>11/10/25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80971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90B08-E463-CB4B-84C4-1A68FF584F65}" type="datetime1">
              <a:rPr lang="en-US" smtClean="0"/>
              <a:t>11/10/25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80363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84912"/>
            <a:ext cx="555498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0C7-1DAA-D245-B66F-97CC5DC42346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055865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84912"/>
            <a:ext cx="555498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AC79-2202-944F-A05D-F5D8BC2531DE}" type="datetime1">
              <a:rPr lang="en-US" smtClean="0"/>
              <a:t>11/10/25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49157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F2E-CB71-164B-9B7B-8EE15B11C111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415362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38150"/>
            <a:ext cx="236601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38150"/>
            <a:ext cx="696087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D0A7-161A-564E-A576-D412E9CE08DF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2560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B27D3-9C3C-69A7-EBEE-63DA64E0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2E0D0-562C-EDAE-7374-6F22CC50A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5FF2E-3FB9-33EF-4D7E-48614A8F0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47B-2E0D-2F4C-B677-A794587F37D6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E953-0E55-7A84-F14A-91EE84C8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85BCA-A32E-1B1D-A537-1289087DF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00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ED023-492F-F0DC-6E06-5E07114DD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8022-1832-BC57-EA9F-1B5978FC4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1850F-F756-D04A-A678-2A969394E806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E87C8-C564-198E-144C-DBD0290E2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4661F-7ACC-800F-4349-0E9B012E5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2A1CFA1-CAE1-4D8F-3F30-E8A8DDA4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758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40023-088D-65EA-CD4F-F232CAD5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183F3-FCAD-0675-E3D0-F482548A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E8941-D270-D9AC-1D41-715AA9CB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0EC56-3911-0E40-A861-6727CDA1E4C2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2580-155A-50B4-79DE-EAE97E443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89F1-3208-F1EC-F7DE-B538B5C7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0680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8E5F3-D459-8E4F-AAD1-51A7D68ED6FF}" type="datetime1">
              <a:rPr lang="en-US" smtClean="0"/>
              <a:t>11/10/25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63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journal/sensors/special_issues/CybersecurityIoT" TargetMode="Externa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6CD778-B5F1-E14A-411B-8E0AE18D20A3}"/>
              </a:ext>
            </a:extLst>
          </p:cNvPr>
          <p:cNvSpPr txBox="1"/>
          <p:nvPr/>
        </p:nvSpPr>
        <p:spPr>
          <a:xfrm>
            <a:off x="3842295" y="1281349"/>
            <a:ext cx="548974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談話会発表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09025-35DE-BC47-916D-50FA479740D9}"/>
              </a:ext>
            </a:extLst>
          </p:cNvPr>
          <p:cNvSpPr txBox="1"/>
          <p:nvPr/>
        </p:nvSpPr>
        <p:spPr>
          <a:xfrm>
            <a:off x="1762124" y="2188088"/>
            <a:ext cx="71437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Realguard: A Lightweight Network Intrusion Detection System for IoT Gateways </a:t>
            </a:r>
            <a:endParaRPr lang="en-JP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4762F-7835-874D-3F51-43B9F8C1F934}"/>
              </a:ext>
            </a:extLst>
          </p:cNvPr>
          <p:cNvSpPr txBox="1"/>
          <p:nvPr/>
        </p:nvSpPr>
        <p:spPr>
          <a:xfrm>
            <a:off x="3302017" y="4956068"/>
            <a:ext cx="739716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所属　　： 情報基盤システム学研究室</a:t>
            </a:r>
            <a:endParaRPr lang="en-US" altLang="ja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発表者　：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DAVAAKHUU   UNDARMAA</a:t>
            </a:r>
          </a:p>
          <a:p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指導教員： 池部 実 講師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  </a:t>
            </a:r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吉崎 弘一 教授</a:t>
            </a:r>
            <a:endParaRPr lang="en-US" altLang="ja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発表日　： 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2025</a:t>
            </a:r>
            <a:r>
              <a:rPr lang="ja-JP" altLang="en-US" sz="2100">
                <a:latin typeface="Meiryo" panose="020B0604030504040204" pitchFamily="34" charset="-128"/>
                <a:ea typeface="Meiryo" panose="020B0604030504040204" pitchFamily="34" charset="-128"/>
              </a:rPr>
              <a:t>年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2100">
                <a:latin typeface="Meiryo" panose="020B0604030504040204" pitchFamily="34" charset="-128"/>
                <a:ea typeface="Meiryo" panose="020B0604030504040204" pitchFamily="34" charset="-128"/>
              </a:rPr>
              <a:t>月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13</a:t>
            </a:r>
            <a:r>
              <a:rPr lang="ja-JP" altLang="en-US" sz="2100">
                <a:latin typeface="Meiryo" panose="020B0604030504040204" pitchFamily="34" charset="-128"/>
                <a:ea typeface="Meiryo" panose="020B0604030504040204" pitchFamily="34" charset="-128"/>
              </a:rPr>
              <a:t>日</a:t>
            </a:r>
            <a:endParaRPr lang="en-US" altLang="ja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会場　　： セミナー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1(</a:t>
            </a:r>
            <a:r>
              <a:rPr lang="ja-JP" altLang="en-US" sz="2100" dirty="0">
                <a:latin typeface="Meiryo" panose="020B0604030504040204" pitchFamily="34" charset="-128"/>
                <a:ea typeface="Meiryo" panose="020B0604030504040204" pitchFamily="34" charset="-128"/>
              </a:rPr>
              <a:t>第三講義棟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7003B-EB06-46D0-6E0B-F1BEED829DC3}"/>
              </a:ext>
            </a:extLst>
          </p:cNvPr>
          <p:cNvSpPr txBox="1"/>
          <p:nvPr/>
        </p:nvSpPr>
        <p:spPr>
          <a:xfrm>
            <a:off x="3985819" y="1781038"/>
            <a:ext cx="54864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論文紹介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DB68E-0AEC-F452-71C4-2FD4BA8868C1}"/>
              </a:ext>
            </a:extLst>
          </p:cNvPr>
          <p:cNvSpPr txBox="1"/>
          <p:nvPr/>
        </p:nvSpPr>
        <p:spPr>
          <a:xfrm>
            <a:off x="942976" y="3110679"/>
            <a:ext cx="87820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Xuan-Ha Nguyen  , Xuan-Duong Nguyen , Hoang-Hai Huynh , and Kim-Hung Le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Networks and Communications, University of Information Technology, Ho Chi Minh City 70000, Vietnam Submission received: 3 November 2021 / Accepted: 27 December 2021 / Published: 7 January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Computer Science and Engineering This article belongs to the Special Issue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Cybersecurity in the Internet of Things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57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 fontScale="92500" lnSpcReduction="10000"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07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19F2BA-2905-DFD6-71AA-6107682B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360A-F402-6E48-BA01-8A5E455C98CB}" type="slidenum">
              <a:rPr lang="en-JP" smtClean="0"/>
              <a:t>2</a:t>
            </a:fld>
            <a:endParaRPr lang="en-JP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B462AC-AE2F-E317-150D-D119D6416FF7}"/>
              </a:ext>
            </a:extLst>
          </p:cNvPr>
          <p:cNvSpPr txBox="1"/>
          <p:nvPr/>
        </p:nvSpPr>
        <p:spPr>
          <a:xfrm>
            <a:off x="268604" y="374236"/>
            <a:ext cx="107041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研究背景・</a:t>
            </a:r>
            <a: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デバイスは全部でいくつありますか？</a:t>
            </a:r>
            <a:endParaRPr lang="en-US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0D35E-4FC7-92ED-25C0-5FDF72B7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2" y="834390"/>
            <a:ext cx="6607910" cy="60623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053020-3255-3510-33C3-A5C17DB34F62}"/>
              </a:ext>
            </a:extLst>
          </p:cNvPr>
          <p:cNvSpPr txBox="1"/>
          <p:nvPr/>
        </p:nvSpPr>
        <p:spPr>
          <a:xfrm>
            <a:off x="268604" y="7395210"/>
            <a:ext cx="850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https://teleforum.ethiotelecom.et/blogs/2100/What-are-the-Top-IoT-Security-issues</a:t>
            </a:r>
          </a:p>
        </p:txBody>
      </p:sp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8CEB5C6A-D7B1-4783-4299-1870967C1D73}"/>
              </a:ext>
            </a:extLst>
          </p:cNvPr>
          <p:cNvSpPr/>
          <p:nvPr/>
        </p:nvSpPr>
        <p:spPr>
          <a:xfrm>
            <a:off x="6933081" y="1178219"/>
            <a:ext cx="3690318" cy="2882685"/>
          </a:xfrm>
          <a:prstGeom prst="wedgeRoundRectCallout">
            <a:avLst>
              <a:gd name="adj1" fmla="val -50516"/>
              <a:gd name="adj2" fmla="val 59435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 sz="28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IoT </a:t>
            </a:r>
            <a:r>
              <a:rPr lang="ja-JP" altLang="en-US" sz="2800">
                <a:solidFill>
                  <a:schemeClr val="tx1"/>
                </a:solidFill>
              </a:rPr>
              <a:t>デバイス数は </a:t>
            </a:r>
            <a:r>
              <a:rPr lang="en-US" altLang="ja-JP" sz="2800" dirty="0">
                <a:solidFill>
                  <a:schemeClr val="tx1"/>
                </a:solidFill>
              </a:rPr>
              <a:t>2025 </a:t>
            </a:r>
            <a:r>
              <a:rPr lang="ja-JP" altLang="en-US" sz="2800">
                <a:solidFill>
                  <a:schemeClr val="tx1"/>
                </a:solidFill>
              </a:rPr>
              <a:t>年に </a:t>
            </a:r>
            <a:r>
              <a:rPr lang="en-US" altLang="ja-JP" sz="2800" dirty="0">
                <a:solidFill>
                  <a:schemeClr val="tx1"/>
                </a:solidFill>
              </a:rPr>
              <a:t>198 </a:t>
            </a:r>
            <a:r>
              <a:rPr lang="ja-JP" altLang="en-US" sz="2800">
                <a:solidFill>
                  <a:schemeClr val="tx1"/>
                </a:solidFill>
              </a:rPr>
              <a:t>億、</a:t>
            </a:r>
            <a:r>
              <a:rPr lang="en-US" altLang="ja-JP" sz="2800" dirty="0">
                <a:solidFill>
                  <a:schemeClr val="tx1"/>
                </a:solidFill>
              </a:rPr>
              <a:t>2034 </a:t>
            </a:r>
            <a:r>
              <a:rPr lang="ja-JP" altLang="en-US" sz="2800">
                <a:solidFill>
                  <a:schemeClr val="tx1"/>
                </a:solidFill>
              </a:rPr>
              <a:t>年には </a:t>
            </a:r>
            <a:r>
              <a:rPr lang="en-US" altLang="ja-JP" sz="2800" dirty="0">
                <a:solidFill>
                  <a:schemeClr val="tx1"/>
                </a:solidFill>
              </a:rPr>
              <a:t>406 </a:t>
            </a:r>
            <a:r>
              <a:rPr lang="ja-JP" altLang="en-US" sz="2800">
                <a:solidFill>
                  <a:schemeClr val="tx1"/>
                </a:solidFill>
              </a:rPr>
              <a:t>億まで急増すると見込まれている</a:t>
            </a:r>
            <a:r>
              <a:rPr lang="en-US" altLang="ja-JP" sz="2800" dirty="0">
                <a:solidFill>
                  <a:schemeClr val="tx1"/>
                </a:solidFill>
              </a:rPr>
              <a:t>.</a:t>
            </a:r>
            <a:endParaRPr lang="en-JP" sz="15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Cloud Callout 14">
            <a:extLst>
              <a:ext uri="{FF2B5EF4-FFF2-40B4-BE49-F238E27FC236}">
                <a16:creationId xmlns:a16="http://schemas.microsoft.com/office/drawing/2014/main" id="{83B17E9D-9D0A-47C7-6573-428A0D39597B}"/>
              </a:ext>
            </a:extLst>
          </p:cNvPr>
          <p:cNvSpPr/>
          <p:nvPr/>
        </p:nvSpPr>
        <p:spPr>
          <a:xfrm>
            <a:off x="7125784" y="4476393"/>
            <a:ext cx="2468879" cy="2240792"/>
          </a:xfrm>
          <a:prstGeom prst="cloudCallout">
            <a:avLst>
              <a:gd name="adj1" fmla="val 71430"/>
              <a:gd name="adj2" fmla="val 1453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IoT </a:t>
            </a:r>
            <a:r>
              <a:rPr lang="ja-JP" altLang="en-US" sz="2000">
                <a:solidFill>
                  <a:schemeClr val="tx1"/>
                </a:solidFill>
              </a:rPr>
              <a:t>が増えると、まずどんな問題を解決する必要がある？</a:t>
            </a:r>
            <a:endParaRPr lang="en-JP" sz="2000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EE0561-96E7-A968-27F6-DCE8511D2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597" y="6049108"/>
            <a:ext cx="1216599" cy="146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5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8D9E6-0DA4-1456-EA60-A439F389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/>
              <a:t>3</a:t>
            </a:fld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FEC73-44F1-F42C-24C0-D10ADFC43518}"/>
              </a:ext>
            </a:extLst>
          </p:cNvPr>
          <p:cNvSpPr txBox="1"/>
          <p:nvPr/>
        </p:nvSpPr>
        <p:spPr>
          <a:xfrm>
            <a:off x="302015" y="739853"/>
            <a:ext cx="10417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研究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背景</a:t>
            </a:r>
            <a:r>
              <a:rPr lang="mn-MN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</a:t>
            </a:r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主要な </a:t>
            </a:r>
            <a:r>
              <a:rPr lang="en-US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セキュリティ課題</a:t>
            </a:r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/  </a:t>
            </a:r>
            <a:r>
              <a:rPr lang="en-US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Top IoT Security Issues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17B64-844B-13C1-0F06-E64B068B3C4F}"/>
              </a:ext>
            </a:extLst>
          </p:cNvPr>
          <p:cNvSpPr txBox="1"/>
          <p:nvPr/>
        </p:nvSpPr>
        <p:spPr>
          <a:xfrm>
            <a:off x="302015" y="7565099"/>
            <a:ext cx="636047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https://teleforum.ethiotelecom.et/blogs/2100/What-are-the-Top-IoT-Security-issues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4B734-8D3B-D059-DF9B-3E52CC13B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765935"/>
            <a:ext cx="7120407" cy="5521130"/>
          </a:xfrm>
          <a:prstGeom prst="rect">
            <a:avLst/>
          </a:prstGeom>
        </p:spPr>
      </p:pic>
      <p:sp>
        <p:nvSpPr>
          <p:cNvPr id="5" name="角丸四角形吹き出し 83">
            <a:extLst>
              <a:ext uri="{FF2B5EF4-FFF2-40B4-BE49-F238E27FC236}">
                <a16:creationId xmlns:a16="http://schemas.microsoft.com/office/drawing/2014/main" id="{82D74801-424D-699C-5262-1B4FFCD24D85}"/>
              </a:ext>
            </a:extLst>
          </p:cNvPr>
          <p:cNvSpPr/>
          <p:nvPr/>
        </p:nvSpPr>
        <p:spPr>
          <a:xfrm>
            <a:off x="6879103" y="1659987"/>
            <a:ext cx="3736310" cy="5627077"/>
          </a:xfrm>
          <a:prstGeom prst="cloudCallout">
            <a:avLst>
              <a:gd name="adj1" fmla="val -71542"/>
              <a:gd name="adj2" fmla="val 2687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（Top-3 Threats）</a:t>
            </a:r>
          </a:p>
          <a:p>
            <a:endParaRPr lang="en-US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mn-MN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Exploits（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脆弱性を利用した攻撃）</a:t>
            </a:r>
            <a:endParaRPr lang="en-US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マルウェア（</a:t>
            </a: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Malware、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ウイルス、ボットネットなど）</a:t>
            </a:r>
            <a:endParaRPr lang="en-US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lang="mn-MN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. 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パスワード関連攻撃 </a:t>
            </a: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Password-related attacks / Phishing）</a:t>
            </a:r>
          </a:p>
        </p:txBody>
      </p:sp>
    </p:spTree>
    <p:extLst>
      <p:ext uri="{BB962C8B-B14F-4D97-AF65-F5344CB8AC3E}">
        <p14:creationId xmlns:p14="http://schemas.microsoft.com/office/powerpoint/2010/main" val="233093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75838-8A78-616D-45AA-9C6650A4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40277-22B8-E773-8826-079564DBD04D}"/>
              </a:ext>
            </a:extLst>
          </p:cNvPr>
          <p:cNvSpPr txBox="1"/>
          <p:nvPr/>
        </p:nvSpPr>
        <p:spPr>
          <a:xfrm>
            <a:off x="435938" y="417313"/>
            <a:ext cx="9059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研究背景</a:t>
            </a:r>
            <a: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mn-MN" sz="3200" b="1">
                <a:latin typeface="Meiryo" panose="020B0604030504040204" pitchFamily="34" charset="-128"/>
                <a:ea typeface="Meiryo" panose="020B0604030504040204" pitchFamily="34" charset="-128"/>
              </a:rPr>
              <a:t>・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機械学習と</a:t>
            </a:r>
            <a:r>
              <a:rPr lang="ja-JP" altLang="en-US" sz="3200" b="1"/>
              <a:t>は</a:t>
            </a:r>
            <a:r>
              <a:rPr lang="en-US" sz="3200" b="1" dirty="0">
                <a:solidFill>
                  <a:srgbClr val="273239"/>
                </a:solidFill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2" name="吹き出し: 角を丸めた四角形 47">
            <a:extLst>
              <a:ext uri="{FF2B5EF4-FFF2-40B4-BE49-F238E27FC236}">
                <a16:creationId xmlns:a16="http://schemas.microsoft.com/office/drawing/2014/main" id="{6CA0EAC8-A804-BA57-E241-15B065B6DEFC}"/>
              </a:ext>
            </a:extLst>
          </p:cNvPr>
          <p:cNvSpPr/>
          <p:nvPr/>
        </p:nvSpPr>
        <p:spPr>
          <a:xfrm rot="10800000" flipV="1">
            <a:off x="7038684" y="828799"/>
            <a:ext cx="3498178" cy="1675346"/>
          </a:xfrm>
          <a:prstGeom prst="wedgeRoundRectCallout">
            <a:avLst>
              <a:gd name="adj1" fmla="val 59416"/>
              <a:gd name="adj2" fmla="val -12782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人間が明示的にプログラムしなくても、経験（データ）から学習する仕組み</a:t>
            </a:r>
            <a:endParaRPr lang="ja-JP" altLang="en-US" sz="20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0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BF3404-2B90-011E-68E4-21895743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71" y="894365"/>
            <a:ext cx="6523513" cy="66255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F8C54A-C1D3-0F8A-A8BE-1F6C6FA40FE2}"/>
              </a:ext>
            </a:extLst>
          </p:cNvPr>
          <p:cNvSpPr txBox="1"/>
          <p:nvPr/>
        </p:nvSpPr>
        <p:spPr>
          <a:xfrm>
            <a:off x="260093" y="7662031"/>
            <a:ext cx="5866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https://ischool.syracuse.edu/what-is-machine-learning/</a:t>
            </a:r>
          </a:p>
        </p:txBody>
      </p:sp>
      <p:sp>
        <p:nvSpPr>
          <p:cNvPr id="19" name="吹き出し: 角を丸めた四角形 47">
            <a:extLst>
              <a:ext uri="{FF2B5EF4-FFF2-40B4-BE49-F238E27FC236}">
                <a16:creationId xmlns:a16="http://schemas.microsoft.com/office/drawing/2014/main" id="{7653D000-6485-0111-549C-0284DE58E530}"/>
              </a:ext>
            </a:extLst>
          </p:cNvPr>
          <p:cNvSpPr/>
          <p:nvPr/>
        </p:nvSpPr>
        <p:spPr>
          <a:xfrm rot="10800000" flipV="1">
            <a:off x="6648737" y="2865429"/>
            <a:ext cx="4079629" cy="1358703"/>
          </a:xfrm>
          <a:prstGeom prst="wedgeRoundRectCallout">
            <a:avLst>
              <a:gd name="adj1" fmla="val 58612"/>
              <a:gd name="adj2" fmla="val 22485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画像認識・異常検知・音声認識などに広く利用される</a:t>
            </a:r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ja-JP" altLang="en-US" sz="20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吹き出し: 角を丸めた四角形 47">
            <a:extLst>
              <a:ext uri="{FF2B5EF4-FFF2-40B4-BE49-F238E27FC236}">
                <a16:creationId xmlns:a16="http://schemas.microsoft.com/office/drawing/2014/main" id="{68ECF0A3-0DE0-FBC1-1D18-67F734532813}"/>
              </a:ext>
            </a:extLst>
          </p:cNvPr>
          <p:cNvSpPr/>
          <p:nvPr/>
        </p:nvSpPr>
        <p:spPr>
          <a:xfrm rot="10800000" flipV="1">
            <a:off x="6981665" y="4775229"/>
            <a:ext cx="3413771" cy="1419967"/>
          </a:xfrm>
          <a:prstGeom prst="wedgeRoundRectCallout">
            <a:avLst>
              <a:gd name="adj1" fmla="val 58612"/>
              <a:gd name="adj2" fmla="val 22485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大量のデータ </a:t>
            </a:r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+ 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アルゴリズム </a:t>
            </a:r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+ 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計算資源 → 高精度な予測</a:t>
            </a:r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1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CA59-73E6-F90F-F8DD-C80B33ED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5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35061-E5E1-A05E-CE50-D0961A54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1019"/>
            <a:ext cx="9191625" cy="2653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1B52F4-1D98-E81B-0DA3-57C22DB3D19D}"/>
              </a:ext>
            </a:extLst>
          </p:cNvPr>
          <p:cNvSpPr txBox="1"/>
          <p:nvPr/>
        </p:nvSpPr>
        <p:spPr>
          <a:xfrm>
            <a:off x="242886" y="1074256"/>
            <a:ext cx="9772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機械学習は、データの利用方法によってさまざまな形態がある、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画像認識に強い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Convolutional Neural Network (CNN)、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時系列データに適した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Long Short-Term Memory (LSTM)、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そしてデータのパターンを学習する他のモデルが含まれる。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03D71-C237-2E8A-F85A-1190146EE86D}"/>
              </a:ext>
            </a:extLst>
          </p:cNvPr>
          <p:cNvSpPr txBox="1"/>
          <p:nvPr/>
        </p:nvSpPr>
        <p:spPr>
          <a:xfrm>
            <a:off x="609600" y="5216352"/>
            <a:ext cx="54864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JP" sz="1350" dirty="0">
              <a:latin typeface="Roboto" panose="02000000000000000000" pitchFamily="2" charset="0"/>
            </a:endParaRPr>
          </a:p>
          <a:p>
            <a:br>
              <a:rPr lang="en-JP" sz="1350" dirty="0"/>
            </a:br>
            <a:endParaRPr lang="en-JP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F35BE-B120-D651-0516-55FCA273094C}"/>
              </a:ext>
            </a:extLst>
          </p:cNvPr>
          <p:cNvSpPr txBox="1"/>
          <p:nvPr/>
        </p:nvSpPr>
        <p:spPr>
          <a:xfrm>
            <a:off x="2583770" y="4102371"/>
            <a:ext cx="54864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JP" sz="1350" dirty="0">
              <a:latin typeface="Roboto" panose="02000000000000000000" pitchFamily="2" charset="0"/>
            </a:endParaRPr>
          </a:p>
          <a:p>
            <a:br>
              <a:rPr lang="en-JP" sz="1350" dirty="0"/>
            </a:br>
            <a:endParaRPr lang="en-JP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BC6B55-1447-18E0-A9A8-7149DB7371FC}"/>
              </a:ext>
            </a:extLst>
          </p:cNvPr>
          <p:cNvSpPr txBox="1"/>
          <p:nvPr/>
        </p:nvSpPr>
        <p:spPr>
          <a:xfrm>
            <a:off x="668135" y="5216352"/>
            <a:ext cx="426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CNN</a:t>
            </a:r>
            <a:r>
              <a:rPr lang="ja-JP" altLang="mn-MN" sz="2400" b="1">
                <a:latin typeface="Meiryo" panose="020B0604030504040204" pitchFamily="34" charset="-128"/>
                <a:ea typeface="Meiryo" panose="020B0604030504040204" pitchFamily="34" charset="-128"/>
              </a:rPr>
              <a:t> ・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画像や映像などの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次元データから局所的なパターンを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自動的に抽出し、高精度な認識を可能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A600E-5945-506C-267F-803063021D8C}"/>
              </a:ext>
            </a:extLst>
          </p:cNvPr>
          <p:cNvSpPr txBox="1"/>
          <p:nvPr/>
        </p:nvSpPr>
        <p:spPr>
          <a:xfrm>
            <a:off x="5601892" y="4570021"/>
            <a:ext cx="476130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ja-JP" dirty="0"/>
          </a:p>
          <a:p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LSTM</a:t>
            </a:r>
            <a:r>
              <a:rPr lang="ja-JP" altLang="mn-MN" sz="2400" b="1">
                <a:latin typeface="Meiryo" panose="020B0604030504040204" pitchFamily="34" charset="-128"/>
                <a:ea typeface="Meiryo" panose="020B0604030504040204" pitchFamily="34" charset="-128"/>
              </a:rPr>
              <a:t> ・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過去の情報を「記憶」しながら学習し、時間的特徴を持つデータの長期依存関係を効果的に捉えることができる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6246D-EC46-148F-A96F-798BB8B67875}"/>
              </a:ext>
            </a:extLst>
          </p:cNvPr>
          <p:cNvSpPr txBox="1"/>
          <p:nvPr/>
        </p:nvSpPr>
        <p:spPr>
          <a:xfrm>
            <a:off x="609599" y="332945"/>
            <a:ext cx="90392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研究背景</a:t>
            </a:r>
            <a: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mn-MN" sz="3200" b="1">
                <a:latin typeface="Meiryo" panose="020B0604030504040204" pitchFamily="34" charset="-128"/>
                <a:ea typeface="Meiryo" panose="020B0604030504040204" pitchFamily="34" charset="-128"/>
              </a:rPr>
              <a:t>・ </a:t>
            </a:r>
            <a:r>
              <a:rPr lang="en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 types</a:t>
            </a:r>
            <a:r>
              <a:rPr lang="mn-MN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2/1</a:t>
            </a:r>
            <a:endParaRPr lang="mn-MN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888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3B970-0980-9259-5CD0-04ED1094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6</a:t>
            </a:fld>
            <a:endParaRPr lang="en-JP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4D7E6-1295-A698-AD09-D317E07F65DD}"/>
              </a:ext>
            </a:extLst>
          </p:cNvPr>
          <p:cNvSpPr txBox="1"/>
          <p:nvPr/>
        </p:nvSpPr>
        <p:spPr>
          <a:xfrm>
            <a:off x="528638" y="992435"/>
            <a:ext cx="63002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Deep Neural Network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とは何か？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AFEC1B-CBED-D710-1916-DE1D7560856F}"/>
              </a:ext>
            </a:extLst>
          </p:cNvPr>
          <p:cNvSpPr txBox="1"/>
          <p:nvPr/>
        </p:nvSpPr>
        <p:spPr>
          <a:xfrm>
            <a:off x="212526" y="159423"/>
            <a:ext cx="8771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研究背景</a:t>
            </a:r>
            <a: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mn-MN" sz="3200" b="1">
                <a:latin typeface="Meiryo" panose="020B0604030504040204" pitchFamily="34" charset="-128"/>
                <a:ea typeface="Meiryo" panose="020B0604030504040204" pitchFamily="34" charset="-128"/>
              </a:rPr>
              <a:t>・ </a:t>
            </a:r>
            <a:r>
              <a:rPr lang="en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 types</a:t>
            </a:r>
            <a:r>
              <a:rPr lang="mn-MN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2/2</a:t>
            </a:r>
            <a:endParaRPr lang="mn-MN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6A1BDC-933A-7249-A63A-ADE3A2C3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6" y="1665920"/>
            <a:ext cx="5964010" cy="325061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97DF5A-2FF0-0D04-02E7-5FBE011A6DC6}"/>
              </a:ext>
            </a:extLst>
          </p:cNvPr>
          <p:cNvSpPr txBox="1"/>
          <p:nvPr/>
        </p:nvSpPr>
        <p:spPr>
          <a:xfrm>
            <a:off x="287911" y="5199453"/>
            <a:ext cx="65906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Deep Learning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に基づく人工ニューラルネットワーク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複数の隠れ層（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Hidden Layers）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を持つ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データの複雑なパターンや特徴を学習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正常データと異常データを高精度で識別可能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862C980-431D-A02F-1D6D-F13FACA33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5591683"/>
            <a:ext cx="1216599" cy="1462308"/>
          </a:xfrm>
          <a:prstGeom prst="rect">
            <a:avLst/>
          </a:prstGeom>
        </p:spPr>
      </p:pic>
      <p:sp>
        <p:nvSpPr>
          <p:cNvPr id="37" name="Cloud Callout 36">
            <a:extLst>
              <a:ext uri="{FF2B5EF4-FFF2-40B4-BE49-F238E27FC236}">
                <a16:creationId xmlns:a16="http://schemas.microsoft.com/office/drawing/2014/main" id="{95714CD2-E28C-EA6C-D4B5-1E70E138E96C}"/>
              </a:ext>
            </a:extLst>
          </p:cNvPr>
          <p:cNvSpPr/>
          <p:nvPr/>
        </p:nvSpPr>
        <p:spPr>
          <a:xfrm>
            <a:off x="7322667" y="1665920"/>
            <a:ext cx="3278657" cy="2771333"/>
          </a:xfrm>
          <a:prstGeom prst="cloudCallout">
            <a:avLst>
              <a:gd name="adj1" fmla="val 19677"/>
              <a:gd name="adj2" fmla="val 92692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</a:rPr>
              <a:t>なぜ今回の論文</a:t>
            </a:r>
            <a:r>
              <a:rPr lang="en-US" sz="2400" dirty="0">
                <a:solidFill>
                  <a:schemeClr val="tx1"/>
                </a:solidFill>
              </a:rPr>
              <a:t>Deep Neural Network</a:t>
            </a:r>
            <a:r>
              <a:rPr lang="ja-JP" altLang="en-US" sz="2400">
                <a:solidFill>
                  <a:schemeClr val="tx1"/>
                </a:solidFill>
              </a:rPr>
              <a:t>を選ぶのか ？</a:t>
            </a:r>
            <a:endParaRPr lang="en-JP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92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E1A97-DF62-9811-B40B-DBAB63E0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7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CD901-651E-6FA9-2208-8B70F75F81ED}"/>
              </a:ext>
            </a:extLst>
          </p:cNvPr>
          <p:cNvSpPr txBox="1"/>
          <p:nvPr/>
        </p:nvSpPr>
        <p:spPr>
          <a:xfrm>
            <a:off x="211109" y="5627175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子どもの成長と学び（</a:t>
            </a:r>
            <a:r>
              <a:rPr lang="en-JP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Growing Approach</a:t>
            </a: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との比較）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7D6B4-5DB0-7BDF-D2F2-EA79413634CE}"/>
              </a:ext>
            </a:extLst>
          </p:cNvPr>
          <p:cNvSpPr txBox="1"/>
          <p:nvPr/>
        </p:nvSpPr>
        <p:spPr>
          <a:xfrm>
            <a:off x="561702" y="396724"/>
            <a:ext cx="100061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 types </a:t>
            </a:r>
            <a:r>
              <a:rPr lang="ja-JP" altLang="mn-MN" sz="2800" b="1"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仕組み</a:t>
            </a:r>
            <a:endParaRPr lang="en-US" sz="2800" b="1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Why choose （Deep Neural Network)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D19B9-D2C5-CC25-F75B-AC9855B9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6" y="1579282"/>
            <a:ext cx="5253373" cy="34628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C3EEC1-B884-329E-2800-7A185D0DE48D}"/>
              </a:ext>
            </a:extLst>
          </p:cNvPr>
          <p:cNvSpPr txBox="1"/>
          <p:nvPr/>
        </p:nvSpPr>
        <p:spPr>
          <a:xfrm>
            <a:off x="6048102" y="1600051"/>
            <a:ext cx="5486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なぜ層のニューロン数が減少するのか？</a:t>
            </a:r>
          </a:p>
          <a:p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（128 → 96 → 64 → 32 → 16）</a:t>
            </a:r>
            <a:endParaRPr lang="mn-MN" sz="1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たとえば：</a:t>
            </a:r>
          </a:p>
          <a:p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個の特徴量 ➜ 情報がとても多い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128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すべての情報を考慮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96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重要な特徴を抽出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64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より絞り込む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32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主要な特徴を保持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16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最も重要な情報のみ残す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クラス ➜ 最終的な分類結果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693944C4-A1C7-4287-86DF-E1D3986428D7}"/>
              </a:ext>
            </a:extLst>
          </p:cNvPr>
          <p:cNvSpPr/>
          <p:nvPr/>
        </p:nvSpPr>
        <p:spPr>
          <a:xfrm>
            <a:off x="1214846" y="6503189"/>
            <a:ext cx="705394" cy="5259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959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0837-5259-9B49-A4DD-A7DA6C1E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8</a:t>
            </a:fld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5F243A-CD56-0384-16D3-904233942460}"/>
              </a:ext>
            </a:extLst>
          </p:cNvPr>
          <p:cNvSpPr txBox="1"/>
          <p:nvPr/>
        </p:nvSpPr>
        <p:spPr>
          <a:xfrm>
            <a:off x="451023" y="268176"/>
            <a:ext cx="9071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子どもの成長と学び（</a:t>
            </a:r>
            <a:r>
              <a:rPr lang="en-JP" sz="2400" b="1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Growing Approach</a:t>
            </a:r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との比較）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21E46F-4392-E1AB-BBE0-BF58930F2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30" y="1784317"/>
            <a:ext cx="3193514" cy="24962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237A5-CF20-9E27-9941-9A85D8E38D36}"/>
              </a:ext>
            </a:extLst>
          </p:cNvPr>
          <p:cNvSpPr txBox="1"/>
          <p:nvPr/>
        </p:nvSpPr>
        <p:spPr>
          <a:xfrm>
            <a:off x="451023" y="848256"/>
            <a:ext cx="952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子どもは年齢とともに観察力・判断力が向上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単純な区別 → 専門的な識別まで学習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A9C812-9C70-378F-6B72-995ADB5A8566}"/>
              </a:ext>
            </a:extLst>
          </p:cNvPr>
          <p:cNvSpPr txBox="1"/>
          <p:nvPr/>
        </p:nvSpPr>
        <p:spPr>
          <a:xfrm>
            <a:off x="176703" y="4723156"/>
            <a:ext cx="53096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DNNも段階的にデータから特徴を学習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簡単な分類 → 複雑なパターン認識まで能力向上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DB2BA9E-73B7-E6B4-6A71-C891F9A97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12437"/>
              </p:ext>
            </p:extLst>
          </p:nvPr>
        </p:nvGraphicFramePr>
        <p:xfrm>
          <a:off x="4099019" y="1701473"/>
          <a:ext cx="6119401" cy="2579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336">
                  <a:extLst>
                    <a:ext uri="{9D8B030D-6E8A-4147-A177-3AD203B41FA5}">
                      <a16:colId xmlns:a16="http://schemas.microsoft.com/office/drawing/2014/main" val="2876973817"/>
                    </a:ext>
                  </a:extLst>
                </a:gridCol>
                <a:gridCol w="3488055">
                  <a:extLst>
                    <a:ext uri="{9D8B030D-6E8A-4147-A177-3AD203B41FA5}">
                      <a16:colId xmlns:a16="http://schemas.microsoft.com/office/drawing/2014/main" val="3681611696"/>
                    </a:ext>
                  </a:extLst>
                </a:gridCol>
                <a:gridCol w="1720010">
                  <a:extLst>
                    <a:ext uri="{9D8B030D-6E8A-4147-A177-3AD203B41FA5}">
                      <a16:colId xmlns:a16="http://schemas.microsoft.com/office/drawing/2014/main" val="272751239"/>
                    </a:ext>
                  </a:extLst>
                </a:gridCol>
              </a:tblGrid>
              <a:tr h="77497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年齢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n-MN" altLang="ja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学習・観察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識別可能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850458"/>
                  </a:ext>
                </a:extLst>
              </a:tr>
              <a:tr h="597927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歳</a:t>
                      </a:r>
                    </a:p>
                    <a:p>
                      <a:pPr algn="ctr"/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本足 → 動物と認識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動物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/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非動物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874969"/>
                  </a:ext>
                </a:extLst>
              </a:tr>
              <a:tr h="5453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歳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本足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+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耳 → 犬か猫か推測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犬 ↔ 猫（時々間違い）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076857"/>
                  </a:ext>
                </a:extLst>
              </a:tr>
              <a:tr h="5453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dirty="0"/>
                        <a:t>10</a:t>
                      </a:r>
                      <a:r>
                        <a:rPr lang="ja-JP" altLang="en-US" sz="1600"/>
                        <a:t>歳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長毛・鼻低いペルシャ猫、青目</a:t>
                      </a:r>
                    </a:p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動きで異常判断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種類識別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+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異常判断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7138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604A6E8-3720-DE19-746C-A9DCE6F0F428}"/>
              </a:ext>
            </a:extLst>
          </p:cNvPr>
          <p:cNvSpPr txBox="1"/>
          <p:nvPr/>
        </p:nvSpPr>
        <p:spPr>
          <a:xfrm>
            <a:off x="512895" y="6175218"/>
            <a:ext cx="48140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なぜ層のニューロン数が減少するのか？</a:t>
            </a:r>
            <a:endParaRPr lang="ja-JP" altLang="en-US" sz="2000" b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lang="en-US" altLang="ja-JP" sz="2000" b="0" i="0" u="none" strike="noStrike" dirty="0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128 → 96 → 64 → 32 → 16</a:t>
            </a: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lang="ja-JP" altLang="en-US" sz="2000" b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b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</a:b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E9CE26-C64B-0563-EC30-E84ADAFF4A64}"/>
              </a:ext>
            </a:extLst>
          </p:cNvPr>
          <p:cNvSpPr txBox="1"/>
          <p:nvPr/>
        </p:nvSpPr>
        <p:spPr>
          <a:xfrm>
            <a:off x="6504379" y="4923211"/>
            <a:ext cx="38658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入力層では多くの特徴を保持するためニューロン数が多い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隠れ層を進むごとに重要な特徴だけを抽出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情報を圧縮して効率的に学習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C422A76-A577-B543-FF08-7EE3EBBB498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5145133" y="5402329"/>
            <a:ext cx="1182367" cy="112579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9">
            <a:extLst>
              <a:ext uri="{FF2B5EF4-FFF2-40B4-BE49-F238E27FC236}">
                <a16:creationId xmlns:a16="http://schemas.microsoft.com/office/drawing/2014/main" id="{5EEB536E-C5B4-0F3B-AE6A-4D16D8F60969}"/>
              </a:ext>
            </a:extLst>
          </p:cNvPr>
          <p:cNvSpPr/>
          <p:nvPr/>
        </p:nvSpPr>
        <p:spPr>
          <a:xfrm>
            <a:off x="437960" y="6020295"/>
            <a:ext cx="4707173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88202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6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EFC4-BFC1-10C3-E40D-6DEE01C7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9</a:t>
            </a:fld>
            <a:endParaRPr lang="en-JP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77031F-46E8-7BA7-9A8D-3F556DEA8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972800" cy="76276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4A4D46-49C3-7E3E-F903-BB820B6D43CA}"/>
              </a:ext>
            </a:extLst>
          </p:cNvPr>
          <p:cNvSpPr txBox="1"/>
          <p:nvPr/>
        </p:nvSpPr>
        <p:spPr>
          <a:xfrm>
            <a:off x="2410066" y="755865"/>
            <a:ext cx="7132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ネットワークのトラ</a:t>
            </a:r>
            <a:r>
              <a:rPr lang="en-US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NIDS</a:t>
            </a:r>
            <a:r>
              <a:rPr lang="ja-JP" altLang="en-US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フィックを読み取り、監視し、攻撃、マルウェア、不正アクセスなどの異常な動作を検出するシステム</a:t>
            </a:r>
            <a:r>
              <a:rPr lang="en-US" altLang="ja-JP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ECC72-58FF-865D-22B1-22501DC69757}"/>
              </a:ext>
            </a:extLst>
          </p:cNvPr>
          <p:cNvSpPr txBox="1"/>
          <p:nvPr/>
        </p:nvSpPr>
        <p:spPr>
          <a:xfrm>
            <a:off x="0" y="85103"/>
            <a:ext cx="8869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ネットワーク侵入検知システム（</a:t>
            </a: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NIDS）</a:t>
            </a:r>
            <a:r>
              <a:rPr lang="ja-JP" altLang="mn-MN" sz="2800" b="1">
                <a:latin typeface="Meiryo" panose="020B0604030504040204" pitchFamily="34" charset="-128"/>
                <a:ea typeface="Meiryo" panose="020B0604030504040204" pitchFamily="34" charset="-128"/>
              </a:rPr>
              <a:t> ・ </a:t>
            </a:r>
            <a:r>
              <a:rPr lang="mn-MN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仕組み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F4209F-A97E-6780-55CF-303F4E680977}"/>
              </a:ext>
            </a:extLst>
          </p:cNvPr>
          <p:cNvSpPr txBox="1"/>
          <p:nvPr/>
        </p:nvSpPr>
        <p:spPr>
          <a:xfrm>
            <a:off x="0" y="7775165"/>
            <a:ext cx="750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www.comparitech.com</a:t>
            </a:r>
            <a:r>
              <a:rPr lang="en-US" dirty="0"/>
              <a:t>/net-admin/network-intrusion-detection-tools/</a:t>
            </a:r>
            <a:endParaRPr lang="en-JP" dirty="0"/>
          </a:p>
        </p:txBody>
      </p:sp>
      <p:sp>
        <p:nvSpPr>
          <p:cNvPr id="18" name="正方形/長方形 9">
            <a:extLst>
              <a:ext uri="{FF2B5EF4-FFF2-40B4-BE49-F238E27FC236}">
                <a16:creationId xmlns:a16="http://schemas.microsoft.com/office/drawing/2014/main" id="{289CCE33-3B81-787B-65DA-3FEF5A0369A5}"/>
              </a:ext>
            </a:extLst>
          </p:cNvPr>
          <p:cNvSpPr/>
          <p:nvPr/>
        </p:nvSpPr>
        <p:spPr>
          <a:xfrm>
            <a:off x="2410066" y="755866"/>
            <a:ext cx="7132381" cy="60832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135490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192F9-AD1D-040C-7043-DD87F32C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10</a:t>
            </a:fld>
            <a:endParaRPr lang="en-JP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F2970-A6C3-1B99-0C7C-07F574653780}"/>
              </a:ext>
            </a:extLst>
          </p:cNvPr>
          <p:cNvSpPr txBox="1"/>
          <p:nvPr/>
        </p:nvSpPr>
        <p:spPr>
          <a:xfrm>
            <a:off x="135468" y="7765690"/>
            <a:ext cx="777239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https://</a:t>
            </a:r>
            <a:r>
              <a:rPr lang="en-US" sz="1350" dirty="0" err="1"/>
              <a:t>www.hashstudioz.com</a:t>
            </a:r>
            <a:r>
              <a:rPr lang="en-US" sz="1350" dirty="0"/>
              <a:t>/blog/what-role-do-</a:t>
            </a:r>
            <a:r>
              <a:rPr lang="en-US" sz="1350" dirty="0" err="1"/>
              <a:t>iot</a:t>
            </a:r>
            <a:r>
              <a:rPr lang="en-US" sz="1350" dirty="0"/>
              <a:t>-gateways-play-in-the-overall-</a:t>
            </a:r>
            <a:r>
              <a:rPr lang="en-US" sz="1350" dirty="0" err="1"/>
              <a:t>iot</a:t>
            </a:r>
            <a:r>
              <a:rPr lang="en-US" sz="1350" dirty="0"/>
              <a:t>-ecosystem/</a:t>
            </a:r>
            <a:endParaRPr lang="en-JP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CBB40-5936-4A16-6B43-FD6CD9F9C470}"/>
              </a:ext>
            </a:extLst>
          </p:cNvPr>
          <p:cNvSpPr txBox="1"/>
          <p:nvPr/>
        </p:nvSpPr>
        <p:spPr>
          <a:xfrm>
            <a:off x="376707" y="163828"/>
            <a:ext cx="9193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ゲートウェイの役割と動作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1E21D-A453-53C9-FBEB-379C1F081DAE}"/>
              </a:ext>
            </a:extLst>
          </p:cNvPr>
          <p:cNvSpPr txBox="1"/>
          <p:nvPr/>
        </p:nvSpPr>
        <p:spPr>
          <a:xfrm>
            <a:off x="499722" y="902700"/>
            <a:ext cx="9718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ゲートウェイは、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デバイスと外部ネットワーク（クラウドやインターネット）の間でデータを中継し、通信の管理・変換・保護を行う中間ノードである</a:t>
            </a:r>
            <a:r>
              <a:rPr lang="mn-MN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D4995C-6CC5-F4C7-9E97-606216BD9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5" y="1810319"/>
            <a:ext cx="9344901" cy="31535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158340-30AF-F5D7-6C4D-1F7496D11617}"/>
              </a:ext>
            </a:extLst>
          </p:cNvPr>
          <p:cNvSpPr txBox="1"/>
          <p:nvPr/>
        </p:nvSpPr>
        <p:spPr>
          <a:xfrm>
            <a:off x="608995" y="5369017"/>
            <a:ext cx="6433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Realguard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では、ゲートウェイ上で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パケット観測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特徴量抽出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攻撃検知を実行する中心的な役割を持つ</a:t>
            </a:r>
          </a:p>
        </p:txBody>
      </p:sp>
    </p:spTree>
    <p:extLst>
      <p:ext uri="{BB962C8B-B14F-4D97-AF65-F5344CB8AC3E}">
        <p14:creationId xmlns:p14="http://schemas.microsoft.com/office/powerpoint/2010/main" val="215565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AFB1C-290F-19B6-B4FE-93AD02AF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11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F1983-F0AF-8414-E7F0-AD21ACCFBF71}"/>
              </a:ext>
            </a:extLst>
          </p:cNvPr>
          <p:cNvSpPr txBox="1"/>
          <p:nvPr/>
        </p:nvSpPr>
        <p:spPr>
          <a:xfrm>
            <a:off x="231913" y="301403"/>
            <a:ext cx="108453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ゲートウェイの機能と重要性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Benefits of IoT Gateway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9DD94A1-C3F6-9778-E182-69C5CFC338E3}"/>
              </a:ext>
            </a:extLst>
          </p:cNvPr>
          <p:cNvSpPr/>
          <p:nvPr/>
        </p:nvSpPr>
        <p:spPr>
          <a:xfrm>
            <a:off x="964016" y="1255510"/>
            <a:ext cx="4690592" cy="14585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</a:rPr>
              <a:t>1.</a:t>
            </a:r>
            <a:r>
              <a:rPr lang="en-JP" sz="2400" dirty="0">
                <a:solidFill>
                  <a:schemeClr val="tx1"/>
                </a:solidFill>
              </a:rPr>
              <a:t>Protocol Translation: デバイスとサーバー間のデータを適切なプロトコルに変換</a:t>
            </a:r>
            <a:endParaRPr lang="mn-MN" sz="24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816BD0-F572-54F6-68A5-6B7FAB33D25F}"/>
              </a:ext>
            </a:extLst>
          </p:cNvPr>
          <p:cNvSpPr/>
          <p:nvPr/>
        </p:nvSpPr>
        <p:spPr>
          <a:xfrm>
            <a:off x="964016" y="3091349"/>
            <a:ext cx="4690592" cy="12901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Edge Computing: 事前処理や計算をゲートウェイで実行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25F43E-6744-C534-3905-38D2A5860E19}"/>
              </a:ext>
            </a:extLst>
          </p:cNvPr>
          <p:cNvSpPr/>
          <p:nvPr/>
        </p:nvSpPr>
        <p:spPr>
          <a:xfrm>
            <a:off x="964016" y="4884762"/>
            <a:ext cx="4648200" cy="14269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Security: 暗号化、ファイアウォール、攻撃からの保護</a:t>
            </a:r>
            <a:endParaRPr lang="en-JP" sz="24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84A949-15BD-4D2C-8A6A-BD8C60E156E4}"/>
              </a:ext>
            </a:extLst>
          </p:cNvPr>
          <p:cNvSpPr/>
          <p:nvPr/>
        </p:nvSpPr>
        <p:spPr>
          <a:xfrm>
            <a:off x="5911473" y="1309818"/>
            <a:ext cx="4648200" cy="14042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Scalability: ネットワークの拡張に対応可能</a:t>
            </a:r>
            <a:endParaRPr lang="en-JP" sz="24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CB3FF3-7EDE-1202-0689-812691D8C65C}"/>
              </a:ext>
            </a:extLst>
          </p:cNvPr>
          <p:cNvSpPr/>
          <p:nvPr/>
        </p:nvSpPr>
        <p:spPr>
          <a:xfrm>
            <a:off x="5953867" y="3144315"/>
            <a:ext cx="4605806" cy="12901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信頼性（Reliability）: 安定したデータ転送を確保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CD6F8C5-EB50-495B-59B8-46400EB55DEB}"/>
              </a:ext>
            </a:extLst>
          </p:cNvPr>
          <p:cNvSpPr/>
          <p:nvPr/>
        </p:nvSpPr>
        <p:spPr>
          <a:xfrm>
            <a:off x="5953867" y="4949330"/>
            <a:ext cx="4605806" cy="14042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n-MN" sz="135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mn-MN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経済性（Economical）: 低コストで IoT システムを運用可能</a:t>
            </a:r>
          </a:p>
          <a:p>
            <a:pPr algn="ctr"/>
            <a:endParaRPr lang="mn-MN" sz="135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6E3D6-BC5F-F6E0-482B-260FF320A008}"/>
              </a:ext>
            </a:extLst>
          </p:cNvPr>
          <p:cNvSpPr txBox="1"/>
          <p:nvPr/>
        </p:nvSpPr>
        <p:spPr>
          <a:xfrm>
            <a:off x="964016" y="7546615"/>
            <a:ext cx="60369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/>
              <a:t>https://psiborg.in/iot-gateway/</a:t>
            </a:r>
          </a:p>
        </p:txBody>
      </p:sp>
    </p:spTree>
    <p:extLst>
      <p:ext uri="{BB962C8B-B14F-4D97-AF65-F5344CB8AC3E}">
        <p14:creationId xmlns:p14="http://schemas.microsoft.com/office/powerpoint/2010/main" val="34390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r>
              <a:rPr lang="ja-JP" altLang="en-US" sz="30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・目的</a:t>
            </a:r>
            <a:endParaRPr lang="en-US" altLang="ja-JP" sz="30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まとめ・今後の</a:t>
            </a:r>
            <a:r>
              <a:rPr kumimoji="1"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12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530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CD180-A8CD-DFB4-B159-31234997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13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8A281-283D-8765-4A4C-721E42956B65}"/>
              </a:ext>
            </a:extLst>
          </p:cNvPr>
          <p:cNvSpPr txBox="1"/>
          <p:nvPr/>
        </p:nvSpPr>
        <p:spPr>
          <a:xfrm>
            <a:off x="975390" y="1422481"/>
            <a:ext cx="88319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主な目標:IoT ゲートウェイ上で動作する軽量かつ高精度な攻撃検知システムを構築</a:t>
            </a:r>
            <a:r>
              <a:rPr lang="mn-MN" sz="28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41A46-F1F7-DED5-4C32-5612A77C0BE3}"/>
              </a:ext>
            </a:extLst>
          </p:cNvPr>
          <p:cNvSpPr txBox="1"/>
          <p:nvPr/>
        </p:nvSpPr>
        <p:spPr>
          <a:xfrm>
            <a:off x="1004340" y="425792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JP" sz="3200" b="1" dirty="0">
              <a:solidFill>
                <a:srgbClr val="FF0000"/>
              </a:solidFill>
            </a:endParaRPr>
          </a:p>
        </p:txBody>
      </p:sp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474EFC6D-162D-5A1B-BE3A-B43B236C041B}"/>
              </a:ext>
            </a:extLst>
          </p:cNvPr>
          <p:cNvSpPr/>
          <p:nvPr/>
        </p:nvSpPr>
        <p:spPr>
          <a:xfrm>
            <a:off x="7371167" y="2829695"/>
            <a:ext cx="3225626" cy="3764643"/>
          </a:xfrm>
          <a:prstGeom prst="cloudCallout">
            <a:avLst>
              <a:gd name="adj1" fmla="val -75102"/>
              <a:gd name="adj2" fmla="val -36514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2000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技術的解決策:</a:t>
            </a:r>
          </a:p>
          <a:p>
            <a:r>
              <a:rPr lang="en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軽量アーキテクチャ</a:t>
            </a:r>
          </a:p>
          <a:p>
            <a:r>
              <a:rPr lang="en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リアルタイム検知</a:t>
            </a:r>
          </a:p>
          <a:p>
            <a:r>
              <a:rPr lang="en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限られたリソースで動作可能</a:t>
            </a:r>
          </a:p>
          <a:p>
            <a:endParaRPr lang="en-JP" sz="1500" dirty="0">
              <a:solidFill>
                <a:schemeClr val="tx1"/>
              </a:solidFill>
            </a:endParaRPr>
          </a:p>
        </p:txBody>
      </p:sp>
      <p:sp>
        <p:nvSpPr>
          <p:cNvPr id="9" name="角丸四角形吹き出し 83">
            <a:extLst>
              <a:ext uri="{FF2B5EF4-FFF2-40B4-BE49-F238E27FC236}">
                <a16:creationId xmlns:a16="http://schemas.microsoft.com/office/drawing/2014/main" id="{EE773D27-2D48-8B19-EBB5-5CB3B5B286A4}"/>
              </a:ext>
            </a:extLst>
          </p:cNvPr>
          <p:cNvSpPr/>
          <p:nvPr/>
        </p:nvSpPr>
        <p:spPr>
          <a:xfrm>
            <a:off x="444329" y="3371569"/>
            <a:ext cx="3188456" cy="4036552"/>
          </a:xfrm>
          <a:prstGeom prst="cloudCallout">
            <a:avLst>
              <a:gd name="adj1" fmla="val 74894"/>
              <a:gd name="adj2" fmla="val -52468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2400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科学的貢献 </a:t>
            </a:r>
          </a:p>
          <a:p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競合システムより優れる</a:t>
            </a:r>
          </a:p>
          <a:p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実運用に適した設計</a:t>
            </a:r>
          </a:p>
          <a:p>
            <a:endParaRPr lang="en-JP" sz="1500" dirty="0">
              <a:solidFill>
                <a:schemeClr val="tx1"/>
              </a:solidFill>
            </a:endParaRPr>
          </a:p>
        </p:txBody>
      </p:sp>
      <p:sp>
        <p:nvSpPr>
          <p:cNvPr id="10" name="角丸四角形吹き出し 83">
            <a:extLst>
              <a:ext uri="{FF2B5EF4-FFF2-40B4-BE49-F238E27FC236}">
                <a16:creationId xmlns:a16="http://schemas.microsoft.com/office/drawing/2014/main" id="{87DB61A3-0BAD-D6D9-5AE1-904FD1E7687B}"/>
              </a:ext>
            </a:extLst>
          </p:cNvPr>
          <p:cNvSpPr/>
          <p:nvPr/>
        </p:nvSpPr>
        <p:spPr>
          <a:xfrm>
            <a:off x="3669956" y="3767256"/>
            <a:ext cx="3701211" cy="4036552"/>
          </a:xfrm>
          <a:prstGeom prst="cloudCallout">
            <a:avLst>
              <a:gd name="adj1" fmla="val -6630"/>
              <a:gd name="adj2" fmla="val -63605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2400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高精度</a:t>
            </a:r>
            <a:endParaRPr lang="mn-MN" sz="2400" dirty="0">
              <a:solidFill>
                <a:srgbClr val="92D05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2400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99%以上の精度</a:t>
            </a:r>
          </a:p>
          <a:p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11種類の攻撃を検知</a:t>
            </a:r>
          </a:p>
          <a:p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誤警報を最小化</a:t>
            </a:r>
            <a:endParaRPr lang="mn-MN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1500" dirty="0">
              <a:solidFill>
                <a:srgbClr val="92D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D0B2E-6FC9-8F1F-5AE1-30333CE5746F}"/>
              </a:ext>
            </a:extLst>
          </p:cNvPr>
          <p:cNvSpPr txBox="1"/>
          <p:nvPr/>
        </p:nvSpPr>
        <p:spPr>
          <a:xfrm>
            <a:off x="3989858" y="2728142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400" b="1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具体的な目標</a:t>
            </a:r>
          </a:p>
        </p:txBody>
      </p:sp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B1B2DBC6-1D0F-BFC3-001A-97A826F2C599}"/>
              </a:ext>
            </a:extLst>
          </p:cNvPr>
          <p:cNvSpPr/>
          <p:nvPr/>
        </p:nvSpPr>
        <p:spPr>
          <a:xfrm>
            <a:off x="975389" y="1163629"/>
            <a:ext cx="8730313" cy="1407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3655435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 fontScale="85000" lnSpcReduction="20000"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システム構成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14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9034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496E2-C454-7567-25B9-30434133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15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49B4-DAF1-FEB6-6BF5-F93D30F2469D}"/>
              </a:ext>
            </a:extLst>
          </p:cNvPr>
          <p:cNvSpPr txBox="1"/>
          <p:nvPr/>
        </p:nvSpPr>
        <p:spPr>
          <a:xfrm>
            <a:off x="416376" y="184574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7CDB8-0D71-C36B-352B-8D7A901B643F}"/>
              </a:ext>
            </a:extLst>
          </p:cNvPr>
          <p:cNvSpPr txBox="1"/>
          <p:nvPr/>
        </p:nvSpPr>
        <p:spPr>
          <a:xfrm>
            <a:off x="214721" y="1303266"/>
            <a:ext cx="784506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Realguard は、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Deep learning </a:t>
            </a: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に基づくネットワーク侵入検知システム（NIDS）です。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IoT 環境において、CPU や RAM が限られたデバイス上でも動作できるよう設計されています。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A6349-B761-CCA6-6220-EBC036FB8D2D}"/>
              </a:ext>
            </a:extLst>
          </p:cNvPr>
          <p:cNvSpPr txBox="1"/>
          <p:nvPr/>
        </p:nvSpPr>
        <p:spPr>
          <a:xfrm>
            <a:off x="659307" y="3553327"/>
            <a:ext cx="7648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ネットワークトラフィックの監視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特徴量（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features）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の抽出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DNN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を用いた攻撃の検知</a:t>
            </a:r>
            <a:endParaRPr lang="mn-MN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パケットの観測・特徴量抽出・攻撃検知をゲートウェイ単体で実行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E6773F-4095-B2DC-934F-4F2D24CB4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5499829"/>
            <a:ext cx="1216599" cy="1462308"/>
          </a:xfrm>
          <a:prstGeom prst="rect">
            <a:avLst/>
          </a:prstGeom>
        </p:spPr>
      </p:pic>
      <p:sp>
        <p:nvSpPr>
          <p:cNvPr id="14" name="Cloud Callout 13">
            <a:extLst>
              <a:ext uri="{FF2B5EF4-FFF2-40B4-BE49-F238E27FC236}">
                <a16:creationId xmlns:a16="http://schemas.microsoft.com/office/drawing/2014/main" id="{099B10C7-D985-2687-3068-F9797C97B075}"/>
              </a:ext>
            </a:extLst>
          </p:cNvPr>
          <p:cNvSpPr/>
          <p:nvPr/>
        </p:nvSpPr>
        <p:spPr>
          <a:xfrm>
            <a:off x="7576457" y="1998617"/>
            <a:ext cx="3024867" cy="2438636"/>
          </a:xfrm>
          <a:prstGeom prst="cloudCallout">
            <a:avLst>
              <a:gd name="adj1" fmla="val 14063"/>
              <a:gd name="adj2" fmla="val 9322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の独自性何ですか？</a:t>
            </a:r>
            <a:endParaRPr lang="en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59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3137F-DE51-79E3-F306-10634029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16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57B9A-3014-E3BE-F014-7F53EAF6749A}"/>
              </a:ext>
            </a:extLst>
          </p:cNvPr>
          <p:cNvSpPr txBox="1"/>
          <p:nvPr/>
        </p:nvSpPr>
        <p:spPr>
          <a:xfrm>
            <a:off x="535576" y="403162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の独自性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DB42AE-9026-1B20-DC64-584421762A1B}"/>
              </a:ext>
            </a:extLst>
          </p:cNvPr>
          <p:cNvSpPr/>
          <p:nvPr/>
        </p:nvSpPr>
        <p:spPr>
          <a:xfrm>
            <a:off x="996042" y="1158282"/>
            <a:ext cx="4278089" cy="26430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軽量かつリアルタイムの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ゲートウェイ向けに最適化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CEEC820-D83C-84F6-F475-B4208BC7450A}"/>
              </a:ext>
            </a:extLst>
          </p:cNvPr>
          <p:cNvSpPr/>
          <p:nvPr/>
        </p:nvSpPr>
        <p:spPr>
          <a:xfrm>
            <a:off x="5830932" y="1158282"/>
            <a:ext cx="4002134" cy="27490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効率的な特徴抽出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フロー統計ベースの軽量特徴量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高速抽出（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Statistics）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7C14F64-A926-25CD-9170-E9B0C5CE0C80}"/>
              </a:ext>
            </a:extLst>
          </p:cNvPr>
          <p:cNvSpPr/>
          <p:nvPr/>
        </p:nvSpPr>
        <p:spPr>
          <a:xfrm>
            <a:off x="996041" y="3999345"/>
            <a:ext cx="4310745" cy="28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高精度な攻撃検知モデル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重要特徴量を最適化した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DNN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モデル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8AFCA90D-76F9-2531-868A-D9D5EAA5B2B3}"/>
              </a:ext>
            </a:extLst>
          </p:cNvPr>
          <p:cNvSpPr/>
          <p:nvPr/>
        </p:nvSpPr>
        <p:spPr>
          <a:xfrm>
            <a:off x="5666014" y="4077722"/>
            <a:ext cx="4167052" cy="28685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b="1" dirty="0"/>
              <a:t>4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マルチステージ構造による高効率処理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Observation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Detection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Manager</a:t>
            </a:r>
          </a:p>
        </p:txBody>
      </p:sp>
    </p:spTree>
    <p:extLst>
      <p:ext uri="{BB962C8B-B14F-4D97-AF65-F5344CB8AC3E}">
        <p14:creationId xmlns:p14="http://schemas.microsoft.com/office/powerpoint/2010/main" val="212483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 fontScale="92500" lnSpcReduction="10000"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17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846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62088-FD83-FA7E-10E9-FC8313C6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18</a:t>
            </a:fld>
            <a:endParaRPr lang="en-JP"/>
          </a:p>
        </p:txBody>
      </p:sp>
      <p:sp>
        <p:nvSpPr>
          <p:cNvPr id="7" name="角丸四角形吹き出し 83">
            <a:extLst>
              <a:ext uri="{FF2B5EF4-FFF2-40B4-BE49-F238E27FC236}">
                <a16:creationId xmlns:a16="http://schemas.microsoft.com/office/drawing/2014/main" id="{9E85A9CA-BAA6-6D22-1B08-37FA2C811B3A}"/>
              </a:ext>
            </a:extLst>
          </p:cNvPr>
          <p:cNvSpPr/>
          <p:nvPr/>
        </p:nvSpPr>
        <p:spPr>
          <a:xfrm>
            <a:off x="6031198" y="1543784"/>
            <a:ext cx="4336352" cy="2469428"/>
          </a:xfrm>
          <a:prstGeom prst="wedgeRoundRectCallout">
            <a:avLst>
              <a:gd name="adj1" fmla="val -63995"/>
              <a:gd name="adj2" fmla="val 43356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Packet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ゲートウェイを通過するネットワークパケットを収集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メタデータ情報を抽出し、後続処理に渡す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役割：原始データ（パケット情報）を集める部分</a:t>
            </a:r>
          </a:p>
          <a:p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F421E-845B-2A98-ED5B-AC031CDA38C7}"/>
              </a:ext>
            </a:extLst>
          </p:cNvPr>
          <p:cNvSpPr txBox="1"/>
          <p:nvPr/>
        </p:nvSpPr>
        <p:spPr>
          <a:xfrm>
            <a:off x="508497" y="388362"/>
            <a:ext cx="9367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のシステムアーキテクチャ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2/1</a:t>
            </a:r>
            <a:endParaRPr lang="en-US" sz="3200" b="1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BBA8EB72-0C13-944C-CA4B-A68588AAD94A}"/>
              </a:ext>
            </a:extLst>
          </p:cNvPr>
          <p:cNvSpPr/>
          <p:nvPr/>
        </p:nvSpPr>
        <p:spPr>
          <a:xfrm>
            <a:off x="6354215" y="4876246"/>
            <a:ext cx="3690318" cy="2076994"/>
          </a:xfrm>
          <a:prstGeom prst="wedgeRoundRectCallout">
            <a:avLst>
              <a:gd name="adj1" fmla="val -71381"/>
              <a:gd name="adj2" fmla="val 27998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収集したパケット情報から統計情報や特徴量を計算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モデルに入力可能な特徴ベクトルを生成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6083A-A82F-160C-5D77-AA046154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4677"/>
            <a:ext cx="5342682" cy="5887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AB936A-536D-7F33-66FF-9532E952E206}"/>
              </a:ext>
            </a:extLst>
          </p:cNvPr>
          <p:cNvSpPr txBox="1"/>
          <p:nvPr/>
        </p:nvSpPr>
        <p:spPr>
          <a:xfrm>
            <a:off x="117591" y="7669128"/>
            <a:ext cx="72890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4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つの主要コンポーネントで構成されている。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正方形/長方形 9">
            <a:extLst>
              <a:ext uri="{FF2B5EF4-FFF2-40B4-BE49-F238E27FC236}">
                <a16:creationId xmlns:a16="http://schemas.microsoft.com/office/drawing/2014/main" id="{173369CC-A477-DAB6-3D1E-0A621F9E7419}"/>
              </a:ext>
            </a:extLst>
          </p:cNvPr>
          <p:cNvSpPr/>
          <p:nvPr/>
        </p:nvSpPr>
        <p:spPr>
          <a:xfrm>
            <a:off x="1567543" y="3500847"/>
            <a:ext cx="927463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15" name="正方形/長方形 9">
            <a:extLst>
              <a:ext uri="{FF2B5EF4-FFF2-40B4-BE49-F238E27FC236}">
                <a16:creationId xmlns:a16="http://schemas.microsoft.com/office/drawing/2014/main" id="{A2C7833C-FCAB-6FF1-FB5D-E5E82BFAEE59}"/>
              </a:ext>
            </a:extLst>
          </p:cNvPr>
          <p:cNvSpPr/>
          <p:nvPr/>
        </p:nvSpPr>
        <p:spPr>
          <a:xfrm>
            <a:off x="3183522" y="3509557"/>
            <a:ext cx="927463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126804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96C0-D9FB-AD47-E593-B27B0582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19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A6B57-CAD4-7A30-066B-598551025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6" y="1110344"/>
            <a:ext cx="5210175" cy="6244045"/>
          </a:xfrm>
          <a:prstGeom prst="rect">
            <a:avLst/>
          </a:prstGeom>
        </p:spPr>
      </p:pic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DC023362-6FE7-7BE1-B31C-CA87C328C358}"/>
              </a:ext>
            </a:extLst>
          </p:cNvPr>
          <p:cNvSpPr/>
          <p:nvPr/>
        </p:nvSpPr>
        <p:spPr>
          <a:xfrm>
            <a:off x="5904380" y="1110344"/>
            <a:ext cx="4428340" cy="2870650"/>
          </a:xfrm>
          <a:prstGeom prst="wedgeRoundRectCallout">
            <a:avLst>
              <a:gd name="adj1" fmla="val -63947"/>
              <a:gd name="adj2" fmla="val 42272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3.Attack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FEC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で作成した特徴ベクトルからリアルタイムに異常を検知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モデルを使用し、</a:t>
            </a:r>
          </a:p>
          <a:p>
            <a:pPr lvl="1"/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攻撃の有無の判断</a:t>
            </a:r>
          </a:p>
          <a:p>
            <a:pPr lvl="1"/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攻撃の種類の特定</a:t>
            </a:r>
          </a:p>
        </p:txBody>
      </p:sp>
      <p:sp>
        <p:nvSpPr>
          <p:cNvPr id="9" name="角丸四角形吹き出し 83">
            <a:extLst>
              <a:ext uri="{FF2B5EF4-FFF2-40B4-BE49-F238E27FC236}">
                <a16:creationId xmlns:a16="http://schemas.microsoft.com/office/drawing/2014/main" id="{07AA2B0E-1151-B3BC-6DC7-9D62B04A05DF}"/>
              </a:ext>
            </a:extLst>
          </p:cNvPr>
          <p:cNvSpPr/>
          <p:nvPr/>
        </p:nvSpPr>
        <p:spPr>
          <a:xfrm>
            <a:off x="5865160" y="4627430"/>
            <a:ext cx="4467559" cy="2519615"/>
          </a:xfrm>
          <a:prstGeom prst="wedgeRoundRectCallout">
            <a:avLst>
              <a:gd name="adj1" fmla="val -61450"/>
              <a:gd name="adj2" fmla="val 26431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4.Action Manager</a:t>
            </a:r>
          </a:p>
          <a:p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ADC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が異常を検知した後のアクションを実行</a:t>
            </a:r>
          </a:p>
          <a:p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対応例：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異常トラフィックのログ保存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不審な通信をブロック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管理者にメール通知</a:t>
            </a:r>
            <a:endParaRPr lang="en-JP" sz="20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A42DC-DF15-151B-3226-2AB58428CF28}"/>
              </a:ext>
            </a:extLst>
          </p:cNvPr>
          <p:cNvSpPr txBox="1"/>
          <p:nvPr/>
        </p:nvSpPr>
        <p:spPr>
          <a:xfrm>
            <a:off x="355963" y="285597"/>
            <a:ext cx="98624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のシステムアーキテクチャ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2/2</a:t>
            </a:r>
            <a:endParaRPr lang="en-US" sz="3200" b="1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正方形/長方形 9">
            <a:extLst>
              <a:ext uri="{FF2B5EF4-FFF2-40B4-BE49-F238E27FC236}">
                <a16:creationId xmlns:a16="http://schemas.microsoft.com/office/drawing/2014/main" id="{D0F7DF4B-1F0B-1138-3ECC-F8A382F63E31}"/>
              </a:ext>
            </a:extLst>
          </p:cNvPr>
          <p:cNvSpPr/>
          <p:nvPr/>
        </p:nvSpPr>
        <p:spPr>
          <a:xfrm>
            <a:off x="2416629" y="4627430"/>
            <a:ext cx="78377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01ADD2D7-65DD-D42C-FAE8-C38A6EB442F3}"/>
              </a:ext>
            </a:extLst>
          </p:cNvPr>
          <p:cNvSpPr/>
          <p:nvPr/>
        </p:nvSpPr>
        <p:spPr>
          <a:xfrm>
            <a:off x="2416629" y="6125304"/>
            <a:ext cx="78377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244716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6843-8BE9-A74A-F2E4-A57288B1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4" y="272823"/>
            <a:ext cx="9464040" cy="11928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の流れ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69E5A-926E-1947-6D63-AA961DE1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20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BA394-D634-FC46-E7C4-9854C1640A0D}"/>
              </a:ext>
            </a:extLst>
          </p:cNvPr>
          <p:cNvSpPr txBox="1"/>
          <p:nvPr/>
        </p:nvSpPr>
        <p:spPr>
          <a:xfrm>
            <a:off x="391884" y="1598835"/>
            <a:ext cx="9464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ネットワークパケット → 特徴量抽出 → 数値データ → 機械学習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EFC4F-AFD5-2008-433B-52F7DF8C55F5}"/>
              </a:ext>
            </a:extLst>
          </p:cNvPr>
          <p:cNvSpPr txBox="1"/>
          <p:nvPr/>
        </p:nvSpPr>
        <p:spPr>
          <a:xfrm>
            <a:off x="679269" y="2390897"/>
            <a:ext cx="5486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Packet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到着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IP, Port, Protocol…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← icon: network packet</a:t>
            </a:r>
            <a:endParaRPr lang="mn-MN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/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116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特徴量抽出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数値、サイズ、統計情報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←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icon: bar chart / stats</a:t>
            </a:r>
            <a:endParaRPr lang="mn-MN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/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36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重要特徴量選択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LASSO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による選択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←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icon: filter / key features</a:t>
            </a:r>
            <a:endParaRPr lang="mn-MN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/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機械学習モデル入力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攻撃の有無を判定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←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icon: DNN 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→ arrow flow: Packet → 116 features → 36 features → ML</a:t>
            </a: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104D331B-A48F-E2B3-FFAB-9465DC4D4075}"/>
              </a:ext>
            </a:extLst>
          </p:cNvPr>
          <p:cNvSpPr/>
          <p:nvPr/>
        </p:nvSpPr>
        <p:spPr>
          <a:xfrm>
            <a:off x="6475972" y="2728451"/>
            <a:ext cx="3024867" cy="2438636"/>
          </a:xfrm>
          <a:prstGeom prst="cloudCallout">
            <a:avLst>
              <a:gd name="adj1" fmla="val 46884"/>
              <a:gd name="adj2" fmla="val 5894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Damped Incremental Statistics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何ですか？</a:t>
            </a:r>
            <a:endParaRPr lang="en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2A272A-0DFF-8778-BC94-EA2FFE282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5499829"/>
            <a:ext cx="1216599" cy="146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3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31E7C-475B-533D-CC4C-91C9DECC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21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45234-9184-3BB3-03F8-31D60E227861}"/>
              </a:ext>
            </a:extLst>
          </p:cNvPr>
          <p:cNvSpPr txBox="1"/>
          <p:nvPr/>
        </p:nvSpPr>
        <p:spPr>
          <a:xfrm>
            <a:off x="339633" y="421416"/>
            <a:ext cx="9614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 –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主要アイデア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B1CE3-480C-FED0-126C-757612F5AB95}"/>
              </a:ext>
            </a:extLst>
          </p:cNvPr>
          <p:cNvSpPr txBox="1"/>
          <p:nvPr/>
        </p:nvSpPr>
        <p:spPr>
          <a:xfrm>
            <a:off x="862149" y="1075265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Incremental Statistics（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増分統計）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Cloud Callout 10">
            <a:extLst>
              <a:ext uri="{FF2B5EF4-FFF2-40B4-BE49-F238E27FC236}">
                <a16:creationId xmlns:a16="http://schemas.microsoft.com/office/drawing/2014/main" id="{1B49B5C9-EDF0-3072-6F82-B7708FDD7165}"/>
              </a:ext>
            </a:extLst>
          </p:cNvPr>
          <p:cNvSpPr/>
          <p:nvPr/>
        </p:nvSpPr>
        <p:spPr>
          <a:xfrm>
            <a:off x="666205" y="1475375"/>
            <a:ext cx="3526972" cy="3906521"/>
          </a:xfrm>
          <a:prstGeom prst="cloudCallout">
            <a:avLst>
              <a:gd name="adj1" fmla="val -45223"/>
              <a:gd name="adj2" fmla="val -77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従来の方法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万パケット → すべて保存 → 平均を計算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メモリ使用量が非常に大きい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1E5459E-9E6F-0ED1-AC34-8FAD45CAD786}"/>
              </a:ext>
            </a:extLst>
          </p:cNvPr>
          <p:cNvSpPr/>
          <p:nvPr/>
        </p:nvSpPr>
        <p:spPr>
          <a:xfrm rot="16200000">
            <a:off x="5265176" y="3207104"/>
            <a:ext cx="194253" cy="1162597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B7E7E646-12D1-0F1E-7B8B-8E216DEF2830}"/>
              </a:ext>
            </a:extLst>
          </p:cNvPr>
          <p:cNvSpPr/>
          <p:nvPr/>
        </p:nvSpPr>
        <p:spPr>
          <a:xfrm>
            <a:off x="6270172" y="1567635"/>
            <a:ext cx="3840480" cy="2757956"/>
          </a:xfrm>
          <a:prstGeom prst="triangle">
            <a:avLst>
              <a:gd name="adj" fmla="val 4970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すべてのデータをメモリに保持できない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!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7F891-0D97-3F67-D5A2-9EAF9BC8380A}"/>
              </a:ext>
            </a:extLst>
          </p:cNvPr>
          <p:cNvSpPr txBox="1"/>
          <p:nvPr/>
        </p:nvSpPr>
        <p:spPr>
          <a:xfrm>
            <a:off x="4385853" y="2384816"/>
            <a:ext cx="2103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ネットワークトラフィックは連続的に到着</a:t>
            </a:r>
          </a:p>
          <a:p>
            <a:endParaRPr lang="en-JP" sz="2000" dirty="0"/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765F4A86-C31B-601E-BE0F-E80423327A15}"/>
              </a:ext>
            </a:extLst>
          </p:cNvPr>
          <p:cNvSpPr/>
          <p:nvPr/>
        </p:nvSpPr>
        <p:spPr>
          <a:xfrm>
            <a:off x="5007198" y="4533982"/>
            <a:ext cx="2246812" cy="414608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/>
              <a:t>解決策</a:t>
            </a:r>
            <a:endParaRPr lang="en-JP" dirty="0"/>
          </a:p>
        </p:txBody>
      </p:sp>
      <p:sp>
        <p:nvSpPr>
          <p:cNvPr id="24" name="Oval Callout 23">
            <a:extLst>
              <a:ext uri="{FF2B5EF4-FFF2-40B4-BE49-F238E27FC236}">
                <a16:creationId xmlns:a16="http://schemas.microsoft.com/office/drawing/2014/main" id="{5529FFCF-6B03-FD33-4B27-91D2549FFB72}"/>
              </a:ext>
            </a:extLst>
          </p:cNvPr>
          <p:cNvSpPr/>
          <p:nvPr/>
        </p:nvSpPr>
        <p:spPr>
          <a:xfrm>
            <a:off x="6457948" y="4741286"/>
            <a:ext cx="3464927" cy="1681563"/>
          </a:xfrm>
          <a:prstGeom prst="wedgeEllipseCallout">
            <a:avLst>
              <a:gd name="adj1" fmla="val -61788"/>
              <a:gd name="adj2" fmla="val -188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新しいパケットが来るたび 統計のみを更新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8EF9B-F412-B02D-9DB3-41AAFB7F9CA2}"/>
              </a:ext>
            </a:extLst>
          </p:cNvPr>
          <p:cNvSpPr txBox="1"/>
          <p:nvPr/>
        </p:nvSpPr>
        <p:spPr>
          <a:xfrm>
            <a:off x="666205" y="6043263"/>
            <a:ext cx="5277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数値データのみを保持するインクリメンタル方式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15B5DF83-A4C3-A972-C4E1-BB4932285C68}"/>
              </a:ext>
            </a:extLst>
          </p:cNvPr>
          <p:cNvSpPr/>
          <p:nvPr/>
        </p:nvSpPr>
        <p:spPr>
          <a:xfrm>
            <a:off x="4197281" y="4800597"/>
            <a:ext cx="194253" cy="1162597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69C2F3-4958-B213-C29A-7B82825E4EFC}"/>
              </a:ext>
            </a:extLst>
          </p:cNvPr>
          <p:cNvSpPr txBox="1"/>
          <p:nvPr/>
        </p:nvSpPr>
        <p:spPr>
          <a:xfrm>
            <a:off x="829493" y="6727483"/>
            <a:ext cx="55190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1 →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統計を更新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2 →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統計を更新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3 →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統計を更新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31A02F-8247-4C61-442F-1F6CF4FA2450}"/>
              </a:ext>
            </a:extLst>
          </p:cNvPr>
          <p:cNvSpPr txBox="1"/>
          <p:nvPr/>
        </p:nvSpPr>
        <p:spPr>
          <a:xfrm>
            <a:off x="5486400" y="7154335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Decay Function – </a:t>
            </a:r>
            <a:r>
              <a:rPr lang="ja-JP" altLang="en-US" sz="2000" b="1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古いデータ</a:t>
            </a:r>
            <a:r>
              <a:rPr lang="en-US" altLang="ja-JP" sz="2000" b="1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?</a:t>
            </a:r>
            <a:endParaRPr lang="en-JP" sz="2000" b="1" dirty="0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16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DECA7-057C-5DC3-BC94-2EAF3F21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22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2ED94-551F-CD13-E18F-9854D5F998BB}"/>
              </a:ext>
            </a:extLst>
          </p:cNvPr>
          <p:cNvSpPr txBox="1"/>
          <p:nvPr/>
        </p:nvSpPr>
        <p:spPr>
          <a:xfrm>
            <a:off x="365757" y="372215"/>
            <a:ext cx="8804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Decay Function –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古いデータを減衰させる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03D93-1464-6282-24A5-565AEDDB6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432" y="1174497"/>
            <a:ext cx="2044700" cy="1438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CC828F-39D3-247C-4A30-2048FC8DB4C9}"/>
              </a:ext>
            </a:extLst>
          </p:cNvPr>
          <p:cNvSpPr txBox="1"/>
          <p:nvPr/>
        </p:nvSpPr>
        <p:spPr>
          <a:xfrm>
            <a:off x="692330" y="1516822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Equation: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BFBA6-3F58-1A4B-F272-C580D4C3F275}"/>
              </a:ext>
            </a:extLst>
          </p:cNvPr>
          <p:cNvSpPr txBox="1"/>
          <p:nvPr/>
        </p:nvSpPr>
        <p:spPr>
          <a:xfrm>
            <a:off x="5424668" y="1697023"/>
            <a:ext cx="548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ネットワークトラフィックは急速に変化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新しいデータを優先する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2A9158-FC92-2A80-61E6-ED5272641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66595"/>
              </p:ext>
            </p:extLst>
          </p:nvPr>
        </p:nvGraphicFramePr>
        <p:xfrm>
          <a:off x="692330" y="2954896"/>
          <a:ext cx="9464676" cy="2133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1388">
                  <a:extLst>
                    <a:ext uri="{9D8B030D-6E8A-4147-A177-3AD203B41FA5}">
                      <a16:colId xmlns:a16="http://schemas.microsoft.com/office/drawing/2014/main" val="3296651091"/>
                    </a:ext>
                  </a:extLst>
                </a:gridCol>
                <a:gridCol w="3654019">
                  <a:extLst>
                    <a:ext uri="{9D8B030D-6E8A-4147-A177-3AD203B41FA5}">
                      <a16:colId xmlns:a16="http://schemas.microsoft.com/office/drawing/2014/main" val="797663847"/>
                    </a:ext>
                  </a:extLst>
                </a:gridCol>
                <a:gridCol w="3769269">
                  <a:extLst>
                    <a:ext uri="{9D8B030D-6E8A-4147-A177-3AD203B41FA5}">
                      <a16:colId xmlns:a16="http://schemas.microsoft.com/office/drawing/2014/main" val="1153025432"/>
                    </a:ext>
                  </a:extLst>
                </a:gridCol>
              </a:tblGrid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時間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(t)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重み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(Weight)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重要度</a:t>
                      </a:r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(%)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5869063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現在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(t=0)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2^0 = 1.0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100%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695741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2^-1 = 0.5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50%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9863648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2^-2 = 0.25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25%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5653170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2^-3 = 0.125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12%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333594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7A4235B-D375-DDF8-D748-59CA3274528D}"/>
              </a:ext>
            </a:extLst>
          </p:cNvPr>
          <p:cNvSpPr txBox="1"/>
          <p:nvPr/>
        </p:nvSpPr>
        <p:spPr>
          <a:xfrm>
            <a:off x="692330" y="5431036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Decay factor（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減衰率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t = 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時間差</a:t>
            </a: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BDC86E-7151-C8C1-86FE-2A4090009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407" y="5627012"/>
            <a:ext cx="1216599" cy="1462308"/>
          </a:xfrm>
          <a:prstGeom prst="rect">
            <a:avLst/>
          </a:prstGeom>
        </p:spPr>
      </p:pic>
      <p:sp>
        <p:nvSpPr>
          <p:cNvPr id="18" name="Cloud Callout 17">
            <a:extLst>
              <a:ext uri="{FF2B5EF4-FFF2-40B4-BE49-F238E27FC236}">
                <a16:creationId xmlns:a16="http://schemas.microsoft.com/office/drawing/2014/main" id="{0025EC55-8947-BEBD-20A1-0F7E2BF5A7A8}"/>
              </a:ext>
            </a:extLst>
          </p:cNvPr>
          <p:cNvSpPr/>
          <p:nvPr/>
        </p:nvSpPr>
        <p:spPr>
          <a:xfrm>
            <a:off x="4666296" y="5627136"/>
            <a:ext cx="3024867" cy="2438636"/>
          </a:xfrm>
          <a:prstGeom prst="cloudCallout">
            <a:avLst>
              <a:gd name="adj1" fmla="val 81864"/>
              <a:gd name="adj2" fmla="val -2943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Incremental Vector Array</a:t>
            </a:r>
            <a:r>
              <a:rPr lang="mn-MN" sz="2400" dirty="0">
                <a:solidFill>
                  <a:schemeClr val="tx1"/>
                </a:solidFill>
              </a:rPr>
              <a:t>(</a:t>
            </a:r>
            <a:r>
              <a:rPr lang="en-US" sz="2400" dirty="0">
                <a:solidFill>
                  <a:schemeClr val="tx1"/>
                </a:solidFill>
              </a:rPr>
              <a:t>IV</a:t>
            </a:r>
            <a:r>
              <a:rPr lang="ja-JP" altLang="en-US" sz="2400">
                <a:solidFill>
                  <a:schemeClr val="tx1"/>
                </a:solidFill>
              </a:rPr>
              <a:t>配列</a:t>
            </a:r>
            <a:r>
              <a:rPr lang="en-US" altLang="ja-JP" sz="2400" dirty="0">
                <a:solidFill>
                  <a:schemeClr val="tx1"/>
                </a:solidFill>
              </a:rPr>
              <a:t>)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何ですか？</a:t>
            </a:r>
            <a:endParaRPr lang="en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794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5363-95F3-A2A0-DE81-2E55116C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23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F3112-678B-87F2-E498-202A8FBDE84C}"/>
              </a:ext>
            </a:extLst>
          </p:cNvPr>
          <p:cNvSpPr txBox="1"/>
          <p:nvPr/>
        </p:nvSpPr>
        <p:spPr>
          <a:xfrm>
            <a:off x="418011" y="322106"/>
            <a:ext cx="9601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IV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配列 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–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保存する情報</a:t>
            </a:r>
            <a:endParaRPr lang="en-US" altLang="ja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Information Stored per Feature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6D22F1-05A4-5BB3-80D6-B03FE889C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16" y="1402122"/>
            <a:ext cx="4051300" cy="93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67345-3B59-3D37-9661-B16A07CDE42D}"/>
              </a:ext>
            </a:extLst>
          </p:cNvPr>
          <p:cNvSpPr txBox="1"/>
          <p:nvPr/>
        </p:nvSpPr>
        <p:spPr>
          <a:xfrm>
            <a:off x="727347" y="2100016"/>
            <a:ext cx="3190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各特徴量の情報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8A6C6-67E9-9CCD-5554-FC27C906BABF}"/>
              </a:ext>
            </a:extLst>
          </p:cNvPr>
          <p:cNvSpPr txBox="1"/>
          <p:nvPr/>
        </p:nvSpPr>
        <p:spPr>
          <a:xfrm>
            <a:off x="4104141" y="5407161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w = 1000 (1000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パケット観測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LSI = 50000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合計バイト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SSI = 3,000,000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二乗和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t_L = 12:34:56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最後の更新時間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47B9CD-F4CE-CAA1-B53C-7187D3F87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13163"/>
              </p:ext>
            </p:extLst>
          </p:nvPr>
        </p:nvGraphicFramePr>
        <p:xfrm>
          <a:off x="780779" y="2552563"/>
          <a:ext cx="9464674" cy="26639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7251">
                  <a:extLst>
                    <a:ext uri="{9D8B030D-6E8A-4147-A177-3AD203B41FA5}">
                      <a16:colId xmlns:a16="http://schemas.microsoft.com/office/drawing/2014/main" val="4262175882"/>
                    </a:ext>
                  </a:extLst>
                </a:gridCol>
                <a:gridCol w="7867423">
                  <a:extLst>
                    <a:ext uri="{9D8B030D-6E8A-4147-A177-3AD203B41FA5}">
                      <a16:colId xmlns:a16="http://schemas.microsoft.com/office/drawing/2014/main" val="383615325"/>
                    </a:ext>
                  </a:extLst>
                </a:gridCol>
              </a:tblGrid>
              <a:tr h="443997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項目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意味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45734023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w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重み</a:t>
                      </a:r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(Weight)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、観測回数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8241392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LSI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Linear Sum of Instances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、値の合計</a:t>
                      </a:r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(Σx)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1785440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SSI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Squared Sum of Instances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、値の二乗和</a:t>
                      </a:r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(Σx²)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2209296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SR_ij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Sum of Residual products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、相関計算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1552677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t_L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最後に更新した時刻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24741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8BCC6E9-421F-3271-ADC7-640765AADBDB}"/>
              </a:ext>
            </a:extLst>
          </p:cNvPr>
          <p:cNvSpPr txBox="1"/>
          <p:nvPr/>
        </p:nvSpPr>
        <p:spPr>
          <a:xfrm>
            <a:off x="1174750" y="622202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パケットサイズ特徴量</a:t>
            </a:r>
          </a:p>
        </p:txBody>
      </p:sp>
    </p:spTree>
    <p:extLst>
      <p:ext uri="{BB962C8B-B14F-4D97-AF65-F5344CB8AC3E}">
        <p14:creationId xmlns:p14="http://schemas.microsoft.com/office/powerpoint/2010/main" val="986914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9675-A520-016D-C8FE-2BCEC8BC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23" y="163828"/>
            <a:ext cx="9464040" cy="828945"/>
          </a:xfrm>
        </p:spPr>
        <p:txBody>
          <a:bodyPr>
            <a:normAutofit/>
          </a:bodyPr>
          <a:lstStyle/>
          <a:p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アルゴリズム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1 – </a:t>
            </a: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IV_{i,</a:t>
            </a:r>
            <a:r>
              <a:rPr lang="el-GR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α}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の更新手順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2EB97-58C3-56B8-283E-04D4A3A7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24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6D740-D211-0962-424F-471C53EBABFA}"/>
              </a:ext>
            </a:extLst>
          </p:cNvPr>
          <p:cNvSpPr txBox="1"/>
          <p:nvPr/>
        </p:nvSpPr>
        <p:spPr>
          <a:xfrm>
            <a:off x="514714" y="101995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Algorithm 1: Update IV_{i,</a:t>
            </a:r>
            <a:r>
              <a:rPr lang="el-GR" dirty="0">
                <a:latin typeface="Meiryo" panose="020B0604030504040204" pitchFamily="34" charset="-128"/>
                <a:ea typeface="Meiryo" panose="020B0604030504040204" pitchFamily="34" charset="-128"/>
              </a:rPr>
              <a:t>α}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2DC18-D2F2-C999-B80E-494408CA8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53" y="1618802"/>
            <a:ext cx="2852783" cy="102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443890-4CF5-F845-7A86-19BF46ACF5E8}"/>
              </a:ext>
            </a:extLst>
          </p:cNvPr>
          <p:cNvSpPr txBox="1"/>
          <p:nvPr/>
        </p:nvSpPr>
        <p:spPr>
          <a:xfrm>
            <a:off x="627017" y="1883581"/>
            <a:ext cx="781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Step1:</a:t>
            </a:r>
          </a:p>
          <a:p>
            <a:endParaRPr lang="en-J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2545E-EBCF-B38A-E9F7-2CFA8B0D2271}"/>
              </a:ext>
            </a:extLst>
          </p:cNvPr>
          <p:cNvSpPr txBox="1"/>
          <p:nvPr/>
        </p:nvSpPr>
        <p:spPr>
          <a:xfrm>
            <a:off x="914399" y="2626528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Decay factor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を計算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古いデータの重みを減衰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B8B8F-4EB7-6AA3-DF31-293CF424215F}"/>
              </a:ext>
            </a:extLst>
          </p:cNvPr>
          <p:cNvSpPr txBox="1"/>
          <p:nvPr/>
        </p:nvSpPr>
        <p:spPr>
          <a:xfrm>
            <a:off x="5342709" y="1856367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Step2:</a:t>
            </a:r>
            <a:endParaRPr lang="en-JP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4D5331-12EC-1784-AA42-66EBAFF6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5" y="1425564"/>
            <a:ext cx="4838700" cy="1104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976A26-D510-02BF-58AF-207B4AB723C9}"/>
              </a:ext>
            </a:extLst>
          </p:cNvPr>
          <p:cNvSpPr txBox="1"/>
          <p:nvPr/>
        </p:nvSpPr>
        <p:spPr>
          <a:xfrm>
            <a:off x="6523447" y="2444727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古い値に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decay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を適用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時刻を更新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5E5D7E-62E3-98D9-9977-F4400A1DECF5}"/>
              </a:ext>
            </a:extLst>
          </p:cNvPr>
          <p:cNvSpPr txBox="1"/>
          <p:nvPr/>
        </p:nvSpPr>
        <p:spPr>
          <a:xfrm>
            <a:off x="627017" y="3797748"/>
            <a:ext cx="6061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Step3:</a:t>
            </a:r>
          </a:p>
          <a:p>
            <a:endParaRPr lang="en-JP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233FA1-363A-9235-D90D-98FCD8F6A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957" y="3388786"/>
            <a:ext cx="6990712" cy="11657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B9D9C72-771D-966D-BF61-8755E0312B7A}"/>
              </a:ext>
            </a:extLst>
          </p:cNvPr>
          <p:cNvSpPr txBox="1"/>
          <p:nvPr/>
        </p:nvSpPr>
        <p:spPr>
          <a:xfrm>
            <a:off x="1528354" y="4685555"/>
            <a:ext cx="60611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新しい値を加算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w: +1（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観測回数を増やす）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LSI: +xC（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新しい値を加算）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SSI: +x_C²（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平方を加算）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6FC99B-4407-6202-E35D-C17A231C6505}"/>
              </a:ext>
            </a:extLst>
          </p:cNvPr>
          <p:cNvSpPr txBox="1"/>
          <p:nvPr/>
        </p:nvSpPr>
        <p:spPr>
          <a:xfrm>
            <a:off x="709479" y="6634759"/>
            <a:ext cx="6061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Step4: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A88B8A0-1783-BA77-02C4-B2AB7206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205" y="6392355"/>
            <a:ext cx="1968500" cy="106947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E86777-3C42-9731-FBCF-40788602E050}"/>
              </a:ext>
            </a:extLst>
          </p:cNvPr>
          <p:cNvSpPr txBox="1"/>
          <p:nvPr/>
        </p:nvSpPr>
        <p:spPr>
          <a:xfrm>
            <a:off x="3956417" y="6603981"/>
            <a:ext cx="6061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更新済み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IV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配列を返す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正方形/長方形 9">
            <a:extLst>
              <a:ext uri="{FF2B5EF4-FFF2-40B4-BE49-F238E27FC236}">
                <a16:creationId xmlns:a16="http://schemas.microsoft.com/office/drawing/2014/main" id="{4F70C882-7B35-C3F9-B53F-D2C5AD4ACA24}"/>
              </a:ext>
            </a:extLst>
          </p:cNvPr>
          <p:cNvSpPr/>
          <p:nvPr/>
        </p:nvSpPr>
        <p:spPr>
          <a:xfrm>
            <a:off x="627018" y="1766019"/>
            <a:ext cx="376210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8" name="正方形/長方形 9">
            <a:extLst>
              <a:ext uri="{FF2B5EF4-FFF2-40B4-BE49-F238E27FC236}">
                <a16:creationId xmlns:a16="http://schemas.microsoft.com/office/drawing/2014/main" id="{D3AF6369-5654-FF0C-D949-3AC84A611C46}"/>
              </a:ext>
            </a:extLst>
          </p:cNvPr>
          <p:cNvSpPr/>
          <p:nvPr/>
        </p:nvSpPr>
        <p:spPr>
          <a:xfrm>
            <a:off x="5267417" y="1678619"/>
            <a:ext cx="556169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9" name="正方形/長方形 9">
            <a:extLst>
              <a:ext uri="{FF2B5EF4-FFF2-40B4-BE49-F238E27FC236}">
                <a16:creationId xmlns:a16="http://schemas.microsoft.com/office/drawing/2014/main" id="{45929000-6A7E-858D-6FE8-5516F28C26FA}"/>
              </a:ext>
            </a:extLst>
          </p:cNvPr>
          <p:cNvSpPr/>
          <p:nvPr/>
        </p:nvSpPr>
        <p:spPr>
          <a:xfrm>
            <a:off x="627017" y="3684040"/>
            <a:ext cx="773321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30" name="正方形/長方形 9">
            <a:extLst>
              <a:ext uri="{FF2B5EF4-FFF2-40B4-BE49-F238E27FC236}">
                <a16:creationId xmlns:a16="http://schemas.microsoft.com/office/drawing/2014/main" id="{B0F5625B-5F98-47A3-3F96-A4775529149A}"/>
              </a:ext>
            </a:extLst>
          </p:cNvPr>
          <p:cNvSpPr/>
          <p:nvPr/>
        </p:nvSpPr>
        <p:spPr>
          <a:xfrm>
            <a:off x="627017" y="6374348"/>
            <a:ext cx="773321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24987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D01F-106E-3946-DAD6-59619FA9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02857"/>
            <a:ext cx="9464040" cy="71137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例 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–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実践的計算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9097-5C29-1640-69F6-09821E2E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25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EC2C1-390F-503A-1230-0225B94C111E}"/>
              </a:ext>
            </a:extLst>
          </p:cNvPr>
          <p:cNvSpPr txBox="1"/>
          <p:nvPr/>
        </p:nvSpPr>
        <p:spPr>
          <a:xfrm>
            <a:off x="1022573" y="722751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特徴量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パケットサイズ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バイト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641EC-A207-FC64-9F76-7790D2E63039}"/>
              </a:ext>
            </a:extLst>
          </p:cNvPr>
          <p:cNvSpPr txBox="1"/>
          <p:nvPr/>
        </p:nvSpPr>
        <p:spPr>
          <a:xfrm>
            <a:off x="953588" y="1696904"/>
            <a:ext cx="84255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=0秒: 開始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= (w=0, LSI=0, SSI=0, SR=0, t_L=0)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t=1秒</a:t>
            </a:r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100バイトのパケット到着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ステップ1: δ = 2^(-α×0) = 1.0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1800"/>
              <a:t>初期値</a:t>
            </a:r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ステップ2: IV = (0×1, 0×1, 0×1, 0×1, 1)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ステップ3: IV = (0+1, 0+100, 0+10000, 0, 1)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= (1, 100, 10000, 0, 1)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t=2秒</a:t>
            </a:r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150バイトのパケット到着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ステップ1: δ = 2^(-α×1) = 0.5 (α=1 の場合)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ステップ2: IV = (1×0.5, 100×0.5, 10000×0.5,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= (0.5, 50, 5000,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ステップ3: IV = (0.5+1, 50+150, 5000+22500,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= (1.5, 200, 27500, 0, 2)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 = LSI / w = 200 / 1.5 ≈ 133バイト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141C1-F532-5B30-DBBC-90387D67BE48}"/>
              </a:ext>
            </a:extLst>
          </p:cNvPr>
          <p:cNvSpPr txBox="1"/>
          <p:nvPr/>
        </p:nvSpPr>
        <p:spPr>
          <a:xfrm>
            <a:off x="7269480" y="2652565"/>
            <a:ext cx="548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新しいパケット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decay</a:t>
            </a:r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適用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IV</a:t>
            </a:r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更新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平均計算</a:t>
            </a:r>
            <a:endParaRPr lang="en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Bent Arrow 10">
            <a:extLst>
              <a:ext uri="{FF2B5EF4-FFF2-40B4-BE49-F238E27FC236}">
                <a16:creationId xmlns:a16="http://schemas.microsoft.com/office/drawing/2014/main" id="{68458086-1488-8C48-350B-5DF7D37D6A47}"/>
              </a:ext>
            </a:extLst>
          </p:cNvPr>
          <p:cNvSpPr/>
          <p:nvPr/>
        </p:nvSpPr>
        <p:spPr>
          <a:xfrm rot="10800000">
            <a:off x="7009035" y="1228043"/>
            <a:ext cx="589463" cy="1148386"/>
          </a:xfrm>
          <a:prstGeom prst="ben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B12CE5-913D-5FE6-CC4F-E83A0B455E8D}"/>
              </a:ext>
            </a:extLst>
          </p:cNvPr>
          <p:cNvSpPr txBox="1"/>
          <p:nvPr/>
        </p:nvSpPr>
        <p:spPr>
          <a:xfrm>
            <a:off x="1022573" y="840478"/>
            <a:ext cx="869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この例では、新しいパケットが到着するたびに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IV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配列がどのように減衰され、新しい値が加算され、平均や統計が更新されるかを示している</a:t>
            </a:r>
            <a:r>
              <a:rPr lang="ja-JP" altLang="en-US"/>
              <a:t>。</a:t>
            </a:r>
            <a:endParaRPr lang="en-JP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FF56080-C048-6357-8AA0-425FEA19A7D9}"/>
              </a:ext>
            </a:extLst>
          </p:cNvPr>
          <p:cNvSpPr/>
          <p:nvPr/>
        </p:nvSpPr>
        <p:spPr>
          <a:xfrm flipH="1">
            <a:off x="7951446" y="3313095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8A3BF658-580D-593D-4083-EC32942BCAAA}"/>
              </a:ext>
            </a:extLst>
          </p:cNvPr>
          <p:cNvSpPr/>
          <p:nvPr/>
        </p:nvSpPr>
        <p:spPr>
          <a:xfrm flipH="1">
            <a:off x="7951444" y="4478851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6A628BF0-6C64-F644-951E-2616C7A9555C}"/>
              </a:ext>
            </a:extLst>
          </p:cNvPr>
          <p:cNvSpPr/>
          <p:nvPr/>
        </p:nvSpPr>
        <p:spPr>
          <a:xfrm flipH="1">
            <a:off x="7951444" y="5644607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747600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F056-D970-13A6-2A43-D2D25075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593814"/>
          </a:xfrm>
        </p:spPr>
        <p:txBody>
          <a:bodyPr>
            <a:normAutofit fontScale="9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Normalization – 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正規化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28996-17B0-8CF3-72AB-065842EA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26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29BFD-ED8A-AF5E-7B57-45CBD57E8F14}"/>
              </a:ext>
            </a:extLst>
          </p:cNvPr>
          <p:cNvSpPr txBox="1"/>
          <p:nvPr/>
        </p:nvSpPr>
        <p:spPr>
          <a:xfrm>
            <a:off x="754380" y="122612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なぜ正規化するのか？</a:t>
            </a:r>
            <a:endParaRPr lang="en-JP" sz="2000" dirty="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A144B-745C-7D5F-BFE0-B667BE5DB0B7}"/>
              </a:ext>
            </a:extLst>
          </p:cNvPr>
          <p:cNvSpPr txBox="1"/>
          <p:nvPr/>
        </p:nvSpPr>
        <p:spPr>
          <a:xfrm>
            <a:off x="5097780" y="4707524"/>
            <a:ext cx="548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すべての特徴量を同じスケール 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[0,1]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に正規化することで、機械学習モデルの学習が安定し、精度が向上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548936A8-0220-2E0C-4B65-F78624C28BA3}"/>
              </a:ext>
            </a:extLst>
          </p:cNvPr>
          <p:cNvSpPr/>
          <p:nvPr/>
        </p:nvSpPr>
        <p:spPr>
          <a:xfrm rot="16200000" flipH="1">
            <a:off x="4149221" y="1209931"/>
            <a:ext cx="287599" cy="545004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1E00CC-FA62-87C4-2995-60F287969A98}"/>
              </a:ext>
            </a:extLst>
          </p:cNvPr>
          <p:cNvSpPr txBox="1"/>
          <p:nvPr/>
        </p:nvSpPr>
        <p:spPr>
          <a:xfrm>
            <a:off x="5006340" y="1286355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課題: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特徴量1: パケット数 (1-1000)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特徴量2: バイト数 (0-65535)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特徴量3: 時間 (0-86400)</a:t>
            </a:r>
          </a:p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異なるスケール → MLアルゴリズムが正しく動作しない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44B0E8B-681F-36E1-0770-C350FD598818}"/>
              </a:ext>
            </a:extLst>
          </p:cNvPr>
          <p:cNvSpPr/>
          <p:nvPr/>
        </p:nvSpPr>
        <p:spPr>
          <a:xfrm flipH="1">
            <a:off x="1606732" y="2215589"/>
            <a:ext cx="326571" cy="400110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315F2-A7AF-C2D4-2AED-2BE1C908D565}"/>
              </a:ext>
            </a:extLst>
          </p:cNvPr>
          <p:cNvSpPr txBox="1"/>
          <p:nvPr/>
        </p:nvSpPr>
        <p:spPr>
          <a:xfrm>
            <a:off x="418011" y="3474867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x ∈ </a:t>
            </a:r>
            <a:r>
              <a:rPr lang="en-US" sz="2000" dirty="0" err="1">
                <a:latin typeface="Meiryo" panose="020B0604030504040204" pitchFamily="34" charset="-128"/>
                <a:ea typeface="Meiryo" panose="020B0604030504040204" pitchFamily="34" charset="-128"/>
              </a:rPr>
              <a:t>R^n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(n=100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特徴量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すべての値を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[0, 1]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にスケーリング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08047-EBAB-9BD0-363B-F48DF583F84F}"/>
              </a:ext>
            </a:extLst>
          </p:cNvPr>
          <p:cNvSpPr txBox="1"/>
          <p:nvPr/>
        </p:nvSpPr>
        <p:spPr>
          <a:xfrm>
            <a:off x="1386860" y="3005001"/>
            <a:ext cx="1247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解決策</a:t>
            </a:r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 :</a:t>
            </a:r>
            <a:endParaRPr lang="en-JP" sz="2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76510A-AC36-F26C-1EFC-E9A3F2D6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95" y="4390479"/>
            <a:ext cx="3217754" cy="1003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A49565-B3DB-8807-6619-9F332829AADF}"/>
              </a:ext>
            </a:extLst>
          </p:cNvPr>
          <p:cNvSpPr txBox="1"/>
          <p:nvPr/>
        </p:nvSpPr>
        <p:spPr>
          <a:xfrm>
            <a:off x="326571" y="6432625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パケット数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: 500 → (500-0)/(1000-0) = 0.5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バイト数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: 32768 → (32768-0)/(65535-0) = 0.5</a:t>
            </a:r>
          </a:p>
        </p:txBody>
      </p:sp>
      <p:sp>
        <p:nvSpPr>
          <p:cNvPr id="21" name="正方形/長方形 9">
            <a:extLst>
              <a:ext uri="{FF2B5EF4-FFF2-40B4-BE49-F238E27FC236}">
                <a16:creationId xmlns:a16="http://schemas.microsoft.com/office/drawing/2014/main" id="{57026821-364A-2FDF-0E9A-4DC348B21476}"/>
              </a:ext>
            </a:extLst>
          </p:cNvPr>
          <p:cNvSpPr/>
          <p:nvPr/>
        </p:nvSpPr>
        <p:spPr>
          <a:xfrm>
            <a:off x="5097780" y="4454841"/>
            <a:ext cx="5394960" cy="15991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37155A56-31B1-3FF4-1CD9-30AC05430E57}"/>
              </a:ext>
            </a:extLst>
          </p:cNvPr>
          <p:cNvSpPr/>
          <p:nvPr/>
        </p:nvSpPr>
        <p:spPr>
          <a:xfrm rot="16200000" flipH="1">
            <a:off x="4005036" y="5184579"/>
            <a:ext cx="326571" cy="400110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02773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CA75-FC3C-A648-292D-7CC4A73E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33839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 –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の強み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16E1D-83A6-573D-DBB5-85186D9C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27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60ABE-0238-E849-34FF-D164CE8B53FA}"/>
              </a:ext>
            </a:extLst>
          </p:cNvPr>
          <p:cNvSpPr txBox="1"/>
          <p:nvPr/>
        </p:nvSpPr>
        <p:spPr>
          <a:xfrm>
            <a:off x="1175657" y="2179213"/>
            <a:ext cx="93138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リアルタイム特徴抽出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ネットワークトラフィックから即時に特徴を抽出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少ない統計情報で管理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すべてのデータを保存せず、必要最小限の統計値のみ保持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3.Decay function 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による古いデータ減衰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古いデータの重みを減らし、新しいトラフィック変化に迅速対応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4.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低メモリ・高速処理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116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特徴量を効率的に処理可能</a:t>
            </a:r>
          </a:p>
        </p:txBody>
      </p:sp>
    </p:spTree>
    <p:extLst>
      <p:ext uri="{BB962C8B-B14F-4D97-AF65-F5344CB8AC3E}">
        <p14:creationId xmlns:p14="http://schemas.microsoft.com/office/powerpoint/2010/main" val="1617974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まとめ・今後の</a:t>
            </a:r>
            <a:r>
              <a:rPr kumimoji="1"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28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6335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218390-E01A-CE2B-A62A-0B0A50A6E386}"/>
              </a:ext>
            </a:extLst>
          </p:cNvPr>
          <p:cNvSpPr txBox="1"/>
          <p:nvPr/>
        </p:nvSpPr>
        <p:spPr>
          <a:xfrm>
            <a:off x="327295" y="370894"/>
            <a:ext cx="7909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評価指標</a:t>
            </a:r>
            <a:r>
              <a:rPr lang="mn-MN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/ Evaluation Metrics</a:t>
            </a:r>
            <a:endParaRPr lang="mn-MN" altLang="ja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CDC4545-E5FD-18A7-A4ED-733A052FFB47}"/>
              </a:ext>
            </a:extLst>
          </p:cNvPr>
          <p:cNvSpPr/>
          <p:nvPr/>
        </p:nvSpPr>
        <p:spPr>
          <a:xfrm>
            <a:off x="4511477" y="2590739"/>
            <a:ext cx="2528595" cy="731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の性能評価方法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ABE562A-183A-06EE-5B15-FD550892E375}"/>
              </a:ext>
            </a:extLst>
          </p:cNvPr>
          <p:cNvSpPr/>
          <p:nvPr/>
        </p:nvSpPr>
        <p:spPr>
          <a:xfrm rot="2046892">
            <a:off x="4845187" y="3400528"/>
            <a:ext cx="73838" cy="5895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54C5DA-08B2-E535-E34B-DCF74B41BE45}"/>
              </a:ext>
            </a:extLst>
          </p:cNvPr>
          <p:cNvSpPr/>
          <p:nvPr/>
        </p:nvSpPr>
        <p:spPr>
          <a:xfrm>
            <a:off x="3259815" y="3956675"/>
            <a:ext cx="1542151" cy="6839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JP" sz="21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9EB590-3116-18BC-B1FE-1F8A5CF10DD3}"/>
              </a:ext>
            </a:extLst>
          </p:cNvPr>
          <p:cNvSpPr/>
          <p:nvPr/>
        </p:nvSpPr>
        <p:spPr>
          <a:xfrm>
            <a:off x="5028085" y="3960093"/>
            <a:ext cx="1495379" cy="64376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sz="1944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56F46E6-2616-7B29-1AB6-9728D1415FEE}"/>
              </a:ext>
            </a:extLst>
          </p:cNvPr>
          <p:cNvSpPr/>
          <p:nvPr/>
        </p:nvSpPr>
        <p:spPr>
          <a:xfrm>
            <a:off x="6704066" y="4279690"/>
            <a:ext cx="1921960" cy="6839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 dirty="0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682723C2-4AE4-6867-2069-B28BF0549A17}"/>
              </a:ext>
            </a:extLst>
          </p:cNvPr>
          <p:cNvSpPr/>
          <p:nvPr/>
        </p:nvSpPr>
        <p:spPr>
          <a:xfrm>
            <a:off x="5679951" y="3463934"/>
            <a:ext cx="75110" cy="4457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138F1696-5D4F-08A3-57AE-355A273E54E8}"/>
              </a:ext>
            </a:extLst>
          </p:cNvPr>
          <p:cNvSpPr/>
          <p:nvPr/>
        </p:nvSpPr>
        <p:spPr>
          <a:xfrm rot="18643095">
            <a:off x="6860455" y="3334617"/>
            <a:ext cx="59636" cy="86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70F9ADFD-A551-A49F-408B-E0A63F29C675}"/>
              </a:ext>
            </a:extLst>
          </p:cNvPr>
          <p:cNvSpPr/>
          <p:nvPr/>
        </p:nvSpPr>
        <p:spPr>
          <a:xfrm>
            <a:off x="3461813" y="3077210"/>
            <a:ext cx="895443" cy="1485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6DDD74-A4D7-19BE-EA0E-FBE83B5899C1}"/>
              </a:ext>
            </a:extLst>
          </p:cNvPr>
          <p:cNvSpPr txBox="1"/>
          <p:nvPr/>
        </p:nvSpPr>
        <p:spPr>
          <a:xfrm>
            <a:off x="3232740" y="4775292"/>
            <a:ext cx="1559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TPR = 38 / (38 + 2) = 38 / 40 = 0.95 = 95%</a:t>
            </a:r>
            <a:endParaRPr lang="en-JP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0B7206-298A-57F9-A9CE-A8CC42FE8B08}"/>
              </a:ext>
            </a:extLst>
          </p:cNvPr>
          <p:cNvSpPr txBox="1"/>
          <p:nvPr/>
        </p:nvSpPr>
        <p:spPr>
          <a:xfrm>
            <a:off x="5028085" y="4755903"/>
            <a:ext cx="1495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FPR = 5 / (5 + 55) = 5 / 60 = 0.083 = 8.3%</a:t>
            </a:r>
            <a:endParaRPr lang="en-JP" sz="126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01C866-D0AD-2BE3-C996-1B0CB970A0FD}"/>
              </a:ext>
            </a:extLst>
          </p:cNvPr>
          <p:cNvSpPr txBox="1"/>
          <p:nvPr/>
        </p:nvSpPr>
        <p:spPr>
          <a:xfrm>
            <a:off x="6918967" y="4980133"/>
            <a:ext cx="1495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ACC = (38 + 55) / (38 + 5 + 55 + 2) = 93 / 100 = 0.93 = 93%</a:t>
            </a:r>
            <a:endParaRPr lang="en-JP" sz="1260" dirty="0"/>
          </a:p>
        </p:txBody>
      </p: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5AB27DF6-36DC-20BB-1D0E-8D21266B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29</a:t>
            </a:fld>
            <a:endParaRPr lang="en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B6BC13-2FBC-F11D-4DFD-1B6FB16AE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35" y="4073933"/>
            <a:ext cx="1104900" cy="466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34854-2AB4-E3ED-0467-84DA6FFF3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462" y="4088214"/>
            <a:ext cx="1190625" cy="495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D22381-A402-A921-CB0E-C4B3BFED6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32" y="4380406"/>
            <a:ext cx="17907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7E0BB9-1F82-5870-6E20-6C30AE2D741E}"/>
              </a:ext>
            </a:extLst>
          </p:cNvPr>
          <p:cNvSpPr txBox="1"/>
          <p:nvPr/>
        </p:nvSpPr>
        <p:spPr>
          <a:xfrm>
            <a:off x="327295" y="997664"/>
            <a:ext cx="764897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分かりやすい例：医師の診断</a:t>
            </a:r>
          </a:p>
          <a:p>
            <a:endParaRPr lang="en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100人が検査に来ました：</a:t>
            </a: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- 40人：実際に病気</a:t>
            </a: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- 60人：健康</a:t>
            </a:r>
          </a:p>
          <a:p>
            <a:r>
              <a:rPr lang="en-JP" sz="1350" dirty="0"/>
              <a:t>医師の診断結果：</a:t>
            </a:r>
          </a:p>
          <a:p>
            <a:r>
              <a:rPr lang="en-JP" sz="1350" dirty="0">
                <a:solidFill>
                  <a:srgbClr val="FF0000"/>
                </a:solidFill>
              </a:rPr>
              <a:t>38人</a:t>
            </a:r>
            <a:r>
              <a:rPr lang="en-JP" sz="1350" dirty="0"/>
              <a:t>を病気と正しく診断（</a:t>
            </a:r>
            <a:r>
              <a:rPr lang="en-JP" sz="1350" dirty="0">
                <a:solidFill>
                  <a:srgbClr val="FF0000"/>
                </a:solidFill>
              </a:rPr>
              <a:t>TP）True positives</a:t>
            </a:r>
          </a:p>
          <a:p>
            <a:r>
              <a:rPr lang="en-JP" sz="1350" dirty="0">
                <a:solidFill>
                  <a:srgbClr val="FF0000"/>
                </a:solidFill>
              </a:rPr>
              <a:t>2人</a:t>
            </a:r>
            <a:r>
              <a:rPr lang="en-JP" sz="1350" dirty="0"/>
              <a:t>の病気を見逃した（</a:t>
            </a:r>
            <a:r>
              <a:rPr lang="en-JP" sz="1350" dirty="0">
                <a:solidFill>
                  <a:srgbClr val="FF0000"/>
                </a:solidFill>
              </a:rPr>
              <a:t>FN） False positives</a:t>
            </a:r>
          </a:p>
          <a:p>
            <a:r>
              <a:rPr lang="en-JP" sz="1350" dirty="0">
                <a:solidFill>
                  <a:srgbClr val="FF0000"/>
                </a:solidFill>
              </a:rPr>
              <a:t>55人</a:t>
            </a:r>
            <a:r>
              <a:rPr lang="en-JP" sz="1350" dirty="0"/>
              <a:t>を健康と正しく判定（</a:t>
            </a:r>
            <a:r>
              <a:rPr lang="en-JP" sz="1350" dirty="0">
                <a:solidFill>
                  <a:srgbClr val="FF0000"/>
                </a:solidFill>
              </a:rPr>
              <a:t>TN）True negatives</a:t>
            </a:r>
          </a:p>
          <a:p>
            <a:r>
              <a:rPr lang="en-JP" sz="1350" dirty="0">
                <a:solidFill>
                  <a:srgbClr val="FF0000"/>
                </a:solidFill>
              </a:rPr>
              <a:t>5人</a:t>
            </a:r>
            <a:r>
              <a:rPr lang="en-JP" sz="1350" dirty="0"/>
              <a:t>を誤って病気と判定（</a:t>
            </a:r>
            <a:r>
              <a:rPr lang="en-JP" sz="1350" dirty="0">
                <a:solidFill>
                  <a:srgbClr val="FF0000"/>
                </a:solidFill>
              </a:rPr>
              <a:t>FP）False negatives </a:t>
            </a:r>
            <a:r>
              <a:rPr lang="mn-MN" sz="1350" dirty="0">
                <a:solidFill>
                  <a:srgbClr val="FF0000"/>
                </a:solidFill>
              </a:rPr>
              <a:t>й</a:t>
            </a:r>
            <a:endParaRPr lang="en-JP" sz="1350" dirty="0">
              <a:solidFill>
                <a:srgbClr val="FF0000"/>
              </a:solidFill>
            </a:endParaRPr>
          </a:p>
        </p:txBody>
      </p:sp>
      <p:sp>
        <p:nvSpPr>
          <p:cNvPr id="18" name="角丸四角形吹き出し 83">
            <a:extLst>
              <a:ext uri="{FF2B5EF4-FFF2-40B4-BE49-F238E27FC236}">
                <a16:creationId xmlns:a16="http://schemas.microsoft.com/office/drawing/2014/main" id="{CA938878-BD90-9728-13A2-BDD69F4B7E28}"/>
              </a:ext>
            </a:extLst>
          </p:cNvPr>
          <p:cNvSpPr/>
          <p:nvPr/>
        </p:nvSpPr>
        <p:spPr>
          <a:xfrm>
            <a:off x="406622" y="5439876"/>
            <a:ext cx="2853192" cy="1384825"/>
          </a:xfrm>
          <a:prstGeom prst="wedgeRoundRectCallout">
            <a:avLst>
              <a:gd name="adj1" fmla="val 38818"/>
              <a:gd name="adj2" fmla="val -84923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500" dirty="0">
                <a:solidFill>
                  <a:schemeClr val="tx1"/>
                </a:solidFill>
              </a:rPr>
              <a:t>40人の患者のうち38人を検出</a:t>
            </a:r>
          </a:p>
          <a:p>
            <a:r>
              <a:rPr lang="en-JP" sz="1500" dirty="0">
                <a:solidFill>
                  <a:schemeClr val="tx1"/>
                </a:solidFill>
              </a:rPr>
              <a:t>2人の患者を見逃した</a:t>
            </a:r>
          </a:p>
          <a:p>
            <a:r>
              <a:rPr lang="en-JP" sz="1500" dirty="0">
                <a:solidFill>
                  <a:schemeClr val="tx1"/>
                </a:solidFill>
              </a:rPr>
              <a:t>医師は 患者の</a:t>
            </a:r>
            <a:r>
              <a:rPr lang="en-JP" sz="1500" dirty="0">
                <a:solidFill>
                  <a:srgbClr val="92D050"/>
                </a:solidFill>
              </a:rPr>
              <a:t>95% を正しく検出できた</a:t>
            </a:r>
          </a:p>
        </p:txBody>
      </p:sp>
      <p:sp>
        <p:nvSpPr>
          <p:cNvPr id="19" name="角丸四角形吹き出し 83">
            <a:extLst>
              <a:ext uri="{FF2B5EF4-FFF2-40B4-BE49-F238E27FC236}">
                <a16:creationId xmlns:a16="http://schemas.microsoft.com/office/drawing/2014/main" id="{D43EA512-0E13-45DE-2A10-E2BFE6CFE2A6}"/>
              </a:ext>
            </a:extLst>
          </p:cNvPr>
          <p:cNvSpPr/>
          <p:nvPr/>
        </p:nvSpPr>
        <p:spPr>
          <a:xfrm>
            <a:off x="3850873" y="5619114"/>
            <a:ext cx="3068093" cy="1384825"/>
          </a:xfrm>
          <a:prstGeom prst="wedgeRoundRectCallout">
            <a:avLst>
              <a:gd name="adj1" fmla="val 3097"/>
              <a:gd name="adj2" fmla="val -74606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60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人の健康な人のうち</a:t>
            </a:r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55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人を正しく判定</a:t>
            </a:r>
          </a:p>
          <a:p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人の健康な人を誤って患者と判定</a:t>
            </a:r>
          </a:p>
          <a:p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医師は 健康な人の</a:t>
            </a:r>
            <a:r>
              <a:rPr lang="en-US" altLang="ja-JP" sz="1350" dirty="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8.3% </a:t>
            </a:r>
            <a:r>
              <a:rPr lang="ja-JP" altLang="en-US" sz="135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を誤診した！</a:t>
            </a:r>
            <a:endParaRPr lang="en-JP" sz="1350" dirty="0">
              <a:solidFill>
                <a:srgbClr val="FFC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角丸四角形吹き出し 83">
            <a:extLst>
              <a:ext uri="{FF2B5EF4-FFF2-40B4-BE49-F238E27FC236}">
                <a16:creationId xmlns:a16="http://schemas.microsoft.com/office/drawing/2014/main" id="{E90AB7FA-A502-2C9D-56FE-E524C1D73B86}"/>
              </a:ext>
            </a:extLst>
          </p:cNvPr>
          <p:cNvSpPr/>
          <p:nvPr/>
        </p:nvSpPr>
        <p:spPr>
          <a:xfrm>
            <a:off x="7642014" y="2493935"/>
            <a:ext cx="2853192" cy="1384825"/>
          </a:xfrm>
          <a:prstGeom prst="wedgeRoundRectCallout">
            <a:avLst>
              <a:gd name="adj1" fmla="val -49315"/>
              <a:gd name="adj2" fmla="val 77401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人のうち</a:t>
            </a:r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93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人を正しく判定</a:t>
            </a:r>
          </a:p>
          <a:p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7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人を誤って判定</a:t>
            </a:r>
          </a:p>
          <a:p>
            <a:endParaRPr lang="ja-JP" altLang="en-US" sz="1350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35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医師の 精度は</a:t>
            </a:r>
            <a:r>
              <a:rPr lang="en-US" altLang="ja-JP" sz="1350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93%</a:t>
            </a:r>
            <a:r>
              <a:rPr lang="ja-JP" altLang="en-US" sz="135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！</a:t>
            </a:r>
            <a:endParaRPr lang="en-JP" sz="1350" dirty="0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83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42D4E-1E54-5493-2499-ACAEAD1C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30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1B122-646E-9B5D-7DFF-DC00F6367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" y="1002742"/>
            <a:ext cx="5372100" cy="3871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CAC981-9711-557E-6D6E-BBEBA697A288}"/>
              </a:ext>
            </a:extLst>
          </p:cNvPr>
          <p:cNvSpPr txBox="1"/>
          <p:nvPr/>
        </p:nvSpPr>
        <p:spPr>
          <a:xfrm>
            <a:off x="666750" y="5569677"/>
            <a:ext cx="54864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図3 + 表4</a:t>
            </a:r>
          </a:p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システムはネットワークトラフィックを </a:t>
            </a:r>
            <a:r>
              <a:rPr lang="en-JP" sz="1500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「Normal」 </a:t>
            </a:r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と </a:t>
            </a:r>
            <a:endParaRPr lang="mn-MN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5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「Abnormal」 </a:t>
            </a:r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の2クラスに分類する。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C7CD4-51CD-9406-3BB3-53D85A6B7037}"/>
              </a:ext>
            </a:extLst>
          </p:cNvPr>
          <p:cNvSpPr txBox="1"/>
          <p:nvPr/>
        </p:nvSpPr>
        <p:spPr>
          <a:xfrm>
            <a:off x="352424" y="417967"/>
            <a:ext cx="73971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dirty="0">
                <a:latin typeface="Meiryo" panose="020B0604030504040204" pitchFamily="34" charset="-128"/>
                <a:ea typeface="Meiryo" panose="020B0604030504040204" pitchFamily="34" charset="-128"/>
              </a:rPr>
              <a:t>二値分類 (Binary-class) 検知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E8CE9-B70C-8AA1-6F23-15008D1C59D2}"/>
              </a:ext>
            </a:extLst>
          </p:cNvPr>
          <p:cNvSpPr txBox="1"/>
          <p:nvPr/>
        </p:nvSpPr>
        <p:spPr>
          <a:xfrm>
            <a:off x="5454015" y="1735094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Realguard の結果</a:t>
            </a:r>
          </a:p>
          <a:p>
            <a:endParaRPr lang="en-JP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TPR (True Positive Rate) = 99.66% → 攻撃を正しく検知する能力</a:t>
            </a:r>
          </a:p>
          <a:p>
            <a:endParaRPr lang="en-JP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FPR (False Positive Rate) = 0.40% → 誤警報の割合</a:t>
            </a:r>
          </a:p>
          <a:p>
            <a:endParaRPr lang="en-JP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Accuracy = 99.64% → 全体の正確性</a:t>
            </a:r>
          </a:p>
        </p:txBody>
      </p:sp>
      <p:sp>
        <p:nvSpPr>
          <p:cNvPr id="16" name="角丸四角形吹き出し 83">
            <a:extLst>
              <a:ext uri="{FF2B5EF4-FFF2-40B4-BE49-F238E27FC236}">
                <a16:creationId xmlns:a16="http://schemas.microsoft.com/office/drawing/2014/main" id="{9C0C7BFF-73B9-BC04-4D18-31F8EBC42A77}"/>
              </a:ext>
            </a:extLst>
          </p:cNvPr>
          <p:cNvSpPr/>
          <p:nvPr/>
        </p:nvSpPr>
        <p:spPr>
          <a:xfrm>
            <a:off x="6259830" y="3853343"/>
            <a:ext cx="3874770" cy="3078775"/>
          </a:xfrm>
          <a:prstGeom prst="cloudCallout">
            <a:avLst>
              <a:gd name="adj1" fmla="val -75102"/>
              <a:gd name="adj2" fmla="val -36514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500" dirty="0">
                <a:solidFill>
                  <a:schemeClr val="tx1"/>
                </a:solidFill>
              </a:rPr>
              <a:t>ポイント:</a:t>
            </a:r>
          </a:p>
          <a:p>
            <a:r>
              <a:rPr lang="en-JP" sz="1500" dirty="0">
                <a:solidFill>
                  <a:schemeClr val="tx1"/>
                </a:solidFill>
              </a:rPr>
              <a:t>Realguard は他のシステムより優れた性能を示す（TPRが最も高く、FPRは最小ではないがバランスが良い）。</a:t>
            </a:r>
          </a:p>
          <a:p>
            <a:endParaRPr lang="en-JP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96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8252F-30C6-4D87-F868-A9BE5CE2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31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B3B66-4247-2D78-F258-23E560AD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19" y="2154087"/>
            <a:ext cx="8651275" cy="1960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7F7832-F8D5-B792-D69C-F93A71076138}"/>
              </a:ext>
            </a:extLst>
          </p:cNvPr>
          <p:cNvSpPr txBox="1"/>
          <p:nvPr/>
        </p:nvSpPr>
        <p:spPr>
          <a:xfrm>
            <a:off x="475471" y="163828"/>
            <a:ext cx="96169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二値分類（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Binary-class）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検知の結果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4B8FD-CA8D-B574-1B91-78D36D3729D5}"/>
              </a:ext>
            </a:extLst>
          </p:cNvPr>
          <p:cNvSpPr txBox="1"/>
          <p:nvPr/>
        </p:nvSpPr>
        <p:spPr>
          <a:xfrm>
            <a:off x="1223318" y="4278267"/>
            <a:ext cx="54864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Realguard: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 TPR = 99.66%（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最も高い）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350">
                <a:highlight>
                  <a:srgbClr val="FFFF00"/>
                </a:highlight>
                <a:latin typeface="Meiryo" panose="020B0604030504040204" pitchFamily="34" charset="-128"/>
                <a:ea typeface="Meiryo" panose="020B0604030504040204" pitchFamily="34" charset="-128"/>
              </a:rPr>
              <a:t>⚠️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FPR = 0.40%（PSO+LSTM-RNN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よりやや高い）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ACC = 99.64%（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最も高い）</a:t>
            </a:r>
            <a:endParaRPr lang="en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B1B0C-8270-727A-3789-444843BE4095}"/>
              </a:ext>
            </a:extLst>
          </p:cNvPr>
          <p:cNvSpPr txBox="1"/>
          <p:nvPr/>
        </p:nvSpPr>
        <p:spPr>
          <a:xfrm>
            <a:off x="1223318" y="5295769"/>
            <a:ext cx="5486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主要指標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TPR (True Positive Rate):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攻撃を正しく検知した割合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FPR (False Positive Rate):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誤警報の割合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ACC (Accuracy):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全体の正確性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A22DD-CF55-FED6-669F-20A324BF988E}"/>
              </a:ext>
            </a:extLst>
          </p:cNvPr>
          <p:cNvSpPr txBox="1"/>
          <p:nvPr/>
        </p:nvSpPr>
        <p:spPr>
          <a:xfrm>
            <a:off x="919608" y="1696407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8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つの競合システム（</a:t>
            </a:r>
            <a:r>
              <a:rPr lang="en-US" sz="1800" dirty="0" err="1">
                <a:latin typeface="Meiryo" panose="020B0604030504040204" pitchFamily="34" charset="-128"/>
                <a:ea typeface="Meiryo" panose="020B0604030504040204" pitchFamily="34" charset="-128"/>
              </a:rPr>
              <a:t>NB-SVM、DT-EnSVM、DBN</a:t>
            </a:r>
            <a:r>
              <a:rPr lang="en-US" sz="18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など）と比較された。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44229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646DDAA-2B3F-105E-F64B-57441A72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32</a:t>
            </a:fld>
            <a:endParaRPr lang="en-JP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146D4-A611-790A-7342-509E15697F1C}"/>
              </a:ext>
            </a:extLst>
          </p:cNvPr>
          <p:cNvSpPr txBox="1"/>
          <p:nvPr/>
        </p:nvSpPr>
        <p:spPr>
          <a:xfrm>
            <a:off x="839642" y="601937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Multi-class attack detection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276A98-2B16-E95A-0A70-D0D77D71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3409"/>
            <a:ext cx="6124575" cy="5454620"/>
          </a:xfrm>
          <a:prstGeom prst="rect">
            <a:avLst/>
          </a:prstGeom>
        </p:spPr>
      </p:pic>
      <p:sp>
        <p:nvSpPr>
          <p:cNvPr id="25" name="吹き出し: 角を丸めた四角形 47">
            <a:extLst>
              <a:ext uri="{FF2B5EF4-FFF2-40B4-BE49-F238E27FC236}">
                <a16:creationId xmlns:a16="http://schemas.microsoft.com/office/drawing/2014/main" id="{63E9290D-AEE5-9DDD-3134-AAD594F1C243}"/>
              </a:ext>
            </a:extLst>
          </p:cNvPr>
          <p:cNvSpPr/>
          <p:nvPr/>
        </p:nvSpPr>
        <p:spPr>
          <a:xfrm rot="10800000" flipV="1">
            <a:off x="6566072" y="1714706"/>
            <a:ext cx="3151796" cy="1436267"/>
          </a:xfrm>
          <a:prstGeom prst="wedgeRoundRectCallout">
            <a:avLst>
              <a:gd name="adj1" fmla="val 73925"/>
              <a:gd name="adj2" fmla="val -102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5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システムは 11種類の攻撃（DoS、FTP-Patator、SSH-Patator など）をそれぞれ検知。平均 TPR = 99.57%（非常に良好な結果）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6A9706E-34B4-7D0F-7816-A0EEA4D4399A}"/>
              </a:ext>
            </a:extLst>
          </p:cNvPr>
          <p:cNvSpPr/>
          <p:nvPr/>
        </p:nvSpPr>
        <p:spPr>
          <a:xfrm>
            <a:off x="6004212" y="3297021"/>
            <a:ext cx="4713821" cy="13165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ja-JP" altLang="en-US" sz="150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課題</a:t>
            </a:r>
            <a:endParaRPr lang="mn-MN" sz="1500" dirty="0">
              <a:solidFill>
                <a:srgbClr val="40404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lang="en-US" sz="1500" dirty="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DoS Hulk: TPR = 98.45%（1.52% </a:t>
            </a:r>
            <a:r>
              <a:rPr lang="ja-JP" altLang="en-US" sz="150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が「</a:t>
            </a:r>
            <a:r>
              <a:rPr lang="en-US" sz="1500" dirty="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Normal」</a:t>
            </a:r>
            <a:r>
              <a:rPr lang="ja-JP" altLang="en-US" sz="150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と誤分類）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Botnet ARES: TPR = 98.46%（1.34% </a:t>
            </a:r>
            <a:r>
              <a:rPr lang="ja-JP" altLang="en-US" sz="150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が「</a:t>
            </a:r>
            <a:r>
              <a:rPr lang="en-US" sz="1500" dirty="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Normal」</a:t>
            </a:r>
            <a:r>
              <a:rPr lang="ja-JP" altLang="en-US" sz="1500">
                <a:solidFill>
                  <a:srgbClr val="40404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と誤分類</a:t>
            </a:r>
            <a:endParaRPr lang="en-US" sz="1500" dirty="0">
              <a:solidFill>
                <a:srgbClr val="40404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D53F34-775D-3810-6901-1975E8987D50}"/>
              </a:ext>
            </a:extLst>
          </p:cNvPr>
          <p:cNvSpPr txBox="1"/>
          <p:nvPr/>
        </p:nvSpPr>
        <p:spPr>
          <a:xfrm>
            <a:off x="5852361" y="4712004"/>
            <a:ext cx="5128672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なぜ誤分類が発生したのか？</a:t>
            </a:r>
          </a:p>
          <a:p>
            <a:endParaRPr lang="en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DoS Hulk 攻撃: 正常なパケットも送信される（ただし大量に送信）</a:t>
            </a: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→ 通常の動作に似て見える</a:t>
            </a:r>
          </a:p>
          <a:p>
            <a:endParaRPr lang="en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Botnet 攻撃: 攻撃中にパケットが均等に分散される</a:t>
            </a:r>
          </a:p>
          <a:p>
            <a:r>
              <a:rPr lang="en-JP" sz="1350" dirty="0">
                <a:latin typeface="Meiryo" panose="020B0604030504040204" pitchFamily="34" charset="-128"/>
                <a:ea typeface="Meiryo" panose="020B0604030504040204" pitchFamily="34" charset="-128"/>
              </a:rPr>
              <a:t>→ 正常トラフィックに似て見える</a:t>
            </a:r>
          </a:p>
        </p:txBody>
      </p:sp>
    </p:spTree>
    <p:extLst>
      <p:ext uri="{BB962C8B-B14F-4D97-AF65-F5344CB8AC3E}">
        <p14:creationId xmlns:p14="http://schemas.microsoft.com/office/powerpoint/2010/main" val="169046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7159-2A81-C789-6C22-803A5CC0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33</a:t>
            </a:fld>
            <a:endParaRPr lang="en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49A191-D360-4B64-0E0A-924B4D50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187145"/>
            <a:ext cx="5829300" cy="4290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AFA9F6-DBD3-3382-B6E5-6A88BA526C76}"/>
              </a:ext>
            </a:extLst>
          </p:cNvPr>
          <p:cNvSpPr txBox="1"/>
          <p:nvPr/>
        </p:nvSpPr>
        <p:spPr>
          <a:xfrm>
            <a:off x="430943" y="160153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500" dirty="0">
                <a:latin typeface="Meiryo" panose="020B0604030504040204" pitchFamily="34" charset="-128"/>
                <a:ea typeface="Meiryo" panose="020B0604030504040204" pitchFamily="34" charset="-128"/>
              </a:rPr>
              <a:t> Multi-class 比較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3D255-83E2-EB89-7036-396BA3C1E71F}"/>
              </a:ext>
            </a:extLst>
          </p:cNvPr>
          <p:cNvSpPr txBox="1"/>
          <p:nvPr/>
        </p:nvSpPr>
        <p:spPr>
          <a:xfrm>
            <a:off x="6728254" y="2419348"/>
            <a:ext cx="4244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350"/>
              <a:t>主要指標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TPR (True Positive Rate): </a:t>
            </a:r>
            <a:r>
              <a:rPr lang="ja-JP" altLang="en-US" sz="1350"/>
              <a:t>攻撃を正しく検知した割合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FPR (False Positive Rate): </a:t>
            </a:r>
            <a:r>
              <a:rPr lang="ja-JP" altLang="en-US" sz="1350"/>
              <a:t>誤警報の割合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ACC (Accuracy): </a:t>
            </a:r>
            <a:r>
              <a:rPr lang="ja-JP" altLang="en-US" sz="1350"/>
              <a:t>全体の正確性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BA489-729C-210C-898B-AFC5AF7DC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07" y="4585772"/>
            <a:ext cx="26289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14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6E1B73-71B6-0197-B148-BDB362D249EF}"/>
              </a:ext>
            </a:extLst>
          </p:cNvPr>
          <p:cNvSpPr txBox="1"/>
          <p:nvPr/>
        </p:nvSpPr>
        <p:spPr>
          <a:xfrm>
            <a:off x="426353" y="2600018"/>
            <a:ext cx="3314148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JP" sz="1944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DD39767-C245-1941-5161-BFCCE1DB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34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136AC-CFCE-340D-5BF9-04EA74544183}"/>
              </a:ext>
            </a:extLst>
          </p:cNvPr>
          <p:cNvSpPr txBox="1"/>
          <p:nvPr/>
        </p:nvSpPr>
        <p:spPr>
          <a:xfrm>
            <a:off x="1431582" y="1492467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Realguard Runtime Performance</a:t>
            </a:r>
            <a:endParaRPr lang="en-JP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7FAAB-8D65-F5BB-B997-A925F9E9C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83" y="2085203"/>
            <a:ext cx="5486399" cy="1649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52FA0B-87BC-2801-52F6-5F216E2E5ACC}"/>
              </a:ext>
            </a:extLst>
          </p:cNvPr>
          <p:cNvSpPr txBox="1"/>
          <p:nvPr/>
        </p:nvSpPr>
        <p:spPr>
          <a:xfrm>
            <a:off x="1664566" y="4020054"/>
            <a:ext cx="548640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Realguard:</a:t>
            </a:r>
            <a:endParaRPr lang="en-US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6,000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88,200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Kitsune [23]:</a:t>
            </a:r>
            <a:endParaRPr lang="en-US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1,100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5.5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倍遅い！）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37,300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2.4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倍遅い！）</a:t>
            </a:r>
          </a:p>
          <a:p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Ahmim et al. [24]:</a:t>
            </a:r>
            <a:endParaRPr lang="en-US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200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30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倍遅い！）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17,600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倍遅い！）</a:t>
            </a:r>
          </a:p>
        </p:txBody>
      </p:sp>
      <p:sp>
        <p:nvSpPr>
          <p:cNvPr id="9" name="角丸四角形吹き出し 83">
            <a:extLst>
              <a:ext uri="{FF2B5EF4-FFF2-40B4-BE49-F238E27FC236}">
                <a16:creationId xmlns:a16="http://schemas.microsoft.com/office/drawing/2014/main" id="{17B23630-1A8A-70A4-ADBB-242E96BAB439}"/>
              </a:ext>
            </a:extLst>
          </p:cNvPr>
          <p:cNvSpPr/>
          <p:nvPr/>
        </p:nvSpPr>
        <p:spPr>
          <a:xfrm>
            <a:off x="6259830" y="3853343"/>
            <a:ext cx="3220892" cy="2105704"/>
          </a:xfrm>
          <a:prstGeom prst="cloudCallout">
            <a:avLst>
              <a:gd name="adj1" fmla="val -75102"/>
              <a:gd name="adj2" fmla="val -36514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500" dirty="0">
                <a:solidFill>
                  <a:schemeClr val="tx1"/>
                </a:solidFill>
              </a:rPr>
              <a:t>ポイント:</a:t>
            </a:r>
          </a:p>
          <a:p>
            <a:r>
              <a:rPr lang="en-US" sz="1500" dirty="0">
                <a:solidFill>
                  <a:schemeClr val="tx1"/>
                </a:solidFill>
              </a:rPr>
              <a:t>Realguard </a:t>
            </a:r>
            <a:r>
              <a:rPr lang="ja-JP" altLang="en-US" sz="1500">
                <a:solidFill>
                  <a:schemeClr val="tx1"/>
                </a:solidFill>
              </a:rPr>
              <a:t>は </a:t>
            </a:r>
            <a:r>
              <a:rPr lang="en-US" sz="1500" dirty="0">
                <a:solidFill>
                  <a:schemeClr val="tx1"/>
                </a:solidFill>
              </a:rPr>
              <a:t>Raspberry Pi </a:t>
            </a:r>
            <a:r>
              <a:rPr lang="ja-JP" altLang="en-US" sz="1500">
                <a:solidFill>
                  <a:schemeClr val="tx1"/>
                </a:solidFill>
              </a:rPr>
              <a:t>上で </a:t>
            </a:r>
            <a:r>
              <a:rPr lang="en-US" altLang="ja-JP" sz="1500" dirty="0">
                <a:solidFill>
                  <a:schemeClr val="tx1"/>
                </a:solidFill>
              </a:rPr>
              <a:t>2</a:t>
            </a:r>
            <a:r>
              <a:rPr lang="ja-JP" altLang="en-US" sz="1500">
                <a:solidFill>
                  <a:schemeClr val="tx1"/>
                </a:solidFill>
              </a:rPr>
              <a:t>倍高速に動作する</a:t>
            </a:r>
            <a:r>
              <a:rPr lang="en-JP" sz="1500" dirty="0">
                <a:solidFill>
                  <a:schemeClr val="tx1"/>
                </a:solidFill>
              </a:rPr>
              <a:t>）。</a:t>
            </a:r>
          </a:p>
          <a:p>
            <a:endParaRPr lang="en-JP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53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 fontScale="92500" lnSpcReduction="10000"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  <a:endParaRPr lang="en-US" altLang="ja-JP" sz="3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ja-JP" altLang="en-US" sz="300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160016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35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248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F2BBB-61F2-6993-718F-79ECD003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36</a:t>
            </a:fld>
            <a:endParaRPr lang="en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34A01-6E27-4B01-02EF-09E00C4BB20D}"/>
              </a:ext>
            </a:extLst>
          </p:cNvPr>
          <p:cNvSpPr txBox="1"/>
          <p:nvPr/>
        </p:nvSpPr>
        <p:spPr>
          <a:xfrm>
            <a:off x="4257697" y="982795"/>
            <a:ext cx="5488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まとめ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89193-9AF9-9375-AC98-2A93482CF325}"/>
              </a:ext>
            </a:extLst>
          </p:cNvPr>
          <p:cNvSpPr txBox="1"/>
          <p:nvPr/>
        </p:nvSpPr>
        <p:spPr>
          <a:xfrm>
            <a:off x="529795" y="2270019"/>
            <a:ext cx="9913209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ゲートウェイ向けに 軽量・高精度・リアルタイム な攻撃検知を実現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ベースのモデルにより 攻撃の種類まで特定可能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実験結果で 処理速度、精度、リソース消費量 が競合システムより優れていることを確認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実践的な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環境でも 安全性向上に貢献できる</a:t>
            </a:r>
          </a:p>
          <a:p>
            <a:endParaRPr lang="en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1356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401253"/>
            <a:ext cx="9464040" cy="3916205"/>
          </a:xfrm>
        </p:spPr>
        <p:txBody>
          <a:bodyPr>
            <a:normAutofit fontScale="92500" lnSpcReduction="10000"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 dirty="0">
                <a:latin typeface="Meiryo UI" panose="020B0604030504040204" pitchFamily="50" charset="-128"/>
                <a:ea typeface="Meiryo UI" panose="020B0604030504040204" pitchFamily="50" charset="-128"/>
              </a:rPr>
              <a:t>研究背景・目的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評価結果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>
              <a:solidFill>
                <a:srgbClr val="FF0000"/>
              </a:solidFill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37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BAF54-9447-E98E-DFDB-BA7AB71F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256" y="1086660"/>
            <a:ext cx="669878" cy="71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20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6910D3-3090-2BBB-D153-8944E39E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373" y="2514045"/>
            <a:ext cx="1118180" cy="1729833"/>
          </a:xfrm>
          <a:prstGeom prst="rect">
            <a:avLst/>
          </a:prstGeom>
        </p:spPr>
      </p:pic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BE439358-D81D-75A7-8A1E-C4D6799A7ABD}"/>
              </a:ext>
            </a:extLst>
          </p:cNvPr>
          <p:cNvSpPr/>
          <p:nvPr/>
        </p:nvSpPr>
        <p:spPr>
          <a:xfrm>
            <a:off x="1190526" y="3776485"/>
            <a:ext cx="1507771" cy="157682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D4093D-AE87-3993-FD2B-5CB283B08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609" y="1119508"/>
            <a:ext cx="912954" cy="572387"/>
          </a:xfrm>
          <a:prstGeom prst="rect">
            <a:avLst/>
          </a:prstGeom>
        </p:spPr>
      </p:pic>
      <p:sp>
        <p:nvSpPr>
          <p:cNvPr id="46" name="Bent Arrow 45">
            <a:extLst>
              <a:ext uri="{FF2B5EF4-FFF2-40B4-BE49-F238E27FC236}">
                <a16:creationId xmlns:a16="http://schemas.microsoft.com/office/drawing/2014/main" id="{7C11349D-3AF5-ECB8-5C22-074F0C9F2A25}"/>
              </a:ext>
            </a:extLst>
          </p:cNvPr>
          <p:cNvSpPr/>
          <p:nvPr/>
        </p:nvSpPr>
        <p:spPr>
          <a:xfrm rot="10800000">
            <a:off x="7070884" y="3987360"/>
            <a:ext cx="1979809" cy="226432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 dirty="0">
              <a:solidFill>
                <a:schemeClr val="tx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42EC0E-823D-0539-252E-FE3698B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74" y="1894310"/>
            <a:ext cx="985777" cy="113136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FC1EF38-B3C8-4959-0A80-3741677F9330}"/>
              </a:ext>
            </a:extLst>
          </p:cNvPr>
          <p:cNvSpPr txBox="1"/>
          <p:nvPr/>
        </p:nvSpPr>
        <p:spPr>
          <a:xfrm>
            <a:off x="8218886" y="3037684"/>
            <a:ext cx="96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1A47444E-9524-0334-8B6D-33B2E0A4D864}"/>
              </a:ext>
            </a:extLst>
          </p:cNvPr>
          <p:cNvSpPr/>
          <p:nvPr/>
        </p:nvSpPr>
        <p:spPr>
          <a:xfrm>
            <a:off x="7158401" y="3433416"/>
            <a:ext cx="1226559" cy="153114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FD3722-4FB7-9603-24F0-072A9421029B}"/>
              </a:ext>
            </a:extLst>
          </p:cNvPr>
          <p:cNvSpPr txBox="1"/>
          <p:nvPr/>
        </p:nvSpPr>
        <p:spPr>
          <a:xfrm>
            <a:off x="7083272" y="3674404"/>
            <a:ext cx="1509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Dos/Scan/Flood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7F1857C-32CF-5FC8-AB7D-D96FFB8BE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5" y="1171825"/>
            <a:ext cx="1227926" cy="634365"/>
          </a:xfrm>
          <a:prstGeom prst="rect">
            <a:avLst/>
          </a:prstGeom>
        </p:spPr>
      </p:pic>
      <p:sp>
        <p:nvSpPr>
          <p:cNvPr id="55" name="Bent Arrow 54">
            <a:extLst>
              <a:ext uri="{FF2B5EF4-FFF2-40B4-BE49-F238E27FC236}">
                <a16:creationId xmlns:a16="http://schemas.microsoft.com/office/drawing/2014/main" id="{71DCE43E-E4DC-DB63-1CE8-D0A7F2FC1E6E}"/>
              </a:ext>
            </a:extLst>
          </p:cNvPr>
          <p:cNvSpPr/>
          <p:nvPr/>
        </p:nvSpPr>
        <p:spPr>
          <a:xfrm flipV="1">
            <a:off x="895072" y="5577281"/>
            <a:ext cx="1507771" cy="320748"/>
          </a:xfrm>
          <a:prstGeom prst="ben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1AB5D9-182E-25DA-5AF2-2607A252597A}"/>
              </a:ext>
            </a:extLst>
          </p:cNvPr>
          <p:cNvSpPr txBox="1"/>
          <p:nvPr/>
        </p:nvSpPr>
        <p:spPr>
          <a:xfrm>
            <a:off x="803921" y="5914945"/>
            <a:ext cx="190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Enctypted Traffic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88AA2-713E-292F-37BC-DEFDFA0B5F38}"/>
              </a:ext>
            </a:extLst>
          </p:cNvPr>
          <p:cNvSpPr txBox="1"/>
          <p:nvPr/>
        </p:nvSpPr>
        <p:spPr>
          <a:xfrm>
            <a:off x="7161974" y="4370958"/>
            <a:ext cx="3034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Malicious Traffic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43E0002-502B-4332-50FE-25EC941789E1}"/>
              </a:ext>
            </a:extLst>
          </p:cNvPr>
          <p:cNvCxnSpPr>
            <a:cxnSpLocks/>
          </p:cNvCxnSpPr>
          <p:nvPr/>
        </p:nvCxnSpPr>
        <p:spPr>
          <a:xfrm flipH="1">
            <a:off x="1625279" y="1489008"/>
            <a:ext cx="777564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5C0994D-DE4E-C824-2D4D-04EA154EC4AF}"/>
              </a:ext>
            </a:extLst>
          </p:cNvPr>
          <p:cNvSpPr txBox="1"/>
          <p:nvPr/>
        </p:nvSpPr>
        <p:spPr>
          <a:xfrm>
            <a:off x="88688" y="5014825"/>
            <a:ext cx="5711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ncrypte communication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04446D-2D8F-4558-50FC-7D796330FFCD}"/>
              </a:ext>
            </a:extLst>
          </p:cNvPr>
          <p:cNvSpPr/>
          <p:nvPr/>
        </p:nvSpPr>
        <p:spPr>
          <a:xfrm>
            <a:off x="2809031" y="1749261"/>
            <a:ext cx="4163507" cy="5014419"/>
          </a:xfrm>
          <a:prstGeom prst="rec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sz="162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15823733-1759-595E-061D-867B43F90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383" y="2944014"/>
            <a:ext cx="850717" cy="99528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AB59F2A-2C15-6B64-879F-0962A6524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9659" y="2006393"/>
            <a:ext cx="1108710" cy="596279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D6B0973-C973-C2DB-2360-734D9A600D13}"/>
              </a:ext>
            </a:extLst>
          </p:cNvPr>
          <p:cNvCxnSpPr>
            <a:cxnSpLocks/>
          </p:cNvCxnSpPr>
          <p:nvPr/>
        </p:nvCxnSpPr>
        <p:spPr>
          <a:xfrm flipV="1">
            <a:off x="4817774" y="2423148"/>
            <a:ext cx="0" cy="40964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29D365C1-027F-8B86-7EDD-104EF734B89C}"/>
              </a:ext>
            </a:extLst>
          </p:cNvPr>
          <p:cNvSpPr/>
          <p:nvPr/>
        </p:nvSpPr>
        <p:spPr>
          <a:xfrm>
            <a:off x="3305324" y="3044941"/>
            <a:ext cx="1283596" cy="4937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20" dirty="0"/>
              <a:t>IoT </a:t>
            </a:r>
            <a:r>
              <a:rPr lang="mn-MN" sz="1620" dirty="0"/>
              <a:t>G</a:t>
            </a:r>
            <a:r>
              <a:rPr lang="en-US" sz="1620" dirty="0"/>
              <a:t>ateway</a:t>
            </a:r>
            <a:endParaRPr lang="en-JP" sz="162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DBDA-8FA8-D6BB-1EC1-433FB61C2A89}"/>
              </a:ext>
            </a:extLst>
          </p:cNvPr>
          <p:cNvSpPr txBox="1"/>
          <p:nvPr/>
        </p:nvSpPr>
        <p:spPr>
          <a:xfrm>
            <a:off x="5856597" y="2590277"/>
            <a:ext cx="168542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80" dirty="0"/>
              <a:t>A</a:t>
            </a:r>
            <a:r>
              <a:rPr lang="en-JP" sz="1080" dirty="0"/>
              <a:t>ttack detected </a:t>
            </a:r>
          </a:p>
          <a:p>
            <a:r>
              <a:rPr lang="en-JP" sz="1080" dirty="0"/>
              <a:t>      blocked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522D428-DA88-8105-A9FD-3F9A961CEE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763" y="2094602"/>
            <a:ext cx="501412" cy="37506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487F1D6-DB80-2319-057B-590470F5B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3197" y="3037116"/>
            <a:ext cx="408366" cy="52994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43C226B-965D-EC73-25B8-EB65EC9BD1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8528" y="5352446"/>
            <a:ext cx="3657353" cy="136894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51B34E5-387C-D7B0-D5C6-7EDF595166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3872" y="5566794"/>
            <a:ext cx="354330" cy="51435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69842F5-839E-4CCB-3E53-49919684E3D9}"/>
              </a:ext>
            </a:extLst>
          </p:cNvPr>
          <p:cNvSpPr txBox="1"/>
          <p:nvPr/>
        </p:nvSpPr>
        <p:spPr>
          <a:xfrm>
            <a:off x="4204580" y="1986505"/>
            <a:ext cx="130670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620" dirty="0"/>
              <a:t>Home Router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06830F6-9980-48BA-FE75-6E6228A9C36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301563" y="1405701"/>
            <a:ext cx="282483" cy="337665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6D4E73D-98FD-997D-C073-2B686C7D397A}"/>
              </a:ext>
            </a:extLst>
          </p:cNvPr>
          <p:cNvSpPr txBox="1"/>
          <p:nvPr/>
        </p:nvSpPr>
        <p:spPr>
          <a:xfrm>
            <a:off x="3097380" y="5086545"/>
            <a:ext cx="608792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IoT Device</a:t>
            </a:r>
            <a:endParaRPr lang="en-JP" sz="1620" dirty="0"/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971EB2E9-2C75-2F34-CB92-92682BE3D27D}"/>
              </a:ext>
            </a:extLst>
          </p:cNvPr>
          <p:cNvSpPr/>
          <p:nvPr/>
        </p:nvSpPr>
        <p:spPr>
          <a:xfrm rot="5400000">
            <a:off x="3624595" y="3850141"/>
            <a:ext cx="539568" cy="10548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C00CE-E3E9-31F5-6F0C-1CDF6E769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0054" y="2772853"/>
            <a:ext cx="919061" cy="84403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5601E7-4251-F033-BCF1-09C9B2A2B194}"/>
              </a:ext>
            </a:extLst>
          </p:cNvPr>
          <p:cNvSpPr/>
          <p:nvPr/>
        </p:nvSpPr>
        <p:spPr>
          <a:xfrm>
            <a:off x="4783303" y="3728717"/>
            <a:ext cx="1675614" cy="32339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20" dirty="0"/>
              <a:t>ML-Based IDS</a:t>
            </a:r>
            <a:endParaRPr lang="en-JP" sz="16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4EF8-CD42-CA7E-BA41-374A8A72BB84}"/>
              </a:ext>
            </a:extLst>
          </p:cNvPr>
          <p:cNvSpPr txBox="1"/>
          <p:nvPr/>
        </p:nvSpPr>
        <p:spPr>
          <a:xfrm>
            <a:off x="2230765" y="4860523"/>
            <a:ext cx="674427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20" dirty="0"/>
              <a:t>CoAP+DTLS</a:t>
            </a:r>
          </a:p>
          <a:p>
            <a:pPr algn="ctr"/>
            <a:r>
              <a:rPr lang="en-US" sz="1620" dirty="0"/>
              <a:t>Encrypted Traffic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E8DE3B-2133-4077-78FB-2AED9F854DA6}"/>
              </a:ext>
            </a:extLst>
          </p:cNvPr>
          <p:cNvSpPr/>
          <p:nvPr/>
        </p:nvSpPr>
        <p:spPr>
          <a:xfrm>
            <a:off x="4634335" y="4202682"/>
            <a:ext cx="2034095" cy="43371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Monitoring before encryption</a:t>
            </a:r>
            <a:endParaRPr lang="en-JP" sz="1600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F987DCA4-F04F-CCF6-E614-BE4CE0D434DC}"/>
              </a:ext>
            </a:extLst>
          </p:cNvPr>
          <p:cNvSpPr/>
          <p:nvPr/>
        </p:nvSpPr>
        <p:spPr>
          <a:xfrm rot="5400000">
            <a:off x="5478255" y="4773490"/>
            <a:ext cx="244562" cy="41147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87074D-85F1-26FD-4405-B5FC9E741F05}"/>
              </a:ext>
            </a:extLst>
          </p:cNvPr>
          <p:cNvCxnSpPr>
            <a:cxnSpLocks/>
          </p:cNvCxnSpPr>
          <p:nvPr/>
        </p:nvCxnSpPr>
        <p:spPr>
          <a:xfrm>
            <a:off x="4689703" y="3374771"/>
            <a:ext cx="236243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7472E4-6484-F57A-1DEB-1194E83964DA}"/>
              </a:ext>
            </a:extLst>
          </p:cNvPr>
          <p:cNvSpPr txBox="1"/>
          <p:nvPr/>
        </p:nvSpPr>
        <p:spPr>
          <a:xfrm>
            <a:off x="1273508" y="3362422"/>
            <a:ext cx="137672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traffic</a:t>
            </a:r>
            <a:endParaRPr lang="en-JP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3528C9-DEBB-8727-73CE-904925C67FB3}"/>
              </a:ext>
            </a:extLst>
          </p:cNvPr>
          <p:cNvCxnSpPr/>
          <p:nvPr/>
        </p:nvCxnSpPr>
        <p:spPr>
          <a:xfrm>
            <a:off x="2815263" y="4750194"/>
            <a:ext cx="4163507" cy="19903"/>
          </a:xfrm>
          <a:prstGeom prst="line">
            <a:avLst/>
          </a:prstGeom>
          <a:ln w="38100">
            <a:solidFill>
              <a:schemeClr val="tx1">
                <a:alpha val="7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178E61-EE0F-A76D-BCCD-626F4CB026C1}"/>
              </a:ext>
            </a:extLst>
          </p:cNvPr>
          <p:cNvSpPr txBox="1"/>
          <p:nvPr/>
        </p:nvSpPr>
        <p:spPr>
          <a:xfrm>
            <a:off x="177832" y="63398"/>
            <a:ext cx="5839096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28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2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2/1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CDADB-5F2C-6703-6486-762FC8643FD1}"/>
              </a:ext>
            </a:extLst>
          </p:cNvPr>
          <p:cNvSpPr txBox="1"/>
          <p:nvPr/>
        </p:nvSpPr>
        <p:spPr>
          <a:xfrm>
            <a:off x="265220" y="720531"/>
            <a:ext cx="7572585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テーマ：Machine Learning-based IDS for Coap -DTLS </a:t>
            </a:r>
          </a:p>
          <a:p>
            <a:br>
              <a:rPr lang="en-US" sz="2000" b="1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endParaRPr lang="en-JP" sz="2000" b="1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F7A396-1E58-5A82-461A-41D431FA986F}"/>
              </a:ext>
            </a:extLst>
          </p:cNvPr>
          <p:cNvSpPr txBox="1"/>
          <p:nvPr/>
        </p:nvSpPr>
        <p:spPr>
          <a:xfrm>
            <a:off x="2845086" y="7248959"/>
            <a:ext cx="5512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システムの構成図 </a:t>
            </a:r>
            <a:r>
              <a:rPr lang="en-US" altLang="ja-JP" sz="18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altLang="ja-JP" sz="1800" dirty="0">
                <a:solidFill>
                  <a:srgbClr val="222222"/>
                </a:solidFill>
                <a:latin typeface="Arial" panose="020B0604020202020204" pitchFamily="34" charset="0"/>
              </a:rPr>
              <a:t>DTLS+CoAP+IDS)</a:t>
            </a:r>
            <a:endParaRPr lang="en-JP" sz="1800" dirty="0"/>
          </a:p>
        </p:txBody>
      </p:sp>
    </p:spTree>
    <p:extLst>
      <p:ext uri="{BB962C8B-B14F-4D97-AF65-F5344CB8AC3E}">
        <p14:creationId xmlns:p14="http://schemas.microsoft.com/office/powerpoint/2010/main" val="106557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BB812-F4FF-1210-4CC8-66B09E60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39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A0AC0-8629-2E88-66F5-EEBD9FADDB71}"/>
              </a:ext>
            </a:extLst>
          </p:cNvPr>
          <p:cNvSpPr txBox="1"/>
          <p:nvPr/>
        </p:nvSpPr>
        <p:spPr>
          <a:xfrm>
            <a:off x="504860" y="0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32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</a:t>
            </a:r>
            <a:r>
              <a:rPr lang="mn-MN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D4A48-514F-264F-18B8-27E75A408AC2}"/>
              </a:ext>
            </a:extLst>
          </p:cNvPr>
          <p:cNvSpPr txBox="1"/>
          <p:nvPr/>
        </p:nvSpPr>
        <p:spPr>
          <a:xfrm>
            <a:off x="754513" y="854756"/>
            <a:ext cx="802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solidFill>
                  <a:srgbClr val="990000"/>
                </a:solidFill>
                <a:latin typeface="Arial" panose="020B0604020202020204" pitchFamily="34" charset="0"/>
              </a:rPr>
              <a:t>テーマ：Machine Learning-based IDS for Coap -DTLS </a:t>
            </a:r>
            <a:endParaRPr lang="en-JP" sz="2400" dirty="0"/>
          </a:p>
        </p:txBody>
      </p:sp>
    </p:spTree>
    <p:extLst>
      <p:ext uri="{BB962C8B-B14F-4D97-AF65-F5344CB8AC3E}">
        <p14:creationId xmlns:p14="http://schemas.microsoft.com/office/powerpoint/2010/main" val="1370784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0318CA3-DF71-2DFE-B028-3D1A36FA480C}"/>
              </a:ext>
            </a:extLst>
          </p:cNvPr>
          <p:cNvSpPr txBox="1"/>
          <p:nvPr/>
        </p:nvSpPr>
        <p:spPr>
          <a:xfrm>
            <a:off x="3757264" y="1182475"/>
            <a:ext cx="6237434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4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Algorithm1 Update </a:t>
            </a:r>
            <a:endParaRPr lang="mn-MN" altLang="ja-JP" sz="1944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9D2D6E5-468A-07E3-2428-347F75D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40</a:t>
            </a:fld>
            <a:endParaRPr lang="en-JP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7B9086-4B32-B28F-C8E0-84F259B045F0}"/>
              </a:ext>
            </a:extLst>
          </p:cNvPr>
          <p:cNvCxnSpPr>
            <a:cxnSpLocks/>
          </p:cNvCxnSpPr>
          <p:nvPr/>
        </p:nvCxnSpPr>
        <p:spPr>
          <a:xfrm>
            <a:off x="5118259" y="1676896"/>
            <a:ext cx="101441" cy="5524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C16A7DA-7233-5695-C51A-3583072A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51" y="1648447"/>
            <a:ext cx="4173379" cy="23400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0655B4-3E91-7693-B223-384F6B6097FF}"/>
              </a:ext>
            </a:extLst>
          </p:cNvPr>
          <p:cNvSpPr txBox="1"/>
          <p:nvPr/>
        </p:nvSpPr>
        <p:spPr>
          <a:xfrm>
            <a:off x="5682137" y="4293315"/>
            <a:ext cx="438912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DDoS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攻撃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数秒で大量のパケット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  → アルゴリズム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は即座に検知</a:t>
            </a:r>
            <a:endParaRPr lang="mn-MN" altLang="ja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通常トラフィック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徐々に到着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  → 古い情報は忘れられる</a:t>
            </a:r>
            <a:endParaRPr lang="mn-MN" altLang="ja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最新の異常のみが検出される</a:t>
            </a:r>
            <a:endParaRPr lang="en-JP" sz="135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D5F630-5006-0AE1-43D2-F84F509C3E06}"/>
              </a:ext>
            </a:extLst>
          </p:cNvPr>
          <p:cNvCxnSpPr>
            <a:cxnSpLocks/>
          </p:cNvCxnSpPr>
          <p:nvPr/>
        </p:nvCxnSpPr>
        <p:spPr>
          <a:xfrm flipV="1">
            <a:off x="5176837" y="3963718"/>
            <a:ext cx="5795963" cy="491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CB9488-2F44-645E-E1C9-CB7A496FA0BF}"/>
              </a:ext>
            </a:extLst>
          </p:cNvPr>
          <p:cNvCxnSpPr>
            <a:cxnSpLocks/>
          </p:cNvCxnSpPr>
          <p:nvPr/>
        </p:nvCxnSpPr>
        <p:spPr>
          <a:xfrm flipH="1">
            <a:off x="0" y="4343687"/>
            <a:ext cx="51768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B99D5DB-0847-D4D6-9864-A8F397FE27C2}"/>
              </a:ext>
            </a:extLst>
          </p:cNvPr>
          <p:cNvSpPr txBox="1"/>
          <p:nvPr/>
        </p:nvSpPr>
        <p:spPr>
          <a:xfrm>
            <a:off x="266702" y="4343687"/>
            <a:ext cx="50239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step3: IVᵢ,</a:t>
            </a:r>
            <a:r>
              <a:rPr lang="el-GR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α ← (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w+1, LSI+xc, SSI+xc², SRᵢⱼ+rᵢrⱼ, tc)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新しいパケットの情報を加える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新しいパケット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xc = 512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バイト（新しいパケットのサイズ）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rᵢ = 10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秒（速度）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rⱼ = 8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更新後の値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w = 90 + 1 = 91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（パケット数が増加）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LSI = 4500 + 512 = 5012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（総サイズが増加）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SSI = 22500 + 512² = 22500 + 262144 = 284644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SRᵢⱼ = 1080 + (10×8) = 1080 + 80 = 1160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10:00:05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（現在時刻）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10F3E-0FC6-1C0B-2F76-8CEE24FF194B}"/>
              </a:ext>
            </a:extLst>
          </p:cNvPr>
          <p:cNvSpPr txBox="1"/>
          <p:nvPr/>
        </p:nvSpPr>
        <p:spPr>
          <a:xfrm>
            <a:off x="266702" y="1529121"/>
            <a:ext cx="4598907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b="1" dirty="0"/>
              <a:t>Step2:</a:t>
            </a:r>
            <a:r>
              <a:rPr lang="ja-JP" altLang="en-US" sz="1350"/>
              <a:t> </a:t>
            </a:r>
            <a:r>
              <a:rPr lang="en-US" sz="1350" dirty="0"/>
              <a:t>IVᵢ,</a:t>
            </a:r>
            <a:r>
              <a:rPr lang="el-GR" sz="1350" dirty="0"/>
              <a:t>α ← (δ</a:t>
            </a:r>
            <a:r>
              <a:rPr lang="en-US" sz="1350" dirty="0"/>
              <a:t>w, </a:t>
            </a:r>
            <a:r>
              <a:rPr lang="el-GR" sz="1350" dirty="0"/>
              <a:t>δ</a:t>
            </a:r>
            <a:r>
              <a:rPr lang="en-US" sz="1350" dirty="0"/>
              <a:t>LSI, </a:t>
            </a:r>
            <a:r>
              <a:rPr lang="el-GR" sz="1350" dirty="0"/>
              <a:t>δ</a:t>
            </a:r>
            <a:r>
              <a:rPr lang="en-US" sz="1350" dirty="0"/>
              <a:t>SSI, </a:t>
            </a:r>
            <a:r>
              <a:rPr lang="el-GR" sz="1350" dirty="0"/>
              <a:t>δ</a:t>
            </a:r>
            <a:r>
              <a:rPr lang="en-US" sz="1350" dirty="0"/>
              <a:t>SRᵢⱼ, tc)</a:t>
            </a:r>
            <a:br>
              <a:rPr lang="en-US" sz="1350" dirty="0"/>
            </a:br>
            <a:r>
              <a:rPr lang="ja-JP" altLang="en-US" sz="1350"/>
              <a:t>古い情報に </a:t>
            </a:r>
            <a:r>
              <a:rPr lang="el-GR" sz="1350" dirty="0"/>
              <a:t>δ </a:t>
            </a:r>
            <a:r>
              <a:rPr lang="ja-JP" altLang="en-US" sz="1350"/>
              <a:t>を掛けて重みを減少させる</a:t>
            </a:r>
          </a:p>
          <a:p>
            <a:r>
              <a:rPr lang="ja-JP" altLang="en-US" sz="1350"/>
              <a:t>以前の </a:t>
            </a:r>
            <a:r>
              <a:rPr lang="en-US" sz="1350" dirty="0"/>
              <a:t>IVᵢ, </a:t>
            </a:r>
            <a:r>
              <a:rPr lang="el-GR" sz="1350" dirty="0"/>
              <a:t>α:</a:t>
            </a:r>
            <a:r>
              <a:rPr lang="en-US" sz="1350" dirty="0"/>
              <a:t>    </a:t>
            </a:r>
            <a:r>
              <a:rPr lang="ja-JP" altLang="en-US" sz="1350"/>
              <a:t>減衰係数</a:t>
            </a:r>
            <a:r>
              <a:rPr lang="en-US" altLang="ja-JP" sz="1350" dirty="0"/>
              <a:t>:</a:t>
            </a:r>
            <a:r>
              <a:rPr lang="ja-JP" altLang="en-US" sz="1350"/>
              <a:t> </a:t>
            </a:r>
            <a:r>
              <a:rPr lang="el-GR" sz="1350" dirty="0"/>
              <a:t>δ = 0.9（1</a:t>
            </a:r>
            <a:r>
              <a:rPr lang="ja-JP" altLang="en-US" sz="1350"/>
              <a:t>秒経過）</a:t>
            </a:r>
            <a:endParaRPr lang="el-GR" sz="13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w = 100　（</a:t>
            </a:r>
            <a:r>
              <a:rPr lang="ja-JP" altLang="en-US" sz="1350"/>
              <a:t>総パケット数）</a:t>
            </a:r>
            <a:r>
              <a:rPr lang="en-US" sz="1350" dirty="0"/>
              <a:t> w = 0.9 × 100 = 90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LSI = 5000　（</a:t>
            </a:r>
            <a:r>
              <a:rPr lang="ja-JP" altLang="en-US" sz="1350"/>
              <a:t>総サイズ）</a:t>
            </a:r>
            <a:r>
              <a:rPr lang="en-US" altLang="ja-JP" sz="1350" dirty="0"/>
              <a:t> </a:t>
            </a:r>
            <a:r>
              <a:rPr lang="en-US" sz="1350" dirty="0"/>
              <a:t>LSI = 0.9 × 5000 = 4500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SSI = 25000　（</a:t>
            </a:r>
            <a:r>
              <a:rPr lang="ja-JP" altLang="en-US" sz="1350"/>
              <a:t>二乗和）</a:t>
            </a:r>
            <a:r>
              <a:rPr lang="en-US" altLang="ja-JP" sz="1350" dirty="0"/>
              <a:t>   </a:t>
            </a:r>
            <a:r>
              <a:rPr lang="en-US" sz="1350" dirty="0"/>
              <a:t> 0.9 × 1200 = 1080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SRᵢⱼ = 1200　（</a:t>
            </a:r>
            <a:r>
              <a:rPr lang="ja-JP" altLang="en-US" sz="1350"/>
              <a:t>速度の相関）</a:t>
            </a:r>
            <a:r>
              <a:rPr lang="en-US" sz="1350" dirty="0"/>
              <a:t>0.9 × 1200 = 1080</a:t>
            </a:r>
            <a:endParaRPr lang="mn-MN" sz="1350" dirty="0"/>
          </a:p>
          <a:p>
            <a:br>
              <a:rPr lang="ja-JP" altLang="en-US" sz="1350"/>
            </a:br>
            <a:r>
              <a:rPr lang="ja-JP" altLang="en-US" sz="1350"/>
              <a:t>以前</a:t>
            </a:r>
            <a:r>
              <a:rPr lang="en-US" altLang="ja-JP" sz="1350" dirty="0"/>
              <a:t>: </a:t>
            </a:r>
            <a:r>
              <a:rPr lang="ja-JP" altLang="en-US" sz="1350"/>
              <a:t>「</a:t>
            </a:r>
            <a:r>
              <a:rPr lang="en-US" altLang="ja-JP" sz="1350" dirty="0"/>
              <a:t>100</a:t>
            </a:r>
            <a:r>
              <a:rPr lang="ja-JP" altLang="en-US" sz="1350"/>
              <a:t>個のパケットを観測した」</a:t>
            </a:r>
            <a:br>
              <a:rPr lang="ja-JP" altLang="en-US" sz="1350"/>
            </a:br>
            <a:r>
              <a:rPr lang="ja-JP" altLang="en-US" sz="1350"/>
              <a:t>現在</a:t>
            </a:r>
            <a:r>
              <a:rPr lang="en-US" altLang="ja-JP" sz="1350" dirty="0"/>
              <a:t>: </a:t>
            </a:r>
            <a:r>
              <a:rPr lang="ja-JP" altLang="en-US" sz="1350"/>
              <a:t>「</a:t>
            </a:r>
            <a:r>
              <a:rPr lang="en-US" altLang="ja-JP" sz="1350" dirty="0"/>
              <a:t>90</a:t>
            </a:r>
            <a:r>
              <a:rPr lang="ja-JP" altLang="en-US" sz="1350"/>
              <a:t>個のパケットを覚えていて、</a:t>
            </a:r>
            <a:r>
              <a:rPr lang="en-US" altLang="ja-JP" sz="1350" dirty="0"/>
              <a:t>10</a:t>
            </a:r>
            <a:r>
              <a:rPr lang="ja-JP" altLang="en-US" sz="1350"/>
              <a:t>個のパケットは忘れた」</a:t>
            </a:r>
          </a:p>
        </p:txBody>
      </p:sp>
    </p:spTree>
    <p:extLst>
      <p:ext uri="{BB962C8B-B14F-4D97-AF65-F5344CB8AC3E}">
        <p14:creationId xmlns:p14="http://schemas.microsoft.com/office/powerpoint/2010/main" val="4191796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0318CA3-DF71-2DFE-B028-3D1A36FA480C}"/>
              </a:ext>
            </a:extLst>
          </p:cNvPr>
          <p:cNvSpPr txBox="1"/>
          <p:nvPr/>
        </p:nvSpPr>
        <p:spPr>
          <a:xfrm>
            <a:off x="3757264" y="1182475"/>
            <a:ext cx="6237434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4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Algorithm1 Update </a:t>
            </a:r>
            <a:endParaRPr lang="mn-MN" altLang="ja-JP" sz="1944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9D2D6E5-468A-07E3-2428-347F75D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41</a:t>
            </a:fld>
            <a:endParaRPr lang="en-JP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7B9086-4B32-B28F-C8E0-84F259B045F0}"/>
              </a:ext>
            </a:extLst>
          </p:cNvPr>
          <p:cNvCxnSpPr>
            <a:cxnSpLocks/>
          </p:cNvCxnSpPr>
          <p:nvPr/>
        </p:nvCxnSpPr>
        <p:spPr>
          <a:xfrm>
            <a:off x="5118259" y="1676896"/>
            <a:ext cx="101441" cy="5524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C16A7DA-7233-5695-C51A-3583072A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51" y="1648447"/>
            <a:ext cx="4173379" cy="2340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43AA2-3344-2A25-85A9-D229F3EA2237}"/>
              </a:ext>
            </a:extLst>
          </p:cNvPr>
          <p:cNvSpPr txBox="1"/>
          <p:nvPr/>
        </p:nvSpPr>
        <p:spPr>
          <a:xfrm>
            <a:off x="894039" y="1750685"/>
            <a:ext cx="258901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/>
              <a:t>….の朝ごはん、覚えていますか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511BA-8D0B-5EF7-65F3-87A9271F97E5}"/>
              </a:ext>
            </a:extLst>
          </p:cNvPr>
          <p:cNvSpPr txBox="1"/>
          <p:nvPr/>
        </p:nvSpPr>
        <p:spPr>
          <a:xfrm>
            <a:off x="887256" y="2190276"/>
            <a:ext cx="2381249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/>
              <a:t>1分 → 100％ 覚えている </a:t>
            </a:r>
          </a:p>
          <a:p>
            <a:r>
              <a:rPr lang="en-JP" sz="1350" dirty="0"/>
              <a:t>1時間 → 80％ 覚えている </a:t>
            </a:r>
          </a:p>
          <a:p>
            <a:r>
              <a:rPr lang="en-JP" sz="1350" dirty="0"/>
              <a:t>1日 → 30％ 覚えている </a:t>
            </a:r>
          </a:p>
          <a:p>
            <a:r>
              <a:rPr lang="en-JP" sz="1350" dirty="0"/>
              <a:t>1か月 → 5％ ほぼ忘れる </a:t>
            </a:r>
          </a:p>
          <a:p>
            <a:endParaRPr lang="en-JP" sz="1350" dirty="0"/>
          </a:p>
          <a:p>
            <a:r>
              <a:rPr lang="en-JP" sz="1350" dirty="0"/>
              <a:t> Algorithm 1 は“人間の記憶”と同じ仕組みで動く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655B4-3E91-7693-B223-384F6B6097FF}"/>
              </a:ext>
            </a:extLst>
          </p:cNvPr>
          <p:cNvSpPr txBox="1"/>
          <p:nvPr/>
        </p:nvSpPr>
        <p:spPr>
          <a:xfrm>
            <a:off x="5682137" y="4293314"/>
            <a:ext cx="438912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step1: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δ ←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α(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- tL)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時間経過を考慮して減衰係数（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Damping weight）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を計算する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数学的表現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現在の時刻（例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10:00:05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tL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最後に更新した時刻（例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10:00:00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経過時間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- tL = 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δ 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α(5) 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e^(−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λ × 5</a:t>
            </a:r>
            <a:r>
              <a:rPr lang="el-GR" sz="1350" dirty="0"/>
              <a:t>)</a:t>
            </a:r>
          </a:p>
          <a:p>
            <a:endParaRPr lang="en-JP" sz="135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D5F630-5006-0AE1-43D2-F84F509C3E06}"/>
              </a:ext>
            </a:extLst>
          </p:cNvPr>
          <p:cNvCxnSpPr>
            <a:cxnSpLocks/>
          </p:cNvCxnSpPr>
          <p:nvPr/>
        </p:nvCxnSpPr>
        <p:spPr>
          <a:xfrm flipV="1">
            <a:off x="5176837" y="3963718"/>
            <a:ext cx="5795963" cy="491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CB9488-2F44-645E-E1C9-CB7A496FA0BF}"/>
              </a:ext>
            </a:extLst>
          </p:cNvPr>
          <p:cNvCxnSpPr>
            <a:cxnSpLocks/>
          </p:cNvCxnSpPr>
          <p:nvPr/>
        </p:nvCxnSpPr>
        <p:spPr>
          <a:xfrm flipH="1">
            <a:off x="0" y="4343687"/>
            <a:ext cx="51768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B99D5DB-0847-D4D6-9864-A8F397FE27C2}"/>
              </a:ext>
            </a:extLst>
          </p:cNvPr>
          <p:cNvSpPr txBox="1"/>
          <p:nvPr/>
        </p:nvSpPr>
        <p:spPr>
          <a:xfrm>
            <a:off x="660085" y="4674502"/>
            <a:ext cx="3533297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350" b="1">
                <a:latin typeface="Meiryo" panose="020B0604030504040204" pitchFamily="34" charset="-128"/>
                <a:ea typeface="Meiryo" panose="020B0604030504040204" pitchFamily="34" charset="-128"/>
              </a:rPr>
              <a:t>入力 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Input):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IVᵢ,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以前の情報（古い統計）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xc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新しく到着したパケットのサイズ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現在の時刻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rⱼ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パケットの速度</a:t>
            </a:r>
          </a:p>
          <a:p>
            <a:r>
              <a:rPr lang="ja-JP" altLang="en-US" sz="1350" b="1">
                <a:latin typeface="Meiryo" panose="020B0604030504040204" pitchFamily="34" charset="-128"/>
                <a:ea typeface="Meiryo" panose="020B0604030504040204" pitchFamily="34" charset="-128"/>
              </a:rPr>
              <a:t>出力 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Output):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IVᵢ,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更新された情報</a:t>
            </a:r>
          </a:p>
        </p:txBody>
      </p:sp>
    </p:spTree>
    <p:extLst>
      <p:ext uri="{BB962C8B-B14F-4D97-AF65-F5344CB8AC3E}">
        <p14:creationId xmlns:p14="http://schemas.microsoft.com/office/powerpoint/2010/main" val="992953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AA789-EFA8-CC35-9238-13E5359A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42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E9576-072A-4F86-AB28-8390026F43F0}"/>
              </a:ext>
            </a:extLst>
          </p:cNvPr>
          <p:cNvSpPr txBox="1"/>
          <p:nvPr/>
        </p:nvSpPr>
        <p:spPr>
          <a:xfrm>
            <a:off x="537210" y="334897"/>
            <a:ext cx="54864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18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1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1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</a:t>
            </a:r>
            <a:r>
              <a:rPr lang="mn-MN" altLang="ja-JP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lang="en-JP" sz="1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05083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21853</TotalTime>
  <Words>3865</Words>
  <Application>Microsoft Macintosh PowerPoint</Application>
  <PresentationFormat>Custom</PresentationFormat>
  <Paragraphs>604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Meiryo</vt:lpstr>
      <vt:lpstr>Meiryo UI</vt:lpstr>
      <vt:lpstr>quote-cjk-patch</vt:lpstr>
      <vt:lpstr>Source Han Sans</vt:lpstr>
      <vt:lpstr>游ゴシック Light</vt:lpstr>
      <vt:lpstr>Arial</vt:lpstr>
      <vt:lpstr>Calibri</vt:lpstr>
      <vt:lpstr>Calibri Light</vt:lpstr>
      <vt:lpstr>Roboto</vt:lpstr>
      <vt:lpstr>Times New Roman</vt:lpstr>
      <vt:lpstr>Wingdings</vt:lpstr>
      <vt:lpstr>2_Custom Design</vt:lpstr>
      <vt:lpstr>Custom Design</vt:lpstr>
      <vt:lpstr>1_Custom Design</vt:lpstr>
      <vt:lpstr>Office Theme</vt:lpstr>
      <vt:lpstr>PowerPoint Presentation</vt:lpstr>
      <vt:lpstr>目次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目次</vt:lpstr>
      <vt:lpstr>PowerPoint Presentation</vt:lpstr>
      <vt:lpstr>目次</vt:lpstr>
      <vt:lpstr>PowerPoint Presentation</vt:lpstr>
      <vt:lpstr>PowerPoint Presentation</vt:lpstr>
      <vt:lpstr>目次</vt:lpstr>
      <vt:lpstr>PowerPoint Presentation</vt:lpstr>
      <vt:lpstr>PowerPoint Presentation</vt:lpstr>
      <vt:lpstr>Feature Extractionの流れ</vt:lpstr>
      <vt:lpstr>PowerPoint Presentation</vt:lpstr>
      <vt:lpstr>PowerPoint Presentation</vt:lpstr>
      <vt:lpstr>PowerPoint Presentation</vt:lpstr>
      <vt:lpstr>アルゴリズム1 – IV_{i,α} の更新手順</vt:lpstr>
      <vt:lpstr>例 – 実践的計算</vt:lpstr>
      <vt:lpstr>Normalization – 正規化</vt:lpstr>
      <vt:lpstr>Damped Incremental Statistics – Realguard の強み</vt:lpstr>
      <vt:lpstr>目次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目次</vt:lpstr>
      <vt:lpstr>PowerPoint Presentation</vt:lpstr>
      <vt:lpstr>目次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undarmaa581@gmail.com</dc:creator>
  <cp:lastModifiedBy>undarmaa581@gmail.com</cp:lastModifiedBy>
  <cp:revision>25</cp:revision>
  <dcterms:created xsi:type="dcterms:W3CDTF">2025-05-25T03:58:30Z</dcterms:created>
  <dcterms:modified xsi:type="dcterms:W3CDTF">2025-11-20T00:06:26Z</dcterms:modified>
</cp:coreProperties>
</file>