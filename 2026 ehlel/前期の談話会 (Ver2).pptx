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60" r:id="rId1"/>
  </p:sldMasterIdLst>
  <p:notesMasterIdLst>
    <p:notesMasterId r:id="rId58"/>
  </p:notesMasterIdLst>
  <p:sldIdLst>
    <p:sldId id="256" r:id="rId2"/>
    <p:sldId id="351" r:id="rId3"/>
    <p:sldId id="386" r:id="rId4"/>
    <p:sldId id="360" r:id="rId5"/>
    <p:sldId id="290" r:id="rId6"/>
    <p:sldId id="362" r:id="rId7"/>
    <p:sldId id="418" r:id="rId8"/>
    <p:sldId id="419" r:id="rId9"/>
    <p:sldId id="378" r:id="rId10"/>
    <p:sldId id="340" r:id="rId11"/>
    <p:sldId id="264" r:id="rId12"/>
    <p:sldId id="339" r:id="rId13"/>
    <p:sldId id="359" r:id="rId14"/>
    <p:sldId id="338" r:id="rId15"/>
    <p:sldId id="348" r:id="rId16"/>
    <p:sldId id="345" r:id="rId17"/>
    <p:sldId id="303" r:id="rId18"/>
    <p:sldId id="353" r:id="rId19"/>
    <p:sldId id="336" r:id="rId20"/>
    <p:sldId id="416" r:id="rId21"/>
    <p:sldId id="413" r:id="rId22"/>
    <p:sldId id="414" r:id="rId23"/>
    <p:sldId id="417" r:id="rId24"/>
    <p:sldId id="425" r:id="rId25"/>
    <p:sldId id="426" r:id="rId26"/>
    <p:sldId id="341" r:id="rId27"/>
    <p:sldId id="394" r:id="rId28"/>
    <p:sldId id="374" r:id="rId29"/>
    <p:sldId id="422" r:id="rId30"/>
    <p:sldId id="421" r:id="rId31"/>
    <p:sldId id="420" r:id="rId32"/>
    <p:sldId id="364" r:id="rId33"/>
    <p:sldId id="380" r:id="rId34"/>
    <p:sldId id="363" r:id="rId35"/>
    <p:sldId id="259" r:id="rId36"/>
    <p:sldId id="261" r:id="rId37"/>
    <p:sldId id="258" r:id="rId38"/>
    <p:sldId id="371" r:id="rId39"/>
    <p:sldId id="369" r:id="rId40"/>
    <p:sldId id="372" r:id="rId41"/>
    <p:sldId id="370" r:id="rId42"/>
    <p:sldId id="423" r:id="rId43"/>
    <p:sldId id="381" r:id="rId44"/>
    <p:sldId id="366" r:id="rId45"/>
    <p:sldId id="343" r:id="rId46"/>
    <p:sldId id="398" r:id="rId47"/>
    <p:sldId id="383" r:id="rId48"/>
    <p:sldId id="376" r:id="rId49"/>
    <p:sldId id="397" r:id="rId50"/>
    <p:sldId id="355" r:id="rId51"/>
    <p:sldId id="361" r:id="rId52"/>
    <p:sldId id="356" r:id="rId53"/>
    <p:sldId id="400" r:id="rId54"/>
    <p:sldId id="344" r:id="rId55"/>
    <p:sldId id="368" r:id="rId56"/>
    <p:sldId id="377" r:id="rId5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764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68"/>
    <p:restoredTop sz="91599"/>
  </p:normalViewPr>
  <p:slideViewPr>
    <p:cSldViewPr snapToGrid="0">
      <p:cViewPr>
        <p:scale>
          <a:sx n="130" d="100"/>
          <a:sy n="130" d="100"/>
        </p:scale>
        <p:origin x="1232"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55AC4E-FD3B-2849-90F0-E6D4145241B2}" type="datetimeFigureOut">
              <a:rPr lang="en-JP" smtClean="0"/>
              <a:t>2026/05/05</a:t>
            </a:fld>
            <a:endParaRPr lang="en-JP"/>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4FBE9E-3954-214D-A9AB-6EB10B77F3AE}" type="slidenum">
              <a:rPr lang="en-JP" smtClean="0"/>
              <a:t>‹#›</a:t>
            </a:fld>
            <a:endParaRPr lang="en-JP"/>
          </a:p>
        </p:txBody>
      </p:sp>
    </p:spTree>
    <p:extLst>
      <p:ext uri="{BB962C8B-B14F-4D97-AF65-F5344CB8AC3E}">
        <p14:creationId xmlns:p14="http://schemas.microsoft.com/office/powerpoint/2010/main" val="3147726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a:t>
            </a:fld>
            <a:endParaRPr lang="en-JP"/>
          </a:p>
        </p:txBody>
      </p:sp>
    </p:spTree>
    <p:extLst>
      <p:ext uri="{BB962C8B-B14F-4D97-AF65-F5344CB8AC3E}">
        <p14:creationId xmlns:p14="http://schemas.microsoft.com/office/powerpoint/2010/main" val="42619148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2</a:t>
            </a:fld>
            <a:endParaRPr lang="en-JP"/>
          </a:p>
        </p:txBody>
      </p:sp>
    </p:spTree>
    <p:extLst>
      <p:ext uri="{BB962C8B-B14F-4D97-AF65-F5344CB8AC3E}">
        <p14:creationId xmlns:p14="http://schemas.microsoft.com/office/powerpoint/2010/main" val="7824627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altLang="ja-JP" sz="4000" dirty="0"/>
              <a:t>2025 </a:t>
            </a:r>
            <a:r>
              <a:rPr lang="ja-JP" altLang="en-US" sz="4000"/>
              <a:t>年に </a:t>
            </a:r>
            <a:r>
              <a:rPr lang="en-US" altLang="ja-JP" sz="4000" dirty="0"/>
              <a:t>211 </a:t>
            </a:r>
            <a:r>
              <a:rPr lang="ja-JP" altLang="en-US" sz="4000"/>
              <a:t>億に到達し、その後も増加を続けて </a:t>
            </a:r>
            <a:r>
              <a:rPr lang="en-US" altLang="ja-JP" sz="4000" dirty="0"/>
              <a:t>2035 </a:t>
            </a:r>
            <a:r>
              <a:rPr lang="ja-JP" altLang="en-US" sz="4000"/>
              <a:t>年には </a:t>
            </a:r>
            <a:r>
              <a:rPr lang="en-US" altLang="ja-JP" sz="4000" dirty="0"/>
              <a:t>550 </a:t>
            </a:r>
            <a:r>
              <a:rPr lang="ja-JP" altLang="en-US" sz="4000"/>
              <a:t>億に達すると予測されています</a:t>
            </a:r>
            <a:r>
              <a:rPr lang="en-JP" sz="3600">
                <a:solidFill>
                  <a:schemeClr val="tx1"/>
                </a:solidFill>
                <a:latin typeface="Meiryo" panose="020B0604030504040204" pitchFamily="34" charset="-128"/>
                <a:ea typeface="Meiryo" panose="020B0604030504040204" pitchFamily="34" charset="-128"/>
              </a:rPr>
              <a:t>。</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3</a:t>
            </a:fld>
            <a:endParaRPr lang="en-JP"/>
          </a:p>
        </p:txBody>
      </p:sp>
    </p:spTree>
    <p:extLst>
      <p:ext uri="{BB962C8B-B14F-4D97-AF65-F5344CB8AC3E}">
        <p14:creationId xmlns:p14="http://schemas.microsoft.com/office/powerpoint/2010/main" val="2531527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r>
              <a:rPr kumimoji="1" lang="ja-JP" altLang="en-US" b="1">
                <a:solidFill>
                  <a:schemeClr val="tx1"/>
                </a:solidFill>
                <a:latin typeface="Meiryo" panose="020B0604030504040204" pitchFamily="34" charset="-128"/>
                <a:ea typeface="Meiryo" panose="020B0604030504040204" pitchFamily="34" charset="-128"/>
              </a:rPr>
              <a:t>不備ー</a:t>
            </a:r>
            <a:r>
              <a:rPr lang="ja-JP" altLang="en-US" b="0" i="0">
                <a:solidFill>
                  <a:srgbClr val="222222"/>
                </a:solidFill>
                <a:effectLst/>
                <a:latin typeface="Source Han Sans"/>
              </a:rPr>
              <a:t>ふび　</a:t>
            </a:r>
            <a:r>
              <a:rPr lang="ja-JP" altLang="en-US">
                <a:latin typeface="Meiryo UI" panose="020B0604030504040204" pitchFamily="50" charset="-128"/>
                <a:ea typeface="Meiryo UI" panose="020B0604030504040204" pitchFamily="50" charset="-128"/>
              </a:rPr>
              <a:t>主なー</a:t>
            </a:r>
            <a:r>
              <a:rPr lang="ja-JP" altLang="en-US" b="0" i="0">
                <a:solidFill>
                  <a:srgbClr val="222222"/>
                </a:solidFill>
                <a:effectLst/>
                <a:latin typeface="Source Han Sans"/>
              </a:rPr>
              <a:t>おもな</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4</a:t>
            </a:fld>
            <a:endParaRPr lang="en-JP"/>
          </a:p>
        </p:txBody>
      </p:sp>
    </p:spTree>
    <p:extLst>
      <p:ext uri="{BB962C8B-B14F-4D97-AF65-F5344CB8AC3E}">
        <p14:creationId xmlns:p14="http://schemas.microsoft.com/office/powerpoint/2010/main" val="3975707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6</a:t>
            </a:fld>
            <a:endParaRPr lang="en-JP"/>
          </a:p>
        </p:txBody>
      </p:sp>
    </p:spTree>
    <p:extLst>
      <p:ext uri="{BB962C8B-B14F-4D97-AF65-F5344CB8AC3E}">
        <p14:creationId xmlns:p14="http://schemas.microsoft.com/office/powerpoint/2010/main" val="584937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9</a:t>
            </a:fld>
            <a:endParaRPr lang="en-JP"/>
          </a:p>
        </p:txBody>
      </p:sp>
    </p:spTree>
    <p:extLst>
      <p:ext uri="{BB962C8B-B14F-4D97-AF65-F5344CB8AC3E}">
        <p14:creationId xmlns:p14="http://schemas.microsoft.com/office/powerpoint/2010/main" val="2111666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12</a:t>
            </a:fld>
            <a:endParaRPr lang="en-JP"/>
          </a:p>
        </p:txBody>
      </p:sp>
    </p:spTree>
    <p:extLst>
      <p:ext uri="{BB962C8B-B14F-4D97-AF65-F5344CB8AC3E}">
        <p14:creationId xmlns:p14="http://schemas.microsoft.com/office/powerpoint/2010/main" val="24987888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600">
                <a:latin typeface="Meiryo" panose="020B0604030504040204" pitchFamily="34" charset="-128"/>
                <a:ea typeface="Meiryo" panose="020B0604030504040204" pitchFamily="34" charset="-128"/>
              </a:rPr>
              <a:t>担うー</a:t>
            </a:r>
            <a:r>
              <a:rPr lang="ja-JP" altLang="en-US" sz="2000" b="0" i="0">
                <a:solidFill>
                  <a:srgbClr val="222222"/>
                </a:solidFill>
                <a:effectLst/>
                <a:latin typeface="Source Han Sans"/>
              </a:rPr>
              <a:t>になう　</a:t>
            </a:r>
            <a:r>
              <a:rPr lang="ja-JP" altLang="en-US" sz="1600" b="0" i="0">
                <a:solidFill>
                  <a:srgbClr val="222222"/>
                </a:solidFill>
                <a:effectLst/>
                <a:latin typeface="Source Han Sans"/>
              </a:rPr>
              <a:t>保護ーほご　</a:t>
            </a:r>
            <a:r>
              <a:rPr lang="ja-JP" altLang="en-US" sz="1600">
                <a:latin typeface="Meiryo" panose="020B0604030504040204" pitchFamily="34" charset="-128"/>
                <a:ea typeface="Meiryo" panose="020B0604030504040204" pitchFamily="34" charset="-128"/>
              </a:rPr>
              <a:t>電力ー</a:t>
            </a:r>
            <a:r>
              <a:rPr lang="ja-JP" altLang="en-US" sz="2000" b="0" i="0">
                <a:solidFill>
                  <a:srgbClr val="222222"/>
                </a:solidFill>
                <a:effectLst/>
                <a:latin typeface="Source Han Sans"/>
              </a:rPr>
              <a:t>でんりょく　</a:t>
            </a:r>
            <a:r>
              <a:rPr lang="ja-JP" altLang="en-US" sz="1600">
                <a:latin typeface="Meiryo" panose="020B0604030504040204" pitchFamily="34" charset="-128"/>
                <a:ea typeface="Meiryo" panose="020B0604030504040204" pitchFamily="34" charset="-128"/>
              </a:rPr>
              <a:t>非常ー</a:t>
            </a:r>
            <a:r>
              <a:rPr lang="ja-JP" altLang="en-US" sz="2000" b="0" i="0">
                <a:solidFill>
                  <a:srgbClr val="222222"/>
                </a:solidFill>
                <a:effectLst/>
                <a:latin typeface="Source Han Sans"/>
              </a:rPr>
              <a:t>ひじょう</a:t>
            </a:r>
            <a:endParaRPr lang="en-US" altLang="ja-JP" sz="1600" dirty="0">
              <a:latin typeface="Meiryo" panose="020B0604030504040204" pitchFamily="34" charset="-128"/>
              <a:ea typeface="Meiryo" panose="020B0604030504040204" pitchFamily="34" charset="-128"/>
            </a:endParaRPr>
          </a:p>
          <a:p>
            <a:pPr marL="0" marR="0" lvl="0" indent="0" algn="l" defTabSz="1097280" rtl="0" eaLnBrk="1" fontAlgn="auto" latinLnBrk="0" hangingPunct="1">
              <a:lnSpc>
                <a:spcPct val="100000"/>
              </a:lnSpc>
              <a:spcBef>
                <a:spcPts val="0"/>
              </a:spcBef>
              <a:spcAft>
                <a:spcPts val="0"/>
              </a:spcAft>
              <a:buClrTx/>
              <a:buSzTx/>
              <a:buFontTx/>
              <a:buNone/>
              <a:tabLst/>
              <a:defRPr/>
            </a:pPr>
            <a:r>
              <a:rPr lang="ja-JP" altLang="en-US" sz="1600">
                <a:latin typeface="Meiryo" panose="020B0604030504040204" pitchFamily="34" charset="-128"/>
                <a:ea typeface="Meiryo" panose="020B0604030504040204" pitchFamily="34" charset="-128"/>
              </a:rPr>
              <a:t>制約ー</a:t>
            </a:r>
            <a:r>
              <a:rPr lang="ja-JP" altLang="en-US" sz="2000" b="0" i="0">
                <a:solidFill>
                  <a:srgbClr val="222222"/>
                </a:solidFill>
                <a:effectLst/>
                <a:latin typeface="Source Han Sans"/>
              </a:rPr>
              <a:t>せいやく　</a:t>
            </a:r>
            <a:r>
              <a:rPr lang="ja-JP" altLang="en-US" sz="2000">
                <a:latin typeface="Meiryo" panose="020B0604030504040204" pitchFamily="34" charset="-128"/>
                <a:ea typeface="Meiryo" panose="020B0604030504040204" pitchFamily="34" charset="-128"/>
              </a:rPr>
              <a:t>重大ー</a:t>
            </a:r>
            <a:r>
              <a:rPr lang="ja-JP" altLang="en-US" sz="2000" b="0" i="0">
                <a:solidFill>
                  <a:srgbClr val="222222"/>
                </a:solidFill>
                <a:effectLst/>
                <a:latin typeface="Source Han Sans"/>
              </a:rPr>
              <a:t>じゅうだい　　</a:t>
            </a:r>
            <a:r>
              <a:rPr lang="ja-JP" altLang="en-US" sz="1600">
                <a:latin typeface="Meiryo" panose="020B0604030504040204" pitchFamily="34" charset="-128"/>
                <a:ea typeface="Meiryo" panose="020B0604030504040204" pitchFamily="34" charset="-128"/>
              </a:rPr>
              <a:t>弱点 ー</a:t>
            </a:r>
            <a:r>
              <a:rPr lang="ja-JP" altLang="en-US" sz="2000" b="0" i="0">
                <a:solidFill>
                  <a:srgbClr val="222222"/>
                </a:solidFill>
                <a:effectLst/>
                <a:latin typeface="Source Han Sans"/>
              </a:rPr>
              <a:t>じゃくてん</a:t>
            </a:r>
            <a:endParaRPr lang="en-US" altLang="ja-JP" sz="1600" dirty="0">
              <a:latin typeface="Meiryo" panose="020B0604030504040204" pitchFamily="34" charset="-128"/>
              <a:ea typeface="Meiryo" panose="020B0604030504040204" pitchFamily="34" charset="-128"/>
            </a:endParaRPr>
          </a:p>
          <a:p>
            <a:r>
              <a:rPr lang="ja-JP" altLang="en-US" sz="2000" b="0" i="0">
                <a:solidFill>
                  <a:srgbClr val="222222"/>
                </a:solidFill>
                <a:effectLst/>
                <a:latin typeface="Source Han Sans"/>
              </a:rPr>
              <a:t>　中継ーちゅうけい</a:t>
            </a:r>
            <a:endParaRPr lang="en-US" altLang="ja-JP" sz="1600" dirty="0">
              <a:latin typeface="Meiryo" panose="020B0604030504040204" pitchFamily="34" charset="-128"/>
              <a:ea typeface="Meiryo" panose="020B0604030504040204" pitchFamily="34" charset="-128"/>
            </a:endParaRPr>
          </a:p>
          <a:p>
            <a:r>
              <a:rPr lang="ja-JP" altLang="en-US" sz="1600">
                <a:latin typeface="Meiryo" panose="020B0604030504040204" pitchFamily="34" charset="-128"/>
                <a:ea typeface="Meiryo" panose="020B0604030504040204" pitchFamily="34" charset="-128"/>
              </a:rPr>
              <a:t>重くて</a:t>
            </a:r>
            <a:r>
              <a:rPr lang="en-US" altLang="ja-JP" sz="1600" dirty="0">
                <a:latin typeface="Meiryo" panose="020B0604030504040204" pitchFamily="34" charset="-128"/>
                <a:ea typeface="Meiryo" panose="020B0604030504040204" pitchFamily="34" charset="-128"/>
              </a:rPr>
              <a:t>-</a:t>
            </a:r>
            <a:r>
              <a:rPr lang="ja-JP" altLang="en-US" sz="2000" b="0" i="0">
                <a:solidFill>
                  <a:srgbClr val="222222"/>
                </a:solidFill>
                <a:effectLst/>
                <a:latin typeface="Source Han Sans"/>
              </a:rPr>
              <a:t>おもくて　　</a:t>
            </a:r>
            <a:r>
              <a:rPr lang="ja-JP" altLang="en-US" sz="1600">
                <a:latin typeface="Meiryo" panose="020B0604030504040204" pitchFamily="34" charset="-128"/>
                <a:ea typeface="Meiryo" panose="020B0604030504040204" pitchFamily="34" charset="-128"/>
              </a:rPr>
              <a:t>一般的ー</a:t>
            </a:r>
            <a:r>
              <a:rPr lang="ja-JP" altLang="en-US" sz="2000" b="0" i="0">
                <a:solidFill>
                  <a:srgbClr val="222222"/>
                </a:solidFill>
                <a:effectLst/>
                <a:latin typeface="Source Han Sans"/>
              </a:rPr>
              <a:t>いっぱんてき　</a:t>
            </a:r>
            <a:r>
              <a:rPr lang="ja-JP" altLang="en-US" sz="1600">
                <a:latin typeface="Meiryo" panose="020B0604030504040204" pitchFamily="34" charset="-128"/>
                <a:ea typeface="Meiryo" panose="020B0604030504040204" pitchFamily="34" charset="-128"/>
              </a:rPr>
              <a:t>弱点 ー</a:t>
            </a:r>
            <a:r>
              <a:rPr lang="ja-JP" altLang="en-US" sz="2000" b="0" i="0">
                <a:solidFill>
                  <a:srgbClr val="222222"/>
                </a:solidFill>
                <a:effectLst/>
                <a:latin typeface="Source Han Sans"/>
              </a:rPr>
              <a:t>じゃくてん</a:t>
            </a:r>
            <a:endParaRPr lang="en-US" altLang="ja-JP" sz="1600" dirty="0">
              <a:latin typeface="Meiryo" panose="020B0604030504040204" pitchFamily="34" charset="-128"/>
              <a:ea typeface="Meiryo" panose="020B0604030504040204" pitchFamily="34" charset="-128"/>
            </a:endParaRPr>
          </a:p>
          <a:p>
            <a:r>
              <a:rPr lang="ja-JP" altLang="en-US" sz="1600">
                <a:latin typeface="Meiryo" panose="020B0604030504040204" pitchFamily="34" charset="-128"/>
                <a:ea typeface="Meiryo" panose="020B0604030504040204" pitchFamily="34" charset="-128"/>
              </a:rPr>
              <a:t>導入</a:t>
            </a:r>
            <a:r>
              <a:rPr lang="en-US" altLang="ja-JP" sz="16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どうにゅう　</a:t>
            </a:r>
            <a:r>
              <a:rPr lang="ja-JP" altLang="en-US" sz="1600">
                <a:latin typeface="Meiryo" panose="020B0604030504040204" pitchFamily="34" charset="-128"/>
                <a:ea typeface="Meiryo" panose="020B0604030504040204" pitchFamily="34" charset="-128"/>
              </a:rPr>
              <a:t>困難ー</a:t>
            </a:r>
            <a:r>
              <a:rPr lang="ja-JP" altLang="en-US" b="0" i="0">
                <a:solidFill>
                  <a:srgbClr val="222222"/>
                </a:solidFill>
                <a:effectLst/>
                <a:latin typeface="Source Han Sans"/>
              </a:rPr>
              <a:t>こんなん　</a:t>
            </a:r>
            <a:r>
              <a:rPr lang="ja-JP" altLang="en-US" sz="1600">
                <a:latin typeface="Meiryo" panose="020B0604030504040204" pitchFamily="34" charset="-128"/>
                <a:ea typeface="Meiryo" panose="020B0604030504040204" pitchFamily="34" charset="-128"/>
              </a:rPr>
              <a:t> 重大ー</a:t>
            </a:r>
            <a:r>
              <a:rPr lang="ja-JP" altLang="en-US" b="0" i="0">
                <a:solidFill>
                  <a:srgbClr val="222222"/>
                </a:solidFill>
                <a:effectLst/>
                <a:latin typeface="Source Han Sans"/>
              </a:rPr>
              <a:t>じゅうだい</a:t>
            </a:r>
            <a:r>
              <a:rPr lang="en-US" b="0" i="0" dirty="0">
                <a:solidFill>
                  <a:srgbClr val="222222"/>
                </a:solidFill>
                <a:effectLst/>
                <a:latin typeface="Helvetica Neue" panose="02000503000000020004" pitchFamily="2" charset="0"/>
              </a:rPr>
              <a:t>important</a:t>
            </a:r>
            <a:endParaRPr lang="en-US" altLang="ja-JP" b="0" i="0" dirty="0">
              <a:solidFill>
                <a:srgbClr val="222222"/>
              </a:solidFill>
              <a:effectLst/>
              <a:latin typeface="Source Han Sans"/>
            </a:endParaRPr>
          </a:p>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13</a:t>
            </a:fld>
            <a:endParaRPr lang="en-JP"/>
          </a:p>
        </p:txBody>
      </p:sp>
    </p:spTree>
    <p:extLst>
      <p:ext uri="{BB962C8B-B14F-4D97-AF65-F5344CB8AC3E}">
        <p14:creationId xmlns:p14="http://schemas.microsoft.com/office/powerpoint/2010/main" val="23771586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JP" sz="1400" dirty="0">
                <a:latin typeface="Meiryo" panose="020B0604030504040204" pitchFamily="34" charset="-128"/>
                <a:ea typeface="Meiryo" panose="020B0604030504040204" pitchFamily="34" charset="-128"/>
              </a:rPr>
              <a:t>。</a:t>
            </a:r>
          </a:p>
          <a:p>
            <a:r>
              <a:rPr lang="en-JP" sz="1600" dirty="0">
                <a:latin typeface="Meiryo" panose="020B0604030504040204" pitchFamily="34" charset="-128"/>
                <a:ea typeface="Meiryo" panose="020B0604030504040204" pitchFamily="34" charset="-128"/>
              </a:rPr>
              <a:t>予測ー</a:t>
            </a:r>
            <a:r>
              <a:rPr lang="ja-JP" altLang="en-US" b="0" i="0">
                <a:solidFill>
                  <a:srgbClr val="222222"/>
                </a:solidFill>
                <a:effectLst/>
                <a:latin typeface="Source Han Sans"/>
              </a:rPr>
              <a:t>よそく</a:t>
            </a:r>
            <a:r>
              <a:rPr lang="en-US" altLang="ja-JP" b="0" i="0" dirty="0">
                <a:solidFill>
                  <a:srgbClr val="222222"/>
                </a:solidFill>
                <a:effectLst/>
                <a:latin typeface="Source Han Sans"/>
              </a:rPr>
              <a:t>,</a:t>
            </a:r>
            <a:r>
              <a:rPr lang="ja-JP" altLang="en-US" sz="1600" b="0">
                <a:solidFill>
                  <a:schemeClr val="tx1"/>
                </a:solidFill>
                <a:latin typeface="Meiryo" panose="020B0604030504040204" pitchFamily="34" charset="-128"/>
                <a:ea typeface="Meiryo" panose="020B0604030504040204" pitchFamily="34" charset="-128"/>
              </a:rPr>
              <a:t>資源</a:t>
            </a:r>
            <a:r>
              <a:rPr lang="en-US" altLang="ja-JP" sz="1600" b="0" dirty="0">
                <a:solidFill>
                  <a:schemeClr val="tx1"/>
                </a:solidFill>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しげん</a:t>
            </a:r>
            <a:endParaRPr lang="en-JP" b="0" dirty="0"/>
          </a:p>
        </p:txBody>
      </p:sp>
      <p:sp>
        <p:nvSpPr>
          <p:cNvPr id="4" name="Slide Number Placeholder 3"/>
          <p:cNvSpPr>
            <a:spLocks noGrp="1"/>
          </p:cNvSpPr>
          <p:nvPr>
            <p:ph type="sldNum" sz="quarter" idx="5"/>
          </p:nvPr>
        </p:nvSpPr>
        <p:spPr/>
        <p:txBody>
          <a:bodyPr/>
          <a:lstStyle/>
          <a:p>
            <a:fld id="{5741F159-79E2-E24F-9993-34E52B426EB4}" type="slidenum">
              <a:rPr lang="en-JP" smtClean="0"/>
              <a:t>16</a:t>
            </a:fld>
            <a:endParaRPr lang="en-JP"/>
          </a:p>
        </p:txBody>
      </p:sp>
    </p:spTree>
    <p:extLst>
      <p:ext uri="{BB962C8B-B14F-4D97-AF65-F5344CB8AC3E}">
        <p14:creationId xmlns:p14="http://schemas.microsoft.com/office/powerpoint/2010/main" val="396274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a:t>境界ー</a:t>
            </a:r>
            <a:r>
              <a:rPr lang="ja-JP" altLang="en-US" b="0" i="0">
                <a:solidFill>
                  <a:srgbClr val="222222"/>
                </a:solidFill>
                <a:effectLst/>
                <a:latin typeface="Source Han Sans"/>
              </a:rPr>
              <a:t>きょうかい　</a:t>
            </a:r>
            <a:r>
              <a:rPr kumimoji="1" lang="ja-JP" altLang="en-US"/>
              <a:t>検出ー</a:t>
            </a:r>
            <a:r>
              <a:rPr lang="ja-JP" altLang="en-US" b="0" i="0">
                <a:solidFill>
                  <a:srgbClr val="222222"/>
                </a:solidFill>
                <a:effectLst/>
                <a:latin typeface="Source Han Sans"/>
              </a:rPr>
              <a:t>けんしゅつ　</a:t>
            </a:r>
            <a:r>
              <a:rPr kumimoji="1" lang="ja-JP" altLang="en-US"/>
              <a:t>実行ー</a:t>
            </a:r>
            <a:r>
              <a:rPr lang="ja-JP" altLang="en-US" b="0" i="0">
                <a:solidFill>
                  <a:srgbClr val="222222"/>
                </a:solidFill>
                <a:effectLst/>
                <a:latin typeface="Source Han Sans"/>
              </a:rPr>
              <a:t>じっこう</a:t>
            </a:r>
            <a:endParaRPr kumimoji="1" lang="en-US" altLang="ja-JP" dirty="0"/>
          </a:p>
          <a:p>
            <a:r>
              <a:rPr kumimoji="1" lang="ja-JP" altLang="en-US"/>
              <a:t>設置ー</a:t>
            </a:r>
            <a:r>
              <a:rPr lang="ja-JP" altLang="en-US" b="0" i="0">
                <a:solidFill>
                  <a:srgbClr val="222222"/>
                </a:solidFill>
                <a:effectLst/>
                <a:latin typeface="Source Han Sans"/>
              </a:rPr>
              <a:t>せっち</a:t>
            </a:r>
            <a:endParaRPr kumimoji="1" lang="en-US" altLang="ja-JP" dirty="0"/>
          </a:p>
          <a:p>
            <a:r>
              <a:rPr kumimoji="1" lang="ja-JP" altLang="en-US"/>
              <a:t>応じてー</a:t>
            </a:r>
            <a:r>
              <a:rPr lang="ja-JP" altLang="en-US" b="0" i="0">
                <a:solidFill>
                  <a:srgbClr val="222222"/>
                </a:solidFill>
                <a:effectLst/>
                <a:latin typeface="Source Han Sans"/>
              </a:rPr>
              <a:t>おう</a:t>
            </a:r>
            <a:endParaRPr kumimoji="1" lang="en-US" altLang="ja-JP" dirty="0"/>
          </a:p>
          <a:p>
            <a:r>
              <a:rPr kumimoji="1" lang="ja-JP" altLang="en-US"/>
              <a:t>出力ー</a:t>
            </a:r>
            <a:r>
              <a:rPr lang="ja-JP" altLang="en-US" b="0" i="0">
                <a:solidFill>
                  <a:srgbClr val="222222"/>
                </a:solidFill>
                <a:effectLst/>
                <a:latin typeface="Source Han Sans"/>
              </a:rPr>
              <a:t>しゅつりょく</a:t>
            </a:r>
            <a:endParaRPr kumimoji="1" lang="en-US" altLang="ja-JP" dirty="0"/>
          </a:p>
          <a:p>
            <a:r>
              <a:rPr kumimoji="1" lang="ja-JP" altLang="en-US"/>
              <a:t>発出ー</a:t>
            </a:r>
            <a:r>
              <a:rPr lang="ja-JP" altLang="en-US" b="0" i="0">
                <a:solidFill>
                  <a:srgbClr val="222222"/>
                </a:solidFill>
                <a:effectLst/>
                <a:latin typeface="Source Han Sans"/>
              </a:rPr>
              <a:t>はっしゅつ</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18</a:t>
            </a:fld>
            <a:endParaRPr lang="en-JP"/>
          </a:p>
        </p:txBody>
      </p:sp>
    </p:spTree>
    <p:extLst>
      <p:ext uri="{BB962C8B-B14F-4D97-AF65-F5344CB8AC3E}">
        <p14:creationId xmlns:p14="http://schemas.microsoft.com/office/powerpoint/2010/main" val="23782736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19</a:t>
            </a:fld>
            <a:endParaRPr lang="en-JP"/>
          </a:p>
        </p:txBody>
      </p:sp>
    </p:spTree>
    <p:extLst>
      <p:ext uri="{BB962C8B-B14F-4D97-AF65-F5344CB8AC3E}">
        <p14:creationId xmlns:p14="http://schemas.microsoft.com/office/powerpoint/2010/main" val="29667977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20</a:t>
            </a:fld>
            <a:endParaRPr lang="en-JP"/>
          </a:p>
        </p:txBody>
      </p:sp>
    </p:spTree>
    <p:extLst>
      <p:ext uri="{BB962C8B-B14F-4D97-AF65-F5344CB8AC3E}">
        <p14:creationId xmlns:p14="http://schemas.microsoft.com/office/powerpoint/2010/main" val="37481749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25</a:t>
            </a:fld>
            <a:endParaRPr lang="en-JP"/>
          </a:p>
        </p:txBody>
      </p:sp>
    </p:spTree>
    <p:extLst>
      <p:ext uri="{BB962C8B-B14F-4D97-AF65-F5344CB8AC3E}">
        <p14:creationId xmlns:p14="http://schemas.microsoft.com/office/powerpoint/2010/main" val="3651082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28</a:t>
            </a:fld>
            <a:endParaRPr lang="en-JP"/>
          </a:p>
        </p:txBody>
      </p:sp>
    </p:spTree>
    <p:extLst>
      <p:ext uri="{BB962C8B-B14F-4D97-AF65-F5344CB8AC3E}">
        <p14:creationId xmlns:p14="http://schemas.microsoft.com/office/powerpoint/2010/main" val="16997194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33</a:t>
            </a:fld>
            <a:endParaRPr lang="en-JP"/>
          </a:p>
        </p:txBody>
      </p:sp>
    </p:spTree>
    <p:extLst>
      <p:ext uri="{BB962C8B-B14F-4D97-AF65-F5344CB8AC3E}">
        <p14:creationId xmlns:p14="http://schemas.microsoft.com/office/powerpoint/2010/main" val="6616248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こちらは本研究で使用した実験環境です。</a:t>
            </a:r>
            <a:br>
              <a:rPr lang="ja-JP" altLang="en-US"/>
            </a:br>
            <a:br>
              <a:rPr lang="ja-JP" altLang="en-US"/>
            </a:br>
            <a:r>
              <a:rPr lang="ja-JP" altLang="en-US"/>
              <a:t>まず、ゲートウェイとして</a:t>
            </a:r>
            <a:r>
              <a:rPr lang="en-US" dirty="0"/>
              <a:t>Raspberry Pi 4</a:t>
            </a:r>
            <a:r>
              <a:rPr lang="ja-JP" altLang="en-US"/>
              <a:t>を使用しました。</a:t>
            </a:r>
            <a:br>
              <a:rPr lang="ja-JP" altLang="en-US"/>
            </a:br>
            <a:r>
              <a:rPr lang="ja-JP" altLang="en-US"/>
              <a:t>センサーデバイスは</a:t>
            </a:r>
            <a:r>
              <a:rPr lang="en-US" dirty="0"/>
              <a:t>Raspberry Pi 3B+</a:t>
            </a:r>
            <a:r>
              <a:rPr lang="ja-JP" altLang="en-US"/>
              <a:t>を</a:t>
            </a:r>
            <a:r>
              <a:rPr lang="en-US" altLang="ja-JP" dirty="0"/>
              <a:t>2</a:t>
            </a:r>
            <a:r>
              <a:rPr lang="ja-JP" altLang="en-US"/>
              <a:t>台構成しています。</a:t>
            </a:r>
            <a:br>
              <a:rPr lang="ja-JP" altLang="en-US"/>
            </a:br>
            <a:br>
              <a:rPr lang="ja-JP" altLang="en-US"/>
            </a:br>
            <a:r>
              <a:rPr lang="ja-JP" altLang="en-US"/>
              <a:t>攻撃環境には</a:t>
            </a:r>
            <a:r>
              <a:rPr lang="en-US" dirty="0"/>
              <a:t>Kali Linux</a:t>
            </a:r>
            <a:r>
              <a:rPr lang="ja-JP" altLang="en-US"/>
              <a:t>を使用し、ラップトップから攻撃トラフィックを生成しました。</a:t>
            </a:r>
            <a:br>
              <a:rPr lang="ja-JP" altLang="en-US"/>
            </a:br>
            <a:br>
              <a:rPr lang="ja-JP" altLang="en-US"/>
            </a:br>
            <a:r>
              <a:rPr lang="ja-JP" altLang="en-US"/>
              <a:t>データセットは既存の</a:t>
            </a:r>
            <a:r>
              <a:rPr lang="en-US" dirty="0"/>
              <a:t>CICIDS</a:t>
            </a:r>
            <a:r>
              <a:rPr lang="ja-JP" altLang="en-US"/>
              <a:t>に加えて、自分で生成したトラフィックも利用しています。</a:t>
            </a:r>
            <a:br>
              <a:rPr lang="ja-JP" altLang="en-US"/>
            </a:br>
            <a:br>
              <a:rPr lang="ja-JP" altLang="en-US"/>
            </a:br>
            <a:r>
              <a:rPr lang="en-US" dirty="0"/>
              <a:t>OS</a:t>
            </a:r>
            <a:r>
              <a:rPr lang="ja-JP" altLang="en-US"/>
              <a:t>は</a:t>
            </a:r>
            <a:r>
              <a:rPr lang="en-US" dirty="0"/>
              <a:t>Ubuntu 22.04 LTS</a:t>
            </a:r>
            <a:r>
              <a:rPr lang="ja-JP" altLang="en-US"/>
              <a:t>を使用しています。</a:t>
            </a:r>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34</a:t>
            </a:fld>
            <a:endParaRPr lang="en-JP"/>
          </a:p>
        </p:txBody>
      </p:sp>
    </p:spTree>
    <p:extLst>
      <p:ext uri="{BB962C8B-B14F-4D97-AF65-F5344CB8AC3E}">
        <p14:creationId xmlns:p14="http://schemas.microsoft.com/office/powerpoint/2010/main" val="26951354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37</a:t>
            </a:fld>
            <a:endParaRPr lang="en-JP"/>
          </a:p>
        </p:txBody>
      </p:sp>
    </p:spTree>
    <p:extLst>
      <p:ext uri="{BB962C8B-B14F-4D97-AF65-F5344CB8AC3E}">
        <p14:creationId xmlns:p14="http://schemas.microsoft.com/office/powerpoint/2010/main" val="9876873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39</a:t>
            </a:fld>
            <a:endParaRPr lang="en-JP"/>
          </a:p>
        </p:txBody>
      </p:sp>
    </p:spTree>
    <p:extLst>
      <p:ext uri="{BB962C8B-B14F-4D97-AF65-F5344CB8AC3E}">
        <p14:creationId xmlns:p14="http://schemas.microsoft.com/office/powerpoint/2010/main" val="28544091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49</a:t>
            </a:fld>
            <a:endParaRPr lang="en-JP"/>
          </a:p>
        </p:txBody>
      </p:sp>
    </p:spTree>
    <p:extLst>
      <p:ext uri="{BB962C8B-B14F-4D97-AF65-F5344CB8AC3E}">
        <p14:creationId xmlns:p14="http://schemas.microsoft.com/office/powerpoint/2010/main" val="3804140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FEF6F8A-82B2-D34F-A65E-1B0286E398A9}" type="datetime1">
              <a:rPr lang="en-US" smtClean="0"/>
              <a:t>5/5/26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350328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0A2FE2F-6AF8-DA44-A8D6-E42C8BE3490E}" type="datetime1">
              <a:rPr lang="en-US" smtClean="0"/>
              <a:t>5/5/26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a:ln>
            <a:noFill/>
          </a:ln>
        </p:spPr>
        <p:txBody>
          <a:bodyPr/>
          <a:lstStyle>
            <a:lvl1pPr>
              <a:defRPr sz="1800">
                <a:solidFill>
                  <a:schemeClr val="tx1"/>
                </a:solidFill>
                <a:latin typeface="Meiryo" panose="020B0604030504040204" pitchFamily="34" charset="-128"/>
                <a:ea typeface="Meiryo" panose="020B0604030504040204" pitchFamily="34" charset="-128"/>
              </a:defRPr>
            </a:lvl1pPr>
          </a:lstStyle>
          <a:p>
            <a:fld id="{828F3BD4-1AF2-D144-8129-4D42AD448F5E}" type="slidenum">
              <a:rPr lang="en-JP" smtClean="0"/>
              <a:pPr/>
              <a:t>‹#›</a:t>
            </a:fld>
            <a:endParaRPr lang="en-JP" dirty="0"/>
          </a:p>
        </p:txBody>
      </p:sp>
    </p:spTree>
    <p:extLst>
      <p:ext uri="{BB962C8B-B14F-4D97-AF65-F5344CB8AC3E}">
        <p14:creationId xmlns:p14="http://schemas.microsoft.com/office/powerpoint/2010/main" val="1652950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220CEF-3EFD-5C41-A645-BEFE8E662C11}" type="datetime1">
              <a:rPr lang="en-US" smtClean="0"/>
              <a:t>5/5/26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328826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41C9C73-9881-DA40-AB7A-58306184213A}" type="datetime1">
              <a:rPr lang="en-US" smtClean="0"/>
              <a:t>5/5/26</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280739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8CD305-9C76-F34D-AFEF-A40EAB632C6B}" type="datetime1">
              <a:rPr lang="en-US" smtClean="0"/>
              <a:t>5/5/26</a:t>
            </a:fld>
            <a:endParaRPr lang="en-JP"/>
          </a:p>
        </p:txBody>
      </p:sp>
      <p:sp>
        <p:nvSpPr>
          <p:cNvPr id="8" name="Footer Placeholder 7"/>
          <p:cNvSpPr>
            <a:spLocks noGrp="1"/>
          </p:cNvSpPr>
          <p:nvPr>
            <p:ph type="ftr" sz="quarter" idx="11"/>
          </p:nvPr>
        </p:nvSpPr>
        <p:spPr/>
        <p:txBody>
          <a:bodyPr/>
          <a:lstStyle/>
          <a:p>
            <a:endParaRPr lang="en-JP"/>
          </a:p>
        </p:txBody>
      </p:sp>
      <p:sp>
        <p:nvSpPr>
          <p:cNvPr id="9" name="Slide Number Placeholder 8"/>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3380012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131CD80-6708-B644-87A6-D5ABF080A52F}" type="datetime1">
              <a:rPr lang="en-US" smtClean="0"/>
              <a:t>5/5/26</a:t>
            </a:fld>
            <a:endParaRPr lang="en-JP"/>
          </a:p>
        </p:txBody>
      </p:sp>
      <p:sp>
        <p:nvSpPr>
          <p:cNvPr id="4" name="Footer Placeholder 3"/>
          <p:cNvSpPr>
            <a:spLocks noGrp="1"/>
          </p:cNvSpPr>
          <p:nvPr>
            <p:ph type="ftr" sz="quarter" idx="11"/>
          </p:nvPr>
        </p:nvSpPr>
        <p:spPr/>
        <p:txBody>
          <a:bodyPr/>
          <a:lstStyle/>
          <a:p>
            <a:endParaRPr lang="en-JP"/>
          </a:p>
        </p:txBody>
      </p:sp>
      <p:sp>
        <p:nvSpPr>
          <p:cNvPr id="5" name="Slide Number Placeholder 4"/>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3542761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E84D18-F2A8-414A-9B88-B0C8901568E1}" type="datetime1">
              <a:rPr lang="en-US" smtClean="0"/>
              <a:t>5/5/26</a:t>
            </a:fld>
            <a:endParaRPr lang="en-JP"/>
          </a:p>
        </p:txBody>
      </p:sp>
      <p:sp>
        <p:nvSpPr>
          <p:cNvPr id="3" name="Footer Placeholder 2"/>
          <p:cNvSpPr>
            <a:spLocks noGrp="1"/>
          </p:cNvSpPr>
          <p:nvPr>
            <p:ph type="ftr" sz="quarter" idx="11"/>
          </p:nvPr>
        </p:nvSpPr>
        <p:spPr/>
        <p:txBody>
          <a:bodyPr/>
          <a:lstStyle/>
          <a:p>
            <a:endParaRPr lang="en-JP"/>
          </a:p>
        </p:txBody>
      </p:sp>
      <p:sp>
        <p:nvSpPr>
          <p:cNvPr id="4" name="Slide Number Placeholder 3"/>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3222931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C33180-8304-F84A-93F8-62BDA010013C}" type="datetime1">
              <a:rPr lang="en-US" smtClean="0"/>
              <a:t>5/5/26</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4265048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0801750-9819-CA4C-9E13-1C18ECBCEEBA}" type="datetime1">
              <a:rPr lang="en-US" smtClean="0"/>
              <a:t>5/5/26</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1218918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BCC079-B9ED-9D46-A5A8-B3527A47B364}" type="datetime1">
              <a:rPr lang="en-US" smtClean="0"/>
              <a:t>5/5/26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4008572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CB7EA5-502D-0E47-9916-AFB5B5A5AA82}" type="datetime1">
              <a:rPr lang="en-US" smtClean="0"/>
              <a:t>5/5/26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36394337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6949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AA611-FC8D-0B48-A172-D9C4B897AC23}" type="datetime1">
              <a:rPr lang="en-US" smtClean="0"/>
              <a:t>5/5/26</a:t>
            </a:fld>
            <a:endParaRPr lang="en-JP"/>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JP"/>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8F3BD4-1AF2-D144-8129-4D42AD448F5E}" type="slidenum">
              <a:rPr lang="en-JP" smtClean="0"/>
              <a:t>‹#›</a:t>
            </a:fld>
            <a:endParaRPr lang="en-JP"/>
          </a:p>
        </p:txBody>
      </p:sp>
    </p:spTree>
    <p:extLst>
      <p:ext uri="{BB962C8B-B14F-4D97-AF65-F5344CB8AC3E}">
        <p14:creationId xmlns:p14="http://schemas.microsoft.com/office/powerpoint/2010/main" val="40641064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netgear.com/hub/network/security/iot-threat-report-25/,"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research.checkpoint.com/2020/dont-be-silly-its-only-a-lightbulb/" TargetMode="External"/><Relationship Id="rId2" Type="http://schemas.openxmlformats.org/officeDocument/2006/relationships/hyperlink" Target="https://www.cisa.gov/news-events/alerts/2015/04/30/securing-end-end-communication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rfc-editor.org/rfc/rfc826"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0.png"/><Relationship Id="rId12" Type="http://schemas.openxmlformats.org/officeDocument/2006/relationships/image" Target="../media/image21.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0.png"/><Relationship Id="rId5" Type="http://schemas.openxmlformats.org/officeDocument/2006/relationships/image" Target="../media/image15.png"/><Relationship Id="rId10" Type="http://schemas.openxmlformats.org/officeDocument/2006/relationships/image" Target="../media/image19.png"/><Relationship Id="rId4" Type="http://schemas.openxmlformats.org/officeDocument/2006/relationships/image" Target="../media/image14.png"/><Relationship Id="rId9"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www.mdpi.com/2076-3417/13/7/4482"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hyperlink" Target="https://ieeexplore.ieee.org/document/6983078"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A6EAB68-F29A-CD85-0B08-D86B3E7615BB}"/>
              </a:ext>
            </a:extLst>
          </p:cNvPr>
          <p:cNvSpPr txBox="1"/>
          <p:nvPr/>
        </p:nvSpPr>
        <p:spPr>
          <a:xfrm>
            <a:off x="1762745" y="3888684"/>
            <a:ext cx="6053199" cy="1938992"/>
          </a:xfrm>
          <a:prstGeom prst="rect">
            <a:avLst/>
          </a:prstGeom>
          <a:noFill/>
        </p:spPr>
        <p:txBody>
          <a:bodyPr wrap="square">
            <a:spAutoFit/>
          </a:bodyPr>
          <a:lstStyle/>
          <a:p>
            <a:r>
              <a:rPr lang="ja-JP" altLang="en-US" sz="2400">
                <a:latin typeface="Meiryo" panose="020B0604030504040204" pitchFamily="34" charset="-128"/>
                <a:ea typeface="Meiryo" panose="020B0604030504040204" pitchFamily="34" charset="-128"/>
              </a:rPr>
              <a:t>所属　　： 情報基盤システム学研究室</a:t>
            </a:r>
            <a:endParaRPr lang="en-US" altLang="ja-JP"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発表者　：</a:t>
            </a:r>
            <a:r>
              <a:rPr lang="en-US" altLang="ja-JP" sz="2400" dirty="0">
                <a:latin typeface="Meiryo" panose="020B0604030504040204" pitchFamily="34" charset="-128"/>
                <a:ea typeface="Meiryo" panose="020B0604030504040204" pitchFamily="34" charset="-128"/>
              </a:rPr>
              <a:t>DAVAAKHUU   UNDARMAA</a:t>
            </a:r>
          </a:p>
          <a:p>
            <a:r>
              <a:rPr lang="ja-JP" altLang="en-US" sz="2400">
                <a:latin typeface="Meiryo" panose="020B0604030504040204" pitchFamily="34" charset="-128"/>
                <a:ea typeface="Meiryo" panose="020B0604030504040204" pitchFamily="34" charset="-128"/>
              </a:rPr>
              <a:t>指導教員： 池部 実 講師</a:t>
            </a:r>
            <a:r>
              <a:rPr lang="en-US" altLang="ja-JP" sz="2400" dirty="0">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吉崎 弘一 教授</a:t>
            </a:r>
            <a:endParaRPr lang="en-US" altLang="ja-JP"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発表日　： </a:t>
            </a:r>
            <a:r>
              <a:rPr lang="en-US" altLang="ja-JP" sz="2400" dirty="0">
                <a:latin typeface="Meiryo" panose="020B0604030504040204" pitchFamily="34" charset="-128"/>
                <a:ea typeface="Meiryo" panose="020B0604030504040204" pitchFamily="34" charset="-128"/>
              </a:rPr>
              <a:t>2026</a:t>
            </a:r>
            <a:r>
              <a:rPr lang="ja-JP" altLang="en-US" sz="2400">
                <a:latin typeface="Meiryo" panose="020B0604030504040204" pitchFamily="34" charset="-128"/>
                <a:ea typeface="Meiryo" panose="020B0604030504040204" pitchFamily="34" charset="-128"/>
              </a:rPr>
              <a:t>年</a:t>
            </a:r>
            <a:r>
              <a:rPr lang="en-US" altLang="ja-JP" sz="2400" dirty="0">
                <a:latin typeface="Meiryo" panose="020B0604030504040204" pitchFamily="34" charset="-128"/>
                <a:ea typeface="Meiryo" panose="020B0604030504040204" pitchFamily="34" charset="-128"/>
              </a:rPr>
              <a:t>5</a:t>
            </a:r>
            <a:r>
              <a:rPr lang="ja-JP" altLang="en-US" sz="2400">
                <a:latin typeface="Meiryo" panose="020B0604030504040204" pitchFamily="34" charset="-128"/>
                <a:ea typeface="Meiryo" panose="020B0604030504040204" pitchFamily="34" charset="-128"/>
              </a:rPr>
              <a:t>月</a:t>
            </a:r>
            <a:r>
              <a:rPr lang="en-US" altLang="ja-JP" sz="2400" dirty="0">
                <a:latin typeface="Meiryo" panose="020B0604030504040204" pitchFamily="34" charset="-128"/>
                <a:ea typeface="Meiryo" panose="020B0604030504040204" pitchFamily="34" charset="-128"/>
              </a:rPr>
              <a:t>8</a:t>
            </a:r>
            <a:r>
              <a:rPr lang="ja-JP" altLang="en-US" sz="2400">
                <a:latin typeface="Meiryo" panose="020B0604030504040204" pitchFamily="34" charset="-128"/>
                <a:ea typeface="Meiryo" panose="020B0604030504040204" pitchFamily="34" charset="-128"/>
              </a:rPr>
              <a:t>日</a:t>
            </a:r>
            <a:endParaRPr lang="en-US" altLang="ja-JP"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会場　　： セミナー</a:t>
            </a:r>
            <a:r>
              <a:rPr lang="en-US" altLang="ja-JP" sz="2400" dirty="0">
                <a:latin typeface="Meiryo" panose="020B0604030504040204" pitchFamily="34" charset="-128"/>
                <a:ea typeface="Meiryo" panose="020B0604030504040204" pitchFamily="34" charset="-128"/>
              </a:rPr>
              <a:t>1(</a:t>
            </a:r>
            <a:r>
              <a:rPr lang="ja-JP" altLang="en-US" sz="2400">
                <a:latin typeface="Meiryo" panose="020B0604030504040204" pitchFamily="34" charset="-128"/>
                <a:ea typeface="Meiryo" panose="020B0604030504040204" pitchFamily="34" charset="-128"/>
              </a:rPr>
              <a:t>第三講義棟</a:t>
            </a:r>
            <a:r>
              <a:rPr lang="en-US" altLang="ja-JP" sz="2400" dirty="0">
                <a:latin typeface="Meiryo" panose="020B0604030504040204" pitchFamily="34" charset="-128"/>
                <a:ea typeface="Meiryo" panose="020B0604030504040204" pitchFamily="34" charset="-128"/>
              </a:rPr>
              <a:t>)</a:t>
            </a:r>
          </a:p>
        </p:txBody>
      </p:sp>
      <p:sp>
        <p:nvSpPr>
          <p:cNvPr id="8" name="TextBox 7">
            <a:extLst>
              <a:ext uri="{FF2B5EF4-FFF2-40B4-BE49-F238E27FC236}">
                <a16:creationId xmlns:a16="http://schemas.microsoft.com/office/drawing/2014/main" id="{4A6EACA9-19F2-693F-C84D-FE7203D5B4C5}"/>
              </a:ext>
            </a:extLst>
          </p:cNvPr>
          <p:cNvSpPr txBox="1"/>
          <p:nvPr/>
        </p:nvSpPr>
        <p:spPr>
          <a:xfrm>
            <a:off x="3377746" y="287698"/>
            <a:ext cx="2216937" cy="923330"/>
          </a:xfrm>
          <a:prstGeom prst="rect">
            <a:avLst/>
          </a:prstGeom>
          <a:noFill/>
        </p:spPr>
        <p:txBody>
          <a:bodyPr wrap="square" rtlCol="0">
            <a:spAutoFit/>
          </a:bodyPr>
          <a:lstStyle/>
          <a:p>
            <a:pPr algn="ctr" rtl="0">
              <a:spcBef>
                <a:spcPts val="0"/>
              </a:spcBef>
              <a:spcAft>
                <a:spcPts val="0"/>
              </a:spcAft>
            </a:pPr>
            <a:r>
              <a:rPr lang="ja-JP" altLang="en-US" sz="1800" b="0" i="0" u="none" strike="noStrike">
                <a:solidFill>
                  <a:srgbClr val="000000"/>
                </a:solidFill>
                <a:effectLst/>
                <a:latin typeface="Meiryo" panose="020B0604030504040204" pitchFamily="34" charset="-128"/>
                <a:ea typeface="Meiryo" panose="020B0604030504040204" pitchFamily="34" charset="-128"/>
              </a:rPr>
              <a:t>談話会第</a:t>
            </a:r>
            <a:r>
              <a:rPr lang="mn-MN" altLang="ja-JP" dirty="0">
                <a:solidFill>
                  <a:srgbClr val="000000"/>
                </a:solidFill>
                <a:latin typeface="Meiryo" panose="020B0604030504040204" pitchFamily="34" charset="-128"/>
                <a:ea typeface="Meiryo" panose="020B0604030504040204" pitchFamily="34" charset="-128"/>
              </a:rPr>
              <a:t>4</a:t>
            </a:r>
            <a:r>
              <a:rPr lang="ja-JP" altLang="en-US" sz="1800" b="0" i="0" u="none" strike="noStrike">
                <a:solidFill>
                  <a:srgbClr val="000000"/>
                </a:solidFill>
                <a:effectLst/>
                <a:latin typeface="Meiryo" panose="020B0604030504040204" pitchFamily="34" charset="-128"/>
                <a:ea typeface="Meiryo" panose="020B0604030504040204" pitchFamily="34" charset="-128"/>
              </a:rPr>
              <a:t>回</a:t>
            </a:r>
            <a:endParaRPr lang="ja-JP" altLang="en-US" b="0">
              <a:effectLst/>
              <a:latin typeface="Meiryo" panose="020B0604030504040204" pitchFamily="34" charset="-128"/>
              <a:ea typeface="Meiryo" panose="020B0604030504040204" pitchFamily="34" charset="-128"/>
            </a:endParaRPr>
          </a:p>
          <a:p>
            <a:br>
              <a:rPr lang="ja-JP" altLang="en-US">
                <a:latin typeface="Meiryo" panose="020B0604030504040204" pitchFamily="34" charset="-128"/>
                <a:ea typeface="Meiryo" panose="020B0604030504040204" pitchFamily="34" charset="-128"/>
              </a:rPr>
            </a:br>
            <a:endParaRPr lang="en-JP" dirty="0">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BDBBFD4A-966C-21F7-A96D-6975B5D83D3C}"/>
              </a:ext>
            </a:extLst>
          </p:cNvPr>
          <p:cNvSpPr txBox="1"/>
          <p:nvPr/>
        </p:nvSpPr>
        <p:spPr>
          <a:xfrm>
            <a:off x="709264" y="1211028"/>
            <a:ext cx="7977359" cy="1754326"/>
          </a:xfrm>
          <a:prstGeom prst="rect">
            <a:avLst/>
          </a:prstGeom>
          <a:noFill/>
        </p:spPr>
        <p:txBody>
          <a:bodyPr wrap="square">
            <a:spAutoFit/>
          </a:bodyPr>
          <a:lstStyle/>
          <a:p>
            <a:pPr algn="ctr"/>
            <a:r>
              <a:rPr lang="en-US" sz="3600" b="0" i="0" u="none" strike="noStrike" dirty="0">
                <a:effectLst/>
                <a:latin typeface="Meiryo" panose="020B0604030504040204" pitchFamily="34" charset="-128"/>
                <a:ea typeface="Meiryo" panose="020B0604030504040204" pitchFamily="34" charset="-128"/>
              </a:rPr>
              <a:t>Machine Learning-based </a:t>
            </a:r>
            <a:r>
              <a:rPr lang="en-US" sz="3600" i="0" u="none" strike="noStrike" dirty="0">
                <a:solidFill>
                  <a:srgbClr val="000000"/>
                </a:solidFill>
                <a:effectLst/>
                <a:latin typeface="Meiryo" panose="020B0604030504040204" pitchFamily="34" charset="-128"/>
                <a:ea typeface="Meiryo" panose="020B0604030504040204" pitchFamily="34" charset="-128"/>
              </a:rPr>
              <a:t>IDS</a:t>
            </a:r>
            <a:r>
              <a:rPr lang="ja-JP" altLang="en-US" sz="3600" i="0" u="none" strike="noStrike">
                <a:solidFill>
                  <a:srgbClr val="000000"/>
                </a:solidFill>
                <a:effectLst/>
                <a:latin typeface="Meiryo" panose="020B0604030504040204" pitchFamily="34" charset="-128"/>
                <a:ea typeface="Meiryo" panose="020B0604030504040204" pitchFamily="34" charset="-128"/>
              </a:rPr>
              <a:t>による</a:t>
            </a:r>
            <a:r>
              <a:rPr lang="en-US" sz="3600" i="0" u="none" strike="noStrike" dirty="0" err="1">
                <a:solidFill>
                  <a:srgbClr val="000000"/>
                </a:solidFill>
                <a:effectLst/>
                <a:latin typeface="Meiryo" panose="020B0604030504040204" pitchFamily="34" charset="-128"/>
                <a:ea typeface="Meiryo" panose="020B0604030504040204" pitchFamily="34" charset="-128"/>
              </a:rPr>
              <a:t>CoAP+DTLS</a:t>
            </a:r>
            <a:r>
              <a:rPr lang="ja-JP" altLang="en-US" sz="3600" i="0" u="none" strike="noStrike">
                <a:solidFill>
                  <a:srgbClr val="000000"/>
                </a:solidFill>
                <a:effectLst/>
                <a:latin typeface="Meiryo" panose="020B0604030504040204" pitchFamily="34" charset="-128"/>
                <a:ea typeface="Meiryo" panose="020B0604030504040204" pitchFamily="34" charset="-128"/>
              </a:rPr>
              <a:t>環境における</a:t>
            </a:r>
            <a:endParaRPr lang="mn-MN" altLang="ja-JP" sz="3600" i="0" u="none" strike="noStrike" dirty="0">
              <a:solidFill>
                <a:srgbClr val="000000"/>
              </a:solidFill>
              <a:effectLst/>
              <a:latin typeface="Meiryo" panose="020B0604030504040204" pitchFamily="34" charset="-128"/>
              <a:ea typeface="Meiryo" panose="020B0604030504040204" pitchFamily="34" charset="-128"/>
            </a:endParaRPr>
          </a:p>
          <a:p>
            <a:pPr algn="ctr"/>
            <a:r>
              <a:rPr lang="en-US" sz="3600" i="0" u="none" strike="noStrike" dirty="0">
                <a:solidFill>
                  <a:srgbClr val="000000"/>
                </a:solidFill>
                <a:effectLst/>
                <a:latin typeface="Meiryo" panose="020B0604030504040204" pitchFamily="34" charset="-128"/>
                <a:ea typeface="Meiryo" panose="020B0604030504040204" pitchFamily="34" charset="-128"/>
              </a:rPr>
              <a:t>ARP</a:t>
            </a:r>
            <a:r>
              <a:rPr lang="ja-JP" altLang="en-US" sz="3600" i="0" u="none" strike="noStrike">
                <a:solidFill>
                  <a:srgbClr val="000000"/>
                </a:solidFill>
                <a:effectLst/>
                <a:latin typeface="Meiryo" panose="020B0604030504040204" pitchFamily="34" charset="-128"/>
                <a:ea typeface="Meiryo" panose="020B0604030504040204" pitchFamily="34" charset="-128"/>
              </a:rPr>
              <a:t>スプーフィング攻撃の検知手法</a:t>
            </a:r>
            <a:endParaRPr lang="en-JP" sz="36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014279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470010" y="1635919"/>
            <a:ext cx="7886700" cy="4856955"/>
          </a:xfrm>
        </p:spPr>
        <p:txBody>
          <a:bodyPr>
            <a:normAutofit lnSpcReduction="10000"/>
          </a:bodyPr>
          <a:lstStyle/>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研究背景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研究目的  </a:t>
            </a:r>
            <a:r>
              <a:rPr lang="ja-JP" altLang="en-US" sz="3100" b="1">
                <a:solidFill>
                  <a:srgbClr val="C00000"/>
                </a:solidFill>
                <a:latin typeface="Meiryo" panose="020B0604030504040204" pitchFamily="34" charset="-128"/>
                <a:ea typeface="Meiryo" panose="020B0604030504040204" pitchFamily="34" charset="-128"/>
              </a:rPr>
              <a:t> </a:t>
            </a:r>
            <a:r>
              <a:rPr lang="ja-JP" altLang="en-US" sz="3100">
                <a:latin typeface="Meiryo" panose="020B0604030504040204" pitchFamily="34" charset="-128"/>
                <a:ea typeface="Meiryo" panose="020B0604030504040204" pitchFamily="34" charset="-128"/>
              </a:rPr>
              <a:t>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関連技術・関連研究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solidFill>
                  <a:schemeClr val="tx1">
                    <a:lumMod val="95000"/>
                    <a:lumOff val="5000"/>
                  </a:schemeClr>
                </a:solidFill>
                <a:latin typeface="Meiryo" panose="020B0604030504040204" pitchFamily="34" charset="-128"/>
                <a:ea typeface="Meiryo" panose="020B0604030504040204" pitchFamily="34" charset="-128"/>
              </a:rPr>
              <a:t>提案</a:t>
            </a:r>
            <a:r>
              <a:rPr lang="ja-JP" altLang="en-US" sz="3200" i="0" u="none" strike="noStrike">
                <a:solidFill>
                  <a:srgbClr val="000000"/>
                </a:solidFill>
                <a:effectLst/>
                <a:latin typeface="Meiryo" panose="020B0604030504040204" pitchFamily="34" charset="-128"/>
                <a:ea typeface="Meiryo" panose="020B0604030504040204" pitchFamily="34" charset="-128"/>
              </a:rPr>
              <a:t>システム</a:t>
            </a:r>
            <a:endParaRPr lang="mn-MN" altLang="ja-JP" sz="3100" dirty="0">
              <a:solidFill>
                <a:schemeClr val="tx1">
                  <a:lumMod val="95000"/>
                  <a:lumOff val="5000"/>
                </a:schemeClr>
              </a:solidFill>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評価手法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0" i="0" u="none" strike="noStrike">
                <a:effectLst/>
                <a:latin typeface="Meiryo" panose="020B0604030504040204" pitchFamily="34" charset="-128"/>
                <a:ea typeface="Meiryo" panose="020B0604030504040204" pitchFamily="34" charset="-128"/>
              </a:rPr>
              <a:t>現在の進捗状況</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まとめ       </a:t>
            </a:r>
            <a:endParaRPr kumimoji="1"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endParaRPr lang="en-US" altLang="ja-JP" sz="2500" dirty="0">
              <a:latin typeface="Meiryo UI" panose="020B0604030504040204" pitchFamily="50" charset="-128"/>
              <a:ea typeface="Meiryo UI" panose="020B0604030504040204" pitchFamily="50" charset="-128"/>
            </a:endParaRPr>
          </a:p>
          <a:p>
            <a:endParaRPr lang="en-JP" sz="25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1</a:t>
            </a:fld>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50F375AD-778D-AB44-5C16-9E3EFA85933A}"/>
              </a:ext>
            </a:extLst>
          </p:cNvPr>
          <p:cNvSpPr txBox="1"/>
          <p:nvPr/>
        </p:nvSpPr>
        <p:spPr>
          <a:xfrm>
            <a:off x="5987668" y="3263465"/>
            <a:ext cx="4572000" cy="369332"/>
          </a:xfrm>
          <a:prstGeom prst="rect">
            <a:avLst/>
          </a:prstGeom>
          <a:noFill/>
        </p:spPr>
        <p:txBody>
          <a:bodyPr wrap="square">
            <a:spAutoFit/>
          </a:bodyPr>
          <a:lstStyle/>
          <a:p>
            <a:r>
              <a:rPr lang="en-JP" b="0" dirty="0">
                <a:effectLst/>
              </a:rPr>
              <a:t> </a:t>
            </a:r>
            <a:endParaRPr lang="en-JP" dirty="0"/>
          </a:p>
        </p:txBody>
      </p:sp>
    </p:spTree>
    <p:extLst>
      <p:ext uri="{BB962C8B-B14F-4D97-AF65-F5344CB8AC3E}">
        <p14:creationId xmlns:p14="http://schemas.microsoft.com/office/powerpoint/2010/main" val="2534487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470010" y="1635919"/>
            <a:ext cx="7886700" cy="4856955"/>
          </a:xfrm>
        </p:spPr>
        <p:txBody>
          <a:bodyPr>
            <a:normAutofit lnSpcReduction="10000"/>
          </a:bodyPr>
          <a:lstStyle/>
          <a:p>
            <a:pPr marL="476219" indent="-342878">
              <a:lnSpc>
                <a:spcPct val="150000"/>
              </a:lnSpc>
              <a:spcBef>
                <a:spcPts val="0"/>
              </a:spcBef>
              <a:buSzPts val="2800"/>
              <a:buFont typeface="Wingdings" pitchFamily="2" charset="2"/>
              <a:buChar char="§"/>
            </a:pPr>
            <a:r>
              <a:rPr lang="ja-JP" altLang="en-US" sz="3100" b="1">
                <a:solidFill>
                  <a:srgbClr val="C00000"/>
                </a:solidFill>
                <a:latin typeface="Meiryo" panose="020B0604030504040204" pitchFamily="34" charset="-128"/>
                <a:ea typeface="Meiryo" panose="020B0604030504040204" pitchFamily="34" charset="-128"/>
              </a:rPr>
              <a:t>研究背景 </a:t>
            </a:r>
            <a:endParaRPr lang="en-US" altLang="ja-JP" sz="3100" b="1" dirty="0">
              <a:solidFill>
                <a:srgbClr val="C00000"/>
              </a:solidFill>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研究目的  </a:t>
            </a:r>
            <a:r>
              <a:rPr lang="ja-JP" altLang="en-US" sz="3100" b="1">
                <a:solidFill>
                  <a:srgbClr val="C00000"/>
                </a:solidFill>
                <a:latin typeface="Meiryo" panose="020B0604030504040204" pitchFamily="34" charset="-128"/>
                <a:ea typeface="Meiryo" panose="020B0604030504040204" pitchFamily="34" charset="-128"/>
              </a:rPr>
              <a:t> </a:t>
            </a:r>
            <a:r>
              <a:rPr lang="ja-JP" altLang="en-US" sz="3100">
                <a:latin typeface="Meiryo" panose="020B0604030504040204" pitchFamily="34" charset="-128"/>
                <a:ea typeface="Meiryo" panose="020B0604030504040204" pitchFamily="34" charset="-128"/>
              </a:rPr>
              <a:t>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関連技術・関連研究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solidFill>
                  <a:schemeClr val="tx1">
                    <a:lumMod val="95000"/>
                    <a:lumOff val="5000"/>
                  </a:schemeClr>
                </a:solidFill>
                <a:latin typeface="Meiryo" panose="020B0604030504040204" pitchFamily="34" charset="-128"/>
                <a:ea typeface="Meiryo" panose="020B0604030504040204" pitchFamily="34" charset="-128"/>
              </a:rPr>
              <a:t>提案</a:t>
            </a:r>
            <a:r>
              <a:rPr lang="ja-JP" altLang="en-US" sz="3200" i="0" u="none" strike="noStrike">
                <a:solidFill>
                  <a:srgbClr val="000000"/>
                </a:solidFill>
                <a:effectLst/>
                <a:latin typeface="Meiryo" panose="020B0604030504040204" pitchFamily="34" charset="-128"/>
                <a:ea typeface="Meiryo" panose="020B0604030504040204" pitchFamily="34" charset="-128"/>
              </a:rPr>
              <a:t>システム</a:t>
            </a:r>
            <a:endParaRPr lang="mn-MN" altLang="ja-JP" sz="3100" dirty="0">
              <a:solidFill>
                <a:schemeClr val="tx1">
                  <a:lumMod val="95000"/>
                  <a:lumOff val="5000"/>
                </a:schemeClr>
              </a:solidFill>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評価手法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0" i="0" u="none" strike="noStrike">
                <a:effectLst/>
                <a:latin typeface="Meiryo" panose="020B0604030504040204" pitchFamily="34" charset="-128"/>
                <a:ea typeface="Meiryo" panose="020B0604030504040204" pitchFamily="34" charset="-128"/>
              </a:rPr>
              <a:t>現在の進捗状況</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まとめ       </a:t>
            </a:r>
            <a:endParaRPr kumimoji="1"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endParaRPr lang="en-US" altLang="ja-JP" sz="2500" dirty="0">
              <a:latin typeface="Meiryo UI" panose="020B0604030504040204" pitchFamily="50" charset="-128"/>
              <a:ea typeface="Meiryo UI" panose="020B0604030504040204" pitchFamily="50" charset="-128"/>
            </a:endParaRPr>
          </a:p>
          <a:p>
            <a:endParaRPr lang="en-JP" sz="25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2</a:t>
            </a:fld>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50F375AD-778D-AB44-5C16-9E3EFA85933A}"/>
              </a:ext>
            </a:extLst>
          </p:cNvPr>
          <p:cNvSpPr txBox="1"/>
          <p:nvPr/>
        </p:nvSpPr>
        <p:spPr>
          <a:xfrm>
            <a:off x="5987668" y="3263465"/>
            <a:ext cx="4572000" cy="369332"/>
          </a:xfrm>
          <a:prstGeom prst="rect">
            <a:avLst/>
          </a:prstGeom>
          <a:noFill/>
        </p:spPr>
        <p:txBody>
          <a:bodyPr wrap="square">
            <a:spAutoFit/>
          </a:bodyPr>
          <a:lstStyle/>
          <a:p>
            <a:r>
              <a:rPr lang="en-JP" b="0" dirty="0">
                <a:effectLst/>
              </a:rPr>
              <a:t> </a:t>
            </a:r>
            <a:endParaRPr lang="en-JP" dirty="0"/>
          </a:p>
        </p:txBody>
      </p:sp>
    </p:spTree>
    <p:extLst>
      <p:ext uri="{BB962C8B-B14F-4D97-AF65-F5344CB8AC3E}">
        <p14:creationId xmlns:p14="http://schemas.microsoft.com/office/powerpoint/2010/main" val="3785274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図 10">
            <a:extLst>
              <a:ext uri="{FF2B5EF4-FFF2-40B4-BE49-F238E27FC236}">
                <a16:creationId xmlns:a16="http://schemas.microsoft.com/office/drawing/2014/main" id="{39F8FBC4-24D7-97E0-240B-C9C49E978ADA}"/>
              </a:ext>
            </a:extLst>
          </p:cNvPr>
          <p:cNvPicPr>
            <a:picLocks noChangeAspect="1"/>
          </p:cNvPicPr>
          <p:nvPr/>
        </p:nvPicPr>
        <p:blipFill>
          <a:blip r:embed="rId3"/>
          <a:stretch>
            <a:fillRect/>
          </a:stretch>
        </p:blipFill>
        <p:spPr>
          <a:xfrm>
            <a:off x="261557" y="2053582"/>
            <a:ext cx="8620887" cy="3736951"/>
          </a:xfrm>
          <a:prstGeom prst="rect">
            <a:avLst/>
          </a:prstGeom>
        </p:spPr>
      </p:pic>
      <p:sp>
        <p:nvSpPr>
          <p:cNvPr id="10" name="Slide Number Placeholder 9">
            <a:extLst>
              <a:ext uri="{FF2B5EF4-FFF2-40B4-BE49-F238E27FC236}">
                <a16:creationId xmlns:a16="http://schemas.microsoft.com/office/drawing/2014/main" id="{C419F2BA-2905-DFD6-71AA-6107682B9259}"/>
              </a:ext>
            </a:extLst>
          </p:cNvPr>
          <p:cNvSpPr>
            <a:spLocks noGrp="1"/>
          </p:cNvSpPr>
          <p:nvPr>
            <p:ph type="sldNum" sz="quarter" idx="12"/>
          </p:nvPr>
        </p:nvSpPr>
        <p:spPr/>
        <p:txBody>
          <a:bodyPr/>
          <a:lstStyle/>
          <a:p>
            <a:fld id="{6CF4360A-F402-6E48-BA01-8A5E455C98CB}" type="slidenum">
              <a:rPr lang="en-JP" smtClean="0"/>
              <a:t>3</a:t>
            </a:fld>
            <a:endParaRPr lang="en-JP" dirty="0"/>
          </a:p>
        </p:txBody>
      </p:sp>
      <p:sp>
        <p:nvSpPr>
          <p:cNvPr id="13" name="TextBox 12">
            <a:extLst>
              <a:ext uri="{FF2B5EF4-FFF2-40B4-BE49-F238E27FC236}">
                <a16:creationId xmlns:a16="http://schemas.microsoft.com/office/drawing/2014/main" id="{8B053020-3255-3510-33C3-A5C17DB34F62}"/>
              </a:ext>
            </a:extLst>
          </p:cNvPr>
          <p:cNvSpPr txBox="1"/>
          <p:nvPr/>
        </p:nvSpPr>
        <p:spPr>
          <a:xfrm>
            <a:off x="122982" y="6316452"/>
            <a:ext cx="8124547" cy="502573"/>
          </a:xfrm>
          <a:prstGeom prst="rect">
            <a:avLst/>
          </a:prstGeom>
          <a:noFill/>
        </p:spPr>
        <p:txBody>
          <a:bodyPr wrap="square">
            <a:spAutoFit/>
          </a:bodyPr>
          <a:lstStyle/>
          <a:p>
            <a:r>
              <a:rPr lang="en-US" sz="1333" dirty="0">
                <a:latin typeface="Meiryo" panose="020B0604030504040204" pitchFamily="34" charset="-128"/>
                <a:ea typeface="Meiryo" panose="020B0604030504040204" pitchFamily="34" charset="-128"/>
              </a:rPr>
              <a:t>[1]Satyajit Sinha, State of IoT 2025: Number of connected IoT devices growing 14% to 21.1 billion globally, https://</a:t>
            </a:r>
            <a:r>
              <a:rPr lang="en-US" sz="1333" dirty="0" err="1">
                <a:latin typeface="Meiryo" panose="020B0604030504040204" pitchFamily="34" charset="-128"/>
                <a:ea typeface="Meiryo" panose="020B0604030504040204" pitchFamily="34" charset="-128"/>
              </a:rPr>
              <a:t>iot-analytics.com</a:t>
            </a:r>
            <a:r>
              <a:rPr lang="en-US" sz="1333" dirty="0">
                <a:latin typeface="Meiryo" panose="020B0604030504040204" pitchFamily="34" charset="-128"/>
                <a:ea typeface="Meiryo" panose="020B0604030504040204" pitchFamily="34" charset="-128"/>
              </a:rPr>
              <a:t>/number-connected-</a:t>
            </a:r>
            <a:r>
              <a:rPr lang="en-US" sz="1333" dirty="0" err="1">
                <a:latin typeface="Meiryo" panose="020B0604030504040204" pitchFamily="34" charset="-128"/>
                <a:ea typeface="Meiryo" panose="020B0604030504040204" pitchFamily="34" charset="-128"/>
              </a:rPr>
              <a:t>iot</a:t>
            </a:r>
            <a:r>
              <a:rPr lang="en-US" sz="1333" dirty="0">
                <a:latin typeface="Meiryo" panose="020B0604030504040204" pitchFamily="34" charset="-128"/>
                <a:ea typeface="Meiryo" panose="020B0604030504040204" pitchFamily="34" charset="-128"/>
              </a:rPr>
              <a:t>-devices/  (参照日:2025/11/27)</a:t>
            </a:r>
          </a:p>
        </p:txBody>
      </p:sp>
      <p:sp>
        <p:nvSpPr>
          <p:cNvPr id="2" name="Title 1">
            <a:extLst>
              <a:ext uri="{FF2B5EF4-FFF2-40B4-BE49-F238E27FC236}">
                <a16:creationId xmlns:a16="http://schemas.microsoft.com/office/drawing/2014/main" id="{3C863840-7BC9-4184-065D-D1BC5DCB1BAB}"/>
              </a:ext>
            </a:extLst>
          </p:cNvPr>
          <p:cNvSpPr>
            <a:spLocks noGrp="1"/>
          </p:cNvSpPr>
          <p:nvPr>
            <p:ph type="title"/>
          </p:nvPr>
        </p:nvSpPr>
        <p:spPr>
          <a:xfrm>
            <a:off x="0" y="134234"/>
            <a:ext cx="5867400" cy="1325563"/>
          </a:xfrm>
        </p:spPr>
        <p:txBody>
          <a:bodyPr>
            <a:normAutofit/>
          </a:bodyPr>
          <a:lstStyle/>
          <a:p>
            <a:pPr marL="571500" indent="-571500">
              <a:buFont typeface="Wingdings" pitchFamily="2" charset="2"/>
              <a:buChar char="Ø"/>
            </a:pPr>
            <a:r>
              <a:rPr lang="en-US" sz="3200" b="1" dirty="0">
                <a:latin typeface="Meiryo" panose="020B0604030504040204" pitchFamily="34" charset="-128"/>
                <a:ea typeface="Meiryo" panose="020B0604030504040204" pitchFamily="34" charset="-128"/>
              </a:rPr>
              <a:t>IoT</a:t>
            </a:r>
            <a:r>
              <a:rPr lang="ja-JP" altLang="en-US" sz="3200" b="1">
                <a:latin typeface="Meiryo" panose="020B0604030504040204" pitchFamily="34" charset="-128"/>
                <a:ea typeface="Meiryo" panose="020B0604030504040204" pitchFamily="34" charset="-128"/>
              </a:rPr>
              <a:t>デバイス数の推移</a:t>
            </a:r>
            <a:r>
              <a:rPr lang="en-US" altLang="ja-JP" sz="2000" dirty="0">
                <a:latin typeface="Meiryo" panose="020B0604030504040204" pitchFamily="34" charset="-128"/>
                <a:ea typeface="Meiryo" panose="020B0604030504040204" pitchFamily="34" charset="-128"/>
              </a:rPr>
              <a:t>[1]</a:t>
            </a:r>
            <a:endParaRPr lang="en-JP" sz="2000" dirty="0">
              <a:latin typeface="Meiryo" panose="020B0604030504040204" pitchFamily="34" charset="-128"/>
              <a:ea typeface="Meiryo" panose="020B0604030504040204" pitchFamily="34" charset="-128"/>
            </a:endParaRPr>
          </a:p>
        </p:txBody>
      </p:sp>
      <p:sp>
        <p:nvSpPr>
          <p:cNvPr id="5" name="正方形/長方形 4">
            <a:extLst>
              <a:ext uri="{FF2B5EF4-FFF2-40B4-BE49-F238E27FC236}">
                <a16:creationId xmlns:a16="http://schemas.microsoft.com/office/drawing/2014/main" id="{BDAC89E7-51F4-1D06-4034-A88182D4ED82}"/>
              </a:ext>
            </a:extLst>
          </p:cNvPr>
          <p:cNvSpPr/>
          <p:nvPr/>
        </p:nvSpPr>
        <p:spPr>
          <a:xfrm>
            <a:off x="2497428" y="5599322"/>
            <a:ext cx="429235" cy="22008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6" name="正方形/長方形 5">
            <a:extLst>
              <a:ext uri="{FF2B5EF4-FFF2-40B4-BE49-F238E27FC236}">
                <a16:creationId xmlns:a16="http://schemas.microsoft.com/office/drawing/2014/main" id="{18C51983-F570-1557-571B-88E9D3B1A7A9}"/>
              </a:ext>
            </a:extLst>
          </p:cNvPr>
          <p:cNvSpPr/>
          <p:nvPr/>
        </p:nvSpPr>
        <p:spPr>
          <a:xfrm>
            <a:off x="6641999" y="5601718"/>
            <a:ext cx="390213" cy="24209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9" name="正方形/長方形 8">
            <a:extLst>
              <a:ext uri="{FF2B5EF4-FFF2-40B4-BE49-F238E27FC236}">
                <a16:creationId xmlns:a16="http://schemas.microsoft.com/office/drawing/2014/main" id="{C3B0B5EB-3318-4B7F-74DC-DD53A8EB987B}"/>
              </a:ext>
            </a:extLst>
          </p:cNvPr>
          <p:cNvSpPr/>
          <p:nvPr/>
        </p:nvSpPr>
        <p:spPr>
          <a:xfrm>
            <a:off x="8740589" y="1367118"/>
            <a:ext cx="324971" cy="4191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8" name="角丸四角形吹き出し 83">
            <a:extLst>
              <a:ext uri="{FF2B5EF4-FFF2-40B4-BE49-F238E27FC236}">
                <a16:creationId xmlns:a16="http://schemas.microsoft.com/office/drawing/2014/main" id="{8CEB5C6A-D7B1-4783-4299-1870967C1D73}"/>
              </a:ext>
            </a:extLst>
          </p:cNvPr>
          <p:cNvSpPr/>
          <p:nvPr/>
        </p:nvSpPr>
        <p:spPr>
          <a:xfrm>
            <a:off x="6029326" y="228601"/>
            <a:ext cx="3025028" cy="1845204"/>
          </a:xfrm>
          <a:prstGeom prst="wedgeRoundRectCallout">
            <a:avLst>
              <a:gd name="adj1" fmla="val -31839"/>
              <a:gd name="adj2" fmla="val 66931"/>
              <a:gd name="adj3" fmla="val 16667"/>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333" dirty="0">
                <a:solidFill>
                  <a:schemeClr val="tx1"/>
                </a:solidFill>
                <a:latin typeface="Meiryo" panose="020B0604030504040204" pitchFamily="34" charset="-128"/>
                <a:ea typeface="Meiryo" panose="020B0604030504040204" pitchFamily="34" charset="-128"/>
              </a:rPr>
              <a:t>2025</a:t>
            </a:r>
            <a:r>
              <a:rPr lang="ja-JP" altLang="en-US" sz="2333">
                <a:solidFill>
                  <a:schemeClr val="tx1"/>
                </a:solidFill>
                <a:latin typeface="Meiryo" panose="020B0604030504040204" pitchFamily="34" charset="-128"/>
                <a:ea typeface="Meiryo" panose="020B0604030504040204" pitchFamily="34" charset="-128"/>
              </a:rPr>
              <a:t>年は </a:t>
            </a:r>
            <a:r>
              <a:rPr lang="en-US" altLang="ja-JP" sz="2333" b="1" dirty="0">
                <a:solidFill>
                  <a:schemeClr val="tx1"/>
                </a:solidFill>
                <a:latin typeface="Meiryo" panose="020B0604030504040204" pitchFamily="34" charset="-128"/>
                <a:ea typeface="Meiryo" panose="020B0604030504040204" pitchFamily="34" charset="-128"/>
              </a:rPr>
              <a:t>211</a:t>
            </a:r>
            <a:r>
              <a:rPr lang="ja-JP" altLang="en-US" sz="2333" b="1">
                <a:solidFill>
                  <a:schemeClr val="tx1"/>
                </a:solidFill>
                <a:latin typeface="Meiryo" panose="020B0604030504040204" pitchFamily="34" charset="-128"/>
                <a:ea typeface="Meiryo" panose="020B0604030504040204" pitchFamily="34" charset="-128"/>
              </a:rPr>
              <a:t>億</a:t>
            </a:r>
            <a:r>
              <a:rPr lang="ja-JP" altLang="en-US" sz="2333">
                <a:solidFill>
                  <a:schemeClr val="tx1"/>
                </a:solidFill>
                <a:latin typeface="Meiryo" panose="020B0604030504040204" pitchFamily="34" charset="-128"/>
                <a:ea typeface="Meiryo" panose="020B0604030504040204" pitchFamily="34" charset="-128"/>
              </a:rPr>
              <a:t>、</a:t>
            </a:r>
            <a:br>
              <a:rPr lang="en-US" altLang="ja-JP" sz="2333" dirty="0">
                <a:solidFill>
                  <a:schemeClr val="tx1"/>
                </a:solidFill>
                <a:latin typeface="Meiryo" panose="020B0604030504040204" pitchFamily="34" charset="-128"/>
                <a:ea typeface="Meiryo" panose="020B0604030504040204" pitchFamily="34" charset="-128"/>
              </a:rPr>
            </a:br>
            <a:r>
              <a:rPr lang="en-US" altLang="ja-JP" sz="2333" dirty="0">
                <a:solidFill>
                  <a:schemeClr val="tx1"/>
                </a:solidFill>
                <a:latin typeface="Meiryo" panose="020B0604030504040204" pitchFamily="34" charset="-128"/>
                <a:ea typeface="Meiryo" panose="020B0604030504040204" pitchFamily="34" charset="-128"/>
              </a:rPr>
              <a:t>2035</a:t>
            </a:r>
            <a:r>
              <a:rPr lang="ja-JP" altLang="en-US" sz="2333">
                <a:solidFill>
                  <a:schemeClr val="tx1"/>
                </a:solidFill>
                <a:latin typeface="Meiryo" panose="020B0604030504040204" pitchFamily="34" charset="-128"/>
                <a:ea typeface="Meiryo" panose="020B0604030504040204" pitchFamily="34" charset="-128"/>
              </a:rPr>
              <a:t>年は </a:t>
            </a:r>
            <a:r>
              <a:rPr lang="en-US" altLang="ja-JP" sz="2333" b="1" dirty="0">
                <a:solidFill>
                  <a:schemeClr val="tx1"/>
                </a:solidFill>
                <a:latin typeface="Meiryo" panose="020B0604030504040204" pitchFamily="34" charset="-128"/>
                <a:ea typeface="Meiryo" panose="020B0604030504040204" pitchFamily="34" charset="-128"/>
              </a:rPr>
              <a:t>550</a:t>
            </a:r>
            <a:r>
              <a:rPr lang="ja-JP" altLang="en-US" sz="2333" b="1">
                <a:solidFill>
                  <a:schemeClr val="tx1"/>
                </a:solidFill>
                <a:latin typeface="Meiryo" panose="020B0604030504040204" pitchFamily="34" charset="-128"/>
                <a:ea typeface="Meiryo" panose="020B0604030504040204" pitchFamily="34" charset="-128"/>
              </a:rPr>
              <a:t>億</a:t>
            </a:r>
            <a:r>
              <a:rPr lang="ja-JP" altLang="en-US" sz="2333">
                <a:solidFill>
                  <a:schemeClr val="tx1"/>
                </a:solidFill>
                <a:latin typeface="Meiryo" panose="020B0604030504040204" pitchFamily="34" charset="-128"/>
                <a:ea typeface="Meiryo" panose="020B0604030504040204" pitchFamily="34" charset="-128"/>
              </a:rPr>
              <a:t>に</a:t>
            </a:r>
            <a:br>
              <a:rPr lang="en-US" altLang="ja-JP" sz="2333" dirty="0">
                <a:solidFill>
                  <a:schemeClr val="tx1"/>
                </a:solidFill>
                <a:latin typeface="Meiryo" panose="020B0604030504040204" pitchFamily="34" charset="-128"/>
                <a:ea typeface="Meiryo" panose="020B0604030504040204" pitchFamily="34" charset="-128"/>
              </a:rPr>
            </a:br>
            <a:r>
              <a:rPr lang="ja-JP" altLang="en-US" sz="2333">
                <a:solidFill>
                  <a:schemeClr val="tx1"/>
                </a:solidFill>
                <a:latin typeface="Meiryo" panose="020B0604030504040204" pitchFamily="34" charset="-128"/>
                <a:ea typeface="Meiryo" panose="020B0604030504040204" pitchFamily="34" charset="-128"/>
              </a:rPr>
              <a:t>増加する見込み</a:t>
            </a:r>
            <a:endParaRPr lang="en-US" altLang="ja-JP" sz="2333" dirty="0">
              <a:solidFill>
                <a:schemeClr val="tx1"/>
              </a:solidFill>
              <a:latin typeface="Meiryo" panose="020B0604030504040204" pitchFamily="34" charset="-128"/>
              <a:ea typeface="Meiryo" panose="020B0604030504040204" pitchFamily="34" charset="-128"/>
            </a:endParaRPr>
          </a:p>
          <a:p>
            <a:pPr algn="ctr"/>
            <a:r>
              <a:rPr lang="en-US" sz="2000" dirty="0">
                <a:solidFill>
                  <a:schemeClr val="tx1"/>
                </a:solidFill>
                <a:latin typeface="Meiryo" panose="020B0604030504040204" pitchFamily="34" charset="-128"/>
                <a:ea typeface="Meiryo" panose="020B0604030504040204" pitchFamily="34" charset="-128"/>
              </a:rPr>
              <a:t>(2025年10月時点)</a:t>
            </a:r>
            <a:endParaRPr lang="en-JP" sz="1167"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361415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18D9E6-0DA4-1456-EA60-A439F3892696}"/>
              </a:ext>
            </a:extLst>
          </p:cNvPr>
          <p:cNvSpPr>
            <a:spLocks noGrp="1"/>
          </p:cNvSpPr>
          <p:nvPr>
            <p:ph type="sldNum" sz="quarter" idx="12"/>
          </p:nvPr>
        </p:nvSpPr>
        <p:spPr/>
        <p:txBody>
          <a:bodyPr/>
          <a:lstStyle/>
          <a:p>
            <a:fld id="{BB44241B-2579-694C-B40C-A1E3D5F0E4EC}" type="slidenum">
              <a:rPr lang="en-JP"/>
              <a:t>4</a:t>
            </a:fld>
            <a:endParaRPr lang="en-JP" dirty="0"/>
          </a:p>
        </p:txBody>
      </p:sp>
      <p:sp>
        <p:nvSpPr>
          <p:cNvPr id="12" name="TextBox 12">
            <a:extLst>
              <a:ext uri="{FF2B5EF4-FFF2-40B4-BE49-F238E27FC236}">
                <a16:creationId xmlns:a16="http://schemas.microsoft.com/office/drawing/2014/main" id="{63C5E2FA-D74F-80A6-404F-8FE976F27B2B}"/>
              </a:ext>
            </a:extLst>
          </p:cNvPr>
          <p:cNvSpPr txBox="1"/>
          <p:nvPr/>
        </p:nvSpPr>
        <p:spPr>
          <a:xfrm>
            <a:off x="112406" y="6321300"/>
            <a:ext cx="8079094" cy="415498"/>
          </a:xfrm>
          <a:prstGeom prst="rect">
            <a:avLst/>
          </a:prstGeom>
          <a:noFill/>
        </p:spPr>
        <p:txBody>
          <a:bodyPr wrap="square">
            <a:spAutoFit/>
          </a:bodyPr>
          <a:lstStyle/>
          <a:p>
            <a:r>
              <a:rPr lang="en-US" sz="1050" dirty="0">
                <a:latin typeface="Meiryo" panose="020B0604030504040204" pitchFamily="34" charset="-128"/>
                <a:ea typeface="Meiryo" panose="020B0604030504040204" pitchFamily="34" charset="-128"/>
              </a:rPr>
              <a:t>[2]</a:t>
            </a:r>
            <a:r>
              <a:rPr lang="en-US" sz="1050" dirty="0" err="1">
                <a:latin typeface="Meiryo" panose="020B0604030504040204" pitchFamily="34" charset="-128"/>
                <a:ea typeface="Meiryo" panose="020B0604030504040204" pitchFamily="34" charset="-128"/>
              </a:rPr>
              <a:t>Chimdesa</a:t>
            </a:r>
            <a:r>
              <a:rPr lang="en-US" sz="1050" dirty="0">
                <a:latin typeface="Meiryo" panose="020B0604030504040204" pitchFamily="34" charset="-128"/>
                <a:ea typeface="Meiryo" panose="020B0604030504040204" pitchFamily="34" charset="-128"/>
              </a:rPr>
              <a:t> </a:t>
            </a:r>
            <a:r>
              <a:rPr lang="en-US" sz="1050" dirty="0" err="1">
                <a:latin typeface="Meiryo" panose="020B0604030504040204" pitchFamily="34" charset="-128"/>
                <a:ea typeface="Meiryo" panose="020B0604030504040204" pitchFamily="34" charset="-128"/>
              </a:rPr>
              <a:t>Diriba</a:t>
            </a:r>
            <a:r>
              <a:rPr lang="en-US" sz="1050" dirty="0">
                <a:latin typeface="Meiryo" panose="020B0604030504040204" pitchFamily="34" charset="-128"/>
                <a:ea typeface="Meiryo" panose="020B0604030504040204" pitchFamily="34" charset="-128"/>
              </a:rPr>
              <a:t>, What are the Top IoT Security issues ?, https://</a:t>
            </a:r>
            <a:r>
              <a:rPr lang="en-US" sz="1050" dirty="0" err="1">
                <a:latin typeface="Meiryo" panose="020B0604030504040204" pitchFamily="34" charset="-128"/>
                <a:ea typeface="Meiryo" panose="020B0604030504040204" pitchFamily="34" charset="-128"/>
              </a:rPr>
              <a:t>teleforum.ethiotelecom.et</a:t>
            </a:r>
            <a:r>
              <a:rPr lang="en-US" sz="1050" dirty="0">
                <a:latin typeface="Meiryo" panose="020B0604030504040204" pitchFamily="34" charset="-128"/>
                <a:ea typeface="Meiryo" panose="020B0604030504040204" pitchFamily="34" charset="-128"/>
              </a:rPr>
              <a:t>/blogs/2100/What-are-the-Top-IoT-Security-issues(参照日:2025/11/27)</a:t>
            </a:r>
          </a:p>
        </p:txBody>
      </p:sp>
      <p:pic>
        <p:nvPicPr>
          <p:cNvPr id="19" name="Picture 18">
            <a:extLst>
              <a:ext uri="{FF2B5EF4-FFF2-40B4-BE49-F238E27FC236}">
                <a16:creationId xmlns:a16="http://schemas.microsoft.com/office/drawing/2014/main" id="{08F37175-F7C4-304E-F588-B36F856642A5}"/>
              </a:ext>
            </a:extLst>
          </p:cNvPr>
          <p:cNvPicPr>
            <a:picLocks noChangeAspect="1"/>
          </p:cNvPicPr>
          <p:nvPr/>
        </p:nvPicPr>
        <p:blipFill>
          <a:blip r:embed="rId3"/>
          <a:stretch>
            <a:fillRect/>
          </a:stretch>
        </p:blipFill>
        <p:spPr>
          <a:xfrm>
            <a:off x="0" y="2204929"/>
            <a:ext cx="9144000" cy="4116371"/>
          </a:xfrm>
          <a:prstGeom prst="rect">
            <a:avLst/>
          </a:prstGeom>
        </p:spPr>
      </p:pic>
      <p:sp>
        <p:nvSpPr>
          <p:cNvPr id="20" name="Shape 4">
            <a:extLst>
              <a:ext uri="{FF2B5EF4-FFF2-40B4-BE49-F238E27FC236}">
                <a16:creationId xmlns:a16="http://schemas.microsoft.com/office/drawing/2014/main" id="{ABC4A2D3-9154-F55C-C665-EE8B1C4BE7C2}"/>
              </a:ext>
            </a:extLst>
          </p:cNvPr>
          <p:cNvSpPr/>
          <p:nvPr/>
        </p:nvSpPr>
        <p:spPr>
          <a:xfrm>
            <a:off x="0" y="845852"/>
            <a:ext cx="5145394" cy="384048"/>
          </a:xfrm>
          <a:prstGeom prst="rect">
            <a:avLst/>
          </a:prstGeom>
          <a:solidFill>
            <a:schemeClr val="bg2"/>
          </a:solidFill>
          <a:ln w="12700">
            <a:solidFill>
              <a:srgbClr val="2563A8"/>
            </a:solidFill>
            <a:prstDash val="solid"/>
          </a:ln>
        </p:spPr>
        <p:txBody>
          <a:bodyPr/>
          <a:lstStyle/>
          <a:p>
            <a:r>
              <a:rPr lang="en-US" altLang="ja-JP" sz="2000" b="1" dirty="0">
                <a:latin typeface="Meiryo" panose="020B0604030504040204" pitchFamily="34" charset="-128"/>
                <a:ea typeface="Meiryo" panose="020B0604030504040204" pitchFamily="34" charset="-128"/>
              </a:rPr>
              <a:t>46%</a:t>
            </a:r>
            <a:r>
              <a:rPr lang="ja-JP" altLang="en-US" sz="2000" b="1">
                <a:latin typeface="Meiryo" panose="020B0604030504040204" pitchFamily="34" charset="-128"/>
                <a:ea typeface="Meiryo" panose="020B0604030504040204" pitchFamily="34" charset="-128"/>
              </a:rPr>
              <a:t>：</a:t>
            </a:r>
            <a:r>
              <a:rPr lang="ja-JP" altLang="en-US" sz="2000">
                <a:latin typeface="Meiryo" panose="020B0604030504040204" pitchFamily="34" charset="-128"/>
                <a:ea typeface="Meiryo" panose="020B0604030504040204" pitchFamily="34" charset="-128"/>
              </a:rPr>
              <a:t>ランサムウェア攻撃が増加</a:t>
            </a:r>
            <a:endParaRPr kumimoji="1" lang="ja-JP" altLang="en-US" sz="2000">
              <a:latin typeface="Meiryo" panose="020B0604030504040204" pitchFamily="34" charset="-128"/>
              <a:ea typeface="Meiryo" panose="020B0604030504040204" pitchFamily="34" charset="-128"/>
            </a:endParaRPr>
          </a:p>
          <a:p>
            <a:endParaRPr lang="en-JP" sz="2000" b="1" dirty="0">
              <a:latin typeface="Meiryo" panose="020B0604030504040204" pitchFamily="34" charset="-128"/>
              <a:ea typeface="Meiryo" panose="020B0604030504040204" pitchFamily="34" charset="-128"/>
            </a:endParaRPr>
          </a:p>
        </p:txBody>
      </p:sp>
      <p:sp>
        <p:nvSpPr>
          <p:cNvPr id="21" name="Shape 4">
            <a:extLst>
              <a:ext uri="{FF2B5EF4-FFF2-40B4-BE49-F238E27FC236}">
                <a16:creationId xmlns:a16="http://schemas.microsoft.com/office/drawing/2014/main" id="{8BD00668-439D-0985-C671-63EA79DFC1C8}"/>
              </a:ext>
            </a:extLst>
          </p:cNvPr>
          <p:cNvSpPr/>
          <p:nvPr/>
        </p:nvSpPr>
        <p:spPr>
          <a:xfrm>
            <a:off x="0" y="1264023"/>
            <a:ext cx="5145394" cy="464401"/>
          </a:xfrm>
          <a:prstGeom prst="rect">
            <a:avLst/>
          </a:prstGeom>
          <a:solidFill>
            <a:schemeClr val="bg2"/>
          </a:solidFill>
          <a:ln w="12700">
            <a:solidFill>
              <a:srgbClr val="2563A8"/>
            </a:solidFill>
            <a:prstDash val="solid"/>
          </a:ln>
        </p:spPr>
        <p:txBody>
          <a:bodyPr/>
          <a:lstStyle/>
          <a:p>
            <a:r>
              <a:rPr lang="en-US" altLang="ja-JP" sz="2000" b="1" dirty="0">
                <a:latin typeface="Meiryo" panose="020B0604030504040204" pitchFamily="34" charset="-128"/>
                <a:ea typeface="Meiryo" panose="020B0604030504040204" pitchFamily="34" charset="-128"/>
              </a:rPr>
              <a:t>12,000+</a:t>
            </a:r>
            <a:r>
              <a:rPr lang="ja-JP" altLang="en-US" sz="2000">
                <a:latin typeface="Meiryo" panose="020B0604030504040204" pitchFamily="34" charset="-128"/>
                <a:ea typeface="Meiryo" panose="020B0604030504040204" pitchFamily="34" charset="-128"/>
              </a:rPr>
              <a:t>：新しいランサムウェアの種類</a:t>
            </a:r>
            <a:endParaRPr kumimoji="1" lang="ja-JP" altLang="en-US" sz="2000" b="1">
              <a:latin typeface="Meiryo" panose="020B0604030504040204" pitchFamily="34" charset="-128"/>
              <a:ea typeface="Meiryo" panose="020B0604030504040204" pitchFamily="34" charset="-128"/>
            </a:endParaRPr>
          </a:p>
          <a:p>
            <a:endParaRPr lang="en-JP" sz="2000" b="1" dirty="0">
              <a:latin typeface="Meiryo" panose="020B0604030504040204" pitchFamily="34" charset="-128"/>
              <a:ea typeface="Meiryo" panose="020B0604030504040204" pitchFamily="34" charset="-128"/>
            </a:endParaRPr>
          </a:p>
        </p:txBody>
      </p:sp>
      <p:sp>
        <p:nvSpPr>
          <p:cNvPr id="22" name="Shape 4">
            <a:extLst>
              <a:ext uri="{FF2B5EF4-FFF2-40B4-BE49-F238E27FC236}">
                <a16:creationId xmlns:a16="http://schemas.microsoft.com/office/drawing/2014/main" id="{0EF9ACDA-C69E-403E-FA3B-0002BFAD7FE6}"/>
              </a:ext>
            </a:extLst>
          </p:cNvPr>
          <p:cNvSpPr/>
          <p:nvPr/>
        </p:nvSpPr>
        <p:spPr>
          <a:xfrm>
            <a:off x="0" y="1774653"/>
            <a:ext cx="5145394" cy="384048"/>
          </a:xfrm>
          <a:prstGeom prst="rect">
            <a:avLst/>
          </a:prstGeom>
          <a:solidFill>
            <a:schemeClr val="bg2"/>
          </a:solidFill>
          <a:ln w="12700">
            <a:solidFill>
              <a:srgbClr val="2563A8"/>
            </a:solidFill>
            <a:prstDash val="solid"/>
          </a:ln>
        </p:spPr>
        <p:txBody>
          <a:bodyPr/>
          <a:lstStyle/>
          <a:p>
            <a:r>
              <a:rPr lang="en-US" altLang="ja-JP" sz="2000" b="1" dirty="0">
                <a:latin typeface="Meiryo" panose="020B0604030504040204" pitchFamily="34" charset="-128"/>
                <a:ea typeface="Meiryo" panose="020B0604030504040204" pitchFamily="34" charset="-128"/>
              </a:rPr>
              <a:t>12,000+</a:t>
            </a:r>
            <a:r>
              <a:rPr lang="ja-JP" altLang="en-US" sz="2000" b="1">
                <a:latin typeface="Meiryo" panose="020B0604030504040204" pitchFamily="34" charset="-128"/>
                <a:ea typeface="Meiryo" panose="020B0604030504040204" pitchFamily="34" charset="-128"/>
              </a:rPr>
              <a:t>：</a:t>
            </a:r>
            <a:r>
              <a:rPr lang="ja-JP" altLang="en-US" sz="2000">
                <a:latin typeface="Meiryo" panose="020B0604030504040204" pitchFamily="34" charset="-128"/>
                <a:ea typeface="Meiryo" panose="020B0604030504040204" pitchFamily="34" charset="-128"/>
              </a:rPr>
              <a:t>新しいランサムウェアの種類</a:t>
            </a:r>
            <a:endParaRPr kumimoji="1" lang="ja-JP" altLang="en-US" sz="2000">
              <a:latin typeface="Meiryo" panose="020B0604030504040204" pitchFamily="34" charset="-128"/>
              <a:ea typeface="Meiryo" panose="020B0604030504040204" pitchFamily="34" charset="-128"/>
            </a:endParaRPr>
          </a:p>
          <a:p>
            <a:endParaRPr lang="en-JP" sz="2000" b="1" dirty="0">
              <a:latin typeface="Meiryo" panose="020B0604030504040204" pitchFamily="34" charset="-128"/>
              <a:ea typeface="Meiryo" panose="020B0604030504040204" pitchFamily="34" charset="-128"/>
            </a:endParaRPr>
          </a:p>
        </p:txBody>
      </p:sp>
      <p:sp>
        <p:nvSpPr>
          <p:cNvPr id="23" name="Shape 4">
            <a:extLst>
              <a:ext uri="{FF2B5EF4-FFF2-40B4-BE49-F238E27FC236}">
                <a16:creationId xmlns:a16="http://schemas.microsoft.com/office/drawing/2014/main" id="{5FCD9458-222A-F0E8-A7A4-773963029AB4}"/>
              </a:ext>
            </a:extLst>
          </p:cNvPr>
          <p:cNvSpPr/>
          <p:nvPr/>
        </p:nvSpPr>
        <p:spPr>
          <a:xfrm>
            <a:off x="5178731" y="845851"/>
            <a:ext cx="3965270" cy="1312850"/>
          </a:xfrm>
          <a:prstGeom prst="rect">
            <a:avLst/>
          </a:prstGeom>
          <a:solidFill>
            <a:schemeClr val="bg2"/>
          </a:solidFill>
          <a:ln w="12700">
            <a:solidFill>
              <a:srgbClr val="2563A8"/>
            </a:solidFill>
            <a:prstDash val="solid"/>
          </a:ln>
        </p:spPr>
        <p:txBody>
          <a:bodyPr/>
          <a:lstStyle/>
          <a:p>
            <a:r>
              <a:rPr lang="en-US" sz="2000" b="1" dirty="0">
                <a:latin typeface="Meiryo" panose="020B0604030504040204" pitchFamily="34" charset="-128"/>
                <a:ea typeface="Meiryo" panose="020B0604030504040204" pitchFamily="34" charset="-128"/>
              </a:rPr>
              <a:t>50%:</a:t>
            </a:r>
            <a:r>
              <a:rPr lang="en-US" sz="2000" dirty="0">
                <a:latin typeface="Meiryo" panose="020B0604030504040204" pitchFamily="34" charset="-128"/>
                <a:ea typeface="Meiryo" panose="020B0604030504040204" pitchFamily="34" charset="-128"/>
              </a:rPr>
              <a:t>OT</a:t>
            </a:r>
            <a:r>
              <a:rPr lang="ja-JP" altLang="en-US" sz="2000">
                <a:latin typeface="Meiryo" panose="020B0604030504040204" pitchFamily="34" charset="-128"/>
                <a:ea typeface="Meiryo" panose="020B0604030504040204" pitchFamily="34" charset="-128"/>
              </a:rPr>
              <a:t>攻撃が報告の半分を</a:t>
            </a:r>
            <a:endParaRPr lang="en-US" altLang="ja-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占める</a:t>
            </a:r>
            <a:endParaRPr lang="en-US" altLang="ja-JP" sz="2000" dirty="0">
              <a:latin typeface="Meiryo" panose="020B0604030504040204" pitchFamily="34" charset="-128"/>
              <a:ea typeface="Meiryo" panose="020B0604030504040204" pitchFamily="34" charset="-128"/>
            </a:endParaRPr>
          </a:p>
          <a:p>
            <a:r>
              <a:rPr lang="en-US" altLang="ja-JP" sz="2000" b="1" dirty="0">
                <a:latin typeface="Meiryo" panose="020B0604030504040204" pitchFamily="34" charset="-128"/>
                <a:ea typeface="Meiryo" panose="020B0604030504040204" pitchFamily="34" charset="-128"/>
              </a:rPr>
              <a:t>820,000</a:t>
            </a:r>
            <a:r>
              <a:rPr lang="ja-JP" altLang="en-US" sz="2000" b="1">
                <a:latin typeface="Meiryo" panose="020B0604030504040204" pitchFamily="34" charset="-128"/>
                <a:ea typeface="Meiryo" panose="020B0604030504040204" pitchFamily="34" charset="-128"/>
              </a:rPr>
              <a:t>：</a:t>
            </a:r>
            <a:r>
              <a:rPr lang="en-US" altLang="ja-JP" sz="2000" dirty="0">
                <a:latin typeface="Meiryo" panose="020B0604030504040204" pitchFamily="34" charset="-128"/>
                <a:ea typeface="Meiryo" panose="020B0604030504040204" pitchFamily="34" charset="-128"/>
              </a:rPr>
              <a:t>1</a:t>
            </a:r>
            <a:r>
              <a:rPr lang="ja-JP" altLang="en-US" sz="2000">
                <a:latin typeface="Meiryo" panose="020B0604030504040204" pitchFamily="34" charset="-128"/>
                <a:ea typeface="Meiryo" panose="020B0604030504040204" pitchFamily="34" charset="-128"/>
              </a:rPr>
              <a:t>日あたりの</a:t>
            </a:r>
            <a:r>
              <a:rPr lang="en-US" sz="2000" dirty="0">
                <a:latin typeface="Meiryo" panose="020B0604030504040204" pitchFamily="34" charset="-128"/>
                <a:ea typeface="Meiryo" panose="020B0604030504040204" pitchFamily="34" charset="-128"/>
              </a:rPr>
              <a:t>IoT</a:t>
            </a:r>
            <a:r>
              <a:rPr lang="ja-JP" altLang="en-US" sz="2000">
                <a:latin typeface="Meiryo" panose="020B0604030504040204" pitchFamily="34" charset="-128"/>
                <a:ea typeface="Meiryo" panose="020B0604030504040204" pitchFamily="34" charset="-128"/>
              </a:rPr>
              <a:t>攻撃数</a:t>
            </a:r>
            <a:endParaRPr lang="en-JP" sz="2000" dirty="0">
              <a:latin typeface="Meiryo" panose="020B0604030504040204" pitchFamily="34" charset="-128"/>
              <a:ea typeface="Meiryo" panose="020B0604030504040204" pitchFamily="34" charset="-128"/>
            </a:endParaRPr>
          </a:p>
          <a:p>
            <a:endParaRPr lang="en-JP" sz="2000" b="1" dirty="0">
              <a:latin typeface="Meiryo" panose="020B0604030504040204" pitchFamily="34" charset="-128"/>
              <a:ea typeface="Meiryo" panose="020B0604030504040204" pitchFamily="34" charset="-128"/>
            </a:endParaRPr>
          </a:p>
        </p:txBody>
      </p:sp>
      <p:sp>
        <p:nvSpPr>
          <p:cNvPr id="26" name="TextBox 25">
            <a:extLst>
              <a:ext uri="{FF2B5EF4-FFF2-40B4-BE49-F238E27FC236}">
                <a16:creationId xmlns:a16="http://schemas.microsoft.com/office/drawing/2014/main" id="{2BC055A7-DDA1-3B86-D328-93C8A5D6FB6D}"/>
              </a:ext>
            </a:extLst>
          </p:cNvPr>
          <p:cNvSpPr txBox="1"/>
          <p:nvPr/>
        </p:nvSpPr>
        <p:spPr>
          <a:xfrm>
            <a:off x="0" y="140576"/>
            <a:ext cx="8943975" cy="1077218"/>
          </a:xfrm>
          <a:prstGeom prst="rect">
            <a:avLst/>
          </a:prstGeom>
          <a:noFill/>
        </p:spPr>
        <p:txBody>
          <a:bodyPr wrap="square">
            <a:spAutoFit/>
          </a:bodyPr>
          <a:lstStyle/>
          <a:p>
            <a:pPr marL="457200" indent="-457200">
              <a:buFont typeface="Wingdings" pitchFamily="2" charset="2"/>
              <a:buChar char="Ø"/>
            </a:pPr>
            <a:r>
              <a:rPr lang="en-US" sz="3200" b="1" dirty="0">
                <a:latin typeface="Meiryo" panose="020B0604030504040204" pitchFamily="34" charset="-128"/>
                <a:ea typeface="Meiryo" panose="020B0604030504040204" pitchFamily="34" charset="-128"/>
              </a:rPr>
              <a:t>IoT</a:t>
            </a:r>
            <a:r>
              <a:rPr lang="ja-JP" altLang="en-US" sz="3200" b="1">
                <a:latin typeface="Meiryo" panose="020B0604030504040204" pitchFamily="34" charset="-128"/>
                <a:ea typeface="Meiryo" panose="020B0604030504040204" pitchFamily="34" charset="-128"/>
              </a:rPr>
              <a:t>デバイスに対する主な攻撃</a:t>
            </a:r>
            <a:r>
              <a:rPr lang="en-US" altLang="ja-JP" sz="2000" dirty="0">
                <a:latin typeface="Meiryo" panose="020B0604030504040204" pitchFamily="34" charset="-128"/>
                <a:ea typeface="Meiryo" panose="020B0604030504040204" pitchFamily="34" charset="-128"/>
              </a:rPr>
              <a:t>[2]</a:t>
            </a:r>
            <a:endParaRPr lang="en-JP" sz="2000" dirty="0">
              <a:latin typeface="Meiryo" panose="020B0604030504040204" pitchFamily="34" charset="-128"/>
              <a:ea typeface="Meiryo" panose="020B0604030504040204" pitchFamily="34" charset="-128"/>
            </a:endParaRPr>
          </a:p>
          <a:p>
            <a:endParaRPr lang="en-JP" sz="3200" b="1" dirty="0">
              <a:latin typeface="Meiryo" panose="020B0604030504040204" pitchFamily="34" charset="-128"/>
              <a:ea typeface="Meiryo" panose="020B0604030504040204" pitchFamily="34" charset="-128"/>
            </a:endParaRPr>
          </a:p>
        </p:txBody>
      </p:sp>
      <p:sp>
        <p:nvSpPr>
          <p:cNvPr id="29" name="正方形/長方形 5">
            <a:extLst>
              <a:ext uri="{FF2B5EF4-FFF2-40B4-BE49-F238E27FC236}">
                <a16:creationId xmlns:a16="http://schemas.microsoft.com/office/drawing/2014/main" id="{6ACE6559-97E9-784D-EC55-D011FBE1C122}"/>
              </a:ext>
            </a:extLst>
          </p:cNvPr>
          <p:cNvSpPr/>
          <p:nvPr/>
        </p:nvSpPr>
        <p:spPr>
          <a:xfrm>
            <a:off x="6918726" y="3847824"/>
            <a:ext cx="1936516" cy="131993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Tree>
    <p:extLst>
      <p:ext uri="{BB962C8B-B14F-4D97-AF65-F5344CB8AC3E}">
        <p14:creationId xmlns:p14="http://schemas.microsoft.com/office/powerpoint/2010/main" val="2330933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454A1B-21B6-A611-2EB3-DCE50457D220}"/>
              </a:ext>
            </a:extLst>
          </p:cNvPr>
          <p:cNvPicPr>
            <a:picLocks noChangeAspect="1"/>
          </p:cNvPicPr>
          <p:nvPr/>
        </p:nvPicPr>
        <p:blipFill>
          <a:blip r:embed="rId2"/>
          <a:stretch>
            <a:fillRect/>
          </a:stretch>
        </p:blipFill>
        <p:spPr>
          <a:xfrm>
            <a:off x="0" y="0"/>
            <a:ext cx="9144000" cy="6334125"/>
          </a:xfrm>
          <a:prstGeom prst="rect">
            <a:avLst/>
          </a:prstGeom>
        </p:spPr>
      </p:pic>
      <p:sp>
        <p:nvSpPr>
          <p:cNvPr id="7" name="Rounded Rectangle 6">
            <a:extLst>
              <a:ext uri="{FF2B5EF4-FFF2-40B4-BE49-F238E27FC236}">
                <a16:creationId xmlns:a16="http://schemas.microsoft.com/office/drawing/2014/main" id="{A29E828E-408F-5FB2-4F8C-EC588035C79C}"/>
              </a:ext>
            </a:extLst>
          </p:cNvPr>
          <p:cNvSpPr/>
          <p:nvPr/>
        </p:nvSpPr>
        <p:spPr>
          <a:xfrm>
            <a:off x="6372223" y="1323976"/>
            <a:ext cx="2476502" cy="234315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tLang="ja-JP" b="1" dirty="0">
              <a:solidFill>
                <a:schemeClr val="tx1"/>
              </a:solidFill>
              <a:latin typeface="Meiryo" panose="020B0604030504040204" pitchFamily="34" charset="-128"/>
              <a:ea typeface="Meiryo" panose="020B0604030504040204" pitchFamily="34" charset="-128"/>
            </a:endParaRPr>
          </a:p>
          <a:p>
            <a:r>
              <a:rPr lang="ja-JP" altLang="en-US" b="1">
                <a:solidFill>
                  <a:schemeClr val="tx1"/>
                </a:solidFill>
                <a:latin typeface="Meiryo" panose="020B0604030504040204" pitchFamily="34" charset="-128"/>
                <a:ea typeface="Meiryo" panose="020B0604030504040204" pitchFamily="34" charset="-128"/>
              </a:rPr>
              <a:t>初期セキュリティの問題</a:t>
            </a:r>
            <a:r>
              <a:rPr lang="en-JP" altLang="ja-JP" b="1" dirty="0">
                <a:solidFill>
                  <a:schemeClr val="tx1"/>
                </a:solidFill>
                <a:latin typeface="Meiryo" panose="020B0604030504040204" pitchFamily="34" charset="-128"/>
                <a:ea typeface="Meiryo" panose="020B0604030504040204" pitchFamily="34" charset="-128"/>
              </a:rPr>
              <a:t> </a:t>
            </a:r>
            <a:r>
              <a:rPr lang="en-US" altLang="ja-JP" sz="1200" dirty="0">
                <a:solidFill>
                  <a:schemeClr val="tx1"/>
                </a:solidFill>
                <a:latin typeface="Meiryo" panose="020B0604030504040204" pitchFamily="34" charset="-128"/>
                <a:ea typeface="Meiryo" panose="020B0604030504040204" pitchFamily="34" charset="-128"/>
              </a:rPr>
              <a:t>[5]</a:t>
            </a:r>
            <a:endParaRPr lang="en-US" altLang="ja-JP" sz="1600" dirty="0">
              <a:solidFill>
                <a:schemeClr val="tx1"/>
              </a:solidFill>
              <a:latin typeface="Meiryo" panose="020B0604030504040204" pitchFamily="34" charset="-128"/>
              <a:ea typeface="Meiryo" panose="020B0604030504040204" pitchFamily="34" charset="-128"/>
            </a:endParaRPr>
          </a:p>
          <a:p>
            <a:r>
              <a:rPr lang="ja-JP" altLang="en-US" sz="1600">
                <a:solidFill>
                  <a:schemeClr val="tx1"/>
                </a:solidFill>
                <a:latin typeface="Meiryo" panose="020B0604030504040204" pitchFamily="34" charset="-128"/>
                <a:ea typeface="Meiryo" panose="020B0604030504040204" pitchFamily="34" charset="-128"/>
              </a:rPr>
              <a:t>次に、多くの</a:t>
            </a:r>
            <a:r>
              <a:rPr lang="en-US" sz="1600" dirty="0">
                <a:solidFill>
                  <a:schemeClr val="tx1"/>
                </a:solidFill>
                <a:latin typeface="Meiryo" panose="020B0604030504040204" pitchFamily="34" charset="-128"/>
                <a:ea typeface="Meiryo" panose="020B0604030504040204" pitchFamily="34" charset="-128"/>
              </a:rPr>
              <a:t>IoT</a:t>
            </a:r>
            <a:r>
              <a:rPr lang="ja-JP" altLang="en-US" sz="1600">
                <a:solidFill>
                  <a:schemeClr val="tx1"/>
                </a:solidFill>
                <a:latin typeface="Meiryo" panose="020B0604030504040204" pitchFamily="34" charset="-128"/>
                <a:ea typeface="Meiryo" panose="020B0604030504040204" pitchFamily="34" charset="-128"/>
              </a:rPr>
              <a:t>機器は初期セキュリティが弱いです</a:t>
            </a:r>
            <a:r>
              <a:rPr lang="en-US" altLang="ja-JP" sz="1600" dirty="0">
                <a:solidFill>
                  <a:schemeClr val="tx1"/>
                </a:solidFill>
                <a:latin typeface="Meiryo" panose="020B0604030504040204" pitchFamily="34" charset="-128"/>
                <a:ea typeface="Meiryo" panose="020B0604030504040204" pitchFamily="34" charset="-128"/>
              </a:rPr>
              <a:t>.</a:t>
            </a:r>
            <a:r>
              <a:rPr lang="ja-JP" altLang="en-US" sz="1600">
                <a:solidFill>
                  <a:schemeClr val="tx1"/>
                </a:solidFill>
                <a:latin typeface="Meiryo" panose="020B0604030504040204" pitchFamily="34" charset="-128"/>
                <a:ea typeface="Meiryo" panose="020B0604030504040204" pitchFamily="34" charset="-128"/>
              </a:rPr>
              <a:t>攻撃の</a:t>
            </a:r>
            <a:r>
              <a:rPr lang="en-US" altLang="ja-JP" sz="1600" dirty="0">
                <a:solidFill>
                  <a:schemeClr val="tx1"/>
                </a:solidFill>
                <a:latin typeface="Meiryo" panose="020B0604030504040204" pitchFamily="34" charset="-128"/>
                <a:ea typeface="Meiryo" panose="020B0604030504040204" pitchFamily="34" charset="-128"/>
              </a:rPr>
              <a:t>99%</a:t>
            </a:r>
            <a:r>
              <a:rPr lang="ja-JP" altLang="en-US" sz="1600">
                <a:solidFill>
                  <a:schemeClr val="tx1"/>
                </a:solidFill>
                <a:latin typeface="Meiryo" panose="020B0604030504040204" pitchFamily="34" charset="-128"/>
                <a:ea typeface="Meiryo" panose="020B0604030504040204" pitchFamily="34" charset="-128"/>
              </a:rPr>
              <a:t>以上が既知の脆弱性を利用しています</a:t>
            </a:r>
            <a:r>
              <a:rPr lang="en-US" altLang="ja-JP" sz="1600" dirty="0">
                <a:solidFill>
                  <a:schemeClr val="tx1"/>
                </a:solidFill>
                <a:latin typeface="Meiryo" panose="020B0604030504040204" pitchFamily="34" charset="-128"/>
                <a:ea typeface="Meiryo" panose="020B0604030504040204" pitchFamily="34" charset="-128"/>
              </a:rPr>
              <a:t>. </a:t>
            </a:r>
            <a:r>
              <a:rPr lang="ja-JP" altLang="en-US" sz="1600">
                <a:solidFill>
                  <a:schemeClr val="tx1"/>
                </a:solidFill>
                <a:latin typeface="Meiryo" panose="020B0604030504040204" pitchFamily="34" charset="-128"/>
                <a:ea typeface="Meiryo" panose="020B0604030504040204" pitchFamily="34" charset="-128"/>
              </a:rPr>
              <a:t>つまり、基本的な対策が不十分です</a:t>
            </a:r>
            <a:r>
              <a:rPr lang="en-US" altLang="ja-JP" sz="1600" dirty="0">
                <a:solidFill>
                  <a:schemeClr val="tx1"/>
                </a:solidFill>
                <a:latin typeface="Meiryo" panose="020B0604030504040204" pitchFamily="34" charset="-128"/>
                <a:ea typeface="Meiryo" panose="020B0604030504040204" pitchFamily="34" charset="-128"/>
              </a:rPr>
              <a:t>.</a:t>
            </a:r>
            <a:endParaRPr lang="ja-JP" altLang="en-US" sz="1600">
              <a:solidFill>
                <a:schemeClr val="tx1"/>
              </a:solidFill>
              <a:latin typeface="Meiryo" panose="020B0604030504040204" pitchFamily="34" charset="-128"/>
              <a:ea typeface="Meiryo" panose="020B0604030504040204" pitchFamily="34" charset="-128"/>
            </a:endParaRPr>
          </a:p>
          <a:p>
            <a:pPr algn="ctr"/>
            <a:endParaRPr lang="en-JP" sz="1600" dirty="0">
              <a:solidFill>
                <a:schemeClr val="tx1"/>
              </a:solidFill>
            </a:endParaRPr>
          </a:p>
        </p:txBody>
      </p:sp>
      <p:sp>
        <p:nvSpPr>
          <p:cNvPr id="8" name="Rounded Rectangle 7">
            <a:extLst>
              <a:ext uri="{FF2B5EF4-FFF2-40B4-BE49-F238E27FC236}">
                <a16:creationId xmlns:a16="http://schemas.microsoft.com/office/drawing/2014/main" id="{E7B184B0-45EE-CDC3-7CDF-55E5DB6BB229}"/>
              </a:ext>
            </a:extLst>
          </p:cNvPr>
          <p:cNvSpPr/>
          <p:nvPr/>
        </p:nvSpPr>
        <p:spPr>
          <a:xfrm>
            <a:off x="0" y="4333876"/>
            <a:ext cx="2914650" cy="200025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b="1">
                <a:solidFill>
                  <a:schemeClr val="tx1"/>
                </a:solidFill>
                <a:latin typeface="Meiryo" panose="020B0604030504040204" pitchFamily="34" charset="-128"/>
                <a:ea typeface="Meiryo" panose="020B0604030504040204" pitchFamily="34" charset="-128"/>
              </a:rPr>
              <a:t>攻撃されやすい</a:t>
            </a:r>
            <a:r>
              <a:rPr lang="en-US" altLang="ja-JP" b="1" dirty="0">
                <a:solidFill>
                  <a:schemeClr val="tx1"/>
                </a:solidFill>
                <a:latin typeface="Meiryo" panose="020B0604030504040204" pitchFamily="34" charset="-128"/>
                <a:ea typeface="Meiryo" panose="020B0604030504040204" pitchFamily="34" charset="-128"/>
              </a:rPr>
              <a:t> </a:t>
            </a:r>
            <a:r>
              <a:rPr lang="en-US" altLang="ja-JP" sz="1200" dirty="0">
                <a:solidFill>
                  <a:schemeClr val="tx1"/>
                </a:solidFill>
                <a:latin typeface="Meiryo" panose="020B0604030504040204" pitchFamily="34" charset="-128"/>
                <a:ea typeface="Meiryo" panose="020B0604030504040204" pitchFamily="34" charset="-128"/>
              </a:rPr>
              <a:t>[6]</a:t>
            </a:r>
            <a:br>
              <a:rPr lang="en-JP" sz="1600" dirty="0">
                <a:solidFill>
                  <a:schemeClr val="tx1"/>
                </a:solidFill>
                <a:latin typeface="Meiryo" panose="020B0604030504040204" pitchFamily="34" charset="-128"/>
                <a:ea typeface="Meiryo" panose="020B0604030504040204" pitchFamily="34" charset="-128"/>
              </a:rPr>
            </a:br>
            <a:r>
              <a:rPr lang="ja-JP" altLang="en-US" sz="1600">
                <a:solidFill>
                  <a:schemeClr val="tx1"/>
                </a:solidFill>
                <a:latin typeface="Meiryo" panose="020B0604030504040204" pitchFamily="34" charset="-128"/>
                <a:ea typeface="Meiryo" panose="020B0604030504040204" pitchFamily="34" charset="-128"/>
              </a:rPr>
              <a:t>さらに、スマートホームは攻撃されやすい環境です</a:t>
            </a:r>
            <a:br>
              <a:rPr lang="ja-JP" altLang="en-US" sz="1600">
                <a:solidFill>
                  <a:schemeClr val="tx1"/>
                </a:solidFill>
                <a:latin typeface="Meiryo" panose="020B0604030504040204" pitchFamily="34" charset="-128"/>
                <a:ea typeface="Meiryo" panose="020B0604030504040204" pitchFamily="34" charset="-128"/>
              </a:rPr>
            </a:br>
            <a:r>
              <a:rPr lang="en-US" altLang="ja-JP" sz="1600" dirty="0">
                <a:solidFill>
                  <a:schemeClr val="tx1"/>
                </a:solidFill>
                <a:latin typeface="Meiryo" panose="020B0604030504040204" pitchFamily="34" charset="-128"/>
                <a:ea typeface="Meiryo" panose="020B0604030504040204" pitchFamily="34" charset="-128"/>
              </a:rPr>
              <a:t>1</a:t>
            </a:r>
            <a:r>
              <a:rPr lang="ja-JP" altLang="en-US" sz="1600">
                <a:solidFill>
                  <a:schemeClr val="tx1"/>
                </a:solidFill>
                <a:latin typeface="Meiryo" panose="020B0604030504040204" pitchFamily="34" charset="-128"/>
                <a:ea typeface="Meiryo" panose="020B0604030504040204" pitchFamily="34" charset="-128"/>
              </a:rPr>
              <a:t>週間で</a:t>
            </a:r>
            <a:r>
              <a:rPr lang="en-US" altLang="ja-JP" sz="1600" dirty="0">
                <a:solidFill>
                  <a:schemeClr val="tx1"/>
                </a:solidFill>
                <a:latin typeface="Meiryo" panose="020B0604030504040204" pitchFamily="34" charset="-128"/>
                <a:ea typeface="Meiryo" panose="020B0604030504040204" pitchFamily="34" charset="-128"/>
              </a:rPr>
              <a:t>1</a:t>
            </a:r>
            <a:r>
              <a:rPr lang="ja-JP" altLang="en-US" sz="1600">
                <a:solidFill>
                  <a:schemeClr val="tx1"/>
                </a:solidFill>
                <a:latin typeface="Meiryo" panose="020B0604030504040204" pitchFamily="34" charset="-128"/>
                <a:ea typeface="Meiryo" panose="020B0604030504040204" pitchFamily="34" charset="-128"/>
              </a:rPr>
              <a:t>万件以上の攻撃が確認されています</a:t>
            </a:r>
            <a:br>
              <a:rPr lang="ja-JP" altLang="en-US" sz="1600">
                <a:solidFill>
                  <a:schemeClr val="tx1"/>
                </a:solidFill>
                <a:latin typeface="Meiryo" panose="020B0604030504040204" pitchFamily="34" charset="-128"/>
                <a:ea typeface="Meiryo" panose="020B0604030504040204" pitchFamily="34" charset="-128"/>
              </a:rPr>
            </a:br>
            <a:r>
              <a:rPr lang="ja-JP" altLang="en-US" sz="1600">
                <a:solidFill>
                  <a:schemeClr val="tx1"/>
                </a:solidFill>
                <a:latin typeface="Meiryo" panose="020B0604030504040204" pitchFamily="34" charset="-128"/>
                <a:ea typeface="Meiryo" panose="020B0604030504040204" pitchFamily="34" charset="-128"/>
              </a:rPr>
              <a:t>特に、</a:t>
            </a:r>
            <a:r>
              <a:rPr lang="en-US" altLang="ja-JP" sz="1600" dirty="0">
                <a:solidFill>
                  <a:schemeClr val="tx1"/>
                </a:solidFill>
                <a:latin typeface="Meiryo" panose="020B0604030504040204" pitchFamily="34" charset="-128"/>
                <a:ea typeface="Meiryo" panose="020B0604030504040204" pitchFamily="34" charset="-128"/>
              </a:rPr>
              <a:t>default</a:t>
            </a:r>
            <a:r>
              <a:rPr lang="ja-JP" altLang="en-US" sz="1600">
                <a:solidFill>
                  <a:schemeClr val="tx1"/>
                </a:solidFill>
                <a:latin typeface="Meiryo" panose="020B0604030504040204" pitchFamily="34" charset="-128"/>
                <a:ea typeface="Meiryo" panose="020B0604030504040204" pitchFamily="34" charset="-128"/>
              </a:rPr>
              <a:t>パスワードが狙われています</a:t>
            </a:r>
            <a:r>
              <a:rPr lang="en-US" altLang="ja-JP" sz="1600" b="1" dirty="0">
                <a:solidFill>
                  <a:schemeClr val="tx1"/>
                </a:solidFill>
                <a:latin typeface="Meiryo" panose="020B0604030504040204" pitchFamily="34" charset="-128"/>
                <a:ea typeface="Meiryo" panose="020B0604030504040204" pitchFamily="34" charset="-128"/>
              </a:rPr>
              <a:t>.</a:t>
            </a:r>
            <a:endParaRPr lang="ja-JP" altLang="en-US" sz="1600">
              <a:solidFill>
                <a:schemeClr val="tx1"/>
              </a:solidFill>
              <a:latin typeface="Meiryo" panose="020B0604030504040204" pitchFamily="34" charset="-128"/>
              <a:ea typeface="Meiryo" panose="020B0604030504040204" pitchFamily="34" charset="-128"/>
            </a:endParaRPr>
          </a:p>
        </p:txBody>
      </p:sp>
      <p:sp>
        <p:nvSpPr>
          <p:cNvPr id="10" name="Rounded Rectangle 9">
            <a:extLst>
              <a:ext uri="{FF2B5EF4-FFF2-40B4-BE49-F238E27FC236}">
                <a16:creationId xmlns:a16="http://schemas.microsoft.com/office/drawing/2014/main" id="{C9A75EC7-847D-59EF-8B65-AB5236536C39}"/>
              </a:ext>
            </a:extLst>
          </p:cNvPr>
          <p:cNvSpPr/>
          <p:nvPr/>
        </p:nvSpPr>
        <p:spPr>
          <a:xfrm>
            <a:off x="76201" y="1323975"/>
            <a:ext cx="2695576" cy="264795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b="1">
                <a:solidFill>
                  <a:schemeClr val="tx1"/>
                </a:solidFill>
                <a:latin typeface="Meiryo" panose="020B0604030504040204" pitchFamily="34" charset="-128"/>
                <a:ea typeface="Meiryo" panose="020B0604030504040204" pitchFamily="34" charset="-128"/>
              </a:rPr>
              <a:t> デバイスの増加</a:t>
            </a:r>
            <a:r>
              <a:rPr lang="en-US" altLang="ja-JP" b="1" dirty="0">
                <a:solidFill>
                  <a:schemeClr val="tx1"/>
                </a:solidFill>
                <a:latin typeface="Meiryo" panose="020B0604030504040204" pitchFamily="34" charset="-128"/>
                <a:ea typeface="Meiryo" panose="020B0604030504040204" pitchFamily="34" charset="-128"/>
              </a:rPr>
              <a:t> </a:t>
            </a:r>
            <a:r>
              <a:rPr lang="en-US" altLang="ja-JP" sz="1200" dirty="0">
                <a:solidFill>
                  <a:schemeClr val="tx1"/>
                </a:solidFill>
                <a:latin typeface="Meiryo" panose="020B0604030504040204" pitchFamily="34" charset="-128"/>
                <a:ea typeface="Meiryo" panose="020B0604030504040204" pitchFamily="34" charset="-128"/>
              </a:rPr>
              <a:t>[4]</a:t>
            </a:r>
            <a:endParaRPr lang="en-JP" altLang="ja-JP" sz="1200" dirty="0">
              <a:solidFill>
                <a:schemeClr val="tx1"/>
              </a:solidFill>
              <a:latin typeface="Meiryo" panose="020B0604030504040204" pitchFamily="34" charset="-128"/>
              <a:ea typeface="Meiryo" panose="020B0604030504040204" pitchFamily="34" charset="-128"/>
            </a:endParaRPr>
          </a:p>
          <a:p>
            <a:r>
              <a:rPr lang="ja-JP" altLang="en-US">
                <a:solidFill>
                  <a:schemeClr val="tx1"/>
                </a:solidFill>
                <a:latin typeface="Meiryo" panose="020B0604030504040204" pitchFamily="34" charset="-128"/>
                <a:ea typeface="Meiryo" panose="020B0604030504040204" pitchFamily="34" charset="-128"/>
              </a:rPr>
              <a:t>まず、</a:t>
            </a:r>
            <a:r>
              <a:rPr lang="en-US" dirty="0">
                <a:solidFill>
                  <a:schemeClr val="tx1"/>
                </a:solidFill>
                <a:latin typeface="Meiryo" panose="020B0604030504040204" pitchFamily="34" charset="-128"/>
                <a:ea typeface="Meiryo" panose="020B0604030504040204" pitchFamily="34" charset="-128"/>
              </a:rPr>
              <a:t>IoT</a:t>
            </a:r>
            <a:r>
              <a:rPr lang="ja-JP" altLang="en-US">
                <a:solidFill>
                  <a:schemeClr val="tx1"/>
                </a:solidFill>
                <a:latin typeface="Meiryo" panose="020B0604030504040204" pitchFamily="34" charset="-128"/>
                <a:ea typeface="Meiryo" panose="020B0604030504040204" pitchFamily="34" charset="-128"/>
              </a:rPr>
              <a:t>機器の数が急増しています</a:t>
            </a:r>
            <a:r>
              <a:rPr lang="mn-MN" altLang="ja-JP" dirty="0">
                <a:solidFill>
                  <a:schemeClr val="tx1"/>
                </a:solidFill>
                <a:latin typeface="Meiryo" panose="020B0604030504040204" pitchFamily="34" charset="-128"/>
                <a:ea typeface="Meiryo" panose="020B0604030504040204" pitchFamily="34" charset="-128"/>
              </a:rPr>
              <a:t>.</a:t>
            </a:r>
            <a:br>
              <a:rPr lang="ja-JP" altLang="en-US">
                <a:solidFill>
                  <a:schemeClr val="tx1"/>
                </a:solidFill>
                <a:latin typeface="Meiryo" panose="020B0604030504040204" pitchFamily="34" charset="-128"/>
                <a:ea typeface="Meiryo" panose="020B0604030504040204" pitchFamily="34" charset="-128"/>
              </a:rPr>
            </a:br>
            <a:r>
              <a:rPr lang="en-US" altLang="ja-JP" dirty="0">
                <a:solidFill>
                  <a:schemeClr val="tx1"/>
                </a:solidFill>
                <a:latin typeface="Meiryo" panose="020B0604030504040204" pitchFamily="34" charset="-128"/>
                <a:ea typeface="Meiryo" panose="020B0604030504040204" pitchFamily="34" charset="-128"/>
              </a:rPr>
              <a:t>1</a:t>
            </a:r>
            <a:r>
              <a:rPr lang="ja-JP" altLang="en-US">
                <a:solidFill>
                  <a:schemeClr val="tx1"/>
                </a:solidFill>
                <a:latin typeface="Meiryo" panose="020B0604030504040204" pitchFamily="34" charset="-128"/>
                <a:ea typeface="Meiryo" panose="020B0604030504040204" pitchFamily="34" charset="-128"/>
              </a:rPr>
              <a:t>家庭あたり平均</a:t>
            </a:r>
            <a:r>
              <a:rPr lang="en-US" altLang="ja-JP" dirty="0">
                <a:solidFill>
                  <a:schemeClr val="tx1"/>
                </a:solidFill>
                <a:latin typeface="Meiryo" panose="020B0604030504040204" pitchFamily="34" charset="-128"/>
                <a:ea typeface="Meiryo" panose="020B0604030504040204" pitchFamily="34" charset="-128"/>
              </a:rPr>
              <a:t>21</a:t>
            </a:r>
            <a:r>
              <a:rPr lang="ja-JP" altLang="en-US">
                <a:solidFill>
                  <a:schemeClr val="tx1"/>
                </a:solidFill>
                <a:latin typeface="Meiryo" panose="020B0604030504040204" pitchFamily="34" charset="-128"/>
                <a:ea typeface="Meiryo" panose="020B0604030504040204" pitchFamily="34" charset="-128"/>
              </a:rPr>
              <a:t>台が接続されており、今後さらに増えると予測されています</a:t>
            </a:r>
            <a:r>
              <a:rPr lang="mn-MN" altLang="ja-JP" dirty="0">
                <a:solidFill>
                  <a:schemeClr val="tx1"/>
                </a:solidFill>
                <a:latin typeface="Meiryo" panose="020B0604030504040204" pitchFamily="34" charset="-128"/>
                <a:ea typeface="Meiryo" panose="020B0604030504040204" pitchFamily="34" charset="-128"/>
              </a:rPr>
              <a:t>.</a:t>
            </a:r>
            <a:r>
              <a:rPr lang="ja-JP" altLang="en-US">
                <a:solidFill>
                  <a:schemeClr val="tx1"/>
                </a:solidFill>
                <a:latin typeface="Meiryo" panose="020B0604030504040204" pitchFamily="34" charset="-128"/>
                <a:ea typeface="Meiryo" panose="020B0604030504040204" pitchFamily="34" charset="-128"/>
              </a:rPr>
              <a:t>そのため、攻撃対象も増加しています</a:t>
            </a:r>
            <a:r>
              <a:rPr lang="mn-MN" altLang="ja-JP" dirty="0">
                <a:solidFill>
                  <a:schemeClr val="tx1"/>
                </a:solidFill>
                <a:latin typeface="Meiryo" panose="020B0604030504040204" pitchFamily="34" charset="-128"/>
                <a:ea typeface="Meiryo" panose="020B0604030504040204" pitchFamily="34" charset="-128"/>
              </a:rPr>
              <a:t>.</a:t>
            </a:r>
            <a:endParaRPr lang="ja-JP" altLang="en-US">
              <a:solidFill>
                <a:schemeClr val="tx1"/>
              </a:solidFill>
              <a:latin typeface="Meiryo" panose="020B0604030504040204" pitchFamily="34" charset="-128"/>
              <a:ea typeface="Meiryo" panose="020B0604030504040204" pitchFamily="34" charset="-128"/>
            </a:endParaRPr>
          </a:p>
        </p:txBody>
      </p:sp>
      <p:sp>
        <p:nvSpPr>
          <p:cNvPr id="11" name="Rounded Rectangle 10">
            <a:extLst>
              <a:ext uri="{FF2B5EF4-FFF2-40B4-BE49-F238E27FC236}">
                <a16:creationId xmlns:a16="http://schemas.microsoft.com/office/drawing/2014/main" id="{6F1753CE-EE53-617C-7017-FEA3D2969ABF}"/>
              </a:ext>
            </a:extLst>
          </p:cNvPr>
          <p:cNvSpPr/>
          <p:nvPr/>
        </p:nvSpPr>
        <p:spPr>
          <a:xfrm>
            <a:off x="6229352" y="4333876"/>
            <a:ext cx="2914648" cy="200025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b="1" dirty="0">
                <a:solidFill>
                  <a:schemeClr val="tx1"/>
                </a:solidFill>
                <a:latin typeface="Meiryo" panose="020B0604030504040204" pitchFamily="34" charset="-128"/>
                <a:ea typeface="Meiryo" panose="020B0604030504040204" pitchFamily="34" charset="-128"/>
              </a:rPr>
              <a:t>      </a:t>
            </a:r>
          </a:p>
          <a:p>
            <a:r>
              <a:rPr lang="en-US" altLang="ja-JP" b="1" dirty="0">
                <a:solidFill>
                  <a:schemeClr val="tx1"/>
                </a:solidFill>
                <a:latin typeface="Meiryo" panose="020B0604030504040204" pitchFamily="34" charset="-128"/>
                <a:ea typeface="Meiryo" panose="020B0604030504040204" pitchFamily="34" charset="-128"/>
              </a:rPr>
              <a:t>     </a:t>
            </a:r>
            <a:r>
              <a:rPr lang="ja-JP" altLang="en-US" b="1">
                <a:solidFill>
                  <a:schemeClr val="tx1"/>
                </a:solidFill>
                <a:latin typeface="Meiryo" panose="020B0604030504040204" pitchFamily="34" charset="-128"/>
                <a:ea typeface="Meiryo" panose="020B0604030504040204" pitchFamily="34" charset="-128"/>
              </a:rPr>
              <a:t>検知不足</a:t>
            </a:r>
            <a:r>
              <a:rPr lang="en-US" altLang="ja-JP" b="1" dirty="0">
                <a:solidFill>
                  <a:schemeClr val="tx1"/>
                </a:solidFill>
                <a:latin typeface="Meiryo" panose="020B0604030504040204" pitchFamily="34" charset="-128"/>
                <a:ea typeface="Meiryo" panose="020B0604030504040204" pitchFamily="34" charset="-128"/>
              </a:rPr>
              <a:t> </a:t>
            </a:r>
            <a:r>
              <a:rPr lang="en-US" altLang="ja-JP" sz="1200" dirty="0">
                <a:solidFill>
                  <a:schemeClr val="tx1"/>
                </a:solidFill>
                <a:latin typeface="Meiryo" panose="020B0604030504040204" pitchFamily="34" charset="-128"/>
                <a:ea typeface="Meiryo" panose="020B0604030504040204" pitchFamily="34" charset="-128"/>
              </a:rPr>
              <a:t>[7] </a:t>
            </a:r>
            <a:endParaRPr lang="ja-JP" altLang="en-US" sz="1200" b="1">
              <a:solidFill>
                <a:schemeClr val="tx1"/>
              </a:solidFill>
              <a:latin typeface="Meiryo" panose="020B0604030504040204" pitchFamily="34" charset="-128"/>
              <a:ea typeface="Meiryo" panose="020B0604030504040204" pitchFamily="34" charset="-128"/>
            </a:endParaRPr>
          </a:p>
          <a:p>
            <a:r>
              <a:rPr lang="ja-JP" altLang="en-US" sz="1600">
                <a:solidFill>
                  <a:schemeClr val="tx1"/>
                </a:solidFill>
                <a:latin typeface="Meiryo" panose="020B0604030504040204" pitchFamily="34" charset="-128"/>
                <a:ea typeface="Meiryo" panose="020B0604030504040204" pitchFamily="34" charset="-128"/>
              </a:rPr>
              <a:t>最後に、攻撃は長時間気づかれない場合があります</a:t>
            </a:r>
            <a:r>
              <a:rPr lang="en-US" altLang="ja-JP" sz="1600" dirty="0">
                <a:solidFill>
                  <a:schemeClr val="tx1"/>
                </a:solidFill>
                <a:latin typeface="Meiryo" panose="020B0604030504040204" pitchFamily="34" charset="-128"/>
                <a:ea typeface="Meiryo" panose="020B0604030504040204" pitchFamily="34" charset="-128"/>
              </a:rPr>
              <a:t>.</a:t>
            </a:r>
            <a:r>
              <a:rPr lang="ja-JP" altLang="en-US" sz="1600">
                <a:solidFill>
                  <a:schemeClr val="tx1"/>
                </a:solidFill>
                <a:latin typeface="Meiryo" panose="020B0604030504040204" pitchFamily="34" charset="-128"/>
                <a:ea typeface="Meiryo" panose="020B0604030504040204" pitchFamily="34" charset="-128"/>
              </a:rPr>
              <a:t>平均で週に約</a:t>
            </a:r>
            <a:r>
              <a:rPr lang="en-US" altLang="ja-JP" sz="1600" dirty="0">
                <a:solidFill>
                  <a:schemeClr val="tx1"/>
                </a:solidFill>
                <a:latin typeface="Meiryo" panose="020B0604030504040204" pitchFamily="34" charset="-128"/>
                <a:ea typeface="Meiryo" panose="020B0604030504040204" pitchFamily="34" charset="-128"/>
              </a:rPr>
              <a:t>52</a:t>
            </a:r>
            <a:r>
              <a:rPr lang="ja-JP" altLang="en-US" sz="1600">
                <a:solidFill>
                  <a:schemeClr val="tx1"/>
                </a:solidFill>
                <a:latin typeface="Meiryo" panose="020B0604030504040204" pitchFamily="34" charset="-128"/>
                <a:ea typeface="Meiryo" panose="020B0604030504040204" pitchFamily="34" charset="-128"/>
              </a:rPr>
              <a:t>時間も継続します</a:t>
            </a:r>
            <a:r>
              <a:rPr lang="en-US" altLang="ja-JP" sz="1600" dirty="0">
                <a:solidFill>
                  <a:schemeClr val="tx1"/>
                </a:solidFill>
                <a:latin typeface="Meiryo" panose="020B0604030504040204" pitchFamily="34" charset="-128"/>
                <a:ea typeface="Meiryo" panose="020B0604030504040204" pitchFamily="34" charset="-128"/>
              </a:rPr>
              <a:t>.</a:t>
            </a:r>
            <a:r>
              <a:rPr lang="ja-JP" altLang="en-US" sz="1600">
                <a:solidFill>
                  <a:schemeClr val="tx1"/>
                </a:solidFill>
                <a:latin typeface="Meiryo" panose="020B0604030504040204" pitchFamily="34" charset="-128"/>
                <a:ea typeface="Meiryo" panose="020B0604030504040204" pitchFamily="34" charset="-128"/>
              </a:rPr>
              <a:t>これは監視が不十分であることを示しています</a:t>
            </a:r>
            <a:r>
              <a:rPr lang="en-US" altLang="ja-JP" sz="1600" dirty="0">
                <a:solidFill>
                  <a:schemeClr val="tx1"/>
                </a:solidFill>
                <a:latin typeface="Meiryo" panose="020B0604030504040204" pitchFamily="34" charset="-128"/>
                <a:ea typeface="Meiryo" panose="020B0604030504040204" pitchFamily="34" charset="-128"/>
              </a:rPr>
              <a:t>.</a:t>
            </a:r>
            <a:endParaRPr lang="ja-JP" altLang="en-US" sz="1600">
              <a:solidFill>
                <a:schemeClr val="tx1"/>
              </a:solidFill>
              <a:latin typeface="Meiryo" panose="020B0604030504040204" pitchFamily="34" charset="-128"/>
              <a:ea typeface="Meiryo" panose="020B0604030504040204" pitchFamily="34" charset="-128"/>
            </a:endParaRPr>
          </a:p>
          <a:p>
            <a:pPr algn="ctr"/>
            <a:endParaRPr lang="en-JP" sz="1600" dirty="0">
              <a:solidFill>
                <a:schemeClr val="tx1"/>
              </a:solidFill>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E2434362-CD2B-9928-F54A-8602592261B3}"/>
              </a:ext>
            </a:extLst>
          </p:cNvPr>
          <p:cNvSpPr txBox="1"/>
          <p:nvPr/>
        </p:nvSpPr>
        <p:spPr>
          <a:xfrm>
            <a:off x="76200" y="6362700"/>
            <a:ext cx="8372475" cy="430887"/>
          </a:xfrm>
          <a:prstGeom prst="rect">
            <a:avLst/>
          </a:prstGeom>
          <a:noFill/>
        </p:spPr>
        <p:txBody>
          <a:bodyPr wrap="square" rtlCol="0">
            <a:spAutoFit/>
          </a:bodyPr>
          <a:lstStyle/>
          <a:p>
            <a:r>
              <a:rPr lang="en-US" sz="1100" dirty="0"/>
              <a:t>[4_]NETGEAR IoT Threat </a:t>
            </a:r>
            <a:r>
              <a:rPr lang="en-US" sz="1100" dirty="0" err="1"/>
              <a:t>Report</a:t>
            </a:r>
            <a:r>
              <a:rPr lang="en-US" sz="1100" dirty="0" err="1">
                <a:hlinkClick r:id="rId3"/>
              </a:rPr>
              <a:t>https</a:t>
            </a:r>
            <a:r>
              <a:rPr lang="en-US" sz="1100" dirty="0">
                <a:hlinkClick r:id="rId3"/>
              </a:rPr>
              <a:t>://www.netgear.com/hub/network/security/iot-threat-report-25/,</a:t>
            </a:r>
            <a:r>
              <a:rPr lang="en-US" sz="1100" dirty="0"/>
              <a:t>   [5] CE Pro report , [6] </a:t>
            </a:r>
            <a:r>
              <a:rPr lang="en-US" sz="1100" dirty="0" err="1"/>
              <a:t>Infosecurity</a:t>
            </a:r>
            <a:r>
              <a:rPr lang="en-US" sz="1100" dirty="0"/>
              <a:t>            [7] Magazine article Wireless Communications Alliance related report</a:t>
            </a:r>
            <a:endParaRPr lang="en-JP" sz="1100" dirty="0"/>
          </a:p>
        </p:txBody>
      </p:sp>
      <p:sp>
        <p:nvSpPr>
          <p:cNvPr id="13" name="Slide Number Placeholder 12">
            <a:extLst>
              <a:ext uri="{FF2B5EF4-FFF2-40B4-BE49-F238E27FC236}">
                <a16:creationId xmlns:a16="http://schemas.microsoft.com/office/drawing/2014/main" id="{90BD53A3-BFB1-BC84-52D0-42F62735D390}"/>
              </a:ext>
            </a:extLst>
          </p:cNvPr>
          <p:cNvSpPr>
            <a:spLocks noGrp="1"/>
          </p:cNvSpPr>
          <p:nvPr>
            <p:ph type="sldNum" sz="quarter" idx="12"/>
          </p:nvPr>
        </p:nvSpPr>
        <p:spPr/>
        <p:txBody>
          <a:bodyPr/>
          <a:lstStyle/>
          <a:p>
            <a:fld id="{828F3BD4-1AF2-D144-8129-4D42AD448F5E}" type="slidenum">
              <a:rPr lang="en-JP" smtClean="0"/>
              <a:t>5</a:t>
            </a:fld>
            <a:endParaRPr lang="en-JP"/>
          </a:p>
        </p:txBody>
      </p:sp>
    </p:spTree>
    <p:extLst>
      <p:ext uri="{BB962C8B-B14F-4D97-AF65-F5344CB8AC3E}">
        <p14:creationId xmlns:p14="http://schemas.microsoft.com/office/powerpoint/2010/main" val="3997081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71D6292-799F-01D8-5075-F6626B675BC4}"/>
              </a:ext>
            </a:extLst>
          </p:cNvPr>
          <p:cNvSpPr txBox="1"/>
          <p:nvPr/>
        </p:nvSpPr>
        <p:spPr>
          <a:xfrm>
            <a:off x="123825" y="6344245"/>
            <a:ext cx="6715125" cy="430887"/>
          </a:xfrm>
          <a:prstGeom prst="rect">
            <a:avLst/>
          </a:prstGeom>
          <a:noFill/>
        </p:spPr>
        <p:txBody>
          <a:bodyPr wrap="square">
            <a:spAutoFit/>
          </a:bodyPr>
          <a:lstStyle/>
          <a:p>
            <a:r>
              <a:rPr lang="en-JP" sz="1100" dirty="0">
                <a:latin typeface="Times New Roman" panose="02020603050405020304" pitchFamily="18" charset="0"/>
                <a:ea typeface="Meiryo" panose="020B0604030504040204" pitchFamily="34" charset="-128"/>
                <a:cs typeface="Times New Roman" panose="02020603050405020304" pitchFamily="18" charset="0"/>
              </a:rPr>
              <a:t>[3] https://www.cepro.com/news/report-average-smart-home-faces-29-cybersecurity-attacks-daily-integrators-on-front-line/623233/?utm_source</a:t>
            </a:r>
          </a:p>
        </p:txBody>
      </p:sp>
      <p:sp>
        <p:nvSpPr>
          <p:cNvPr id="8" name="TextBox 7">
            <a:extLst>
              <a:ext uri="{FF2B5EF4-FFF2-40B4-BE49-F238E27FC236}">
                <a16:creationId xmlns:a16="http://schemas.microsoft.com/office/drawing/2014/main" id="{C57D62E3-3BFA-79BD-90AC-70636888601D}"/>
              </a:ext>
            </a:extLst>
          </p:cNvPr>
          <p:cNvSpPr txBox="1"/>
          <p:nvPr/>
        </p:nvSpPr>
        <p:spPr>
          <a:xfrm>
            <a:off x="28575" y="85026"/>
            <a:ext cx="8486775" cy="461665"/>
          </a:xfrm>
          <a:prstGeom prst="rect">
            <a:avLst/>
          </a:prstGeom>
          <a:noFill/>
        </p:spPr>
        <p:txBody>
          <a:bodyPr wrap="square">
            <a:spAutoFit/>
          </a:bodyPr>
          <a:lstStyle/>
          <a:p>
            <a:pPr marL="342900" indent="-342900">
              <a:buFont typeface="Wingdings" pitchFamily="2" charset="2"/>
              <a:buChar char="§"/>
            </a:pPr>
            <a:r>
              <a:rPr lang="en-US" sz="2400" b="1" i="0" dirty="0">
                <a:effectLst/>
                <a:latin typeface="Meiryo" panose="020B0604030504040204" pitchFamily="34" charset="-128"/>
                <a:ea typeface="Meiryo" panose="020B0604030504040204" pitchFamily="34" charset="-128"/>
                <a:cs typeface="Times New Roman" panose="02020603050405020304" pitchFamily="18" charset="0"/>
              </a:rPr>
              <a:t>ARP</a:t>
            </a:r>
            <a:r>
              <a:rPr lang="ja-JP" altLang="en-US" sz="2400" b="1" i="0">
                <a:effectLst/>
                <a:latin typeface="Meiryo" panose="020B0604030504040204" pitchFamily="34" charset="-128"/>
                <a:ea typeface="Meiryo" panose="020B0604030504040204" pitchFamily="34" charset="-128"/>
                <a:cs typeface="Times New Roman" panose="02020603050405020304" pitchFamily="18" charset="0"/>
              </a:rPr>
              <a:t>スプーフィング被害が増え続ける</a:t>
            </a:r>
            <a:r>
              <a:rPr lang="en-US" altLang="ja-JP" sz="2400" b="1" dirty="0">
                <a:latin typeface="Meiryo" panose="020B0604030504040204" pitchFamily="34" charset="-128"/>
                <a:ea typeface="Meiryo" panose="020B0604030504040204" pitchFamily="34" charset="-128"/>
                <a:cs typeface="Times New Roman" panose="02020603050405020304" pitchFamily="18" charset="0"/>
              </a:rPr>
              <a:t>[3]</a:t>
            </a:r>
            <a:endParaRPr lang="en-JP" sz="2400" b="1" dirty="0">
              <a:latin typeface="Meiryo" panose="020B0604030504040204" pitchFamily="34" charset="-128"/>
              <a:ea typeface="Meiryo" panose="020B0604030504040204" pitchFamily="34" charset="-128"/>
              <a:cs typeface="Times New Roman" panose="02020603050405020304" pitchFamily="18" charset="0"/>
            </a:endParaRPr>
          </a:p>
        </p:txBody>
      </p:sp>
      <p:sp>
        <p:nvSpPr>
          <p:cNvPr id="11" name="Rounded Rectangle 10">
            <a:extLst>
              <a:ext uri="{FF2B5EF4-FFF2-40B4-BE49-F238E27FC236}">
                <a16:creationId xmlns:a16="http://schemas.microsoft.com/office/drawing/2014/main" id="{82B9F072-5B35-4F00-5548-70A664E42EED}"/>
              </a:ext>
            </a:extLst>
          </p:cNvPr>
          <p:cNvSpPr/>
          <p:nvPr/>
        </p:nvSpPr>
        <p:spPr>
          <a:xfrm>
            <a:off x="197919" y="773251"/>
            <a:ext cx="3639065" cy="262027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2000" b="1">
              <a:solidFill>
                <a:schemeClr val="tx1"/>
              </a:solidFill>
              <a:latin typeface="Meiryo" panose="020B0604030504040204" pitchFamily="34" charset="-128"/>
              <a:ea typeface="Meiryo" panose="020B0604030504040204" pitchFamily="34" charset="-128"/>
            </a:endParaRPr>
          </a:p>
          <a:p>
            <a:pPr algn="ctr"/>
            <a:endParaRPr lang="en-US" sz="2000" b="1" dirty="0">
              <a:solidFill>
                <a:schemeClr val="tx1"/>
              </a:solidFill>
              <a:latin typeface="Meiryo" panose="020B0604030504040204" pitchFamily="34" charset="-128"/>
              <a:ea typeface="Meiryo" panose="020B0604030504040204" pitchFamily="34" charset="-128"/>
            </a:endParaRPr>
          </a:p>
          <a:p>
            <a:pPr algn="ctr"/>
            <a:r>
              <a:rPr lang="en-US" sz="2000" b="1" dirty="0">
                <a:solidFill>
                  <a:schemeClr val="tx1"/>
                </a:solidFill>
                <a:latin typeface="Meiryo" panose="020B0604030504040204" pitchFamily="34" charset="-128"/>
                <a:ea typeface="Meiryo" panose="020B0604030504040204" pitchFamily="34" charset="-128"/>
              </a:rPr>
              <a:t>ARP</a:t>
            </a:r>
            <a:r>
              <a:rPr lang="ja-JP" altLang="en-US" sz="2000" b="1">
                <a:solidFill>
                  <a:schemeClr val="tx1"/>
                </a:solidFill>
                <a:latin typeface="Meiryo" panose="020B0604030504040204" pitchFamily="34" charset="-128"/>
                <a:ea typeface="Meiryo" panose="020B0604030504040204" pitchFamily="34" charset="-128"/>
              </a:rPr>
              <a:t>誕生 </a:t>
            </a:r>
            <a:r>
              <a:rPr lang="en-US" altLang="ja-JP" sz="2000" b="1" dirty="0">
                <a:solidFill>
                  <a:schemeClr val="tx1"/>
                </a:solidFill>
                <a:latin typeface="Meiryo" panose="020B0604030504040204" pitchFamily="34" charset="-128"/>
                <a:ea typeface="Meiryo" panose="020B0604030504040204" pitchFamily="34" charset="-128"/>
              </a:rPr>
              <a:t>(</a:t>
            </a:r>
            <a:r>
              <a:rPr lang="en-US" sz="2000" b="1" dirty="0">
                <a:solidFill>
                  <a:schemeClr val="tx1"/>
                </a:solidFill>
                <a:latin typeface="Meiryo" panose="020B0604030504040204" pitchFamily="34" charset="-128"/>
                <a:ea typeface="Meiryo" panose="020B0604030504040204" pitchFamily="34" charset="-128"/>
              </a:rPr>
              <a:t>RFC 826)</a:t>
            </a:r>
          </a:p>
          <a:p>
            <a:pPr algn="ctr"/>
            <a:r>
              <a:rPr lang="ja-JP" altLang="en-US" sz="2000" b="1">
                <a:solidFill>
                  <a:schemeClr val="tx1"/>
                </a:solidFill>
                <a:latin typeface="Meiryo" panose="020B0604030504040204" pitchFamily="34" charset="-128"/>
                <a:ea typeface="Meiryo" panose="020B0604030504040204" pitchFamily="34" charset="-128"/>
              </a:rPr>
              <a:t>信頼前提の設計</a:t>
            </a:r>
            <a:r>
              <a:rPr lang="en-US" altLang="ja-JP" sz="2000" b="1" dirty="0">
                <a:solidFill>
                  <a:schemeClr val="tx1"/>
                </a:solidFill>
                <a:latin typeface="Meiryo" panose="020B0604030504040204" pitchFamily="34" charset="-128"/>
                <a:ea typeface="Meiryo" panose="020B0604030504040204" pitchFamily="34" charset="-128"/>
              </a:rPr>
              <a:t>. </a:t>
            </a:r>
            <a:r>
              <a:rPr lang="ja-JP" altLang="en-US" sz="2000" b="1">
                <a:solidFill>
                  <a:schemeClr val="tx1"/>
                </a:solidFill>
                <a:latin typeface="Meiryo" panose="020B0604030504040204" pitchFamily="34" charset="-128"/>
                <a:ea typeface="Meiryo" panose="020B0604030504040204" pitchFamily="34" charset="-128"/>
              </a:rPr>
              <a:t>認証なし</a:t>
            </a:r>
            <a:r>
              <a:rPr lang="en-US" altLang="ja-JP" sz="2000" b="1" dirty="0">
                <a:solidFill>
                  <a:schemeClr val="tx1"/>
                </a:solidFill>
                <a:latin typeface="Meiryo" panose="020B0604030504040204" pitchFamily="34" charset="-128"/>
                <a:ea typeface="Meiryo" panose="020B0604030504040204" pitchFamily="34" charset="-128"/>
              </a:rPr>
              <a:t>.</a:t>
            </a:r>
            <a:r>
              <a:rPr lang="ja-JP" altLang="en-US" sz="2000" b="1">
                <a:solidFill>
                  <a:schemeClr val="tx1"/>
                </a:solidFill>
                <a:latin typeface="Meiryo" panose="020B0604030504040204" pitchFamily="34" charset="-128"/>
                <a:ea typeface="Meiryo" panose="020B0604030504040204" pitchFamily="34" charset="-128"/>
              </a:rPr>
              <a:t>当時は内部ネットワーク全員を信頼していた</a:t>
            </a:r>
          </a:p>
          <a:p>
            <a:pPr algn="ctr"/>
            <a:r>
              <a:rPr lang="en-US" sz="2000" b="1" dirty="0">
                <a:solidFill>
                  <a:schemeClr val="tx1"/>
                </a:solidFill>
                <a:latin typeface="Meiryo" panose="020B0604030504040204" pitchFamily="34" charset="-128"/>
                <a:ea typeface="Meiryo" panose="020B0604030504040204" pitchFamily="34" charset="-128"/>
              </a:rPr>
              <a:t>Plummer, 1982</a:t>
            </a:r>
            <a:endParaRPr lang="en-JP" sz="2000" b="1" dirty="0">
              <a:solidFill>
                <a:schemeClr val="tx1"/>
              </a:solidFill>
              <a:latin typeface="Meiryo" panose="020B0604030504040204" pitchFamily="34" charset="-128"/>
              <a:ea typeface="Meiryo" panose="020B0604030504040204" pitchFamily="34" charset="-128"/>
            </a:endParaRPr>
          </a:p>
        </p:txBody>
      </p:sp>
      <p:sp>
        <p:nvSpPr>
          <p:cNvPr id="14" name="Slide Number Placeholder 13">
            <a:extLst>
              <a:ext uri="{FF2B5EF4-FFF2-40B4-BE49-F238E27FC236}">
                <a16:creationId xmlns:a16="http://schemas.microsoft.com/office/drawing/2014/main" id="{78749FA2-31C4-D93E-A3B4-65C819FB9F16}"/>
              </a:ext>
            </a:extLst>
          </p:cNvPr>
          <p:cNvSpPr>
            <a:spLocks noGrp="1"/>
          </p:cNvSpPr>
          <p:nvPr>
            <p:ph type="sldNum" sz="quarter" idx="12"/>
          </p:nvPr>
        </p:nvSpPr>
        <p:spPr/>
        <p:txBody>
          <a:bodyPr/>
          <a:lstStyle/>
          <a:p>
            <a:fld id="{828F3BD4-1AF2-D144-8129-4D42AD448F5E}" type="slidenum">
              <a:rPr lang="en-JP" smtClean="0"/>
              <a:t>6</a:t>
            </a:fld>
            <a:endParaRPr lang="en-JP"/>
          </a:p>
        </p:txBody>
      </p:sp>
      <p:sp>
        <p:nvSpPr>
          <p:cNvPr id="2" name="Rounded Rectangle 1">
            <a:extLst>
              <a:ext uri="{FF2B5EF4-FFF2-40B4-BE49-F238E27FC236}">
                <a16:creationId xmlns:a16="http://schemas.microsoft.com/office/drawing/2014/main" id="{C858935C-C3DE-F4FD-8B8B-089E6C37242F}"/>
              </a:ext>
            </a:extLst>
          </p:cNvPr>
          <p:cNvSpPr/>
          <p:nvPr/>
        </p:nvSpPr>
        <p:spPr>
          <a:xfrm>
            <a:off x="4627335" y="762880"/>
            <a:ext cx="3798207" cy="262027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2000" b="1">
              <a:solidFill>
                <a:schemeClr val="tx1"/>
              </a:solidFill>
              <a:latin typeface="Meiryo" panose="020B0604030504040204" pitchFamily="34" charset="-128"/>
              <a:ea typeface="Meiryo" panose="020B0604030504040204" pitchFamily="34" charset="-128"/>
            </a:endParaRPr>
          </a:p>
          <a:p>
            <a:pPr algn="ctr"/>
            <a:r>
              <a:rPr lang="ja-JP" altLang="en-US" sz="2000" b="1">
                <a:solidFill>
                  <a:schemeClr val="tx1"/>
                </a:solidFill>
                <a:latin typeface="Meiryo" panose="020B0604030504040204" pitchFamily="34" charset="-128"/>
                <a:ea typeface="Meiryo" panose="020B0604030504040204" pitchFamily="34" charset="-128"/>
              </a:rPr>
              <a:t>脆弱性を最初に指摘</a:t>
            </a:r>
          </a:p>
          <a:p>
            <a:pPr algn="ctr"/>
            <a:r>
              <a:rPr lang="en-US" sz="2000" b="1" dirty="0" err="1">
                <a:solidFill>
                  <a:schemeClr val="tx1"/>
                </a:solidFill>
                <a:latin typeface="Meiryo" panose="020B0604030504040204" pitchFamily="34" charset="-128"/>
                <a:ea typeface="Meiryo" panose="020B0604030504040204" pitchFamily="34" charset="-128"/>
              </a:rPr>
              <a:t>Bellovin</a:t>
            </a:r>
            <a:r>
              <a:rPr lang="ja-JP" altLang="en-US" sz="2000" b="1">
                <a:solidFill>
                  <a:schemeClr val="tx1"/>
                </a:solidFill>
                <a:latin typeface="Meiryo" panose="020B0604030504040204" pitchFamily="34" charset="-128"/>
                <a:ea typeface="Meiryo" panose="020B0604030504040204" pitchFamily="34" charset="-128"/>
              </a:rPr>
              <a:t>が</a:t>
            </a:r>
            <a:r>
              <a:rPr lang="en-US" sz="2000" b="1" dirty="0">
                <a:solidFill>
                  <a:schemeClr val="tx1"/>
                </a:solidFill>
                <a:latin typeface="Meiryo" panose="020B0604030504040204" pitchFamily="34" charset="-128"/>
                <a:ea typeface="Meiryo" panose="020B0604030504040204" pitchFamily="34" charset="-128"/>
              </a:rPr>
              <a:t>TCP/IP</a:t>
            </a:r>
            <a:r>
              <a:rPr lang="ja-JP" altLang="en-US" sz="2000" b="1">
                <a:solidFill>
                  <a:schemeClr val="tx1"/>
                </a:solidFill>
                <a:latin typeface="Meiryo" panose="020B0604030504040204" pitchFamily="34" charset="-128"/>
                <a:ea typeface="Meiryo" panose="020B0604030504040204" pitchFamily="34" charset="-128"/>
              </a:rPr>
              <a:t>の設計上の問題として報告。</a:t>
            </a:r>
            <a:r>
              <a:rPr lang="en-US" sz="2000" b="1" dirty="0">
                <a:solidFill>
                  <a:schemeClr val="tx1"/>
                </a:solidFill>
                <a:latin typeface="Meiryo" panose="020B0604030504040204" pitchFamily="34" charset="-128"/>
                <a:ea typeface="Meiryo" panose="020B0604030504040204" pitchFamily="34" charset="-128"/>
              </a:rPr>
              <a:t>ARP</a:t>
            </a:r>
            <a:r>
              <a:rPr lang="ja-JP" altLang="en-US" sz="2000" b="1">
                <a:solidFill>
                  <a:schemeClr val="tx1"/>
                </a:solidFill>
                <a:latin typeface="Meiryo" panose="020B0604030504040204" pitchFamily="34" charset="-128"/>
                <a:ea typeface="Meiryo" panose="020B0604030504040204" pitchFamily="34" charset="-128"/>
              </a:rPr>
              <a:t>なりすましが可能と警告</a:t>
            </a:r>
          </a:p>
          <a:p>
            <a:pPr algn="ctr"/>
            <a:r>
              <a:rPr lang="en-US" sz="2000" b="1" dirty="0" err="1">
                <a:solidFill>
                  <a:schemeClr val="tx1"/>
                </a:solidFill>
                <a:latin typeface="Meiryo" panose="020B0604030504040204" pitchFamily="34" charset="-128"/>
                <a:ea typeface="Meiryo" panose="020B0604030504040204" pitchFamily="34" charset="-128"/>
              </a:rPr>
              <a:t>Bellovin</a:t>
            </a:r>
            <a:r>
              <a:rPr lang="en-US" sz="2000" b="1" dirty="0">
                <a:solidFill>
                  <a:schemeClr val="tx1"/>
                </a:solidFill>
                <a:latin typeface="Meiryo" panose="020B0604030504040204" pitchFamily="34" charset="-128"/>
                <a:ea typeface="Meiryo" panose="020B0604030504040204" pitchFamily="34" charset="-128"/>
              </a:rPr>
              <a:t>, 1989</a:t>
            </a:r>
            <a:endParaRPr lang="en-JP" sz="2000" b="1" dirty="0">
              <a:solidFill>
                <a:schemeClr val="tx1"/>
              </a:solidFill>
              <a:latin typeface="Meiryo" panose="020B0604030504040204" pitchFamily="34" charset="-128"/>
              <a:ea typeface="Meiryo" panose="020B0604030504040204" pitchFamily="34" charset="-128"/>
            </a:endParaRPr>
          </a:p>
        </p:txBody>
      </p:sp>
      <p:sp>
        <p:nvSpPr>
          <p:cNvPr id="3" name="Rounded Rectangle 2">
            <a:extLst>
              <a:ext uri="{FF2B5EF4-FFF2-40B4-BE49-F238E27FC236}">
                <a16:creationId xmlns:a16="http://schemas.microsoft.com/office/drawing/2014/main" id="{CF83A49C-B0F8-25DD-B437-5BB299E94923}"/>
              </a:ext>
            </a:extLst>
          </p:cNvPr>
          <p:cNvSpPr/>
          <p:nvPr/>
        </p:nvSpPr>
        <p:spPr>
          <a:xfrm>
            <a:off x="206926" y="3599339"/>
            <a:ext cx="3630058" cy="274490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2000" b="1" dirty="0">
              <a:solidFill>
                <a:srgbClr val="C00000"/>
              </a:solidFill>
              <a:latin typeface="Meiryo" panose="020B0604030504040204" pitchFamily="34" charset="-128"/>
              <a:ea typeface="Meiryo" panose="020B0604030504040204" pitchFamily="34" charset="-128"/>
            </a:endParaRPr>
          </a:p>
          <a:p>
            <a:pPr algn="ctr"/>
            <a:endParaRPr lang="en-US" altLang="ja-JP" sz="2000" b="1" dirty="0">
              <a:solidFill>
                <a:srgbClr val="C00000"/>
              </a:solidFill>
              <a:latin typeface="Meiryo" panose="020B0604030504040204" pitchFamily="34" charset="-128"/>
              <a:ea typeface="Meiryo" panose="020B0604030504040204" pitchFamily="34" charset="-128"/>
            </a:endParaRPr>
          </a:p>
          <a:p>
            <a:pPr algn="ctr"/>
            <a:r>
              <a:rPr lang="en-US" altLang="ja-JP" sz="2000" b="1" dirty="0">
                <a:solidFill>
                  <a:schemeClr val="tx1"/>
                </a:solidFill>
                <a:latin typeface="Meiryo" panose="020B0604030504040204" pitchFamily="34" charset="-128"/>
                <a:ea typeface="Meiryo" panose="020B0604030504040204" pitchFamily="34" charset="-128"/>
              </a:rPr>
              <a:t>IoT</a:t>
            </a:r>
            <a:r>
              <a:rPr lang="ja-JP" altLang="en-US" sz="2000" b="1">
                <a:solidFill>
                  <a:schemeClr val="tx1"/>
                </a:solidFill>
                <a:latin typeface="Meiryo" panose="020B0604030504040204" pitchFamily="34" charset="-128"/>
                <a:ea typeface="Meiryo" panose="020B0604030504040204" pitchFamily="34" charset="-128"/>
              </a:rPr>
              <a:t>時代に拡大</a:t>
            </a:r>
          </a:p>
          <a:p>
            <a:pPr algn="ctr"/>
            <a:r>
              <a:rPr lang="en-US" altLang="ja-JP" sz="2000" b="1" dirty="0">
                <a:solidFill>
                  <a:schemeClr val="tx1"/>
                </a:solidFill>
                <a:latin typeface="Meiryo" panose="020B0604030504040204" pitchFamily="34" charset="-128"/>
                <a:ea typeface="Meiryo" panose="020B0604030504040204" pitchFamily="34" charset="-128"/>
              </a:rPr>
              <a:t>Philips Hue (CVE-2020-6007) ARP</a:t>
            </a:r>
            <a:r>
              <a:rPr lang="ja-JP" altLang="en-US" sz="2000" b="1">
                <a:solidFill>
                  <a:schemeClr val="tx1"/>
                </a:solidFill>
                <a:latin typeface="Meiryo" panose="020B0604030504040204" pitchFamily="34" charset="-128"/>
                <a:ea typeface="Meiryo" panose="020B0604030504040204" pitchFamily="34" charset="-128"/>
              </a:rPr>
              <a:t>経由で</a:t>
            </a:r>
            <a:r>
              <a:rPr lang="en-US" altLang="ja-JP" sz="2000" b="1" dirty="0">
                <a:solidFill>
                  <a:schemeClr val="tx1"/>
                </a:solidFill>
                <a:latin typeface="Meiryo" panose="020B0604030504040204" pitchFamily="34" charset="-128"/>
                <a:ea typeface="Meiryo" panose="020B0604030504040204" pitchFamily="34" charset="-128"/>
              </a:rPr>
              <a:t>IoT</a:t>
            </a:r>
            <a:r>
              <a:rPr lang="ja-JP" altLang="en-US" sz="2000" b="1">
                <a:solidFill>
                  <a:schemeClr val="tx1"/>
                </a:solidFill>
                <a:latin typeface="Meiryo" panose="020B0604030504040204" pitchFamily="34" charset="-128"/>
                <a:ea typeface="Meiryo" panose="020B0604030504040204" pitchFamily="34" charset="-128"/>
              </a:rPr>
              <a:t>ネットワーク侵入</a:t>
            </a:r>
            <a:r>
              <a:rPr lang="en-US" altLang="ja-JP" sz="2000" b="1" dirty="0">
                <a:solidFill>
                  <a:schemeClr val="tx1"/>
                </a:solidFill>
                <a:latin typeface="Meiryo" panose="020B0604030504040204" pitchFamily="34" charset="-128"/>
                <a:ea typeface="Meiryo" panose="020B0604030504040204" pitchFamily="34" charset="-128"/>
              </a:rPr>
              <a:t>. </a:t>
            </a:r>
            <a:r>
              <a:rPr lang="ja-JP" altLang="en-US" sz="2000" b="1">
                <a:solidFill>
                  <a:schemeClr val="tx1"/>
                </a:solidFill>
                <a:latin typeface="Meiryo" panose="020B0604030504040204" pitchFamily="34" charset="-128"/>
                <a:ea typeface="Meiryo" panose="020B0604030504040204" pitchFamily="34" charset="-128"/>
              </a:rPr>
              <a:t>暗号化済みでも被害発生</a:t>
            </a:r>
          </a:p>
          <a:p>
            <a:pPr algn="ctr"/>
            <a:r>
              <a:rPr lang="en-US" altLang="ja-JP" sz="2000" b="1" dirty="0">
                <a:solidFill>
                  <a:schemeClr val="tx1"/>
                </a:solidFill>
                <a:latin typeface="Meiryo" panose="020B0604030504040204" pitchFamily="34" charset="-128"/>
                <a:ea typeface="Meiryo" panose="020B0604030504040204" pitchFamily="34" charset="-128"/>
              </a:rPr>
              <a:t>NVD, 2020</a:t>
            </a:r>
            <a:endParaRPr lang="en-JP" sz="2000" b="1" dirty="0">
              <a:solidFill>
                <a:schemeClr val="tx1"/>
              </a:solidFill>
              <a:latin typeface="Meiryo" panose="020B0604030504040204" pitchFamily="34" charset="-128"/>
              <a:ea typeface="Meiryo" panose="020B0604030504040204" pitchFamily="34" charset="-128"/>
            </a:endParaRPr>
          </a:p>
        </p:txBody>
      </p:sp>
      <p:sp>
        <p:nvSpPr>
          <p:cNvPr id="7" name="Rounded Rectangle 6">
            <a:extLst>
              <a:ext uri="{FF2B5EF4-FFF2-40B4-BE49-F238E27FC236}">
                <a16:creationId xmlns:a16="http://schemas.microsoft.com/office/drawing/2014/main" id="{216D6A4E-1230-CE24-4852-6B28113A39E1}"/>
              </a:ext>
            </a:extLst>
          </p:cNvPr>
          <p:cNvSpPr/>
          <p:nvPr/>
        </p:nvSpPr>
        <p:spPr>
          <a:xfrm>
            <a:off x="4604658" y="3599339"/>
            <a:ext cx="3853542" cy="262027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2000" b="1">
              <a:solidFill>
                <a:srgbClr val="C00000"/>
              </a:solidFill>
              <a:latin typeface="Meiryo" panose="020B0604030504040204" pitchFamily="34" charset="-128"/>
              <a:ea typeface="Meiryo" panose="020B0604030504040204" pitchFamily="34" charset="-128"/>
            </a:endParaRPr>
          </a:p>
          <a:p>
            <a:pPr algn="ctr"/>
            <a:r>
              <a:rPr lang="ja-JP" altLang="en-US" sz="2000" b="1">
                <a:solidFill>
                  <a:schemeClr val="tx1"/>
                </a:solidFill>
                <a:latin typeface="Meiryo" panose="020B0604030504040204" pitchFamily="34" charset="-128"/>
                <a:ea typeface="Meiryo" panose="020B0604030504040204" pitchFamily="34" charset="-128"/>
              </a:rPr>
              <a:t>被害は拡大中</a:t>
            </a:r>
          </a:p>
          <a:p>
            <a:pPr algn="ctr"/>
            <a:r>
              <a:rPr lang="en-US" altLang="ja-JP" sz="2000" b="1" dirty="0">
                <a:solidFill>
                  <a:schemeClr val="tx1"/>
                </a:solidFill>
                <a:latin typeface="Meiryo" panose="020B0604030504040204" pitchFamily="34" charset="-128"/>
                <a:ea typeface="Meiryo" panose="020B0604030504040204" pitchFamily="34" charset="-128"/>
              </a:rPr>
              <a:t>Cisco</a:t>
            </a:r>
            <a:r>
              <a:rPr lang="ja-JP" altLang="en-US" sz="2000" b="1">
                <a:solidFill>
                  <a:schemeClr val="tx1"/>
                </a:solidFill>
                <a:latin typeface="Meiryo" panose="020B0604030504040204" pitchFamily="34" charset="-128"/>
                <a:ea typeface="Meiryo" panose="020B0604030504040204" pitchFamily="34" charset="-128"/>
              </a:rPr>
              <a:t>報告</a:t>
            </a:r>
            <a:r>
              <a:rPr lang="en-US" altLang="ja-JP" sz="2000" b="1" dirty="0">
                <a:solidFill>
                  <a:schemeClr val="tx1"/>
                </a:solidFill>
                <a:latin typeface="Meiryo" panose="020B0604030504040204" pitchFamily="34" charset="-128"/>
                <a:ea typeface="Meiryo" panose="020B0604030504040204" pitchFamily="34" charset="-128"/>
              </a:rPr>
              <a:t>: IoT</a:t>
            </a:r>
            <a:r>
              <a:rPr lang="ja-JP" altLang="en-US" sz="2000" b="1">
                <a:solidFill>
                  <a:schemeClr val="tx1"/>
                </a:solidFill>
                <a:latin typeface="Meiryo" panose="020B0604030504040204" pitchFamily="34" charset="-128"/>
                <a:ea typeface="Meiryo" panose="020B0604030504040204" pitchFamily="34" charset="-128"/>
              </a:rPr>
              <a:t>向け攻撃が前年比</a:t>
            </a:r>
            <a:r>
              <a:rPr lang="en-US" altLang="ja-JP" sz="2000" b="1" dirty="0">
                <a:solidFill>
                  <a:schemeClr val="tx1"/>
                </a:solidFill>
                <a:latin typeface="Meiryo" panose="020B0604030504040204" pitchFamily="34" charset="-128"/>
                <a:ea typeface="Meiryo" panose="020B0604030504040204" pitchFamily="34" charset="-128"/>
              </a:rPr>
              <a:t>+41%.ARP</a:t>
            </a:r>
            <a:r>
              <a:rPr lang="ja-JP" altLang="en-US" sz="2000" b="1">
                <a:solidFill>
                  <a:schemeClr val="tx1"/>
                </a:solidFill>
                <a:latin typeface="Meiryo" panose="020B0604030504040204" pitchFamily="34" charset="-128"/>
                <a:ea typeface="Meiryo" panose="020B0604030504040204" pitchFamily="34" charset="-128"/>
              </a:rPr>
              <a:t>ベース攻撃が</a:t>
            </a:r>
            <a:r>
              <a:rPr lang="en-US" altLang="ja-JP" sz="2000" b="1" dirty="0">
                <a:solidFill>
                  <a:schemeClr val="tx1"/>
                </a:solidFill>
                <a:latin typeface="Meiryo" panose="020B0604030504040204" pitchFamily="34" charset="-128"/>
                <a:ea typeface="Meiryo" panose="020B0604030504040204" pitchFamily="34" charset="-128"/>
              </a:rPr>
              <a:t>23%</a:t>
            </a:r>
            <a:r>
              <a:rPr lang="ja-JP" altLang="en-US" sz="2000" b="1">
                <a:solidFill>
                  <a:schemeClr val="tx1"/>
                </a:solidFill>
                <a:latin typeface="Meiryo" panose="020B0604030504040204" pitchFamily="34" charset="-128"/>
                <a:ea typeface="Meiryo" panose="020B0604030504040204" pitchFamily="34" charset="-128"/>
              </a:rPr>
              <a:t>を占める</a:t>
            </a:r>
          </a:p>
          <a:p>
            <a:pPr algn="ctr"/>
            <a:r>
              <a:rPr lang="en-US" altLang="ja-JP" sz="2000" b="1" dirty="0">
                <a:solidFill>
                  <a:schemeClr val="tx1"/>
                </a:solidFill>
                <a:latin typeface="Meiryo" panose="020B0604030504040204" pitchFamily="34" charset="-128"/>
                <a:ea typeface="Meiryo" panose="020B0604030504040204" pitchFamily="34" charset="-128"/>
              </a:rPr>
              <a:t>Cisco 2024</a:t>
            </a:r>
            <a:endParaRPr lang="en-JP" sz="2000" b="1" dirty="0">
              <a:solidFill>
                <a:schemeClr val="tx1"/>
              </a:solidFill>
              <a:latin typeface="Meiryo" panose="020B0604030504040204" pitchFamily="34" charset="-128"/>
              <a:ea typeface="Meiryo" panose="020B0604030504040204" pitchFamily="34" charset="-128"/>
            </a:endParaRPr>
          </a:p>
        </p:txBody>
      </p:sp>
      <p:sp>
        <p:nvSpPr>
          <p:cNvPr id="9" name="Quad Arrow 8">
            <a:extLst>
              <a:ext uri="{FF2B5EF4-FFF2-40B4-BE49-F238E27FC236}">
                <a16:creationId xmlns:a16="http://schemas.microsoft.com/office/drawing/2014/main" id="{D6953004-29C6-1203-E1F3-2BCFE3E84426}"/>
              </a:ext>
            </a:extLst>
          </p:cNvPr>
          <p:cNvSpPr/>
          <p:nvPr/>
        </p:nvSpPr>
        <p:spPr>
          <a:xfrm>
            <a:off x="3920087" y="2995392"/>
            <a:ext cx="596579" cy="834368"/>
          </a:xfrm>
          <a:prstGeom prst="quadArrow">
            <a:avLst/>
          </a:prstGeom>
          <a:solidFill>
            <a:schemeClr val="tx1">
              <a:lumMod val="95000"/>
              <a:lumOff val="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5" name="Rounded Rectangle 14">
            <a:extLst>
              <a:ext uri="{FF2B5EF4-FFF2-40B4-BE49-F238E27FC236}">
                <a16:creationId xmlns:a16="http://schemas.microsoft.com/office/drawing/2014/main" id="{FF8CBE85-DDD8-87A7-01EF-89930092DE0A}"/>
              </a:ext>
            </a:extLst>
          </p:cNvPr>
          <p:cNvSpPr/>
          <p:nvPr/>
        </p:nvSpPr>
        <p:spPr>
          <a:xfrm>
            <a:off x="464854" y="819546"/>
            <a:ext cx="3059247" cy="57694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800" b="1" dirty="0">
              <a:solidFill>
                <a:srgbClr val="C00000"/>
              </a:solidFill>
              <a:latin typeface="Meiryo" panose="020B0604030504040204" pitchFamily="34" charset="-128"/>
              <a:ea typeface="Meiryo" panose="020B0604030504040204" pitchFamily="34" charset="-128"/>
            </a:endParaRPr>
          </a:p>
          <a:p>
            <a:pPr algn="ctr"/>
            <a:r>
              <a:rPr lang="en-US" altLang="ja-JP" sz="1800" b="1" dirty="0">
                <a:solidFill>
                  <a:srgbClr val="C00000"/>
                </a:solidFill>
                <a:latin typeface="Meiryo" panose="020B0604030504040204" pitchFamily="34" charset="-128"/>
                <a:ea typeface="Meiryo" panose="020B0604030504040204" pitchFamily="34" charset="-128"/>
              </a:rPr>
              <a:t>1982</a:t>
            </a:r>
            <a:r>
              <a:rPr lang="ja-JP" altLang="en-US" sz="1800" b="1">
                <a:solidFill>
                  <a:srgbClr val="C00000"/>
                </a:solidFill>
                <a:latin typeface="Meiryo" panose="020B0604030504040204" pitchFamily="34" charset="-128"/>
                <a:ea typeface="Meiryo" panose="020B0604030504040204" pitchFamily="34" charset="-128"/>
              </a:rPr>
              <a:t>年</a:t>
            </a:r>
            <a:endParaRPr lang="en-US" altLang="ja-JP" sz="1800" b="1" dirty="0">
              <a:solidFill>
                <a:srgbClr val="C00000"/>
              </a:solidFill>
              <a:latin typeface="Meiryo" panose="020B0604030504040204" pitchFamily="34" charset="-128"/>
              <a:ea typeface="Meiryo" panose="020B0604030504040204" pitchFamily="34" charset="-128"/>
            </a:endParaRPr>
          </a:p>
          <a:p>
            <a:pPr algn="ctr"/>
            <a:endParaRPr lang="en-JP" dirty="0"/>
          </a:p>
        </p:txBody>
      </p:sp>
      <p:sp>
        <p:nvSpPr>
          <p:cNvPr id="16" name="Rounded Rectangle 15">
            <a:extLst>
              <a:ext uri="{FF2B5EF4-FFF2-40B4-BE49-F238E27FC236}">
                <a16:creationId xmlns:a16="http://schemas.microsoft.com/office/drawing/2014/main" id="{9A15DC73-34AB-A42D-3C24-07D5D9CFC57B}"/>
              </a:ext>
            </a:extLst>
          </p:cNvPr>
          <p:cNvSpPr/>
          <p:nvPr/>
        </p:nvSpPr>
        <p:spPr>
          <a:xfrm>
            <a:off x="5019787" y="819545"/>
            <a:ext cx="3013301" cy="57694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800" b="1" dirty="0">
              <a:solidFill>
                <a:srgbClr val="C00000"/>
              </a:solidFill>
              <a:latin typeface="Meiryo" panose="020B0604030504040204" pitchFamily="34" charset="-128"/>
              <a:ea typeface="Meiryo" panose="020B0604030504040204" pitchFamily="34" charset="-128"/>
            </a:endParaRPr>
          </a:p>
          <a:p>
            <a:pPr algn="ctr"/>
            <a:r>
              <a:rPr lang="en-US" altLang="ja-JP" sz="1800" b="1" dirty="0">
                <a:solidFill>
                  <a:srgbClr val="C00000"/>
                </a:solidFill>
                <a:latin typeface="Meiryo" panose="020B0604030504040204" pitchFamily="34" charset="-128"/>
                <a:ea typeface="Meiryo" panose="020B0604030504040204" pitchFamily="34" charset="-128"/>
              </a:rPr>
              <a:t>1989</a:t>
            </a:r>
            <a:r>
              <a:rPr lang="ja-JP" altLang="en-US" sz="1800" b="1">
                <a:solidFill>
                  <a:srgbClr val="C00000"/>
                </a:solidFill>
                <a:latin typeface="Meiryo" panose="020B0604030504040204" pitchFamily="34" charset="-128"/>
                <a:ea typeface="Meiryo" panose="020B0604030504040204" pitchFamily="34" charset="-128"/>
              </a:rPr>
              <a:t>年</a:t>
            </a:r>
            <a:endParaRPr lang="en-US" altLang="ja-JP" sz="1800" b="1" dirty="0">
              <a:solidFill>
                <a:srgbClr val="C00000"/>
              </a:solidFill>
              <a:latin typeface="Meiryo" panose="020B0604030504040204" pitchFamily="34" charset="-128"/>
              <a:ea typeface="Meiryo" panose="020B0604030504040204" pitchFamily="34" charset="-128"/>
            </a:endParaRPr>
          </a:p>
          <a:p>
            <a:pPr algn="ctr"/>
            <a:endParaRPr lang="en-JP" dirty="0"/>
          </a:p>
        </p:txBody>
      </p:sp>
      <p:sp>
        <p:nvSpPr>
          <p:cNvPr id="17" name="Rounded Rectangle 16">
            <a:extLst>
              <a:ext uri="{FF2B5EF4-FFF2-40B4-BE49-F238E27FC236}">
                <a16:creationId xmlns:a16="http://schemas.microsoft.com/office/drawing/2014/main" id="{3C1D579C-7407-99AC-DECF-D00F89EB4AAB}"/>
              </a:ext>
            </a:extLst>
          </p:cNvPr>
          <p:cNvSpPr/>
          <p:nvPr/>
        </p:nvSpPr>
        <p:spPr>
          <a:xfrm>
            <a:off x="464854" y="3622502"/>
            <a:ext cx="3013301" cy="57694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800" b="1" dirty="0">
              <a:solidFill>
                <a:srgbClr val="C00000"/>
              </a:solidFill>
              <a:latin typeface="Meiryo" panose="020B0604030504040204" pitchFamily="34" charset="-128"/>
              <a:ea typeface="Meiryo" panose="020B0604030504040204" pitchFamily="34" charset="-128"/>
            </a:endParaRPr>
          </a:p>
          <a:p>
            <a:pPr algn="ctr"/>
            <a:r>
              <a:rPr lang="en-US" altLang="ja-JP" sz="1800" b="1" dirty="0">
                <a:solidFill>
                  <a:srgbClr val="C00000"/>
                </a:solidFill>
                <a:latin typeface="Meiryo" panose="020B0604030504040204" pitchFamily="34" charset="-128"/>
                <a:ea typeface="Meiryo" panose="020B0604030504040204" pitchFamily="34" charset="-128"/>
              </a:rPr>
              <a:t>2020</a:t>
            </a:r>
            <a:r>
              <a:rPr lang="ja-JP" altLang="en-US" sz="1800" b="1">
                <a:solidFill>
                  <a:srgbClr val="C00000"/>
                </a:solidFill>
                <a:latin typeface="Meiryo" panose="020B0604030504040204" pitchFamily="34" charset="-128"/>
                <a:ea typeface="Meiryo" panose="020B0604030504040204" pitchFamily="34" charset="-128"/>
              </a:rPr>
              <a:t>年</a:t>
            </a:r>
            <a:endParaRPr lang="en-US" altLang="ja-JP" sz="1800" b="1" dirty="0">
              <a:solidFill>
                <a:srgbClr val="C00000"/>
              </a:solidFill>
              <a:latin typeface="Meiryo" panose="020B0604030504040204" pitchFamily="34" charset="-128"/>
              <a:ea typeface="Meiryo" panose="020B0604030504040204" pitchFamily="34" charset="-128"/>
            </a:endParaRPr>
          </a:p>
          <a:p>
            <a:pPr algn="ctr"/>
            <a:endParaRPr lang="en-JP" dirty="0"/>
          </a:p>
        </p:txBody>
      </p:sp>
      <p:sp>
        <p:nvSpPr>
          <p:cNvPr id="18" name="Rounded Rectangle 17">
            <a:extLst>
              <a:ext uri="{FF2B5EF4-FFF2-40B4-BE49-F238E27FC236}">
                <a16:creationId xmlns:a16="http://schemas.microsoft.com/office/drawing/2014/main" id="{7792BF25-DD9D-0A0E-D8B0-BBB9A8EF46D6}"/>
              </a:ext>
            </a:extLst>
          </p:cNvPr>
          <p:cNvSpPr/>
          <p:nvPr/>
        </p:nvSpPr>
        <p:spPr>
          <a:xfrm>
            <a:off x="5019786" y="3622502"/>
            <a:ext cx="3013301" cy="57694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800" b="1" dirty="0">
              <a:solidFill>
                <a:srgbClr val="C00000"/>
              </a:solidFill>
              <a:latin typeface="Meiryo" panose="020B0604030504040204" pitchFamily="34" charset="-128"/>
              <a:ea typeface="Meiryo" panose="020B0604030504040204" pitchFamily="34" charset="-128"/>
            </a:endParaRPr>
          </a:p>
          <a:p>
            <a:pPr algn="ctr"/>
            <a:r>
              <a:rPr lang="en-US" altLang="ja-JP" b="1" dirty="0">
                <a:solidFill>
                  <a:srgbClr val="C00000"/>
                </a:solidFill>
                <a:latin typeface="Meiryo" panose="020B0604030504040204" pitchFamily="34" charset="-128"/>
                <a:ea typeface="Meiryo" panose="020B0604030504040204" pitchFamily="34" charset="-128"/>
              </a:rPr>
              <a:t>2024</a:t>
            </a:r>
            <a:r>
              <a:rPr lang="ja-JP" altLang="en-US" sz="1800" b="1">
                <a:solidFill>
                  <a:srgbClr val="C00000"/>
                </a:solidFill>
                <a:latin typeface="Meiryo" panose="020B0604030504040204" pitchFamily="34" charset="-128"/>
                <a:ea typeface="Meiryo" panose="020B0604030504040204" pitchFamily="34" charset="-128"/>
              </a:rPr>
              <a:t>年</a:t>
            </a:r>
            <a:endParaRPr lang="en-US" altLang="ja-JP" sz="1800" b="1" dirty="0">
              <a:solidFill>
                <a:srgbClr val="C00000"/>
              </a:solidFill>
              <a:latin typeface="Meiryo" panose="020B0604030504040204" pitchFamily="34" charset="-128"/>
              <a:ea typeface="Meiryo" panose="020B0604030504040204" pitchFamily="34" charset="-128"/>
            </a:endParaRPr>
          </a:p>
          <a:p>
            <a:pPr algn="ctr"/>
            <a:endParaRPr lang="en-JP" dirty="0"/>
          </a:p>
        </p:txBody>
      </p:sp>
    </p:spTree>
    <p:extLst>
      <p:ext uri="{BB962C8B-B14F-4D97-AF65-F5344CB8AC3E}">
        <p14:creationId xmlns:p14="http://schemas.microsoft.com/office/powerpoint/2010/main" val="3436330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C6BA0EB-7B7E-DE50-58B3-59541CFCE05A}"/>
              </a:ext>
            </a:extLst>
          </p:cNvPr>
          <p:cNvSpPr>
            <a:spLocks noGrp="1"/>
          </p:cNvSpPr>
          <p:nvPr>
            <p:ph type="sldNum" sz="quarter" idx="12"/>
          </p:nvPr>
        </p:nvSpPr>
        <p:spPr/>
        <p:txBody>
          <a:bodyPr/>
          <a:lstStyle/>
          <a:p>
            <a:fld id="{828F3BD4-1AF2-D144-8129-4D42AD448F5E}" type="slidenum">
              <a:rPr lang="en-JP" smtClean="0"/>
              <a:pPr/>
              <a:t>7</a:t>
            </a:fld>
            <a:endParaRPr lang="en-JP" dirty="0"/>
          </a:p>
        </p:txBody>
      </p:sp>
      <p:sp>
        <p:nvSpPr>
          <p:cNvPr id="7" name="Shape 0">
            <a:extLst>
              <a:ext uri="{FF2B5EF4-FFF2-40B4-BE49-F238E27FC236}">
                <a16:creationId xmlns:a16="http://schemas.microsoft.com/office/drawing/2014/main" id="{0E56D31E-A7E2-56CF-276A-FB2DDB0D2B37}"/>
              </a:ext>
            </a:extLst>
          </p:cNvPr>
          <p:cNvSpPr/>
          <p:nvPr/>
        </p:nvSpPr>
        <p:spPr>
          <a:xfrm>
            <a:off x="13491" y="0"/>
            <a:ext cx="9144000" cy="48635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457200" indent="-457200">
              <a:buFont typeface="Wingdings" pitchFamily="2" charset="2"/>
              <a:buChar char="§"/>
            </a:pPr>
            <a:r>
              <a:rPr lang="ja-JP" altLang="en-US" sz="2400" b="1">
                <a:latin typeface="Meiryo" panose="020B0604030504040204" pitchFamily="34" charset="-128"/>
                <a:ea typeface="Meiryo" panose="020B0604030504040204" pitchFamily="34" charset="-128"/>
              </a:rPr>
              <a:t>実被害・公式報告 </a:t>
            </a:r>
            <a:r>
              <a:rPr lang="en-US" altLang="ja-JP" sz="2400" b="1" dirty="0">
                <a:latin typeface="Meiryo" panose="020B0604030504040204" pitchFamily="34" charset="-128"/>
                <a:ea typeface="Meiryo" panose="020B0604030504040204" pitchFamily="34" charset="-128"/>
              </a:rPr>
              <a:t>— </a:t>
            </a:r>
            <a:r>
              <a:rPr lang="en-US" sz="2400" b="1" dirty="0">
                <a:latin typeface="Meiryo" panose="020B0604030504040204" pitchFamily="34" charset="-128"/>
                <a:ea typeface="Meiryo" panose="020B0604030504040204" pitchFamily="34" charset="-128"/>
              </a:rPr>
              <a:t>ARP</a:t>
            </a:r>
            <a:r>
              <a:rPr lang="ja-JP" altLang="en-US" sz="2400" b="1">
                <a:latin typeface="Meiryo" panose="020B0604030504040204" pitchFamily="34" charset="-128"/>
                <a:ea typeface="Meiryo" panose="020B0604030504040204" pitchFamily="34" charset="-128"/>
              </a:rPr>
              <a:t>スプーフィングは現実の脅威</a:t>
            </a:r>
            <a:endParaRPr lang="en-JP" sz="2400" b="1" dirty="0">
              <a:latin typeface="Meiryo" panose="020B0604030504040204" pitchFamily="34" charset="-128"/>
              <a:ea typeface="Meiryo" panose="020B0604030504040204" pitchFamily="34" charset="-128"/>
            </a:endParaRPr>
          </a:p>
        </p:txBody>
      </p:sp>
      <p:sp>
        <p:nvSpPr>
          <p:cNvPr id="16" name="Rounded Rectangle 15">
            <a:extLst>
              <a:ext uri="{FF2B5EF4-FFF2-40B4-BE49-F238E27FC236}">
                <a16:creationId xmlns:a16="http://schemas.microsoft.com/office/drawing/2014/main" id="{E7D2C7BF-202A-3A09-2F34-0B9583920999}"/>
              </a:ext>
            </a:extLst>
          </p:cNvPr>
          <p:cNvSpPr/>
          <p:nvPr/>
        </p:nvSpPr>
        <p:spPr>
          <a:xfrm>
            <a:off x="-1" y="582170"/>
            <a:ext cx="9035143" cy="2765793"/>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ctr">
              <a:buFont typeface="Wingdings" pitchFamily="2" charset="2"/>
              <a:buChar char="Ø"/>
            </a:pPr>
            <a:r>
              <a:rPr lang="en-US" altLang="ja-JP" sz="2400" b="1" dirty="0">
                <a:solidFill>
                  <a:schemeClr val="tx1"/>
                </a:solidFill>
                <a:latin typeface="Meiryo" panose="020B0604030504040204" pitchFamily="34" charset="-128"/>
                <a:ea typeface="Meiryo" panose="020B0604030504040204" pitchFamily="34" charset="-128"/>
              </a:rPr>
              <a:t>① </a:t>
            </a:r>
            <a:r>
              <a:rPr lang="en-US" altLang="ja-JP" sz="2400" dirty="0">
                <a:solidFill>
                  <a:schemeClr val="tx1"/>
                </a:solidFill>
                <a:latin typeface="Meiryo" panose="020B0604030504040204" pitchFamily="34" charset="-128"/>
                <a:ea typeface="Meiryo" panose="020B0604030504040204" pitchFamily="34" charset="-128"/>
              </a:rPr>
              <a:t>CISA</a:t>
            </a:r>
            <a:r>
              <a:rPr lang="ja-JP" altLang="en-US" sz="2400">
                <a:solidFill>
                  <a:schemeClr val="tx1"/>
                </a:solidFill>
                <a:latin typeface="Meiryo" panose="020B0604030504040204" pitchFamily="34" charset="-128"/>
                <a:ea typeface="Meiryo" panose="020B0604030504040204" pitchFamily="34" charset="-128"/>
              </a:rPr>
              <a:t>（米国国家サイバーセキュリティ機関）公式勧告</a:t>
            </a:r>
            <a:endParaRPr lang="mn-MN" altLang="ja-JP" sz="2400" dirty="0">
              <a:solidFill>
                <a:schemeClr val="tx1"/>
              </a:solidFill>
              <a:latin typeface="Meiryo" panose="020B0604030504040204" pitchFamily="34" charset="-128"/>
              <a:ea typeface="Meiryo" panose="020B0604030504040204" pitchFamily="34" charset="-128"/>
            </a:endParaRPr>
          </a:p>
          <a:p>
            <a:pPr algn="ctr"/>
            <a:r>
              <a:rPr lang="en-US" sz="2400" dirty="0">
                <a:solidFill>
                  <a:schemeClr val="tx1"/>
                </a:solidFill>
                <a:latin typeface="Meiryo" panose="020B0604030504040204" pitchFamily="34" charset="-128"/>
                <a:ea typeface="Meiryo" panose="020B0604030504040204" pitchFamily="34" charset="-128"/>
              </a:rPr>
              <a:t>ARP</a:t>
            </a:r>
            <a:r>
              <a:rPr lang="ja-JP" altLang="en-US" sz="2400">
                <a:solidFill>
                  <a:schemeClr val="tx1"/>
                </a:solidFill>
                <a:latin typeface="Meiryo" panose="020B0604030504040204" pitchFamily="34" charset="-128"/>
                <a:ea typeface="Meiryo" panose="020B0604030504040204" pitchFamily="34" charset="-128"/>
              </a:rPr>
              <a:t>スプーフィングは</a:t>
            </a:r>
            <a:r>
              <a:rPr lang="en-US" sz="2400" dirty="0">
                <a:solidFill>
                  <a:schemeClr val="tx1"/>
                </a:solidFill>
                <a:latin typeface="Meiryo" panose="020B0604030504040204" pitchFamily="34" charset="-128"/>
                <a:ea typeface="Meiryo" panose="020B0604030504040204" pitchFamily="34" charset="-128"/>
              </a:rPr>
              <a:t>Man-in-the-Middle</a:t>
            </a:r>
            <a:r>
              <a:rPr lang="ja-JP" altLang="en-US" sz="2400">
                <a:solidFill>
                  <a:schemeClr val="tx1"/>
                </a:solidFill>
                <a:latin typeface="Meiryo" panose="020B0604030504040204" pitchFamily="34" charset="-128"/>
                <a:ea typeface="Meiryo" panose="020B0604030504040204" pitchFamily="34" charset="-128"/>
              </a:rPr>
              <a:t>攻撃の代表的な手法であり、ネットワーク通信の経路を不正に書き換える</a:t>
            </a:r>
            <a:r>
              <a:rPr lang="mn-MN" altLang="ja-JP" sz="2400" dirty="0">
                <a:solidFill>
                  <a:schemeClr val="tx1"/>
                </a:solidFill>
                <a:latin typeface="Meiryo" panose="020B0604030504040204" pitchFamily="34" charset="-128"/>
                <a:ea typeface="Meiryo" panose="020B0604030504040204" pitchFamily="34" charset="-128"/>
              </a:rPr>
              <a:t>.</a:t>
            </a:r>
            <a:r>
              <a:rPr lang="ja-JP" altLang="en-US" sz="2400">
                <a:solidFill>
                  <a:schemeClr val="tx1"/>
                </a:solidFill>
                <a:latin typeface="Meiryo" panose="020B0604030504040204" pitchFamily="34" charset="-128"/>
                <a:ea typeface="Meiryo" panose="020B0604030504040204" pitchFamily="34" charset="-128"/>
              </a:rPr>
              <a:t>暗号化（</a:t>
            </a:r>
            <a:r>
              <a:rPr lang="en-US" sz="2400" dirty="0">
                <a:solidFill>
                  <a:schemeClr val="tx1"/>
                </a:solidFill>
                <a:latin typeface="Meiryo" panose="020B0604030504040204" pitchFamily="34" charset="-128"/>
                <a:ea typeface="Meiryo" panose="020B0604030504040204" pitchFamily="34" charset="-128"/>
              </a:rPr>
              <a:t>TLS/DTLS）</a:t>
            </a:r>
            <a:r>
              <a:rPr lang="ja-JP" altLang="en-US" sz="2400">
                <a:solidFill>
                  <a:schemeClr val="tx1"/>
                </a:solidFill>
                <a:latin typeface="Meiryo" panose="020B0604030504040204" pitchFamily="34" charset="-128"/>
                <a:ea typeface="Meiryo" panose="020B0604030504040204" pitchFamily="34" charset="-128"/>
              </a:rPr>
              <a:t>があっても経路の乗っ取りは防げない</a:t>
            </a:r>
            <a:r>
              <a:rPr lang="mn-MN" altLang="ja-JP" sz="2400" dirty="0">
                <a:solidFill>
                  <a:schemeClr val="tx1"/>
                </a:solidFill>
                <a:latin typeface="Meiryo" panose="020B0604030504040204" pitchFamily="34" charset="-128"/>
                <a:ea typeface="Meiryo" panose="020B0604030504040204" pitchFamily="34" charset="-128"/>
              </a:rPr>
              <a:t>.</a:t>
            </a:r>
            <a:r>
              <a:rPr lang="ja-JP" altLang="en-US" sz="2400">
                <a:solidFill>
                  <a:schemeClr val="tx1"/>
                </a:solidFill>
                <a:latin typeface="Meiryo" panose="020B0604030504040204" pitchFamily="34" charset="-128"/>
                <a:ea typeface="Meiryo" panose="020B0604030504040204" pitchFamily="34" charset="-128"/>
              </a:rPr>
              <a:t>単一の技術では対策できず、多層防御が必要である</a:t>
            </a:r>
            <a:r>
              <a:rPr lang="mn-MN" altLang="ja-JP" sz="2400" dirty="0">
                <a:solidFill>
                  <a:schemeClr val="tx1"/>
                </a:solidFill>
                <a:latin typeface="Meiryo" panose="020B0604030504040204" pitchFamily="34" charset="-128"/>
                <a:ea typeface="Meiryo" panose="020B0604030504040204" pitchFamily="34" charset="-128"/>
              </a:rPr>
              <a:t>.</a:t>
            </a:r>
            <a:endParaRPr lang="ja-JP" altLang="en-US">
              <a:solidFill>
                <a:srgbClr val="C00000"/>
              </a:solidFill>
              <a:latin typeface="Meiryo" panose="020B0604030504040204" pitchFamily="34" charset="-128"/>
              <a:ea typeface="Meiryo" panose="020B0604030504040204" pitchFamily="34" charset="-128"/>
            </a:endParaRPr>
          </a:p>
          <a:p>
            <a:pPr algn="ctr"/>
            <a:endParaRPr lang="mn-MN" altLang="ja-JP" sz="1400" dirty="0">
              <a:solidFill>
                <a:schemeClr val="tx1"/>
              </a:solidFill>
              <a:latin typeface="Meiryo" panose="020B0604030504040204" pitchFamily="34" charset="-128"/>
              <a:ea typeface="Meiryo" panose="020B0604030504040204" pitchFamily="34" charset="-128"/>
            </a:endParaRPr>
          </a:p>
          <a:p>
            <a:pPr algn="ctr"/>
            <a:r>
              <a:rPr lang="ja-JP" altLang="en-US" sz="1400">
                <a:solidFill>
                  <a:schemeClr val="tx1"/>
                </a:solidFill>
                <a:latin typeface="Meiryo" panose="020B0604030504040204" pitchFamily="34" charset="-128"/>
                <a:ea typeface="Meiryo" panose="020B0604030504040204" pitchFamily="34" charset="-128"/>
              </a:rPr>
              <a:t>出典</a:t>
            </a:r>
            <a:r>
              <a:rPr lang="en-US" altLang="ja-JP" sz="1400" dirty="0">
                <a:solidFill>
                  <a:schemeClr val="tx1"/>
                </a:solidFill>
                <a:latin typeface="Meiryo" panose="020B0604030504040204" pitchFamily="34" charset="-128"/>
                <a:ea typeface="Meiryo" panose="020B0604030504040204" pitchFamily="34" charset="-128"/>
              </a:rPr>
              <a:t>: </a:t>
            </a:r>
            <a:r>
              <a:rPr lang="en-US" sz="1400" dirty="0">
                <a:solidFill>
                  <a:schemeClr val="tx1"/>
                </a:solidFill>
                <a:latin typeface="Meiryo" panose="020B0604030504040204" pitchFamily="34" charset="-128"/>
                <a:ea typeface="Meiryo" panose="020B0604030504040204" pitchFamily="34" charset="-128"/>
                <a:hlinkClick r:id="rId2"/>
              </a:rPr>
              <a:t>https://www.cisa.gov/news-events/alerts/2015/04/30/securing-end-end-communications</a:t>
            </a:r>
            <a:endParaRPr lang="mn-MN" sz="1400" dirty="0">
              <a:solidFill>
                <a:schemeClr val="tx1"/>
              </a:solidFill>
              <a:latin typeface="Meiryo" panose="020B0604030504040204" pitchFamily="34" charset="-128"/>
              <a:ea typeface="Meiryo" panose="020B0604030504040204" pitchFamily="34" charset="-128"/>
            </a:endParaRPr>
          </a:p>
          <a:p>
            <a:pPr algn="ctr"/>
            <a:endParaRPr lang="en-JP" sz="1400" dirty="0">
              <a:solidFill>
                <a:schemeClr val="tx1"/>
              </a:solidFill>
              <a:latin typeface="Meiryo" panose="020B0604030504040204" pitchFamily="34" charset="-128"/>
              <a:ea typeface="Meiryo" panose="020B0604030504040204" pitchFamily="34" charset="-128"/>
            </a:endParaRPr>
          </a:p>
        </p:txBody>
      </p:sp>
      <p:sp>
        <p:nvSpPr>
          <p:cNvPr id="17" name="Rounded Rectangle 16">
            <a:extLst>
              <a:ext uri="{FF2B5EF4-FFF2-40B4-BE49-F238E27FC236}">
                <a16:creationId xmlns:a16="http://schemas.microsoft.com/office/drawing/2014/main" id="{CC7CA189-9ACD-BAC8-6080-852BB2EE89EE}"/>
              </a:ext>
            </a:extLst>
          </p:cNvPr>
          <p:cNvSpPr/>
          <p:nvPr/>
        </p:nvSpPr>
        <p:spPr>
          <a:xfrm>
            <a:off x="-2" y="3461204"/>
            <a:ext cx="9035143" cy="2877726"/>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dirty="0">
              <a:solidFill>
                <a:schemeClr val="tx1"/>
              </a:solidFill>
              <a:latin typeface="Meiryo" panose="020B0604030504040204" pitchFamily="34" charset="-128"/>
              <a:ea typeface="Meiryo" panose="020B0604030504040204" pitchFamily="34" charset="-128"/>
            </a:endParaRPr>
          </a:p>
          <a:p>
            <a:r>
              <a:rPr lang="en-US" dirty="0">
                <a:solidFill>
                  <a:schemeClr val="tx1"/>
                </a:solidFill>
                <a:latin typeface="Meiryo" panose="020B0604030504040204" pitchFamily="34" charset="-128"/>
                <a:ea typeface="Meiryo" panose="020B0604030504040204" pitchFamily="34" charset="-128"/>
              </a:rPr>
              <a:t>CVE-2020-6007</a:t>
            </a:r>
          </a:p>
          <a:p>
            <a:pPr marL="342900" indent="-342900" algn="ctr">
              <a:buFont typeface="Wingdings" pitchFamily="2" charset="2"/>
              <a:buChar char="Ø"/>
            </a:pPr>
            <a:r>
              <a:rPr lang="en-US" sz="2400" b="1" dirty="0">
                <a:solidFill>
                  <a:schemeClr val="tx1"/>
                </a:solidFill>
                <a:latin typeface="Meiryo" panose="020B0604030504040204" pitchFamily="34" charset="-128"/>
                <a:ea typeface="Meiryo" panose="020B0604030504040204" pitchFamily="34" charset="-128"/>
              </a:rPr>
              <a:t>② </a:t>
            </a:r>
            <a:r>
              <a:rPr lang="en-US" sz="2400" dirty="0">
                <a:solidFill>
                  <a:schemeClr val="tx1"/>
                </a:solidFill>
                <a:latin typeface="Meiryo" panose="020B0604030504040204" pitchFamily="34" charset="-128"/>
                <a:ea typeface="Meiryo" panose="020B0604030504040204" pitchFamily="34" charset="-128"/>
              </a:rPr>
              <a:t>Philips Hue </a:t>
            </a:r>
            <a:r>
              <a:rPr lang="ja-JP" altLang="en-US" sz="2400">
                <a:solidFill>
                  <a:schemeClr val="tx1"/>
                </a:solidFill>
                <a:latin typeface="Meiryo" panose="020B0604030504040204" pitchFamily="34" charset="-128"/>
                <a:ea typeface="Meiryo" panose="020B0604030504040204" pitchFamily="34" charset="-128"/>
              </a:rPr>
              <a:t>スマート電球</a:t>
            </a:r>
            <a:endParaRPr lang="mn-MN" altLang="ja-JP" sz="2400" dirty="0">
              <a:solidFill>
                <a:schemeClr val="tx1"/>
              </a:solidFill>
              <a:latin typeface="Meiryo" panose="020B0604030504040204" pitchFamily="34" charset="-128"/>
              <a:ea typeface="Meiryo" panose="020B0604030504040204" pitchFamily="34" charset="-128"/>
            </a:endParaRPr>
          </a:p>
          <a:p>
            <a:r>
              <a:rPr lang="en-US" altLang="ja-JP" sz="2400" dirty="0">
                <a:solidFill>
                  <a:schemeClr val="tx1"/>
                </a:solidFill>
                <a:latin typeface="Meiryo" panose="020B0604030504040204" pitchFamily="34" charset="-128"/>
                <a:ea typeface="Meiryo" panose="020B0604030504040204" pitchFamily="34" charset="-128"/>
              </a:rPr>
              <a:t>CVE-2020-6007 Philips Hue </a:t>
            </a:r>
            <a:r>
              <a:rPr lang="ja-JP" altLang="en-US" sz="2400">
                <a:solidFill>
                  <a:schemeClr val="tx1"/>
                </a:solidFill>
                <a:latin typeface="Meiryo" panose="020B0604030504040204" pitchFamily="34" charset="-128"/>
                <a:ea typeface="Meiryo" panose="020B0604030504040204" pitchFamily="34" charset="-128"/>
              </a:rPr>
              <a:t>スマート電球</a:t>
            </a:r>
            <a:r>
              <a:rPr lang="en-US" altLang="ja-JP" sz="2400" dirty="0">
                <a:solidFill>
                  <a:schemeClr val="tx1"/>
                </a:solidFill>
                <a:latin typeface="Meiryo" panose="020B0604030504040204" pitchFamily="34" charset="-128"/>
                <a:ea typeface="Meiryo" panose="020B0604030504040204" pitchFamily="34" charset="-128"/>
              </a:rPr>
              <a:t>Zigbee</a:t>
            </a:r>
            <a:r>
              <a:rPr lang="ja-JP" altLang="en-US" sz="2400">
                <a:solidFill>
                  <a:schemeClr val="tx1"/>
                </a:solidFill>
                <a:latin typeface="Meiryo" panose="020B0604030504040204" pitchFamily="34" charset="-128"/>
                <a:ea typeface="Meiryo" panose="020B0604030504040204" pitchFamily="34" charset="-128"/>
              </a:rPr>
              <a:t>プロトコルの</a:t>
            </a:r>
            <a:r>
              <a:rPr lang="en-US" altLang="ja-JP" sz="2400" dirty="0">
                <a:solidFill>
                  <a:schemeClr val="tx1"/>
                </a:solidFill>
                <a:latin typeface="Meiryo" panose="020B0604030504040204" pitchFamily="34" charset="-128"/>
                <a:ea typeface="Meiryo" panose="020B0604030504040204" pitchFamily="34" charset="-128"/>
              </a:rPr>
              <a:t>L2</a:t>
            </a:r>
            <a:r>
              <a:rPr lang="ja-JP" altLang="en-US" sz="2400">
                <a:solidFill>
                  <a:schemeClr val="tx1"/>
                </a:solidFill>
                <a:latin typeface="Meiryo" panose="020B0604030504040204" pitchFamily="34" charset="-128"/>
                <a:ea typeface="Meiryo" panose="020B0604030504040204" pitchFamily="34" charset="-128"/>
              </a:rPr>
              <a:t>層の脆弱性を利用し、悪意あるファームウェアを書き込むことで</a:t>
            </a:r>
            <a:r>
              <a:rPr lang="en-US" altLang="ja-JP" sz="2400" dirty="0" err="1">
                <a:solidFill>
                  <a:schemeClr val="tx1"/>
                </a:solidFill>
                <a:latin typeface="Meiryo" panose="020B0604030504040204" pitchFamily="34" charset="-128"/>
                <a:ea typeface="Meiryo" panose="020B0604030504040204" pitchFamily="34" charset="-128"/>
              </a:rPr>
              <a:t>WiFi</a:t>
            </a:r>
            <a:r>
              <a:rPr lang="ja-JP" altLang="en-US" sz="2400">
                <a:solidFill>
                  <a:schemeClr val="tx1"/>
                </a:solidFill>
                <a:latin typeface="Meiryo" panose="020B0604030504040204" pitchFamily="34" charset="-128"/>
                <a:ea typeface="Meiryo" panose="020B0604030504040204" pitchFamily="34" charset="-128"/>
              </a:rPr>
              <a:t>ネットワーク全体への侵入が可能となった</a:t>
            </a:r>
            <a:r>
              <a:rPr lang="mn-MN" altLang="ja-JP" sz="2400" dirty="0">
                <a:solidFill>
                  <a:schemeClr val="tx1"/>
                </a:solidFill>
                <a:latin typeface="Meiryo" panose="020B0604030504040204" pitchFamily="34" charset="-128"/>
                <a:ea typeface="Meiryo" panose="020B0604030504040204" pitchFamily="34" charset="-128"/>
              </a:rPr>
              <a:t>.</a:t>
            </a:r>
            <a:r>
              <a:rPr lang="ja-JP" altLang="en-US" sz="2400">
                <a:solidFill>
                  <a:schemeClr val="tx1"/>
                </a:solidFill>
                <a:latin typeface="Meiryo" panose="020B0604030504040204" pitchFamily="34" charset="-128"/>
                <a:ea typeface="Meiryo" panose="020B0604030504040204" pitchFamily="34" charset="-128"/>
              </a:rPr>
              <a:t>暗号化通信を使用していたが、</a:t>
            </a:r>
            <a:r>
              <a:rPr lang="en-US" altLang="ja-JP" sz="2400" dirty="0">
                <a:solidFill>
                  <a:schemeClr val="tx1"/>
                </a:solidFill>
                <a:latin typeface="Meiryo" panose="020B0604030504040204" pitchFamily="34" charset="-128"/>
                <a:ea typeface="Meiryo" panose="020B0604030504040204" pitchFamily="34" charset="-128"/>
              </a:rPr>
              <a:t>L2</a:t>
            </a:r>
            <a:r>
              <a:rPr lang="ja-JP" altLang="en-US" sz="2400">
                <a:solidFill>
                  <a:schemeClr val="tx1"/>
                </a:solidFill>
                <a:latin typeface="Meiryo" panose="020B0604030504040204" pitchFamily="34" charset="-128"/>
                <a:ea typeface="Meiryo" panose="020B0604030504040204" pitchFamily="34" charset="-128"/>
              </a:rPr>
              <a:t>層は無防備であることが実証された</a:t>
            </a:r>
            <a:r>
              <a:rPr lang="mn-MN" altLang="ja-JP" sz="2400" dirty="0">
                <a:solidFill>
                  <a:schemeClr val="tx1"/>
                </a:solidFill>
                <a:latin typeface="Meiryo" panose="020B0604030504040204" pitchFamily="34" charset="-128"/>
                <a:ea typeface="Meiryo" panose="020B0604030504040204" pitchFamily="34" charset="-128"/>
              </a:rPr>
              <a:t>.</a:t>
            </a:r>
            <a:endParaRPr lang="mn-MN" altLang="ja-JP" sz="2400" b="1" dirty="0">
              <a:solidFill>
                <a:schemeClr val="tx1"/>
              </a:solidFill>
              <a:latin typeface="Meiryo" panose="020B0604030504040204" pitchFamily="34" charset="-128"/>
              <a:ea typeface="Meiryo" panose="020B0604030504040204" pitchFamily="34" charset="-128"/>
            </a:endParaRPr>
          </a:p>
          <a:p>
            <a:r>
              <a:rPr lang="ja-JP" altLang="en-US" sz="1400">
                <a:solidFill>
                  <a:schemeClr val="tx1"/>
                </a:solidFill>
                <a:latin typeface="Meiryo" panose="020B0604030504040204" pitchFamily="34" charset="-128"/>
                <a:ea typeface="Meiryo" panose="020B0604030504040204" pitchFamily="34" charset="-128"/>
              </a:rPr>
              <a:t>出典</a:t>
            </a:r>
            <a:r>
              <a:rPr lang="en-US" altLang="ja-JP" sz="1400" dirty="0">
                <a:solidFill>
                  <a:schemeClr val="tx1"/>
                </a:solidFill>
                <a:latin typeface="Meiryo" panose="020B0604030504040204" pitchFamily="34" charset="-128"/>
                <a:ea typeface="Meiryo" panose="020B0604030504040204" pitchFamily="34" charset="-128"/>
              </a:rPr>
              <a:t>: </a:t>
            </a:r>
            <a:r>
              <a:rPr lang="en-US" sz="1400" dirty="0">
                <a:solidFill>
                  <a:schemeClr val="tx1"/>
                </a:solidFill>
                <a:latin typeface="Meiryo" panose="020B0604030504040204" pitchFamily="34" charset="-128"/>
                <a:ea typeface="Meiryo" panose="020B0604030504040204" pitchFamily="34" charset="-128"/>
              </a:rPr>
              <a:t>NVD NIST, TP-Link Security Advisory, 2022</a:t>
            </a:r>
            <a:endParaRPr lang="mn-MN" sz="1400" dirty="0">
              <a:solidFill>
                <a:schemeClr val="tx1"/>
              </a:solidFill>
              <a:latin typeface="Meiryo" panose="020B0604030504040204" pitchFamily="34" charset="-128"/>
              <a:ea typeface="Meiryo" panose="020B0604030504040204" pitchFamily="34" charset="-128"/>
            </a:endParaRPr>
          </a:p>
          <a:p>
            <a:r>
              <a:rPr lang="en-US" sz="1400" dirty="0">
                <a:solidFill>
                  <a:schemeClr val="tx1"/>
                </a:solidFill>
                <a:latin typeface="Meiryo" panose="020B0604030504040204" pitchFamily="34" charset="-128"/>
                <a:ea typeface="Meiryo" panose="020B0604030504040204" pitchFamily="34" charset="-128"/>
                <a:hlinkClick r:id="rId3"/>
              </a:rPr>
              <a:t>https://research.checkpoint.com/2020/dont-be-silly-its-only-a-lightbulb/</a:t>
            </a:r>
            <a:endParaRPr lang="mn-MN" sz="1400" dirty="0">
              <a:solidFill>
                <a:schemeClr val="tx1"/>
              </a:solidFill>
              <a:latin typeface="Meiryo" panose="020B0604030504040204" pitchFamily="34" charset="-128"/>
              <a:ea typeface="Meiryo" panose="020B0604030504040204" pitchFamily="34" charset="-128"/>
            </a:endParaRPr>
          </a:p>
          <a:p>
            <a:endParaRPr lang="en-JP" sz="1400" dirty="0">
              <a:solidFill>
                <a:schemeClr val="tx1"/>
              </a:solidFill>
              <a:latin typeface="Meiryo" panose="020B0604030504040204" pitchFamily="34" charset="-128"/>
              <a:ea typeface="Meiryo" panose="020B0604030504040204" pitchFamily="34" charset="-128"/>
            </a:endParaRPr>
          </a:p>
        </p:txBody>
      </p:sp>
      <p:sp>
        <p:nvSpPr>
          <p:cNvPr id="19" name="TextBox 18">
            <a:extLst>
              <a:ext uri="{FF2B5EF4-FFF2-40B4-BE49-F238E27FC236}">
                <a16:creationId xmlns:a16="http://schemas.microsoft.com/office/drawing/2014/main" id="{C519E8DD-947E-A960-5735-BD3432FBEFFF}"/>
              </a:ext>
            </a:extLst>
          </p:cNvPr>
          <p:cNvSpPr txBox="1"/>
          <p:nvPr/>
        </p:nvSpPr>
        <p:spPr>
          <a:xfrm>
            <a:off x="54428" y="6452171"/>
            <a:ext cx="3667992" cy="430887"/>
          </a:xfrm>
          <a:prstGeom prst="rect">
            <a:avLst/>
          </a:prstGeom>
          <a:noFill/>
        </p:spPr>
        <p:txBody>
          <a:bodyPr wrap="none" rtlCol="0">
            <a:spAutoFit/>
          </a:bodyPr>
          <a:lstStyle/>
          <a:p>
            <a:r>
              <a:rPr lang="en-US" sz="1100" dirty="0">
                <a:solidFill>
                  <a:schemeClr val="tx1"/>
                </a:solidFill>
                <a:latin typeface="Meiryo" panose="020B0604030504040204" pitchFamily="34" charset="-128"/>
                <a:ea typeface="Meiryo" panose="020B0604030504040204" pitchFamily="34" charset="-128"/>
              </a:rPr>
              <a:t> </a:t>
            </a:r>
          </a:p>
          <a:p>
            <a:r>
              <a:rPr lang="en-US" sz="1100" dirty="0">
                <a:solidFill>
                  <a:schemeClr val="tx1"/>
                </a:solidFill>
                <a:latin typeface="Meiryo" panose="020B0604030504040204" pitchFamily="34" charset="-128"/>
                <a:ea typeface="Meiryo" panose="020B0604030504040204" pitchFamily="34" charset="-128"/>
              </a:rPr>
              <a:t>https://</a:t>
            </a:r>
            <a:r>
              <a:rPr lang="en-US" sz="1100" dirty="0" err="1">
                <a:solidFill>
                  <a:schemeClr val="tx1"/>
                </a:solidFill>
                <a:latin typeface="Meiryo" panose="020B0604030504040204" pitchFamily="34" charset="-128"/>
                <a:ea typeface="Meiryo" panose="020B0604030504040204" pitchFamily="34" charset="-128"/>
              </a:rPr>
              <a:t>nvd.nist.gov</a:t>
            </a:r>
            <a:r>
              <a:rPr lang="en-US" sz="1100" dirty="0">
                <a:solidFill>
                  <a:schemeClr val="tx1"/>
                </a:solidFill>
                <a:latin typeface="Meiryo" panose="020B0604030504040204" pitchFamily="34" charset="-128"/>
                <a:ea typeface="Meiryo" panose="020B0604030504040204" pitchFamily="34" charset="-128"/>
              </a:rPr>
              <a:t>/vuln/detail/CVE-2022-30075 </a:t>
            </a:r>
            <a:endParaRPr lang="en-JP" sz="1800"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949071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2B230842-D738-F9B1-AD04-F85CCC0909BE}"/>
              </a:ext>
            </a:extLst>
          </p:cNvPr>
          <p:cNvSpPr/>
          <p:nvPr/>
        </p:nvSpPr>
        <p:spPr>
          <a:xfrm>
            <a:off x="3320717" y="1251284"/>
            <a:ext cx="2065420" cy="1034716"/>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Meiryo" panose="020B0604030504040204" pitchFamily="34" charset="-128"/>
                <a:ea typeface="Meiryo" panose="020B0604030504040204" pitchFamily="34" charset="-128"/>
              </a:rPr>
              <a:t>CoAP</a:t>
            </a:r>
            <a:endParaRPr lang="en-JP" sz="2400" b="1" dirty="0">
              <a:solidFill>
                <a:schemeClr val="tx1"/>
              </a:solidFill>
              <a:latin typeface="Meiryo" panose="020B0604030504040204" pitchFamily="34" charset="-128"/>
              <a:ea typeface="Meiryo" panose="020B0604030504040204" pitchFamily="34" charset="-128"/>
            </a:endParaRPr>
          </a:p>
        </p:txBody>
      </p:sp>
      <p:sp>
        <p:nvSpPr>
          <p:cNvPr id="7" name="Rounded Rectangle 6">
            <a:extLst>
              <a:ext uri="{FF2B5EF4-FFF2-40B4-BE49-F238E27FC236}">
                <a16:creationId xmlns:a16="http://schemas.microsoft.com/office/drawing/2014/main" id="{FD2CE14D-9EC6-2835-69F7-E237BB8FE814}"/>
              </a:ext>
            </a:extLst>
          </p:cNvPr>
          <p:cNvSpPr/>
          <p:nvPr/>
        </p:nvSpPr>
        <p:spPr>
          <a:xfrm>
            <a:off x="647703" y="1251284"/>
            <a:ext cx="2065420" cy="1034716"/>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eiryo" panose="020B0604030504040204" pitchFamily="34" charset="-128"/>
                <a:ea typeface="Meiryo" panose="020B0604030504040204" pitchFamily="34" charset="-128"/>
              </a:rPr>
              <a:t>DTLS</a:t>
            </a:r>
            <a:endParaRPr lang="en-JP" sz="2000" b="1" dirty="0">
              <a:solidFill>
                <a:schemeClr val="tx1"/>
              </a:solidFill>
              <a:latin typeface="Meiryo" panose="020B0604030504040204" pitchFamily="34" charset="-128"/>
              <a:ea typeface="Meiryo" panose="020B0604030504040204" pitchFamily="34" charset="-128"/>
            </a:endParaRPr>
          </a:p>
        </p:txBody>
      </p:sp>
      <p:sp>
        <p:nvSpPr>
          <p:cNvPr id="8" name="Rounded Rectangle 7">
            <a:extLst>
              <a:ext uri="{FF2B5EF4-FFF2-40B4-BE49-F238E27FC236}">
                <a16:creationId xmlns:a16="http://schemas.microsoft.com/office/drawing/2014/main" id="{3E6A7065-1924-B7EA-A4A6-78C99EA80EEB}"/>
              </a:ext>
            </a:extLst>
          </p:cNvPr>
          <p:cNvSpPr/>
          <p:nvPr/>
        </p:nvSpPr>
        <p:spPr>
          <a:xfrm>
            <a:off x="5993731" y="1251284"/>
            <a:ext cx="2065420" cy="1034716"/>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Meiryo" panose="020B0604030504040204" pitchFamily="34" charset="-128"/>
                <a:ea typeface="Meiryo" panose="020B0604030504040204" pitchFamily="34" charset="-128"/>
              </a:rPr>
              <a:t>ML-IDS</a:t>
            </a:r>
            <a:endParaRPr lang="en-JP" sz="1800" b="1" dirty="0">
              <a:solidFill>
                <a:schemeClr val="tx1"/>
              </a:solidFill>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69FACAE6-7F5B-B7F3-A59B-59087D5AC791}"/>
              </a:ext>
            </a:extLst>
          </p:cNvPr>
          <p:cNvSpPr txBox="1"/>
          <p:nvPr/>
        </p:nvSpPr>
        <p:spPr>
          <a:xfrm>
            <a:off x="6424864" y="2835261"/>
            <a:ext cx="2065420"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攻撃を検知</a:t>
            </a:r>
            <a:endParaRPr lang="en-JP" sz="2000" dirty="0">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391BAEEA-F6BF-E207-B05A-A468B7D7ECDE}"/>
              </a:ext>
            </a:extLst>
          </p:cNvPr>
          <p:cNvSpPr txBox="1"/>
          <p:nvPr/>
        </p:nvSpPr>
        <p:spPr>
          <a:xfrm>
            <a:off x="3545304" y="2688669"/>
            <a:ext cx="2279985"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軽量プロトコル</a:t>
            </a:r>
            <a:endParaRPr lang="en-JP" sz="2000" dirty="0">
              <a:latin typeface="Meiryo" panose="020B0604030504040204" pitchFamily="34" charset="-128"/>
              <a:ea typeface="Meiryo" panose="020B0604030504040204" pitchFamily="34" charset="-128"/>
            </a:endParaRPr>
          </a:p>
        </p:txBody>
      </p:sp>
      <p:sp>
        <p:nvSpPr>
          <p:cNvPr id="14" name="TextBox 13">
            <a:extLst>
              <a:ext uri="{FF2B5EF4-FFF2-40B4-BE49-F238E27FC236}">
                <a16:creationId xmlns:a16="http://schemas.microsoft.com/office/drawing/2014/main" id="{A5960195-7A5A-817B-FEBD-E2756F4CA2FF}"/>
              </a:ext>
            </a:extLst>
          </p:cNvPr>
          <p:cNvSpPr txBox="1"/>
          <p:nvPr/>
        </p:nvSpPr>
        <p:spPr>
          <a:xfrm>
            <a:off x="647703" y="2744604"/>
            <a:ext cx="2382253"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暗号化による保護</a:t>
            </a:r>
            <a:endParaRPr lang="en-JP" sz="2000" dirty="0">
              <a:latin typeface="Meiryo" panose="020B0604030504040204" pitchFamily="34" charset="-128"/>
              <a:ea typeface="Meiryo" panose="020B0604030504040204" pitchFamily="34" charset="-128"/>
            </a:endParaRPr>
          </a:p>
        </p:txBody>
      </p:sp>
      <p:sp>
        <p:nvSpPr>
          <p:cNvPr id="16" name="TextBox 15">
            <a:extLst>
              <a:ext uri="{FF2B5EF4-FFF2-40B4-BE49-F238E27FC236}">
                <a16:creationId xmlns:a16="http://schemas.microsoft.com/office/drawing/2014/main" id="{2D6D4762-4C77-8917-6700-FCFE0061A2C4}"/>
              </a:ext>
            </a:extLst>
          </p:cNvPr>
          <p:cNvSpPr txBox="1"/>
          <p:nvPr/>
        </p:nvSpPr>
        <p:spPr>
          <a:xfrm>
            <a:off x="400482" y="3418549"/>
            <a:ext cx="4814634"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しかし，各技術を単独で使用した場合：</a:t>
            </a:r>
            <a:endParaRPr lang="en-JP" sz="2000" dirty="0">
              <a:latin typeface="Meiryo" panose="020B0604030504040204" pitchFamily="34" charset="-128"/>
              <a:ea typeface="Meiryo" panose="020B0604030504040204" pitchFamily="34" charset="-128"/>
            </a:endParaRPr>
          </a:p>
        </p:txBody>
      </p:sp>
      <p:sp>
        <p:nvSpPr>
          <p:cNvPr id="17" name="Down Arrow 16">
            <a:extLst>
              <a:ext uri="{FF2B5EF4-FFF2-40B4-BE49-F238E27FC236}">
                <a16:creationId xmlns:a16="http://schemas.microsoft.com/office/drawing/2014/main" id="{DD666D4F-993A-4DC4-AE80-78A368FBF652}"/>
              </a:ext>
            </a:extLst>
          </p:cNvPr>
          <p:cNvSpPr/>
          <p:nvPr/>
        </p:nvSpPr>
        <p:spPr>
          <a:xfrm>
            <a:off x="1584111" y="2502568"/>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18" name="Down Arrow 17">
            <a:extLst>
              <a:ext uri="{FF2B5EF4-FFF2-40B4-BE49-F238E27FC236}">
                <a16:creationId xmlns:a16="http://schemas.microsoft.com/office/drawing/2014/main" id="{45A57AB4-C54D-0989-7999-016066268C4B}"/>
              </a:ext>
            </a:extLst>
          </p:cNvPr>
          <p:cNvSpPr/>
          <p:nvPr/>
        </p:nvSpPr>
        <p:spPr>
          <a:xfrm>
            <a:off x="4325305" y="2410110"/>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19" name="Down Arrow 18">
            <a:extLst>
              <a:ext uri="{FF2B5EF4-FFF2-40B4-BE49-F238E27FC236}">
                <a16:creationId xmlns:a16="http://schemas.microsoft.com/office/drawing/2014/main" id="{709BEFC5-764E-85D0-CE1E-BA49785BA89C}"/>
              </a:ext>
            </a:extLst>
          </p:cNvPr>
          <p:cNvSpPr/>
          <p:nvPr/>
        </p:nvSpPr>
        <p:spPr>
          <a:xfrm>
            <a:off x="7128711" y="2504517"/>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21" name="TextBox 20">
            <a:extLst>
              <a:ext uri="{FF2B5EF4-FFF2-40B4-BE49-F238E27FC236}">
                <a16:creationId xmlns:a16="http://schemas.microsoft.com/office/drawing/2014/main" id="{76A6991C-3973-3279-FF0A-569E9199615A}"/>
              </a:ext>
            </a:extLst>
          </p:cNvPr>
          <p:cNvSpPr txBox="1"/>
          <p:nvPr/>
        </p:nvSpPr>
        <p:spPr>
          <a:xfrm>
            <a:off x="136072" y="4140013"/>
            <a:ext cx="8871856" cy="2308324"/>
          </a:xfrm>
          <a:prstGeom prst="rect">
            <a:avLst/>
          </a:prstGeom>
          <a:noFill/>
        </p:spPr>
        <p:txBody>
          <a:bodyPr wrap="square">
            <a:spAutoFit/>
          </a:bodyPr>
          <a:lstStyle/>
          <a:p>
            <a:pPr marL="342900" indent="-342900">
              <a:buFont typeface="Wingdings" pitchFamily="2" charset="2"/>
              <a:buChar char="§"/>
            </a:pPr>
            <a:r>
              <a:rPr lang="en-US" sz="2400" dirty="0">
                <a:latin typeface="Meiryo" panose="020B0604030504040204" pitchFamily="34" charset="-128"/>
                <a:ea typeface="Meiryo" panose="020B0604030504040204" pitchFamily="34" charset="-128"/>
              </a:rPr>
              <a:t>CoAP</a:t>
            </a:r>
            <a:r>
              <a:rPr lang="ja-JP" altLang="en-US" sz="2400">
                <a:latin typeface="Meiryo" panose="020B0604030504040204" pitchFamily="34" charset="-128"/>
                <a:ea typeface="Meiryo" panose="020B0604030504040204" pitchFamily="34" charset="-128"/>
              </a:rPr>
              <a:t>単体 </a:t>
            </a:r>
            <a:r>
              <a:rPr lang="en-US" altLang="ja-JP" sz="2400" dirty="0">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通信は可能だが、暗号化もセキュリティもない</a:t>
            </a:r>
            <a:endParaRPr lang="mn-MN" altLang="ja-JP" sz="2400" dirty="0">
              <a:latin typeface="Meiryo" panose="020B0604030504040204" pitchFamily="34" charset="-128"/>
              <a:ea typeface="Meiryo" panose="020B0604030504040204" pitchFamily="34" charset="-128"/>
            </a:endParaRPr>
          </a:p>
          <a:p>
            <a:endParaRPr lang="ja-JP" altLang="en-US" sz="2400">
              <a:latin typeface="Meiryo" panose="020B0604030504040204" pitchFamily="34" charset="-128"/>
              <a:ea typeface="Meiryo" panose="020B0604030504040204" pitchFamily="34" charset="-128"/>
            </a:endParaRPr>
          </a:p>
          <a:p>
            <a:pPr marL="342900" indent="-342900">
              <a:buFont typeface="Wingdings" pitchFamily="2" charset="2"/>
              <a:buChar char="§"/>
            </a:pPr>
            <a:r>
              <a:rPr lang="en-US" sz="2400" dirty="0">
                <a:latin typeface="Meiryo" panose="020B0604030504040204" pitchFamily="34" charset="-128"/>
                <a:ea typeface="Meiryo" panose="020B0604030504040204" pitchFamily="34" charset="-128"/>
              </a:rPr>
              <a:t>DTLS</a:t>
            </a:r>
            <a:r>
              <a:rPr lang="ja-JP" altLang="en-US" sz="2400">
                <a:latin typeface="Meiryo" panose="020B0604030504040204" pitchFamily="34" charset="-128"/>
                <a:ea typeface="Meiryo" panose="020B0604030504040204" pitchFamily="34" charset="-128"/>
              </a:rPr>
              <a:t>単体 </a:t>
            </a:r>
            <a:r>
              <a:rPr lang="en-US" altLang="ja-JP" sz="2400" dirty="0">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ペイロードは守れるが、</a:t>
            </a:r>
            <a:r>
              <a:rPr lang="en-US"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スプーフィングは防げない</a:t>
            </a:r>
            <a:endParaRPr lang="mn-MN" altLang="ja-JP" sz="2400" dirty="0">
              <a:latin typeface="Meiryo" panose="020B0604030504040204" pitchFamily="34" charset="-128"/>
              <a:ea typeface="Meiryo" panose="020B0604030504040204" pitchFamily="34" charset="-128"/>
            </a:endParaRPr>
          </a:p>
          <a:p>
            <a:pPr marL="342900" indent="-342900">
              <a:buFont typeface="Wingdings" pitchFamily="2" charset="2"/>
              <a:buChar char="§"/>
            </a:pPr>
            <a:endParaRPr lang="ja-JP" altLang="en-US" sz="2400">
              <a:latin typeface="Meiryo" panose="020B0604030504040204" pitchFamily="34" charset="-128"/>
              <a:ea typeface="Meiryo" panose="020B0604030504040204" pitchFamily="34" charset="-128"/>
            </a:endParaRPr>
          </a:p>
          <a:p>
            <a:pPr marL="342900" indent="-342900">
              <a:buFont typeface="Wingdings" pitchFamily="2" charset="2"/>
              <a:buChar char="§"/>
            </a:pPr>
            <a:r>
              <a:rPr lang="en-US" sz="2400" dirty="0">
                <a:latin typeface="Meiryo" panose="020B0604030504040204" pitchFamily="34" charset="-128"/>
                <a:ea typeface="Meiryo" panose="020B0604030504040204" pitchFamily="34" charset="-128"/>
              </a:rPr>
              <a:t>ML-IDS</a:t>
            </a:r>
            <a:r>
              <a:rPr lang="ja-JP" altLang="en-US" sz="2400">
                <a:latin typeface="Meiryo" panose="020B0604030504040204" pitchFamily="34" charset="-128"/>
                <a:ea typeface="Meiryo" panose="020B0604030504040204" pitchFamily="34" charset="-128"/>
              </a:rPr>
              <a:t>単体 </a:t>
            </a:r>
            <a:r>
              <a:rPr lang="en-US" altLang="ja-JP" sz="2400" dirty="0">
                <a:latin typeface="Meiryo" panose="020B0604030504040204" pitchFamily="34" charset="-128"/>
                <a:ea typeface="Meiryo" panose="020B0604030504040204" pitchFamily="34" charset="-128"/>
              </a:rPr>
              <a:t>— </a:t>
            </a:r>
            <a:r>
              <a:rPr lang="en-US"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は検知できるが、ペイロードは無防備</a:t>
            </a:r>
            <a:endParaRPr lang="en-JP" sz="2400" dirty="0">
              <a:latin typeface="Meiryo" panose="020B0604030504040204" pitchFamily="34" charset="-128"/>
              <a:ea typeface="Meiryo" panose="020B0604030504040204" pitchFamily="34" charset="-128"/>
            </a:endParaRPr>
          </a:p>
        </p:txBody>
      </p:sp>
      <p:sp>
        <p:nvSpPr>
          <p:cNvPr id="24" name="Shape 0">
            <a:extLst>
              <a:ext uri="{FF2B5EF4-FFF2-40B4-BE49-F238E27FC236}">
                <a16:creationId xmlns:a16="http://schemas.microsoft.com/office/drawing/2014/main" id="{0AEAE166-0D67-431D-8D86-E7A66DCBEC38}"/>
              </a:ext>
            </a:extLst>
          </p:cNvPr>
          <p:cNvSpPr/>
          <p:nvPr/>
        </p:nvSpPr>
        <p:spPr>
          <a:xfrm>
            <a:off x="0" y="0"/>
            <a:ext cx="9144000" cy="68580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457200" indent="-457200">
              <a:buFont typeface="Wingdings" pitchFamily="2" charset="2"/>
              <a:buChar char="Ø"/>
            </a:pPr>
            <a:r>
              <a:rPr lang="ja-JP" altLang="en-US" sz="3200" b="1">
                <a:latin typeface="Meiryo" panose="020B0604030504040204" pitchFamily="34" charset="-128"/>
                <a:ea typeface="Meiryo" panose="020B0604030504040204" pitchFamily="34" charset="-128"/>
              </a:rPr>
              <a:t>既存技術</a:t>
            </a:r>
            <a:endParaRPr lang="en-JP" sz="3200" b="1" dirty="0">
              <a:latin typeface="Meiryo" panose="020B0604030504040204" pitchFamily="34" charset="-128"/>
              <a:ea typeface="Meiryo" panose="020B0604030504040204" pitchFamily="34" charset="-128"/>
            </a:endParaRPr>
          </a:p>
          <a:p>
            <a:pPr marL="457200" indent="-457200">
              <a:buFont typeface="Wingdings" pitchFamily="2" charset="2"/>
              <a:buChar char="Ø"/>
            </a:pPr>
            <a:endParaRPr lang="en-JP" sz="3200" b="1" dirty="0">
              <a:latin typeface="Meiryo" panose="020B0604030504040204" pitchFamily="34" charset="-128"/>
              <a:ea typeface="Meiryo" panose="020B0604030504040204" pitchFamily="34" charset="-128"/>
            </a:endParaRPr>
          </a:p>
        </p:txBody>
      </p:sp>
      <p:sp>
        <p:nvSpPr>
          <p:cNvPr id="25" name="Slide Number Placeholder 24">
            <a:extLst>
              <a:ext uri="{FF2B5EF4-FFF2-40B4-BE49-F238E27FC236}">
                <a16:creationId xmlns:a16="http://schemas.microsoft.com/office/drawing/2014/main" id="{7DE6349A-5EC5-31CE-903F-106FBEC17B5E}"/>
              </a:ext>
            </a:extLst>
          </p:cNvPr>
          <p:cNvSpPr>
            <a:spLocks noGrp="1"/>
          </p:cNvSpPr>
          <p:nvPr>
            <p:ph type="sldNum" sz="quarter" idx="12"/>
          </p:nvPr>
        </p:nvSpPr>
        <p:spPr/>
        <p:txBody>
          <a:bodyPr/>
          <a:lstStyle/>
          <a:p>
            <a:fld id="{828F3BD4-1AF2-D144-8129-4D42AD448F5E}" type="slidenum">
              <a:rPr lang="en-JP" smtClean="0"/>
              <a:t>8</a:t>
            </a:fld>
            <a:endParaRPr lang="en-JP" dirty="0"/>
          </a:p>
        </p:txBody>
      </p:sp>
    </p:spTree>
    <p:extLst>
      <p:ext uri="{BB962C8B-B14F-4D97-AF65-F5344CB8AC3E}">
        <p14:creationId xmlns:p14="http://schemas.microsoft.com/office/powerpoint/2010/main" val="4181540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470010" y="1635919"/>
            <a:ext cx="7886700" cy="4856955"/>
          </a:xfrm>
        </p:spPr>
        <p:txBody>
          <a:bodyPr>
            <a:normAutofit lnSpcReduction="10000"/>
          </a:bodyPr>
          <a:lstStyle/>
          <a:p>
            <a:pPr marL="476219" indent="-342878">
              <a:lnSpc>
                <a:spcPct val="150000"/>
              </a:lnSpc>
              <a:spcBef>
                <a:spcPts val="0"/>
              </a:spcBef>
              <a:buSzPts val="2800"/>
              <a:buFont typeface="Wingdings" pitchFamily="2" charset="2"/>
              <a:buChar char="§"/>
            </a:pPr>
            <a:r>
              <a:rPr lang="en-US" altLang="ja-JP" sz="3100" dirty="0">
                <a:latin typeface="Meiryo" panose="020B0604030504040204" pitchFamily="34" charset="-128"/>
                <a:ea typeface="Meiryo" panose="020B0604030504040204" pitchFamily="34" charset="-128"/>
              </a:rPr>
              <a:t> </a:t>
            </a:r>
            <a:r>
              <a:rPr lang="ja-JP" altLang="en-US" sz="3100">
                <a:latin typeface="Meiryo" panose="020B0604030504040204" pitchFamily="34" charset="-128"/>
                <a:ea typeface="Meiryo" panose="020B0604030504040204" pitchFamily="34" charset="-128"/>
              </a:rPr>
              <a:t>研究背景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1">
                <a:solidFill>
                  <a:srgbClr val="C00000"/>
                </a:solidFill>
                <a:latin typeface="Meiryo" panose="020B0604030504040204" pitchFamily="34" charset="-128"/>
                <a:ea typeface="Meiryo" panose="020B0604030504040204" pitchFamily="34" charset="-128"/>
              </a:rPr>
              <a:t>研究目的     </a:t>
            </a:r>
            <a:endParaRPr lang="en-US" altLang="ja-JP" sz="3100" b="1" dirty="0">
              <a:solidFill>
                <a:srgbClr val="C00000"/>
              </a:solidFill>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関連技術・関連研究</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2800">
                <a:latin typeface="Meiryo" panose="020B0604030504040204" pitchFamily="34" charset="-128"/>
                <a:ea typeface="Meiryo" panose="020B0604030504040204" pitchFamily="34" charset="-128"/>
              </a:rPr>
              <a:t>提案</a:t>
            </a:r>
            <a:r>
              <a:rPr lang="ja-JP" altLang="en-US" sz="2800" i="0" u="none" strike="noStrike">
                <a:solidFill>
                  <a:srgbClr val="000000"/>
                </a:solidFill>
                <a:effectLst/>
                <a:latin typeface="Meiryo" panose="020B0604030504040204" pitchFamily="34" charset="-128"/>
                <a:ea typeface="Meiryo" panose="020B0604030504040204" pitchFamily="34" charset="-128"/>
              </a:rPr>
              <a:t>システム</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評価手法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0" i="0" u="none" strike="noStrike">
                <a:effectLst/>
                <a:latin typeface="Meiryo" panose="020B0604030504040204" pitchFamily="34" charset="-128"/>
                <a:ea typeface="Meiryo" panose="020B0604030504040204" pitchFamily="34" charset="-128"/>
              </a:rPr>
              <a:t>現在の進捗状況</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まとめ       </a:t>
            </a:r>
            <a:endParaRPr kumimoji="1"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endParaRPr lang="en-US" altLang="ja-JP" sz="2500" dirty="0">
              <a:latin typeface="Meiryo UI" panose="020B0604030504040204" pitchFamily="50" charset="-128"/>
              <a:ea typeface="Meiryo UI" panose="020B0604030504040204" pitchFamily="50" charset="-128"/>
            </a:endParaRPr>
          </a:p>
          <a:p>
            <a:endParaRPr lang="en-JP" sz="25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9</a:t>
            </a:fld>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50F375AD-778D-AB44-5C16-9E3EFA85933A}"/>
              </a:ext>
            </a:extLst>
          </p:cNvPr>
          <p:cNvSpPr txBox="1"/>
          <p:nvPr/>
        </p:nvSpPr>
        <p:spPr>
          <a:xfrm>
            <a:off x="5987668" y="3263465"/>
            <a:ext cx="4572000" cy="369332"/>
          </a:xfrm>
          <a:prstGeom prst="rect">
            <a:avLst/>
          </a:prstGeom>
          <a:noFill/>
        </p:spPr>
        <p:txBody>
          <a:bodyPr wrap="square">
            <a:spAutoFit/>
          </a:bodyPr>
          <a:lstStyle/>
          <a:p>
            <a:r>
              <a:rPr lang="en-JP" b="0" dirty="0">
                <a:effectLst/>
              </a:rPr>
              <a:t> </a:t>
            </a:r>
            <a:endParaRPr lang="en-JP" dirty="0"/>
          </a:p>
        </p:txBody>
      </p:sp>
    </p:spTree>
    <p:extLst>
      <p:ext uri="{BB962C8B-B14F-4D97-AF65-F5344CB8AC3E}">
        <p14:creationId xmlns:p14="http://schemas.microsoft.com/office/powerpoint/2010/main" val="2843285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0">
            <a:extLst>
              <a:ext uri="{FF2B5EF4-FFF2-40B4-BE49-F238E27FC236}">
                <a16:creationId xmlns:a16="http://schemas.microsoft.com/office/drawing/2014/main" id="{59FCD8A0-D63D-788C-EE59-14CA850726AF}"/>
              </a:ext>
            </a:extLst>
          </p:cNvPr>
          <p:cNvSpPr/>
          <p:nvPr/>
        </p:nvSpPr>
        <p:spPr>
          <a:xfrm>
            <a:off x="0" y="0"/>
            <a:ext cx="9144000" cy="685800"/>
          </a:xfrm>
          <a:prstGeom prst="rect">
            <a:avLst/>
          </a:prstGeom>
          <a:solidFill>
            <a:srgbClr val="1E3A5F"/>
          </a:solidFill>
          <a:ln w="12700">
            <a:solidFill>
              <a:srgbClr val="1E3A5F"/>
            </a:solidFill>
            <a:prstDash val="solid"/>
          </a:ln>
        </p:spPr>
        <p:txBody>
          <a:bodyPr/>
          <a:lstStyle/>
          <a:p>
            <a:r>
              <a:rPr lang="en-US" sz="1800" b="1" dirty="0">
                <a:solidFill>
                  <a:srgbClr val="FFFFFF"/>
                </a:solidFill>
                <a:latin typeface="Meiryo" panose="020B0604030504040204" pitchFamily="34" charset="-128"/>
                <a:ea typeface="Meiryo" panose="020B0604030504040204" pitchFamily="34" charset="-128"/>
                <a:cs typeface="Calibri" pitchFamily="34" charset="-120"/>
              </a:rPr>
              <a:t>   </a:t>
            </a:r>
          </a:p>
          <a:p>
            <a:pPr marL="285750" indent="-285750">
              <a:buFont typeface="Wingdings" pitchFamily="2" charset="2"/>
              <a:buChar char="§"/>
            </a:pPr>
            <a:r>
              <a:rPr lang="en-US" sz="2800" b="1" dirty="0">
                <a:solidFill>
                  <a:srgbClr val="FFFFFF"/>
                </a:solidFill>
                <a:latin typeface="Meiryo" panose="020B0604030504040204" pitchFamily="34" charset="-128"/>
                <a:ea typeface="Meiryo" panose="020B0604030504040204" pitchFamily="34" charset="-128"/>
                <a:cs typeface="Calibri" pitchFamily="34" charset="-120"/>
              </a:rPr>
              <a:t>研究目的</a:t>
            </a:r>
            <a:endParaRPr lang="en-JP" sz="2800" dirty="0">
              <a:latin typeface="Meiryo" panose="020B0604030504040204" pitchFamily="34" charset="-128"/>
              <a:ea typeface="Meiryo" panose="020B0604030504040204" pitchFamily="34" charset="-128"/>
            </a:endParaRPr>
          </a:p>
        </p:txBody>
      </p:sp>
      <p:sp>
        <p:nvSpPr>
          <p:cNvPr id="2" name="Shape 3">
            <a:extLst>
              <a:ext uri="{FF2B5EF4-FFF2-40B4-BE49-F238E27FC236}">
                <a16:creationId xmlns:a16="http://schemas.microsoft.com/office/drawing/2014/main" id="{B29FCF33-C6D5-19EE-3F36-A4B4864EF6D7}"/>
              </a:ext>
            </a:extLst>
          </p:cNvPr>
          <p:cNvSpPr/>
          <p:nvPr/>
        </p:nvSpPr>
        <p:spPr>
          <a:xfrm>
            <a:off x="196806" y="935421"/>
            <a:ext cx="8750388" cy="2345912"/>
          </a:xfrm>
          <a:prstGeom prst="rect">
            <a:avLst/>
          </a:prstGeom>
          <a:solidFill>
            <a:srgbClr val="E0F2F1"/>
          </a:solidFill>
          <a:ln w="12700">
            <a:solidFill>
              <a:srgbClr val="0D9488"/>
            </a:solidFill>
            <a:prstDash val="solid"/>
          </a:ln>
          <a:effectLst>
            <a:outerShdw blurRad="101600" dist="38100" dir="8100000" algn="bl" rotWithShape="0">
              <a:srgbClr val="000000">
                <a:alpha val="12000"/>
              </a:srgbClr>
            </a:outerShdw>
          </a:effectLst>
        </p:spPr>
        <p:txBody>
          <a:bodyPr/>
          <a:lstStyle/>
          <a:p>
            <a:pPr marL="0" indent="0">
              <a:buNone/>
            </a:pPr>
            <a:r>
              <a:rPr lang="en-US" sz="2400" dirty="0">
                <a:solidFill>
                  <a:srgbClr val="1A2740"/>
                </a:solidFill>
                <a:latin typeface="Meiryo" panose="020B0604030504040204" pitchFamily="34" charset="-128"/>
                <a:ea typeface="Meiryo" panose="020B0604030504040204" pitchFamily="34" charset="-128"/>
                <a:cs typeface="Calibri" pitchFamily="34" charset="-120"/>
              </a:rPr>
              <a:t>CoAP/DTLS</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通信環境において、</a:t>
            </a:r>
            <a:r>
              <a:rPr lang="en-US" sz="2400" dirty="0">
                <a:solidFill>
                  <a:srgbClr val="1A2740"/>
                </a:solidFill>
                <a:latin typeface="Meiryo" panose="020B0604030504040204" pitchFamily="34" charset="-128"/>
                <a:ea typeface="Meiryo" panose="020B0604030504040204" pitchFamily="34" charset="-128"/>
                <a:cs typeface="Calibri" pitchFamily="34" charset="-120"/>
              </a:rPr>
              <a:t>Raspberry Pi</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上に</a:t>
            </a:r>
            <a:r>
              <a:rPr lang="en-US" sz="2400" dirty="0">
                <a:solidFill>
                  <a:srgbClr val="1A2740"/>
                </a:solidFill>
                <a:latin typeface="Meiryo" panose="020B0604030504040204" pitchFamily="34" charset="-128"/>
                <a:ea typeface="Meiryo" panose="020B0604030504040204" pitchFamily="34" charset="-128"/>
                <a:cs typeface="Calibri" pitchFamily="34" charset="-120"/>
              </a:rPr>
              <a:t>Random Forest</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を用いた</a:t>
            </a:r>
            <a:r>
              <a:rPr lang="en-US" sz="2400" dirty="0">
                <a:solidFill>
                  <a:srgbClr val="1A2740"/>
                </a:solidFill>
                <a:latin typeface="Meiryo" panose="020B0604030504040204" pitchFamily="34" charset="-128"/>
                <a:ea typeface="Meiryo" panose="020B0604030504040204" pitchFamily="34" charset="-128"/>
                <a:cs typeface="Calibri" pitchFamily="34" charset="-120"/>
              </a:rPr>
              <a:t>ML-IDS</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を実装し、</a:t>
            </a:r>
          </a:p>
          <a:p>
            <a:pPr marL="0" indent="0">
              <a:buNone/>
            </a:pPr>
            <a:r>
              <a:rPr lang="en-US" sz="2400" dirty="0">
                <a:solidFill>
                  <a:srgbClr val="1A2740"/>
                </a:solidFill>
                <a:latin typeface="Meiryo" panose="020B0604030504040204" pitchFamily="34" charset="-128"/>
                <a:ea typeface="Meiryo" panose="020B0604030504040204" pitchFamily="34" charset="-128"/>
                <a:cs typeface="Calibri" pitchFamily="34" charset="-120"/>
              </a:rPr>
              <a:t>ARP spoofing</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攻撃をリアルタイムかつ自動的に検知・遮断することを目的とする</a:t>
            </a:r>
            <a:r>
              <a:rPr lang="en-US" altLang="ja-JP" sz="2400" dirty="0">
                <a:solidFill>
                  <a:srgbClr val="1A2740"/>
                </a:solidFill>
                <a:latin typeface="Meiryo" panose="020B0604030504040204" pitchFamily="34" charset="-128"/>
                <a:ea typeface="Meiryo" panose="020B0604030504040204" pitchFamily="34" charset="-128"/>
                <a:cs typeface="Calibri" pitchFamily="34" charset="-120"/>
              </a:rPr>
              <a:t>.</a:t>
            </a:r>
            <a:endParaRPr lang="ja-JP" altLang="en-US" sz="2400">
              <a:solidFill>
                <a:srgbClr val="1A2740"/>
              </a:solidFill>
              <a:latin typeface="Meiryo" panose="020B0604030504040204" pitchFamily="34" charset="-128"/>
              <a:ea typeface="Meiryo" panose="020B0604030504040204" pitchFamily="34" charset="-128"/>
              <a:cs typeface="Calibri" pitchFamily="34" charset="-120"/>
            </a:endParaRPr>
          </a:p>
          <a:p>
            <a:pPr marL="0" indent="0">
              <a:buNone/>
            </a:pPr>
            <a:r>
              <a:rPr lang="ja-JP" altLang="en-US" sz="2400">
                <a:solidFill>
                  <a:srgbClr val="1A2740"/>
                </a:solidFill>
                <a:latin typeface="Meiryo" panose="020B0604030504040204" pitchFamily="34" charset="-128"/>
                <a:ea typeface="Meiryo" panose="020B0604030504040204" pitchFamily="34" charset="-128"/>
                <a:cs typeface="Calibri" pitchFamily="34" charset="-120"/>
              </a:rPr>
              <a:t>本システムは</a:t>
            </a:r>
            <a:r>
              <a:rPr lang="en-US" sz="2400" dirty="0">
                <a:solidFill>
                  <a:srgbClr val="1A2740"/>
                </a:solidFill>
                <a:latin typeface="Meiryo" panose="020B0604030504040204" pitchFamily="34" charset="-128"/>
                <a:ea typeface="Meiryo" panose="020B0604030504040204" pitchFamily="34" charset="-128"/>
                <a:cs typeface="Calibri" pitchFamily="34" charset="-120"/>
              </a:rPr>
              <a:t>DTLS</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ペイロードを解読せず、</a:t>
            </a:r>
            <a:r>
              <a:rPr lang="en-US" sz="2400" dirty="0" err="1">
                <a:solidFill>
                  <a:srgbClr val="1A2740"/>
                </a:solidFill>
                <a:latin typeface="Meiryo" panose="020B0604030504040204" pitchFamily="34" charset="-128"/>
                <a:ea typeface="Meiryo" panose="020B0604030504040204" pitchFamily="34" charset="-128"/>
                <a:cs typeface="Calibri" pitchFamily="34" charset="-120"/>
              </a:rPr>
              <a:t>ARPメタ</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データのみを分析することでプライバシーを維持</a:t>
            </a:r>
            <a:r>
              <a:rPr lang="en-US" altLang="ja-JP" sz="2400" dirty="0">
                <a:solidFill>
                  <a:srgbClr val="1A2740"/>
                </a:solidFill>
                <a:latin typeface="Meiryo" panose="020B0604030504040204" pitchFamily="34" charset="-128"/>
                <a:ea typeface="Meiryo" panose="020B0604030504040204" pitchFamily="34" charset="-128"/>
                <a:cs typeface="Calibri" pitchFamily="34" charset="-120"/>
              </a:rPr>
              <a:t>.</a:t>
            </a:r>
            <a:endParaRPr lang="en-JP" sz="2400" dirty="0">
              <a:latin typeface="Meiryo" panose="020B0604030504040204" pitchFamily="34" charset="-128"/>
              <a:ea typeface="Meiryo" panose="020B0604030504040204" pitchFamily="34" charset="-128"/>
            </a:endParaRPr>
          </a:p>
        </p:txBody>
      </p:sp>
      <p:sp>
        <p:nvSpPr>
          <p:cNvPr id="3" name="Shape 6">
            <a:extLst>
              <a:ext uri="{FF2B5EF4-FFF2-40B4-BE49-F238E27FC236}">
                <a16:creationId xmlns:a16="http://schemas.microsoft.com/office/drawing/2014/main" id="{E7963E3A-8845-7FA1-0D0E-E5342F39FE1B}"/>
              </a:ext>
            </a:extLst>
          </p:cNvPr>
          <p:cNvSpPr/>
          <p:nvPr/>
        </p:nvSpPr>
        <p:spPr>
          <a:xfrm>
            <a:off x="0" y="3429000"/>
            <a:ext cx="9143999" cy="470338"/>
          </a:xfrm>
          <a:prstGeom prst="rect">
            <a:avLst/>
          </a:prstGeom>
          <a:solidFill>
            <a:srgbClr val="1E3A5F"/>
          </a:solidFill>
          <a:ln w="12700">
            <a:solidFill>
              <a:srgbClr val="1E3A5F"/>
            </a:solidFill>
            <a:prstDash val="solid"/>
          </a:ln>
        </p:spPr>
        <p:txBody>
          <a:bodyPr/>
          <a:lstStyle/>
          <a:p>
            <a:pPr marL="457200" indent="-457200">
              <a:buFont typeface="Wingdings" pitchFamily="2" charset="2"/>
              <a:buChar char="§"/>
            </a:pPr>
            <a:r>
              <a:rPr lang="en-US" sz="2800" b="1" dirty="0">
                <a:solidFill>
                  <a:srgbClr val="FFFFFF"/>
                </a:solidFill>
                <a:latin typeface="Meiryo" panose="020B0604030504040204" pitchFamily="34" charset="-128"/>
                <a:ea typeface="Meiryo" panose="020B0604030504040204" pitchFamily="34" charset="-128"/>
                <a:cs typeface="Calibri" pitchFamily="34" charset="-120"/>
              </a:rPr>
              <a:t>具体的な目標</a:t>
            </a:r>
            <a:endParaRPr lang="en-JP" sz="2800" dirty="0">
              <a:latin typeface="Meiryo" panose="020B0604030504040204" pitchFamily="34" charset="-128"/>
              <a:ea typeface="Meiryo" panose="020B0604030504040204" pitchFamily="34" charset="-128"/>
            </a:endParaRPr>
          </a:p>
        </p:txBody>
      </p:sp>
      <p:sp>
        <p:nvSpPr>
          <p:cNvPr id="5" name="Shape 8">
            <a:extLst>
              <a:ext uri="{FF2B5EF4-FFF2-40B4-BE49-F238E27FC236}">
                <a16:creationId xmlns:a16="http://schemas.microsoft.com/office/drawing/2014/main" id="{78630147-8EA6-CABB-040B-8D708CB6AE68}"/>
              </a:ext>
            </a:extLst>
          </p:cNvPr>
          <p:cNvSpPr/>
          <p:nvPr/>
        </p:nvSpPr>
        <p:spPr>
          <a:xfrm>
            <a:off x="196805" y="4179334"/>
            <a:ext cx="502920" cy="384048"/>
          </a:xfrm>
          <a:prstGeom prst="rect">
            <a:avLst/>
          </a:prstGeom>
          <a:solidFill>
            <a:srgbClr val="0D9488"/>
          </a:solidFill>
          <a:ln w="12700">
            <a:solidFill>
              <a:srgbClr val="0D9488"/>
            </a:solidFill>
            <a:prstDash val="solid"/>
          </a:ln>
        </p:spPr>
      </p:sp>
      <p:sp>
        <p:nvSpPr>
          <p:cNvPr id="6" name="Text 9">
            <a:extLst>
              <a:ext uri="{FF2B5EF4-FFF2-40B4-BE49-F238E27FC236}">
                <a16:creationId xmlns:a16="http://schemas.microsoft.com/office/drawing/2014/main" id="{4D9DD4E1-D0B8-1C17-5C1F-C56E24FB74A7}"/>
              </a:ext>
            </a:extLst>
          </p:cNvPr>
          <p:cNvSpPr/>
          <p:nvPr/>
        </p:nvSpPr>
        <p:spPr>
          <a:xfrm>
            <a:off x="175205" y="4199356"/>
            <a:ext cx="50292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①</a:t>
            </a:r>
            <a:endParaRPr lang="en-US" sz="1300" dirty="0"/>
          </a:p>
        </p:txBody>
      </p:sp>
      <p:sp>
        <p:nvSpPr>
          <p:cNvPr id="8" name="Text 11">
            <a:extLst>
              <a:ext uri="{FF2B5EF4-FFF2-40B4-BE49-F238E27FC236}">
                <a16:creationId xmlns:a16="http://schemas.microsoft.com/office/drawing/2014/main" id="{5D3EFC6A-3D6F-243B-DAC5-DC6B4A9AE163}"/>
              </a:ext>
            </a:extLst>
          </p:cNvPr>
          <p:cNvSpPr/>
          <p:nvPr/>
        </p:nvSpPr>
        <p:spPr>
          <a:xfrm>
            <a:off x="900893" y="4234198"/>
            <a:ext cx="7726680" cy="329184"/>
          </a:xfrm>
          <a:prstGeom prst="rect">
            <a:avLst/>
          </a:prstGeom>
          <a:noFill/>
          <a:ln/>
        </p:spPr>
        <p:txBody>
          <a:bodyPr wrap="square" rtlCol="0" anchor="ctr"/>
          <a:lstStyle/>
          <a:p>
            <a:pPr marL="0" indent="0">
              <a:buNone/>
            </a:pPr>
            <a:r>
              <a:rPr lang="en-US"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スプーフィングの特徴・パターンを詳細分析</a:t>
            </a:r>
            <a:endParaRPr lang="en-US" sz="2400" dirty="0">
              <a:latin typeface="Meiryo" panose="020B0604030504040204" pitchFamily="34" charset="-128"/>
              <a:ea typeface="Meiryo" panose="020B0604030504040204" pitchFamily="34" charset="-128"/>
            </a:endParaRPr>
          </a:p>
        </p:txBody>
      </p:sp>
      <p:sp>
        <p:nvSpPr>
          <p:cNvPr id="9" name="Shape 12">
            <a:extLst>
              <a:ext uri="{FF2B5EF4-FFF2-40B4-BE49-F238E27FC236}">
                <a16:creationId xmlns:a16="http://schemas.microsoft.com/office/drawing/2014/main" id="{890638D0-A915-5942-7DA3-04A02B752262}"/>
              </a:ext>
            </a:extLst>
          </p:cNvPr>
          <p:cNvSpPr/>
          <p:nvPr/>
        </p:nvSpPr>
        <p:spPr>
          <a:xfrm>
            <a:off x="184927" y="5056405"/>
            <a:ext cx="502920" cy="384048"/>
          </a:xfrm>
          <a:prstGeom prst="rect">
            <a:avLst/>
          </a:prstGeom>
          <a:solidFill>
            <a:srgbClr val="0D9488"/>
          </a:solidFill>
          <a:ln w="12700">
            <a:solidFill>
              <a:srgbClr val="0D9488"/>
            </a:solidFill>
            <a:prstDash val="solid"/>
          </a:ln>
        </p:spPr>
      </p:sp>
      <p:sp>
        <p:nvSpPr>
          <p:cNvPr id="10" name="Text 13">
            <a:extLst>
              <a:ext uri="{FF2B5EF4-FFF2-40B4-BE49-F238E27FC236}">
                <a16:creationId xmlns:a16="http://schemas.microsoft.com/office/drawing/2014/main" id="{10768FEB-E190-E5C8-D228-6E592C956D33}"/>
              </a:ext>
            </a:extLst>
          </p:cNvPr>
          <p:cNvSpPr/>
          <p:nvPr/>
        </p:nvSpPr>
        <p:spPr>
          <a:xfrm>
            <a:off x="208683" y="5076427"/>
            <a:ext cx="50292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②</a:t>
            </a:r>
            <a:endParaRPr lang="en-US" sz="1300" dirty="0"/>
          </a:p>
        </p:txBody>
      </p:sp>
      <p:sp>
        <p:nvSpPr>
          <p:cNvPr id="12" name="Text 15">
            <a:extLst>
              <a:ext uri="{FF2B5EF4-FFF2-40B4-BE49-F238E27FC236}">
                <a16:creationId xmlns:a16="http://schemas.microsoft.com/office/drawing/2014/main" id="{27851369-563F-CFC0-C67D-CCE2B893B0CC}"/>
              </a:ext>
            </a:extLst>
          </p:cNvPr>
          <p:cNvSpPr/>
          <p:nvPr/>
        </p:nvSpPr>
        <p:spPr>
          <a:xfrm>
            <a:off x="874039" y="5035787"/>
            <a:ext cx="8061278" cy="484632"/>
          </a:xfrm>
          <a:prstGeom prst="rect">
            <a:avLst/>
          </a:prstGeom>
          <a:noFill/>
          <a:ln/>
        </p:spPr>
        <p:txBody>
          <a:bodyPr wrap="square" rtlCol="0" anchor="ctr"/>
          <a:lstStyle/>
          <a:p>
            <a:pPr marL="0" indent="0">
              <a:buNone/>
            </a:pPr>
            <a:r>
              <a:rPr lang="en-US" sz="2400" dirty="0">
                <a:latin typeface="Meiryo" panose="020B0604030504040204" pitchFamily="34" charset="-128"/>
                <a:ea typeface="Meiryo" panose="020B0604030504040204" pitchFamily="34" charset="-128"/>
              </a:rPr>
              <a:t>Raspberry Pi </a:t>
            </a:r>
            <a:r>
              <a:rPr lang="ja-JP" altLang="en-US" sz="2400">
                <a:latin typeface="Meiryo" panose="020B0604030504040204" pitchFamily="34" charset="-128"/>
                <a:ea typeface="Meiryo" panose="020B0604030504040204" pitchFamily="34" charset="-128"/>
              </a:rPr>
              <a:t>上でリアルタイム動作するゲートウェイを構築</a:t>
            </a:r>
            <a:r>
              <a:rPr lang="en-US" altLang="ja-JP" sz="2400" dirty="0">
                <a:latin typeface="Meiryo" panose="020B0604030504040204" pitchFamily="34" charset="-128"/>
                <a:ea typeface="Meiryo" panose="020B0604030504040204" pitchFamily="34" charset="-128"/>
              </a:rPr>
              <a:t> </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a:t>
            </a:r>
            <a:r>
              <a:rPr lang="ja-JP" altLang="en-US" sz="2400">
                <a:latin typeface="Meiryo" panose="020B0604030504040204" pitchFamily="34" charset="-128"/>
                <a:ea typeface="Meiryo" panose="020B0604030504040204" pitchFamily="34" charset="-128"/>
              </a:rPr>
              <a:t>検知から自動遮断までのパイプラインを実装</a:t>
            </a:r>
            <a:endParaRPr lang="en-US" sz="2400" dirty="0">
              <a:latin typeface="Meiryo" panose="020B0604030504040204" pitchFamily="34" charset="-128"/>
              <a:ea typeface="Meiryo" panose="020B0604030504040204" pitchFamily="34" charset="-128"/>
            </a:endParaRPr>
          </a:p>
        </p:txBody>
      </p:sp>
      <p:sp>
        <p:nvSpPr>
          <p:cNvPr id="13" name="Shape 16">
            <a:extLst>
              <a:ext uri="{FF2B5EF4-FFF2-40B4-BE49-F238E27FC236}">
                <a16:creationId xmlns:a16="http://schemas.microsoft.com/office/drawing/2014/main" id="{BA7F38E7-C99A-2055-046B-EC8F7FF00B92}"/>
              </a:ext>
            </a:extLst>
          </p:cNvPr>
          <p:cNvSpPr/>
          <p:nvPr/>
        </p:nvSpPr>
        <p:spPr>
          <a:xfrm>
            <a:off x="196805" y="5971558"/>
            <a:ext cx="502920" cy="384048"/>
          </a:xfrm>
          <a:prstGeom prst="rect">
            <a:avLst/>
          </a:prstGeom>
          <a:solidFill>
            <a:srgbClr val="0D9488"/>
          </a:solidFill>
          <a:ln w="12700">
            <a:solidFill>
              <a:srgbClr val="0D9488"/>
            </a:solidFill>
            <a:prstDash val="solid"/>
          </a:ln>
        </p:spPr>
      </p:sp>
      <p:sp>
        <p:nvSpPr>
          <p:cNvPr id="14" name="Text 17">
            <a:extLst>
              <a:ext uri="{FF2B5EF4-FFF2-40B4-BE49-F238E27FC236}">
                <a16:creationId xmlns:a16="http://schemas.microsoft.com/office/drawing/2014/main" id="{DE25D075-0C24-DA08-2558-230D3695379C}"/>
              </a:ext>
            </a:extLst>
          </p:cNvPr>
          <p:cNvSpPr/>
          <p:nvPr/>
        </p:nvSpPr>
        <p:spPr>
          <a:xfrm>
            <a:off x="196805" y="5139454"/>
            <a:ext cx="502920" cy="384048"/>
          </a:xfrm>
          <a:prstGeom prst="rect">
            <a:avLst/>
          </a:prstGeom>
          <a:noFill/>
          <a:ln/>
        </p:spPr>
        <p:txBody>
          <a:bodyPr wrap="square" rtlCol="0" anchor="ctr"/>
          <a:lstStyle/>
          <a:p>
            <a:pPr marL="0" indent="0" algn="ctr">
              <a:buNone/>
            </a:pPr>
            <a:endParaRPr lang="en-US" sz="1300" dirty="0"/>
          </a:p>
        </p:txBody>
      </p:sp>
      <p:sp>
        <p:nvSpPr>
          <p:cNvPr id="16" name="Text 19">
            <a:extLst>
              <a:ext uri="{FF2B5EF4-FFF2-40B4-BE49-F238E27FC236}">
                <a16:creationId xmlns:a16="http://schemas.microsoft.com/office/drawing/2014/main" id="{3AC271A0-6622-D488-08DC-EDCD0FDEBD88}"/>
              </a:ext>
            </a:extLst>
          </p:cNvPr>
          <p:cNvSpPr/>
          <p:nvPr/>
        </p:nvSpPr>
        <p:spPr>
          <a:xfrm>
            <a:off x="874039" y="6024533"/>
            <a:ext cx="7726680" cy="412024"/>
          </a:xfrm>
          <a:prstGeom prst="rect">
            <a:avLst/>
          </a:prstGeom>
          <a:noFill/>
          <a:ln/>
        </p:spPr>
        <p:txBody>
          <a:bodyPr wrap="square" rtlCol="0" anchor="ctr"/>
          <a:lstStyle/>
          <a:p>
            <a:pPr marL="0" indent="0">
              <a:buNone/>
            </a:pPr>
            <a:r>
              <a:rPr lang="en-US" sz="2400" dirty="0">
                <a:latin typeface="Meiryo" panose="020B0604030504040204" pitchFamily="34" charset="-128"/>
                <a:ea typeface="Meiryo" panose="020B0604030504040204" pitchFamily="34" charset="-128"/>
              </a:rPr>
              <a:t>Random Forest</a:t>
            </a:r>
            <a:r>
              <a:rPr lang="ja-JP" altLang="en-US" sz="2400">
                <a:latin typeface="Meiryo" panose="020B0604030504040204" pitchFamily="34" charset="-128"/>
                <a:ea typeface="Meiryo" panose="020B0604030504040204" pitchFamily="34" charset="-128"/>
              </a:rPr>
              <a:t>を学習し、精度・誤検知率・遅延を測定従来手法と比較評価</a:t>
            </a:r>
            <a:endParaRPr lang="en-US" sz="2400" dirty="0">
              <a:latin typeface="Meiryo" panose="020B0604030504040204" pitchFamily="34" charset="-128"/>
              <a:ea typeface="Meiryo" panose="020B0604030504040204" pitchFamily="34" charset="-128"/>
            </a:endParaRPr>
          </a:p>
        </p:txBody>
      </p:sp>
      <p:sp>
        <p:nvSpPr>
          <p:cNvPr id="18" name="Text 21">
            <a:extLst>
              <a:ext uri="{FF2B5EF4-FFF2-40B4-BE49-F238E27FC236}">
                <a16:creationId xmlns:a16="http://schemas.microsoft.com/office/drawing/2014/main" id="{54A13E5B-390E-994E-892A-96C5C81A6DC3}"/>
              </a:ext>
            </a:extLst>
          </p:cNvPr>
          <p:cNvSpPr/>
          <p:nvPr/>
        </p:nvSpPr>
        <p:spPr>
          <a:xfrm>
            <a:off x="196805" y="6068791"/>
            <a:ext cx="502920" cy="384048"/>
          </a:xfrm>
          <a:prstGeom prst="rect">
            <a:avLst/>
          </a:prstGeom>
          <a:noFill/>
          <a:ln/>
        </p:spPr>
        <p:txBody>
          <a:bodyPr wrap="square" rtlCol="0" anchor="ctr"/>
          <a:lstStyle/>
          <a:p>
            <a:pPr algn="ctr"/>
            <a:r>
              <a:rPr lang="en-US" sz="1300" b="1" dirty="0">
                <a:solidFill>
                  <a:srgbClr val="FFFFFF"/>
                </a:solidFill>
                <a:latin typeface="Calibri" pitchFamily="34" charset="0"/>
                <a:ea typeface="Calibri" pitchFamily="34" charset="-122"/>
                <a:cs typeface="Calibri" pitchFamily="34" charset="-120"/>
              </a:rPr>
              <a:t>③</a:t>
            </a:r>
            <a:endParaRPr lang="en-US" sz="1300" dirty="0"/>
          </a:p>
          <a:p>
            <a:pPr marL="0" indent="0" algn="ctr">
              <a:buNone/>
            </a:pPr>
            <a:endParaRPr lang="en-US" sz="1300" dirty="0"/>
          </a:p>
        </p:txBody>
      </p:sp>
      <p:sp>
        <p:nvSpPr>
          <p:cNvPr id="23" name="Slide Number Placeholder 22">
            <a:extLst>
              <a:ext uri="{FF2B5EF4-FFF2-40B4-BE49-F238E27FC236}">
                <a16:creationId xmlns:a16="http://schemas.microsoft.com/office/drawing/2014/main" id="{EE47CFA3-D95D-EF06-57D5-6F838A0D8552}"/>
              </a:ext>
            </a:extLst>
          </p:cNvPr>
          <p:cNvSpPr>
            <a:spLocks noGrp="1"/>
          </p:cNvSpPr>
          <p:nvPr>
            <p:ph type="sldNum" sz="quarter" idx="12"/>
          </p:nvPr>
        </p:nvSpPr>
        <p:spPr/>
        <p:txBody>
          <a:bodyPr/>
          <a:lstStyle/>
          <a:p>
            <a:fld id="{828F3BD4-1AF2-D144-8129-4D42AD448F5E}" type="slidenum">
              <a:rPr lang="en-JP" smtClean="0"/>
              <a:t>10</a:t>
            </a:fld>
            <a:endParaRPr lang="en-JP"/>
          </a:p>
        </p:txBody>
      </p:sp>
    </p:spTree>
    <p:extLst>
      <p:ext uri="{BB962C8B-B14F-4D97-AF65-F5344CB8AC3E}">
        <p14:creationId xmlns:p14="http://schemas.microsoft.com/office/powerpoint/2010/main" val="2877684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0">
            <a:extLst>
              <a:ext uri="{FF2B5EF4-FFF2-40B4-BE49-F238E27FC236}">
                <a16:creationId xmlns:a16="http://schemas.microsoft.com/office/drawing/2014/main" id="{39EC4F3D-6E13-15D8-0021-119DEB5EC572}"/>
              </a:ext>
            </a:extLst>
          </p:cNvPr>
          <p:cNvSpPr/>
          <p:nvPr/>
        </p:nvSpPr>
        <p:spPr>
          <a:xfrm>
            <a:off x="0" y="0"/>
            <a:ext cx="9144000" cy="685800"/>
          </a:xfrm>
          <a:prstGeom prst="rect">
            <a:avLst/>
          </a:prstGeom>
          <a:solidFill>
            <a:srgbClr val="1E3A5F"/>
          </a:solidFill>
          <a:ln w="12700">
            <a:solidFill>
              <a:srgbClr val="1E3A5F"/>
            </a:solidFill>
            <a:prstDash val="solid"/>
          </a:ln>
        </p:spPr>
        <p:txBody>
          <a:bodyPr/>
          <a:lstStyle/>
          <a:p>
            <a:r>
              <a:rPr lang="mn-MN" altLang="ja-JP" sz="2000" b="1" i="0" u="none" strike="noStrike" dirty="0">
                <a:solidFill>
                  <a:schemeClr val="bg1"/>
                </a:solidFill>
                <a:effectLst/>
                <a:latin typeface="Meiryo" panose="020B0604030504040204" pitchFamily="34" charset="-128"/>
                <a:ea typeface="Meiryo" panose="020B0604030504040204" pitchFamily="34" charset="-128"/>
              </a:rPr>
              <a:t>    </a:t>
            </a:r>
          </a:p>
          <a:p>
            <a:pPr marL="342900" indent="-342900">
              <a:buFont typeface="Wingdings" pitchFamily="2" charset="2"/>
              <a:buChar char="§"/>
            </a:pPr>
            <a:r>
              <a:rPr lang="mn-MN" altLang="ja-JP" sz="2000" b="1" dirty="0">
                <a:solidFill>
                  <a:schemeClr val="bg1"/>
                </a:solidFill>
                <a:latin typeface="Meiryo" panose="020B0604030504040204" pitchFamily="34" charset="-128"/>
                <a:ea typeface="Meiryo" panose="020B0604030504040204" pitchFamily="34" charset="-128"/>
              </a:rPr>
              <a:t>   </a:t>
            </a:r>
            <a:r>
              <a:rPr lang="ja-JP" altLang="en-US" sz="2800" b="1" i="0" u="none" strike="noStrike">
                <a:solidFill>
                  <a:schemeClr val="bg1"/>
                </a:solidFill>
                <a:effectLst/>
                <a:latin typeface="Meiryo" panose="020B0604030504040204" pitchFamily="34" charset="-128"/>
                <a:ea typeface="Meiryo" panose="020B0604030504040204" pitchFamily="34" charset="-128"/>
              </a:rPr>
              <a:t>開発するシステムの要件</a:t>
            </a:r>
            <a:endParaRPr lang="ja-JP" altLang="en-US" sz="2800" b="1">
              <a:solidFill>
                <a:schemeClr val="bg1"/>
              </a:solidFill>
              <a:effectLst/>
              <a:latin typeface="Meiryo" panose="020B0604030504040204" pitchFamily="34" charset="-128"/>
              <a:ea typeface="Meiryo" panose="020B0604030504040204" pitchFamily="34" charset="-128"/>
            </a:endParaRPr>
          </a:p>
          <a:p>
            <a:endParaRPr lang="en-US" sz="2000" b="1" dirty="0">
              <a:solidFill>
                <a:schemeClr val="bg1"/>
              </a:solidFill>
              <a:latin typeface="Meiryo" panose="020B0604030504040204" pitchFamily="34" charset="-128"/>
              <a:ea typeface="Meiryo" panose="020B0604030504040204" pitchFamily="34" charset="-128"/>
              <a:cs typeface="Calibri" pitchFamily="34" charset="-120"/>
            </a:endParaRPr>
          </a:p>
        </p:txBody>
      </p:sp>
      <p:sp>
        <p:nvSpPr>
          <p:cNvPr id="9" name="TextBox 8">
            <a:extLst>
              <a:ext uri="{FF2B5EF4-FFF2-40B4-BE49-F238E27FC236}">
                <a16:creationId xmlns:a16="http://schemas.microsoft.com/office/drawing/2014/main" id="{0AD0D363-5947-255F-4320-07B2B0065578}"/>
              </a:ext>
            </a:extLst>
          </p:cNvPr>
          <p:cNvSpPr txBox="1"/>
          <p:nvPr/>
        </p:nvSpPr>
        <p:spPr>
          <a:xfrm>
            <a:off x="161925" y="1136064"/>
            <a:ext cx="9144000" cy="5509200"/>
          </a:xfrm>
          <a:prstGeom prst="rect">
            <a:avLst/>
          </a:prstGeom>
          <a:noFill/>
        </p:spPr>
        <p:txBody>
          <a:bodyPr wrap="square">
            <a:spAutoFit/>
          </a:bodyPr>
          <a:lstStyle/>
          <a:p>
            <a:pPr algn="just"/>
            <a:r>
              <a:rPr lang="en-JP" sz="2000" dirty="0">
                <a:latin typeface="Meiryo" panose="020B0604030504040204" pitchFamily="34" charset="-128"/>
                <a:ea typeface="Meiryo" panose="020B0604030504040204" pitchFamily="34" charset="-128"/>
              </a:rPr>
              <a:t>🟨 </a:t>
            </a:r>
            <a:r>
              <a:rPr lang="en-JP" sz="2400" b="1" dirty="0">
                <a:latin typeface="Meiryo" panose="020B0604030504040204" pitchFamily="34" charset="-128"/>
                <a:ea typeface="Meiryo" panose="020B0604030504040204" pitchFamily="34" charset="-128"/>
              </a:rPr>
              <a:t>セキュリティ面</a:t>
            </a:r>
          </a:p>
          <a:p>
            <a:pPr marL="342900" indent="-342900" algn="just">
              <a:buFont typeface="Wingdings" pitchFamily="2" charset="2"/>
              <a:buChar char="§"/>
            </a:pPr>
            <a:r>
              <a:rPr lang="en-US" sz="2000" dirty="0">
                <a:latin typeface="Meiryo" panose="020B0604030504040204" pitchFamily="34" charset="-128"/>
                <a:ea typeface="Meiryo" panose="020B0604030504040204" pitchFamily="34" charset="-128"/>
              </a:rPr>
              <a:t>ARP</a:t>
            </a:r>
            <a:r>
              <a:rPr lang="ja-JP" altLang="en-US" sz="2000">
                <a:latin typeface="Meiryo" panose="020B0604030504040204" pitchFamily="34" charset="-128"/>
                <a:ea typeface="Meiryo" panose="020B0604030504040204" pitchFamily="34" charset="-128"/>
              </a:rPr>
              <a:t>スプーフィング検知</a:t>
            </a:r>
            <a:endParaRPr lang="mn-MN" altLang="ja-JP" sz="2000" dirty="0">
              <a:latin typeface="Meiryo" panose="020B0604030504040204" pitchFamily="34" charset="-128"/>
              <a:ea typeface="Meiryo" panose="020B0604030504040204" pitchFamily="34" charset="-128"/>
            </a:endParaRPr>
          </a:p>
          <a:p>
            <a:pPr marL="342900" indent="-342900" algn="just">
              <a:buFont typeface="Wingdings" pitchFamily="2" charset="2"/>
              <a:buChar char="§"/>
            </a:pPr>
            <a:r>
              <a:rPr lang="ja-JP" altLang="en-US" sz="2000">
                <a:latin typeface="Meiryo" panose="020B0604030504040204" pitchFamily="34" charset="-128"/>
                <a:ea typeface="Meiryo" panose="020B0604030504040204" pitchFamily="34" charset="-128"/>
              </a:rPr>
              <a:t>偽</a:t>
            </a:r>
            <a:r>
              <a:rPr lang="en-US" sz="2000" dirty="0">
                <a:latin typeface="Meiryo" panose="020B0604030504040204" pitchFamily="34" charset="-128"/>
                <a:ea typeface="Meiryo" panose="020B0604030504040204" pitchFamily="34" charset="-128"/>
              </a:rPr>
              <a:t>ARP</a:t>
            </a:r>
            <a:r>
              <a:rPr lang="ja-JP" altLang="en-US" sz="2000">
                <a:latin typeface="Meiryo" panose="020B0604030504040204" pitchFamily="34" charset="-128"/>
                <a:ea typeface="Meiryo" panose="020B0604030504040204" pitchFamily="34" charset="-128"/>
              </a:rPr>
              <a:t>パケットをリアルタイムで識別・遮断する</a:t>
            </a:r>
            <a:endParaRPr lang="mn-MN" altLang="ja-JP" sz="2000" dirty="0">
              <a:latin typeface="Meiryo" panose="020B0604030504040204" pitchFamily="34" charset="-128"/>
              <a:ea typeface="Meiryo" panose="020B0604030504040204" pitchFamily="34" charset="-128"/>
            </a:endParaRPr>
          </a:p>
          <a:p>
            <a:pPr marL="342900" indent="-342900" algn="just">
              <a:buFont typeface="Wingdings" pitchFamily="2" charset="2"/>
              <a:buChar char="§"/>
            </a:pPr>
            <a:r>
              <a:rPr lang="ja-JP" altLang="en-US" sz="2000">
                <a:latin typeface="Meiryo" panose="020B0604030504040204" pitchFamily="34" charset="-128"/>
                <a:ea typeface="Meiryo" panose="020B0604030504040204" pitchFamily="34" charset="-128"/>
              </a:rPr>
              <a:t>多層防御</a:t>
            </a:r>
            <a:r>
              <a:rPr lang="mn-MN" altLang="ja-JP" sz="2000" dirty="0">
                <a:latin typeface="Meiryo" panose="020B0604030504040204" pitchFamily="34" charset="-128"/>
                <a:ea typeface="Meiryo" panose="020B0604030504040204" pitchFamily="34" charset="-128"/>
              </a:rPr>
              <a:t> </a:t>
            </a:r>
            <a:r>
              <a:rPr lang="en-US" altLang="ja-JP" sz="2000" dirty="0">
                <a:latin typeface="Meiryo" panose="020B0604030504040204" pitchFamily="34" charset="-128"/>
                <a:ea typeface="Meiryo" panose="020B0604030504040204" pitchFamily="34" charset="-128"/>
              </a:rPr>
              <a:t>-&gt;</a:t>
            </a:r>
            <a:r>
              <a:rPr lang="en-US" sz="2000" dirty="0">
                <a:latin typeface="Meiryo" panose="020B0604030504040204" pitchFamily="34" charset="-128"/>
                <a:ea typeface="Meiryo" panose="020B0604030504040204" pitchFamily="34" charset="-128"/>
              </a:rPr>
              <a:t>DTLS（L4）</a:t>
            </a:r>
            <a:r>
              <a:rPr lang="ja-JP" altLang="en-US" sz="2000">
                <a:latin typeface="Meiryo" panose="020B0604030504040204" pitchFamily="34" charset="-128"/>
                <a:ea typeface="Meiryo" panose="020B0604030504040204" pitchFamily="34" charset="-128"/>
              </a:rPr>
              <a:t>と</a:t>
            </a:r>
            <a:r>
              <a:rPr lang="en-US" sz="2000" dirty="0">
                <a:latin typeface="Meiryo" panose="020B0604030504040204" pitchFamily="34" charset="-128"/>
                <a:ea typeface="Meiryo" panose="020B0604030504040204" pitchFamily="34" charset="-128"/>
              </a:rPr>
              <a:t>ML-IDS（L2）</a:t>
            </a:r>
            <a:r>
              <a:rPr lang="ja-JP" altLang="en-US" sz="2000">
                <a:latin typeface="Meiryo" panose="020B0604030504040204" pitchFamily="34" charset="-128"/>
                <a:ea typeface="Meiryo" panose="020B0604030504040204" pitchFamily="34" charset="-128"/>
              </a:rPr>
              <a:t>を組み合わせた多層保護</a:t>
            </a:r>
            <a:endParaRPr lang="mn-MN" altLang="ja-JP" sz="2000" dirty="0">
              <a:latin typeface="Meiryo" panose="020B0604030504040204" pitchFamily="34" charset="-128"/>
              <a:ea typeface="Meiryo" panose="020B0604030504040204" pitchFamily="34" charset="-128"/>
            </a:endParaRPr>
          </a:p>
          <a:p>
            <a:pPr marL="342900" indent="-342900" algn="just">
              <a:buFont typeface="Wingdings" pitchFamily="2" charset="2"/>
              <a:buChar char="§"/>
            </a:pPr>
            <a:endParaRPr lang="en-US" altLang="ja-JP" sz="2000" dirty="0">
              <a:latin typeface="Meiryo" panose="020B0604030504040204" pitchFamily="34" charset="-128"/>
              <a:ea typeface="Meiryo" panose="020B0604030504040204" pitchFamily="34" charset="-128"/>
            </a:endParaRPr>
          </a:p>
          <a:p>
            <a:pPr algn="just"/>
            <a:endParaRPr lang="en-JP" sz="2000" dirty="0">
              <a:latin typeface="Meiryo" panose="020B0604030504040204" pitchFamily="34" charset="-128"/>
              <a:ea typeface="Meiryo" panose="020B0604030504040204" pitchFamily="34" charset="-128"/>
            </a:endParaRPr>
          </a:p>
          <a:p>
            <a:pPr algn="just"/>
            <a:r>
              <a:rPr lang="en-JP" sz="2000" dirty="0">
                <a:latin typeface="Meiryo" panose="020B0604030504040204" pitchFamily="34" charset="-128"/>
                <a:ea typeface="Meiryo" panose="020B0604030504040204" pitchFamily="34" charset="-128"/>
              </a:rPr>
              <a:t>🟨 </a:t>
            </a:r>
            <a:r>
              <a:rPr lang="en-JP" sz="2400" b="1" dirty="0">
                <a:latin typeface="Meiryo" panose="020B0604030504040204" pitchFamily="34" charset="-128"/>
                <a:ea typeface="Meiryo" panose="020B0604030504040204" pitchFamily="34" charset="-128"/>
              </a:rPr>
              <a:t>パフォーマンス面</a:t>
            </a:r>
          </a:p>
          <a:p>
            <a:pPr marL="342900" indent="-342900" algn="just">
              <a:buFont typeface="Wingdings" pitchFamily="2" charset="2"/>
              <a:buChar char="§"/>
            </a:pPr>
            <a:r>
              <a:rPr lang="ja-JP" altLang="en-US" sz="2000">
                <a:latin typeface="Meiryo" panose="020B0604030504040204" pitchFamily="34" charset="-128"/>
                <a:ea typeface="Meiryo" panose="020B0604030504040204" pitchFamily="34" charset="-128"/>
              </a:rPr>
              <a:t>検知精度 </a:t>
            </a:r>
            <a:r>
              <a:rPr lang="en-US" altLang="ja-JP" sz="2000" dirty="0">
                <a:latin typeface="Meiryo" panose="020B0604030504040204" pitchFamily="34" charset="-128"/>
                <a:ea typeface="Meiryo" panose="020B0604030504040204" pitchFamily="34" charset="-128"/>
              </a:rPr>
              <a:t>95%</a:t>
            </a:r>
            <a:r>
              <a:rPr lang="ja-JP" altLang="en-US" sz="2000">
                <a:latin typeface="Meiryo" panose="020B0604030504040204" pitchFamily="34" charset="-128"/>
                <a:ea typeface="Meiryo" panose="020B0604030504040204" pitchFamily="34" charset="-128"/>
              </a:rPr>
              <a:t>以上 </a:t>
            </a:r>
            <a:r>
              <a:rPr lang="en-US"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正常・攻撃トラフィックを高精度に分類</a:t>
            </a:r>
            <a:endParaRPr lang="en-US" altLang="ja-JP" sz="2000" dirty="0">
              <a:latin typeface="Meiryo" panose="020B0604030504040204" pitchFamily="34" charset="-128"/>
              <a:ea typeface="Meiryo" panose="020B0604030504040204" pitchFamily="34" charset="-128"/>
            </a:endParaRPr>
          </a:p>
          <a:p>
            <a:pPr marL="342900" indent="-342900" algn="just">
              <a:buFont typeface="Wingdings" pitchFamily="2" charset="2"/>
              <a:buChar char="§"/>
            </a:pPr>
            <a:r>
              <a:rPr lang="ja-JP" altLang="en-US" sz="2000">
                <a:latin typeface="Meiryo" panose="020B0604030504040204" pitchFamily="34" charset="-128"/>
                <a:ea typeface="Meiryo" panose="020B0604030504040204" pitchFamily="34" charset="-128"/>
              </a:rPr>
              <a:t>正常通信を誤ってブロックしない</a:t>
            </a:r>
            <a:endParaRPr lang="en-US" altLang="ja-JP" sz="2000" dirty="0">
              <a:latin typeface="Meiryo" panose="020B0604030504040204" pitchFamily="34" charset="-128"/>
              <a:ea typeface="Meiryo" panose="020B0604030504040204" pitchFamily="34" charset="-128"/>
            </a:endParaRPr>
          </a:p>
          <a:p>
            <a:pPr marL="342900" indent="-342900" algn="just">
              <a:buFont typeface="Wingdings" pitchFamily="2" charset="2"/>
              <a:buChar char="§"/>
            </a:pPr>
            <a:r>
              <a:rPr lang="ja-JP" altLang="en-US" sz="2000">
                <a:latin typeface="Meiryo" panose="020B0604030504040204" pitchFamily="34" charset="-128"/>
                <a:ea typeface="Meiryo" panose="020B0604030504040204" pitchFamily="34" charset="-128"/>
              </a:rPr>
              <a:t>パケット受信から遮断まで即時処理する</a:t>
            </a:r>
            <a:endParaRPr lang="en-US" altLang="ja-JP" sz="2000" dirty="0">
              <a:latin typeface="Meiryo" panose="020B0604030504040204" pitchFamily="34" charset="-128"/>
              <a:ea typeface="Meiryo" panose="020B0604030504040204" pitchFamily="34" charset="-128"/>
            </a:endParaRPr>
          </a:p>
          <a:p>
            <a:pPr marL="342900" indent="-342900" algn="just">
              <a:buFont typeface="Wingdings" pitchFamily="2" charset="2"/>
              <a:buChar char="§"/>
            </a:pPr>
            <a:r>
              <a:rPr lang="ja-JP" altLang="en-US" sz="2000">
                <a:latin typeface="Meiryo" panose="020B0604030504040204" pitchFamily="34" charset="-128"/>
                <a:ea typeface="Meiryo" panose="020B0604030504040204" pitchFamily="34" charset="-128"/>
              </a:rPr>
              <a:t>正常な</a:t>
            </a:r>
            <a:r>
              <a:rPr lang="en-US" sz="2000" dirty="0">
                <a:latin typeface="Meiryo" panose="020B0604030504040204" pitchFamily="34" charset="-128"/>
                <a:ea typeface="Meiryo" panose="020B0604030504040204" pitchFamily="34" charset="-128"/>
              </a:rPr>
              <a:t>CoAP/DTLS</a:t>
            </a:r>
            <a:r>
              <a:rPr lang="ja-JP" altLang="en-US" sz="2000">
                <a:latin typeface="Meiryo" panose="020B0604030504040204" pitchFamily="34" charset="-128"/>
                <a:ea typeface="Meiryo" panose="020B0604030504040204" pitchFamily="34" charset="-128"/>
              </a:rPr>
              <a:t>トラフィックに干渉しない</a:t>
            </a:r>
            <a:endParaRPr lang="mn-MN" altLang="ja-JP" sz="2000" dirty="0">
              <a:latin typeface="Meiryo" panose="020B0604030504040204" pitchFamily="34" charset="-128"/>
              <a:ea typeface="Meiryo" panose="020B0604030504040204" pitchFamily="34" charset="-128"/>
            </a:endParaRPr>
          </a:p>
          <a:p>
            <a:pPr marL="342900" indent="-342900" algn="just">
              <a:buFont typeface="Wingdings" pitchFamily="2" charset="2"/>
              <a:buChar char="§"/>
            </a:pPr>
            <a:endParaRPr lang="mn-MN" sz="2000" dirty="0">
              <a:latin typeface="Meiryo" panose="020B0604030504040204" pitchFamily="34" charset="-128"/>
              <a:ea typeface="Meiryo" panose="020B0604030504040204" pitchFamily="34" charset="-128"/>
            </a:endParaRPr>
          </a:p>
          <a:p>
            <a:pPr algn="just"/>
            <a:endParaRPr lang="en-JP" sz="2000" dirty="0">
              <a:latin typeface="Meiryo" panose="020B0604030504040204" pitchFamily="34" charset="-128"/>
              <a:ea typeface="Meiryo" panose="020B0604030504040204" pitchFamily="34" charset="-128"/>
            </a:endParaRPr>
          </a:p>
          <a:p>
            <a:pPr algn="just"/>
            <a:r>
              <a:rPr lang="en-JP" sz="2000" dirty="0">
                <a:latin typeface="Meiryo" panose="020B0604030504040204" pitchFamily="34" charset="-128"/>
                <a:ea typeface="Meiryo" panose="020B0604030504040204" pitchFamily="34" charset="-128"/>
              </a:rPr>
              <a:t>🟨 </a:t>
            </a:r>
            <a:r>
              <a:rPr lang="en-JP" sz="2400" b="1" dirty="0">
                <a:latin typeface="Meiryo" panose="020B0604030504040204" pitchFamily="34" charset="-128"/>
                <a:ea typeface="Meiryo" panose="020B0604030504040204" pitchFamily="34" charset="-128"/>
              </a:rPr>
              <a:t>運用・管理面</a:t>
            </a:r>
            <a:endParaRPr lang="mn-MN" sz="2400" b="1" dirty="0">
              <a:latin typeface="Meiryo" panose="020B0604030504040204" pitchFamily="34" charset="-128"/>
              <a:ea typeface="Meiryo" panose="020B0604030504040204" pitchFamily="34" charset="-128"/>
            </a:endParaRPr>
          </a:p>
          <a:p>
            <a:pPr marL="342900" indent="-342900" algn="just">
              <a:buFont typeface="Wingdings" pitchFamily="2" charset="2"/>
              <a:buChar char="§"/>
            </a:pPr>
            <a:r>
              <a:rPr lang="en-JP" sz="2000" dirty="0">
                <a:latin typeface="Meiryo" panose="020B0604030504040204" pitchFamily="34" charset="-128"/>
                <a:ea typeface="Meiryo" panose="020B0604030504040204" pitchFamily="34" charset="-128"/>
              </a:rPr>
              <a:t>検知した攻撃を自動的に遮断（ドロップ）できること攻撃ログを記録し、後から分析可能であること管理者の負担を軽減し、直感的に状況を把握できること</a:t>
            </a:r>
            <a:endParaRPr lang="mn-MN" sz="2000" dirty="0">
              <a:latin typeface="Meiryo" panose="020B0604030504040204" pitchFamily="34" charset="-128"/>
              <a:ea typeface="Meiryo" panose="020B0604030504040204" pitchFamily="34" charset="-128"/>
            </a:endParaRPr>
          </a:p>
        </p:txBody>
      </p:sp>
      <p:sp>
        <p:nvSpPr>
          <p:cNvPr id="10" name="Slide Number Placeholder 9">
            <a:extLst>
              <a:ext uri="{FF2B5EF4-FFF2-40B4-BE49-F238E27FC236}">
                <a16:creationId xmlns:a16="http://schemas.microsoft.com/office/drawing/2014/main" id="{DD2E0F9F-7B94-C4D1-568C-76ADA7FF0B67}"/>
              </a:ext>
            </a:extLst>
          </p:cNvPr>
          <p:cNvSpPr>
            <a:spLocks noGrp="1"/>
          </p:cNvSpPr>
          <p:nvPr>
            <p:ph type="sldNum" sz="quarter" idx="12"/>
          </p:nvPr>
        </p:nvSpPr>
        <p:spPr/>
        <p:txBody>
          <a:bodyPr/>
          <a:lstStyle/>
          <a:p>
            <a:fld id="{828F3BD4-1AF2-D144-8129-4D42AD448F5E}" type="slidenum">
              <a:rPr lang="en-JP" smtClean="0"/>
              <a:t>11</a:t>
            </a:fld>
            <a:endParaRPr lang="en-JP"/>
          </a:p>
        </p:txBody>
      </p:sp>
    </p:spTree>
    <p:extLst>
      <p:ext uri="{BB962C8B-B14F-4D97-AF65-F5344CB8AC3E}">
        <p14:creationId xmlns:p14="http://schemas.microsoft.com/office/powerpoint/2010/main" val="4128573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470010" y="1635919"/>
            <a:ext cx="7886700" cy="4856955"/>
          </a:xfrm>
        </p:spPr>
        <p:txBody>
          <a:bodyPr>
            <a:normAutofit lnSpcReduction="10000"/>
          </a:bodyPr>
          <a:lstStyle/>
          <a:p>
            <a:pPr marL="476219" indent="-342878">
              <a:lnSpc>
                <a:spcPct val="150000"/>
              </a:lnSpc>
              <a:spcBef>
                <a:spcPts val="0"/>
              </a:spcBef>
              <a:buSzPts val="2800"/>
              <a:buFont typeface="Wingdings" pitchFamily="2" charset="2"/>
              <a:buChar char="§"/>
            </a:pPr>
            <a:r>
              <a:rPr lang="en-US" altLang="ja-JP" sz="3100" dirty="0">
                <a:latin typeface="Meiryo" panose="020B0604030504040204" pitchFamily="34" charset="-128"/>
                <a:ea typeface="Meiryo" panose="020B0604030504040204" pitchFamily="34" charset="-128"/>
              </a:rPr>
              <a:t> </a:t>
            </a:r>
            <a:r>
              <a:rPr lang="ja-JP" altLang="en-US" sz="3100">
                <a:latin typeface="Meiryo" panose="020B0604030504040204" pitchFamily="34" charset="-128"/>
                <a:ea typeface="Meiryo" panose="020B0604030504040204" pitchFamily="34" charset="-128"/>
              </a:rPr>
              <a:t>研究背景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研究目的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1">
                <a:solidFill>
                  <a:srgbClr val="C00000"/>
                </a:solidFill>
                <a:latin typeface="Meiryo" panose="020B0604030504040204" pitchFamily="34" charset="-128"/>
                <a:ea typeface="Meiryo" panose="020B0604030504040204" pitchFamily="34" charset="-128"/>
              </a:rPr>
              <a:t>関連技術・関連研究</a:t>
            </a:r>
            <a:r>
              <a:rPr lang="en-US" altLang="ja-JP" sz="3100" b="1" dirty="0">
                <a:solidFill>
                  <a:srgbClr val="C00000"/>
                </a:solidFill>
                <a:latin typeface="Meiryo" panose="020B0604030504040204" pitchFamily="34" charset="-128"/>
                <a:ea typeface="Meiryo" panose="020B0604030504040204" pitchFamily="34" charset="-128"/>
              </a:rPr>
              <a:t> </a:t>
            </a:r>
          </a:p>
          <a:p>
            <a:pPr marL="476219" indent="-342878">
              <a:lnSpc>
                <a:spcPct val="150000"/>
              </a:lnSpc>
              <a:spcBef>
                <a:spcPts val="0"/>
              </a:spcBef>
              <a:buSzPts val="2800"/>
              <a:buFont typeface="Wingdings" pitchFamily="2" charset="2"/>
              <a:buChar char="§"/>
            </a:pPr>
            <a:r>
              <a:rPr lang="ja-JP" altLang="en-US" i="0" u="none" strike="noStrike">
                <a:solidFill>
                  <a:srgbClr val="000000"/>
                </a:solidFill>
                <a:effectLst/>
                <a:latin typeface="Meiryo" panose="020B0604030504040204" pitchFamily="34" charset="-128"/>
                <a:ea typeface="Meiryo" panose="020B0604030504040204" pitchFamily="34" charset="-128"/>
              </a:rPr>
              <a:t>提案システム</a:t>
            </a:r>
            <a:endParaRPr lang="en-US" altLang="ja-JP" i="0" u="none" strike="noStrike" dirty="0">
              <a:solidFill>
                <a:srgbClr val="000000"/>
              </a:solidFill>
              <a:effectLst/>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評価手法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0" i="0" u="none" strike="noStrike">
                <a:effectLst/>
                <a:latin typeface="Meiryo" panose="020B0604030504040204" pitchFamily="34" charset="-128"/>
                <a:ea typeface="Meiryo" panose="020B0604030504040204" pitchFamily="34" charset="-128"/>
              </a:rPr>
              <a:t>現在の進捗状況</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まとめ       </a:t>
            </a:r>
            <a:endParaRPr kumimoji="1"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endParaRPr lang="en-US" altLang="ja-JP" sz="2500" dirty="0">
              <a:latin typeface="Meiryo UI" panose="020B0604030504040204" pitchFamily="50" charset="-128"/>
              <a:ea typeface="Meiryo UI" panose="020B0604030504040204" pitchFamily="50" charset="-128"/>
            </a:endParaRPr>
          </a:p>
          <a:p>
            <a:endParaRPr lang="en-JP" sz="25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12</a:t>
            </a:fld>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50F375AD-778D-AB44-5C16-9E3EFA85933A}"/>
              </a:ext>
            </a:extLst>
          </p:cNvPr>
          <p:cNvSpPr txBox="1"/>
          <p:nvPr/>
        </p:nvSpPr>
        <p:spPr>
          <a:xfrm>
            <a:off x="5987668" y="3263465"/>
            <a:ext cx="4572000" cy="369332"/>
          </a:xfrm>
          <a:prstGeom prst="rect">
            <a:avLst/>
          </a:prstGeom>
          <a:noFill/>
        </p:spPr>
        <p:txBody>
          <a:bodyPr wrap="square">
            <a:spAutoFit/>
          </a:bodyPr>
          <a:lstStyle/>
          <a:p>
            <a:r>
              <a:rPr lang="en-JP" b="0" dirty="0">
                <a:effectLst/>
              </a:rPr>
              <a:t> </a:t>
            </a:r>
            <a:endParaRPr lang="en-JP" dirty="0"/>
          </a:p>
        </p:txBody>
      </p:sp>
    </p:spTree>
    <p:extLst>
      <p:ext uri="{BB962C8B-B14F-4D97-AF65-F5344CB8AC3E}">
        <p14:creationId xmlns:p14="http://schemas.microsoft.com/office/powerpoint/2010/main" val="34098271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BABD68B-DE0C-BCCB-87EE-4F2CF6A2AC42}"/>
              </a:ext>
            </a:extLst>
          </p:cNvPr>
          <p:cNvSpPr>
            <a:spLocks noGrp="1"/>
          </p:cNvSpPr>
          <p:nvPr>
            <p:ph idx="1"/>
          </p:nvPr>
        </p:nvSpPr>
        <p:spPr>
          <a:xfrm>
            <a:off x="319541" y="841531"/>
            <a:ext cx="7886700" cy="975844"/>
          </a:xfrm>
        </p:spPr>
        <p:txBody>
          <a:bodyPr>
            <a:normAutofit fontScale="92500"/>
          </a:bodyPr>
          <a:lstStyle/>
          <a:p>
            <a:r>
              <a:rPr kumimoji="1" lang="en-US" altLang="ja-JP" dirty="0">
                <a:latin typeface="Meiryo" panose="020B0604030504040204" pitchFamily="34" charset="-128"/>
                <a:ea typeface="Meiryo" panose="020B0604030504040204" pitchFamily="34" charset="-128"/>
              </a:rPr>
              <a:t>IoT</a:t>
            </a:r>
            <a:r>
              <a:rPr kumimoji="1" lang="ja-JP" altLang="en-US">
                <a:latin typeface="Meiryo" panose="020B0604030504040204" pitchFamily="34" charset="-128"/>
                <a:ea typeface="Meiryo" panose="020B0604030504040204" pitchFamily="34" charset="-128"/>
              </a:rPr>
              <a:t>デバイスと外部ネットワークの通信を中継</a:t>
            </a:r>
            <a:r>
              <a:rPr kumimoji="1" lang="en-US" altLang="ja-JP" sz="2000" dirty="0">
                <a:latin typeface="Meiryo" panose="020B0604030504040204" pitchFamily="34" charset="-128"/>
                <a:ea typeface="Meiryo" panose="020B0604030504040204" pitchFamily="34" charset="-128"/>
              </a:rPr>
              <a:t>[5]</a:t>
            </a:r>
            <a:endParaRPr kumimoji="1" lang="en-US" altLang="ja-JP" dirty="0">
              <a:latin typeface="Meiryo" panose="020B0604030504040204" pitchFamily="34" charset="-128"/>
              <a:ea typeface="Meiryo" panose="020B0604030504040204" pitchFamily="34" charset="-128"/>
            </a:endParaRPr>
          </a:p>
          <a:p>
            <a:pPr lvl="1">
              <a:buFont typeface="Wingdings" pitchFamily="2" charset="2"/>
              <a:buChar char="Ø"/>
            </a:pPr>
            <a:r>
              <a:rPr kumimoji="1" lang="ja-JP" altLang="en-US">
                <a:latin typeface="Meiryo" panose="020B0604030504040204" pitchFamily="34" charset="-128"/>
                <a:ea typeface="Meiryo" panose="020B0604030504040204" pitchFamily="34" charset="-128"/>
              </a:rPr>
              <a:t>トラフィックの管理・変換・保護を担う</a:t>
            </a:r>
          </a:p>
        </p:txBody>
      </p:sp>
      <p:sp>
        <p:nvSpPr>
          <p:cNvPr id="4" name="スライド番号プレースホルダー 3">
            <a:extLst>
              <a:ext uri="{FF2B5EF4-FFF2-40B4-BE49-F238E27FC236}">
                <a16:creationId xmlns:a16="http://schemas.microsoft.com/office/drawing/2014/main" id="{264957F0-D920-0139-7B1B-9F3C38B98AAE}"/>
              </a:ext>
            </a:extLst>
          </p:cNvPr>
          <p:cNvSpPr>
            <a:spLocks noGrp="1"/>
          </p:cNvSpPr>
          <p:nvPr>
            <p:ph type="sldNum" sz="quarter" idx="12"/>
          </p:nvPr>
        </p:nvSpPr>
        <p:spPr/>
        <p:txBody>
          <a:bodyPr/>
          <a:lstStyle/>
          <a:p>
            <a:fld id="{BB44241B-2579-694C-B40C-A1E3D5F0E4EC}" type="slidenum">
              <a:rPr lang="en-JP" smtClean="0"/>
              <a:pPr/>
              <a:t>13</a:t>
            </a:fld>
            <a:endParaRPr lang="en-JP" dirty="0">
              <a:latin typeface="Meiryo UI" panose="020B0604030504040204" pitchFamily="34" charset="-128"/>
              <a:ea typeface="Meiryo UI" panose="020B0604030504040204" pitchFamily="34" charset="-128"/>
            </a:endParaRPr>
          </a:p>
        </p:txBody>
      </p:sp>
      <p:sp>
        <p:nvSpPr>
          <p:cNvPr id="6" name="TextBox 12">
            <a:extLst>
              <a:ext uri="{FF2B5EF4-FFF2-40B4-BE49-F238E27FC236}">
                <a16:creationId xmlns:a16="http://schemas.microsoft.com/office/drawing/2014/main" id="{CAD31A5E-1FE2-6AC0-5F51-F2BF1691FCA9}"/>
              </a:ext>
            </a:extLst>
          </p:cNvPr>
          <p:cNvSpPr txBox="1"/>
          <p:nvPr/>
        </p:nvSpPr>
        <p:spPr>
          <a:xfrm>
            <a:off x="126800" y="6242447"/>
            <a:ext cx="8702831" cy="631135"/>
          </a:xfrm>
          <a:prstGeom prst="rect">
            <a:avLst/>
          </a:prstGeom>
          <a:noFill/>
        </p:spPr>
        <p:txBody>
          <a:bodyPr wrap="square">
            <a:spAutoFit/>
          </a:bodyPr>
          <a:lstStyle/>
          <a:p>
            <a:r>
              <a:rPr lang="en-US" sz="1167" dirty="0">
                <a:latin typeface="Meiryo" panose="020B0604030504040204" pitchFamily="34" charset="-128"/>
                <a:ea typeface="Meiryo" panose="020B0604030504040204" pitchFamily="34" charset="-128"/>
              </a:rPr>
              <a:t>[3] Yatin Sapra, What Role Do IoT Gateways Play In The Overall IoT Ecosystem?, </a:t>
            </a:r>
          </a:p>
          <a:p>
            <a:r>
              <a:rPr lang="en-US" sz="1167" dirty="0">
                <a:latin typeface="Meiryo" panose="020B0604030504040204" pitchFamily="34" charset="-128"/>
                <a:ea typeface="Meiryo" panose="020B0604030504040204" pitchFamily="34" charset="-128"/>
              </a:rPr>
              <a:t>https://</a:t>
            </a:r>
            <a:r>
              <a:rPr lang="en-US" sz="1167" dirty="0" err="1">
                <a:latin typeface="Meiryo" panose="020B0604030504040204" pitchFamily="34" charset="-128"/>
                <a:ea typeface="Meiryo" panose="020B0604030504040204" pitchFamily="34" charset="-128"/>
              </a:rPr>
              <a:t>www.hashstudioz.com</a:t>
            </a:r>
            <a:r>
              <a:rPr lang="en-US" sz="1167" dirty="0">
                <a:latin typeface="Meiryo" panose="020B0604030504040204" pitchFamily="34" charset="-128"/>
                <a:ea typeface="Meiryo" panose="020B0604030504040204" pitchFamily="34" charset="-128"/>
              </a:rPr>
              <a:t>/blog/what-role-do-</a:t>
            </a:r>
            <a:r>
              <a:rPr lang="en-US" sz="1167" dirty="0" err="1">
                <a:latin typeface="Meiryo" panose="020B0604030504040204" pitchFamily="34" charset="-128"/>
                <a:ea typeface="Meiryo" panose="020B0604030504040204" pitchFamily="34" charset="-128"/>
              </a:rPr>
              <a:t>iot</a:t>
            </a:r>
            <a:r>
              <a:rPr lang="en-US" sz="1167" dirty="0">
                <a:latin typeface="Meiryo" panose="020B0604030504040204" pitchFamily="34" charset="-128"/>
                <a:ea typeface="Meiryo" panose="020B0604030504040204" pitchFamily="34" charset="-128"/>
              </a:rPr>
              <a:t>-gateways-play-in-the-overall-</a:t>
            </a:r>
            <a:r>
              <a:rPr lang="en-US" sz="1167" dirty="0" err="1">
                <a:latin typeface="Meiryo" panose="020B0604030504040204" pitchFamily="34" charset="-128"/>
                <a:ea typeface="Meiryo" panose="020B0604030504040204" pitchFamily="34" charset="-128"/>
              </a:rPr>
              <a:t>iot</a:t>
            </a:r>
            <a:r>
              <a:rPr lang="en-US" sz="1167" dirty="0">
                <a:latin typeface="Meiryo" panose="020B0604030504040204" pitchFamily="34" charset="-128"/>
                <a:ea typeface="Meiryo" panose="020B0604030504040204" pitchFamily="34" charset="-128"/>
              </a:rPr>
              <a:t>-ecosystem/(参照日:2025/11/27) https://</a:t>
            </a:r>
            <a:r>
              <a:rPr lang="en-US" sz="1167" dirty="0" err="1">
                <a:latin typeface="Meiryo" panose="020B0604030504040204" pitchFamily="34" charset="-128"/>
                <a:ea typeface="Meiryo" panose="020B0604030504040204" pitchFamily="34" charset="-128"/>
              </a:rPr>
              <a:t>www.zipitwireless.com</a:t>
            </a:r>
            <a:r>
              <a:rPr lang="en-US" sz="1167" dirty="0">
                <a:latin typeface="Meiryo" panose="020B0604030504040204" pitchFamily="34" charset="-128"/>
                <a:ea typeface="Meiryo" panose="020B0604030504040204" pitchFamily="34" charset="-128"/>
              </a:rPr>
              <a:t>/blog/what-is-an-</a:t>
            </a:r>
            <a:r>
              <a:rPr lang="en-US" sz="1167" dirty="0" err="1">
                <a:latin typeface="Meiryo" panose="020B0604030504040204" pitchFamily="34" charset="-128"/>
                <a:ea typeface="Meiryo" panose="020B0604030504040204" pitchFamily="34" charset="-128"/>
              </a:rPr>
              <a:t>iot</a:t>
            </a:r>
            <a:r>
              <a:rPr lang="en-US" sz="1167" dirty="0">
                <a:latin typeface="Meiryo" panose="020B0604030504040204" pitchFamily="34" charset="-128"/>
                <a:ea typeface="Meiryo" panose="020B0604030504040204" pitchFamily="34" charset="-128"/>
              </a:rPr>
              <a:t>-gateway-and-how-does-it-work</a:t>
            </a:r>
          </a:p>
        </p:txBody>
      </p:sp>
      <p:sp>
        <p:nvSpPr>
          <p:cNvPr id="7" name="コンテンツ プレースホルダー 2">
            <a:extLst>
              <a:ext uri="{FF2B5EF4-FFF2-40B4-BE49-F238E27FC236}">
                <a16:creationId xmlns:a16="http://schemas.microsoft.com/office/drawing/2014/main" id="{ECACD715-0415-D2C2-A794-A7EEE5778407}"/>
              </a:ext>
            </a:extLst>
          </p:cNvPr>
          <p:cNvSpPr txBox="1">
            <a:spLocks/>
          </p:cNvSpPr>
          <p:nvPr/>
        </p:nvSpPr>
        <p:spPr>
          <a:xfrm>
            <a:off x="586393" y="4671545"/>
            <a:ext cx="7886700" cy="1570902"/>
          </a:xfrm>
          <a:prstGeom prst="rect">
            <a:avLst/>
          </a:prstGeom>
        </p:spPr>
        <p:txBody>
          <a:bodyPr vert="horz" lIns="76200" tIns="38100" rIns="76200" bIns="38100" rtlCol="0">
            <a:normAutofit fontScale="32500" lnSpcReduction="20000"/>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eiryo UI" panose="020B0604030504040204" pitchFamily="34" charset="-128"/>
                <a:ea typeface="Meiryo UI" panose="020B0604030504040204" pitchFamily="34" charset="-128"/>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eiryo UI" panose="020B0604030504040204" pitchFamily="34" charset="-128"/>
                <a:ea typeface="Meiryo UI" panose="020B0604030504040204" pitchFamily="34" charset="-128"/>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eiryo UI" panose="020B0604030504040204" pitchFamily="34" charset="-128"/>
                <a:ea typeface="Meiryo UI" panose="020B0604030504040204" pitchFamily="34" charset="-128"/>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eiryo UI" panose="020B0604030504040204" pitchFamily="34" charset="-128"/>
                <a:ea typeface="Meiryo UI" panose="020B0604030504040204" pitchFamily="34" charset="-128"/>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eiryo UI" panose="020B0604030504040204" pitchFamily="34" charset="-128"/>
                <a:ea typeface="Meiryo UI" panose="020B0604030504040204" pitchFamily="34" charset="-128"/>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0" indent="0">
              <a:buNone/>
            </a:pPr>
            <a:r>
              <a:rPr lang="ja-JP" altLang="en-US" sz="6000">
                <a:latin typeface="Meiryo" panose="020B0604030504040204" pitchFamily="34" charset="-128"/>
                <a:ea typeface="Meiryo" panose="020B0604030504040204" pitchFamily="34" charset="-128"/>
              </a:rPr>
              <a:t>リソース制約によるセキュリティ課題</a:t>
            </a:r>
          </a:p>
          <a:p>
            <a:pPr>
              <a:buFont typeface="Arial" panose="020B0604020202020204" pitchFamily="34" charset="0"/>
              <a:buChar char="•"/>
            </a:pPr>
            <a:r>
              <a:rPr lang="en-US" sz="6000" dirty="0">
                <a:latin typeface="Meiryo" panose="020B0604030504040204" pitchFamily="34" charset="-128"/>
                <a:ea typeface="Meiryo" panose="020B0604030504040204" pitchFamily="34" charset="-128"/>
              </a:rPr>
              <a:t>IoT</a:t>
            </a:r>
            <a:r>
              <a:rPr lang="ja-JP" altLang="en-US" sz="6000">
                <a:latin typeface="Meiryo" panose="020B0604030504040204" pitchFamily="34" charset="-128"/>
                <a:ea typeface="Meiryo" panose="020B0604030504040204" pitchFamily="34" charset="-128"/>
              </a:rPr>
              <a:t>ゲートウェイは </a:t>
            </a:r>
            <a:r>
              <a:rPr lang="en-US" sz="6000" dirty="0">
                <a:latin typeface="Meiryo" panose="020B0604030504040204" pitchFamily="34" charset="-128"/>
                <a:ea typeface="Meiryo" panose="020B0604030504040204" pitchFamily="34" charset="-128"/>
              </a:rPr>
              <a:t>CPU・RAM・</a:t>
            </a:r>
            <a:r>
              <a:rPr lang="ja-JP" altLang="en-US" sz="6000">
                <a:latin typeface="Meiryo" panose="020B0604030504040204" pitchFamily="34" charset="-128"/>
                <a:ea typeface="Meiryo" panose="020B0604030504040204" pitchFamily="34" charset="-128"/>
              </a:rPr>
              <a:t>電力が非常に限られている</a:t>
            </a:r>
          </a:p>
          <a:p>
            <a:pPr>
              <a:buFont typeface="Arial" panose="020B0604020202020204" pitchFamily="34" charset="0"/>
              <a:buChar char="•"/>
            </a:pPr>
            <a:r>
              <a:rPr lang="ja-JP" altLang="en-US" sz="6000">
                <a:latin typeface="Meiryo" panose="020B0604030504040204" pitchFamily="34" charset="-128"/>
                <a:ea typeface="Meiryo" panose="020B0604030504040204" pitchFamily="34" charset="-128"/>
              </a:rPr>
              <a:t>一般的なセキュリティソフトは 重くて導入が困難</a:t>
            </a:r>
          </a:p>
          <a:p>
            <a:pPr>
              <a:buFont typeface="Arial" panose="020B0604020202020204" pitchFamily="34" charset="0"/>
              <a:buChar char="•"/>
            </a:pPr>
            <a:r>
              <a:rPr lang="ja-JP" altLang="en-US" sz="6000">
                <a:latin typeface="Meiryo" panose="020B0604030504040204" pitchFamily="34" charset="-128"/>
                <a:ea typeface="Meiryo" panose="020B0604030504040204" pitchFamily="34" charset="-128"/>
              </a:rPr>
              <a:t>この制約が 重大なセキュリティ上の弱点 となる</a:t>
            </a:r>
          </a:p>
          <a:p>
            <a:endParaRPr kumimoji="1" lang="ja-JP" altLang="en-US" sz="2800"/>
          </a:p>
        </p:txBody>
      </p:sp>
      <p:sp>
        <p:nvSpPr>
          <p:cNvPr id="8" name="Shape 0">
            <a:extLst>
              <a:ext uri="{FF2B5EF4-FFF2-40B4-BE49-F238E27FC236}">
                <a16:creationId xmlns:a16="http://schemas.microsoft.com/office/drawing/2014/main" id="{89E5DD1C-6FB2-68D0-A980-78887AA9CFAD}"/>
              </a:ext>
            </a:extLst>
          </p:cNvPr>
          <p:cNvSpPr/>
          <p:nvPr/>
        </p:nvSpPr>
        <p:spPr>
          <a:xfrm>
            <a:off x="0" y="0"/>
            <a:ext cx="9144000" cy="68580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457200" indent="-457200">
              <a:buFont typeface="Wingdings" pitchFamily="2" charset="2"/>
              <a:buChar char="Ø"/>
            </a:pPr>
            <a:r>
              <a:rPr lang="en-US" sz="3200" b="1" dirty="0">
                <a:latin typeface="Meiryo" panose="020B0604030504040204" pitchFamily="34" charset="-128"/>
                <a:ea typeface="Meiryo" panose="020B0604030504040204" pitchFamily="34" charset="-128"/>
              </a:rPr>
              <a:t>IoT</a:t>
            </a:r>
            <a:r>
              <a:rPr lang="ja-JP" altLang="en-US" sz="3200" b="1">
                <a:latin typeface="Meiryo" panose="020B0604030504040204" pitchFamily="34" charset="-128"/>
                <a:ea typeface="Meiryo" panose="020B0604030504040204" pitchFamily="34" charset="-128"/>
              </a:rPr>
              <a:t>ゲートウェイの役割と動作</a:t>
            </a:r>
            <a:endParaRPr lang="en-JP" sz="3200" b="1" dirty="0">
              <a:latin typeface="Meiryo" panose="020B0604030504040204" pitchFamily="34" charset="-128"/>
              <a:ea typeface="Meiryo" panose="020B0604030504040204" pitchFamily="34" charset="-128"/>
            </a:endParaRPr>
          </a:p>
          <a:p>
            <a:endParaRPr lang="en-JP" sz="3200" dirty="0"/>
          </a:p>
        </p:txBody>
      </p:sp>
      <p:pic>
        <p:nvPicPr>
          <p:cNvPr id="9" name="Picture 8">
            <a:extLst>
              <a:ext uri="{FF2B5EF4-FFF2-40B4-BE49-F238E27FC236}">
                <a16:creationId xmlns:a16="http://schemas.microsoft.com/office/drawing/2014/main" id="{5E930B58-5A79-C63E-9D43-D6413ED16EC2}"/>
              </a:ext>
            </a:extLst>
          </p:cNvPr>
          <p:cNvPicPr>
            <a:picLocks noChangeAspect="1"/>
          </p:cNvPicPr>
          <p:nvPr/>
        </p:nvPicPr>
        <p:blipFill>
          <a:blip r:embed="rId3"/>
          <a:stretch>
            <a:fillRect/>
          </a:stretch>
        </p:blipFill>
        <p:spPr>
          <a:xfrm>
            <a:off x="630015" y="1587500"/>
            <a:ext cx="7696400" cy="2931939"/>
          </a:xfrm>
          <a:prstGeom prst="rect">
            <a:avLst/>
          </a:prstGeom>
        </p:spPr>
      </p:pic>
    </p:spTree>
    <p:extLst>
      <p:ext uri="{BB962C8B-B14F-4D97-AF65-F5344CB8AC3E}">
        <p14:creationId xmlns:p14="http://schemas.microsoft.com/office/powerpoint/2010/main" val="2780370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20">
            <a:extLst>
              <a:ext uri="{FF2B5EF4-FFF2-40B4-BE49-F238E27FC236}">
                <a16:creationId xmlns:a16="http://schemas.microsoft.com/office/drawing/2014/main" id="{58800FA3-8BA7-B920-DD70-90A0F4C2D2B1}"/>
              </a:ext>
            </a:extLst>
          </p:cNvPr>
          <p:cNvSpPr>
            <a:spLocks noGrp="1"/>
          </p:cNvSpPr>
          <p:nvPr>
            <p:ph type="sldNum" sz="quarter" idx="12"/>
          </p:nvPr>
        </p:nvSpPr>
        <p:spPr/>
        <p:txBody>
          <a:bodyPr/>
          <a:lstStyle/>
          <a:p>
            <a:fld id="{BB44241B-2579-694C-B40C-A1E3D5F0E4EC}" type="slidenum">
              <a:rPr lang="en-JP" smtClean="0"/>
              <a:t>14</a:t>
            </a:fld>
            <a:endParaRPr lang="en-JP"/>
          </a:p>
        </p:txBody>
      </p:sp>
      <p:sp>
        <p:nvSpPr>
          <p:cNvPr id="2" name="Shape 0">
            <a:extLst>
              <a:ext uri="{FF2B5EF4-FFF2-40B4-BE49-F238E27FC236}">
                <a16:creationId xmlns:a16="http://schemas.microsoft.com/office/drawing/2014/main" id="{D07E90C5-08C4-DE9B-C6D3-C6703A2C7962}"/>
              </a:ext>
            </a:extLst>
          </p:cNvPr>
          <p:cNvSpPr/>
          <p:nvPr/>
        </p:nvSpPr>
        <p:spPr>
          <a:xfrm>
            <a:off x="0" y="0"/>
            <a:ext cx="9144000" cy="703227"/>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r>
              <a:rPr lang="en-US" altLang="ja-JP" sz="3200" b="1" dirty="0">
                <a:latin typeface="Meiryo" panose="020B0604030504040204" pitchFamily="34" charset="-128"/>
                <a:ea typeface="Meiryo" panose="020B0604030504040204" pitchFamily="34" charset="-128"/>
                <a:cs typeface="Times New Roman" panose="02020603050405020304" pitchFamily="18" charset="0"/>
              </a:rPr>
              <a:t>CoAP (</a:t>
            </a:r>
            <a:r>
              <a:rPr lang="en-US" sz="3200" b="1" dirty="0">
                <a:latin typeface="Meiryo" panose="020B0604030504040204" pitchFamily="34" charset="-128"/>
                <a:ea typeface="Meiryo" panose="020B0604030504040204" pitchFamily="34" charset="-128"/>
                <a:cs typeface="Times New Roman" panose="02020603050405020304" pitchFamily="18" charset="0"/>
              </a:rPr>
              <a:t> Constrained Application Protocol)</a:t>
            </a:r>
            <a:endParaRPr lang="en-JP" sz="3200" b="1" dirty="0">
              <a:latin typeface="Meiryo" panose="020B0604030504040204" pitchFamily="34" charset="-128"/>
              <a:ea typeface="Meiryo" panose="020B0604030504040204" pitchFamily="34" charset="-128"/>
            </a:endParaRPr>
          </a:p>
        </p:txBody>
      </p:sp>
      <p:sp>
        <p:nvSpPr>
          <p:cNvPr id="5" name="Rounded Rectangle 4">
            <a:extLst>
              <a:ext uri="{FF2B5EF4-FFF2-40B4-BE49-F238E27FC236}">
                <a16:creationId xmlns:a16="http://schemas.microsoft.com/office/drawing/2014/main" id="{3F98B37C-93AB-A437-84CF-87FD45729424}"/>
              </a:ext>
            </a:extLst>
          </p:cNvPr>
          <p:cNvSpPr/>
          <p:nvPr/>
        </p:nvSpPr>
        <p:spPr>
          <a:xfrm>
            <a:off x="114212" y="1329894"/>
            <a:ext cx="1538590" cy="790833"/>
          </a:xfrm>
          <a:prstGeom prst="roundRect">
            <a:avLst/>
          </a:prstGeom>
          <a:ln w="254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mn-MN" sz="2000" dirty="0"/>
              <a:t>I</a:t>
            </a:r>
            <a:r>
              <a:rPr lang="en-US" sz="2000" dirty="0" err="1"/>
              <a:t>oT</a:t>
            </a:r>
            <a:r>
              <a:rPr lang="en-US" sz="2000" dirty="0"/>
              <a:t> </a:t>
            </a:r>
            <a:r>
              <a:rPr lang="en-US" sz="2000" dirty="0" err="1"/>
              <a:t>Devicel</a:t>
            </a:r>
            <a:endParaRPr lang="en-US" sz="2000" dirty="0"/>
          </a:p>
          <a:p>
            <a:pPr algn="ctr"/>
            <a:r>
              <a:rPr lang="en-US" sz="2000" dirty="0"/>
              <a:t>(Client)</a:t>
            </a:r>
            <a:endParaRPr lang="en-JP" sz="2000" dirty="0"/>
          </a:p>
        </p:txBody>
      </p:sp>
      <p:sp>
        <p:nvSpPr>
          <p:cNvPr id="7" name="Rounded Rectangle 6">
            <a:extLst>
              <a:ext uri="{FF2B5EF4-FFF2-40B4-BE49-F238E27FC236}">
                <a16:creationId xmlns:a16="http://schemas.microsoft.com/office/drawing/2014/main" id="{FD2B9C07-774F-55E1-122A-585B68AD8468}"/>
              </a:ext>
            </a:extLst>
          </p:cNvPr>
          <p:cNvSpPr/>
          <p:nvPr/>
        </p:nvSpPr>
        <p:spPr>
          <a:xfrm>
            <a:off x="2629533" y="1339496"/>
            <a:ext cx="1538590" cy="790833"/>
          </a:xfrm>
          <a:prstGeom prst="roundRect">
            <a:avLst/>
          </a:prstGeom>
          <a:ln w="254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JP" sz="2000" dirty="0"/>
              <a:t>Server </a:t>
            </a:r>
          </a:p>
          <a:p>
            <a:pPr algn="ctr"/>
            <a:r>
              <a:rPr lang="en-JP" sz="2000" dirty="0"/>
              <a:t>(CoAP)</a:t>
            </a:r>
          </a:p>
        </p:txBody>
      </p:sp>
      <p:cxnSp>
        <p:nvCxnSpPr>
          <p:cNvPr id="9" name="Straight Connector 8">
            <a:extLst>
              <a:ext uri="{FF2B5EF4-FFF2-40B4-BE49-F238E27FC236}">
                <a16:creationId xmlns:a16="http://schemas.microsoft.com/office/drawing/2014/main" id="{194623AB-34D4-0E71-299D-6B0D19F19426}"/>
              </a:ext>
            </a:extLst>
          </p:cNvPr>
          <p:cNvCxnSpPr>
            <a:cxnSpLocks/>
          </p:cNvCxnSpPr>
          <p:nvPr/>
        </p:nvCxnSpPr>
        <p:spPr>
          <a:xfrm flipH="1">
            <a:off x="886060" y="2110946"/>
            <a:ext cx="1" cy="263610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8611149-7B31-0067-888E-6C9F4995C726}"/>
              </a:ext>
            </a:extLst>
          </p:cNvPr>
          <p:cNvCxnSpPr>
            <a:cxnSpLocks/>
            <a:stCxn id="7" idx="2"/>
          </p:cNvCxnSpPr>
          <p:nvPr/>
        </p:nvCxnSpPr>
        <p:spPr>
          <a:xfrm>
            <a:off x="3398828" y="2130329"/>
            <a:ext cx="0" cy="26752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3E8BFD70-4629-F3DA-BE06-4F62E2DDC47E}"/>
              </a:ext>
            </a:extLst>
          </p:cNvPr>
          <p:cNvCxnSpPr>
            <a:cxnSpLocks/>
          </p:cNvCxnSpPr>
          <p:nvPr/>
        </p:nvCxnSpPr>
        <p:spPr>
          <a:xfrm>
            <a:off x="883507" y="2921340"/>
            <a:ext cx="2515321"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4C115DB-0D5D-33CE-1BCA-5885CB30A7DE}"/>
              </a:ext>
            </a:extLst>
          </p:cNvPr>
          <p:cNvCxnSpPr>
            <a:cxnSpLocks/>
          </p:cNvCxnSpPr>
          <p:nvPr/>
        </p:nvCxnSpPr>
        <p:spPr>
          <a:xfrm flipH="1">
            <a:off x="883507" y="3925957"/>
            <a:ext cx="2515321"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C4AB04C-F1D5-40BC-313F-FD1064CE9330}"/>
              </a:ext>
            </a:extLst>
          </p:cNvPr>
          <p:cNvSpPr txBox="1"/>
          <p:nvPr/>
        </p:nvSpPr>
        <p:spPr>
          <a:xfrm>
            <a:off x="928219" y="3021805"/>
            <a:ext cx="2515318" cy="369332"/>
          </a:xfrm>
          <a:prstGeom prst="rect">
            <a:avLst/>
          </a:prstGeom>
          <a:noFill/>
        </p:spPr>
        <p:txBody>
          <a:bodyPr wrap="square" rtlCol="0">
            <a:spAutoFit/>
          </a:bodyPr>
          <a:lstStyle/>
          <a:p>
            <a:r>
              <a:rPr lang="en-JP" dirty="0"/>
              <a:t>[1] CoAP Request (CON)</a:t>
            </a:r>
          </a:p>
        </p:txBody>
      </p:sp>
      <p:sp>
        <p:nvSpPr>
          <p:cNvPr id="15" name="TextBox 14">
            <a:extLst>
              <a:ext uri="{FF2B5EF4-FFF2-40B4-BE49-F238E27FC236}">
                <a16:creationId xmlns:a16="http://schemas.microsoft.com/office/drawing/2014/main" id="{6AB8CAA8-ED7D-7727-6D07-3562DC79F273}"/>
              </a:ext>
            </a:extLst>
          </p:cNvPr>
          <p:cNvSpPr txBox="1"/>
          <p:nvPr/>
        </p:nvSpPr>
        <p:spPr>
          <a:xfrm>
            <a:off x="914357" y="3982094"/>
            <a:ext cx="2782370" cy="369332"/>
          </a:xfrm>
          <a:prstGeom prst="rect">
            <a:avLst/>
          </a:prstGeom>
          <a:noFill/>
        </p:spPr>
        <p:txBody>
          <a:bodyPr wrap="square">
            <a:spAutoFit/>
          </a:bodyPr>
          <a:lstStyle/>
          <a:p>
            <a:r>
              <a:rPr lang="en-JP" dirty="0"/>
              <a:t>[2] CoAP Response ( 2.05)</a:t>
            </a:r>
          </a:p>
        </p:txBody>
      </p:sp>
      <p:sp>
        <p:nvSpPr>
          <p:cNvPr id="28" name="Shape 4">
            <a:extLst>
              <a:ext uri="{FF2B5EF4-FFF2-40B4-BE49-F238E27FC236}">
                <a16:creationId xmlns:a16="http://schemas.microsoft.com/office/drawing/2014/main" id="{5582BF86-ABBC-52C3-1C0D-DD14D35F3E62}"/>
              </a:ext>
            </a:extLst>
          </p:cNvPr>
          <p:cNvSpPr/>
          <p:nvPr/>
        </p:nvSpPr>
        <p:spPr>
          <a:xfrm>
            <a:off x="4438347" y="3315114"/>
            <a:ext cx="4640229" cy="384048"/>
          </a:xfrm>
          <a:prstGeom prst="rect">
            <a:avLst/>
          </a:prstGeom>
          <a:solidFill>
            <a:srgbClr val="2563A8"/>
          </a:solidFill>
          <a:ln w="12700">
            <a:solidFill>
              <a:srgbClr val="2563A8"/>
            </a:solidFill>
            <a:prstDash val="solid"/>
          </a:ln>
        </p:spPr>
        <p:txBody>
          <a:bodyPr/>
          <a:lstStyle/>
          <a:p>
            <a:r>
              <a:rPr lang="ja-JP" altLang="en-US" b="1">
                <a:solidFill>
                  <a:schemeClr val="bg1"/>
                </a:solidFill>
                <a:latin typeface="Meiryo" panose="020B0604030504040204" pitchFamily="34" charset="-128"/>
                <a:ea typeface="Meiryo" panose="020B0604030504040204" pitchFamily="34" charset="-128"/>
              </a:rPr>
              <a:t>なぜ</a:t>
            </a:r>
            <a:r>
              <a:rPr lang="en-US" b="1" dirty="0">
                <a:solidFill>
                  <a:schemeClr val="bg1"/>
                </a:solidFill>
                <a:latin typeface="Meiryo" panose="020B0604030504040204" pitchFamily="34" charset="-128"/>
                <a:ea typeface="Meiryo" panose="020B0604030504040204" pitchFamily="34" charset="-128"/>
              </a:rPr>
              <a:t>IoT</a:t>
            </a:r>
            <a:r>
              <a:rPr lang="ja-JP" altLang="en-US" b="1">
                <a:solidFill>
                  <a:schemeClr val="bg1"/>
                </a:solidFill>
                <a:latin typeface="Meiryo" panose="020B0604030504040204" pitchFamily="34" charset="-128"/>
                <a:ea typeface="Meiryo" panose="020B0604030504040204" pitchFamily="34" charset="-128"/>
              </a:rPr>
              <a:t>で使うのか</a:t>
            </a:r>
          </a:p>
          <a:p>
            <a:endParaRPr lang="en-JP" dirty="0">
              <a:solidFill>
                <a:schemeClr val="bg1"/>
              </a:solidFill>
              <a:latin typeface="Meiryo" panose="020B0604030504040204" pitchFamily="34" charset="-128"/>
              <a:ea typeface="Meiryo" panose="020B0604030504040204" pitchFamily="34" charset="-128"/>
            </a:endParaRPr>
          </a:p>
        </p:txBody>
      </p:sp>
      <p:sp>
        <p:nvSpPr>
          <p:cNvPr id="29" name="Shape 3">
            <a:extLst>
              <a:ext uri="{FF2B5EF4-FFF2-40B4-BE49-F238E27FC236}">
                <a16:creationId xmlns:a16="http://schemas.microsoft.com/office/drawing/2014/main" id="{46DF8458-95BB-AB35-12AE-02A20736F104}"/>
              </a:ext>
            </a:extLst>
          </p:cNvPr>
          <p:cNvSpPr/>
          <p:nvPr/>
        </p:nvSpPr>
        <p:spPr>
          <a:xfrm>
            <a:off x="4421694" y="3751534"/>
            <a:ext cx="4700807" cy="1452934"/>
          </a:xfrm>
          <a:prstGeom prst="rect">
            <a:avLst/>
          </a:prstGeom>
          <a:solidFill>
            <a:srgbClr val="FFFFFF"/>
          </a:solidFill>
          <a:ln w="12700">
            <a:solidFill>
              <a:srgbClr val="E8EDF3"/>
            </a:solidFill>
            <a:prstDash val="solid"/>
          </a:ln>
          <a:effectLst>
            <a:outerShdw blurRad="101600" dist="38100" dir="8100000" algn="bl" rotWithShape="0">
              <a:srgbClr val="000000">
                <a:alpha val="12000"/>
              </a:srgbClr>
            </a:outerShdw>
          </a:effectLst>
        </p:spPr>
        <p:txBody>
          <a:bodyPr/>
          <a:lstStyle/>
          <a:p>
            <a:r>
              <a:rPr lang="en-US" sz="2000" dirty="0">
                <a:latin typeface="Meiryo" panose="020B0604030504040204" pitchFamily="34" charset="-128"/>
                <a:ea typeface="Meiryo" panose="020B0604030504040204" pitchFamily="34" charset="-128"/>
              </a:rPr>
              <a:t>IoT</a:t>
            </a:r>
            <a:r>
              <a:rPr lang="ja-JP" altLang="en-US" sz="2000">
                <a:latin typeface="Meiryo" panose="020B0604030504040204" pitchFamily="34" charset="-128"/>
                <a:ea typeface="Meiryo" panose="020B0604030504040204" pitchFamily="34" charset="-128"/>
              </a:rPr>
              <a:t>デバイスはリソースが限られているため、軽量で省電力な通信が求められます。そのため、</a:t>
            </a:r>
            <a:r>
              <a:rPr lang="en-US" sz="2000" dirty="0">
                <a:latin typeface="Meiryo" panose="020B0604030504040204" pitchFamily="34" charset="-128"/>
                <a:ea typeface="Meiryo" panose="020B0604030504040204" pitchFamily="34" charset="-128"/>
              </a:rPr>
              <a:t>TCP</a:t>
            </a:r>
            <a:r>
              <a:rPr lang="ja-JP" altLang="en-US" sz="2000">
                <a:latin typeface="Meiryo" panose="020B0604030504040204" pitchFamily="34" charset="-128"/>
                <a:ea typeface="Meiryo" panose="020B0604030504040204" pitchFamily="34" charset="-128"/>
              </a:rPr>
              <a:t>ではなく</a:t>
            </a:r>
            <a:r>
              <a:rPr lang="en-US" sz="2000" dirty="0">
                <a:latin typeface="Meiryo" panose="020B0604030504040204" pitchFamily="34" charset="-128"/>
                <a:ea typeface="Meiryo" panose="020B0604030504040204" pitchFamily="34" charset="-128"/>
              </a:rPr>
              <a:t>UDP</a:t>
            </a:r>
            <a:r>
              <a:rPr lang="ja-JP" altLang="en-US" sz="2000">
                <a:latin typeface="Meiryo" panose="020B0604030504040204" pitchFamily="34" charset="-128"/>
                <a:ea typeface="Meiryo" panose="020B0604030504040204" pitchFamily="34" charset="-128"/>
              </a:rPr>
              <a:t>を利用する</a:t>
            </a:r>
            <a:r>
              <a:rPr lang="en-US" sz="2000" dirty="0">
                <a:latin typeface="Meiryo" panose="020B0604030504040204" pitchFamily="34" charset="-128"/>
                <a:ea typeface="Meiryo" panose="020B0604030504040204" pitchFamily="34" charset="-128"/>
              </a:rPr>
              <a:t>CoAP</a:t>
            </a:r>
            <a:r>
              <a:rPr lang="ja-JP" altLang="en-US" sz="2000">
                <a:latin typeface="Meiryo" panose="020B0604030504040204" pitchFamily="34" charset="-128"/>
                <a:ea typeface="Meiryo" panose="020B0604030504040204" pitchFamily="34" charset="-128"/>
              </a:rPr>
              <a:t>が適している</a:t>
            </a:r>
            <a:r>
              <a:rPr lang="en-US" altLang="ja-JP" sz="2000" dirty="0">
                <a:latin typeface="Meiryo" panose="020B0604030504040204" pitchFamily="34" charset="-128"/>
                <a:ea typeface="Meiryo" panose="020B0604030504040204" pitchFamily="34" charset="-128"/>
              </a:rPr>
              <a:t>.</a:t>
            </a:r>
            <a:endParaRPr lang="ja-JP" altLang="en-US" sz="2000">
              <a:latin typeface="Meiryo" panose="020B0604030504040204" pitchFamily="34" charset="-128"/>
              <a:ea typeface="Meiryo" panose="020B0604030504040204" pitchFamily="34" charset="-128"/>
            </a:endParaRPr>
          </a:p>
          <a:p>
            <a:endParaRPr lang="en-JP" sz="2000" dirty="0">
              <a:latin typeface="Meiryo" panose="020B0604030504040204" pitchFamily="34" charset="-128"/>
              <a:ea typeface="Meiryo" panose="020B0604030504040204" pitchFamily="34" charset="-128"/>
            </a:endParaRPr>
          </a:p>
        </p:txBody>
      </p:sp>
      <p:sp>
        <p:nvSpPr>
          <p:cNvPr id="30" name="Shape 11">
            <a:extLst>
              <a:ext uri="{FF2B5EF4-FFF2-40B4-BE49-F238E27FC236}">
                <a16:creationId xmlns:a16="http://schemas.microsoft.com/office/drawing/2014/main" id="{F3A80D79-E0C4-05A4-471F-7E4D7DB9157E}"/>
              </a:ext>
            </a:extLst>
          </p:cNvPr>
          <p:cNvSpPr/>
          <p:nvPr/>
        </p:nvSpPr>
        <p:spPr>
          <a:xfrm>
            <a:off x="4421690" y="1260901"/>
            <a:ext cx="4656482" cy="530059"/>
          </a:xfrm>
          <a:prstGeom prst="rect">
            <a:avLst/>
          </a:prstGeom>
          <a:solidFill>
            <a:srgbClr val="0D9488"/>
          </a:solidFill>
          <a:ln w="12700">
            <a:solidFill>
              <a:srgbClr val="0D9488"/>
            </a:solidFill>
            <a:prstDash val="solid"/>
          </a:ln>
        </p:spPr>
        <p:txBody>
          <a:bodyPr/>
          <a:lstStyle/>
          <a:p>
            <a:r>
              <a:rPr lang="en-US" sz="2000" b="1" dirty="0">
                <a:solidFill>
                  <a:schemeClr val="bg1"/>
                </a:solidFill>
                <a:latin typeface="Meiryo" panose="020B0604030504040204" pitchFamily="34" charset="-128"/>
                <a:ea typeface="Meiryo" panose="020B0604030504040204" pitchFamily="34" charset="-128"/>
              </a:rPr>
              <a:t>CoAP</a:t>
            </a:r>
            <a:r>
              <a:rPr lang="ja-JP" altLang="en-US" sz="2000" b="1">
                <a:solidFill>
                  <a:schemeClr val="bg1"/>
                </a:solidFill>
                <a:latin typeface="Meiryo" panose="020B0604030504040204" pitchFamily="34" charset="-128"/>
                <a:ea typeface="Meiryo" panose="020B0604030504040204" pitchFamily="34" charset="-128"/>
              </a:rPr>
              <a:t>とは</a:t>
            </a:r>
          </a:p>
        </p:txBody>
      </p:sp>
      <p:sp>
        <p:nvSpPr>
          <p:cNvPr id="31" name="Shape 3">
            <a:extLst>
              <a:ext uri="{FF2B5EF4-FFF2-40B4-BE49-F238E27FC236}">
                <a16:creationId xmlns:a16="http://schemas.microsoft.com/office/drawing/2014/main" id="{86154A24-C682-FD5D-E3DB-33B859C67735}"/>
              </a:ext>
            </a:extLst>
          </p:cNvPr>
          <p:cNvSpPr/>
          <p:nvPr/>
        </p:nvSpPr>
        <p:spPr>
          <a:xfrm>
            <a:off x="4421694" y="1849608"/>
            <a:ext cx="4656478" cy="1135000"/>
          </a:xfrm>
          <a:prstGeom prst="rect">
            <a:avLst/>
          </a:prstGeom>
          <a:solidFill>
            <a:srgbClr val="FFFFFF"/>
          </a:solidFill>
          <a:ln w="12700">
            <a:solidFill>
              <a:srgbClr val="E8EDF3"/>
            </a:solidFill>
            <a:prstDash val="solid"/>
          </a:ln>
          <a:effectLst>
            <a:outerShdw blurRad="101600" dist="38100" dir="8100000" algn="bl" rotWithShape="0">
              <a:srgbClr val="000000">
                <a:alpha val="12000"/>
              </a:srgbClr>
            </a:outerShdw>
          </a:effectLst>
        </p:spPr>
        <p:txBody>
          <a:bodyPr/>
          <a:lstStyle/>
          <a:p>
            <a:r>
              <a:rPr lang="en-US" sz="2000" dirty="0">
                <a:latin typeface="Meiryo" panose="020B0604030504040204" pitchFamily="34" charset="-128"/>
                <a:ea typeface="Meiryo" panose="020B0604030504040204" pitchFamily="34" charset="-128"/>
              </a:rPr>
              <a:t>CoAP</a:t>
            </a:r>
            <a:r>
              <a:rPr lang="ja-JP" altLang="en-US" sz="2000">
                <a:latin typeface="Meiryo" panose="020B0604030504040204" pitchFamily="34" charset="-128"/>
                <a:ea typeface="Meiryo" panose="020B0604030504040204" pitchFamily="34" charset="-128"/>
              </a:rPr>
              <a:t>とは、主に</a:t>
            </a:r>
            <a:r>
              <a:rPr lang="en-US" sz="2000" dirty="0">
                <a:latin typeface="Meiryo" panose="020B0604030504040204" pitchFamily="34" charset="-128"/>
                <a:ea typeface="Meiryo" panose="020B0604030504040204" pitchFamily="34" charset="-128"/>
              </a:rPr>
              <a:t>IoT</a:t>
            </a:r>
            <a:r>
              <a:rPr lang="ja-JP" altLang="en-US" sz="2000">
                <a:latin typeface="Meiryo" panose="020B0604030504040204" pitchFamily="34" charset="-128"/>
                <a:ea typeface="Meiryo" panose="020B0604030504040204" pitchFamily="34" charset="-128"/>
              </a:rPr>
              <a:t>環境で使用される軽量な通信プロトコルであり、</a:t>
            </a:r>
            <a:r>
              <a:rPr lang="en-US" sz="2000" dirty="0">
                <a:latin typeface="Meiryo" panose="020B0604030504040204" pitchFamily="34" charset="-128"/>
                <a:ea typeface="Meiryo" panose="020B0604030504040204" pitchFamily="34" charset="-128"/>
              </a:rPr>
              <a:t>UDP</a:t>
            </a:r>
            <a:r>
              <a:rPr lang="ja-JP" altLang="en-US" sz="2000">
                <a:latin typeface="Meiryo" panose="020B0604030504040204" pitchFamily="34" charset="-128"/>
                <a:ea typeface="Meiryo" panose="020B0604030504040204" pitchFamily="34" charset="-128"/>
              </a:rPr>
              <a:t>上で動作</a:t>
            </a:r>
            <a:r>
              <a:rPr lang="en-US"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sp>
        <p:nvSpPr>
          <p:cNvPr id="39" name="Shape 18">
            <a:extLst>
              <a:ext uri="{FF2B5EF4-FFF2-40B4-BE49-F238E27FC236}">
                <a16:creationId xmlns:a16="http://schemas.microsoft.com/office/drawing/2014/main" id="{379E52AC-35D6-1F16-D4CC-47DF30A51532}"/>
              </a:ext>
            </a:extLst>
          </p:cNvPr>
          <p:cNvSpPr/>
          <p:nvPr/>
        </p:nvSpPr>
        <p:spPr>
          <a:xfrm>
            <a:off x="287148" y="4909073"/>
            <a:ext cx="3880971" cy="384048"/>
          </a:xfrm>
          <a:prstGeom prst="rect">
            <a:avLst/>
          </a:prstGeom>
          <a:solidFill>
            <a:srgbClr val="1E3A5F"/>
          </a:solidFill>
          <a:ln w="12700">
            <a:solidFill>
              <a:srgbClr val="1E3A5F"/>
            </a:solidFill>
            <a:prstDash val="solid"/>
          </a:ln>
        </p:spPr>
        <p:txBody>
          <a:bodyPr/>
          <a:lstStyle/>
          <a:p>
            <a:r>
              <a:rPr lang="en-US" b="1" dirty="0">
                <a:solidFill>
                  <a:schemeClr val="bg1"/>
                </a:solidFill>
                <a:latin typeface="Meiryo" panose="020B0604030504040204" pitchFamily="34" charset="-128"/>
                <a:ea typeface="Meiryo" panose="020B0604030504040204" pitchFamily="34" charset="-128"/>
              </a:rPr>
              <a:t>HTTP</a:t>
            </a:r>
            <a:r>
              <a:rPr lang="ja-JP" altLang="en-US" b="1">
                <a:solidFill>
                  <a:schemeClr val="bg1"/>
                </a:solidFill>
                <a:latin typeface="Meiryo" panose="020B0604030504040204" pitchFamily="34" charset="-128"/>
                <a:ea typeface="Meiryo" panose="020B0604030504040204" pitchFamily="34" charset="-128"/>
              </a:rPr>
              <a:t>との比較</a:t>
            </a:r>
            <a:endParaRPr lang="en-JP" b="1" dirty="0">
              <a:solidFill>
                <a:schemeClr val="bg1"/>
              </a:solidFill>
              <a:latin typeface="Meiryo" panose="020B0604030504040204" pitchFamily="34" charset="-128"/>
              <a:ea typeface="Meiryo" panose="020B0604030504040204" pitchFamily="34" charset="-128"/>
            </a:endParaRPr>
          </a:p>
        </p:txBody>
      </p:sp>
      <p:sp>
        <p:nvSpPr>
          <p:cNvPr id="41" name="Shape 3">
            <a:extLst>
              <a:ext uri="{FF2B5EF4-FFF2-40B4-BE49-F238E27FC236}">
                <a16:creationId xmlns:a16="http://schemas.microsoft.com/office/drawing/2014/main" id="{68B2AAD5-A348-1F74-2F4E-6042D85C98D1}"/>
              </a:ext>
            </a:extLst>
          </p:cNvPr>
          <p:cNvSpPr/>
          <p:nvPr/>
        </p:nvSpPr>
        <p:spPr>
          <a:xfrm>
            <a:off x="287148" y="5327196"/>
            <a:ext cx="6312777" cy="1239596"/>
          </a:xfrm>
          <a:prstGeom prst="rect">
            <a:avLst/>
          </a:prstGeom>
          <a:solidFill>
            <a:srgbClr val="FFFFFF"/>
          </a:solidFill>
          <a:ln w="12700">
            <a:solidFill>
              <a:srgbClr val="E8EDF3"/>
            </a:solidFill>
            <a:prstDash val="solid"/>
          </a:ln>
          <a:effectLst>
            <a:outerShdw blurRad="101600" dist="38100" dir="8100000" algn="bl" rotWithShape="0">
              <a:srgbClr val="000000">
                <a:alpha val="12000"/>
              </a:srgbClr>
            </a:outerShdw>
          </a:effectLst>
        </p:spPr>
        <p:txBody>
          <a:bodyPr/>
          <a:lstStyle/>
          <a:p>
            <a:r>
              <a:rPr lang="en-US" sz="2000" dirty="0">
                <a:latin typeface="Meiryo" panose="020B0604030504040204" pitchFamily="34" charset="-128"/>
                <a:ea typeface="Meiryo" panose="020B0604030504040204" pitchFamily="34" charset="-128"/>
              </a:rPr>
              <a:t>HTTP</a:t>
            </a:r>
            <a:r>
              <a:rPr lang="ja-JP" altLang="en-US" sz="2000">
                <a:latin typeface="Meiryo" panose="020B0604030504040204" pitchFamily="34" charset="-128"/>
                <a:ea typeface="Meiryo" panose="020B0604030504040204" pitchFamily="34" charset="-128"/>
              </a:rPr>
              <a:t>と比較すると、</a:t>
            </a:r>
            <a:r>
              <a:rPr lang="en-US" sz="2000" dirty="0">
                <a:latin typeface="Meiryo" panose="020B0604030504040204" pitchFamily="34" charset="-128"/>
                <a:ea typeface="Meiryo" panose="020B0604030504040204" pitchFamily="34" charset="-128"/>
              </a:rPr>
              <a:t>CoAP</a:t>
            </a:r>
            <a:r>
              <a:rPr lang="ja-JP" altLang="en-US" sz="2000">
                <a:latin typeface="Meiryo" panose="020B0604030504040204" pitchFamily="34" charset="-128"/>
                <a:ea typeface="Meiryo" panose="020B0604030504040204" pitchFamily="34" charset="-128"/>
              </a:rPr>
              <a:t>は</a:t>
            </a:r>
            <a:r>
              <a:rPr lang="en-US" altLang="ja-JP" sz="2000" dirty="0">
                <a:latin typeface="Meiryo" panose="020B0604030504040204" pitchFamily="34" charset="-128"/>
                <a:ea typeface="Meiryo" panose="020B0604030504040204" pitchFamily="34" charset="-128"/>
              </a:rPr>
              <a:t>overhead</a:t>
            </a:r>
            <a:r>
              <a:rPr lang="ja-JP" altLang="en-US" sz="2000">
                <a:latin typeface="Meiryo" panose="020B0604030504040204" pitchFamily="34" charset="-128"/>
                <a:ea typeface="Meiryo" panose="020B0604030504040204" pitchFamily="34" charset="-128"/>
              </a:rPr>
              <a:t>が小さく、通信効率が高いため、低消費電力が求められる</a:t>
            </a:r>
            <a:r>
              <a:rPr lang="en-US" sz="2000" dirty="0">
                <a:latin typeface="Meiryo" panose="020B0604030504040204" pitchFamily="34" charset="-128"/>
                <a:ea typeface="Meiryo" panose="020B0604030504040204" pitchFamily="34" charset="-128"/>
              </a:rPr>
              <a:t>IoT</a:t>
            </a:r>
            <a:r>
              <a:rPr lang="ja-JP" altLang="en-US" sz="2000">
                <a:latin typeface="Meiryo" panose="020B0604030504040204" pitchFamily="34" charset="-128"/>
                <a:ea typeface="Meiryo" panose="020B0604030504040204" pitchFamily="34" charset="-128"/>
              </a:rPr>
              <a:t>環境に適しています</a:t>
            </a:r>
            <a:r>
              <a:rPr lang="en-US"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156077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F169270B-E4FD-812E-C3B6-EAAA66CCDA81}"/>
              </a:ext>
            </a:extLst>
          </p:cNvPr>
          <p:cNvSpPr>
            <a:spLocks noGrp="1"/>
          </p:cNvSpPr>
          <p:nvPr>
            <p:ph type="sldNum" sz="quarter" idx="12"/>
          </p:nvPr>
        </p:nvSpPr>
        <p:spPr/>
        <p:txBody>
          <a:bodyPr/>
          <a:lstStyle/>
          <a:p>
            <a:fld id="{BB44241B-2579-694C-B40C-A1E3D5F0E4EC}" type="slidenum">
              <a:rPr lang="en-JP" smtClean="0"/>
              <a:t>15</a:t>
            </a:fld>
            <a:endParaRPr lang="en-JP"/>
          </a:p>
        </p:txBody>
      </p:sp>
      <p:sp>
        <p:nvSpPr>
          <p:cNvPr id="2" name="Shape 0">
            <a:extLst>
              <a:ext uri="{FF2B5EF4-FFF2-40B4-BE49-F238E27FC236}">
                <a16:creationId xmlns:a16="http://schemas.microsoft.com/office/drawing/2014/main" id="{143913EF-F896-AE4E-F43E-365049FE2DEE}"/>
              </a:ext>
            </a:extLst>
          </p:cNvPr>
          <p:cNvSpPr/>
          <p:nvPr/>
        </p:nvSpPr>
        <p:spPr>
          <a:xfrm>
            <a:off x="0" y="10277"/>
            <a:ext cx="9144000" cy="703227"/>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r>
              <a:rPr lang="en-JP" sz="2800" b="1" dirty="0">
                <a:latin typeface="Meiryo" panose="020B0604030504040204" pitchFamily="34" charset="-128"/>
                <a:ea typeface="Meiryo" panose="020B0604030504040204" pitchFamily="34" charset="-128"/>
                <a:cs typeface="Times New Roman" panose="02020603050405020304" pitchFamily="18" charset="0"/>
              </a:rPr>
              <a:t>DTLS (Datagram Transport Layer Security</a:t>
            </a:r>
            <a:r>
              <a:rPr lang="en-US" sz="2800" b="1" dirty="0">
                <a:latin typeface="Meiryo" panose="020B0604030504040204" pitchFamily="34" charset="-128"/>
                <a:ea typeface="Meiryo" panose="020B0604030504040204" pitchFamily="34" charset="-128"/>
                <a:cs typeface="Times New Roman" panose="02020603050405020304" pitchFamily="18" charset="0"/>
              </a:rPr>
              <a:t>）</a:t>
            </a:r>
            <a:endParaRPr lang="en-JP" sz="2800" b="1" dirty="0">
              <a:latin typeface="Meiryo" panose="020B0604030504040204" pitchFamily="34" charset="-128"/>
              <a:ea typeface="Meiryo" panose="020B0604030504040204" pitchFamily="34" charset="-128"/>
            </a:endParaRPr>
          </a:p>
        </p:txBody>
      </p:sp>
      <p:sp>
        <p:nvSpPr>
          <p:cNvPr id="3" name="Rounded Rectangle 2">
            <a:extLst>
              <a:ext uri="{FF2B5EF4-FFF2-40B4-BE49-F238E27FC236}">
                <a16:creationId xmlns:a16="http://schemas.microsoft.com/office/drawing/2014/main" id="{B580728A-FBBA-87A6-6CCB-CEBBC40E986F}"/>
              </a:ext>
            </a:extLst>
          </p:cNvPr>
          <p:cNvSpPr/>
          <p:nvPr/>
        </p:nvSpPr>
        <p:spPr>
          <a:xfrm>
            <a:off x="300930" y="1497479"/>
            <a:ext cx="961265" cy="529345"/>
          </a:xfrm>
          <a:prstGeom prst="roundRect">
            <a:avLst/>
          </a:prstGeom>
          <a:ln w="254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Client</a:t>
            </a:r>
            <a:endParaRPr lang="en-JP" dirty="0"/>
          </a:p>
        </p:txBody>
      </p:sp>
      <p:sp>
        <p:nvSpPr>
          <p:cNvPr id="5" name="Rounded Rectangle 4">
            <a:extLst>
              <a:ext uri="{FF2B5EF4-FFF2-40B4-BE49-F238E27FC236}">
                <a16:creationId xmlns:a16="http://schemas.microsoft.com/office/drawing/2014/main" id="{D4A1A0D0-01A8-8FD3-1DA7-CE159F3EE4BC}"/>
              </a:ext>
            </a:extLst>
          </p:cNvPr>
          <p:cNvSpPr/>
          <p:nvPr/>
        </p:nvSpPr>
        <p:spPr>
          <a:xfrm>
            <a:off x="2710513" y="1491914"/>
            <a:ext cx="1055063" cy="529350"/>
          </a:xfrm>
          <a:prstGeom prst="roundRect">
            <a:avLst/>
          </a:prstGeom>
          <a:ln w="254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JP" dirty="0"/>
          </a:p>
          <a:p>
            <a:pPr algn="ctr"/>
            <a:r>
              <a:rPr lang="en-JP" dirty="0"/>
              <a:t>Server </a:t>
            </a:r>
          </a:p>
          <a:p>
            <a:pPr algn="ctr"/>
            <a:endParaRPr lang="en-JP" dirty="0"/>
          </a:p>
        </p:txBody>
      </p:sp>
      <p:cxnSp>
        <p:nvCxnSpPr>
          <p:cNvPr id="7" name="Straight Connector 6">
            <a:extLst>
              <a:ext uri="{FF2B5EF4-FFF2-40B4-BE49-F238E27FC236}">
                <a16:creationId xmlns:a16="http://schemas.microsoft.com/office/drawing/2014/main" id="{4E2483AC-E61A-A7FF-7477-131A6351218A}"/>
              </a:ext>
            </a:extLst>
          </p:cNvPr>
          <p:cNvCxnSpPr>
            <a:cxnSpLocks/>
          </p:cNvCxnSpPr>
          <p:nvPr/>
        </p:nvCxnSpPr>
        <p:spPr>
          <a:xfrm flipH="1">
            <a:off x="496415" y="2041159"/>
            <a:ext cx="12874" cy="394219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8C3E66B-E0BD-AEAB-E4B1-904130439D71}"/>
              </a:ext>
            </a:extLst>
          </p:cNvPr>
          <p:cNvCxnSpPr>
            <a:cxnSpLocks/>
          </p:cNvCxnSpPr>
          <p:nvPr/>
        </p:nvCxnSpPr>
        <p:spPr>
          <a:xfrm>
            <a:off x="3591573" y="2041159"/>
            <a:ext cx="10088" cy="394219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6140D6C-FD27-90F3-8239-57A3899E74C3}"/>
              </a:ext>
            </a:extLst>
          </p:cNvPr>
          <p:cNvCxnSpPr>
            <a:cxnSpLocks/>
          </p:cNvCxnSpPr>
          <p:nvPr/>
        </p:nvCxnSpPr>
        <p:spPr>
          <a:xfrm>
            <a:off x="628872" y="2736446"/>
            <a:ext cx="290795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0BBABD6-7869-A29F-37DC-D366F2AED3B8}"/>
              </a:ext>
            </a:extLst>
          </p:cNvPr>
          <p:cNvCxnSpPr>
            <a:cxnSpLocks/>
          </p:cNvCxnSpPr>
          <p:nvPr/>
        </p:nvCxnSpPr>
        <p:spPr>
          <a:xfrm flipH="1">
            <a:off x="615988" y="3389610"/>
            <a:ext cx="290795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0481D8B-1352-04FC-01E6-04C11BE9EEE5}"/>
              </a:ext>
            </a:extLst>
          </p:cNvPr>
          <p:cNvSpPr txBox="1"/>
          <p:nvPr/>
        </p:nvSpPr>
        <p:spPr>
          <a:xfrm>
            <a:off x="1000465" y="2397892"/>
            <a:ext cx="1550104" cy="369332"/>
          </a:xfrm>
          <a:prstGeom prst="rect">
            <a:avLst/>
          </a:prstGeom>
          <a:noFill/>
        </p:spPr>
        <p:txBody>
          <a:bodyPr wrap="none" rtlCol="0">
            <a:spAutoFit/>
          </a:bodyPr>
          <a:lstStyle/>
          <a:p>
            <a:r>
              <a:rPr lang="en-JP" dirty="0"/>
              <a:t>Hello Message</a:t>
            </a:r>
          </a:p>
        </p:txBody>
      </p:sp>
      <p:cxnSp>
        <p:nvCxnSpPr>
          <p:cNvPr id="22" name="Straight Arrow Connector 21">
            <a:extLst>
              <a:ext uri="{FF2B5EF4-FFF2-40B4-BE49-F238E27FC236}">
                <a16:creationId xmlns:a16="http://schemas.microsoft.com/office/drawing/2014/main" id="{520136E2-A68D-4F0A-695D-E552422DB788}"/>
              </a:ext>
            </a:extLst>
          </p:cNvPr>
          <p:cNvCxnSpPr>
            <a:cxnSpLocks/>
          </p:cNvCxnSpPr>
          <p:nvPr/>
        </p:nvCxnSpPr>
        <p:spPr>
          <a:xfrm flipH="1">
            <a:off x="587004" y="4522527"/>
            <a:ext cx="290795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D1243DF-495B-9333-EC47-57185863F266}"/>
              </a:ext>
            </a:extLst>
          </p:cNvPr>
          <p:cNvCxnSpPr>
            <a:cxnSpLocks/>
          </p:cNvCxnSpPr>
          <p:nvPr/>
        </p:nvCxnSpPr>
        <p:spPr>
          <a:xfrm>
            <a:off x="615988" y="3908279"/>
            <a:ext cx="290795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14B9CCE-1953-C5B2-9E41-FA078DCE2085}"/>
              </a:ext>
            </a:extLst>
          </p:cNvPr>
          <p:cNvSpPr txBox="1"/>
          <p:nvPr/>
        </p:nvSpPr>
        <p:spPr>
          <a:xfrm>
            <a:off x="862656" y="3026133"/>
            <a:ext cx="2275623" cy="369332"/>
          </a:xfrm>
          <a:prstGeom prst="rect">
            <a:avLst/>
          </a:prstGeom>
          <a:noFill/>
        </p:spPr>
        <p:txBody>
          <a:bodyPr wrap="none" rtlCol="0">
            <a:spAutoFit/>
          </a:bodyPr>
          <a:lstStyle/>
          <a:p>
            <a:r>
              <a:rPr lang="en-JP" dirty="0"/>
              <a:t>Server Hello Response</a:t>
            </a:r>
          </a:p>
        </p:txBody>
      </p:sp>
      <p:sp>
        <p:nvSpPr>
          <p:cNvPr id="25" name="TextBox 24">
            <a:extLst>
              <a:ext uri="{FF2B5EF4-FFF2-40B4-BE49-F238E27FC236}">
                <a16:creationId xmlns:a16="http://schemas.microsoft.com/office/drawing/2014/main" id="{B5EDA94A-5EB7-3D28-4AC1-F81F498BB0E0}"/>
              </a:ext>
            </a:extLst>
          </p:cNvPr>
          <p:cNvSpPr txBox="1"/>
          <p:nvPr/>
        </p:nvSpPr>
        <p:spPr>
          <a:xfrm>
            <a:off x="742144" y="3524612"/>
            <a:ext cx="2729689" cy="369332"/>
          </a:xfrm>
          <a:prstGeom prst="rect">
            <a:avLst/>
          </a:prstGeom>
          <a:noFill/>
        </p:spPr>
        <p:txBody>
          <a:bodyPr wrap="square" rtlCol="0">
            <a:spAutoFit/>
          </a:bodyPr>
          <a:lstStyle/>
          <a:p>
            <a:r>
              <a:rPr lang="en-JP" dirty="0"/>
              <a:t>Cer client key exchange</a:t>
            </a:r>
          </a:p>
        </p:txBody>
      </p:sp>
      <p:sp>
        <p:nvSpPr>
          <p:cNvPr id="26" name="TextBox 25">
            <a:extLst>
              <a:ext uri="{FF2B5EF4-FFF2-40B4-BE49-F238E27FC236}">
                <a16:creationId xmlns:a16="http://schemas.microsoft.com/office/drawing/2014/main" id="{9300F652-5BF2-3D6E-B88B-3AD39398B90A}"/>
              </a:ext>
            </a:extLst>
          </p:cNvPr>
          <p:cNvSpPr txBox="1"/>
          <p:nvPr/>
        </p:nvSpPr>
        <p:spPr>
          <a:xfrm>
            <a:off x="641747" y="4153195"/>
            <a:ext cx="2882199" cy="369332"/>
          </a:xfrm>
          <a:prstGeom prst="rect">
            <a:avLst/>
          </a:prstGeom>
          <a:noFill/>
        </p:spPr>
        <p:txBody>
          <a:bodyPr wrap="none" rtlCol="0">
            <a:spAutoFit/>
          </a:bodyPr>
          <a:lstStyle/>
          <a:p>
            <a:r>
              <a:rPr lang="en-JP" dirty="0"/>
              <a:t>Change Cipher Spec Finished</a:t>
            </a:r>
          </a:p>
        </p:txBody>
      </p:sp>
      <p:cxnSp>
        <p:nvCxnSpPr>
          <p:cNvPr id="27" name="Straight Arrow Connector 26">
            <a:extLst>
              <a:ext uri="{FF2B5EF4-FFF2-40B4-BE49-F238E27FC236}">
                <a16:creationId xmlns:a16="http://schemas.microsoft.com/office/drawing/2014/main" id="{133A1382-9B33-DC47-D402-9CE80635FA7E}"/>
              </a:ext>
            </a:extLst>
          </p:cNvPr>
          <p:cNvCxnSpPr>
            <a:cxnSpLocks/>
          </p:cNvCxnSpPr>
          <p:nvPr/>
        </p:nvCxnSpPr>
        <p:spPr>
          <a:xfrm>
            <a:off x="615988" y="5248986"/>
            <a:ext cx="290795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516DFB1-29EE-AB80-5123-9B8828B83C8E}"/>
              </a:ext>
            </a:extLst>
          </p:cNvPr>
          <p:cNvSpPr txBox="1"/>
          <p:nvPr/>
        </p:nvSpPr>
        <p:spPr>
          <a:xfrm>
            <a:off x="1283794" y="4879653"/>
            <a:ext cx="1623265" cy="369332"/>
          </a:xfrm>
          <a:prstGeom prst="rect">
            <a:avLst/>
          </a:prstGeom>
          <a:noFill/>
        </p:spPr>
        <p:txBody>
          <a:bodyPr wrap="none" rtlCol="0">
            <a:spAutoFit/>
          </a:bodyPr>
          <a:lstStyle/>
          <a:p>
            <a:r>
              <a:rPr lang="en-JP" dirty="0"/>
              <a:t>Encrypted Data</a:t>
            </a:r>
          </a:p>
        </p:txBody>
      </p:sp>
      <p:sp>
        <p:nvSpPr>
          <p:cNvPr id="33" name="Shape 4">
            <a:extLst>
              <a:ext uri="{FF2B5EF4-FFF2-40B4-BE49-F238E27FC236}">
                <a16:creationId xmlns:a16="http://schemas.microsoft.com/office/drawing/2014/main" id="{31AAD2EC-53FA-2FC6-52C2-509E3DFE36B9}"/>
              </a:ext>
            </a:extLst>
          </p:cNvPr>
          <p:cNvSpPr/>
          <p:nvPr/>
        </p:nvSpPr>
        <p:spPr>
          <a:xfrm>
            <a:off x="4299835" y="2543173"/>
            <a:ext cx="4640229" cy="384048"/>
          </a:xfrm>
          <a:prstGeom prst="rect">
            <a:avLst/>
          </a:prstGeom>
          <a:solidFill>
            <a:schemeClr val="accent2">
              <a:lumMod val="60000"/>
              <a:lumOff val="40000"/>
            </a:schemeClr>
          </a:solidFill>
          <a:ln w="12700">
            <a:solidFill>
              <a:srgbClr val="2563A8"/>
            </a:solidFill>
            <a:prstDash val="solid"/>
          </a:ln>
        </p:spPr>
        <p:txBody>
          <a:bodyPr/>
          <a:lstStyle/>
          <a:p>
            <a:r>
              <a:rPr lang="en-US" sz="2000" b="1" dirty="0">
                <a:solidFill>
                  <a:schemeClr val="bg1"/>
                </a:solidFill>
                <a:latin typeface="Meiryo" panose="020B0604030504040204" pitchFamily="34" charset="-128"/>
                <a:ea typeface="Meiryo" panose="020B0604030504040204" pitchFamily="34" charset="-128"/>
              </a:rPr>
              <a:t>TLS</a:t>
            </a:r>
            <a:r>
              <a:rPr lang="ja-JP" altLang="en-US" sz="2000" b="1">
                <a:solidFill>
                  <a:schemeClr val="bg1"/>
                </a:solidFill>
                <a:latin typeface="Meiryo" panose="020B0604030504040204" pitchFamily="34" charset="-128"/>
                <a:ea typeface="Meiryo" panose="020B0604030504040204" pitchFamily="34" charset="-128"/>
              </a:rPr>
              <a:t>との違い</a:t>
            </a:r>
            <a:endParaRPr lang="en-JP" sz="2000" b="1" dirty="0">
              <a:solidFill>
                <a:schemeClr val="bg1"/>
              </a:solidFill>
              <a:latin typeface="Meiryo" panose="020B0604030504040204" pitchFamily="34" charset="-128"/>
              <a:ea typeface="Meiryo" panose="020B0604030504040204" pitchFamily="34" charset="-128"/>
            </a:endParaRPr>
          </a:p>
        </p:txBody>
      </p:sp>
      <p:sp>
        <p:nvSpPr>
          <p:cNvPr id="34" name="Shape 3">
            <a:extLst>
              <a:ext uri="{FF2B5EF4-FFF2-40B4-BE49-F238E27FC236}">
                <a16:creationId xmlns:a16="http://schemas.microsoft.com/office/drawing/2014/main" id="{2B945977-547B-EDC9-7F47-FF7EB7AA75C7}"/>
              </a:ext>
            </a:extLst>
          </p:cNvPr>
          <p:cNvSpPr/>
          <p:nvPr/>
        </p:nvSpPr>
        <p:spPr>
          <a:xfrm>
            <a:off x="4289095" y="2948346"/>
            <a:ext cx="4700807" cy="977171"/>
          </a:xfrm>
          <a:prstGeom prst="rect">
            <a:avLst/>
          </a:prstGeom>
          <a:solidFill>
            <a:srgbClr val="FFFFFF"/>
          </a:solidFill>
          <a:ln w="12700">
            <a:solidFill>
              <a:srgbClr val="E8EDF3"/>
            </a:solidFill>
            <a:prstDash val="solid"/>
          </a:ln>
          <a:effectLst>
            <a:outerShdw blurRad="101600" dist="38100" dir="8100000" algn="bl" rotWithShape="0">
              <a:srgbClr val="000000">
                <a:alpha val="12000"/>
              </a:srgbClr>
            </a:outerShdw>
          </a:effectLst>
        </p:spPr>
        <p:txBody>
          <a:bodyPr/>
          <a:lstStyle/>
          <a:p>
            <a:r>
              <a:rPr lang="en-US" sz="2000" dirty="0">
                <a:latin typeface="Meiryo" panose="020B0604030504040204" pitchFamily="34" charset="-128"/>
                <a:ea typeface="Meiryo" panose="020B0604030504040204" pitchFamily="34" charset="-128"/>
              </a:rPr>
              <a:t>TLS</a:t>
            </a:r>
            <a:r>
              <a:rPr lang="ja-JP" altLang="en-US" sz="2000">
                <a:latin typeface="Meiryo" panose="020B0604030504040204" pitchFamily="34" charset="-128"/>
                <a:ea typeface="Meiryo" panose="020B0604030504040204" pitchFamily="34" charset="-128"/>
              </a:rPr>
              <a:t>は</a:t>
            </a:r>
            <a:r>
              <a:rPr lang="en-US" sz="2000" dirty="0">
                <a:latin typeface="Meiryo" panose="020B0604030504040204" pitchFamily="34" charset="-128"/>
                <a:ea typeface="Meiryo" panose="020B0604030504040204" pitchFamily="34" charset="-128"/>
              </a:rPr>
              <a:t>TCP</a:t>
            </a:r>
            <a:r>
              <a:rPr lang="ja-JP" altLang="en-US" sz="2000">
                <a:latin typeface="Meiryo" panose="020B0604030504040204" pitchFamily="34" charset="-128"/>
                <a:ea typeface="Meiryo" panose="020B0604030504040204" pitchFamily="34" charset="-128"/>
              </a:rPr>
              <a:t>上で動作するのに対し、</a:t>
            </a:r>
            <a:r>
              <a:rPr lang="en-US" sz="2000" dirty="0">
                <a:latin typeface="Meiryo" panose="020B0604030504040204" pitchFamily="34" charset="-128"/>
                <a:ea typeface="Meiryo" panose="020B0604030504040204" pitchFamily="34" charset="-128"/>
              </a:rPr>
              <a:t>DTLS</a:t>
            </a:r>
            <a:r>
              <a:rPr lang="ja-JP" altLang="en-US" sz="2000">
                <a:latin typeface="Meiryo" panose="020B0604030504040204" pitchFamily="34" charset="-128"/>
                <a:ea typeface="Meiryo" panose="020B0604030504040204" pitchFamily="34" charset="-128"/>
              </a:rPr>
              <a:t>は</a:t>
            </a:r>
            <a:r>
              <a:rPr lang="en-US" sz="2000" dirty="0">
                <a:latin typeface="Meiryo" panose="020B0604030504040204" pitchFamily="34" charset="-128"/>
                <a:ea typeface="Meiryo" panose="020B0604030504040204" pitchFamily="34" charset="-128"/>
              </a:rPr>
              <a:t>UDP</a:t>
            </a:r>
            <a:r>
              <a:rPr lang="ja-JP" altLang="en-US" sz="2000">
                <a:latin typeface="Meiryo" panose="020B0604030504040204" pitchFamily="34" charset="-128"/>
                <a:ea typeface="Meiryo" panose="020B0604030504040204" pitchFamily="34" charset="-128"/>
              </a:rPr>
              <a:t>上で動作する点が大きな違いです</a:t>
            </a:r>
            <a:r>
              <a:rPr lang="en-US"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sp>
        <p:nvSpPr>
          <p:cNvPr id="35" name="Shape 11">
            <a:extLst>
              <a:ext uri="{FF2B5EF4-FFF2-40B4-BE49-F238E27FC236}">
                <a16:creationId xmlns:a16="http://schemas.microsoft.com/office/drawing/2014/main" id="{9959B03D-6C36-F282-1C83-F5BB1554DC09}"/>
              </a:ext>
            </a:extLst>
          </p:cNvPr>
          <p:cNvSpPr/>
          <p:nvPr/>
        </p:nvSpPr>
        <p:spPr>
          <a:xfrm>
            <a:off x="4289093" y="828411"/>
            <a:ext cx="4656482" cy="530059"/>
          </a:xfrm>
          <a:prstGeom prst="rect">
            <a:avLst/>
          </a:prstGeom>
          <a:solidFill>
            <a:schemeClr val="accent6">
              <a:lumMod val="60000"/>
              <a:lumOff val="40000"/>
            </a:schemeClr>
          </a:solidFill>
          <a:ln w="12700">
            <a:noFill/>
            <a:prstDash val="solid"/>
          </a:ln>
        </p:spPr>
        <p:txBody>
          <a:bodyPr/>
          <a:lstStyle/>
          <a:p>
            <a:r>
              <a:rPr lang="en-US" sz="2000" b="1" dirty="0">
                <a:solidFill>
                  <a:schemeClr val="bg1"/>
                </a:solidFill>
                <a:latin typeface="Meiryo" panose="020B0604030504040204" pitchFamily="34" charset="-128"/>
                <a:ea typeface="Meiryo" panose="020B0604030504040204" pitchFamily="34" charset="-128"/>
              </a:rPr>
              <a:t>DTLS</a:t>
            </a:r>
            <a:r>
              <a:rPr lang="ja-JP" altLang="en-US" sz="2000" b="1">
                <a:solidFill>
                  <a:schemeClr val="bg1"/>
                </a:solidFill>
                <a:latin typeface="Meiryo" panose="020B0604030504040204" pitchFamily="34" charset="-128"/>
                <a:ea typeface="Meiryo" panose="020B0604030504040204" pitchFamily="34" charset="-128"/>
              </a:rPr>
              <a:t>とは</a:t>
            </a:r>
          </a:p>
        </p:txBody>
      </p:sp>
      <p:sp>
        <p:nvSpPr>
          <p:cNvPr id="36" name="Shape 3">
            <a:extLst>
              <a:ext uri="{FF2B5EF4-FFF2-40B4-BE49-F238E27FC236}">
                <a16:creationId xmlns:a16="http://schemas.microsoft.com/office/drawing/2014/main" id="{6193179B-EEC2-7FB3-0878-DB21FDBF99FF}"/>
              </a:ext>
            </a:extLst>
          </p:cNvPr>
          <p:cNvSpPr/>
          <p:nvPr/>
        </p:nvSpPr>
        <p:spPr>
          <a:xfrm>
            <a:off x="4289097" y="1417118"/>
            <a:ext cx="4656478" cy="970507"/>
          </a:xfrm>
          <a:prstGeom prst="rect">
            <a:avLst/>
          </a:prstGeom>
          <a:solidFill>
            <a:srgbClr val="FFFFFF"/>
          </a:solidFill>
          <a:ln w="12700">
            <a:solidFill>
              <a:srgbClr val="E8EDF3"/>
            </a:solidFill>
            <a:prstDash val="solid"/>
          </a:ln>
          <a:effectLst>
            <a:outerShdw blurRad="101600" dist="38100" dir="8100000" algn="bl" rotWithShape="0">
              <a:srgbClr val="000000">
                <a:alpha val="12000"/>
              </a:srgbClr>
            </a:outerShdw>
          </a:effectLst>
        </p:spPr>
        <p:txBody>
          <a:bodyPr/>
          <a:lstStyle/>
          <a:p>
            <a:r>
              <a:rPr lang="en-US" sz="2000" dirty="0">
                <a:latin typeface="Meiryo" panose="020B0604030504040204" pitchFamily="34" charset="-128"/>
                <a:ea typeface="Meiryo" panose="020B0604030504040204" pitchFamily="34" charset="-128"/>
              </a:rPr>
              <a:t>DTLS</a:t>
            </a:r>
            <a:r>
              <a:rPr lang="ja-JP" altLang="en-US" sz="2000">
                <a:latin typeface="Meiryo" panose="020B0604030504040204" pitchFamily="34" charset="-128"/>
                <a:ea typeface="Meiryo" panose="020B0604030504040204" pitchFamily="34" charset="-128"/>
              </a:rPr>
              <a:t>は、</a:t>
            </a:r>
            <a:r>
              <a:rPr lang="en-US" sz="2000" dirty="0">
                <a:latin typeface="Meiryo" panose="020B0604030504040204" pitchFamily="34" charset="-128"/>
                <a:ea typeface="Meiryo" panose="020B0604030504040204" pitchFamily="34" charset="-128"/>
              </a:rPr>
              <a:t>UDP</a:t>
            </a:r>
            <a:r>
              <a:rPr lang="ja-JP" altLang="en-US" sz="2000">
                <a:latin typeface="Meiryo" panose="020B0604030504040204" pitchFamily="34" charset="-128"/>
                <a:ea typeface="Meiryo" panose="020B0604030504040204" pitchFamily="34" charset="-128"/>
              </a:rPr>
              <a:t>通信において</a:t>
            </a:r>
            <a:r>
              <a:rPr lang="en-US" sz="2000" dirty="0">
                <a:latin typeface="Meiryo" panose="020B0604030504040204" pitchFamily="34" charset="-128"/>
                <a:ea typeface="Meiryo" panose="020B0604030504040204" pitchFamily="34" charset="-128"/>
              </a:rPr>
              <a:t>TLS</a:t>
            </a:r>
            <a:r>
              <a:rPr lang="ja-JP" altLang="en-US" sz="2000">
                <a:latin typeface="Meiryo" panose="020B0604030504040204" pitchFamily="34" charset="-128"/>
                <a:ea typeface="Meiryo" panose="020B0604030504040204" pitchFamily="34" charset="-128"/>
              </a:rPr>
              <a:t>と同様のセキュリティ機能を提供するプロトコルです</a:t>
            </a:r>
            <a:r>
              <a:rPr lang="en-US" altLang="ja-JP" sz="2000" dirty="0">
                <a:latin typeface="Meiryo" panose="020B0604030504040204" pitchFamily="34" charset="-128"/>
                <a:ea typeface="Meiryo" panose="020B0604030504040204" pitchFamily="34" charset="-128"/>
              </a:rPr>
              <a:t>.</a:t>
            </a:r>
            <a:endParaRPr lang="ja-JP" altLang="en-US" sz="2000">
              <a:latin typeface="Meiryo" panose="020B0604030504040204" pitchFamily="34" charset="-128"/>
              <a:ea typeface="Meiryo" panose="020B0604030504040204" pitchFamily="34" charset="-128"/>
            </a:endParaRPr>
          </a:p>
        </p:txBody>
      </p:sp>
      <p:sp>
        <p:nvSpPr>
          <p:cNvPr id="41" name="Shape 18">
            <a:extLst>
              <a:ext uri="{FF2B5EF4-FFF2-40B4-BE49-F238E27FC236}">
                <a16:creationId xmlns:a16="http://schemas.microsoft.com/office/drawing/2014/main" id="{7BC5E228-570A-6E65-4EAD-8A6A32A52664}"/>
              </a:ext>
            </a:extLst>
          </p:cNvPr>
          <p:cNvSpPr/>
          <p:nvPr/>
        </p:nvSpPr>
        <p:spPr>
          <a:xfrm>
            <a:off x="4345697" y="4223664"/>
            <a:ext cx="4594367" cy="384048"/>
          </a:xfrm>
          <a:prstGeom prst="rect">
            <a:avLst/>
          </a:prstGeom>
          <a:solidFill>
            <a:schemeClr val="accent1">
              <a:lumMod val="75000"/>
            </a:schemeClr>
          </a:solidFill>
          <a:ln w="12700">
            <a:solidFill>
              <a:srgbClr val="1E3A5F"/>
            </a:solidFill>
            <a:prstDash val="solid"/>
          </a:ln>
        </p:spPr>
        <p:txBody>
          <a:bodyPr/>
          <a:lstStyle/>
          <a:p>
            <a:r>
              <a:rPr lang="en-US" sz="1800" b="1" dirty="0">
                <a:solidFill>
                  <a:schemeClr val="bg1"/>
                </a:solidFill>
                <a:latin typeface="Meiryo" panose="020B0604030504040204" pitchFamily="34" charset="-128"/>
                <a:ea typeface="Meiryo" panose="020B0604030504040204" pitchFamily="34" charset="-128"/>
              </a:rPr>
              <a:t>DTLS</a:t>
            </a:r>
            <a:r>
              <a:rPr lang="ja-JP" altLang="en-US" sz="1800" b="1">
                <a:solidFill>
                  <a:schemeClr val="bg1"/>
                </a:solidFill>
                <a:latin typeface="Meiryo" panose="020B0604030504040204" pitchFamily="34" charset="-128"/>
                <a:ea typeface="Meiryo" panose="020B0604030504040204" pitchFamily="34" charset="-128"/>
              </a:rPr>
              <a:t>プロトコル処理</a:t>
            </a:r>
            <a:endParaRPr lang="en-JP" b="1" dirty="0">
              <a:solidFill>
                <a:schemeClr val="bg1"/>
              </a:solidFill>
              <a:latin typeface="Meiryo" panose="020B0604030504040204" pitchFamily="34" charset="-128"/>
              <a:ea typeface="Meiryo" panose="020B0604030504040204" pitchFamily="34" charset="-128"/>
            </a:endParaRPr>
          </a:p>
        </p:txBody>
      </p:sp>
      <p:sp>
        <p:nvSpPr>
          <p:cNvPr id="43" name="Shape 3">
            <a:extLst>
              <a:ext uri="{FF2B5EF4-FFF2-40B4-BE49-F238E27FC236}">
                <a16:creationId xmlns:a16="http://schemas.microsoft.com/office/drawing/2014/main" id="{E0A1BDFD-493C-D745-B092-B4DB553F566C}"/>
              </a:ext>
            </a:extLst>
          </p:cNvPr>
          <p:cNvSpPr/>
          <p:nvPr/>
        </p:nvSpPr>
        <p:spPr>
          <a:xfrm>
            <a:off x="4345697" y="4607712"/>
            <a:ext cx="4602895" cy="1673817"/>
          </a:xfrm>
          <a:prstGeom prst="rect">
            <a:avLst/>
          </a:prstGeom>
          <a:solidFill>
            <a:srgbClr val="FFFFFF"/>
          </a:solidFill>
          <a:ln w="12700">
            <a:solidFill>
              <a:srgbClr val="E8EDF3"/>
            </a:solidFill>
            <a:prstDash val="solid"/>
          </a:ln>
          <a:effectLst>
            <a:outerShdw blurRad="101600" dist="38100" dir="8100000" algn="bl" rotWithShape="0">
              <a:srgbClr val="000000">
                <a:alpha val="12000"/>
              </a:srgbClr>
            </a:outerShdw>
          </a:effectLst>
        </p:spPr>
        <p:txBody>
          <a:bodyPr/>
          <a:lstStyle/>
          <a:p>
            <a:pPr marL="285750" indent="-285750">
              <a:buFont typeface="Arial" panose="020B0604020202020204" pitchFamily="34" charset="0"/>
              <a:buChar char="•"/>
            </a:pPr>
            <a:endParaRPr lang="en-US" sz="2000" b="1" dirty="0">
              <a:latin typeface="Meiryo" panose="020B0604030504040204" pitchFamily="34" charset="-128"/>
              <a:ea typeface="Meiryo" panose="020B0604030504040204" pitchFamily="34" charset="-128"/>
            </a:endParaRPr>
          </a:p>
          <a:p>
            <a:r>
              <a:rPr lang="en-US"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暗号化・復号化、認証、メッセージの</a:t>
            </a:r>
            <a:r>
              <a:rPr lang="en-US"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整合性確認などの処理を行います</a:t>
            </a:r>
            <a:r>
              <a:rPr lang="en-US"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a:p>
            <a:endParaRPr lang="en-JP" sz="20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7699061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3775838-8A78-616D-45AA-9C6650A43B6C}"/>
              </a:ext>
            </a:extLst>
          </p:cNvPr>
          <p:cNvSpPr>
            <a:spLocks noGrp="1"/>
          </p:cNvSpPr>
          <p:nvPr>
            <p:ph type="sldNum" sz="quarter" idx="12"/>
          </p:nvPr>
        </p:nvSpPr>
        <p:spPr/>
        <p:txBody>
          <a:bodyPr/>
          <a:lstStyle/>
          <a:p>
            <a:fld id="{BB44241B-2579-694C-B40C-A1E3D5F0E4EC}" type="slidenum">
              <a:rPr lang="en-JP" smtClean="0"/>
              <a:pPr/>
              <a:t>16</a:t>
            </a:fld>
            <a:endParaRPr lang="en-JP" dirty="0"/>
          </a:p>
        </p:txBody>
      </p:sp>
      <p:sp>
        <p:nvSpPr>
          <p:cNvPr id="12" name="吹き出し: 角を丸めた四角形 47">
            <a:extLst>
              <a:ext uri="{FF2B5EF4-FFF2-40B4-BE49-F238E27FC236}">
                <a16:creationId xmlns:a16="http://schemas.microsoft.com/office/drawing/2014/main" id="{6CA0EAC8-A804-BA57-E241-15B065B6DEFC}"/>
              </a:ext>
            </a:extLst>
          </p:cNvPr>
          <p:cNvSpPr/>
          <p:nvPr/>
        </p:nvSpPr>
        <p:spPr>
          <a:xfrm rot="10800000" flipV="1">
            <a:off x="5865570" y="819350"/>
            <a:ext cx="2915148" cy="1267437"/>
          </a:xfrm>
          <a:prstGeom prst="wedgeRoundRectCallout">
            <a:avLst>
              <a:gd name="adj1" fmla="val 59416"/>
              <a:gd name="adj2" fmla="val -12782"/>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US" altLang="ja-JP" sz="1667" b="1" dirty="0">
                <a:solidFill>
                  <a:schemeClr val="tx1"/>
                </a:solidFill>
                <a:latin typeface="Meiryo" panose="020B0604030504040204" pitchFamily="34" charset="-128"/>
                <a:ea typeface="Meiryo" panose="020B0604030504040204" pitchFamily="34" charset="-128"/>
              </a:rPr>
              <a:t>1.</a:t>
            </a:r>
            <a:r>
              <a:rPr lang="ja-JP" altLang="en-US" sz="1667" b="1">
                <a:solidFill>
                  <a:schemeClr val="tx1"/>
                </a:solidFill>
                <a:latin typeface="Meiryo" panose="020B0604030504040204" pitchFamily="34" charset="-128"/>
                <a:ea typeface="Meiryo" panose="020B0604030504040204" pitchFamily="34" charset="-128"/>
              </a:rPr>
              <a:t>人間がプログラムしなくても、経験（データ）から学習する仕組み</a:t>
            </a:r>
            <a:endParaRPr lang="ja-JP" altLang="en-US" sz="1667">
              <a:solidFill>
                <a:schemeClr val="tx1"/>
              </a:solidFill>
              <a:latin typeface="Meiryo" panose="020B0604030504040204" pitchFamily="34" charset="-128"/>
              <a:ea typeface="Meiryo" panose="020B0604030504040204" pitchFamily="34" charset="-128"/>
            </a:endParaRPr>
          </a:p>
          <a:p>
            <a:endParaRPr lang="en-JP" sz="1667" dirty="0">
              <a:solidFill>
                <a:schemeClr val="tx1"/>
              </a:solidFill>
              <a:latin typeface="Meiryo" panose="020B0604030504040204" pitchFamily="34" charset="-128"/>
              <a:ea typeface="Meiryo" panose="020B0604030504040204" pitchFamily="34" charset="-128"/>
            </a:endParaRPr>
          </a:p>
        </p:txBody>
      </p:sp>
      <p:sp>
        <p:nvSpPr>
          <p:cNvPr id="18" name="TextBox 17">
            <a:extLst>
              <a:ext uri="{FF2B5EF4-FFF2-40B4-BE49-F238E27FC236}">
                <a16:creationId xmlns:a16="http://schemas.microsoft.com/office/drawing/2014/main" id="{33F8C54A-C1D3-0F8A-A8BE-1F6C6FA40FE2}"/>
              </a:ext>
            </a:extLst>
          </p:cNvPr>
          <p:cNvSpPr txBox="1"/>
          <p:nvPr/>
        </p:nvSpPr>
        <p:spPr>
          <a:xfrm>
            <a:off x="166104" y="6494464"/>
            <a:ext cx="4888522" cy="253916"/>
          </a:xfrm>
          <a:prstGeom prst="rect">
            <a:avLst/>
          </a:prstGeom>
          <a:noFill/>
        </p:spPr>
        <p:txBody>
          <a:bodyPr wrap="square">
            <a:spAutoFit/>
          </a:bodyPr>
          <a:lstStyle/>
          <a:p>
            <a:r>
              <a:rPr lang="en-US" sz="1050" dirty="0">
                <a:latin typeface="Meiryo" panose="020B0604030504040204" pitchFamily="34" charset="-128"/>
                <a:ea typeface="Meiryo" panose="020B0604030504040204" pitchFamily="34" charset="-128"/>
              </a:rPr>
              <a:t>[4] </a:t>
            </a:r>
            <a:r>
              <a:rPr lang="en-JP" sz="1050" dirty="0">
                <a:latin typeface="Meiryo" panose="020B0604030504040204" pitchFamily="34" charset="-128"/>
                <a:ea typeface="Meiryo" panose="020B0604030504040204" pitchFamily="34" charset="-128"/>
              </a:rPr>
              <a:t>https://ischool.syracuse.edu/what-is-machine-learning/</a:t>
            </a:r>
          </a:p>
        </p:txBody>
      </p:sp>
      <p:sp>
        <p:nvSpPr>
          <p:cNvPr id="19" name="吹き出し: 角を丸めた四角形 47">
            <a:extLst>
              <a:ext uri="{FF2B5EF4-FFF2-40B4-BE49-F238E27FC236}">
                <a16:creationId xmlns:a16="http://schemas.microsoft.com/office/drawing/2014/main" id="{7653D000-6485-0111-549C-0284DE58E530}"/>
              </a:ext>
            </a:extLst>
          </p:cNvPr>
          <p:cNvSpPr/>
          <p:nvPr/>
        </p:nvSpPr>
        <p:spPr>
          <a:xfrm rot="10800000" flipV="1">
            <a:off x="5607829" y="2382392"/>
            <a:ext cx="3240104" cy="1132253"/>
          </a:xfrm>
          <a:prstGeom prst="wedgeRoundRectCallout">
            <a:avLst>
              <a:gd name="adj1" fmla="val 58612"/>
              <a:gd name="adj2" fmla="val 22485"/>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altLang="ja-JP" sz="1667" b="1" dirty="0">
                <a:solidFill>
                  <a:schemeClr val="tx1"/>
                </a:solidFill>
                <a:latin typeface="Meiryo" panose="020B0604030504040204" pitchFamily="34" charset="-128"/>
                <a:ea typeface="Meiryo" panose="020B0604030504040204" pitchFamily="34" charset="-128"/>
              </a:rPr>
              <a:t>2.</a:t>
            </a:r>
            <a:r>
              <a:rPr lang="ja-JP" altLang="en-US" sz="1667" b="1">
                <a:solidFill>
                  <a:schemeClr val="tx1"/>
                </a:solidFill>
                <a:latin typeface="Meiryo" panose="020B0604030504040204" pitchFamily="34" charset="-128"/>
                <a:ea typeface="Meiryo" panose="020B0604030504040204" pitchFamily="34" charset="-128"/>
              </a:rPr>
              <a:t>画像認識・異常検知・音声認識などに広く利用される</a:t>
            </a:r>
            <a:endParaRPr lang="en-US" altLang="ja-JP" sz="1667" b="1" dirty="0">
              <a:solidFill>
                <a:schemeClr val="tx1"/>
              </a:solidFill>
              <a:latin typeface="Meiryo" panose="020B0604030504040204" pitchFamily="34" charset="-128"/>
              <a:ea typeface="Meiryo" panose="020B0604030504040204" pitchFamily="34" charset="-128"/>
            </a:endParaRPr>
          </a:p>
          <a:p>
            <a:pPr algn="ctr"/>
            <a:endParaRPr lang="ja-JP" altLang="en-US" sz="1667">
              <a:solidFill>
                <a:schemeClr val="tx1"/>
              </a:solidFill>
              <a:latin typeface="Meiryo" panose="020B0604030504040204" pitchFamily="34" charset="-128"/>
              <a:ea typeface="Meiryo" panose="020B0604030504040204" pitchFamily="34" charset="-128"/>
            </a:endParaRPr>
          </a:p>
        </p:txBody>
      </p:sp>
      <p:sp>
        <p:nvSpPr>
          <p:cNvPr id="20" name="吹き出し: 角を丸めた四角形 47">
            <a:extLst>
              <a:ext uri="{FF2B5EF4-FFF2-40B4-BE49-F238E27FC236}">
                <a16:creationId xmlns:a16="http://schemas.microsoft.com/office/drawing/2014/main" id="{68ECF0A3-0DE0-FBC1-1D18-67F734532813}"/>
              </a:ext>
            </a:extLst>
          </p:cNvPr>
          <p:cNvSpPr/>
          <p:nvPr/>
        </p:nvSpPr>
        <p:spPr>
          <a:xfrm rot="10800000" flipV="1">
            <a:off x="5818054" y="3979358"/>
            <a:ext cx="2962663" cy="1183306"/>
          </a:xfrm>
          <a:prstGeom prst="wedgeRoundRectCallout">
            <a:avLst>
              <a:gd name="adj1" fmla="val 58612"/>
              <a:gd name="adj2" fmla="val 22485"/>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endParaRPr lang="en-US" altLang="ja-JP" sz="1667" b="1" dirty="0">
              <a:solidFill>
                <a:schemeClr val="tx1"/>
              </a:solidFill>
              <a:latin typeface="Meiryo" panose="020B0604030504040204" pitchFamily="34" charset="-128"/>
              <a:ea typeface="Meiryo" panose="020B0604030504040204" pitchFamily="34" charset="-128"/>
            </a:endParaRPr>
          </a:p>
          <a:p>
            <a:endParaRPr lang="en-US" altLang="ja-JP" sz="1667" b="1" dirty="0">
              <a:solidFill>
                <a:schemeClr val="tx1"/>
              </a:solidFill>
              <a:latin typeface="Meiryo" panose="020B0604030504040204" pitchFamily="34" charset="-128"/>
              <a:ea typeface="Meiryo" panose="020B0604030504040204" pitchFamily="34" charset="-128"/>
            </a:endParaRPr>
          </a:p>
          <a:p>
            <a:r>
              <a:rPr lang="en-US" altLang="ja-JP" sz="1667" b="1" dirty="0">
                <a:solidFill>
                  <a:schemeClr val="tx1"/>
                </a:solidFill>
                <a:latin typeface="Meiryo" panose="020B0604030504040204" pitchFamily="34" charset="-128"/>
                <a:ea typeface="Meiryo" panose="020B0604030504040204" pitchFamily="34" charset="-128"/>
              </a:rPr>
              <a:t>3.</a:t>
            </a:r>
            <a:r>
              <a:rPr lang="ja-JP" altLang="en-US" sz="1667" b="1">
                <a:solidFill>
                  <a:schemeClr val="tx1"/>
                </a:solidFill>
                <a:latin typeface="Meiryo" panose="020B0604030504040204" pitchFamily="34" charset="-128"/>
                <a:ea typeface="Meiryo" panose="020B0604030504040204" pitchFamily="34" charset="-128"/>
              </a:rPr>
              <a:t>大量のデータ </a:t>
            </a:r>
            <a:r>
              <a:rPr lang="en-US" altLang="ja-JP" sz="1667" b="1" dirty="0">
                <a:solidFill>
                  <a:schemeClr val="tx1"/>
                </a:solidFill>
                <a:latin typeface="Meiryo" panose="020B0604030504040204" pitchFamily="34" charset="-128"/>
                <a:ea typeface="Meiryo" panose="020B0604030504040204" pitchFamily="34" charset="-128"/>
              </a:rPr>
              <a:t>+ </a:t>
            </a:r>
            <a:r>
              <a:rPr lang="ja-JP" altLang="en-US" sz="1667" b="1">
                <a:solidFill>
                  <a:schemeClr val="tx1"/>
                </a:solidFill>
                <a:latin typeface="Meiryo" panose="020B0604030504040204" pitchFamily="34" charset="-128"/>
                <a:ea typeface="Meiryo" panose="020B0604030504040204" pitchFamily="34" charset="-128"/>
              </a:rPr>
              <a:t>アルゴリズム </a:t>
            </a:r>
            <a:r>
              <a:rPr lang="en-US" altLang="ja-JP" sz="1667" b="1" dirty="0">
                <a:solidFill>
                  <a:schemeClr val="tx1"/>
                </a:solidFill>
                <a:latin typeface="Meiryo" panose="020B0604030504040204" pitchFamily="34" charset="-128"/>
                <a:ea typeface="Meiryo" panose="020B0604030504040204" pitchFamily="34" charset="-128"/>
              </a:rPr>
              <a:t>+ </a:t>
            </a:r>
            <a:r>
              <a:rPr lang="ja-JP" altLang="en-US" sz="1667" b="1">
                <a:solidFill>
                  <a:schemeClr val="tx1"/>
                </a:solidFill>
                <a:latin typeface="Meiryo" panose="020B0604030504040204" pitchFamily="34" charset="-128"/>
                <a:ea typeface="Meiryo" panose="020B0604030504040204" pitchFamily="34" charset="-128"/>
              </a:rPr>
              <a:t>計算資源 → 高精度な予測</a:t>
            </a:r>
            <a:endParaRPr lang="en-US" altLang="ja-JP" sz="1667" b="1" dirty="0">
              <a:solidFill>
                <a:schemeClr val="tx1"/>
              </a:solidFill>
              <a:latin typeface="Meiryo" panose="020B0604030504040204" pitchFamily="34" charset="-128"/>
              <a:ea typeface="Meiryo" panose="020B0604030504040204" pitchFamily="34" charset="-128"/>
            </a:endParaRPr>
          </a:p>
          <a:p>
            <a:endParaRPr lang="ja-JP" altLang="en-US" sz="1500">
              <a:solidFill>
                <a:schemeClr val="tx1"/>
              </a:solidFill>
              <a:latin typeface="Meiryo" panose="020B0604030504040204" pitchFamily="34" charset="-128"/>
              <a:ea typeface="Meiryo" panose="020B0604030504040204" pitchFamily="34" charset="-128"/>
            </a:endParaRPr>
          </a:p>
        </p:txBody>
      </p:sp>
      <p:sp>
        <p:nvSpPr>
          <p:cNvPr id="22" name="TextBox 21">
            <a:extLst>
              <a:ext uri="{FF2B5EF4-FFF2-40B4-BE49-F238E27FC236}">
                <a16:creationId xmlns:a16="http://schemas.microsoft.com/office/drawing/2014/main" id="{F1372356-A1FC-12E3-172F-2814DF70F933}"/>
              </a:ext>
            </a:extLst>
          </p:cNvPr>
          <p:cNvSpPr txBox="1"/>
          <p:nvPr/>
        </p:nvSpPr>
        <p:spPr>
          <a:xfrm>
            <a:off x="166104" y="5278789"/>
            <a:ext cx="8681829" cy="1015663"/>
          </a:xfrm>
          <a:prstGeom prst="rect">
            <a:avLst/>
          </a:prstGeom>
          <a:noFill/>
        </p:spPr>
        <p:txBody>
          <a:bodyPr wrap="square">
            <a:spAutoFit/>
          </a:bodyPr>
          <a:lstStyle/>
          <a:p>
            <a:pPr defTabSz="914363">
              <a:defRPr/>
            </a:pPr>
            <a:r>
              <a:rPr lang="en-JP" sz="2000" dirty="0">
                <a:latin typeface="Meiryo" panose="020B0604030504040204" pitchFamily="34" charset="-128"/>
                <a:ea typeface="Meiryo" panose="020B0604030504040204" pitchFamily="34" charset="-128"/>
              </a:rPr>
              <a:t>Machine Learning（機械学習）とは、コンピュータが明確なプログラムを書かなくても、データや経験から自動的に学習し、パターンを見つけたり、将来の結果を予測したりする技術です.</a:t>
            </a:r>
            <a:endParaRPr lang="en-JP" sz="2000" dirty="0"/>
          </a:p>
        </p:txBody>
      </p:sp>
      <p:sp>
        <p:nvSpPr>
          <p:cNvPr id="2" name="Shape 0">
            <a:extLst>
              <a:ext uri="{FF2B5EF4-FFF2-40B4-BE49-F238E27FC236}">
                <a16:creationId xmlns:a16="http://schemas.microsoft.com/office/drawing/2014/main" id="{F24D36E2-E3B0-4843-6D1D-7FEFA4876CAD}"/>
              </a:ext>
            </a:extLst>
          </p:cNvPr>
          <p:cNvSpPr/>
          <p:nvPr/>
        </p:nvSpPr>
        <p:spPr>
          <a:xfrm>
            <a:off x="0" y="1"/>
            <a:ext cx="9144000" cy="48635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l" fontAlgn="base"/>
            <a:r>
              <a:rPr lang="en-US" altLang="ja-JP" sz="3200" b="1" dirty="0">
                <a:latin typeface="Meiryo" panose="020B0604030504040204" pitchFamily="34" charset="-128"/>
                <a:ea typeface="Meiryo" panose="020B0604030504040204" pitchFamily="34" charset="-128"/>
              </a:rPr>
              <a:t>  </a:t>
            </a:r>
            <a:r>
              <a:rPr lang="ja-JP" altLang="en-US" sz="3200" b="1">
                <a:latin typeface="Meiryo" panose="020B0604030504040204" pitchFamily="34" charset="-128"/>
                <a:ea typeface="Meiryo" panose="020B0604030504040204" pitchFamily="34" charset="-128"/>
              </a:rPr>
              <a:t>機械学習</a:t>
            </a:r>
            <a:endParaRPr lang="en-US"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endParaRPr>
          </a:p>
        </p:txBody>
      </p:sp>
      <p:pic>
        <p:nvPicPr>
          <p:cNvPr id="3" name="Picture 2">
            <a:extLst>
              <a:ext uri="{FF2B5EF4-FFF2-40B4-BE49-F238E27FC236}">
                <a16:creationId xmlns:a16="http://schemas.microsoft.com/office/drawing/2014/main" id="{A7DA2BBB-256E-030E-CD7A-61342B0C8661}"/>
              </a:ext>
            </a:extLst>
          </p:cNvPr>
          <p:cNvPicPr>
            <a:picLocks noChangeAspect="1"/>
          </p:cNvPicPr>
          <p:nvPr/>
        </p:nvPicPr>
        <p:blipFill>
          <a:blip r:embed="rId3"/>
          <a:stretch>
            <a:fillRect/>
          </a:stretch>
        </p:blipFill>
        <p:spPr>
          <a:xfrm>
            <a:off x="37097" y="695738"/>
            <a:ext cx="5270399" cy="4283765"/>
          </a:xfrm>
          <a:prstGeom prst="rect">
            <a:avLst/>
          </a:prstGeom>
        </p:spPr>
      </p:pic>
    </p:spTree>
    <p:extLst>
      <p:ext uri="{BB962C8B-B14F-4D97-AF65-F5344CB8AC3E}">
        <p14:creationId xmlns:p14="http://schemas.microsoft.com/office/powerpoint/2010/main" val="1785483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0">
            <a:extLst>
              <a:ext uri="{FF2B5EF4-FFF2-40B4-BE49-F238E27FC236}">
                <a16:creationId xmlns:a16="http://schemas.microsoft.com/office/drawing/2014/main" id="{25E1A69F-37CF-C4B0-17D4-91D2899ADB0D}"/>
              </a:ext>
            </a:extLst>
          </p:cNvPr>
          <p:cNvSpPr/>
          <p:nvPr/>
        </p:nvSpPr>
        <p:spPr>
          <a:xfrm>
            <a:off x="0" y="1"/>
            <a:ext cx="9144000" cy="48635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l" fontAlgn="base"/>
            <a:r>
              <a:rPr lang="en-US" altLang="ja-JP" sz="3200" b="1" dirty="0">
                <a:latin typeface="Meiryo" panose="020B0604030504040204" pitchFamily="34" charset="-128"/>
                <a:ea typeface="Meiryo" panose="020B0604030504040204" pitchFamily="34" charset="-128"/>
              </a:rPr>
              <a:t>  </a:t>
            </a:r>
            <a:r>
              <a:rPr lang="en-US" sz="3200" b="1" dirty="0">
                <a:latin typeface="Meiryo" panose="020B0604030504040204" pitchFamily="34" charset="-128"/>
                <a:ea typeface="Meiryo" panose="020B0604030504040204" pitchFamily="34" charset="-128"/>
              </a:rPr>
              <a:t>Random forest — workflow</a:t>
            </a:r>
            <a:br>
              <a:rPr lang="en-US" sz="3200" b="1" dirty="0">
                <a:latin typeface="Meiryo" panose="020B0604030504040204" pitchFamily="34" charset="-128"/>
                <a:ea typeface="Meiryo" panose="020B0604030504040204" pitchFamily="34" charset="-128"/>
              </a:rPr>
            </a:br>
            <a:endParaRPr lang="en-US"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endParaRPr>
          </a:p>
        </p:txBody>
      </p:sp>
      <p:pic>
        <p:nvPicPr>
          <p:cNvPr id="5" name="Picture 4">
            <a:extLst>
              <a:ext uri="{FF2B5EF4-FFF2-40B4-BE49-F238E27FC236}">
                <a16:creationId xmlns:a16="http://schemas.microsoft.com/office/drawing/2014/main" id="{D2E35B68-1A65-A1C6-857E-ADE316C8DA7B}"/>
              </a:ext>
            </a:extLst>
          </p:cNvPr>
          <p:cNvPicPr>
            <a:picLocks noChangeAspect="1"/>
          </p:cNvPicPr>
          <p:nvPr/>
        </p:nvPicPr>
        <p:blipFill>
          <a:blip r:embed="rId2"/>
          <a:stretch>
            <a:fillRect/>
          </a:stretch>
        </p:blipFill>
        <p:spPr>
          <a:xfrm>
            <a:off x="90236" y="1085850"/>
            <a:ext cx="4884821" cy="4686300"/>
          </a:xfrm>
          <a:prstGeom prst="rect">
            <a:avLst/>
          </a:prstGeom>
        </p:spPr>
      </p:pic>
      <p:sp>
        <p:nvSpPr>
          <p:cNvPr id="7" name="TextBox 6">
            <a:extLst>
              <a:ext uri="{FF2B5EF4-FFF2-40B4-BE49-F238E27FC236}">
                <a16:creationId xmlns:a16="http://schemas.microsoft.com/office/drawing/2014/main" id="{797A8BD9-A1ED-9116-5014-2B955F65C2F0}"/>
              </a:ext>
            </a:extLst>
          </p:cNvPr>
          <p:cNvSpPr txBox="1"/>
          <p:nvPr/>
        </p:nvSpPr>
        <p:spPr>
          <a:xfrm>
            <a:off x="0" y="6371649"/>
            <a:ext cx="6644308" cy="430887"/>
          </a:xfrm>
          <a:prstGeom prst="rect">
            <a:avLst/>
          </a:prstGeom>
          <a:noFill/>
        </p:spPr>
        <p:txBody>
          <a:bodyPr wrap="square">
            <a:spAutoFit/>
          </a:bodyPr>
          <a:lstStyle/>
          <a:p>
            <a:r>
              <a:rPr lang="en-JP" sz="1100" dirty="0">
                <a:latin typeface="Meiryo" panose="020B0604030504040204" pitchFamily="34" charset="-128"/>
                <a:ea typeface="Meiryo" panose="020B0604030504040204" pitchFamily="34" charset="-128"/>
              </a:rPr>
              <a:t>[5] https://medium.com/@abhishekjainindore24/everything-about-random-forest-90c106d63989</a:t>
            </a:r>
          </a:p>
        </p:txBody>
      </p:sp>
      <p:sp>
        <p:nvSpPr>
          <p:cNvPr id="8" name="Slide Number Placeholder 7">
            <a:extLst>
              <a:ext uri="{FF2B5EF4-FFF2-40B4-BE49-F238E27FC236}">
                <a16:creationId xmlns:a16="http://schemas.microsoft.com/office/drawing/2014/main" id="{075B570F-5CB2-00EE-1711-9DB614C95FB3}"/>
              </a:ext>
            </a:extLst>
          </p:cNvPr>
          <p:cNvSpPr>
            <a:spLocks noGrp="1"/>
          </p:cNvSpPr>
          <p:nvPr>
            <p:ph type="sldNum" sz="quarter" idx="12"/>
          </p:nvPr>
        </p:nvSpPr>
        <p:spPr/>
        <p:txBody>
          <a:bodyPr/>
          <a:lstStyle/>
          <a:p>
            <a:fld id="{828F3BD4-1AF2-D144-8129-4D42AD448F5E}" type="slidenum">
              <a:rPr lang="en-JP" smtClean="0"/>
              <a:t>17</a:t>
            </a:fld>
            <a:endParaRPr lang="en-JP"/>
          </a:p>
        </p:txBody>
      </p:sp>
      <p:sp>
        <p:nvSpPr>
          <p:cNvPr id="10" name="TextBox 9">
            <a:extLst>
              <a:ext uri="{FF2B5EF4-FFF2-40B4-BE49-F238E27FC236}">
                <a16:creationId xmlns:a16="http://schemas.microsoft.com/office/drawing/2014/main" id="{2229D917-86AC-0D79-1772-34FA8F79B601}"/>
              </a:ext>
            </a:extLst>
          </p:cNvPr>
          <p:cNvSpPr txBox="1"/>
          <p:nvPr/>
        </p:nvSpPr>
        <p:spPr>
          <a:xfrm>
            <a:off x="4572000" y="1332138"/>
            <a:ext cx="4584032" cy="4893647"/>
          </a:xfrm>
          <a:prstGeom prst="rect">
            <a:avLst/>
          </a:prstGeom>
          <a:noFill/>
        </p:spPr>
        <p:txBody>
          <a:bodyPr wrap="square">
            <a:spAutoFit/>
          </a:bodyPr>
          <a:lstStyle/>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データを入力 </a:t>
            </a:r>
          </a:p>
          <a:p>
            <a:r>
              <a:rPr lang="en-JP" sz="2400" dirty="0">
                <a:latin typeface="Meiryo" panose="020B0604030504040204" pitchFamily="34" charset="-128"/>
                <a:ea typeface="Meiryo" panose="020B0604030504040204" pitchFamily="34" charset="-128"/>
              </a:rPr>
              <a:t> </a:t>
            </a:r>
          </a:p>
          <a:p>
            <a:endParaRPr lang="mn-MN"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 複数の決定木でそれぞれ判定</a:t>
            </a:r>
          </a:p>
          <a:p>
            <a:endParaRPr lang="en-JP"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lang="mn-MN"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各結果を多数決で統合  </a:t>
            </a:r>
          </a:p>
          <a:p>
            <a:pPr marL="285750" indent="-285750">
              <a:buFont typeface="Arial" panose="020B0604020202020204" pitchFamily="34" charset="0"/>
              <a:buChar char="•"/>
            </a:pPr>
            <a:endParaRPr lang="en-JP"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lang="mn-MN"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 最終的な結果を出力</a:t>
            </a:r>
          </a:p>
          <a:p>
            <a:endParaRPr lang="en-US" sz="2400" dirty="0">
              <a:latin typeface="Meiryo" panose="020B0604030504040204" pitchFamily="34" charset="-128"/>
              <a:ea typeface="Meiryo" panose="020B0604030504040204" pitchFamily="34" charset="-128"/>
            </a:endParaRPr>
          </a:p>
          <a:p>
            <a:endParaRPr lang="en-US" sz="2400" dirty="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r>
              <a:rPr lang="en-JP" sz="2400" dirty="0">
                <a:latin typeface="Meiryo" panose="020B0604030504040204" pitchFamily="34" charset="-128"/>
                <a:ea typeface="Meiryo" panose="020B0604030504040204" pitchFamily="34" charset="-128"/>
              </a:rPr>
              <a:t>（Normal / Attack）</a:t>
            </a:r>
          </a:p>
        </p:txBody>
      </p:sp>
      <p:sp>
        <p:nvSpPr>
          <p:cNvPr id="13" name="Down Arrow 12">
            <a:extLst>
              <a:ext uri="{FF2B5EF4-FFF2-40B4-BE49-F238E27FC236}">
                <a16:creationId xmlns:a16="http://schemas.microsoft.com/office/drawing/2014/main" id="{E6CF3BC4-5C8B-E37E-F9D2-95800FCFAE4F}"/>
              </a:ext>
            </a:extLst>
          </p:cNvPr>
          <p:cNvSpPr/>
          <p:nvPr/>
        </p:nvSpPr>
        <p:spPr>
          <a:xfrm>
            <a:off x="6260335" y="1891931"/>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14" name="Down Arrow 13">
            <a:extLst>
              <a:ext uri="{FF2B5EF4-FFF2-40B4-BE49-F238E27FC236}">
                <a16:creationId xmlns:a16="http://schemas.microsoft.com/office/drawing/2014/main" id="{3DDF69D0-8FC1-CB31-1450-71D3F369DD11}"/>
              </a:ext>
            </a:extLst>
          </p:cNvPr>
          <p:cNvSpPr/>
          <p:nvPr/>
        </p:nvSpPr>
        <p:spPr>
          <a:xfrm>
            <a:off x="6278166" y="2977714"/>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15" name="Down Arrow 14">
            <a:extLst>
              <a:ext uri="{FF2B5EF4-FFF2-40B4-BE49-F238E27FC236}">
                <a16:creationId xmlns:a16="http://schemas.microsoft.com/office/drawing/2014/main" id="{7F83401F-6F4B-C973-D5D6-A947518DC8CD}"/>
              </a:ext>
            </a:extLst>
          </p:cNvPr>
          <p:cNvSpPr/>
          <p:nvPr/>
        </p:nvSpPr>
        <p:spPr>
          <a:xfrm>
            <a:off x="6260335" y="4115930"/>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16" name="Down Arrow 15">
            <a:extLst>
              <a:ext uri="{FF2B5EF4-FFF2-40B4-BE49-F238E27FC236}">
                <a16:creationId xmlns:a16="http://schemas.microsoft.com/office/drawing/2014/main" id="{73CFA28D-2AC2-02EC-D67F-9AC8862AE56C}"/>
              </a:ext>
            </a:extLst>
          </p:cNvPr>
          <p:cNvSpPr/>
          <p:nvPr/>
        </p:nvSpPr>
        <p:spPr>
          <a:xfrm>
            <a:off x="6272077" y="5170857"/>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Tree>
    <p:extLst>
      <p:ext uri="{BB962C8B-B14F-4D97-AF65-F5344CB8AC3E}">
        <p14:creationId xmlns:p14="http://schemas.microsoft.com/office/powerpoint/2010/main" val="1385949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2E952C1E-7902-2181-0E6C-1720BE6C9A9C}"/>
              </a:ext>
            </a:extLst>
          </p:cNvPr>
          <p:cNvSpPr>
            <a:spLocks noGrp="1"/>
          </p:cNvSpPr>
          <p:nvPr>
            <p:ph idx="1"/>
          </p:nvPr>
        </p:nvSpPr>
        <p:spPr>
          <a:xfrm>
            <a:off x="291353" y="1072607"/>
            <a:ext cx="8223997" cy="1166346"/>
          </a:xfrm>
        </p:spPr>
        <p:txBody>
          <a:bodyPr>
            <a:noAutofit/>
          </a:bodyPr>
          <a:lstStyle/>
          <a:p>
            <a:r>
              <a:rPr kumimoji="1" lang="ja-JP" altLang="en-US" sz="2400">
                <a:latin typeface="Meiryo" panose="020B0604030504040204" pitchFamily="34" charset="-128"/>
                <a:ea typeface="Meiryo" panose="020B0604030504040204" pitchFamily="34" charset="-128"/>
              </a:rPr>
              <a:t>ネットワークトラフィックの監視から</a:t>
            </a:r>
            <a:r>
              <a:rPr kumimoji="1" lang="ja-JP" altLang="en-US" sz="2400" u="sng">
                <a:latin typeface="Meiryo" panose="020B0604030504040204" pitchFamily="34" charset="-128"/>
                <a:ea typeface="Meiryo" panose="020B0604030504040204" pitchFamily="34" charset="-128"/>
              </a:rPr>
              <a:t>異常な動作</a:t>
            </a:r>
            <a:r>
              <a:rPr kumimoji="1" lang="ja-JP" altLang="en-US" sz="2400">
                <a:latin typeface="Meiryo" panose="020B0604030504040204" pitchFamily="34" charset="-128"/>
                <a:ea typeface="Meiryo" panose="020B0604030504040204" pitchFamily="34" charset="-128"/>
              </a:rPr>
              <a:t>を検出</a:t>
            </a:r>
            <a:r>
              <a:rPr kumimoji="1" lang="en-US" altLang="ja-JP" sz="2400" dirty="0">
                <a:latin typeface="Meiryo" panose="020B0604030504040204" pitchFamily="34" charset="-128"/>
                <a:ea typeface="Meiryo" panose="020B0604030504040204" pitchFamily="34" charset="-128"/>
              </a:rPr>
              <a:t>[11]</a:t>
            </a:r>
          </a:p>
          <a:p>
            <a:pPr lvl="1">
              <a:lnSpc>
                <a:spcPct val="150000"/>
              </a:lnSpc>
              <a:buFont typeface="Wingdings" pitchFamily="2" charset="2"/>
              <a:buChar char="Ø"/>
            </a:pPr>
            <a:r>
              <a:rPr kumimoji="1" lang="ja-JP" altLang="en-US">
                <a:latin typeface="Meiryo" panose="020B0604030504040204" pitchFamily="34" charset="-128"/>
                <a:ea typeface="Meiryo" panose="020B0604030504040204" pitchFamily="34" charset="-128"/>
              </a:rPr>
              <a:t>攻撃・マルウェア・不正アクセスなどを監視</a:t>
            </a:r>
            <a:endParaRPr kumimoji="1" lang="en-US" altLang="ja-JP" dirty="0">
              <a:latin typeface="Meiryo" panose="020B0604030504040204" pitchFamily="34" charset="-128"/>
              <a:ea typeface="Meiryo" panose="020B0604030504040204" pitchFamily="34" charset="-128"/>
            </a:endParaRPr>
          </a:p>
        </p:txBody>
      </p:sp>
      <p:sp>
        <p:nvSpPr>
          <p:cNvPr id="4" name="スライド番号プレースホルダー 3">
            <a:extLst>
              <a:ext uri="{FF2B5EF4-FFF2-40B4-BE49-F238E27FC236}">
                <a16:creationId xmlns:a16="http://schemas.microsoft.com/office/drawing/2014/main" id="{BF2FC18E-4B34-34DB-9C0F-0D7E66AAFC1A}"/>
              </a:ext>
            </a:extLst>
          </p:cNvPr>
          <p:cNvSpPr>
            <a:spLocks noGrp="1"/>
          </p:cNvSpPr>
          <p:nvPr>
            <p:ph type="sldNum" sz="quarter" idx="12"/>
          </p:nvPr>
        </p:nvSpPr>
        <p:spPr/>
        <p:txBody>
          <a:bodyPr/>
          <a:lstStyle/>
          <a:p>
            <a:fld id="{BB44241B-2579-694C-B40C-A1E3D5F0E4EC}" type="slidenum">
              <a:rPr lang="en-JP" smtClean="0"/>
              <a:pPr/>
              <a:t>18</a:t>
            </a:fld>
            <a:endParaRPr lang="en-JP" dirty="0">
              <a:latin typeface="Meiryo UI" panose="020B0604030504040204" pitchFamily="34" charset="-128"/>
              <a:ea typeface="Meiryo UI" panose="020B0604030504040204" pitchFamily="34" charset="-128"/>
            </a:endParaRPr>
          </a:p>
        </p:txBody>
      </p:sp>
      <p:sp>
        <p:nvSpPr>
          <p:cNvPr id="5" name="正方形/長方形 4">
            <a:extLst>
              <a:ext uri="{FF2B5EF4-FFF2-40B4-BE49-F238E27FC236}">
                <a16:creationId xmlns:a16="http://schemas.microsoft.com/office/drawing/2014/main" id="{06F568A4-8AB4-E9AF-C41E-B2E65421C677}"/>
              </a:ext>
            </a:extLst>
          </p:cNvPr>
          <p:cNvSpPr/>
          <p:nvPr/>
        </p:nvSpPr>
        <p:spPr>
          <a:xfrm>
            <a:off x="1335208" y="4521020"/>
            <a:ext cx="3541326" cy="10122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67" b="1" dirty="0">
                <a:solidFill>
                  <a:schemeClr val="tx1"/>
                </a:solidFill>
                <a:latin typeface="Meiryo" panose="020B0604030504040204" pitchFamily="34" charset="-128"/>
                <a:ea typeface="Meiryo" panose="020B0604030504040204" pitchFamily="34" charset="-128"/>
              </a:rPr>
              <a:t>(* Network Intrusion Detection System)</a:t>
            </a:r>
            <a:endParaRPr kumimoji="1" lang="ja-JP" altLang="en-US" sz="1667" b="1">
              <a:solidFill>
                <a:schemeClr val="tx1"/>
              </a:solidFill>
              <a:latin typeface="Meiryo" panose="020B0604030504040204" pitchFamily="34" charset="-128"/>
              <a:ea typeface="Meiryo" panose="020B0604030504040204" pitchFamily="34" charset="-128"/>
            </a:endParaRPr>
          </a:p>
        </p:txBody>
      </p:sp>
      <p:pic>
        <p:nvPicPr>
          <p:cNvPr id="6" name="Picture 9">
            <a:extLst>
              <a:ext uri="{FF2B5EF4-FFF2-40B4-BE49-F238E27FC236}">
                <a16:creationId xmlns:a16="http://schemas.microsoft.com/office/drawing/2014/main" id="{7F8EFA64-77A7-50BC-A3EC-E10B8A80299C}"/>
              </a:ext>
            </a:extLst>
          </p:cNvPr>
          <p:cNvPicPr>
            <a:picLocks noChangeAspect="1"/>
          </p:cNvPicPr>
          <p:nvPr/>
        </p:nvPicPr>
        <p:blipFill>
          <a:blip r:embed="rId3"/>
          <a:srcRect l="35662" t="28384" r="13235" b="19257"/>
          <a:stretch>
            <a:fillRect/>
          </a:stretch>
        </p:blipFill>
        <p:spPr>
          <a:xfrm>
            <a:off x="4867014" y="3301885"/>
            <a:ext cx="3857558" cy="2971801"/>
          </a:xfrm>
          <a:prstGeom prst="rect">
            <a:avLst/>
          </a:prstGeom>
        </p:spPr>
      </p:pic>
      <p:sp>
        <p:nvSpPr>
          <p:cNvPr id="7" name="コンテンツ プレースホルダー 2">
            <a:extLst>
              <a:ext uri="{FF2B5EF4-FFF2-40B4-BE49-F238E27FC236}">
                <a16:creationId xmlns:a16="http://schemas.microsoft.com/office/drawing/2014/main" id="{03320AD8-8840-DD9A-08B2-451B0C966718}"/>
              </a:ext>
            </a:extLst>
          </p:cNvPr>
          <p:cNvSpPr txBox="1">
            <a:spLocks/>
          </p:cNvSpPr>
          <p:nvPr/>
        </p:nvSpPr>
        <p:spPr>
          <a:xfrm>
            <a:off x="212674" y="2703014"/>
            <a:ext cx="7886700" cy="2198596"/>
          </a:xfrm>
          <a:prstGeom prst="rect">
            <a:avLst/>
          </a:prstGeom>
        </p:spPr>
        <p:txBody>
          <a:bodyPr vert="horz" lIns="76200" tIns="38100" rIns="76200" bIns="38100" rtlCol="0">
            <a:norm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eiryo UI" panose="020B0604030504040204" pitchFamily="34" charset="-128"/>
                <a:ea typeface="Meiryo UI" panose="020B0604030504040204" pitchFamily="34" charset="-128"/>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eiryo UI" panose="020B0604030504040204" pitchFamily="34" charset="-128"/>
                <a:ea typeface="Meiryo UI" panose="020B0604030504040204" pitchFamily="34" charset="-128"/>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eiryo UI" panose="020B0604030504040204" pitchFamily="34" charset="-128"/>
                <a:ea typeface="Meiryo UI" panose="020B0604030504040204" pitchFamily="34" charset="-128"/>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eiryo UI" panose="020B0604030504040204" pitchFamily="34" charset="-128"/>
                <a:ea typeface="Meiryo UI" panose="020B0604030504040204" pitchFamily="34" charset="-128"/>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eiryo UI" panose="020B0604030504040204" pitchFamily="34" charset="-128"/>
                <a:ea typeface="Meiryo UI" panose="020B0604030504040204" pitchFamily="34" charset="-128"/>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r>
              <a:rPr kumimoji="1" lang="ja-JP" altLang="en-US" sz="2800">
                <a:latin typeface="Meiryo" panose="020B0604030504040204" pitchFamily="34" charset="-128"/>
                <a:ea typeface="Meiryo" panose="020B0604030504040204" pitchFamily="34" charset="-128"/>
              </a:rPr>
              <a:t>インターネットと</a:t>
            </a:r>
            <a:r>
              <a:rPr kumimoji="1" lang="en-US" altLang="ja-JP" sz="2800" dirty="0">
                <a:latin typeface="Meiryo" panose="020B0604030504040204" pitchFamily="34" charset="-128"/>
                <a:ea typeface="Meiryo" panose="020B0604030504040204" pitchFamily="34" charset="-128"/>
              </a:rPr>
              <a:t>LAN</a:t>
            </a:r>
            <a:r>
              <a:rPr kumimoji="1" lang="ja-JP" altLang="en-US" sz="2800">
                <a:latin typeface="Meiryo" panose="020B0604030504040204" pitchFamily="34" charset="-128"/>
                <a:ea typeface="Meiryo" panose="020B0604030504040204" pitchFamily="34" charset="-128"/>
              </a:rPr>
              <a:t>の境界に設置</a:t>
            </a:r>
            <a:endParaRPr kumimoji="1" lang="en-US" altLang="ja-JP" sz="2800" dirty="0">
              <a:latin typeface="Meiryo" panose="020B0604030504040204" pitchFamily="34" charset="-128"/>
              <a:ea typeface="Meiryo" panose="020B0604030504040204" pitchFamily="34" charset="-128"/>
            </a:endParaRPr>
          </a:p>
          <a:p>
            <a:r>
              <a:rPr kumimoji="1" lang="ja-JP" altLang="en-US" sz="2800">
                <a:latin typeface="Meiryo" panose="020B0604030504040204" pitchFamily="34" charset="-128"/>
                <a:ea typeface="Meiryo" panose="020B0604030504040204" pitchFamily="34" charset="-128"/>
              </a:rPr>
              <a:t>検出内容に応じて</a:t>
            </a:r>
            <a:br>
              <a:rPr kumimoji="1" lang="en-US" altLang="ja-JP" sz="2800" dirty="0">
                <a:latin typeface="Meiryo" panose="020B0604030504040204" pitchFamily="34" charset="-128"/>
                <a:ea typeface="Meiryo" panose="020B0604030504040204" pitchFamily="34" charset="-128"/>
              </a:rPr>
            </a:br>
            <a:r>
              <a:rPr kumimoji="1" lang="ja-JP" altLang="en-US" sz="2800">
                <a:latin typeface="Meiryo" panose="020B0604030504040204" pitchFamily="34" charset="-128"/>
                <a:ea typeface="Meiryo" panose="020B0604030504040204" pitchFamily="34" charset="-128"/>
              </a:rPr>
              <a:t>ログ出力・アラート発出の</a:t>
            </a:r>
            <a:br>
              <a:rPr kumimoji="1" lang="en-US" altLang="ja-JP" sz="2800" dirty="0">
                <a:latin typeface="Meiryo" panose="020B0604030504040204" pitchFamily="34" charset="-128"/>
                <a:ea typeface="Meiryo" panose="020B0604030504040204" pitchFamily="34" charset="-128"/>
              </a:rPr>
            </a:br>
            <a:r>
              <a:rPr kumimoji="1" lang="ja-JP" altLang="en-US" sz="2800">
                <a:latin typeface="Meiryo" panose="020B0604030504040204" pitchFamily="34" charset="-128"/>
                <a:ea typeface="Meiryo" panose="020B0604030504040204" pitchFamily="34" charset="-128"/>
              </a:rPr>
              <a:t>アクションを実行</a:t>
            </a:r>
            <a:endParaRPr kumimoji="1" lang="en-US" altLang="ja-JP" sz="2800" dirty="0">
              <a:latin typeface="Meiryo" panose="020B0604030504040204" pitchFamily="34" charset="-128"/>
              <a:ea typeface="Meiryo" panose="020B0604030504040204" pitchFamily="34" charset="-128"/>
            </a:endParaRPr>
          </a:p>
        </p:txBody>
      </p:sp>
      <p:sp>
        <p:nvSpPr>
          <p:cNvPr id="8" name="三角形 7">
            <a:extLst>
              <a:ext uri="{FF2B5EF4-FFF2-40B4-BE49-F238E27FC236}">
                <a16:creationId xmlns:a16="http://schemas.microsoft.com/office/drawing/2014/main" id="{A17501F2-71F1-94D8-4F41-7E706C06A15C}"/>
              </a:ext>
            </a:extLst>
          </p:cNvPr>
          <p:cNvSpPr/>
          <p:nvPr/>
        </p:nvSpPr>
        <p:spPr>
          <a:xfrm rot="5400000">
            <a:off x="4136796" y="3985650"/>
            <a:ext cx="2750535" cy="1383006"/>
          </a:xfrm>
          <a:prstGeom prst="triangle">
            <a:avLst>
              <a:gd name="adj" fmla="val 0"/>
            </a:avLst>
          </a:prstGeom>
          <a:solidFill>
            <a:srgbClr val="FBFBFB"/>
          </a:solidFill>
          <a:ln>
            <a:solidFill>
              <a:srgbClr val="FBFB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9" name="正方形/長方形 8">
            <a:extLst>
              <a:ext uri="{FF2B5EF4-FFF2-40B4-BE49-F238E27FC236}">
                <a16:creationId xmlns:a16="http://schemas.microsoft.com/office/drawing/2014/main" id="{7F75B75A-98EF-975B-1F7B-119563FF9419}"/>
              </a:ext>
            </a:extLst>
          </p:cNvPr>
          <p:cNvSpPr/>
          <p:nvPr/>
        </p:nvSpPr>
        <p:spPr>
          <a:xfrm>
            <a:off x="8524440" y="3301885"/>
            <a:ext cx="200132" cy="663624"/>
          </a:xfrm>
          <a:prstGeom prst="rect">
            <a:avLst/>
          </a:prstGeom>
          <a:solidFill>
            <a:srgbClr val="F1F1F2"/>
          </a:solidFill>
          <a:ln>
            <a:solidFill>
              <a:srgbClr val="F1F1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10" name="TextBox 12">
            <a:extLst>
              <a:ext uri="{FF2B5EF4-FFF2-40B4-BE49-F238E27FC236}">
                <a16:creationId xmlns:a16="http://schemas.microsoft.com/office/drawing/2014/main" id="{A33455DB-F42A-6D6E-1F1A-E986644579E9}"/>
              </a:ext>
            </a:extLst>
          </p:cNvPr>
          <p:cNvSpPr txBox="1"/>
          <p:nvPr/>
        </p:nvSpPr>
        <p:spPr>
          <a:xfrm>
            <a:off x="112406" y="5823795"/>
            <a:ext cx="4652687" cy="912814"/>
          </a:xfrm>
          <a:prstGeom prst="rect">
            <a:avLst/>
          </a:prstGeom>
          <a:noFill/>
        </p:spPr>
        <p:txBody>
          <a:bodyPr wrap="square">
            <a:spAutoFit/>
          </a:bodyPr>
          <a:lstStyle/>
          <a:p>
            <a:r>
              <a:rPr lang="en-US" sz="1333" dirty="0">
                <a:latin typeface="Meiryo" panose="020B0604030504040204" pitchFamily="34" charset="-128"/>
                <a:ea typeface="Meiryo" panose="020B0604030504040204" pitchFamily="34" charset="-128"/>
              </a:rPr>
              <a:t>[4] Stephen Cooper, Intrusion Detection Systems Explained: 12 Best IDS Software Tools Reviewed, https://</a:t>
            </a:r>
            <a:r>
              <a:rPr lang="en-US" sz="1333" dirty="0" err="1">
                <a:latin typeface="Meiryo" panose="020B0604030504040204" pitchFamily="34" charset="-128"/>
                <a:ea typeface="Meiryo" panose="020B0604030504040204" pitchFamily="34" charset="-128"/>
              </a:rPr>
              <a:t>www.comparitech.com</a:t>
            </a:r>
            <a:r>
              <a:rPr lang="en-US" sz="1333" dirty="0">
                <a:latin typeface="Meiryo" panose="020B0604030504040204" pitchFamily="34" charset="-128"/>
                <a:ea typeface="Meiryo" panose="020B0604030504040204" pitchFamily="34" charset="-128"/>
              </a:rPr>
              <a:t>/net-admin/network-intrusion-detection-tools/ (参照日:2025/11/27)</a:t>
            </a:r>
          </a:p>
        </p:txBody>
      </p:sp>
      <p:sp>
        <p:nvSpPr>
          <p:cNvPr id="11" name="Shape 0">
            <a:extLst>
              <a:ext uri="{FF2B5EF4-FFF2-40B4-BE49-F238E27FC236}">
                <a16:creationId xmlns:a16="http://schemas.microsoft.com/office/drawing/2014/main" id="{E9562081-D07C-095C-D6B1-553A8B59C0F1}"/>
              </a:ext>
            </a:extLst>
          </p:cNvPr>
          <p:cNvSpPr/>
          <p:nvPr/>
        </p:nvSpPr>
        <p:spPr>
          <a:xfrm>
            <a:off x="0" y="0"/>
            <a:ext cx="9144000" cy="703227"/>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r>
              <a:rPr kumimoji="1" lang="ja-JP" altLang="en-US" sz="3600" b="1">
                <a:latin typeface="Meiryo" panose="020B0604030504040204" pitchFamily="34" charset="-128"/>
                <a:ea typeface="Meiryo" panose="020B0604030504040204" pitchFamily="34" charset="-128"/>
              </a:rPr>
              <a:t>ネットワーク侵入検知システム</a:t>
            </a:r>
            <a:r>
              <a:rPr kumimoji="1" lang="en-US" altLang="ja-JP" sz="3600" b="1" dirty="0">
                <a:latin typeface="Meiryo" panose="020B0604030504040204" pitchFamily="34" charset="-128"/>
                <a:ea typeface="Meiryo" panose="020B0604030504040204" pitchFamily="34" charset="-128"/>
              </a:rPr>
              <a:t>(NIDS</a:t>
            </a:r>
            <a:r>
              <a:rPr kumimoji="1" lang="ja-JP" altLang="en-US" sz="3600" b="1">
                <a:latin typeface="Meiryo" panose="020B0604030504040204" pitchFamily="34" charset="-128"/>
                <a:ea typeface="Meiryo" panose="020B0604030504040204" pitchFamily="34" charset="-128"/>
              </a:rPr>
              <a:t>）</a:t>
            </a:r>
            <a:endParaRPr lang="en-JP" sz="3600" b="1" dirty="0"/>
          </a:p>
        </p:txBody>
      </p:sp>
    </p:spTree>
    <p:extLst>
      <p:ext uri="{BB962C8B-B14F-4D97-AF65-F5344CB8AC3E}">
        <p14:creationId xmlns:p14="http://schemas.microsoft.com/office/powerpoint/2010/main" val="2924556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1EE4557-2136-3F27-5ED6-6FA79ADB1E9A}"/>
              </a:ext>
            </a:extLst>
          </p:cNvPr>
          <p:cNvSpPr>
            <a:spLocks noGrp="1"/>
          </p:cNvSpPr>
          <p:nvPr>
            <p:ph type="sldNum" sz="quarter" idx="12"/>
          </p:nvPr>
        </p:nvSpPr>
        <p:spPr/>
        <p:txBody>
          <a:bodyPr/>
          <a:lstStyle/>
          <a:p>
            <a:fld id="{828F3BD4-1AF2-D144-8129-4D42AD448F5E}" type="slidenum">
              <a:rPr lang="en-JP" smtClean="0"/>
              <a:pPr/>
              <a:t>19</a:t>
            </a:fld>
            <a:endParaRPr lang="en-JP" dirty="0"/>
          </a:p>
        </p:txBody>
      </p:sp>
      <p:sp>
        <p:nvSpPr>
          <p:cNvPr id="5" name="Shape 0">
            <a:extLst>
              <a:ext uri="{FF2B5EF4-FFF2-40B4-BE49-F238E27FC236}">
                <a16:creationId xmlns:a16="http://schemas.microsoft.com/office/drawing/2014/main" id="{F825AC47-1E5D-A864-01B2-A86C87C6EB6E}"/>
              </a:ext>
            </a:extLst>
          </p:cNvPr>
          <p:cNvSpPr/>
          <p:nvPr/>
        </p:nvSpPr>
        <p:spPr>
          <a:xfrm>
            <a:off x="13491" y="0"/>
            <a:ext cx="9144000" cy="48635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l" fontAlgn="base"/>
            <a:r>
              <a:rPr lang="en-US"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rPr>
              <a:t>ARP</a:t>
            </a:r>
            <a:r>
              <a:rPr lang="ja-JP" altLang="en-US" sz="3200" b="1">
                <a:solidFill>
                  <a:srgbClr val="273239"/>
                </a:solidFill>
                <a:latin typeface="Meiryo" panose="020B0604030504040204" pitchFamily="34" charset="-128"/>
                <a:ea typeface="Meiryo" panose="020B0604030504040204" pitchFamily="34" charset="-128"/>
                <a:cs typeface="Times New Roman" panose="02020603050405020304" pitchFamily="18" charset="0"/>
              </a:rPr>
              <a:t>とは何か </a:t>
            </a:r>
            <a:r>
              <a:rPr lang="en-US" altLang="ja-JP"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rPr>
              <a:t>— </a:t>
            </a:r>
            <a:r>
              <a:rPr lang="ja-JP" altLang="en-US" sz="3200" b="1">
                <a:solidFill>
                  <a:srgbClr val="273239"/>
                </a:solidFill>
                <a:latin typeface="Meiryo" panose="020B0604030504040204" pitchFamily="34" charset="-128"/>
                <a:ea typeface="Meiryo" panose="020B0604030504040204" pitchFamily="34" charset="-128"/>
                <a:cs typeface="Times New Roman" panose="02020603050405020304" pitchFamily="18" charset="0"/>
              </a:rPr>
              <a:t>アドレス解決プロトコル</a:t>
            </a:r>
            <a:endParaRPr lang="en-US"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endParaRPr>
          </a:p>
        </p:txBody>
      </p:sp>
      <p:sp>
        <p:nvSpPr>
          <p:cNvPr id="6" name="Shape 3">
            <a:extLst>
              <a:ext uri="{FF2B5EF4-FFF2-40B4-BE49-F238E27FC236}">
                <a16:creationId xmlns:a16="http://schemas.microsoft.com/office/drawing/2014/main" id="{5569C82E-9141-5234-B6E4-EE7D0182D7D7}"/>
              </a:ext>
            </a:extLst>
          </p:cNvPr>
          <p:cNvSpPr/>
          <p:nvPr/>
        </p:nvSpPr>
        <p:spPr>
          <a:xfrm>
            <a:off x="196806" y="804792"/>
            <a:ext cx="8750388" cy="2014608"/>
          </a:xfrm>
          <a:prstGeom prst="rect">
            <a:avLst/>
          </a:prstGeom>
          <a:solidFill>
            <a:srgbClr val="E0F2F1"/>
          </a:solidFill>
          <a:ln w="12700">
            <a:solidFill>
              <a:srgbClr val="0D9488"/>
            </a:solidFill>
            <a:prstDash val="solid"/>
          </a:ln>
          <a:effectLst>
            <a:outerShdw blurRad="101600" dist="38100" dir="8100000" algn="bl" rotWithShape="0">
              <a:srgbClr val="000000">
                <a:alpha val="12000"/>
              </a:srgbClr>
            </a:outerShdw>
          </a:effectLst>
        </p:spPr>
        <p:txBody>
          <a:bodyPr/>
          <a:lstStyle/>
          <a:p>
            <a:pPr marL="0" indent="0">
              <a:buNone/>
            </a:pPr>
            <a:r>
              <a:rPr lang="en-US" sz="2400" dirty="0" err="1">
                <a:latin typeface="Meiryo" panose="020B0604030504040204" pitchFamily="34" charset="-128"/>
                <a:ea typeface="Meiryo" panose="020B0604030504040204" pitchFamily="34" charset="-128"/>
              </a:rPr>
              <a:t>ARP（Address</a:t>
            </a:r>
            <a:r>
              <a:rPr lang="en-US" sz="2400" dirty="0">
                <a:latin typeface="Meiryo" panose="020B0604030504040204" pitchFamily="34" charset="-128"/>
                <a:ea typeface="Meiryo" panose="020B0604030504040204" pitchFamily="34" charset="-128"/>
              </a:rPr>
              <a:t> Resolution </a:t>
            </a:r>
            <a:r>
              <a:rPr lang="en-US" sz="2400" dirty="0" err="1">
                <a:latin typeface="Meiryo" panose="020B0604030504040204" pitchFamily="34" charset="-128"/>
                <a:ea typeface="Meiryo" panose="020B0604030504040204" pitchFamily="34" charset="-128"/>
              </a:rPr>
              <a:t>Protocol）RFC</a:t>
            </a:r>
            <a:r>
              <a:rPr lang="en-US" sz="2400" dirty="0">
                <a:latin typeface="Meiryo" panose="020B0604030504040204" pitchFamily="34" charset="-128"/>
                <a:ea typeface="Meiryo" panose="020B0604030504040204" pitchFamily="34" charset="-128"/>
              </a:rPr>
              <a:t> 826, 1982</a:t>
            </a:r>
            <a:r>
              <a:rPr lang="ja-JP" altLang="en-US" sz="2400">
                <a:latin typeface="Meiryo" panose="020B0604030504040204" pitchFamily="34" charset="-128"/>
                <a:ea typeface="Meiryo" panose="020B0604030504040204" pitchFamily="34" charset="-128"/>
              </a:rPr>
              <a:t>年</a:t>
            </a:r>
          </a:p>
          <a:p>
            <a:pPr marL="0" indent="0">
              <a:buNone/>
            </a:pPr>
            <a:r>
              <a:rPr lang="ja-JP" altLang="en-US" sz="2400">
                <a:latin typeface="Meiryo" panose="020B0604030504040204" pitchFamily="34" charset="-128"/>
                <a:ea typeface="Meiryo" panose="020B0604030504040204" pitchFamily="34" charset="-128"/>
              </a:rPr>
              <a:t>ネットワーク上で </a:t>
            </a:r>
            <a:r>
              <a:rPr lang="en-US" sz="2400" dirty="0">
                <a:latin typeface="Meiryo" panose="020B0604030504040204" pitchFamily="34" charset="-128"/>
                <a:ea typeface="Meiryo" panose="020B0604030504040204" pitchFamily="34" charset="-128"/>
              </a:rPr>
              <a:t>IP</a:t>
            </a:r>
            <a:r>
              <a:rPr lang="ja-JP" altLang="en-US" sz="2400">
                <a:latin typeface="Meiryo" panose="020B0604030504040204" pitchFamily="34" charset="-128"/>
                <a:ea typeface="Meiryo" panose="020B0604030504040204" pitchFamily="34" charset="-128"/>
              </a:rPr>
              <a:t>アドレス（論理アドレス） を </a:t>
            </a:r>
            <a:r>
              <a:rPr lang="en-US" sz="2400" dirty="0">
                <a:latin typeface="Meiryo" panose="020B0604030504040204" pitchFamily="34" charset="-128"/>
                <a:ea typeface="Meiryo" panose="020B0604030504040204" pitchFamily="34" charset="-128"/>
              </a:rPr>
              <a:t>MAC</a:t>
            </a:r>
            <a:r>
              <a:rPr lang="ja-JP" altLang="en-US" sz="2400">
                <a:latin typeface="Meiryo" panose="020B0604030504040204" pitchFamily="34" charset="-128"/>
                <a:ea typeface="Meiryo" panose="020B0604030504040204" pitchFamily="34" charset="-128"/>
              </a:rPr>
              <a:t>アドレス（物理アドレス） に変換するプロトコル</a:t>
            </a:r>
            <a:r>
              <a:rPr lang="en-US" altLang="ja-JP" sz="2400" dirty="0">
                <a:latin typeface="Meiryo" panose="020B0604030504040204" pitchFamily="34" charset="-128"/>
                <a:ea typeface="Meiryo" panose="020B0604030504040204" pitchFamily="34" charset="-128"/>
              </a:rPr>
              <a:t>.</a:t>
            </a:r>
            <a:endParaRPr lang="ja-JP" altLang="en-US" sz="2400">
              <a:latin typeface="Meiryo" panose="020B0604030504040204" pitchFamily="34" charset="-128"/>
              <a:ea typeface="Meiryo" panose="020B0604030504040204" pitchFamily="34" charset="-128"/>
            </a:endParaRPr>
          </a:p>
          <a:p>
            <a:pPr marL="0" indent="0">
              <a:buNone/>
            </a:pPr>
            <a:r>
              <a:rPr lang="ja-JP" altLang="en-US" sz="2400">
                <a:latin typeface="Meiryo" panose="020B0604030504040204" pitchFamily="34" charset="-128"/>
                <a:ea typeface="Meiryo" panose="020B0604030504040204" pitchFamily="34" charset="-128"/>
              </a:rPr>
              <a:t>データを送るには「どの物理機器か」を特定する必要があり、</a:t>
            </a:r>
            <a:r>
              <a:rPr lang="en-US"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がその橋渡しをする</a:t>
            </a:r>
            <a:r>
              <a:rPr lang="mn-MN" altLang="ja-JP" sz="2400" dirty="0">
                <a:latin typeface="Meiryo" panose="020B0604030504040204" pitchFamily="34" charset="-128"/>
                <a:ea typeface="Meiryo" panose="020B0604030504040204" pitchFamily="34" charset="-128"/>
              </a:rPr>
              <a:t>.</a:t>
            </a:r>
            <a:endParaRPr lang="en-JP" sz="2400"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1A70F1B6-2050-AF26-8FDA-B842C445B6FC}"/>
              </a:ext>
            </a:extLst>
          </p:cNvPr>
          <p:cNvSpPr txBox="1"/>
          <p:nvPr/>
        </p:nvSpPr>
        <p:spPr>
          <a:xfrm>
            <a:off x="210297" y="3024884"/>
            <a:ext cx="8750388" cy="3416320"/>
          </a:xfrm>
          <a:prstGeom prst="rect">
            <a:avLst/>
          </a:prstGeom>
          <a:noFill/>
        </p:spPr>
        <p:txBody>
          <a:bodyPr wrap="square">
            <a:spAutoFit/>
          </a:bodyPr>
          <a:lstStyle/>
          <a:p>
            <a:r>
              <a:rPr lang="en-JP" sz="2400" b="1" dirty="0">
                <a:solidFill>
                  <a:srgbClr val="C00000"/>
                </a:solidFill>
                <a:latin typeface="Meiryo" panose="020B0604030504040204" pitchFamily="34" charset="-128"/>
                <a:ea typeface="Meiryo" panose="020B0604030504040204" pitchFamily="34" charset="-128"/>
              </a:rPr>
              <a:t>1.がゲートウェイへ送信したい </a:t>
            </a:r>
            <a:r>
              <a:rPr lang="en-JP" sz="1200" b="1" dirty="0">
                <a:solidFill>
                  <a:srgbClr val="C00000"/>
                </a:solidFill>
                <a:latin typeface="Meiryo" panose="020B0604030504040204" pitchFamily="34" charset="-128"/>
                <a:ea typeface="Meiryo" panose="020B0604030504040204" pitchFamily="34" charset="-128"/>
              </a:rPr>
              <a:t>[]</a:t>
            </a:r>
          </a:p>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「192.168.1.1 のMACは？」</a:t>
            </a:r>
          </a:p>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 </a:t>
            </a:r>
            <a:r>
              <a:rPr lang="en-US" sz="2400" dirty="0">
                <a:latin typeface="Meiryo" panose="020B0604030504040204" pitchFamily="34" charset="-128"/>
                <a:ea typeface="Meiryo" panose="020B0604030504040204" pitchFamily="34" charset="-128"/>
              </a:rPr>
              <a:t>Broadcast (ask everyone) </a:t>
            </a:r>
            <a:endParaRPr lang="mn-MN" sz="2400" dirty="0">
              <a:latin typeface="Meiryo" panose="020B0604030504040204" pitchFamily="34" charset="-128"/>
              <a:ea typeface="Meiryo" panose="020B0604030504040204" pitchFamily="34" charset="-128"/>
            </a:endParaRPr>
          </a:p>
          <a:p>
            <a:r>
              <a:rPr lang="en-JP" sz="2400" b="1" dirty="0">
                <a:solidFill>
                  <a:srgbClr val="C00000"/>
                </a:solidFill>
                <a:latin typeface="Meiryo" panose="020B0604030504040204" pitchFamily="34" charset="-128"/>
                <a:ea typeface="Meiryo" panose="020B0604030504040204" pitchFamily="34" charset="-128"/>
              </a:rPr>
              <a:t>2.ゲートウェイが返答</a:t>
            </a:r>
          </a:p>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「AA:</a:t>
            </a:r>
            <a:r>
              <a:rPr lang="en-US" sz="2400" dirty="0">
                <a:latin typeface="Meiryo" panose="020B0604030504040204" pitchFamily="34" charset="-128"/>
                <a:ea typeface="Meiryo" panose="020B0604030504040204" pitchFamily="34" charset="-128"/>
              </a:rPr>
              <a:t>AA</a:t>
            </a:r>
            <a:r>
              <a:rPr lang="en-JP" sz="2400" dirty="0">
                <a:latin typeface="Meiryo" panose="020B0604030504040204" pitchFamily="34" charset="-128"/>
                <a:ea typeface="Meiryo" panose="020B0604030504040204" pitchFamily="34" charset="-128"/>
              </a:rPr>
              <a:t>:AA:AA:AA:AA です」</a:t>
            </a:r>
          </a:p>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 ARP</a:t>
            </a:r>
            <a:r>
              <a:rPr lang="en-US" sz="2400" dirty="0">
                <a:latin typeface="Meiryo" panose="020B0604030504040204" pitchFamily="34" charset="-128"/>
                <a:ea typeface="Meiryo" panose="020B0604030504040204" pitchFamily="34" charset="-128"/>
              </a:rPr>
              <a:t> reply </a:t>
            </a:r>
            <a:r>
              <a:rPr lang="en-JP" sz="2400" dirty="0">
                <a:latin typeface="Meiryo" panose="020B0604030504040204" pitchFamily="34" charset="-128"/>
                <a:ea typeface="Meiryo" panose="020B0604030504040204" pitchFamily="34" charset="-128"/>
              </a:rPr>
              <a:t>（返答）</a:t>
            </a:r>
          </a:p>
          <a:p>
            <a:r>
              <a:rPr lang="en-JP" sz="2400" b="1" dirty="0">
                <a:solidFill>
                  <a:srgbClr val="C00000"/>
                </a:solidFill>
                <a:latin typeface="Meiryo" panose="020B0604030504040204" pitchFamily="34" charset="-128"/>
                <a:ea typeface="Meiryo" panose="020B0604030504040204" pitchFamily="34" charset="-128"/>
              </a:rPr>
              <a:t>3.スマートロックがキャッシュに記録</a:t>
            </a:r>
          </a:p>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192.168.1.1 → AA:AA:AA</a:t>
            </a:r>
          </a:p>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 次回からARPなしで通信</a:t>
            </a:r>
          </a:p>
        </p:txBody>
      </p:sp>
      <p:sp>
        <p:nvSpPr>
          <p:cNvPr id="9" name="TextBox 8">
            <a:extLst>
              <a:ext uri="{FF2B5EF4-FFF2-40B4-BE49-F238E27FC236}">
                <a16:creationId xmlns:a16="http://schemas.microsoft.com/office/drawing/2014/main" id="{B771DDDB-4C09-17AD-8713-070D7052D37B}"/>
              </a:ext>
            </a:extLst>
          </p:cNvPr>
          <p:cNvSpPr txBox="1"/>
          <p:nvPr/>
        </p:nvSpPr>
        <p:spPr>
          <a:xfrm>
            <a:off x="196806" y="6508188"/>
            <a:ext cx="2728696" cy="276999"/>
          </a:xfrm>
          <a:prstGeom prst="rect">
            <a:avLst/>
          </a:prstGeom>
          <a:noFill/>
        </p:spPr>
        <p:txBody>
          <a:bodyPr wrap="none" rtlCol="0">
            <a:spAutoFit/>
          </a:bodyPr>
          <a:lstStyle/>
          <a:p>
            <a:r>
              <a:rPr lang="en-US" sz="1200" dirty="0">
                <a:hlinkClick r:id="rId3"/>
              </a:rPr>
              <a:t>https://www.rfc-editor.org/rfc/rfc826</a:t>
            </a:r>
            <a:r>
              <a:rPr lang="en-US" sz="1200" dirty="0"/>
              <a:t> [1]</a:t>
            </a:r>
            <a:endParaRPr lang="en-JP" sz="1200" dirty="0"/>
          </a:p>
        </p:txBody>
      </p:sp>
    </p:spTree>
    <p:extLst>
      <p:ext uri="{BB962C8B-B14F-4D97-AF65-F5344CB8AC3E}">
        <p14:creationId xmlns:p14="http://schemas.microsoft.com/office/powerpoint/2010/main" val="3332241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E7C212-1F18-71AC-E7F3-120E0CADDA3C}"/>
              </a:ext>
            </a:extLst>
          </p:cNvPr>
          <p:cNvSpPr>
            <a:spLocks noGrp="1"/>
          </p:cNvSpPr>
          <p:nvPr>
            <p:ph type="sldNum" sz="quarter" idx="12"/>
          </p:nvPr>
        </p:nvSpPr>
        <p:spPr/>
        <p:txBody>
          <a:bodyPr/>
          <a:lstStyle/>
          <a:p>
            <a:fld id="{828F3BD4-1AF2-D144-8129-4D42AD448F5E}" type="slidenum">
              <a:rPr lang="en-JP" smtClean="0"/>
              <a:pPr/>
              <a:t>20</a:t>
            </a:fld>
            <a:endParaRPr lang="en-JP" dirty="0"/>
          </a:p>
        </p:txBody>
      </p:sp>
      <p:pic>
        <p:nvPicPr>
          <p:cNvPr id="1026" name="Picture 2" descr="パソコンを使うOL・女性会社員のイラスト">
            <a:extLst>
              <a:ext uri="{FF2B5EF4-FFF2-40B4-BE49-F238E27FC236}">
                <a16:creationId xmlns:a16="http://schemas.microsoft.com/office/drawing/2014/main" id="{96787F3B-9331-9525-46CB-33C680FA70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643" y="1291771"/>
            <a:ext cx="1292534" cy="129902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4C1052C5-E584-FF5D-54B2-B494F02E57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1306" y="1098025"/>
            <a:ext cx="1292534" cy="115350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F9FF6CB-F530-B87A-0635-9D8BFB09786A}"/>
              </a:ext>
            </a:extLst>
          </p:cNvPr>
          <p:cNvPicPr>
            <a:picLocks noChangeAspect="1"/>
          </p:cNvPicPr>
          <p:nvPr/>
        </p:nvPicPr>
        <p:blipFill>
          <a:blip r:embed="rId5"/>
          <a:stretch>
            <a:fillRect/>
          </a:stretch>
        </p:blipFill>
        <p:spPr>
          <a:xfrm>
            <a:off x="3503486" y="859549"/>
            <a:ext cx="1467908" cy="643932"/>
          </a:xfrm>
          <a:prstGeom prst="rect">
            <a:avLst/>
          </a:prstGeom>
        </p:spPr>
      </p:pic>
      <p:graphicFrame>
        <p:nvGraphicFramePr>
          <p:cNvPr id="5" name="Table 4">
            <a:extLst>
              <a:ext uri="{FF2B5EF4-FFF2-40B4-BE49-F238E27FC236}">
                <a16:creationId xmlns:a16="http://schemas.microsoft.com/office/drawing/2014/main" id="{8C48245D-69A6-5AEB-0FFD-C75FEA81FEA9}"/>
              </a:ext>
            </a:extLst>
          </p:cNvPr>
          <p:cNvGraphicFramePr>
            <a:graphicFrameLocks noGrp="1"/>
          </p:cNvGraphicFramePr>
          <p:nvPr>
            <p:extLst>
              <p:ext uri="{D42A27DB-BD31-4B8C-83A1-F6EECF244321}">
                <p14:modId xmlns:p14="http://schemas.microsoft.com/office/powerpoint/2010/main" val="3167148646"/>
              </p:ext>
            </p:extLst>
          </p:nvPr>
        </p:nvGraphicFramePr>
        <p:xfrm>
          <a:off x="133165" y="4083608"/>
          <a:ext cx="3950542" cy="1993627"/>
        </p:xfrm>
        <a:graphic>
          <a:graphicData uri="http://schemas.openxmlformats.org/drawingml/2006/table">
            <a:tbl>
              <a:tblPr firstRow="1" firstCol="1" bandRow="1">
                <a:tableStyleId>{E8B1032C-EA38-4F05-BA0D-38AFFFC7BED3}</a:tableStyleId>
              </a:tblPr>
              <a:tblGrid>
                <a:gridCol w="1813442">
                  <a:extLst>
                    <a:ext uri="{9D8B030D-6E8A-4147-A177-3AD203B41FA5}">
                      <a16:colId xmlns:a16="http://schemas.microsoft.com/office/drawing/2014/main" val="3662228784"/>
                    </a:ext>
                  </a:extLst>
                </a:gridCol>
                <a:gridCol w="2137100">
                  <a:extLst>
                    <a:ext uri="{9D8B030D-6E8A-4147-A177-3AD203B41FA5}">
                      <a16:colId xmlns:a16="http://schemas.microsoft.com/office/drawing/2014/main" val="3743810619"/>
                    </a:ext>
                  </a:extLst>
                </a:gridCol>
              </a:tblGrid>
              <a:tr h="43559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b="1" kern="1200" dirty="0">
                        <a:solidFill>
                          <a:schemeClr val="tx1"/>
                        </a:solidFill>
                        <a:effectLst/>
                        <a:latin typeface="Meiryo" panose="020B0604030504040204" pitchFamily="34" charset="-128"/>
                        <a:ea typeface="Meiryo" panose="020B0604030504040204" pitchFamily="3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effectLst/>
                          <a:latin typeface="Meiryo" panose="020B0604030504040204" pitchFamily="34" charset="-128"/>
                          <a:ea typeface="Meiryo" panose="020B0604030504040204" pitchFamily="34" charset="-128"/>
                        </a:rPr>
                        <a:t>Host A – ARP Cache Table</a:t>
                      </a:r>
                      <a:endParaRPr lang="en-JP" sz="1600" b="1" kern="1200" dirty="0">
                        <a:solidFill>
                          <a:schemeClr val="tx1"/>
                        </a:solidFill>
                        <a:effectLst/>
                        <a:latin typeface="Meiryo" panose="020B0604030504040204" pitchFamily="34" charset="-128"/>
                        <a:ea typeface="Meiryo" panose="020B0604030504040204" pitchFamily="34" charset="-128"/>
                      </a:endParaRPr>
                    </a:p>
                    <a:p>
                      <a:pPr algn="ctr"/>
                      <a:endParaRPr lang="en-JP" sz="1600"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tc hMerge="1">
                  <a:txBody>
                    <a:bodyPr/>
                    <a:lstStyle/>
                    <a:p>
                      <a:pPr algn="ctr"/>
                      <a:r>
                        <a:rPr lang="en-JP" sz="1200" dirty="0">
                          <a:effectLst/>
                        </a:rPr>
                        <a:t>IP хаяг</a:t>
                      </a:r>
                      <a:endParaRPr lang="en-JP" sz="1200" dirty="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73116597"/>
                  </a:ext>
                </a:extLst>
              </a:tr>
              <a:tr h="514407">
                <a:tc>
                  <a:txBody>
                    <a:bodyPr/>
                    <a:lstStyle/>
                    <a:p>
                      <a:pPr algn="ctr"/>
                      <a:r>
                        <a:rPr lang="en-JP" sz="1600" b="1" dirty="0">
                          <a:solidFill>
                            <a:schemeClr val="tx1"/>
                          </a:solidFill>
                          <a:effectLst/>
                          <a:latin typeface="Meiryo" panose="020B0604030504040204" pitchFamily="34" charset="-128"/>
                          <a:ea typeface="Meiryo" panose="020B0604030504040204" pitchFamily="34" charset="-128"/>
                        </a:rPr>
                        <a:t>IP </a:t>
                      </a:r>
                    </a:p>
                  </a:txBody>
                  <a:tcPr marL="9525" marR="9525" marT="9525" marB="9525" anchor="ctr"/>
                </a:tc>
                <a:tc>
                  <a:txBody>
                    <a:bodyPr/>
                    <a:lstStyle/>
                    <a:p>
                      <a:pPr algn="ctr"/>
                      <a:r>
                        <a:rPr lang="en-JP" sz="1600" b="1" dirty="0">
                          <a:solidFill>
                            <a:schemeClr val="tx1"/>
                          </a:solidFill>
                          <a:effectLst/>
                          <a:latin typeface="Meiryo" panose="020B0604030504040204" pitchFamily="34" charset="-128"/>
                          <a:ea typeface="Meiryo" panose="020B0604030504040204" pitchFamily="34" charset="-128"/>
                        </a:rPr>
                        <a:t>MAC </a:t>
                      </a:r>
                    </a:p>
                  </a:txBody>
                  <a:tcPr marL="9525" marR="9525" marT="9525" marB="9525" anchor="ctr"/>
                </a:tc>
                <a:extLst>
                  <a:ext uri="{0D108BD9-81ED-4DB2-BD59-A6C34878D82A}">
                    <a16:rowId xmlns:a16="http://schemas.microsoft.com/office/drawing/2014/main" val="1605301550"/>
                  </a:ext>
                </a:extLst>
              </a:tr>
              <a:tr h="728650">
                <a:tc>
                  <a:txBody>
                    <a:bodyPr/>
                    <a:lstStyle/>
                    <a:p>
                      <a:r>
                        <a:rPr lang="en-US" sz="1600" dirty="0">
                          <a:solidFill>
                            <a:schemeClr val="tx1"/>
                          </a:solidFill>
                          <a:latin typeface="Meiryo" panose="020B0604030504040204" pitchFamily="34" charset="-128"/>
                          <a:ea typeface="Meiryo" panose="020B0604030504040204" pitchFamily="34" charset="-128"/>
                        </a:rPr>
                        <a:t> IP: 192.168.1.1</a:t>
                      </a:r>
                    </a:p>
                  </a:txBody>
                  <a:tcPr marL="9525" marR="9525" marT="9525" marB="9525" anchor="ctr"/>
                </a:tc>
                <a:tc>
                  <a:txBody>
                    <a:bodyPr/>
                    <a:lstStyle/>
                    <a:p>
                      <a:r>
                        <a:rPr lang="en-JP" sz="1600" dirty="0">
                          <a:solidFill>
                            <a:schemeClr val="tx1"/>
                          </a:solidFill>
                          <a:effectLst/>
                          <a:latin typeface="Meiryo" panose="020B0604030504040204" pitchFamily="34" charset="-128"/>
                          <a:ea typeface="Meiryo" panose="020B0604030504040204" pitchFamily="34" charset="-128"/>
                        </a:rPr>
                        <a:t>    AA:AA:AA:AA:AA:AA</a:t>
                      </a:r>
                    </a:p>
                  </a:txBody>
                  <a:tcPr marL="9525" marR="9525" marT="9525" marB="9525" anchor="ctr"/>
                </a:tc>
                <a:extLst>
                  <a:ext uri="{0D108BD9-81ED-4DB2-BD59-A6C34878D82A}">
                    <a16:rowId xmlns:a16="http://schemas.microsoft.com/office/drawing/2014/main" val="3401524390"/>
                  </a:ext>
                </a:extLst>
              </a:tr>
            </a:tbl>
          </a:graphicData>
        </a:graphic>
      </p:graphicFrame>
      <p:cxnSp>
        <p:nvCxnSpPr>
          <p:cNvPr id="9" name="Straight Arrow Connector 8">
            <a:extLst>
              <a:ext uri="{FF2B5EF4-FFF2-40B4-BE49-F238E27FC236}">
                <a16:creationId xmlns:a16="http://schemas.microsoft.com/office/drawing/2014/main" id="{7F1AF8B5-6B7C-3D90-A350-CDE84CFE5669}"/>
              </a:ext>
            </a:extLst>
          </p:cNvPr>
          <p:cNvCxnSpPr>
            <a:cxnSpLocks/>
          </p:cNvCxnSpPr>
          <p:nvPr/>
        </p:nvCxnSpPr>
        <p:spPr>
          <a:xfrm flipH="1">
            <a:off x="2471057" y="2044972"/>
            <a:ext cx="3461657"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AC6BB3A-A166-E44F-6113-A27D8B83DA1A}"/>
              </a:ext>
            </a:extLst>
          </p:cNvPr>
          <p:cNvSpPr txBox="1"/>
          <p:nvPr/>
        </p:nvSpPr>
        <p:spPr>
          <a:xfrm>
            <a:off x="3309179" y="1700688"/>
            <a:ext cx="1888659" cy="369332"/>
          </a:xfrm>
          <a:prstGeom prst="rect">
            <a:avLst/>
          </a:prstGeom>
          <a:noFill/>
        </p:spPr>
        <p:txBody>
          <a:bodyPr wrap="none" rtlCol="0">
            <a:spAutoFit/>
          </a:bodyPr>
          <a:lstStyle/>
          <a:p>
            <a:r>
              <a:rPr lang="en-US" b="1" dirty="0"/>
              <a:t>I am : </a:t>
            </a:r>
            <a:r>
              <a:rPr lang="en-JP" b="1" dirty="0"/>
              <a:t>192.168.1.2</a:t>
            </a:r>
          </a:p>
        </p:txBody>
      </p:sp>
      <p:sp>
        <p:nvSpPr>
          <p:cNvPr id="21" name="TextBox 20">
            <a:extLst>
              <a:ext uri="{FF2B5EF4-FFF2-40B4-BE49-F238E27FC236}">
                <a16:creationId xmlns:a16="http://schemas.microsoft.com/office/drawing/2014/main" id="{E8066873-E5FE-B2AE-58D7-3B1CA7CE93CC}"/>
              </a:ext>
            </a:extLst>
          </p:cNvPr>
          <p:cNvSpPr txBox="1"/>
          <p:nvPr/>
        </p:nvSpPr>
        <p:spPr>
          <a:xfrm>
            <a:off x="3072492" y="2115156"/>
            <a:ext cx="4572000" cy="369332"/>
          </a:xfrm>
          <a:prstGeom prst="rect">
            <a:avLst/>
          </a:prstGeom>
          <a:noFill/>
        </p:spPr>
        <p:txBody>
          <a:bodyPr wrap="square">
            <a:spAutoFit/>
          </a:bodyPr>
          <a:lstStyle/>
          <a:p>
            <a:r>
              <a:rPr lang="en-US" b="1" dirty="0"/>
              <a:t>My MAC: BB:BB:BB:BB:BB:BB</a:t>
            </a:r>
            <a:endParaRPr lang="en-JP" b="1" dirty="0"/>
          </a:p>
        </p:txBody>
      </p:sp>
      <p:sp>
        <p:nvSpPr>
          <p:cNvPr id="25" name="Rounded Rectangle 24">
            <a:extLst>
              <a:ext uri="{FF2B5EF4-FFF2-40B4-BE49-F238E27FC236}">
                <a16:creationId xmlns:a16="http://schemas.microsoft.com/office/drawing/2014/main" id="{21DC0D6F-02DD-9BE9-3813-163C798566EB}"/>
              </a:ext>
            </a:extLst>
          </p:cNvPr>
          <p:cNvSpPr/>
          <p:nvPr/>
        </p:nvSpPr>
        <p:spPr>
          <a:xfrm>
            <a:off x="5951228" y="2412590"/>
            <a:ext cx="3059608" cy="1393343"/>
          </a:xfrm>
          <a:prstGeom prst="roundRect">
            <a:avLst/>
          </a:prstGeom>
          <a:solidFill>
            <a:schemeClr val="accent6">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dirty="0">
              <a:solidFill>
                <a:schemeClr val="tx1"/>
              </a:solidFill>
              <a:latin typeface="Meiryo" panose="020B0604030504040204" pitchFamily="34" charset="-128"/>
              <a:ea typeface="Meiryo" panose="020B0604030504040204" pitchFamily="34" charset="-128"/>
            </a:endParaRPr>
          </a:p>
          <a:p>
            <a:endParaRPr lang="mn-MN" dirty="0">
              <a:solidFill>
                <a:schemeClr val="tx1"/>
              </a:solidFill>
              <a:latin typeface="Meiryo" panose="020B0604030504040204" pitchFamily="34" charset="-128"/>
              <a:ea typeface="Meiryo" panose="020B0604030504040204" pitchFamily="34" charset="-128"/>
            </a:endParaRPr>
          </a:p>
          <a:p>
            <a:r>
              <a:rPr lang="en-US" dirty="0">
                <a:solidFill>
                  <a:schemeClr val="tx1"/>
                </a:solidFill>
                <a:latin typeface="Meiryo" panose="020B0604030504040204" pitchFamily="34" charset="-128"/>
                <a:ea typeface="Meiryo" panose="020B0604030504040204" pitchFamily="34" charset="-128"/>
              </a:rPr>
              <a:t>Host </a:t>
            </a:r>
            <a:r>
              <a:rPr lang="mn-MN" dirty="0">
                <a:solidFill>
                  <a:schemeClr val="tx1"/>
                </a:solidFill>
                <a:latin typeface="Meiryo" panose="020B0604030504040204" pitchFamily="34" charset="-128"/>
                <a:ea typeface="Meiryo" panose="020B0604030504040204" pitchFamily="34" charset="-128"/>
              </a:rPr>
              <a:t>B</a:t>
            </a:r>
            <a:endParaRPr lang="en-US" dirty="0">
              <a:solidFill>
                <a:schemeClr val="tx1"/>
              </a:solidFill>
              <a:latin typeface="Meiryo" panose="020B0604030504040204" pitchFamily="34" charset="-128"/>
              <a:ea typeface="Meiryo" panose="020B0604030504040204" pitchFamily="34" charset="-128"/>
            </a:endParaRPr>
          </a:p>
          <a:p>
            <a:r>
              <a:rPr lang="en-US" dirty="0">
                <a:solidFill>
                  <a:schemeClr val="tx1"/>
                </a:solidFill>
                <a:latin typeface="Meiryo" panose="020B0604030504040204" pitchFamily="34" charset="-128"/>
                <a:ea typeface="Meiryo" panose="020B0604030504040204" pitchFamily="34" charset="-128"/>
              </a:rPr>
              <a:t>IP: 192.168.1.</a:t>
            </a:r>
            <a:r>
              <a:rPr lang="mn-MN" dirty="0">
                <a:solidFill>
                  <a:schemeClr val="tx1"/>
                </a:solidFill>
                <a:latin typeface="Meiryo" panose="020B0604030504040204" pitchFamily="34" charset="-128"/>
                <a:ea typeface="Meiryo" panose="020B0604030504040204" pitchFamily="34" charset="-128"/>
              </a:rPr>
              <a:t>2</a:t>
            </a:r>
            <a:endParaRPr lang="en-US" dirty="0">
              <a:solidFill>
                <a:schemeClr val="tx1"/>
              </a:solidFill>
              <a:latin typeface="Meiryo" panose="020B0604030504040204" pitchFamily="34" charset="-128"/>
              <a:ea typeface="Meiryo" panose="020B0604030504040204" pitchFamily="34" charset="-128"/>
            </a:endParaRPr>
          </a:p>
          <a:p>
            <a:r>
              <a:rPr lang="en-US" dirty="0">
                <a:solidFill>
                  <a:schemeClr val="tx1"/>
                </a:solidFill>
                <a:latin typeface="Meiryo" panose="020B0604030504040204" pitchFamily="34" charset="-128"/>
                <a:ea typeface="Meiryo" panose="020B0604030504040204" pitchFamily="34" charset="-128"/>
              </a:rPr>
              <a:t>MAC: BB:BB:BB:BB:BB:BB</a:t>
            </a:r>
            <a:endParaRPr lang="en-JP" sz="1800" dirty="0">
              <a:solidFill>
                <a:schemeClr val="tx1"/>
              </a:solidFill>
              <a:effectLst/>
              <a:latin typeface="Meiryo" panose="020B0604030504040204" pitchFamily="34" charset="-128"/>
              <a:ea typeface="Meiryo" panose="020B0604030504040204" pitchFamily="34" charset="-128"/>
            </a:endParaRPr>
          </a:p>
          <a:p>
            <a:endParaRPr lang="en-US" dirty="0">
              <a:solidFill>
                <a:schemeClr val="tx1"/>
              </a:solidFill>
              <a:latin typeface="Meiryo" panose="020B0604030504040204" pitchFamily="34" charset="-128"/>
              <a:ea typeface="Meiryo" panose="020B0604030504040204" pitchFamily="34" charset="-128"/>
            </a:endParaRPr>
          </a:p>
          <a:p>
            <a:pPr algn="ctr"/>
            <a:endParaRPr lang="en-JP" dirty="0">
              <a:solidFill>
                <a:schemeClr val="tx1"/>
              </a:solidFill>
              <a:latin typeface="Meiryo" panose="020B0604030504040204" pitchFamily="34" charset="-128"/>
              <a:ea typeface="Meiryo" panose="020B0604030504040204" pitchFamily="34" charset="-128"/>
            </a:endParaRPr>
          </a:p>
        </p:txBody>
      </p:sp>
      <p:sp>
        <p:nvSpPr>
          <p:cNvPr id="2" name="Rounded Rectangle 1">
            <a:extLst>
              <a:ext uri="{FF2B5EF4-FFF2-40B4-BE49-F238E27FC236}">
                <a16:creationId xmlns:a16="http://schemas.microsoft.com/office/drawing/2014/main" id="{600146A7-4195-7251-6026-D1705DB34742}"/>
              </a:ext>
            </a:extLst>
          </p:cNvPr>
          <p:cNvSpPr/>
          <p:nvPr/>
        </p:nvSpPr>
        <p:spPr>
          <a:xfrm>
            <a:off x="133165" y="2554671"/>
            <a:ext cx="2939328" cy="1393343"/>
          </a:xfrm>
          <a:prstGeom prst="roundRect">
            <a:avLst/>
          </a:prstGeom>
          <a:solidFill>
            <a:schemeClr val="accent6">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dirty="0">
              <a:solidFill>
                <a:schemeClr val="tx1"/>
              </a:solidFill>
              <a:latin typeface="Meiryo" panose="020B0604030504040204" pitchFamily="34" charset="-128"/>
              <a:ea typeface="Meiryo" panose="020B0604030504040204" pitchFamily="34" charset="-128"/>
            </a:endParaRPr>
          </a:p>
          <a:p>
            <a:endParaRPr lang="mn-MN" dirty="0">
              <a:solidFill>
                <a:schemeClr val="tx1"/>
              </a:solidFill>
              <a:latin typeface="Meiryo" panose="020B0604030504040204" pitchFamily="34" charset="-128"/>
              <a:ea typeface="Meiryo" panose="020B0604030504040204" pitchFamily="34" charset="-128"/>
            </a:endParaRPr>
          </a:p>
          <a:p>
            <a:r>
              <a:rPr lang="en-US" dirty="0">
                <a:solidFill>
                  <a:schemeClr val="tx1"/>
                </a:solidFill>
                <a:latin typeface="Meiryo" panose="020B0604030504040204" pitchFamily="34" charset="-128"/>
                <a:ea typeface="Meiryo" panose="020B0604030504040204" pitchFamily="34" charset="-128"/>
              </a:rPr>
              <a:t>Host A </a:t>
            </a:r>
          </a:p>
          <a:p>
            <a:r>
              <a:rPr lang="en-US" dirty="0">
                <a:solidFill>
                  <a:schemeClr val="tx1"/>
                </a:solidFill>
                <a:latin typeface="Meiryo" panose="020B0604030504040204" pitchFamily="34" charset="-128"/>
                <a:ea typeface="Meiryo" panose="020B0604030504040204" pitchFamily="34" charset="-128"/>
              </a:rPr>
              <a:t>IP: 192.168.1.1</a:t>
            </a:r>
          </a:p>
          <a:p>
            <a:r>
              <a:rPr lang="en-US" dirty="0">
                <a:solidFill>
                  <a:schemeClr val="tx1"/>
                </a:solidFill>
                <a:latin typeface="Meiryo" panose="020B0604030504040204" pitchFamily="34" charset="-128"/>
                <a:ea typeface="Meiryo" panose="020B0604030504040204" pitchFamily="34" charset="-128"/>
              </a:rPr>
              <a:t>MAC:</a:t>
            </a:r>
            <a:endParaRPr lang="mn-MN" dirty="0">
              <a:solidFill>
                <a:schemeClr val="tx1"/>
              </a:solidFill>
              <a:latin typeface="Meiryo" panose="020B0604030504040204" pitchFamily="34" charset="-128"/>
              <a:ea typeface="Meiryo" panose="020B0604030504040204" pitchFamily="34" charset="-128"/>
            </a:endParaRPr>
          </a:p>
          <a:p>
            <a:r>
              <a:rPr lang="en-JP" sz="1800" dirty="0">
                <a:solidFill>
                  <a:schemeClr val="tx1"/>
                </a:solidFill>
                <a:effectLst/>
                <a:latin typeface="Meiryo" panose="020B0604030504040204" pitchFamily="34" charset="-128"/>
                <a:ea typeface="Meiryo" panose="020B0604030504040204" pitchFamily="34" charset="-128"/>
              </a:rPr>
              <a:t>AA:AA:AA:AA:AA:AA</a:t>
            </a:r>
          </a:p>
          <a:p>
            <a:endParaRPr lang="en-US" dirty="0">
              <a:solidFill>
                <a:schemeClr val="tx1"/>
              </a:solidFill>
              <a:latin typeface="Meiryo" panose="020B0604030504040204" pitchFamily="34" charset="-128"/>
              <a:ea typeface="Meiryo" panose="020B0604030504040204" pitchFamily="34" charset="-128"/>
            </a:endParaRPr>
          </a:p>
          <a:p>
            <a:pPr algn="ctr"/>
            <a:endParaRPr lang="en-JP" dirty="0">
              <a:solidFill>
                <a:schemeClr val="tx1"/>
              </a:solidFill>
              <a:latin typeface="Meiryo" panose="020B0604030504040204" pitchFamily="34" charset="-128"/>
              <a:ea typeface="Meiryo" panose="020B0604030504040204" pitchFamily="34" charset="-128"/>
            </a:endParaRPr>
          </a:p>
        </p:txBody>
      </p:sp>
      <p:graphicFrame>
        <p:nvGraphicFramePr>
          <p:cNvPr id="6" name="Table 5">
            <a:extLst>
              <a:ext uri="{FF2B5EF4-FFF2-40B4-BE49-F238E27FC236}">
                <a16:creationId xmlns:a16="http://schemas.microsoft.com/office/drawing/2014/main" id="{5DFBC099-DCE0-FB6F-63EE-85CB62ABEBCF}"/>
              </a:ext>
            </a:extLst>
          </p:cNvPr>
          <p:cNvGraphicFramePr>
            <a:graphicFrameLocks noGrp="1"/>
          </p:cNvGraphicFramePr>
          <p:nvPr>
            <p:extLst>
              <p:ext uri="{D42A27DB-BD31-4B8C-83A1-F6EECF244321}">
                <p14:modId xmlns:p14="http://schemas.microsoft.com/office/powerpoint/2010/main" val="1216449665"/>
              </p:ext>
            </p:extLst>
          </p:nvPr>
        </p:nvGraphicFramePr>
        <p:xfrm>
          <a:off x="5060294" y="4038890"/>
          <a:ext cx="3950542" cy="1993627"/>
        </p:xfrm>
        <a:graphic>
          <a:graphicData uri="http://schemas.openxmlformats.org/drawingml/2006/table">
            <a:tbl>
              <a:tblPr firstRow="1" firstCol="1" bandRow="1">
                <a:tableStyleId>{E8B1032C-EA38-4F05-BA0D-38AFFFC7BED3}</a:tableStyleId>
              </a:tblPr>
              <a:tblGrid>
                <a:gridCol w="1813442">
                  <a:extLst>
                    <a:ext uri="{9D8B030D-6E8A-4147-A177-3AD203B41FA5}">
                      <a16:colId xmlns:a16="http://schemas.microsoft.com/office/drawing/2014/main" val="3662228784"/>
                    </a:ext>
                  </a:extLst>
                </a:gridCol>
                <a:gridCol w="2137100">
                  <a:extLst>
                    <a:ext uri="{9D8B030D-6E8A-4147-A177-3AD203B41FA5}">
                      <a16:colId xmlns:a16="http://schemas.microsoft.com/office/drawing/2014/main" val="3743810619"/>
                    </a:ext>
                  </a:extLst>
                </a:gridCol>
              </a:tblGrid>
              <a:tr h="43816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b="1" kern="1200" dirty="0">
                        <a:solidFill>
                          <a:schemeClr val="tx1"/>
                        </a:solidFill>
                        <a:effectLst/>
                        <a:latin typeface="Meiryo" panose="020B0604030504040204" pitchFamily="34" charset="-128"/>
                        <a:ea typeface="Meiryo" panose="020B0604030504040204" pitchFamily="3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effectLst/>
                          <a:latin typeface="Meiryo" panose="020B0604030504040204" pitchFamily="34" charset="-128"/>
                          <a:ea typeface="Meiryo" panose="020B0604030504040204" pitchFamily="34" charset="-128"/>
                        </a:rPr>
                        <a:t>Host B – ARP Cache Table</a:t>
                      </a:r>
                      <a:endParaRPr lang="en-JP" sz="1600" b="1" kern="1200" dirty="0">
                        <a:solidFill>
                          <a:schemeClr val="tx1"/>
                        </a:solidFill>
                        <a:effectLst/>
                        <a:latin typeface="Meiryo" panose="020B0604030504040204" pitchFamily="34" charset="-128"/>
                        <a:ea typeface="Meiryo" panose="020B0604030504040204" pitchFamily="34" charset="-128"/>
                      </a:endParaRPr>
                    </a:p>
                    <a:p>
                      <a:pPr algn="ctr"/>
                      <a:endParaRPr lang="en-JP" sz="1600"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tc hMerge="1">
                  <a:txBody>
                    <a:bodyPr/>
                    <a:lstStyle/>
                    <a:p>
                      <a:pPr algn="ctr"/>
                      <a:r>
                        <a:rPr lang="en-JP" sz="1200" dirty="0">
                          <a:effectLst/>
                        </a:rPr>
                        <a:t>IP хаяг</a:t>
                      </a:r>
                      <a:endParaRPr lang="en-JP" sz="1200" dirty="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73116597"/>
                  </a:ext>
                </a:extLst>
              </a:tr>
              <a:tr h="514407">
                <a:tc>
                  <a:txBody>
                    <a:bodyPr/>
                    <a:lstStyle/>
                    <a:p>
                      <a:pPr algn="ctr"/>
                      <a:r>
                        <a:rPr lang="en-JP" sz="1600" b="1" dirty="0">
                          <a:solidFill>
                            <a:schemeClr val="tx1"/>
                          </a:solidFill>
                          <a:effectLst/>
                          <a:latin typeface="Meiryo" panose="020B0604030504040204" pitchFamily="34" charset="-128"/>
                          <a:ea typeface="Meiryo" panose="020B0604030504040204" pitchFamily="34" charset="-128"/>
                        </a:rPr>
                        <a:t>IP </a:t>
                      </a:r>
                    </a:p>
                  </a:txBody>
                  <a:tcPr marL="9525" marR="9525" marT="9525" marB="9525" anchor="ctr"/>
                </a:tc>
                <a:tc>
                  <a:txBody>
                    <a:bodyPr/>
                    <a:lstStyle/>
                    <a:p>
                      <a:pPr algn="ctr"/>
                      <a:r>
                        <a:rPr lang="en-JP" sz="1600" b="1" dirty="0">
                          <a:solidFill>
                            <a:schemeClr val="tx1"/>
                          </a:solidFill>
                          <a:effectLst/>
                          <a:latin typeface="Meiryo" panose="020B0604030504040204" pitchFamily="34" charset="-128"/>
                          <a:ea typeface="Meiryo" panose="020B0604030504040204" pitchFamily="34" charset="-128"/>
                        </a:rPr>
                        <a:t>MAC </a:t>
                      </a:r>
                    </a:p>
                  </a:txBody>
                  <a:tcPr marL="9525" marR="9525" marT="9525" marB="9525" anchor="ctr"/>
                </a:tc>
                <a:extLst>
                  <a:ext uri="{0D108BD9-81ED-4DB2-BD59-A6C34878D82A}">
                    <a16:rowId xmlns:a16="http://schemas.microsoft.com/office/drawing/2014/main" val="1605301550"/>
                  </a:ext>
                </a:extLst>
              </a:tr>
              <a:tr h="728650">
                <a:tc>
                  <a:txBody>
                    <a:bodyPr/>
                    <a:lstStyle/>
                    <a:p>
                      <a:r>
                        <a:rPr lang="en-US" sz="1600" dirty="0">
                          <a:solidFill>
                            <a:schemeClr val="tx1"/>
                          </a:solidFill>
                          <a:latin typeface="Meiryo" panose="020B0604030504040204" pitchFamily="34" charset="-128"/>
                          <a:ea typeface="Meiryo" panose="020B0604030504040204" pitchFamily="34" charset="-128"/>
                        </a:rPr>
                        <a:t>  IP: 192.168.1.2</a:t>
                      </a:r>
                    </a:p>
                  </a:txBody>
                  <a:tcPr marL="9525" marR="9525" marT="9525" marB="9525" anchor="ctr"/>
                </a:tc>
                <a:tc>
                  <a:txBody>
                    <a:bodyPr/>
                    <a:lstStyle/>
                    <a:p>
                      <a:r>
                        <a:rPr lang="en-US" sz="1600" dirty="0">
                          <a:solidFill>
                            <a:schemeClr val="tx1"/>
                          </a:solidFill>
                          <a:latin typeface="Meiryo" panose="020B0604030504040204" pitchFamily="34" charset="-128"/>
                          <a:ea typeface="Meiryo" panose="020B0604030504040204" pitchFamily="34" charset="-128"/>
                        </a:rPr>
                        <a:t>  BB:BB:BB:BB:BB:BB</a:t>
                      </a:r>
                      <a:endParaRPr lang="en-JP" sz="1600"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extLst>
                  <a:ext uri="{0D108BD9-81ED-4DB2-BD59-A6C34878D82A}">
                    <a16:rowId xmlns:a16="http://schemas.microsoft.com/office/drawing/2014/main" val="3401524390"/>
                  </a:ext>
                </a:extLst>
              </a:tr>
            </a:tbl>
          </a:graphicData>
        </a:graphic>
      </p:graphicFrame>
      <p:sp>
        <p:nvSpPr>
          <p:cNvPr id="10" name="Shape 0">
            <a:extLst>
              <a:ext uri="{FF2B5EF4-FFF2-40B4-BE49-F238E27FC236}">
                <a16:creationId xmlns:a16="http://schemas.microsoft.com/office/drawing/2014/main" id="{7A2AB6BA-1EE8-EE97-C5DB-0313B33BBCB9}"/>
              </a:ext>
            </a:extLst>
          </p:cNvPr>
          <p:cNvSpPr/>
          <p:nvPr/>
        </p:nvSpPr>
        <p:spPr>
          <a:xfrm>
            <a:off x="13491" y="0"/>
            <a:ext cx="9144000" cy="48635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ctr" fontAlgn="base"/>
            <a:r>
              <a:rPr lang="en-US" sz="3200" b="1" dirty="0">
                <a:latin typeface="Meiryo" panose="020B0604030504040204" pitchFamily="34" charset="-128"/>
                <a:ea typeface="Meiryo" panose="020B0604030504040204" pitchFamily="34" charset="-128"/>
              </a:rPr>
              <a:t>ARP Cache Table for Host A and Host B</a:t>
            </a:r>
            <a:endParaRPr lang="en-US" sz="3200" dirty="0">
              <a:latin typeface="Meiryo" panose="020B0604030504040204" pitchFamily="34" charset="-128"/>
              <a:ea typeface="Meiryo" panose="020B0604030504040204" pitchFamily="34" charset="-128"/>
            </a:endParaRPr>
          </a:p>
          <a:p>
            <a:pPr algn="l" fontAlgn="base"/>
            <a:endParaRPr lang="en-US"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endParaRPr>
          </a:p>
        </p:txBody>
      </p:sp>
    </p:spTree>
    <p:extLst>
      <p:ext uri="{BB962C8B-B14F-4D97-AF65-F5344CB8AC3E}">
        <p14:creationId xmlns:p14="http://schemas.microsoft.com/office/powerpoint/2010/main" val="16725228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E7C212-1F18-71AC-E7F3-120E0CADDA3C}"/>
              </a:ext>
            </a:extLst>
          </p:cNvPr>
          <p:cNvSpPr>
            <a:spLocks noGrp="1"/>
          </p:cNvSpPr>
          <p:nvPr>
            <p:ph type="sldNum" sz="quarter" idx="12"/>
          </p:nvPr>
        </p:nvSpPr>
        <p:spPr/>
        <p:txBody>
          <a:bodyPr/>
          <a:lstStyle/>
          <a:p>
            <a:fld id="{828F3BD4-1AF2-D144-8129-4D42AD448F5E}" type="slidenum">
              <a:rPr lang="en-JP" smtClean="0"/>
              <a:pPr/>
              <a:t>21</a:t>
            </a:fld>
            <a:endParaRPr lang="en-JP" dirty="0"/>
          </a:p>
        </p:txBody>
      </p:sp>
      <p:pic>
        <p:nvPicPr>
          <p:cNvPr id="1026" name="Picture 2" descr="パソコンを使うOL・女性会社員のイラスト">
            <a:extLst>
              <a:ext uri="{FF2B5EF4-FFF2-40B4-BE49-F238E27FC236}">
                <a16:creationId xmlns:a16="http://schemas.microsoft.com/office/drawing/2014/main" id="{96787F3B-9331-9525-46CB-33C680FA70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051" y="697592"/>
            <a:ext cx="1292534" cy="129902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4C1052C5-E584-FF5D-54B2-B494F02E57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0383" y="635881"/>
            <a:ext cx="1292534" cy="115350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F9FF6CB-F530-B87A-0635-9D8BFB09786A}"/>
              </a:ext>
            </a:extLst>
          </p:cNvPr>
          <p:cNvPicPr>
            <a:picLocks noChangeAspect="1"/>
          </p:cNvPicPr>
          <p:nvPr/>
        </p:nvPicPr>
        <p:blipFill>
          <a:blip r:embed="rId4"/>
          <a:stretch>
            <a:fillRect/>
          </a:stretch>
        </p:blipFill>
        <p:spPr>
          <a:xfrm>
            <a:off x="3533837" y="850207"/>
            <a:ext cx="1128026" cy="496899"/>
          </a:xfrm>
          <a:prstGeom prst="rect">
            <a:avLst/>
          </a:prstGeom>
        </p:spPr>
      </p:pic>
      <p:graphicFrame>
        <p:nvGraphicFramePr>
          <p:cNvPr id="5" name="Table 4">
            <a:extLst>
              <a:ext uri="{FF2B5EF4-FFF2-40B4-BE49-F238E27FC236}">
                <a16:creationId xmlns:a16="http://schemas.microsoft.com/office/drawing/2014/main" id="{8C48245D-69A6-5AEB-0FFD-C75FEA81FEA9}"/>
              </a:ext>
            </a:extLst>
          </p:cNvPr>
          <p:cNvGraphicFramePr>
            <a:graphicFrameLocks noGrp="1"/>
          </p:cNvGraphicFramePr>
          <p:nvPr>
            <p:extLst>
              <p:ext uri="{D42A27DB-BD31-4B8C-83A1-F6EECF244321}">
                <p14:modId xmlns:p14="http://schemas.microsoft.com/office/powerpoint/2010/main" val="326440966"/>
              </p:ext>
            </p:extLst>
          </p:nvPr>
        </p:nvGraphicFramePr>
        <p:xfrm>
          <a:off x="50665" y="3128300"/>
          <a:ext cx="4006328" cy="1157816"/>
        </p:xfrm>
        <a:graphic>
          <a:graphicData uri="http://schemas.openxmlformats.org/drawingml/2006/table">
            <a:tbl>
              <a:tblPr firstRow="1" firstCol="1" bandRow="1">
                <a:tableStyleId>{E8B1032C-EA38-4F05-BA0D-38AFFFC7BED3}</a:tableStyleId>
              </a:tblPr>
              <a:tblGrid>
                <a:gridCol w="1839050">
                  <a:extLst>
                    <a:ext uri="{9D8B030D-6E8A-4147-A177-3AD203B41FA5}">
                      <a16:colId xmlns:a16="http://schemas.microsoft.com/office/drawing/2014/main" val="3662228784"/>
                    </a:ext>
                  </a:extLst>
                </a:gridCol>
                <a:gridCol w="2167278">
                  <a:extLst>
                    <a:ext uri="{9D8B030D-6E8A-4147-A177-3AD203B41FA5}">
                      <a16:colId xmlns:a16="http://schemas.microsoft.com/office/drawing/2014/main" val="3743810619"/>
                    </a:ext>
                  </a:extLst>
                </a:gridCol>
              </a:tblGrid>
              <a:tr h="13882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effectLst/>
                        </a:rPr>
                        <a:t>Host </a:t>
                      </a:r>
                      <a:r>
                        <a:rPr lang="en-US" sz="1600" b="1" kern="1200" dirty="0">
                          <a:solidFill>
                            <a:srgbClr val="C00000"/>
                          </a:solidFill>
                          <a:effectLst/>
                        </a:rPr>
                        <a:t>A</a:t>
                      </a:r>
                      <a:r>
                        <a:rPr lang="en-US" sz="1600" b="1" kern="1200" dirty="0">
                          <a:solidFill>
                            <a:schemeClr val="tx1"/>
                          </a:solidFill>
                          <a:effectLst/>
                        </a:rPr>
                        <a:t> – ARP Cache Table</a:t>
                      </a:r>
                      <a:endParaRPr lang="mn-MN" sz="1600" b="1" kern="1200"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tc hMerge="1">
                  <a:txBody>
                    <a:bodyPr/>
                    <a:lstStyle/>
                    <a:p>
                      <a:pPr algn="ctr"/>
                      <a:r>
                        <a:rPr lang="en-JP" sz="1200" dirty="0">
                          <a:effectLst/>
                        </a:rPr>
                        <a:t>IP хаяг</a:t>
                      </a:r>
                      <a:endParaRPr lang="en-JP" sz="1200" dirty="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73116597"/>
                  </a:ext>
                </a:extLst>
              </a:tr>
              <a:tr h="223100">
                <a:tc>
                  <a:txBody>
                    <a:bodyPr/>
                    <a:lstStyle/>
                    <a:p>
                      <a:pPr algn="ctr"/>
                      <a:r>
                        <a:rPr lang="en-JP" sz="1600" b="1" dirty="0">
                          <a:solidFill>
                            <a:schemeClr val="tx1"/>
                          </a:solidFill>
                          <a:effectLst/>
                        </a:rPr>
                        <a:t>IP </a:t>
                      </a:r>
                      <a:endParaRPr lang="en-JP" sz="1600" b="1"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tc>
                  <a:txBody>
                    <a:bodyPr/>
                    <a:lstStyle/>
                    <a:p>
                      <a:pPr algn="ctr"/>
                      <a:r>
                        <a:rPr lang="en-JP" sz="1600" b="1" dirty="0">
                          <a:solidFill>
                            <a:schemeClr val="tx1"/>
                          </a:solidFill>
                          <a:effectLst/>
                        </a:rPr>
                        <a:t>MAC </a:t>
                      </a:r>
                      <a:endParaRPr lang="en-JP" sz="1600" b="1"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extLst>
                  <a:ext uri="{0D108BD9-81ED-4DB2-BD59-A6C34878D82A}">
                    <a16:rowId xmlns:a16="http://schemas.microsoft.com/office/drawing/2014/main" val="1605301550"/>
                  </a:ext>
                </a:extLst>
              </a:tr>
              <a:tr h="316018">
                <a:tc>
                  <a:txBody>
                    <a:bodyPr/>
                    <a:lstStyle/>
                    <a:p>
                      <a:r>
                        <a:rPr lang="en-US" sz="1600" strike="sngStrike" dirty="0">
                          <a:solidFill>
                            <a:schemeClr val="tx1"/>
                          </a:solidFill>
                        </a:rPr>
                        <a:t>IP: 192.168.1.2</a:t>
                      </a:r>
                      <a:endParaRPr lang="en-US" sz="1600" strike="sngStrike" dirty="0">
                        <a:solidFill>
                          <a:schemeClr val="tx1"/>
                        </a:solidFill>
                        <a:latin typeface="Meiryo" panose="020B0604030504040204" pitchFamily="34" charset="-128"/>
                        <a:ea typeface="Meiryo" panose="020B0604030504040204" pitchFamily="34" charset="-128"/>
                      </a:endParaRPr>
                    </a:p>
                  </a:txBody>
                  <a:tcPr marL="9525" marR="9525" marT="9525" marB="9525" anchor="ctr"/>
                </a:tc>
                <a:tc>
                  <a:txBody>
                    <a:bodyPr/>
                    <a:lstStyle/>
                    <a:p>
                      <a:r>
                        <a:rPr lang="en-JP" sz="1600" strike="sngStrike" dirty="0">
                          <a:solidFill>
                            <a:schemeClr val="tx1"/>
                          </a:solidFill>
                          <a:effectLst/>
                        </a:rPr>
                        <a:t>BB:BB:BB:BB:BB:BB</a:t>
                      </a:r>
                      <a:endParaRPr lang="en-JP" sz="1600" strike="sngStrike"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extLst>
                  <a:ext uri="{0D108BD9-81ED-4DB2-BD59-A6C34878D82A}">
                    <a16:rowId xmlns:a16="http://schemas.microsoft.com/office/drawing/2014/main" val="3401524390"/>
                  </a:ext>
                </a:extLst>
              </a:tr>
              <a:tr h="316018">
                <a:tc>
                  <a:txBody>
                    <a:bodyPr/>
                    <a:lstStyle/>
                    <a:p>
                      <a:r>
                        <a:rPr lang="en-US" sz="1600" b="1" dirty="0">
                          <a:solidFill>
                            <a:srgbClr val="C00000"/>
                          </a:solidFill>
                          <a:latin typeface="Meiryo" panose="020B0604030504040204" pitchFamily="34" charset="-128"/>
                          <a:ea typeface="Meiryo" panose="020B0604030504040204" pitchFamily="34" charset="-128"/>
                        </a:rPr>
                        <a:t>ip: 192.168.1.2</a:t>
                      </a:r>
                    </a:p>
                  </a:txBody>
                  <a:tcPr marL="9525" marR="9525" marT="9525" marB="9525" anchor="ctr"/>
                </a:tc>
                <a:tc>
                  <a:txBody>
                    <a:bodyPr/>
                    <a:lstStyle/>
                    <a:p>
                      <a:r>
                        <a:rPr lang="en-JP" sz="1600" b="1" dirty="0">
                          <a:solidFill>
                            <a:srgbClr val="C00000"/>
                          </a:solidFill>
                          <a:effectLst/>
                          <a:latin typeface="Meiryo" panose="020B0604030504040204" pitchFamily="34" charset="-128"/>
                          <a:ea typeface="Meiryo" panose="020B0604030504040204" pitchFamily="34" charset="-128"/>
                        </a:rPr>
                        <a:t>CC:CC:CC:CC:CC</a:t>
                      </a:r>
                    </a:p>
                  </a:txBody>
                  <a:tcPr marL="9525" marR="9525" marT="9525" marB="9525" anchor="ctr"/>
                </a:tc>
                <a:extLst>
                  <a:ext uri="{0D108BD9-81ED-4DB2-BD59-A6C34878D82A}">
                    <a16:rowId xmlns:a16="http://schemas.microsoft.com/office/drawing/2014/main" val="481083826"/>
                  </a:ext>
                </a:extLst>
              </a:tr>
            </a:tbl>
          </a:graphicData>
        </a:graphic>
      </p:graphicFrame>
      <p:sp>
        <p:nvSpPr>
          <p:cNvPr id="15" name="TextBox 14">
            <a:extLst>
              <a:ext uri="{FF2B5EF4-FFF2-40B4-BE49-F238E27FC236}">
                <a16:creationId xmlns:a16="http://schemas.microsoft.com/office/drawing/2014/main" id="{2AC6BB3A-A166-E44F-6113-A27D8B83DA1A}"/>
              </a:ext>
            </a:extLst>
          </p:cNvPr>
          <p:cNvSpPr txBox="1"/>
          <p:nvPr/>
        </p:nvSpPr>
        <p:spPr>
          <a:xfrm>
            <a:off x="3148008" y="1647580"/>
            <a:ext cx="1888659" cy="369332"/>
          </a:xfrm>
          <a:prstGeom prst="rect">
            <a:avLst/>
          </a:prstGeom>
          <a:noFill/>
        </p:spPr>
        <p:txBody>
          <a:bodyPr wrap="none" rtlCol="0">
            <a:spAutoFit/>
          </a:bodyPr>
          <a:lstStyle/>
          <a:p>
            <a:r>
              <a:rPr lang="en-US" b="1" dirty="0">
                <a:solidFill>
                  <a:srgbClr val="C00000"/>
                </a:solidFill>
              </a:rPr>
              <a:t>I am : </a:t>
            </a:r>
            <a:r>
              <a:rPr lang="en-JP" b="1" dirty="0">
                <a:solidFill>
                  <a:srgbClr val="C00000"/>
                </a:solidFill>
              </a:rPr>
              <a:t>192.168.1.3</a:t>
            </a:r>
          </a:p>
        </p:txBody>
      </p:sp>
      <p:sp>
        <p:nvSpPr>
          <p:cNvPr id="21" name="TextBox 20">
            <a:extLst>
              <a:ext uri="{FF2B5EF4-FFF2-40B4-BE49-F238E27FC236}">
                <a16:creationId xmlns:a16="http://schemas.microsoft.com/office/drawing/2014/main" id="{E8066873-E5FE-B2AE-58D7-3B1CA7CE93CC}"/>
              </a:ext>
            </a:extLst>
          </p:cNvPr>
          <p:cNvSpPr txBox="1"/>
          <p:nvPr/>
        </p:nvSpPr>
        <p:spPr>
          <a:xfrm>
            <a:off x="2914650" y="1999074"/>
            <a:ext cx="4572000" cy="369332"/>
          </a:xfrm>
          <a:prstGeom prst="rect">
            <a:avLst/>
          </a:prstGeom>
          <a:noFill/>
        </p:spPr>
        <p:txBody>
          <a:bodyPr wrap="square">
            <a:spAutoFit/>
          </a:bodyPr>
          <a:lstStyle/>
          <a:p>
            <a:r>
              <a:rPr lang="en-US" b="1" dirty="0">
                <a:solidFill>
                  <a:srgbClr val="C00000"/>
                </a:solidFill>
              </a:rPr>
              <a:t>My MAC: CC:CC:CC:CC:CC:CC</a:t>
            </a:r>
            <a:endParaRPr lang="en-JP" b="1" dirty="0">
              <a:solidFill>
                <a:srgbClr val="C00000"/>
              </a:solidFill>
            </a:endParaRPr>
          </a:p>
        </p:txBody>
      </p:sp>
      <p:sp>
        <p:nvSpPr>
          <p:cNvPr id="25" name="Rounded Rectangle 24">
            <a:extLst>
              <a:ext uri="{FF2B5EF4-FFF2-40B4-BE49-F238E27FC236}">
                <a16:creationId xmlns:a16="http://schemas.microsoft.com/office/drawing/2014/main" id="{21DC0D6F-02DD-9BE9-3813-163C798566EB}"/>
              </a:ext>
            </a:extLst>
          </p:cNvPr>
          <p:cNvSpPr/>
          <p:nvPr/>
        </p:nvSpPr>
        <p:spPr>
          <a:xfrm>
            <a:off x="6172736" y="2018513"/>
            <a:ext cx="2732689" cy="931563"/>
          </a:xfrm>
          <a:prstGeom prst="roundRect">
            <a:avLst/>
          </a:prstGeom>
          <a:solidFill>
            <a:schemeClr val="accent6">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dirty="0">
              <a:solidFill>
                <a:schemeClr val="tx1"/>
              </a:solidFill>
            </a:endParaRPr>
          </a:p>
          <a:p>
            <a:endParaRPr lang="mn-MN" dirty="0">
              <a:solidFill>
                <a:schemeClr val="tx1"/>
              </a:solidFill>
            </a:endParaRPr>
          </a:p>
          <a:p>
            <a:r>
              <a:rPr lang="en-US" dirty="0">
                <a:solidFill>
                  <a:schemeClr val="tx1"/>
                </a:solidFill>
              </a:rPr>
              <a:t>Host </a:t>
            </a:r>
            <a:r>
              <a:rPr lang="mn-MN" b="1" dirty="0">
                <a:solidFill>
                  <a:srgbClr val="C00000"/>
                </a:solidFill>
              </a:rPr>
              <a:t>B</a:t>
            </a:r>
            <a:endParaRPr lang="en-US" b="1" dirty="0">
              <a:solidFill>
                <a:srgbClr val="C00000"/>
              </a:solidFill>
            </a:endParaRPr>
          </a:p>
          <a:p>
            <a:r>
              <a:rPr lang="en-US" dirty="0">
                <a:solidFill>
                  <a:schemeClr val="tx1"/>
                </a:solidFill>
              </a:rPr>
              <a:t>IP: 192.168.1.</a:t>
            </a:r>
            <a:r>
              <a:rPr lang="mn-MN" dirty="0">
                <a:solidFill>
                  <a:schemeClr val="tx1"/>
                </a:solidFill>
              </a:rPr>
              <a:t>2</a:t>
            </a:r>
            <a:endParaRPr lang="en-US" dirty="0">
              <a:solidFill>
                <a:schemeClr val="tx1"/>
              </a:solidFill>
            </a:endParaRPr>
          </a:p>
          <a:p>
            <a:r>
              <a:rPr lang="en-US" dirty="0">
                <a:solidFill>
                  <a:schemeClr val="tx1"/>
                </a:solidFill>
              </a:rPr>
              <a:t>MAC: BB:BB:BB:BB:BB:BB</a:t>
            </a:r>
            <a:endParaRPr lang="en-JP" sz="1800" dirty="0">
              <a:solidFill>
                <a:schemeClr val="tx1"/>
              </a:solidFill>
              <a:effectLst/>
              <a:latin typeface="Times New Roman" panose="02020603050405020304" pitchFamily="18" charset="0"/>
              <a:ea typeface="Times New Roman" panose="02020603050405020304" pitchFamily="18" charset="0"/>
            </a:endParaRPr>
          </a:p>
          <a:p>
            <a:endParaRPr lang="en-US" dirty="0">
              <a:solidFill>
                <a:schemeClr val="tx1"/>
              </a:solidFill>
            </a:endParaRPr>
          </a:p>
          <a:p>
            <a:pPr algn="ctr"/>
            <a:endParaRPr lang="en-JP" dirty="0">
              <a:solidFill>
                <a:schemeClr val="tx1"/>
              </a:solidFill>
            </a:endParaRPr>
          </a:p>
        </p:txBody>
      </p:sp>
      <p:sp>
        <p:nvSpPr>
          <p:cNvPr id="2" name="Rounded Rectangle 1">
            <a:extLst>
              <a:ext uri="{FF2B5EF4-FFF2-40B4-BE49-F238E27FC236}">
                <a16:creationId xmlns:a16="http://schemas.microsoft.com/office/drawing/2014/main" id="{600146A7-4195-7251-6026-D1705DB34742}"/>
              </a:ext>
            </a:extLst>
          </p:cNvPr>
          <p:cNvSpPr/>
          <p:nvPr/>
        </p:nvSpPr>
        <p:spPr>
          <a:xfrm>
            <a:off x="145040" y="2044705"/>
            <a:ext cx="2732689" cy="931562"/>
          </a:xfrm>
          <a:prstGeom prst="roundRect">
            <a:avLst/>
          </a:prstGeom>
          <a:solidFill>
            <a:schemeClr val="accent6">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Host</a:t>
            </a:r>
            <a:r>
              <a:rPr lang="en-US" b="1" dirty="0">
                <a:solidFill>
                  <a:srgbClr val="C00000"/>
                </a:solidFill>
              </a:rPr>
              <a:t> A </a:t>
            </a:r>
          </a:p>
          <a:p>
            <a:r>
              <a:rPr lang="en-US" dirty="0">
                <a:solidFill>
                  <a:schemeClr val="tx1"/>
                </a:solidFill>
              </a:rPr>
              <a:t>IP: 192.168.1.1</a:t>
            </a:r>
          </a:p>
          <a:p>
            <a:r>
              <a:rPr lang="en-US" dirty="0">
                <a:solidFill>
                  <a:schemeClr val="tx1"/>
                </a:solidFill>
              </a:rPr>
              <a:t>MAC:</a:t>
            </a:r>
            <a:r>
              <a:rPr lang="en-JP" sz="1800" dirty="0">
                <a:solidFill>
                  <a:schemeClr val="tx1"/>
                </a:solidFill>
                <a:effectLst/>
              </a:rPr>
              <a:t>AA:AA:AA:AA:AA:AA</a:t>
            </a:r>
            <a:endParaRPr lang="en-JP" sz="1800" dirty="0">
              <a:solidFill>
                <a:schemeClr val="tx1"/>
              </a:solidFill>
              <a:effectLst/>
              <a:latin typeface="Times New Roman" panose="02020603050405020304" pitchFamily="18" charset="0"/>
              <a:ea typeface="Meiryo" panose="020B0604030504040204" pitchFamily="34" charset="-128"/>
            </a:endParaRPr>
          </a:p>
        </p:txBody>
      </p:sp>
      <p:graphicFrame>
        <p:nvGraphicFramePr>
          <p:cNvPr id="6" name="Table 5">
            <a:extLst>
              <a:ext uri="{FF2B5EF4-FFF2-40B4-BE49-F238E27FC236}">
                <a16:creationId xmlns:a16="http://schemas.microsoft.com/office/drawing/2014/main" id="{5DFBC099-DCE0-FB6F-63EE-85CB62ABEBCF}"/>
              </a:ext>
            </a:extLst>
          </p:cNvPr>
          <p:cNvGraphicFramePr>
            <a:graphicFrameLocks noGrp="1"/>
          </p:cNvGraphicFramePr>
          <p:nvPr>
            <p:extLst>
              <p:ext uri="{D42A27DB-BD31-4B8C-83A1-F6EECF244321}">
                <p14:modId xmlns:p14="http://schemas.microsoft.com/office/powerpoint/2010/main" val="476476499"/>
              </p:ext>
            </p:extLst>
          </p:nvPr>
        </p:nvGraphicFramePr>
        <p:xfrm>
          <a:off x="5079077" y="3075275"/>
          <a:ext cx="3950542" cy="926257"/>
        </p:xfrm>
        <a:graphic>
          <a:graphicData uri="http://schemas.openxmlformats.org/drawingml/2006/table">
            <a:tbl>
              <a:tblPr firstRow="1" firstCol="1" bandRow="1">
                <a:tableStyleId>{E8B1032C-EA38-4F05-BA0D-38AFFFC7BED3}</a:tableStyleId>
              </a:tblPr>
              <a:tblGrid>
                <a:gridCol w="1813442">
                  <a:extLst>
                    <a:ext uri="{9D8B030D-6E8A-4147-A177-3AD203B41FA5}">
                      <a16:colId xmlns:a16="http://schemas.microsoft.com/office/drawing/2014/main" val="3662228784"/>
                    </a:ext>
                  </a:extLst>
                </a:gridCol>
                <a:gridCol w="2137100">
                  <a:extLst>
                    <a:ext uri="{9D8B030D-6E8A-4147-A177-3AD203B41FA5}">
                      <a16:colId xmlns:a16="http://schemas.microsoft.com/office/drawing/2014/main" val="3743810619"/>
                    </a:ext>
                  </a:extLst>
                </a:gridCol>
              </a:tblGrid>
              <a:tr h="40047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effectLst/>
                        </a:rPr>
                        <a:t>Host</a:t>
                      </a:r>
                      <a:r>
                        <a:rPr lang="en-US" sz="1600" b="1" kern="1200" dirty="0">
                          <a:solidFill>
                            <a:srgbClr val="C00000"/>
                          </a:solidFill>
                          <a:effectLst/>
                        </a:rPr>
                        <a:t> B </a:t>
                      </a:r>
                      <a:r>
                        <a:rPr lang="en-US" sz="1600" b="1" kern="1200" dirty="0">
                          <a:solidFill>
                            <a:schemeClr val="tx1"/>
                          </a:solidFill>
                          <a:effectLst/>
                        </a:rPr>
                        <a:t>– ARP Cache Table</a:t>
                      </a:r>
                      <a:endParaRPr lang="en-JP" sz="1600" b="1" kern="1200"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tc hMerge="1">
                  <a:txBody>
                    <a:bodyPr/>
                    <a:lstStyle/>
                    <a:p>
                      <a:pPr algn="ctr"/>
                      <a:r>
                        <a:rPr lang="en-JP" sz="1200" dirty="0">
                          <a:effectLst/>
                        </a:rPr>
                        <a:t>IP хаяг</a:t>
                      </a:r>
                      <a:endParaRPr lang="en-JP" sz="1200" dirty="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73116597"/>
                  </a:ext>
                </a:extLst>
              </a:tr>
              <a:tr h="204106">
                <a:tc>
                  <a:txBody>
                    <a:bodyPr/>
                    <a:lstStyle/>
                    <a:p>
                      <a:pPr algn="ctr"/>
                      <a:r>
                        <a:rPr lang="en-JP" sz="1600" b="1" dirty="0">
                          <a:solidFill>
                            <a:schemeClr val="tx1"/>
                          </a:solidFill>
                          <a:effectLst/>
                        </a:rPr>
                        <a:t>IP </a:t>
                      </a:r>
                      <a:endParaRPr lang="en-JP" sz="1600" b="1"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tc>
                  <a:txBody>
                    <a:bodyPr/>
                    <a:lstStyle/>
                    <a:p>
                      <a:pPr algn="ctr"/>
                      <a:r>
                        <a:rPr lang="en-JP" sz="1600" b="1" dirty="0">
                          <a:solidFill>
                            <a:schemeClr val="tx1"/>
                          </a:solidFill>
                          <a:effectLst/>
                        </a:rPr>
                        <a:t>MAC </a:t>
                      </a:r>
                      <a:endParaRPr lang="en-JP" sz="1600" b="1"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extLst>
                  <a:ext uri="{0D108BD9-81ED-4DB2-BD59-A6C34878D82A}">
                    <a16:rowId xmlns:a16="http://schemas.microsoft.com/office/drawing/2014/main" val="1605301550"/>
                  </a:ext>
                </a:extLst>
              </a:tr>
              <a:tr h="225997">
                <a:tc>
                  <a:txBody>
                    <a:bodyPr/>
                    <a:lstStyle/>
                    <a:p>
                      <a:r>
                        <a:rPr lang="en-US" sz="1600" dirty="0">
                          <a:solidFill>
                            <a:schemeClr val="tx1"/>
                          </a:solidFill>
                        </a:rPr>
                        <a:t>IP: 192.168.1.2</a:t>
                      </a:r>
                      <a:endParaRPr lang="en-US" sz="1600" dirty="0">
                        <a:solidFill>
                          <a:schemeClr val="tx1"/>
                        </a:solidFill>
                        <a:latin typeface="Meiryo" panose="020B0604030504040204" pitchFamily="34" charset="-128"/>
                        <a:ea typeface="Meiryo" panose="020B0604030504040204" pitchFamily="34" charset="-128"/>
                      </a:endParaRPr>
                    </a:p>
                  </a:txBody>
                  <a:tcPr marL="9525" marR="9525" marT="9525" marB="9525" anchor="ctr"/>
                </a:tc>
                <a:tc>
                  <a:txBody>
                    <a:bodyPr/>
                    <a:lstStyle/>
                    <a:p>
                      <a:r>
                        <a:rPr lang="en-US" sz="1600" dirty="0">
                          <a:solidFill>
                            <a:schemeClr val="tx1"/>
                          </a:solidFill>
                        </a:rPr>
                        <a:t>AA:AA:AA:AA:AA:AA</a:t>
                      </a:r>
                      <a:endParaRPr lang="en-JP" sz="1600"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extLst>
                  <a:ext uri="{0D108BD9-81ED-4DB2-BD59-A6C34878D82A}">
                    <a16:rowId xmlns:a16="http://schemas.microsoft.com/office/drawing/2014/main" val="3401524390"/>
                  </a:ext>
                </a:extLst>
              </a:tr>
            </a:tbl>
          </a:graphicData>
        </a:graphic>
      </p:graphicFrame>
      <p:sp>
        <p:nvSpPr>
          <p:cNvPr id="10" name="Shape 0">
            <a:extLst>
              <a:ext uri="{FF2B5EF4-FFF2-40B4-BE49-F238E27FC236}">
                <a16:creationId xmlns:a16="http://schemas.microsoft.com/office/drawing/2014/main" id="{7A2AB6BA-1EE8-EE97-C5DB-0313B33BBCB9}"/>
              </a:ext>
            </a:extLst>
          </p:cNvPr>
          <p:cNvSpPr/>
          <p:nvPr/>
        </p:nvSpPr>
        <p:spPr>
          <a:xfrm>
            <a:off x="13491" y="0"/>
            <a:ext cx="9144000" cy="48635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457200" indent="-457200" fontAlgn="base">
              <a:buFont typeface="Wingdings" pitchFamily="2" charset="2"/>
              <a:buChar char="§"/>
            </a:pPr>
            <a:r>
              <a:rPr lang="en-US" sz="3200" b="1" dirty="0">
                <a:latin typeface="Meiryo" panose="020B0604030504040204" pitchFamily="34" charset="-128"/>
                <a:ea typeface="Meiryo" panose="020B0604030504040204" pitchFamily="34" charset="-128"/>
              </a:rPr>
              <a:t>After Attack ARP Cache Table</a:t>
            </a:r>
            <a:endParaRPr lang="en-US"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endParaRPr>
          </a:p>
        </p:txBody>
      </p:sp>
      <p:cxnSp>
        <p:nvCxnSpPr>
          <p:cNvPr id="12" name="Elbow Connector 11">
            <a:extLst>
              <a:ext uri="{FF2B5EF4-FFF2-40B4-BE49-F238E27FC236}">
                <a16:creationId xmlns:a16="http://schemas.microsoft.com/office/drawing/2014/main" id="{2B7D1823-BBD1-11AD-EAF3-48117062B42C}"/>
              </a:ext>
            </a:extLst>
          </p:cNvPr>
          <p:cNvCxnSpPr>
            <a:cxnSpLocks/>
            <a:endCxn id="2" idx="3"/>
          </p:cNvCxnSpPr>
          <p:nvPr/>
        </p:nvCxnSpPr>
        <p:spPr>
          <a:xfrm rot="16200000" flipV="1">
            <a:off x="2663342" y="2724873"/>
            <a:ext cx="2212908" cy="1784134"/>
          </a:xfrm>
          <a:prstGeom prst="bentConnector2">
            <a:avLst/>
          </a:prstGeom>
          <a:ln w="4445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7" name="Picture 4" descr="ハッカーのイラスト">
            <a:extLst>
              <a:ext uri="{FF2B5EF4-FFF2-40B4-BE49-F238E27FC236}">
                <a16:creationId xmlns:a16="http://schemas.microsoft.com/office/drawing/2014/main" id="{098CF81C-0F8C-6B48-F7D5-7FFED1B8C1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7987" y="4944291"/>
            <a:ext cx="1146629" cy="1146629"/>
          </a:xfrm>
          <a:prstGeom prst="rect">
            <a:avLst/>
          </a:prstGeom>
          <a:noFill/>
          <a:extLst>
            <a:ext uri="{909E8E84-426E-40DD-AFC4-6F175D3DCCD1}">
              <a14:hiddenFill xmlns:a14="http://schemas.microsoft.com/office/drawing/2010/main">
                <a:solidFill>
                  <a:srgbClr val="FFFFFF"/>
                </a:solidFill>
              </a14:hiddenFill>
            </a:ext>
          </a:extLst>
        </p:spPr>
      </p:pic>
      <p:sp>
        <p:nvSpPr>
          <p:cNvPr id="28" name="Rounded Rectangle 27">
            <a:extLst>
              <a:ext uri="{FF2B5EF4-FFF2-40B4-BE49-F238E27FC236}">
                <a16:creationId xmlns:a16="http://schemas.microsoft.com/office/drawing/2014/main" id="{8C1905C0-3226-A805-A519-E5874F72ED52}"/>
              </a:ext>
            </a:extLst>
          </p:cNvPr>
          <p:cNvSpPr/>
          <p:nvPr/>
        </p:nvSpPr>
        <p:spPr>
          <a:xfrm>
            <a:off x="1852802" y="4712747"/>
            <a:ext cx="2732689" cy="1249650"/>
          </a:xfrm>
          <a:prstGeom prst="round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b="1" dirty="0">
              <a:solidFill>
                <a:schemeClr val="tx1"/>
              </a:solidFill>
              <a:latin typeface="Meiryo" panose="020B0604030504040204" pitchFamily="34" charset="-128"/>
              <a:ea typeface="Meiryo" panose="020B0604030504040204" pitchFamily="34" charset="-128"/>
            </a:endParaRPr>
          </a:p>
          <a:p>
            <a:endParaRPr lang="mn-MN" b="1" dirty="0">
              <a:solidFill>
                <a:schemeClr val="tx1"/>
              </a:solidFill>
              <a:latin typeface="Meiryo" panose="020B0604030504040204" pitchFamily="34" charset="-128"/>
              <a:ea typeface="Meiryo" panose="020B0604030504040204" pitchFamily="34" charset="-128"/>
            </a:endParaRPr>
          </a:p>
          <a:p>
            <a:r>
              <a:rPr lang="en-US" b="1" dirty="0">
                <a:solidFill>
                  <a:schemeClr val="tx1"/>
                </a:solidFill>
                <a:latin typeface="Meiryo" panose="020B0604030504040204" pitchFamily="34" charset="-128"/>
                <a:ea typeface="Meiryo" panose="020B0604030504040204" pitchFamily="34" charset="-128"/>
              </a:rPr>
              <a:t>Attacker</a:t>
            </a:r>
          </a:p>
          <a:p>
            <a:r>
              <a:rPr lang="en-US" b="1" dirty="0">
                <a:solidFill>
                  <a:schemeClr val="tx1"/>
                </a:solidFill>
                <a:latin typeface="Meiryo" panose="020B0604030504040204" pitchFamily="34" charset="-128"/>
                <a:ea typeface="Meiryo" panose="020B0604030504040204" pitchFamily="34" charset="-128"/>
              </a:rPr>
              <a:t>IP: 192.168.1.</a:t>
            </a:r>
            <a:r>
              <a:rPr lang="mn-MN" b="1" dirty="0">
                <a:solidFill>
                  <a:schemeClr val="tx1"/>
                </a:solidFill>
                <a:latin typeface="Meiryo" panose="020B0604030504040204" pitchFamily="34" charset="-128"/>
                <a:ea typeface="Meiryo" panose="020B0604030504040204" pitchFamily="34" charset="-128"/>
              </a:rPr>
              <a:t>2</a:t>
            </a:r>
            <a:endParaRPr lang="en-US" b="1" dirty="0">
              <a:solidFill>
                <a:schemeClr val="tx1"/>
              </a:solidFill>
              <a:latin typeface="Meiryo" panose="020B0604030504040204" pitchFamily="34" charset="-128"/>
              <a:ea typeface="Meiryo" panose="020B0604030504040204" pitchFamily="34" charset="-128"/>
            </a:endParaRPr>
          </a:p>
          <a:p>
            <a:r>
              <a:rPr lang="en-US" b="1" dirty="0">
                <a:solidFill>
                  <a:srgbClr val="C00000"/>
                </a:solidFill>
                <a:latin typeface="Meiryo" panose="020B0604030504040204" pitchFamily="34" charset="-128"/>
                <a:ea typeface="Meiryo" panose="020B0604030504040204" pitchFamily="34" charset="-128"/>
              </a:rPr>
              <a:t>MAC: CC:CC:CC:CC:CC:CC</a:t>
            </a:r>
            <a:endParaRPr lang="en-JP" sz="1800" b="1" dirty="0">
              <a:solidFill>
                <a:srgbClr val="C00000"/>
              </a:solidFill>
              <a:effectLst/>
              <a:latin typeface="Meiryo" panose="020B0604030504040204" pitchFamily="34" charset="-128"/>
              <a:ea typeface="Meiryo" panose="020B0604030504040204" pitchFamily="34" charset="-128"/>
            </a:endParaRPr>
          </a:p>
          <a:p>
            <a:endParaRPr lang="en-US" b="1" dirty="0">
              <a:solidFill>
                <a:schemeClr val="tx1"/>
              </a:solidFill>
              <a:latin typeface="Meiryo" panose="020B0604030504040204" pitchFamily="34" charset="-128"/>
              <a:ea typeface="Meiryo" panose="020B0604030504040204" pitchFamily="34" charset="-128"/>
            </a:endParaRPr>
          </a:p>
          <a:p>
            <a:pPr algn="ctr"/>
            <a:endParaRPr lang="en-JP" b="1" dirty="0">
              <a:solidFill>
                <a:schemeClr val="tx1"/>
              </a:solidFill>
              <a:latin typeface="Meiryo" panose="020B0604030504040204" pitchFamily="34" charset="-128"/>
              <a:ea typeface="Meiryo" panose="020B0604030504040204" pitchFamily="34" charset="-128"/>
            </a:endParaRPr>
          </a:p>
        </p:txBody>
      </p:sp>
      <p:graphicFrame>
        <p:nvGraphicFramePr>
          <p:cNvPr id="30" name="Table 29">
            <a:extLst>
              <a:ext uri="{FF2B5EF4-FFF2-40B4-BE49-F238E27FC236}">
                <a16:creationId xmlns:a16="http://schemas.microsoft.com/office/drawing/2014/main" id="{F0031D2B-8194-1881-3EEC-E0EF35E0DA3C}"/>
              </a:ext>
            </a:extLst>
          </p:cNvPr>
          <p:cNvGraphicFramePr>
            <a:graphicFrameLocks noGrp="1"/>
          </p:cNvGraphicFramePr>
          <p:nvPr>
            <p:extLst>
              <p:ext uri="{D42A27DB-BD31-4B8C-83A1-F6EECF244321}">
                <p14:modId xmlns:p14="http://schemas.microsoft.com/office/powerpoint/2010/main" val="738952734"/>
              </p:ext>
            </p:extLst>
          </p:nvPr>
        </p:nvGraphicFramePr>
        <p:xfrm>
          <a:off x="4661863" y="4723394"/>
          <a:ext cx="4006328" cy="841798"/>
        </p:xfrm>
        <a:graphic>
          <a:graphicData uri="http://schemas.openxmlformats.org/drawingml/2006/table">
            <a:tbl>
              <a:tblPr firstRow="1" firstCol="1" bandRow="1">
                <a:tableStyleId>{ED083AE6-46FA-4A59-8FB0-9F97EB10719F}</a:tableStyleId>
              </a:tblPr>
              <a:tblGrid>
                <a:gridCol w="1839050">
                  <a:extLst>
                    <a:ext uri="{9D8B030D-6E8A-4147-A177-3AD203B41FA5}">
                      <a16:colId xmlns:a16="http://schemas.microsoft.com/office/drawing/2014/main" val="3662228784"/>
                    </a:ext>
                  </a:extLst>
                </a:gridCol>
                <a:gridCol w="2167278">
                  <a:extLst>
                    <a:ext uri="{9D8B030D-6E8A-4147-A177-3AD203B41FA5}">
                      <a16:colId xmlns:a16="http://schemas.microsoft.com/office/drawing/2014/main" val="3743810619"/>
                    </a:ext>
                  </a:extLst>
                </a:gridCol>
              </a:tblGrid>
              <a:tr h="13882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effectLst/>
                        </a:rPr>
                        <a:t>Attacker –  Cache Table</a:t>
                      </a:r>
                      <a:endParaRPr lang="mn-MN" sz="1600" b="1" kern="1200"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tc hMerge="1">
                  <a:txBody>
                    <a:bodyPr/>
                    <a:lstStyle/>
                    <a:p>
                      <a:pPr algn="ctr"/>
                      <a:r>
                        <a:rPr lang="en-JP" sz="1200" dirty="0">
                          <a:effectLst/>
                        </a:rPr>
                        <a:t>IP хаяг</a:t>
                      </a:r>
                      <a:endParaRPr lang="en-JP" sz="1200" dirty="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73116597"/>
                  </a:ext>
                </a:extLst>
              </a:tr>
              <a:tr h="223100">
                <a:tc>
                  <a:txBody>
                    <a:bodyPr/>
                    <a:lstStyle/>
                    <a:p>
                      <a:pPr algn="ctr"/>
                      <a:r>
                        <a:rPr lang="en-JP" sz="1600" b="1" dirty="0">
                          <a:solidFill>
                            <a:schemeClr val="tx1"/>
                          </a:solidFill>
                          <a:effectLst/>
                        </a:rPr>
                        <a:t>IP </a:t>
                      </a:r>
                      <a:endParaRPr lang="en-JP" sz="1600" b="1"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tc>
                  <a:txBody>
                    <a:bodyPr/>
                    <a:lstStyle/>
                    <a:p>
                      <a:pPr algn="ctr"/>
                      <a:r>
                        <a:rPr lang="en-JP" sz="1600" b="1" dirty="0">
                          <a:solidFill>
                            <a:schemeClr val="tx1"/>
                          </a:solidFill>
                          <a:effectLst/>
                        </a:rPr>
                        <a:t>MAC </a:t>
                      </a:r>
                      <a:endParaRPr lang="en-JP" sz="1600" b="1"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extLst>
                  <a:ext uri="{0D108BD9-81ED-4DB2-BD59-A6C34878D82A}">
                    <a16:rowId xmlns:a16="http://schemas.microsoft.com/office/drawing/2014/main" val="1605301550"/>
                  </a:ext>
                </a:extLst>
              </a:tr>
              <a:tr h="316018">
                <a:tc>
                  <a:txBody>
                    <a:bodyPr/>
                    <a:lstStyle/>
                    <a:p>
                      <a:r>
                        <a:rPr lang="en-US" sz="1600" dirty="0">
                          <a:solidFill>
                            <a:schemeClr val="tx1"/>
                          </a:solidFill>
                        </a:rPr>
                        <a:t>IP: 192.168.1.1</a:t>
                      </a:r>
                      <a:endParaRPr lang="en-US" sz="1600" dirty="0">
                        <a:solidFill>
                          <a:schemeClr val="tx1"/>
                        </a:solidFill>
                        <a:latin typeface="Meiryo" panose="020B0604030504040204" pitchFamily="34" charset="-128"/>
                        <a:ea typeface="Meiryo" panose="020B0604030504040204" pitchFamily="34" charset="-128"/>
                      </a:endParaRPr>
                    </a:p>
                  </a:txBody>
                  <a:tcPr marL="9525" marR="9525" marT="9525" marB="9525" anchor="ctr"/>
                </a:tc>
                <a:tc>
                  <a:txBody>
                    <a:bodyPr/>
                    <a:lstStyle/>
                    <a:p>
                      <a:r>
                        <a:rPr lang="en-JP" sz="1600" dirty="0">
                          <a:solidFill>
                            <a:schemeClr val="tx1"/>
                          </a:solidFill>
                          <a:effectLst/>
                        </a:rPr>
                        <a:t>AA:AA:AA:AA:AA:AA</a:t>
                      </a:r>
                      <a:endParaRPr lang="en-JP" sz="1600"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extLst>
                  <a:ext uri="{0D108BD9-81ED-4DB2-BD59-A6C34878D82A}">
                    <a16:rowId xmlns:a16="http://schemas.microsoft.com/office/drawing/2014/main" val="3401524390"/>
                  </a:ext>
                </a:extLst>
              </a:tr>
            </a:tbl>
          </a:graphicData>
        </a:graphic>
      </p:graphicFrame>
      <p:sp>
        <p:nvSpPr>
          <p:cNvPr id="7" name="TextBox 6">
            <a:extLst>
              <a:ext uri="{FF2B5EF4-FFF2-40B4-BE49-F238E27FC236}">
                <a16:creationId xmlns:a16="http://schemas.microsoft.com/office/drawing/2014/main" id="{D10B5E17-D2B9-376E-8C41-2E7B0A45F9B8}"/>
              </a:ext>
            </a:extLst>
          </p:cNvPr>
          <p:cNvSpPr txBox="1"/>
          <p:nvPr/>
        </p:nvSpPr>
        <p:spPr>
          <a:xfrm>
            <a:off x="0" y="6616648"/>
            <a:ext cx="7762803" cy="261610"/>
          </a:xfrm>
          <a:prstGeom prst="rect">
            <a:avLst/>
          </a:prstGeom>
          <a:noFill/>
        </p:spPr>
        <p:txBody>
          <a:bodyPr wrap="square" rtlCol="0">
            <a:spAutoFit/>
          </a:bodyPr>
          <a:lstStyle/>
          <a:p>
            <a:r>
              <a:rPr lang="en-US" sz="1100" dirty="0"/>
              <a:t>https://</a:t>
            </a:r>
            <a:r>
              <a:rPr lang="en-US" sz="1100" dirty="0" err="1"/>
              <a:t>pdf.sciencedirectassets.com</a:t>
            </a:r>
            <a:r>
              <a:rPr lang="en-US" sz="1100" dirty="0"/>
              <a:t>/272436/1-s2.0-S1084804525X00114/1-s2.0-S1084804525002930/</a:t>
            </a:r>
            <a:r>
              <a:rPr lang="en-US" sz="1100" dirty="0" err="1"/>
              <a:t>main.pdf?X-Amz-Security</a:t>
            </a:r>
            <a:r>
              <a:rPr lang="en-US" sz="1100" dirty="0"/>
              <a:t>-</a:t>
            </a:r>
            <a:endParaRPr lang="en-JP" sz="1100" dirty="0"/>
          </a:p>
        </p:txBody>
      </p:sp>
    </p:spTree>
    <p:extLst>
      <p:ext uri="{BB962C8B-B14F-4D97-AF65-F5344CB8AC3E}">
        <p14:creationId xmlns:p14="http://schemas.microsoft.com/office/powerpoint/2010/main" val="8174634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2BB167F-AE33-6176-36EE-DACB38367217}"/>
              </a:ext>
            </a:extLst>
          </p:cNvPr>
          <p:cNvSpPr>
            <a:spLocks noGrp="1"/>
          </p:cNvSpPr>
          <p:nvPr>
            <p:ph type="sldNum" sz="quarter" idx="12"/>
          </p:nvPr>
        </p:nvSpPr>
        <p:spPr/>
        <p:txBody>
          <a:bodyPr/>
          <a:lstStyle/>
          <a:p>
            <a:fld id="{828F3BD4-1AF2-D144-8129-4D42AD448F5E}" type="slidenum">
              <a:rPr lang="en-JP" smtClean="0"/>
              <a:pPr/>
              <a:t>22</a:t>
            </a:fld>
            <a:endParaRPr lang="en-JP" dirty="0"/>
          </a:p>
        </p:txBody>
      </p:sp>
      <p:sp>
        <p:nvSpPr>
          <p:cNvPr id="9" name="Shape 0">
            <a:extLst>
              <a:ext uri="{FF2B5EF4-FFF2-40B4-BE49-F238E27FC236}">
                <a16:creationId xmlns:a16="http://schemas.microsoft.com/office/drawing/2014/main" id="{93260295-994B-55D1-C939-524AFE3A6019}"/>
              </a:ext>
            </a:extLst>
          </p:cNvPr>
          <p:cNvSpPr/>
          <p:nvPr/>
        </p:nvSpPr>
        <p:spPr>
          <a:xfrm>
            <a:off x="0" y="226142"/>
            <a:ext cx="9144000" cy="1077686"/>
          </a:xfrm>
          <a:prstGeom prst="rect">
            <a:avLst/>
          </a:prstGeom>
          <a:solidFill>
            <a:schemeClr val="bg1"/>
          </a:solidFill>
          <a:ln w="12700">
            <a:solidFill>
              <a:schemeClr val="accent1">
                <a:lumMod val="20000"/>
                <a:lumOff val="80000"/>
              </a:schemeClr>
            </a:solidFill>
            <a:prstDash val="solid"/>
          </a:ln>
        </p:spPr>
        <p:txBody>
          <a:bodyPr/>
          <a:lstStyle/>
          <a:p>
            <a:pPr marL="457200" indent="-457200">
              <a:buFont typeface="Wingdings" pitchFamily="2" charset="2"/>
              <a:buChar char="§"/>
            </a:pPr>
            <a:r>
              <a:rPr lang="en-JP" sz="3200" dirty="0">
                <a:latin typeface="Meiryo" panose="020B0604030504040204" pitchFamily="34" charset="-128"/>
                <a:ea typeface="Meiryo" panose="020B0604030504040204" pitchFamily="34" charset="-128"/>
              </a:rPr>
              <a:t>なぜDTLSがあっても被害が止まらないのか — 3つの構造的な理由</a:t>
            </a:r>
          </a:p>
        </p:txBody>
      </p:sp>
      <p:sp>
        <p:nvSpPr>
          <p:cNvPr id="10" name="Rounded Rectangle 9">
            <a:extLst>
              <a:ext uri="{FF2B5EF4-FFF2-40B4-BE49-F238E27FC236}">
                <a16:creationId xmlns:a16="http://schemas.microsoft.com/office/drawing/2014/main" id="{28FD6E5E-4F80-58F3-5111-9D5613989F96}"/>
              </a:ext>
            </a:extLst>
          </p:cNvPr>
          <p:cNvSpPr/>
          <p:nvPr/>
        </p:nvSpPr>
        <p:spPr>
          <a:xfrm>
            <a:off x="186321" y="1428838"/>
            <a:ext cx="8553635" cy="1527422"/>
          </a:xfrm>
          <a:prstGeom prst="round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sz="2000" dirty="0">
              <a:solidFill>
                <a:schemeClr val="tx1"/>
              </a:solidFill>
              <a:latin typeface="Meiryo" panose="020B0604030504040204" pitchFamily="34" charset="-128"/>
              <a:ea typeface="Meiryo" panose="020B0604030504040204" pitchFamily="34" charset="-128"/>
            </a:endParaRPr>
          </a:p>
          <a:p>
            <a:r>
              <a:rPr lang="ja-JP" altLang="en-US" sz="2000">
                <a:solidFill>
                  <a:schemeClr val="tx1"/>
                </a:solidFill>
                <a:latin typeface="Meiryo" panose="020B0604030504040204" pitchFamily="34" charset="-128"/>
                <a:ea typeface="Meiryo" panose="020B0604030504040204" pitchFamily="34" charset="-128"/>
              </a:rPr>
              <a:t>理由</a:t>
            </a:r>
            <a:r>
              <a:rPr lang="en-US" altLang="ja-JP" sz="2000" dirty="0">
                <a:solidFill>
                  <a:schemeClr val="tx1"/>
                </a:solidFill>
                <a:latin typeface="Meiryo" panose="020B0604030504040204" pitchFamily="34" charset="-128"/>
                <a:ea typeface="Meiryo" panose="020B0604030504040204" pitchFamily="34" charset="-128"/>
              </a:rPr>
              <a:t>:1 </a:t>
            </a:r>
            <a:r>
              <a:rPr lang="ja-JP" altLang="en-US" sz="2000" b="1">
                <a:solidFill>
                  <a:srgbClr val="C00000"/>
                </a:solidFill>
                <a:latin typeface="Meiryo" panose="020B0604030504040204" pitchFamily="34" charset="-128"/>
                <a:ea typeface="Meiryo" panose="020B0604030504040204" pitchFamily="34" charset="-128"/>
              </a:rPr>
              <a:t>動作層が違う</a:t>
            </a:r>
          </a:p>
          <a:p>
            <a:pPr marL="285750" indent="-285750">
              <a:buFont typeface="Wingdings" pitchFamily="2" charset="2"/>
              <a:buChar char="Ø"/>
            </a:pPr>
            <a:r>
              <a:rPr lang="en-US" sz="2000" dirty="0">
                <a:solidFill>
                  <a:schemeClr val="tx1"/>
                </a:solidFill>
                <a:latin typeface="Meiryo" panose="020B0604030504040204" pitchFamily="34" charset="-128"/>
                <a:ea typeface="Meiryo" panose="020B0604030504040204" pitchFamily="34" charset="-128"/>
              </a:rPr>
              <a:t>DTLS</a:t>
            </a:r>
            <a:r>
              <a:rPr lang="ja-JP" altLang="en-US" sz="2000">
                <a:solidFill>
                  <a:schemeClr val="tx1"/>
                </a:solidFill>
                <a:latin typeface="Meiryo" panose="020B0604030504040204" pitchFamily="34" charset="-128"/>
                <a:ea typeface="Meiryo" panose="020B0604030504040204" pitchFamily="34" charset="-128"/>
              </a:rPr>
              <a:t>は</a:t>
            </a:r>
            <a:r>
              <a:rPr lang="en-US" sz="2000" dirty="0">
                <a:solidFill>
                  <a:schemeClr val="tx1"/>
                </a:solidFill>
                <a:latin typeface="Meiryo" panose="020B0604030504040204" pitchFamily="34" charset="-128"/>
                <a:ea typeface="Meiryo" panose="020B0604030504040204" pitchFamily="34" charset="-128"/>
              </a:rPr>
              <a:t>L4（Transport Layer）</a:t>
            </a:r>
            <a:r>
              <a:rPr lang="ja-JP" altLang="en-US" sz="2000">
                <a:solidFill>
                  <a:schemeClr val="tx1"/>
                </a:solidFill>
                <a:latin typeface="Meiryo" panose="020B0604030504040204" pitchFamily="34" charset="-128"/>
                <a:ea typeface="Meiryo" panose="020B0604030504040204" pitchFamily="34" charset="-128"/>
              </a:rPr>
              <a:t>で暗号化</a:t>
            </a:r>
            <a:endParaRPr lang="en-US" altLang="ja-JP" sz="2000" dirty="0">
              <a:solidFill>
                <a:schemeClr val="tx1"/>
              </a:solidFill>
              <a:latin typeface="Meiryo" panose="020B0604030504040204" pitchFamily="34" charset="-128"/>
              <a:ea typeface="Meiryo" panose="020B0604030504040204" pitchFamily="34" charset="-128"/>
            </a:endParaRPr>
          </a:p>
          <a:p>
            <a:pPr marL="285750" indent="-285750">
              <a:buFont typeface="Wingdings" pitchFamily="2" charset="2"/>
              <a:buChar char="Ø"/>
            </a:pPr>
            <a:r>
              <a:rPr lang="en-US" sz="2000" dirty="0">
                <a:solidFill>
                  <a:schemeClr val="tx1"/>
                </a:solidFill>
                <a:latin typeface="Meiryo" panose="020B0604030504040204" pitchFamily="34" charset="-128"/>
                <a:ea typeface="Meiryo" panose="020B0604030504040204" pitchFamily="34" charset="-128"/>
              </a:rPr>
              <a:t>ARP</a:t>
            </a:r>
            <a:r>
              <a:rPr lang="ja-JP" altLang="en-US" sz="2000">
                <a:solidFill>
                  <a:schemeClr val="tx1"/>
                </a:solidFill>
                <a:latin typeface="Meiryo" panose="020B0604030504040204" pitchFamily="34" charset="-128"/>
                <a:ea typeface="Meiryo" panose="020B0604030504040204" pitchFamily="34" charset="-128"/>
              </a:rPr>
              <a:t>は</a:t>
            </a:r>
            <a:r>
              <a:rPr lang="en-US" sz="2000" dirty="0">
                <a:solidFill>
                  <a:schemeClr val="tx1"/>
                </a:solidFill>
                <a:latin typeface="Meiryo" panose="020B0604030504040204" pitchFamily="34" charset="-128"/>
                <a:ea typeface="Meiryo" panose="020B0604030504040204" pitchFamily="34" charset="-128"/>
              </a:rPr>
              <a:t>L2（Data Link Layer）</a:t>
            </a:r>
            <a:r>
              <a:rPr lang="ja-JP" altLang="en-US" sz="2000">
                <a:solidFill>
                  <a:schemeClr val="tx1"/>
                </a:solidFill>
                <a:latin typeface="Meiryo" panose="020B0604030504040204" pitchFamily="34" charset="-128"/>
                <a:ea typeface="Meiryo" panose="020B0604030504040204" pitchFamily="34" charset="-128"/>
              </a:rPr>
              <a:t>で動作</a:t>
            </a:r>
            <a:endParaRPr lang="en-US" altLang="ja-JP" sz="2000" dirty="0">
              <a:solidFill>
                <a:schemeClr val="tx1"/>
              </a:solidFill>
              <a:latin typeface="Meiryo" panose="020B0604030504040204" pitchFamily="34" charset="-128"/>
              <a:ea typeface="Meiryo" panose="020B0604030504040204" pitchFamily="34" charset="-128"/>
            </a:endParaRPr>
          </a:p>
          <a:p>
            <a:pPr marL="285750" indent="-285750">
              <a:buFont typeface="Wingdings" pitchFamily="2" charset="2"/>
              <a:buChar char="Ø"/>
            </a:pPr>
            <a:r>
              <a:rPr lang="en-US" sz="2000" dirty="0">
                <a:solidFill>
                  <a:schemeClr val="tx1"/>
                </a:solidFill>
                <a:latin typeface="Meiryo" panose="020B0604030504040204" pitchFamily="34" charset="-128"/>
                <a:ea typeface="Meiryo" panose="020B0604030504040204" pitchFamily="34" charset="-128"/>
              </a:rPr>
              <a:t>DTLS</a:t>
            </a:r>
            <a:r>
              <a:rPr lang="ja-JP" altLang="en-US" sz="2000">
                <a:solidFill>
                  <a:schemeClr val="tx1"/>
                </a:solidFill>
                <a:latin typeface="Meiryo" panose="020B0604030504040204" pitchFamily="34" charset="-128"/>
                <a:ea typeface="Meiryo" panose="020B0604030504040204" pitchFamily="34" charset="-128"/>
              </a:rPr>
              <a:t>は</a:t>
            </a:r>
            <a:r>
              <a:rPr lang="en-US" sz="2000" dirty="0">
                <a:solidFill>
                  <a:schemeClr val="tx1"/>
                </a:solidFill>
                <a:latin typeface="Meiryo" panose="020B0604030504040204" pitchFamily="34" charset="-128"/>
                <a:ea typeface="Meiryo" panose="020B0604030504040204" pitchFamily="34" charset="-128"/>
              </a:rPr>
              <a:t>ARP</a:t>
            </a:r>
            <a:r>
              <a:rPr lang="ja-JP" altLang="en-US" sz="2000">
                <a:solidFill>
                  <a:schemeClr val="tx1"/>
                </a:solidFill>
                <a:latin typeface="Meiryo" panose="020B0604030504040204" pitchFamily="34" charset="-128"/>
                <a:ea typeface="Meiryo" panose="020B0604030504040204" pitchFamily="34" charset="-128"/>
              </a:rPr>
              <a:t>に届かない </a:t>
            </a:r>
            <a:r>
              <a:rPr lang="en-US" altLang="ja-JP" sz="2000" dirty="0">
                <a:solidFill>
                  <a:schemeClr val="tx1"/>
                </a:solidFill>
                <a:latin typeface="Meiryo" panose="020B0604030504040204" pitchFamily="34" charset="-128"/>
                <a:ea typeface="Meiryo" panose="020B0604030504040204" pitchFamily="34" charset="-128"/>
              </a:rPr>
              <a:t>— </a:t>
            </a:r>
            <a:r>
              <a:rPr lang="ja-JP" altLang="en-US" sz="2000">
                <a:solidFill>
                  <a:schemeClr val="tx1"/>
                </a:solidFill>
                <a:latin typeface="Meiryo" panose="020B0604030504040204" pitchFamily="34" charset="-128"/>
                <a:ea typeface="Meiryo" panose="020B0604030504040204" pitchFamily="34" charset="-128"/>
              </a:rPr>
              <a:t>設計上の限界</a:t>
            </a:r>
            <a:endParaRPr lang="en-US" sz="2000" dirty="0">
              <a:solidFill>
                <a:schemeClr val="tx1"/>
              </a:solidFill>
              <a:latin typeface="Meiryo" panose="020B0604030504040204" pitchFamily="34" charset="-128"/>
              <a:ea typeface="Meiryo" panose="020B0604030504040204" pitchFamily="34" charset="-128"/>
            </a:endParaRPr>
          </a:p>
          <a:p>
            <a:pPr algn="ctr"/>
            <a:endParaRPr lang="en-JP" sz="2000" dirty="0">
              <a:solidFill>
                <a:schemeClr val="tx1"/>
              </a:solidFill>
              <a:latin typeface="Meiryo" panose="020B0604030504040204" pitchFamily="34" charset="-128"/>
              <a:ea typeface="Meiryo" panose="020B0604030504040204" pitchFamily="34" charset="-128"/>
            </a:endParaRPr>
          </a:p>
        </p:txBody>
      </p:sp>
      <p:sp>
        <p:nvSpPr>
          <p:cNvPr id="13" name="Rounded Rectangle 12">
            <a:extLst>
              <a:ext uri="{FF2B5EF4-FFF2-40B4-BE49-F238E27FC236}">
                <a16:creationId xmlns:a16="http://schemas.microsoft.com/office/drawing/2014/main" id="{AC88C59A-33AB-C930-1CDD-46BA3A727ADC}"/>
              </a:ext>
            </a:extLst>
          </p:cNvPr>
          <p:cNvSpPr/>
          <p:nvPr/>
        </p:nvSpPr>
        <p:spPr>
          <a:xfrm>
            <a:off x="186322" y="3059824"/>
            <a:ext cx="8553635" cy="1527422"/>
          </a:xfrm>
          <a:prstGeom prst="round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tLang="ja-JP" sz="2000" dirty="0">
              <a:solidFill>
                <a:schemeClr val="tx1"/>
              </a:solidFill>
              <a:latin typeface="Meiryo" panose="020B0604030504040204" pitchFamily="34" charset="-128"/>
              <a:ea typeface="Meiryo" panose="020B0604030504040204" pitchFamily="34" charset="-128"/>
            </a:endParaRPr>
          </a:p>
          <a:p>
            <a:endParaRPr lang="en-US" altLang="ja-JP" sz="2000" dirty="0">
              <a:solidFill>
                <a:schemeClr val="tx1"/>
              </a:solidFill>
              <a:latin typeface="Meiryo" panose="020B0604030504040204" pitchFamily="34" charset="-128"/>
              <a:ea typeface="Meiryo" panose="020B0604030504040204" pitchFamily="34" charset="-128"/>
            </a:endParaRPr>
          </a:p>
          <a:p>
            <a:endParaRPr lang="en-US" altLang="ja-JP" sz="2000" dirty="0">
              <a:solidFill>
                <a:schemeClr val="tx1"/>
              </a:solidFill>
              <a:latin typeface="Meiryo" panose="020B0604030504040204" pitchFamily="34" charset="-128"/>
              <a:ea typeface="Meiryo" panose="020B0604030504040204" pitchFamily="34" charset="-128"/>
            </a:endParaRPr>
          </a:p>
          <a:p>
            <a:r>
              <a:rPr lang="ja-JP" altLang="en-US" sz="2000">
                <a:solidFill>
                  <a:schemeClr val="tx1"/>
                </a:solidFill>
                <a:latin typeface="Meiryo" panose="020B0604030504040204" pitchFamily="34" charset="-128"/>
                <a:ea typeface="Meiryo" panose="020B0604030504040204" pitchFamily="34" charset="-128"/>
              </a:rPr>
              <a:t>理由</a:t>
            </a:r>
            <a:r>
              <a:rPr lang="en-US" altLang="ja-JP" sz="2000" dirty="0">
                <a:solidFill>
                  <a:schemeClr val="tx1"/>
                </a:solidFill>
                <a:latin typeface="Meiryo" panose="020B0604030504040204" pitchFamily="34" charset="-128"/>
                <a:ea typeface="Meiryo" panose="020B0604030504040204" pitchFamily="34" charset="-128"/>
              </a:rPr>
              <a:t>:2 </a:t>
            </a:r>
            <a:r>
              <a:rPr lang="en-US" sz="2000" b="1" dirty="0">
                <a:solidFill>
                  <a:srgbClr val="C00000"/>
                </a:solidFill>
                <a:latin typeface="Meiryo" panose="020B0604030504040204" pitchFamily="34" charset="-128"/>
                <a:ea typeface="Meiryo" panose="020B0604030504040204" pitchFamily="34" charset="-128"/>
              </a:rPr>
              <a:t>ARP</a:t>
            </a:r>
            <a:r>
              <a:rPr lang="ja-JP" altLang="en-US" sz="2000" b="1">
                <a:solidFill>
                  <a:srgbClr val="C00000"/>
                </a:solidFill>
                <a:latin typeface="Meiryo" panose="020B0604030504040204" pitchFamily="34" charset="-128"/>
                <a:ea typeface="Meiryo" panose="020B0604030504040204" pitchFamily="34" charset="-128"/>
              </a:rPr>
              <a:t>は認証なし</a:t>
            </a:r>
          </a:p>
          <a:p>
            <a:pPr marL="285750" indent="-285750">
              <a:buFont typeface="Wingdings" pitchFamily="2" charset="2"/>
              <a:buChar char="Ø"/>
            </a:pPr>
            <a:r>
              <a:rPr lang="en-US" sz="2000" dirty="0">
                <a:solidFill>
                  <a:schemeClr val="tx1"/>
                </a:solidFill>
                <a:latin typeface="Meiryo" panose="020B0604030504040204" pitchFamily="34" charset="-128"/>
                <a:ea typeface="Meiryo" panose="020B0604030504040204" pitchFamily="34" charset="-128"/>
              </a:rPr>
              <a:t>RFC 826</a:t>
            </a:r>
            <a:r>
              <a:rPr lang="ja-JP" altLang="en-US" sz="2000">
                <a:solidFill>
                  <a:schemeClr val="tx1"/>
                </a:solidFill>
                <a:latin typeface="Meiryo" panose="020B0604030504040204" pitchFamily="34" charset="-128"/>
                <a:ea typeface="Meiryo" panose="020B0604030504040204" pitchFamily="34" charset="-128"/>
              </a:rPr>
              <a:t>制定時から認証機構が存在しない</a:t>
            </a:r>
            <a:endParaRPr lang="en-US" altLang="ja-JP" sz="2000" dirty="0">
              <a:solidFill>
                <a:schemeClr val="tx1"/>
              </a:solidFill>
              <a:latin typeface="Meiryo" panose="020B0604030504040204" pitchFamily="34" charset="-128"/>
              <a:ea typeface="Meiryo" panose="020B0604030504040204" pitchFamily="34" charset="-128"/>
            </a:endParaRPr>
          </a:p>
          <a:p>
            <a:pPr marL="285750" indent="-285750">
              <a:buFont typeface="Wingdings" pitchFamily="2" charset="2"/>
              <a:buChar char="Ø"/>
            </a:pPr>
            <a:r>
              <a:rPr lang="ja-JP" altLang="en-US" sz="2000">
                <a:solidFill>
                  <a:schemeClr val="tx1"/>
                </a:solidFill>
                <a:latin typeface="Meiryo" panose="020B0604030504040204" pitchFamily="34" charset="-128"/>
                <a:ea typeface="Meiryo" panose="020B0604030504040204" pitchFamily="34" charset="-128"/>
              </a:rPr>
              <a:t>誰でも偽の</a:t>
            </a:r>
            <a:r>
              <a:rPr lang="en-US" sz="2000" dirty="0">
                <a:solidFill>
                  <a:schemeClr val="tx1"/>
                </a:solidFill>
                <a:latin typeface="Meiryo" panose="020B0604030504040204" pitchFamily="34" charset="-128"/>
                <a:ea typeface="Meiryo" panose="020B0604030504040204" pitchFamily="34" charset="-128"/>
              </a:rPr>
              <a:t>ARP</a:t>
            </a:r>
            <a:r>
              <a:rPr lang="ja-JP" altLang="en-US" sz="2000">
                <a:solidFill>
                  <a:schemeClr val="tx1"/>
                </a:solidFill>
                <a:latin typeface="Meiryo" panose="020B0604030504040204" pitchFamily="34" charset="-128"/>
                <a:ea typeface="Meiryo" panose="020B0604030504040204" pitchFamily="34" charset="-128"/>
              </a:rPr>
              <a:t>リプライを送れる</a:t>
            </a:r>
            <a:endParaRPr lang="en-US" altLang="ja-JP" sz="2000" dirty="0">
              <a:solidFill>
                <a:schemeClr val="tx1"/>
              </a:solidFill>
              <a:latin typeface="Meiryo" panose="020B0604030504040204" pitchFamily="34" charset="-128"/>
              <a:ea typeface="Meiryo" panose="020B0604030504040204" pitchFamily="34" charset="-128"/>
            </a:endParaRPr>
          </a:p>
          <a:p>
            <a:pPr marL="285750" indent="-285750">
              <a:buFont typeface="Wingdings" pitchFamily="2" charset="2"/>
              <a:buChar char="Ø"/>
            </a:pPr>
            <a:r>
              <a:rPr lang="ja-JP" altLang="en-US" sz="2000">
                <a:solidFill>
                  <a:schemeClr val="tx1"/>
                </a:solidFill>
                <a:latin typeface="Meiryo" panose="020B0604030504040204" pitchFamily="34" charset="-128"/>
                <a:ea typeface="Meiryo" panose="020B0604030504040204" pitchFamily="34" charset="-128"/>
              </a:rPr>
              <a:t>受信側は真偽を確認できない </a:t>
            </a:r>
            <a:r>
              <a:rPr lang="en-US" altLang="ja-JP" sz="2000" dirty="0">
                <a:solidFill>
                  <a:schemeClr val="tx1"/>
                </a:solidFill>
                <a:latin typeface="Meiryo" panose="020B0604030504040204" pitchFamily="34" charset="-128"/>
                <a:ea typeface="Meiryo" panose="020B0604030504040204" pitchFamily="34" charset="-128"/>
              </a:rPr>
              <a:t>— </a:t>
            </a:r>
            <a:r>
              <a:rPr lang="ja-JP" altLang="en-US" sz="2000">
                <a:solidFill>
                  <a:schemeClr val="tx1"/>
                </a:solidFill>
                <a:latin typeface="Meiryo" panose="020B0604030504040204" pitchFamily="34" charset="-128"/>
                <a:ea typeface="Meiryo" panose="020B0604030504040204" pitchFamily="34" charset="-128"/>
              </a:rPr>
              <a:t>プロトコルの根本問題</a:t>
            </a:r>
            <a:endParaRPr lang="mn-MN" sz="2000" dirty="0">
              <a:solidFill>
                <a:schemeClr val="tx1"/>
              </a:solidFill>
              <a:latin typeface="Meiryo" panose="020B0604030504040204" pitchFamily="34" charset="-128"/>
              <a:ea typeface="Meiryo" panose="020B0604030504040204" pitchFamily="34" charset="-128"/>
            </a:endParaRPr>
          </a:p>
          <a:p>
            <a:endParaRPr lang="mn-MN" sz="2000" dirty="0">
              <a:solidFill>
                <a:schemeClr val="tx1"/>
              </a:solidFill>
              <a:latin typeface="Meiryo" panose="020B0604030504040204" pitchFamily="34" charset="-128"/>
              <a:ea typeface="Meiryo" panose="020B0604030504040204" pitchFamily="34" charset="-128"/>
            </a:endParaRPr>
          </a:p>
          <a:p>
            <a:endParaRPr lang="en-US" sz="2000" dirty="0">
              <a:solidFill>
                <a:schemeClr val="tx1"/>
              </a:solidFill>
              <a:latin typeface="Meiryo" panose="020B0604030504040204" pitchFamily="34" charset="-128"/>
              <a:ea typeface="Meiryo" panose="020B0604030504040204" pitchFamily="34" charset="-128"/>
            </a:endParaRPr>
          </a:p>
          <a:p>
            <a:pPr algn="ctr"/>
            <a:endParaRPr lang="en-JP" sz="2000" dirty="0">
              <a:solidFill>
                <a:schemeClr val="tx1"/>
              </a:solidFill>
              <a:latin typeface="Meiryo" panose="020B0604030504040204" pitchFamily="34" charset="-128"/>
              <a:ea typeface="Meiryo" panose="020B0604030504040204" pitchFamily="34" charset="-128"/>
            </a:endParaRPr>
          </a:p>
        </p:txBody>
      </p:sp>
      <p:sp>
        <p:nvSpPr>
          <p:cNvPr id="14" name="Rounded Rectangle 13">
            <a:extLst>
              <a:ext uri="{FF2B5EF4-FFF2-40B4-BE49-F238E27FC236}">
                <a16:creationId xmlns:a16="http://schemas.microsoft.com/office/drawing/2014/main" id="{31A3C590-E2DC-C380-D532-40A2FFCF49BB}"/>
              </a:ext>
            </a:extLst>
          </p:cNvPr>
          <p:cNvSpPr/>
          <p:nvPr/>
        </p:nvSpPr>
        <p:spPr>
          <a:xfrm>
            <a:off x="186322" y="4734996"/>
            <a:ext cx="8553635" cy="1527422"/>
          </a:xfrm>
          <a:prstGeom prst="round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sz="2000" dirty="0">
              <a:solidFill>
                <a:schemeClr val="tx1"/>
              </a:solidFill>
              <a:latin typeface="Meiryo" panose="020B0604030504040204" pitchFamily="34" charset="-128"/>
              <a:ea typeface="Meiryo" panose="020B0604030504040204" pitchFamily="34" charset="-128"/>
            </a:endParaRPr>
          </a:p>
          <a:p>
            <a:endParaRPr lang="en-US" altLang="ja-JP" sz="2000" dirty="0">
              <a:solidFill>
                <a:schemeClr val="tx1"/>
              </a:solidFill>
              <a:latin typeface="Meiryo" panose="020B0604030504040204" pitchFamily="34" charset="-128"/>
              <a:ea typeface="Meiryo" panose="020B0604030504040204" pitchFamily="34" charset="-128"/>
            </a:endParaRPr>
          </a:p>
          <a:p>
            <a:r>
              <a:rPr lang="ja-JP" altLang="en-US" sz="2000">
                <a:solidFill>
                  <a:schemeClr val="tx1"/>
                </a:solidFill>
                <a:latin typeface="Meiryo" panose="020B0604030504040204" pitchFamily="34" charset="-128"/>
                <a:ea typeface="Meiryo" panose="020B0604030504040204" pitchFamily="34" charset="-128"/>
              </a:rPr>
              <a:t>理由</a:t>
            </a:r>
            <a:r>
              <a:rPr lang="en-US" altLang="ja-JP" sz="2000" dirty="0">
                <a:solidFill>
                  <a:schemeClr val="tx1"/>
                </a:solidFill>
                <a:latin typeface="Meiryo" panose="020B0604030504040204" pitchFamily="34" charset="-128"/>
                <a:ea typeface="Meiryo" panose="020B0604030504040204" pitchFamily="34" charset="-128"/>
              </a:rPr>
              <a:t>:3 </a:t>
            </a:r>
            <a:r>
              <a:rPr lang="en-US" sz="2000" b="1" dirty="0">
                <a:solidFill>
                  <a:srgbClr val="C00000"/>
                </a:solidFill>
                <a:latin typeface="Meiryo" panose="020B0604030504040204" pitchFamily="34" charset="-128"/>
                <a:ea typeface="Meiryo" panose="020B0604030504040204" pitchFamily="34" charset="-128"/>
              </a:rPr>
              <a:t>IoT</a:t>
            </a:r>
            <a:r>
              <a:rPr lang="ja-JP" altLang="en-US" sz="2000" b="1">
                <a:solidFill>
                  <a:srgbClr val="C00000"/>
                </a:solidFill>
                <a:latin typeface="Meiryo" panose="020B0604030504040204" pitchFamily="34" charset="-128"/>
                <a:ea typeface="Meiryo" panose="020B0604030504040204" pitchFamily="34" charset="-128"/>
              </a:rPr>
              <a:t>普及で標的増加</a:t>
            </a:r>
          </a:p>
          <a:p>
            <a:pPr marL="285750" indent="-285750">
              <a:buFont typeface="Wingdings" pitchFamily="2" charset="2"/>
              <a:buChar char="Ø"/>
            </a:pPr>
            <a:r>
              <a:rPr lang="en-US" altLang="ja-JP" sz="2000" dirty="0">
                <a:solidFill>
                  <a:schemeClr val="tx1"/>
                </a:solidFill>
                <a:latin typeface="Meiryo" panose="020B0604030504040204" pitchFamily="34" charset="-128"/>
                <a:ea typeface="Meiryo" panose="020B0604030504040204" pitchFamily="34" charset="-128"/>
              </a:rPr>
              <a:t>2025</a:t>
            </a:r>
            <a:r>
              <a:rPr lang="ja-JP" altLang="en-US" sz="2000">
                <a:solidFill>
                  <a:schemeClr val="tx1"/>
                </a:solidFill>
                <a:latin typeface="Meiryo" panose="020B0604030504040204" pitchFamily="34" charset="-128"/>
                <a:ea typeface="Meiryo" panose="020B0604030504040204" pitchFamily="34" charset="-128"/>
              </a:rPr>
              <a:t>年</a:t>
            </a:r>
            <a:r>
              <a:rPr lang="en-US" altLang="ja-JP" sz="2000" dirty="0">
                <a:solidFill>
                  <a:schemeClr val="tx1"/>
                </a:solidFill>
                <a:latin typeface="Meiryo" panose="020B0604030504040204" pitchFamily="34" charset="-128"/>
                <a:ea typeface="Meiryo" panose="020B0604030504040204" pitchFamily="34" charset="-128"/>
              </a:rPr>
              <a:t>: </a:t>
            </a:r>
            <a:r>
              <a:rPr lang="en-US" sz="2000" dirty="0">
                <a:solidFill>
                  <a:schemeClr val="tx1"/>
                </a:solidFill>
                <a:latin typeface="Meiryo" panose="020B0604030504040204" pitchFamily="34" charset="-128"/>
                <a:ea typeface="Meiryo" panose="020B0604030504040204" pitchFamily="34" charset="-128"/>
              </a:rPr>
              <a:t>IoT</a:t>
            </a:r>
            <a:r>
              <a:rPr lang="ja-JP" altLang="en-US" sz="2000">
                <a:solidFill>
                  <a:schemeClr val="tx1"/>
                </a:solidFill>
                <a:latin typeface="Meiryo" panose="020B0604030504040204" pitchFamily="34" charset="-128"/>
                <a:ea typeface="Meiryo" panose="020B0604030504040204" pitchFamily="34" charset="-128"/>
              </a:rPr>
              <a:t>デバイス</a:t>
            </a:r>
            <a:r>
              <a:rPr lang="en-US" altLang="ja-JP" sz="2000" dirty="0">
                <a:solidFill>
                  <a:schemeClr val="tx1"/>
                </a:solidFill>
                <a:latin typeface="Meiryo" panose="020B0604030504040204" pitchFamily="34" charset="-128"/>
                <a:ea typeface="Meiryo" panose="020B0604030504040204" pitchFamily="34" charset="-128"/>
              </a:rPr>
              <a:t>750</a:t>
            </a:r>
            <a:r>
              <a:rPr lang="ja-JP" altLang="en-US" sz="2000">
                <a:solidFill>
                  <a:schemeClr val="tx1"/>
                </a:solidFill>
                <a:latin typeface="Meiryo" panose="020B0604030504040204" pitchFamily="34" charset="-128"/>
                <a:ea typeface="Meiryo" panose="020B0604030504040204" pitchFamily="34" charset="-128"/>
              </a:rPr>
              <a:t>億台超</a:t>
            </a:r>
            <a:endParaRPr lang="en-US" altLang="ja-JP" sz="2000" dirty="0">
              <a:solidFill>
                <a:schemeClr val="tx1"/>
              </a:solidFill>
              <a:latin typeface="Meiryo" panose="020B0604030504040204" pitchFamily="34" charset="-128"/>
              <a:ea typeface="Meiryo" panose="020B0604030504040204" pitchFamily="34" charset="-128"/>
            </a:endParaRPr>
          </a:p>
          <a:p>
            <a:pPr marL="285750" indent="-285750">
              <a:buFont typeface="Wingdings" pitchFamily="2" charset="2"/>
              <a:buChar char="Ø"/>
            </a:pPr>
            <a:r>
              <a:rPr lang="ja-JP" altLang="en-US" sz="2000">
                <a:solidFill>
                  <a:schemeClr val="tx1"/>
                </a:solidFill>
                <a:latin typeface="Meiryo" panose="020B0604030504040204" pitchFamily="34" charset="-128"/>
                <a:ea typeface="Meiryo" panose="020B0604030504040204" pitchFamily="34" charset="-128"/>
              </a:rPr>
              <a:t>多くはセキュリティ機能が最小限</a:t>
            </a:r>
            <a:endParaRPr lang="en-US" altLang="ja-JP" sz="2000" dirty="0">
              <a:solidFill>
                <a:schemeClr val="tx1"/>
              </a:solidFill>
              <a:latin typeface="Meiryo" panose="020B0604030504040204" pitchFamily="34" charset="-128"/>
              <a:ea typeface="Meiryo" panose="020B0604030504040204" pitchFamily="34" charset="-128"/>
            </a:endParaRPr>
          </a:p>
          <a:p>
            <a:pPr marL="285750" indent="-285750">
              <a:buFont typeface="Wingdings" pitchFamily="2" charset="2"/>
              <a:buChar char="Ø"/>
            </a:pPr>
            <a:r>
              <a:rPr lang="ja-JP" altLang="en-US" sz="2000">
                <a:solidFill>
                  <a:schemeClr val="tx1"/>
                </a:solidFill>
                <a:latin typeface="Meiryo" panose="020B0604030504040204" pitchFamily="34" charset="-128"/>
                <a:ea typeface="Meiryo" panose="020B0604030504040204" pitchFamily="34" charset="-128"/>
              </a:rPr>
              <a:t>同一</a:t>
            </a:r>
            <a:r>
              <a:rPr lang="en-US" sz="2000" dirty="0">
                <a:solidFill>
                  <a:schemeClr val="tx1"/>
                </a:solidFill>
                <a:latin typeface="Meiryo" panose="020B0604030504040204" pitchFamily="34" charset="-128"/>
                <a:ea typeface="Meiryo" panose="020B0604030504040204" pitchFamily="34" charset="-128"/>
              </a:rPr>
              <a:t>LAN</a:t>
            </a:r>
            <a:r>
              <a:rPr lang="ja-JP" altLang="en-US" sz="2000">
                <a:solidFill>
                  <a:schemeClr val="tx1"/>
                </a:solidFill>
                <a:latin typeface="Meiryo" panose="020B0604030504040204" pitchFamily="34" charset="-128"/>
                <a:ea typeface="Meiryo" panose="020B0604030504040204" pitchFamily="34" charset="-128"/>
              </a:rPr>
              <a:t>内の攻撃者が急増 </a:t>
            </a:r>
            <a:endParaRPr lang="mn-MN" sz="2000" dirty="0">
              <a:solidFill>
                <a:schemeClr val="tx1"/>
              </a:solidFill>
              <a:latin typeface="Meiryo" panose="020B0604030504040204" pitchFamily="34" charset="-128"/>
              <a:ea typeface="Meiryo" panose="020B0604030504040204" pitchFamily="34" charset="-128"/>
            </a:endParaRPr>
          </a:p>
          <a:p>
            <a:endParaRPr lang="en-US" sz="2000" dirty="0">
              <a:solidFill>
                <a:schemeClr val="tx1"/>
              </a:solidFill>
              <a:latin typeface="Meiryo" panose="020B0604030504040204" pitchFamily="34" charset="-128"/>
              <a:ea typeface="Meiryo" panose="020B0604030504040204" pitchFamily="34" charset="-128"/>
            </a:endParaRPr>
          </a:p>
          <a:p>
            <a:pPr algn="ctr"/>
            <a:endParaRPr lang="en-JP" sz="2000"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41936935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246A61B-3C17-AC02-2F20-84471513E31D}"/>
              </a:ext>
            </a:extLst>
          </p:cNvPr>
          <p:cNvSpPr>
            <a:spLocks noGrp="1"/>
          </p:cNvSpPr>
          <p:nvPr>
            <p:ph type="sldNum" sz="quarter" idx="12"/>
          </p:nvPr>
        </p:nvSpPr>
        <p:spPr/>
        <p:txBody>
          <a:bodyPr/>
          <a:lstStyle/>
          <a:p>
            <a:fld id="{828F3BD4-1AF2-D144-8129-4D42AD448F5E}" type="slidenum">
              <a:rPr lang="en-JP" smtClean="0"/>
              <a:pPr/>
              <a:t>23</a:t>
            </a:fld>
            <a:endParaRPr lang="en-JP" dirty="0"/>
          </a:p>
        </p:txBody>
      </p:sp>
      <p:sp>
        <p:nvSpPr>
          <p:cNvPr id="5" name="Rounded Rectangle 4">
            <a:extLst>
              <a:ext uri="{FF2B5EF4-FFF2-40B4-BE49-F238E27FC236}">
                <a16:creationId xmlns:a16="http://schemas.microsoft.com/office/drawing/2014/main" id="{DD9A2CAA-3E4C-36B4-87DE-DBA7C69865F0}"/>
              </a:ext>
            </a:extLst>
          </p:cNvPr>
          <p:cNvSpPr/>
          <p:nvPr/>
        </p:nvSpPr>
        <p:spPr>
          <a:xfrm>
            <a:off x="1923661" y="136524"/>
            <a:ext cx="4713515" cy="664028"/>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0" dirty="0">
                <a:solidFill>
                  <a:srgbClr val="000000"/>
                </a:solidFill>
                <a:effectLst/>
                <a:latin typeface="Meiryo" panose="020B0604030504040204" pitchFamily="34" charset="-128"/>
                <a:ea typeface="Meiryo" panose="020B0604030504040204" pitchFamily="34" charset="-128"/>
              </a:rPr>
              <a:t>IoTID20 Attack Taxonomy</a:t>
            </a:r>
            <a:endParaRPr lang="en-JP" dirty="0">
              <a:latin typeface="Meiryo" panose="020B0604030504040204" pitchFamily="34" charset="-128"/>
              <a:ea typeface="Meiryo" panose="020B0604030504040204" pitchFamily="34" charset="-128"/>
            </a:endParaRPr>
          </a:p>
        </p:txBody>
      </p:sp>
      <p:sp>
        <p:nvSpPr>
          <p:cNvPr id="7" name="Rounded Rectangle 6">
            <a:extLst>
              <a:ext uri="{FF2B5EF4-FFF2-40B4-BE49-F238E27FC236}">
                <a16:creationId xmlns:a16="http://schemas.microsoft.com/office/drawing/2014/main" id="{32C5288F-88EA-7DAF-AE7E-1E43FB33DFE3}"/>
              </a:ext>
            </a:extLst>
          </p:cNvPr>
          <p:cNvSpPr/>
          <p:nvPr/>
        </p:nvSpPr>
        <p:spPr>
          <a:xfrm>
            <a:off x="666358" y="1312179"/>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i="0" dirty="0">
                <a:solidFill>
                  <a:srgbClr val="000000"/>
                </a:solidFill>
                <a:effectLst/>
                <a:latin typeface="Meiryo" panose="020B0604030504040204" pitchFamily="34" charset="-128"/>
                <a:ea typeface="Meiryo" panose="020B0604030504040204" pitchFamily="34" charset="-128"/>
              </a:rPr>
              <a:t>DoS</a:t>
            </a:r>
            <a:endParaRPr lang="en-JP" dirty="0">
              <a:latin typeface="Meiryo" panose="020B0604030504040204" pitchFamily="34" charset="-128"/>
              <a:ea typeface="Meiryo" panose="020B0604030504040204" pitchFamily="34" charset="-128"/>
            </a:endParaRPr>
          </a:p>
        </p:txBody>
      </p:sp>
      <p:sp>
        <p:nvSpPr>
          <p:cNvPr id="9" name="Rounded Rectangle 8">
            <a:extLst>
              <a:ext uri="{FF2B5EF4-FFF2-40B4-BE49-F238E27FC236}">
                <a16:creationId xmlns:a16="http://schemas.microsoft.com/office/drawing/2014/main" id="{CA3DD05B-ABC3-1F2E-4474-871759E99746}"/>
              </a:ext>
            </a:extLst>
          </p:cNvPr>
          <p:cNvSpPr/>
          <p:nvPr/>
        </p:nvSpPr>
        <p:spPr>
          <a:xfrm>
            <a:off x="2723760" y="1312181"/>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i="0" dirty="0" err="1">
                <a:solidFill>
                  <a:srgbClr val="000000"/>
                </a:solidFill>
                <a:effectLst/>
                <a:latin typeface="Meiryo" panose="020B0604030504040204" pitchFamily="34" charset="-128"/>
                <a:ea typeface="Meiryo" panose="020B0604030504040204" pitchFamily="34" charset="-128"/>
              </a:rPr>
              <a:t>Mirai</a:t>
            </a:r>
            <a:endParaRPr lang="en-JP" dirty="0">
              <a:latin typeface="Meiryo" panose="020B0604030504040204" pitchFamily="34" charset="-128"/>
              <a:ea typeface="Meiryo" panose="020B0604030504040204" pitchFamily="34" charset="-128"/>
            </a:endParaRPr>
          </a:p>
        </p:txBody>
      </p:sp>
      <p:sp>
        <p:nvSpPr>
          <p:cNvPr id="10" name="Rounded Rectangle 9">
            <a:extLst>
              <a:ext uri="{FF2B5EF4-FFF2-40B4-BE49-F238E27FC236}">
                <a16:creationId xmlns:a16="http://schemas.microsoft.com/office/drawing/2014/main" id="{A48C96FF-762D-B3F7-D782-ED94F2B81726}"/>
              </a:ext>
            </a:extLst>
          </p:cNvPr>
          <p:cNvSpPr/>
          <p:nvPr/>
        </p:nvSpPr>
        <p:spPr>
          <a:xfrm>
            <a:off x="2723760" y="2313666"/>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mn-MN" dirty="0">
              <a:latin typeface="Meiryo" panose="020B0604030504040204" pitchFamily="34" charset="-128"/>
              <a:ea typeface="Meiryo" panose="020B0604030504040204" pitchFamily="34" charset="-128"/>
            </a:endParaRPr>
          </a:p>
          <a:p>
            <a:pPr algn="ctr"/>
            <a:r>
              <a:rPr lang="en-US" dirty="0">
                <a:latin typeface="Meiryo" panose="020B0604030504040204" pitchFamily="34" charset="-128"/>
                <a:ea typeface="Meiryo" panose="020B0604030504040204" pitchFamily="34" charset="-128"/>
              </a:rPr>
              <a:t>Host Brute Force</a:t>
            </a:r>
            <a:br>
              <a:rPr lang="en-US" dirty="0">
                <a:latin typeface="Meiryo" panose="020B0604030504040204" pitchFamily="34" charset="-128"/>
                <a:ea typeface="Meiryo" panose="020B0604030504040204" pitchFamily="34" charset="-128"/>
              </a:rPr>
            </a:br>
            <a:endParaRPr lang="en-JP" dirty="0">
              <a:latin typeface="Meiryo" panose="020B0604030504040204" pitchFamily="34" charset="-128"/>
              <a:ea typeface="Meiryo" panose="020B0604030504040204" pitchFamily="34" charset="-128"/>
            </a:endParaRPr>
          </a:p>
        </p:txBody>
      </p:sp>
      <p:sp>
        <p:nvSpPr>
          <p:cNvPr id="11" name="Rounded Rectangle 10">
            <a:extLst>
              <a:ext uri="{FF2B5EF4-FFF2-40B4-BE49-F238E27FC236}">
                <a16:creationId xmlns:a16="http://schemas.microsoft.com/office/drawing/2014/main" id="{256EC607-EFCF-B3F4-2F91-1BB20AB5D811}"/>
              </a:ext>
            </a:extLst>
          </p:cNvPr>
          <p:cNvSpPr/>
          <p:nvPr/>
        </p:nvSpPr>
        <p:spPr>
          <a:xfrm>
            <a:off x="2723760" y="3391351"/>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Meiryo" panose="020B0604030504040204" pitchFamily="34" charset="-128"/>
                <a:ea typeface="Meiryo" panose="020B0604030504040204" pitchFamily="34" charset="-128"/>
              </a:rPr>
              <a:t>HTTP Flooding</a:t>
            </a:r>
            <a:endParaRPr lang="en-JP" dirty="0">
              <a:latin typeface="Meiryo" panose="020B0604030504040204" pitchFamily="34" charset="-128"/>
              <a:ea typeface="Meiryo" panose="020B0604030504040204" pitchFamily="34" charset="-128"/>
            </a:endParaRPr>
          </a:p>
        </p:txBody>
      </p:sp>
      <p:sp>
        <p:nvSpPr>
          <p:cNvPr id="13" name="Rounded Rectangle 12">
            <a:extLst>
              <a:ext uri="{FF2B5EF4-FFF2-40B4-BE49-F238E27FC236}">
                <a16:creationId xmlns:a16="http://schemas.microsoft.com/office/drawing/2014/main" id="{836CF98B-7923-1143-F728-D2BE6584FB9D}"/>
              </a:ext>
            </a:extLst>
          </p:cNvPr>
          <p:cNvSpPr/>
          <p:nvPr/>
        </p:nvSpPr>
        <p:spPr>
          <a:xfrm>
            <a:off x="4579774" y="1312180"/>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C00000"/>
                </a:solidFill>
                <a:latin typeface="Meiryo" panose="020B0604030504040204" pitchFamily="34" charset="-128"/>
                <a:ea typeface="Meiryo" panose="020B0604030504040204" pitchFamily="34" charset="-128"/>
              </a:rPr>
              <a:t>MITM</a:t>
            </a:r>
            <a:endParaRPr lang="en-JP" b="1" dirty="0">
              <a:solidFill>
                <a:srgbClr val="C00000"/>
              </a:solidFill>
              <a:latin typeface="Meiryo" panose="020B0604030504040204" pitchFamily="34" charset="-128"/>
              <a:ea typeface="Meiryo" panose="020B0604030504040204" pitchFamily="34" charset="-128"/>
            </a:endParaRPr>
          </a:p>
        </p:txBody>
      </p:sp>
      <p:sp>
        <p:nvSpPr>
          <p:cNvPr id="14" name="Rounded Rectangle 13">
            <a:extLst>
              <a:ext uri="{FF2B5EF4-FFF2-40B4-BE49-F238E27FC236}">
                <a16:creationId xmlns:a16="http://schemas.microsoft.com/office/drawing/2014/main" id="{63C59CCF-0F41-6EA4-DD33-DD1738DB38C2}"/>
              </a:ext>
            </a:extLst>
          </p:cNvPr>
          <p:cNvSpPr/>
          <p:nvPr/>
        </p:nvSpPr>
        <p:spPr>
          <a:xfrm>
            <a:off x="4579774" y="2313666"/>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C00000"/>
                </a:solidFill>
                <a:latin typeface="Meiryo" panose="020B0604030504040204" pitchFamily="34" charset="-128"/>
                <a:ea typeface="Meiryo" panose="020B0604030504040204" pitchFamily="34" charset="-128"/>
              </a:rPr>
              <a:t>ARP Spoofing</a:t>
            </a:r>
            <a:endParaRPr lang="en-JP" b="1" dirty="0">
              <a:solidFill>
                <a:srgbClr val="C00000"/>
              </a:solidFill>
              <a:latin typeface="Meiryo" panose="020B0604030504040204" pitchFamily="34" charset="-128"/>
              <a:ea typeface="Meiryo" panose="020B0604030504040204" pitchFamily="34" charset="-128"/>
            </a:endParaRPr>
          </a:p>
        </p:txBody>
      </p:sp>
      <p:sp>
        <p:nvSpPr>
          <p:cNvPr id="15" name="Rounded Rectangle 14">
            <a:extLst>
              <a:ext uri="{FF2B5EF4-FFF2-40B4-BE49-F238E27FC236}">
                <a16:creationId xmlns:a16="http://schemas.microsoft.com/office/drawing/2014/main" id="{9E80603A-6C53-41D0-D211-59A923F2D05B}"/>
              </a:ext>
            </a:extLst>
          </p:cNvPr>
          <p:cNvSpPr/>
          <p:nvPr/>
        </p:nvSpPr>
        <p:spPr>
          <a:xfrm>
            <a:off x="4579774" y="3336469"/>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Meiryo" panose="020B0604030504040204" pitchFamily="34" charset="-128"/>
                <a:ea typeface="Meiryo" panose="020B0604030504040204" pitchFamily="34" charset="-128"/>
              </a:rPr>
              <a:t>Service</a:t>
            </a:r>
            <a:endParaRPr lang="en-JP" dirty="0">
              <a:latin typeface="Meiryo" panose="020B0604030504040204" pitchFamily="34" charset="-128"/>
              <a:ea typeface="Meiryo" panose="020B0604030504040204" pitchFamily="34" charset="-128"/>
            </a:endParaRPr>
          </a:p>
        </p:txBody>
      </p:sp>
      <p:sp>
        <p:nvSpPr>
          <p:cNvPr id="16" name="Rounded Rectangle 15">
            <a:extLst>
              <a:ext uri="{FF2B5EF4-FFF2-40B4-BE49-F238E27FC236}">
                <a16:creationId xmlns:a16="http://schemas.microsoft.com/office/drawing/2014/main" id="{6E2E6A9C-C5B5-3DCD-4DFA-A902B0EF0382}"/>
              </a:ext>
            </a:extLst>
          </p:cNvPr>
          <p:cNvSpPr/>
          <p:nvPr/>
        </p:nvSpPr>
        <p:spPr>
          <a:xfrm>
            <a:off x="6637176" y="1312180"/>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Meiryo" panose="020B0604030504040204" pitchFamily="34" charset="-128"/>
                <a:ea typeface="Meiryo" panose="020B0604030504040204" pitchFamily="34" charset="-128"/>
              </a:rPr>
              <a:t>Scan</a:t>
            </a:r>
            <a:endParaRPr lang="en-JP" b="1" dirty="0">
              <a:latin typeface="Meiryo" panose="020B0604030504040204" pitchFamily="34" charset="-128"/>
              <a:ea typeface="Meiryo" panose="020B0604030504040204" pitchFamily="34" charset="-128"/>
            </a:endParaRPr>
          </a:p>
        </p:txBody>
      </p:sp>
      <p:sp>
        <p:nvSpPr>
          <p:cNvPr id="17" name="Rounded Rectangle 16">
            <a:extLst>
              <a:ext uri="{FF2B5EF4-FFF2-40B4-BE49-F238E27FC236}">
                <a16:creationId xmlns:a16="http://schemas.microsoft.com/office/drawing/2014/main" id="{088DEC6B-EFF7-6B2C-3452-C5EC8BDDBAA2}"/>
              </a:ext>
            </a:extLst>
          </p:cNvPr>
          <p:cNvSpPr/>
          <p:nvPr/>
        </p:nvSpPr>
        <p:spPr>
          <a:xfrm>
            <a:off x="6661668" y="2237466"/>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Meiryo" panose="020B0604030504040204" pitchFamily="34" charset="-128"/>
                <a:ea typeface="Meiryo" panose="020B0604030504040204" pitchFamily="34" charset="-128"/>
              </a:rPr>
              <a:t>Host Port</a:t>
            </a:r>
            <a:endParaRPr lang="en-JP" dirty="0">
              <a:latin typeface="Meiryo" panose="020B0604030504040204" pitchFamily="34" charset="-128"/>
              <a:ea typeface="Meiryo" panose="020B0604030504040204" pitchFamily="34" charset="-128"/>
            </a:endParaRPr>
          </a:p>
        </p:txBody>
      </p:sp>
      <p:sp>
        <p:nvSpPr>
          <p:cNvPr id="18" name="Rounded Rectangle 17">
            <a:extLst>
              <a:ext uri="{FF2B5EF4-FFF2-40B4-BE49-F238E27FC236}">
                <a16:creationId xmlns:a16="http://schemas.microsoft.com/office/drawing/2014/main" id="{65B20BC5-A201-BC22-4AFF-183E8D768343}"/>
              </a:ext>
            </a:extLst>
          </p:cNvPr>
          <p:cNvSpPr/>
          <p:nvPr/>
        </p:nvSpPr>
        <p:spPr>
          <a:xfrm>
            <a:off x="6637176" y="3336468"/>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Meiryo" panose="020B0604030504040204" pitchFamily="34" charset="-128"/>
                <a:ea typeface="Meiryo" panose="020B0604030504040204" pitchFamily="34" charset="-128"/>
              </a:rPr>
              <a:t>OS</a:t>
            </a:r>
            <a:endParaRPr lang="en-JP" dirty="0">
              <a:latin typeface="Meiryo" panose="020B0604030504040204" pitchFamily="34" charset="-128"/>
              <a:ea typeface="Meiryo" panose="020B0604030504040204" pitchFamily="34" charset="-128"/>
            </a:endParaRPr>
          </a:p>
        </p:txBody>
      </p:sp>
      <p:sp>
        <p:nvSpPr>
          <p:cNvPr id="19" name="Rounded Rectangle 18">
            <a:extLst>
              <a:ext uri="{FF2B5EF4-FFF2-40B4-BE49-F238E27FC236}">
                <a16:creationId xmlns:a16="http://schemas.microsoft.com/office/drawing/2014/main" id="{F718C2F3-3874-3D32-D538-61DCDA63234B}"/>
              </a:ext>
            </a:extLst>
          </p:cNvPr>
          <p:cNvSpPr/>
          <p:nvPr/>
        </p:nvSpPr>
        <p:spPr>
          <a:xfrm>
            <a:off x="666358" y="2313665"/>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0" i="0" dirty="0">
                <a:solidFill>
                  <a:srgbClr val="000000"/>
                </a:solidFill>
                <a:effectLst/>
                <a:latin typeface="Meiryo" panose="020B0604030504040204" pitchFamily="34" charset="-128"/>
                <a:ea typeface="Meiryo" panose="020B0604030504040204" pitchFamily="34" charset="-128"/>
              </a:rPr>
              <a:t>Syn Flooding</a:t>
            </a:r>
            <a:endParaRPr lang="en-JP" dirty="0">
              <a:latin typeface="Meiryo" panose="020B0604030504040204" pitchFamily="34" charset="-128"/>
              <a:ea typeface="Meiryo" panose="020B0604030504040204" pitchFamily="34" charset="-128"/>
            </a:endParaRPr>
          </a:p>
        </p:txBody>
      </p:sp>
      <p:cxnSp>
        <p:nvCxnSpPr>
          <p:cNvPr id="21" name="Straight Connector 20">
            <a:extLst>
              <a:ext uri="{FF2B5EF4-FFF2-40B4-BE49-F238E27FC236}">
                <a16:creationId xmlns:a16="http://schemas.microsoft.com/office/drawing/2014/main" id="{602FA856-A72B-47FF-AB9D-AA5754734900}"/>
              </a:ext>
            </a:extLst>
          </p:cNvPr>
          <p:cNvCxnSpPr>
            <a:cxnSpLocks/>
          </p:cNvCxnSpPr>
          <p:nvPr/>
        </p:nvCxnSpPr>
        <p:spPr>
          <a:xfrm>
            <a:off x="1673290" y="1018266"/>
            <a:ext cx="596537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B115736-1E67-6C5D-A236-5055C171BDD2}"/>
              </a:ext>
            </a:extLst>
          </p:cNvPr>
          <p:cNvCxnSpPr/>
          <p:nvPr/>
        </p:nvCxnSpPr>
        <p:spPr>
          <a:xfrm>
            <a:off x="3512976" y="1029152"/>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FD22B7A-680F-63EA-9D08-0FC0D2B38670}"/>
              </a:ext>
            </a:extLst>
          </p:cNvPr>
          <p:cNvCxnSpPr>
            <a:cxnSpLocks/>
          </p:cNvCxnSpPr>
          <p:nvPr/>
        </p:nvCxnSpPr>
        <p:spPr>
          <a:xfrm>
            <a:off x="5483290" y="1029152"/>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F4D6BBB-81BB-C15D-E5F2-09FDB52FED79}"/>
              </a:ext>
            </a:extLst>
          </p:cNvPr>
          <p:cNvCxnSpPr/>
          <p:nvPr/>
        </p:nvCxnSpPr>
        <p:spPr>
          <a:xfrm>
            <a:off x="1684176" y="1029152"/>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4EEF121-828C-71E2-6982-B670023F64EE}"/>
              </a:ext>
            </a:extLst>
          </p:cNvPr>
          <p:cNvCxnSpPr>
            <a:cxnSpLocks/>
          </p:cNvCxnSpPr>
          <p:nvPr/>
        </p:nvCxnSpPr>
        <p:spPr>
          <a:xfrm>
            <a:off x="7638661" y="1018266"/>
            <a:ext cx="0" cy="19594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455586B-EA60-F8D6-AEEE-3572DAD5CD7F}"/>
              </a:ext>
            </a:extLst>
          </p:cNvPr>
          <p:cNvCxnSpPr>
            <a:cxnSpLocks/>
          </p:cNvCxnSpPr>
          <p:nvPr/>
        </p:nvCxnSpPr>
        <p:spPr>
          <a:xfrm>
            <a:off x="1671735" y="2052409"/>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4536F6B-099A-4F46-A803-8630C1E1AC78}"/>
              </a:ext>
            </a:extLst>
          </p:cNvPr>
          <p:cNvCxnSpPr>
            <a:cxnSpLocks/>
          </p:cNvCxnSpPr>
          <p:nvPr/>
        </p:nvCxnSpPr>
        <p:spPr>
          <a:xfrm>
            <a:off x="3512976" y="2052409"/>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5C62199-2590-FF77-5C2E-BEC580998512}"/>
              </a:ext>
            </a:extLst>
          </p:cNvPr>
          <p:cNvCxnSpPr>
            <a:cxnSpLocks/>
          </p:cNvCxnSpPr>
          <p:nvPr/>
        </p:nvCxnSpPr>
        <p:spPr>
          <a:xfrm>
            <a:off x="3512976" y="3151411"/>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E5966E5-01E6-A2D9-D60B-CAB4DEEAEFE9}"/>
              </a:ext>
            </a:extLst>
          </p:cNvPr>
          <p:cNvCxnSpPr>
            <a:cxnSpLocks/>
          </p:cNvCxnSpPr>
          <p:nvPr/>
        </p:nvCxnSpPr>
        <p:spPr>
          <a:xfrm>
            <a:off x="5341776" y="2128608"/>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E866A39-1784-BDD3-6021-3740DD52445D}"/>
              </a:ext>
            </a:extLst>
          </p:cNvPr>
          <p:cNvCxnSpPr>
            <a:cxnSpLocks/>
          </p:cNvCxnSpPr>
          <p:nvPr/>
        </p:nvCxnSpPr>
        <p:spPr>
          <a:xfrm>
            <a:off x="5407090" y="3151411"/>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21755093-99D9-6019-8ED6-241B7B10759E}"/>
              </a:ext>
            </a:extLst>
          </p:cNvPr>
          <p:cNvCxnSpPr>
            <a:cxnSpLocks/>
          </p:cNvCxnSpPr>
          <p:nvPr/>
        </p:nvCxnSpPr>
        <p:spPr>
          <a:xfrm>
            <a:off x="7415505" y="2030636"/>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615A96-A38F-926F-1DBE-08D63437D01A}"/>
              </a:ext>
            </a:extLst>
          </p:cNvPr>
          <p:cNvCxnSpPr>
            <a:cxnSpLocks/>
          </p:cNvCxnSpPr>
          <p:nvPr/>
        </p:nvCxnSpPr>
        <p:spPr>
          <a:xfrm>
            <a:off x="7439997" y="3032122"/>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298A4C16-04B7-CAB5-41D1-FA76EF082F00}"/>
              </a:ext>
            </a:extLst>
          </p:cNvPr>
          <p:cNvSpPr txBox="1"/>
          <p:nvPr/>
        </p:nvSpPr>
        <p:spPr>
          <a:xfrm>
            <a:off x="272923" y="4616593"/>
            <a:ext cx="8329902" cy="1200329"/>
          </a:xfrm>
          <a:prstGeom prst="rect">
            <a:avLst/>
          </a:prstGeom>
          <a:noFill/>
        </p:spPr>
        <p:txBody>
          <a:bodyPr wrap="square">
            <a:spAutoFit/>
          </a:bodyPr>
          <a:lstStyle/>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IoTID20はIoT環境の実トラフィックから構築された代表的なデータセットで、4つの攻撃カテゴリを定義しています</a:t>
            </a:r>
            <a:r>
              <a:rPr lang="mn-MN" dirty="0">
                <a:latin typeface="Meiryo" panose="020B0604030504040204" pitchFamily="34" charset="-128"/>
                <a:ea typeface="Meiryo" panose="020B0604030504040204" pitchFamily="34" charset="-128"/>
              </a:rPr>
              <a:t>.</a:t>
            </a:r>
          </a:p>
          <a:p>
            <a:pPr marL="285750" indent="-285750">
              <a:buFont typeface="Wingdings" pitchFamily="2" charset="2"/>
              <a:buChar char="§"/>
            </a:pPr>
            <a:r>
              <a:rPr lang="en-JP" dirty="0">
                <a:latin typeface="Meiryo" panose="020B0604030504040204" pitchFamily="34" charset="-128"/>
                <a:ea typeface="Meiryo" panose="020B0604030504040204" pitchFamily="34" charset="-128"/>
              </a:rPr>
              <a:t>研究が対象とするARPスプーフィングは、この分類においてMITM攻撃の一手法として公式に位置づけられています</a:t>
            </a:r>
          </a:p>
        </p:txBody>
      </p:sp>
      <p:sp>
        <p:nvSpPr>
          <p:cNvPr id="44" name="TextBox 43">
            <a:extLst>
              <a:ext uri="{FF2B5EF4-FFF2-40B4-BE49-F238E27FC236}">
                <a16:creationId xmlns:a16="http://schemas.microsoft.com/office/drawing/2014/main" id="{55D451B9-FE88-3FB8-0CA9-92EC85323C15}"/>
              </a:ext>
            </a:extLst>
          </p:cNvPr>
          <p:cNvSpPr txBox="1"/>
          <p:nvPr/>
        </p:nvSpPr>
        <p:spPr>
          <a:xfrm>
            <a:off x="382555" y="6400800"/>
            <a:ext cx="4897046" cy="276999"/>
          </a:xfrm>
          <a:prstGeom prst="rect">
            <a:avLst/>
          </a:prstGeom>
          <a:noFill/>
        </p:spPr>
        <p:txBody>
          <a:bodyPr wrap="none" rtlCol="0">
            <a:spAutoFit/>
          </a:bodyPr>
          <a:lstStyle/>
          <a:p>
            <a:r>
              <a:rPr lang="ja-JP" altLang="en-US" sz="1200">
                <a:latin typeface="Times New Roman" panose="02020603050405020304" pitchFamily="18" charset="0"/>
                <a:cs typeface="Times New Roman" panose="02020603050405020304" pitchFamily="18" charset="0"/>
              </a:rPr>
              <a:t>出典</a:t>
            </a:r>
            <a:r>
              <a:rPr lang="en-US" altLang="ja-JP" sz="12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Ullah et al., IEEE Access 2020 IoT</a:t>
            </a:r>
            <a:r>
              <a:rPr lang="ja-JP" altLang="en-US" sz="1200">
                <a:latin typeface="Times New Roman" panose="02020603050405020304" pitchFamily="18" charset="0"/>
                <a:cs typeface="Times New Roman" panose="02020603050405020304" pitchFamily="18" charset="0"/>
              </a:rPr>
              <a:t>環境の実トラフィックから構築</a:t>
            </a:r>
            <a:endParaRPr lang="en-JP"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75666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71D6292-799F-01D8-5075-F6626B675BC4}"/>
              </a:ext>
            </a:extLst>
          </p:cNvPr>
          <p:cNvSpPr txBox="1"/>
          <p:nvPr/>
        </p:nvSpPr>
        <p:spPr>
          <a:xfrm>
            <a:off x="123825" y="6344245"/>
            <a:ext cx="6715125" cy="430887"/>
          </a:xfrm>
          <a:prstGeom prst="rect">
            <a:avLst/>
          </a:prstGeom>
          <a:noFill/>
        </p:spPr>
        <p:txBody>
          <a:bodyPr wrap="square">
            <a:spAutoFit/>
          </a:bodyPr>
          <a:lstStyle/>
          <a:p>
            <a:r>
              <a:rPr lang="en-JP" sz="1100" dirty="0">
                <a:latin typeface="Times New Roman" panose="02020603050405020304" pitchFamily="18" charset="0"/>
                <a:ea typeface="Meiryo" panose="020B0604030504040204" pitchFamily="34" charset="-128"/>
                <a:cs typeface="Times New Roman" panose="02020603050405020304" pitchFamily="18" charset="0"/>
              </a:rPr>
              <a:t>[3] https://www.cepro.com/news/report-average-smart-home-faces-29-cybersecurity-attacks-daily-integrators-on-front-line/623233/?utm_source</a:t>
            </a:r>
          </a:p>
        </p:txBody>
      </p:sp>
      <p:sp>
        <p:nvSpPr>
          <p:cNvPr id="8" name="TextBox 7">
            <a:extLst>
              <a:ext uri="{FF2B5EF4-FFF2-40B4-BE49-F238E27FC236}">
                <a16:creationId xmlns:a16="http://schemas.microsoft.com/office/drawing/2014/main" id="{C57D62E3-3BFA-79BD-90AC-70636888601D}"/>
              </a:ext>
            </a:extLst>
          </p:cNvPr>
          <p:cNvSpPr txBox="1"/>
          <p:nvPr/>
        </p:nvSpPr>
        <p:spPr>
          <a:xfrm>
            <a:off x="28575" y="85026"/>
            <a:ext cx="8486775" cy="461665"/>
          </a:xfrm>
          <a:prstGeom prst="rect">
            <a:avLst/>
          </a:prstGeom>
          <a:noFill/>
        </p:spPr>
        <p:txBody>
          <a:bodyPr wrap="square">
            <a:spAutoFit/>
          </a:bodyPr>
          <a:lstStyle/>
          <a:p>
            <a:pPr marL="342900" indent="-342900">
              <a:buFont typeface="Wingdings" pitchFamily="2" charset="2"/>
              <a:buChar char="§"/>
            </a:pPr>
            <a:r>
              <a:rPr lang="ja-JP" altLang="en-US" sz="2400" b="1" i="0">
                <a:effectLst/>
                <a:latin typeface="Meiryo" panose="020B0604030504040204" pitchFamily="34" charset="-128"/>
                <a:ea typeface="Meiryo" panose="020B0604030504040204" pitchFamily="34" charset="-128"/>
                <a:cs typeface="Times New Roman" panose="02020603050405020304" pitchFamily="18" charset="0"/>
              </a:rPr>
              <a:t>なぜ今も</a:t>
            </a:r>
            <a:r>
              <a:rPr lang="en-US" sz="2400" b="1" i="0" dirty="0">
                <a:effectLst/>
                <a:latin typeface="Meiryo" panose="020B0604030504040204" pitchFamily="34" charset="-128"/>
                <a:ea typeface="Meiryo" panose="020B0604030504040204" pitchFamily="34" charset="-128"/>
                <a:cs typeface="Times New Roman" panose="02020603050405020304" pitchFamily="18" charset="0"/>
              </a:rPr>
              <a:t>ARP</a:t>
            </a:r>
            <a:r>
              <a:rPr lang="ja-JP" altLang="en-US" sz="2400" b="1" i="0">
                <a:effectLst/>
                <a:latin typeface="Meiryo" panose="020B0604030504040204" pitchFamily="34" charset="-128"/>
                <a:ea typeface="Meiryo" panose="020B0604030504040204" pitchFamily="34" charset="-128"/>
                <a:cs typeface="Times New Roman" panose="02020603050405020304" pitchFamily="18" charset="0"/>
              </a:rPr>
              <a:t>スプーフィング被害が増え続けるのか</a:t>
            </a:r>
            <a:r>
              <a:rPr lang="en-US" altLang="ja-JP" sz="2400" b="1" dirty="0">
                <a:latin typeface="Meiryo" panose="020B0604030504040204" pitchFamily="34" charset="-128"/>
                <a:ea typeface="Meiryo" panose="020B0604030504040204" pitchFamily="34" charset="-128"/>
                <a:cs typeface="Times New Roman" panose="02020603050405020304" pitchFamily="18" charset="0"/>
              </a:rPr>
              <a:t>[3]</a:t>
            </a:r>
            <a:endParaRPr lang="en-JP" sz="2400" b="1" dirty="0">
              <a:latin typeface="Meiryo" panose="020B0604030504040204" pitchFamily="34" charset="-128"/>
              <a:ea typeface="Meiryo" panose="020B0604030504040204" pitchFamily="34" charset="-128"/>
              <a:cs typeface="Times New Roman" panose="02020603050405020304" pitchFamily="18" charset="0"/>
            </a:endParaRPr>
          </a:p>
        </p:txBody>
      </p:sp>
      <p:sp>
        <p:nvSpPr>
          <p:cNvPr id="11" name="Rounded Rectangle 10">
            <a:extLst>
              <a:ext uri="{FF2B5EF4-FFF2-40B4-BE49-F238E27FC236}">
                <a16:creationId xmlns:a16="http://schemas.microsoft.com/office/drawing/2014/main" id="{82B9F072-5B35-4F00-5548-70A664E42EED}"/>
              </a:ext>
            </a:extLst>
          </p:cNvPr>
          <p:cNvSpPr/>
          <p:nvPr/>
        </p:nvSpPr>
        <p:spPr>
          <a:xfrm>
            <a:off x="197919" y="773251"/>
            <a:ext cx="3639065" cy="504744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2000" b="1">
              <a:solidFill>
                <a:schemeClr val="tx1"/>
              </a:solidFill>
              <a:latin typeface="Meiryo" panose="020B0604030504040204" pitchFamily="34" charset="-128"/>
              <a:ea typeface="Meiryo" panose="020B0604030504040204" pitchFamily="34" charset="-128"/>
            </a:endParaRPr>
          </a:p>
          <a:p>
            <a:pPr algn="ctr"/>
            <a:endParaRPr lang="en-US" sz="2000" b="1" dirty="0">
              <a:solidFill>
                <a:schemeClr val="tx1"/>
              </a:solidFill>
              <a:latin typeface="Meiryo" panose="020B0604030504040204" pitchFamily="34" charset="-128"/>
              <a:ea typeface="Meiryo" panose="020B0604030504040204" pitchFamily="34" charset="-128"/>
            </a:endParaRPr>
          </a:p>
          <a:p>
            <a:pPr algn="ctr"/>
            <a:r>
              <a:rPr lang="ja-JP" altLang="en-US" sz="2000" b="1">
                <a:solidFill>
                  <a:schemeClr val="tx1"/>
                </a:solidFill>
                <a:latin typeface="Meiryo" panose="020B0604030504040204" pitchFamily="34" charset="-128"/>
                <a:ea typeface="Meiryo" panose="020B0604030504040204" pitchFamily="34" charset="-128"/>
              </a:rPr>
              <a:t>リソース制約と標準化</a:t>
            </a:r>
          </a:p>
          <a:p>
            <a:pPr algn="ctr"/>
            <a:r>
              <a:rPr lang="en-US" sz="2000" b="1" dirty="0">
                <a:solidFill>
                  <a:schemeClr val="tx1"/>
                </a:solidFill>
                <a:latin typeface="Meiryo" panose="020B0604030504040204" pitchFamily="34" charset="-128"/>
                <a:ea typeface="Meiryo" panose="020B0604030504040204" pitchFamily="34" charset="-128"/>
              </a:rPr>
              <a:t>ESP8266・ARM Cortex-M</a:t>
            </a:r>
            <a:r>
              <a:rPr lang="ja-JP" altLang="en-US" sz="2000" b="1">
                <a:solidFill>
                  <a:schemeClr val="tx1"/>
                </a:solidFill>
                <a:latin typeface="Meiryo" panose="020B0604030504040204" pitchFamily="34" charset="-128"/>
                <a:ea typeface="Meiryo" panose="020B0604030504040204" pitchFamily="34" charset="-128"/>
              </a:rPr>
              <a:t>等の</a:t>
            </a:r>
            <a:r>
              <a:rPr lang="en-US" sz="2000" b="1" dirty="0">
                <a:solidFill>
                  <a:schemeClr val="tx1"/>
                </a:solidFill>
                <a:latin typeface="Meiryo" panose="020B0604030504040204" pitchFamily="34" charset="-128"/>
                <a:ea typeface="Meiryo" panose="020B0604030504040204" pitchFamily="34" charset="-128"/>
              </a:rPr>
              <a:t>IoT</a:t>
            </a:r>
            <a:r>
              <a:rPr lang="ja-JP" altLang="en-US" sz="2000" b="1">
                <a:solidFill>
                  <a:schemeClr val="tx1"/>
                </a:solidFill>
                <a:latin typeface="Meiryo" panose="020B0604030504040204" pitchFamily="34" charset="-128"/>
                <a:ea typeface="Meiryo" panose="020B0604030504040204" pitchFamily="34" charset="-128"/>
              </a:rPr>
              <a:t>デバイスは計算資源が限られている</a:t>
            </a:r>
          </a:p>
          <a:p>
            <a:pPr algn="ctr"/>
            <a:r>
              <a:rPr lang="en-US" sz="2000" b="1" dirty="0">
                <a:solidFill>
                  <a:schemeClr val="tx1"/>
                </a:solidFill>
                <a:latin typeface="Meiryo" panose="020B0604030504040204" pitchFamily="34" charset="-128"/>
                <a:ea typeface="Meiryo" panose="020B0604030504040204" pitchFamily="34" charset="-128"/>
              </a:rPr>
              <a:t>HTTP/SSL</a:t>
            </a:r>
            <a:r>
              <a:rPr lang="ja-JP" altLang="en-US" sz="2000" b="1">
                <a:solidFill>
                  <a:schemeClr val="tx1"/>
                </a:solidFill>
                <a:latin typeface="Meiryo" panose="020B0604030504040204" pitchFamily="34" charset="-128"/>
                <a:ea typeface="Meiryo" panose="020B0604030504040204" pitchFamily="34" charset="-128"/>
              </a:rPr>
              <a:t>は重すぎる→ </a:t>
            </a:r>
            <a:r>
              <a:rPr lang="en-US" sz="2000" b="1" dirty="0">
                <a:solidFill>
                  <a:schemeClr val="tx1"/>
                </a:solidFill>
                <a:latin typeface="Meiryo" panose="020B0604030504040204" pitchFamily="34" charset="-128"/>
                <a:ea typeface="Meiryo" panose="020B0604030504040204" pitchFamily="34" charset="-128"/>
              </a:rPr>
              <a:t>CoAP/DTLS</a:t>
            </a:r>
            <a:r>
              <a:rPr lang="ja-JP" altLang="en-US" sz="2000" b="1">
                <a:solidFill>
                  <a:schemeClr val="tx1"/>
                </a:solidFill>
                <a:latin typeface="Meiryo" panose="020B0604030504040204" pitchFamily="34" charset="-128"/>
                <a:ea typeface="Meiryo" panose="020B0604030504040204" pitchFamily="34" charset="-128"/>
              </a:rPr>
              <a:t>が最適解</a:t>
            </a:r>
          </a:p>
          <a:p>
            <a:pPr algn="ctr"/>
            <a:r>
              <a:rPr lang="en-US" sz="2000" b="1" dirty="0">
                <a:solidFill>
                  <a:schemeClr val="tx1"/>
                </a:solidFill>
                <a:latin typeface="Meiryo" panose="020B0604030504040204" pitchFamily="34" charset="-128"/>
                <a:ea typeface="Meiryo" panose="020B0604030504040204" pitchFamily="34" charset="-128"/>
              </a:rPr>
              <a:t>IETF</a:t>
            </a:r>
            <a:r>
              <a:rPr lang="ja-JP" altLang="en-US" sz="2000" b="1">
                <a:solidFill>
                  <a:schemeClr val="tx1"/>
                </a:solidFill>
                <a:latin typeface="Meiryo" panose="020B0604030504040204" pitchFamily="34" charset="-128"/>
                <a:ea typeface="Meiryo" panose="020B0604030504040204" pitchFamily="34" charset="-128"/>
              </a:rPr>
              <a:t>標準 </a:t>
            </a:r>
            <a:r>
              <a:rPr lang="en-US" sz="2000" b="1" dirty="0">
                <a:solidFill>
                  <a:schemeClr val="tx1"/>
                </a:solidFill>
                <a:latin typeface="Meiryo" panose="020B0604030504040204" pitchFamily="34" charset="-128"/>
                <a:ea typeface="Meiryo" panose="020B0604030504040204" pitchFamily="34" charset="-128"/>
              </a:rPr>
              <a:t>RFC 7252（CoAP）+ RFC 6347（DTLS）</a:t>
            </a:r>
            <a:r>
              <a:rPr lang="ja-JP" altLang="en-US" sz="2000" b="1">
                <a:solidFill>
                  <a:schemeClr val="tx1"/>
                </a:solidFill>
                <a:latin typeface="Meiryo" panose="020B0604030504040204" pitchFamily="34" charset="-128"/>
                <a:ea typeface="Meiryo" panose="020B0604030504040204" pitchFamily="34" charset="-128"/>
              </a:rPr>
              <a:t>として定義された信頼性の高いソリューション</a:t>
            </a:r>
            <a:endParaRPr lang="en-JP" sz="2000" b="1" dirty="0">
              <a:solidFill>
                <a:schemeClr val="tx1"/>
              </a:solidFill>
              <a:latin typeface="Meiryo" panose="020B0604030504040204" pitchFamily="34" charset="-128"/>
              <a:ea typeface="Meiryo" panose="020B0604030504040204" pitchFamily="34" charset="-128"/>
            </a:endParaRPr>
          </a:p>
        </p:txBody>
      </p:sp>
      <p:sp>
        <p:nvSpPr>
          <p:cNvPr id="14" name="Slide Number Placeholder 13">
            <a:extLst>
              <a:ext uri="{FF2B5EF4-FFF2-40B4-BE49-F238E27FC236}">
                <a16:creationId xmlns:a16="http://schemas.microsoft.com/office/drawing/2014/main" id="{78749FA2-31C4-D93E-A3B4-65C819FB9F16}"/>
              </a:ext>
            </a:extLst>
          </p:cNvPr>
          <p:cNvSpPr>
            <a:spLocks noGrp="1"/>
          </p:cNvSpPr>
          <p:nvPr>
            <p:ph type="sldNum" sz="quarter" idx="12"/>
          </p:nvPr>
        </p:nvSpPr>
        <p:spPr/>
        <p:txBody>
          <a:bodyPr/>
          <a:lstStyle/>
          <a:p>
            <a:fld id="{828F3BD4-1AF2-D144-8129-4D42AD448F5E}" type="slidenum">
              <a:rPr lang="en-JP" smtClean="0"/>
              <a:t>24</a:t>
            </a:fld>
            <a:endParaRPr lang="en-JP"/>
          </a:p>
        </p:txBody>
      </p:sp>
      <p:sp>
        <p:nvSpPr>
          <p:cNvPr id="2" name="Rounded Rectangle 1">
            <a:extLst>
              <a:ext uri="{FF2B5EF4-FFF2-40B4-BE49-F238E27FC236}">
                <a16:creationId xmlns:a16="http://schemas.microsoft.com/office/drawing/2014/main" id="{C858935C-C3DE-F4FD-8B8B-089E6C37242F}"/>
              </a:ext>
            </a:extLst>
          </p:cNvPr>
          <p:cNvSpPr/>
          <p:nvPr/>
        </p:nvSpPr>
        <p:spPr>
          <a:xfrm>
            <a:off x="4627335" y="762879"/>
            <a:ext cx="3798207" cy="294388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2000">
              <a:solidFill>
                <a:schemeClr val="tx1"/>
              </a:solidFill>
              <a:latin typeface="Meiryo" panose="020B0604030504040204" pitchFamily="34" charset="-128"/>
              <a:ea typeface="Meiryo" panose="020B0604030504040204" pitchFamily="34" charset="-128"/>
            </a:endParaRPr>
          </a:p>
          <a:p>
            <a:pPr algn="ctr"/>
            <a:r>
              <a:rPr lang="ja-JP" altLang="en-US" sz="2000">
                <a:solidFill>
                  <a:schemeClr val="tx1"/>
                </a:solidFill>
                <a:latin typeface="Meiryo" panose="020B0604030504040204" pitchFamily="34" charset="-128"/>
                <a:ea typeface="Meiryo" panose="020B0604030504040204" pitchFamily="34" charset="-128"/>
              </a:rPr>
              <a:t>研究ギャップ</a:t>
            </a:r>
          </a:p>
          <a:p>
            <a:pPr algn="ctr"/>
            <a:r>
              <a:rPr lang="ja-JP" altLang="en-US" sz="2000">
                <a:solidFill>
                  <a:schemeClr val="tx1"/>
                </a:solidFill>
                <a:latin typeface="Meiryo" panose="020B0604030504040204" pitchFamily="34" charset="-128"/>
                <a:ea typeface="Meiryo" panose="020B0604030504040204" pitchFamily="34" charset="-128"/>
              </a:rPr>
              <a:t>既存の</a:t>
            </a:r>
            <a:r>
              <a:rPr lang="en-US" altLang="ja-JP" sz="2000" dirty="0">
                <a:solidFill>
                  <a:schemeClr val="tx1"/>
                </a:solidFill>
                <a:latin typeface="Meiryo" panose="020B0604030504040204" pitchFamily="34" charset="-128"/>
                <a:ea typeface="Meiryo" panose="020B0604030504040204" pitchFamily="34" charset="-128"/>
              </a:rPr>
              <a:t>ARP Spoofing</a:t>
            </a:r>
            <a:r>
              <a:rPr lang="ja-JP" altLang="en-US" sz="2000">
                <a:solidFill>
                  <a:schemeClr val="tx1"/>
                </a:solidFill>
                <a:latin typeface="Meiryo" panose="020B0604030504040204" pitchFamily="34" charset="-128"/>
                <a:ea typeface="Meiryo" panose="020B0604030504040204" pitchFamily="34" charset="-128"/>
              </a:rPr>
              <a:t>研究の多くは一般的な</a:t>
            </a:r>
            <a:r>
              <a:rPr lang="en-US" altLang="ja-JP" sz="2000" dirty="0">
                <a:solidFill>
                  <a:schemeClr val="tx1"/>
                </a:solidFill>
                <a:latin typeface="Meiryo" panose="020B0604030504040204" pitchFamily="34" charset="-128"/>
                <a:ea typeface="Meiryo" panose="020B0604030504040204" pitchFamily="34" charset="-128"/>
              </a:rPr>
              <a:t>IoT</a:t>
            </a:r>
            <a:r>
              <a:rPr lang="ja-JP" altLang="en-US" sz="2000">
                <a:solidFill>
                  <a:schemeClr val="tx1"/>
                </a:solidFill>
                <a:latin typeface="Meiryo" panose="020B0604030504040204" pitchFamily="34" charset="-128"/>
                <a:ea typeface="Meiryo" panose="020B0604030504040204" pitchFamily="34" charset="-128"/>
              </a:rPr>
              <a:t>・</a:t>
            </a:r>
            <a:r>
              <a:rPr lang="en-US" altLang="ja-JP" sz="2000" dirty="0">
                <a:solidFill>
                  <a:schemeClr val="tx1"/>
                </a:solidFill>
                <a:latin typeface="Meiryo" panose="020B0604030504040204" pitchFamily="34" charset="-128"/>
                <a:ea typeface="Meiryo" panose="020B0604030504040204" pitchFamily="34" charset="-128"/>
              </a:rPr>
              <a:t>HTTP</a:t>
            </a:r>
            <a:r>
              <a:rPr lang="ja-JP" altLang="en-US" sz="2000">
                <a:solidFill>
                  <a:schemeClr val="tx1"/>
                </a:solidFill>
                <a:latin typeface="Meiryo" panose="020B0604030504040204" pitchFamily="34" charset="-128"/>
                <a:ea typeface="Meiryo" panose="020B0604030504040204" pitchFamily="34" charset="-128"/>
              </a:rPr>
              <a:t>環境を対象</a:t>
            </a:r>
          </a:p>
          <a:p>
            <a:pPr algn="ctr"/>
            <a:r>
              <a:rPr lang="en-US" altLang="ja-JP" sz="2000" dirty="0">
                <a:solidFill>
                  <a:schemeClr val="tx1"/>
                </a:solidFill>
                <a:latin typeface="Meiryo" panose="020B0604030504040204" pitchFamily="34" charset="-128"/>
                <a:ea typeface="Meiryo" panose="020B0604030504040204" pitchFamily="34" charset="-128"/>
              </a:rPr>
              <a:t>CoAP/DTLS</a:t>
            </a:r>
            <a:r>
              <a:rPr lang="ja-JP" altLang="en-US" sz="2000">
                <a:solidFill>
                  <a:schemeClr val="tx1"/>
                </a:solidFill>
                <a:latin typeface="Meiryo" panose="020B0604030504040204" pitchFamily="34" charset="-128"/>
                <a:ea typeface="Meiryo" panose="020B0604030504040204" pitchFamily="34" charset="-128"/>
              </a:rPr>
              <a:t>環境の</a:t>
            </a:r>
            <a:r>
              <a:rPr lang="en-US" altLang="ja-JP" sz="2000" dirty="0">
                <a:solidFill>
                  <a:schemeClr val="tx1"/>
                </a:solidFill>
                <a:latin typeface="Meiryo" panose="020B0604030504040204" pitchFamily="34" charset="-128"/>
                <a:ea typeface="Meiryo" panose="020B0604030504040204" pitchFamily="34" charset="-128"/>
              </a:rPr>
              <a:t>L2</a:t>
            </a:r>
            <a:r>
              <a:rPr lang="ja-JP" altLang="en-US" sz="2000">
                <a:solidFill>
                  <a:schemeClr val="tx1"/>
                </a:solidFill>
                <a:latin typeface="Meiryo" panose="020B0604030504040204" pitchFamily="34" charset="-128"/>
                <a:ea typeface="Meiryo" panose="020B0604030504040204" pitchFamily="34" charset="-128"/>
              </a:rPr>
              <a:t>脅威に着目した研究は非常に少ない</a:t>
            </a:r>
          </a:p>
          <a:p>
            <a:pPr algn="ctr"/>
            <a:r>
              <a:rPr lang="en-US" altLang="ja-JP" sz="2000" dirty="0">
                <a:solidFill>
                  <a:schemeClr val="tx1"/>
                </a:solidFill>
                <a:latin typeface="Meiryo" panose="020B0604030504040204" pitchFamily="34" charset="-128"/>
                <a:ea typeface="Meiryo" panose="020B0604030504040204" pitchFamily="34" charset="-128"/>
              </a:rPr>
              <a:t>DTLS</a:t>
            </a:r>
            <a:r>
              <a:rPr lang="ja-JP" altLang="en-US" sz="2000">
                <a:solidFill>
                  <a:schemeClr val="tx1"/>
                </a:solidFill>
                <a:latin typeface="Meiryo" panose="020B0604030504040204" pitchFamily="34" charset="-128"/>
                <a:ea typeface="Meiryo" panose="020B0604030504040204" pitchFamily="34" charset="-128"/>
              </a:rPr>
              <a:t>により</a:t>
            </a:r>
            <a:r>
              <a:rPr lang="en-US" altLang="ja-JP" sz="2000" dirty="0">
                <a:solidFill>
                  <a:schemeClr val="tx1"/>
                </a:solidFill>
                <a:latin typeface="Meiryo" panose="020B0604030504040204" pitchFamily="34" charset="-128"/>
                <a:ea typeface="Meiryo" panose="020B0604030504040204" pitchFamily="34" charset="-128"/>
              </a:rPr>
              <a:t>DPI</a:t>
            </a:r>
            <a:r>
              <a:rPr lang="ja-JP" altLang="en-US" sz="2000">
                <a:solidFill>
                  <a:schemeClr val="tx1"/>
                </a:solidFill>
                <a:latin typeface="Meiryo" panose="020B0604030504040204" pitchFamily="34" charset="-128"/>
                <a:ea typeface="Meiryo" panose="020B0604030504040204" pitchFamily="34" charset="-128"/>
              </a:rPr>
              <a:t>が使えない→従来の</a:t>
            </a:r>
            <a:r>
              <a:rPr lang="en-US" altLang="ja-JP" sz="2000" dirty="0">
                <a:solidFill>
                  <a:schemeClr val="tx1"/>
                </a:solidFill>
                <a:latin typeface="Meiryo" panose="020B0604030504040204" pitchFamily="34" charset="-128"/>
                <a:ea typeface="Meiryo" panose="020B0604030504040204" pitchFamily="34" charset="-128"/>
              </a:rPr>
              <a:t>IDS</a:t>
            </a:r>
            <a:r>
              <a:rPr lang="ja-JP" altLang="en-US" sz="2000">
                <a:solidFill>
                  <a:schemeClr val="tx1"/>
                </a:solidFill>
                <a:latin typeface="Meiryo" panose="020B0604030504040204" pitchFamily="34" charset="-128"/>
                <a:ea typeface="Meiryo" panose="020B0604030504040204" pitchFamily="34" charset="-128"/>
              </a:rPr>
              <a:t>手法が機能しない</a:t>
            </a:r>
            <a:endParaRPr lang="en-JP" sz="2000" dirty="0">
              <a:solidFill>
                <a:schemeClr val="tx1"/>
              </a:solidFill>
              <a:latin typeface="Meiryo" panose="020B0604030504040204" pitchFamily="34" charset="-128"/>
              <a:ea typeface="Meiryo" panose="020B0604030504040204" pitchFamily="34" charset="-128"/>
            </a:endParaRPr>
          </a:p>
        </p:txBody>
      </p:sp>
      <p:sp>
        <p:nvSpPr>
          <p:cNvPr id="7" name="Rounded Rectangle 6">
            <a:extLst>
              <a:ext uri="{FF2B5EF4-FFF2-40B4-BE49-F238E27FC236}">
                <a16:creationId xmlns:a16="http://schemas.microsoft.com/office/drawing/2014/main" id="{216D6A4E-1230-CE24-4852-6B28113A39E1}"/>
              </a:ext>
            </a:extLst>
          </p:cNvPr>
          <p:cNvSpPr/>
          <p:nvPr/>
        </p:nvSpPr>
        <p:spPr>
          <a:xfrm>
            <a:off x="4604658" y="3599339"/>
            <a:ext cx="3853542" cy="262027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2000" b="1">
              <a:solidFill>
                <a:srgbClr val="C00000"/>
              </a:solidFill>
              <a:latin typeface="Meiryo" panose="020B0604030504040204" pitchFamily="34" charset="-128"/>
              <a:ea typeface="Meiryo" panose="020B0604030504040204" pitchFamily="34" charset="-128"/>
            </a:endParaRPr>
          </a:p>
          <a:p>
            <a:pPr algn="ctr"/>
            <a:r>
              <a:rPr lang="ja-JP" altLang="en-US" sz="2000" b="1">
                <a:solidFill>
                  <a:schemeClr val="tx1"/>
                </a:solidFill>
                <a:latin typeface="Meiryo" panose="020B0604030504040204" pitchFamily="34" charset="-128"/>
                <a:ea typeface="Meiryo" panose="020B0604030504040204" pitchFamily="34" charset="-128"/>
              </a:rPr>
              <a:t>被害は拡大中</a:t>
            </a:r>
          </a:p>
          <a:p>
            <a:pPr algn="ctr"/>
            <a:r>
              <a:rPr lang="en-US" altLang="ja-JP" sz="2000" b="1" dirty="0">
                <a:solidFill>
                  <a:schemeClr val="tx1"/>
                </a:solidFill>
                <a:latin typeface="Meiryo" panose="020B0604030504040204" pitchFamily="34" charset="-128"/>
                <a:ea typeface="Meiryo" panose="020B0604030504040204" pitchFamily="34" charset="-128"/>
              </a:rPr>
              <a:t>Cisco</a:t>
            </a:r>
            <a:r>
              <a:rPr lang="ja-JP" altLang="en-US" sz="2000" b="1">
                <a:solidFill>
                  <a:schemeClr val="tx1"/>
                </a:solidFill>
                <a:latin typeface="Meiryo" panose="020B0604030504040204" pitchFamily="34" charset="-128"/>
                <a:ea typeface="Meiryo" panose="020B0604030504040204" pitchFamily="34" charset="-128"/>
              </a:rPr>
              <a:t>報告</a:t>
            </a:r>
            <a:r>
              <a:rPr lang="en-US" altLang="ja-JP" sz="2000" b="1" dirty="0">
                <a:solidFill>
                  <a:schemeClr val="tx1"/>
                </a:solidFill>
                <a:latin typeface="Meiryo" panose="020B0604030504040204" pitchFamily="34" charset="-128"/>
                <a:ea typeface="Meiryo" panose="020B0604030504040204" pitchFamily="34" charset="-128"/>
              </a:rPr>
              <a:t>: IoT</a:t>
            </a:r>
            <a:r>
              <a:rPr lang="ja-JP" altLang="en-US" sz="2000" b="1">
                <a:solidFill>
                  <a:schemeClr val="tx1"/>
                </a:solidFill>
                <a:latin typeface="Meiryo" panose="020B0604030504040204" pitchFamily="34" charset="-128"/>
                <a:ea typeface="Meiryo" panose="020B0604030504040204" pitchFamily="34" charset="-128"/>
              </a:rPr>
              <a:t>向け攻撃が前年比</a:t>
            </a:r>
            <a:r>
              <a:rPr lang="en-US" altLang="ja-JP" sz="2000" b="1" dirty="0">
                <a:solidFill>
                  <a:schemeClr val="tx1"/>
                </a:solidFill>
                <a:latin typeface="Meiryo" panose="020B0604030504040204" pitchFamily="34" charset="-128"/>
                <a:ea typeface="Meiryo" panose="020B0604030504040204" pitchFamily="34" charset="-128"/>
              </a:rPr>
              <a:t>+41%.ARP</a:t>
            </a:r>
            <a:r>
              <a:rPr lang="ja-JP" altLang="en-US" sz="2000" b="1">
                <a:solidFill>
                  <a:schemeClr val="tx1"/>
                </a:solidFill>
                <a:latin typeface="Meiryo" panose="020B0604030504040204" pitchFamily="34" charset="-128"/>
                <a:ea typeface="Meiryo" panose="020B0604030504040204" pitchFamily="34" charset="-128"/>
              </a:rPr>
              <a:t>ベース攻撃が</a:t>
            </a:r>
            <a:r>
              <a:rPr lang="en-US" altLang="ja-JP" sz="2000" b="1" dirty="0">
                <a:solidFill>
                  <a:schemeClr val="tx1"/>
                </a:solidFill>
                <a:latin typeface="Meiryo" panose="020B0604030504040204" pitchFamily="34" charset="-128"/>
                <a:ea typeface="Meiryo" panose="020B0604030504040204" pitchFamily="34" charset="-128"/>
              </a:rPr>
              <a:t>23%</a:t>
            </a:r>
            <a:r>
              <a:rPr lang="ja-JP" altLang="en-US" sz="2000" b="1">
                <a:solidFill>
                  <a:schemeClr val="tx1"/>
                </a:solidFill>
                <a:latin typeface="Meiryo" panose="020B0604030504040204" pitchFamily="34" charset="-128"/>
                <a:ea typeface="Meiryo" panose="020B0604030504040204" pitchFamily="34" charset="-128"/>
              </a:rPr>
              <a:t>を占める</a:t>
            </a:r>
          </a:p>
          <a:p>
            <a:pPr algn="ctr"/>
            <a:r>
              <a:rPr lang="en-US" altLang="ja-JP" sz="2000" b="1" dirty="0">
                <a:solidFill>
                  <a:schemeClr val="tx1"/>
                </a:solidFill>
                <a:latin typeface="Meiryo" panose="020B0604030504040204" pitchFamily="34" charset="-128"/>
                <a:ea typeface="Meiryo" panose="020B0604030504040204" pitchFamily="34" charset="-128"/>
              </a:rPr>
              <a:t>Cisco 2024</a:t>
            </a:r>
            <a:endParaRPr lang="en-JP" sz="2000" b="1" dirty="0">
              <a:solidFill>
                <a:schemeClr val="tx1"/>
              </a:solidFill>
              <a:latin typeface="Meiryo" panose="020B0604030504040204" pitchFamily="34" charset="-128"/>
              <a:ea typeface="Meiryo" panose="020B0604030504040204" pitchFamily="34" charset="-128"/>
            </a:endParaRPr>
          </a:p>
        </p:txBody>
      </p:sp>
      <p:sp>
        <p:nvSpPr>
          <p:cNvPr id="9" name="Quad Arrow 8">
            <a:extLst>
              <a:ext uri="{FF2B5EF4-FFF2-40B4-BE49-F238E27FC236}">
                <a16:creationId xmlns:a16="http://schemas.microsoft.com/office/drawing/2014/main" id="{D6953004-29C6-1203-E1F3-2BCFE3E84426}"/>
              </a:ext>
            </a:extLst>
          </p:cNvPr>
          <p:cNvSpPr/>
          <p:nvPr/>
        </p:nvSpPr>
        <p:spPr>
          <a:xfrm>
            <a:off x="3920087" y="2995392"/>
            <a:ext cx="596579" cy="834368"/>
          </a:xfrm>
          <a:prstGeom prst="quadArrow">
            <a:avLst/>
          </a:prstGeom>
          <a:solidFill>
            <a:schemeClr val="tx1">
              <a:lumMod val="95000"/>
              <a:lumOff val="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5" name="Rounded Rectangle 14">
            <a:extLst>
              <a:ext uri="{FF2B5EF4-FFF2-40B4-BE49-F238E27FC236}">
                <a16:creationId xmlns:a16="http://schemas.microsoft.com/office/drawing/2014/main" id="{FF8CBE85-DDD8-87A7-01EF-89930092DE0A}"/>
              </a:ext>
            </a:extLst>
          </p:cNvPr>
          <p:cNvSpPr/>
          <p:nvPr/>
        </p:nvSpPr>
        <p:spPr>
          <a:xfrm>
            <a:off x="464854" y="819546"/>
            <a:ext cx="3059247" cy="57694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800" b="1" dirty="0">
              <a:solidFill>
                <a:srgbClr val="C00000"/>
              </a:solidFill>
              <a:latin typeface="Meiryo" panose="020B0604030504040204" pitchFamily="34" charset="-128"/>
              <a:ea typeface="Meiryo" panose="020B0604030504040204" pitchFamily="34" charset="-128"/>
            </a:endParaRPr>
          </a:p>
          <a:p>
            <a:pPr algn="ctr"/>
            <a:r>
              <a:rPr lang="en-US" altLang="ja-JP" sz="1800" b="1" dirty="0">
                <a:solidFill>
                  <a:srgbClr val="C00000"/>
                </a:solidFill>
                <a:latin typeface="Meiryo" panose="020B0604030504040204" pitchFamily="34" charset="-128"/>
                <a:ea typeface="Meiryo" panose="020B0604030504040204" pitchFamily="34" charset="-128"/>
              </a:rPr>
              <a:t>1982</a:t>
            </a:r>
            <a:r>
              <a:rPr lang="ja-JP" altLang="en-US" sz="1800" b="1">
                <a:solidFill>
                  <a:srgbClr val="C00000"/>
                </a:solidFill>
                <a:latin typeface="Meiryo" panose="020B0604030504040204" pitchFamily="34" charset="-128"/>
                <a:ea typeface="Meiryo" panose="020B0604030504040204" pitchFamily="34" charset="-128"/>
              </a:rPr>
              <a:t>年</a:t>
            </a:r>
            <a:endParaRPr lang="en-US" altLang="ja-JP" sz="1800" b="1" dirty="0">
              <a:solidFill>
                <a:srgbClr val="C00000"/>
              </a:solidFill>
              <a:latin typeface="Meiryo" panose="020B0604030504040204" pitchFamily="34" charset="-128"/>
              <a:ea typeface="Meiryo" panose="020B0604030504040204" pitchFamily="34" charset="-128"/>
            </a:endParaRPr>
          </a:p>
          <a:p>
            <a:pPr algn="ctr"/>
            <a:endParaRPr lang="en-JP" dirty="0"/>
          </a:p>
        </p:txBody>
      </p:sp>
      <p:sp>
        <p:nvSpPr>
          <p:cNvPr id="16" name="Rounded Rectangle 15">
            <a:extLst>
              <a:ext uri="{FF2B5EF4-FFF2-40B4-BE49-F238E27FC236}">
                <a16:creationId xmlns:a16="http://schemas.microsoft.com/office/drawing/2014/main" id="{9A15DC73-34AB-A42D-3C24-07D5D9CFC57B}"/>
              </a:ext>
            </a:extLst>
          </p:cNvPr>
          <p:cNvSpPr/>
          <p:nvPr/>
        </p:nvSpPr>
        <p:spPr>
          <a:xfrm>
            <a:off x="5019787" y="819545"/>
            <a:ext cx="3013301" cy="57694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800" b="1" dirty="0">
              <a:solidFill>
                <a:srgbClr val="C00000"/>
              </a:solidFill>
              <a:latin typeface="Meiryo" panose="020B0604030504040204" pitchFamily="34" charset="-128"/>
              <a:ea typeface="Meiryo" panose="020B0604030504040204" pitchFamily="34" charset="-128"/>
            </a:endParaRPr>
          </a:p>
          <a:p>
            <a:pPr algn="ctr"/>
            <a:r>
              <a:rPr lang="en-US" altLang="ja-JP" sz="1800" b="1" dirty="0">
                <a:solidFill>
                  <a:srgbClr val="C00000"/>
                </a:solidFill>
                <a:latin typeface="Meiryo" panose="020B0604030504040204" pitchFamily="34" charset="-128"/>
                <a:ea typeface="Meiryo" panose="020B0604030504040204" pitchFamily="34" charset="-128"/>
              </a:rPr>
              <a:t>1989</a:t>
            </a:r>
            <a:r>
              <a:rPr lang="ja-JP" altLang="en-US" sz="1800" b="1">
                <a:solidFill>
                  <a:srgbClr val="C00000"/>
                </a:solidFill>
                <a:latin typeface="Meiryo" panose="020B0604030504040204" pitchFamily="34" charset="-128"/>
                <a:ea typeface="Meiryo" panose="020B0604030504040204" pitchFamily="34" charset="-128"/>
              </a:rPr>
              <a:t>年</a:t>
            </a:r>
            <a:endParaRPr lang="en-US" altLang="ja-JP" sz="1800" b="1" dirty="0">
              <a:solidFill>
                <a:srgbClr val="C00000"/>
              </a:solidFill>
              <a:latin typeface="Meiryo" panose="020B0604030504040204" pitchFamily="34" charset="-128"/>
              <a:ea typeface="Meiryo" panose="020B0604030504040204" pitchFamily="34" charset="-128"/>
            </a:endParaRPr>
          </a:p>
          <a:p>
            <a:pPr algn="ctr"/>
            <a:endParaRPr lang="en-JP" dirty="0"/>
          </a:p>
        </p:txBody>
      </p:sp>
      <p:sp>
        <p:nvSpPr>
          <p:cNvPr id="18" name="Rounded Rectangle 17">
            <a:extLst>
              <a:ext uri="{FF2B5EF4-FFF2-40B4-BE49-F238E27FC236}">
                <a16:creationId xmlns:a16="http://schemas.microsoft.com/office/drawing/2014/main" id="{7792BF25-DD9D-0A0E-D8B0-BBB9A8EF46D6}"/>
              </a:ext>
            </a:extLst>
          </p:cNvPr>
          <p:cNvSpPr/>
          <p:nvPr/>
        </p:nvSpPr>
        <p:spPr>
          <a:xfrm>
            <a:off x="5019786" y="3622502"/>
            <a:ext cx="3013301" cy="57694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800" b="1" dirty="0">
              <a:solidFill>
                <a:srgbClr val="C00000"/>
              </a:solidFill>
              <a:latin typeface="Meiryo" panose="020B0604030504040204" pitchFamily="34" charset="-128"/>
              <a:ea typeface="Meiryo" panose="020B0604030504040204" pitchFamily="34" charset="-128"/>
            </a:endParaRPr>
          </a:p>
          <a:p>
            <a:pPr algn="ctr"/>
            <a:r>
              <a:rPr lang="en-US" altLang="ja-JP" b="1" dirty="0">
                <a:solidFill>
                  <a:srgbClr val="C00000"/>
                </a:solidFill>
                <a:latin typeface="Meiryo" panose="020B0604030504040204" pitchFamily="34" charset="-128"/>
                <a:ea typeface="Meiryo" panose="020B0604030504040204" pitchFamily="34" charset="-128"/>
              </a:rPr>
              <a:t>2024</a:t>
            </a:r>
            <a:r>
              <a:rPr lang="ja-JP" altLang="en-US" sz="1800" b="1">
                <a:solidFill>
                  <a:srgbClr val="C00000"/>
                </a:solidFill>
                <a:latin typeface="Meiryo" panose="020B0604030504040204" pitchFamily="34" charset="-128"/>
                <a:ea typeface="Meiryo" panose="020B0604030504040204" pitchFamily="34" charset="-128"/>
              </a:rPr>
              <a:t>年</a:t>
            </a:r>
            <a:endParaRPr lang="en-US" altLang="ja-JP" sz="1800" b="1" dirty="0">
              <a:solidFill>
                <a:srgbClr val="C00000"/>
              </a:solidFill>
              <a:latin typeface="Meiryo" panose="020B0604030504040204" pitchFamily="34" charset="-128"/>
              <a:ea typeface="Meiryo" panose="020B0604030504040204" pitchFamily="34" charset="-128"/>
            </a:endParaRPr>
          </a:p>
          <a:p>
            <a:pPr algn="ctr"/>
            <a:endParaRPr lang="en-JP" dirty="0"/>
          </a:p>
        </p:txBody>
      </p:sp>
    </p:spTree>
    <p:extLst>
      <p:ext uri="{BB962C8B-B14F-4D97-AF65-F5344CB8AC3E}">
        <p14:creationId xmlns:p14="http://schemas.microsoft.com/office/powerpoint/2010/main" val="16271329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470010" y="1635919"/>
            <a:ext cx="7886700" cy="4856955"/>
          </a:xfrm>
        </p:spPr>
        <p:txBody>
          <a:bodyPr>
            <a:normAutofit lnSpcReduction="10000"/>
          </a:bodyPr>
          <a:lstStyle/>
          <a:p>
            <a:pPr marL="476219" indent="-342878">
              <a:lnSpc>
                <a:spcPct val="150000"/>
              </a:lnSpc>
              <a:spcBef>
                <a:spcPts val="0"/>
              </a:spcBef>
              <a:buSzPts val="2800"/>
              <a:buFont typeface="Wingdings" pitchFamily="2" charset="2"/>
              <a:buChar char="§"/>
            </a:pPr>
            <a:r>
              <a:rPr lang="en-US" altLang="ja-JP" sz="3100" dirty="0">
                <a:latin typeface="Meiryo" panose="020B0604030504040204" pitchFamily="34" charset="-128"/>
                <a:ea typeface="Meiryo" panose="020B0604030504040204" pitchFamily="34" charset="-128"/>
              </a:rPr>
              <a:t> </a:t>
            </a:r>
            <a:r>
              <a:rPr lang="ja-JP" altLang="en-US" sz="3100">
                <a:latin typeface="Meiryo" panose="020B0604030504040204" pitchFamily="34" charset="-128"/>
                <a:ea typeface="Meiryo" panose="020B0604030504040204" pitchFamily="34" charset="-128"/>
              </a:rPr>
              <a:t>研究背景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研究目的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関連技術・関連研究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1">
                <a:solidFill>
                  <a:srgbClr val="C00000"/>
                </a:solidFill>
                <a:latin typeface="Meiryo" panose="020B0604030504040204" pitchFamily="34" charset="-128"/>
                <a:ea typeface="Meiryo" panose="020B0604030504040204" pitchFamily="34" charset="-128"/>
              </a:rPr>
              <a:t>提案手法    </a:t>
            </a:r>
            <a:endParaRPr lang="mn-MN" altLang="ja-JP" sz="3100" b="1" dirty="0">
              <a:solidFill>
                <a:srgbClr val="C00000"/>
              </a:solidFill>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評価手法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0" i="0" u="none" strike="noStrike">
                <a:effectLst/>
                <a:latin typeface="Meiryo" panose="020B0604030504040204" pitchFamily="34" charset="-128"/>
                <a:ea typeface="Meiryo" panose="020B0604030504040204" pitchFamily="34" charset="-128"/>
              </a:rPr>
              <a:t>現在の進捗状況</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まとめ       </a:t>
            </a:r>
            <a:endParaRPr kumimoji="1"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endParaRPr lang="en-US" altLang="ja-JP" sz="2500" dirty="0">
              <a:latin typeface="Meiryo UI" panose="020B0604030504040204" pitchFamily="50" charset="-128"/>
              <a:ea typeface="Meiryo UI" panose="020B0604030504040204" pitchFamily="50" charset="-128"/>
            </a:endParaRPr>
          </a:p>
          <a:p>
            <a:endParaRPr lang="en-JP" sz="25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25</a:t>
            </a:fld>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50F375AD-778D-AB44-5C16-9E3EFA85933A}"/>
              </a:ext>
            </a:extLst>
          </p:cNvPr>
          <p:cNvSpPr txBox="1"/>
          <p:nvPr/>
        </p:nvSpPr>
        <p:spPr>
          <a:xfrm>
            <a:off x="5987668" y="3263465"/>
            <a:ext cx="4572000" cy="369332"/>
          </a:xfrm>
          <a:prstGeom prst="rect">
            <a:avLst/>
          </a:prstGeom>
          <a:noFill/>
        </p:spPr>
        <p:txBody>
          <a:bodyPr wrap="square">
            <a:spAutoFit/>
          </a:bodyPr>
          <a:lstStyle/>
          <a:p>
            <a:r>
              <a:rPr lang="en-JP" b="0" dirty="0">
                <a:effectLst/>
              </a:rPr>
              <a:t> </a:t>
            </a:r>
            <a:endParaRPr lang="en-JP" dirty="0"/>
          </a:p>
        </p:txBody>
      </p:sp>
    </p:spTree>
    <p:extLst>
      <p:ext uri="{BB962C8B-B14F-4D97-AF65-F5344CB8AC3E}">
        <p14:creationId xmlns:p14="http://schemas.microsoft.com/office/powerpoint/2010/main" val="34570402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6910D3-3090-2BBB-D153-8944E39ED6BB}"/>
              </a:ext>
            </a:extLst>
          </p:cNvPr>
          <p:cNvPicPr>
            <a:picLocks noChangeAspect="1"/>
          </p:cNvPicPr>
          <p:nvPr/>
        </p:nvPicPr>
        <p:blipFill>
          <a:blip r:embed="rId2"/>
          <a:stretch>
            <a:fillRect/>
          </a:stretch>
        </p:blipFill>
        <p:spPr>
          <a:xfrm>
            <a:off x="53855" y="1790178"/>
            <a:ext cx="931817" cy="1746702"/>
          </a:xfrm>
          <a:prstGeom prst="rect">
            <a:avLst/>
          </a:prstGeom>
        </p:spPr>
      </p:pic>
      <p:sp>
        <p:nvSpPr>
          <p:cNvPr id="19" name="Left-Right Arrow 18">
            <a:extLst>
              <a:ext uri="{FF2B5EF4-FFF2-40B4-BE49-F238E27FC236}">
                <a16:creationId xmlns:a16="http://schemas.microsoft.com/office/drawing/2014/main" id="{BE439358-D81D-75A7-8A1E-C4D6799A7ABD}"/>
              </a:ext>
            </a:extLst>
          </p:cNvPr>
          <p:cNvSpPr/>
          <p:nvPr/>
        </p:nvSpPr>
        <p:spPr>
          <a:xfrm>
            <a:off x="992105" y="3147071"/>
            <a:ext cx="1256476" cy="131402"/>
          </a:xfrm>
          <a:prstGeom prst="leftRight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350"/>
          </a:p>
        </p:txBody>
      </p:sp>
      <p:pic>
        <p:nvPicPr>
          <p:cNvPr id="32" name="Picture 31">
            <a:extLst>
              <a:ext uri="{FF2B5EF4-FFF2-40B4-BE49-F238E27FC236}">
                <a16:creationId xmlns:a16="http://schemas.microsoft.com/office/drawing/2014/main" id="{02D4093D-AE87-3993-FD2B-5CB283B08F20}"/>
              </a:ext>
            </a:extLst>
          </p:cNvPr>
          <p:cNvPicPr>
            <a:picLocks noChangeAspect="1"/>
          </p:cNvPicPr>
          <p:nvPr/>
        </p:nvPicPr>
        <p:blipFill>
          <a:blip r:embed="rId3"/>
          <a:stretch>
            <a:fillRect/>
          </a:stretch>
        </p:blipFill>
        <p:spPr>
          <a:xfrm>
            <a:off x="1990508" y="932923"/>
            <a:ext cx="760795" cy="476990"/>
          </a:xfrm>
          <a:prstGeom prst="rect">
            <a:avLst/>
          </a:prstGeom>
        </p:spPr>
      </p:pic>
      <p:sp>
        <p:nvSpPr>
          <p:cNvPr id="46" name="Bent Arrow 45">
            <a:extLst>
              <a:ext uri="{FF2B5EF4-FFF2-40B4-BE49-F238E27FC236}">
                <a16:creationId xmlns:a16="http://schemas.microsoft.com/office/drawing/2014/main" id="{7C11349D-3AF5-ECB8-5C22-074F0C9F2A25}"/>
              </a:ext>
            </a:extLst>
          </p:cNvPr>
          <p:cNvSpPr/>
          <p:nvPr/>
        </p:nvSpPr>
        <p:spPr>
          <a:xfrm rot="10800000">
            <a:off x="7100776" y="3563197"/>
            <a:ext cx="1649841" cy="188693"/>
          </a:xfrm>
          <a:prstGeom prst="ben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350" dirty="0">
              <a:solidFill>
                <a:schemeClr val="tx1"/>
              </a:solidFill>
            </a:endParaRPr>
          </a:p>
        </p:txBody>
      </p:sp>
      <p:pic>
        <p:nvPicPr>
          <p:cNvPr id="47" name="Picture 46">
            <a:extLst>
              <a:ext uri="{FF2B5EF4-FFF2-40B4-BE49-F238E27FC236}">
                <a16:creationId xmlns:a16="http://schemas.microsoft.com/office/drawing/2014/main" id="{5242EC0E-823D-0539-252E-FE3698BDE659}"/>
              </a:ext>
            </a:extLst>
          </p:cNvPr>
          <p:cNvPicPr>
            <a:picLocks noChangeAspect="1"/>
          </p:cNvPicPr>
          <p:nvPr/>
        </p:nvPicPr>
        <p:blipFill>
          <a:blip r:embed="rId4"/>
          <a:stretch>
            <a:fillRect/>
          </a:stretch>
        </p:blipFill>
        <p:spPr>
          <a:xfrm>
            <a:off x="7212686" y="1418060"/>
            <a:ext cx="1502588" cy="942808"/>
          </a:xfrm>
          <a:prstGeom prst="rect">
            <a:avLst/>
          </a:prstGeom>
        </p:spPr>
      </p:pic>
      <p:sp>
        <p:nvSpPr>
          <p:cNvPr id="48" name="TextBox 47">
            <a:extLst>
              <a:ext uri="{FF2B5EF4-FFF2-40B4-BE49-F238E27FC236}">
                <a16:creationId xmlns:a16="http://schemas.microsoft.com/office/drawing/2014/main" id="{AFC1EF38-B3C8-4959-0A80-3741677F9330}"/>
              </a:ext>
            </a:extLst>
          </p:cNvPr>
          <p:cNvSpPr txBox="1"/>
          <p:nvPr/>
        </p:nvSpPr>
        <p:spPr>
          <a:xfrm>
            <a:off x="7504991" y="2338335"/>
            <a:ext cx="1022132" cy="307777"/>
          </a:xfrm>
          <a:prstGeom prst="rect">
            <a:avLst/>
          </a:prstGeom>
          <a:noFill/>
        </p:spPr>
        <p:txBody>
          <a:bodyPr wrap="square" rtlCol="0">
            <a:spAutoFit/>
          </a:bodyPr>
          <a:lstStyle/>
          <a:p>
            <a:r>
              <a:rPr lang="en-JP" sz="1400" b="1" dirty="0">
                <a:solidFill>
                  <a:srgbClr val="C00000"/>
                </a:solidFill>
                <a:latin typeface="Meiryo" panose="020B0604030504040204" pitchFamily="34" charset="-128"/>
                <a:ea typeface="Meiryo" panose="020B0604030504040204" pitchFamily="34" charset="-128"/>
              </a:rPr>
              <a:t>Attacker</a:t>
            </a:r>
          </a:p>
        </p:txBody>
      </p:sp>
      <p:sp>
        <p:nvSpPr>
          <p:cNvPr id="49" name="Left-Right Arrow 48">
            <a:extLst>
              <a:ext uri="{FF2B5EF4-FFF2-40B4-BE49-F238E27FC236}">
                <a16:creationId xmlns:a16="http://schemas.microsoft.com/office/drawing/2014/main" id="{1A47444E-9524-0334-8B6D-33B2E0A4D864}"/>
              </a:ext>
            </a:extLst>
          </p:cNvPr>
          <p:cNvSpPr/>
          <p:nvPr/>
        </p:nvSpPr>
        <p:spPr>
          <a:xfrm>
            <a:off x="7374254" y="2993246"/>
            <a:ext cx="1022132" cy="127595"/>
          </a:xfrm>
          <a:prstGeom prst="leftRigh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350"/>
          </a:p>
        </p:txBody>
      </p:sp>
      <p:sp>
        <p:nvSpPr>
          <p:cNvPr id="50" name="TextBox 49">
            <a:extLst>
              <a:ext uri="{FF2B5EF4-FFF2-40B4-BE49-F238E27FC236}">
                <a16:creationId xmlns:a16="http://schemas.microsoft.com/office/drawing/2014/main" id="{FCFD3722-4FB7-9603-24F0-072A9421029B}"/>
              </a:ext>
            </a:extLst>
          </p:cNvPr>
          <p:cNvSpPr txBox="1"/>
          <p:nvPr/>
        </p:nvSpPr>
        <p:spPr>
          <a:xfrm>
            <a:off x="7137057" y="3367389"/>
            <a:ext cx="1585564" cy="300082"/>
          </a:xfrm>
          <a:prstGeom prst="rect">
            <a:avLst/>
          </a:prstGeom>
          <a:noFill/>
        </p:spPr>
        <p:txBody>
          <a:bodyPr wrap="square" rtlCol="0">
            <a:spAutoFit/>
          </a:bodyPr>
          <a:lstStyle/>
          <a:p>
            <a:r>
              <a:rPr lang="en-US" sz="1350" dirty="0">
                <a:solidFill>
                  <a:srgbClr val="C00000"/>
                </a:solidFill>
              </a:rPr>
              <a:t>ARP Spoofing </a:t>
            </a:r>
            <a:endParaRPr lang="en-JP" sz="1350" dirty="0">
              <a:solidFill>
                <a:srgbClr val="C00000"/>
              </a:solidFill>
            </a:endParaRPr>
          </a:p>
        </p:txBody>
      </p:sp>
      <p:pic>
        <p:nvPicPr>
          <p:cNvPr id="52" name="Picture 51">
            <a:extLst>
              <a:ext uri="{FF2B5EF4-FFF2-40B4-BE49-F238E27FC236}">
                <a16:creationId xmlns:a16="http://schemas.microsoft.com/office/drawing/2014/main" id="{E7F1857C-32CF-5FC8-AB7D-D96FFB8BE504}"/>
              </a:ext>
            </a:extLst>
          </p:cNvPr>
          <p:cNvPicPr>
            <a:picLocks noChangeAspect="1"/>
          </p:cNvPicPr>
          <p:nvPr/>
        </p:nvPicPr>
        <p:blipFill>
          <a:blip r:embed="rId5"/>
          <a:stretch>
            <a:fillRect/>
          </a:stretch>
        </p:blipFill>
        <p:spPr>
          <a:xfrm>
            <a:off x="370063" y="976521"/>
            <a:ext cx="1023272" cy="528638"/>
          </a:xfrm>
          <a:prstGeom prst="rect">
            <a:avLst/>
          </a:prstGeom>
        </p:spPr>
      </p:pic>
      <p:sp>
        <p:nvSpPr>
          <p:cNvPr id="55" name="Bent Arrow 54">
            <a:extLst>
              <a:ext uri="{FF2B5EF4-FFF2-40B4-BE49-F238E27FC236}">
                <a16:creationId xmlns:a16="http://schemas.microsoft.com/office/drawing/2014/main" id="{71DCE43E-E4DC-DB63-1CE8-D0A7F2FC1E6E}"/>
              </a:ext>
            </a:extLst>
          </p:cNvPr>
          <p:cNvSpPr/>
          <p:nvPr/>
        </p:nvSpPr>
        <p:spPr>
          <a:xfrm flipV="1">
            <a:off x="745893" y="4647734"/>
            <a:ext cx="1256476" cy="267290"/>
          </a:xfrm>
          <a:prstGeom prst="bentArrow">
            <a:avLst/>
          </a:prstGeom>
          <a:solidFill>
            <a:schemeClr val="accent6">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350" dirty="0">
              <a:solidFill>
                <a:schemeClr val="tx1"/>
              </a:solidFill>
            </a:endParaRPr>
          </a:p>
        </p:txBody>
      </p:sp>
      <p:sp>
        <p:nvSpPr>
          <p:cNvPr id="59" name="TextBox 58">
            <a:extLst>
              <a:ext uri="{FF2B5EF4-FFF2-40B4-BE49-F238E27FC236}">
                <a16:creationId xmlns:a16="http://schemas.microsoft.com/office/drawing/2014/main" id="{891AB5D9-182E-25DA-5AF2-2607A252597A}"/>
              </a:ext>
            </a:extLst>
          </p:cNvPr>
          <p:cNvSpPr txBox="1"/>
          <p:nvPr/>
        </p:nvSpPr>
        <p:spPr>
          <a:xfrm>
            <a:off x="313715" y="4916181"/>
            <a:ext cx="2081368" cy="369332"/>
          </a:xfrm>
          <a:prstGeom prst="rect">
            <a:avLst/>
          </a:prstGeom>
          <a:noFill/>
        </p:spPr>
        <p:txBody>
          <a:bodyPr wrap="square">
            <a:spAutoFit/>
          </a:bodyPr>
          <a:lstStyle/>
          <a:p>
            <a:r>
              <a:rPr lang="en-JP"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Enctypted Traffic</a:t>
            </a:r>
          </a:p>
        </p:txBody>
      </p:sp>
      <p:sp>
        <p:nvSpPr>
          <p:cNvPr id="61" name="TextBox 60">
            <a:extLst>
              <a:ext uri="{FF2B5EF4-FFF2-40B4-BE49-F238E27FC236}">
                <a16:creationId xmlns:a16="http://schemas.microsoft.com/office/drawing/2014/main" id="{D5A88AA2-713E-292F-37BC-DEFDFA0B5F38}"/>
              </a:ext>
            </a:extLst>
          </p:cNvPr>
          <p:cNvSpPr txBox="1"/>
          <p:nvPr/>
        </p:nvSpPr>
        <p:spPr>
          <a:xfrm>
            <a:off x="7308531" y="4150297"/>
            <a:ext cx="2529110" cy="300082"/>
          </a:xfrm>
          <a:prstGeom prst="rect">
            <a:avLst/>
          </a:prstGeom>
          <a:noFill/>
        </p:spPr>
        <p:txBody>
          <a:bodyPr wrap="square">
            <a:spAutoFit/>
          </a:bodyPr>
          <a:lstStyle/>
          <a:p>
            <a:r>
              <a:rPr lang="en-JP" sz="1350" b="1" dirty="0">
                <a:solidFill>
                  <a:srgbClr val="C00000"/>
                </a:solidFill>
                <a:latin typeface="Meiryo" panose="020B0604030504040204" pitchFamily="34" charset="-128"/>
                <a:ea typeface="Meiryo" panose="020B0604030504040204" pitchFamily="34" charset="-128"/>
              </a:rPr>
              <a:t>Malicious Traffic</a:t>
            </a:r>
          </a:p>
        </p:txBody>
      </p:sp>
      <p:cxnSp>
        <p:nvCxnSpPr>
          <p:cNvPr id="62" name="Straight Arrow Connector 61">
            <a:extLst>
              <a:ext uri="{FF2B5EF4-FFF2-40B4-BE49-F238E27FC236}">
                <a16:creationId xmlns:a16="http://schemas.microsoft.com/office/drawing/2014/main" id="{C43E0002-502B-4332-50FE-25EC941789E1}"/>
              </a:ext>
            </a:extLst>
          </p:cNvPr>
          <p:cNvCxnSpPr>
            <a:cxnSpLocks/>
          </p:cNvCxnSpPr>
          <p:nvPr/>
        </p:nvCxnSpPr>
        <p:spPr>
          <a:xfrm flipH="1">
            <a:off x="1354399" y="1240840"/>
            <a:ext cx="647970" cy="0"/>
          </a:xfrm>
          <a:prstGeom prst="straightConnector1">
            <a:avLst/>
          </a:prstGeom>
          <a:ln w="2540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sp>
        <p:nvSpPr>
          <p:cNvPr id="67" name="TextBox 66">
            <a:extLst>
              <a:ext uri="{FF2B5EF4-FFF2-40B4-BE49-F238E27FC236}">
                <a16:creationId xmlns:a16="http://schemas.microsoft.com/office/drawing/2014/main" id="{25C0994D-DE4E-C824-2D4D-04EA154EC4AF}"/>
              </a:ext>
            </a:extLst>
          </p:cNvPr>
          <p:cNvSpPr txBox="1"/>
          <p:nvPr/>
        </p:nvSpPr>
        <p:spPr>
          <a:xfrm>
            <a:off x="456732" y="3915502"/>
            <a:ext cx="4759286"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E</a:t>
            </a:r>
            <a:r>
              <a:rPr lang="en-JP" dirty="0">
                <a:latin typeface="Times New Roman" panose="02020603050405020304" pitchFamily="18" charset="0"/>
                <a:cs typeface="Times New Roman" panose="02020603050405020304" pitchFamily="18" charset="0"/>
              </a:rPr>
              <a:t>ncrypte </a:t>
            </a:r>
          </a:p>
          <a:p>
            <a:r>
              <a:rPr lang="en-JP" dirty="0">
                <a:latin typeface="Times New Roman" panose="02020603050405020304" pitchFamily="18" charset="0"/>
                <a:cs typeface="Times New Roman" panose="02020603050405020304" pitchFamily="18" charset="0"/>
              </a:rPr>
              <a:t>communication</a:t>
            </a:r>
          </a:p>
        </p:txBody>
      </p:sp>
      <p:sp>
        <p:nvSpPr>
          <p:cNvPr id="69" name="Rectangle 68">
            <a:extLst>
              <a:ext uri="{FF2B5EF4-FFF2-40B4-BE49-F238E27FC236}">
                <a16:creationId xmlns:a16="http://schemas.microsoft.com/office/drawing/2014/main" id="{B504446D-2D8F-4558-50FC-7D796330FFCD}"/>
              </a:ext>
            </a:extLst>
          </p:cNvPr>
          <p:cNvSpPr/>
          <p:nvPr/>
        </p:nvSpPr>
        <p:spPr>
          <a:xfrm>
            <a:off x="2215785" y="1563920"/>
            <a:ext cx="4759286" cy="4674001"/>
          </a:xfrm>
          <a:prstGeom prst="rect">
            <a:avLst/>
          </a:prstGeom>
          <a:ln w="444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JP" sz="1350" dirty="0"/>
          </a:p>
        </p:txBody>
      </p:sp>
      <p:pic>
        <p:nvPicPr>
          <p:cNvPr id="70" name="Picture 69">
            <a:extLst>
              <a:ext uri="{FF2B5EF4-FFF2-40B4-BE49-F238E27FC236}">
                <a16:creationId xmlns:a16="http://schemas.microsoft.com/office/drawing/2014/main" id="{15823733-1759-595E-061D-867B43F90BED}"/>
              </a:ext>
            </a:extLst>
          </p:cNvPr>
          <p:cNvPicPr>
            <a:picLocks noChangeAspect="1"/>
          </p:cNvPicPr>
          <p:nvPr/>
        </p:nvPicPr>
        <p:blipFill>
          <a:blip r:embed="rId6"/>
          <a:stretch>
            <a:fillRect/>
          </a:stretch>
        </p:blipFill>
        <p:spPr>
          <a:xfrm>
            <a:off x="4792307" y="2295596"/>
            <a:ext cx="708931" cy="1047902"/>
          </a:xfrm>
          <a:prstGeom prst="rect">
            <a:avLst/>
          </a:prstGeom>
        </p:spPr>
      </p:pic>
      <p:pic>
        <p:nvPicPr>
          <p:cNvPr id="71" name="Picture 70">
            <a:extLst>
              <a:ext uri="{FF2B5EF4-FFF2-40B4-BE49-F238E27FC236}">
                <a16:creationId xmlns:a16="http://schemas.microsoft.com/office/drawing/2014/main" id="{BAB59F2A-2C15-6B64-879F-0962A652407D}"/>
              </a:ext>
            </a:extLst>
          </p:cNvPr>
          <p:cNvPicPr>
            <a:picLocks noChangeAspect="1"/>
          </p:cNvPicPr>
          <p:nvPr/>
        </p:nvPicPr>
        <p:blipFill>
          <a:blip r:embed="rId7"/>
          <a:stretch>
            <a:fillRect/>
          </a:stretch>
        </p:blipFill>
        <p:spPr>
          <a:xfrm>
            <a:off x="2499716" y="1671995"/>
            <a:ext cx="923925" cy="496899"/>
          </a:xfrm>
          <a:prstGeom prst="rect">
            <a:avLst/>
          </a:prstGeom>
        </p:spPr>
      </p:pic>
      <p:cxnSp>
        <p:nvCxnSpPr>
          <p:cNvPr id="72" name="Straight Arrow Connector 71">
            <a:extLst>
              <a:ext uri="{FF2B5EF4-FFF2-40B4-BE49-F238E27FC236}">
                <a16:creationId xmlns:a16="http://schemas.microsoft.com/office/drawing/2014/main" id="{AD6B0973-C973-C2DB-2360-734D9A600D13}"/>
              </a:ext>
            </a:extLst>
          </p:cNvPr>
          <p:cNvCxnSpPr>
            <a:cxnSpLocks/>
          </p:cNvCxnSpPr>
          <p:nvPr/>
        </p:nvCxnSpPr>
        <p:spPr>
          <a:xfrm flipV="1">
            <a:off x="4014812" y="2019290"/>
            <a:ext cx="0" cy="341374"/>
          </a:xfrm>
          <a:prstGeom prst="straightConnector1">
            <a:avLst/>
          </a:prstGeom>
          <a:ln w="2540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sp>
        <p:nvSpPr>
          <p:cNvPr id="74" name="Rounded Rectangle 73">
            <a:extLst>
              <a:ext uri="{FF2B5EF4-FFF2-40B4-BE49-F238E27FC236}">
                <a16:creationId xmlns:a16="http://schemas.microsoft.com/office/drawing/2014/main" id="{29D365C1-027F-8B86-7EDD-104EF734B89C}"/>
              </a:ext>
            </a:extLst>
          </p:cNvPr>
          <p:cNvSpPr/>
          <p:nvPr/>
        </p:nvSpPr>
        <p:spPr>
          <a:xfrm>
            <a:off x="2388097" y="2468907"/>
            <a:ext cx="1454618" cy="92129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b="1" dirty="0">
                <a:latin typeface="Meiryo" panose="020B0604030504040204" pitchFamily="34" charset="-128"/>
                <a:ea typeface="Meiryo" panose="020B0604030504040204" pitchFamily="34" charset="-128"/>
              </a:rPr>
              <a:t>IoT </a:t>
            </a:r>
            <a:r>
              <a:rPr lang="mn-MN" sz="1600" b="1" dirty="0">
                <a:latin typeface="Meiryo" panose="020B0604030504040204" pitchFamily="34" charset="-128"/>
                <a:ea typeface="Meiryo" panose="020B0604030504040204" pitchFamily="34" charset="-128"/>
              </a:rPr>
              <a:t>G</a:t>
            </a:r>
            <a:r>
              <a:rPr lang="en-US" sz="1600" b="1" dirty="0">
                <a:latin typeface="Meiryo" panose="020B0604030504040204" pitchFamily="34" charset="-128"/>
                <a:ea typeface="Meiryo" panose="020B0604030504040204" pitchFamily="34" charset="-128"/>
              </a:rPr>
              <a:t>ateway</a:t>
            </a:r>
            <a:endParaRPr lang="en-JP" sz="1600" b="1" dirty="0">
              <a:latin typeface="Meiryo" panose="020B0604030504040204" pitchFamily="34" charset="-128"/>
              <a:ea typeface="Meiryo" panose="020B0604030504040204" pitchFamily="34" charset="-128"/>
            </a:endParaRPr>
          </a:p>
        </p:txBody>
      </p:sp>
      <p:sp>
        <p:nvSpPr>
          <p:cNvPr id="75" name="TextBox 74">
            <a:extLst>
              <a:ext uri="{FF2B5EF4-FFF2-40B4-BE49-F238E27FC236}">
                <a16:creationId xmlns:a16="http://schemas.microsoft.com/office/drawing/2014/main" id="{69BCDBDA-8FA8-D6BB-1EC1-433FB61C2A89}"/>
              </a:ext>
            </a:extLst>
          </p:cNvPr>
          <p:cNvSpPr txBox="1"/>
          <p:nvPr/>
        </p:nvSpPr>
        <p:spPr>
          <a:xfrm>
            <a:off x="5671128" y="2186484"/>
            <a:ext cx="1404518" cy="830997"/>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A</a:t>
            </a:r>
            <a:r>
              <a:rPr lang="en-JP" sz="1600" dirty="0">
                <a:latin typeface="Times New Roman" panose="02020603050405020304" pitchFamily="18" charset="0"/>
                <a:cs typeface="Times New Roman" panose="02020603050405020304" pitchFamily="18" charset="0"/>
              </a:rPr>
              <a:t>ttack detected </a:t>
            </a:r>
          </a:p>
          <a:p>
            <a:r>
              <a:rPr lang="en-JP" sz="1600" dirty="0">
                <a:latin typeface="Times New Roman" panose="02020603050405020304" pitchFamily="18" charset="0"/>
                <a:cs typeface="Times New Roman" panose="02020603050405020304" pitchFamily="18" charset="0"/>
              </a:rPr>
              <a:t>blocked</a:t>
            </a:r>
          </a:p>
        </p:txBody>
      </p:sp>
      <p:pic>
        <p:nvPicPr>
          <p:cNvPr id="76" name="Picture 75">
            <a:extLst>
              <a:ext uri="{FF2B5EF4-FFF2-40B4-BE49-F238E27FC236}">
                <a16:creationId xmlns:a16="http://schemas.microsoft.com/office/drawing/2014/main" id="{2522D428-DA88-8105-A9FD-3F9A961CEE1E}"/>
              </a:ext>
            </a:extLst>
          </p:cNvPr>
          <p:cNvPicPr>
            <a:picLocks noChangeAspect="1"/>
          </p:cNvPicPr>
          <p:nvPr/>
        </p:nvPicPr>
        <p:blipFill>
          <a:blip r:embed="rId8"/>
          <a:stretch>
            <a:fillRect/>
          </a:stretch>
        </p:blipFill>
        <p:spPr>
          <a:xfrm>
            <a:off x="5720361" y="1671995"/>
            <a:ext cx="737585" cy="458875"/>
          </a:xfrm>
          <a:prstGeom prst="rect">
            <a:avLst/>
          </a:prstGeom>
        </p:spPr>
      </p:pic>
      <p:pic>
        <p:nvPicPr>
          <p:cNvPr id="77" name="Picture 76">
            <a:extLst>
              <a:ext uri="{FF2B5EF4-FFF2-40B4-BE49-F238E27FC236}">
                <a16:creationId xmlns:a16="http://schemas.microsoft.com/office/drawing/2014/main" id="{E487F1D6-DB80-2319-057B-590470F5B51A}"/>
              </a:ext>
            </a:extLst>
          </p:cNvPr>
          <p:cNvPicPr>
            <a:picLocks noChangeAspect="1"/>
          </p:cNvPicPr>
          <p:nvPr/>
        </p:nvPicPr>
        <p:blipFill>
          <a:blip r:embed="rId9"/>
          <a:stretch>
            <a:fillRect/>
          </a:stretch>
        </p:blipFill>
        <p:spPr>
          <a:xfrm>
            <a:off x="2449417" y="3484146"/>
            <a:ext cx="253890" cy="351301"/>
          </a:xfrm>
          <a:prstGeom prst="rect">
            <a:avLst/>
          </a:prstGeom>
        </p:spPr>
      </p:pic>
      <p:pic>
        <p:nvPicPr>
          <p:cNvPr id="78" name="Picture 77">
            <a:extLst>
              <a:ext uri="{FF2B5EF4-FFF2-40B4-BE49-F238E27FC236}">
                <a16:creationId xmlns:a16="http://schemas.microsoft.com/office/drawing/2014/main" id="{243C226B-965D-EC73-25B8-EB65EC9BD176}"/>
              </a:ext>
            </a:extLst>
          </p:cNvPr>
          <p:cNvPicPr>
            <a:picLocks noChangeAspect="1"/>
          </p:cNvPicPr>
          <p:nvPr/>
        </p:nvPicPr>
        <p:blipFill>
          <a:blip r:embed="rId10"/>
          <a:stretch>
            <a:fillRect/>
          </a:stretch>
        </p:blipFill>
        <p:spPr>
          <a:xfrm>
            <a:off x="2267641" y="4000019"/>
            <a:ext cx="2513056" cy="2153385"/>
          </a:xfrm>
          <a:prstGeom prst="rect">
            <a:avLst/>
          </a:prstGeom>
        </p:spPr>
      </p:pic>
      <p:pic>
        <p:nvPicPr>
          <p:cNvPr id="79" name="Picture 78">
            <a:extLst>
              <a:ext uri="{FF2B5EF4-FFF2-40B4-BE49-F238E27FC236}">
                <a16:creationId xmlns:a16="http://schemas.microsoft.com/office/drawing/2014/main" id="{551B34E5-387C-D7B0-D5C6-7EDF59516651}"/>
              </a:ext>
            </a:extLst>
          </p:cNvPr>
          <p:cNvPicPr>
            <a:picLocks noChangeAspect="1"/>
          </p:cNvPicPr>
          <p:nvPr/>
        </p:nvPicPr>
        <p:blipFill>
          <a:blip r:embed="rId11"/>
          <a:stretch>
            <a:fillRect/>
          </a:stretch>
        </p:blipFill>
        <p:spPr>
          <a:xfrm>
            <a:off x="6539750" y="4110545"/>
            <a:ext cx="295275" cy="428625"/>
          </a:xfrm>
          <a:prstGeom prst="rect">
            <a:avLst/>
          </a:prstGeom>
        </p:spPr>
      </p:pic>
      <p:sp>
        <p:nvSpPr>
          <p:cNvPr id="80" name="TextBox 79">
            <a:extLst>
              <a:ext uri="{FF2B5EF4-FFF2-40B4-BE49-F238E27FC236}">
                <a16:creationId xmlns:a16="http://schemas.microsoft.com/office/drawing/2014/main" id="{269842F5-839E-4CCB-3E53-49919684E3D9}"/>
              </a:ext>
            </a:extLst>
          </p:cNvPr>
          <p:cNvSpPr txBox="1"/>
          <p:nvPr/>
        </p:nvSpPr>
        <p:spPr>
          <a:xfrm>
            <a:off x="3637057" y="1674734"/>
            <a:ext cx="1621021" cy="338554"/>
          </a:xfrm>
          <a:prstGeom prst="rect">
            <a:avLst/>
          </a:prstGeom>
          <a:noFill/>
        </p:spPr>
        <p:txBody>
          <a:bodyPr wrap="none" rtlCol="0">
            <a:spAutoFit/>
          </a:bodyPr>
          <a:lstStyle/>
          <a:p>
            <a:r>
              <a:rPr lang="en-JP" sz="1600" b="1" dirty="0">
                <a:latin typeface="Meiryo" panose="020B0604030504040204" pitchFamily="34" charset="-128"/>
                <a:ea typeface="Meiryo" panose="020B0604030504040204" pitchFamily="34" charset="-128"/>
              </a:rPr>
              <a:t>Home Router</a:t>
            </a:r>
          </a:p>
        </p:txBody>
      </p:sp>
      <p:cxnSp>
        <p:nvCxnSpPr>
          <p:cNvPr id="82" name="Elbow Connector 81">
            <a:extLst>
              <a:ext uri="{FF2B5EF4-FFF2-40B4-BE49-F238E27FC236}">
                <a16:creationId xmlns:a16="http://schemas.microsoft.com/office/drawing/2014/main" id="{406830F6-9980-48BA-FE75-6E6228A9C36F}"/>
              </a:ext>
            </a:extLst>
          </p:cNvPr>
          <p:cNvCxnSpPr>
            <a:cxnSpLocks/>
            <a:stCxn id="32" idx="3"/>
          </p:cNvCxnSpPr>
          <p:nvPr/>
        </p:nvCxnSpPr>
        <p:spPr>
          <a:xfrm>
            <a:off x="2751302" y="1171418"/>
            <a:ext cx="235403" cy="281387"/>
          </a:xfrm>
          <a:prstGeom prst="bentConnector2">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BE4082EC-1A41-7307-A3E9-6A317B3DAAC0}"/>
              </a:ext>
            </a:extLst>
          </p:cNvPr>
          <p:cNvSpPr txBox="1"/>
          <p:nvPr/>
        </p:nvSpPr>
        <p:spPr>
          <a:xfrm>
            <a:off x="3080589" y="6352759"/>
            <a:ext cx="4804731" cy="253916"/>
          </a:xfrm>
          <a:prstGeom prst="rect">
            <a:avLst/>
          </a:prstGeom>
          <a:noFill/>
        </p:spPr>
        <p:txBody>
          <a:bodyPr wrap="square">
            <a:spAutoFit/>
          </a:bodyPr>
          <a:lstStyle/>
          <a:p>
            <a:r>
              <a:rPr lang="ja-JP" altLang="en-US" sz="1050">
                <a:solidFill>
                  <a:srgbClr val="222222"/>
                </a:solidFill>
                <a:latin typeface="Meiryo" panose="020B0604030504040204" pitchFamily="34" charset="-128"/>
                <a:ea typeface="Meiryo" panose="020B0604030504040204" pitchFamily="34" charset="-128"/>
              </a:rPr>
              <a:t>システムの構成図 </a:t>
            </a:r>
            <a:r>
              <a:rPr lang="en-US" altLang="ja-JP" sz="1050" dirty="0">
                <a:solidFill>
                  <a:srgbClr val="222222"/>
                </a:solidFill>
                <a:latin typeface="Meiryo" panose="020B0604030504040204" pitchFamily="34" charset="-128"/>
                <a:ea typeface="Meiryo" panose="020B0604030504040204" pitchFamily="34" charset="-128"/>
              </a:rPr>
              <a:t>(</a:t>
            </a:r>
            <a:r>
              <a:rPr lang="en-US" altLang="ja-JP" sz="1050" dirty="0">
                <a:solidFill>
                  <a:srgbClr val="222222"/>
                </a:solidFill>
                <a:latin typeface="Arial" panose="020B0604020202020204" pitchFamily="34" charset="0"/>
              </a:rPr>
              <a:t>DTLS+CoAP+IDS)</a:t>
            </a:r>
            <a:endParaRPr lang="en-JP" sz="1050" dirty="0"/>
          </a:p>
        </p:txBody>
      </p:sp>
      <p:sp>
        <p:nvSpPr>
          <p:cNvPr id="89" name="TextBox 88">
            <a:extLst>
              <a:ext uri="{FF2B5EF4-FFF2-40B4-BE49-F238E27FC236}">
                <a16:creationId xmlns:a16="http://schemas.microsoft.com/office/drawing/2014/main" id="{A6D4E73D-98FD-997D-C073-2B686C7D397A}"/>
              </a:ext>
            </a:extLst>
          </p:cNvPr>
          <p:cNvSpPr txBox="1"/>
          <p:nvPr/>
        </p:nvSpPr>
        <p:spPr>
          <a:xfrm>
            <a:off x="2581150" y="4238788"/>
            <a:ext cx="5073267" cy="300082"/>
          </a:xfrm>
          <a:prstGeom prst="rect">
            <a:avLst/>
          </a:prstGeom>
          <a:noFill/>
        </p:spPr>
        <p:txBody>
          <a:bodyPr wrap="square">
            <a:spAutoFit/>
          </a:bodyPr>
          <a:lstStyle/>
          <a:p>
            <a:r>
              <a:rPr lang="en-US" sz="1350" dirty="0"/>
              <a:t>IoT Device</a:t>
            </a:r>
            <a:endParaRPr lang="en-JP" sz="1350" dirty="0"/>
          </a:p>
        </p:txBody>
      </p:sp>
      <p:sp>
        <p:nvSpPr>
          <p:cNvPr id="2" name="Left-Right Arrow 1">
            <a:extLst>
              <a:ext uri="{FF2B5EF4-FFF2-40B4-BE49-F238E27FC236}">
                <a16:creationId xmlns:a16="http://schemas.microsoft.com/office/drawing/2014/main" id="{971EB2E9-2C75-2F34-CB92-92682BE3D27D}"/>
              </a:ext>
            </a:extLst>
          </p:cNvPr>
          <p:cNvSpPr/>
          <p:nvPr/>
        </p:nvSpPr>
        <p:spPr>
          <a:xfrm rot="5400000">
            <a:off x="3010550" y="3666671"/>
            <a:ext cx="449640" cy="87904"/>
          </a:xfrm>
          <a:prstGeom prst="lef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350"/>
          </a:p>
        </p:txBody>
      </p:sp>
      <p:pic>
        <p:nvPicPr>
          <p:cNvPr id="3" name="Picture 2">
            <a:extLst>
              <a:ext uri="{FF2B5EF4-FFF2-40B4-BE49-F238E27FC236}">
                <a16:creationId xmlns:a16="http://schemas.microsoft.com/office/drawing/2014/main" id="{342C00CE-E3E9-31F5-6F0C-1CDF6E7696F7}"/>
              </a:ext>
            </a:extLst>
          </p:cNvPr>
          <p:cNvPicPr>
            <a:picLocks noChangeAspect="1"/>
          </p:cNvPicPr>
          <p:nvPr/>
        </p:nvPicPr>
        <p:blipFill>
          <a:blip r:embed="rId12"/>
          <a:stretch>
            <a:fillRect/>
          </a:stretch>
        </p:blipFill>
        <p:spPr>
          <a:xfrm>
            <a:off x="4080330" y="2308242"/>
            <a:ext cx="765884" cy="675740"/>
          </a:xfrm>
          <a:prstGeom prst="rect">
            <a:avLst/>
          </a:prstGeom>
        </p:spPr>
      </p:pic>
      <p:sp>
        <p:nvSpPr>
          <p:cNvPr id="5" name="Rounded Rectangle 4">
            <a:extLst>
              <a:ext uri="{FF2B5EF4-FFF2-40B4-BE49-F238E27FC236}">
                <a16:creationId xmlns:a16="http://schemas.microsoft.com/office/drawing/2014/main" id="{E05601E7-4251-F033-BCF1-09C9B2A2B194}"/>
              </a:ext>
            </a:extLst>
          </p:cNvPr>
          <p:cNvSpPr/>
          <p:nvPr/>
        </p:nvSpPr>
        <p:spPr>
          <a:xfrm>
            <a:off x="3986086" y="3107264"/>
            <a:ext cx="2732553" cy="623158"/>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000" b="1" dirty="0">
                <a:solidFill>
                  <a:schemeClr val="tx1"/>
                </a:solidFill>
                <a:latin typeface="Meiryo" panose="020B0604030504040204" pitchFamily="34" charset="-128"/>
                <a:ea typeface="Meiryo" panose="020B0604030504040204" pitchFamily="34" charset="-128"/>
              </a:rPr>
              <a:t>ML-Based IDS</a:t>
            </a:r>
            <a:endParaRPr lang="en-JP" sz="2000" b="1" dirty="0">
              <a:solidFill>
                <a:schemeClr val="tx1"/>
              </a:solidFill>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95D04EF8-CD42-CA7E-BA41-374A8A72BB84}"/>
              </a:ext>
            </a:extLst>
          </p:cNvPr>
          <p:cNvSpPr txBox="1"/>
          <p:nvPr/>
        </p:nvSpPr>
        <p:spPr>
          <a:xfrm>
            <a:off x="4792887" y="4425119"/>
            <a:ext cx="1960041" cy="523220"/>
          </a:xfrm>
          <a:prstGeom prst="rect">
            <a:avLst/>
          </a:prstGeom>
          <a:noFill/>
        </p:spPr>
        <p:txBody>
          <a:bodyPr wrap="square">
            <a:spAutoFit/>
          </a:bodyPr>
          <a:lstStyle/>
          <a:p>
            <a:pPr algn="ctr"/>
            <a:r>
              <a:rPr lang="en-US" sz="1400" dirty="0" err="1">
                <a:latin typeface="Meiryo" panose="020B0604030504040204" pitchFamily="34" charset="-128"/>
                <a:ea typeface="Meiryo" panose="020B0604030504040204" pitchFamily="34" charset="-128"/>
              </a:rPr>
              <a:t>CoAP+DTLS</a:t>
            </a:r>
            <a:endParaRPr lang="en-US" sz="1400" dirty="0">
              <a:latin typeface="Meiryo" panose="020B0604030504040204" pitchFamily="34" charset="-128"/>
              <a:ea typeface="Meiryo" panose="020B0604030504040204" pitchFamily="34" charset="-128"/>
            </a:endParaRPr>
          </a:p>
          <a:p>
            <a:pPr algn="ctr"/>
            <a:r>
              <a:rPr lang="en-US" sz="1400" dirty="0">
                <a:latin typeface="Meiryo" panose="020B0604030504040204" pitchFamily="34" charset="-128"/>
                <a:ea typeface="Meiryo" panose="020B0604030504040204" pitchFamily="34" charset="-128"/>
              </a:rPr>
              <a:t>Encrypted Traffic</a:t>
            </a:r>
          </a:p>
        </p:txBody>
      </p:sp>
      <p:sp>
        <p:nvSpPr>
          <p:cNvPr id="11" name="Left-Right Arrow 10">
            <a:extLst>
              <a:ext uri="{FF2B5EF4-FFF2-40B4-BE49-F238E27FC236}">
                <a16:creationId xmlns:a16="http://schemas.microsoft.com/office/drawing/2014/main" id="{F987DCA4-F04F-CCF6-E614-BE4CE0D434DC}"/>
              </a:ext>
            </a:extLst>
          </p:cNvPr>
          <p:cNvSpPr/>
          <p:nvPr/>
        </p:nvSpPr>
        <p:spPr>
          <a:xfrm rot="5400000">
            <a:off x="4565213" y="3977908"/>
            <a:ext cx="203801" cy="34289"/>
          </a:xfrm>
          <a:prstGeom prst="lef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350"/>
          </a:p>
        </p:txBody>
      </p:sp>
      <p:cxnSp>
        <p:nvCxnSpPr>
          <p:cNvPr id="12" name="Straight Arrow Connector 11">
            <a:extLst>
              <a:ext uri="{FF2B5EF4-FFF2-40B4-BE49-F238E27FC236}">
                <a16:creationId xmlns:a16="http://schemas.microsoft.com/office/drawing/2014/main" id="{A187074D-85F1-26FD-4405-B5FC9E741F05}"/>
              </a:ext>
            </a:extLst>
          </p:cNvPr>
          <p:cNvCxnSpPr>
            <a:cxnSpLocks/>
          </p:cNvCxnSpPr>
          <p:nvPr/>
        </p:nvCxnSpPr>
        <p:spPr>
          <a:xfrm>
            <a:off x="3908086" y="2812309"/>
            <a:ext cx="196869" cy="0"/>
          </a:xfrm>
          <a:prstGeom prst="straightConnector1">
            <a:avLst/>
          </a:prstGeom>
          <a:ln w="2540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A87472E4-6484-F57A-1DEB-1194E83964DA}"/>
              </a:ext>
            </a:extLst>
          </p:cNvPr>
          <p:cNvSpPr txBox="1"/>
          <p:nvPr/>
        </p:nvSpPr>
        <p:spPr>
          <a:xfrm>
            <a:off x="898564" y="3341357"/>
            <a:ext cx="1344792" cy="300082"/>
          </a:xfrm>
          <a:prstGeom prst="rect">
            <a:avLst/>
          </a:prstGeom>
          <a:noFill/>
        </p:spPr>
        <p:txBody>
          <a:bodyPr wrap="none" rtlCol="0">
            <a:spAutoFit/>
          </a:bodyPr>
          <a:lstStyle/>
          <a:p>
            <a:r>
              <a:rPr lang="en-US" sz="1350" dirty="0">
                <a:latin typeface="Meiryo" panose="020B0604030504040204" pitchFamily="34" charset="-128"/>
                <a:ea typeface="Meiryo" panose="020B0604030504040204" pitchFamily="34" charset="-128"/>
              </a:rPr>
              <a:t>Normal traffic</a:t>
            </a:r>
            <a:endParaRPr lang="en-JP" sz="1350" dirty="0">
              <a:latin typeface="Meiryo" panose="020B0604030504040204" pitchFamily="34" charset="-128"/>
              <a:ea typeface="Meiryo" panose="020B0604030504040204" pitchFamily="34" charset="-128"/>
            </a:endParaRPr>
          </a:p>
        </p:txBody>
      </p:sp>
      <p:cxnSp>
        <p:nvCxnSpPr>
          <p:cNvPr id="20" name="Straight Connector 19">
            <a:extLst>
              <a:ext uri="{FF2B5EF4-FFF2-40B4-BE49-F238E27FC236}">
                <a16:creationId xmlns:a16="http://schemas.microsoft.com/office/drawing/2014/main" id="{AA3528C9-DEBB-8727-73CE-904925C67FB3}"/>
              </a:ext>
            </a:extLst>
          </p:cNvPr>
          <p:cNvCxnSpPr>
            <a:cxnSpLocks/>
          </p:cNvCxnSpPr>
          <p:nvPr/>
        </p:nvCxnSpPr>
        <p:spPr>
          <a:xfrm>
            <a:off x="2195219" y="3975081"/>
            <a:ext cx="4779852" cy="19971"/>
          </a:xfrm>
          <a:prstGeom prst="line">
            <a:avLst/>
          </a:prstGeom>
          <a:ln w="38100">
            <a:solidFill>
              <a:schemeClr val="tx1">
                <a:alpha val="78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019DBBE-EC0E-4274-0B23-906CE9FD213C}"/>
              </a:ext>
            </a:extLst>
          </p:cNvPr>
          <p:cNvSpPr txBox="1"/>
          <p:nvPr/>
        </p:nvSpPr>
        <p:spPr>
          <a:xfrm>
            <a:off x="844826" y="367748"/>
            <a:ext cx="184731" cy="923330"/>
          </a:xfrm>
          <a:prstGeom prst="rect">
            <a:avLst/>
          </a:prstGeom>
          <a:noFill/>
        </p:spPr>
        <p:txBody>
          <a:bodyPr wrap="none" rtlCol="0">
            <a:spAutoFit/>
          </a:bodyPr>
          <a:lstStyle/>
          <a:p>
            <a:endParaRPr lang="en-JP" dirty="0"/>
          </a:p>
          <a:p>
            <a:endParaRPr lang="en-JP" dirty="0"/>
          </a:p>
          <a:p>
            <a:endParaRPr lang="en-JP" dirty="0"/>
          </a:p>
        </p:txBody>
      </p:sp>
      <p:sp>
        <p:nvSpPr>
          <p:cNvPr id="14" name="Shape 0">
            <a:extLst>
              <a:ext uri="{FF2B5EF4-FFF2-40B4-BE49-F238E27FC236}">
                <a16:creationId xmlns:a16="http://schemas.microsoft.com/office/drawing/2014/main" id="{1C99BEC0-3DF8-92DA-AD24-9480AF95659A}"/>
              </a:ext>
            </a:extLst>
          </p:cNvPr>
          <p:cNvSpPr/>
          <p:nvPr/>
        </p:nvSpPr>
        <p:spPr>
          <a:xfrm>
            <a:off x="0" y="0"/>
            <a:ext cx="9144000" cy="691502"/>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r>
              <a:rPr lang="en-US" altLang="ja-JP" sz="2800" dirty="0">
                <a:solidFill>
                  <a:srgbClr val="222222"/>
                </a:solidFill>
                <a:latin typeface="Meiryo" panose="020B0604030504040204" pitchFamily="34" charset="-128"/>
                <a:ea typeface="Meiryo" panose="020B0604030504040204" pitchFamily="34" charset="-128"/>
              </a:rPr>
              <a:t>(</a:t>
            </a:r>
            <a:r>
              <a:rPr lang="en-US" altLang="ja-JP" sz="2800" b="1" dirty="0">
                <a:solidFill>
                  <a:srgbClr val="222222"/>
                </a:solidFill>
                <a:latin typeface="Meiryo" panose="020B0604030504040204" pitchFamily="34" charset="-128"/>
                <a:ea typeface="Meiryo" panose="020B0604030504040204" pitchFamily="34" charset="-128"/>
              </a:rPr>
              <a:t>ML based-IDS +</a:t>
            </a:r>
            <a:r>
              <a:rPr lang="en-US" altLang="ja-JP" sz="2800" b="1" dirty="0" err="1">
                <a:solidFill>
                  <a:srgbClr val="222222"/>
                </a:solidFill>
                <a:latin typeface="Meiryo" panose="020B0604030504040204" pitchFamily="34" charset="-128"/>
                <a:ea typeface="Meiryo" panose="020B0604030504040204" pitchFamily="34" charset="-128"/>
              </a:rPr>
              <a:t>DTLS+CoAP</a:t>
            </a:r>
            <a:r>
              <a:rPr lang="en-US" altLang="ja-JP" sz="2800" b="1" dirty="0">
                <a:solidFill>
                  <a:srgbClr val="222222"/>
                </a:solidFill>
                <a:latin typeface="Arial" panose="020B0604020202020204" pitchFamily="34" charset="0"/>
              </a:rPr>
              <a:t>)</a:t>
            </a:r>
            <a:r>
              <a:rPr lang="en-JP" altLang="ja-JP" sz="2800" b="1" dirty="0">
                <a:solidFill>
                  <a:srgbClr val="222222"/>
                </a:solidFill>
              </a:rPr>
              <a:t> </a:t>
            </a:r>
            <a:r>
              <a:rPr lang="ja-JP" altLang="en-US" sz="2800" b="1">
                <a:latin typeface="Meiryo" panose="020B0604030504040204" pitchFamily="34" charset="-128"/>
                <a:ea typeface="Meiryo" panose="020B0604030504040204" pitchFamily="34" charset="-128"/>
              </a:rPr>
              <a:t>のシステム</a:t>
            </a:r>
            <a:r>
              <a:rPr lang="ja-JP" altLang="en-US" sz="2800" b="1">
                <a:solidFill>
                  <a:srgbClr val="222222"/>
                </a:solidFill>
                <a:latin typeface="Meiryo" panose="020B0604030504040204" pitchFamily="34" charset="-128"/>
                <a:ea typeface="Meiryo" panose="020B0604030504040204" pitchFamily="34" charset="-128"/>
              </a:rPr>
              <a:t>構成</a:t>
            </a:r>
            <a:endParaRPr lang="en-US" sz="2800" b="1" dirty="0">
              <a:solidFill>
                <a:srgbClr val="000000"/>
              </a:solidFill>
              <a:latin typeface="Meiryo" panose="020B0604030504040204" pitchFamily="34" charset="-128"/>
              <a:ea typeface="Meiryo" panose="020B0604030504040204" pitchFamily="34" charset="-128"/>
            </a:endParaRPr>
          </a:p>
          <a:p>
            <a:endParaRPr lang="en-JP" sz="2800" dirty="0"/>
          </a:p>
          <a:p>
            <a:endParaRPr lang="en-JP" sz="2800" b="1" dirty="0"/>
          </a:p>
        </p:txBody>
      </p:sp>
      <p:sp>
        <p:nvSpPr>
          <p:cNvPr id="18" name="Slide Number Placeholder 17">
            <a:extLst>
              <a:ext uri="{FF2B5EF4-FFF2-40B4-BE49-F238E27FC236}">
                <a16:creationId xmlns:a16="http://schemas.microsoft.com/office/drawing/2014/main" id="{73F7038B-8264-F2E7-5351-1315360E931C}"/>
              </a:ext>
            </a:extLst>
          </p:cNvPr>
          <p:cNvSpPr>
            <a:spLocks noGrp="1"/>
          </p:cNvSpPr>
          <p:nvPr>
            <p:ph type="sldNum" sz="quarter" idx="12"/>
          </p:nvPr>
        </p:nvSpPr>
        <p:spPr/>
        <p:txBody>
          <a:bodyPr/>
          <a:lstStyle/>
          <a:p>
            <a:fld id="{828F3BD4-1AF2-D144-8129-4D42AD448F5E}" type="slidenum">
              <a:rPr lang="en-JP" smtClean="0"/>
              <a:t>26</a:t>
            </a:fld>
            <a:endParaRPr lang="en-JP"/>
          </a:p>
        </p:txBody>
      </p:sp>
      <p:sp>
        <p:nvSpPr>
          <p:cNvPr id="7" name="正方形/長方形 4">
            <a:extLst>
              <a:ext uri="{FF2B5EF4-FFF2-40B4-BE49-F238E27FC236}">
                <a16:creationId xmlns:a16="http://schemas.microsoft.com/office/drawing/2014/main" id="{E30762A2-CAD0-CD85-18D2-C39E73E9D436}"/>
              </a:ext>
            </a:extLst>
          </p:cNvPr>
          <p:cNvSpPr/>
          <p:nvPr/>
        </p:nvSpPr>
        <p:spPr>
          <a:xfrm>
            <a:off x="2360102" y="2468908"/>
            <a:ext cx="1512000" cy="95262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Tree>
    <p:extLst>
      <p:ext uri="{BB962C8B-B14F-4D97-AF65-F5344CB8AC3E}">
        <p14:creationId xmlns:p14="http://schemas.microsoft.com/office/powerpoint/2010/main" val="37663195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6">
            <a:extLst>
              <a:ext uri="{FF2B5EF4-FFF2-40B4-BE49-F238E27FC236}">
                <a16:creationId xmlns:a16="http://schemas.microsoft.com/office/drawing/2014/main" id="{7FF5011C-B599-586C-78F9-92DAE119AFB9}"/>
              </a:ext>
            </a:extLst>
          </p:cNvPr>
          <p:cNvSpPr/>
          <p:nvPr/>
        </p:nvSpPr>
        <p:spPr>
          <a:xfrm>
            <a:off x="4203429" y="1697423"/>
            <a:ext cx="1817786" cy="1229775"/>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mn-MN" sz="2400" b="0" i="0" dirty="0">
              <a:solidFill>
                <a:srgbClr val="000000"/>
              </a:solidFill>
              <a:effectLst/>
              <a:latin typeface="Meiryo" panose="020B0604030504040204" pitchFamily="34" charset="-128"/>
              <a:ea typeface="Meiryo" panose="020B0604030504040204" pitchFamily="34" charset="-128"/>
            </a:endParaRPr>
          </a:p>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i="0" dirty="0">
              <a:solidFill>
                <a:srgbClr val="000000"/>
              </a:solidFill>
              <a:effectLst/>
              <a:latin typeface="Meiryo" panose="020B0604030504040204" pitchFamily="34" charset="-128"/>
              <a:ea typeface="Meiryo" panose="020B0604030504040204" pitchFamily="34" charset="-128"/>
            </a:endParaRPr>
          </a:p>
          <a:p>
            <a:pPr algn="ctr"/>
            <a:r>
              <a:rPr lang="en-US" sz="2400" b="1" i="0" dirty="0">
                <a:solidFill>
                  <a:srgbClr val="000000"/>
                </a:solidFill>
                <a:effectLst/>
                <a:latin typeface="Meiryo" panose="020B0604030504040204" pitchFamily="34" charset="-128"/>
                <a:ea typeface="Meiryo" panose="020B0604030504040204" pitchFamily="34" charset="-128"/>
              </a:rPr>
              <a:t>Gateway</a:t>
            </a:r>
            <a:endParaRPr lang="en-US" sz="2400" dirty="0">
              <a:solidFill>
                <a:schemeClr val="tx1"/>
              </a:solidFill>
              <a:latin typeface="Meiryo" panose="020B0604030504040204" pitchFamily="34" charset="-128"/>
              <a:ea typeface="Meiryo" panose="020B0604030504040204" pitchFamily="34" charset="-128"/>
            </a:endParaRPr>
          </a:p>
        </p:txBody>
      </p:sp>
      <p:sp>
        <p:nvSpPr>
          <p:cNvPr id="9" name="Rectangle: Rounded Corners 8">
            <a:extLst>
              <a:ext uri="{FF2B5EF4-FFF2-40B4-BE49-F238E27FC236}">
                <a16:creationId xmlns:a16="http://schemas.microsoft.com/office/drawing/2014/main" id="{D5E7BCE3-9E99-9AA4-52E6-B50466164EB7}"/>
              </a:ext>
            </a:extLst>
          </p:cNvPr>
          <p:cNvSpPr/>
          <p:nvPr/>
        </p:nvSpPr>
        <p:spPr>
          <a:xfrm>
            <a:off x="7149292" y="1597521"/>
            <a:ext cx="1817786" cy="122977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dirty="0">
              <a:solidFill>
                <a:srgbClr val="000000"/>
              </a:solidFill>
              <a:latin typeface="Meiryo" panose="020B0604030504040204" pitchFamily="34" charset="-128"/>
              <a:ea typeface="Meiryo" panose="020B0604030504040204" pitchFamily="34" charset="-128"/>
            </a:endParaRPr>
          </a:p>
          <a:p>
            <a:pPr algn="ctr"/>
            <a:r>
              <a:rPr lang="en-US" sz="2400" b="1" dirty="0">
                <a:solidFill>
                  <a:srgbClr val="000000"/>
                </a:solidFill>
                <a:latin typeface="Meiryo" panose="020B0604030504040204" pitchFamily="34" charset="-128"/>
                <a:ea typeface="Meiryo" panose="020B0604030504040204" pitchFamily="34" charset="-128"/>
              </a:rPr>
              <a:t>Backend</a:t>
            </a:r>
            <a:endParaRPr lang="en-US" sz="2400" dirty="0">
              <a:solidFill>
                <a:schemeClr val="tx1"/>
              </a:solidFill>
              <a:latin typeface="Meiryo" panose="020B0604030504040204" pitchFamily="34" charset="-128"/>
              <a:ea typeface="Meiryo" panose="020B0604030504040204" pitchFamily="34" charset="-128"/>
            </a:endParaRPr>
          </a:p>
        </p:txBody>
      </p:sp>
      <p:sp>
        <p:nvSpPr>
          <p:cNvPr id="10" name="Rectangle: Rounded Corners 4">
            <a:extLst>
              <a:ext uri="{FF2B5EF4-FFF2-40B4-BE49-F238E27FC236}">
                <a16:creationId xmlns:a16="http://schemas.microsoft.com/office/drawing/2014/main" id="{766501A8-0D68-685D-213F-99DB41CEBAC9}"/>
              </a:ext>
            </a:extLst>
          </p:cNvPr>
          <p:cNvSpPr/>
          <p:nvPr/>
        </p:nvSpPr>
        <p:spPr>
          <a:xfrm>
            <a:off x="246203" y="1624037"/>
            <a:ext cx="1576090" cy="1229777"/>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altLang="ja-JP" sz="2400" b="1" dirty="0">
              <a:solidFill>
                <a:srgbClr val="000000"/>
              </a:solidFill>
              <a:latin typeface="Meiryo" panose="020B0604030504040204" pitchFamily="34" charset="-128"/>
              <a:ea typeface="Meiryo" panose="020B0604030504040204" pitchFamily="34" charset="-128"/>
            </a:endParaRPr>
          </a:p>
          <a:p>
            <a:pPr algn="ctr"/>
            <a:r>
              <a:rPr lang="en-US" altLang="ja-JP" sz="2400" b="1" i="0" dirty="0">
                <a:solidFill>
                  <a:srgbClr val="000000"/>
                </a:solidFill>
                <a:effectLst/>
                <a:latin typeface="Meiryo" panose="020B0604030504040204" pitchFamily="34" charset="-128"/>
                <a:ea typeface="Meiryo" panose="020B0604030504040204" pitchFamily="34" charset="-128"/>
              </a:rPr>
              <a:t>IoT devices</a:t>
            </a:r>
            <a:endParaRPr lang="en-JP" sz="2400" dirty="0">
              <a:solidFill>
                <a:schemeClr val="tx1"/>
              </a:solidFill>
              <a:latin typeface="Meiryo" panose="020B0604030504040204" pitchFamily="34" charset="-128"/>
              <a:ea typeface="Meiryo" panose="020B0604030504040204" pitchFamily="34" charset="-128"/>
            </a:endParaRPr>
          </a:p>
        </p:txBody>
      </p:sp>
      <p:cxnSp>
        <p:nvCxnSpPr>
          <p:cNvPr id="17" name="Straight Arrow Connector 16">
            <a:extLst>
              <a:ext uri="{FF2B5EF4-FFF2-40B4-BE49-F238E27FC236}">
                <a16:creationId xmlns:a16="http://schemas.microsoft.com/office/drawing/2014/main" id="{CF1146AC-D13C-3BCB-E689-BAB2B4611C29}"/>
              </a:ext>
            </a:extLst>
          </p:cNvPr>
          <p:cNvCxnSpPr>
            <a:cxnSpLocks/>
          </p:cNvCxnSpPr>
          <p:nvPr/>
        </p:nvCxnSpPr>
        <p:spPr>
          <a:xfrm flipV="1">
            <a:off x="1822293" y="1993368"/>
            <a:ext cx="2304673" cy="6072"/>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Shape 0">
            <a:extLst>
              <a:ext uri="{FF2B5EF4-FFF2-40B4-BE49-F238E27FC236}">
                <a16:creationId xmlns:a16="http://schemas.microsoft.com/office/drawing/2014/main" id="{2E2CE1B2-4B9B-2CED-D943-2A870364AEB4}"/>
              </a:ext>
            </a:extLst>
          </p:cNvPr>
          <p:cNvSpPr/>
          <p:nvPr/>
        </p:nvSpPr>
        <p:spPr>
          <a:xfrm>
            <a:off x="0" y="0"/>
            <a:ext cx="9144000" cy="844218"/>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endParaRPr lang="mn-MN" altLang="ja-JP" sz="2800" b="1" dirty="0">
              <a:latin typeface="Meiryo" panose="020B0604030504040204" pitchFamily="34" charset="-128"/>
              <a:ea typeface="Meiryo" panose="020B0604030504040204" pitchFamily="34" charset="-128"/>
            </a:endParaRPr>
          </a:p>
          <a:p>
            <a:pPr marL="342900" indent="-342900">
              <a:buFont typeface="Wingdings" pitchFamily="2" charset="2"/>
              <a:buChar char="Ø"/>
            </a:pPr>
            <a:r>
              <a:rPr lang="en-US" altLang="ja-JP" sz="2800" b="1" i="0" dirty="0">
                <a:solidFill>
                  <a:srgbClr val="000000"/>
                </a:solidFill>
                <a:effectLst/>
                <a:latin typeface="Meiryo" panose="020B0604030504040204" pitchFamily="34" charset="-128"/>
                <a:ea typeface="Meiryo" panose="020B0604030504040204" pitchFamily="34" charset="-128"/>
              </a:rPr>
              <a:t>Step</a:t>
            </a:r>
            <a:r>
              <a:rPr lang="ja-JP" altLang="en-US" sz="2800" b="1" i="0">
                <a:solidFill>
                  <a:srgbClr val="000000"/>
                </a:solidFill>
                <a:effectLst/>
                <a:latin typeface="Meiryo" panose="020B0604030504040204" pitchFamily="34" charset="-128"/>
                <a:ea typeface="Meiryo" panose="020B0604030504040204" pitchFamily="34" charset="-128"/>
              </a:rPr>
              <a:t>① </a:t>
            </a:r>
            <a:r>
              <a:rPr lang="en-US" sz="2800" b="1" i="0" dirty="0">
                <a:solidFill>
                  <a:srgbClr val="000000"/>
                </a:solidFill>
                <a:effectLst/>
                <a:latin typeface="Meiryo" panose="020B0604030504040204" pitchFamily="34" charset="-128"/>
                <a:ea typeface="Meiryo" panose="020B0604030504040204" pitchFamily="34" charset="-128"/>
              </a:rPr>
              <a:t>DTLS</a:t>
            </a:r>
            <a:r>
              <a:rPr lang="ja-JP" altLang="en-US" sz="2800" b="1" i="0">
                <a:solidFill>
                  <a:srgbClr val="000000"/>
                </a:solidFill>
                <a:effectLst/>
                <a:latin typeface="Meiryo" panose="020B0604030504040204" pitchFamily="34" charset="-128"/>
                <a:ea typeface="Meiryo" panose="020B0604030504040204" pitchFamily="34" charset="-128"/>
              </a:rPr>
              <a:t>ハンドシェイク </a:t>
            </a:r>
            <a:endParaRPr lang="en-JP" sz="2800" b="1" dirty="0">
              <a:latin typeface="Meiryo" panose="020B0604030504040204" pitchFamily="34" charset="-128"/>
              <a:ea typeface="Meiryo" panose="020B0604030504040204" pitchFamily="34" charset="-128"/>
            </a:endParaRPr>
          </a:p>
        </p:txBody>
      </p:sp>
      <p:sp>
        <p:nvSpPr>
          <p:cNvPr id="63" name="Slide Number Placeholder 62">
            <a:extLst>
              <a:ext uri="{FF2B5EF4-FFF2-40B4-BE49-F238E27FC236}">
                <a16:creationId xmlns:a16="http://schemas.microsoft.com/office/drawing/2014/main" id="{7997AEC5-C830-216D-A285-C2D5C6551311}"/>
              </a:ext>
            </a:extLst>
          </p:cNvPr>
          <p:cNvSpPr>
            <a:spLocks noGrp="1"/>
          </p:cNvSpPr>
          <p:nvPr>
            <p:ph type="sldNum" sz="quarter" idx="12"/>
          </p:nvPr>
        </p:nvSpPr>
        <p:spPr/>
        <p:txBody>
          <a:bodyPr/>
          <a:lstStyle/>
          <a:p>
            <a:fld id="{828F3BD4-1AF2-D144-8129-4D42AD448F5E}" type="slidenum">
              <a:rPr lang="en-JP" smtClean="0"/>
              <a:t>27</a:t>
            </a:fld>
            <a:endParaRPr lang="en-JP"/>
          </a:p>
        </p:txBody>
      </p:sp>
      <p:sp>
        <p:nvSpPr>
          <p:cNvPr id="25" name="TextBox 24">
            <a:extLst>
              <a:ext uri="{FF2B5EF4-FFF2-40B4-BE49-F238E27FC236}">
                <a16:creationId xmlns:a16="http://schemas.microsoft.com/office/drawing/2014/main" id="{878E3297-CEAA-EE75-0FCA-D6F90B203E5C}"/>
              </a:ext>
            </a:extLst>
          </p:cNvPr>
          <p:cNvSpPr txBox="1"/>
          <p:nvPr/>
        </p:nvSpPr>
        <p:spPr>
          <a:xfrm>
            <a:off x="2097638" y="1696131"/>
            <a:ext cx="1592103" cy="338554"/>
          </a:xfrm>
          <a:prstGeom prst="rect">
            <a:avLst/>
          </a:prstGeom>
          <a:noFill/>
        </p:spPr>
        <p:txBody>
          <a:bodyPr wrap="none" rtlCol="0">
            <a:spAutoFit/>
          </a:bodyPr>
          <a:lstStyle/>
          <a:p>
            <a:r>
              <a:rPr lang="en-JP" sz="1600" dirty="0">
                <a:latin typeface="Meiryo" panose="020B0604030504040204" pitchFamily="34" charset="-128"/>
                <a:ea typeface="Meiryo" panose="020B0604030504040204" pitchFamily="34" charset="-128"/>
              </a:rPr>
              <a:t>1. ClientHello </a:t>
            </a:r>
          </a:p>
        </p:txBody>
      </p:sp>
      <p:cxnSp>
        <p:nvCxnSpPr>
          <p:cNvPr id="27" name="Straight Arrow Connector 26">
            <a:extLst>
              <a:ext uri="{FF2B5EF4-FFF2-40B4-BE49-F238E27FC236}">
                <a16:creationId xmlns:a16="http://schemas.microsoft.com/office/drawing/2014/main" id="{B76433F0-71E4-64CC-81F7-F59974F6D5C7}"/>
              </a:ext>
            </a:extLst>
          </p:cNvPr>
          <p:cNvCxnSpPr>
            <a:cxnSpLocks/>
            <a:stCxn id="29" idx="2"/>
          </p:cNvCxnSpPr>
          <p:nvPr/>
        </p:nvCxnSpPr>
        <p:spPr>
          <a:xfrm flipH="1" flipV="1">
            <a:off x="1854705" y="2396168"/>
            <a:ext cx="2174290" cy="1"/>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12715D5B-19C3-3F2A-AD9E-481CCA8277F2}"/>
              </a:ext>
            </a:extLst>
          </p:cNvPr>
          <p:cNvSpPr txBox="1"/>
          <p:nvPr/>
        </p:nvSpPr>
        <p:spPr>
          <a:xfrm>
            <a:off x="1718502" y="2057615"/>
            <a:ext cx="4620986" cy="338554"/>
          </a:xfrm>
          <a:prstGeom prst="rect">
            <a:avLst/>
          </a:prstGeom>
          <a:noFill/>
        </p:spPr>
        <p:txBody>
          <a:bodyPr wrap="square">
            <a:spAutoFit/>
          </a:bodyPr>
          <a:lstStyle/>
          <a:p>
            <a:r>
              <a:rPr lang="en-JP" sz="1600" b="0" i="0" dirty="0">
                <a:solidFill>
                  <a:srgbClr val="000000"/>
                </a:solidFill>
                <a:effectLst/>
                <a:latin typeface="Meiryo" panose="020B0604030504040204" pitchFamily="34" charset="-128"/>
                <a:ea typeface="Meiryo" panose="020B0604030504040204" pitchFamily="34" charset="-128"/>
              </a:rPr>
              <a:t>2. </a:t>
            </a:r>
            <a:r>
              <a:rPr lang="en-US" sz="1600" b="0" i="0" dirty="0">
                <a:solidFill>
                  <a:srgbClr val="000000"/>
                </a:solidFill>
                <a:effectLst/>
                <a:latin typeface="Meiryo" panose="020B0604030504040204" pitchFamily="34" charset="-128"/>
                <a:ea typeface="Meiryo" panose="020B0604030504040204" pitchFamily="34" charset="-128"/>
              </a:rPr>
              <a:t>Server</a:t>
            </a:r>
            <a:r>
              <a:rPr lang="mn-MN" sz="1600" b="0" i="0" dirty="0">
                <a:solidFill>
                  <a:srgbClr val="000000"/>
                </a:solidFill>
                <a:effectLst/>
                <a:latin typeface="Meiryo" panose="020B0604030504040204" pitchFamily="34" charset="-128"/>
                <a:ea typeface="Meiryo" panose="020B0604030504040204" pitchFamily="34" charset="-128"/>
              </a:rPr>
              <a:t> </a:t>
            </a:r>
            <a:r>
              <a:rPr lang="en-US" sz="1600" b="0" i="0" dirty="0">
                <a:solidFill>
                  <a:srgbClr val="000000"/>
                </a:solidFill>
                <a:effectLst/>
                <a:latin typeface="Meiryo" panose="020B0604030504040204" pitchFamily="34" charset="-128"/>
                <a:ea typeface="Meiryo" panose="020B0604030504040204" pitchFamily="34" charset="-128"/>
              </a:rPr>
              <a:t>Hello + </a:t>
            </a:r>
            <a:r>
              <a:rPr lang="ja-JP" altLang="en-US" sz="1600" b="0" i="0">
                <a:solidFill>
                  <a:srgbClr val="000000"/>
                </a:solidFill>
                <a:effectLst/>
                <a:latin typeface="Meiryo" panose="020B0604030504040204" pitchFamily="34" charset="-128"/>
                <a:ea typeface="Meiryo" panose="020B0604030504040204" pitchFamily="34" charset="-128"/>
              </a:rPr>
              <a:t>証明書</a:t>
            </a:r>
            <a:endParaRPr lang="en-JP" sz="1600" dirty="0">
              <a:latin typeface="Meiryo" panose="020B0604030504040204" pitchFamily="34" charset="-128"/>
              <a:ea typeface="Meiryo" panose="020B0604030504040204" pitchFamily="34" charset="-128"/>
            </a:endParaRPr>
          </a:p>
        </p:txBody>
      </p:sp>
      <p:sp>
        <p:nvSpPr>
          <p:cNvPr id="37" name="TextBox 36">
            <a:extLst>
              <a:ext uri="{FF2B5EF4-FFF2-40B4-BE49-F238E27FC236}">
                <a16:creationId xmlns:a16="http://schemas.microsoft.com/office/drawing/2014/main" id="{5D9F74FD-6108-3374-3473-41D095CAB8B0}"/>
              </a:ext>
            </a:extLst>
          </p:cNvPr>
          <p:cNvSpPr txBox="1"/>
          <p:nvPr/>
        </p:nvSpPr>
        <p:spPr>
          <a:xfrm>
            <a:off x="1854705" y="2467820"/>
            <a:ext cx="3250695" cy="338554"/>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3. </a:t>
            </a:r>
            <a:r>
              <a:rPr lang="ja-JP" altLang="en-US" sz="1600" b="0" i="0">
                <a:solidFill>
                  <a:srgbClr val="000000"/>
                </a:solidFill>
                <a:effectLst/>
                <a:latin typeface="Meiryo" panose="020B0604030504040204" pitchFamily="34" charset="-128"/>
                <a:ea typeface="Meiryo" panose="020B0604030504040204" pitchFamily="34" charset="-128"/>
              </a:rPr>
              <a:t>鍵交換 → </a:t>
            </a:r>
            <a:r>
              <a:rPr lang="en-US" sz="1600" b="0" i="0" dirty="0">
                <a:solidFill>
                  <a:srgbClr val="000000"/>
                </a:solidFill>
                <a:effectLst/>
                <a:latin typeface="Meiryo" panose="020B0604030504040204" pitchFamily="34" charset="-128"/>
                <a:ea typeface="Meiryo" panose="020B0604030504040204" pitchFamily="34" charset="-128"/>
              </a:rPr>
              <a:t>Finished</a:t>
            </a:r>
            <a:r>
              <a:rPr lang="en-JP" sz="1600" dirty="0">
                <a:latin typeface="Meiryo" panose="020B0604030504040204" pitchFamily="34" charset="-128"/>
                <a:ea typeface="Meiryo" panose="020B0604030504040204" pitchFamily="34" charset="-128"/>
              </a:rPr>
              <a:t> </a:t>
            </a:r>
          </a:p>
        </p:txBody>
      </p:sp>
      <p:cxnSp>
        <p:nvCxnSpPr>
          <p:cNvPr id="39" name="Straight Arrow Connector 38">
            <a:extLst>
              <a:ext uri="{FF2B5EF4-FFF2-40B4-BE49-F238E27FC236}">
                <a16:creationId xmlns:a16="http://schemas.microsoft.com/office/drawing/2014/main" id="{A9385096-C957-3D0C-CC92-C7618F5846A2}"/>
              </a:ext>
            </a:extLst>
          </p:cNvPr>
          <p:cNvCxnSpPr>
            <a:cxnSpLocks/>
          </p:cNvCxnSpPr>
          <p:nvPr/>
        </p:nvCxnSpPr>
        <p:spPr>
          <a:xfrm flipV="1">
            <a:off x="1822293" y="2780584"/>
            <a:ext cx="2304673" cy="6072"/>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8C3393D7-261B-BE8C-5F1D-608C183EC21B}"/>
              </a:ext>
            </a:extLst>
          </p:cNvPr>
          <p:cNvCxnSpPr>
            <a:cxnSpLocks/>
          </p:cNvCxnSpPr>
          <p:nvPr/>
        </p:nvCxnSpPr>
        <p:spPr>
          <a:xfrm flipV="1">
            <a:off x="6018572" y="1974046"/>
            <a:ext cx="1133363" cy="1773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25602C69-50DA-5C4B-7C0F-306A70919928}"/>
              </a:ext>
            </a:extLst>
          </p:cNvPr>
          <p:cNvCxnSpPr>
            <a:cxnSpLocks/>
          </p:cNvCxnSpPr>
          <p:nvPr/>
        </p:nvCxnSpPr>
        <p:spPr>
          <a:xfrm flipH="1">
            <a:off x="6037567" y="2318165"/>
            <a:ext cx="1095373" cy="14021"/>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2ABBB60B-6276-8BFF-2014-1B7023C6DBF8}"/>
              </a:ext>
            </a:extLst>
          </p:cNvPr>
          <p:cNvCxnSpPr>
            <a:cxnSpLocks/>
          </p:cNvCxnSpPr>
          <p:nvPr/>
        </p:nvCxnSpPr>
        <p:spPr>
          <a:xfrm>
            <a:off x="6037567" y="2637097"/>
            <a:ext cx="1124811"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Rounded Rectangle 47">
            <a:extLst>
              <a:ext uri="{FF2B5EF4-FFF2-40B4-BE49-F238E27FC236}">
                <a16:creationId xmlns:a16="http://schemas.microsoft.com/office/drawing/2014/main" id="{D7AE3924-5C1B-64C3-2B11-B66975D14129}"/>
              </a:ext>
            </a:extLst>
          </p:cNvPr>
          <p:cNvSpPr/>
          <p:nvPr/>
        </p:nvSpPr>
        <p:spPr>
          <a:xfrm>
            <a:off x="92528" y="4086484"/>
            <a:ext cx="8958943" cy="1412472"/>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ü"/>
            </a:pPr>
            <a:r>
              <a:rPr lang="ja-JP" altLang="en-US" sz="2400">
                <a:solidFill>
                  <a:schemeClr val="tx1"/>
                </a:solidFill>
                <a:effectLst/>
                <a:latin typeface="Meiryo" panose="020B0604030504040204" pitchFamily="34" charset="-128"/>
                <a:ea typeface="Meiryo" panose="020B0604030504040204" pitchFamily="34" charset="-128"/>
              </a:rPr>
              <a:t>セッション確立完了</a:t>
            </a:r>
          </a:p>
          <a:p>
            <a:pPr algn="ctr"/>
            <a:r>
              <a:rPr lang="ja-JP" altLang="en-US" sz="2400">
                <a:solidFill>
                  <a:schemeClr val="tx1"/>
                </a:solidFill>
                <a:effectLst/>
                <a:latin typeface="Meiryo" panose="020B0604030504040204" pitchFamily="34" charset="-128"/>
                <a:ea typeface="Meiryo" panose="020B0604030504040204" pitchFamily="34" charset="-128"/>
              </a:rPr>
              <a:t>共通の暗号鍵を持ち合う </a:t>
            </a:r>
            <a:r>
              <a:rPr lang="en-US" altLang="ja-JP" sz="2400" dirty="0">
                <a:solidFill>
                  <a:schemeClr val="tx1"/>
                </a:solidFill>
                <a:effectLst/>
                <a:latin typeface="Meiryo" panose="020B0604030504040204" pitchFamily="34" charset="-128"/>
                <a:ea typeface="Meiryo" panose="020B0604030504040204" pitchFamily="34" charset="-128"/>
              </a:rPr>
              <a:t>— </a:t>
            </a:r>
            <a:r>
              <a:rPr lang="ja-JP" altLang="en-US" sz="2400">
                <a:solidFill>
                  <a:schemeClr val="tx1"/>
                </a:solidFill>
                <a:effectLst/>
                <a:latin typeface="Meiryo" panose="020B0604030504040204" pitchFamily="34" charset="-128"/>
                <a:ea typeface="Meiryo" panose="020B0604030504040204" pitchFamily="34" charset="-128"/>
              </a:rPr>
              <a:t>以降の</a:t>
            </a:r>
            <a:r>
              <a:rPr lang="en-US" sz="2400" dirty="0">
                <a:solidFill>
                  <a:schemeClr val="tx1"/>
                </a:solidFill>
                <a:effectLst/>
                <a:latin typeface="Meiryo" panose="020B0604030504040204" pitchFamily="34" charset="-128"/>
                <a:ea typeface="Meiryo" panose="020B0604030504040204" pitchFamily="34" charset="-128"/>
              </a:rPr>
              <a:t>CoAP</a:t>
            </a:r>
            <a:r>
              <a:rPr lang="ja-JP" altLang="en-US" sz="2400">
                <a:solidFill>
                  <a:schemeClr val="tx1"/>
                </a:solidFill>
                <a:effectLst/>
                <a:latin typeface="Meiryo" panose="020B0604030504040204" pitchFamily="34" charset="-128"/>
                <a:ea typeface="Meiryo" panose="020B0604030504040204" pitchFamily="34" charset="-128"/>
              </a:rPr>
              <a:t>通信はこの鍵で暗号化</a:t>
            </a:r>
            <a:endParaRPr lang="en-JP" sz="2400" dirty="0">
              <a:solidFill>
                <a:schemeClr val="tx1"/>
              </a:solidFill>
              <a:effectLst/>
              <a:latin typeface="Meiryo" panose="020B0604030504040204" pitchFamily="34" charset="-128"/>
              <a:ea typeface="Meiryo" panose="020B0604030504040204" pitchFamily="34" charset="-128"/>
            </a:endParaRPr>
          </a:p>
        </p:txBody>
      </p:sp>
      <p:sp>
        <p:nvSpPr>
          <p:cNvPr id="55" name="TextBox 54">
            <a:extLst>
              <a:ext uri="{FF2B5EF4-FFF2-40B4-BE49-F238E27FC236}">
                <a16:creationId xmlns:a16="http://schemas.microsoft.com/office/drawing/2014/main" id="{6DF5195D-333D-4FF6-EF30-75782FCA254B}"/>
              </a:ext>
            </a:extLst>
          </p:cNvPr>
          <p:cNvSpPr txBox="1"/>
          <p:nvPr/>
        </p:nvSpPr>
        <p:spPr>
          <a:xfrm>
            <a:off x="240760" y="5656293"/>
            <a:ext cx="8810711" cy="830997"/>
          </a:xfrm>
          <a:prstGeom prst="rect">
            <a:avLst/>
          </a:prstGeom>
          <a:noFill/>
        </p:spPr>
        <p:txBody>
          <a:bodyPr wrap="square">
            <a:spAutoFit/>
          </a:bodyPr>
          <a:lstStyle/>
          <a:p>
            <a:pPr marL="342900" indent="-342900">
              <a:buFont typeface="Wingdings" pitchFamily="2" charset="2"/>
              <a:buChar char="§"/>
            </a:pPr>
            <a:r>
              <a:rPr lang="en-US" sz="2400" dirty="0">
                <a:latin typeface="Meiryo" panose="020B0604030504040204" pitchFamily="34" charset="-128"/>
                <a:ea typeface="Meiryo" panose="020B0604030504040204" pitchFamily="34" charset="-128"/>
              </a:rPr>
              <a:t>DTLS</a:t>
            </a:r>
            <a:r>
              <a:rPr lang="ja-JP" altLang="en-US" sz="2400">
                <a:latin typeface="Meiryo" panose="020B0604030504040204" pitchFamily="34" charset="-128"/>
                <a:ea typeface="Meiryo" panose="020B0604030504040204" pitchFamily="34" charset="-128"/>
              </a:rPr>
              <a:t>は「何を送るか」は守れる </a:t>
            </a:r>
            <a:endParaRPr lang="mn-MN" altLang="ja-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ja-JP" altLang="en-US" sz="2400">
                <a:latin typeface="Meiryo" panose="020B0604030504040204" pitchFamily="34" charset="-128"/>
                <a:ea typeface="Meiryo" panose="020B0604030504040204" pitchFamily="34" charset="-128"/>
              </a:rPr>
              <a:t>しかし「どこへ届くか」は守れない</a:t>
            </a:r>
            <a:endParaRPr lang="en-JP" sz="2400" dirty="0">
              <a:latin typeface="Meiryo" panose="020B0604030504040204" pitchFamily="34" charset="-128"/>
              <a:ea typeface="Meiryo" panose="020B0604030504040204" pitchFamily="34" charset="-128"/>
            </a:endParaRPr>
          </a:p>
        </p:txBody>
      </p:sp>
      <p:sp>
        <p:nvSpPr>
          <p:cNvPr id="56" name="TextBox 55">
            <a:extLst>
              <a:ext uri="{FF2B5EF4-FFF2-40B4-BE49-F238E27FC236}">
                <a16:creationId xmlns:a16="http://schemas.microsoft.com/office/drawing/2014/main" id="{2C445055-9C8B-3728-D64D-E71950C9B1D8}"/>
              </a:ext>
            </a:extLst>
          </p:cNvPr>
          <p:cNvSpPr txBox="1"/>
          <p:nvPr/>
        </p:nvSpPr>
        <p:spPr>
          <a:xfrm>
            <a:off x="240760" y="3084535"/>
            <a:ext cx="8068234" cy="1477328"/>
          </a:xfrm>
          <a:prstGeom prst="rect">
            <a:avLst/>
          </a:prstGeom>
          <a:noFill/>
        </p:spPr>
        <p:txBody>
          <a:bodyPr wrap="none" rtlCol="0">
            <a:spAutoFit/>
          </a:bodyPr>
          <a:lstStyle/>
          <a:p>
            <a:r>
              <a:rPr lang="en-US" altLang="ja-JP" dirty="0">
                <a:latin typeface="Meiryo" panose="020B0604030504040204" pitchFamily="34" charset="-128"/>
                <a:ea typeface="Meiryo" panose="020B0604030504040204" pitchFamily="34" charset="-128"/>
              </a:rPr>
              <a:t>【</a:t>
            </a:r>
            <a:r>
              <a:rPr lang="ja-JP" altLang="en-US">
                <a:latin typeface="Meiryo" panose="020B0604030504040204" pitchFamily="34" charset="-128"/>
                <a:ea typeface="Meiryo" panose="020B0604030504040204" pitchFamily="34" charset="-128"/>
              </a:rPr>
              <a:t>正常時</a:t>
            </a:r>
            <a:r>
              <a:rPr lang="en-US" altLang="ja-JP" dirty="0">
                <a:latin typeface="Meiryo" panose="020B0604030504040204" pitchFamily="34" charset="-128"/>
                <a:ea typeface="Meiryo" panose="020B0604030504040204" pitchFamily="34" charset="-128"/>
              </a:rPr>
              <a:t>】</a:t>
            </a:r>
            <a:br>
              <a:rPr lang="en-US" altLang="ja-JP" dirty="0">
                <a:latin typeface="Meiryo" panose="020B0604030504040204" pitchFamily="34" charset="-128"/>
                <a:ea typeface="Meiryo" panose="020B0604030504040204" pitchFamily="34" charset="-128"/>
              </a:rPr>
            </a:br>
            <a:r>
              <a:rPr lang="en-US" altLang="ja-JP" dirty="0">
                <a:latin typeface="Meiryo" panose="020B0604030504040204" pitchFamily="34" charset="-128"/>
                <a:ea typeface="Meiryo" panose="020B0604030504040204" pitchFamily="34" charset="-128"/>
              </a:rPr>
              <a:t>IoT device</a:t>
            </a:r>
            <a:r>
              <a:rPr lang="en-US" dirty="0">
                <a:latin typeface="Meiryo" panose="020B0604030504040204" pitchFamily="34" charset="-128"/>
                <a:ea typeface="Meiryo" panose="020B0604030504040204" pitchFamily="34" charset="-128"/>
              </a:rPr>
              <a:t>→ DTLS</a:t>
            </a:r>
            <a:r>
              <a:rPr lang="ja-JP" altLang="en-US">
                <a:latin typeface="Meiryo" panose="020B0604030504040204" pitchFamily="34" charset="-128"/>
                <a:ea typeface="Meiryo" panose="020B0604030504040204" pitchFamily="34" charset="-128"/>
              </a:rPr>
              <a:t>で暗号化</a:t>
            </a:r>
            <a:r>
              <a:rPr lang="mn-MN" altLang="ja-JP" dirty="0">
                <a:latin typeface="Meiryo" panose="020B0604030504040204" pitchFamily="34" charset="-128"/>
                <a:ea typeface="Meiryo" panose="020B0604030504040204" pitchFamily="34" charset="-128"/>
              </a:rPr>
              <a:t>   </a:t>
            </a:r>
            <a:r>
              <a:rPr lang="ja-JP" altLang="en-US">
                <a:latin typeface="Meiryo" panose="020B0604030504040204" pitchFamily="34" charset="-128"/>
                <a:ea typeface="Meiryo" panose="020B0604030504040204" pitchFamily="34" charset="-128"/>
              </a:rPr>
              <a:t>→ </a:t>
            </a:r>
            <a:r>
              <a:rPr lang="en-US" altLang="ja-JP" dirty="0">
                <a:latin typeface="Meiryo" panose="020B0604030504040204" pitchFamily="34" charset="-128"/>
                <a:ea typeface="Meiryo" panose="020B0604030504040204" pitchFamily="34" charset="-128"/>
              </a:rPr>
              <a:t>[</a:t>
            </a:r>
            <a:r>
              <a:rPr lang="en-JP" dirty="0">
                <a:latin typeface="Meiryo" panose="020B0604030504040204" pitchFamily="34" charset="-128"/>
                <a:ea typeface="Meiryo" panose="020B0604030504040204" pitchFamily="34" charset="-128"/>
              </a:rPr>
              <a:t>🔒 ???] </a:t>
            </a:r>
            <a:r>
              <a:rPr lang="ja-JP" altLang="en-US">
                <a:latin typeface="Meiryo" panose="020B0604030504040204" pitchFamily="34" charset="-128"/>
                <a:ea typeface="Meiryo" panose="020B0604030504040204" pitchFamily="34" charset="-128"/>
              </a:rPr>
              <a:t>パケット生成</a:t>
            </a:r>
            <a:br>
              <a:rPr lang="ja-JP" altLang="en-US">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 </a:t>
            </a:r>
            <a:r>
              <a:rPr lang="en-US" dirty="0">
                <a:latin typeface="Meiryo" panose="020B0604030504040204" pitchFamily="34" charset="-128"/>
                <a:ea typeface="Meiryo" panose="020B0604030504040204" pitchFamily="34" charset="-128"/>
              </a:rPr>
              <a:t>Gateway MAC: AA:BB:CC </a:t>
            </a:r>
            <a:r>
              <a:rPr lang="ja-JP" altLang="en-US">
                <a:latin typeface="Meiryo" panose="020B0604030504040204" pitchFamily="34" charset="-128"/>
                <a:ea typeface="Meiryo" panose="020B0604030504040204" pitchFamily="34" charset="-128"/>
              </a:rPr>
              <a:t>に送信</a:t>
            </a:r>
            <a:r>
              <a:rPr lang="mn-MN" altLang="ja-JP" dirty="0">
                <a:latin typeface="Meiryo" panose="020B0604030504040204" pitchFamily="34" charset="-128"/>
                <a:ea typeface="Meiryo" panose="020B0604030504040204" pitchFamily="34" charset="-128"/>
              </a:rPr>
              <a:t> </a:t>
            </a:r>
            <a:r>
              <a:rPr lang="ja-JP" altLang="en-US">
                <a:latin typeface="Meiryo" panose="020B0604030504040204" pitchFamily="34" charset="-128"/>
                <a:ea typeface="Meiryo" panose="020B0604030504040204" pitchFamily="34" charset="-128"/>
              </a:rPr>
              <a:t>→ </a:t>
            </a:r>
            <a:r>
              <a:rPr lang="en-US" dirty="0">
                <a:latin typeface="Meiryo" panose="020B0604030504040204" pitchFamily="34" charset="-128"/>
                <a:ea typeface="Meiryo" panose="020B0604030504040204" pitchFamily="34" charset="-128"/>
              </a:rPr>
              <a:t>Gateway </a:t>
            </a:r>
            <a:r>
              <a:rPr lang="ja-JP" altLang="en-US">
                <a:latin typeface="Meiryo" panose="020B0604030504040204" pitchFamily="34" charset="-128"/>
                <a:ea typeface="Meiryo" panose="020B0604030504040204" pitchFamily="34" charset="-128"/>
              </a:rPr>
              <a:t>が受信</a:t>
            </a:r>
            <a:r>
              <a:rPr lang="mn-MN" altLang="ja-JP" dirty="0">
                <a:latin typeface="Meiryo" panose="020B0604030504040204" pitchFamily="34" charset="-128"/>
                <a:ea typeface="Meiryo" panose="020B0604030504040204" pitchFamily="34" charset="-128"/>
              </a:rPr>
              <a:t> </a:t>
            </a:r>
            <a:r>
              <a:rPr lang="ja-JP" altLang="en-US">
                <a:latin typeface="Meiryo" panose="020B0604030504040204" pitchFamily="34" charset="-128"/>
                <a:ea typeface="Meiryo" panose="020B0604030504040204" pitchFamily="34" charset="-128"/>
              </a:rPr>
              <a:t>→ </a:t>
            </a:r>
            <a:r>
              <a:rPr lang="en-US" dirty="0">
                <a:latin typeface="Meiryo" panose="020B0604030504040204" pitchFamily="34" charset="-128"/>
                <a:ea typeface="Meiryo" panose="020B0604030504040204" pitchFamily="34" charset="-128"/>
              </a:rPr>
              <a:t>Cloud</a:t>
            </a:r>
            <a:r>
              <a:rPr lang="ja-JP" altLang="en-US">
                <a:latin typeface="Meiryo" panose="020B0604030504040204" pitchFamily="34" charset="-128"/>
                <a:ea typeface="Meiryo" panose="020B0604030504040204" pitchFamily="34" charset="-128"/>
              </a:rPr>
              <a:t>へ転送 </a:t>
            </a:r>
            <a:br>
              <a:rPr lang="ja-JP" altLang="en-US"/>
            </a:br>
            <a:endParaRPr lang="en-JP" dirty="0"/>
          </a:p>
          <a:p>
            <a:endParaRPr lang="en-JP" dirty="0"/>
          </a:p>
        </p:txBody>
      </p:sp>
    </p:spTree>
    <p:extLst>
      <p:ext uri="{BB962C8B-B14F-4D97-AF65-F5344CB8AC3E}">
        <p14:creationId xmlns:p14="http://schemas.microsoft.com/office/powerpoint/2010/main" val="13335624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6">
            <a:extLst>
              <a:ext uri="{FF2B5EF4-FFF2-40B4-BE49-F238E27FC236}">
                <a16:creationId xmlns:a16="http://schemas.microsoft.com/office/drawing/2014/main" id="{7FF5011C-B599-586C-78F9-92DAE119AFB9}"/>
              </a:ext>
            </a:extLst>
          </p:cNvPr>
          <p:cNvSpPr/>
          <p:nvPr/>
        </p:nvSpPr>
        <p:spPr>
          <a:xfrm>
            <a:off x="6779823" y="2991625"/>
            <a:ext cx="2213332" cy="1289325"/>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i="0" dirty="0">
              <a:solidFill>
                <a:srgbClr val="000000"/>
              </a:solidFill>
              <a:effectLst/>
              <a:latin typeface="Meiryo" panose="020B0604030504040204" pitchFamily="34" charset="-128"/>
              <a:ea typeface="Meiryo" panose="020B0604030504040204" pitchFamily="34" charset="-128"/>
            </a:endParaRPr>
          </a:p>
          <a:p>
            <a:pPr algn="ctr"/>
            <a:r>
              <a:rPr lang="en-US" sz="2400" b="1" i="0" dirty="0">
                <a:solidFill>
                  <a:srgbClr val="000000"/>
                </a:solidFill>
                <a:effectLst/>
                <a:latin typeface="Meiryo" panose="020B0604030504040204" pitchFamily="34" charset="-128"/>
                <a:ea typeface="Meiryo" panose="020B0604030504040204" pitchFamily="34" charset="-128"/>
              </a:rPr>
              <a:t>Gateway</a:t>
            </a:r>
          </a:p>
        </p:txBody>
      </p:sp>
      <p:sp>
        <p:nvSpPr>
          <p:cNvPr id="9" name="Rectangle: Rounded Corners 8">
            <a:extLst>
              <a:ext uri="{FF2B5EF4-FFF2-40B4-BE49-F238E27FC236}">
                <a16:creationId xmlns:a16="http://schemas.microsoft.com/office/drawing/2014/main" id="{D5E7BCE3-9E99-9AA4-52E6-B50466164EB7}"/>
              </a:ext>
            </a:extLst>
          </p:cNvPr>
          <p:cNvSpPr/>
          <p:nvPr/>
        </p:nvSpPr>
        <p:spPr>
          <a:xfrm>
            <a:off x="7175369" y="1172323"/>
            <a:ext cx="1817786" cy="768281"/>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dirty="0">
              <a:solidFill>
                <a:srgbClr val="000000"/>
              </a:solidFill>
              <a:latin typeface="Meiryo" panose="020B0604030504040204" pitchFamily="34" charset="-128"/>
              <a:ea typeface="Meiryo" panose="020B0604030504040204" pitchFamily="34" charset="-128"/>
            </a:endParaRPr>
          </a:p>
          <a:p>
            <a:pPr algn="ctr"/>
            <a:r>
              <a:rPr lang="en-US" sz="2400" b="1" dirty="0">
                <a:solidFill>
                  <a:srgbClr val="000000"/>
                </a:solidFill>
                <a:latin typeface="Meiryo" panose="020B0604030504040204" pitchFamily="34" charset="-128"/>
                <a:ea typeface="Meiryo" panose="020B0604030504040204" pitchFamily="34" charset="-128"/>
              </a:rPr>
              <a:t>Backend</a:t>
            </a:r>
            <a:endParaRPr lang="en-US" sz="2400" dirty="0">
              <a:solidFill>
                <a:schemeClr val="tx1"/>
              </a:solidFill>
              <a:latin typeface="Meiryo" panose="020B0604030504040204" pitchFamily="34" charset="-128"/>
              <a:ea typeface="Meiryo" panose="020B0604030504040204" pitchFamily="34" charset="-128"/>
            </a:endParaRPr>
          </a:p>
        </p:txBody>
      </p:sp>
      <p:sp>
        <p:nvSpPr>
          <p:cNvPr id="10" name="Rectangle: Rounded Corners 4">
            <a:extLst>
              <a:ext uri="{FF2B5EF4-FFF2-40B4-BE49-F238E27FC236}">
                <a16:creationId xmlns:a16="http://schemas.microsoft.com/office/drawing/2014/main" id="{766501A8-0D68-685D-213F-99DB41CEBAC9}"/>
              </a:ext>
            </a:extLst>
          </p:cNvPr>
          <p:cNvSpPr/>
          <p:nvPr/>
        </p:nvSpPr>
        <p:spPr>
          <a:xfrm>
            <a:off x="50434" y="2801372"/>
            <a:ext cx="1576090" cy="1258758"/>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2400" b="1" dirty="0">
              <a:solidFill>
                <a:srgbClr val="000000"/>
              </a:solidFill>
              <a:latin typeface="Meiryo" panose="020B0604030504040204" pitchFamily="34" charset="-128"/>
              <a:ea typeface="Meiryo" panose="020B0604030504040204" pitchFamily="34" charset="-128"/>
            </a:endParaRPr>
          </a:p>
          <a:p>
            <a:pPr algn="ctr"/>
            <a:r>
              <a:rPr lang="en-US" altLang="ja-JP" sz="2400" b="1" i="0" dirty="0">
                <a:solidFill>
                  <a:srgbClr val="000000"/>
                </a:solidFill>
                <a:effectLst/>
                <a:latin typeface="Meiryo" panose="020B0604030504040204" pitchFamily="34" charset="-128"/>
                <a:ea typeface="Meiryo" panose="020B0604030504040204" pitchFamily="34" charset="-128"/>
              </a:rPr>
              <a:t>IoT devices</a:t>
            </a:r>
            <a:endParaRPr lang="en-JP" sz="2400" dirty="0">
              <a:solidFill>
                <a:schemeClr val="tx1"/>
              </a:solidFill>
              <a:latin typeface="Meiryo" panose="020B0604030504040204" pitchFamily="34" charset="-128"/>
              <a:ea typeface="Meiryo" panose="020B0604030504040204" pitchFamily="34" charset="-128"/>
            </a:endParaRPr>
          </a:p>
        </p:txBody>
      </p:sp>
      <p:sp>
        <p:nvSpPr>
          <p:cNvPr id="36" name="Shape 0">
            <a:extLst>
              <a:ext uri="{FF2B5EF4-FFF2-40B4-BE49-F238E27FC236}">
                <a16:creationId xmlns:a16="http://schemas.microsoft.com/office/drawing/2014/main" id="{2E2CE1B2-4B9B-2CED-D943-2A870364AEB4}"/>
              </a:ext>
            </a:extLst>
          </p:cNvPr>
          <p:cNvSpPr/>
          <p:nvPr/>
        </p:nvSpPr>
        <p:spPr>
          <a:xfrm>
            <a:off x="0" y="0"/>
            <a:ext cx="9144000" cy="63256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457200" indent="-457200">
              <a:buFont typeface="Wingdings" pitchFamily="2" charset="2"/>
              <a:buChar char="Ø"/>
            </a:pPr>
            <a:r>
              <a:rPr lang="ja-JP" altLang="en-US" sz="2800" b="1" i="0">
                <a:solidFill>
                  <a:srgbClr val="000000"/>
                </a:solidFill>
                <a:effectLst/>
                <a:latin typeface="Meiryo" panose="020B0604030504040204" pitchFamily="34" charset="-128"/>
                <a:ea typeface="Meiryo" panose="020B0604030504040204" pitchFamily="34" charset="-128"/>
              </a:rPr>
              <a:t>攻撃者はどのような操作が可能か</a:t>
            </a:r>
            <a:r>
              <a:rPr lang="mn-MN" altLang="ja-JP" sz="2800" b="1" i="0" dirty="0">
                <a:solidFill>
                  <a:srgbClr val="000000"/>
                </a:solidFill>
                <a:effectLst/>
                <a:latin typeface="Meiryo" panose="020B0604030504040204" pitchFamily="34" charset="-128"/>
                <a:ea typeface="Meiryo" panose="020B0604030504040204" pitchFamily="34" charset="-128"/>
              </a:rPr>
              <a:t> </a:t>
            </a:r>
            <a:r>
              <a:rPr lang="ja-JP" altLang="en-US" sz="2800" b="1" i="0">
                <a:solidFill>
                  <a:srgbClr val="000000"/>
                </a:solidFill>
                <a:effectLst/>
                <a:latin typeface="Meiryo" panose="020B0604030504040204" pitchFamily="34" charset="-128"/>
                <a:ea typeface="Meiryo" panose="020B0604030504040204" pitchFamily="34" charset="-128"/>
              </a:rPr>
              <a:t>・課題</a:t>
            </a:r>
            <a:endParaRPr lang="en-JP" sz="2800" b="1" dirty="0">
              <a:latin typeface="Meiryo" panose="020B0604030504040204" pitchFamily="34" charset="-128"/>
              <a:ea typeface="Meiryo" panose="020B0604030504040204" pitchFamily="34" charset="-128"/>
            </a:endParaRPr>
          </a:p>
        </p:txBody>
      </p:sp>
      <p:sp>
        <p:nvSpPr>
          <p:cNvPr id="63" name="Slide Number Placeholder 62">
            <a:extLst>
              <a:ext uri="{FF2B5EF4-FFF2-40B4-BE49-F238E27FC236}">
                <a16:creationId xmlns:a16="http://schemas.microsoft.com/office/drawing/2014/main" id="{7997AEC5-C830-216D-A285-C2D5C6551311}"/>
              </a:ext>
            </a:extLst>
          </p:cNvPr>
          <p:cNvSpPr>
            <a:spLocks noGrp="1"/>
          </p:cNvSpPr>
          <p:nvPr>
            <p:ph type="sldNum" sz="quarter" idx="12"/>
          </p:nvPr>
        </p:nvSpPr>
        <p:spPr/>
        <p:txBody>
          <a:bodyPr/>
          <a:lstStyle/>
          <a:p>
            <a:fld id="{828F3BD4-1AF2-D144-8129-4D42AD448F5E}" type="slidenum">
              <a:rPr lang="en-JP" smtClean="0"/>
              <a:t>28</a:t>
            </a:fld>
            <a:endParaRPr lang="en-JP"/>
          </a:p>
        </p:txBody>
      </p:sp>
      <p:cxnSp>
        <p:nvCxnSpPr>
          <p:cNvPr id="39" name="Straight Arrow Connector 38">
            <a:extLst>
              <a:ext uri="{FF2B5EF4-FFF2-40B4-BE49-F238E27FC236}">
                <a16:creationId xmlns:a16="http://schemas.microsoft.com/office/drawing/2014/main" id="{A9385096-C957-3D0C-CC92-C7618F5846A2}"/>
              </a:ext>
            </a:extLst>
          </p:cNvPr>
          <p:cNvCxnSpPr>
            <a:cxnSpLocks/>
          </p:cNvCxnSpPr>
          <p:nvPr/>
        </p:nvCxnSpPr>
        <p:spPr>
          <a:xfrm>
            <a:off x="1714983" y="3425744"/>
            <a:ext cx="1579157"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2ABBB60B-6276-8BFF-2014-1B7023C6DBF8}"/>
              </a:ext>
            </a:extLst>
          </p:cNvPr>
          <p:cNvCxnSpPr>
            <a:cxnSpLocks/>
          </p:cNvCxnSpPr>
          <p:nvPr/>
        </p:nvCxnSpPr>
        <p:spPr>
          <a:xfrm>
            <a:off x="5895002" y="3523852"/>
            <a:ext cx="884821"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A43943D-A6AB-D3DB-FB8A-C8BF5B5F532F}"/>
              </a:ext>
            </a:extLst>
          </p:cNvPr>
          <p:cNvSpPr txBox="1"/>
          <p:nvPr/>
        </p:nvSpPr>
        <p:spPr>
          <a:xfrm>
            <a:off x="1892593" y="3010758"/>
            <a:ext cx="1888188" cy="923330"/>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DTLS </a:t>
            </a:r>
            <a:r>
              <a:rPr lang="en-JP" dirty="0">
                <a:latin typeface="Meiryo" panose="020B0604030504040204" pitchFamily="34" charset="-128"/>
                <a:ea typeface="Meiryo" panose="020B0604030504040204" pitchFamily="34" charset="-128"/>
              </a:rPr>
              <a:t>🔒</a:t>
            </a:r>
          </a:p>
          <a:p>
            <a:endParaRPr lang="en-JP" dirty="0">
              <a:latin typeface="Meiryo" panose="020B0604030504040204" pitchFamily="34" charset="-128"/>
              <a:ea typeface="Meiryo" panose="020B0604030504040204" pitchFamily="34" charset="-128"/>
            </a:endParaRPr>
          </a:p>
          <a:p>
            <a:r>
              <a:rPr lang="ja-JP" altLang="en-US">
                <a:latin typeface="Meiryo" panose="020B0604030504040204" pitchFamily="34" charset="-128"/>
                <a:ea typeface="Meiryo" panose="020B0604030504040204" pitchFamily="34" charset="-128"/>
              </a:rPr>
              <a:t>攻撃者へ</a:t>
            </a:r>
            <a:endParaRPr lang="en-JP" dirty="0">
              <a:latin typeface="Meiryo" panose="020B0604030504040204" pitchFamily="34" charset="-128"/>
              <a:ea typeface="Meiryo" panose="020B0604030504040204" pitchFamily="34" charset="-128"/>
            </a:endParaRPr>
          </a:p>
        </p:txBody>
      </p:sp>
      <p:sp>
        <p:nvSpPr>
          <p:cNvPr id="2" name="Rectangle: Rounded Corners 6">
            <a:extLst>
              <a:ext uri="{FF2B5EF4-FFF2-40B4-BE49-F238E27FC236}">
                <a16:creationId xmlns:a16="http://schemas.microsoft.com/office/drawing/2014/main" id="{BED9B5FC-C6AF-6070-1C8E-D3D7DF041307}"/>
              </a:ext>
            </a:extLst>
          </p:cNvPr>
          <p:cNvSpPr/>
          <p:nvPr/>
        </p:nvSpPr>
        <p:spPr>
          <a:xfrm>
            <a:off x="3347175" y="2991626"/>
            <a:ext cx="2459367" cy="1250978"/>
          </a:xfrm>
          <a:prstGeom prst="roundRect">
            <a:avLst/>
          </a:prstGeom>
          <a:solidFill>
            <a:schemeClr val="accent2">
              <a:lumMod val="40000"/>
              <a:lumOff val="6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Arial" panose="020B0604020202020204" pitchFamily="34" charset="0"/>
              </a:rPr>
              <a:t>😈 </a:t>
            </a:r>
            <a:r>
              <a:rPr lang="ja-JP" altLang="en-US" sz="2400" b="1" i="0">
                <a:solidFill>
                  <a:srgbClr val="000000"/>
                </a:solidFill>
                <a:effectLst/>
                <a:latin typeface="Arial" panose="020B0604020202020204" pitchFamily="34" charset="0"/>
              </a:rPr>
              <a:t>攻撃者</a:t>
            </a:r>
            <a:endParaRPr lang="en-US" altLang="ja-JP" sz="2400" b="1" i="0" dirty="0">
              <a:solidFill>
                <a:srgbClr val="000000"/>
              </a:solidFill>
              <a:effectLst/>
              <a:latin typeface="Arial" panose="020B0604020202020204" pitchFamily="34" charset="0"/>
            </a:endParaRPr>
          </a:p>
          <a:p>
            <a:pPr algn="ctr"/>
            <a:r>
              <a:rPr lang="ja-JP" altLang="en-US" sz="2400" b="1">
                <a:solidFill>
                  <a:srgbClr val="C00000"/>
                </a:solidFill>
                <a:latin typeface="Meiryo" panose="020B0604030504040204" pitchFamily="34" charset="-128"/>
                <a:ea typeface="Meiryo" panose="020B0604030504040204" pitchFamily="34" charset="-128"/>
              </a:rPr>
              <a:t>中間に割り込む</a:t>
            </a:r>
            <a:endParaRPr lang="en-US" sz="2400" b="1" dirty="0">
              <a:solidFill>
                <a:srgbClr val="C00000"/>
              </a:solidFill>
              <a:latin typeface="Meiryo" panose="020B0604030504040204" pitchFamily="34" charset="-128"/>
              <a:ea typeface="Meiryo" panose="020B0604030504040204" pitchFamily="34" charset="-128"/>
            </a:endParaRPr>
          </a:p>
        </p:txBody>
      </p:sp>
      <p:sp>
        <p:nvSpPr>
          <p:cNvPr id="11" name="Rectangle: Rounded Corners 4">
            <a:extLst>
              <a:ext uri="{FF2B5EF4-FFF2-40B4-BE49-F238E27FC236}">
                <a16:creationId xmlns:a16="http://schemas.microsoft.com/office/drawing/2014/main" id="{7AA47FC0-AFEA-A068-C3C1-8269923A68A2}"/>
              </a:ext>
            </a:extLst>
          </p:cNvPr>
          <p:cNvSpPr/>
          <p:nvPr/>
        </p:nvSpPr>
        <p:spPr>
          <a:xfrm>
            <a:off x="2363046" y="1132732"/>
            <a:ext cx="2208954" cy="1258758"/>
          </a:xfrm>
          <a:prstGeom prst="roundRect">
            <a:avLst/>
          </a:pr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tx1"/>
                </a:solidFill>
                <a:latin typeface="Meiryo" panose="020B0604030504040204" pitchFamily="34" charset="-128"/>
                <a:ea typeface="Meiryo" panose="020B0604030504040204" pitchFamily="34" charset="-128"/>
              </a:rPr>
              <a:t>偽</a:t>
            </a:r>
            <a:r>
              <a:rPr lang="en-US" b="1" dirty="0">
                <a:solidFill>
                  <a:schemeClr val="tx1"/>
                </a:solidFill>
                <a:latin typeface="Meiryo" panose="020B0604030504040204" pitchFamily="34" charset="-128"/>
                <a:ea typeface="Meiryo" panose="020B0604030504040204" pitchFamily="34" charset="-128"/>
              </a:rPr>
              <a:t>ARP</a:t>
            </a:r>
            <a:r>
              <a:rPr lang="ja-JP" altLang="en-US" b="1">
                <a:solidFill>
                  <a:schemeClr val="tx1"/>
                </a:solidFill>
                <a:latin typeface="Meiryo" panose="020B0604030504040204" pitchFamily="34" charset="-128"/>
                <a:ea typeface="Meiryo" panose="020B0604030504040204" pitchFamily="34" charset="-128"/>
              </a:rPr>
              <a:t>を送信し</a:t>
            </a:r>
          </a:p>
          <a:p>
            <a:pPr algn="ctr"/>
            <a:r>
              <a:rPr lang="ja-JP" altLang="en-US" b="1">
                <a:solidFill>
                  <a:schemeClr val="tx1"/>
                </a:solidFill>
                <a:latin typeface="Meiryo" panose="020B0604030504040204" pitchFamily="34" charset="-128"/>
                <a:ea typeface="Meiryo" panose="020B0604030504040204" pitchFamily="34" charset="-128"/>
              </a:rPr>
              <a:t>経路を書き換える</a:t>
            </a:r>
            <a:endParaRPr lang="en-JP" b="1" dirty="0">
              <a:solidFill>
                <a:schemeClr val="tx1"/>
              </a:solidFill>
              <a:latin typeface="Meiryo" panose="020B0604030504040204" pitchFamily="34" charset="-128"/>
              <a:ea typeface="Meiryo" panose="020B0604030504040204" pitchFamily="34" charset="-128"/>
            </a:endParaRPr>
          </a:p>
        </p:txBody>
      </p:sp>
      <p:sp>
        <p:nvSpPr>
          <p:cNvPr id="12" name="Curved Down Arrow 11">
            <a:extLst>
              <a:ext uri="{FF2B5EF4-FFF2-40B4-BE49-F238E27FC236}">
                <a16:creationId xmlns:a16="http://schemas.microsoft.com/office/drawing/2014/main" id="{1FE44A68-4C3A-7FC8-AF45-00867A50FBB8}"/>
              </a:ext>
            </a:extLst>
          </p:cNvPr>
          <p:cNvSpPr/>
          <p:nvPr/>
        </p:nvSpPr>
        <p:spPr>
          <a:xfrm rot="10800000">
            <a:off x="838478" y="4368207"/>
            <a:ext cx="3396343" cy="402210"/>
          </a:xfrm>
          <a:prstGeom prst="curvedDown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solidFill>
                <a:schemeClr val="tx1"/>
              </a:solidFill>
            </a:endParaRPr>
          </a:p>
        </p:txBody>
      </p:sp>
      <p:sp>
        <p:nvSpPr>
          <p:cNvPr id="13" name="TextBox 12">
            <a:extLst>
              <a:ext uri="{FF2B5EF4-FFF2-40B4-BE49-F238E27FC236}">
                <a16:creationId xmlns:a16="http://schemas.microsoft.com/office/drawing/2014/main" id="{19103CD7-FD3F-412F-98AB-FF685B138C50}"/>
              </a:ext>
            </a:extLst>
          </p:cNvPr>
          <p:cNvSpPr txBox="1"/>
          <p:nvPr/>
        </p:nvSpPr>
        <p:spPr>
          <a:xfrm>
            <a:off x="1587386" y="4173539"/>
            <a:ext cx="2498601" cy="646331"/>
          </a:xfrm>
          <a:prstGeom prst="rect">
            <a:avLst/>
          </a:prstGeom>
          <a:noFill/>
        </p:spPr>
        <p:txBody>
          <a:bodyPr wrap="square" rtlCol="0">
            <a:spAutoFit/>
          </a:bodyPr>
          <a:lstStyle/>
          <a:p>
            <a:r>
              <a:rPr lang="ja-JP" altLang="en-US">
                <a:latin typeface="Meiryo" panose="020B0604030504040204" pitchFamily="34" charset="-128"/>
                <a:ea typeface="Meiryo" panose="020B0604030504040204" pitchFamily="34" charset="-128"/>
              </a:rPr>
              <a:t>偽</a:t>
            </a:r>
            <a:r>
              <a:rPr lang="en-US" dirty="0">
                <a:latin typeface="Meiryo" panose="020B0604030504040204" pitchFamily="34" charset="-128"/>
                <a:ea typeface="Meiryo" panose="020B0604030504040204" pitchFamily="34" charset="-128"/>
              </a:rPr>
              <a:t>ARP Reply</a:t>
            </a:r>
          </a:p>
          <a:p>
            <a:r>
              <a:rPr lang="en-US" dirty="0">
                <a:latin typeface="Meiryo" panose="020B0604030504040204" pitchFamily="34" charset="-128"/>
                <a:ea typeface="Meiryo" panose="020B0604030504040204" pitchFamily="34" charset="-128"/>
              </a:rPr>
              <a:t>「GW</a:t>
            </a:r>
            <a:r>
              <a:rPr lang="ja-JP" altLang="en-US">
                <a:latin typeface="Meiryo" panose="020B0604030504040204" pitchFamily="34" charset="-128"/>
                <a:ea typeface="Meiryo" panose="020B0604030504040204" pitchFamily="34" charset="-128"/>
              </a:rPr>
              <a:t>は</a:t>
            </a:r>
            <a:r>
              <a:rPr lang="en-US" altLang="ja-JP" dirty="0">
                <a:latin typeface="Meiryo" panose="020B0604030504040204" pitchFamily="34" charset="-128"/>
                <a:ea typeface="Meiryo" panose="020B0604030504040204" pitchFamily="34" charset="-128"/>
              </a:rPr>
              <a:t>CC</a:t>
            </a:r>
            <a:r>
              <a:rPr lang="en-US" dirty="0">
                <a:latin typeface="Meiryo" panose="020B0604030504040204" pitchFamily="34" charset="-128"/>
                <a:ea typeface="Meiryo" panose="020B0604030504040204" pitchFamily="34" charset="-128"/>
              </a:rPr>
              <a:t>:CC</a:t>
            </a:r>
            <a:r>
              <a:rPr lang="ja-JP" altLang="en-US">
                <a:latin typeface="Meiryo" panose="020B0604030504040204" pitchFamily="34" charset="-128"/>
                <a:ea typeface="Meiryo" panose="020B0604030504040204" pitchFamily="34" charset="-128"/>
              </a:rPr>
              <a:t>だ」</a:t>
            </a:r>
            <a:endParaRPr lang="en-JP" dirty="0">
              <a:latin typeface="Meiryo" panose="020B0604030504040204" pitchFamily="34" charset="-128"/>
              <a:ea typeface="Meiryo" panose="020B0604030504040204" pitchFamily="34" charset="-128"/>
            </a:endParaRPr>
          </a:p>
        </p:txBody>
      </p:sp>
      <p:cxnSp>
        <p:nvCxnSpPr>
          <p:cNvPr id="15" name="Elbow Connector 14">
            <a:extLst>
              <a:ext uri="{FF2B5EF4-FFF2-40B4-BE49-F238E27FC236}">
                <a16:creationId xmlns:a16="http://schemas.microsoft.com/office/drawing/2014/main" id="{635ED0A3-BBBF-BBD5-31FC-B92AED52D5FC}"/>
              </a:ext>
            </a:extLst>
          </p:cNvPr>
          <p:cNvCxnSpPr>
            <a:cxnSpLocks/>
          </p:cNvCxnSpPr>
          <p:nvPr/>
        </p:nvCxnSpPr>
        <p:spPr>
          <a:xfrm rot="5400000" flipH="1" flipV="1">
            <a:off x="7569306" y="2502116"/>
            <a:ext cx="979014" cy="3"/>
          </a:xfrm>
          <a:prstGeom prst="bentConnector3">
            <a:avLst/>
          </a:prstGeom>
          <a:ln w="28575">
            <a:solidFill>
              <a:schemeClr val="tx1">
                <a:alpha val="97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EF9F402A-16A8-4208-9078-9FF014190AD5}"/>
              </a:ext>
            </a:extLst>
          </p:cNvPr>
          <p:cNvCxnSpPr>
            <a:stCxn id="11" idx="2"/>
            <a:endCxn id="2" idx="0"/>
          </p:cNvCxnSpPr>
          <p:nvPr/>
        </p:nvCxnSpPr>
        <p:spPr>
          <a:xfrm rot="16200000" flipH="1">
            <a:off x="3722123" y="2136890"/>
            <a:ext cx="600136" cy="1109336"/>
          </a:xfrm>
          <a:prstGeom prst="bentConnector3">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181AB0F-CF8D-F537-1DEE-866656945747}"/>
              </a:ext>
            </a:extLst>
          </p:cNvPr>
          <p:cNvSpPr txBox="1"/>
          <p:nvPr/>
        </p:nvSpPr>
        <p:spPr>
          <a:xfrm>
            <a:off x="192496" y="4832905"/>
            <a:ext cx="8509051" cy="1938992"/>
          </a:xfrm>
          <a:prstGeom prst="rect">
            <a:avLst/>
          </a:prstGeom>
          <a:noFill/>
        </p:spPr>
        <p:txBody>
          <a:bodyPr wrap="square">
            <a:spAutoFit/>
          </a:bodyPr>
          <a:lstStyle/>
          <a:p>
            <a:r>
              <a:rPr lang="en-JP" sz="2000" dirty="0">
                <a:latin typeface="Meiryo" panose="020B0604030504040204" pitchFamily="34" charset="-128"/>
                <a:ea typeface="Meiryo" panose="020B0604030504040204" pitchFamily="34" charset="-128"/>
              </a:rPr>
              <a:t>(ARP Spoofing発生後)</a:t>
            </a:r>
          </a:p>
          <a:p>
            <a:endParaRPr lang="en-JP" sz="2000" dirty="0">
              <a:latin typeface="Meiryo" panose="020B0604030504040204" pitchFamily="34" charset="-128"/>
              <a:ea typeface="Meiryo" panose="020B0604030504040204" pitchFamily="34" charset="-128"/>
            </a:endParaRPr>
          </a:p>
          <a:p>
            <a:r>
              <a:rPr lang="en-JP" sz="2000" dirty="0">
                <a:latin typeface="Meiryo" panose="020B0604030504040204" pitchFamily="34" charset="-128"/>
                <a:ea typeface="Meiryo" panose="020B0604030504040204" pitchFamily="34" charset="-128"/>
              </a:rPr>
              <a:t>SmartLock→ DTLSで暗号化 ✓（正常）→ [🔒 ????] パケット生成</a:t>
            </a:r>
          </a:p>
          <a:p>
            <a:r>
              <a:rPr lang="en-JP" sz="2000" dirty="0">
                <a:latin typeface="Meiryo" panose="020B0604030504040204" pitchFamily="34" charset="-128"/>
                <a:ea typeface="Meiryo" panose="020B0604030504040204" pitchFamily="34" charset="-128"/>
              </a:rPr>
              <a:t>  → 「Gateway MAC = XX:XX」と認識</a:t>
            </a:r>
          </a:p>
          <a:p>
            <a:r>
              <a:rPr lang="en-JP" sz="2000" dirty="0">
                <a:latin typeface="Meiryo" panose="020B0604030504040204" pitchFamily="34" charset="-128"/>
                <a:ea typeface="Meiryo" panose="020B0604030504040204" pitchFamily="34" charset="-128"/>
              </a:rPr>
              <a:t>    （攻撃者のMACアドレス）</a:t>
            </a:r>
          </a:p>
          <a:p>
            <a:r>
              <a:rPr lang="en-JP" sz="2000" dirty="0">
                <a:latin typeface="Meiryo" panose="020B0604030504040204" pitchFamily="34" charset="-128"/>
                <a:ea typeface="Meiryo" panose="020B0604030504040204" pitchFamily="34" charset="-128"/>
              </a:rPr>
              <a:t>  → 攻撃者が受信 </a:t>
            </a:r>
          </a:p>
        </p:txBody>
      </p:sp>
      <p:sp>
        <p:nvSpPr>
          <p:cNvPr id="25" name="正方形/長方形 4">
            <a:extLst>
              <a:ext uri="{FF2B5EF4-FFF2-40B4-BE49-F238E27FC236}">
                <a16:creationId xmlns:a16="http://schemas.microsoft.com/office/drawing/2014/main" id="{52473F3E-BF91-1257-A289-1B966296B715}"/>
              </a:ext>
            </a:extLst>
          </p:cNvPr>
          <p:cNvSpPr/>
          <p:nvPr/>
        </p:nvSpPr>
        <p:spPr>
          <a:xfrm>
            <a:off x="151273" y="4831896"/>
            <a:ext cx="7907538" cy="194000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Tree>
    <p:extLst>
      <p:ext uri="{BB962C8B-B14F-4D97-AF65-F5344CB8AC3E}">
        <p14:creationId xmlns:p14="http://schemas.microsoft.com/office/powerpoint/2010/main" val="19476013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6">
            <a:extLst>
              <a:ext uri="{FF2B5EF4-FFF2-40B4-BE49-F238E27FC236}">
                <a16:creationId xmlns:a16="http://schemas.microsoft.com/office/drawing/2014/main" id="{7FF5011C-B599-586C-78F9-92DAE119AFB9}"/>
              </a:ext>
            </a:extLst>
          </p:cNvPr>
          <p:cNvSpPr/>
          <p:nvPr/>
        </p:nvSpPr>
        <p:spPr>
          <a:xfrm>
            <a:off x="3529220" y="1695692"/>
            <a:ext cx="2213332" cy="1937147"/>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i="0" dirty="0">
              <a:solidFill>
                <a:srgbClr val="000000"/>
              </a:solidFill>
              <a:effectLst/>
              <a:latin typeface="Meiryo" panose="020B0604030504040204" pitchFamily="34" charset="-128"/>
              <a:ea typeface="Meiryo" panose="020B0604030504040204" pitchFamily="34" charset="-128"/>
            </a:endParaRPr>
          </a:p>
          <a:p>
            <a:pPr algn="ctr"/>
            <a:r>
              <a:rPr lang="en-US" sz="2400" b="1" i="0" dirty="0">
                <a:solidFill>
                  <a:srgbClr val="000000"/>
                </a:solidFill>
                <a:effectLst/>
                <a:latin typeface="Meiryo" panose="020B0604030504040204" pitchFamily="34" charset="-128"/>
                <a:ea typeface="Meiryo" panose="020B0604030504040204" pitchFamily="34" charset="-128"/>
              </a:rPr>
              <a:t>Gateway</a:t>
            </a:r>
          </a:p>
          <a:p>
            <a:pPr algn="ctr"/>
            <a:r>
              <a:rPr lang="en-US" sz="2400" b="0" i="0" dirty="0">
                <a:solidFill>
                  <a:srgbClr val="000000"/>
                </a:solidFill>
                <a:effectLst/>
                <a:latin typeface="Meiryo" panose="020B0604030504040204" pitchFamily="34" charset="-128"/>
                <a:ea typeface="Meiryo" panose="020B0604030504040204" pitchFamily="34" charset="-128"/>
              </a:rPr>
              <a:t>+ </a:t>
            </a:r>
            <a:r>
              <a:rPr lang="en-US" sz="2400" b="1" i="0" dirty="0">
                <a:solidFill>
                  <a:srgbClr val="C00000"/>
                </a:solidFill>
                <a:effectLst/>
                <a:latin typeface="Meiryo" panose="020B0604030504040204" pitchFamily="34" charset="-128"/>
                <a:ea typeface="Meiryo" panose="020B0604030504040204" pitchFamily="34" charset="-128"/>
              </a:rPr>
              <a:t>ML-IDS </a:t>
            </a:r>
            <a:r>
              <a:rPr lang="ja-JP" altLang="en-US" sz="2400" b="1" i="0">
                <a:solidFill>
                  <a:srgbClr val="C00000"/>
                </a:solidFill>
                <a:effectLst/>
                <a:latin typeface="Meiryo" panose="020B0604030504040204" pitchFamily="34" charset="-128"/>
                <a:ea typeface="Meiryo" panose="020B0604030504040204" pitchFamily="34" charset="-128"/>
              </a:rPr>
              <a:t>監視中</a:t>
            </a:r>
            <a:endParaRPr lang="en-US" sz="2400" b="1" dirty="0">
              <a:solidFill>
                <a:srgbClr val="C00000"/>
              </a:solidFill>
              <a:latin typeface="Meiryo" panose="020B0604030504040204" pitchFamily="34" charset="-128"/>
              <a:ea typeface="Meiryo" panose="020B0604030504040204" pitchFamily="34" charset="-128"/>
            </a:endParaRPr>
          </a:p>
        </p:txBody>
      </p:sp>
      <p:sp>
        <p:nvSpPr>
          <p:cNvPr id="9" name="Rectangle: Rounded Corners 8">
            <a:extLst>
              <a:ext uri="{FF2B5EF4-FFF2-40B4-BE49-F238E27FC236}">
                <a16:creationId xmlns:a16="http://schemas.microsoft.com/office/drawing/2014/main" id="{D5E7BCE3-9E99-9AA4-52E6-B50466164EB7}"/>
              </a:ext>
            </a:extLst>
          </p:cNvPr>
          <p:cNvSpPr/>
          <p:nvPr/>
        </p:nvSpPr>
        <p:spPr>
          <a:xfrm>
            <a:off x="7173347" y="1801360"/>
            <a:ext cx="1817786" cy="1831479"/>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dirty="0">
              <a:solidFill>
                <a:srgbClr val="000000"/>
              </a:solidFill>
              <a:latin typeface="Meiryo" panose="020B0604030504040204" pitchFamily="34" charset="-128"/>
              <a:ea typeface="Meiryo" panose="020B0604030504040204" pitchFamily="34" charset="-128"/>
            </a:endParaRPr>
          </a:p>
          <a:p>
            <a:pPr algn="ctr"/>
            <a:r>
              <a:rPr lang="en-US" sz="2400" b="1" dirty="0">
                <a:solidFill>
                  <a:srgbClr val="000000"/>
                </a:solidFill>
                <a:latin typeface="Meiryo" panose="020B0604030504040204" pitchFamily="34" charset="-128"/>
                <a:ea typeface="Meiryo" panose="020B0604030504040204" pitchFamily="34" charset="-128"/>
              </a:rPr>
              <a:t>Backend</a:t>
            </a:r>
            <a:endParaRPr lang="en-US" sz="2400" dirty="0">
              <a:solidFill>
                <a:schemeClr val="tx1"/>
              </a:solidFill>
              <a:latin typeface="Meiryo" panose="020B0604030504040204" pitchFamily="34" charset="-128"/>
              <a:ea typeface="Meiryo" panose="020B0604030504040204" pitchFamily="34" charset="-128"/>
            </a:endParaRPr>
          </a:p>
        </p:txBody>
      </p:sp>
      <p:sp>
        <p:nvSpPr>
          <p:cNvPr id="10" name="Rectangle: Rounded Corners 4">
            <a:extLst>
              <a:ext uri="{FF2B5EF4-FFF2-40B4-BE49-F238E27FC236}">
                <a16:creationId xmlns:a16="http://schemas.microsoft.com/office/drawing/2014/main" id="{766501A8-0D68-685D-213F-99DB41CEBAC9}"/>
              </a:ext>
            </a:extLst>
          </p:cNvPr>
          <p:cNvSpPr/>
          <p:nvPr/>
        </p:nvSpPr>
        <p:spPr>
          <a:xfrm>
            <a:off x="152867" y="1963115"/>
            <a:ext cx="1576090" cy="1669724"/>
          </a:xfrm>
          <a:prstGeom prst="roundRect">
            <a:avLst/>
          </a:prstGeom>
          <a:solidFill>
            <a:schemeClr val="accent3">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altLang="ja-JP" sz="2400" b="1" dirty="0">
              <a:solidFill>
                <a:srgbClr val="000000"/>
              </a:solidFill>
              <a:latin typeface="Meiryo" panose="020B0604030504040204" pitchFamily="34" charset="-128"/>
              <a:ea typeface="Meiryo" panose="020B0604030504040204" pitchFamily="34" charset="-128"/>
            </a:endParaRPr>
          </a:p>
          <a:p>
            <a:pPr algn="ctr"/>
            <a:r>
              <a:rPr lang="en-US" altLang="ja-JP" sz="2400" b="1" i="0" dirty="0">
                <a:solidFill>
                  <a:srgbClr val="000000"/>
                </a:solidFill>
                <a:effectLst/>
                <a:latin typeface="Meiryo" panose="020B0604030504040204" pitchFamily="34" charset="-128"/>
                <a:ea typeface="Meiryo" panose="020B0604030504040204" pitchFamily="34" charset="-128"/>
              </a:rPr>
              <a:t>IoT devices</a:t>
            </a:r>
            <a:endParaRPr lang="en-JP" sz="2400" dirty="0">
              <a:solidFill>
                <a:schemeClr val="tx1"/>
              </a:solidFill>
              <a:latin typeface="Meiryo" panose="020B0604030504040204" pitchFamily="34" charset="-128"/>
              <a:ea typeface="Meiryo" panose="020B0604030504040204" pitchFamily="34" charset="-128"/>
            </a:endParaRPr>
          </a:p>
        </p:txBody>
      </p:sp>
      <p:sp>
        <p:nvSpPr>
          <p:cNvPr id="36" name="Shape 0">
            <a:extLst>
              <a:ext uri="{FF2B5EF4-FFF2-40B4-BE49-F238E27FC236}">
                <a16:creationId xmlns:a16="http://schemas.microsoft.com/office/drawing/2014/main" id="{2E2CE1B2-4B9B-2CED-D943-2A870364AEB4}"/>
              </a:ext>
            </a:extLst>
          </p:cNvPr>
          <p:cNvSpPr/>
          <p:nvPr/>
        </p:nvSpPr>
        <p:spPr>
          <a:xfrm>
            <a:off x="0" y="0"/>
            <a:ext cx="9144000" cy="844218"/>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endParaRPr lang="mn-MN" altLang="ja-JP" sz="2800" b="1" dirty="0">
              <a:latin typeface="Meiryo" panose="020B0604030504040204" pitchFamily="34" charset="-128"/>
              <a:ea typeface="Meiryo" panose="020B0604030504040204" pitchFamily="34" charset="-128"/>
            </a:endParaRPr>
          </a:p>
          <a:p>
            <a:pPr marL="342900" indent="-342900">
              <a:buFont typeface="Wingdings" pitchFamily="2" charset="2"/>
              <a:buChar char="Ø"/>
            </a:pPr>
            <a:r>
              <a:rPr lang="en-US" altLang="ja-JP" sz="2800" b="1" i="0" dirty="0">
                <a:solidFill>
                  <a:srgbClr val="000000"/>
                </a:solidFill>
                <a:effectLst/>
                <a:latin typeface="Meiryo" panose="020B0604030504040204" pitchFamily="34" charset="-128"/>
                <a:ea typeface="Meiryo" panose="020B0604030504040204" pitchFamily="34" charset="-128"/>
              </a:rPr>
              <a:t>Step</a:t>
            </a:r>
            <a:r>
              <a:rPr lang="ja-JP" altLang="en-US" sz="2800" b="1" i="0">
                <a:solidFill>
                  <a:srgbClr val="000000"/>
                </a:solidFill>
                <a:effectLst/>
                <a:latin typeface="Meiryo" panose="020B0604030504040204" pitchFamily="34" charset="-128"/>
                <a:ea typeface="Meiryo" panose="020B0604030504040204" pitchFamily="34" charset="-128"/>
              </a:rPr>
              <a:t>② 通常の</a:t>
            </a:r>
            <a:r>
              <a:rPr lang="en-US" altLang="ja-JP" sz="2800" b="1" i="0" dirty="0">
                <a:solidFill>
                  <a:srgbClr val="000000"/>
                </a:solidFill>
                <a:effectLst/>
                <a:latin typeface="Meiryo" panose="020B0604030504040204" pitchFamily="34" charset="-128"/>
                <a:ea typeface="Meiryo" panose="020B0604030504040204" pitchFamily="34" charset="-128"/>
              </a:rPr>
              <a:t>CoAP/DTLS</a:t>
            </a:r>
            <a:r>
              <a:rPr lang="ja-JP" altLang="en-US" sz="2800" b="1" i="0">
                <a:solidFill>
                  <a:srgbClr val="000000"/>
                </a:solidFill>
                <a:effectLst/>
                <a:latin typeface="Meiryo" panose="020B0604030504040204" pitchFamily="34" charset="-128"/>
                <a:ea typeface="Meiryo" panose="020B0604030504040204" pitchFamily="34" charset="-128"/>
              </a:rPr>
              <a:t>通信 </a:t>
            </a:r>
            <a:r>
              <a:rPr lang="en-US" altLang="ja-JP" sz="2800" b="1" i="0" dirty="0">
                <a:solidFill>
                  <a:srgbClr val="000000"/>
                </a:solidFill>
                <a:effectLst/>
                <a:latin typeface="Meiryo" panose="020B0604030504040204" pitchFamily="34" charset="-128"/>
                <a:ea typeface="Meiryo" panose="020B0604030504040204" pitchFamily="34" charset="-128"/>
              </a:rPr>
              <a:t>— </a:t>
            </a:r>
            <a:r>
              <a:rPr lang="ja-JP" altLang="en-US" sz="2800" b="1" i="0">
                <a:solidFill>
                  <a:srgbClr val="000000"/>
                </a:solidFill>
                <a:effectLst/>
                <a:latin typeface="Meiryo" panose="020B0604030504040204" pitchFamily="34" charset="-128"/>
                <a:ea typeface="Meiryo" panose="020B0604030504040204" pitchFamily="34" charset="-128"/>
              </a:rPr>
              <a:t>正常に動作</a:t>
            </a:r>
            <a:endParaRPr lang="en-JP" sz="2800" b="1" dirty="0">
              <a:latin typeface="Meiryo" panose="020B0604030504040204" pitchFamily="34" charset="-128"/>
              <a:ea typeface="Meiryo" panose="020B0604030504040204" pitchFamily="34" charset="-128"/>
            </a:endParaRPr>
          </a:p>
        </p:txBody>
      </p:sp>
      <p:sp>
        <p:nvSpPr>
          <p:cNvPr id="63" name="Slide Number Placeholder 62">
            <a:extLst>
              <a:ext uri="{FF2B5EF4-FFF2-40B4-BE49-F238E27FC236}">
                <a16:creationId xmlns:a16="http://schemas.microsoft.com/office/drawing/2014/main" id="{7997AEC5-C830-216D-A285-C2D5C6551311}"/>
              </a:ext>
            </a:extLst>
          </p:cNvPr>
          <p:cNvSpPr>
            <a:spLocks noGrp="1"/>
          </p:cNvSpPr>
          <p:nvPr>
            <p:ph type="sldNum" sz="quarter" idx="12"/>
          </p:nvPr>
        </p:nvSpPr>
        <p:spPr/>
        <p:txBody>
          <a:bodyPr/>
          <a:lstStyle/>
          <a:p>
            <a:fld id="{828F3BD4-1AF2-D144-8129-4D42AD448F5E}" type="slidenum">
              <a:rPr lang="en-JP" smtClean="0"/>
              <a:t>29</a:t>
            </a:fld>
            <a:endParaRPr lang="en-JP"/>
          </a:p>
        </p:txBody>
      </p:sp>
      <p:cxnSp>
        <p:nvCxnSpPr>
          <p:cNvPr id="39" name="Straight Arrow Connector 38">
            <a:extLst>
              <a:ext uri="{FF2B5EF4-FFF2-40B4-BE49-F238E27FC236}">
                <a16:creationId xmlns:a16="http://schemas.microsoft.com/office/drawing/2014/main" id="{A9385096-C957-3D0C-CC92-C7618F5846A2}"/>
              </a:ext>
            </a:extLst>
          </p:cNvPr>
          <p:cNvCxnSpPr>
            <a:cxnSpLocks/>
          </p:cNvCxnSpPr>
          <p:nvPr/>
        </p:nvCxnSpPr>
        <p:spPr>
          <a:xfrm>
            <a:off x="1822293" y="2786656"/>
            <a:ext cx="1579157"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2ABBB60B-6276-8BFF-2014-1B7023C6DBF8}"/>
              </a:ext>
            </a:extLst>
          </p:cNvPr>
          <p:cNvCxnSpPr>
            <a:cxnSpLocks/>
          </p:cNvCxnSpPr>
          <p:nvPr/>
        </p:nvCxnSpPr>
        <p:spPr>
          <a:xfrm>
            <a:off x="5895544" y="2786656"/>
            <a:ext cx="1124811"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Rounded Rectangle 47">
            <a:extLst>
              <a:ext uri="{FF2B5EF4-FFF2-40B4-BE49-F238E27FC236}">
                <a16:creationId xmlns:a16="http://schemas.microsoft.com/office/drawing/2014/main" id="{D7AE3924-5C1B-64C3-2B11-B66975D14129}"/>
              </a:ext>
            </a:extLst>
          </p:cNvPr>
          <p:cNvSpPr/>
          <p:nvPr/>
        </p:nvSpPr>
        <p:spPr>
          <a:xfrm>
            <a:off x="34238" y="4197794"/>
            <a:ext cx="8958943" cy="1412472"/>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ü"/>
            </a:pPr>
            <a:r>
              <a:rPr lang="en-US" sz="2400" dirty="0">
                <a:solidFill>
                  <a:schemeClr val="tx1"/>
                </a:solidFill>
                <a:effectLst/>
                <a:latin typeface="Meiryo" panose="020B0604030504040204" pitchFamily="34" charset="-128"/>
                <a:ea typeface="Meiryo" panose="020B0604030504040204" pitchFamily="34" charset="-128"/>
              </a:rPr>
              <a:t>DTLS</a:t>
            </a:r>
            <a:r>
              <a:rPr lang="ja-JP" altLang="en-US" sz="2400">
                <a:solidFill>
                  <a:schemeClr val="tx1"/>
                </a:solidFill>
                <a:effectLst/>
                <a:latin typeface="Meiryo" panose="020B0604030504040204" pitchFamily="34" charset="-128"/>
                <a:ea typeface="Meiryo" panose="020B0604030504040204" pitchFamily="34" charset="-128"/>
              </a:rPr>
              <a:t>で暗号化された</a:t>
            </a:r>
            <a:r>
              <a:rPr lang="en-US" sz="2400" dirty="0">
                <a:solidFill>
                  <a:schemeClr val="tx1"/>
                </a:solidFill>
                <a:effectLst/>
                <a:latin typeface="Meiryo" panose="020B0604030504040204" pitchFamily="34" charset="-128"/>
                <a:ea typeface="Meiryo" panose="020B0604030504040204" pitchFamily="34" charset="-128"/>
              </a:rPr>
              <a:t>CoAP</a:t>
            </a:r>
            <a:r>
              <a:rPr lang="ja-JP" altLang="en-US" sz="2400">
                <a:solidFill>
                  <a:schemeClr val="tx1"/>
                </a:solidFill>
                <a:effectLst/>
                <a:latin typeface="Meiryo" panose="020B0604030504040204" pitchFamily="34" charset="-128"/>
                <a:ea typeface="Meiryo" panose="020B0604030504040204" pitchFamily="34" charset="-128"/>
              </a:rPr>
              <a:t>が正常に</a:t>
            </a:r>
            <a:r>
              <a:rPr lang="en-US" sz="2400" dirty="0">
                <a:solidFill>
                  <a:schemeClr val="tx1"/>
                </a:solidFill>
                <a:effectLst/>
                <a:latin typeface="Meiryo" panose="020B0604030504040204" pitchFamily="34" charset="-128"/>
                <a:ea typeface="Meiryo" panose="020B0604030504040204" pitchFamily="34" charset="-128"/>
              </a:rPr>
              <a:t>Backend</a:t>
            </a:r>
            <a:r>
              <a:rPr lang="ja-JP" altLang="en-US" sz="2400">
                <a:solidFill>
                  <a:schemeClr val="tx1"/>
                </a:solidFill>
                <a:effectLst/>
                <a:latin typeface="Meiryo" panose="020B0604030504040204" pitchFamily="34" charset="-128"/>
                <a:ea typeface="Meiryo" panose="020B0604030504040204" pitchFamily="34" charset="-128"/>
              </a:rPr>
              <a:t>へ届く</a:t>
            </a:r>
          </a:p>
          <a:p>
            <a:pPr marL="285750" indent="-285750" algn="ctr">
              <a:buFont typeface="Wingdings" pitchFamily="2" charset="2"/>
              <a:buChar char="ü"/>
            </a:pPr>
            <a:r>
              <a:rPr lang="en-US" sz="2400" dirty="0">
                <a:solidFill>
                  <a:schemeClr val="tx1"/>
                </a:solidFill>
                <a:effectLst/>
                <a:latin typeface="Meiryo" panose="020B0604030504040204" pitchFamily="34" charset="-128"/>
                <a:ea typeface="Meiryo" panose="020B0604030504040204" pitchFamily="34" charset="-128"/>
              </a:rPr>
              <a:t>Gateway</a:t>
            </a:r>
            <a:r>
              <a:rPr lang="ja-JP" altLang="en-US" sz="2400">
                <a:solidFill>
                  <a:schemeClr val="tx1"/>
                </a:solidFill>
                <a:effectLst/>
                <a:latin typeface="Meiryo" panose="020B0604030504040204" pitchFamily="34" charset="-128"/>
                <a:ea typeface="Meiryo" panose="020B0604030504040204" pitchFamily="34" charset="-128"/>
              </a:rPr>
              <a:t>は</a:t>
            </a:r>
            <a:r>
              <a:rPr lang="en-US" sz="2400" dirty="0">
                <a:solidFill>
                  <a:schemeClr val="tx1"/>
                </a:solidFill>
                <a:effectLst/>
                <a:latin typeface="Meiryo" panose="020B0604030504040204" pitchFamily="34" charset="-128"/>
                <a:ea typeface="Meiryo" panose="020B0604030504040204" pitchFamily="34" charset="-128"/>
              </a:rPr>
              <a:t>DTLS</a:t>
            </a:r>
            <a:r>
              <a:rPr lang="ja-JP" altLang="en-US" sz="2400">
                <a:solidFill>
                  <a:schemeClr val="tx1"/>
                </a:solidFill>
                <a:effectLst/>
                <a:latin typeface="Meiryo" panose="020B0604030504040204" pitchFamily="34" charset="-128"/>
                <a:ea typeface="Meiryo" panose="020B0604030504040204" pitchFamily="34" charset="-128"/>
              </a:rPr>
              <a:t>ペイロードに触れず、</a:t>
            </a:r>
            <a:r>
              <a:rPr lang="en-US" sz="2400" dirty="0">
                <a:solidFill>
                  <a:schemeClr val="tx1"/>
                </a:solidFill>
                <a:effectLst/>
                <a:latin typeface="Meiryo" panose="020B0604030504040204" pitchFamily="34" charset="-128"/>
                <a:ea typeface="Meiryo" panose="020B0604030504040204" pitchFamily="34" charset="-128"/>
              </a:rPr>
              <a:t>ARP</a:t>
            </a:r>
            <a:r>
              <a:rPr lang="ja-JP" altLang="en-US" sz="2400">
                <a:solidFill>
                  <a:schemeClr val="tx1"/>
                </a:solidFill>
                <a:effectLst/>
                <a:latin typeface="Meiryo" panose="020B0604030504040204" pitchFamily="34" charset="-128"/>
                <a:ea typeface="Meiryo" panose="020B0604030504040204" pitchFamily="34" charset="-128"/>
              </a:rPr>
              <a:t>のみ監視</a:t>
            </a:r>
            <a:endParaRPr lang="en-JP" sz="2400" dirty="0">
              <a:solidFill>
                <a:schemeClr val="tx1"/>
              </a:solidFill>
              <a:effectLst/>
              <a:latin typeface="Meiryo" panose="020B0604030504040204" pitchFamily="34" charset="-128"/>
              <a:ea typeface="Meiryo" panose="020B0604030504040204" pitchFamily="34" charset="-128"/>
            </a:endParaRPr>
          </a:p>
        </p:txBody>
      </p:sp>
      <p:sp>
        <p:nvSpPr>
          <p:cNvPr id="4" name="TextBox 3">
            <a:extLst>
              <a:ext uri="{FF2B5EF4-FFF2-40B4-BE49-F238E27FC236}">
                <a16:creationId xmlns:a16="http://schemas.microsoft.com/office/drawing/2014/main" id="{D648F1EB-D812-8F23-DFB5-5C7927BBE2DC}"/>
              </a:ext>
            </a:extLst>
          </p:cNvPr>
          <p:cNvSpPr txBox="1"/>
          <p:nvPr/>
        </p:nvSpPr>
        <p:spPr>
          <a:xfrm>
            <a:off x="2011135" y="2392384"/>
            <a:ext cx="2213332" cy="369332"/>
          </a:xfrm>
          <a:prstGeom prst="rect">
            <a:avLst/>
          </a:prstGeom>
          <a:noFill/>
        </p:spPr>
        <p:txBody>
          <a:bodyPr wrap="square">
            <a:spAutoFit/>
          </a:bodyPr>
          <a:lstStyle/>
          <a:p>
            <a:r>
              <a:rPr lang="en-US" dirty="0"/>
              <a:t>CoAP </a:t>
            </a:r>
            <a:r>
              <a:rPr lang="en-JP" dirty="0"/>
              <a:t>🔒</a:t>
            </a:r>
          </a:p>
        </p:txBody>
      </p:sp>
      <p:sp>
        <p:nvSpPr>
          <p:cNvPr id="6" name="TextBox 5">
            <a:extLst>
              <a:ext uri="{FF2B5EF4-FFF2-40B4-BE49-F238E27FC236}">
                <a16:creationId xmlns:a16="http://schemas.microsoft.com/office/drawing/2014/main" id="{8A43943D-A6AB-D3DB-FB8A-C8BF5B5F532F}"/>
              </a:ext>
            </a:extLst>
          </p:cNvPr>
          <p:cNvSpPr txBox="1"/>
          <p:nvPr/>
        </p:nvSpPr>
        <p:spPr>
          <a:xfrm>
            <a:off x="1836964" y="2848705"/>
            <a:ext cx="4620986" cy="369332"/>
          </a:xfrm>
          <a:prstGeom prst="rect">
            <a:avLst/>
          </a:prstGeom>
          <a:noFill/>
        </p:spPr>
        <p:txBody>
          <a:bodyPr wrap="square">
            <a:spAutoFit/>
          </a:bodyPr>
          <a:lstStyle/>
          <a:p>
            <a:r>
              <a:rPr lang="en-US" dirty="0"/>
              <a:t>POST /unlock</a:t>
            </a:r>
            <a:endParaRPr lang="en-JP" dirty="0"/>
          </a:p>
        </p:txBody>
      </p:sp>
      <p:sp>
        <p:nvSpPr>
          <p:cNvPr id="7" name="TextBox 6">
            <a:extLst>
              <a:ext uri="{FF2B5EF4-FFF2-40B4-BE49-F238E27FC236}">
                <a16:creationId xmlns:a16="http://schemas.microsoft.com/office/drawing/2014/main" id="{3CE1E351-9CF6-B69A-9242-9CB7E14C1F33}"/>
              </a:ext>
            </a:extLst>
          </p:cNvPr>
          <p:cNvSpPr txBox="1"/>
          <p:nvPr/>
        </p:nvSpPr>
        <p:spPr>
          <a:xfrm>
            <a:off x="5719646" y="2387040"/>
            <a:ext cx="1569660" cy="923330"/>
          </a:xfrm>
          <a:prstGeom prst="rect">
            <a:avLst/>
          </a:prstGeom>
          <a:noFill/>
        </p:spPr>
        <p:txBody>
          <a:bodyPr wrap="none" rtlCol="0">
            <a:spAutoFit/>
          </a:bodyPr>
          <a:lstStyle/>
          <a:p>
            <a:r>
              <a:rPr lang="en-US" dirty="0">
                <a:latin typeface="Meiryo" panose="020B0604030504040204" pitchFamily="34" charset="-128"/>
                <a:ea typeface="Meiryo" panose="020B0604030504040204" pitchFamily="34" charset="-128"/>
              </a:rPr>
              <a:t>CoAP </a:t>
            </a:r>
            <a:r>
              <a:rPr lang="en-JP" dirty="0">
                <a:latin typeface="Meiryo" panose="020B0604030504040204" pitchFamily="34" charset="-128"/>
                <a:ea typeface="Meiryo" panose="020B0604030504040204" pitchFamily="34" charset="-128"/>
              </a:rPr>
              <a:t>🔒</a:t>
            </a:r>
          </a:p>
          <a:p>
            <a:endParaRPr lang="en-JP" dirty="0">
              <a:latin typeface="Meiryo" panose="020B0604030504040204" pitchFamily="34" charset="-128"/>
              <a:ea typeface="Meiryo" panose="020B0604030504040204" pitchFamily="34" charset="-128"/>
            </a:endParaRPr>
          </a:p>
          <a:p>
            <a:r>
              <a:rPr lang="ja-JP" altLang="en-US">
                <a:latin typeface="Meiryo" panose="020B0604030504040204" pitchFamily="34" charset="-128"/>
                <a:ea typeface="Meiryo" panose="020B0604030504040204" pitchFamily="34" charset="-128"/>
              </a:rPr>
              <a:t>そのまま転送</a:t>
            </a:r>
            <a:endParaRPr lang="en-JP"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2980187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C90861-8ABC-9931-30B1-1B56D7BDD3A4}"/>
              </a:ext>
            </a:extLst>
          </p:cNvPr>
          <p:cNvSpPr>
            <a:spLocks noGrp="1"/>
          </p:cNvSpPr>
          <p:nvPr>
            <p:ph type="sldNum" sz="quarter" idx="12"/>
          </p:nvPr>
        </p:nvSpPr>
        <p:spPr/>
        <p:txBody>
          <a:bodyPr/>
          <a:lstStyle/>
          <a:p>
            <a:fld id="{828F3BD4-1AF2-D144-8129-4D42AD448F5E}" type="slidenum">
              <a:rPr lang="en-JP" smtClean="0"/>
              <a:pPr/>
              <a:t>30</a:t>
            </a:fld>
            <a:endParaRPr lang="en-JP" dirty="0"/>
          </a:p>
        </p:txBody>
      </p:sp>
      <p:sp>
        <p:nvSpPr>
          <p:cNvPr id="10" name="Shape 0">
            <a:extLst>
              <a:ext uri="{FF2B5EF4-FFF2-40B4-BE49-F238E27FC236}">
                <a16:creationId xmlns:a16="http://schemas.microsoft.com/office/drawing/2014/main" id="{6738BB15-7ECD-B162-851D-22561B9F3B89}"/>
              </a:ext>
            </a:extLst>
          </p:cNvPr>
          <p:cNvSpPr/>
          <p:nvPr/>
        </p:nvSpPr>
        <p:spPr>
          <a:xfrm>
            <a:off x="0" y="0"/>
            <a:ext cx="9144000" cy="481404"/>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ctr"/>
            <a:r>
              <a:rPr lang="ja-JP" altLang="en-US" sz="2400" b="1" i="0">
                <a:solidFill>
                  <a:srgbClr val="000000"/>
                </a:solidFill>
                <a:effectLst/>
                <a:latin typeface="Meiryo" panose="020B0604030504040204" pitchFamily="34" charset="-128"/>
                <a:ea typeface="Meiryo" panose="020B0604030504040204" pitchFamily="34" charset="-128"/>
              </a:rPr>
              <a:t>提案アーキテクチャ </a:t>
            </a:r>
            <a:r>
              <a:rPr lang="en-US" altLang="ja-JP" sz="2400" b="1" i="0" dirty="0">
                <a:solidFill>
                  <a:srgbClr val="000000"/>
                </a:solidFill>
                <a:effectLst/>
                <a:latin typeface="Meiryo" panose="020B0604030504040204" pitchFamily="34" charset="-128"/>
                <a:ea typeface="Meiryo" panose="020B0604030504040204" pitchFamily="34" charset="-128"/>
              </a:rPr>
              <a:t>— </a:t>
            </a:r>
            <a:r>
              <a:rPr lang="en-US" sz="2400" b="1" i="0" dirty="0">
                <a:solidFill>
                  <a:srgbClr val="000000"/>
                </a:solidFill>
                <a:effectLst/>
                <a:latin typeface="Meiryo" panose="020B0604030504040204" pitchFamily="34" charset="-128"/>
                <a:ea typeface="Meiryo" panose="020B0604030504040204" pitchFamily="34" charset="-128"/>
              </a:rPr>
              <a:t>ML-IDS Gateway</a:t>
            </a:r>
            <a:endParaRPr lang="en-JP" sz="2400" b="1" dirty="0">
              <a:latin typeface="Meiryo" panose="020B0604030504040204" pitchFamily="34" charset="-128"/>
              <a:ea typeface="Meiryo" panose="020B0604030504040204" pitchFamily="34" charset="-128"/>
            </a:endParaRPr>
          </a:p>
        </p:txBody>
      </p:sp>
      <p:sp>
        <p:nvSpPr>
          <p:cNvPr id="11" name="Rectangle: Rounded Corners 4">
            <a:extLst>
              <a:ext uri="{FF2B5EF4-FFF2-40B4-BE49-F238E27FC236}">
                <a16:creationId xmlns:a16="http://schemas.microsoft.com/office/drawing/2014/main" id="{6ABB95DA-9FDC-E4B1-8D82-9BDCAD8E02A4}"/>
              </a:ext>
            </a:extLst>
          </p:cNvPr>
          <p:cNvSpPr/>
          <p:nvPr/>
        </p:nvSpPr>
        <p:spPr>
          <a:xfrm>
            <a:off x="-3791" y="634164"/>
            <a:ext cx="1836694" cy="733425"/>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panose="020B0604030504040204" pitchFamily="34" charset="-128"/>
                <a:ea typeface="Meiryo" panose="020B0604030504040204" pitchFamily="34" charset="-128"/>
              </a:rPr>
              <a:t> </a:t>
            </a:r>
            <a:r>
              <a:rPr lang="en-US" sz="1600" b="1" dirty="0">
                <a:solidFill>
                  <a:schemeClr val="tx1"/>
                </a:solidFill>
                <a:latin typeface="Meiryo" panose="020B0604030504040204" pitchFamily="34" charset="-128"/>
                <a:ea typeface="Meiryo" panose="020B0604030504040204" pitchFamily="34" charset="-128"/>
              </a:rPr>
              <a:t>(Sensor 1,2)</a:t>
            </a:r>
            <a:endParaRPr lang="mn-MN" sz="1600" b="1" dirty="0">
              <a:solidFill>
                <a:schemeClr val="tx1"/>
              </a:solidFill>
              <a:latin typeface="Meiryo" panose="020B0604030504040204" pitchFamily="34" charset="-128"/>
              <a:ea typeface="Meiryo" panose="020B0604030504040204" pitchFamily="34" charset="-128"/>
            </a:endParaRPr>
          </a:p>
          <a:p>
            <a:pPr algn="ctr"/>
            <a:r>
              <a:rPr lang="en-JP" sz="1600" dirty="0">
                <a:solidFill>
                  <a:schemeClr val="tx1"/>
                </a:solidFill>
                <a:latin typeface="Meiryo" panose="020B0604030504040204" pitchFamily="34" charset="-128"/>
                <a:ea typeface="Meiryo" panose="020B0604030504040204" pitchFamily="34" charset="-128"/>
              </a:rPr>
              <a:t>📷</a:t>
            </a:r>
            <a:r>
              <a:rPr lang="ja-JP" altLang="en-US" sz="1600">
                <a:solidFill>
                  <a:schemeClr val="tx1"/>
                </a:solidFill>
                <a:latin typeface="Meiryo" panose="020B0604030504040204" pitchFamily="34" charset="-128"/>
                <a:ea typeface="Meiryo" panose="020B0604030504040204" pitchFamily="34" charset="-128"/>
              </a:rPr>
              <a:t>　</a:t>
            </a:r>
            <a:r>
              <a:rPr lang="en-US" sz="1600" dirty="0">
                <a:solidFill>
                  <a:schemeClr val="tx1"/>
                </a:solidFill>
                <a:latin typeface="Meiryo" panose="020B0604030504040204" pitchFamily="34" charset="-128"/>
                <a:ea typeface="Meiryo" panose="020B0604030504040204" pitchFamily="34" charset="-128"/>
              </a:rPr>
              <a:t>IP</a:t>
            </a:r>
            <a:r>
              <a:rPr lang="ja-JP" altLang="en-US" sz="1600">
                <a:solidFill>
                  <a:schemeClr val="tx1"/>
                </a:solidFill>
                <a:latin typeface="Meiryo" panose="020B0604030504040204" pitchFamily="34" charset="-128"/>
                <a:ea typeface="Meiryo" panose="020B0604030504040204" pitchFamily="34" charset="-128"/>
              </a:rPr>
              <a:t>カメラ</a:t>
            </a:r>
            <a:endParaRPr lang="en-US" sz="1600" b="1" dirty="0">
              <a:solidFill>
                <a:schemeClr val="tx1"/>
              </a:solidFill>
              <a:latin typeface="Meiryo" panose="020B0604030504040204" pitchFamily="34" charset="-128"/>
              <a:ea typeface="Meiryo" panose="020B0604030504040204" pitchFamily="34" charset="-128"/>
            </a:endParaRPr>
          </a:p>
        </p:txBody>
      </p:sp>
      <p:sp>
        <p:nvSpPr>
          <p:cNvPr id="13" name="Rectangle: Rounded Corners 6">
            <a:extLst>
              <a:ext uri="{FF2B5EF4-FFF2-40B4-BE49-F238E27FC236}">
                <a16:creationId xmlns:a16="http://schemas.microsoft.com/office/drawing/2014/main" id="{AB85986E-1CCA-A4C5-AFE5-8D2D65A2B028}"/>
              </a:ext>
            </a:extLst>
          </p:cNvPr>
          <p:cNvSpPr/>
          <p:nvPr/>
        </p:nvSpPr>
        <p:spPr>
          <a:xfrm>
            <a:off x="2664277" y="649963"/>
            <a:ext cx="4420391" cy="5889795"/>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2000" dirty="0">
              <a:solidFill>
                <a:schemeClr val="tx1"/>
              </a:solidFill>
              <a:latin typeface="Meiryo" panose="020B0604030504040204" pitchFamily="34" charset="-128"/>
              <a:ea typeface="Meiryo" panose="020B0604030504040204" pitchFamily="34" charset="-128"/>
            </a:endParaRPr>
          </a:p>
        </p:txBody>
      </p:sp>
      <p:sp>
        <p:nvSpPr>
          <p:cNvPr id="14" name="Rounded Rectangle 13">
            <a:extLst>
              <a:ext uri="{FF2B5EF4-FFF2-40B4-BE49-F238E27FC236}">
                <a16:creationId xmlns:a16="http://schemas.microsoft.com/office/drawing/2014/main" id="{9267EE1E-0A6C-149C-C7FE-28F9D1E9475D}"/>
              </a:ext>
            </a:extLst>
          </p:cNvPr>
          <p:cNvSpPr/>
          <p:nvPr/>
        </p:nvSpPr>
        <p:spPr>
          <a:xfrm>
            <a:off x="3057174" y="1326371"/>
            <a:ext cx="3450155" cy="54428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eiryo" panose="020B0604030504040204" pitchFamily="34" charset="-128"/>
                <a:ea typeface="Meiryo" panose="020B0604030504040204" pitchFamily="34" charset="-128"/>
              </a:rPr>
              <a:t>1. ARP</a:t>
            </a:r>
            <a:r>
              <a:rPr lang="ja-JP" altLang="en-US" sz="2000" b="1">
                <a:solidFill>
                  <a:schemeClr val="tx1"/>
                </a:solidFill>
                <a:latin typeface="Meiryo" panose="020B0604030504040204" pitchFamily="34" charset="-128"/>
                <a:ea typeface="Meiryo" panose="020B0604030504040204" pitchFamily="34" charset="-128"/>
              </a:rPr>
              <a:t>パケット監視</a:t>
            </a:r>
            <a:endParaRPr lang="en-JP" sz="2000" b="1" dirty="0">
              <a:solidFill>
                <a:schemeClr val="tx1"/>
              </a:solidFill>
              <a:latin typeface="Meiryo" panose="020B0604030504040204" pitchFamily="34" charset="-128"/>
              <a:ea typeface="Meiryo" panose="020B0604030504040204" pitchFamily="34" charset="-128"/>
            </a:endParaRPr>
          </a:p>
        </p:txBody>
      </p:sp>
      <p:sp>
        <p:nvSpPr>
          <p:cNvPr id="15" name="Rounded Rectangle 14">
            <a:extLst>
              <a:ext uri="{FF2B5EF4-FFF2-40B4-BE49-F238E27FC236}">
                <a16:creationId xmlns:a16="http://schemas.microsoft.com/office/drawing/2014/main" id="{AAAB0427-CCE3-1795-8F66-9BF4AC6EFE68}"/>
              </a:ext>
            </a:extLst>
          </p:cNvPr>
          <p:cNvSpPr/>
          <p:nvPr/>
        </p:nvSpPr>
        <p:spPr>
          <a:xfrm>
            <a:off x="3057175" y="2017937"/>
            <a:ext cx="3450154" cy="54428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000000"/>
                </a:solidFill>
                <a:latin typeface="Meiryo" panose="020B0604030504040204" pitchFamily="34" charset="-128"/>
                <a:ea typeface="Meiryo" panose="020B0604030504040204" pitchFamily="34" charset="-128"/>
              </a:rPr>
              <a:t>2.</a:t>
            </a:r>
            <a:r>
              <a:rPr lang="ja-JP" altLang="en-US" sz="2000" b="1" i="0">
                <a:solidFill>
                  <a:srgbClr val="000000"/>
                </a:solidFill>
                <a:effectLst/>
                <a:latin typeface="Meiryo" panose="020B0604030504040204" pitchFamily="34" charset="-128"/>
                <a:ea typeface="Meiryo" panose="020B0604030504040204" pitchFamily="34" charset="-128"/>
              </a:rPr>
              <a:t>特徴量抽出（</a:t>
            </a:r>
            <a:r>
              <a:rPr lang="en-US" altLang="ja-JP" sz="2000" b="1" i="0" dirty="0">
                <a:solidFill>
                  <a:srgbClr val="000000"/>
                </a:solidFill>
                <a:effectLst/>
                <a:latin typeface="Meiryo" panose="020B0604030504040204" pitchFamily="34" charset="-128"/>
                <a:ea typeface="Meiryo" panose="020B0604030504040204" pitchFamily="34" charset="-128"/>
              </a:rPr>
              <a:t>6</a:t>
            </a:r>
            <a:r>
              <a:rPr lang="ja-JP" altLang="en-US" sz="2000" b="1" i="0">
                <a:solidFill>
                  <a:srgbClr val="000000"/>
                </a:solidFill>
                <a:effectLst/>
                <a:latin typeface="Meiryo" panose="020B0604030504040204" pitchFamily="34" charset="-128"/>
                <a:ea typeface="Meiryo" panose="020B0604030504040204" pitchFamily="34" charset="-128"/>
              </a:rPr>
              <a:t>種類</a:t>
            </a:r>
            <a:r>
              <a:rPr lang="en-US" altLang="ja-JP" sz="2000" b="1" i="0" dirty="0">
                <a:solidFill>
                  <a:srgbClr val="000000"/>
                </a:solidFill>
                <a:effectLst/>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sp>
        <p:nvSpPr>
          <p:cNvPr id="18" name="Rounded Rectangle 17">
            <a:extLst>
              <a:ext uri="{FF2B5EF4-FFF2-40B4-BE49-F238E27FC236}">
                <a16:creationId xmlns:a16="http://schemas.microsoft.com/office/drawing/2014/main" id="{0AE7155D-3C64-A9A9-CCCF-8ABC737317F1}"/>
              </a:ext>
            </a:extLst>
          </p:cNvPr>
          <p:cNvSpPr/>
          <p:nvPr/>
        </p:nvSpPr>
        <p:spPr>
          <a:xfrm>
            <a:off x="3057174" y="2764348"/>
            <a:ext cx="3450153" cy="54428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0000"/>
                </a:solidFill>
                <a:latin typeface="Meiryo" panose="020B0604030504040204" pitchFamily="34" charset="-128"/>
                <a:ea typeface="Meiryo" panose="020B0604030504040204" pitchFamily="34" charset="-128"/>
              </a:rPr>
              <a:t>   3.</a:t>
            </a:r>
            <a:r>
              <a:rPr lang="en-US" sz="2000" b="1" i="0" dirty="0">
                <a:solidFill>
                  <a:srgbClr val="000000"/>
                </a:solidFill>
                <a:effectLst/>
                <a:latin typeface="Meiryo" panose="020B0604030504040204" pitchFamily="34" charset="-128"/>
                <a:ea typeface="Meiryo" panose="020B0604030504040204" pitchFamily="34" charset="-128"/>
              </a:rPr>
              <a:t>Random Forest </a:t>
            </a:r>
            <a:r>
              <a:rPr lang="ja-JP" altLang="en-US" sz="2000" b="1" i="0">
                <a:solidFill>
                  <a:srgbClr val="000000"/>
                </a:solidFill>
                <a:effectLst/>
                <a:latin typeface="Meiryo" panose="020B0604030504040204" pitchFamily="34" charset="-128"/>
                <a:ea typeface="Meiryo" panose="020B0604030504040204" pitchFamily="34" charset="-128"/>
              </a:rPr>
              <a:t>分類</a:t>
            </a:r>
            <a:endParaRPr lang="en-JP" sz="2000" dirty="0">
              <a:latin typeface="Meiryo" panose="020B0604030504040204" pitchFamily="34" charset="-128"/>
              <a:ea typeface="Meiryo" panose="020B0604030504040204" pitchFamily="34" charset="-128"/>
            </a:endParaRPr>
          </a:p>
        </p:txBody>
      </p:sp>
      <p:sp>
        <p:nvSpPr>
          <p:cNvPr id="19" name="Rounded Rectangle 18">
            <a:extLst>
              <a:ext uri="{FF2B5EF4-FFF2-40B4-BE49-F238E27FC236}">
                <a16:creationId xmlns:a16="http://schemas.microsoft.com/office/drawing/2014/main" id="{83FA394E-E22B-13CE-B60D-06FB04CD5C05}"/>
              </a:ext>
            </a:extLst>
          </p:cNvPr>
          <p:cNvSpPr/>
          <p:nvPr/>
        </p:nvSpPr>
        <p:spPr>
          <a:xfrm>
            <a:off x="3775862" y="3583589"/>
            <a:ext cx="1806182" cy="54428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2000" b="1" dirty="0">
                <a:solidFill>
                  <a:srgbClr val="000000"/>
                </a:solidFill>
                <a:latin typeface="Meiryo" panose="020B0604030504040204" pitchFamily="34" charset="-128"/>
                <a:ea typeface="Meiryo" panose="020B0604030504040204" pitchFamily="34" charset="-128"/>
              </a:rPr>
              <a:t>    4.</a:t>
            </a:r>
            <a:r>
              <a:rPr lang="ja-JP" altLang="en-US" sz="2000" b="1">
                <a:solidFill>
                  <a:srgbClr val="000000"/>
                </a:solidFill>
                <a:latin typeface="Meiryo" panose="020B0604030504040204" pitchFamily="34" charset="-128"/>
                <a:ea typeface="Meiryo" panose="020B0604030504040204" pitchFamily="34" charset="-128"/>
              </a:rPr>
              <a:t>判定</a:t>
            </a:r>
            <a:endParaRPr lang="en-JP" sz="2000" dirty="0">
              <a:latin typeface="Meiryo" panose="020B0604030504040204" pitchFamily="34" charset="-128"/>
              <a:ea typeface="Meiryo" panose="020B0604030504040204" pitchFamily="34" charset="-128"/>
            </a:endParaRPr>
          </a:p>
        </p:txBody>
      </p:sp>
      <p:sp>
        <p:nvSpPr>
          <p:cNvPr id="20" name="Rounded Rectangle 19">
            <a:extLst>
              <a:ext uri="{FF2B5EF4-FFF2-40B4-BE49-F238E27FC236}">
                <a16:creationId xmlns:a16="http://schemas.microsoft.com/office/drawing/2014/main" id="{0A8D9738-466A-32B3-8756-2E6F059C8D2B}"/>
              </a:ext>
            </a:extLst>
          </p:cNvPr>
          <p:cNvSpPr/>
          <p:nvPr/>
        </p:nvSpPr>
        <p:spPr>
          <a:xfrm>
            <a:off x="3149396" y="5413360"/>
            <a:ext cx="3450151" cy="765964"/>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0" dirty="0">
                <a:solidFill>
                  <a:srgbClr val="000000"/>
                </a:solidFill>
                <a:effectLst/>
                <a:latin typeface="Meiryo" panose="020B0604030504040204" pitchFamily="34" charset="-128"/>
                <a:ea typeface="Meiryo" panose="020B0604030504040204" pitchFamily="34" charset="-128"/>
              </a:rPr>
              <a:t>DTLS</a:t>
            </a:r>
            <a:r>
              <a:rPr lang="ja-JP" altLang="en-US" b="1" i="0">
                <a:solidFill>
                  <a:srgbClr val="000000"/>
                </a:solidFill>
                <a:effectLst/>
                <a:latin typeface="Meiryo" panose="020B0604030504040204" pitchFamily="34" charset="-128"/>
                <a:ea typeface="Meiryo" panose="020B0604030504040204" pitchFamily="34" charset="-128"/>
              </a:rPr>
              <a:t>は透過転送 </a:t>
            </a:r>
            <a:r>
              <a:rPr lang="en-US" altLang="ja-JP" b="1" i="0" dirty="0">
                <a:solidFill>
                  <a:srgbClr val="000000"/>
                </a:solidFill>
                <a:effectLst/>
                <a:latin typeface="Meiryo" panose="020B0604030504040204" pitchFamily="34" charset="-128"/>
                <a:ea typeface="Meiryo" panose="020B0604030504040204" pitchFamily="34" charset="-128"/>
              </a:rPr>
              <a:t>— </a:t>
            </a:r>
            <a:r>
              <a:rPr lang="ja-JP" altLang="en-US" b="1" i="0">
                <a:solidFill>
                  <a:srgbClr val="000000"/>
                </a:solidFill>
                <a:effectLst/>
                <a:latin typeface="Meiryo" panose="020B0604030504040204" pitchFamily="34" charset="-128"/>
                <a:ea typeface="Meiryo" panose="020B0604030504040204" pitchFamily="34" charset="-128"/>
              </a:rPr>
              <a:t>内容に触れない </a:t>
            </a:r>
            <a:endParaRPr lang="en-JP" dirty="0">
              <a:latin typeface="Meiryo" panose="020B0604030504040204" pitchFamily="34" charset="-128"/>
              <a:ea typeface="Meiryo" panose="020B0604030504040204" pitchFamily="34" charset="-128"/>
            </a:endParaRPr>
          </a:p>
        </p:txBody>
      </p:sp>
      <p:sp>
        <p:nvSpPr>
          <p:cNvPr id="21" name="Rectangle: Rounded Corners 8">
            <a:extLst>
              <a:ext uri="{FF2B5EF4-FFF2-40B4-BE49-F238E27FC236}">
                <a16:creationId xmlns:a16="http://schemas.microsoft.com/office/drawing/2014/main" id="{94202815-CADD-4F6E-9B9C-FE44478F778C}"/>
              </a:ext>
            </a:extLst>
          </p:cNvPr>
          <p:cNvSpPr/>
          <p:nvPr/>
        </p:nvSpPr>
        <p:spPr>
          <a:xfrm>
            <a:off x="7324605" y="2100943"/>
            <a:ext cx="1766489" cy="778053"/>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dirty="0">
              <a:solidFill>
                <a:srgbClr val="000000"/>
              </a:solidFill>
              <a:latin typeface="Meiryo" panose="020B0604030504040204" pitchFamily="34" charset="-128"/>
              <a:ea typeface="Meiryo" panose="020B0604030504040204" pitchFamily="34" charset="-128"/>
            </a:endParaRPr>
          </a:p>
          <a:p>
            <a:pPr algn="ctr"/>
            <a:r>
              <a:rPr lang="en-US" sz="2400" b="1" dirty="0">
                <a:solidFill>
                  <a:srgbClr val="000000"/>
                </a:solidFill>
                <a:latin typeface="Meiryo" panose="020B0604030504040204" pitchFamily="34" charset="-128"/>
                <a:ea typeface="Meiryo" panose="020B0604030504040204" pitchFamily="34" charset="-128"/>
              </a:rPr>
              <a:t>Backend</a:t>
            </a:r>
            <a:endParaRPr lang="en-US" sz="2400" dirty="0">
              <a:solidFill>
                <a:schemeClr val="tx1"/>
              </a:solidFill>
              <a:latin typeface="Meiryo" panose="020B0604030504040204" pitchFamily="34" charset="-128"/>
              <a:ea typeface="Meiryo" panose="020B0604030504040204" pitchFamily="34" charset="-128"/>
            </a:endParaRPr>
          </a:p>
        </p:txBody>
      </p:sp>
      <p:sp>
        <p:nvSpPr>
          <p:cNvPr id="22" name="TextBox 21">
            <a:extLst>
              <a:ext uri="{FF2B5EF4-FFF2-40B4-BE49-F238E27FC236}">
                <a16:creationId xmlns:a16="http://schemas.microsoft.com/office/drawing/2014/main" id="{2501D35A-C362-3712-B001-BD311F84D807}"/>
              </a:ext>
            </a:extLst>
          </p:cNvPr>
          <p:cNvSpPr txBox="1"/>
          <p:nvPr/>
        </p:nvSpPr>
        <p:spPr>
          <a:xfrm>
            <a:off x="2838223" y="905167"/>
            <a:ext cx="3878036" cy="369332"/>
          </a:xfrm>
          <a:prstGeom prst="rect">
            <a:avLst/>
          </a:prstGeom>
          <a:noFill/>
        </p:spPr>
        <p:txBody>
          <a:bodyPr wrap="square" rtlCol="0">
            <a:spAutoFit/>
          </a:bodyPr>
          <a:lstStyle/>
          <a:p>
            <a:pPr algn="ctr"/>
            <a:r>
              <a:rPr lang="en-US" sz="1800" b="1" i="0" dirty="0">
                <a:solidFill>
                  <a:srgbClr val="C00000"/>
                </a:solidFill>
                <a:effectLst/>
                <a:latin typeface="Meiryo" panose="020B0604030504040204" pitchFamily="34" charset="-128"/>
                <a:ea typeface="Meiryo" panose="020B0604030504040204" pitchFamily="34" charset="-128"/>
              </a:rPr>
              <a:t>Gateway — Raspberry Pi </a:t>
            </a:r>
            <a:endParaRPr lang="en-JP" sz="1800" dirty="0">
              <a:solidFill>
                <a:srgbClr val="C00000"/>
              </a:solidFill>
              <a:latin typeface="Meiryo" panose="020B0604030504040204" pitchFamily="34" charset="-128"/>
              <a:ea typeface="Meiryo" panose="020B0604030504040204" pitchFamily="34" charset="-128"/>
            </a:endParaRPr>
          </a:p>
        </p:txBody>
      </p:sp>
      <p:sp>
        <p:nvSpPr>
          <p:cNvPr id="23" name="Rounded Rectangle 22">
            <a:extLst>
              <a:ext uri="{FF2B5EF4-FFF2-40B4-BE49-F238E27FC236}">
                <a16:creationId xmlns:a16="http://schemas.microsoft.com/office/drawing/2014/main" id="{9307C3DC-5617-76E6-DE93-71C0456F7A1E}"/>
              </a:ext>
            </a:extLst>
          </p:cNvPr>
          <p:cNvSpPr/>
          <p:nvPr/>
        </p:nvSpPr>
        <p:spPr>
          <a:xfrm>
            <a:off x="5217109" y="4432744"/>
            <a:ext cx="1310473" cy="544285"/>
          </a:xfrm>
          <a:prstGeom prst="roundRect">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2000" b="1" i="0" dirty="0">
                <a:solidFill>
                  <a:srgbClr val="0F1115"/>
                </a:solidFill>
                <a:effectLst/>
                <a:latin typeface="Meiryo" panose="020B0604030504040204" pitchFamily="34" charset="-128"/>
                <a:ea typeface="Meiryo" panose="020B0604030504040204" pitchFamily="34" charset="-128"/>
              </a:rPr>
              <a:t>   </a:t>
            </a:r>
            <a:r>
              <a:rPr lang="ja-JP" altLang="en-US" sz="2000" b="1" i="0">
                <a:solidFill>
                  <a:srgbClr val="0F1115"/>
                </a:solidFill>
                <a:effectLst/>
                <a:latin typeface="Meiryo" panose="020B0604030504040204" pitchFamily="34" charset="-128"/>
                <a:ea typeface="Meiryo" panose="020B0604030504040204" pitchFamily="34" charset="-128"/>
              </a:rPr>
              <a:t>正常</a:t>
            </a:r>
            <a:endParaRPr lang="en-JP" sz="2000" b="1" dirty="0">
              <a:latin typeface="Meiryo" panose="020B0604030504040204" pitchFamily="34" charset="-128"/>
              <a:ea typeface="Meiryo" panose="020B0604030504040204" pitchFamily="34" charset="-128"/>
            </a:endParaRPr>
          </a:p>
        </p:txBody>
      </p:sp>
      <p:sp>
        <p:nvSpPr>
          <p:cNvPr id="24" name="Rounded Rectangle 23">
            <a:extLst>
              <a:ext uri="{FF2B5EF4-FFF2-40B4-BE49-F238E27FC236}">
                <a16:creationId xmlns:a16="http://schemas.microsoft.com/office/drawing/2014/main" id="{FFDE9428-8946-AD3B-3746-F7ACCA17E608}"/>
              </a:ext>
            </a:extLst>
          </p:cNvPr>
          <p:cNvSpPr/>
          <p:nvPr/>
        </p:nvSpPr>
        <p:spPr>
          <a:xfrm>
            <a:off x="784069" y="5911654"/>
            <a:ext cx="1226390" cy="684224"/>
          </a:xfrm>
          <a:prstGeom prst="roundRect">
            <a:avLst/>
          </a:prstGeom>
          <a:solidFill>
            <a:schemeClr val="bg1"/>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b="1">
                <a:solidFill>
                  <a:srgbClr val="000000"/>
                </a:solidFill>
                <a:latin typeface="Meiryo" panose="020B0604030504040204" pitchFamily="34" charset="-128"/>
                <a:ea typeface="Meiryo" panose="020B0604030504040204" pitchFamily="34" charset="-128"/>
              </a:rPr>
              <a:t>ブロック</a:t>
            </a:r>
            <a:endParaRPr lang="en-JP" dirty="0">
              <a:latin typeface="Meiryo" panose="020B0604030504040204" pitchFamily="34" charset="-128"/>
              <a:ea typeface="Meiryo" panose="020B0604030504040204" pitchFamily="34" charset="-128"/>
            </a:endParaRPr>
          </a:p>
        </p:txBody>
      </p:sp>
      <p:sp>
        <p:nvSpPr>
          <p:cNvPr id="25" name="Rounded Rectangle 24">
            <a:extLst>
              <a:ext uri="{FF2B5EF4-FFF2-40B4-BE49-F238E27FC236}">
                <a16:creationId xmlns:a16="http://schemas.microsoft.com/office/drawing/2014/main" id="{565FD98D-AD24-3648-C405-1538A4151482}"/>
              </a:ext>
            </a:extLst>
          </p:cNvPr>
          <p:cNvSpPr/>
          <p:nvPr/>
        </p:nvSpPr>
        <p:spPr>
          <a:xfrm>
            <a:off x="2838223" y="4379910"/>
            <a:ext cx="1618989" cy="544285"/>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b="1">
                <a:solidFill>
                  <a:schemeClr val="tx1"/>
                </a:solidFill>
                <a:latin typeface="Meiryo" panose="020B0604030504040204" pitchFamily="34" charset="-128"/>
                <a:ea typeface="Meiryo" panose="020B0604030504040204" pitchFamily="34" charset="-128"/>
              </a:rPr>
              <a:t>攻撃を検知</a:t>
            </a:r>
            <a:endParaRPr lang="en-JP" sz="2000" b="1" dirty="0">
              <a:solidFill>
                <a:schemeClr val="tx1"/>
              </a:solidFill>
              <a:latin typeface="Meiryo" panose="020B0604030504040204" pitchFamily="34" charset="-128"/>
              <a:ea typeface="Meiryo" panose="020B0604030504040204" pitchFamily="34" charset="-128"/>
            </a:endParaRPr>
          </a:p>
        </p:txBody>
      </p:sp>
      <p:sp>
        <p:nvSpPr>
          <p:cNvPr id="27" name="TextBox 26">
            <a:extLst>
              <a:ext uri="{FF2B5EF4-FFF2-40B4-BE49-F238E27FC236}">
                <a16:creationId xmlns:a16="http://schemas.microsoft.com/office/drawing/2014/main" id="{D3679FA2-D4F7-8CD6-75BF-F0C5283E3068}"/>
              </a:ext>
            </a:extLst>
          </p:cNvPr>
          <p:cNvSpPr txBox="1"/>
          <p:nvPr/>
        </p:nvSpPr>
        <p:spPr>
          <a:xfrm>
            <a:off x="74910" y="1392656"/>
            <a:ext cx="1712345" cy="369332"/>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CoAP </a:t>
            </a:r>
            <a:r>
              <a:rPr lang="en-JP" dirty="0">
                <a:latin typeface="Meiryo" panose="020B0604030504040204" pitchFamily="34" charset="-128"/>
                <a:ea typeface="Meiryo" panose="020B0604030504040204" pitchFamily="34" charset="-128"/>
              </a:rPr>
              <a:t>🔒DTLS</a:t>
            </a:r>
          </a:p>
        </p:txBody>
      </p:sp>
      <p:cxnSp>
        <p:nvCxnSpPr>
          <p:cNvPr id="35" name="Straight Connector 34">
            <a:extLst>
              <a:ext uri="{FF2B5EF4-FFF2-40B4-BE49-F238E27FC236}">
                <a16:creationId xmlns:a16="http://schemas.microsoft.com/office/drawing/2014/main" id="{E2564096-BABF-95C1-E328-02823252EFC8}"/>
              </a:ext>
            </a:extLst>
          </p:cNvPr>
          <p:cNvCxnSpPr>
            <a:cxnSpLocks/>
          </p:cNvCxnSpPr>
          <p:nvPr/>
        </p:nvCxnSpPr>
        <p:spPr>
          <a:xfrm flipH="1">
            <a:off x="4484563" y="4146320"/>
            <a:ext cx="204921" cy="505732"/>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348F559-E737-A771-D3EA-00B7346C8635}"/>
              </a:ext>
            </a:extLst>
          </p:cNvPr>
          <p:cNvCxnSpPr>
            <a:cxnSpLocks/>
          </p:cNvCxnSpPr>
          <p:nvPr/>
        </p:nvCxnSpPr>
        <p:spPr>
          <a:xfrm>
            <a:off x="4874471" y="4146320"/>
            <a:ext cx="330471" cy="505732"/>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Elbow Connector 42">
            <a:extLst>
              <a:ext uri="{FF2B5EF4-FFF2-40B4-BE49-F238E27FC236}">
                <a16:creationId xmlns:a16="http://schemas.microsoft.com/office/drawing/2014/main" id="{E935FA67-C3CC-823D-AF0F-E317DCF21EE0}"/>
              </a:ext>
            </a:extLst>
          </p:cNvPr>
          <p:cNvCxnSpPr>
            <a:cxnSpLocks/>
          </p:cNvCxnSpPr>
          <p:nvPr/>
        </p:nvCxnSpPr>
        <p:spPr>
          <a:xfrm rot="5400000">
            <a:off x="1669265" y="4770045"/>
            <a:ext cx="1259600" cy="1023619"/>
          </a:xfrm>
          <a:prstGeom prst="bentConnector3">
            <a:avLst>
              <a:gd name="adj1" fmla="val 50000"/>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0" name="Elbow Connector 49">
            <a:extLst>
              <a:ext uri="{FF2B5EF4-FFF2-40B4-BE49-F238E27FC236}">
                <a16:creationId xmlns:a16="http://schemas.microsoft.com/office/drawing/2014/main" id="{C601E613-296C-DFF0-825E-E782361A2093}"/>
              </a:ext>
            </a:extLst>
          </p:cNvPr>
          <p:cNvCxnSpPr>
            <a:cxnSpLocks/>
          </p:cNvCxnSpPr>
          <p:nvPr/>
        </p:nvCxnSpPr>
        <p:spPr>
          <a:xfrm flipV="1">
            <a:off x="7158150" y="3053849"/>
            <a:ext cx="1689219" cy="1515456"/>
          </a:xfrm>
          <a:prstGeom prst="bentConnector3">
            <a:avLst>
              <a:gd name="adj1" fmla="val 100909"/>
            </a:avLst>
          </a:prstGeom>
          <a:ln w="317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82" name="Rectangle: Rounded Corners 4">
            <a:extLst>
              <a:ext uri="{FF2B5EF4-FFF2-40B4-BE49-F238E27FC236}">
                <a16:creationId xmlns:a16="http://schemas.microsoft.com/office/drawing/2014/main" id="{186DFD1A-0FCA-4895-ABE0-AEA3168439CF}"/>
              </a:ext>
            </a:extLst>
          </p:cNvPr>
          <p:cNvSpPr/>
          <p:nvPr/>
        </p:nvSpPr>
        <p:spPr>
          <a:xfrm>
            <a:off x="74910" y="3116852"/>
            <a:ext cx="1576090" cy="1229777"/>
          </a:xfrm>
          <a:prstGeom prst="roundRect">
            <a:avLst/>
          </a:prstGeom>
          <a:solidFill>
            <a:schemeClr val="accent2">
              <a:lumMod val="40000"/>
              <a:lumOff val="6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b="0" i="0" dirty="0">
                <a:solidFill>
                  <a:srgbClr val="000000"/>
                </a:solidFill>
                <a:effectLst/>
                <a:latin typeface="Arial" panose="020B0604020202020204" pitchFamily="34" charset="0"/>
              </a:rPr>
              <a:t>😈</a:t>
            </a:r>
            <a:r>
              <a:rPr lang="ja-JP" altLang="en-US" b="1">
                <a:solidFill>
                  <a:schemeClr val="tx1"/>
                </a:solidFill>
                <a:latin typeface="Meiryo" panose="020B0604030504040204" pitchFamily="34" charset="-128"/>
                <a:ea typeface="Meiryo" panose="020B0604030504040204" pitchFamily="34" charset="-128"/>
              </a:rPr>
              <a:t>攻撃者</a:t>
            </a:r>
            <a:r>
              <a:rPr lang="en-US" altLang="ja-JP" b="1" dirty="0">
                <a:solidFill>
                  <a:schemeClr val="tx1"/>
                </a:solidFill>
                <a:latin typeface="Meiryo" panose="020B0604030504040204" pitchFamily="34" charset="-128"/>
                <a:ea typeface="Meiryo" panose="020B0604030504040204" pitchFamily="34" charset="-128"/>
              </a:rPr>
              <a:t>ARP </a:t>
            </a:r>
            <a:r>
              <a:rPr lang="en-US" b="1" dirty="0">
                <a:solidFill>
                  <a:schemeClr val="tx1"/>
                </a:solidFill>
                <a:latin typeface="Meiryo" panose="020B0604030504040204" pitchFamily="34" charset="-128"/>
                <a:ea typeface="Meiryo" panose="020B0604030504040204" pitchFamily="34" charset="-128"/>
              </a:rPr>
              <a:t>spoof</a:t>
            </a:r>
          </a:p>
          <a:p>
            <a:pPr algn="ctr"/>
            <a:r>
              <a:rPr lang="en-US" dirty="0">
                <a:solidFill>
                  <a:schemeClr val="tx1"/>
                </a:solidFill>
                <a:latin typeface="Meiryo" panose="020B0604030504040204" pitchFamily="34" charset="-128"/>
                <a:ea typeface="Meiryo" panose="020B0604030504040204" pitchFamily="34" charset="-128"/>
              </a:rPr>
              <a:t> </a:t>
            </a:r>
            <a:endParaRPr lang="en-US" sz="1400" b="1" dirty="0">
              <a:solidFill>
                <a:schemeClr val="tx1"/>
              </a:solidFill>
              <a:latin typeface="Meiryo" panose="020B0604030504040204" pitchFamily="34" charset="-128"/>
              <a:ea typeface="Meiryo" panose="020B0604030504040204" pitchFamily="34" charset="-128"/>
            </a:endParaRPr>
          </a:p>
        </p:txBody>
      </p:sp>
      <p:cxnSp>
        <p:nvCxnSpPr>
          <p:cNvPr id="95" name="Straight Arrow Connector 94">
            <a:extLst>
              <a:ext uri="{FF2B5EF4-FFF2-40B4-BE49-F238E27FC236}">
                <a16:creationId xmlns:a16="http://schemas.microsoft.com/office/drawing/2014/main" id="{6A67D553-0FA2-501B-9F54-93110194AC2B}"/>
              </a:ext>
            </a:extLst>
          </p:cNvPr>
          <p:cNvCxnSpPr>
            <a:cxnSpLocks/>
          </p:cNvCxnSpPr>
          <p:nvPr/>
        </p:nvCxnSpPr>
        <p:spPr>
          <a:xfrm>
            <a:off x="194746" y="1761988"/>
            <a:ext cx="222959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FF93EE10-431D-8472-1E8E-27FF9AD21D97}"/>
              </a:ext>
            </a:extLst>
          </p:cNvPr>
          <p:cNvCxnSpPr/>
          <p:nvPr/>
        </p:nvCxnSpPr>
        <p:spPr>
          <a:xfrm>
            <a:off x="1934258" y="3774659"/>
            <a:ext cx="413882" cy="0"/>
          </a:xfrm>
          <a:prstGeom prst="straightConnector1">
            <a:avLst/>
          </a:prstGeom>
          <a:ln w="539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F88CD4E6-E386-10DA-0ACC-DB622DC51C5A}"/>
              </a:ext>
            </a:extLst>
          </p:cNvPr>
          <p:cNvCxnSpPr>
            <a:cxnSpLocks/>
          </p:cNvCxnSpPr>
          <p:nvPr/>
        </p:nvCxnSpPr>
        <p:spPr>
          <a:xfrm flipV="1">
            <a:off x="582627" y="2366281"/>
            <a:ext cx="0" cy="398067"/>
          </a:xfrm>
          <a:prstGeom prst="straightConnector1">
            <a:avLst/>
          </a:prstGeom>
          <a:ln w="539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09F16D34-B9EC-2D8B-937F-52A87CE4BF9E}"/>
              </a:ext>
            </a:extLst>
          </p:cNvPr>
          <p:cNvSpPr txBox="1"/>
          <p:nvPr/>
        </p:nvSpPr>
        <p:spPr>
          <a:xfrm>
            <a:off x="654844" y="2407518"/>
            <a:ext cx="1968809" cy="646331"/>
          </a:xfrm>
          <a:prstGeom prst="rect">
            <a:avLst/>
          </a:prstGeom>
          <a:noFill/>
        </p:spPr>
        <p:txBody>
          <a:bodyPr wrap="none" rtlCol="0">
            <a:spAutoFit/>
          </a:bodyPr>
          <a:lstStyle/>
          <a:p>
            <a:r>
              <a:rPr lang="ja-JP" altLang="en-US">
                <a:latin typeface="Meiryo" panose="020B0604030504040204" pitchFamily="34" charset="-128"/>
                <a:ea typeface="Meiryo" panose="020B0604030504040204" pitchFamily="34" charset="-128"/>
              </a:rPr>
              <a:t>偽</a:t>
            </a:r>
            <a:r>
              <a:rPr lang="en-US" dirty="0">
                <a:latin typeface="Meiryo" panose="020B0604030504040204" pitchFamily="34" charset="-128"/>
                <a:ea typeface="Meiryo" panose="020B0604030504040204" pitchFamily="34" charset="-128"/>
              </a:rPr>
              <a:t>ARP Reply</a:t>
            </a:r>
          </a:p>
          <a:p>
            <a:r>
              <a:rPr lang="en-US" dirty="0">
                <a:latin typeface="Meiryo" panose="020B0604030504040204" pitchFamily="34" charset="-128"/>
                <a:ea typeface="Meiryo" panose="020B0604030504040204" pitchFamily="34" charset="-128"/>
              </a:rPr>
              <a:t>(GW</a:t>
            </a:r>
            <a:r>
              <a:rPr lang="ja-JP" altLang="en-US">
                <a:latin typeface="Meiryo" panose="020B0604030504040204" pitchFamily="34" charset="-128"/>
                <a:ea typeface="Meiryo" panose="020B0604030504040204" pitchFamily="34" charset="-128"/>
              </a:rPr>
              <a:t>は</a:t>
            </a:r>
            <a:r>
              <a:rPr lang="en-US" altLang="ja-JP" dirty="0">
                <a:latin typeface="Meiryo" panose="020B0604030504040204" pitchFamily="34" charset="-128"/>
                <a:ea typeface="Meiryo" panose="020B0604030504040204" pitchFamily="34" charset="-128"/>
              </a:rPr>
              <a:t>CC</a:t>
            </a:r>
            <a:r>
              <a:rPr lang="en-US" dirty="0">
                <a:latin typeface="Meiryo" panose="020B0604030504040204" pitchFamily="34" charset="-128"/>
                <a:ea typeface="Meiryo" panose="020B0604030504040204" pitchFamily="34" charset="-128"/>
              </a:rPr>
              <a:t>:CC</a:t>
            </a:r>
            <a:r>
              <a:rPr lang="ja-JP" altLang="en-US">
                <a:latin typeface="Meiryo" panose="020B0604030504040204" pitchFamily="34" charset="-128"/>
                <a:ea typeface="Meiryo" panose="020B0604030504040204" pitchFamily="34" charset="-128"/>
              </a:rPr>
              <a:t>だ</a:t>
            </a:r>
            <a:r>
              <a:rPr lang="mn-MN" altLang="ja-JP" dirty="0">
                <a:latin typeface="Meiryo" panose="020B0604030504040204" pitchFamily="34" charset="-128"/>
                <a:ea typeface="Meiryo" panose="020B0604030504040204" pitchFamily="34" charset="-128"/>
              </a:rPr>
              <a:t>)</a:t>
            </a:r>
            <a:endParaRPr lang="en-JP" dirty="0"/>
          </a:p>
        </p:txBody>
      </p:sp>
      <p:sp>
        <p:nvSpPr>
          <p:cNvPr id="109" name="TextBox 108">
            <a:extLst>
              <a:ext uri="{FF2B5EF4-FFF2-40B4-BE49-F238E27FC236}">
                <a16:creationId xmlns:a16="http://schemas.microsoft.com/office/drawing/2014/main" id="{9B07591C-96E0-9A54-97BF-E0CD46735C5F}"/>
              </a:ext>
            </a:extLst>
          </p:cNvPr>
          <p:cNvSpPr txBox="1"/>
          <p:nvPr/>
        </p:nvSpPr>
        <p:spPr>
          <a:xfrm>
            <a:off x="7286665" y="2949159"/>
            <a:ext cx="1622560" cy="369332"/>
          </a:xfrm>
          <a:prstGeom prst="rect">
            <a:avLst/>
          </a:prstGeom>
          <a:noFill/>
        </p:spPr>
        <p:txBody>
          <a:bodyPr wrap="none" rtlCol="0">
            <a:spAutoFit/>
          </a:bodyPr>
          <a:lstStyle/>
          <a:p>
            <a:r>
              <a:rPr lang="en-US" dirty="0">
                <a:latin typeface="Meiryo" panose="020B0604030504040204" pitchFamily="34" charset="-128"/>
                <a:ea typeface="Meiryo" panose="020B0604030504040204" pitchFamily="34" charset="-128"/>
              </a:rPr>
              <a:t>DTLS </a:t>
            </a:r>
            <a:r>
              <a:rPr lang="en-JP" dirty="0">
                <a:latin typeface="Meiryo" panose="020B0604030504040204" pitchFamily="34" charset="-128"/>
                <a:ea typeface="Meiryo" panose="020B0604030504040204" pitchFamily="34" charset="-128"/>
              </a:rPr>
              <a:t>🔒</a:t>
            </a:r>
            <a:r>
              <a:rPr lang="ja-JP" altLang="en-US">
                <a:latin typeface="Meiryo" panose="020B0604030504040204" pitchFamily="34" charset="-128"/>
                <a:ea typeface="Meiryo" panose="020B0604030504040204" pitchFamily="34" charset="-128"/>
              </a:rPr>
              <a:t>転送 </a:t>
            </a:r>
            <a:endParaRPr lang="en-JP"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8724047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E045F-0C8E-B691-9D21-5BABE8DF0F96}"/>
              </a:ext>
            </a:extLst>
          </p:cNvPr>
          <p:cNvSpPr>
            <a:spLocks noGrp="1"/>
          </p:cNvSpPr>
          <p:nvPr>
            <p:ph type="title"/>
          </p:nvPr>
        </p:nvSpPr>
        <p:spPr>
          <a:xfrm>
            <a:off x="628650" y="365126"/>
            <a:ext cx="7886700" cy="863599"/>
          </a:xfrm>
        </p:spPr>
        <p:txBody>
          <a:bodyPr>
            <a:normAutofit fontScale="90000"/>
          </a:bodyPr>
          <a:lstStyle/>
          <a:p>
            <a:pPr marL="571500" indent="-571500">
              <a:buFont typeface="Wingdings" pitchFamily="2" charset="2"/>
              <a:buChar char="Ø"/>
            </a:pPr>
            <a:r>
              <a:rPr lang="en-US" sz="4400" b="1" dirty="0">
                <a:latin typeface="Calibri" pitchFamily="34" charset="0"/>
                <a:ea typeface="Calibri" pitchFamily="34" charset="-122"/>
                <a:cs typeface="Calibri" pitchFamily="34" charset="-120"/>
              </a:rPr>
              <a:t>提案手法</a:t>
            </a:r>
            <a:br>
              <a:rPr lang="en-US" sz="4400" dirty="0"/>
            </a:br>
            <a:endParaRPr lang="en-JP" dirty="0"/>
          </a:p>
        </p:txBody>
      </p:sp>
      <p:sp>
        <p:nvSpPr>
          <p:cNvPr id="4" name="Shape 4">
            <a:extLst>
              <a:ext uri="{FF2B5EF4-FFF2-40B4-BE49-F238E27FC236}">
                <a16:creationId xmlns:a16="http://schemas.microsoft.com/office/drawing/2014/main" id="{FDB70C21-32A0-D869-A38E-A1DD97AD8972}"/>
              </a:ext>
            </a:extLst>
          </p:cNvPr>
          <p:cNvSpPr/>
          <p:nvPr/>
        </p:nvSpPr>
        <p:spPr>
          <a:xfrm>
            <a:off x="594359" y="904875"/>
            <a:ext cx="8101965" cy="768858"/>
          </a:xfrm>
          <a:prstGeom prst="rect">
            <a:avLst/>
          </a:prstGeom>
          <a:solidFill>
            <a:srgbClr val="2563A8"/>
          </a:solidFill>
          <a:ln w="12700">
            <a:solidFill>
              <a:srgbClr val="2563A8"/>
            </a:solidFill>
            <a:prstDash val="solid"/>
          </a:ln>
        </p:spPr>
        <p:txBody>
          <a:bodyPr/>
          <a:lstStyle/>
          <a:p>
            <a:r>
              <a:rPr lang="en-US" sz="2800" b="1" dirty="0">
                <a:solidFill>
                  <a:srgbClr val="FFFFFF"/>
                </a:solidFill>
                <a:latin typeface="Meiryo" panose="020B0604030504040204" pitchFamily="34" charset="-128"/>
                <a:ea typeface="Meiryo" panose="020B0604030504040204" pitchFamily="34" charset="-128"/>
                <a:cs typeface="Calibri" pitchFamily="34" charset="-120"/>
              </a:rPr>
              <a:t>Layer 1 — ML-IDS（L2 ARP</a:t>
            </a:r>
            <a:r>
              <a:rPr lang="ja-JP" altLang="en-US" sz="2800" b="1">
                <a:solidFill>
                  <a:srgbClr val="FFFFFF"/>
                </a:solidFill>
                <a:latin typeface="Meiryo" panose="020B0604030504040204" pitchFamily="34" charset="-128"/>
                <a:ea typeface="Meiryo" panose="020B0604030504040204" pitchFamily="34" charset="-128"/>
                <a:cs typeface="Calibri" pitchFamily="34" charset="-120"/>
              </a:rPr>
              <a:t>監視）</a:t>
            </a:r>
            <a:endParaRPr lang="en-US" sz="2800" dirty="0">
              <a:latin typeface="Meiryo" panose="020B0604030504040204" pitchFamily="34" charset="-128"/>
              <a:ea typeface="Meiryo" panose="020B0604030504040204" pitchFamily="34" charset="-128"/>
            </a:endParaRPr>
          </a:p>
          <a:p>
            <a:endParaRPr lang="en-JP" sz="2800" dirty="0">
              <a:latin typeface="Meiryo" panose="020B0604030504040204" pitchFamily="34" charset="-128"/>
              <a:ea typeface="Meiryo" panose="020B0604030504040204" pitchFamily="34" charset="-128"/>
            </a:endParaRPr>
          </a:p>
        </p:txBody>
      </p:sp>
      <p:sp>
        <p:nvSpPr>
          <p:cNvPr id="5" name="Shape 3">
            <a:extLst>
              <a:ext uri="{FF2B5EF4-FFF2-40B4-BE49-F238E27FC236}">
                <a16:creationId xmlns:a16="http://schemas.microsoft.com/office/drawing/2014/main" id="{0C3AE500-9B5D-8505-40DB-741DC00BA11E}"/>
              </a:ext>
            </a:extLst>
          </p:cNvPr>
          <p:cNvSpPr/>
          <p:nvPr/>
        </p:nvSpPr>
        <p:spPr>
          <a:xfrm>
            <a:off x="594357" y="1800223"/>
            <a:ext cx="8101965" cy="1931671"/>
          </a:xfrm>
          <a:prstGeom prst="rect">
            <a:avLst/>
          </a:prstGeom>
          <a:solidFill>
            <a:srgbClr val="FFFFFF"/>
          </a:solidFill>
          <a:ln w="12700">
            <a:solidFill>
              <a:srgbClr val="E8EDF3"/>
            </a:solidFill>
            <a:prstDash val="solid"/>
          </a:ln>
          <a:effectLst>
            <a:outerShdw blurRad="101600" dist="38100" dir="8100000" algn="bl" rotWithShape="0">
              <a:srgbClr val="000000">
                <a:alpha val="12000"/>
              </a:srgbClr>
            </a:outerShdw>
          </a:effectLst>
        </p:spPr>
        <p:txBody>
          <a:bodyPr/>
          <a:lstStyle/>
          <a:p>
            <a:pPr marL="342900" indent="-342900">
              <a:buFont typeface="Wingdings" pitchFamily="2" charset="2"/>
              <a:buChar char="§"/>
            </a:pPr>
            <a:r>
              <a:rPr lang="en-US" sz="2400" dirty="0">
                <a:solidFill>
                  <a:srgbClr val="1A2740"/>
                </a:solidFill>
                <a:latin typeface="Meiryo" panose="020B0604030504040204" pitchFamily="34" charset="-128"/>
                <a:ea typeface="Meiryo" panose="020B0604030504040204" pitchFamily="34" charset="-128"/>
                <a:cs typeface="Calibri" pitchFamily="34" charset="-120"/>
              </a:rPr>
              <a:t> ARP</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パケットをリアルタイムキャプチャ</a:t>
            </a:r>
            <a:endParaRPr lang="mn-MN" altLang="ja-JP" sz="2400" dirty="0">
              <a:solidFill>
                <a:srgbClr val="1A2740"/>
              </a:solidFill>
              <a:latin typeface="Meiryo" panose="020B0604030504040204" pitchFamily="34" charset="-128"/>
              <a:ea typeface="Meiryo" panose="020B0604030504040204" pitchFamily="34" charset="-128"/>
              <a:cs typeface="Calibri" pitchFamily="34" charset="-120"/>
            </a:endParaRPr>
          </a:p>
          <a:p>
            <a:pPr marL="342900" indent="-342900">
              <a:buFont typeface="Wingdings" pitchFamily="2" charset="2"/>
              <a:buChar char="§"/>
            </a:pPr>
            <a:r>
              <a:rPr lang="en-US" altLang="ja-JP" sz="2400" dirty="0">
                <a:solidFill>
                  <a:srgbClr val="1A2740"/>
                </a:solidFill>
                <a:latin typeface="Meiryo" panose="020B0604030504040204" pitchFamily="34" charset="-128"/>
                <a:ea typeface="Meiryo" panose="020B0604030504040204" pitchFamily="34" charset="-128"/>
                <a:cs typeface="Calibri" pitchFamily="34" charset="-120"/>
              </a:rPr>
              <a:t>6</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つの特徴量を抽出（</a:t>
            </a:r>
            <a:r>
              <a:rPr lang="en-US" sz="2400" dirty="0">
                <a:solidFill>
                  <a:srgbClr val="1A2740"/>
                </a:solidFill>
                <a:latin typeface="Meiryo" panose="020B0604030504040204" pitchFamily="34" charset="-128"/>
                <a:ea typeface="Meiryo" panose="020B0604030504040204" pitchFamily="34" charset="-128"/>
                <a:cs typeface="Calibri" pitchFamily="34" charset="-120"/>
              </a:rPr>
              <a:t>IP-MAC</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不一致・頻度・エントロピー等）</a:t>
            </a:r>
            <a:endParaRPr lang="mn-MN" altLang="ja-JP" sz="2400" dirty="0">
              <a:solidFill>
                <a:srgbClr val="1A2740"/>
              </a:solidFill>
              <a:latin typeface="Meiryo" panose="020B0604030504040204" pitchFamily="34" charset="-128"/>
              <a:ea typeface="Meiryo" panose="020B0604030504040204" pitchFamily="34" charset="-128"/>
              <a:cs typeface="Calibri" pitchFamily="34" charset="-120"/>
            </a:endParaRPr>
          </a:p>
          <a:p>
            <a:pPr marL="342900" indent="-342900">
              <a:buFont typeface="Wingdings" pitchFamily="2" charset="2"/>
              <a:buChar char="§"/>
            </a:pPr>
            <a:r>
              <a:rPr lang="en-US" sz="2400" dirty="0">
                <a:solidFill>
                  <a:srgbClr val="1A2740"/>
                </a:solidFill>
                <a:latin typeface="Meiryo" panose="020B0604030504040204" pitchFamily="34" charset="-128"/>
                <a:ea typeface="Meiryo" panose="020B0604030504040204" pitchFamily="34" charset="-128"/>
                <a:cs typeface="Calibri" pitchFamily="34" charset="-120"/>
              </a:rPr>
              <a:t>Random Forest</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で</a:t>
            </a:r>
            <a:r>
              <a:rPr lang="en-US" sz="2400" dirty="0">
                <a:solidFill>
                  <a:srgbClr val="1A2740"/>
                </a:solidFill>
                <a:latin typeface="Meiryo" panose="020B0604030504040204" pitchFamily="34" charset="-128"/>
                <a:ea typeface="Meiryo" panose="020B0604030504040204" pitchFamily="34" charset="-128"/>
                <a:cs typeface="Calibri" pitchFamily="34" charset="-120"/>
              </a:rPr>
              <a:t>NORMAL / ATTACK</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判定</a:t>
            </a:r>
            <a:endParaRPr lang="mn-MN" altLang="ja-JP" sz="2400" dirty="0">
              <a:solidFill>
                <a:srgbClr val="1A2740"/>
              </a:solidFill>
              <a:latin typeface="Meiryo" panose="020B0604030504040204" pitchFamily="34" charset="-128"/>
              <a:ea typeface="Meiryo" panose="020B0604030504040204" pitchFamily="34" charset="-128"/>
              <a:cs typeface="Calibri" pitchFamily="34" charset="-120"/>
            </a:endParaRPr>
          </a:p>
          <a:p>
            <a:pPr marL="342900" indent="-342900">
              <a:buFont typeface="Wingdings" pitchFamily="2" charset="2"/>
              <a:buChar char="§"/>
            </a:pPr>
            <a:r>
              <a:rPr lang="ja-JP" altLang="en-US" sz="2400">
                <a:solidFill>
                  <a:srgbClr val="1A2740"/>
                </a:solidFill>
                <a:latin typeface="Meiryo" panose="020B0604030504040204" pitchFamily="34" charset="-128"/>
                <a:ea typeface="Meiryo" panose="020B0604030504040204" pitchFamily="34" charset="-128"/>
                <a:cs typeface="Calibri" pitchFamily="34" charset="-120"/>
              </a:rPr>
              <a:t>攻撃 → </a:t>
            </a:r>
            <a:r>
              <a:rPr lang="en-US" sz="2400" dirty="0">
                <a:solidFill>
                  <a:srgbClr val="1A2740"/>
                </a:solidFill>
                <a:latin typeface="Meiryo" panose="020B0604030504040204" pitchFamily="34" charset="-128"/>
                <a:ea typeface="Meiryo" panose="020B0604030504040204" pitchFamily="34" charset="-128"/>
                <a:cs typeface="Calibri" pitchFamily="34" charset="-120"/>
              </a:rPr>
              <a:t>DROP，</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ログ記録，アラート通知</a:t>
            </a:r>
            <a:endParaRPr lang="mn-MN" sz="2400" dirty="0">
              <a:solidFill>
                <a:srgbClr val="1A2740"/>
              </a:solidFill>
              <a:latin typeface="Meiryo" panose="020B0604030504040204" pitchFamily="34" charset="-128"/>
              <a:ea typeface="Meiryo" panose="020B0604030504040204" pitchFamily="34" charset="-128"/>
              <a:cs typeface="Calibri" pitchFamily="34" charset="-120"/>
            </a:endParaRPr>
          </a:p>
          <a:p>
            <a:r>
              <a:rPr lang="en-US" sz="2400" b="1" dirty="0">
                <a:solidFill>
                  <a:srgbClr val="FFFFFF"/>
                </a:solidFill>
                <a:latin typeface="Meiryo" panose="020B0604030504040204" pitchFamily="34" charset="-128"/>
                <a:ea typeface="Meiryo" panose="020B0604030504040204" pitchFamily="34" charset="-128"/>
                <a:cs typeface="Calibri" pitchFamily="34" charset="-120"/>
              </a:rPr>
              <a:t>Layer 2  —  CoAP-DTLS</a:t>
            </a:r>
            <a:endParaRPr lang="en-US" sz="2400" dirty="0">
              <a:latin typeface="Meiryo" panose="020B0604030504040204" pitchFamily="34" charset="-128"/>
              <a:ea typeface="Meiryo" panose="020B0604030504040204" pitchFamily="34" charset="-128"/>
            </a:endParaRPr>
          </a:p>
          <a:p>
            <a:pPr marL="0" indent="0">
              <a:buNone/>
            </a:pPr>
            <a:endParaRPr lang="en-US"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p:txBody>
      </p:sp>
      <p:sp>
        <p:nvSpPr>
          <p:cNvPr id="7" name="Shape 13">
            <a:extLst>
              <a:ext uri="{FF2B5EF4-FFF2-40B4-BE49-F238E27FC236}">
                <a16:creationId xmlns:a16="http://schemas.microsoft.com/office/drawing/2014/main" id="{A5EF1DA7-253A-D99E-388B-13D682528AF7}"/>
              </a:ext>
            </a:extLst>
          </p:cNvPr>
          <p:cNvSpPr/>
          <p:nvPr/>
        </p:nvSpPr>
        <p:spPr>
          <a:xfrm>
            <a:off x="594358" y="3763644"/>
            <a:ext cx="8101964" cy="586741"/>
          </a:xfrm>
          <a:prstGeom prst="rect">
            <a:avLst/>
          </a:prstGeom>
          <a:solidFill>
            <a:srgbClr val="0D9488"/>
          </a:solidFill>
          <a:ln w="12700">
            <a:solidFill>
              <a:srgbClr val="0D9488"/>
            </a:solidFill>
            <a:prstDash val="solid"/>
          </a:ln>
        </p:spPr>
        <p:txBody>
          <a:bodyPr/>
          <a:lstStyle/>
          <a:p>
            <a:r>
              <a:rPr lang="en-US" sz="2800" b="1" dirty="0">
                <a:solidFill>
                  <a:srgbClr val="FFFFFF"/>
                </a:solidFill>
                <a:latin typeface="Meiryo" panose="020B0604030504040204" pitchFamily="34" charset="-128"/>
                <a:ea typeface="Meiryo" panose="020B0604030504040204" pitchFamily="34" charset="-128"/>
                <a:cs typeface="Calibri" pitchFamily="34" charset="-120"/>
              </a:rPr>
              <a:t>Layer 2 — CoAP + DTLS（L4 </a:t>
            </a:r>
            <a:r>
              <a:rPr lang="ja-JP" altLang="en-US" sz="2800" b="1">
                <a:solidFill>
                  <a:srgbClr val="FFFFFF"/>
                </a:solidFill>
                <a:latin typeface="Meiryo" panose="020B0604030504040204" pitchFamily="34" charset="-128"/>
                <a:ea typeface="Meiryo" panose="020B0604030504040204" pitchFamily="34" charset="-128"/>
                <a:cs typeface="Calibri" pitchFamily="34" charset="-120"/>
              </a:rPr>
              <a:t>暗号化）</a:t>
            </a:r>
            <a:endParaRPr lang="en-US" sz="2800" dirty="0">
              <a:latin typeface="Meiryo" panose="020B0604030504040204" pitchFamily="34" charset="-128"/>
              <a:ea typeface="Meiryo" panose="020B0604030504040204" pitchFamily="34" charset="-128"/>
            </a:endParaRPr>
          </a:p>
          <a:p>
            <a:endParaRPr lang="en-JP" sz="2800" dirty="0">
              <a:latin typeface="Meiryo" panose="020B0604030504040204" pitchFamily="34" charset="-128"/>
              <a:ea typeface="Meiryo" panose="020B0604030504040204" pitchFamily="34" charset="-128"/>
            </a:endParaRPr>
          </a:p>
        </p:txBody>
      </p:sp>
      <p:sp>
        <p:nvSpPr>
          <p:cNvPr id="10" name="Shape 3">
            <a:extLst>
              <a:ext uri="{FF2B5EF4-FFF2-40B4-BE49-F238E27FC236}">
                <a16:creationId xmlns:a16="http://schemas.microsoft.com/office/drawing/2014/main" id="{65C3F2C7-8B12-C97C-D78D-69031188F4E3}"/>
              </a:ext>
            </a:extLst>
          </p:cNvPr>
          <p:cNvSpPr/>
          <p:nvPr/>
        </p:nvSpPr>
        <p:spPr>
          <a:xfrm>
            <a:off x="594358" y="4413884"/>
            <a:ext cx="8101965" cy="1931671"/>
          </a:xfrm>
          <a:prstGeom prst="rect">
            <a:avLst/>
          </a:prstGeom>
          <a:solidFill>
            <a:srgbClr val="FFFFFF"/>
          </a:solidFill>
          <a:ln w="12700">
            <a:solidFill>
              <a:srgbClr val="E8EDF3"/>
            </a:solidFill>
            <a:prstDash val="solid"/>
          </a:ln>
          <a:effectLst>
            <a:outerShdw blurRad="101600" dist="38100" dir="8100000" algn="bl" rotWithShape="0">
              <a:srgbClr val="000000">
                <a:alpha val="12000"/>
              </a:srgbClr>
            </a:outerShdw>
          </a:effectLst>
        </p:spPr>
        <p:txBody>
          <a:bodyPr/>
          <a:lstStyle/>
          <a:p>
            <a:pPr marL="342900" indent="-342900">
              <a:buFont typeface="Wingdings" pitchFamily="2" charset="2"/>
              <a:buChar char="§"/>
            </a:pPr>
            <a:endParaRPr lang="mn-MN"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US" sz="2400" dirty="0">
                <a:latin typeface="Meiryo" panose="020B0604030504040204" pitchFamily="34" charset="-128"/>
                <a:ea typeface="Meiryo" panose="020B0604030504040204" pitchFamily="34" charset="-128"/>
              </a:rPr>
              <a:t>DTLS</a:t>
            </a:r>
            <a:r>
              <a:rPr lang="ja-JP" altLang="en-US" sz="2400">
                <a:latin typeface="Meiryo" panose="020B0604030504040204" pitchFamily="34" charset="-128"/>
                <a:ea typeface="Meiryo" panose="020B0604030504040204" pitchFamily="34" charset="-128"/>
              </a:rPr>
              <a:t>によるペイロード暗号化</a:t>
            </a:r>
          </a:p>
          <a:p>
            <a:pPr marL="342900" indent="-342900">
              <a:buFont typeface="Wingdings" pitchFamily="2" charset="2"/>
              <a:buChar char="§"/>
            </a:pPr>
            <a:r>
              <a:rPr lang="en-US" sz="2400" dirty="0">
                <a:latin typeface="Meiryo" panose="020B0604030504040204" pitchFamily="34" charset="-128"/>
                <a:ea typeface="Meiryo" panose="020B0604030504040204" pitchFamily="34" charset="-128"/>
              </a:rPr>
              <a:t>CoAP</a:t>
            </a:r>
            <a:r>
              <a:rPr lang="ja-JP" altLang="en-US" sz="2400">
                <a:latin typeface="Meiryo" panose="020B0604030504040204" pitchFamily="34" charset="-128"/>
                <a:ea typeface="Meiryo" panose="020B0604030504040204" pitchFamily="34" charset="-128"/>
              </a:rPr>
              <a:t>プロトコル処理</a:t>
            </a:r>
          </a:p>
          <a:p>
            <a:pPr marL="342900" indent="-342900">
              <a:buFont typeface="Wingdings" pitchFamily="2" charset="2"/>
              <a:buChar char="§"/>
            </a:pPr>
            <a:r>
              <a:rPr lang="ja-JP" altLang="en-US" sz="2400">
                <a:latin typeface="Meiryo" panose="020B0604030504040204" pitchFamily="34" charset="-128"/>
                <a:ea typeface="Meiryo" panose="020B0604030504040204" pitchFamily="34" charset="-128"/>
              </a:rPr>
              <a:t>バックエンドへ透過転送</a:t>
            </a:r>
            <a:endParaRPr lang="en-US" sz="2400" dirty="0">
              <a:latin typeface="Meiryo" panose="020B0604030504040204" pitchFamily="34" charset="-128"/>
              <a:ea typeface="Meiryo" panose="020B0604030504040204" pitchFamily="34" charset="-128"/>
            </a:endParaRPr>
          </a:p>
          <a:p>
            <a:pPr marL="0" indent="0">
              <a:buNone/>
            </a:pPr>
            <a:endParaRPr lang="en-US" sz="2400" dirty="0">
              <a:solidFill>
                <a:srgbClr val="1A2740"/>
              </a:solidFill>
              <a:latin typeface="Meiryo" panose="020B0604030504040204" pitchFamily="34" charset="-128"/>
              <a:ea typeface="Meiryo" panose="020B0604030504040204" pitchFamily="34" charset="-128"/>
              <a:cs typeface="Calibri" pitchFamily="34" charset="-120"/>
            </a:endParaRPr>
          </a:p>
          <a:p>
            <a:pPr marL="0" indent="0">
              <a:buNone/>
            </a:pPr>
            <a:endParaRPr lang="en-US"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p:txBody>
      </p:sp>
      <p:sp>
        <p:nvSpPr>
          <p:cNvPr id="11" name="Slide Number Placeholder 10">
            <a:extLst>
              <a:ext uri="{FF2B5EF4-FFF2-40B4-BE49-F238E27FC236}">
                <a16:creationId xmlns:a16="http://schemas.microsoft.com/office/drawing/2014/main" id="{D9B4568A-9D8B-3D26-305D-920405B6C9FE}"/>
              </a:ext>
            </a:extLst>
          </p:cNvPr>
          <p:cNvSpPr>
            <a:spLocks noGrp="1"/>
          </p:cNvSpPr>
          <p:nvPr>
            <p:ph type="sldNum" sz="quarter" idx="12"/>
          </p:nvPr>
        </p:nvSpPr>
        <p:spPr/>
        <p:txBody>
          <a:bodyPr/>
          <a:lstStyle/>
          <a:p>
            <a:fld id="{828F3BD4-1AF2-D144-8129-4D42AD448F5E}" type="slidenum">
              <a:rPr lang="en-JP" smtClean="0"/>
              <a:t>31</a:t>
            </a:fld>
            <a:endParaRPr lang="en-JP"/>
          </a:p>
        </p:txBody>
      </p:sp>
    </p:spTree>
    <p:extLst>
      <p:ext uri="{BB962C8B-B14F-4D97-AF65-F5344CB8AC3E}">
        <p14:creationId xmlns:p14="http://schemas.microsoft.com/office/powerpoint/2010/main" val="2417592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2B230842-D738-F9B1-AD04-F85CCC0909BE}"/>
              </a:ext>
            </a:extLst>
          </p:cNvPr>
          <p:cNvSpPr/>
          <p:nvPr/>
        </p:nvSpPr>
        <p:spPr>
          <a:xfrm>
            <a:off x="3320717" y="1251284"/>
            <a:ext cx="2065420" cy="1034716"/>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Meiryo" panose="020B0604030504040204" pitchFamily="34" charset="-128"/>
                <a:ea typeface="Meiryo" panose="020B0604030504040204" pitchFamily="34" charset="-128"/>
              </a:rPr>
              <a:t>CoAP</a:t>
            </a:r>
            <a:endParaRPr lang="en-JP" sz="2400" b="1" dirty="0">
              <a:solidFill>
                <a:schemeClr val="tx1"/>
              </a:solidFill>
              <a:latin typeface="Meiryo" panose="020B0604030504040204" pitchFamily="34" charset="-128"/>
              <a:ea typeface="Meiryo" panose="020B0604030504040204" pitchFamily="34" charset="-128"/>
            </a:endParaRPr>
          </a:p>
        </p:txBody>
      </p:sp>
      <p:sp>
        <p:nvSpPr>
          <p:cNvPr id="7" name="Rounded Rectangle 6">
            <a:extLst>
              <a:ext uri="{FF2B5EF4-FFF2-40B4-BE49-F238E27FC236}">
                <a16:creationId xmlns:a16="http://schemas.microsoft.com/office/drawing/2014/main" id="{FD2CE14D-9EC6-2835-69F7-E237BB8FE814}"/>
              </a:ext>
            </a:extLst>
          </p:cNvPr>
          <p:cNvSpPr/>
          <p:nvPr/>
        </p:nvSpPr>
        <p:spPr>
          <a:xfrm>
            <a:off x="647703" y="1251284"/>
            <a:ext cx="2065420" cy="1034716"/>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000" b="1" dirty="0">
                <a:solidFill>
                  <a:schemeClr val="tx1"/>
                </a:solidFill>
                <a:latin typeface="Meiryo" panose="020B0604030504040204" pitchFamily="34" charset="-128"/>
                <a:ea typeface="Meiryo" panose="020B0604030504040204" pitchFamily="34" charset="-128"/>
              </a:rPr>
              <a:t>DTLS</a:t>
            </a:r>
          </a:p>
        </p:txBody>
      </p:sp>
      <p:sp>
        <p:nvSpPr>
          <p:cNvPr id="8" name="Rounded Rectangle 7">
            <a:extLst>
              <a:ext uri="{FF2B5EF4-FFF2-40B4-BE49-F238E27FC236}">
                <a16:creationId xmlns:a16="http://schemas.microsoft.com/office/drawing/2014/main" id="{3E6A7065-1924-B7EA-A4A6-78C99EA80EEB}"/>
              </a:ext>
            </a:extLst>
          </p:cNvPr>
          <p:cNvSpPr/>
          <p:nvPr/>
        </p:nvSpPr>
        <p:spPr>
          <a:xfrm>
            <a:off x="5993731" y="1251284"/>
            <a:ext cx="2065420" cy="1034716"/>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Meiryo" panose="020B0604030504040204" pitchFamily="34" charset="-128"/>
                <a:ea typeface="Meiryo" panose="020B0604030504040204" pitchFamily="34" charset="-128"/>
              </a:rPr>
              <a:t>ML-IDS</a:t>
            </a:r>
            <a:endParaRPr lang="en-JP" sz="1800" b="1" dirty="0">
              <a:solidFill>
                <a:schemeClr val="tx1"/>
              </a:solidFill>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69FACAE6-7F5B-B7F3-A59B-59087D5AC791}"/>
              </a:ext>
            </a:extLst>
          </p:cNvPr>
          <p:cNvSpPr txBox="1"/>
          <p:nvPr/>
        </p:nvSpPr>
        <p:spPr>
          <a:xfrm>
            <a:off x="6340637" y="2700430"/>
            <a:ext cx="2065420"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攻撃を検知</a:t>
            </a:r>
            <a:endParaRPr lang="en-JP" sz="2000" dirty="0">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391BAEEA-F6BF-E207-B05A-A468B7D7ECDE}"/>
              </a:ext>
            </a:extLst>
          </p:cNvPr>
          <p:cNvSpPr txBox="1"/>
          <p:nvPr/>
        </p:nvSpPr>
        <p:spPr>
          <a:xfrm>
            <a:off x="3545304" y="2688669"/>
            <a:ext cx="2279985"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軽量プロトコル</a:t>
            </a:r>
            <a:endParaRPr lang="en-JP" sz="2000" dirty="0">
              <a:latin typeface="Meiryo" panose="020B0604030504040204" pitchFamily="34" charset="-128"/>
              <a:ea typeface="Meiryo" panose="020B0604030504040204" pitchFamily="34" charset="-128"/>
            </a:endParaRPr>
          </a:p>
        </p:txBody>
      </p:sp>
      <p:sp>
        <p:nvSpPr>
          <p:cNvPr id="14" name="TextBox 13">
            <a:extLst>
              <a:ext uri="{FF2B5EF4-FFF2-40B4-BE49-F238E27FC236}">
                <a16:creationId xmlns:a16="http://schemas.microsoft.com/office/drawing/2014/main" id="{A5960195-7A5A-817B-FEBD-E2756F4CA2FF}"/>
              </a:ext>
            </a:extLst>
          </p:cNvPr>
          <p:cNvSpPr txBox="1"/>
          <p:nvPr/>
        </p:nvSpPr>
        <p:spPr>
          <a:xfrm>
            <a:off x="647703" y="2684762"/>
            <a:ext cx="2382253"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暗号化による保護</a:t>
            </a:r>
            <a:endParaRPr lang="en-JP" sz="2000" dirty="0">
              <a:latin typeface="Meiryo" panose="020B0604030504040204" pitchFamily="34" charset="-128"/>
              <a:ea typeface="Meiryo" panose="020B0604030504040204" pitchFamily="34" charset="-128"/>
            </a:endParaRPr>
          </a:p>
        </p:txBody>
      </p:sp>
      <p:sp>
        <p:nvSpPr>
          <p:cNvPr id="16" name="TextBox 15">
            <a:extLst>
              <a:ext uri="{FF2B5EF4-FFF2-40B4-BE49-F238E27FC236}">
                <a16:creationId xmlns:a16="http://schemas.microsoft.com/office/drawing/2014/main" id="{2D6D4762-4C77-8917-6700-FCFE0061A2C4}"/>
              </a:ext>
            </a:extLst>
          </p:cNvPr>
          <p:cNvSpPr txBox="1"/>
          <p:nvPr/>
        </p:nvSpPr>
        <p:spPr>
          <a:xfrm>
            <a:off x="433139" y="3483011"/>
            <a:ext cx="4814634" cy="461665"/>
          </a:xfrm>
          <a:prstGeom prst="rect">
            <a:avLst/>
          </a:prstGeom>
          <a:noFill/>
        </p:spPr>
        <p:txBody>
          <a:bodyPr wrap="square">
            <a:spAutoFit/>
          </a:bodyPr>
          <a:lstStyle/>
          <a:p>
            <a:r>
              <a:rPr lang="en-US" altLang="ja-JP" sz="2400" dirty="0">
                <a:latin typeface="Meiryo" panose="020B0604030504040204" pitchFamily="34" charset="-128"/>
                <a:ea typeface="Meiryo" panose="020B0604030504040204" pitchFamily="34" charset="-128"/>
              </a:rPr>
              <a:t>3</a:t>
            </a:r>
            <a:r>
              <a:rPr lang="ja-JP" altLang="en-US" sz="2400">
                <a:latin typeface="Meiryo" panose="020B0604030504040204" pitchFamily="34" charset="-128"/>
                <a:ea typeface="Meiryo" panose="020B0604030504040204" pitchFamily="34" charset="-128"/>
              </a:rPr>
              <a:t>つの技術を組み合わせた場合：</a:t>
            </a:r>
            <a:endParaRPr lang="en-JP" sz="2400" dirty="0">
              <a:latin typeface="Meiryo" panose="020B0604030504040204" pitchFamily="34" charset="-128"/>
              <a:ea typeface="Meiryo" panose="020B0604030504040204" pitchFamily="34" charset="-128"/>
            </a:endParaRPr>
          </a:p>
        </p:txBody>
      </p:sp>
      <p:sp>
        <p:nvSpPr>
          <p:cNvPr id="17" name="Down Arrow 16">
            <a:extLst>
              <a:ext uri="{FF2B5EF4-FFF2-40B4-BE49-F238E27FC236}">
                <a16:creationId xmlns:a16="http://schemas.microsoft.com/office/drawing/2014/main" id="{DD666D4F-993A-4DC4-AE80-78A368FBF652}"/>
              </a:ext>
            </a:extLst>
          </p:cNvPr>
          <p:cNvSpPr/>
          <p:nvPr/>
        </p:nvSpPr>
        <p:spPr>
          <a:xfrm>
            <a:off x="1582131" y="2407446"/>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18" name="Down Arrow 17">
            <a:extLst>
              <a:ext uri="{FF2B5EF4-FFF2-40B4-BE49-F238E27FC236}">
                <a16:creationId xmlns:a16="http://schemas.microsoft.com/office/drawing/2014/main" id="{45A57AB4-C54D-0989-7999-016066268C4B}"/>
              </a:ext>
            </a:extLst>
          </p:cNvPr>
          <p:cNvSpPr/>
          <p:nvPr/>
        </p:nvSpPr>
        <p:spPr>
          <a:xfrm>
            <a:off x="4325305" y="2410110"/>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19" name="Down Arrow 18">
            <a:extLst>
              <a:ext uri="{FF2B5EF4-FFF2-40B4-BE49-F238E27FC236}">
                <a16:creationId xmlns:a16="http://schemas.microsoft.com/office/drawing/2014/main" id="{709BEFC5-764E-85D0-CE1E-BA49785BA89C}"/>
              </a:ext>
            </a:extLst>
          </p:cNvPr>
          <p:cNvSpPr/>
          <p:nvPr/>
        </p:nvSpPr>
        <p:spPr>
          <a:xfrm>
            <a:off x="6968217" y="2407447"/>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21" name="TextBox 20">
            <a:extLst>
              <a:ext uri="{FF2B5EF4-FFF2-40B4-BE49-F238E27FC236}">
                <a16:creationId xmlns:a16="http://schemas.microsoft.com/office/drawing/2014/main" id="{76A6991C-3973-3279-FF0A-569E9199615A}"/>
              </a:ext>
            </a:extLst>
          </p:cNvPr>
          <p:cNvSpPr txBox="1"/>
          <p:nvPr/>
        </p:nvSpPr>
        <p:spPr>
          <a:xfrm>
            <a:off x="151273" y="3872767"/>
            <a:ext cx="9032708" cy="2677656"/>
          </a:xfrm>
          <a:prstGeom prst="rect">
            <a:avLst/>
          </a:prstGeom>
          <a:noFill/>
        </p:spPr>
        <p:txBody>
          <a:bodyPr wrap="square">
            <a:spAutoFit/>
          </a:bodyPr>
          <a:lstStyle/>
          <a:p>
            <a:pPr marL="457200" indent="-457200">
              <a:buFont typeface="+mj-lt"/>
              <a:buAutoNum type="arabicPeriod"/>
            </a:pPr>
            <a:r>
              <a:rPr lang="en-US" altLang="ja-JP" sz="2400" dirty="0">
                <a:latin typeface="Meiryo" panose="020B0604030504040204" pitchFamily="34" charset="-128"/>
                <a:ea typeface="Meiryo" panose="020B0604030504040204" pitchFamily="34" charset="-128"/>
              </a:rPr>
              <a:t>IoT</a:t>
            </a:r>
            <a:r>
              <a:rPr lang="ja-JP" altLang="en-US" sz="2400">
                <a:latin typeface="Meiryo" panose="020B0604030504040204" pitchFamily="34" charset="-128"/>
                <a:ea typeface="Meiryo" panose="020B0604030504040204" pitchFamily="34" charset="-128"/>
              </a:rPr>
              <a:t>デバイスが</a:t>
            </a:r>
            <a:r>
              <a:rPr lang="en-US" altLang="ja-JP" sz="2400" dirty="0" err="1">
                <a:latin typeface="Meiryo" panose="020B0604030504040204" pitchFamily="34" charset="-128"/>
                <a:ea typeface="Meiryo" panose="020B0604030504040204" pitchFamily="34" charset="-128"/>
              </a:rPr>
              <a:t>CoAP+DTLS</a:t>
            </a:r>
            <a:r>
              <a:rPr lang="ja-JP" altLang="en-US" sz="2400">
                <a:latin typeface="Meiryo" panose="020B0604030504040204" pitchFamily="34" charset="-128"/>
                <a:ea typeface="Meiryo" panose="020B0604030504040204" pitchFamily="34" charset="-128"/>
              </a:rPr>
              <a:t>で暗号化して送信</a:t>
            </a: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r>
              <a:rPr lang="en-US" altLang="ja-JP" sz="2400" dirty="0">
                <a:latin typeface="Meiryo" panose="020B0604030504040204" pitchFamily="34" charset="-128"/>
                <a:ea typeface="Meiryo" panose="020B0604030504040204" pitchFamily="34" charset="-128"/>
              </a:rPr>
              <a:t>Gateway</a:t>
            </a:r>
            <a:r>
              <a:rPr lang="ja-JP" altLang="en-US" sz="2400">
                <a:latin typeface="Meiryo" panose="020B0604030504040204" pitchFamily="34" charset="-128"/>
                <a:ea typeface="Meiryo" panose="020B0604030504040204" pitchFamily="34" charset="-128"/>
              </a:rPr>
              <a:t>の</a:t>
            </a:r>
            <a:r>
              <a:rPr lang="en-US" altLang="ja-JP" sz="2400" dirty="0">
                <a:latin typeface="Meiryo" panose="020B0604030504040204" pitchFamily="34" charset="-128"/>
                <a:ea typeface="Meiryo" panose="020B0604030504040204" pitchFamily="34" charset="-128"/>
              </a:rPr>
              <a:t>ML-IDS</a:t>
            </a:r>
            <a:r>
              <a:rPr lang="ja-JP" altLang="en-US" sz="2400">
                <a:latin typeface="Meiryo" panose="020B0604030504040204" pitchFamily="34" charset="-128"/>
                <a:ea typeface="Meiryo" panose="020B0604030504040204" pitchFamily="34" charset="-128"/>
              </a:rPr>
              <a:t>が</a:t>
            </a:r>
            <a:r>
              <a:rPr lang="en-US" altLang="ja-JP"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パケットのみ監視・検知</a:t>
            </a: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r>
              <a:rPr lang="ja-JP" altLang="en-US" sz="2400">
                <a:latin typeface="Meiryo" panose="020B0604030504040204" pitchFamily="34" charset="-128"/>
                <a:ea typeface="Meiryo" panose="020B0604030504040204" pitchFamily="34" charset="-128"/>
              </a:rPr>
              <a:t>攻撃 → </a:t>
            </a:r>
            <a:r>
              <a:rPr lang="en-US" altLang="ja-JP" sz="2400" dirty="0">
                <a:latin typeface="Meiryo" panose="020B0604030504040204" pitchFamily="34" charset="-128"/>
                <a:ea typeface="Meiryo" panose="020B0604030504040204" pitchFamily="34" charset="-128"/>
              </a:rPr>
              <a:t>DROP</a:t>
            </a:r>
            <a:r>
              <a:rPr lang="ja-JP" altLang="en-US" sz="2400">
                <a:latin typeface="Meiryo" panose="020B0604030504040204" pitchFamily="34" charset="-128"/>
                <a:ea typeface="Meiryo" panose="020B0604030504040204" pitchFamily="34" charset="-128"/>
              </a:rPr>
              <a:t>、正常 → </a:t>
            </a:r>
            <a:r>
              <a:rPr lang="en-US" altLang="ja-JP" sz="2400" dirty="0">
                <a:latin typeface="Meiryo" panose="020B0604030504040204" pitchFamily="34" charset="-128"/>
                <a:ea typeface="Meiryo" panose="020B0604030504040204" pitchFamily="34" charset="-128"/>
              </a:rPr>
              <a:t>DTLS</a:t>
            </a:r>
            <a:r>
              <a:rPr lang="ja-JP" altLang="en-US" sz="2400">
                <a:latin typeface="Meiryo" panose="020B0604030504040204" pitchFamily="34" charset="-128"/>
                <a:ea typeface="Meiryo" panose="020B0604030504040204" pitchFamily="34" charset="-128"/>
              </a:rPr>
              <a:t>のまま透過転送</a:t>
            </a:r>
            <a:br>
              <a:rPr lang="ja-JP" altLang="en-US" sz="2400">
                <a:latin typeface="Meiryo" panose="020B0604030504040204" pitchFamily="34" charset="-128"/>
                <a:ea typeface="Meiryo" panose="020B0604030504040204" pitchFamily="34" charset="-128"/>
              </a:rPr>
            </a:br>
            <a:endParaRPr lang="mn-MN" altLang="ja-JP"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結果：</a:t>
            </a:r>
            <a:endParaRPr lang="mn-MN" altLang="ja-JP" sz="2400" dirty="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ペイロードに触れずに</a:t>
            </a:r>
            <a:r>
              <a:rPr lang="en-US" altLang="ja-JP" sz="2400" dirty="0">
                <a:latin typeface="Meiryo" panose="020B0604030504040204" pitchFamily="34" charset="-128"/>
                <a:ea typeface="Meiryo" panose="020B0604030504040204" pitchFamily="34" charset="-128"/>
              </a:rPr>
              <a:t>L2</a:t>
            </a:r>
            <a:r>
              <a:rPr lang="ja-JP" altLang="en-US" sz="2400">
                <a:latin typeface="Meiryo" panose="020B0604030504040204" pitchFamily="34" charset="-128"/>
                <a:ea typeface="Meiryo" panose="020B0604030504040204" pitchFamily="34" charset="-128"/>
              </a:rPr>
              <a:t>の攻撃を防御</a:t>
            </a:r>
            <a:endParaRPr lang="mn-MN" altLang="ja-JP" sz="2400" dirty="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r>
              <a:rPr lang="en-US" altLang="ja-JP" sz="2400" dirty="0">
                <a:latin typeface="Meiryo" panose="020B0604030504040204" pitchFamily="34" charset="-128"/>
                <a:ea typeface="Meiryo" panose="020B0604030504040204" pitchFamily="34" charset="-128"/>
              </a:rPr>
              <a:t>DTLS</a:t>
            </a:r>
            <a:r>
              <a:rPr lang="ja-JP" altLang="en-US" sz="2400">
                <a:latin typeface="Meiryo" panose="020B0604030504040204" pitchFamily="34" charset="-128"/>
                <a:ea typeface="Meiryo" panose="020B0604030504040204" pitchFamily="34" charset="-128"/>
              </a:rPr>
              <a:t>と</a:t>
            </a:r>
            <a:r>
              <a:rPr lang="en-US" altLang="ja-JP" sz="2400" dirty="0">
                <a:latin typeface="Meiryo" panose="020B0604030504040204" pitchFamily="34" charset="-128"/>
                <a:ea typeface="Meiryo" panose="020B0604030504040204" pitchFamily="34" charset="-128"/>
              </a:rPr>
              <a:t>ML-IDS</a:t>
            </a:r>
            <a:r>
              <a:rPr lang="ja-JP" altLang="en-US" sz="2400">
                <a:latin typeface="Meiryo" panose="020B0604030504040204" pitchFamily="34" charset="-128"/>
                <a:ea typeface="Meiryo" panose="020B0604030504040204" pitchFamily="34" charset="-128"/>
              </a:rPr>
              <a:t>で多層防御を実現</a:t>
            </a:r>
            <a:endParaRPr lang="en-JP" sz="2400" dirty="0">
              <a:latin typeface="Meiryo" panose="020B0604030504040204" pitchFamily="34" charset="-128"/>
              <a:ea typeface="Meiryo" panose="020B0604030504040204" pitchFamily="34" charset="-128"/>
            </a:endParaRPr>
          </a:p>
        </p:txBody>
      </p:sp>
      <p:sp>
        <p:nvSpPr>
          <p:cNvPr id="24" name="Shape 0">
            <a:extLst>
              <a:ext uri="{FF2B5EF4-FFF2-40B4-BE49-F238E27FC236}">
                <a16:creationId xmlns:a16="http://schemas.microsoft.com/office/drawing/2014/main" id="{0AEAE166-0D67-431D-8D86-E7A66DCBEC38}"/>
              </a:ext>
            </a:extLst>
          </p:cNvPr>
          <p:cNvSpPr/>
          <p:nvPr/>
        </p:nvSpPr>
        <p:spPr>
          <a:xfrm>
            <a:off x="0" y="0"/>
            <a:ext cx="9144000" cy="68580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457200" indent="-457200">
              <a:buFont typeface="Wingdings" pitchFamily="2" charset="2"/>
              <a:buChar char="Ø"/>
            </a:pPr>
            <a:r>
              <a:rPr lang="en-US" altLang="ja-JP" sz="3200" b="1" dirty="0">
                <a:latin typeface="Meiryo" panose="020B0604030504040204" pitchFamily="34" charset="-128"/>
                <a:ea typeface="Meiryo" panose="020B0604030504040204" pitchFamily="34" charset="-128"/>
              </a:rPr>
              <a:t>3</a:t>
            </a:r>
            <a:r>
              <a:rPr lang="ja-JP" altLang="en-US" sz="3200" b="1">
                <a:latin typeface="Meiryo" panose="020B0604030504040204" pitchFamily="34" charset="-128"/>
                <a:ea typeface="Meiryo" panose="020B0604030504040204" pitchFamily="34" charset="-128"/>
              </a:rPr>
              <a:t>つの技術の統合</a:t>
            </a:r>
            <a:endParaRPr lang="en-JP" sz="3200" b="1" dirty="0">
              <a:latin typeface="Meiryo" panose="020B0604030504040204" pitchFamily="34" charset="-128"/>
              <a:ea typeface="Meiryo" panose="020B0604030504040204" pitchFamily="34" charset="-128"/>
            </a:endParaRPr>
          </a:p>
        </p:txBody>
      </p:sp>
      <p:sp>
        <p:nvSpPr>
          <p:cNvPr id="2" name="正方形/長方形 4">
            <a:extLst>
              <a:ext uri="{FF2B5EF4-FFF2-40B4-BE49-F238E27FC236}">
                <a16:creationId xmlns:a16="http://schemas.microsoft.com/office/drawing/2014/main" id="{AD3C11C1-B75E-86C0-D1BE-BA348667F8AD}"/>
              </a:ext>
            </a:extLst>
          </p:cNvPr>
          <p:cNvSpPr/>
          <p:nvPr/>
        </p:nvSpPr>
        <p:spPr>
          <a:xfrm>
            <a:off x="151273" y="5261252"/>
            <a:ext cx="6499898" cy="137469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3" name="Slide Number Placeholder 2">
            <a:extLst>
              <a:ext uri="{FF2B5EF4-FFF2-40B4-BE49-F238E27FC236}">
                <a16:creationId xmlns:a16="http://schemas.microsoft.com/office/drawing/2014/main" id="{F912D1D2-6AB9-A93E-DB24-A6607362CBB4}"/>
              </a:ext>
            </a:extLst>
          </p:cNvPr>
          <p:cNvSpPr>
            <a:spLocks noGrp="1"/>
          </p:cNvSpPr>
          <p:nvPr>
            <p:ph type="sldNum" sz="quarter" idx="12"/>
          </p:nvPr>
        </p:nvSpPr>
        <p:spPr/>
        <p:txBody>
          <a:bodyPr/>
          <a:lstStyle/>
          <a:p>
            <a:fld id="{828F3BD4-1AF2-D144-8129-4D42AD448F5E}" type="slidenum">
              <a:rPr lang="en-JP" smtClean="0"/>
              <a:t>32</a:t>
            </a:fld>
            <a:endParaRPr lang="en-JP"/>
          </a:p>
        </p:txBody>
      </p:sp>
    </p:spTree>
    <p:extLst>
      <p:ext uri="{BB962C8B-B14F-4D97-AF65-F5344CB8AC3E}">
        <p14:creationId xmlns:p14="http://schemas.microsoft.com/office/powerpoint/2010/main" val="21196016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470010" y="1635919"/>
            <a:ext cx="7886700" cy="4856955"/>
          </a:xfrm>
        </p:spPr>
        <p:txBody>
          <a:bodyPr>
            <a:normAutofit lnSpcReduction="10000"/>
          </a:bodyPr>
          <a:lstStyle/>
          <a:p>
            <a:pPr marL="476219" indent="-342878">
              <a:lnSpc>
                <a:spcPct val="150000"/>
              </a:lnSpc>
              <a:spcBef>
                <a:spcPts val="0"/>
              </a:spcBef>
              <a:buSzPts val="2800"/>
              <a:buFont typeface="Wingdings" pitchFamily="2" charset="2"/>
              <a:buChar char="§"/>
            </a:pPr>
            <a:r>
              <a:rPr lang="en-US" altLang="ja-JP" sz="3100" dirty="0">
                <a:latin typeface="Meiryo" panose="020B0604030504040204" pitchFamily="34" charset="-128"/>
                <a:ea typeface="Meiryo" panose="020B0604030504040204" pitchFamily="34" charset="-128"/>
              </a:rPr>
              <a:t> </a:t>
            </a:r>
            <a:r>
              <a:rPr lang="ja-JP" altLang="en-US" sz="3100">
                <a:latin typeface="Meiryo" panose="020B0604030504040204" pitchFamily="34" charset="-128"/>
                <a:ea typeface="Meiryo" panose="020B0604030504040204" pitchFamily="34" charset="-128"/>
              </a:rPr>
              <a:t>研究背景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研究目的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関連技術・関連研究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提案手法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1">
                <a:solidFill>
                  <a:srgbClr val="C00000"/>
                </a:solidFill>
                <a:latin typeface="Meiryo" panose="020B0604030504040204" pitchFamily="34" charset="-128"/>
                <a:ea typeface="Meiryo" panose="020B0604030504040204" pitchFamily="34" charset="-128"/>
              </a:rPr>
              <a:t>評価手法     </a:t>
            </a:r>
            <a:endParaRPr lang="mn-MN" altLang="ja-JP" sz="3100" b="1" dirty="0">
              <a:solidFill>
                <a:srgbClr val="C00000"/>
              </a:solidFill>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0" i="0" u="none" strike="noStrike">
                <a:effectLst/>
                <a:latin typeface="Meiryo" panose="020B0604030504040204" pitchFamily="34" charset="-128"/>
                <a:ea typeface="Meiryo" panose="020B0604030504040204" pitchFamily="34" charset="-128"/>
              </a:rPr>
              <a:t>現在の進捗状況</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まとめ       </a:t>
            </a:r>
            <a:endParaRPr kumimoji="1"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endParaRPr lang="en-US" altLang="ja-JP" sz="2500" dirty="0">
              <a:latin typeface="Meiryo UI" panose="020B0604030504040204" pitchFamily="50" charset="-128"/>
              <a:ea typeface="Meiryo UI" panose="020B0604030504040204" pitchFamily="50" charset="-128"/>
            </a:endParaRPr>
          </a:p>
          <a:p>
            <a:endParaRPr lang="en-JP" sz="25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33</a:t>
            </a:fld>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50F375AD-778D-AB44-5C16-9E3EFA85933A}"/>
              </a:ext>
            </a:extLst>
          </p:cNvPr>
          <p:cNvSpPr txBox="1"/>
          <p:nvPr/>
        </p:nvSpPr>
        <p:spPr>
          <a:xfrm>
            <a:off x="5987668" y="3263465"/>
            <a:ext cx="4572000" cy="369332"/>
          </a:xfrm>
          <a:prstGeom prst="rect">
            <a:avLst/>
          </a:prstGeom>
          <a:noFill/>
        </p:spPr>
        <p:txBody>
          <a:bodyPr wrap="square">
            <a:spAutoFit/>
          </a:bodyPr>
          <a:lstStyle/>
          <a:p>
            <a:r>
              <a:rPr lang="en-JP" b="0" dirty="0">
                <a:effectLst/>
              </a:rPr>
              <a:t> </a:t>
            </a:r>
            <a:endParaRPr lang="en-JP" dirty="0"/>
          </a:p>
        </p:txBody>
      </p:sp>
    </p:spTree>
    <p:extLst>
      <p:ext uri="{BB962C8B-B14F-4D97-AF65-F5344CB8AC3E}">
        <p14:creationId xmlns:p14="http://schemas.microsoft.com/office/powerpoint/2010/main" val="25025743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0">
            <a:extLst>
              <a:ext uri="{FF2B5EF4-FFF2-40B4-BE49-F238E27FC236}">
                <a16:creationId xmlns:a16="http://schemas.microsoft.com/office/drawing/2014/main" id="{59FCD8A0-D63D-788C-EE59-14CA850726AF}"/>
              </a:ext>
            </a:extLst>
          </p:cNvPr>
          <p:cNvSpPr/>
          <p:nvPr/>
        </p:nvSpPr>
        <p:spPr>
          <a:xfrm>
            <a:off x="0" y="0"/>
            <a:ext cx="9144000" cy="685800"/>
          </a:xfrm>
          <a:prstGeom prst="rect">
            <a:avLst/>
          </a:prstGeom>
          <a:solidFill>
            <a:schemeClr val="tx2">
              <a:lumMod val="20000"/>
              <a:lumOff val="80000"/>
            </a:schemeClr>
          </a:solidFill>
          <a:ln w="12700">
            <a:solidFill>
              <a:srgbClr val="1E3A5F"/>
            </a:solidFill>
            <a:prstDash val="solid"/>
          </a:ln>
        </p:spPr>
        <p:txBody>
          <a:bodyPr/>
          <a:lstStyle/>
          <a:p>
            <a:pPr marL="457200" indent="-457200">
              <a:buFont typeface="Wingdings" pitchFamily="2" charset="2"/>
              <a:buChar char="Ø"/>
            </a:pPr>
            <a:r>
              <a:rPr lang="mn-MN" sz="2800" b="1" dirty="0">
                <a:latin typeface="Meiryo" panose="020B0604030504040204" pitchFamily="34" charset="-128"/>
                <a:ea typeface="Meiryo" panose="020B0604030504040204" pitchFamily="34" charset="-128"/>
                <a:cs typeface="Calibri" pitchFamily="34" charset="-120"/>
              </a:rPr>
              <a:t>  </a:t>
            </a:r>
            <a:r>
              <a:rPr lang="en-US" sz="2800" b="1" dirty="0" err="1">
                <a:latin typeface="Meiryo" panose="020B0604030504040204" pitchFamily="34" charset="-128"/>
                <a:ea typeface="Meiryo" panose="020B0604030504040204" pitchFamily="34" charset="-128"/>
                <a:cs typeface="Calibri" pitchFamily="34" charset="-120"/>
              </a:rPr>
              <a:t>実験環境</a:t>
            </a:r>
            <a:endParaRPr lang="en-US" sz="2800"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8F733132-32C6-3362-503A-17D27E3E7695}"/>
              </a:ext>
            </a:extLst>
          </p:cNvPr>
          <p:cNvSpPr txBox="1"/>
          <p:nvPr/>
        </p:nvSpPr>
        <p:spPr>
          <a:xfrm>
            <a:off x="435768" y="1010453"/>
            <a:ext cx="7957117" cy="4893647"/>
          </a:xfrm>
          <a:prstGeom prst="rect">
            <a:avLst/>
          </a:prstGeom>
          <a:noFill/>
        </p:spPr>
        <p:txBody>
          <a:bodyPr wrap="square">
            <a:spAutoFit/>
          </a:bodyPr>
          <a:lstStyle/>
          <a:p>
            <a:pPr marL="342900" indent="-342900">
              <a:buFont typeface="Wingdings" pitchFamily="2" charset="2"/>
              <a:buChar char="§"/>
            </a:pPr>
            <a:r>
              <a:rPr lang="en-JP" sz="2400" dirty="0">
                <a:latin typeface="Meiryo" panose="020B0604030504040204" pitchFamily="34" charset="-128"/>
                <a:ea typeface="Meiryo" panose="020B0604030504040204" pitchFamily="34" charset="-128"/>
                <a:cs typeface="Times New Roman" panose="02020603050405020304" pitchFamily="18" charset="0"/>
              </a:rPr>
              <a:t>Gateway  </a:t>
            </a:r>
          </a:p>
          <a:p>
            <a:r>
              <a:rPr lang="en-JP" sz="2400" dirty="0">
                <a:latin typeface="Meiryo" panose="020B0604030504040204" pitchFamily="34" charset="-128"/>
                <a:ea typeface="Meiryo" panose="020B0604030504040204" pitchFamily="34" charset="-128"/>
                <a:cs typeface="Times New Roman" panose="02020603050405020304" pitchFamily="18" charset="0"/>
              </a:rPr>
              <a:t>　Raspberry Pi 4（4GB RAM）</a:t>
            </a:r>
          </a:p>
          <a:p>
            <a:endParaRPr lang="en-JP" sz="2400" dirty="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cs typeface="Times New Roman" panose="02020603050405020304" pitchFamily="18" charset="0"/>
              </a:rPr>
              <a:t>Sensor（×2）  </a:t>
            </a:r>
          </a:p>
          <a:p>
            <a:r>
              <a:rPr lang="en-JP" sz="2400" dirty="0">
                <a:latin typeface="Meiryo" panose="020B0604030504040204" pitchFamily="34" charset="-128"/>
                <a:ea typeface="Meiryo" panose="020B0604030504040204" pitchFamily="34" charset="-128"/>
                <a:cs typeface="Times New Roman" panose="02020603050405020304" pitchFamily="18" charset="0"/>
              </a:rPr>
              <a:t>　Raspberry Pi 3B+</a:t>
            </a:r>
            <a:r>
              <a:rPr lang="mn-MN" sz="2400" dirty="0">
                <a:latin typeface="Meiryo" panose="020B0604030504040204" pitchFamily="34" charset="-128"/>
                <a:ea typeface="Meiryo" panose="020B0604030504040204" pitchFamily="34" charset="-128"/>
                <a:cs typeface="Times New Roman" panose="02020603050405020304" pitchFamily="18" charset="0"/>
              </a:rPr>
              <a:t> </a:t>
            </a:r>
            <a:r>
              <a:rPr lang="en-US" sz="2400" dirty="0">
                <a:latin typeface="Meiryo" panose="020B0604030504040204" pitchFamily="34" charset="-128"/>
                <a:ea typeface="Meiryo" panose="020B0604030504040204" pitchFamily="34" charset="-128"/>
                <a:cs typeface="Times New Roman" panose="02020603050405020304" pitchFamily="18" charset="0"/>
              </a:rPr>
              <a:t>CoAP</a:t>
            </a:r>
            <a:r>
              <a:rPr lang="ja-JP" altLang="en-US" sz="2400">
                <a:latin typeface="Meiryo" panose="020B0604030504040204" pitchFamily="34" charset="-128"/>
                <a:ea typeface="Meiryo" panose="020B0604030504040204" pitchFamily="34" charset="-128"/>
                <a:cs typeface="Times New Roman" panose="02020603050405020304" pitchFamily="18" charset="0"/>
              </a:rPr>
              <a:t>クライアント</a:t>
            </a:r>
            <a:endParaRPr lang="en-JP" sz="2400" dirty="0">
              <a:latin typeface="Meiryo" panose="020B0604030504040204" pitchFamily="34" charset="-128"/>
              <a:ea typeface="Meiryo" panose="020B0604030504040204" pitchFamily="34" charset="-128"/>
              <a:cs typeface="Times New Roman" panose="02020603050405020304" pitchFamily="18" charset="0"/>
            </a:endParaRPr>
          </a:p>
          <a:p>
            <a:endParaRPr lang="en-JP" sz="2400" dirty="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cs typeface="Times New Roman" panose="02020603050405020304" pitchFamily="18" charset="0"/>
              </a:rPr>
              <a:t>攻撃環境  </a:t>
            </a:r>
          </a:p>
          <a:p>
            <a:r>
              <a:rPr lang="en-JP" sz="2400" dirty="0">
                <a:latin typeface="Meiryo" panose="020B0604030504040204" pitchFamily="34" charset="-128"/>
                <a:ea typeface="Meiryo" panose="020B0604030504040204" pitchFamily="34" charset="-128"/>
                <a:cs typeface="Times New Roman" panose="02020603050405020304" pitchFamily="18" charset="0"/>
              </a:rPr>
              <a:t>（Laptop</a:t>
            </a:r>
            <a:r>
              <a:rPr lang="en-US" sz="2400" dirty="0">
                <a:latin typeface="Meiryo" panose="020B0604030504040204" pitchFamily="34" charset="-128"/>
                <a:ea typeface="Meiryo" panose="020B0604030504040204" pitchFamily="34" charset="-128"/>
                <a:cs typeface="Times New Roman" panose="02020603050405020304" pitchFamily="18" charset="0"/>
              </a:rPr>
              <a:t> · </a:t>
            </a:r>
            <a:r>
              <a:rPr lang="en-US" sz="2400" dirty="0" err="1">
                <a:latin typeface="Meiryo" panose="020B0604030504040204" pitchFamily="34" charset="-128"/>
                <a:ea typeface="Meiryo" panose="020B0604030504040204" pitchFamily="34" charset="-128"/>
                <a:cs typeface="Times New Roman" panose="02020603050405020304" pitchFamily="18" charset="0"/>
              </a:rPr>
              <a:t>arpspoof</a:t>
            </a:r>
            <a:r>
              <a:rPr lang="en-US" sz="2400" dirty="0">
                <a:latin typeface="Meiryo" panose="020B0604030504040204" pitchFamily="34" charset="-128"/>
                <a:ea typeface="Meiryo" panose="020B0604030504040204" pitchFamily="34" charset="-128"/>
                <a:cs typeface="Times New Roman" panose="02020603050405020304" pitchFamily="18" charset="0"/>
              </a:rPr>
              <a:t> · Ettercap · </a:t>
            </a:r>
            <a:r>
              <a:rPr lang="en-US" sz="2400" dirty="0" err="1">
                <a:latin typeface="Meiryo" panose="020B0604030504040204" pitchFamily="34" charset="-128"/>
                <a:ea typeface="Meiryo" panose="020B0604030504040204" pitchFamily="34" charset="-128"/>
                <a:cs typeface="Times New Roman" panose="02020603050405020304" pitchFamily="18" charset="0"/>
              </a:rPr>
              <a:t>Scapy</a:t>
            </a:r>
            <a:endParaRPr lang="en-JP" sz="2400" dirty="0">
              <a:latin typeface="Meiryo" panose="020B0604030504040204" pitchFamily="34" charset="-128"/>
              <a:ea typeface="Meiryo" panose="020B0604030504040204" pitchFamily="34" charset="-128"/>
              <a:cs typeface="Times New Roman" panose="02020603050405020304" pitchFamily="18" charset="0"/>
            </a:endParaRPr>
          </a:p>
          <a:p>
            <a:endParaRPr lang="en-JP" sz="2400" dirty="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cs typeface="Times New Roman" panose="02020603050405020304" pitchFamily="18" charset="0"/>
              </a:rPr>
              <a:t>データセット  </a:t>
            </a:r>
          </a:p>
          <a:p>
            <a:r>
              <a:rPr lang="en-US" sz="2400" dirty="0">
                <a:latin typeface="Meiryo" panose="020B0604030504040204" pitchFamily="34" charset="-128"/>
                <a:ea typeface="Meiryo" panose="020B0604030504040204" pitchFamily="34" charset="-128"/>
                <a:cs typeface="Times New Roman" panose="02020603050405020304" pitchFamily="18" charset="0"/>
              </a:rPr>
              <a:t>CICIDS-2017 ＋ </a:t>
            </a:r>
            <a:r>
              <a:rPr lang="ja-JP" altLang="en-US" sz="2400">
                <a:latin typeface="Meiryo" panose="020B0604030504040204" pitchFamily="34" charset="-128"/>
                <a:ea typeface="Meiryo" panose="020B0604030504040204" pitchFamily="34" charset="-128"/>
                <a:cs typeface="Times New Roman" panose="02020603050405020304" pitchFamily="18" charset="0"/>
              </a:rPr>
              <a:t>自作トラフィック</a:t>
            </a:r>
            <a:endParaRPr lang="en-JP" sz="2400" dirty="0">
              <a:latin typeface="Meiryo" panose="020B0604030504040204" pitchFamily="34" charset="-128"/>
              <a:ea typeface="Meiryo" panose="020B0604030504040204" pitchFamily="34" charset="-128"/>
              <a:cs typeface="Times New Roman" panose="02020603050405020304" pitchFamily="18" charset="0"/>
            </a:endParaRPr>
          </a:p>
          <a:p>
            <a:endParaRPr lang="en-JP" sz="2400" dirty="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r>
              <a:rPr lang="ja-JP" altLang="en-US" sz="2400">
                <a:latin typeface="Meiryo" panose="020B0604030504040204" pitchFamily="34" charset="-128"/>
                <a:ea typeface="Meiryo" panose="020B0604030504040204" pitchFamily="34" charset="-128"/>
                <a:cs typeface="Times New Roman" panose="02020603050405020304" pitchFamily="18" charset="0"/>
              </a:rPr>
              <a:t>ネットワーク </a:t>
            </a:r>
            <a:r>
              <a:rPr lang="en-US" altLang="ja-JP" sz="2400" dirty="0">
                <a:latin typeface="Meiryo" panose="020B0604030504040204" pitchFamily="34" charset="-128"/>
                <a:ea typeface="Meiryo" panose="020B0604030504040204" pitchFamily="34" charset="-128"/>
                <a:cs typeface="Times New Roman" panose="02020603050405020304" pitchFamily="18" charset="0"/>
              </a:rPr>
              <a:t>— </a:t>
            </a:r>
            <a:r>
              <a:rPr lang="en-US" sz="2400" dirty="0" err="1">
                <a:latin typeface="Meiryo" panose="020B0604030504040204" pitchFamily="34" charset="-128"/>
                <a:ea typeface="Meiryo" panose="020B0604030504040204" pitchFamily="34" charset="-128"/>
                <a:cs typeface="Times New Roman" panose="02020603050405020304" pitchFamily="18" charset="0"/>
              </a:rPr>
              <a:t>WiFi</a:t>
            </a:r>
            <a:r>
              <a:rPr lang="en-US" sz="2400" dirty="0">
                <a:latin typeface="Meiryo" panose="020B0604030504040204" pitchFamily="34" charset="-128"/>
                <a:ea typeface="Meiryo" panose="020B0604030504040204" pitchFamily="34" charset="-128"/>
                <a:cs typeface="Times New Roman" panose="02020603050405020304" pitchFamily="18" charset="0"/>
              </a:rPr>
              <a:t> 802.11n · 192.168.1.0/24</a:t>
            </a:r>
            <a:endParaRPr lang="en-JP" sz="2400" dirty="0">
              <a:latin typeface="Meiryo" panose="020B0604030504040204" pitchFamily="34" charset="-128"/>
              <a:ea typeface="Meiryo" panose="020B0604030504040204" pitchFamily="34" charset="-128"/>
              <a:cs typeface="Times New Roman" panose="02020603050405020304" pitchFamily="18" charset="0"/>
            </a:endParaRPr>
          </a:p>
        </p:txBody>
      </p:sp>
      <p:sp>
        <p:nvSpPr>
          <p:cNvPr id="9" name="Slide Number Placeholder 8">
            <a:extLst>
              <a:ext uri="{FF2B5EF4-FFF2-40B4-BE49-F238E27FC236}">
                <a16:creationId xmlns:a16="http://schemas.microsoft.com/office/drawing/2014/main" id="{46C28CBA-C817-F83E-4C45-9D2B9CD09EF7}"/>
              </a:ext>
            </a:extLst>
          </p:cNvPr>
          <p:cNvSpPr>
            <a:spLocks noGrp="1"/>
          </p:cNvSpPr>
          <p:nvPr>
            <p:ph type="sldNum" sz="quarter" idx="12"/>
          </p:nvPr>
        </p:nvSpPr>
        <p:spPr/>
        <p:txBody>
          <a:bodyPr/>
          <a:lstStyle/>
          <a:p>
            <a:fld id="{828F3BD4-1AF2-D144-8129-4D42AD448F5E}" type="slidenum">
              <a:rPr lang="en-JP" smtClean="0"/>
              <a:t>34</a:t>
            </a:fld>
            <a:endParaRPr lang="en-JP"/>
          </a:p>
        </p:txBody>
      </p:sp>
    </p:spTree>
    <p:extLst>
      <p:ext uri="{BB962C8B-B14F-4D97-AF65-F5344CB8AC3E}">
        <p14:creationId xmlns:p14="http://schemas.microsoft.com/office/powerpoint/2010/main" val="27022068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0">
            <a:extLst>
              <a:ext uri="{FF2B5EF4-FFF2-40B4-BE49-F238E27FC236}">
                <a16:creationId xmlns:a16="http://schemas.microsoft.com/office/drawing/2014/main" id="{FA592E1F-F09F-C232-E3C0-E1510B33D79B}"/>
              </a:ext>
            </a:extLst>
          </p:cNvPr>
          <p:cNvSpPr/>
          <p:nvPr/>
        </p:nvSpPr>
        <p:spPr>
          <a:xfrm>
            <a:off x="0" y="0"/>
            <a:ext cx="9144000" cy="685800"/>
          </a:xfrm>
          <a:prstGeom prst="rect">
            <a:avLst/>
          </a:prstGeom>
          <a:solidFill>
            <a:schemeClr val="tx2">
              <a:lumMod val="20000"/>
              <a:lumOff val="80000"/>
            </a:schemeClr>
          </a:solidFill>
          <a:ln w="12700">
            <a:noFill/>
            <a:prstDash val="solid"/>
          </a:ln>
        </p:spPr>
        <p:txBody>
          <a:bodyPr/>
          <a:lstStyle/>
          <a:p>
            <a:pPr marL="457200" indent="-457200">
              <a:buFont typeface="Wingdings" pitchFamily="2" charset="2"/>
              <a:buChar char="§"/>
            </a:pPr>
            <a:r>
              <a:rPr lang="en-JP" sz="3200" b="1" dirty="0">
                <a:latin typeface="Meiryo" panose="020B0604030504040204" pitchFamily="34" charset="-128"/>
                <a:ea typeface="Meiryo" panose="020B0604030504040204" pitchFamily="34" charset="-128"/>
              </a:rPr>
              <a:t>評価方法</a:t>
            </a:r>
            <a:r>
              <a:rPr lang="en-US" sz="3200" b="1" dirty="0">
                <a:latin typeface="Meiryo" panose="020B0604030504040204" pitchFamily="34" charset="-128"/>
                <a:ea typeface="Meiryo" panose="020B0604030504040204" pitchFamily="34" charset="-128"/>
              </a:rPr>
              <a:t>・1</a:t>
            </a:r>
            <a:endParaRPr lang="en-JP" sz="3200" b="1" dirty="0">
              <a:latin typeface="Meiryo" panose="020B0604030504040204" pitchFamily="34" charset="-128"/>
              <a:ea typeface="Meiryo" panose="020B0604030504040204" pitchFamily="34" charset="-128"/>
            </a:endParaRPr>
          </a:p>
          <a:p>
            <a:endParaRPr lang="en-JP" sz="3200" b="1" dirty="0">
              <a:latin typeface="Meiryo" panose="020B0604030504040204" pitchFamily="34" charset="-128"/>
              <a:ea typeface="Meiryo" panose="020B0604030504040204" pitchFamily="34" charset="-128"/>
            </a:endParaRPr>
          </a:p>
          <a:p>
            <a:endParaRPr lang="en-JP" sz="3200" dirty="0"/>
          </a:p>
        </p:txBody>
      </p:sp>
      <p:sp>
        <p:nvSpPr>
          <p:cNvPr id="7" name="TextBox 6">
            <a:extLst>
              <a:ext uri="{FF2B5EF4-FFF2-40B4-BE49-F238E27FC236}">
                <a16:creationId xmlns:a16="http://schemas.microsoft.com/office/drawing/2014/main" id="{4D850017-C662-EFD8-BEF7-C4BAA4CC723A}"/>
              </a:ext>
            </a:extLst>
          </p:cNvPr>
          <p:cNvSpPr txBox="1"/>
          <p:nvPr/>
        </p:nvSpPr>
        <p:spPr>
          <a:xfrm>
            <a:off x="258679" y="724040"/>
            <a:ext cx="8626642" cy="6001643"/>
          </a:xfrm>
          <a:prstGeom prst="rect">
            <a:avLst/>
          </a:prstGeom>
          <a:noFill/>
        </p:spPr>
        <p:txBody>
          <a:bodyPr wrap="square">
            <a:spAutoFit/>
          </a:bodyPr>
          <a:lstStyle/>
          <a:p>
            <a:r>
              <a:rPr lang="ja-JP" altLang="en-US" sz="2400">
                <a:latin typeface="Meiryo" panose="020B0604030504040204" pitchFamily="34" charset="-128"/>
                <a:ea typeface="Meiryo" panose="020B0604030504040204" pitchFamily="34" charset="-128"/>
              </a:rPr>
              <a:t>評価の観点</a:t>
            </a:r>
            <a:endParaRPr lang="en-US" altLang="ja-JP" sz="2400" dirty="0">
              <a:latin typeface="Meiryo" panose="020B0604030504040204" pitchFamily="34" charset="-128"/>
              <a:ea typeface="Meiryo" panose="020B0604030504040204" pitchFamily="34" charset="-128"/>
            </a:endParaRPr>
          </a:p>
          <a:p>
            <a:endParaRPr lang="ja-JP" altLang="en-US" sz="2400">
              <a:latin typeface="Meiryo" panose="020B0604030504040204" pitchFamily="34" charset="-128"/>
              <a:ea typeface="Meiryo" panose="020B0604030504040204" pitchFamily="34" charset="-128"/>
            </a:endParaRPr>
          </a:p>
          <a:p>
            <a:r>
              <a:rPr lang="en-US" altLang="ja-JP" sz="2400" dirty="0">
                <a:latin typeface="Meiryo" panose="020B0604030504040204" pitchFamily="34" charset="-128"/>
                <a:ea typeface="Meiryo" panose="020B0604030504040204" pitchFamily="34" charset="-128"/>
              </a:rPr>
              <a:t>1. </a:t>
            </a:r>
            <a:r>
              <a:rPr lang="ja-JP" altLang="en-US" sz="2400">
                <a:latin typeface="Meiryo" panose="020B0604030504040204" pitchFamily="34" charset="-128"/>
                <a:ea typeface="Meiryo" panose="020B0604030504040204" pitchFamily="34" charset="-128"/>
              </a:rPr>
              <a:t>検知性能</a:t>
            </a:r>
          </a:p>
          <a:p>
            <a:pPr marL="342900" indent="-342900">
              <a:buFont typeface="Wingdings" pitchFamily="2" charset="2"/>
              <a:buChar char="§"/>
            </a:pPr>
            <a:r>
              <a:rPr lang="ja-JP" altLang="en-US" sz="2400">
                <a:latin typeface="Meiryo" panose="020B0604030504040204" pitchFamily="34" charset="-128"/>
                <a:ea typeface="Meiryo" panose="020B0604030504040204" pitchFamily="34" charset="-128"/>
              </a:rPr>
              <a:t>攻撃を正しく検知できるか</a:t>
            </a:r>
            <a:endParaRPr lang="en-US" altLang="ja-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ja-JP" altLang="en-US" sz="2400">
                <a:latin typeface="Meiryo" panose="020B0604030504040204" pitchFamily="34" charset="-128"/>
                <a:ea typeface="Meiryo" panose="020B0604030504040204" pitchFamily="34" charset="-128"/>
              </a:rPr>
              <a:t>正常通信を誤ってブロックしないか</a:t>
            </a:r>
          </a:p>
          <a:p>
            <a:endParaRPr lang="ja-JP" altLang="en-US" sz="2400">
              <a:latin typeface="Meiryo" panose="020B0604030504040204" pitchFamily="34" charset="-128"/>
              <a:ea typeface="Meiryo" panose="020B0604030504040204" pitchFamily="34" charset="-128"/>
            </a:endParaRPr>
          </a:p>
          <a:p>
            <a:r>
              <a:rPr lang="en-US" altLang="ja-JP" sz="2400" dirty="0">
                <a:latin typeface="Meiryo" panose="020B0604030504040204" pitchFamily="34" charset="-128"/>
                <a:ea typeface="Meiryo" panose="020B0604030504040204" pitchFamily="34" charset="-128"/>
              </a:rPr>
              <a:t>2. </a:t>
            </a:r>
            <a:r>
              <a:rPr lang="ja-JP" altLang="en-US" sz="2400">
                <a:latin typeface="Meiryo" panose="020B0604030504040204" pitchFamily="34" charset="-128"/>
                <a:ea typeface="Meiryo" panose="020B0604030504040204" pitchFamily="34" charset="-128"/>
              </a:rPr>
              <a:t>リアルタイム性</a:t>
            </a:r>
            <a:endParaRPr lang="en-US" altLang="ja-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ja-JP" altLang="en-US" sz="2400">
                <a:latin typeface="Meiryo" panose="020B0604030504040204" pitchFamily="34" charset="-128"/>
                <a:ea typeface="Meiryo" panose="020B0604030504040204" pitchFamily="34" charset="-128"/>
              </a:rPr>
              <a:t>攻撃検知から遮断までの時間</a:t>
            </a:r>
            <a:endParaRPr lang="en-US" altLang="ja-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US" altLang="ja-JP" sz="2400" dirty="0">
                <a:latin typeface="Meiryo" panose="020B0604030504040204" pitchFamily="34" charset="-128"/>
                <a:ea typeface="Meiryo" panose="020B0604030504040204" pitchFamily="34" charset="-128"/>
              </a:rPr>
              <a:t>Raspberry Pi</a:t>
            </a:r>
            <a:r>
              <a:rPr lang="ja-JP" altLang="en-US" sz="2400">
                <a:latin typeface="Meiryo" panose="020B0604030504040204" pitchFamily="34" charset="-128"/>
                <a:ea typeface="Meiryo" panose="020B0604030504040204" pitchFamily="34" charset="-128"/>
              </a:rPr>
              <a:t>上で実用的に動作するか</a:t>
            </a:r>
            <a:endParaRPr lang="en-US" altLang="ja-JP" sz="2400" dirty="0">
              <a:latin typeface="Meiryo" panose="020B0604030504040204" pitchFamily="34" charset="-128"/>
              <a:ea typeface="Meiryo" panose="020B0604030504040204" pitchFamily="34" charset="-128"/>
            </a:endParaRPr>
          </a:p>
          <a:p>
            <a:endParaRPr lang="ja-JP" altLang="en-US" sz="2400">
              <a:latin typeface="Meiryo" panose="020B0604030504040204" pitchFamily="34" charset="-128"/>
              <a:ea typeface="Meiryo" panose="020B0604030504040204" pitchFamily="34" charset="-128"/>
            </a:endParaRPr>
          </a:p>
          <a:p>
            <a:r>
              <a:rPr lang="en-US" altLang="ja-JP" sz="2400" dirty="0">
                <a:latin typeface="Meiryo" panose="020B0604030504040204" pitchFamily="34" charset="-128"/>
                <a:ea typeface="Meiryo" panose="020B0604030504040204" pitchFamily="34" charset="-128"/>
              </a:rPr>
              <a:t>3. CoAP/DTLS</a:t>
            </a:r>
            <a:r>
              <a:rPr lang="ja-JP" altLang="en-US" sz="2400">
                <a:latin typeface="Meiryo" panose="020B0604030504040204" pitchFamily="34" charset="-128"/>
                <a:ea typeface="Meiryo" panose="020B0604030504040204" pitchFamily="34" charset="-128"/>
              </a:rPr>
              <a:t>への影響</a:t>
            </a:r>
            <a:endParaRPr lang="en-US" altLang="ja-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ja-JP" altLang="en-US" sz="2400">
                <a:latin typeface="Meiryo" panose="020B0604030504040204" pitchFamily="34" charset="-128"/>
                <a:ea typeface="Meiryo" panose="020B0604030504040204" pitchFamily="34" charset="-128"/>
              </a:rPr>
              <a:t>正常な暗号化通信に干渉しないか</a:t>
            </a:r>
            <a:endParaRPr lang="en-US" altLang="ja-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ja-JP" altLang="en-US" sz="2400">
                <a:latin typeface="Meiryo" panose="020B0604030504040204" pitchFamily="34" charset="-128"/>
                <a:ea typeface="Meiryo" panose="020B0604030504040204" pitchFamily="34" charset="-128"/>
              </a:rPr>
              <a:t>通信遅延はどの程度増加するか</a:t>
            </a:r>
          </a:p>
          <a:p>
            <a:endParaRPr lang="ja-JP" altLang="en-US" sz="2400">
              <a:latin typeface="Meiryo" panose="020B0604030504040204" pitchFamily="34" charset="-128"/>
              <a:ea typeface="Meiryo" panose="020B0604030504040204" pitchFamily="34" charset="-128"/>
            </a:endParaRPr>
          </a:p>
          <a:p>
            <a:r>
              <a:rPr lang="en-US" altLang="ja-JP" sz="2400" dirty="0">
                <a:latin typeface="Meiryo" panose="020B0604030504040204" pitchFamily="34" charset="-128"/>
                <a:ea typeface="Meiryo" panose="020B0604030504040204" pitchFamily="34" charset="-128"/>
              </a:rPr>
              <a:t>4. </a:t>
            </a:r>
            <a:r>
              <a:rPr lang="ja-JP" altLang="en-US" sz="2400">
                <a:latin typeface="Meiryo" panose="020B0604030504040204" pitchFamily="34" charset="-128"/>
                <a:ea typeface="Meiryo" panose="020B0604030504040204" pitchFamily="34" charset="-128"/>
              </a:rPr>
              <a:t>リソース消費</a:t>
            </a:r>
          </a:p>
          <a:p>
            <a:pPr marL="342900" indent="-342900">
              <a:buFont typeface="Wingdings" pitchFamily="2" charset="2"/>
              <a:buChar char="§"/>
            </a:pPr>
            <a:r>
              <a:rPr lang="en-US" altLang="ja-JP" sz="2400" dirty="0">
                <a:latin typeface="Meiryo" panose="020B0604030504040204" pitchFamily="34" charset="-128"/>
                <a:ea typeface="Meiryo" panose="020B0604030504040204" pitchFamily="34" charset="-128"/>
              </a:rPr>
              <a:t>CPU</a:t>
            </a:r>
            <a:r>
              <a:rPr lang="ja-JP" altLang="en-US" sz="2400">
                <a:latin typeface="Meiryo" panose="020B0604030504040204" pitchFamily="34" charset="-128"/>
                <a:ea typeface="Meiryo" panose="020B0604030504040204" pitchFamily="34" charset="-128"/>
              </a:rPr>
              <a:t>・メモリ使用量は許容範囲か</a:t>
            </a:r>
            <a:endParaRPr lang="en-JP" sz="2400" dirty="0">
              <a:latin typeface="Meiryo" panose="020B0604030504040204" pitchFamily="34" charset="-128"/>
              <a:ea typeface="Meiryo" panose="020B0604030504040204" pitchFamily="34" charset="-128"/>
            </a:endParaRPr>
          </a:p>
        </p:txBody>
      </p:sp>
      <p:sp>
        <p:nvSpPr>
          <p:cNvPr id="10" name="Slide Number Placeholder 9">
            <a:extLst>
              <a:ext uri="{FF2B5EF4-FFF2-40B4-BE49-F238E27FC236}">
                <a16:creationId xmlns:a16="http://schemas.microsoft.com/office/drawing/2014/main" id="{3AEBA63C-2DB6-0E48-FDF9-3FE9614AB397}"/>
              </a:ext>
            </a:extLst>
          </p:cNvPr>
          <p:cNvSpPr>
            <a:spLocks noGrp="1"/>
          </p:cNvSpPr>
          <p:nvPr>
            <p:ph type="sldNum" sz="quarter" idx="12"/>
          </p:nvPr>
        </p:nvSpPr>
        <p:spPr/>
        <p:txBody>
          <a:bodyPr/>
          <a:lstStyle/>
          <a:p>
            <a:fld id="{828F3BD4-1AF2-D144-8129-4D42AD448F5E}" type="slidenum">
              <a:rPr lang="en-JP" smtClean="0"/>
              <a:t>35</a:t>
            </a:fld>
            <a:endParaRPr lang="en-JP"/>
          </a:p>
        </p:txBody>
      </p:sp>
    </p:spTree>
    <p:extLst>
      <p:ext uri="{BB962C8B-B14F-4D97-AF65-F5344CB8AC3E}">
        <p14:creationId xmlns:p14="http://schemas.microsoft.com/office/powerpoint/2010/main" val="5958837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chemeClr val="tx2">
              <a:lumMod val="20000"/>
              <a:lumOff val="80000"/>
            </a:schemeClr>
          </a:solidFill>
          <a:ln w="12700">
            <a:noFill/>
            <a:prstDash val="solid"/>
          </a:ln>
        </p:spPr>
        <p:txBody>
          <a:bodyPr/>
          <a:lstStyle/>
          <a:p>
            <a:pPr marL="457200" indent="-457200">
              <a:buFont typeface="Wingdings" pitchFamily="2" charset="2"/>
              <a:buChar char="§"/>
            </a:pPr>
            <a:r>
              <a:rPr lang="en-JP" sz="3200" b="1" dirty="0">
                <a:latin typeface="Meiryo" panose="020B0604030504040204" pitchFamily="34" charset="-128"/>
                <a:ea typeface="Meiryo" panose="020B0604030504040204" pitchFamily="34" charset="-128"/>
              </a:rPr>
              <a:t>評価方法</a:t>
            </a:r>
            <a:r>
              <a:rPr lang="en-US" sz="3200" b="1" dirty="0">
                <a:latin typeface="Meiryo" panose="020B0604030504040204" pitchFamily="34" charset="-128"/>
                <a:ea typeface="Meiryo" panose="020B0604030504040204" pitchFamily="34" charset="-128"/>
              </a:rPr>
              <a:t>・2</a:t>
            </a:r>
            <a:endParaRPr lang="en-JP" sz="3200" b="1" dirty="0">
              <a:latin typeface="Meiryo" panose="020B0604030504040204" pitchFamily="34" charset="-128"/>
              <a:ea typeface="Meiryo" panose="020B0604030504040204" pitchFamily="34" charset="-128"/>
            </a:endParaRPr>
          </a:p>
          <a:p>
            <a:endParaRPr lang="en-JP" sz="3200" b="1" dirty="0">
              <a:latin typeface="Meiryo" panose="020B0604030504040204" pitchFamily="34" charset="-128"/>
              <a:ea typeface="Meiryo" panose="020B0604030504040204" pitchFamily="34" charset="-128"/>
            </a:endParaRPr>
          </a:p>
        </p:txBody>
      </p:sp>
      <p:sp>
        <p:nvSpPr>
          <p:cNvPr id="36" name="TextBox 35">
            <a:extLst>
              <a:ext uri="{FF2B5EF4-FFF2-40B4-BE49-F238E27FC236}">
                <a16:creationId xmlns:a16="http://schemas.microsoft.com/office/drawing/2014/main" id="{E1C811FB-DEF0-A18D-C58D-3A1849CCD647}"/>
              </a:ext>
            </a:extLst>
          </p:cNvPr>
          <p:cNvSpPr txBox="1"/>
          <p:nvPr/>
        </p:nvSpPr>
        <p:spPr>
          <a:xfrm>
            <a:off x="8135748" y="6243742"/>
            <a:ext cx="470000" cy="369332"/>
          </a:xfrm>
          <a:prstGeom prst="rect">
            <a:avLst/>
          </a:prstGeom>
          <a:noFill/>
        </p:spPr>
        <p:txBody>
          <a:bodyPr wrap="none" rtlCol="0">
            <a:spAutoFit/>
          </a:bodyPr>
          <a:lstStyle/>
          <a:p>
            <a:r>
              <a:rPr lang="en-JP" dirty="0">
                <a:latin typeface="Meiryo" panose="020B0604030504040204" pitchFamily="34" charset="-128"/>
                <a:ea typeface="Meiryo" panose="020B0604030504040204" pitchFamily="34" charset="-128"/>
              </a:rPr>
              <a:t>34</a:t>
            </a:r>
          </a:p>
        </p:txBody>
      </p:sp>
      <p:graphicFrame>
        <p:nvGraphicFramePr>
          <p:cNvPr id="3" name="Table 2">
            <a:extLst>
              <a:ext uri="{FF2B5EF4-FFF2-40B4-BE49-F238E27FC236}">
                <a16:creationId xmlns:a16="http://schemas.microsoft.com/office/drawing/2014/main" id="{C56362DC-F41C-40F3-8586-02BF865CA25C}"/>
              </a:ext>
            </a:extLst>
          </p:cNvPr>
          <p:cNvGraphicFramePr>
            <a:graphicFrameLocks noGrp="1"/>
          </p:cNvGraphicFramePr>
          <p:nvPr>
            <p:extLst>
              <p:ext uri="{D42A27DB-BD31-4B8C-83A1-F6EECF244321}">
                <p14:modId xmlns:p14="http://schemas.microsoft.com/office/powerpoint/2010/main" val="893485619"/>
              </p:ext>
            </p:extLst>
          </p:nvPr>
        </p:nvGraphicFramePr>
        <p:xfrm>
          <a:off x="91796" y="773934"/>
          <a:ext cx="8976003" cy="3787182"/>
        </p:xfrm>
        <a:graphic>
          <a:graphicData uri="http://schemas.openxmlformats.org/drawingml/2006/table">
            <a:tbl>
              <a:tblPr firstRow="1" firstCol="1" bandRow="1">
                <a:tableStyleId>{68D230F3-CF80-4859-8CE7-A43EE81993B5}</a:tableStyleId>
              </a:tblPr>
              <a:tblGrid>
                <a:gridCol w="2992001">
                  <a:extLst>
                    <a:ext uri="{9D8B030D-6E8A-4147-A177-3AD203B41FA5}">
                      <a16:colId xmlns:a16="http://schemas.microsoft.com/office/drawing/2014/main" val="915060801"/>
                    </a:ext>
                  </a:extLst>
                </a:gridCol>
                <a:gridCol w="2992001">
                  <a:extLst>
                    <a:ext uri="{9D8B030D-6E8A-4147-A177-3AD203B41FA5}">
                      <a16:colId xmlns:a16="http://schemas.microsoft.com/office/drawing/2014/main" val="764214879"/>
                    </a:ext>
                  </a:extLst>
                </a:gridCol>
                <a:gridCol w="2992001">
                  <a:extLst>
                    <a:ext uri="{9D8B030D-6E8A-4147-A177-3AD203B41FA5}">
                      <a16:colId xmlns:a16="http://schemas.microsoft.com/office/drawing/2014/main" val="1766381853"/>
                    </a:ext>
                  </a:extLst>
                </a:gridCol>
              </a:tblGrid>
              <a:tr h="631197">
                <a:tc>
                  <a:txBody>
                    <a:bodyPr/>
                    <a:lstStyle/>
                    <a:p>
                      <a:pPr algn="ctr"/>
                      <a:r>
                        <a:rPr lang="ja-JP" sz="2000" b="0" kern="0">
                          <a:effectLst/>
                          <a:latin typeface="Meiryo" panose="020B0604030504040204" pitchFamily="34" charset="-128"/>
                          <a:ea typeface="Meiryo" panose="020B0604030504040204" pitchFamily="34" charset="-128"/>
                        </a:rPr>
                        <a:t>指標</a:t>
                      </a:r>
                      <a:endParaRPr lang="en-JP" sz="20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endParaRPr lang="en-JP" sz="20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b="0" kern="0">
                          <a:effectLst/>
                          <a:latin typeface="Meiryo" panose="020B0604030504040204" pitchFamily="34" charset="-128"/>
                          <a:ea typeface="Meiryo" panose="020B0604030504040204" pitchFamily="34" charset="-128"/>
                        </a:rPr>
                        <a:t>目標値</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257351382"/>
                  </a:ext>
                </a:extLst>
              </a:tr>
              <a:tr h="631197">
                <a:tc>
                  <a:txBody>
                    <a:bodyPr/>
                    <a:lstStyle/>
                    <a:p>
                      <a:pPr algn="ctr"/>
                      <a:r>
                        <a:rPr lang="ja-JP" sz="2000" b="0" kern="0">
                          <a:effectLst/>
                          <a:latin typeface="Meiryo" panose="020B0604030504040204" pitchFamily="34" charset="-128"/>
                          <a:ea typeface="Meiryo" panose="020B0604030504040204" pitchFamily="34" charset="-128"/>
                        </a:rPr>
                        <a:t>検知精度（</a:t>
                      </a:r>
                      <a:r>
                        <a:rPr lang="en-JP" sz="2000" b="0" kern="0">
                          <a:effectLst/>
                          <a:latin typeface="Meiryo" panose="020B0604030504040204" pitchFamily="34" charset="-128"/>
                          <a:ea typeface="Meiryo" panose="020B0604030504040204" pitchFamily="34" charset="-128"/>
                        </a:rPr>
                        <a:t>Accuracy</a:t>
                      </a:r>
                      <a:r>
                        <a:rPr lang="ja-JP" sz="2000" b="0" kern="0">
                          <a:effectLst/>
                          <a:latin typeface="Meiryo" panose="020B0604030504040204" pitchFamily="34" charset="-128"/>
                          <a:ea typeface="Meiryo" panose="020B0604030504040204" pitchFamily="34" charset="-128"/>
                        </a:rPr>
                        <a:t>）</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b="0" kern="0">
                          <a:effectLst/>
                          <a:latin typeface="Meiryo" panose="020B0604030504040204" pitchFamily="34" charset="-128"/>
                          <a:ea typeface="Meiryo" panose="020B0604030504040204" pitchFamily="34" charset="-128"/>
                        </a:rPr>
                        <a:t>正常・攻撃を正しく分類できるか</a:t>
                      </a:r>
                      <a:endParaRPr lang="en-JP" sz="20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0" kern="0">
                          <a:effectLst/>
                          <a:latin typeface="Meiryo" panose="020B0604030504040204" pitchFamily="34" charset="-128"/>
                          <a:ea typeface="Meiryo" panose="020B0604030504040204" pitchFamily="34" charset="-128"/>
                        </a:rPr>
                        <a:t>95%</a:t>
                      </a:r>
                      <a:r>
                        <a:rPr lang="ja-JP" sz="2000" b="0" kern="0">
                          <a:effectLst/>
                          <a:latin typeface="Meiryo" panose="020B0604030504040204" pitchFamily="34" charset="-128"/>
                          <a:ea typeface="Meiryo" panose="020B0604030504040204" pitchFamily="34" charset="-128"/>
                        </a:rPr>
                        <a:t>以上</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001996826"/>
                  </a:ext>
                </a:extLst>
              </a:tr>
              <a:tr h="631197">
                <a:tc>
                  <a:txBody>
                    <a:bodyPr/>
                    <a:lstStyle/>
                    <a:p>
                      <a:pPr algn="ctr"/>
                      <a:r>
                        <a:rPr lang="ja-JP" sz="2000" b="0" kern="0">
                          <a:effectLst/>
                          <a:latin typeface="Meiryo" panose="020B0604030504040204" pitchFamily="34" charset="-128"/>
                          <a:ea typeface="Meiryo" panose="020B0604030504040204" pitchFamily="34" charset="-128"/>
                        </a:rPr>
                        <a:t>誤検知率（</a:t>
                      </a:r>
                      <a:r>
                        <a:rPr lang="en-JP" sz="2000" b="0" kern="0">
                          <a:effectLst/>
                          <a:latin typeface="Meiryo" panose="020B0604030504040204" pitchFamily="34" charset="-128"/>
                          <a:ea typeface="Meiryo" panose="020B0604030504040204" pitchFamily="34" charset="-128"/>
                        </a:rPr>
                        <a:t>FPR</a:t>
                      </a:r>
                      <a:r>
                        <a:rPr lang="ja-JP" sz="2000" b="0" kern="0">
                          <a:effectLst/>
                          <a:latin typeface="Meiryo" panose="020B0604030504040204" pitchFamily="34" charset="-128"/>
                          <a:ea typeface="Meiryo" panose="020B0604030504040204" pitchFamily="34" charset="-128"/>
                        </a:rPr>
                        <a:t>）</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b="0" kern="0">
                          <a:effectLst/>
                          <a:latin typeface="Meiryo" panose="020B0604030504040204" pitchFamily="34" charset="-128"/>
                          <a:ea typeface="Meiryo" panose="020B0604030504040204" pitchFamily="34" charset="-128"/>
                        </a:rPr>
                        <a:t>正常通信を攻撃と誤判定する割合</a:t>
                      </a:r>
                      <a:endParaRPr lang="en-JP" sz="20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0" kern="0">
                          <a:effectLst/>
                          <a:latin typeface="Meiryo" panose="020B0604030504040204" pitchFamily="34" charset="-128"/>
                          <a:ea typeface="Meiryo" panose="020B0604030504040204" pitchFamily="34" charset="-128"/>
                        </a:rPr>
                        <a:t>5%</a:t>
                      </a:r>
                      <a:r>
                        <a:rPr lang="ja-JP" sz="2000" b="0" kern="0">
                          <a:effectLst/>
                          <a:latin typeface="Meiryo" panose="020B0604030504040204" pitchFamily="34" charset="-128"/>
                          <a:ea typeface="Meiryo" panose="020B0604030504040204" pitchFamily="34" charset="-128"/>
                        </a:rPr>
                        <a:t>以下</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2952353336"/>
                  </a:ext>
                </a:extLst>
              </a:tr>
              <a:tr h="631197">
                <a:tc>
                  <a:txBody>
                    <a:bodyPr/>
                    <a:lstStyle/>
                    <a:p>
                      <a:pPr algn="ctr"/>
                      <a:r>
                        <a:rPr lang="ja-JP" sz="2000" b="0" kern="0">
                          <a:effectLst/>
                          <a:latin typeface="Meiryo" panose="020B0604030504040204" pitchFamily="34" charset="-128"/>
                          <a:ea typeface="Meiryo" panose="020B0604030504040204" pitchFamily="34" charset="-128"/>
                        </a:rPr>
                        <a:t>検知レイテンシ</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b="0" kern="0">
                          <a:effectLst/>
                          <a:latin typeface="Meiryo" panose="020B0604030504040204" pitchFamily="34" charset="-128"/>
                          <a:ea typeface="Meiryo" panose="020B0604030504040204" pitchFamily="34" charset="-128"/>
                        </a:rPr>
                        <a:t>パケット受信から遮断までの時間</a:t>
                      </a:r>
                      <a:endParaRPr lang="en-JP" sz="20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0" kern="0" dirty="0">
                          <a:effectLst/>
                          <a:latin typeface="Meiryo" panose="020B0604030504040204" pitchFamily="34" charset="-128"/>
                          <a:ea typeface="Meiryo" panose="020B0604030504040204" pitchFamily="34" charset="-128"/>
                        </a:rPr>
                        <a:t>100ms</a:t>
                      </a:r>
                      <a:r>
                        <a:rPr lang="ja-JP" sz="2000" b="0" kern="0">
                          <a:effectLst/>
                          <a:latin typeface="Meiryo" panose="020B0604030504040204" pitchFamily="34" charset="-128"/>
                          <a:ea typeface="Meiryo" panose="020B0604030504040204" pitchFamily="34" charset="-128"/>
                        </a:rPr>
                        <a:t>以内</a:t>
                      </a:r>
                      <a:endParaRPr lang="en-JP" sz="20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728723644"/>
                  </a:ext>
                </a:extLst>
              </a:tr>
              <a:tr h="631197">
                <a:tc>
                  <a:txBody>
                    <a:bodyPr/>
                    <a:lstStyle/>
                    <a:p>
                      <a:pPr algn="ctr"/>
                      <a:r>
                        <a:rPr lang="en-JP" sz="2000" b="0" kern="0">
                          <a:effectLst/>
                          <a:latin typeface="Meiryo" panose="020B0604030504040204" pitchFamily="34" charset="-128"/>
                          <a:ea typeface="Meiryo" panose="020B0604030504040204" pitchFamily="34" charset="-128"/>
                        </a:rPr>
                        <a:t>CPU</a:t>
                      </a:r>
                      <a:r>
                        <a:rPr lang="ja-JP" sz="2000" b="0" kern="0">
                          <a:effectLst/>
                          <a:latin typeface="Meiryo" panose="020B0604030504040204" pitchFamily="34" charset="-128"/>
                          <a:ea typeface="Meiryo" panose="020B0604030504040204" pitchFamily="34" charset="-128"/>
                        </a:rPr>
                        <a:t>使用率</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0" kern="0">
                          <a:effectLst/>
                          <a:latin typeface="Meiryo" panose="020B0604030504040204" pitchFamily="34" charset="-128"/>
                          <a:ea typeface="Meiryo" panose="020B0604030504040204" pitchFamily="34" charset="-128"/>
                        </a:rPr>
                        <a:t>Raspberry Pi</a:t>
                      </a:r>
                      <a:r>
                        <a:rPr lang="ja-JP" sz="2000" b="0" kern="0">
                          <a:effectLst/>
                          <a:latin typeface="Meiryo" panose="020B0604030504040204" pitchFamily="34" charset="-128"/>
                          <a:ea typeface="Meiryo" panose="020B0604030504040204" pitchFamily="34" charset="-128"/>
                        </a:rPr>
                        <a:t>上での処理負荷</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b="0" kern="0">
                          <a:effectLst/>
                          <a:latin typeface="Meiryo" panose="020B0604030504040204" pitchFamily="34" charset="-128"/>
                          <a:ea typeface="Meiryo" panose="020B0604030504040204" pitchFamily="34" charset="-128"/>
                        </a:rPr>
                        <a:t>測定・記録</a:t>
                      </a:r>
                      <a:endParaRPr lang="en-JP" sz="20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437444323"/>
                  </a:ext>
                </a:extLst>
              </a:tr>
              <a:tr h="631197">
                <a:tc>
                  <a:txBody>
                    <a:bodyPr/>
                    <a:lstStyle/>
                    <a:p>
                      <a:pPr algn="ctr"/>
                      <a:r>
                        <a:rPr lang="ja-JP" sz="2000" b="0" kern="0">
                          <a:effectLst/>
                          <a:latin typeface="Meiryo" panose="020B0604030504040204" pitchFamily="34" charset="-128"/>
                          <a:ea typeface="Meiryo" panose="020B0604030504040204" pitchFamily="34" charset="-128"/>
                        </a:rPr>
                        <a:t>メモリ使用量</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0" kern="0">
                          <a:effectLst/>
                          <a:latin typeface="Meiryo" panose="020B0604030504040204" pitchFamily="34" charset="-128"/>
                          <a:ea typeface="Meiryo" panose="020B0604030504040204" pitchFamily="34" charset="-128"/>
                        </a:rPr>
                        <a:t>RAM</a:t>
                      </a:r>
                      <a:r>
                        <a:rPr lang="ja-JP" sz="2000" b="0" kern="0">
                          <a:effectLst/>
                          <a:latin typeface="Meiryo" panose="020B0604030504040204" pitchFamily="34" charset="-128"/>
                          <a:ea typeface="Meiryo" panose="020B0604030504040204" pitchFamily="34" charset="-128"/>
                        </a:rPr>
                        <a:t>消費量</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b="0" kern="0">
                          <a:effectLst/>
                          <a:latin typeface="Meiryo" panose="020B0604030504040204" pitchFamily="34" charset="-128"/>
                          <a:ea typeface="Meiryo" panose="020B0604030504040204" pitchFamily="34" charset="-128"/>
                        </a:rPr>
                        <a:t>測定・記録</a:t>
                      </a:r>
                      <a:endParaRPr lang="en-JP" sz="20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996604605"/>
                  </a:ext>
                </a:extLst>
              </a:tr>
            </a:tbl>
          </a:graphicData>
        </a:graphic>
      </p:graphicFrame>
      <p:sp>
        <p:nvSpPr>
          <p:cNvPr id="5" name="TextBox 4">
            <a:extLst>
              <a:ext uri="{FF2B5EF4-FFF2-40B4-BE49-F238E27FC236}">
                <a16:creationId xmlns:a16="http://schemas.microsoft.com/office/drawing/2014/main" id="{2FB5AE8D-FC21-07B5-2F44-DAED2324C71A}"/>
              </a:ext>
            </a:extLst>
          </p:cNvPr>
          <p:cNvSpPr txBox="1"/>
          <p:nvPr/>
        </p:nvSpPr>
        <p:spPr>
          <a:xfrm>
            <a:off x="220437" y="5043413"/>
            <a:ext cx="6408963" cy="1200329"/>
          </a:xfrm>
          <a:prstGeom prst="rect">
            <a:avLst/>
          </a:prstGeom>
          <a:noFill/>
        </p:spPr>
        <p:txBody>
          <a:bodyPr wrap="square">
            <a:spAutoFit/>
          </a:bodyPr>
          <a:lstStyle/>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正常トラフィックのみ → FPR測定</a:t>
            </a:r>
            <a:endParaRPr lang="mn-MN"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攻撃トラフィックのみ → 検知率測定</a:t>
            </a:r>
            <a:endParaRPr lang="mn-MN"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正常＋攻撃混在 → 総合精度測定</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470010" y="1635919"/>
            <a:ext cx="7886700" cy="4856955"/>
          </a:xfrm>
        </p:spPr>
        <p:txBody>
          <a:bodyPr>
            <a:normAutofit lnSpcReduction="10000"/>
          </a:bodyPr>
          <a:lstStyle/>
          <a:p>
            <a:pPr marL="476219" indent="-342878">
              <a:lnSpc>
                <a:spcPct val="150000"/>
              </a:lnSpc>
              <a:spcBef>
                <a:spcPts val="0"/>
              </a:spcBef>
              <a:buSzPts val="2800"/>
              <a:buFont typeface="Wingdings" pitchFamily="2" charset="2"/>
              <a:buChar char="§"/>
            </a:pPr>
            <a:r>
              <a:rPr lang="en-US" altLang="ja-JP" sz="3100" dirty="0">
                <a:latin typeface="Meiryo" panose="020B0604030504040204" pitchFamily="34" charset="-128"/>
                <a:ea typeface="Meiryo" panose="020B0604030504040204" pitchFamily="34" charset="-128"/>
              </a:rPr>
              <a:t> </a:t>
            </a:r>
            <a:r>
              <a:rPr lang="ja-JP" altLang="en-US" sz="3100">
                <a:latin typeface="Meiryo" panose="020B0604030504040204" pitchFamily="34" charset="-128"/>
                <a:ea typeface="Meiryo" panose="020B0604030504040204" pitchFamily="34" charset="-128"/>
              </a:rPr>
              <a:t>研究背景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研究目的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関連技術・関連研究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提案手法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評価手法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1" i="0" u="none" strike="noStrike">
                <a:solidFill>
                  <a:srgbClr val="C00000"/>
                </a:solidFill>
                <a:effectLst/>
                <a:latin typeface="Meiryo" panose="020B0604030504040204" pitchFamily="34" charset="-128"/>
                <a:ea typeface="Meiryo" panose="020B0604030504040204" pitchFamily="34" charset="-128"/>
              </a:rPr>
              <a:t>現在の進捗状況</a:t>
            </a:r>
            <a:endParaRPr lang="mn-MN" altLang="ja-JP" sz="3100" b="1" dirty="0">
              <a:solidFill>
                <a:srgbClr val="C00000"/>
              </a:solidFill>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まとめ       </a:t>
            </a:r>
            <a:endParaRPr kumimoji="1"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endParaRPr lang="en-US" altLang="ja-JP" sz="2500" dirty="0">
              <a:latin typeface="Meiryo UI" panose="020B0604030504040204" pitchFamily="50" charset="-128"/>
              <a:ea typeface="Meiryo UI" panose="020B0604030504040204" pitchFamily="50" charset="-128"/>
            </a:endParaRPr>
          </a:p>
          <a:p>
            <a:endParaRPr lang="en-JP" sz="25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37</a:t>
            </a:fld>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50F375AD-778D-AB44-5C16-9E3EFA85933A}"/>
              </a:ext>
            </a:extLst>
          </p:cNvPr>
          <p:cNvSpPr txBox="1"/>
          <p:nvPr/>
        </p:nvSpPr>
        <p:spPr>
          <a:xfrm>
            <a:off x="5987668" y="3263465"/>
            <a:ext cx="4572000" cy="369332"/>
          </a:xfrm>
          <a:prstGeom prst="rect">
            <a:avLst/>
          </a:prstGeom>
          <a:noFill/>
        </p:spPr>
        <p:txBody>
          <a:bodyPr wrap="square">
            <a:spAutoFit/>
          </a:bodyPr>
          <a:lstStyle/>
          <a:p>
            <a:r>
              <a:rPr lang="en-JP" b="0" dirty="0">
                <a:effectLst/>
              </a:rPr>
              <a:t> </a:t>
            </a:r>
            <a:endParaRPr lang="en-JP" dirty="0"/>
          </a:p>
        </p:txBody>
      </p:sp>
    </p:spTree>
    <p:extLst>
      <p:ext uri="{BB962C8B-B14F-4D97-AF65-F5344CB8AC3E}">
        <p14:creationId xmlns:p14="http://schemas.microsoft.com/office/powerpoint/2010/main" val="40132603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0C39319-43E4-528B-EB6D-2A73F540B207}"/>
              </a:ext>
            </a:extLst>
          </p:cNvPr>
          <p:cNvGraphicFramePr>
            <a:graphicFrameLocks noGrp="1"/>
          </p:cNvGraphicFramePr>
          <p:nvPr>
            <p:extLst>
              <p:ext uri="{D42A27DB-BD31-4B8C-83A1-F6EECF244321}">
                <p14:modId xmlns:p14="http://schemas.microsoft.com/office/powerpoint/2010/main" val="3225087942"/>
              </p:ext>
            </p:extLst>
          </p:nvPr>
        </p:nvGraphicFramePr>
        <p:xfrm>
          <a:off x="198726" y="777747"/>
          <a:ext cx="8668047" cy="5529726"/>
        </p:xfrm>
        <a:graphic>
          <a:graphicData uri="http://schemas.openxmlformats.org/drawingml/2006/table">
            <a:tbl>
              <a:tblPr>
                <a:tableStyleId>{00A15C55-8517-42AA-B614-E9B94910E393}</a:tableStyleId>
              </a:tblPr>
              <a:tblGrid>
                <a:gridCol w="1691963">
                  <a:extLst>
                    <a:ext uri="{9D8B030D-6E8A-4147-A177-3AD203B41FA5}">
                      <a16:colId xmlns:a16="http://schemas.microsoft.com/office/drawing/2014/main" val="1021150111"/>
                    </a:ext>
                  </a:extLst>
                </a:gridCol>
                <a:gridCol w="515831">
                  <a:extLst>
                    <a:ext uri="{9D8B030D-6E8A-4147-A177-3AD203B41FA5}">
                      <a16:colId xmlns:a16="http://schemas.microsoft.com/office/drawing/2014/main" val="2730429466"/>
                    </a:ext>
                  </a:extLst>
                </a:gridCol>
                <a:gridCol w="616482">
                  <a:extLst>
                    <a:ext uri="{9D8B030D-6E8A-4147-A177-3AD203B41FA5}">
                      <a16:colId xmlns:a16="http://schemas.microsoft.com/office/drawing/2014/main" val="2366417431"/>
                    </a:ext>
                  </a:extLst>
                </a:gridCol>
                <a:gridCol w="540993">
                  <a:extLst>
                    <a:ext uri="{9D8B030D-6E8A-4147-A177-3AD203B41FA5}">
                      <a16:colId xmlns:a16="http://schemas.microsoft.com/office/drawing/2014/main" val="44532495"/>
                    </a:ext>
                  </a:extLst>
                </a:gridCol>
                <a:gridCol w="566156">
                  <a:extLst>
                    <a:ext uri="{9D8B030D-6E8A-4147-A177-3AD203B41FA5}">
                      <a16:colId xmlns:a16="http://schemas.microsoft.com/office/drawing/2014/main" val="4236980589"/>
                    </a:ext>
                  </a:extLst>
                </a:gridCol>
                <a:gridCol w="553575">
                  <a:extLst>
                    <a:ext uri="{9D8B030D-6E8A-4147-A177-3AD203B41FA5}">
                      <a16:colId xmlns:a16="http://schemas.microsoft.com/office/drawing/2014/main" val="715787506"/>
                    </a:ext>
                  </a:extLst>
                </a:gridCol>
                <a:gridCol w="553574">
                  <a:extLst>
                    <a:ext uri="{9D8B030D-6E8A-4147-A177-3AD203B41FA5}">
                      <a16:colId xmlns:a16="http://schemas.microsoft.com/office/drawing/2014/main" val="3988664764"/>
                    </a:ext>
                  </a:extLst>
                </a:gridCol>
                <a:gridCol w="704550">
                  <a:extLst>
                    <a:ext uri="{9D8B030D-6E8A-4147-A177-3AD203B41FA5}">
                      <a16:colId xmlns:a16="http://schemas.microsoft.com/office/drawing/2014/main" val="414039997"/>
                    </a:ext>
                  </a:extLst>
                </a:gridCol>
                <a:gridCol w="654225">
                  <a:extLst>
                    <a:ext uri="{9D8B030D-6E8A-4147-A177-3AD203B41FA5}">
                      <a16:colId xmlns:a16="http://schemas.microsoft.com/office/drawing/2014/main" val="2876268700"/>
                    </a:ext>
                  </a:extLst>
                </a:gridCol>
                <a:gridCol w="603900">
                  <a:extLst>
                    <a:ext uri="{9D8B030D-6E8A-4147-A177-3AD203B41FA5}">
                      <a16:colId xmlns:a16="http://schemas.microsoft.com/office/drawing/2014/main" val="1979359521"/>
                    </a:ext>
                  </a:extLst>
                </a:gridCol>
                <a:gridCol w="729712">
                  <a:extLst>
                    <a:ext uri="{9D8B030D-6E8A-4147-A177-3AD203B41FA5}">
                      <a16:colId xmlns:a16="http://schemas.microsoft.com/office/drawing/2014/main" val="2287624637"/>
                    </a:ext>
                  </a:extLst>
                </a:gridCol>
                <a:gridCol w="465507">
                  <a:extLst>
                    <a:ext uri="{9D8B030D-6E8A-4147-A177-3AD203B41FA5}">
                      <a16:colId xmlns:a16="http://schemas.microsoft.com/office/drawing/2014/main" val="2610930124"/>
                    </a:ext>
                  </a:extLst>
                </a:gridCol>
                <a:gridCol w="471579">
                  <a:extLst>
                    <a:ext uri="{9D8B030D-6E8A-4147-A177-3AD203B41FA5}">
                      <a16:colId xmlns:a16="http://schemas.microsoft.com/office/drawing/2014/main" val="2247617909"/>
                    </a:ext>
                  </a:extLst>
                </a:gridCol>
              </a:tblGrid>
              <a:tr h="680438">
                <a:tc>
                  <a:txBody>
                    <a:bodyPr/>
                    <a:lstStyle/>
                    <a:p>
                      <a:r>
                        <a:rPr lang="ja-JP" altLang="en-US" sz="2400" b="1">
                          <a:latin typeface="Meiryo" panose="020B0604030504040204" pitchFamily="34" charset="-128"/>
                          <a:ea typeface="Meiryo" panose="020B0604030504040204" pitchFamily="34" charset="-128"/>
                        </a:rPr>
                        <a:t>作業項目</a:t>
                      </a:r>
                    </a:p>
                  </a:txBody>
                  <a:tcPr marL="43513" marR="43513" marT="21757" marB="21757" anchor="ctr"/>
                </a:tc>
                <a:tc>
                  <a:txBody>
                    <a:bodyPr/>
                    <a:lstStyle/>
                    <a:p>
                      <a:r>
                        <a:rPr lang="en-US" altLang="ja-JP" sz="1600" dirty="0">
                          <a:latin typeface="Meiryo" panose="020B0604030504040204" pitchFamily="34" charset="-128"/>
                          <a:ea typeface="Meiryo" panose="020B0604030504040204" pitchFamily="34" charset="-128"/>
                        </a:rPr>
                        <a:t>4</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5</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6</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7</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8</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9</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10</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11</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12</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dirty="0">
                          <a:latin typeface="Meiryo" panose="020B0604030504040204" pitchFamily="34" charset="-128"/>
                          <a:ea typeface="Meiryo" panose="020B0604030504040204" pitchFamily="34" charset="-128"/>
                        </a:rPr>
                        <a:t>1</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dirty="0">
                          <a:latin typeface="Meiryo" panose="020B0604030504040204" pitchFamily="34" charset="-128"/>
                          <a:ea typeface="Meiryo" panose="020B0604030504040204" pitchFamily="34" charset="-128"/>
                        </a:rPr>
                        <a:t>2</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3</a:t>
                      </a:r>
                      <a:r>
                        <a:rPr lang="ja-JP" altLang="en-US" sz="1600">
                          <a:latin typeface="Meiryo" panose="020B0604030504040204" pitchFamily="34" charset="-128"/>
                          <a:ea typeface="Meiryo" panose="020B0604030504040204" pitchFamily="34" charset="-128"/>
                        </a:rPr>
                        <a:t>月</a:t>
                      </a:r>
                    </a:p>
                  </a:txBody>
                  <a:tcPr marL="43513" marR="43513" marT="21757" marB="21757" anchor="ctr"/>
                </a:tc>
                <a:extLst>
                  <a:ext uri="{0D108BD9-81ED-4DB2-BD59-A6C34878D82A}">
                    <a16:rowId xmlns:a16="http://schemas.microsoft.com/office/drawing/2014/main" val="347869850"/>
                  </a:ext>
                </a:extLst>
              </a:tr>
              <a:tr h="724606">
                <a:tc>
                  <a:txBody>
                    <a:bodyPr/>
                    <a:lstStyle/>
                    <a:p>
                      <a:r>
                        <a:rPr lang="ja-JP" altLang="en-US" sz="2400" b="1">
                          <a:latin typeface="Meiryo" panose="020B0604030504040204" pitchFamily="34" charset="-128"/>
                          <a:ea typeface="Meiryo" panose="020B0604030504040204" pitchFamily="34" charset="-128"/>
                        </a:rPr>
                        <a:t>文献調査</a:t>
                      </a:r>
                    </a:p>
                  </a:txBody>
                  <a:tcPr marL="43513" marR="43513" marT="21757" marB="21757" anchor="ctr"/>
                </a:tc>
                <a:tc>
                  <a:txBody>
                    <a:bodyPr/>
                    <a:lstStyle/>
                    <a:p>
                      <a:endParaRPr lang="ja-JP" altLang="en-US" sz="1600">
                        <a:latin typeface="Meiryo" panose="020B0604030504040204" pitchFamily="34" charset="-128"/>
                        <a:ea typeface="Meiryo" panose="020B0604030504040204" pitchFamily="34" charset="-128"/>
                      </a:endParaRPr>
                    </a:p>
                  </a:txBody>
                  <a:tcPr marL="43513" marR="43513" marT="21757" marB="21757"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a:latin typeface="Meiryo" panose="020B0604030504040204" pitchFamily="34" charset="-128"/>
                          <a:ea typeface="Meiryo" panose="020B0604030504040204" pitchFamily="34" charset="-128"/>
                        </a:rPr>
                        <a:t>★今</a:t>
                      </a:r>
                    </a:p>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extLst>
                  <a:ext uri="{0D108BD9-81ED-4DB2-BD59-A6C34878D82A}">
                    <a16:rowId xmlns:a16="http://schemas.microsoft.com/office/drawing/2014/main" val="3937407494"/>
                  </a:ext>
                </a:extLst>
              </a:tr>
              <a:tr h="724606">
                <a:tc>
                  <a:txBody>
                    <a:bodyPr/>
                    <a:lstStyle/>
                    <a:p>
                      <a:r>
                        <a:rPr lang="ja-JP" altLang="en-US" sz="2400" b="1">
                          <a:latin typeface="Meiryo" panose="020B0604030504040204" pitchFamily="34" charset="-128"/>
                          <a:ea typeface="Meiryo" panose="020B0604030504040204" pitchFamily="34" charset="-128"/>
                        </a:rPr>
                        <a:t>環境構築</a:t>
                      </a: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r>
                        <a:rPr lang="en-JP" sz="1600" dirty="0">
                          <a:latin typeface="Meiryo" panose="020B0604030504040204" pitchFamily="34" charset="-128"/>
                          <a:ea typeface="Meiryo" panose="020B0604030504040204" pitchFamily="34" charset="-128"/>
                        </a:rPr>
                        <a:t>■</a:t>
                      </a:r>
                    </a:p>
                  </a:txBody>
                  <a:tcPr marL="43513" marR="43513" marT="21757" marB="21757" anchor="ctr"/>
                </a:tc>
                <a:tc>
                  <a:txBody>
                    <a:bodyPr/>
                    <a:lstStyle/>
                    <a:p>
                      <a:r>
                        <a:rPr lang="en-JP" sz="1600" dirty="0">
                          <a:latin typeface="Meiryo" panose="020B0604030504040204" pitchFamily="34" charset="-128"/>
                          <a:ea typeface="Meiryo" panose="020B0604030504040204" pitchFamily="34" charset="-128"/>
                        </a:rPr>
                        <a:t>■</a:t>
                      </a: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extLst>
                  <a:ext uri="{0D108BD9-81ED-4DB2-BD59-A6C34878D82A}">
                    <a16:rowId xmlns:a16="http://schemas.microsoft.com/office/drawing/2014/main" val="102510619"/>
                  </a:ext>
                </a:extLst>
              </a:tr>
              <a:tr h="1059041">
                <a:tc>
                  <a:txBody>
                    <a:bodyPr/>
                    <a:lstStyle/>
                    <a:p>
                      <a:r>
                        <a:rPr lang="ja-JP" altLang="en-US" sz="2400" b="1">
                          <a:latin typeface="Meiryo" panose="020B0604030504040204" pitchFamily="34" charset="-128"/>
                          <a:ea typeface="Meiryo" panose="020B0604030504040204" pitchFamily="34" charset="-128"/>
                        </a:rPr>
                        <a:t>システム</a:t>
                      </a:r>
                      <a:endParaRPr lang="mn-MN" altLang="ja-JP" sz="2400" b="1" dirty="0">
                        <a:latin typeface="Meiryo" panose="020B0604030504040204" pitchFamily="34" charset="-128"/>
                        <a:ea typeface="Meiryo" panose="020B0604030504040204" pitchFamily="34" charset="-128"/>
                      </a:endParaRPr>
                    </a:p>
                    <a:p>
                      <a:r>
                        <a:rPr lang="ja-JP" altLang="en-US" sz="2400" b="1">
                          <a:latin typeface="Meiryo" panose="020B0604030504040204" pitchFamily="34" charset="-128"/>
                          <a:ea typeface="Meiryo" panose="020B0604030504040204" pitchFamily="34" charset="-128"/>
                        </a:rPr>
                        <a:t>実装</a:t>
                      </a: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extLst>
                  <a:ext uri="{0D108BD9-81ED-4DB2-BD59-A6C34878D82A}">
                    <a16:rowId xmlns:a16="http://schemas.microsoft.com/office/drawing/2014/main" val="2103282200"/>
                  </a:ext>
                </a:extLst>
              </a:tr>
              <a:tr h="891823">
                <a:tc>
                  <a:txBody>
                    <a:bodyPr/>
                    <a:lstStyle/>
                    <a:p>
                      <a:r>
                        <a:rPr lang="ja-JP" altLang="en-US" sz="2400" b="1">
                          <a:latin typeface="Meiryo" panose="020B0604030504040204" pitchFamily="34" charset="-128"/>
                          <a:ea typeface="Meiryo" panose="020B0604030504040204" pitchFamily="34" charset="-128"/>
                        </a:rPr>
                        <a:t>実験・評価</a:t>
                      </a: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r>
                        <a:rPr lang="en-JP" sz="1600">
                          <a:latin typeface="Meiryo" panose="020B0604030504040204" pitchFamily="34" charset="-128"/>
                          <a:ea typeface="Meiryo" panose="020B0604030504040204" pitchFamily="34" charset="-128"/>
                        </a:rPr>
                        <a:t>■</a:t>
                      </a:r>
                    </a:p>
                  </a:txBody>
                  <a:tcPr marL="43513" marR="43513" marT="21757" marB="21757" anchor="ctr"/>
                </a:tc>
                <a:tc>
                  <a:txBody>
                    <a:bodyPr/>
                    <a:lstStyle/>
                    <a:p>
                      <a:r>
                        <a:rPr lang="en-JP" sz="1600">
                          <a:latin typeface="Meiryo" panose="020B0604030504040204" pitchFamily="34" charset="-128"/>
                          <a:ea typeface="Meiryo" panose="020B0604030504040204" pitchFamily="34" charset="-128"/>
                        </a:rPr>
                        <a:t>■</a:t>
                      </a: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extLst>
                  <a:ext uri="{0D108BD9-81ED-4DB2-BD59-A6C34878D82A}">
                    <a16:rowId xmlns:a16="http://schemas.microsoft.com/office/drawing/2014/main" val="1509182322"/>
                  </a:ext>
                </a:extLst>
              </a:tr>
              <a:tr h="724606">
                <a:tc>
                  <a:txBody>
                    <a:bodyPr/>
                    <a:lstStyle/>
                    <a:p>
                      <a:r>
                        <a:rPr lang="ja-JP" altLang="en-US" sz="2400" b="1">
                          <a:latin typeface="Meiryo" panose="020B0604030504040204" pitchFamily="34" charset="-128"/>
                          <a:ea typeface="Meiryo" panose="020B0604030504040204" pitchFamily="34" charset="-128"/>
                        </a:rPr>
                        <a:t>論文執筆</a:t>
                      </a: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extLst>
                  <a:ext uri="{0D108BD9-81ED-4DB2-BD59-A6C34878D82A}">
                    <a16:rowId xmlns:a16="http://schemas.microsoft.com/office/drawing/2014/main" val="3043378197"/>
                  </a:ext>
                </a:extLst>
              </a:tr>
              <a:tr h="724606">
                <a:tc>
                  <a:txBody>
                    <a:bodyPr/>
                    <a:lstStyle/>
                    <a:p>
                      <a:r>
                        <a:rPr lang="ja-JP" altLang="en-US" sz="2400" b="1">
                          <a:latin typeface="Meiryo" panose="020B0604030504040204" pitchFamily="34" charset="-128"/>
                          <a:ea typeface="Meiryo" panose="020B0604030504040204" pitchFamily="34" charset="-128"/>
                        </a:rPr>
                        <a:t>最終発表</a:t>
                      </a: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extLst>
                  <a:ext uri="{0D108BD9-81ED-4DB2-BD59-A6C34878D82A}">
                    <a16:rowId xmlns:a16="http://schemas.microsoft.com/office/drawing/2014/main" val="4044141026"/>
                  </a:ext>
                </a:extLst>
              </a:tr>
            </a:tbl>
          </a:graphicData>
        </a:graphic>
      </p:graphicFrame>
      <p:sp>
        <p:nvSpPr>
          <p:cNvPr id="3" name="Shape 30">
            <a:extLst>
              <a:ext uri="{FF2B5EF4-FFF2-40B4-BE49-F238E27FC236}">
                <a16:creationId xmlns:a16="http://schemas.microsoft.com/office/drawing/2014/main" id="{D0E98E2F-E77B-500C-54D8-A90F525EBF3D}"/>
              </a:ext>
            </a:extLst>
          </p:cNvPr>
          <p:cNvSpPr/>
          <p:nvPr/>
        </p:nvSpPr>
        <p:spPr>
          <a:xfrm>
            <a:off x="1918078" y="1522108"/>
            <a:ext cx="474043" cy="484751"/>
          </a:xfrm>
          <a:prstGeom prst="rect">
            <a:avLst/>
          </a:prstGeom>
          <a:solidFill>
            <a:srgbClr val="2563A8"/>
          </a:solidFill>
          <a:ln w="12700">
            <a:solidFill>
              <a:srgbClr val="E8EDF3"/>
            </a:solidFill>
            <a:prstDash val="solid"/>
          </a:ln>
        </p:spPr>
        <p:txBody>
          <a:bodyPr/>
          <a:lstStyle/>
          <a:p>
            <a:endParaRPr lang="en-JP" dirty="0"/>
          </a:p>
        </p:txBody>
      </p:sp>
      <p:sp>
        <p:nvSpPr>
          <p:cNvPr id="5" name="TextBox 4">
            <a:extLst>
              <a:ext uri="{FF2B5EF4-FFF2-40B4-BE49-F238E27FC236}">
                <a16:creationId xmlns:a16="http://schemas.microsoft.com/office/drawing/2014/main" id="{7411B321-E088-AD72-D2D8-E62C6FF5EDE4}"/>
              </a:ext>
            </a:extLst>
          </p:cNvPr>
          <p:cNvSpPr txBox="1"/>
          <p:nvPr/>
        </p:nvSpPr>
        <p:spPr>
          <a:xfrm>
            <a:off x="616219" y="235087"/>
            <a:ext cx="5588462" cy="954107"/>
          </a:xfrm>
          <a:prstGeom prst="rect">
            <a:avLst/>
          </a:prstGeom>
          <a:noFill/>
        </p:spPr>
        <p:txBody>
          <a:bodyPr wrap="square">
            <a:spAutoFit/>
          </a:bodyPr>
          <a:lstStyle/>
          <a:p>
            <a:pPr marL="342900" indent="-342900" rtl="0">
              <a:spcBef>
                <a:spcPts val="0"/>
              </a:spcBef>
              <a:spcAft>
                <a:spcPts val="0"/>
              </a:spcAft>
              <a:buFont typeface="Wingdings" pitchFamily="2" charset="2"/>
              <a:buChar char="§"/>
            </a:pPr>
            <a:r>
              <a:rPr lang="ja-JP" altLang="en-US" sz="2800" b="1" i="0" u="none" strike="noStrike">
                <a:solidFill>
                  <a:srgbClr val="000000"/>
                </a:solidFill>
                <a:effectLst/>
                <a:latin typeface="Meiryo" panose="020B0604030504040204" pitchFamily="34" charset="-128"/>
                <a:ea typeface="Meiryo" panose="020B0604030504040204" pitchFamily="34" charset="-128"/>
              </a:rPr>
              <a:t>現在の進捗状況</a:t>
            </a:r>
            <a:br>
              <a:rPr lang="ja-JP" altLang="en-US" sz="2800" b="1">
                <a:latin typeface="Meiryo" panose="020B0604030504040204" pitchFamily="34" charset="-128"/>
                <a:ea typeface="Meiryo" panose="020B0604030504040204" pitchFamily="34" charset="-128"/>
              </a:rPr>
            </a:br>
            <a:endParaRPr lang="en-JP" sz="2800" b="1" dirty="0">
              <a:latin typeface="Meiryo" panose="020B0604030504040204" pitchFamily="34" charset="-128"/>
              <a:ea typeface="Meiryo" panose="020B0604030504040204" pitchFamily="34" charset="-128"/>
            </a:endParaRPr>
          </a:p>
        </p:txBody>
      </p:sp>
      <p:sp>
        <p:nvSpPr>
          <p:cNvPr id="6" name="Shape 30">
            <a:extLst>
              <a:ext uri="{FF2B5EF4-FFF2-40B4-BE49-F238E27FC236}">
                <a16:creationId xmlns:a16="http://schemas.microsoft.com/office/drawing/2014/main" id="{1C60CEAD-5873-4A66-B2EE-1D1DD63D583A}"/>
              </a:ext>
            </a:extLst>
          </p:cNvPr>
          <p:cNvSpPr/>
          <p:nvPr/>
        </p:nvSpPr>
        <p:spPr>
          <a:xfrm>
            <a:off x="3080786" y="1642954"/>
            <a:ext cx="474043" cy="484751"/>
          </a:xfrm>
          <a:prstGeom prst="rect">
            <a:avLst/>
          </a:prstGeom>
          <a:solidFill>
            <a:srgbClr val="2563A8"/>
          </a:solidFill>
          <a:ln w="12700">
            <a:solidFill>
              <a:srgbClr val="E8EDF3"/>
            </a:solidFill>
            <a:prstDash val="solid"/>
          </a:ln>
        </p:spPr>
        <p:txBody>
          <a:bodyPr/>
          <a:lstStyle/>
          <a:p>
            <a:endParaRPr lang="en-JP" dirty="0"/>
          </a:p>
        </p:txBody>
      </p:sp>
      <p:sp>
        <p:nvSpPr>
          <p:cNvPr id="7" name="Shape 30">
            <a:extLst>
              <a:ext uri="{FF2B5EF4-FFF2-40B4-BE49-F238E27FC236}">
                <a16:creationId xmlns:a16="http://schemas.microsoft.com/office/drawing/2014/main" id="{5800B416-2767-92F9-11D2-A87D55FFD112}"/>
              </a:ext>
            </a:extLst>
          </p:cNvPr>
          <p:cNvSpPr/>
          <p:nvPr/>
        </p:nvSpPr>
        <p:spPr>
          <a:xfrm>
            <a:off x="2490738" y="2339774"/>
            <a:ext cx="474043" cy="484751"/>
          </a:xfrm>
          <a:prstGeom prst="rect">
            <a:avLst/>
          </a:prstGeom>
          <a:solidFill>
            <a:srgbClr val="2563A8"/>
          </a:solidFill>
          <a:ln w="12700">
            <a:solidFill>
              <a:srgbClr val="E8EDF3"/>
            </a:solidFill>
            <a:prstDash val="solid"/>
          </a:ln>
        </p:spPr>
      </p:sp>
      <p:sp>
        <p:nvSpPr>
          <p:cNvPr id="8" name="Shape 30">
            <a:extLst>
              <a:ext uri="{FF2B5EF4-FFF2-40B4-BE49-F238E27FC236}">
                <a16:creationId xmlns:a16="http://schemas.microsoft.com/office/drawing/2014/main" id="{90A96DCC-D9E4-5438-627E-D28AC6DFD0AD}"/>
              </a:ext>
            </a:extLst>
          </p:cNvPr>
          <p:cNvSpPr/>
          <p:nvPr/>
        </p:nvSpPr>
        <p:spPr>
          <a:xfrm>
            <a:off x="3080786" y="2339774"/>
            <a:ext cx="474043" cy="484751"/>
          </a:xfrm>
          <a:prstGeom prst="rect">
            <a:avLst/>
          </a:prstGeom>
          <a:solidFill>
            <a:srgbClr val="2563A8"/>
          </a:solidFill>
          <a:ln w="12700">
            <a:solidFill>
              <a:srgbClr val="E8EDF3"/>
            </a:solidFill>
            <a:prstDash val="solid"/>
          </a:ln>
        </p:spPr>
      </p:sp>
      <p:sp>
        <p:nvSpPr>
          <p:cNvPr id="9" name="Shape 30">
            <a:extLst>
              <a:ext uri="{FF2B5EF4-FFF2-40B4-BE49-F238E27FC236}">
                <a16:creationId xmlns:a16="http://schemas.microsoft.com/office/drawing/2014/main" id="{6C5B7110-168B-8A73-D8C1-951463CC6EF8}"/>
              </a:ext>
            </a:extLst>
          </p:cNvPr>
          <p:cNvSpPr/>
          <p:nvPr/>
        </p:nvSpPr>
        <p:spPr>
          <a:xfrm>
            <a:off x="3080785" y="3065311"/>
            <a:ext cx="474043" cy="484751"/>
          </a:xfrm>
          <a:prstGeom prst="rect">
            <a:avLst/>
          </a:prstGeom>
          <a:solidFill>
            <a:srgbClr val="FFC000"/>
          </a:solidFill>
          <a:ln w="12700">
            <a:solidFill>
              <a:srgbClr val="E8EDF3"/>
            </a:solidFill>
            <a:prstDash val="solid"/>
          </a:ln>
        </p:spPr>
      </p:sp>
      <p:sp>
        <p:nvSpPr>
          <p:cNvPr id="10" name="Shape 30">
            <a:extLst>
              <a:ext uri="{FF2B5EF4-FFF2-40B4-BE49-F238E27FC236}">
                <a16:creationId xmlns:a16="http://schemas.microsoft.com/office/drawing/2014/main" id="{49FA9E2E-01C6-190F-2CB7-A131AA791967}"/>
              </a:ext>
            </a:extLst>
          </p:cNvPr>
          <p:cNvSpPr/>
          <p:nvPr/>
        </p:nvSpPr>
        <p:spPr>
          <a:xfrm>
            <a:off x="3601949" y="3065311"/>
            <a:ext cx="474043" cy="484751"/>
          </a:xfrm>
          <a:prstGeom prst="rect">
            <a:avLst/>
          </a:prstGeom>
          <a:solidFill>
            <a:srgbClr val="FFC000"/>
          </a:solidFill>
          <a:ln w="12700">
            <a:solidFill>
              <a:srgbClr val="E8EDF3"/>
            </a:solidFill>
            <a:prstDash val="solid"/>
          </a:ln>
        </p:spPr>
      </p:sp>
      <p:sp>
        <p:nvSpPr>
          <p:cNvPr id="11" name="Shape 30">
            <a:extLst>
              <a:ext uri="{FF2B5EF4-FFF2-40B4-BE49-F238E27FC236}">
                <a16:creationId xmlns:a16="http://schemas.microsoft.com/office/drawing/2014/main" id="{04BDF549-9DEF-754D-F834-0FD2EE340367}"/>
              </a:ext>
            </a:extLst>
          </p:cNvPr>
          <p:cNvSpPr/>
          <p:nvPr/>
        </p:nvSpPr>
        <p:spPr>
          <a:xfrm>
            <a:off x="4170234" y="3065311"/>
            <a:ext cx="474043" cy="484751"/>
          </a:xfrm>
          <a:prstGeom prst="rect">
            <a:avLst/>
          </a:prstGeom>
          <a:solidFill>
            <a:srgbClr val="FFC000"/>
          </a:solidFill>
          <a:ln w="12700">
            <a:solidFill>
              <a:srgbClr val="E8EDF3"/>
            </a:solidFill>
            <a:prstDash val="solid"/>
          </a:ln>
        </p:spPr>
      </p:sp>
      <p:sp>
        <p:nvSpPr>
          <p:cNvPr id="12" name="Shape 30">
            <a:extLst>
              <a:ext uri="{FF2B5EF4-FFF2-40B4-BE49-F238E27FC236}">
                <a16:creationId xmlns:a16="http://schemas.microsoft.com/office/drawing/2014/main" id="{671E93B3-89AF-9360-64C5-15B9370BC4F2}"/>
              </a:ext>
            </a:extLst>
          </p:cNvPr>
          <p:cNvSpPr/>
          <p:nvPr/>
        </p:nvSpPr>
        <p:spPr>
          <a:xfrm>
            <a:off x="4721278" y="3065311"/>
            <a:ext cx="474043" cy="484751"/>
          </a:xfrm>
          <a:prstGeom prst="rect">
            <a:avLst/>
          </a:prstGeom>
          <a:solidFill>
            <a:srgbClr val="FFC000"/>
          </a:solidFill>
          <a:ln w="12700">
            <a:solidFill>
              <a:srgbClr val="E8EDF3"/>
            </a:solidFill>
            <a:prstDash val="solid"/>
          </a:ln>
        </p:spPr>
      </p:sp>
      <p:sp>
        <p:nvSpPr>
          <p:cNvPr id="13" name="Shape 30">
            <a:extLst>
              <a:ext uri="{FF2B5EF4-FFF2-40B4-BE49-F238E27FC236}">
                <a16:creationId xmlns:a16="http://schemas.microsoft.com/office/drawing/2014/main" id="{1893CA81-DC67-5925-002F-ED36B59B24E3}"/>
              </a:ext>
            </a:extLst>
          </p:cNvPr>
          <p:cNvSpPr/>
          <p:nvPr/>
        </p:nvSpPr>
        <p:spPr>
          <a:xfrm>
            <a:off x="3997285" y="4232056"/>
            <a:ext cx="474043" cy="484751"/>
          </a:xfrm>
          <a:prstGeom prst="rect">
            <a:avLst/>
          </a:prstGeom>
          <a:solidFill>
            <a:schemeClr val="accent6"/>
          </a:solidFill>
          <a:ln w="12700">
            <a:solidFill>
              <a:srgbClr val="E8EDF3"/>
            </a:solidFill>
            <a:prstDash val="solid"/>
          </a:ln>
        </p:spPr>
      </p:sp>
      <p:sp>
        <p:nvSpPr>
          <p:cNvPr id="14" name="Shape 30">
            <a:extLst>
              <a:ext uri="{FF2B5EF4-FFF2-40B4-BE49-F238E27FC236}">
                <a16:creationId xmlns:a16="http://schemas.microsoft.com/office/drawing/2014/main" id="{E78E4902-18C0-EA74-26F3-CBF3CC7C134C}"/>
              </a:ext>
            </a:extLst>
          </p:cNvPr>
          <p:cNvSpPr/>
          <p:nvPr/>
        </p:nvSpPr>
        <p:spPr>
          <a:xfrm>
            <a:off x="4572000" y="4236737"/>
            <a:ext cx="474043" cy="484751"/>
          </a:xfrm>
          <a:prstGeom prst="rect">
            <a:avLst/>
          </a:prstGeom>
          <a:solidFill>
            <a:schemeClr val="accent6"/>
          </a:solidFill>
          <a:ln w="12700">
            <a:solidFill>
              <a:srgbClr val="E8EDF3"/>
            </a:solidFill>
            <a:prstDash val="solid"/>
          </a:ln>
        </p:spPr>
      </p:sp>
      <p:sp>
        <p:nvSpPr>
          <p:cNvPr id="15" name="Shape 30">
            <a:extLst>
              <a:ext uri="{FF2B5EF4-FFF2-40B4-BE49-F238E27FC236}">
                <a16:creationId xmlns:a16="http://schemas.microsoft.com/office/drawing/2014/main" id="{C55111FC-9FA1-EC41-F422-DF5B2700F6E6}"/>
              </a:ext>
            </a:extLst>
          </p:cNvPr>
          <p:cNvSpPr/>
          <p:nvPr/>
        </p:nvSpPr>
        <p:spPr>
          <a:xfrm>
            <a:off x="5146715" y="4232056"/>
            <a:ext cx="474043" cy="484751"/>
          </a:xfrm>
          <a:prstGeom prst="rect">
            <a:avLst/>
          </a:prstGeom>
          <a:solidFill>
            <a:schemeClr val="accent6"/>
          </a:solidFill>
          <a:ln w="12700">
            <a:solidFill>
              <a:srgbClr val="E8EDF3"/>
            </a:solidFill>
            <a:prstDash val="solid"/>
          </a:ln>
        </p:spPr>
      </p:sp>
      <p:sp>
        <p:nvSpPr>
          <p:cNvPr id="16" name="Shape 30">
            <a:extLst>
              <a:ext uri="{FF2B5EF4-FFF2-40B4-BE49-F238E27FC236}">
                <a16:creationId xmlns:a16="http://schemas.microsoft.com/office/drawing/2014/main" id="{4DD9CFBD-B5BA-4988-B074-9C43B1F9CFD9}"/>
              </a:ext>
            </a:extLst>
          </p:cNvPr>
          <p:cNvSpPr/>
          <p:nvPr/>
        </p:nvSpPr>
        <p:spPr>
          <a:xfrm>
            <a:off x="5778767" y="4232056"/>
            <a:ext cx="474043" cy="484751"/>
          </a:xfrm>
          <a:prstGeom prst="rect">
            <a:avLst/>
          </a:prstGeom>
          <a:solidFill>
            <a:schemeClr val="accent6"/>
          </a:solidFill>
          <a:ln w="12700">
            <a:solidFill>
              <a:srgbClr val="E8EDF3"/>
            </a:solidFill>
            <a:prstDash val="solid"/>
          </a:ln>
        </p:spPr>
      </p:sp>
      <p:sp>
        <p:nvSpPr>
          <p:cNvPr id="17" name="Shape 30">
            <a:extLst>
              <a:ext uri="{FF2B5EF4-FFF2-40B4-BE49-F238E27FC236}">
                <a16:creationId xmlns:a16="http://schemas.microsoft.com/office/drawing/2014/main" id="{2BFE7A78-BCBE-639F-8591-6EB952E6BD7E}"/>
              </a:ext>
            </a:extLst>
          </p:cNvPr>
          <p:cNvSpPr/>
          <p:nvPr/>
        </p:nvSpPr>
        <p:spPr>
          <a:xfrm>
            <a:off x="6758373" y="5143952"/>
            <a:ext cx="474043" cy="484751"/>
          </a:xfrm>
          <a:prstGeom prst="rect">
            <a:avLst/>
          </a:prstGeom>
          <a:solidFill>
            <a:srgbClr val="00B0F0"/>
          </a:solidFill>
          <a:ln w="12700">
            <a:solidFill>
              <a:srgbClr val="E8EDF3"/>
            </a:solidFill>
            <a:prstDash val="solid"/>
          </a:ln>
        </p:spPr>
        <p:txBody>
          <a:bodyPr/>
          <a:lstStyle/>
          <a:p>
            <a:endParaRPr lang="en-JP" dirty="0"/>
          </a:p>
        </p:txBody>
      </p:sp>
      <p:sp>
        <p:nvSpPr>
          <p:cNvPr id="18" name="Shape 30">
            <a:extLst>
              <a:ext uri="{FF2B5EF4-FFF2-40B4-BE49-F238E27FC236}">
                <a16:creationId xmlns:a16="http://schemas.microsoft.com/office/drawing/2014/main" id="{5252411F-7B7D-8E15-33C3-F4E5E43B40C3}"/>
              </a:ext>
            </a:extLst>
          </p:cNvPr>
          <p:cNvSpPr/>
          <p:nvPr/>
        </p:nvSpPr>
        <p:spPr>
          <a:xfrm>
            <a:off x="7340552" y="5143952"/>
            <a:ext cx="474043" cy="484751"/>
          </a:xfrm>
          <a:prstGeom prst="rect">
            <a:avLst/>
          </a:prstGeom>
          <a:solidFill>
            <a:srgbClr val="00B0F0"/>
          </a:solidFill>
          <a:ln w="12700">
            <a:solidFill>
              <a:srgbClr val="E8EDF3"/>
            </a:solidFill>
            <a:prstDash val="solid"/>
          </a:ln>
        </p:spPr>
      </p:sp>
      <p:sp>
        <p:nvSpPr>
          <p:cNvPr id="19" name="Shape 30">
            <a:extLst>
              <a:ext uri="{FF2B5EF4-FFF2-40B4-BE49-F238E27FC236}">
                <a16:creationId xmlns:a16="http://schemas.microsoft.com/office/drawing/2014/main" id="{16343577-63BC-F0B0-E957-D087F195152F}"/>
              </a:ext>
            </a:extLst>
          </p:cNvPr>
          <p:cNvSpPr/>
          <p:nvPr/>
        </p:nvSpPr>
        <p:spPr>
          <a:xfrm>
            <a:off x="7922731" y="5143952"/>
            <a:ext cx="474043" cy="484751"/>
          </a:xfrm>
          <a:prstGeom prst="rect">
            <a:avLst/>
          </a:prstGeom>
          <a:solidFill>
            <a:srgbClr val="00B0F0"/>
          </a:solidFill>
          <a:ln w="12700">
            <a:solidFill>
              <a:srgbClr val="E8EDF3"/>
            </a:solidFill>
            <a:prstDash val="solid"/>
          </a:ln>
        </p:spPr>
      </p:sp>
      <p:sp>
        <p:nvSpPr>
          <p:cNvPr id="20" name="Shape 30">
            <a:extLst>
              <a:ext uri="{FF2B5EF4-FFF2-40B4-BE49-F238E27FC236}">
                <a16:creationId xmlns:a16="http://schemas.microsoft.com/office/drawing/2014/main" id="{443A724E-B0A8-F56A-EDF6-E47AD445DE83}"/>
              </a:ext>
            </a:extLst>
          </p:cNvPr>
          <p:cNvSpPr/>
          <p:nvPr/>
        </p:nvSpPr>
        <p:spPr>
          <a:xfrm>
            <a:off x="6758372" y="5702739"/>
            <a:ext cx="474043" cy="484751"/>
          </a:xfrm>
          <a:prstGeom prst="rect">
            <a:avLst/>
          </a:prstGeom>
          <a:solidFill>
            <a:srgbClr val="00B0F0"/>
          </a:solidFill>
          <a:ln w="12700">
            <a:solidFill>
              <a:srgbClr val="E8EDF3"/>
            </a:solidFill>
            <a:prstDash val="solid"/>
          </a:ln>
        </p:spPr>
      </p:sp>
      <p:sp>
        <p:nvSpPr>
          <p:cNvPr id="21" name="Shape 30">
            <a:extLst>
              <a:ext uri="{FF2B5EF4-FFF2-40B4-BE49-F238E27FC236}">
                <a16:creationId xmlns:a16="http://schemas.microsoft.com/office/drawing/2014/main" id="{F5884481-9BBC-68A4-D3CF-A6F65C792F66}"/>
              </a:ext>
            </a:extLst>
          </p:cNvPr>
          <p:cNvSpPr/>
          <p:nvPr/>
        </p:nvSpPr>
        <p:spPr>
          <a:xfrm>
            <a:off x="7310558" y="5702738"/>
            <a:ext cx="474043" cy="484751"/>
          </a:xfrm>
          <a:prstGeom prst="rect">
            <a:avLst/>
          </a:prstGeom>
          <a:solidFill>
            <a:srgbClr val="00B0F0"/>
          </a:solidFill>
          <a:ln w="12700">
            <a:solidFill>
              <a:srgbClr val="E8EDF3"/>
            </a:solidFill>
            <a:prstDash val="solid"/>
          </a:ln>
        </p:spPr>
      </p:sp>
      <p:sp>
        <p:nvSpPr>
          <p:cNvPr id="22" name="Shape 30">
            <a:extLst>
              <a:ext uri="{FF2B5EF4-FFF2-40B4-BE49-F238E27FC236}">
                <a16:creationId xmlns:a16="http://schemas.microsoft.com/office/drawing/2014/main" id="{5518330F-E877-A44A-5173-71BC558E7F44}"/>
              </a:ext>
            </a:extLst>
          </p:cNvPr>
          <p:cNvSpPr/>
          <p:nvPr/>
        </p:nvSpPr>
        <p:spPr>
          <a:xfrm>
            <a:off x="7922731" y="5714656"/>
            <a:ext cx="474042" cy="484751"/>
          </a:xfrm>
          <a:prstGeom prst="rect">
            <a:avLst/>
          </a:prstGeom>
          <a:solidFill>
            <a:srgbClr val="00B0F0"/>
          </a:solidFill>
          <a:ln w="12700">
            <a:solidFill>
              <a:srgbClr val="E8EDF3"/>
            </a:solidFill>
            <a:prstDash val="solid"/>
          </a:ln>
        </p:spPr>
      </p:sp>
      <p:sp>
        <p:nvSpPr>
          <p:cNvPr id="23" name="TextBox 22">
            <a:extLst>
              <a:ext uri="{FF2B5EF4-FFF2-40B4-BE49-F238E27FC236}">
                <a16:creationId xmlns:a16="http://schemas.microsoft.com/office/drawing/2014/main" id="{622DCCAC-20FA-0D43-7A21-222CA076D31B}"/>
              </a:ext>
            </a:extLst>
          </p:cNvPr>
          <p:cNvSpPr txBox="1"/>
          <p:nvPr/>
        </p:nvSpPr>
        <p:spPr>
          <a:xfrm>
            <a:off x="8396773" y="6307475"/>
            <a:ext cx="470000" cy="646331"/>
          </a:xfrm>
          <a:prstGeom prst="rect">
            <a:avLst/>
          </a:prstGeom>
          <a:noFill/>
        </p:spPr>
        <p:txBody>
          <a:bodyPr wrap="square" rtlCol="0">
            <a:spAutoFit/>
          </a:bodyPr>
          <a:lstStyle/>
          <a:p>
            <a:r>
              <a:rPr lang="en-JP" dirty="0">
                <a:latin typeface="Meiryo" panose="020B0604030504040204" pitchFamily="34" charset="-128"/>
                <a:ea typeface="Meiryo" panose="020B0604030504040204" pitchFamily="34" charset="-128"/>
              </a:rPr>
              <a:t>37</a:t>
            </a:r>
          </a:p>
          <a:p>
            <a:endParaRPr lang="en-JP" dirty="0"/>
          </a:p>
        </p:txBody>
      </p:sp>
    </p:spTree>
    <p:extLst>
      <p:ext uri="{BB962C8B-B14F-4D97-AF65-F5344CB8AC3E}">
        <p14:creationId xmlns:p14="http://schemas.microsoft.com/office/powerpoint/2010/main" val="40098608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470010" y="1635919"/>
            <a:ext cx="7886700" cy="4856955"/>
          </a:xfrm>
        </p:spPr>
        <p:txBody>
          <a:bodyPr>
            <a:normAutofit lnSpcReduction="10000"/>
          </a:bodyPr>
          <a:lstStyle/>
          <a:p>
            <a:pPr marL="476219" indent="-342878">
              <a:lnSpc>
                <a:spcPct val="150000"/>
              </a:lnSpc>
              <a:spcBef>
                <a:spcPts val="0"/>
              </a:spcBef>
              <a:buSzPts val="2800"/>
              <a:buFont typeface="Wingdings" pitchFamily="2" charset="2"/>
              <a:buChar char="§"/>
            </a:pPr>
            <a:r>
              <a:rPr lang="en-US" altLang="ja-JP" sz="3100" dirty="0">
                <a:latin typeface="Meiryo" panose="020B0604030504040204" pitchFamily="34" charset="-128"/>
                <a:ea typeface="Meiryo" panose="020B0604030504040204" pitchFamily="34" charset="-128"/>
              </a:rPr>
              <a:t> </a:t>
            </a:r>
            <a:r>
              <a:rPr lang="ja-JP" altLang="en-US" sz="3100">
                <a:latin typeface="Meiryo" panose="020B0604030504040204" pitchFamily="34" charset="-128"/>
                <a:ea typeface="Meiryo" panose="020B0604030504040204" pitchFamily="34" charset="-128"/>
              </a:rPr>
              <a:t>研究背景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研究目的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関連技術・関連研究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提案手法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評価手法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i="0" u="none" strike="noStrike">
                <a:effectLst/>
                <a:latin typeface="Meiryo" panose="020B0604030504040204" pitchFamily="34" charset="-128"/>
                <a:ea typeface="Meiryo" panose="020B0604030504040204" pitchFamily="34" charset="-128"/>
              </a:rPr>
              <a:t>現在の進捗状況</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1">
                <a:solidFill>
                  <a:srgbClr val="C00000"/>
                </a:solidFill>
                <a:latin typeface="Meiryo" panose="020B0604030504040204" pitchFamily="34" charset="-128"/>
                <a:ea typeface="Meiryo" panose="020B0604030504040204" pitchFamily="34" charset="-128"/>
              </a:rPr>
              <a:t>まとめ</a:t>
            </a:r>
            <a:r>
              <a:rPr lang="ja-JP" altLang="en-US" sz="3100">
                <a:latin typeface="Meiryo" panose="020B0604030504040204" pitchFamily="34" charset="-128"/>
                <a:ea typeface="Meiryo" panose="020B0604030504040204" pitchFamily="34" charset="-128"/>
              </a:rPr>
              <a:t>       </a:t>
            </a:r>
            <a:endParaRPr kumimoji="1"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endParaRPr lang="en-US" altLang="ja-JP" sz="2500" dirty="0">
              <a:latin typeface="Meiryo UI" panose="020B0604030504040204" pitchFamily="50" charset="-128"/>
              <a:ea typeface="Meiryo UI" panose="020B0604030504040204" pitchFamily="50" charset="-128"/>
            </a:endParaRPr>
          </a:p>
          <a:p>
            <a:endParaRPr lang="en-JP" sz="25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39</a:t>
            </a:fld>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50F375AD-778D-AB44-5C16-9E3EFA85933A}"/>
              </a:ext>
            </a:extLst>
          </p:cNvPr>
          <p:cNvSpPr txBox="1"/>
          <p:nvPr/>
        </p:nvSpPr>
        <p:spPr>
          <a:xfrm>
            <a:off x="5987668" y="3263465"/>
            <a:ext cx="4572000" cy="369332"/>
          </a:xfrm>
          <a:prstGeom prst="rect">
            <a:avLst/>
          </a:prstGeom>
          <a:noFill/>
        </p:spPr>
        <p:txBody>
          <a:bodyPr wrap="square">
            <a:spAutoFit/>
          </a:bodyPr>
          <a:lstStyle/>
          <a:p>
            <a:r>
              <a:rPr lang="en-JP" b="0" dirty="0">
                <a:effectLst/>
              </a:rPr>
              <a:t> </a:t>
            </a:r>
            <a:endParaRPr lang="en-JP" dirty="0"/>
          </a:p>
        </p:txBody>
      </p:sp>
    </p:spTree>
    <p:extLst>
      <p:ext uri="{BB962C8B-B14F-4D97-AF65-F5344CB8AC3E}">
        <p14:creationId xmlns:p14="http://schemas.microsoft.com/office/powerpoint/2010/main" val="22347932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F7B86F-1CC7-76C9-2AE5-E6865B38EB15}"/>
              </a:ext>
            </a:extLst>
          </p:cNvPr>
          <p:cNvSpPr txBox="1"/>
          <p:nvPr/>
        </p:nvSpPr>
        <p:spPr>
          <a:xfrm>
            <a:off x="260529" y="846542"/>
            <a:ext cx="8622941" cy="5262979"/>
          </a:xfrm>
          <a:prstGeom prst="rect">
            <a:avLst/>
          </a:prstGeom>
          <a:noFill/>
        </p:spPr>
        <p:txBody>
          <a:bodyPr wrap="square">
            <a:spAutoFit/>
          </a:bodyPr>
          <a:lstStyle/>
          <a:p>
            <a:r>
              <a:rPr lang="ja-JP" altLang="en-US" sz="2400">
                <a:solidFill>
                  <a:srgbClr val="C00000"/>
                </a:solidFill>
                <a:latin typeface="Meiryo" panose="020B0604030504040204" pitchFamily="34" charset="-128"/>
                <a:ea typeface="Meiryo" panose="020B0604030504040204" pitchFamily="34" charset="-128"/>
              </a:rPr>
              <a:t>① 問題の確認</a:t>
            </a:r>
          </a:p>
          <a:p>
            <a:r>
              <a:rPr lang="en-US" sz="2400" dirty="0">
                <a:latin typeface="Meiryo" panose="020B0604030504040204" pitchFamily="34" charset="-128"/>
                <a:ea typeface="Meiryo" panose="020B0604030504040204" pitchFamily="34" charset="-128"/>
              </a:rPr>
              <a:t>CoAP/DTLS</a:t>
            </a:r>
            <a:r>
              <a:rPr lang="ja-JP" altLang="en-US" sz="2400">
                <a:latin typeface="Meiryo" panose="020B0604030504040204" pitchFamily="34" charset="-128"/>
                <a:ea typeface="Meiryo" panose="020B0604030504040204" pitchFamily="34" charset="-128"/>
              </a:rPr>
              <a:t>環境では</a:t>
            </a:r>
            <a:r>
              <a:rPr lang="en-US" sz="2400" dirty="0">
                <a:latin typeface="Meiryo" panose="020B0604030504040204" pitchFamily="34" charset="-128"/>
                <a:ea typeface="Meiryo" panose="020B0604030504040204" pitchFamily="34" charset="-128"/>
              </a:rPr>
              <a:t>DTLS</a:t>
            </a:r>
            <a:r>
              <a:rPr lang="ja-JP" altLang="en-US" sz="2400">
                <a:latin typeface="Meiryo" panose="020B0604030504040204" pitchFamily="34" charset="-128"/>
                <a:ea typeface="Meiryo" panose="020B0604030504040204" pitchFamily="34" charset="-128"/>
              </a:rPr>
              <a:t>はペイロードを保護可能</a:t>
            </a:r>
          </a:p>
          <a:p>
            <a:r>
              <a:rPr lang="ja-JP" altLang="en-US" sz="2400">
                <a:latin typeface="Meiryo" panose="020B0604030504040204" pitchFamily="34" charset="-128"/>
                <a:ea typeface="Meiryo" panose="020B0604030504040204" pitchFamily="34" charset="-128"/>
              </a:rPr>
              <a:t>しかし，</a:t>
            </a:r>
            <a:r>
              <a:rPr lang="en-US" sz="2400" dirty="0">
                <a:latin typeface="Meiryo" panose="020B0604030504040204" pitchFamily="34" charset="-128"/>
                <a:ea typeface="Meiryo" panose="020B0604030504040204" pitchFamily="34" charset="-128"/>
              </a:rPr>
              <a:t>L2</a:t>
            </a:r>
            <a:r>
              <a:rPr lang="ja-JP" altLang="en-US" sz="2400">
                <a:latin typeface="Meiryo" panose="020B0604030504040204" pitchFamily="34" charset="-128"/>
                <a:ea typeface="Meiryo" panose="020B0604030504040204" pitchFamily="34" charset="-128"/>
              </a:rPr>
              <a:t>層の</a:t>
            </a:r>
            <a:r>
              <a:rPr lang="en-US"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スプーフィングには無力</a:t>
            </a:r>
          </a:p>
          <a:p>
            <a:r>
              <a:rPr lang="ja-JP" altLang="en-US" sz="2400">
                <a:latin typeface="Meiryo" panose="020B0604030504040204" pitchFamily="34" charset="-128"/>
                <a:ea typeface="Meiryo" panose="020B0604030504040204" pitchFamily="34" charset="-128"/>
              </a:rPr>
              <a:t>→ 暗号化されていても通信経路が乗っ取られるリスク</a:t>
            </a:r>
            <a:endParaRPr lang="mn-MN" altLang="ja-JP" sz="2400" dirty="0">
              <a:latin typeface="Meiryo" panose="020B0604030504040204" pitchFamily="34" charset="-128"/>
              <a:ea typeface="Meiryo" panose="020B0604030504040204" pitchFamily="34" charset="-128"/>
            </a:endParaRPr>
          </a:p>
          <a:p>
            <a:endParaRPr lang="ja-JP" altLang="en-US" sz="2400">
              <a:latin typeface="Meiryo" panose="020B0604030504040204" pitchFamily="34" charset="-128"/>
              <a:ea typeface="Meiryo" panose="020B0604030504040204" pitchFamily="34" charset="-128"/>
            </a:endParaRPr>
          </a:p>
          <a:p>
            <a:r>
              <a:rPr lang="ja-JP" altLang="en-US" sz="2400">
                <a:solidFill>
                  <a:srgbClr val="C00000"/>
                </a:solidFill>
                <a:latin typeface="Meiryo" panose="020B0604030504040204" pitchFamily="34" charset="-128"/>
                <a:ea typeface="Meiryo" panose="020B0604030504040204" pitchFamily="34" charset="-128"/>
              </a:rPr>
              <a:t>② 提案手法</a:t>
            </a:r>
          </a:p>
          <a:p>
            <a:r>
              <a:rPr lang="en-US" sz="2400" dirty="0">
                <a:latin typeface="Meiryo" panose="020B0604030504040204" pitchFamily="34" charset="-128"/>
                <a:ea typeface="Meiryo" panose="020B0604030504040204" pitchFamily="34" charset="-128"/>
              </a:rPr>
              <a:t>Gateway</a:t>
            </a:r>
            <a:r>
              <a:rPr lang="ja-JP" altLang="en-US" sz="2400">
                <a:latin typeface="Meiryo" panose="020B0604030504040204" pitchFamily="34" charset="-128"/>
                <a:ea typeface="Meiryo" panose="020B0604030504040204" pitchFamily="34" charset="-128"/>
              </a:rPr>
              <a:t>に</a:t>
            </a:r>
            <a:r>
              <a:rPr lang="en-US" sz="2400" dirty="0">
                <a:latin typeface="Meiryo" panose="020B0604030504040204" pitchFamily="34" charset="-128"/>
                <a:ea typeface="Meiryo" panose="020B0604030504040204" pitchFamily="34" charset="-128"/>
              </a:rPr>
              <a:t>Random Forest</a:t>
            </a:r>
            <a:r>
              <a:rPr lang="ja-JP" altLang="en-US" sz="2400">
                <a:latin typeface="Meiryo" panose="020B0604030504040204" pitchFamily="34" charset="-128"/>
                <a:ea typeface="Meiryo" panose="020B0604030504040204" pitchFamily="34" charset="-128"/>
              </a:rPr>
              <a:t>ベースの</a:t>
            </a:r>
            <a:r>
              <a:rPr lang="en-US" sz="2400" dirty="0">
                <a:latin typeface="Meiryo" panose="020B0604030504040204" pitchFamily="34" charset="-128"/>
                <a:ea typeface="Meiryo" panose="020B0604030504040204" pitchFamily="34" charset="-128"/>
              </a:rPr>
              <a:t>ML-IDS</a:t>
            </a:r>
            <a:r>
              <a:rPr lang="ja-JP" altLang="en-US" sz="2400">
                <a:latin typeface="Meiryo" panose="020B0604030504040204" pitchFamily="34" charset="-128"/>
                <a:ea typeface="Meiryo" panose="020B0604030504040204" pitchFamily="34" charset="-128"/>
              </a:rPr>
              <a:t>を実装</a:t>
            </a:r>
          </a:p>
          <a:p>
            <a:r>
              <a:rPr lang="en-US"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パケットのメタデータのみを分析</a:t>
            </a:r>
          </a:p>
          <a:p>
            <a:r>
              <a:rPr lang="ja-JP" altLang="en-US" sz="2400">
                <a:latin typeface="Meiryo" panose="020B0604030504040204" pitchFamily="34" charset="-128"/>
                <a:ea typeface="Meiryo" panose="020B0604030504040204" pitchFamily="34" charset="-128"/>
              </a:rPr>
              <a:t>→ </a:t>
            </a:r>
            <a:r>
              <a:rPr lang="en-US" sz="2400" dirty="0">
                <a:latin typeface="Meiryo" panose="020B0604030504040204" pitchFamily="34" charset="-128"/>
                <a:ea typeface="Meiryo" panose="020B0604030504040204" pitchFamily="34" charset="-128"/>
              </a:rPr>
              <a:t>DTLS</a:t>
            </a:r>
            <a:r>
              <a:rPr lang="ja-JP" altLang="en-US" sz="2400">
                <a:latin typeface="Meiryo" panose="020B0604030504040204" pitchFamily="34" charset="-128"/>
                <a:ea typeface="Meiryo" panose="020B0604030504040204" pitchFamily="34" charset="-128"/>
              </a:rPr>
              <a:t>ペイロードに触れずリアルタイム検知・遮断</a:t>
            </a:r>
            <a:endParaRPr lang="mn-MN" altLang="ja-JP" sz="2400" dirty="0">
              <a:latin typeface="Meiryo" panose="020B0604030504040204" pitchFamily="34" charset="-128"/>
              <a:ea typeface="Meiryo" panose="020B0604030504040204" pitchFamily="34" charset="-128"/>
            </a:endParaRPr>
          </a:p>
          <a:p>
            <a:endParaRPr lang="ja-JP" altLang="en-US" sz="2400">
              <a:latin typeface="Meiryo" panose="020B0604030504040204" pitchFamily="34" charset="-128"/>
              <a:ea typeface="Meiryo" panose="020B0604030504040204" pitchFamily="34" charset="-128"/>
            </a:endParaRPr>
          </a:p>
          <a:p>
            <a:r>
              <a:rPr lang="ja-JP" altLang="en-US" sz="2400">
                <a:solidFill>
                  <a:srgbClr val="C00000"/>
                </a:solidFill>
                <a:latin typeface="Meiryo" panose="020B0604030504040204" pitchFamily="34" charset="-128"/>
                <a:ea typeface="Meiryo" panose="020B0604030504040204" pitchFamily="34" charset="-128"/>
              </a:rPr>
              <a:t>③ 期待される効果</a:t>
            </a:r>
          </a:p>
          <a:p>
            <a:r>
              <a:rPr lang="en-US"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スプーフィングを</a:t>
            </a:r>
            <a:r>
              <a:rPr lang="en-US" sz="2400" dirty="0">
                <a:latin typeface="Meiryo" panose="020B0604030504040204" pitchFamily="34" charset="-128"/>
                <a:ea typeface="Meiryo" panose="020B0604030504040204" pitchFamily="34" charset="-128"/>
              </a:rPr>
              <a:t>L2</a:t>
            </a:r>
            <a:r>
              <a:rPr lang="ja-JP" altLang="en-US" sz="2400">
                <a:latin typeface="Meiryo" panose="020B0604030504040204" pitchFamily="34" charset="-128"/>
                <a:ea typeface="Meiryo" panose="020B0604030504040204" pitchFamily="34" charset="-128"/>
              </a:rPr>
              <a:t>レベルで検知・遮断</a:t>
            </a:r>
          </a:p>
          <a:p>
            <a:r>
              <a:rPr lang="en-US" sz="2400" dirty="0">
                <a:latin typeface="Meiryo" panose="020B0604030504040204" pitchFamily="34" charset="-128"/>
                <a:ea typeface="Meiryo" panose="020B0604030504040204" pitchFamily="34" charset="-128"/>
              </a:rPr>
              <a:t>L4（DTLS）</a:t>
            </a:r>
            <a:r>
              <a:rPr lang="ja-JP" altLang="en-US" sz="2400">
                <a:latin typeface="Meiryo" panose="020B0604030504040204" pitchFamily="34" charset="-128"/>
                <a:ea typeface="Meiryo" panose="020B0604030504040204" pitchFamily="34" charset="-128"/>
              </a:rPr>
              <a:t>との多層防御を実現</a:t>
            </a:r>
          </a:p>
          <a:p>
            <a:r>
              <a:rPr lang="en-US" sz="2400" dirty="0">
                <a:latin typeface="Meiryo" panose="020B0604030504040204" pitchFamily="34" charset="-128"/>
                <a:ea typeface="Meiryo" panose="020B0604030504040204" pitchFamily="34" charset="-128"/>
              </a:rPr>
              <a:t>Raspberry Pi</a:t>
            </a:r>
            <a:r>
              <a:rPr lang="ja-JP" altLang="en-US" sz="2400">
                <a:latin typeface="Meiryo" panose="020B0604030504040204" pitchFamily="34" charset="-128"/>
                <a:ea typeface="Meiryo" panose="020B0604030504040204" pitchFamily="34" charset="-128"/>
              </a:rPr>
              <a:t>上で実装可能</a:t>
            </a:r>
            <a:endParaRPr lang="en-JP" sz="2400" dirty="0">
              <a:latin typeface="Meiryo" panose="020B0604030504040204" pitchFamily="34" charset="-128"/>
              <a:ea typeface="Meiryo" panose="020B0604030504040204" pitchFamily="34" charset="-128"/>
            </a:endParaRPr>
          </a:p>
        </p:txBody>
      </p:sp>
      <p:sp>
        <p:nvSpPr>
          <p:cNvPr id="4" name="TextBox 3">
            <a:extLst>
              <a:ext uri="{FF2B5EF4-FFF2-40B4-BE49-F238E27FC236}">
                <a16:creationId xmlns:a16="http://schemas.microsoft.com/office/drawing/2014/main" id="{473958E9-28BE-C4D9-69A3-2B2A9772E762}"/>
              </a:ext>
            </a:extLst>
          </p:cNvPr>
          <p:cNvSpPr txBox="1"/>
          <p:nvPr/>
        </p:nvSpPr>
        <p:spPr>
          <a:xfrm>
            <a:off x="260529" y="131616"/>
            <a:ext cx="1569660" cy="646331"/>
          </a:xfrm>
          <a:prstGeom prst="rect">
            <a:avLst/>
          </a:prstGeom>
          <a:noFill/>
        </p:spPr>
        <p:txBody>
          <a:bodyPr wrap="none" rtlCol="0">
            <a:spAutoFit/>
          </a:bodyPr>
          <a:lstStyle/>
          <a:p>
            <a:r>
              <a:rPr lang="ja-JP" altLang="en-US" sz="3600" b="1">
                <a:latin typeface="Meiryo" panose="020B0604030504040204" pitchFamily="34" charset="-128"/>
                <a:ea typeface="Meiryo" panose="020B0604030504040204" pitchFamily="34" charset="-128"/>
              </a:rPr>
              <a:t>まとめ</a:t>
            </a:r>
            <a:endParaRPr lang="en-JP" sz="3600" b="1" dirty="0">
              <a:latin typeface="Meiryo" panose="020B0604030504040204" pitchFamily="34" charset="-128"/>
              <a:ea typeface="Meiryo" panose="020B0604030504040204" pitchFamily="34" charset="-128"/>
            </a:endParaRPr>
          </a:p>
        </p:txBody>
      </p:sp>
      <p:sp>
        <p:nvSpPr>
          <p:cNvPr id="6" name="TextBox 5">
            <a:extLst>
              <a:ext uri="{FF2B5EF4-FFF2-40B4-BE49-F238E27FC236}">
                <a16:creationId xmlns:a16="http://schemas.microsoft.com/office/drawing/2014/main" id="{F8ED50DB-7C0F-90E0-E92C-5E6134FD1BE0}"/>
              </a:ext>
            </a:extLst>
          </p:cNvPr>
          <p:cNvSpPr txBox="1"/>
          <p:nvPr/>
        </p:nvSpPr>
        <p:spPr>
          <a:xfrm>
            <a:off x="8097251" y="6109521"/>
            <a:ext cx="926433" cy="369332"/>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39</a:t>
            </a:r>
          </a:p>
        </p:txBody>
      </p:sp>
    </p:spTree>
    <p:extLst>
      <p:ext uri="{BB962C8B-B14F-4D97-AF65-F5344CB8AC3E}">
        <p14:creationId xmlns:p14="http://schemas.microsoft.com/office/powerpoint/2010/main" val="11599264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12826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48915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28C6C95-20B9-D638-15B5-681FAD315D03}"/>
              </a:ext>
            </a:extLst>
          </p:cNvPr>
          <p:cNvSpPr/>
          <p:nvPr/>
        </p:nvSpPr>
        <p:spPr>
          <a:xfrm>
            <a:off x="947343" y="419493"/>
            <a:ext cx="2025647" cy="800176"/>
          </a:xfrm>
          <a:prstGeom prst="roundRect">
            <a:avLst/>
          </a:prstGeom>
          <a:solidFill>
            <a:schemeClr val="tx2">
              <a:lumMod val="10000"/>
              <a:lumOff val="9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Meiryo" panose="020B0604030504040204" pitchFamily="34" charset="-128"/>
                <a:ea typeface="Meiryo" panose="020B0604030504040204" pitchFamily="34" charset="-128"/>
              </a:rPr>
              <a:t>IoT Device</a:t>
            </a:r>
          </a:p>
          <a:p>
            <a:pPr algn="ctr"/>
            <a:r>
              <a:rPr lang="en-US" sz="1600" dirty="0">
                <a:solidFill>
                  <a:schemeClr val="tx1"/>
                </a:solidFill>
                <a:latin typeface="Meiryo" panose="020B0604030504040204" pitchFamily="34" charset="-128"/>
                <a:ea typeface="Meiryo" panose="020B0604030504040204" pitchFamily="34" charset="-128"/>
              </a:rPr>
              <a:t>CoAP UDP plain text</a:t>
            </a:r>
          </a:p>
        </p:txBody>
      </p:sp>
      <p:sp>
        <p:nvSpPr>
          <p:cNvPr id="3" name="Rectangle: Rounded Corners 2">
            <a:extLst>
              <a:ext uri="{FF2B5EF4-FFF2-40B4-BE49-F238E27FC236}">
                <a16:creationId xmlns:a16="http://schemas.microsoft.com/office/drawing/2014/main" id="{77B2200A-1042-9F71-1611-6F600E968C0A}"/>
              </a:ext>
            </a:extLst>
          </p:cNvPr>
          <p:cNvSpPr/>
          <p:nvPr/>
        </p:nvSpPr>
        <p:spPr>
          <a:xfrm>
            <a:off x="5605069" y="461399"/>
            <a:ext cx="1651000" cy="943208"/>
          </a:xfrm>
          <a:prstGeom prst="roundRect">
            <a:avLst/>
          </a:prstGeom>
          <a:solidFill>
            <a:schemeClr val="tx2">
              <a:lumMod val="10000"/>
              <a:lumOff val="9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Meiryo" panose="020B0604030504040204" pitchFamily="34" charset="-128"/>
              <a:ea typeface="Meiryo" panose="020B0604030504040204" pitchFamily="34" charset="-128"/>
            </a:endParaRPr>
          </a:p>
          <a:p>
            <a:pPr algn="ctr"/>
            <a:r>
              <a:rPr lang="en-US" sz="1600" b="1" dirty="0">
                <a:solidFill>
                  <a:schemeClr val="tx1"/>
                </a:solidFill>
                <a:latin typeface="Meiryo" panose="020B0604030504040204" pitchFamily="34" charset="-128"/>
                <a:ea typeface="Meiryo" panose="020B0604030504040204" pitchFamily="34" charset="-128"/>
              </a:rPr>
              <a:t>Attacker</a:t>
            </a:r>
          </a:p>
          <a:p>
            <a:pPr algn="ctr"/>
            <a:r>
              <a:rPr lang="en-US" sz="1600" dirty="0">
                <a:solidFill>
                  <a:schemeClr val="tx1"/>
                </a:solidFill>
                <a:latin typeface="Meiryo" panose="020B0604030504040204" pitchFamily="34" charset="-128"/>
                <a:ea typeface="Meiryo" panose="020B0604030504040204" pitchFamily="34" charset="-128"/>
              </a:rPr>
              <a:t>CoAP Flood /Dos </a:t>
            </a:r>
          </a:p>
          <a:p>
            <a:pPr algn="ctr"/>
            <a:endParaRPr lang="en-US" sz="1600" dirty="0">
              <a:solidFill>
                <a:schemeClr val="tx1"/>
              </a:solidFill>
              <a:latin typeface="Meiryo" panose="020B0604030504040204" pitchFamily="34" charset="-128"/>
              <a:ea typeface="Meiryo" panose="020B0604030504040204" pitchFamily="34" charset="-128"/>
            </a:endParaRPr>
          </a:p>
        </p:txBody>
      </p:sp>
      <p:sp>
        <p:nvSpPr>
          <p:cNvPr id="5" name="Rectangle: Rounded Corners 4">
            <a:extLst>
              <a:ext uri="{FF2B5EF4-FFF2-40B4-BE49-F238E27FC236}">
                <a16:creationId xmlns:a16="http://schemas.microsoft.com/office/drawing/2014/main" id="{8061B4AC-3537-1795-9AAE-9E3FB0F521FE}"/>
              </a:ext>
            </a:extLst>
          </p:cNvPr>
          <p:cNvSpPr/>
          <p:nvPr/>
        </p:nvSpPr>
        <p:spPr>
          <a:xfrm>
            <a:off x="1733550" y="1851809"/>
            <a:ext cx="4794250" cy="855032"/>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tx1"/>
                </a:solidFill>
                <a:latin typeface="Meiryo" panose="020B0604030504040204" pitchFamily="34" charset="-128"/>
                <a:ea typeface="Meiryo" panose="020B0604030504040204" pitchFamily="34" charset="-128"/>
              </a:rPr>
              <a:t>tcpdump</a:t>
            </a:r>
            <a:r>
              <a:rPr lang="en-US" b="1" dirty="0">
                <a:solidFill>
                  <a:schemeClr val="tx1"/>
                </a:solidFill>
                <a:latin typeface="Meiryo" panose="020B0604030504040204" pitchFamily="34" charset="-128"/>
                <a:ea typeface="Meiryo" panose="020B0604030504040204" pitchFamily="34" charset="-128"/>
              </a:rPr>
              <a:t> / </a:t>
            </a:r>
            <a:r>
              <a:rPr lang="en-US" b="1" dirty="0" err="1">
                <a:solidFill>
                  <a:schemeClr val="tx1"/>
                </a:solidFill>
                <a:latin typeface="Meiryo" panose="020B0604030504040204" pitchFamily="34" charset="-128"/>
                <a:ea typeface="Meiryo" panose="020B0604030504040204" pitchFamily="34" charset="-128"/>
              </a:rPr>
              <a:t>scapy</a:t>
            </a:r>
            <a:r>
              <a:rPr lang="en-US" b="1" dirty="0">
                <a:solidFill>
                  <a:schemeClr val="tx1"/>
                </a:solidFill>
                <a:latin typeface="Meiryo" panose="020B0604030504040204" pitchFamily="34" charset="-128"/>
                <a:ea typeface="Meiryo" panose="020B0604030504040204" pitchFamily="34" charset="-128"/>
              </a:rPr>
              <a:t> </a:t>
            </a:r>
          </a:p>
          <a:p>
            <a:pPr algn="ctr"/>
            <a:r>
              <a:rPr lang="ja-JP" altLang="en-US" dirty="0">
                <a:solidFill>
                  <a:schemeClr val="tx1"/>
                </a:solidFill>
                <a:latin typeface="Meiryo" panose="020B0604030504040204" pitchFamily="34" charset="-128"/>
                <a:ea typeface="Meiryo" panose="020B0604030504040204" pitchFamily="34" charset="-128"/>
              </a:rPr>
              <a:t>すべてのパケットを取得</a:t>
            </a:r>
            <a:endParaRPr lang="en-US" dirty="0">
              <a:solidFill>
                <a:schemeClr val="tx1"/>
              </a:solidFill>
              <a:latin typeface="Meiryo" panose="020B0604030504040204" pitchFamily="34" charset="-128"/>
              <a:ea typeface="Meiryo" panose="020B0604030504040204" pitchFamily="34" charset="-128"/>
            </a:endParaRPr>
          </a:p>
        </p:txBody>
      </p:sp>
      <p:sp>
        <p:nvSpPr>
          <p:cNvPr id="6" name="Rectangle: Rounded Corners 5">
            <a:extLst>
              <a:ext uri="{FF2B5EF4-FFF2-40B4-BE49-F238E27FC236}">
                <a16:creationId xmlns:a16="http://schemas.microsoft.com/office/drawing/2014/main" id="{50E5EC17-5D5E-BAF0-CFD4-53E17CCE6F32}"/>
              </a:ext>
            </a:extLst>
          </p:cNvPr>
          <p:cNvSpPr/>
          <p:nvPr/>
        </p:nvSpPr>
        <p:spPr>
          <a:xfrm>
            <a:off x="1733550" y="2995172"/>
            <a:ext cx="4794250" cy="813393"/>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eiryo" panose="020B0604030504040204" pitchFamily="34" charset="-128"/>
                <a:ea typeface="Meiryo" panose="020B0604030504040204" pitchFamily="34" charset="-128"/>
              </a:rPr>
              <a:t>Protocol filtering</a:t>
            </a:r>
          </a:p>
          <a:p>
            <a:pPr algn="ctr"/>
            <a:r>
              <a:rPr lang="en-US" altLang="ja-JP" dirty="0">
                <a:solidFill>
                  <a:schemeClr val="tx1"/>
                </a:solidFill>
                <a:latin typeface="Meiryo" panose="020B0604030504040204" pitchFamily="34" charset="-128"/>
                <a:ea typeface="Meiryo" panose="020B0604030504040204" pitchFamily="34" charset="-128"/>
              </a:rPr>
              <a:t>CoAP</a:t>
            </a:r>
            <a:r>
              <a:rPr lang="ja-JP" altLang="en-US" dirty="0">
                <a:solidFill>
                  <a:schemeClr val="tx1"/>
                </a:solidFill>
                <a:latin typeface="Meiryo" panose="020B0604030504040204" pitchFamily="34" charset="-128"/>
                <a:ea typeface="Meiryo" panose="020B0604030504040204" pitchFamily="34" charset="-128"/>
              </a:rPr>
              <a:t>の場合は次のステップへ進む</a:t>
            </a:r>
            <a:endParaRPr lang="mn-MN" b="1" dirty="0">
              <a:solidFill>
                <a:schemeClr val="tx1"/>
              </a:solidFill>
              <a:latin typeface="Meiryo" panose="020B0604030504040204" pitchFamily="34" charset="-128"/>
              <a:ea typeface="Meiryo" panose="020B0604030504040204" pitchFamily="34" charset="-128"/>
            </a:endParaRPr>
          </a:p>
        </p:txBody>
      </p:sp>
      <p:sp>
        <p:nvSpPr>
          <p:cNvPr id="7" name="Rectangle: Rounded Corners 6">
            <a:extLst>
              <a:ext uri="{FF2B5EF4-FFF2-40B4-BE49-F238E27FC236}">
                <a16:creationId xmlns:a16="http://schemas.microsoft.com/office/drawing/2014/main" id="{587FFFA8-9DBB-C267-04AC-97946DB37B3F}"/>
              </a:ext>
            </a:extLst>
          </p:cNvPr>
          <p:cNvSpPr/>
          <p:nvPr/>
        </p:nvSpPr>
        <p:spPr>
          <a:xfrm>
            <a:off x="1733550" y="4144046"/>
            <a:ext cx="4794250" cy="877950"/>
          </a:xfrm>
          <a:prstGeom prst="roundRect">
            <a:avLst/>
          </a:prstGeom>
          <a:solidFill>
            <a:schemeClr val="accent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chemeClr val="tx1"/>
                </a:solidFill>
                <a:latin typeface="Meiryo" panose="020B0604030504040204" pitchFamily="34" charset="-128"/>
                <a:ea typeface="Meiryo" panose="020B0604030504040204" pitchFamily="34" charset="-128"/>
              </a:rPr>
              <a:t>CoAP</a:t>
            </a:r>
            <a:r>
              <a:rPr lang="ja-JP" altLang="en-US" sz="1600" b="1" dirty="0">
                <a:solidFill>
                  <a:schemeClr val="tx1"/>
                </a:solidFill>
                <a:latin typeface="Meiryo" panose="020B0604030504040204" pitchFamily="34" charset="-128"/>
                <a:ea typeface="Meiryo" panose="020B0604030504040204" pitchFamily="34" charset="-128"/>
              </a:rPr>
              <a:t>の特徴量を抽出</a:t>
            </a:r>
            <a:endParaRPr lang="en-US" altLang="ja-JP" sz="1600" b="1" dirty="0">
              <a:solidFill>
                <a:schemeClr val="tx1"/>
              </a:solidFill>
              <a:latin typeface="Meiryo" panose="020B0604030504040204" pitchFamily="34" charset="-128"/>
              <a:ea typeface="Meiryo" panose="020B0604030504040204" pitchFamily="34" charset="-128"/>
            </a:endParaRPr>
          </a:p>
          <a:p>
            <a:pPr algn="ctr"/>
            <a:r>
              <a:rPr lang="en-US" sz="1600" dirty="0">
                <a:solidFill>
                  <a:schemeClr val="tx1"/>
                </a:solidFill>
                <a:latin typeface="Meiryo" panose="020B0604030504040204" pitchFamily="34" charset="-128"/>
                <a:ea typeface="Meiryo" panose="020B0604030504040204" pitchFamily="34" charset="-128"/>
              </a:rPr>
              <a:t>Message type, Payload Size8 Source IP, ..Features </a:t>
            </a:r>
          </a:p>
        </p:txBody>
      </p:sp>
      <p:sp>
        <p:nvSpPr>
          <p:cNvPr id="8" name="Rectangle: Rounded Corners 7">
            <a:extLst>
              <a:ext uri="{FF2B5EF4-FFF2-40B4-BE49-F238E27FC236}">
                <a16:creationId xmlns:a16="http://schemas.microsoft.com/office/drawing/2014/main" id="{65275E9D-76EF-BAF4-C9A8-322D27A857BF}"/>
              </a:ext>
            </a:extLst>
          </p:cNvPr>
          <p:cNvSpPr/>
          <p:nvPr/>
        </p:nvSpPr>
        <p:spPr>
          <a:xfrm>
            <a:off x="2972990" y="5159222"/>
            <a:ext cx="2315369" cy="704852"/>
          </a:xfrm>
          <a:prstGeom prst="roundRect">
            <a:avLst/>
          </a:prstGeom>
          <a:solidFill>
            <a:schemeClr val="accent4">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eiryo" panose="020B0604030504040204" pitchFamily="34" charset="-128"/>
                <a:ea typeface="Meiryo" panose="020B0604030504040204" pitchFamily="34" charset="-128"/>
              </a:rPr>
              <a:t>機械学習で分類</a:t>
            </a:r>
            <a:endParaRPr lang="en-US" altLang="ja-JP" b="1" dirty="0">
              <a:solidFill>
                <a:schemeClr val="tx1"/>
              </a:solidFill>
              <a:latin typeface="Meiryo" panose="020B0604030504040204" pitchFamily="34" charset="-128"/>
              <a:ea typeface="Meiryo" panose="020B0604030504040204" pitchFamily="34" charset="-128"/>
            </a:endParaRPr>
          </a:p>
          <a:p>
            <a:pPr algn="ctr"/>
            <a:r>
              <a:rPr lang="en-US" dirty="0">
                <a:solidFill>
                  <a:schemeClr val="tx1"/>
                </a:solidFill>
                <a:latin typeface="Meiryo" panose="020B0604030504040204" pitchFamily="34" charset="-128"/>
                <a:ea typeface="Meiryo" panose="020B0604030504040204" pitchFamily="34" charset="-128"/>
              </a:rPr>
              <a:t>Attack or Normal</a:t>
            </a:r>
          </a:p>
        </p:txBody>
      </p:sp>
      <p:sp>
        <p:nvSpPr>
          <p:cNvPr id="9" name="Rectangle: Rounded Corners 8">
            <a:extLst>
              <a:ext uri="{FF2B5EF4-FFF2-40B4-BE49-F238E27FC236}">
                <a16:creationId xmlns:a16="http://schemas.microsoft.com/office/drawing/2014/main" id="{404B5884-2ABE-8E0B-3174-1D17D675E8A9}"/>
              </a:ext>
            </a:extLst>
          </p:cNvPr>
          <p:cNvSpPr/>
          <p:nvPr/>
        </p:nvSpPr>
        <p:spPr>
          <a:xfrm>
            <a:off x="1276347" y="5946776"/>
            <a:ext cx="1803399" cy="666751"/>
          </a:xfrm>
          <a:prstGeom prst="roundRect">
            <a:avLst/>
          </a:prstGeom>
          <a:solidFill>
            <a:schemeClr val="bg2">
              <a:lumMod val="9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eiryo" panose="020B0604030504040204" pitchFamily="34" charset="-128"/>
                <a:ea typeface="Meiryo" panose="020B0604030504040204" pitchFamily="34" charset="-128"/>
              </a:rPr>
              <a:t>Packet Drop </a:t>
            </a:r>
          </a:p>
        </p:txBody>
      </p:sp>
      <p:sp>
        <p:nvSpPr>
          <p:cNvPr id="10" name="Rectangle: Rounded Corners 9">
            <a:extLst>
              <a:ext uri="{FF2B5EF4-FFF2-40B4-BE49-F238E27FC236}">
                <a16:creationId xmlns:a16="http://schemas.microsoft.com/office/drawing/2014/main" id="{E8B51E3B-5F05-C57E-D21A-4E5266ED3DF2}"/>
              </a:ext>
            </a:extLst>
          </p:cNvPr>
          <p:cNvSpPr/>
          <p:nvPr/>
        </p:nvSpPr>
        <p:spPr>
          <a:xfrm>
            <a:off x="5537200" y="5946775"/>
            <a:ext cx="2571750" cy="666751"/>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eiryo" panose="020B0604030504040204" pitchFamily="34" charset="-128"/>
                <a:ea typeface="Meiryo" panose="020B0604030504040204" pitchFamily="34" charset="-128"/>
              </a:rPr>
              <a:t>Layer 2</a:t>
            </a:r>
            <a:r>
              <a:rPr lang="ja-JP" altLang="en-US" b="1" dirty="0">
                <a:solidFill>
                  <a:schemeClr val="tx1"/>
                </a:solidFill>
                <a:latin typeface="Meiryo" panose="020B0604030504040204" pitchFamily="34" charset="-128"/>
                <a:ea typeface="Meiryo" panose="020B0604030504040204" pitchFamily="34" charset="-128"/>
              </a:rPr>
              <a:t>へ</a:t>
            </a:r>
            <a:r>
              <a:rPr lang="en-US" b="1" dirty="0">
                <a:solidFill>
                  <a:schemeClr val="tx1"/>
                </a:solidFill>
                <a:latin typeface="Meiryo" panose="020B0604030504040204" pitchFamily="34" charset="-128"/>
                <a:ea typeface="Meiryo" panose="020B0604030504040204" pitchFamily="34" charset="-128"/>
              </a:rPr>
              <a:t> </a:t>
            </a:r>
            <a:r>
              <a:rPr lang="ja-JP" altLang="en-US" b="1" dirty="0">
                <a:solidFill>
                  <a:schemeClr val="tx1"/>
                </a:solidFill>
                <a:latin typeface="Meiryo" panose="020B0604030504040204" pitchFamily="34" charset="-128"/>
                <a:ea typeface="Meiryo" panose="020B0604030504040204" pitchFamily="34" charset="-128"/>
              </a:rPr>
              <a:t>転送</a:t>
            </a:r>
            <a:endParaRPr lang="en-US" b="1" dirty="0">
              <a:solidFill>
                <a:schemeClr val="tx1"/>
              </a:solidFill>
              <a:latin typeface="Meiryo" panose="020B0604030504040204" pitchFamily="34" charset="-128"/>
              <a:ea typeface="Meiryo" panose="020B0604030504040204" pitchFamily="34" charset="-128"/>
            </a:endParaRPr>
          </a:p>
        </p:txBody>
      </p:sp>
      <p:cxnSp>
        <p:nvCxnSpPr>
          <p:cNvPr id="12" name="Connector: Elbow 11">
            <a:extLst>
              <a:ext uri="{FF2B5EF4-FFF2-40B4-BE49-F238E27FC236}">
                <a16:creationId xmlns:a16="http://schemas.microsoft.com/office/drawing/2014/main" id="{3766B9DD-ED44-1BE7-7C69-E890D4A04041}"/>
              </a:ext>
            </a:extLst>
          </p:cNvPr>
          <p:cNvCxnSpPr>
            <a:cxnSpLocks/>
            <a:stCxn id="8" idx="1"/>
            <a:endCxn id="9" idx="0"/>
          </p:cNvCxnSpPr>
          <p:nvPr/>
        </p:nvCxnSpPr>
        <p:spPr>
          <a:xfrm rot="10800000" flipV="1">
            <a:off x="2178048" y="5511648"/>
            <a:ext cx="794943" cy="435128"/>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nector: Elbow 13">
            <a:extLst>
              <a:ext uri="{FF2B5EF4-FFF2-40B4-BE49-F238E27FC236}">
                <a16:creationId xmlns:a16="http://schemas.microsoft.com/office/drawing/2014/main" id="{2FA36E60-032A-B176-40D3-BD7A49B80FA2}"/>
              </a:ext>
            </a:extLst>
          </p:cNvPr>
          <p:cNvCxnSpPr>
            <a:cxnSpLocks/>
            <a:stCxn id="8" idx="3"/>
            <a:endCxn id="10" idx="0"/>
          </p:cNvCxnSpPr>
          <p:nvPr/>
        </p:nvCxnSpPr>
        <p:spPr>
          <a:xfrm>
            <a:off x="5288359" y="5511648"/>
            <a:ext cx="1534716" cy="435127"/>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CD5D23EF-AEBF-533F-B068-3DDB8222D0E0}"/>
              </a:ext>
            </a:extLst>
          </p:cNvPr>
          <p:cNvCxnSpPr>
            <a:cxnSpLocks/>
          </p:cNvCxnSpPr>
          <p:nvPr/>
        </p:nvCxnSpPr>
        <p:spPr>
          <a:xfrm>
            <a:off x="2621857" y="1210387"/>
            <a:ext cx="0" cy="33337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5E2E30DD-6F88-45BB-F0F9-F4870D0F18D5}"/>
              </a:ext>
            </a:extLst>
          </p:cNvPr>
          <p:cNvCxnSpPr>
            <a:cxnSpLocks/>
          </p:cNvCxnSpPr>
          <p:nvPr/>
        </p:nvCxnSpPr>
        <p:spPr>
          <a:xfrm>
            <a:off x="2621857" y="1567478"/>
            <a:ext cx="3641557" cy="0"/>
          </a:xfrm>
          <a:prstGeom prst="line">
            <a:avLst/>
          </a:prstGeom>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E2499BEE-CA39-56DB-FAD2-91E3D2EFFE7C}"/>
              </a:ext>
            </a:extLst>
          </p:cNvPr>
          <p:cNvCxnSpPr>
            <a:cxnSpLocks/>
            <a:endCxn id="5" idx="0"/>
          </p:cNvCxnSpPr>
          <p:nvPr/>
        </p:nvCxnSpPr>
        <p:spPr>
          <a:xfrm>
            <a:off x="4130675" y="1567478"/>
            <a:ext cx="0" cy="28433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6" name="TextBox 25">
            <a:extLst>
              <a:ext uri="{FF2B5EF4-FFF2-40B4-BE49-F238E27FC236}">
                <a16:creationId xmlns:a16="http://schemas.microsoft.com/office/drawing/2014/main" id="{44FD0551-832C-613C-C2E7-EEE6817A3407}"/>
              </a:ext>
            </a:extLst>
          </p:cNvPr>
          <p:cNvSpPr txBox="1"/>
          <p:nvPr/>
        </p:nvSpPr>
        <p:spPr>
          <a:xfrm>
            <a:off x="468270" y="1650481"/>
            <a:ext cx="4502937" cy="338554"/>
          </a:xfrm>
          <a:prstGeom prst="rect">
            <a:avLst/>
          </a:prstGeom>
          <a:noFill/>
        </p:spPr>
        <p:txBody>
          <a:bodyPr wrap="square" rtlCol="0">
            <a:spAutoFit/>
          </a:bodyPr>
          <a:lstStyle/>
          <a:p>
            <a:r>
              <a:rPr lang="en-US" sz="1600" dirty="0">
                <a:latin typeface="Meiryo" panose="020B0604030504040204" pitchFamily="34" charset="-128"/>
                <a:ea typeface="Meiryo" panose="020B0604030504040204" pitchFamily="34" charset="-128"/>
              </a:rPr>
              <a:t>Step 1: Packet capture</a:t>
            </a:r>
          </a:p>
        </p:txBody>
      </p:sp>
      <p:sp>
        <p:nvSpPr>
          <p:cNvPr id="30" name="TextBox 29">
            <a:extLst>
              <a:ext uri="{FF2B5EF4-FFF2-40B4-BE49-F238E27FC236}">
                <a16:creationId xmlns:a16="http://schemas.microsoft.com/office/drawing/2014/main" id="{81A086EF-5F31-2281-243F-5D7C3B8917C0}"/>
              </a:ext>
            </a:extLst>
          </p:cNvPr>
          <p:cNvSpPr txBox="1"/>
          <p:nvPr/>
        </p:nvSpPr>
        <p:spPr>
          <a:xfrm>
            <a:off x="5731042" y="2776588"/>
            <a:ext cx="4572000" cy="584775"/>
          </a:xfrm>
          <a:prstGeom prst="rect">
            <a:avLst/>
          </a:prstGeom>
          <a:noFill/>
        </p:spPr>
        <p:txBody>
          <a:bodyPr wrap="square">
            <a:spAutoFit/>
          </a:bodyPr>
          <a:lstStyle/>
          <a:p>
            <a:r>
              <a:rPr lang="en-US" sz="1600" dirty="0">
                <a:latin typeface="Meiryo" panose="020B0604030504040204" pitchFamily="34" charset="-128"/>
                <a:ea typeface="Meiryo" panose="020B0604030504040204" pitchFamily="34" charset="-128"/>
              </a:rPr>
              <a:t>Step 2 : Protocol filtering</a:t>
            </a:r>
          </a:p>
          <a:p>
            <a:endParaRPr lang="en-US" sz="1600" dirty="0">
              <a:latin typeface="Meiryo" panose="020B0604030504040204" pitchFamily="34" charset="-128"/>
              <a:ea typeface="Meiryo" panose="020B0604030504040204" pitchFamily="34" charset="-128"/>
            </a:endParaRPr>
          </a:p>
        </p:txBody>
      </p:sp>
      <p:sp>
        <p:nvSpPr>
          <p:cNvPr id="32" name="TextBox 31">
            <a:extLst>
              <a:ext uri="{FF2B5EF4-FFF2-40B4-BE49-F238E27FC236}">
                <a16:creationId xmlns:a16="http://schemas.microsoft.com/office/drawing/2014/main" id="{BDB205E8-B948-372C-8909-EB0F510EC287}"/>
              </a:ext>
            </a:extLst>
          </p:cNvPr>
          <p:cNvSpPr txBox="1"/>
          <p:nvPr/>
        </p:nvSpPr>
        <p:spPr>
          <a:xfrm>
            <a:off x="439821" y="3849553"/>
            <a:ext cx="3476449" cy="584775"/>
          </a:xfrm>
          <a:prstGeom prst="rect">
            <a:avLst/>
          </a:prstGeom>
          <a:noFill/>
        </p:spPr>
        <p:txBody>
          <a:bodyPr wrap="square">
            <a:spAutoFit/>
          </a:bodyPr>
          <a:lstStyle/>
          <a:p>
            <a:r>
              <a:rPr lang="en-US" sz="1600" dirty="0">
                <a:latin typeface="Meiryo" panose="020B0604030504040204" pitchFamily="34" charset="-128"/>
                <a:ea typeface="Meiryo" panose="020B0604030504040204" pitchFamily="34" charset="-128"/>
              </a:rPr>
              <a:t>Step 3 : Feature extraction</a:t>
            </a:r>
          </a:p>
          <a:p>
            <a:endParaRPr lang="en-US" sz="1600" dirty="0">
              <a:latin typeface="Meiryo" panose="020B0604030504040204" pitchFamily="34" charset="-128"/>
              <a:ea typeface="Meiryo" panose="020B0604030504040204" pitchFamily="34" charset="-128"/>
            </a:endParaRPr>
          </a:p>
        </p:txBody>
      </p:sp>
      <p:cxnSp>
        <p:nvCxnSpPr>
          <p:cNvPr id="34" name="Straight Connector 33">
            <a:extLst>
              <a:ext uri="{FF2B5EF4-FFF2-40B4-BE49-F238E27FC236}">
                <a16:creationId xmlns:a16="http://schemas.microsoft.com/office/drawing/2014/main" id="{AFB7ABBC-2134-2EBC-9D72-94D61EDA7E77}"/>
              </a:ext>
            </a:extLst>
          </p:cNvPr>
          <p:cNvCxnSpPr>
            <a:cxnSpLocks/>
            <a:stCxn id="5" idx="2"/>
            <a:endCxn id="6" idx="0"/>
          </p:cNvCxnSpPr>
          <p:nvPr/>
        </p:nvCxnSpPr>
        <p:spPr>
          <a:xfrm>
            <a:off x="4130675" y="2706841"/>
            <a:ext cx="0" cy="288331"/>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55E6014D-3DB8-732C-1B49-117D2B20116A}"/>
              </a:ext>
            </a:extLst>
          </p:cNvPr>
          <p:cNvCxnSpPr>
            <a:cxnSpLocks/>
            <a:stCxn id="6" idx="2"/>
            <a:endCxn id="7" idx="0"/>
          </p:cNvCxnSpPr>
          <p:nvPr/>
        </p:nvCxnSpPr>
        <p:spPr>
          <a:xfrm>
            <a:off x="4130675" y="3808565"/>
            <a:ext cx="0" cy="335481"/>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2D7345D0-B3C1-DDD1-6A33-8871AB580E66}"/>
              </a:ext>
            </a:extLst>
          </p:cNvPr>
          <p:cNvCxnSpPr>
            <a:cxnSpLocks/>
            <a:stCxn id="7" idx="2"/>
          </p:cNvCxnSpPr>
          <p:nvPr/>
        </p:nvCxnSpPr>
        <p:spPr>
          <a:xfrm flipH="1">
            <a:off x="4130674" y="5021996"/>
            <a:ext cx="1" cy="332451"/>
          </a:xfrm>
          <a:prstGeom prst="line">
            <a:avLst/>
          </a:prstGeom>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7AE56ABC-A5E2-863D-B4D1-D2F16891D27A}"/>
              </a:ext>
            </a:extLst>
          </p:cNvPr>
          <p:cNvSpPr txBox="1"/>
          <p:nvPr/>
        </p:nvSpPr>
        <p:spPr>
          <a:xfrm>
            <a:off x="5653255" y="5073668"/>
            <a:ext cx="4727574" cy="584775"/>
          </a:xfrm>
          <a:prstGeom prst="rect">
            <a:avLst/>
          </a:prstGeom>
          <a:noFill/>
        </p:spPr>
        <p:txBody>
          <a:bodyPr wrap="square">
            <a:spAutoFit/>
          </a:bodyPr>
          <a:lstStyle/>
          <a:p>
            <a:r>
              <a:rPr lang="en-US" sz="1600" dirty="0">
                <a:latin typeface="Meiryo" panose="020B0604030504040204" pitchFamily="34" charset="-128"/>
                <a:ea typeface="Meiryo" panose="020B0604030504040204" pitchFamily="34" charset="-128"/>
              </a:rPr>
              <a:t>Step 4 :ML Classification</a:t>
            </a:r>
          </a:p>
          <a:p>
            <a:endParaRPr lang="en-US" sz="1600"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95C910BB-AAC6-C619-E5C2-9A6026DDE0E2}"/>
              </a:ext>
            </a:extLst>
          </p:cNvPr>
          <p:cNvSpPr txBox="1"/>
          <p:nvPr/>
        </p:nvSpPr>
        <p:spPr>
          <a:xfrm>
            <a:off x="1591663" y="95403"/>
            <a:ext cx="5078021" cy="400110"/>
          </a:xfrm>
          <a:prstGeom prst="rect">
            <a:avLst/>
          </a:prstGeom>
          <a:noFill/>
        </p:spPr>
        <p:txBody>
          <a:bodyPr wrap="square">
            <a:spAutoFit/>
          </a:bodyPr>
          <a:lstStyle/>
          <a:p>
            <a:pPr marL="342900" indent="-342900" algn="ctr">
              <a:buFont typeface="Wingdings" pitchFamily="2" charset="2"/>
              <a:buChar char="Ø"/>
            </a:pPr>
            <a:r>
              <a:rPr lang="en-US" altLang="ja-JP" sz="2000" b="1" dirty="0">
                <a:latin typeface="Meiryo" panose="020B0604030504040204" pitchFamily="34" charset="-128"/>
                <a:ea typeface="Meiryo" panose="020B0604030504040204" pitchFamily="34" charset="-128"/>
              </a:rPr>
              <a:t>Layer 1 – ML-based IDS</a:t>
            </a:r>
            <a:endParaRPr lang="en-JP" sz="2000" b="1" dirty="0">
              <a:latin typeface="Meiryo" panose="020B0604030504040204" pitchFamily="34" charset="-128"/>
              <a:ea typeface="Meiryo" panose="020B0604030504040204" pitchFamily="34" charset="-128"/>
            </a:endParaRPr>
          </a:p>
        </p:txBody>
      </p:sp>
      <p:cxnSp>
        <p:nvCxnSpPr>
          <p:cNvPr id="39" name="Straight Arrow Connector 38">
            <a:extLst>
              <a:ext uri="{FF2B5EF4-FFF2-40B4-BE49-F238E27FC236}">
                <a16:creationId xmlns:a16="http://schemas.microsoft.com/office/drawing/2014/main" id="{DA185D4E-824A-8931-BA9F-CA3DDB3CCD10}"/>
              </a:ext>
            </a:extLst>
          </p:cNvPr>
          <p:cNvCxnSpPr>
            <a:cxnSpLocks/>
          </p:cNvCxnSpPr>
          <p:nvPr/>
        </p:nvCxnSpPr>
        <p:spPr>
          <a:xfrm>
            <a:off x="6263414" y="1376271"/>
            <a:ext cx="0" cy="27421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3" name="Slide Number Placeholder 42">
            <a:extLst>
              <a:ext uri="{FF2B5EF4-FFF2-40B4-BE49-F238E27FC236}">
                <a16:creationId xmlns:a16="http://schemas.microsoft.com/office/drawing/2014/main" id="{E9CA44A4-31EC-4633-3440-7F22F1A88FB8}"/>
              </a:ext>
            </a:extLst>
          </p:cNvPr>
          <p:cNvSpPr>
            <a:spLocks noGrp="1"/>
          </p:cNvSpPr>
          <p:nvPr>
            <p:ph type="sldNum" sz="quarter" idx="12"/>
          </p:nvPr>
        </p:nvSpPr>
        <p:spPr/>
        <p:txBody>
          <a:bodyPr/>
          <a:lstStyle/>
          <a:p>
            <a:fld id="{828F3BD4-1AF2-D144-8129-4D42AD448F5E}" type="slidenum">
              <a:rPr lang="en-JP" smtClean="0"/>
              <a:t>43</a:t>
            </a:fld>
            <a:endParaRPr lang="en-JP"/>
          </a:p>
        </p:txBody>
      </p:sp>
    </p:spTree>
    <p:extLst>
      <p:ext uri="{BB962C8B-B14F-4D97-AF65-F5344CB8AC3E}">
        <p14:creationId xmlns:p14="http://schemas.microsoft.com/office/powerpoint/2010/main" val="3586012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9E2F9DA3-A26D-525D-75C9-3834123163A1}"/>
              </a:ext>
            </a:extLst>
          </p:cNvPr>
          <p:cNvSpPr/>
          <p:nvPr/>
        </p:nvSpPr>
        <p:spPr>
          <a:xfrm>
            <a:off x="116181" y="2394029"/>
            <a:ext cx="1783556" cy="1034971"/>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latin typeface="Meiryo" panose="020B0604030504040204" pitchFamily="34" charset="-128"/>
              <a:ea typeface="Meiryo" panose="020B0604030504040204" pitchFamily="34" charset="-128"/>
            </a:endParaRPr>
          </a:p>
          <a:p>
            <a:pPr algn="ctr"/>
            <a:r>
              <a:rPr lang="en-US" sz="1600" dirty="0">
                <a:solidFill>
                  <a:schemeClr val="tx1"/>
                </a:solidFill>
                <a:latin typeface="Meiryo" panose="020B0604030504040204" pitchFamily="34" charset="-128"/>
                <a:ea typeface="Meiryo" panose="020B0604030504040204" pitchFamily="34" charset="-128"/>
              </a:rPr>
              <a:t>Door lock (sensor2)</a:t>
            </a:r>
          </a:p>
          <a:p>
            <a:pPr algn="ctr"/>
            <a:r>
              <a:rPr lang="en-US" sz="1600" dirty="0">
                <a:solidFill>
                  <a:schemeClr val="tx1"/>
                </a:solidFill>
                <a:latin typeface="Meiryo" panose="020B0604030504040204" pitchFamily="34" charset="-128"/>
                <a:ea typeface="Meiryo" panose="020B0604030504040204" pitchFamily="34" charset="-128"/>
              </a:rPr>
              <a:t>192.168.1.11</a:t>
            </a:r>
          </a:p>
          <a:p>
            <a:pPr algn="ctr"/>
            <a:endParaRPr lang="en-US" sz="1400" dirty="0">
              <a:solidFill>
                <a:schemeClr val="tx1"/>
              </a:solidFill>
              <a:latin typeface="Meiryo" panose="020B0604030504040204" pitchFamily="34" charset="-128"/>
              <a:ea typeface="Meiryo" panose="020B0604030504040204" pitchFamily="34" charset="-128"/>
            </a:endParaRPr>
          </a:p>
        </p:txBody>
      </p:sp>
      <p:sp>
        <p:nvSpPr>
          <p:cNvPr id="7" name="Rectangle: Rounded Corners 6">
            <a:extLst>
              <a:ext uri="{FF2B5EF4-FFF2-40B4-BE49-F238E27FC236}">
                <a16:creationId xmlns:a16="http://schemas.microsoft.com/office/drawing/2014/main" id="{45F7AF2F-98FD-1716-7AC4-B03C8FA4687A}"/>
              </a:ext>
            </a:extLst>
          </p:cNvPr>
          <p:cNvSpPr/>
          <p:nvPr/>
        </p:nvSpPr>
        <p:spPr>
          <a:xfrm>
            <a:off x="116181" y="4833879"/>
            <a:ext cx="1933285" cy="1009243"/>
          </a:xfrm>
          <a:prstGeom prst="roundRect">
            <a:avLst/>
          </a:prstGeom>
          <a:solidFill>
            <a:schemeClr val="accent2">
              <a:lumMod val="20000"/>
              <a:lumOff val="80000"/>
            </a:schemeClr>
          </a:solid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600" dirty="0">
              <a:latin typeface="Meiryo" panose="020B0604030504040204" pitchFamily="34" charset="-128"/>
              <a:ea typeface="Meiryo" panose="020B0604030504040204" pitchFamily="34" charset="-128"/>
            </a:endParaRPr>
          </a:p>
          <a:p>
            <a:pPr algn="ctr"/>
            <a:r>
              <a:rPr lang="en-US" sz="1600" dirty="0">
                <a:latin typeface="Meiryo" panose="020B0604030504040204" pitchFamily="34" charset="-128"/>
                <a:ea typeface="Meiryo" panose="020B0604030504040204" pitchFamily="34" charset="-128"/>
              </a:rPr>
              <a:t>Attacker </a:t>
            </a:r>
          </a:p>
          <a:p>
            <a:pPr algn="ctr"/>
            <a:r>
              <a:rPr lang="en-US" sz="1600" dirty="0">
                <a:latin typeface="Meiryo" panose="020B0604030504040204" pitchFamily="34" charset="-128"/>
                <a:ea typeface="Meiryo" panose="020B0604030504040204" pitchFamily="34" charset="-128"/>
              </a:rPr>
              <a:t>CoAP flood / Dos</a:t>
            </a:r>
          </a:p>
          <a:p>
            <a:pPr algn="ctr"/>
            <a:r>
              <a:rPr lang="en-US" sz="1600" dirty="0">
                <a:solidFill>
                  <a:schemeClr val="tx1"/>
                </a:solidFill>
                <a:latin typeface="Meiryo" panose="020B0604030504040204" pitchFamily="34" charset="-128"/>
                <a:ea typeface="Meiryo" panose="020B0604030504040204" pitchFamily="34" charset="-128"/>
              </a:rPr>
              <a:t>192.168.1.50</a:t>
            </a:r>
          </a:p>
          <a:p>
            <a:pPr algn="ctr"/>
            <a:endParaRPr lang="en-US" sz="1600" dirty="0">
              <a:latin typeface="Meiryo" panose="020B0604030504040204" pitchFamily="34" charset="-128"/>
              <a:ea typeface="Meiryo" panose="020B0604030504040204" pitchFamily="34" charset="-128"/>
            </a:endParaRPr>
          </a:p>
        </p:txBody>
      </p:sp>
      <p:sp>
        <p:nvSpPr>
          <p:cNvPr id="8" name="Rectangle: Rounded Corners 7">
            <a:extLst>
              <a:ext uri="{FF2B5EF4-FFF2-40B4-BE49-F238E27FC236}">
                <a16:creationId xmlns:a16="http://schemas.microsoft.com/office/drawing/2014/main" id="{08EAFC1D-ED5C-8C38-1EE5-F24E67A4B920}"/>
              </a:ext>
            </a:extLst>
          </p:cNvPr>
          <p:cNvSpPr/>
          <p:nvPr/>
        </p:nvSpPr>
        <p:spPr>
          <a:xfrm>
            <a:off x="3119700" y="2394029"/>
            <a:ext cx="1854578" cy="1034971"/>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Meiryo" panose="020B0604030504040204" pitchFamily="34" charset="-128"/>
                <a:ea typeface="Meiryo" panose="020B0604030504040204" pitchFamily="34" charset="-128"/>
              </a:rPr>
              <a:t>Router/Switch </a:t>
            </a:r>
          </a:p>
          <a:p>
            <a:pPr algn="ctr"/>
            <a:r>
              <a:rPr lang="en-US" sz="1600" dirty="0">
                <a:solidFill>
                  <a:schemeClr val="tx1"/>
                </a:solidFill>
                <a:latin typeface="Meiryo" panose="020B0604030504040204" pitchFamily="34" charset="-128"/>
                <a:ea typeface="Meiryo" panose="020B0604030504040204" pitchFamily="34" charset="-128"/>
              </a:rPr>
              <a:t>192.168.1.1</a:t>
            </a:r>
          </a:p>
          <a:p>
            <a:pPr algn="ctr"/>
            <a:r>
              <a:rPr lang="ja-JP" altLang="en-US" sz="1600" b="1">
                <a:solidFill>
                  <a:schemeClr val="tx1"/>
                </a:solidFill>
                <a:latin typeface="Meiryo" panose="020B0604030504040204" pitchFamily="34" charset="-128"/>
                <a:ea typeface="Meiryo" panose="020B0604030504040204" pitchFamily="34" charset="-128"/>
              </a:rPr>
              <a:t>単純転送</a:t>
            </a:r>
            <a:endParaRPr lang="en-US" sz="1600" b="1" dirty="0">
              <a:solidFill>
                <a:schemeClr val="tx1"/>
              </a:solidFill>
              <a:latin typeface="Meiryo" panose="020B0604030504040204" pitchFamily="34" charset="-128"/>
              <a:ea typeface="Meiryo" panose="020B0604030504040204" pitchFamily="34" charset="-128"/>
            </a:endParaRPr>
          </a:p>
        </p:txBody>
      </p:sp>
      <p:cxnSp>
        <p:nvCxnSpPr>
          <p:cNvPr id="13" name="Straight Arrow Connector 12">
            <a:extLst>
              <a:ext uri="{FF2B5EF4-FFF2-40B4-BE49-F238E27FC236}">
                <a16:creationId xmlns:a16="http://schemas.microsoft.com/office/drawing/2014/main" id="{CB9D9031-9BCD-DF15-6E69-6B5FACDA6888}"/>
              </a:ext>
            </a:extLst>
          </p:cNvPr>
          <p:cNvCxnSpPr>
            <a:cxnSpLocks/>
            <a:stCxn id="6" idx="3"/>
            <a:endCxn id="8" idx="1"/>
          </p:cNvCxnSpPr>
          <p:nvPr/>
        </p:nvCxnSpPr>
        <p:spPr>
          <a:xfrm>
            <a:off x="1899737" y="2911515"/>
            <a:ext cx="1219963" cy="0"/>
          </a:xfrm>
          <a:prstGeom prst="straightConnector1">
            <a:avLst/>
          </a:prstGeom>
          <a:ln w="41275">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E4F6FE78-5493-E4E1-4424-73AB907B88B7}"/>
              </a:ext>
            </a:extLst>
          </p:cNvPr>
          <p:cNvCxnSpPr>
            <a:cxnSpLocks/>
          </p:cNvCxnSpPr>
          <p:nvPr/>
        </p:nvCxnSpPr>
        <p:spPr>
          <a:xfrm>
            <a:off x="1595696" y="5449794"/>
            <a:ext cx="2560230" cy="350487"/>
          </a:xfrm>
          <a:prstGeom prst="straightConnector1">
            <a:avLst/>
          </a:prstGeom>
          <a:ln w="41275">
            <a:tailEnd type="triangle"/>
          </a:ln>
        </p:spPr>
        <p:style>
          <a:lnRef idx="2">
            <a:schemeClr val="accent2"/>
          </a:lnRef>
          <a:fillRef idx="0">
            <a:schemeClr val="accent2"/>
          </a:fillRef>
          <a:effectRef idx="1">
            <a:schemeClr val="accent2"/>
          </a:effectRef>
          <a:fontRef idx="minor">
            <a:schemeClr val="tx1"/>
          </a:fontRef>
        </p:style>
      </p:cxnSp>
      <p:cxnSp>
        <p:nvCxnSpPr>
          <p:cNvPr id="20" name="Straight Arrow Connector 19">
            <a:extLst>
              <a:ext uri="{FF2B5EF4-FFF2-40B4-BE49-F238E27FC236}">
                <a16:creationId xmlns:a16="http://schemas.microsoft.com/office/drawing/2014/main" id="{32FE953D-67BC-EBDA-8FC0-FD2D7F244010}"/>
              </a:ext>
            </a:extLst>
          </p:cNvPr>
          <p:cNvCxnSpPr>
            <a:cxnSpLocks/>
          </p:cNvCxnSpPr>
          <p:nvPr/>
        </p:nvCxnSpPr>
        <p:spPr>
          <a:xfrm>
            <a:off x="5145979" y="2911514"/>
            <a:ext cx="1194275" cy="0"/>
          </a:xfrm>
          <a:prstGeom prst="straightConnector1">
            <a:avLst/>
          </a:prstGeom>
          <a:ln w="73025">
            <a:solidFill>
              <a:schemeClr val="tx1"/>
            </a:solidFill>
            <a:tailEnd type="triangle"/>
          </a:ln>
        </p:spPr>
        <p:style>
          <a:lnRef idx="2">
            <a:schemeClr val="accent6"/>
          </a:lnRef>
          <a:fillRef idx="0">
            <a:schemeClr val="accent6"/>
          </a:fillRef>
          <a:effectRef idx="1">
            <a:schemeClr val="accent6"/>
          </a:effectRef>
          <a:fontRef idx="minor">
            <a:schemeClr val="tx1"/>
          </a:fontRef>
        </p:style>
      </p:cxnSp>
      <p:sp>
        <p:nvSpPr>
          <p:cNvPr id="35" name="TextBox 34">
            <a:extLst>
              <a:ext uri="{FF2B5EF4-FFF2-40B4-BE49-F238E27FC236}">
                <a16:creationId xmlns:a16="http://schemas.microsoft.com/office/drawing/2014/main" id="{B8CA54B4-2898-B5FA-3FD4-D1DCF8CBAD53}"/>
              </a:ext>
            </a:extLst>
          </p:cNvPr>
          <p:cNvSpPr txBox="1"/>
          <p:nvPr/>
        </p:nvSpPr>
        <p:spPr>
          <a:xfrm>
            <a:off x="5029306" y="2463231"/>
            <a:ext cx="1207895" cy="338554"/>
          </a:xfrm>
          <a:prstGeom prst="rect">
            <a:avLst/>
          </a:prstGeom>
          <a:noFill/>
        </p:spPr>
        <p:txBody>
          <a:bodyPr wrap="none" rtlCol="0">
            <a:spAutoFit/>
          </a:bodyPr>
          <a:lstStyle/>
          <a:p>
            <a:r>
              <a:rPr lang="en-US" sz="1600" b="1" dirty="0">
                <a:latin typeface="Meiryo" panose="020B0604030504040204" pitchFamily="34" charset="-128"/>
                <a:ea typeface="Meiryo" panose="020B0604030504040204" pitchFamily="34" charset="-128"/>
              </a:rPr>
              <a:t>All Traffic</a:t>
            </a:r>
          </a:p>
        </p:txBody>
      </p:sp>
      <p:sp>
        <p:nvSpPr>
          <p:cNvPr id="38" name="Rectangle 37">
            <a:extLst>
              <a:ext uri="{FF2B5EF4-FFF2-40B4-BE49-F238E27FC236}">
                <a16:creationId xmlns:a16="http://schemas.microsoft.com/office/drawing/2014/main" id="{6DD4EB23-F661-7B07-0839-967306F2F6E3}"/>
              </a:ext>
            </a:extLst>
          </p:cNvPr>
          <p:cNvSpPr/>
          <p:nvPr/>
        </p:nvSpPr>
        <p:spPr>
          <a:xfrm>
            <a:off x="788473" y="6407130"/>
            <a:ext cx="119063" cy="12858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Times New Roman" panose="02020603050405020304" pitchFamily="18" charset="0"/>
              <a:cs typeface="Times New Roman" panose="02020603050405020304" pitchFamily="18" charset="0"/>
            </a:endParaRPr>
          </a:p>
        </p:txBody>
      </p:sp>
      <p:sp>
        <p:nvSpPr>
          <p:cNvPr id="39" name="Rectangle 38">
            <a:extLst>
              <a:ext uri="{FF2B5EF4-FFF2-40B4-BE49-F238E27FC236}">
                <a16:creationId xmlns:a16="http://schemas.microsoft.com/office/drawing/2014/main" id="{5C8EB882-64FF-F920-A7BD-9CDA51941385}"/>
              </a:ext>
            </a:extLst>
          </p:cNvPr>
          <p:cNvSpPr/>
          <p:nvPr/>
        </p:nvSpPr>
        <p:spPr>
          <a:xfrm>
            <a:off x="2515079" y="6404749"/>
            <a:ext cx="119063" cy="128588"/>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Times New Roman" panose="02020603050405020304" pitchFamily="18" charset="0"/>
              <a:cs typeface="Times New Roman" panose="02020603050405020304" pitchFamily="18" charset="0"/>
            </a:endParaRPr>
          </a:p>
        </p:txBody>
      </p:sp>
      <p:sp>
        <p:nvSpPr>
          <p:cNvPr id="40" name="Rectangle 39">
            <a:extLst>
              <a:ext uri="{FF2B5EF4-FFF2-40B4-BE49-F238E27FC236}">
                <a16:creationId xmlns:a16="http://schemas.microsoft.com/office/drawing/2014/main" id="{9ADDBCB2-21DF-AE3E-523B-41A914B9A7D6}"/>
              </a:ext>
            </a:extLst>
          </p:cNvPr>
          <p:cNvSpPr/>
          <p:nvPr/>
        </p:nvSpPr>
        <p:spPr>
          <a:xfrm>
            <a:off x="4442481" y="6381666"/>
            <a:ext cx="119063" cy="128588"/>
          </a:xfrm>
          <a:prstGeom prst="rect">
            <a:avLst/>
          </a:prstGeom>
          <a:solidFill>
            <a:schemeClr val="accent2">
              <a:lumMod val="20000"/>
              <a:lumOff val="8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Times New Roman" panose="02020603050405020304" pitchFamily="18" charset="0"/>
              <a:cs typeface="Times New Roman" panose="02020603050405020304" pitchFamily="18" charset="0"/>
            </a:endParaRPr>
          </a:p>
        </p:txBody>
      </p:sp>
      <p:sp>
        <p:nvSpPr>
          <p:cNvPr id="41" name="Rectangle 40">
            <a:extLst>
              <a:ext uri="{FF2B5EF4-FFF2-40B4-BE49-F238E27FC236}">
                <a16:creationId xmlns:a16="http://schemas.microsoft.com/office/drawing/2014/main" id="{0238BA42-FA1A-9977-88FD-3CC1D5C44A8F}"/>
              </a:ext>
            </a:extLst>
          </p:cNvPr>
          <p:cNvSpPr/>
          <p:nvPr/>
        </p:nvSpPr>
        <p:spPr>
          <a:xfrm>
            <a:off x="6161300" y="6467092"/>
            <a:ext cx="119063" cy="128588"/>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D2B20AD2-3E87-7C07-88F2-6D667F26AAB9}"/>
              </a:ext>
            </a:extLst>
          </p:cNvPr>
          <p:cNvSpPr txBox="1"/>
          <p:nvPr/>
        </p:nvSpPr>
        <p:spPr>
          <a:xfrm>
            <a:off x="907536" y="6353627"/>
            <a:ext cx="940386" cy="307777"/>
          </a:xfrm>
          <a:prstGeom prst="rect">
            <a:avLst/>
          </a:prstGeom>
          <a:noFill/>
        </p:spPr>
        <p:txBody>
          <a:bodyPr wrap="none" rtlCol="0">
            <a:spAutoFit/>
          </a:bodyPr>
          <a:lstStyle/>
          <a:p>
            <a:r>
              <a:rPr lang="en-US" sz="1400" dirty="0"/>
              <a:t>IoT Device</a:t>
            </a:r>
          </a:p>
        </p:txBody>
      </p:sp>
      <p:sp>
        <p:nvSpPr>
          <p:cNvPr id="44" name="TextBox 43">
            <a:extLst>
              <a:ext uri="{FF2B5EF4-FFF2-40B4-BE49-F238E27FC236}">
                <a16:creationId xmlns:a16="http://schemas.microsoft.com/office/drawing/2014/main" id="{5B2ED421-6264-FC87-876A-13B698E8D8EC}"/>
              </a:ext>
            </a:extLst>
          </p:cNvPr>
          <p:cNvSpPr txBox="1"/>
          <p:nvPr/>
        </p:nvSpPr>
        <p:spPr>
          <a:xfrm>
            <a:off x="2678072" y="6356351"/>
            <a:ext cx="1091774" cy="307777"/>
          </a:xfrm>
          <a:prstGeom prst="rect">
            <a:avLst/>
          </a:prstGeom>
          <a:noFill/>
        </p:spPr>
        <p:txBody>
          <a:bodyPr wrap="none" rtlCol="0">
            <a:spAutoFit/>
          </a:bodyPr>
          <a:lstStyle/>
          <a:p>
            <a:r>
              <a:rPr lang="en-US" sz="1400" dirty="0"/>
              <a:t>Gateway ML</a:t>
            </a:r>
          </a:p>
        </p:txBody>
      </p:sp>
      <p:sp>
        <p:nvSpPr>
          <p:cNvPr id="45" name="TextBox 44">
            <a:extLst>
              <a:ext uri="{FF2B5EF4-FFF2-40B4-BE49-F238E27FC236}">
                <a16:creationId xmlns:a16="http://schemas.microsoft.com/office/drawing/2014/main" id="{D47F3BCD-D51F-B8B3-790A-23D3B422B76A}"/>
              </a:ext>
            </a:extLst>
          </p:cNvPr>
          <p:cNvSpPr txBox="1"/>
          <p:nvPr/>
        </p:nvSpPr>
        <p:spPr>
          <a:xfrm>
            <a:off x="4669125" y="6353627"/>
            <a:ext cx="791563" cy="307777"/>
          </a:xfrm>
          <a:prstGeom prst="rect">
            <a:avLst/>
          </a:prstGeom>
          <a:noFill/>
        </p:spPr>
        <p:txBody>
          <a:bodyPr wrap="none" rtlCol="0">
            <a:spAutoFit/>
          </a:bodyPr>
          <a:lstStyle/>
          <a:p>
            <a:r>
              <a:rPr lang="en-US" sz="1400" dirty="0"/>
              <a:t>Attacker</a:t>
            </a:r>
          </a:p>
        </p:txBody>
      </p:sp>
      <p:sp>
        <p:nvSpPr>
          <p:cNvPr id="46" name="TextBox 45">
            <a:extLst>
              <a:ext uri="{FF2B5EF4-FFF2-40B4-BE49-F238E27FC236}">
                <a16:creationId xmlns:a16="http://schemas.microsoft.com/office/drawing/2014/main" id="{03D0EBEC-D5F4-00A3-6877-EDF83D6AEDEB}"/>
              </a:ext>
            </a:extLst>
          </p:cNvPr>
          <p:cNvSpPr txBox="1"/>
          <p:nvPr/>
        </p:nvSpPr>
        <p:spPr>
          <a:xfrm>
            <a:off x="6347256" y="6327281"/>
            <a:ext cx="1276311" cy="307777"/>
          </a:xfrm>
          <a:prstGeom prst="rect">
            <a:avLst/>
          </a:prstGeom>
          <a:noFill/>
        </p:spPr>
        <p:txBody>
          <a:bodyPr wrap="none" rtlCol="0">
            <a:spAutoFit/>
          </a:bodyPr>
          <a:lstStyle/>
          <a:p>
            <a:r>
              <a:rPr lang="en-US" sz="1400" dirty="0"/>
              <a:t>protected road</a:t>
            </a:r>
          </a:p>
        </p:txBody>
      </p:sp>
      <p:sp>
        <p:nvSpPr>
          <p:cNvPr id="73" name="Rectangle: Rounded Corners 72">
            <a:extLst>
              <a:ext uri="{FF2B5EF4-FFF2-40B4-BE49-F238E27FC236}">
                <a16:creationId xmlns:a16="http://schemas.microsoft.com/office/drawing/2014/main" id="{0860F095-FE40-02F7-4BD1-674484E97C09}"/>
              </a:ext>
            </a:extLst>
          </p:cNvPr>
          <p:cNvSpPr/>
          <p:nvPr/>
        </p:nvSpPr>
        <p:spPr>
          <a:xfrm>
            <a:off x="6347256" y="2438801"/>
            <a:ext cx="2265981" cy="88047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Meiryo" panose="020B0604030504040204" pitchFamily="34" charset="-128"/>
                <a:ea typeface="Meiryo" panose="020B0604030504040204" pitchFamily="34" charset="-128"/>
              </a:rPr>
              <a:t>Gateway</a:t>
            </a:r>
            <a:endParaRPr lang="en-US" dirty="0">
              <a:solidFill>
                <a:schemeClr val="tx1"/>
              </a:solidFill>
              <a:latin typeface="Meiryo" panose="020B0604030504040204" pitchFamily="34" charset="-128"/>
              <a:ea typeface="Meiryo" panose="020B0604030504040204" pitchFamily="34" charset="-128"/>
            </a:endParaRPr>
          </a:p>
          <a:p>
            <a:pPr algn="ctr"/>
            <a:endParaRPr lang="en-US" sz="1400" dirty="0">
              <a:solidFill>
                <a:schemeClr val="tx1"/>
              </a:solidFill>
              <a:latin typeface="Meiryo" panose="020B0604030504040204" pitchFamily="34" charset="-128"/>
              <a:ea typeface="Meiryo" panose="020B0604030504040204" pitchFamily="34" charset="-128"/>
            </a:endParaRPr>
          </a:p>
        </p:txBody>
      </p:sp>
      <p:sp>
        <p:nvSpPr>
          <p:cNvPr id="75" name="Rectangle: Rounded Corners 74">
            <a:extLst>
              <a:ext uri="{FF2B5EF4-FFF2-40B4-BE49-F238E27FC236}">
                <a16:creationId xmlns:a16="http://schemas.microsoft.com/office/drawing/2014/main" id="{260D789C-426C-237D-E202-28AA4C544847}"/>
              </a:ext>
            </a:extLst>
          </p:cNvPr>
          <p:cNvSpPr/>
          <p:nvPr/>
        </p:nvSpPr>
        <p:spPr>
          <a:xfrm>
            <a:off x="6347256" y="4659295"/>
            <a:ext cx="2168094" cy="1335768"/>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dirty="0">
              <a:solidFill>
                <a:schemeClr val="tx1"/>
              </a:solidFill>
              <a:latin typeface="Meiryo" panose="020B0604030504040204" pitchFamily="34" charset="-128"/>
              <a:ea typeface="Meiryo" panose="020B0604030504040204" pitchFamily="34" charset="-128"/>
            </a:endParaRPr>
          </a:p>
          <a:p>
            <a:pPr algn="ctr"/>
            <a:r>
              <a:rPr lang="en-US" b="1" dirty="0">
                <a:solidFill>
                  <a:schemeClr val="tx1"/>
                </a:solidFill>
                <a:latin typeface="Meiryo" panose="020B0604030504040204" pitchFamily="34" charset="-128"/>
                <a:ea typeface="Meiryo" panose="020B0604030504040204" pitchFamily="34" charset="-128"/>
              </a:rPr>
              <a:t>Backend server </a:t>
            </a:r>
          </a:p>
          <a:p>
            <a:pPr algn="ctr"/>
            <a:r>
              <a:rPr lang="en-US" dirty="0">
                <a:solidFill>
                  <a:schemeClr val="tx1"/>
                </a:solidFill>
                <a:latin typeface="Meiryo" panose="020B0604030504040204" pitchFamily="34" charset="-128"/>
                <a:ea typeface="Meiryo" panose="020B0604030504040204" pitchFamily="34" charset="-128"/>
              </a:rPr>
              <a:t>CoAP Server</a:t>
            </a:r>
          </a:p>
          <a:p>
            <a:pPr algn="ctr"/>
            <a:endParaRPr lang="en-US" dirty="0">
              <a:solidFill>
                <a:schemeClr val="tx1"/>
              </a:solidFill>
              <a:latin typeface="Meiryo" panose="020B0604030504040204" pitchFamily="34" charset="-128"/>
              <a:ea typeface="Meiryo" panose="020B0604030504040204" pitchFamily="34" charset="-128"/>
            </a:endParaRPr>
          </a:p>
          <a:p>
            <a:pPr algn="ctr"/>
            <a:r>
              <a:rPr lang="en-US" dirty="0">
                <a:solidFill>
                  <a:schemeClr val="tx1"/>
                </a:solidFill>
                <a:latin typeface="Meiryo" panose="020B0604030504040204" pitchFamily="34" charset="-128"/>
                <a:ea typeface="Meiryo" panose="020B0604030504040204" pitchFamily="34" charset="-128"/>
              </a:rPr>
              <a:t>192.168.1.200</a:t>
            </a:r>
          </a:p>
          <a:p>
            <a:pPr algn="ctr"/>
            <a:endParaRPr lang="en-US" sz="1400" dirty="0">
              <a:solidFill>
                <a:schemeClr val="tx1"/>
              </a:solidFill>
              <a:latin typeface="Meiryo" panose="020B0604030504040204" pitchFamily="34" charset="-128"/>
              <a:ea typeface="Meiryo" panose="020B0604030504040204" pitchFamily="34" charset="-128"/>
            </a:endParaRPr>
          </a:p>
        </p:txBody>
      </p:sp>
      <p:sp>
        <p:nvSpPr>
          <p:cNvPr id="26" name="Shape 0">
            <a:extLst>
              <a:ext uri="{FF2B5EF4-FFF2-40B4-BE49-F238E27FC236}">
                <a16:creationId xmlns:a16="http://schemas.microsoft.com/office/drawing/2014/main" id="{FA54461C-5235-7D15-D978-89B8B5055506}"/>
              </a:ext>
            </a:extLst>
          </p:cNvPr>
          <p:cNvSpPr/>
          <p:nvPr/>
        </p:nvSpPr>
        <p:spPr>
          <a:xfrm>
            <a:off x="0" y="0"/>
            <a:ext cx="9144000" cy="484528"/>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r>
              <a:rPr lang="en-US" altLang="ja-JP" sz="2800" dirty="0">
                <a:solidFill>
                  <a:srgbClr val="222222"/>
                </a:solidFill>
                <a:latin typeface="Meiryo" panose="020B0604030504040204" pitchFamily="34" charset="-128"/>
                <a:ea typeface="Meiryo" panose="020B0604030504040204" pitchFamily="34" charset="-128"/>
              </a:rPr>
              <a:t>(</a:t>
            </a:r>
            <a:r>
              <a:rPr lang="en-US" altLang="ja-JP" sz="2800" b="1" dirty="0">
                <a:solidFill>
                  <a:srgbClr val="222222"/>
                </a:solidFill>
                <a:latin typeface="Meiryo" panose="020B0604030504040204" pitchFamily="34" charset="-128"/>
                <a:ea typeface="Meiryo" panose="020B0604030504040204" pitchFamily="34" charset="-128"/>
              </a:rPr>
              <a:t>ML based-IDS +DTLS+CoAP</a:t>
            </a:r>
            <a:r>
              <a:rPr lang="en-US" altLang="ja-JP" sz="2800" b="1" dirty="0">
                <a:solidFill>
                  <a:srgbClr val="222222"/>
                </a:solidFill>
                <a:latin typeface="Arial" panose="020B0604020202020204" pitchFamily="34" charset="0"/>
              </a:rPr>
              <a:t>)</a:t>
            </a:r>
            <a:r>
              <a:rPr lang="en-JP" altLang="ja-JP" sz="2800" b="1" dirty="0">
                <a:solidFill>
                  <a:srgbClr val="222222"/>
                </a:solidFill>
              </a:rPr>
              <a:t> </a:t>
            </a:r>
            <a:r>
              <a:rPr lang="ja-JP" altLang="en-US" sz="2800" b="1">
                <a:latin typeface="Meiryo" panose="020B0604030504040204" pitchFamily="34" charset="-128"/>
                <a:ea typeface="Meiryo" panose="020B0604030504040204" pitchFamily="34" charset="-128"/>
              </a:rPr>
              <a:t>のシステム</a:t>
            </a:r>
            <a:r>
              <a:rPr lang="ja-JP" altLang="en-US" sz="2800" b="1">
                <a:solidFill>
                  <a:srgbClr val="222222"/>
                </a:solidFill>
                <a:latin typeface="Meiryo" panose="020B0604030504040204" pitchFamily="34" charset="-128"/>
                <a:ea typeface="Meiryo" panose="020B0604030504040204" pitchFamily="34" charset="-128"/>
              </a:rPr>
              <a:t>構成</a:t>
            </a:r>
            <a:endParaRPr lang="en-US" sz="2800" b="1" dirty="0">
              <a:solidFill>
                <a:srgbClr val="000000"/>
              </a:solidFill>
              <a:latin typeface="Meiryo" panose="020B0604030504040204" pitchFamily="34" charset="-128"/>
              <a:ea typeface="Meiryo" panose="020B0604030504040204" pitchFamily="34" charset="-128"/>
            </a:endParaRPr>
          </a:p>
          <a:p>
            <a:endParaRPr lang="en-JP" sz="2800" dirty="0"/>
          </a:p>
          <a:p>
            <a:endParaRPr lang="en-JP" sz="2800" b="1" dirty="0"/>
          </a:p>
        </p:txBody>
      </p:sp>
      <p:sp>
        <p:nvSpPr>
          <p:cNvPr id="33" name="Slide Number Placeholder 32">
            <a:extLst>
              <a:ext uri="{FF2B5EF4-FFF2-40B4-BE49-F238E27FC236}">
                <a16:creationId xmlns:a16="http://schemas.microsoft.com/office/drawing/2014/main" id="{19732CDF-2E08-2DE6-D565-F18F829A2D70}"/>
              </a:ext>
            </a:extLst>
          </p:cNvPr>
          <p:cNvSpPr>
            <a:spLocks noGrp="1"/>
          </p:cNvSpPr>
          <p:nvPr>
            <p:ph type="sldNum" sz="quarter" idx="12"/>
          </p:nvPr>
        </p:nvSpPr>
        <p:spPr/>
        <p:txBody>
          <a:bodyPr/>
          <a:lstStyle/>
          <a:p>
            <a:fld id="{828F3BD4-1AF2-D144-8129-4D42AD448F5E}" type="slidenum">
              <a:rPr lang="en-JP" smtClean="0"/>
              <a:t>44</a:t>
            </a:fld>
            <a:endParaRPr lang="en-JP"/>
          </a:p>
        </p:txBody>
      </p:sp>
      <p:sp>
        <p:nvSpPr>
          <p:cNvPr id="37" name="TextBox 36">
            <a:extLst>
              <a:ext uri="{FF2B5EF4-FFF2-40B4-BE49-F238E27FC236}">
                <a16:creationId xmlns:a16="http://schemas.microsoft.com/office/drawing/2014/main" id="{F9A764AF-D57E-C6BC-23BE-7F4B37263C7F}"/>
              </a:ext>
            </a:extLst>
          </p:cNvPr>
          <p:cNvSpPr txBox="1"/>
          <p:nvPr/>
        </p:nvSpPr>
        <p:spPr>
          <a:xfrm>
            <a:off x="5920061" y="1021339"/>
            <a:ext cx="2385607" cy="369332"/>
          </a:xfrm>
          <a:prstGeom prst="rect">
            <a:avLst/>
          </a:prstGeom>
          <a:noFill/>
        </p:spPr>
        <p:txBody>
          <a:bodyPr wrap="square" rtlCol="0">
            <a:spAutoFit/>
          </a:bodyPr>
          <a:lstStyle/>
          <a:p>
            <a:pPr algn="ctr"/>
            <a:r>
              <a:rPr lang="en-US" sz="1800" b="1" dirty="0">
                <a:solidFill>
                  <a:schemeClr val="tx1"/>
                </a:solidFill>
                <a:latin typeface="Meiryo" panose="020B0604030504040204" pitchFamily="34" charset="-128"/>
                <a:ea typeface="Meiryo" panose="020B0604030504040204" pitchFamily="34" charset="-128"/>
              </a:rPr>
              <a:t>RPI </a:t>
            </a:r>
            <a:r>
              <a:rPr lang="en-US" b="1" dirty="0">
                <a:latin typeface="Meiryo" panose="020B0604030504040204" pitchFamily="34" charset="-128"/>
                <a:ea typeface="Meiryo" panose="020B0604030504040204" pitchFamily="34" charset="-128"/>
              </a:rPr>
              <a:t>(</a:t>
            </a:r>
            <a:r>
              <a:rPr lang="en-US" sz="1800" b="1" dirty="0">
                <a:solidFill>
                  <a:schemeClr val="tx1"/>
                </a:solidFill>
                <a:latin typeface="Meiryo" panose="020B0604030504040204" pitchFamily="34" charset="-128"/>
                <a:ea typeface="Meiryo" panose="020B0604030504040204" pitchFamily="34" charset="-128"/>
              </a:rPr>
              <a:t>Gateway)</a:t>
            </a:r>
            <a:r>
              <a:rPr lang="en-US" sz="1800" b="1" dirty="0" err="1">
                <a:solidFill>
                  <a:schemeClr val="tx1"/>
                </a:solidFill>
                <a:latin typeface="Meiryo" panose="020B0604030504040204" pitchFamily="34" charset="-128"/>
                <a:ea typeface="Meiryo" panose="020B0604030504040204" pitchFamily="34" charset="-128"/>
              </a:rPr>
              <a:t>中</a:t>
            </a:r>
            <a:r>
              <a:rPr lang="en-US" sz="1800" b="1" dirty="0">
                <a:solidFill>
                  <a:schemeClr val="tx1"/>
                </a:solidFill>
                <a:latin typeface="Meiryo" panose="020B0604030504040204" pitchFamily="34" charset="-128"/>
                <a:ea typeface="Meiryo" panose="020B0604030504040204" pitchFamily="34" charset="-128"/>
              </a:rPr>
              <a:t> </a:t>
            </a:r>
          </a:p>
        </p:txBody>
      </p:sp>
      <p:sp>
        <p:nvSpPr>
          <p:cNvPr id="83" name="TextBox 82">
            <a:extLst>
              <a:ext uri="{FF2B5EF4-FFF2-40B4-BE49-F238E27FC236}">
                <a16:creationId xmlns:a16="http://schemas.microsoft.com/office/drawing/2014/main" id="{C701D9B1-8E19-6C4D-9948-756DDBA11927}"/>
              </a:ext>
            </a:extLst>
          </p:cNvPr>
          <p:cNvSpPr txBox="1"/>
          <p:nvPr/>
        </p:nvSpPr>
        <p:spPr>
          <a:xfrm rot="20875483">
            <a:off x="3594678" y="4871564"/>
            <a:ext cx="2895032" cy="307777"/>
          </a:xfrm>
          <a:prstGeom prst="rect">
            <a:avLst/>
          </a:prstGeom>
          <a:noFill/>
        </p:spPr>
        <p:txBody>
          <a:bodyPr wrap="square">
            <a:spAutoFit/>
          </a:bodyPr>
          <a:lstStyle/>
          <a:p>
            <a:r>
              <a:rPr lang="en-US" sz="1400" dirty="0"/>
              <a:t>Attack Traffic</a:t>
            </a:r>
            <a:endParaRPr lang="en-JP" sz="1400" dirty="0"/>
          </a:p>
        </p:txBody>
      </p:sp>
      <p:sp>
        <p:nvSpPr>
          <p:cNvPr id="114" name="正方形/長方形 4">
            <a:extLst>
              <a:ext uri="{FF2B5EF4-FFF2-40B4-BE49-F238E27FC236}">
                <a16:creationId xmlns:a16="http://schemas.microsoft.com/office/drawing/2014/main" id="{5D554F5A-4B48-208D-40F0-4D6FBF960D28}"/>
              </a:ext>
            </a:extLst>
          </p:cNvPr>
          <p:cNvSpPr/>
          <p:nvPr/>
        </p:nvSpPr>
        <p:spPr>
          <a:xfrm>
            <a:off x="116181" y="1861588"/>
            <a:ext cx="4906123" cy="274229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116" name="TextBox 115">
            <a:extLst>
              <a:ext uri="{FF2B5EF4-FFF2-40B4-BE49-F238E27FC236}">
                <a16:creationId xmlns:a16="http://schemas.microsoft.com/office/drawing/2014/main" id="{E34DDE5B-4B55-7D75-F684-617634839BC4}"/>
              </a:ext>
            </a:extLst>
          </p:cNvPr>
          <p:cNvSpPr txBox="1"/>
          <p:nvPr/>
        </p:nvSpPr>
        <p:spPr>
          <a:xfrm>
            <a:off x="1702214" y="3502864"/>
            <a:ext cx="1975706" cy="646331"/>
          </a:xfrm>
          <a:prstGeom prst="rect">
            <a:avLst/>
          </a:prstGeom>
          <a:noFill/>
        </p:spPr>
        <p:txBody>
          <a:bodyPr wrap="square">
            <a:spAutoFit/>
          </a:bodyPr>
          <a:lstStyle/>
          <a:p>
            <a:r>
              <a:rPr lang="en-US" sz="1800" dirty="0"/>
              <a:t>Normal Traffic</a:t>
            </a:r>
          </a:p>
          <a:p>
            <a:r>
              <a:rPr lang="en-US" sz="1800" dirty="0"/>
              <a:t> (CoAP  Plaintext)</a:t>
            </a:r>
            <a:endParaRPr lang="en-US" sz="1800" dirty="0">
              <a:latin typeface="Meiryo" panose="020B0604030504040204" pitchFamily="34" charset="-128"/>
              <a:ea typeface="Meiryo" panose="020B0604030504040204" pitchFamily="34" charset="-128"/>
            </a:endParaRPr>
          </a:p>
        </p:txBody>
      </p:sp>
      <p:sp>
        <p:nvSpPr>
          <p:cNvPr id="118" name="TextBox 117">
            <a:extLst>
              <a:ext uri="{FF2B5EF4-FFF2-40B4-BE49-F238E27FC236}">
                <a16:creationId xmlns:a16="http://schemas.microsoft.com/office/drawing/2014/main" id="{A01970B5-D093-FCEF-DAD6-6039E8778559}"/>
              </a:ext>
            </a:extLst>
          </p:cNvPr>
          <p:cNvSpPr txBox="1"/>
          <p:nvPr/>
        </p:nvSpPr>
        <p:spPr>
          <a:xfrm>
            <a:off x="1717074" y="1881323"/>
            <a:ext cx="4638040" cy="646331"/>
          </a:xfrm>
          <a:prstGeom prst="rect">
            <a:avLst/>
          </a:prstGeom>
          <a:noFill/>
        </p:spPr>
        <p:txBody>
          <a:bodyPr wrap="square">
            <a:spAutoFit/>
          </a:bodyPr>
          <a:lstStyle/>
          <a:p>
            <a:r>
              <a:rPr lang="en-US" sz="1800" dirty="0"/>
              <a:t>Normal Traffic</a:t>
            </a:r>
          </a:p>
          <a:p>
            <a:r>
              <a:rPr lang="en-US" sz="1800" dirty="0"/>
              <a:t> (CoAP  Plaintext)</a:t>
            </a:r>
            <a:endParaRPr lang="en-US" sz="18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5301375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EE773B3-38AF-2D61-0368-6CFDB6CA9EF2}"/>
              </a:ext>
            </a:extLst>
          </p:cNvPr>
          <p:cNvSpPr/>
          <p:nvPr/>
        </p:nvSpPr>
        <p:spPr>
          <a:xfrm>
            <a:off x="138305" y="815832"/>
            <a:ext cx="1695035" cy="1358512"/>
          </a:xfrm>
          <a:prstGeom prst="roundRect">
            <a:avLst/>
          </a:prstGeom>
          <a:solidFill>
            <a:schemeClr val="tx2">
              <a:lumMod val="10000"/>
              <a:lumOff val="9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eiryo" panose="020B0604030504040204" pitchFamily="34" charset="-128"/>
                <a:ea typeface="Meiryo" panose="020B0604030504040204" pitchFamily="34" charset="-128"/>
              </a:rPr>
              <a:t>Temperature CoAP- get </a:t>
            </a:r>
            <a:r>
              <a:rPr lang="en-US" sz="1600" dirty="0">
                <a:solidFill>
                  <a:schemeClr val="tx1"/>
                </a:solidFill>
              </a:rPr>
              <a:t>1192.168.10.10MAC:AA:BB</a:t>
            </a:r>
            <a:endParaRPr lang="en-US" sz="1600" dirty="0">
              <a:solidFill>
                <a:schemeClr val="tx1"/>
              </a:solidFill>
              <a:latin typeface="Meiryo" panose="020B0604030504040204" pitchFamily="34" charset="-128"/>
              <a:ea typeface="Meiryo" panose="020B0604030504040204" pitchFamily="34" charset="-128"/>
            </a:endParaRPr>
          </a:p>
        </p:txBody>
      </p:sp>
      <p:sp>
        <p:nvSpPr>
          <p:cNvPr id="6" name="Rectangle: Rounded Corners 5">
            <a:extLst>
              <a:ext uri="{FF2B5EF4-FFF2-40B4-BE49-F238E27FC236}">
                <a16:creationId xmlns:a16="http://schemas.microsoft.com/office/drawing/2014/main" id="{9E2F9DA3-A26D-525D-75C9-3834123163A1}"/>
              </a:ext>
            </a:extLst>
          </p:cNvPr>
          <p:cNvSpPr/>
          <p:nvPr/>
        </p:nvSpPr>
        <p:spPr>
          <a:xfrm>
            <a:off x="116181" y="2394029"/>
            <a:ext cx="1783556" cy="1034971"/>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latin typeface="Meiryo" panose="020B0604030504040204" pitchFamily="34" charset="-128"/>
              <a:ea typeface="Meiryo" panose="020B0604030504040204" pitchFamily="34" charset="-128"/>
            </a:endParaRPr>
          </a:p>
          <a:p>
            <a:pPr algn="ctr"/>
            <a:r>
              <a:rPr lang="en-US" sz="1600" dirty="0">
                <a:solidFill>
                  <a:schemeClr val="tx1"/>
                </a:solidFill>
                <a:latin typeface="Meiryo" panose="020B0604030504040204" pitchFamily="34" charset="-128"/>
                <a:ea typeface="Meiryo" panose="020B0604030504040204" pitchFamily="34" charset="-128"/>
              </a:rPr>
              <a:t>Door lock (sensor2)</a:t>
            </a:r>
          </a:p>
          <a:p>
            <a:pPr algn="ctr"/>
            <a:r>
              <a:rPr lang="en-US" sz="1600" dirty="0">
                <a:solidFill>
                  <a:schemeClr val="tx1"/>
                </a:solidFill>
                <a:latin typeface="Meiryo" panose="020B0604030504040204" pitchFamily="34" charset="-128"/>
                <a:ea typeface="Meiryo" panose="020B0604030504040204" pitchFamily="34" charset="-128"/>
              </a:rPr>
              <a:t>192.168.1.11</a:t>
            </a:r>
          </a:p>
          <a:p>
            <a:pPr algn="ctr"/>
            <a:endParaRPr lang="en-US" sz="1400" dirty="0">
              <a:solidFill>
                <a:schemeClr val="tx1"/>
              </a:solidFill>
              <a:latin typeface="Meiryo" panose="020B0604030504040204" pitchFamily="34" charset="-128"/>
              <a:ea typeface="Meiryo" panose="020B0604030504040204" pitchFamily="34" charset="-128"/>
            </a:endParaRPr>
          </a:p>
        </p:txBody>
      </p:sp>
      <p:sp>
        <p:nvSpPr>
          <p:cNvPr id="7" name="Rectangle: Rounded Corners 6">
            <a:extLst>
              <a:ext uri="{FF2B5EF4-FFF2-40B4-BE49-F238E27FC236}">
                <a16:creationId xmlns:a16="http://schemas.microsoft.com/office/drawing/2014/main" id="{45F7AF2F-98FD-1716-7AC4-B03C8FA4687A}"/>
              </a:ext>
            </a:extLst>
          </p:cNvPr>
          <p:cNvSpPr/>
          <p:nvPr/>
        </p:nvSpPr>
        <p:spPr>
          <a:xfrm>
            <a:off x="242973" y="3833702"/>
            <a:ext cx="1933285" cy="1009243"/>
          </a:xfrm>
          <a:prstGeom prst="roundRect">
            <a:avLst/>
          </a:prstGeom>
          <a:solidFill>
            <a:schemeClr val="accent2">
              <a:lumMod val="20000"/>
              <a:lumOff val="80000"/>
            </a:schemeClr>
          </a:solid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600" dirty="0">
              <a:latin typeface="Meiryo" panose="020B0604030504040204" pitchFamily="34" charset="-128"/>
              <a:ea typeface="Meiryo" panose="020B0604030504040204" pitchFamily="34" charset="-128"/>
            </a:endParaRPr>
          </a:p>
          <a:p>
            <a:pPr algn="ctr"/>
            <a:r>
              <a:rPr lang="en-US" sz="1600" dirty="0">
                <a:latin typeface="Meiryo" panose="020B0604030504040204" pitchFamily="34" charset="-128"/>
                <a:ea typeface="Meiryo" panose="020B0604030504040204" pitchFamily="34" charset="-128"/>
              </a:rPr>
              <a:t>Attacker </a:t>
            </a:r>
          </a:p>
          <a:p>
            <a:pPr algn="ctr"/>
            <a:r>
              <a:rPr lang="en-US" sz="1600" dirty="0">
                <a:latin typeface="Meiryo" panose="020B0604030504040204" pitchFamily="34" charset="-128"/>
                <a:ea typeface="Meiryo" panose="020B0604030504040204" pitchFamily="34" charset="-128"/>
              </a:rPr>
              <a:t>CoAP flood / Dos</a:t>
            </a:r>
          </a:p>
          <a:p>
            <a:pPr algn="ctr"/>
            <a:r>
              <a:rPr lang="en-US" sz="1600" dirty="0">
                <a:solidFill>
                  <a:schemeClr val="tx1"/>
                </a:solidFill>
                <a:latin typeface="Meiryo" panose="020B0604030504040204" pitchFamily="34" charset="-128"/>
                <a:ea typeface="Meiryo" panose="020B0604030504040204" pitchFamily="34" charset="-128"/>
              </a:rPr>
              <a:t>192.168.1.50</a:t>
            </a:r>
          </a:p>
          <a:p>
            <a:pPr algn="ctr"/>
            <a:endParaRPr lang="en-US" sz="1600" dirty="0">
              <a:latin typeface="Meiryo" panose="020B0604030504040204" pitchFamily="34" charset="-128"/>
              <a:ea typeface="Meiryo" panose="020B0604030504040204" pitchFamily="34" charset="-128"/>
            </a:endParaRPr>
          </a:p>
        </p:txBody>
      </p:sp>
      <p:sp>
        <p:nvSpPr>
          <p:cNvPr id="8" name="Rectangle: Rounded Corners 7">
            <a:extLst>
              <a:ext uri="{FF2B5EF4-FFF2-40B4-BE49-F238E27FC236}">
                <a16:creationId xmlns:a16="http://schemas.microsoft.com/office/drawing/2014/main" id="{08EAFC1D-ED5C-8C38-1EE5-F24E67A4B920}"/>
              </a:ext>
            </a:extLst>
          </p:cNvPr>
          <p:cNvSpPr/>
          <p:nvPr/>
        </p:nvSpPr>
        <p:spPr>
          <a:xfrm>
            <a:off x="3769846" y="2620549"/>
            <a:ext cx="1854578" cy="1034971"/>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Meiryo" panose="020B0604030504040204" pitchFamily="34" charset="-128"/>
                <a:ea typeface="Meiryo" panose="020B0604030504040204" pitchFamily="34" charset="-128"/>
              </a:rPr>
              <a:t>Router/Switch </a:t>
            </a:r>
          </a:p>
          <a:p>
            <a:pPr algn="ctr"/>
            <a:r>
              <a:rPr lang="en-US" sz="1600" dirty="0">
                <a:solidFill>
                  <a:schemeClr val="tx1"/>
                </a:solidFill>
                <a:latin typeface="Meiryo" panose="020B0604030504040204" pitchFamily="34" charset="-128"/>
                <a:ea typeface="Meiryo" panose="020B0604030504040204" pitchFamily="34" charset="-128"/>
              </a:rPr>
              <a:t>192.168.1.1</a:t>
            </a:r>
          </a:p>
          <a:p>
            <a:pPr algn="ctr"/>
            <a:r>
              <a:rPr lang="ja-JP" altLang="en-US" sz="1600" b="1">
                <a:solidFill>
                  <a:schemeClr val="tx1"/>
                </a:solidFill>
                <a:latin typeface="Meiryo" panose="020B0604030504040204" pitchFamily="34" charset="-128"/>
                <a:ea typeface="Meiryo" panose="020B0604030504040204" pitchFamily="34" charset="-128"/>
              </a:rPr>
              <a:t>単純転送</a:t>
            </a:r>
            <a:endParaRPr lang="en-US" sz="1600" b="1" dirty="0">
              <a:solidFill>
                <a:schemeClr val="tx1"/>
              </a:solidFill>
              <a:latin typeface="Meiryo" panose="020B0604030504040204" pitchFamily="34" charset="-128"/>
              <a:ea typeface="Meiryo" panose="020B0604030504040204" pitchFamily="34" charset="-128"/>
            </a:endParaRPr>
          </a:p>
        </p:txBody>
      </p:sp>
      <p:cxnSp>
        <p:nvCxnSpPr>
          <p:cNvPr id="12" name="Straight Arrow Connector 11">
            <a:extLst>
              <a:ext uri="{FF2B5EF4-FFF2-40B4-BE49-F238E27FC236}">
                <a16:creationId xmlns:a16="http://schemas.microsoft.com/office/drawing/2014/main" id="{833D8D35-EF89-39F0-4D50-6A5D813AF0B6}"/>
              </a:ext>
            </a:extLst>
          </p:cNvPr>
          <p:cNvCxnSpPr>
            <a:cxnSpLocks/>
            <a:stCxn id="5" idx="3"/>
            <a:endCxn id="8" idx="0"/>
          </p:cNvCxnSpPr>
          <p:nvPr/>
        </p:nvCxnSpPr>
        <p:spPr>
          <a:xfrm>
            <a:off x="1833340" y="1495088"/>
            <a:ext cx="2863795" cy="1125461"/>
          </a:xfrm>
          <a:prstGeom prst="straightConnector1">
            <a:avLst/>
          </a:prstGeom>
          <a:ln w="41275">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CB9D9031-9BCD-DF15-6E69-6B5FACDA6888}"/>
              </a:ext>
            </a:extLst>
          </p:cNvPr>
          <p:cNvCxnSpPr>
            <a:cxnSpLocks/>
            <a:stCxn id="6" idx="3"/>
          </p:cNvCxnSpPr>
          <p:nvPr/>
        </p:nvCxnSpPr>
        <p:spPr>
          <a:xfrm>
            <a:off x="1899737" y="2911515"/>
            <a:ext cx="857941" cy="0"/>
          </a:xfrm>
          <a:prstGeom prst="straightConnector1">
            <a:avLst/>
          </a:prstGeom>
          <a:ln w="41275">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E4F6FE78-5493-E4E1-4424-73AB907B88B7}"/>
              </a:ext>
            </a:extLst>
          </p:cNvPr>
          <p:cNvCxnSpPr>
            <a:cxnSpLocks/>
            <a:stCxn id="7" idx="0"/>
            <a:endCxn id="8" idx="2"/>
          </p:cNvCxnSpPr>
          <p:nvPr/>
        </p:nvCxnSpPr>
        <p:spPr>
          <a:xfrm flipV="1">
            <a:off x="1209616" y="3655520"/>
            <a:ext cx="3487519" cy="178182"/>
          </a:xfrm>
          <a:prstGeom prst="straightConnector1">
            <a:avLst/>
          </a:prstGeom>
          <a:ln w="41275">
            <a:tailEnd type="triangle"/>
          </a:ln>
        </p:spPr>
        <p:style>
          <a:lnRef idx="2">
            <a:schemeClr val="accent2"/>
          </a:lnRef>
          <a:fillRef idx="0">
            <a:schemeClr val="accent2"/>
          </a:fillRef>
          <a:effectRef idx="1">
            <a:schemeClr val="accent2"/>
          </a:effectRef>
          <a:fontRef idx="minor">
            <a:schemeClr val="tx1"/>
          </a:fontRef>
        </p:style>
      </p:cxnSp>
      <p:cxnSp>
        <p:nvCxnSpPr>
          <p:cNvPr id="20" name="Straight Arrow Connector 19">
            <a:extLst>
              <a:ext uri="{FF2B5EF4-FFF2-40B4-BE49-F238E27FC236}">
                <a16:creationId xmlns:a16="http://schemas.microsoft.com/office/drawing/2014/main" id="{32FE953D-67BC-EBDA-8FC0-FD2D7F244010}"/>
              </a:ext>
            </a:extLst>
          </p:cNvPr>
          <p:cNvCxnSpPr>
            <a:cxnSpLocks/>
            <a:stCxn id="8" idx="3"/>
          </p:cNvCxnSpPr>
          <p:nvPr/>
        </p:nvCxnSpPr>
        <p:spPr>
          <a:xfrm>
            <a:off x="5624424" y="3138035"/>
            <a:ext cx="1194275" cy="0"/>
          </a:xfrm>
          <a:prstGeom prst="straightConnector1">
            <a:avLst/>
          </a:prstGeom>
          <a:ln w="73025">
            <a:solidFill>
              <a:schemeClr val="tx1"/>
            </a:solidFill>
            <a:tailEnd type="triangle"/>
          </a:ln>
        </p:spPr>
        <p:style>
          <a:lnRef idx="2">
            <a:schemeClr val="accent6"/>
          </a:lnRef>
          <a:fillRef idx="0">
            <a:schemeClr val="accent6"/>
          </a:fillRef>
          <a:effectRef idx="1">
            <a:schemeClr val="accent6"/>
          </a:effectRef>
          <a:fontRef idx="minor">
            <a:schemeClr val="tx1"/>
          </a:fontRef>
        </p:style>
      </p:cxnSp>
      <p:sp>
        <p:nvSpPr>
          <p:cNvPr id="35" name="TextBox 34">
            <a:extLst>
              <a:ext uri="{FF2B5EF4-FFF2-40B4-BE49-F238E27FC236}">
                <a16:creationId xmlns:a16="http://schemas.microsoft.com/office/drawing/2014/main" id="{B8CA54B4-2898-B5FA-3FD4-D1DCF8CBAD53}"/>
              </a:ext>
            </a:extLst>
          </p:cNvPr>
          <p:cNvSpPr txBox="1"/>
          <p:nvPr/>
        </p:nvSpPr>
        <p:spPr>
          <a:xfrm>
            <a:off x="7036394" y="2978894"/>
            <a:ext cx="1397306" cy="338554"/>
          </a:xfrm>
          <a:prstGeom prst="rect">
            <a:avLst/>
          </a:prstGeom>
          <a:noFill/>
        </p:spPr>
        <p:txBody>
          <a:bodyPr wrap="none" rtlCol="0">
            <a:spAutoFit/>
          </a:bodyPr>
          <a:lstStyle/>
          <a:p>
            <a:r>
              <a:rPr lang="en-US" sz="1600" b="1" dirty="0">
                <a:latin typeface="Meiryo" panose="020B0604030504040204" pitchFamily="34" charset="-128"/>
                <a:ea typeface="Meiryo" panose="020B0604030504040204" pitchFamily="34" charset="-128"/>
              </a:rPr>
              <a:t>Gateway </a:t>
            </a:r>
            <a:r>
              <a:rPr lang="en-US" sz="1600" b="1" dirty="0" err="1">
                <a:latin typeface="Meiryo" panose="020B0604030504040204" pitchFamily="34" charset="-128"/>
                <a:ea typeface="Meiryo" panose="020B0604030504040204" pitchFamily="34" charset="-128"/>
              </a:rPr>
              <a:t>へ</a:t>
            </a:r>
            <a:endParaRPr lang="en-US" sz="1600" b="1" dirty="0">
              <a:latin typeface="Meiryo" panose="020B0604030504040204" pitchFamily="34" charset="-128"/>
              <a:ea typeface="Meiryo" panose="020B0604030504040204" pitchFamily="34" charset="-128"/>
            </a:endParaRPr>
          </a:p>
        </p:txBody>
      </p:sp>
      <p:sp>
        <p:nvSpPr>
          <p:cNvPr id="38" name="Rectangle 37">
            <a:extLst>
              <a:ext uri="{FF2B5EF4-FFF2-40B4-BE49-F238E27FC236}">
                <a16:creationId xmlns:a16="http://schemas.microsoft.com/office/drawing/2014/main" id="{6DD4EB23-F661-7B07-0839-967306F2F6E3}"/>
              </a:ext>
            </a:extLst>
          </p:cNvPr>
          <p:cNvSpPr/>
          <p:nvPr/>
        </p:nvSpPr>
        <p:spPr>
          <a:xfrm>
            <a:off x="788473" y="6407130"/>
            <a:ext cx="119063" cy="12858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Times New Roman" panose="02020603050405020304" pitchFamily="18" charset="0"/>
              <a:cs typeface="Times New Roman" panose="02020603050405020304" pitchFamily="18" charset="0"/>
            </a:endParaRPr>
          </a:p>
        </p:txBody>
      </p:sp>
      <p:sp>
        <p:nvSpPr>
          <p:cNvPr id="39" name="Rectangle 38">
            <a:extLst>
              <a:ext uri="{FF2B5EF4-FFF2-40B4-BE49-F238E27FC236}">
                <a16:creationId xmlns:a16="http://schemas.microsoft.com/office/drawing/2014/main" id="{5C8EB882-64FF-F920-A7BD-9CDA51941385}"/>
              </a:ext>
            </a:extLst>
          </p:cNvPr>
          <p:cNvSpPr/>
          <p:nvPr/>
        </p:nvSpPr>
        <p:spPr>
          <a:xfrm>
            <a:off x="2515079" y="6404749"/>
            <a:ext cx="119063" cy="128588"/>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Times New Roman" panose="02020603050405020304" pitchFamily="18" charset="0"/>
              <a:cs typeface="Times New Roman" panose="02020603050405020304" pitchFamily="18" charset="0"/>
            </a:endParaRPr>
          </a:p>
        </p:txBody>
      </p:sp>
      <p:sp>
        <p:nvSpPr>
          <p:cNvPr id="40" name="Rectangle 39">
            <a:extLst>
              <a:ext uri="{FF2B5EF4-FFF2-40B4-BE49-F238E27FC236}">
                <a16:creationId xmlns:a16="http://schemas.microsoft.com/office/drawing/2014/main" id="{9ADDBCB2-21DF-AE3E-523B-41A914B9A7D6}"/>
              </a:ext>
            </a:extLst>
          </p:cNvPr>
          <p:cNvSpPr/>
          <p:nvPr/>
        </p:nvSpPr>
        <p:spPr>
          <a:xfrm>
            <a:off x="4442481" y="6381666"/>
            <a:ext cx="119063" cy="128588"/>
          </a:xfrm>
          <a:prstGeom prst="rect">
            <a:avLst/>
          </a:prstGeom>
          <a:solidFill>
            <a:schemeClr val="accent2">
              <a:lumMod val="20000"/>
              <a:lumOff val="8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Times New Roman" panose="02020603050405020304" pitchFamily="18" charset="0"/>
              <a:cs typeface="Times New Roman" panose="02020603050405020304" pitchFamily="18" charset="0"/>
            </a:endParaRPr>
          </a:p>
        </p:txBody>
      </p:sp>
      <p:sp>
        <p:nvSpPr>
          <p:cNvPr id="41" name="Rectangle 40">
            <a:extLst>
              <a:ext uri="{FF2B5EF4-FFF2-40B4-BE49-F238E27FC236}">
                <a16:creationId xmlns:a16="http://schemas.microsoft.com/office/drawing/2014/main" id="{0238BA42-FA1A-9977-88FD-3CC1D5C44A8F}"/>
              </a:ext>
            </a:extLst>
          </p:cNvPr>
          <p:cNvSpPr/>
          <p:nvPr/>
        </p:nvSpPr>
        <p:spPr>
          <a:xfrm>
            <a:off x="6161300" y="6467092"/>
            <a:ext cx="119063" cy="128588"/>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D2B20AD2-3E87-7C07-88F2-6D667F26AAB9}"/>
              </a:ext>
            </a:extLst>
          </p:cNvPr>
          <p:cNvSpPr txBox="1"/>
          <p:nvPr/>
        </p:nvSpPr>
        <p:spPr>
          <a:xfrm>
            <a:off x="907536" y="6353627"/>
            <a:ext cx="940386" cy="307777"/>
          </a:xfrm>
          <a:prstGeom prst="rect">
            <a:avLst/>
          </a:prstGeom>
          <a:noFill/>
        </p:spPr>
        <p:txBody>
          <a:bodyPr wrap="none" rtlCol="0">
            <a:spAutoFit/>
          </a:bodyPr>
          <a:lstStyle/>
          <a:p>
            <a:r>
              <a:rPr lang="en-US" sz="1400" dirty="0"/>
              <a:t>IoT Device</a:t>
            </a:r>
          </a:p>
        </p:txBody>
      </p:sp>
      <p:sp>
        <p:nvSpPr>
          <p:cNvPr id="44" name="TextBox 43">
            <a:extLst>
              <a:ext uri="{FF2B5EF4-FFF2-40B4-BE49-F238E27FC236}">
                <a16:creationId xmlns:a16="http://schemas.microsoft.com/office/drawing/2014/main" id="{5B2ED421-6264-FC87-876A-13B698E8D8EC}"/>
              </a:ext>
            </a:extLst>
          </p:cNvPr>
          <p:cNvSpPr txBox="1"/>
          <p:nvPr/>
        </p:nvSpPr>
        <p:spPr>
          <a:xfrm>
            <a:off x="2678072" y="6356351"/>
            <a:ext cx="1091774" cy="307777"/>
          </a:xfrm>
          <a:prstGeom prst="rect">
            <a:avLst/>
          </a:prstGeom>
          <a:noFill/>
        </p:spPr>
        <p:txBody>
          <a:bodyPr wrap="none" rtlCol="0">
            <a:spAutoFit/>
          </a:bodyPr>
          <a:lstStyle/>
          <a:p>
            <a:r>
              <a:rPr lang="en-US" sz="1400" dirty="0"/>
              <a:t>Gateway ML</a:t>
            </a:r>
          </a:p>
        </p:txBody>
      </p:sp>
      <p:sp>
        <p:nvSpPr>
          <p:cNvPr id="45" name="TextBox 44">
            <a:extLst>
              <a:ext uri="{FF2B5EF4-FFF2-40B4-BE49-F238E27FC236}">
                <a16:creationId xmlns:a16="http://schemas.microsoft.com/office/drawing/2014/main" id="{D47F3BCD-D51F-B8B3-790A-23D3B422B76A}"/>
              </a:ext>
            </a:extLst>
          </p:cNvPr>
          <p:cNvSpPr txBox="1"/>
          <p:nvPr/>
        </p:nvSpPr>
        <p:spPr>
          <a:xfrm>
            <a:off x="4669125" y="6353627"/>
            <a:ext cx="791563" cy="307777"/>
          </a:xfrm>
          <a:prstGeom prst="rect">
            <a:avLst/>
          </a:prstGeom>
          <a:noFill/>
        </p:spPr>
        <p:txBody>
          <a:bodyPr wrap="none" rtlCol="0">
            <a:spAutoFit/>
          </a:bodyPr>
          <a:lstStyle/>
          <a:p>
            <a:r>
              <a:rPr lang="en-US" sz="1400" dirty="0"/>
              <a:t>Attacker</a:t>
            </a:r>
          </a:p>
        </p:txBody>
      </p:sp>
      <p:sp>
        <p:nvSpPr>
          <p:cNvPr id="46" name="TextBox 45">
            <a:extLst>
              <a:ext uri="{FF2B5EF4-FFF2-40B4-BE49-F238E27FC236}">
                <a16:creationId xmlns:a16="http://schemas.microsoft.com/office/drawing/2014/main" id="{03D0EBEC-D5F4-00A3-6877-EDF83D6AEDEB}"/>
              </a:ext>
            </a:extLst>
          </p:cNvPr>
          <p:cNvSpPr txBox="1"/>
          <p:nvPr/>
        </p:nvSpPr>
        <p:spPr>
          <a:xfrm>
            <a:off x="6347256" y="6327281"/>
            <a:ext cx="1276311" cy="307777"/>
          </a:xfrm>
          <a:prstGeom prst="rect">
            <a:avLst/>
          </a:prstGeom>
          <a:noFill/>
        </p:spPr>
        <p:txBody>
          <a:bodyPr wrap="none" rtlCol="0">
            <a:spAutoFit/>
          </a:bodyPr>
          <a:lstStyle/>
          <a:p>
            <a:r>
              <a:rPr lang="en-US" sz="1400" dirty="0"/>
              <a:t>protected road</a:t>
            </a:r>
          </a:p>
        </p:txBody>
      </p:sp>
      <p:sp>
        <p:nvSpPr>
          <p:cNvPr id="70" name="TextBox 69">
            <a:extLst>
              <a:ext uri="{FF2B5EF4-FFF2-40B4-BE49-F238E27FC236}">
                <a16:creationId xmlns:a16="http://schemas.microsoft.com/office/drawing/2014/main" id="{5BA2D3FF-320C-E73B-73FA-FD65724477FF}"/>
              </a:ext>
            </a:extLst>
          </p:cNvPr>
          <p:cNvSpPr txBox="1"/>
          <p:nvPr/>
        </p:nvSpPr>
        <p:spPr>
          <a:xfrm rot="1724995">
            <a:off x="1973369" y="1249006"/>
            <a:ext cx="1806144" cy="523220"/>
          </a:xfrm>
          <a:prstGeom prst="rect">
            <a:avLst/>
          </a:prstGeom>
          <a:noFill/>
        </p:spPr>
        <p:txBody>
          <a:bodyPr wrap="square" rtlCol="0">
            <a:spAutoFit/>
          </a:bodyPr>
          <a:lstStyle/>
          <a:p>
            <a:r>
              <a:rPr lang="en-US" sz="1400" dirty="0"/>
              <a:t>Normal Traffic</a:t>
            </a:r>
          </a:p>
          <a:p>
            <a:r>
              <a:rPr lang="en-US" sz="1400" dirty="0"/>
              <a:t> (CoAP  Plaintext)</a:t>
            </a:r>
            <a:endParaRPr lang="en-US" sz="1400" dirty="0">
              <a:latin typeface="Meiryo" panose="020B0604030504040204" pitchFamily="34" charset="-128"/>
              <a:ea typeface="Meiryo" panose="020B0604030504040204" pitchFamily="34" charset="-128"/>
            </a:endParaRPr>
          </a:p>
        </p:txBody>
      </p:sp>
      <p:sp>
        <p:nvSpPr>
          <p:cNvPr id="26" name="Shape 0">
            <a:extLst>
              <a:ext uri="{FF2B5EF4-FFF2-40B4-BE49-F238E27FC236}">
                <a16:creationId xmlns:a16="http://schemas.microsoft.com/office/drawing/2014/main" id="{FA54461C-5235-7D15-D978-89B8B5055506}"/>
              </a:ext>
            </a:extLst>
          </p:cNvPr>
          <p:cNvSpPr/>
          <p:nvPr/>
        </p:nvSpPr>
        <p:spPr>
          <a:xfrm>
            <a:off x="0" y="0"/>
            <a:ext cx="9144000" cy="484528"/>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457200" indent="-457200" algn="ctr">
              <a:buFont typeface="Wingdings" pitchFamily="2" charset="2"/>
              <a:buChar char="§"/>
            </a:pPr>
            <a:r>
              <a:rPr lang="ja-JP" altLang="en-US" sz="2800" b="0" i="0">
                <a:solidFill>
                  <a:srgbClr val="000000"/>
                </a:solidFill>
                <a:effectLst/>
                <a:latin typeface="Meiryo" panose="020B0604030504040204" pitchFamily="34" charset="-128"/>
                <a:ea typeface="Meiryo" panose="020B0604030504040204" pitchFamily="34" charset="-128"/>
              </a:rPr>
              <a:t>保護後のトラフィックフロー</a:t>
            </a:r>
            <a:endParaRPr lang="en-JP" sz="2800" b="1" dirty="0">
              <a:latin typeface="Meiryo" panose="020B0604030504040204" pitchFamily="34" charset="-128"/>
              <a:ea typeface="Meiryo" panose="020B0604030504040204" pitchFamily="34" charset="-128"/>
            </a:endParaRPr>
          </a:p>
        </p:txBody>
      </p:sp>
      <p:sp>
        <p:nvSpPr>
          <p:cNvPr id="33" name="Slide Number Placeholder 32">
            <a:extLst>
              <a:ext uri="{FF2B5EF4-FFF2-40B4-BE49-F238E27FC236}">
                <a16:creationId xmlns:a16="http://schemas.microsoft.com/office/drawing/2014/main" id="{19732CDF-2E08-2DE6-D565-F18F829A2D70}"/>
              </a:ext>
            </a:extLst>
          </p:cNvPr>
          <p:cNvSpPr>
            <a:spLocks noGrp="1"/>
          </p:cNvSpPr>
          <p:nvPr>
            <p:ph type="sldNum" sz="quarter" idx="12"/>
          </p:nvPr>
        </p:nvSpPr>
        <p:spPr/>
        <p:txBody>
          <a:bodyPr/>
          <a:lstStyle/>
          <a:p>
            <a:fld id="{828F3BD4-1AF2-D144-8129-4D42AD448F5E}" type="slidenum">
              <a:rPr lang="en-JP" smtClean="0"/>
              <a:t>45</a:t>
            </a:fld>
            <a:endParaRPr lang="en-JP"/>
          </a:p>
        </p:txBody>
      </p:sp>
      <p:sp>
        <p:nvSpPr>
          <p:cNvPr id="83" name="TextBox 82">
            <a:extLst>
              <a:ext uri="{FF2B5EF4-FFF2-40B4-BE49-F238E27FC236}">
                <a16:creationId xmlns:a16="http://schemas.microsoft.com/office/drawing/2014/main" id="{C701D9B1-8E19-6C4D-9948-756DDBA11927}"/>
              </a:ext>
            </a:extLst>
          </p:cNvPr>
          <p:cNvSpPr txBox="1"/>
          <p:nvPr/>
        </p:nvSpPr>
        <p:spPr>
          <a:xfrm>
            <a:off x="2285212" y="3993681"/>
            <a:ext cx="1881816" cy="307777"/>
          </a:xfrm>
          <a:prstGeom prst="rect">
            <a:avLst/>
          </a:prstGeom>
          <a:noFill/>
        </p:spPr>
        <p:txBody>
          <a:bodyPr wrap="square">
            <a:spAutoFit/>
          </a:bodyPr>
          <a:lstStyle/>
          <a:p>
            <a:r>
              <a:rPr lang="en-US" sz="1400" dirty="0"/>
              <a:t>Attack Traffic</a:t>
            </a:r>
            <a:endParaRPr lang="en-JP" sz="1400" dirty="0"/>
          </a:p>
        </p:txBody>
      </p:sp>
      <p:sp>
        <p:nvSpPr>
          <p:cNvPr id="85" name="TextBox 84">
            <a:extLst>
              <a:ext uri="{FF2B5EF4-FFF2-40B4-BE49-F238E27FC236}">
                <a16:creationId xmlns:a16="http://schemas.microsoft.com/office/drawing/2014/main" id="{9E2A24AA-45BA-ACC6-EB19-17C8842021EA}"/>
              </a:ext>
            </a:extLst>
          </p:cNvPr>
          <p:cNvSpPr txBox="1"/>
          <p:nvPr/>
        </p:nvSpPr>
        <p:spPr>
          <a:xfrm>
            <a:off x="1833340" y="2624951"/>
            <a:ext cx="1641380" cy="523220"/>
          </a:xfrm>
          <a:prstGeom prst="rect">
            <a:avLst/>
          </a:prstGeom>
          <a:noFill/>
        </p:spPr>
        <p:txBody>
          <a:bodyPr wrap="square">
            <a:spAutoFit/>
          </a:bodyPr>
          <a:lstStyle/>
          <a:p>
            <a:r>
              <a:rPr lang="en-US" sz="1400" dirty="0"/>
              <a:t>Normal </a:t>
            </a:r>
          </a:p>
          <a:p>
            <a:r>
              <a:rPr lang="en-US" sz="1400" dirty="0"/>
              <a:t>Traffic</a:t>
            </a:r>
          </a:p>
        </p:txBody>
      </p:sp>
      <p:sp>
        <p:nvSpPr>
          <p:cNvPr id="9" name="TextBox 8">
            <a:extLst>
              <a:ext uri="{FF2B5EF4-FFF2-40B4-BE49-F238E27FC236}">
                <a16:creationId xmlns:a16="http://schemas.microsoft.com/office/drawing/2014/main" id="{56FCBF1C-6631-E281-EE68-93AE7CFAEE19}"/>
              </a:ext>
            </a:extLst>
          </p:cNvPr>
          <p:cNvSpPr txBox="1"/>
          <p:nvPr/>
        </p:nvSpPr>
        <p:spPr>
          <a:xfrm>
            <a:off x="4697135" y="788471"/>
            <a:ext cx="5375507" cy="923330"/>
          </a:xfrm>
          <a:prstGeom prst="rect">
            <a:avLst/>
          </a:prstGeom>
          <a:noFill/>
        </p:spPr>
        <p:txBody>
          <a:bodyPr wrap="square">
            <a:spAutoFit/>
          </a:bodyPr>
          <a:lstStyle/>
          <a:p>
            <a:r>
              <a:rPr lang="en-US" dirty="0"/>
              <a:t>MAC Whitelist (</a:t>
            </a:r>
            <a:r>
              <a:rPr lang="ja-JP" altLang="en-US"/>
              <a:t>許可リスト</a:t>
            </a:r>
            <a:r>
              <a:rPr lang="en-US" altLang="ja-JP" dirty="0"/>
              <a:t>)</a:t>
            </a:r>
            <a:endParaRPr lang="mn-MN" altLang="ja-JP" dirty="0"/>
          </a:p>
          <a:p>
            <a:r>
              <a:rPr lang="en-US" altLang="ja-JP" dirty="0"/>
              <a:t>✓ </a:t>
            </a:r>
            <a:r>
              <a:rPr lang="en-US" dirty="0"/>
              <a:t>AA:BB:CC:DD → Sensor 1 (</a:t>
            </a:r>
            <a:r>
              <a:rPr lang="ja-JP" altLang="en-US"/>
              <a:t>許可</a:t>
            </a:r>
            <a:r>
              <a:rPr lang="en-US" altLang="ja-JP" dirty="0"/>
              <a:t>)</a:t>
            </a:r>
            <a:endParaRPr lang="mn-MN" altLang="ja-JP" dirty="0"/>
          </a:p>
          <a:p>
            <a:r>
              <a:rPr lang="en-US" altLang="ja-JP" dirty="0"/>
              <a:t>✓ </a:t>
            </a:r>
            <a:r>
              <a:rPr lang="en-US" dirty="0"/>
              <a:t>CC:DD:EE:FF → Sensor 2 (</a:t>
            </a:r>
            <a:r>
              <a:rPr lang="ja-JP" altLang="en-US"/>
              <a:t>許可</a:t>
            </a:r>
            <a:r>
              <a:rPr lang="en-US" altLang="ja-JP" dirty="0"/>
              <a:t>)</a:t>
            </a:r>
            <a:endParaRPr lang="en-JP" dirty="0"/>
          </a:p>
        </p:txBody>
      </p:sp>
      <p:sp>
        <p:nvSpPr>
          <p:cNvPr id="15" name="TextBox 14">
            <a:extLst>
              <a:ext uri="{FF2B5EF4-FFF2-40B4-BE49-F238E27FC236}">
                <a16:creationId xmlns:a16="http://schemas.microsoft.com/office/drawing/2014/main" id="{DFF065F5-5B61-0723-8641-90FCE87BBA75}"/>
              </a:ext>
            </a:extLst>
          </p:cNvPr>
          <p:cNvSpPr txBox="1"/>
          <p:nvPr/>
        </p:nvSpPr>
        <p:spPr>
          <a:xfrm>
            <a:off x="2176258" y="4954097"/>
            <a:ext cx="6042930" cy="923330"/>
          </a:xfrm>
          <a:prstGeom prst="rect">
            <a:avLst/>
          </a:prstGeom>
          <a:noFill/>
        </p:spPr>
        <p:txBody>
          <a:bodyPr wrap="square">
            <a:spAutoFit/>
          </a:bodyPr>
          <a:lstStyle/>
          <a:p>
            <a:r>
              <a:rPr lang="en-US" dirty="0"/>
              <a:t>Attacker192.168.20.50MAC:XX:YY</a:t>
            </a:r>
          </a:p>
          <a:p>
            <a:r>
              <a:rPr lang="en-US" dirty="0"/>
              <a:t>LAN</a:t>
            </a:r>
            <a:r>
              <a:rPr lang="ja-JP" altLang="en-US"/>
              <a:t>間通信 </a:t>
            </a:r>
            <a:r>
              <a:rPr lang="en-US" altLang="ja-JP" dirty="0"/>
              <a:t>— </a:t>
            </a:r>
            <a:r>
              <a:rPr lang="ja-JP" altLang="en-US"/>
              <a:t>ブロック✗ </a:t>
            </a:r>
            <a:r>
              <a:rPr lang="en-US" dirty="0"/>
              <a:t>VLAN20 → VLAN10 </a:t>
            </a:r>
            <a:r>
              <a:rPr lang="ja-JP" altLang="en-US"/>
              <a:t>アクセス禁止✗ </a:t>
            </a:r>
            <a:r>
              <a:rPr lang="en-US" dirty="0"/>
              <a:t>MAC:XX:YY → IoT VLAN </a:t>
            </a:r>
            <a:r>
              <a:rPr lang="ja-JP" altLang="en-US"/>
              <a:t>拒否</a:t>
            </a:r>
            <a:endParaRPr lang="en-JP" dirty="0"/>
          </a:p>
        </p:txBody>
      </p:sp>
      <p:sp>
        <p:nvSpPr>
          <p:cNvPr id="16" name="正方形/長方形 4">
            <a:extLst>
              <a:ext uri="{FF2B5EF4-FFF2-40B4-BE49-F238E27FC236}">
                <a16:creationId xmlns:a16="http://schemas.microsoft.com/office/drawing/2014/main" id="{AA2778D4-8A5E-979A-ED33-DC11396612D1}"/>
              </a:ext>
            </a:extLst>
          </p:cNvPr>
          <p:cNvSpPr/>
          <p:nvPr/>
        </p:nvSpPr>
        <p:spPr>
          <a:xfrm>
            <a:off x="2176258" y="4971149"/>
            <a:ext cx="6042930" cy="1205790"/>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17" name="正方形/長方形 4">
            <a:extLst>
              <a:ext uri="{FF2B5EF4-FFF2-40B4-BE49-F238E27FC236}">
                <a16:creationId xmlns:a16="http://schemas.microsoft.com/office/drawing/2014/main" id="{49E4956A-2667-3205-3CF0-DCA8E7E8FF79}"/>
              </a:ext>
            </a:extLst>
          </p:cNvPr>
          <p:cNvSpPr/>
          <p:nvPr/>
        </p:nvSpPr>
        <p:spPr>
          <a:xfrm>
            <a:off x="4699885" y="704972"/>
            <a:ext cx="4084040" cy="1205790"/>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cxnSp>
        <p:nvCxnSpPr>
          <p:cNvPr id="19" name="Straight Arrow Connector 18">
            <a:extLst>
              <a:ext uri="{FF2B5EF4-FFF2-40B4-BE49-F238E27FC236}">
                <a16:creationId xmlns:a16="http://schemas.microsoft.com/office/drawing/2014/main" id="{D0F9EBF3-BE3B-4E5E-B11A-80077DC7A867}"/>
              </a:ext>
            </a:extLst>
          </p:cNvPr>
          <p:cNvCxnSpPr>
            <a:cxnSpLocks/>
          </p:cNvCxnSpPr>
          <p:nvPr/>
        </p:nvCxnSpPr>
        <p:spPr>
          <a:xfrm flipH="1">
            <a:off x="5181600" y="1929677"/>
            <a:ext cx="279088" cy="690872"/>
          </a:xfrm>
          <a:prstGeom prst="straightConnector1">
            <a:avLst/>
          </a:prstGeom>
          <a:ln w="73025">
            <a:solidFill>
              <a:srgbClr val="92D050"/>
            </a:solidFill>
            <a:tailEnd type="triangle"/>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20899735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EE773B3-38AF-2D61-0368-6CFDB6CA9EF2}"/>
              </a:ext>
            </a:extLst>
          </p:cNvPr>
          <p:cNvSpPr/>
          <p:nvPr/>
        </p:nvSpPr>
        <p:spPr>
          <a:xfrm>
            <a:off x="238539" y="975020"/>
            <a:ext cx="1695035" cy="1216280"/>
          </a:xfrm>
          <a:prstGeom prst="roundRect">
            <a:avLst/>
          </a:prstGeom>
          <a:solidFill>
            <a:schemeClr val="tx2">
              <a:lumMod val="10000"/>
              <a:lumOff val="9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iryo" panose="020B0604030504040204" pitchFamily="34" charset="-128"/>
                <a:ea typeface="Meiryo" panose="020B0604030504040204" pitchFamily="34" charset="-128"/>
              </a:rPr>
              <a:t>Temperature (Sensor 1)</a:t>
            </a:r>
          </a:p>
          <a:p>
            <a:pPr algn="ctr"/>
            <a:r>
              <a:rPr lang="en-US" sz="1400" dirty="0">
                <a:solidFill>
                  <a:schemeClr val="tx1"/>
                </a:solidFill>
                <a:latin typeface="Meiryo" panose="020B0604030504040204" pitchFamily="34" charset="-128"/>
                <a:ea typeface="Meiryo" panose="020B0604030504040204" pitchFamily="34" charset="-128"/>
              </a:rPr>
              <a:t>CoAP- get /temp</a:t>
            </a:r>
          </a:p>
          <a:p>
            <a:pPr algn="ctr"/>
            <a:r>
              <a:rPr lang="en-US" sz="1400" dirty="0">
                <a:solidFill>
                  <a:schemeClr val="tx1"/>
                </a:solidFill>
                <a:latin typeface="Meiryo" panose="020B0604030504040204" pitchFamily="34" charset="-128"/>
                <a:ea typeface="Meiryo" panose="020B0604030504040204" pitchFamily="34" charset="-128"/>
              </a:rPr>
              <a:t>192.168.1.10</a:t>
            </a:r>
          </a:p>
        </p:txBody>
      </p:sp>
      <p:sp>
        <p:nvSpPr>
          <p:cNvPr id="6" name="Rectangle: Rounded Corners 5">
            <a:extLst>
              <a:ext uri="{FF2B5EF4-FFF2-40B4-BE49-F238E27FC236}">
                <a16:creationId xmlns:a16="http://schemas.microsoft.com/office/drawing/2014/main" id="{9E2F9DA3-A26D-525D-75C9-3834123163A1}"/>
              </a:ext>
            </a:extLst>
          </p:cNvPr>
          <p:cNvSpPr/>
          <p:nvPr/>
        </p:nvSpPr>
        <p:spPr>
          <a:xfrm>
            <a:off x="110133" y="2643381"/>
            <a:ext cx="1783556" cy="1333307"/>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iryo" panose="020B0604030504040204" pitchFamily="34" charset="-128"/>
                <a:ea typeface="Meiryo" panose="020B0604030504040204" pitchFamily="34" charset="-128"/>
              </a:rPr>
              <a:t>Door lock (sensor2)</a:t>
            </a:r>
          </a:p>
          <a:p>
            <a:pPr algn="ctr"/>
            <a:r>
              <a:rPr lang="en-US" sz="1400" dirty="0">
                <a:solidFill>
                  <a:schemeClr val="tx1"/>
                </a:solidFill>
                <a:latin typeface="Meiryo" panose="020B0604030504040204" pitchFamily="34" charset="-128"/>
                <a:ea typeface="Meiryo" panose="020B0604030504040204" pitchFamily="34" charset="-128"/>
              </a:rPr>
              <a:t>192.168.1.11</a:t>
            </a:r>
          </a:p>
          <a:p>
            <a:pPr algn="ctr"/>
            <a:endParaRPr lang="en-US" sz="1400" dirty="0">
              <a:solidFill>
                <a:schemeClr val="tx1"/>
              </a:solidFill>
              <a:latin typeface="Meiryo" panose="020B0604030504040204" pitchFamily="34" charset="-128"/>
              <a:ea typeface="Meiryo" panose="020B0604030504040204" pitchFamily="34" charset="-128"/>
            </a:endParaRPr>
          </a:p>
        </p:txBody>
      </p:sp>
      <p:sp>
        <p:nvSpPr>
          <p:cNvPr id="7" name="Rectangle: Rounded Corners 6">
            <a:extLst>
              <a:ext uri="{FF2B5EF4-FFF2-40B4-BE49-F238E27FC236}">
                <a16:creationId xmlns:a16="http://schemas.microsoft.com/office/drawing/2014/main" id="{45F7AF2F-98FD-1716-7AC4-B03C8FA4687A}"/>
              </a:ext>
            </a:extLst>
          </p:cNvPr>
          <p:cNvSpPr/>
          <p:nvPr/>
        </p:nvSpPr>
        <p:spPr>
          <a:xfrm>
            <a:off x="1475434" y="4452418"/>
            <a:ext cx="1783556" cy="825592"/>
          </a:xfrm>
          <a:prstGeom prst="roundRect">
            <a:avLst/>
          </a:prstGeom>
          <a:solidFill>
            <a:schemeClr val="accent2">
              <a:lumMod val="20000"/>
              <a:lumOff val="80000"/>
            </a:schemeClr>
          </a:solid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400" dirty="0">
              <a:latin typeface="Meiryo" panose="020B0604030504040204" pitchFamily="34" charset="-128"/>
              <a:ea typeface="Meiryo" panose="020B0604030504040204" pitchFamily="34" charset="-128"/>
            </a:endParaRPr>
          </a:p>
          <a:p>
            <a:pPr algn="ctr"/>
            <a:r>
              <a:rPr lang="en-US" sz="1400" dirty="0">
                <a:latin typeface="Meiryo" panose="020B0604030504040204" pitchFamily="34" charset="-128"/>
                <a:ea typeface="Meiryo" panose="020B0604030504040204" pitchFamily="34" charset="-128"/>
              </a:rPr>
              <a:t>Attacker </a:t>
            </a:r>
          </a:p>
          <a:p>
            <a:pPr algn="ctr"/>
            <a:r>
              <a:rPr lang="en-US" sz="1400" dirty="0">
                <a:latin typeface="Meiryo" panose="020B0604030504040204" pitchFamily="34" charset="-128"/>
                <a:ea typeface="Meiryo" panose="020B0604030504040204" pitchFamily="34" charset="-128"/>
              </a:rPr>
              <a:t>CoAP flood / Dos</a:t>
            </a:r>
          </a:p>
          <a:p>
            <a:pPr algn="ctr"/>
            <a:r>
              <a:rPr lang="en-US" sz="1400" dirty="0">
                <a:solidFill>
                  <a:schemeClr val="tx1"/>
                </a:solidFill>
                <a:latin typeface="Meiryo" panose="020B0604030504040204" pitchFamily="34" charset="-128"/>
                <a:ea typeface="Meiryo" panose="020B0604030504040204" pitchFamily="34" charset="-128"/>
              </a:rPr>
              <a:t>192.168.1.50</a:t>
            </a:r>
          </a:p>
          <a:p>
            <a:pPr algn="ctr"/>
            <a:endParaRPr lang="en-US" sz="1400" dirty="0">
              <a:latin typeface="Meiryo" panose="020B0604030504040204" pitchFamily="34" charset="-128"/>
              <a:ea typeface="Meiryo" panose="020B0604030504040204" pitchFamily="34" charset="-128"/>
            </a:endParaRPr>
          </a:p>
        </p:txBody>
      </p:sp>
      <p:sp>
        <p:nvSpPr>
          <p:cNvPr id="8" name="Rectangle: Rounded Corners 7">
            <a:extLst>
              <a:ext uri="{FF2B5EF4-FFF2-40B4-BE49-F238E27FC236}">
                <a16:creationId xmlns:a16="http://schemas.microsoft.com/office/drawing/2014/main" id="{08EAFC1D-ED5C-8C38-1EE5-F24E67A4B920}"/>
              </a:ext>
            </a:extLst>
          </p:cNvPr>
          <p:cNvSpPr/>
          <p:nvPr/>
        </p:nvSpPr>
        <p:spPr>
          <a:xfrm>
            <a:off x="3194452" y="2237421"/>
            <a:ext cx="1783556" cy="859216"/>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latin typeface="Meiryo" panose="020B0604030504040204" pitchFamily="34" charset="-128"/>
              <a:ea typeface="Meiryo" panose="020B0604030504040204" pitchFamily="34" charset="-128"/>
            </a:endParaRPr>
          </a:p>
          <a:p>
            <a:pPr algn="ctr"/>
            <a:r>
              <a:rPr lang="en-US" sz="1400" b="1" dirty="0">
                <a:solidFill>
                  <a:schemeClr val="tx1"/>
                </a:solidFill>
                <a:latin typeface="Meiryo" panose="020B0604030504040204" pitchFamily="34" charset="-128"/>
                <a:ea typeface="Meiryo" panose="020B0604030504040204" pitchFamily="34" charset="-128"/>
              </a:rPr>
              <a:t>Router/Switch </a:t>
            </a:r>
            <a:r>
              <a:rPr lang="en-US" sz="1400" dirty="0">
                <a:solidFill>
                  <a:schemeClr val="tx1"/>
                </a:solidFill>
                <a:latin typeface="Meiryo" panose="020B0604030504040204" pitchFamily="34" charset="-128"/>
                <a:ea typeface="Meiryo" panose="020B0604030504040204" pitchFamily="34" charset="-128"/>
              </a:rPr>
              <a:t>192.168.1.1</a:t>
            </a:r>
          </a:p>
          <a:p>
            <a:pPr algn="ctr"/>
            <a:endParaRPr lang="en-US" sz="1400" dirty="0">
              <a:solidFill>
                <a:schemeClr val="tx1"/>
              </a:solidFill>
              <a:latin typeface="Meiryo" panose="020B0604030504040204" pitchFamily="34" charset="-128"/>
              <a:ea typeface="Meiryo" panose="020B0604030504040204" pitchFamily="34" charset="-128"/>
            </a:endParaRPr>
          </a:p>
        </p:txBody>
      </p:sp>
      <p:cxnSp>
        <p:nvCxnSpPr>
          <p:cNvPr id="12" name="Straight Arrow Connector 11">
            <a:extLst>
              <a:ext uri="{FF2B5EF4-FFF2-40B4-BE49-F238E27FC236}">
                <a16:creationId xmlns:a16="http://schemas.microsoft.com/office/drawing/2014/main" id="{833D8D35-EF89-39F0-4D50-6A5D813AF0B6}"/>
              </a:ext>
            </a:extLst>
          </p:cNvPr>
          <p:cNvCxnSpPr>
            <a:cxnSpLocks/>
            <a:stCxn id="5" idx="3"/>
          </p:cNvCxnSpPr>
          <p:nvPr/>
        </p:nvCxnSpPr>
        <p:spPr>
          <a:xfrm>
            <a:off x="1933574" y="1583160"/>
            <a:ext cx="1247777" cy="9340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CB9D9031-9BCD-DF15-6E69-6B5FACDA6888}"/>
              </a:ext>
            </a:extLst>
          </p:cNvPr>
          <p:cNvCxnSpPr>
            <a:cxnSpLocks/>
            <a:stCxn id="6" idx="3"/>
            <a:endCxn id="8" idx="1"/>
          </p:cNvCxnSpPr>
          <p:nvPr/>
        </p:nvCxnSpPr>
        <p:spPr>
          <a:xfrm flipV="1">
            <a:off x="1893689" y="2667029"/>
            <a:ext cx="1300763" cy="6430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E4F6FE78-5493-E4E1-4424-73AB907B88B7}"/>
              </a:ext>
            </a:extLst>
          </p:cNvPr>
          <p:cNvCxnSpPr>
            <a:cxnSpLocks/>
          </p:cNvCxnSpPr>
          <p:nvPr/>
        </p:nvCxnSpPr>
        <p:spPr>
          <a:xfrm flipV="1">
            <a:off x="2131391" y="3183102"/>
            <a:ext cx="1247777" cy="125968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20" name="Straight Arrow Connector 19">
            <a:extLst>
              <a:ext uri="{FF2B5EF4-FFF2-40B4-BE49-F238E27FC236}">
                <a16:creationId xmlns:a16="http://schemas.microsoft.com/office/drawing/2014/main" id="{32FE953D-67BC-EBDA-8FC0-FD2D7F244010}"/>
              </a:ext>
            </a:extLst>
          </p:cNvPr>
          <p:cNvCxnSpPr>
            <a:cxnSpLocks/>
            <a:stCxn id="8" idx="3"/>
          </p:cNvCxnSpPr>
          <p:nvPr/>
        </p:nvCxnSpPr>
        <p:spPr>
          <a:xfrm>
            <a:off x="4978008" y="2667029"/>
            <a:ext cx="1032268"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72" name="TextBox 71">
            <a:extLst>
              <a:ext uri="{FF2B5EF4-FFF2-40B4-BE49-F238E27FC236}">
                <a16:creationId xmlns:a16="http://schemas.microsoft.com/office/drawing/2014/main" id="{D6FDDDFF-65CE-DCFC-B226-F09817397EBE}"/>
              </a:ext>
            </a:extLst>
          </p:cNvPr>
          <p:cNvSpPr txBox="1"/>
          <p:nvPr/>
        </p:nvSpPr>
        <p:spPr>
          <a:xfrm>
            <a:off x="2055227" y="3727338"/>
            <a:ext cx="4572000" cy="307777"/>
          </a:xfrm>
          <a:prstGeom prst="rect">
            <a:avLst/>
          </a:prstGeom>
          <a:noFill/>
        </p:spPr>
        <p:txBody>
          <a:bodyPr wrap="square">
            <a:spAutoFit/>
          </a:bodyPr>
          <a:lstStyle/>
          <a:p>
            <a:r>
              <a:rPr lang="en-US" sz="1400" dirty="0">
                <a:latin typeface="Meiryo" panose="020B0604030504040204" pitchFamily="34" charset="-128"/>
                <a:ea typeface="Meiryo" panose="020B0604030504040204" pitchFamily="34" charset="-128"/>
              </a:rPr>
              <a:t>Attack traffic </a:t>
            </a:r>
          </a:p>
        </p:txBody>
      </p:sp>
      <p:sp>
        <p:nvSpPr>
          <p:cNvPr id="73" name="Rectangle: Rounded Corners 72">
            <a:extLst>
              <a:ext uri="{FF2B5EF4-FFF2-40B4-BE49-F238E27FC236}">
                <a16:creationId xmlns:a16="http://schemas.microsoft.com/office/drawing/2014/main" id="{0860F095-FE40-02F7-4BD1-674484E97C09}"/>
              </a:ext>
            </a:extLst>
          </p:cNvPr>
          <p:cNvSpPr/>
          <p:nvPr/>
        </p:nvSpPr>
        <p:spPr>
          <a:xfrm>
            <a:off x="6010276" y="1779104"/>
            <a:ext cx="2467802" cy="1453800"/>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Meiryo" panose="020B0604030504040204" pitchFamily="34" charset="-128"/>
                <a:ea typeface="Meiryo" panose="020B0604030504040204" pitchFamily="34" charset="-128"/>
              </a:rPr>
              <a:t> Gateway </a:t>
            </a:r>
          </a:p>
          <a:p>
            <a:pPr algn="ctr"/>
            <a:r>
              <a:rPr lang="en-US" sz="1400" dirty="0">
                <a:solidFill>
                  <a:schemeClr val="tx1"/>
                </a:solidFill>
                <a:latin typeface="Meiryo" panose="020B0604030504040204" pitchFamily="34" charset="-128"/>
                <a:ea typeface="Meiryo" panose="020B0604030504040204" pitchFamily="34" charset="-128"/>
              </a:rPr>
              <a:t>192.168.1.</a:t>
            </a:r>
          </a:p>
          <a:p>
            <a:pPr algn="ctr"/>
            <a:r>
              <a:rPr lang="ja-JP" altLang="en-US" sz="1400">
                <a:solidFill>
                  <a:schemeClr val="tx1"/>
                </a:solidFill>
                <a:latin typeface="Meiryo" panose="020B0604030504040204" pitchFamily="34" charset="-128"/>
                <a:ea typeface="Meiryo" panose="020B0604030504040204" pitchFamily="34" charset="-128"/>
              </a:rPr>
              <a:t>すべてを転送</a:t>
            </a:r>
            <a:endParaRPr lang="en-US" sz="1400" dirty="0">
              <a:solidFill>
                <a:schemeClr val="tx1"/>
              </a:solidFill>
              <a:latin typeface="Meiryo" panose="020B0604030504040204" pitchFamily="34" charset="-128"/>
              <a:ea typeface="Meiryo" panose="020B0604030504040204" pitchFamily="34" charset="-128"/>
            </a:endParaRPr>
          </a:p>
        </p:txBody>
      </p:sp>
      <p:sp>
        <p:nvSpPr>
          <p:cNvPr id="26" name="Shape 0">
            <a:extLst>
              <a:ext uri="{FF2B5EF4-FFF2-40B4-BE49-F238E27FC236}">
                <a16:creationId xmlns:a16="http://schemas.microsoft.com/office/drawing/2014/main" id="{FA54461C-5235-7D15-D978-89B8B5055506}"/>
              </a:ext>
            </a:extLst>
          </p:cNvPr>
          <p:cNvSpPr/>
          <p:nvPr/>
        </p:nvSpPr>
        <p:spPr>
          <a:xfrm>
            <a:off x="0" y="0"/>
            <a:ext cx="9144000" cy="691502"/>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457200" indent="-457200">
              <a:buFont typeface="Wingdings" pitchFamily="2" charset="2"/>
              <a:buChar char="Ø"/>
            </a:pPr>
            <a:r>
              <a:rPr lang="ja-JP" altLang="en-US" sz="2800" b="1"/>
              <a:t>内部攻撃</a:t>
            </a:r>
            <a:r>
              <a:rPr lang="en-US" altLang="ja-JP" sz="2800" b="1" dirty="0"/>
              <a:t> - </a:t>
            </a:r>
            <a:r>
              <a:rPr lang="en-US" sz="2800" b="1" dirty="0"/>
              <a:t>DTLS</a:t>
            </a:r>
            <a:r>
              <a:rPr lang="ja-JP" altLang="en-US" sz="2800" b="1"/>
              <a:t>では防御できない</a:t>
            </a:r>
            <a:endParaRPr lang="en-JP" sz="2800" b="1" dirty="0"/>
          </a:p>
        </p:txBody>
      </p:sp>
      <p:sp>
        <p:nvSpPr>
          <p:cNvPr id="33" name="Slide Number Placeholder 32">
            <a:extLst>
              <a:ext uri="{FF2B5EF4-FFF2-40B4-BE49-F238E27FC236}">
                <a16:creationId xmlns:a16="http://schemas.microsoft.com/office/drawing/2014/main" id="{19732CDF-2E08-2DE6-D565-F18F829A2D70}"/>
              </a:ext>
            </a:extLst>
          </p:cNvPr>
          <p:cNvSpPr>
            <a:spLocks noGrp="1"/>
          </p:cNvSpPr>
          <p:nvPr>
            <p:ph type="sldNum" sz="quarter" idx="12"/>
          </p:nvPr>
        </p:nvSpPr>
        <p:spPr/>
        <p:txBody>
          <a:bodyPr/>
          <a:lstStyle/>
          <a:p>
            <a:fld id="{828F3BD4-1AF2-D144-8129-4D42AD448F5E}" type="slidenum">
              <a:rPr lang="en-JP" smtClean="0"/>
              <a:t>46</a:t>
            </a:fld>
            <a:endParaRPr lang="en-JP"/>
          </a:p>
        </p:txBody>
      </p:sp>
      <p:sp>
        <p:nvSpPr>
          <p:cNvPr id="9" name="TextBox 8">
            <a:extLst>
              <a:ext uri="{FF2B5EF4-FFF2-40B4-BE49-F238E27FC236}">
                <a16:creationId xmlns:a16="http://schemas.microsoft.com/office/drawing/2014/main" id="{FA241538-B6AE-D96E-BD5E-5F9720F4D7B5}"/>
              </a:ext>
            </a:extLst>
          </p:cNvPr>
          <p:cNvSpPr txBox="1"/>
          <p:nvPr/>
        </p:nvSpPr>
        <p:spPr>
          <a:xfrm>
            <a:off x="3565924" y="3933069"/>
            <a:ext cx="5467943" cy="1938992"/>
          </a:xfrm>
          <a:prstGeom prst="rect">
            <a:avLst/>
          </a:prstGeom>
          <a:noFill/>
        </p:spPr>
        <p:txBody>
          <a:bodyPr wrap="square">
            <a:spAutoFit/>
          </a:bodyPr>
          <a:lstStyle/>
          <a:p>
            <a:pPr marL="342900" indent="-342900">
              <a:buFont typeface="Wingdings" pitchFamily="2" charset="2"/>
              <a:buChar char="§"/>
            </a:pPr>
            <a:r>
              <a:rPr lang="en-US" sz="2000" dirty="0">
                <a:latin typeface="Meiryo" panose="020B0604030504040204" pitchFamily="34" charset="-128"/>
                <a:ea typeface="Meiryo" panose="020B0604030504040204" pitchFamily="34" charset="-128"/>
              </a:rPr>
              <a:t>DTLS</a:t>
            </a:r>
            <a:r>
              <a:rPr lang="ja-JP" altLang="en-US" sz="2000">
                <a:latin typeface="Meiryo" panose="020B0604030504040204" pitchFamily="34" charset="-128"/>
                <a:ea typeface="Meiryo" panose="020B0604030504040204" pitchFamily="34" charset="-128"/>
              </a:rPr>
              <a:t>セッションを不正に確立できる</a:t>
            </a:r>
            <a:r>
              <a:rPr lang="en-US" altLang="ja-JP" sz="2000" dirty="0">
                <a:latin typeface="Meiryo" panose="020B0604030504040204" pitchFamily="34" charset="-128"/>
                <a:ea typeface="Meiryo" panose="020B0604030504040204" pitchFamily="34" charset="-128"/>
              </a:rPr>
              <a:t> </a:t>
            </a:r>
            <a:r>
              <a:rPr lang="en-US" altLang="ja-JP" sz="1400" dirty="0">
                <a:latin typeface="Meiryo" panose="020B0604030504040204" pitchFamily="34" charset="-128"/>
                <a:ea typeface="Meiryo" panose="020B0604030504040204" pitchFamily="34" charset="-128"/>
              </a:rPr>
              <a:t>[14]</a:t>
            </a:r>
            <a:endParaRPr lang="mn-MN" altLang="ja-JP" sz="1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ja-JP" altLang="en-US" sz="2000">
                <a:latin typeface="Meiryo" panose="020B0604030504040204" pitchFamily="34" charset="-128"/>
                <a:ea typeface="Meiryo" panose="020B0604030504040204" pitchFamily="34" charset="-128"/>
              </a:rPr>
              <a:t>ルータ／スイッチをオーバーフローさせてダウンさせることが可能</a:t>
            </a:r>
            <a:endParaRPr lang="mn-MN" altLang="ja-JP" sz="20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US" sz="2000" dirty="0">
                <a:latin typeface="Meiryo" panose="020B0604030504040204" pitchFamily="34" charset="-128"/>
                <a:ea typeface="Meiryo" panose="020B0604030504040204" pitchFamily="34" charset="-128"/>
              </a:rPr>
              <a:t>Gateway</a:t>
            </a:r>
            <a:r>
              <a:rPr lang="ja-JP" altLang="en-US" sz="2000">
                <a:latin typeface="Meiryo" panose="020B0604030504040204" pitchFamily="34" charset="-128"/>
                <a:ea typeface="Meiryo" panose="020B0604030504040204" pitchFamily="34" charset="-128"/>
              </a:rPr>
              <a:t>に正規トラフィックを装った通信を送信できる</a:t>
            </a:r>
            <a:endParaRPr lang="mn-MN" altLang="ja-JP" sz="20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US" sz="2000" dirty="0">
                <a:latin typeface="Meiryo" panose="020B0604030504040204" pitchFamily="34" charset="-128"/>
                <a:ea typeface="Meiryo" panose="020B0604030504040204" pitchFamily="34" charset="-128"/>
              </a:rPr>
              <a:t>Backend</a:t>
            </a:r>
            <a:r>
              <a:rPr lang="ja-JP" altLang="en-US" sz="2000">
                <a:latin typeface="Meiryo" panose="020B0604030504040204" pitchFamily="34" charset="-128"/>
                <a:ea typeface="Meiryo" panose="020B0604030504040204" pitchFamily="34" charset="-128"/>
              </a:rPr>
              <a:t>は不正なデータを受信してしまう</a:t>
            </a:r>
            <a:endParaRPr lang="en-JP" sz="2000" dirty="0">
              <a:latin typeface="Meiryo" panose="020B0604030504040204" pitchFamily="34" charset="-128"/>
              <a:ea typeface="Meiryo" panose="020B0604030504040204" pitchFamily="34" charset="-128"/>
            </a:endParaRPr>
          </a:p>
        </p:txBody>
      </p:sp>
      <p:sp>
        <p:nvSpPr>
          <p:cNvPr id="10" name="正方形/長方形 4">
            <a:extLst>
              <a:ext uri="{FF2B5EF4-FFF2-40B4-BE49-F238E27FC236}">
                <a16:creationId xmlns:a16="http://schemas.microsoft.com/office/drawing/2014/main" id="{C5DD4B38-78EF-52D0-8094-F2251F42902B}"/>
              </a:ext>
            </a:extLst>
          </p:cNvPr>
          <p:cNvSpPr/>
          <p:nvPr/>
        </p:nvSpPr>
        <p:spPr>
          <a:xfrm>
            <a:off x="3565923" y="3857547"/>
            <a:ext cx="5467943" cy="201451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14" name="TextBox 13">
            <a:extLst>
              <a:ext uri="{FF2B5EF4-FFF2-40B4-BE49-F238E27FC236}">
                <a16:creationId xmlns:a16="http://schemas.microsoft.com/office/drawing/2014/main" id="{EFDBC8C1-B701-23F3-3FAF-8368D4433134}"/>
              </a:ext>
            </a:extLst>
          </p:cNvPr>
          <p:cNvSpPr txBox="1"/>
          <p:nvPr/>
        </p:nvSpPr>
        <p:spPr>
          <a:xfrm>
            <a:off x="0" y="6251520"/>
            <a:ext cx="7652086" cy="600164"/>
          </a:xfrm>
          <a:prstGeom prst="rect">
            <a:avLst/>
          </a:prstGeom>
          <a:noFill/>
        </p:spPr>
        <p:txBody>
          <a:bodyPr wrap="square">
            <a:spAutoFit/>
          </a:bodyPr>
          <a:lstStyle/>
          <a:p>
            <a:r>
              <a:rPr lang="en-US" sz="1100" dirty="0">
                <a:latin typeface="Times New Roman" panose="02020603050405020304" pitchFamily="18" charset="0"/>
                <a:cs typeface="Times New Roman" panose="02020603050405020304" pitchFamily="18" charset="0"/>
              </a:rPr>
              <a:t>[14] Even when DTLS is used, IoT systems remain vulnerable to attacks such as flooding, replay, and resource exhaustion. DTLS provides protection only between endpoints and is not capable of defending against DoS attacks. file:///Users/apple/Downloads/</a:t>
            </a:r>
            <a:r>
              <a:rPr lang="en-US" sz="1100" dirty="0" err="1">
                <a:latin typeface="Times New Roman" panose="02020603050405020304" pitchFamily="18" charset="0"/>
                <a:cs typeface="Times New Roman" panose="02020603050405020304" pitchFamily="18" charset="0"/>
              </a:rPr>
              <a:t>FinalVersion.pdf</a:t>
            </a:r>
            <a:endParaRPr lang="en-JP"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52613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091AADD-B64E-527C-1791-926C89349362}"/>
              </a:ext>
            </a:extLst>
          </p:cNvPr>
          <p:cNvSpPr txBox="1"/>
          <p:nvPr/>
        </p:nvSpPr>
        <p:spPr>
          <a:xfrm>
            <a:off x="156410" y="68583"/>
            <a:ext cx="8518357" cy="707886"/>
          </a:xfrm>
          <a:prstGeom prst="rect">
            <a:avLst/>
          </a:prstGeom>
          <a:noFill/>
        </p:spPr>
        <p:txBody>
          <a:bodyPr wrap="square">
            <a:spAutoFit/>
          </a:bodyPr>
          <a:lstStyle/>
          <a:p>
            <a:pPr marL="342900" indent="-342900">
              <a:buFont typeface="Wingdings" pitchFamily="2" charset="2"/>
              <a:buChar char="v"/>
            </a:pPr>
            <a:r>
              <a:rPr lang="en-US" sz="2000" b="1" dirty="0">
                <a:latin typeface="Meiryo" panose="020B0604030504040204" pitchFamily="34" charset="-128"/>
                <a:ea typeface="Meiryo" panose="020B0604030504040204" pitchFamily="34" charset="-128"/>
              </a:rPr>
              <a:t>DTLS</a:t>
            </a:r>
            <a:r>
              <a:rPr lang="ja-JP" altLang="en-US" sz="2000" b="1">
                <a:latin typeface="Meiryo" panose="020B0604030504040204" pitchFamily="34" charset="-128"/>
                <a:ea typeface="Meiryo" panose="020B0604030504040204" pitchFamily="34" charset="-128"/>
              </a:rPr>
              <a:t>による暗号化は外部攻撃からは保護できるが，内部攻撃には対応できない。</a:t>
            </a:r>
            <a:r>
              <a:rPr lang="en-US" altLang="ja-JP" sz="1600" b="1" dirty="0">
                <a:latin typeface="Meiryo" panose="020B0604030504040204" pitchFamily="34" charset="-128"/>
                <a:ea typeface="Meiryo" panose="020B0604030504040204" pitchFamily="34" charset="-128"/>
              </a:rPr>
              <a:t>[6]</a:t>
            </a:r>
            <a:endParaRPr lang="en-JP" sz="1600" b="1" dirty="0">
              <a:latin typeface="Meiryo" panose="020B0604030504040204" pitchFamily="34" charset="-128"/>
              <a:ea typeface="Meiryo" panose="020B0604030504040204" pitchFamily="34" charset="-128"/>
            </a:endParaRPr>
          </a:p>
        </p:txBody>
      </p:sp>
      <p:sp>
        <p:nvSpPr>
          <p:cNvPr id="7" name="TextBox 6">
            <a:extLst>
              <a:ext uri="{FF2B5EF4-FFF2-40B4-BE49-F238E27FC236}">
                <a16:creationId xmlns:a16="http://schemas.microsoft.com/office/drawing/2014/main" id="{BDD3B9CD-C999-E84D-E4E5-B1BBB5BD077C}"/>
              </a:ext>
            </a:extLst>
          </p:cNvPr>
          <p:cNvSpPr txBox="1"/>
          <p:nvPr/>
        </p:nvSpPr>
        <p:spPr>
          <a:xfrm>
            <a:off x="156410" y="6396335"/>
            <a:ext cx="8193505" cy="461665"/>
          </a:xfrm>
          <a:prstGeom prst="rect">
            <a:avLst/>
          </a:prstGeom>
          <a:noFill/>
        </p:spPr>
        <p:txBody>
          <a:bodyPr wrap="square">
            <a:spAutoFit/>
          </a:bodyPr>
          <a:lstStyle/>
          <a:p>
            <a:r>
              <a:rPr lang="mn-MN" altLang="ja-JP" sz="1200" dirty="0">
                <a:latin typeface="Times New Roman" panose="02020603050405020304" pitchFamily="18" charset="0"/>
                <a:ea typeface="Meiryo" panose="020B0604030504040204" pitchFamily="34" charset="-128"/>
                <a:cs typeface="Times New Roman" panose="02020603050405020304" pitchFamily="18" charset="0"/>
              </a:rPr>
              <a:t> </a:t>
            </a:r>
            <a:r>
              <a:rPr lang="en-US" altLang="ja-JP" sz="1200" dirty="0">
                <a:latin typeface="Times New Roman" panose="02020603050405020304" pitchFamily="18" charset="0"/>
                <a:ea typeface="Meiryo" panose="020B0604030504040204" pitchFamily="34" charset="-128"/>
                <a:cs typeface="Times New Roman" panose="02020603050405020304" pitchFamily="18" charset="0"/>
              </a:rPr>
              <a:t>[6] </a:t>
            </a:r>
            <a:r>
              <a:rPr lang="ja-JP" altLang="en-US" sz="1200">
                <a:latin typeface="Times New Roman" panose="02020603050405020304" pitchFamily="18" charset="0"/>
                <a:ea typeface="Meiryo" panose="020B0604030504040204" pitchFamily="34" charset="-128"/>
                <a:cs typeface="Times New Roman" panose="02020603050405020304" pitchFamily="18" charset="0"/>
              </a:rPr>
              <a:t>本表は複数の先行研究（</a:t>
            </a:r>
            <a:r>
              <a:rPr lang="en-US" sz="1200" dirty="0" err="1">
                <a:latin typeface="Times New Roman" panose="02020603050405020304" pitchFamily="18" charset="0"/>
                <a:ea typeface="Meiryo" panose="020B0604030504040204" pitchFamily="34" charset="-128"/>
                <a:cs typeface="Times New Roman" panose="02020603050405020304" pitchFamily="18" charset="0"/>
              </a:rPr>
              <a:t>Hindawi</a:t>
            </a:r>
            <a:r>
              <a:rPr lang="en-US" sz="1200" dirty="0">
                <a:latin typeface="Times New Roman" panose="02020603050405020304" pitchFamily="18" charset="0"/>
                <a:ea typeface="Meiryo" panose="020B0604030504040204" pitchFamily="34" charset="-128"/>
                <a:cs typeface="Times New Roman" panose="02020603050405020304" pitchFamily="18" charset="0"/>
              </a:rPr>
              <a:t> 2018, IEEE, Wiley 2021 </a:t>
            </a:r>
            <a:r>
              <a:rPr lang="ja-JP" altLang="en-US" sz="1200">
                <a:latin typeface="Times New Roman" panose="02020603050405020304" pitchFamily="18" charset="0"/>
                <a:ea typeface="Meiryo" panose="020B0604030504040204" pitchFamily="34" charset="-128"/>
                <a:cs typeface="Times New Roman" panose="02020603050405020304" pitchFamily="18" charset="0"/>
              </a:rPr>
              <a:t>など）に基づいて作成</a:t>
            </a:r>
            <a:r>
              <a:rPr lang="en-US" altLang="ja-JP" sz="1200" dirty="0">
                <a:latin typeface="Times New Roman" panose="02020603050405020304" pitchFamily="18" charset="0"/>
                <a:ea typeface="Meiryo" panose="020B0604030504040204" pitchFamily="34" charset="-128"/>
                <a:cs typeface="Times New Roman" panose="02020603050405020304" pitchFamily="18" charset="0"/>
              </a:rPr>
              <a:t> </a:t>
            </a:r>
          </a:p>
          <a:p>
            <a:r>
              <a:rPr lang="en-US" sz="1200" dirty="0">
                <a:latin typeface="Times New Roman" panose="02020603050405020304" pitchFamily="18" charset="0"/>
                <a:ea typeface="Meiryo" panose="020B0604030504040204" pitchFamily="34" charset="-128"/>
                <a:cs typeface="Times New Roman" panose="02020603050405020304" pitchFamily="18" charset="0"/>
              </a:rPr>
              <a:t>https://</a:t>
            </a:r>
            <a:r>
              <a:rPr lang="en-US" sz="1200" dirty="0" err="1">
                <a:latin typeface="Times New Roman" panose="02020603050405020304" pitchFamily="18" charset="0"/>
                <a:ea typeface="Meiryo" panose="020B0604030504040204" pitchFamily="34" charset="-128"/>
                <a:cs typeface="Times New Roman" panose="02020603050405020304" pitchFamily="18" charset="0"/>
              </a:rPr>
              <a:t>www.ietf.org</a:t>
            </a:r>
            <a:r>
              <a:rPr lang="en-US" sz="1200" dirty="0">
                <a:latin typeface="Times New Roman" panose="02020603050405020304" pitchFamily="18" charset="0"/>
                <a:ea typeface="Meiryo" panose="020B0604030504040204" pitchFamily="34" charset="-128"/>
                <a:cs typeface="Times New Roman" panose="02020603050405020304" pitchFamily="18" charset="0"/>
              </a:rPr>
              <a:t>/archive/id/draft-ietf-core-attacks-on-coap-04.html</a:t>
            </a:r>
            <a:endParaRPr lang="en-JP" sz="1200" dirty="0">
              <a:latin typeface="Times New Roman" panose="02020603050405020304" pitchFamily="18" charset="0"/>
              <a:ea typeface="Meiryo" panose="020B0604030504040204" pitchFamily="34" charset="-128"/>
              <a:cs typeface="Times New Roman" panose="02020603050405020304" pitchFamily="18" charset="0"/>
            </a:endParaRPr>
          </a:p>
        </p:txBody>
      </p:sp>
      <p:graphicFrame>
        <p:nvGraphicFramePr>
          <p:cNvPr id="8" name="Table 7">
            <a:extLst>
              <a:ext uri="{FF2B5EF4-FFF2-40B4-BE49-F238E27FC236}">
                <a16:creationId xmlns:a16="http://schemas.microsoft.com/office/drawing/2014/main" id="{F1413918-9C5C-4E7F-393F-B0F3697D010F}"/>
              </a:ext>
            </a:extLst>
          </p:cNvPr>
          <p:cNvGraphicFramePr>
            <a:graphicFrameLocks noGrp="1"/>
          </p:cNvGraphicFramePr>
          <p:nvPr>
            <p:extLst>
              <p:ext uri="{D42A27DB-BD31-4B8C-83A1-F6EECF244321}">
                <p14:modId xmlns:p14="http://schemas.microsoft.com/office/powerpoint/2010/main" val="3979343008"/>
              </p:ext>
            </p:extLst>
          </p:nvPr>
        </p:nvGraphicFramePr>
        <p:xfrm>
          <a:off x="168443" y="776469"/>
          <a:ext cx="8843211" cy="5144703"/>
        </p:xfrm>
        <a:graphic>
          <a:graphicData uri="http://schemas.openxmlformats.org/drawingml/2006/table">
            <a:tbl>
              <a:tblPr>
                <a:tableStyleId>{21E4AEA4-8DFA-4A89-87EB-49C32662AFE0}</a:tableStyleId>
              </a:tblPr>
              <a:tblGrid>
                <a:gridCol w="3549315">
                  <a:extLst>
                    <a:ext uri="{9D8B030D-6E8A-4147-A177-3AD203B41FA5}">
                      <a16:colId xmlns:a16="http://schemas.microsoft.com/office/drawing/2014/main" val="1841341091"/>
                    </a:ext>
                  </a:extLst>
                </a:gridCol>
                <a:gridCol w="3236495">
                  <a:extLst>
                    <a:ext uri="{9D8B030D-6E8A-4147-A177-3AD203B41FA5}">
                      <a16:colId xmlns:a16="http://schemas.microsoft.com/office/drawing/2014/main" val="3856997184"/>
                    </a:ext>
                  </a:extLst>
                </a:gridCol>
                <a:gridCol w="2057401">
                  <a:extLst>
                    <a:ext uri="{9D8B030D-6E8A-4147-A177-3AD203B41FA5}">
                      <a16:colId xmlns:a16="http://schemas.microsoft.com/office/drawing/2014/main" val="1914932608"/>
                    </a:ext>
                  </a:extLst>
                </a:gridCol>
              </a:tblGrid>
              <a:tr h="478577">
                <a:tc>
                  <a:txBody>
                    <a:bodyPr/>
                    <a:lstStyle/>
                    <a:p>
                      <a:r>
                        <a:rPr lang="ja-JP" altLang="en-US" sz="2000" b="1">
                          <a:latin typeface="Meiryo" panose="020B0604030504040204" pitchFamily="34" charset="-128"/>
                          <a:ea typeface="Meiryo" panose="020B0604030504040204" pitchFamily="34" charset="-128"/>
                        </a:rPr>
                        <a:t>攻撃の種類 </a:t>
                      </a:r>
                      <a:r>
                        <a:rPr lang="en-US" altLang="ja-JP" sz="2000" b="1" dirty="0">
                          <a:latin typeface="Meiryo" panose="020B0604030504040204" pitchFamily="34" charset="-128"/>
                          <a:ea typeface="Meiryo" panose="020B0604030504040204" pitchFamily="34" charset="-128"/>
                        </a:rPr>
                        <a:t>(</a:t>
                      </a:r>
                      <a:r>
                        <a:rPr lang="en-US" sz="2000" b="1" dirty="0">
                          <a:latin typeface="Meiryo" panose="020B0604030504040204" pitchFamily="34" charset="-128"/>
                          <a:ea typeface="Meiryo" panose="020B0604030504040204" pitchFamily="34" charset="-128"/>
                        </a:rPr>
                        <a:t>Attack Type)</a:t>
                      </a:r>
                    </a:p>
                  </a:txBody>
                  <a:tcPr anchor="ctr"/>
                </a:tc>
                <a:tc>
                  <a:txBody>
                    <a:bodyPr/>
                    <a:lstStyle/>
                    <a:p>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説明</a:t>
                      </a:r>
                    </a:p>
                  </a:txBody>
                  <a:tcPr anchor="ctr"/>
                </a:tc>
                <a:tc>
                  <a:txBody>
                    <a:bodyPr/>
                    <a:lstStyle/>
                    <a:p>
                      <a:r>
                        <a:rPr lang="en-US" sz="2000" b="1" dirty="0">
                          <a:latin typeface="Meiryo" panose="020B0604030504040204" pitchFamily="34" charset="-128"/>
                          <a:ea typeface="Meiryo" panose="020B0604030504040204" pitchFamily="34" charset="-128"/>
                        </a:rPr>
                        <a:t>DTLS</a:t>
                      </a:r>
                      <a:r>
                        <a:rPr lang="ja-JP" altLang="en-US" sz="2000" b="1">
                          <a:latin typeface="Meiryo" panose="020B0604030504040204" pitchFamily="34" charset="-128"/>
                          <a:ea typeface="Meiryo" panose="020B0604030504040204" pitchFamily="34" charset="-128"/>
                        </a:rPr>
                        <a:t>対応</a:t>
                      </a:r>
                    </a:p>
                  </a:txBody>
                  <a:tcPr anchor="ctr"/>
                </a:tc>
                <a:extLst>
                  <a:ext uri="{0D108BD9-81ED-4DB2-BD59-A6C34878D82A}">
                    <a16:rowId xmlns:a16="http://schemas.microsoft.com/office/drawing/2014/main" val="3930930281"/>
                  </a:ext>
                </a:extLst>
              </a:tr>
              <a:tr h="478577">
                <a:tc>
                  <a:txBody>
                    <a:bodyPr/>
                    <a:lstStyle/>
                    <a:p>
                      <a:r>
                        <a:rPr lang="en-US" sz="2000" dirty="0">
                          <a:latin typeface="Meiryo" panose="020B0604030504040204" pitchFamily="34" charset="-128"/>
                          <a:ea typeface="Meiryo" panose="020B0604030504040204" pitchFamily="34" charset="-128"/>
                        </a:rPr>
                        <a:t>Eavesdropping（</a:t>
                      </a:r>
                      <a:r>
                        <a:rPr lang="ja-JP" altLang="en-US" sz="2000">
                          <a:latin typeface="Meiryo" panose="020B0604030504040204" pitchFamily="34" charset="-128"/>
                          <a:ea typeface="Meiryo" panose="020B0604030504040204" pitchFamily="34" charset="-128"/>
                        </a:rPr>
                        <a:t>盗聴）</a:t>
                      </a:r>
                    </a:p>
                  </a:txBody>
                  <a:tcPr anchor="ctr"/>
                </a:tc>
                <a:tc>
                  <a:txBody>
                    <a:bodyPr/>
                    <a:lstStyle/>
                    <a:p>
                      <a:r>
                        <a:rPr lang="ja-JP" altLang="en-US" sz="2000">
                          <a:latin typeface="Meiryo" panose="020B0604030504040204" pitchFamily="34" charset="-128"/>
                          <a:ea typeface="Meiryo" panose="020B0604030504040204" pitchFamily="34" charset="-128"/>
                        </a:rPr>
                        <a:t>データを盗み見る攻撃</a:t>
                      </a:r>
                    </a:p>
                  </a:txBody>
                  <a:tcPr anchor="ctr"/>
                </a:tc>
                <a:tc>
                  <a:txBody>
                    <a:bodyPr/>
                    <a:lstStyle/>
                    <a:p>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防御可能</a:t>
                      </a:r>
                    </a:p>
                  </a:txBody>
                  <a:tcPr anchor="ctr"/>
                </a:tc>
                <a:extLst>
                  <a:ext uri="{0D108BD9-81ED-4DB2-BD59-A6C34878D82A}">
                    <a16:rowId xmlns:a16="http://schemas.microsoft.com/office/drawing/2014/main" val="1634631055"/>
                  </a:ext>
                </a:extLst>
              </a:tr>
              <a:tr h="837510">
                <a:tc>
                  <a:txBody>
                    <a:bodyPr/>
                    <a:lstStyle/>
                    <a:p>
                      <a:r>
                        <a:rPr lang="en-US" sz="2000">
                          <a:latin typeface="Meiryo" panose="020B0604030504040204" pitchFamily="34" charset="-128"/>
                          <a:ea typeface="Meiryo" panose="020B0604030504040204" pitchFamily="34" charset="-128"/>
                        </a:rPr>
                        <a:t>Man-in-the-Middle（MITM）</a:t>
                      </a:r>
                    </a:p>
                  </a:txBody>
                  <a:tcPr anchor="ctr"/>
                </a:tc>
                <a:tc>
                  <a:txBody>
                    <a:bodyPr/>
                    <a:lstStyle/>
                    <a:p>
                      <a:r>
                        <a:rPr lang="ja-JP" altLang="en-US" sz="2000">
                          <a:latin typeface="Meiryo" panose="020B0604030504040204" pitchFamily="34" charset="-128"/>
                          <a:ea typeface="Meiryo" panose="020B0604030504040204" pitchFamily="34" charset="-128"/>
                        </a:rPr>
                        <a:t>通信の改ざん・なりすまし</a:t>
                      </a:r>
                    </a:p>
                  </a:txBody>
                  <a:tcPr anchor="ctr"/>
                </a:tc>
                <a:tc>
                  <a:txBody>
                    <a:bodyPr/>
                    <a:lstStyle/>
                    <a:p>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防御可能</a:t>
                      </a:r>
                    </a:p>
                  </a:txBody>
                  <a:tcPr anchor="ctr"/>
                </a:tc>
                <a:extLst>
                  <a:ext uri="{0D108BD9-81ED-4DB2-BD59-A6C34878D82A}">
                    <a16:rowId xmlns:a16="http://schemas.microsoft.com/office/drawing/2014/main" val="1044894832"/>
                  </a:ext>
                </a:extLst>
              </a:tr>
              <a:tr h="478577">
                <a:tc>
                  <a:txBody>
                    <a:bodyPr/>
                    <a:lstStyle/>
                    <a:p>
                      <a:r>
                        <a:rPr lang="en-US" sz="2000" dirty="0">
                          <a:latin typeface="Meiryo" panose="020B0604030504040204" pitchFamily="34" charset="-128"/>
                          <a:ea typeface="Meiryo" panose="020B0604030504040204" pitchFamily="34" charset="-128"/>
                        </a:rPr>
                        <a:t>Packet Tampering</a:t>
                      </a:r>
                    </a:p>
                  </a:txBody>
                  <a:tcPr anchor="ctr"/>
                </a:tc>
                <a:tc>
                  <a:txBody>
                    <a:bodyPr/>
                    <a:lstStyle/>
                    <a:p>
                      <a:r>
                        <a:rPr lang="ja-JP" altLang="en-US" sz="2000">
                          <a:latin typeface="Meiryo" panose="020B0604030504040204" pitchFamily="34" charset="-128"/>
                          <a:ea typeface="Meiryo" panose="020B0604030504040204" pitchFamily="34" charset="-128"/>
                        </a:rPr>
                        <a:t>データの改ざん</a:t>
                      </a:r>
                    </a:p>
                  </a:txBody>
                  <a:tcPr anchor="ctr"/>
                </a:tc>
                <a:tc>
                  <a:txBody>
                    <a:bodyPr/>
                    <a:lstStyle/>
                    <a:p>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 </a:t>
                      </a:r>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防御可能</a:t>
                      </a:r>
                    </a:p>
                  </a:txBody>
                  <a:tcPr anchor="ctr"/>
                </a:tc>
                <a:extLst>
                  <a:ext uri="{0D108BD9-81ED-4DB2-BD59-A6C34878D82A}">
                    <a16:rowId xmlns:a16="http://schemas.microsoft.com/office/drawing/2014/main" val="77595711"/>
                  </a:ext>
                </a:extLst>
              </a:tr>
              <a:tr h="478577">
                <a:tc>
                  <a:txBody>
                    <a:bodyPr/>
                    <a:lstStyle/>
                    <a:p>
                      <a:r>
                        <a:rPr lang="en-US" sz="2000" b="1" dirty="0">
                          <a:solidFill>
                            <a:srgbClr val="C00000"/>
                          </a:solidFill>
                          <a:latin typeface="Meiryo" panose="020B0604030504040204" pitchFamily="34" charset="-128"/>
                          <a:ea typeface="Meiryo" panose="020B0604030504040204" pitchFamily="34" charset="-128"/>
                        </a:rPr>
                        <a:t>Replay Attack</a:t>
                      </a:r>
                    </a:p>
                  </a:txBody>
                  <a:tcPr anchor="ctr"/>
                </a:tc>
                <a:tc>
                  <a:txBody>
                    <a:bodyPr/>
                    <a:lstStyle/>
                    <a:p>
                      <a:r>
                        <a:rPr lang="ja-JP" altLang="en-US" sz="2000">
                          <a:latin typeface="Meiryo" panose="020B0604030504040204" pitchFamily="34" charset="-128"/>
                          <a:ea typeface="Meiryo" panose="020B0604030504040204" pitchFamily="34" charset="-128"/>
                        </a:rPr>
                        <a:t>パケットの再送攻撃</a:t>
                      </a:r>
                    </a:p>
                  </a:txBody>
                  <a:tcPr anchor="ctr"/>
                </a:tc>
                <a:tc>
                  <a:txBody>
                    <a:bodyPr/>
                    <a:lstStyle/>
                    <a:p>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部防御可能</a:t>
                      </a:r>
                    </a:p>
                  </a:txBody>
                  <a:tcPr anchor="ctr"/>
                </a:tc>
                <a:extLst>
                  <a:ext uri="{0D108BD9-81ED-4DB2-BD59-A6C34878D82A}">
                    <a16:rowId xmlns:a16="http://schemas.microsoft.com/office/drawing/2014/main" val="1736936648"/>
                  </a:ext>
                </a:extLst>
              </a:tr>
              <a:tr h="478577">
                <a:tc>
                  <a:txBody>
                    <a:bodyPr/>
                    <a:lstStyle/>
                    <a:p>
                      <a:r>
                        <a:rPr lang="en-US" sz="2000" b="1" dirty="0">
                          <a:solidFill>
                            <a:srgbClr val="C00000"/>
                          </a:solidFill>
                          <a:latin typeface="Meiryo" panose="020B0604030504040204" pitchFamily="34" charset="-128"/>
                          <a:ea typeface="Meiryo" panose="020B0604030504040204" pitchFamily="34" charset="-128"/>
                        </a:rPr>
                        <a:t>DoS / DDoS</a:t>
                      </a:r>
                    </a:p>
                  </a:txBody>
                  <a:tcPr anchor="ctr"/>
                </a:tc>
                <a:tc>
                  <a:txBody>
                    <a:bodyPr/>
                    <a:lstStyle/>
                    <a:p>
                      <a:r>
                        <a:rPr lang="ja-JP" altLang="en-US" sz="2000">
                          <a:latin typeface="Meiryo" panose="020B0604030504040204" pitchFamily="34" charset="-128"/>
                          <a:ea typeface="Meiryo" panose="020B0604030504040204" pitchFamily="34" charset="-128"/>
                        </a:rPr>
                        <a:t>サービス妨害攻撃</a:t>
                      </a:r>
                    </a:p>
                  </a:txBody>
                  <a:tcPr anchor="ctr"/>
                </a:tc>
                <a:tc>
                  <a:txBody>
                    <a:bodyPr/>
                    <a:lstStyle/>
                    <a:p>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防御不可</a:t>
                      </a:r>
                    </a:p>
                  </a:txBody>
                  <a:tcPr anchor="ctr"/>
                </a:tc>
                <a:extLst>
                  <a:ext uri="{0D108BD9-81ED-4DB2-BD59-A6C34878D82A}">
                    <a16:rowId xmlns:a16="http://schemas.microsoft.com/office/drawing/2014/main" val="350676584"/>
                  </a:ext>
                </a:extLst>
              </a:tr>
              <a:tr h="478577">
                <a:tc>
                  <a:txBody>
                    <a:bodyPr/>
                    <a:lstStyle/>
                    <a:p>
                      <a:r>
                        <a:rPr lang="en-US" sz="2000" b="1" dirty="0">
                          <a:solidFill>
                            <a:srgbClr val="C00000"/>
                          </a:solidFill>
                          <a:latin typeface="Meiryo" panose="020B0604030504040204" pitchFamily="34" charset="-128"/>
                          <a:ea typeface="Meiryo" panose="020B0604030504040204" pitchFamily="34" charset="-128"/>
                        </a:rPr>
                        <a:t>Flooding Attack</a:t>
                      </a:r>
                    </a:p>
                  </a:txBody>
                  <a:tcPr anchor="ctr"/>
                </a:tc>
                <a:tc>
                  <a:txBody>
                    <a:bodyPr/>
                    <a:lstStyle/>
                    <a:p>
                      <a:r>
                        <a:rPr lang="ja-JP" altLang="en-US" sz="2000">
                          <a:latin typeface="Meiryo" panose="020B0604030504040204" pitchFamily="34" charset="-128"/>
                          <a:ea typeface="Meiryo" panose="020B0604030504040204" pitchFamily="34" charset="-128"/>
                        </a:rPr>
                        <a:t>大量リクエスト送信</a:t>
                      </a:r>
                    </a:p>
                  </a:txBody>
                  <a:tcPr anchor="ctr"/>
                </a:tc>
                <a:tc>
                  <a:txBody>
                    <a:bodyPr/>
                    <a:lstStyle/>
                    <a:p>
                      <a:r>
                        <a:rPr lang="en-JP" sz="2000" dirty="0">
                          <a:latin typeface="Meiryo" panose="020B0604030504040204" pitchFamily="34" charset="-128"/>
                          <a:ea typeface="Meiryo" panose="020B0604030504040204" pitchFamily="34" charset="-128"/>
                        </a:rPr>
                        <a:t> </a:t>
                      </a:r>
                      <a:r>
                        <a:rPr lang="mn-MN"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防御不可</a:t>
                      </a:r>
                    </a:p>
                  </a:txBody>
                  <a:tcPr anchor="ctr"/>
                </a:tc>
                <a:extLst>
                  <a:ext uri="{0D108BD9-81ED-4DB2-BD59-A6C34878D82A}">
                    <a16:rowId xmlns:a16="http://schemas.microsoft.com/office/drawing/2014/main" val="3647165925"/>
                  </a:ext>
                </a:extLst>
              </a:tr>
              <a:tr h="478577">
                <a:tc>
                  <a:txBody>
                    <a:bodyPr/>
                    <a:lstStyle/>
                    <a:p>
                      <a:r>
                        <a:rPr lang="en-US" sz="2000" b="1" dirty="0">
                          <a:solidFill>
                            <a:srgbClr val="C00000"/>
                          </a:solidFill>
                          <a:latin typeface="Meiryo" panose="020B0604030504040204" pitchFamily="34" charset="-128"/>
                          <a:ea typeface="Meiryo" panose="020B0604030504040204" pitchFamily="34" charset="-128"/>
                        </a:rPr>
                        <a:t>Insider Attack</a:t>
                      </a:r>
                    </a:p>
                  </a:txBody>
                  <a:tcPr anchor="ctr"/>
                </a:tc>
                <a:tc>
                  <a:txBody>
                    <a:bodyPr/>
                    <a:lstStyle/>
                    <a:p>
                      <a:r>
                        <a:rPr lang="ja-JP" altLang="en-US" sz="2000">
                          <a:latin typeface="Meiryo" panose="020B0604030504040204" pitchFamily="34" charset="-128"/>
                          <a:ea typeface="Meiryo" panose="020B0604030504040204" pitchFamily="34" charset="-128"/>
                        </a:rPr>
                        <a:t>内部からの攻撃</a:t>
                      </a:r>
                    </a:p>
                  </a:txBody>
                  <a:tcPr anchor="ctr"/>
                </a:tc>
                <a:tc>
                  <a:txBody>
                    <a:bodyPr/>
                    <a:lstStyle/>
                    <a:p>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防御不可</a:t>
                      </a:r>
                    </a:p>
                  </a:txBody>
                  <a:tcPr anchor="ctr"/>
                </a:tc>
                <a:extLst>
                  <a:ext uri="{0D108BD9-81ED-4DB2-BD59-A6C34878D82A}">
                    <a16:rowId xmlns:a16="http://schemas.microsoft.com/office/drawing/2014/main" val="4040819694"/>
                  </a:ext>
                </a:extLst>
              </a:tr>
              <a:tr h="478577">
                <a:tc>
                  <a:txBody>
                    <a:bodyPr/>
                    <a:lstStyle/>
                    <a:p>
                      <a:r>
                        <a:rPr lang="en-US" sz="2000" b="1" dirty="0">
                          <a:solidFill>
                            <a:srgbClr val="C00000"/>
                          </a:solidFill>
                          <a:latin typeface="Meiryo" panose="020B0604030504040204" pitchFamily="34" charset="-128"/>
                          <a:ea typeface="Meiryo" panose="020B0604030504040204" pitchFamily="34" charset="-128"/>
                        </a:rPr>
                        <a:t>Application Layer Attack</a:t>
                      </a:r>
                    </a:p>
                  </a:txBody>
                  <a:tcPr anchor="ctr"/>
                </a:tc>
                <a:tc>
                  <a:txBody>
                    <a:bodyPr/>
                    <a:lstStyle/>
                    <a:p>
                      <a:r>
                        <a:rPr lang="en-US" sz="2000">
                          <a:latin typeface="Meiryo" panose="020B0604030504040204" pitchFamily="34" charset="-128"/>
                          <a:ea typeface="Meiryo" panose="020B0604030504040204" pitchFamily="34" charset="-128"/>
                        </a:rPr>
                        <a:t>CoAP</a:t>
                      </a:r>
                      <a:r>
                        <a:rPr lang="ja-JP" altLang="en-US" sz="2000">
                          <a:latin typeface="Meiryo" panose="020B0604030504040204" pitchFamily="34" charset="-128"/>
                          <a:ea typeface="Meiryo" panose="020B0604030504040204" pitchFamily="34" charset="-128"/>
                        </a:rPr>
                        <a:t>などの悪用</a:t>
                      </a:r>
                    </a:p>
                  </a:txBody>
                  <a:tcPr anchor="ctr"/>
                </a:tc>
                <a:tc>
                  <a:txBody>
                    <a:bodyPr/>
                    <a:lstStyle/>
                    <a:p>
                      <a:r>
                        <a:rPr lang="en-JP" sz="2000" dirty="0">
                          <a:latin typeface="Meiryo" panose="020B0604030504040204" pitchFamily="34" charset="-128"/>
                          <a:ea typeface="Meiryo" panose="020B0604030504040204" pitchFamily="34" charset="-128"/>
                        </a:rPr>
                        <a:t> </a:t>
                      </a:r>
                      <a:r>
                        <a:rPr lang="mn-MN" sz="2000" dirty="0">
                          <a:latin typeface="Meiryo" panose="020B0604030504040204" pitchFamily="34" charset="-128"/>
                          <a:ea typeface="Meiryo" panose="020B0604030504040204" pitchFamily="34" charset="-128"/>
                        </a:rPr>
                        <a:t>    </a:t>
                      </a:r>
                      <a:r>
                        <a:rPr lang="en-US"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防御不可</a:t>
                      </a:r>
                    </a:p>
                  </a:txBody>
                  <a:tcPr anchor="ctr"/>
                </a:tc>
                <a:extLst>
                  <a:ext uri="{0D108BD9-81ED-4DB2-BD59-A6C34878D82A}">
                    <a16:rowId xmlns:a16="http://schemas.microsoft.com/office/drawing/2014/main" val="689440188"/>
                  </a:ext>
                </a:extLst>
              </a:tr>
              <a:tr h="478577">
                <a:tc>
                  <a:txBody>
                    <a:bodyPr/>
                    <a:lstStyle/>
                    <a:p>
                      <a:r>
                        <a:rPr lang="en-US" sz="2000" b="1" dirty="0">
                          <a:solidFill>
                            <a:srgbClr val="C00000"/>
                          </a:solidFill>
                          <a:latin typeface="Meiryo" panose="020B0604030504040204" pitchFamily="34" charset="-128"/>
                          <a:ea typeface="Meiryo" panose="020B0604030504040204" pitchFamily="34" charset="-128"/>
                        </a:rPr>
                        <a:t>Encrypted Attack</a:t>
                      </a:r>
                    </a:p>
                  </a:txBody>
                  <a:tcPr anchor="ctr"/>
                </a:tc>
                <a:tc>
                  <a:txBody>
                    <a:bodyPr/>
                    <a:lstStyle/>
                    <a:p>
                      <a:r>
                        <a:rPr lang="ja-JP" altLang="en-US" sz="2000">
                          <a:latin typeface="Meiryo" panose="020B0604030504040204" pitchFamily="34" charset="-128"/>
                          <a:ea typeface="Meiryo" panose="020B0604030504040204" pitchFamily="34" charset="-128"/>
                        </a:rPr>
                        <a:t>暗号内に隠れた攻撃</a:t>
                      </a:r>
                    </a:p>
                  </a:txBody>
                  <a:tcPr anchor="ctr"/>
                </a:tc>
                <a:tc>
                  <a:txBody>
                    <a:bodyPr/>
                    <a:lstStyle/>
                    <a:p>
                      <a:r>
                        <a:rPr lang="mn-MN"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検知不可</a:t>
                      </a:r>
                    </a:p>
                  </a:txBody>
                  <a:tcPr anchor="ctr"/>
                </a:tc>
                <a:extLst>
                  <a:ext uri="{0D108BD9-81ED-4DB2-BD59-A6C34878D82A}">
                    <a16:rowId xmlns:a16="http://schemas.microsoft.com/office/drawing/2014/main" val="484658177"/>
                  </a:ext>
                </a:extLst>
              </a:tr>
            </a:tbl>
          </a:graphicData>
        </a:graphic>
      </p:graphicFrame>
      <p:sp>
        <p:nvSpPr>
          <p:cNvPr id="9" name="正方形/長方形 4">
            <a:extLst>
              <a:ext uri="{FF2B5EF4-FFF2-40B4-BE49-F238E27FC236}">
                <a16:creationId xmlns:a16="http://schemas.microsoft.com/office/drawing/2014/main" id="{406723A2-332C-8E0F-44C8-AA9EAA592FB6}"/>
              </a:ext>
            </a:extLst>
          </p:cNvPr>
          <p:cNvSpPr/>
          <p:nvPr/>
        </p:nvSpPr>
        <p:spPr>
          <a:xfrm>
            <a:off x="192508" y="3068963"/>
            <a:ext cx="8831179" cy="274229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10" name="Slide Number Placeholder 9">
            <a:extLst>
              <a:ext uri="{FF2B5EF4-FFF2-40B4-BE49-F238E27FC236}">
                <a16:creationId xmlns:a16="http://schemas.microsoft.com/office/drawing/2014/main" id="{B4765901-F4EC-C372-FA29-EA3152E690A9}"/>
              </a:ext>
            </a:extLst>
          </p:cNvPr>
          <p:cNvSpPr>
            <a:spLocks noGrp="1"/>
          </p:cNvSpPr>
          <p:nvPr>
            <p:ph type="sldNum" sz="quarter" idx="12"/>
          </p:nvPr>
        </p:nvSpPr>
        <p:spPr/>
        <p:txBody>
          <a:bodyPr/>
          <a:lstStyle/>
          <a:p>
            <a:fld id="{828F3BD4-1AF2-D144-8129-4D42AD448F5E}" type="slidenum">
              <a:rPr lang="en-JP" smtClean="0"/>
              <a:t>47</a:t>
            </a:fld>
            <a:endParaRPr lang="en-JP"/>
          </a:p>
        </p:txBody>
      </p:sp>
      <p:sp>
        <p:nvSpPr>
          <p:cNvPr id="12" name="正方形/長方形 4">
            <a:extLst>
              <a:ext uri="{FF2B5EF4-FFF2-40B4-BE49-F238E27FC236}">
                <a16:creationId xmlns:a16="http://schemas.microsoft.com/office/drawing/2014/main" id="{11E3D561-7946-E284-7663-93A8EBDA8D28}"/>
              </a:ext>
            </a:extLst>
          </p:cNvPr>
          <p:cNvSpPr/>
          <p:nvPr/>
        </p:nvSpPr>
        <p:spPr>
          <a:xfrm>
            <a:off x="168443" y="1211648"/>
            <a:ext cx="8831179" cy="1747396"/>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Tree>
    <p:extLst>
      <p:ext uri="{BB962C8B-B14F-4D97-AF65-F5344CB8AC3E}">
        <p14:creationId xmlns:p14="http://schemas.microsoft.com/office/powerpoint/2010/main" val="3237348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A23839E-EFBD-7E0B-1C7D-814E722792E6}"/>
              </a:ext>
            </a:extLst>
          </p:cNvPr>
          <p:cNvSpPr>
            <a:spLocks noGrp="1"/>
          </p:cNvSpPr>
          <p:nvPr>
            <p:ph type="sldNum" sz="quarter" idx="12"/>
          </p:nvPr>
        </p:nvSpPr>
        <p:spPr/>
        <p:txBody>
          <a:bodyPr/>
          <a:lstStyle/>
          <a:p>
            <a:fld id="{828F3BD4-1AF2-D144-8129-4D42AD448F5E}" type="slidenum">
              <a:rPr lang="en-JP" smtClean="0"/>
              <a:pPr/>
              <a:t>48</a:t>
            </a:fld>
            <a:endParaRPr lang="en-JP" dirty="0"/>
          </a:p>
        </p:txBody>
      </p:sp>
      <p:sp>
        <p:nvSpPr>
          <p:cNvPr id="5" name="Rectangle: Rounded Corners 4">
            <a:extLst>
              <a:ext uri="{FF2B5EF4-FFF2-40B4-BE49-F238E27FC236}">
                <a16:creationId xmlns:a16="http://schemas.microsoft.com/office/drawing/2014/main" id="{6B25A1CD-0199-43CC-2E09-A8C08B3DDBA5}"/>
              </a:ext>
            </a:extLst>
          </p:cNvPr>
          <p:cNvSpPr/>
          <p:nvPr/>
        </p:nvSpPr>
        <p:spPr>
          <a:xfrm>
            <a:off x="382691" y="916856"/>
            <a:ext cx="2317332" cy="2366666"/>
          </a:xfrm>
          <a:prstGeom prst="roundRect">
            <a:avLst/>
          </a:prstGeom>
          <a:solidFill>
            <a:schemeClr val="tx2">
              <a:lumMod val="10000"/>
              <a:lumOff val="9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a:solidFill>
                  <a:schemeClr val="tx1"/>
                </a:solidFill>
                <a:latin typeface="Meiryo" panose="020B0604030504040204" pitchFamily="34" charset="-128"/>
                <a:ea typeface="Meiryo" panose="020B0604030504040204" pitchFamily="34" charset="-128"/>
              </a:rPr>
              <a:t>層 </a:t>
            </a:r>
            <a:r>
              <a:rPr lang="en-US" altLang="ja-JP" sz="1600" dirty="0">
                <a:solidFill>
                  <a:schemeClr val="tx1"/>
                </a:solidFill>
                <a:latin typeface="Meiryo" panose="020B0604030504040204" pitchFamily="34" charset="-128"/>
                <a:ea typeface="Meiryo" panose="020B0604030504040204" pitchFamily="34" charset="-128"/>
              </a:rPr>
              <a:t>1: </a:t>
            </a:r>
            <a:r>
              <a:rPr lang="en-US" sz="1600" dirty="0" err="1">
                <a:solidFill>
                  <a:schemeClr val="tx1"/>
                </a:solidFill>
                <a:latin typeface="Meiryo" panose="020B0604030504040204" pitchFamily="34" charset="-128"/>
                <a:ea typeface="Meiryo" panose="020B0604030504040204" pitchFamily="34" charset="-128"/>
              </a:rPr>
              <a:t>VLANIoT</a:t>
            </a:r>
            <a:r>
              <a:rPr lang="ja-JP" altLang="en-US" sz="1600">
                <a:solidFill>
                  <a:schemeClr val="tx1"/>
                </a:solidFill>
                <a:latin typeface="Meiryo" panose="020B0604030504040204" pitchFamily="34" charset="-128"/>
                <a:ea typeface="Meiryo" panose="020B0604030504040204" pitchFamily="34" charset="-128"/>
              </a:rPr>
              <a:t>デバイスを独立ネットワークに分離する→ 物理的隔離</a:t>
            </a:r>
            <a:endParaRPr lang="en-US" sz="1600" dirty="0">
              <a:solidFill>
                <a:schemeClr val="tx1"/>
              </a:solidFill>
              <a:latin typeface="Meiryo" panose="020B0604030504040204" pitchFamily="34" charset="-128"/>
              <a:ea typeface="Meiryo" panose="020B0604030504040204" pitchFamily="34" charset="-128"/>
            </a:endParaRPr>
          </a:p>
        </p:txBody>
      </p:sp>
      <p:sp>
        <p:nvSpPr>
          <p:cNvPr id="6" name="Rectangle: Rounded Corners 4">
            <a:extLst>
              <a:ext uri="{FF2B5EF4-FFF2-40B4-BE49-F238E27FC236}">
                <a16:creationId xmlns:a16="http://schemas.microsoft.com/office/drawing/2014/main" id="{E01DD255-6477-657B-1E45-2AC28953C90D}"/>
              </a:ext>
            </a:extLst>
          </p:cNvPr>
          <p:cNvSpPr/>
          <p:nvPr/>
        </p:nvSpPr>
        <p:spPr>
          <a:xfrm>
            <a:off x="3219868" y="916856"/>
            <a:ext cx="2317332" cy="2355892"/>
          </a:xfrm>
          <a:prstGeom prst="roundRect">
            <a:avLst/>
          </a:prstGeom>
          <a:solidFill>
            <a:schemeClr val="tx2">
              <a:lumMod val="10000"/>
              <a:lumOff val="9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a:solidFill>
                  <a:schemeClr val="tx1"/>
                </a:solidFill>
                <a:latin typeface="Meiryo" panose="020B0604030504040204" pitchFamily="34" charset="-128"/>
                <a:ea typeface="Meiryo" panose="020B0604030504040204" pitchFamily="34" charset="-128"/>
              </a:rPr>
              <a:t>層 </a:t>
            </a:r>
            <a:r>
              <a:rPr lang="en-US" altLang="ja-JP" sz="1600" dirty="0">
                <a:solidFill>
                  <a:schemeClr val="tx1"/>
                </a:solidFill>
                <a:latin typeface="Meiryo" panose="020B0604030504040204" pitchFamily="34" charset="-128"/>
                <a:ea typeface="Meiryo" panose="020B0604030504040204" pitchFamily="34" charset="-128"/>
              </a:rPr>
              <a:t>2: </a:t>
            </a:r>
            <a:r>
              <a:rPr lang="en-US" sz="1600" dirty="0">
                <a:solidFill>
                  <a:schemeClr val="tx1"/>
                </a:solidFill>
                <a:latin typeface="Meiryo" panose="020B0604030504040204" pitchFamily="34" charset="-128"/>
                <a:ea typeface="Meiryo" panose="020B0604030504040204" pitchFamily="34" charset="-128"/>
              </a:rPr>
              <a:t>MAC Filter</a:t>
            </a:r>
            <a:r>
              <a:rPr lang="ja-JP" altLang="en-US" sz="1600">
                <a:solidFill>
                  <a:schemeClr val="tx1"/>
                </a:solidFill>
                <a:latin typeface="Meiryo" panose="020B0604030504040204" pitchFamily="34" charset="-128"/>
                <a:ea typeface="Meiryo" panose="020B0604030504040204" pitchFamily="34" charset="-128"/>
              </a:rPr>
              <a:t>登録済み</a:t>
            </a:r>
            <a:r>
              <a:rPr lang="en-US" sz="1600" dirty="0">
                <a:solidFill>
                  <a:schemeClr val="tx1"/>
                </a:solidFill>
                <a:latin typeface="Meiryo" panose="020B0604030504040204" pitchFamily="34" charset="-128"/>
                <a:ea typeface="Meiryo" panose="020B0604030504040204" pitchFamily="34" charset="-128"/>
              </a:rPr>
              <a:t>MAC</a:t>
            </a:r>
            <a:r>
              <a:rPr lang="ja-JP" altLang="en-US" sz="1600">
                <a:solidFill>
                  <a:schemeClr val="tx1"/>
                </a:solidFill>
                <a:latin typeface="Meiryo" panose="020B0604030504040204" pitchFamily="34" charset="-128"/>
                <a:ea typeface="Meiryo" panose="020B0604030504040204" pitchFamily="34" charset="-128"/>
              </a:rPr>
              <a:t>アドレスのみ許可未登録デバイス→ 接続拒否</a:t>
            </a:r>
            <a:endParaRPr lang="en-US" sz="1600" dirty="0">
              <a:solidFill>
                <a:schemeClr val="tx1"/>
              </a:solidFill>
              <a:latin typeface="Meiryo" panose="020B0604030504040204" pitchFamily="34" charset="-128"/>
              <a:ea typeface="Meiryo" panose="020B0604030504040204" pitchFamily="34" charset="-128"/>
            </a:endParaRPr>
          </a:p>
        </p:txBody>
      </p:sp>
      <p:sp>
        <p:nvSpPr>
          <p:cNvPr id="7" name="Rectangle: Rounded Corners 4">
            <a:extLst>
              <a:ext uri="{FF2B5EF4-FFF2-40B4-BE49-F238E27FC236}">
                <a16:creationId xmlns:a16="http://schemas.microsoft.com/office/drawing/2014/main" id="{9AD9CCB9-3178-BC90-D221-4F2AE393C1DC}"/>
              </a:ext>
            </a:extLst>
          </p:cNvPr>
          <p:cNvSpPr/>
          <p:nvPr/>
        </p:nvSpPr>
        <p:spPr>
          <a:xfrm>
            <a:off x="6057045" y="916856"/>
            <a:ext cx="2458305" cy="2355892"/>
          </a:xfrm>
          <a:prstGeom prst="roundRect">
            <a:avLst/>
          </a:prstGeom>
          <a:solidFill>
            <a:schemeClr val="tx2">
              <a:lumMod val="10000"/>
              <a:lumOff val="9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a:solidFill>
                  <a:schemeClr val="tx1"/>
                </a:solidFill>
                <a:latin typeface="Meiryo" panose="020B0604030504040204" pitchFamily="34" charset="-128"/>
                <a:ea typeface="Meiryo" panose="020B0604030504040204" pitchFamily="34" charset="-128"/>
              </a:rPr>
              <a:t>層 </a:t>
            </a:r>
            <a:r>
              <a:rPr lang="en-US" altLang="ja-JP" sz="1600" dirty="0">
                <a:solidFill>
                  <a:schemeClr val="tx1"/>
                </a:solidFill>
                <a:latin typeface="Meiryo" panose="020B0604030504040204" pitchFamily="34" charset="-128"/>
                <a:ea typeface="Meiryo" panose="020B0604030504040204" pitchFamily="34" charset="-128"/>
              </a:rPr>
              <a:t>3: </a:t>
            </a:r>
            <a:r>
              <a:rPr lang="en-US" sz="1600" dirty="0">
                <a:solidFill>
                  <a:schemeClr val="tx1"/>
                </a:solidFill>
                <a:latin typeface="Meiryo" panose="020B0604030504040204" pitchFamily="34" charset="-128"/>
                <a:ea typeface="Meiryo" panose="020B0604030504040204" pitchFamily="34" charset="-128"/>
              </a:rPr>
              <a:t>ML-IDS</a:t>
            </a:r>
            <a:r>
              <a:rPr lang="ja-JP" altLang="en-US" sz="1600">
                <a:solidFill>
                  <a:schemeClr val="tx1"/>
                </a:solidFill>
                <a:latin typeface="Meiryo" panose="020B0604030504040204" pitchFamily="34" charset="-128"/>
                <a:ea typeface="Meiryo" panose="020B0604030504040204" pitchFamily="34" charset="-128"/>
              </a:rPr>
              <a:t>通過したパケットを全内容検査異常パターンを→ 検知・遮断</a:t>
            </a:r>
            <a:endParaRPr lang="en-US" sz="1600" dirty="0">
              <a:solidFill>
                <a:schemeClr val="tx1"/>
              </a:solidFill>
              <a:latin typeface="Meiryo" panose="020B0604030504040204" pitchFamily="34" charset="-128"/>
              <a:ea typeface="Meiryo" panose="020B0604030504040204" pitchFamily="34" charset="-128"/>
            </a:endParaRPr>
          </a:p>
        </p:txBody>
      </p:sp>
      <p:sp>
        <p:nvSpPr>
          <p:cNvPr id="10" name="Shape 0">
            <a:extLst>
              <a:ext uri="{FF2B5EF4-FFF2-40B4-BE49-F238E27FC236}">
                <a16:creationId xmlns:a16="http://schemas.microsoft.com/office/drawing/2014/main" id="{0AE779E1-A87B-2827-0082-01EAD9A22511}"/>
              </a:ext>
            </a:extLst>
          </p:cNvPr>
          <p:cNvSpPr/>
          <p:nvPr/>
        </p:nvSpPr>
        <p:spPr>
          <a:xfrm>
            <a:off x="0" y="0"/>
            <a:ext cx="9144000" cy="484528"/>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r>
              <a:rPr lang="en-US" altLang="ja-JP" sz="2800" b="0" i="0" dirty="0">
                <a:solidFill>
                  <a:srgbClr val="000000"/>
                </a:solidFill>
                <a:effectLst/>
                <a:latin typeface="Meiryo" panose="020B0604030504040204" pitchFamily="34" charset="-128"/>
                <a:ea typeface="Meiryo" panose="020B0604030504040204" pitchFamily="34" charset="-128"/>
              </a:rPr>
              <a:t>3</a:t>
            </a:r>
            <a:r>
              <a:rPr lang="ja-JP" altLang="en-US" sz="2800" b="0" i="0">
                <a:solidFill>
                  <a:srgbClr val="000000"/>
                </a:solidFill>
                <a:effectLst/>
                <a:latin typeface="Meiryo" panose="020B0604030504040204" pitchFamily="34" charset="-128"/>
                <a:ea typeface="Meiryo" panose="020B0604030504040204" pitchFamily="34" charset="-128"/>
              </a:rPr>
              <a:t>層防御</a:t>
            </a:r>
            <a:r>
              <a:rPr lang="mn-MN" altLang="ja-JP" sz="2800" b="0" i="0" dirty="0">
                <a:solidFill>
                  <a:srgbClr val="000000"/>
                </a:solidFill>
                <a:effectLst/>
                <a:latin typeface="Meiryo" panose="020B0604030504040204" pitchFamily="34" charset="-128"/>
                <a:ea typeface="Meiryo" panose="020B0604030504040204" pitchFamily="34" charset="-128"/>
              </a:rPr>
              <a:t> </a:t>
            </a:r>
            <a:r>
              <a:rPr lang="en-US" sz="2800" b="0" i="0" dirty="0">
                <a:solidFill>
                  <a:srgbClr val="000000"/>
                </a:solidFill>
                <a:effectLst/>
                <a:latin typeface="Meiryo" panose="020B0604030504040204" pitchFamily="34" charset="-128"/>
                <a:ea typeface="Meiryo" panose="020B0604030504040204" pitchFamily="34" charset="-128"/>
              </a:rPr>
              <a:t>Plain CoAP </a:t>
            </a:r>
            <a:r>
              <a:rPr lang="ja-JP" altLang="en-US" sz="2800" b="0" i="0">
                <a:solidFill>
                  <a:srgbClr val="000000"/>
                </a:solidFill>
                <a:effectLst/>
                <a:latin typeface="Meiryo" panose="020B0604030504040204" pitchFamily="34" charset="-128"/>
                <a:ea typeface="Meiryo" panose="020B0604030504040204" pitchFamily="34" charset="-128"/>
              </a:rPr>
              <a:t>でも内部</a:t>
            </a:r>
            <a:r>
              <a:rPr lang="en-US" sz="2800" b="0" i="0" dirty="0">
                <a:solidFill>
                  <a:srgbClr val="000000"/>
                </a:solidFill>
                <a:effectLst/>
                <a:latin typeface="Meiryo" panose="020B0604030504040204" pitchFamily="34" charset="-128"/>
                <a:ea typeface="Meiryo" panose="020B0604030504040204" pitchFamily="34" charset="-128"/>
              </a:rPr>
              <a:t>LAN</a:t>
            </a:r>
            <a:r>
              <a:rPr lang="ja-JP" altLang="en-US" sz="2800" b="0" i="0">
                <a:solidFill>
                  <a:srgbClr val="000000"/>
                </a:solidFill>
                <a:effectLst/>
                <a:latin typeface="Meiryo" panose="020B0604030504040204" pitchFamily="34" charset="-128"/>
                <a:ea typeface="Meiryo" panose="020B0604030504040204" pitchFamily="34" charset="-128"/>
              </a:rPr>
              <a:t>が安全な理由</a:t>
            </a:r>
            <a:endParaRPr lang="en-JP" sz="2800" dirty="0">
              <a:latin typeface="Meiryo" panose="020B0604030504040204" pitchFamily="34" charset="-128"/>
              <a:ea typeface="Meiryo" panose="020B0604030504040204" pitchFamily="34" charset="-128"/>
            </a:endParaRPr>
          </a:p>
          <a:p>
            <a:endParaRPr lang="en-JP" sz="2800" b="1" dirty="0">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5FF1B29C-0AE1-A7F3-8602-E6B5DD1B0618}"/>
              </a:ext>
            </a:extLst>
          </p:cNvPr>
          <p:cNvSpPr txBox="1"/>
          <p:nvPr/>
        </p:nvSpPr>
        <p:spPr>
          <a:xfrm>
            <a:off x="622300" y="4086659"/>
            <a:ext cx="7708900" cy="1477328"/>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cs typeface="Times New Roman" panose="02020603050405020304" pitchFamily="18" charset="0"/>
              </a:rPr>
              <a:t>センサ</a:t>
            </a:r>
            <a:r>
              <a:rPr lang="en-US" altLang="ja-JP" dirty="0">
                <a:latin typeface="Meiryo" panose="020B0604030504040204" pitchFamily="34" charset="-128"/>
                <a:ea typeface="Meiryo" panose="020B0604030504040204" pitchFamily="34" charset="-128"/>
                <a:cs typeface="Times New Roman" panose="02020603050405020304" pitchFamily="18" charset="0"/>
              </a:rPr>
              <a:t>〜</a:t>
            </a:r>
            <a:r>
              <a:rPr lang="en-US" dirty="0">
                <a:latin typeface="Meiryo" panose="020B0604030504040204" pitchFamily="34" charset="-128"/>
                <a:ea typeface="Meiryo" panose="020B0604030504040204" pitchFamily="34" charset="-128"/>
                <a:cs typeface="Times New Roman" panose="02020603050405020304" pitchFamily="18" charset="0"/>
              </a:rPr>
              <a:t>Gateway</a:t>
            </a:r>
            <a:r>
              <a:rPr lang="ja-JP" altLang="en-US">
                <a:latin typeface="Meiryo" panose="020B0604030504040204" pitchFamily="34" charset="-128"/>
                <a:ea typeface="Meiryo" panose="020B0604030504040204" pitchFamily="34" charset="-128"/>
                <a:cs typeface="Times New Roman" panose="02020603050405020304" pitchFamily="18" charset="0"/>
              </a:rPr>
              <a:t>間は</a:t>
            </a:r>
            <a:r>
              <a:rPr lang="en-US" dirty="0">
                <a:latin typeface="Meiryo" panose="020B0604030504040204" pitchFamily="34" charset="-128"/>
                <a:ea typeface="Meiryo" panose="020B0604030504040204" pitchFamily="34" charset="-128"/>
                <a:cs typeface="Times New Roman" panose="02020603050405020304" pitchFamily="18" charset="0"/>
              </a:rPr>
              <a:t>Plain CoAP</a:t>
            </a:r>
            <a:r>
              <a:rPr lang="ja-JP" altLang="en-US">
                <a:latin typeface="Meiryo" panose="020B0604030504040204" pitchFamily="34" charset="-128"/>
                <a:ea typeface="Meiryo" panose="020B0604030504040204" pitchFamily="34" charset="-128"/>
                <a:cs typeface="Times New Roman" panose="02020603050405020304" pitchFamily="18" charset="0"/>
              </a:rPr>
              <a:t>を想定しており，</a:t>
            </a:r>
            <a:r>
              <a:rPr lang="en-US" dirty="0">
                <a:latin typeface="Meiryo" panose="020B0604030504040204" pitchFamily="34" charset="-128"/>
                <a:ea typeface="Meiryo" panose="020B0604030504040204" pitchFamily="34" charset="-128"/>
                <a:cs typeface="Times New Roman" panose="02020603050405020304" pitchFamily="18" charset="0"/>
              </a:rPr>
              <a:t>VLAN</a:t>
            </a:r>
            <a:r>
              <a:rPr lang="ja-JP" altLang="en-US">
                <a:latin typeface="Meiryo" panose="020B0604030504040204" pitchFamily="34" charset="-128"/>
                <a:ea typeface="Meiryo" panose="020B0604030504040204" pitchFamily="34" charset="-128"/>
                <a:cs typeface="Times New Roman" panose="02020603050405020304" pitchFamily="18" charset="0"/>
              </a:rPr>
              <a:t>セグメンテーションと</a:t>
            </a:r>
            <a:r>
              <a:rPr lang="en-US" dirty="0">
                <a:latin typeface="Meiryo" panose="020B0604030504040204" pitchFamily="34" charset="-128"/>
                <a:ea typeface="Meiryo" panose="020B0604030504040204" pitchFamily="34" charset="-128"/>
                <a:cs typeface="Times New Roman" panose="02020603050405020304" pitchFamily="18" charset="0"/>
              </a:rPr>
              <a:t>MAC</a:t>
            </a:r>
            <a:r>
              <a:rPr lang="ja-JP" altLang="en-US">
                <a:latin typeface="Meiryo" panose="020B0604030504040204" pitchFamily="34" charset="-128"/>
                <a:ea typeface="Meiryo" panose="020B0604030504040204" pitchFamily="34" charset="-128"/>
                <a:cs typeface="Times New Roman" panose="02020603050405020304" pitchFamily="18" charset="0"/>
              </a:rPr>
              <a:t>フィルタリングにより内部</a:t>
            </a:r>
            <a:r>
              <a:rPr lang="en-US" dirty="0">
                <a:latin typeface="Meiryo" panose="020B0604030504040204" pitchFamily="34" charset="-128"/>
                <a:ea typeface="Meiryo" panose="020B0604030504040204" pitchFamily="34" charset="-128"/>
                <a:cs typeface="Times New Roman" panose="02020603050405020304" pitchFamily="18" charset="0"/>
              </a:rPr>
              <a:t>LAN</a:t>
            </a:r>
            <a:r>
              <a:rPr lang="ja-JP" altLang="en-US">
                <a:latin typeface="Meiryo" panose="020B0604030504040204" pitchFamily="34" charset="-128"/>
                <a:ea typeface="Meiryo" panose="020B0604030504040204" pitchFamily="34" charset="-128"/>
                <a:cs typeface="Times New Roman" panose="02020603050405020304" pitchFamily="18" charset="0"/>
              </a:rPr>
              <a:t>を保護できるのではないかと考えています。</a:t>
            </a:r>
            <a:br>
              <a:rPr lang="ja-JP" altLang="en-US">
                <a:latin typeface="Meiryo" panose="020B0604030504040204" pitchFamily="34" charset="-128"/>
                <a:ea typeface="Meiryo" panose="020B0604030504040204" pitchFamily="34" charset="-128"/>
                <a:cs typeface="Times New Roman" panose="02020603050405020304" pitchFamily="18" charset="0"/>
              </a:rPr>
            </a:br>
            <a:r>
              <a:rPr lang="ja-JP" altLang="en-US">
                <a:latin typeface="Meiryo" panose="020B0604030504040204" pitchFamily="34" charset="-128"/>
                <a:ea typeface="Meiryo" panose="020B0604030504040204" pitchFamily="34" charset="-128"/>
                <a:cs typeface="Times New Roman" panose="02020603050405020304" pitchFamily="18" charset="0"/>
              </a:rPr>
              <a:t>これにより，未登録デバイスは</a:t>
            </a:r>
            <a:r>
              <a:rPr lang="en-US" dirty="0">
                <a:latin typeface="Meiryo" panose="020B0604030504040204" pitchFamily="34" charset="-128"/>
                <a:ea typeface="Meiryo" panose="020B0604030504040204" pitchFamily="34" charset="-128"/>
                <a:cs typeface="Times New Roman" panose="02020603050405020304" pitchFamily="18" charset="0"/>
              </a:rPr>
              <a:t>IoT VLAN</a:t>
            </a:r>
            <a:r>
              <a:rPr lang="ja-JP" altLang="en-US">
                <a:latin typeface="Meiryo" panose="020B0604030504040204" pitchFamily="34" charset="-128"/>
                <a:ea typeface="Meiryo" panose="020B0604030504040204" pitchFamily="34" charset="-128"/>
                <a:cs typeface="Times New Roman" panose="02020603050405020304" pitchFamily="18" charset="0"/>
              </a:rPr>
              <a:t>に接続できず，平文通信のリスクを軽減できると考えています。</a:t>
            </a:r>
            <a:endParaRPr lang="en-JP" dirty="0">
              <a:latin typeface="Meiryo" panose="020B0604030504040204" pitchFamily="34" charset="-128"/>
              <a:ea typeface="Meiryo" panose="020B0604030504040204" pitchFamily="34" charset="-128"/>
              <a:cs typeface="Times New Roman" panose="02020603050405020304" pitchFamily="18" charset="0"/>
            </a:endParaRPr>
          </a:p>
        </p:txBody>
      </p:sp>
    </p:spTree>
    <p:extLst>
      <p:ext uri="{BB962C8B-B14F-4D97-AF65-F5344CB8AC3E}">
        <p14:creationId xmlns:p14="http://schemas.microsoft.com/office/powerpoint/2010/main" val="7608195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023048-3151-3585-B7D9-6616E0DAE645}"/>
              </a:ext>
            </a:extLst>
          </p:cNvPr>
          <p:cNvSpPr txBox="1"/>
          <p:nvPr/>
        </p:nvSpPr>
        <p:spPr>
          <a:xfrm>
            <a:off x="557684" y="357819"/>
            <a:ext cx="4572000" cy="1200329"/>
          </a:xfrm>
          <a:prstGeom prst="rect">
            <a:avLst/>
          </a:prstGeom>
          <a:noFill/>
        </p:spPr>
        <p:txBody>
          <a:bodyPr wrap="square">
            <a:spAutoFit/>
          </a:bodyPr>
          <a:lstStyle/>
          <a:p>
            <a:pPr rtl="0">
              <a:spcBef>
                <a:spcPts val="0"/>
              </a:spcBef>
              <a:spcAft>
                <a:spcPts val="0"/>
              </a:spcAft>
            </a:pPr>
            <a:r>
              <a:rPr lang="ja-JP" altLang="en-US" sz="3600" b="0" i="0" u="none" strike="noStrike">
                <a:solidFill>
                  <a:srgbClr val="000000"/>
                </a:solidFill>
                <a:effectLst/>
                <a:latin typeface="Meiryo" panose="020B0604030504040204" pitchFamily="34" charset="-128"/>
                <a:ea typeface="Meiryo" panose="020B0604030504040204" pitchFamily="34" charset="-128"/>
              </a:rPr>
              <a:t>関連研究</a:t>
            </a:r>
            <a:r>
              <a:rPr lang="mn-MN" altLang="ja-JP" sz="3600" b="0" i="0" u="none" strike="noStrike" dirty="0">
                <a:solidFill>
                  <a:srgbClr val="000000"/>
                </a:solidFill>
                <a:effectLst/>
                <a:latin typeface="Meiryo" panose="020B0604030504040204" pitchFamily="34" charset="-128"/>
                <a:ea typeface="Meiryo" panose="020B0604030504040204" pitchFamily="34" charset="-128"/>
              </a:rPr>
              <a:t>2</a:t>
            </a:r>
            <a:r>
              <a:rPr lang="en-US" altLang="ja-JP" sz="3600" b="0" i="0" u="none" strike="noStrike" baseline="-25000" dirty="0">
                <a:solidFill>
                  <a:srgbClr val="000000"/>
                </a:solidFill>
                <a:effectLst/>
                <a:latin typeface="Meiryo" panose="020B0604030504040204" pitchFamily="34" charset="-128"/>
                <a:ea typeface="Meiryo" panose="020B0604030504040204" pitchFamily="34" charset="-128"/>
              </a:rPr>
              <a:t>[</a:t>
            </a:r>
            <a:r>
              <a:rPr lang="en-US" altLang="ja-JP" sz="3600" baseline="-25000" dirty="0">
                <a:solidFill>
                  <a:srgbClr val="000000"/>
                </a:solidFill>
                <a:latin typeface="Meiryo" panose="020B0604030504040204" pitchFamily="34" charset="-128"/>
                <a:ea typeface="Meiryo" panose="020B0604030504040204" pitchFamily="34" charset="-128"/>
              </a:rPr>
              <a:t>9</a:t>
            </a:r>
            <a:r>
              <a:rPr lang="en-US" altLang="ja-JP" sz="3600" b="0" i="0" u="none" strike="noStrike" baseline="-25000" dirty="0">
                <a:solidFill>
                  <a:srgbClr val="000000"/>
                </a:solidFill>
                <a:effectLst/>
                <a:latin typeface="Meiryo" panose="020B0604030504040204" pitchFamily="34" charset="-128"/>
                <a:ea typeface="Meiryo" panose="020B0604030504040204" pitchFamily="34" charset="-128"/>
              </a:rPr>
              <a:t>]</a:t>
            </a:r>
            <a:br>
              <a:rPr lang="ja-JP" altLang="en-US" sz="3600">
                <a:latin typeface="Meiryo" panose="020B0604030504040204" pitchFamily="34" charset="-128"/>
                <a:ea typeface="Meiryo" panose="020B0604030504040204" pitchFamily="34" charset="-128"/>
              </a:rPr>
            </a:br>
            <a:endParaRPr lang="en-JP" sz="3600" dirty="0">
              <a:latin typeface="Meiryo" panose="020B0604030504040204" pitchFamily="34" charset="-128"/>
              <a:ea typeface="Meiryo" panose="020B0604030504040204" pitchFamily="34" charset="-128"/>
            </a:endParaRPr>
          </a:p>
        </p:txBody>
      </p:sp>
      <p:sp>
        <p:nvSpPr>
          <p:cNvPr id="7" name="TextBox 6">
            <a:extLst>
              <a:ext uri="{FF2B5EF4-FFF2-40B4-BE49-F238E27FC236}">
                <a16:creationId xmlns:a16="http://schemas.microsoft.com/office/drawing/2014/main" id="{F6811410-0372-D1C8-CD3B-E699CA288B62}"/>
              </a:ext>
            </a:extLst>
          </p:cNvPr>
          <p:cNvSpPr txBox="1"/>
          <p:nvPr/>
        </p:nvSpPr>
        <p:spPr>
          <a:xfrm>
            <a:off x="349832" y="1105287"/>
            <a:ext cx="8553536" cy="5201424"/>
          </a:xfrm>
          <a:prstGeom prst="rect">
            <a:avLst/>
          </a:prstGeom>
          <a:noFill/>
        </p:spPr>
        <p:txBody>
          <a:bodyPr wrap="square">
            <a:spAutoFit/>
          </a:bodyPr>
          <a:lstStyle/>
          <a:p>
            <a:r>
              <a:rPr lang="en-US" sz="2000" b="1" dirty="0" err="1">
                <a:latin typeface="Meiryo" panose="020B0604030504040204" pitchFamily="34" charset="-128"/>
                <a:ea typeface="Meiryo" panose="020B0604030504040204" pitchFamily="34" charset="-128"/>
              </a:rPr>
              <a:t>出典</a:t>
            </a:r>
            <a:r>
              <a:rPr lang="en-US" sz="2000" b="1" dirty="0">
                <a:latin typeface="Meiryo" panose="020B0604030504040204" pitchFamily="34" charset="-128"/>
                <a:ea typeface="Meiryo" panose="020B0604030504040204" pitchFamily="34" charset="-128"/>
              </a:rPr>
              <a:t>: </a:t>
            </a:r>
            <a:r>
              <a:rPr lang="en-US" sz="2000" dirty="0">
                <a:latin typeface="Meiryo" panose="020B0604030504040204" pitchFamily="34" charset="-128"/>
                <a:ea typeface="Meiryo" panose="020B0604030504040204" pitchFamily="34" charset="-128"/>
              </a:rPr>
              <a:t>Electronics, MDPI 2023</a:t>
            </a:r>
          </a:p>
          <a:p>
            <a:r>
              <a:rPr lang="ja-JP" altLang="en-US" sz="2000">
                <a:latin typeface="Meiryo" panose="020B0604030504040204" pitchFamily="34" charset="-128"/>
                <a:ea typeface="Meiryo" panose="020B0604030504040204" pitchFamily="34" charset="-128"/>
              </a:rPr>
              <a:t>・アプリケーション層における</a:t>
            </a:r>
            <a:r>
              <a:rPr lang="en-US" sz="2000" dirty="0">
                <a:latin typeface="Meiryo" panose="020B0604030504040204" pitchFamily="34" charset="-128"/>
                <a:ea typeface="Meiryo" panose="020B0604030504040204" pitchFamily="34" charset="-128"/>
              </a:rPr>
              <a:t>CoAP DoS</a:t>
            </a:r>
            <a:r>
              <a:rPr lang="ja-JP" altLang="en-US" sz="2000">
                <a:latin typeface="Meiryo" panose="020B0604030504040204" pitchFamily="34" charset="-128"/>
                <a:ea typeface="Meiryo" panose="020B0604030504040204" pitchFamily="34" charset="-128"/>
              </a:rPr>
              <a:t>攻撃の検知手法を提案</a:t>
            </a:r>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a:t>
            </a:r>
            <a:r>
              <a:rPr lang="en-US" sz="2000" dirty="0">
                <a:latin typeface="Meiryo" panose="020B0604030504040204" pitchFamily="34" charset="-128"/>
                <a:ea typeface="Meiryo" panose="020B0604030504040204" pitchFamily="34" charset="-128"/>
              </a:rPr>
              <a:t>CoAP</a:t>
            </a:r>
            <a:r>
              <a:rPr lang="ja-JP" altLang="en-US" sz="2000">
                <a:latin typeface="Meiryo" panose="020B0604030504040204" pitchFamily="34" charset="-128"/>
                <a:ea typeface="Meiryo" panose="020B0604030504040204" pitchFamily="34" charset="-128"/>
              </a:rPr>
              <a:t>プロトコル固有の特徴量を活用</a:t>
            </a:r>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・機械学習ベースの検知システムを構築</a:t>
            </a:r>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a:t>
            </a:r>
            <a:r>
              <a:rPr lang="en-US" sz="2000" dirty="0">
                <a:latin typeface="Meiryo" panose="020B0604030504040204" pitchFamily="34" charset="-128"/>
                <a:ea typeface="Meiryo" panose="020B0604030504040204" pitchFamily="34" charset="-128"/>
              </a:rPr>
              <a:t>IoT</a:t>
            </a:r>
            <a:r>
              <a:rPr lang="ja-JP" altLang="en-US" sz="2000">
                <a:latin typeface="Meiryo" panose="020B0604030504040204" pitchFamily="34" charset="-128"/>
                <a:ea typeface="Meiryo" panose="020B0604030504040204" pitchFamily="34" charset="-128"/>
              </a:rPr>
              <a:t>環境における</a:t>
            </a:r>
            <a:r>
              <a:rPr lang="en-US" sz="2000" dirty="0">
                <a:latin typeface="Meiryo" panose="020B0604030504040204" pitchFamily="34" charset="-128"/>
                <a:ea typeface="Meiryo" panose="020B0604030504040204" pitchFamily="34" charset="-128"/>
              </a:rPr>
              <a:t>DoS</a:t>
            </a:r>
            <a:r>
              <a:rPr lang="ja-JP" altLang="en-US" sz="2000">
                <a:latin typeface="Meiryo" panose="020B0604030504040204" pitchFamily="34" charset="-128"/>
                <a:ea typeface="Meiryo" panose="020B0604030504040204" pitchFamily="34" charset="-128"/>
              </a:rPr>
              <a:t>耐性の向上を目的とした研究</a:t>
            </a:r>
            <a:endParaRPr lang="mn-MN" altLang="ja-JP" sz="2000" dirty="0">
              <a:latin typeface="Meiryo" panose="020B0604030504040204" pitchFamily="34" charset="-128"/>
              <a:ea typeface="Meiryo" panose="020B0604030504040204" pitchFamily="34" charset="-128"/>
            </a:endParaRPr>
          </a:p>
          <a:p>
            <a:endParaRPr lang="en-US" sz="2000" dirty="0">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400" b="1" i="0" u="none" strike="noStrike">
                <a:effectLst/>
                <a:latin typeface="Meiryo" panose="020B0604030504040204" pitchFamily="34" charset="-128"/>
                <a:ea typeface="Meiryo" panose="020B0604030504040204" pitchFamily="34" charset="-128"/>
              </a:rPr>
              <a:t>課題点</a:t>
            </a:r>
            <a:endParaRPr lang="en-US"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・検知に特化しており，検知後の通信データに対する暗号化保護がない</a:t>
            </a:r>
            <a:br>
              <a:rPr lang="ja-JP" altLang="en-US" sz="2400">
                <a:latin typeface="Meiryo" panose="020B0604030504040204" pitchFamily="34" charset="-128"/>
                <a:ea typeface="Meiryo" panose="020B0604030504040204" pitchFamily="34" charset="-128"/>
              </a:rPr>
            </a:br>
            <a:r>
              <a:rPr lang="ja-JP" altLang="en-US" sz="2400">
                <a:latin typeface="Meiryo" panose="020B0604030504040204" pitchFamily="34" charset="-128"/>
                <a:ea typeface="Meiryo" panose="020B0604030504040204" pitchFamily="34" charset="-128"/>
              </a:rPr>
              <a:t>　→ データは平文のまま転送される</a:t>
            </a:r>
          </a:p>
          <a:p>
            <a:r>
              <a:rPr lang="ja-JP" altLang="en-US" sz="2400">
                <a:latin typeface="Meiryo" panose="020B0604030504040204" pitchFamily="34" charset="-128"/>
                <a:ea typeface="Meiryo" panose="020B0604030504040204" pitchFamily="34" charset="-128"/>
              </a:rPr>
              <a:t>・エンドツーエンドの統合設計が不十分</a:t>
            </a:r>
            <a:br>
              <a:rPr lang="ja-JP" altLang="en-US" sz="2400">
                <a:latin typeface="Meiryo" panose="020B0604030504040204" pitchFamily="34" charset="-128"/>
                <a:ea typeface="Meiryo" panose="020B0604030504040204" pitchFamily="34" charset="-128"/>
              </a:rPr>
            </a:br>
            <a:r>
              <a:rPr lang="ja-JP" altLang="en-US" sz="2400">
                <a:latin typeface="Meiryo" panose="020B0604030504040204" pitchFamily="34" charset="-128"/>
                <a:ea typeface="Meiryo" panose="020B0604030504040204" pitchFamily="34" charset="-128"/>
              </a:rPr>
              <a:t>　→ 攻撃検知と安全な通信が統合されていない</a:t>
            </a:r>
          </a:p>
          <a:p>
            <a:r>
              <a:rPr lang="ja-JP" altLang="en-US" sz="2400">
                <a:latin typeface="Meiryo" panose="020B0604030504040204" pitchFamily="34" charset="-128"/>
                <a:ea typeface="Meiryo" panose="020B0604030504040204" pitchFamily="34" charset="-128"/>
              </a:rPr>
              <a:t>・二層防御の評価が行われていない</a:t>
            </a:r>
            <a:br>
              <a:rPr lang="ja-JP" altLang="en-US" sz="2400">
                <a:latin typeface="Meiryo" panose="020B0604030504040204" pitchFamily="34" charset="-128"/>
                <a:ea typeface="Meiryo" panose="020B0604030504040204" pitchFamily="34" charset="-128"/>
              </a:rPr>
            </a:br>
            <a:r>
              <a:rPr lang="ja-JP" altLang="en-US" sz="2400">
                <a:latin typeface="Meiryo" panose="020B0604030504040204" pitchFamily="34" charset="-128"/>
                <a:ea typeface="Meiryo" panose="020B0604030504040204" pitchFamily="34" charset="-128"/>
              </a:rPr>
              <a:t>　→ </a:t>
            </a:r>
            <a:r>
              <a:rPr lang="en-US" sz="2400" dirty="0">
                <a:latin typeface="Meiryo" panose="020B0604030504040204" pitchFamily="34" charset="-128"/>
                <a:ea typeface="Meiryo" panose="020B0604030504040204" pitchFamily="34" charset="-128"/>
              </a:rPr>
              <a:t>ML</a:t>
            </a:r>
            <a:r>
              <a:rPr lang="ja-JP" altLang="en-US" sz="2400">
                <a:latin typeface="Meiryo" panose="020B0604030504040204" pitchFamily="34" charset="-128"/>
                <a:ea typeface="Meiryo" panose="020B0604030504040204" pitchFamily="34" charset="-128"/>
              </a:rPr>
              <a:t>検知＋</a:t>
            </a:r>
            <a:r>
              <a:rPr lang="en-US" sz="2400" dirty="0">
                <a:latin typeface="Meiryo" panose="020B0604030504040204" pitchFamily="34" charset="-128"/>
                <a:ea typeface="Meiryo" panose="020B0604030504040204" pitchFamily="34" charset="-128"/>
              </a:rPr>
              <a:t>DTLS</a:t>
            </a:r>
            <a:r>
              <a:rPr lang="ja-JP" altLang="en-US" sz="2400">
                <a:latin typeface="Meiryo" panose="020B0604030504040204" pitchFamily="34" charset="-128"/>
                <a:ea typeface="Meiryo" panose="020B0604030504040204" pitchFamily="34" charset="-128"/>
              </a:rPr>
              <a:t>暗号化の組み合わせが未検証</a:t>
            </a:r>
          </a:p>
          <a:p>
            <a:pPr marL="0" indent="0">
              <a:buNone/>
            </a:pPr>
            <a:endParaRPr lang="en-US" sz="2000" dirty="0"/>
          </a:p>
        </p:txBody>
      </p:sp>
      <p:sp>
        <p:nvSpPr>
          <p:cNvPr id="9" name="TextBox 8">
            <a:extLst>
              <a:ext uri="{FF2B5EF4-FFF2-40B4-BE49-F238E27FC236}">
                <a16:creationId xmlns:a16="http://schemas.microsoft.com/office/drawing/2014/main" id="{4275085C-C8BF-42EC-3666-CD65B0FC3736}"/>
              </a:ext>
            </a:extLst>
          </p:cNvPr>
          <p:cNvSpPr txBox="1"/>
          <p:nvPr/>
        </p:nvSpPr>
        <p:spPr>
          <a:xfrm>
            <a:off x="478866" y="6427113"/>
            <a:ext cx="6386041" cy="430887"/>
          </a:xfrm>
          <a:prstGeom prst="rect">
            <a:avLst/>
          </a:prstGeom>
          <a:noFill/>
        </p:spPr>
        <p:txBody>
          <a:bodyPr wrap="square">
            <a:spAutoFit/>
          </a:bodyPr>
          <a:lstStyle/>
          <a:p>
            <a:r>
              <a:rPr lang="en-JP" sz="1100" b="1" kern="100" dirty="0">
                <a:effectLst/>
                <a:latin typeface="Calibri" panose="020F0502020204030204" pitchFamily="34" charset="0"/>
                <a:ea typeface="Yu Mincho" panose="02020400000000000000" pitchFamily="18" charset="-128"/>
                <a:cs typeface="Times New Roman" panose="02020603050405020304" pitchFamily="18" charset="0"/>
              </a:rPr>
              <a:t>[7] Application of Machine Learning Algorithms for the Validation of a New CoAP-IoT Anomaly</a:t>
            </a:r>
            <a:endParaRPr lang="en-JP" sz="1100" kern="100" dirty="0">
              <a:effectLst/>
              <a:latin typeface="Calibri" panose="020F0502020204030204" pitchFamily="34" charset="0"/>
              <a:ea typeface="Yu Mincho" panose="02020400000000000000" pitchFamily="18" charset="-128"/>
              <a:cs typeface="Times New Roman" panose="02020603050405020304" pitchFamily="18" charset="0"/>
            </a:endParaRPr>
          </a:p>
          <a:p>
            <a:r>
              <a:rPr lang="en-JP" sz="1100" b="1" kern="100" dirty="0">
                <a:effectLst/>
                <a:latin typeface="Calibri" panose="020F0502020204030204" pitchFamily="34" charset="0"/>
                <a:ea typeface="Yu Mincho" panose="02020400000000000000" pitchFamily="18" charset="-128"/>
                <a:cs typeface="Times New Roman" panose="02020603050405020304" pitchFamily="18" charset="0"/>
              </a:rPr>
              <a:t>Detection Dataset (Applied Sciences, MDPI, 2023)</a:t>
            </a:r>
            <a:r>
              <a:rPr lang="mn-MN" sz="1100" b="1" kern="100" dirty="0">
                <a:effectLst/>
                <a:latin typeface="Calibri" panose="020F0502020204030204" pitchFamily="34" charset="0"/>
                <a:ea typeface="Yu Mincho" panose="02020400000000000000" pitchFamily="18" charset="-128"/>
                <a:cs typeface="Times New Roman" panose="02020603050405020304" pitchFamily="18" charset="0"/>
              </a:rPr>
              <a:t> </a:t>
            </a:r>
            <a:r>
              <a:rPr lang="mn-MN" sz="1100" b="1" u="sng" kern="100" dirty="0">
                <a:solidFill>
                  <a:srgbClr val="0563C1"/>
                </a:solidFill>
                <a:effectLst/>
                <a:latin typeface="Calibri" panose="020F0502020204030204" pitchFamily="34" charset="0"/>
                <a:ea typeface="Yu Mincho" panose="02020400000000000000" pitchFamily="18" charset="-128"/>
                <a:cs typeface="Times New Roman" panose="02020603050405020304" pitchFamily="18" charset="0"/>
                <a:hlinkClick r:id="rId3"/>
              </a:rPr>
              <a:t>https://www.mdpi.com/2076-3417/13/7/4482</a:t>
            </a:r>
            <a:endParaRPr lang="en-JP" sz="1100" kern="100" dirty="0">
              <a:effectLst/>
              <a:latin typeface="Calibri" panose="020F0502020204030204" pitchFamily="34" charset="0"/>
              <a:ea typeface="Yu Mincho" panose="02020400000000000000" pitchFamily="18" charset="-128"/>
              <a:cs typeface="Times New Roman" panose="02020603050405020304" pitchFamily="18" charset="0"/>
            </a:endParaRPr>
          </a:p>
        </p:txBody>
      </p:sp>
      <p:sp>
        <p:nvSpPr>
          <p:cNvPr id="10" name="Slide Number Placeholder 9">
            <a:extLst>
              <a:ext uri="{FF2B5EF4-FFF2-40B4-BE49-F238E27FC236}">
                <a16:creationId xmlns:a16="http://schemas.microsoft.com/office/drawing/2014/main" id="{FD47498A-3ECA-081D-D2B4-A98F090D0CBA}"/>
              </a:ext>
            </a:extLst>
          </p:cNvPr>
          <p:cNvSpPr>
            <a:spLocks noGrp="1"/>
          </p:cNvSpPr>
          <p:nvPr>
            <p:ph type="sldNum" sz="quarter" idx="12"/>
          </p:nvPr>
        </p:nvSpPr>
        <p:spPr/>
        <p:txBody>
          <a:bodyPr/>
          <a:lstStyle/>
          <a:p>
            <a:fld id="{828F3BD4-1AF2-D144-8129-4D42AD448F5E}" type="slidenum">
              <a:rPr lang="en-JP" smtClean="0"/>
              <a:t>49</a:t>
            </a:fld>
            <a:endParaRPr lang="en-JP"/>
          </a:p>
        </p:txBody>
      </p:sp>
    </p:spTree>
    <p:extLst>
      <p:ext uri="{BB962C8B-B14F-4D97-AF65-F5344CB8AC3E}">
        <p14:creationId xmlns:p14="http://schemas.microsoft.com/office/powerpoint/2010/main" val="20420553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54D721-5901-8170-B3BE-CBB12F8A9C9A}"/>
              </a:ext>
            </a:extLst>
          </p:cNvPr>
          <p:cNvPicPr>
            <a:picLocks noChangeAspect="1"/>
          </p:cNvPicPr>
          <p:nvPr/>
        </p:nvPicPr>
        <p:blipFill>
          <a:blip r:embed="rId2"/>
          <a:stretch>
            <a:fillRect/>
          </a:stretch>
        </p:blipFill>
        <p:spPr>
          <a:xfrm>
            <a:off x="1" y="1091761"/>
            <a:ext cx="9144000" cy="5172753"/>
          </a:xfrm>
          <a:prstGeom prst="rect">
            <a:avLst/>
          </a:prstGeom>
        </p:spPr>
      </p:pic>
      <p:sp>
        <p:nvSpPr>
          <p:cNvPr id="6" name="TextBox 5">
            <a:extLst>
              <a:ext uri="{FF2B5EF4-FFF2-40B4-BE49-F238E27FC236}">
                <a16:creationId xmlns:a16="http://schemas.microsoft.com/office/drawing/2014/main" id="{071D6292-799F-01D8-5075-F6626B675BC4}"/>
              </a:ext>
            </a:extLst>
          </p:cNvPr>
          <p:cNvSpPr txBox="1"/>
          <p:nvPr/>
        </p:nvSpPr>
        <p:spPr>
          <a:xfrm>
            <a:off x="123825" y="6344245"/>
            <a:ext cx="6715125" cy="430887"/>
          </a:xfrm>
          <a:prstGeom prst="rect">
            <a:avLst/>
          </a:prstGeom>
          <a:noFill/>
        </p:spPr>
        <p:txBody>
          <a:bodyPr wrap="square">
            <a:spAutoFit/>
          </a:bodyPr>
          <a:lstStyle/>
          <a:p>
            <a:r>
              <a:rPr lang="en-JP" sz="1100" dirty="0">
                <a:latin typeface="Times New Roman" panose="02020603050405020304" pitchFamily="18" charset="0"/>
                <a:ea typeface="Meiryo" panose="020B0604030504040204" pitchFamily="34" charset="-128"/>
                <a:cs typeface="Times New Roman" panose="02020603050405020304" pitchFamily="18" charset="0"/>
              </a:rPr>
              <a:t>[3] https://www.cepro.com/news/report-average-smart-home-faces-29-cybersecurity-attacks-daily-integrators-on-front-line/623233/?utm_source</a:t>
            </a:r>
          </a:p>
        </p:txBody>
      </p:sp>
      <p:sp>
        <p:nvSpPr>
          <p:cNvPr id="8" name="TextBox 7">
            <a:extLst>
              <a:ext uri="{FF2B5EF4-FFF2-40B4-BE49-F238E27FC236}">
                <a16:creationId xmlns:a16="http://schemas.microsoft.com/office/drawing/2014/main" id="{C57D62E3-3BFA-79BD-90AC-70636888601D}"/>
              </a:ext>
            </a:extLst>
          </p:cNvPr>
          <p:cNvSpPr txBox="1"/>
          <p:nvPr/>
        </p:nvSpPr>
        <p:spPr>
          <a:xfrm>
            <a:off x="123825" y="298021"/>
            <a:ext cx="8486775" cy="523220"/>
          </a:xfrm>
          <a:prstGeom prst="rect">
            <a:avLst/>
          </a:prstGeom>
          <a:noFill/>
        </p:spPr>
        <p:txBody>
          <a:bodyPr wrap="square">
            <a:spAutoFit/>
          </a:bodyPr>
          <a:lstStyle/>
          <a:p>
            <a:pPr marL="457200" indent="-457200">
              <a:buFont typeface="Wingdings" pitchFamily="2" charset="2"/>
              <a:buChar char="Ø"/>
            </a:pPr>
            <a:r>
              <a:rPr lang="ja-JP" altLang="en-US" sz="2800" b="1">
                <a:latin typeface="Meiryo" panose="020B0604030504040204" pitchFamily="34" charset="-128"/>
                <a:ea typeface="Meiryo" panose="020B0604030504040204" pitchFamily="34" charset="-128"/>
              </a:rPr>
              <a:t>スマートホームにおけるサイバー攻撃の現状</a:t>
            </a:r>
            <a:r>
              <a:rPr lang="en-US" altLang="ja-JP" sz="2000" dirty="0">
                <a:latin typeface="Meiryo" panose="020B0604030504040204" pitchFamily="34" charset="-128"/>
                <a:ea typeface="Meiryo" panose="020B0604030504040204" pitchFamily="34" charset="-128"/>
              </a:rPr>
              <a:t>[3]</a:t>
            </a:r>
            <a:endParaRPr lang="en-JP" sz="2000" dirty="0">
              <a:latin typeface="Meiryo" panose="020B0604030504040204" pitchFamily="34" charset="-128"/>
              <a:ea typeface="Meiryo" panose="020B0604030504040204" pitchFamily="34" charset="-128"/>
            </a:endParaRPr>
          </a:p>
        </p:txBody>
      </p:sp>
      <p:sp>
        <p:nvSpPr>
          <p:cNvPr id="10" name="Rounded Rectangle 9">
            <a:extLst>
              <a:ext uri="{FF2B5EF4-FFF2-40B4-BE49-F238E27FC236}">
                <a16:creationId xmlns:a16="http://schemas.microsoft.com/office/drawing/2014/main" id="{C9B310A2-C657-3C69-4839-33358069B677}"/>
              </a:ext>
            </a:extLst>
          </p:cNvPr>
          <p:cNvSpPr/>
          <p:nvPr/>
        </p:nvSpPr>
        <p:spPr>
          <a:xfrm>
            <a:off x="3533774" y="1091760"/>
            <a:ext cx="1666875" cy="57864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tx1"/>
                </a:solidFill>
                <a:latin typeface="Meiryo" panose="020B0604030504040204" pitchFamily="34" charset="-128"/>
                <a:ea typeface="Meiryo" panose="020B0604030504040204" pitchFamily="34" charset="-128"/>
              </a:rPr>
              <a:t>家庭ネットワークで毎日</a:t>
            </a:r>
            <a:endParaRPr lang="en-JP" b="1" dirty="0">
              <a:solidFill>
                <a:schemeClr val="tx1"/>
              </a:solidFill>
              <a:latin typeface="Meiryo" panose="020B0604030504040204" pitchFamily="34" charset="-128"/>
              <a:ea typeface="Meiryo" panose="020B0604030504040204" pitchFamily="34" charset="-128"/>
            </a:endParaRPr>
          </a:p>
        </p:txBody>
      </p:sp>
      <p:sp>
        <p:nvSpPr>
          <p:cNvPr id="11" name="Rounded Rectangle 10">
            <a:extLst>
              <a:ext uri="{FF2B5EF4-FFF2-40B4-BE49-F238E27FC236}">
                <a16:creationId xmlns:a16="http://schemas.microsoft.com/office/drawing/2014/main" id="{82B9F072-5B35-4F00-5548-70A664E42EED}"/>
              </a:ext>
            </a:extLst>
          </p:cNvPr>
          <p:cNvSpPr/>
          <p:nvPr/>
        </p:nvSpPr>
        <p:spPr>
          <a:xfrm>
            <a:off x="442912" y="1091761"/>
            <a:ext cx="1957388" cy="57864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tx1"/>
                </a:solidFill>
                <a:latin typeface="Meiryo" panose="020B0604030504040204" pitchFamily="34" charset="-128"/>
                <a:ea typeface="Meiryo" panose="020B0604030504040204" pitchFamily="34" charset="-128"/>
              </a:rPr>
              <a:t>2024</a:t>
            </a:r>
            <a:r>
              <a:rPr lang="ja-JP" altLang="en-US" b="1">
                <a:solidFill>
                  <a:schemeClr val="tx1"/>
                </a:solidFill>
                <a:latin typeface="Meiryo" panose="020B0604030504040204" pitchFamily="34" charset="-128"/>
                <a:ea typeface="Meiryo" panose="020B0604030504040204" pitchFamily="34" charset="-128"/>
              </a:rPr>
              <a:t>年の攻撃増加率</a:t>
            </a:r>
            <a:endParaRPr lang="en-JP" b="1" dirty="0">
              <a:solidFill>
                <a:schemeClr val="tx1"/>
              </a:solidFill>
              <a:latin typeface="Meiryo" panose="020B0604030504040204" pitchFamily="34" charset="-128"/>
              <a:ea typeface="Meiryo" panose="020B0604030504040204" pitchFamily="34" charset="-128"/>
            </a:endParaRPr>
          </a:p>
        </p:txBody>
      </p:sp>
      <p:sp>
        <p:nvSpPr>
          <p:cNvPr id="12" name="Rounded Rectangle 11">
            <a:extLst>
              <a:ext uri="{FF2B5EF4-FFF2-40B4-BE49-F238E27FC236}">
                <a16:creationId xmlns:a16="http://schemas.microsoft.com/office/drawing/2014/main" id="{E77ECF07-29D2-0A6C-0504-D1C422317F88}"/>
              </a:ext>
            </a:extLst>
          </p:cNvPr>
          <p:cNvSpPr/>
          <p:nvPr/>
        </p:nvSpPr>
        <p:spPr>
          <a:xfrm>
            <a:off x="6557962" y="1091760"/>
            <a:ext cx="1957388" cy="57864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eiryo" panose="020B0604030504040204" pitchFamily="34" charset="-128"/>
                <a:ea typeface="Meiryo" panose="020B0604030504040204" pitchFamily="34" charset="-128"/>
              </a:rPr>
              <a:t>DoS</a:t>
            </a:r>
            <a:r>
              <a:rPr lang="ja-JP" altLang="en-US" b="1">
                <a:solidFill>
                  <a:schemeClr val="tx1"/>
                </a:solidFill>
                <a:latin typeface="Meiryo" panose="020B0604030504040204" pitchFamily="34" charset="-128"/>
                <a:ea typeface="Meiryo" panose="020B0604030504040204" pitchFamily="34" charset="-128"/>
              </a:rPr>
              <a:t>攻撃の割合</a:t>
            </a:r>
            <a:endParaRPr lang="en-JP" b="1" dirty="0">
              <a:solidFill>
                <a:schemeClr val="tx1"/>
              </a:solidFill>
              <a:latin typeface="Meiryo" panose="020B0604030504040204" pitchFamily="34" charset="-128"/>
              <a:ea typeface="Meiryo" panose="020B0604030504040204" pitchFamily="34" charset="-128"/>
            </a:endParaRPr>
          </a:p>
        </p:txBody>
      </p:sp>
      <p:sp>
        <p:nvSpPr>
          <p:cNvPr id="13" name="正方形/長方形 4">
            <a:extLst>
              <a:ext uri="{FF2B5EF4-FFF2-40B4-BE49-F238E27FC236}">
                <a16:creationId xmlns:a16="http://schemas.microsoft.com/office/drawing/2014/main" id="{D8026E66-44BC-EE58-73D3-E3D2E5D79C09}"/>
              </a:ext>
            </a:extLst>
          </p:cNvPr>
          <p:cNvSpPr/>
          <p:nvPr/>
        </p:nvSpPr>
        <p:spPr>
          <a:xfrm>
            <a:off x="7936203" y="5559291"/>
            <a:ext cx="579147" cy="29858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14" name="Slide Number Placeholder 13">
            <a:extLst>
              <a:ext uri="{FF2B5EF4-FFF2-40B4-BE49-F238E27FC236}">
                <a16:creationId xmlns:a16="http://schemas.microsoft.com/office/drawing/2014/main" id="{78749FA2-31C4-D93E-A3B4-65C819FB9F16}"/>
              </a:ext>
            </a:extLst>
          </p:cNvPr>
          <p:cNvSpPr>
            <a:spLocks noGrp="1"/>
          </p:cNvSpPr>
          <p:nvPr>
            <p:ph type="sldNum" sz="quarter" idx="12"/>
          </p:nvPr>
        </p:nvSpPr>
        <p:spPr/>
        <p:txBody>
          <a:bodyPr/>
          <a:lstStyle/>
          <a:p>
            <a:fld id="{828F3BD4-1AF2-D144-8129-4D42AD448F5E}" type="slidenum">
              <a:rPr lang="en-JP" smtClean="0"/>
              <a:t>50</a:t>
            </a:fld>
            <a:endParaRPr lang="en-JP"/>
          </a:p>
        </p:txBody>
      </p:sp>
    </p:spTree>
    <p:extLst>
      <p:ext uri="{BB962C8B-B14F-4D97-AF65-F5344CB8AC3E}">
        <p14:creationId xmlns:p14="http://schemas.microsoft.com/office/powerpoint/2010/main" val="41558658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CD078D-0AD3-3219-F20B-E138D8CC7CF1}"/>
              </a:ext>
            </a:extLst>
          </p:cNvPr>
          <p:cNvSpPr txBox="1"/>
          <p:nvPr/>
        </p:nvSpPr>
        <p:spPr>
          <a:xfrm>
            <a:off x="479390" y="224344"/>
            <a:ext cx="4572000" cy="1754326"/>
          </a:xfrm>
          <a:prstGeom prst="rect">
            <a:avLst/>
          </a:prstGeom>
          <a:noFill/>
        </p:spPr>
        <p:txBody>
          <a:bodyPr wrap="square">
            <a:spAutoFit/>
          </a:bodyPr>
          <a:lstStyle/>
          <a:p>
            <a:pPr rtl="0">
              <a:spcBef>
                <a:spcPts val="0"/>
              </a:spcBef>
              <a:spcAft>
                <a:spcPts val="0"/>
              </a:spcAft>
            </a:pPr>
            <a:r>
              <a:rPr lang="ja-JP" altLang="en-US" sz="3600" b="0" i="0" u="none" strike="noStrike">
                <a:solidFill>
                  <a:srgbClr val="000000"/>
                </a:solidFill>
                <a:effectLst/>
                <a:latin typeface="Meiryo" panose="020B0604030504040204" pitchFamily="34" charset="-128"/>
                <a:ea typeface="Meiryo" panose="020B0604030504040204" pitchFamily="34" charset="-128"/>
              </a:rPr>
              <a:t>関連研究</a:t>
            </a:r>
            <a:r>
              <a:rPr lang="en-US" altLang="ja-JP" sz="3600" b="0" i="0" u="none" strike="noStrike" dirty="0">
                <a:solidFill>
                  <a:srgbClr val="000000"/>
                </a:solidFill>
                <a:effectLst/>
                <a:latin typeface="Meiryo" panose="020B0604030504040204" pitchFamily="34" charset="-128"/>
                <a:ea typeface="Meiryo" panose="020B0604030504040204" pitchFamily="34" charset="-128"/>
              </a:rPr>
              <a:t>1</a:t>
            </a:r>
            <a:r>
              <a:rPr lang="en-US" altLang="ja-JP" sz="3600" b="0" i="0" u="none" strike="noStrike" baseline="-25000" dirty="0">
                <a:solidFill>
                  <a:srgbClr val="000000"/>
                </a:solidFill>
                <a:effectLst/>
                <a:latin typeface="Meiryo" panose="020B0604030504040204" pitchFamily="34" charset="-128"/>
                <a:ea typeface="Meiryo" panose="020B0604030504040204" pitchFamily="34" charset="-128"/>
              </a:rPr>
              <a:t>[10]</a:t>
            </a:r>
            <a:endParaRPr lang="ja-JP" altLang="en-US" sz="3600" b="0">
              <a:effectLst/>
              <a:latin typeface="Meiryo" panose="020B0604030504040204" pitchFamily="34" charset="-128"/>
              <a:ea typeface="Meiryo" panose="020B0604030504040204" pitchFamily="34" charset="-128"/>
            </a:endParaRPr>
          </a:p>
          <a:p>
            <a:br>
              <a:rPr lang="ja-JP" altLang="en-US" sz="3600">
                <a:latin typeface="Meiryo" panose="020B0604030504040204" pitchFamily="34" charset="-128"/>
                <a:ea typeface="Meiryo" panose="020B0604030504040204" pitchFamily="34" charset="-128"/>
              </a:rPr>
            </a:br>
            <a:endParaRPr lang="en-JP" sz="3600" dirty="0">
              <a:latin typeface="Meiryo" panose="020B0604030504040204" pitchFamily="34" charset="-128"/>
              <a:ea typeface="Meiryo" panose="020B0604030504040204" pitchFamily="34" charset="-128"/>
            </a:endParaRPr>
          </a:p>
        </p:txBody>
      </p:sp>
      <p:sp>
        <p:nvSpPr>
          <p:cNvPr id="7" name="TextBox 6">
            <a:extLst>
              <a:ext uri="{FF2B5EF4-FFF2-40B4-BE49-F238E27FC236}">
                <a16:creationId xmlns:a16="http://schemas.microsoft.com/office/drawing/2014/main" id="{E8B1E1DC-51B5-3D9E-37CA-821E49F2ACB1}"/>
              </a:ext>
            </a:extLst>
          </p:cNvPr>
          <p:cNvSpPr txBox="1"/>
          <p:nvPr/>
        </p:nvSpPr>
        <p:spPr>
          <a:xfrm>
            <a:off x="454060" y="1070662"/>
            <a:ext cx="7926893" cy="4716676"/>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著者</a:t>
            </a:r>
            <a:r>
              <a:rPr lang="en-US" altLang="ja-JP" sz="2000" dirty="0">
                <a:latin typeface="Meiryo" panose="020B0604030504040204" pitchFamily="34" charset="-128"/>
                <a:ea typeface="Meiryo" panose="020B0604030504040204" pitchFamily="34" charset="-128"/>
              </a:rPr>
              <a:t>: </a:t>
            </a:r>
            <a:r>
              <a:rPr lang="en-US" sz="2000" dirty="0" err="1">
                <a:latin typeface="Meiryo" panose="020B0604030504040204" pitchFamily="34" charset="-128"/>
                <a:ea typeface="Meiryo" panose="020B0604030504040204" pitchFamily="34" charset="-128"/>
              </a:rPr>
              <a:t>Jiye</a:t>
            </a:r>
            <a:r>
              <a:rPr lang="en-US" sz="2000" dirty="0">
                <a:latin typeface="Meiryo" panose="020B0604030504040204" pitchFamily="34" charset="-128"/>
                <a:ea typeface="Meiryo" panose="020B0604030504040204" pitchFamily="34" charset="-128"/>
              </a:rPr>
              <a:t> Park, </a:t>
            </a:r>
            <a:r>
              <a:rPr lang="en-US" sz="2000" dirty="0" err="1">
                <a:latin typeface="Meiryo" panose="020B0604030504040204" pitchFamily="34" charset="-128"/>
                <a:ea typeface="Meiryo" panose="020B0604030504040204" pitchFamily="34" charset="-128"/>
              </a:rPr>
              <a:t>Namhi</a:t>
            </a:r>
            <a:r>
              <a:rPr lang="en-US" sz="2000" dirty="0">
                <a:latin typeface="Meiryo" panose="020B0604030504040204" pitchFamily="34" charset="-128"/>
                <a:ea typeface="Meiryo" panose="020B0604030504040204" pitchFamily="34" charset="-128"/>
              </a:rPr>
              <a:t> Kang</a:t>
            </a:r>
          </a:p>
          <a:p>
            <a:r>
              <a:rPr lang="en-US" sz="2000" dirty="0">
                <a:latin typeface="Meiryo" panose="020B0604030504040204" pitchFamily="34" charset="-128"/>
                <a:ea typeface="Meiryo" panose="020B0604030504040204" pitchFamily="34" charset="-128"/>
              </a:rPr>
              <a:t>CoAP</a:t>
            </a:r>
            <a:r>
              <a:rPr lang="ja-JP" altLang="en-US" sz="2000">
                <a:latin typeface="Meiryo" panose="020B0604030504040204" pitchFamily="34" charset="-128"/>
                <a:ea typeface="Meiryo" panose="020B0604030504040204" pitchFamily="34" charset="-128"/>
              </a:rPr>
              <a:t>対応</a:t>
            </a:r>
            <a:r>
              <a:rPr lang="en-US" sz="2000" dirty="0">
                <a:latin typeface="Meiryo" panose="020B0604030504040204" pitchFamily="34" charset="-128"/>
                <a:ea typeface="Meiryo" panose="020B0604030504040204" pitchFamily="34" charset="-128"/>
              </a:rPr>
              <a:t>IoT</a:t>
            </a:r>
            <a:r>
              <a:rPr lang="ja-JP" altLang="en-US" sz="2000">
                <a:latin typeface="Meiryo" panose="020B0604030504040204" pitchFamily="34" charset="-128"/>
                <a:ea typeface="Meiryo" panose="020B0604030504040204" pitchFamily="34" charset="-128"/>
              </a:rPr>
              <a:t>デバイス向けに、</a:t>
            </a:r>
            <a:r>
              <a:rPr lang="en-US" sz="2000" dirty="0">
                <a:latin typeface="Meiryo" panose="020B0604030504040204" pitchFamily="34" charset="-128"/>
                <a:ea typeface="Meiryo" panose="020B0604030504040204" pitchFamily="34" charset="-128"/>
              </a:rPr>
              <a:t>DTLS</a:t>
            </a:r>
            <a:r>
              <a:rPr lang="ja-JP" altLang="en-US" sz="2000">
                <a:latin typeface="Meiryo" panose="020B0604030504040204" pitchFamily="34" charset="-128"/>
                <a:ea typeface="Meiryo" panose="020B0604030504040204" pitchFamily="34" charset="-128"/>
              </a:rPr>
              <a:t>ハンドシェイクをゲートウェイに委譲することで、</a:t>
            </a:r>
          </a:p>
          <a:p>
            <a:r>
              <a:rPr lang="ja-JP" altLang="en-US" sz="2000">
                <a:latin typeface="Meiryo" panose="020B0604030504040204" pitchFamily="34" charset="-128"/>
                <a:ea typeface="Meiryo" panose="020B0604030504040204" pitchFamily="34" charset="-128"/>
              </a:rPr>
              <a:t>リソース制約デバイスの負荷を軽減しつつ安全な通信を実現する手法を提案</a:t>
            </a:r>
            <a:r>
              <a:rPr lang="en-US" altLang="ja-JP" sz="2000" dirty="0">
                <a:latin typeface="Meiryo" panose="020B0604030504040204" pitchFamily="34" charset="-128"/>
                <a:ea typeface="Meiryo" panose="020B0604030504040204" pitchFamily="34" charset="-128"/>
              </a:rPr>
              <a:t>.</a:t>
            </a:r>
            <a:r>
              <a:rPr lang="en-US" sz="2000" dirty="0">
                <a:latin typeface="Meiryo" panose="020B0604030504040204" pitchFamily="34" charset="-128"/>
                <a:ea typeface="Meiryo" panose="020B0604030504040204" pitchFamily="34" charset="-128"/>
              </a:rPr>
              <a:t>DTLS</a:t>
            </a:r>
            <a:r>
              <a:rPr lang="ja-JP" altLang="en-US" sz="2000">
                <a:latin typeface="Meiryo" panose="020B0604030504040204" pitchFamily="34" charset="-128"/>
                <a:ea typeface="Meiryo" panose="020B0604030504040204" pitchFamily="34" charset="-128"/>
              </a:rPr>
              <a:t>通信の有効性を</a:t>
            </a:r>
            <a:r>
              <a:rPr lang="en-US" sz="2000" dirty="0">
                <a:latin typeface="Meiryo" panose="020B0604030504040204" pitchFamily="34" charset="-128"/>
                <a:ea typeface="Meiryo" panose="020B0604030504040204" pitchFamily="34" charset="-128"/>
              </a:rPr>
              <a:t>CoAP</a:t>
            </a:r>
            <a:r>
              <a:rPr lang="ja-JP" altLang="en-US" sz="2000">
                <a:latin typeface="Meiryo" panose="020B0604030504040204" pitchFamily="34" charset="-128"/>
                <a:ea typeface="Meiryo" panose="020B0604030504040204" pitchFamily="34" charset="-128"/>
              </a:rPr>
              <a:t>環境で実証した先駆的研究</a:t>
            </a:r>
            <a:r>
              <a:rPr lang="en-US" altLang="ja-JP" sz="2000" dirty="0">
                <a:latin typeface="Meiryo" panose="020B0604030504040204" pitchFamily="34" charset="-128"/>
                <a:ea typeface="Meiryo" panose="020B0604030504040204" pitchFamily="34" charset="-128"/>
              </a:rPr>
              <a:t>.</a:t>
            </a:r>
          </a:p>
          <a:p>
            <a:pPr marL="342900" indent="-342900">
              <a:buFont typeface="Wingdings" pitchFamily="2" charset="2"/>
              <a:buChar char="§"/>
            </a:pPr>
            <a:endParaRPr lang="en-US" altLang="ja-JP" sz="2000" i="0" u="none" strike="noStrike" dirty="0">
              <a:solidFill>
                <a:srgbClr val="000000"/>
              </a:solidFill>
              <a:latin typeface="Meiryo" panose="020B0604030504040204" pitchFamily="34" charset="-128"/>
              <a:ea typeface="Meiryo" panose="020B0604030504040204" pitchFamily="34" charset="-128"/>
            </a:endParaRPr>
          </a:p>
          <a:p>
            <a:pPr marL="342900" indent="-342900">
              <a:buFont typeface="Wingdings" pitchFamily="2" charset="2"/>
              <a:buChar char="§"/>
            </a:pPr>
            <a:r>
              <a:rPr lang="ja-JP" altLang="en-US" sz="2400" b="0" i="0" u="none" strike="noStrike">
                <a:solidFill>
                  <a:srgbClr val="000000"/>
                </a:solidFill>
                <a:effectLst/>
                <a:latin typeface="Meiryo" panose="020B0604030504040204" pitchFamily="34" charset="-128"/>
                <a:ea typeface="Meiryo" panose="020B0604030504040204" pitchFamily="34" charset="-128"/>
              </a:rPr>
              <a:t>課題点</a:t>
            </a:r>
          </a:p>
          <a:p>
            <a:pPr marL="742950" lvl="1" indent="-285750" rtl="0" fontAlgn="base">
              <a:spcBef>
                <a:spcPts val="500"/>
              </a:spcBef>
              <a:spcAft>
                <a:spcPts val="0"/>
              </a:spcAft>
              <a:buFont typeface="Arial" panose="020B0604020202020204" pitchFamily="34" charset="0"/>
              <a:buChar char="•"/>
            </a:pPr>
            <a:r>
              <a:rPr lang="ja-JP" altLang="en-US" sz="2400" b="0" i="0" u="none" strike="noStrike">
                <a:solidFill>
                  <a:srgbClr val="000000"/>
                </a:solidFill>
                <a:effectLst/>
                <a:latin typeface="Meiryo" panose="020B0604030504040204" pitchFamily="34" charset="-128"/>
                <a:ea typeface="Meiryo" panose="020B0604030504040204" pitchFamily="34" charset="-128"/>
              </a:rPr>
              <a:t>機械学習による異常検知機能が存在しない </a:t>
            </a:r>
            <a:r>
              <a:rPr lang="en-US" altLang="ja-JP" sz="2400" b="0" i="0" u="none" strike="noStrike" dirty="0">
                <a:solidFill>
                  <a:srgbClr val="000000"/>
                </a:solidFill>
                <a:effectLst/>
                <a:latin typeface="Meiryo" panose="020B0604030504040204" pitchFamily="34" charset="-128"/>
                <a:ea typeface="Meiryo" panose="020B0604030504040204" pitchFamily="34" charset="-128"/>
              </a:rPr>
              <a:t>— </a:t>
            </a:r>
            <a:r>
              <a:rPr lang="ja-JP" altLang="en-US" sz="2400" b="0" i="0" u="none" strike="noStrike">
                <a:solidFill>
                  <a:srgbClr val="000000"/>
                </a:solidFill>
                <a:effectLst/>
                <a:latin typeface="Meiryo" panose="020B0604030504040204" pitchFamily="34" charset="-128"/>
                <a:ea typeface="Meiryo" panose="020B0604030504040204" pitchFamily="34" charset="-128"/>
              </a:rPr>
              <a:t>攻撃パケットも暗号化対象になりえる</a:t>
            </a:r>
          </a:p>
          <a:p>
            <a:pPr marL="742950" lvl="1" indent="-285750" rtl="0" fontAlgn="base">
              <a:spcBef>
                <a:spcPts val="500"/>
              </a:spcBef>
              <a:spcAft>
                <a:spcPts val="0"/>
              </a:spcAft>
              <a:buFont typeface="Arial" panose="020B0604020202020204" pitchFamily="34" charset="0"/>
              <a:buChar char="•"/>
            </a:pPr>
            <a:r>
              <a:rPr lang="en-US" altLang="ja-JP" sz="2400" b="0" i="0" u="none" strike="noStrike" dirty="0">
                <a:solidFill>
                  <a:srgbClr val="000000"/>
                </a:solidFill>
                <a:effectLst/>
                <a:latin typeface="Meiryo" panose="020B0604030504040204" pitchFamily="34" charset="-128"/>
                <a:ea typeface="Meiryo" panose="020B0604030504040204" pitchFamily="34" charset="-128"/>
              </a:rPr>
              <a:t>DTLS</a:t>
            </a:r>
            <a:r>
              <a:rPr lang="ja-JP" altLang="en-US" sz="2400" b="0" i="0" u="none" strike="noStrike">
                <a:solidFill>
                  <a:srgbClr val="000000"/>
                </a:solidFill>
                <a:effectLst/>
                <a:latin typeface="Meiryo" panose="020B0604030504040204" pitchFamily="34" charset="-128"/>
                <a:ea typeface="Meiryo" panose="020B0604030504040204" pitchFamily="34" charset="-128"/>
              </a:rPr>
              <a:t>ハンドシェイクの委譲に特化しており、攻撃フィルタリング層（</a:t>
            </a:r>
            <a:r>
              <a:rPr lang="en-US" altLang="ja-JP" sz="2400" b="0" i="0" u="none" strike="noStrike" dirty="0">
                <a:solidFill>
                  <a:srgbClr val="000000"/>
                </a:solidFill>
                <a:effectLst/>
                <a:latin typeface="Meiryo" panose="020B0604030504040204" pitchFamily="34" charset="-128"/>
                <a:ea typeface="Meiryo" panose="020B0604030504040204" pitchFamily="34" charset="-128"/>
              </a:rPr>
              <a:t>Layer 1</a:t>
            </a:r>
            <a:r>
              <a:rPr lang="ja-JP" altLang="en-US" sz="2400" b="0" i="0" u="none" strike="noStrike">
                <a:solidFill>
                  <a:srgbClr val="000000"/>
                </a:solidFill>
                <a:effectLst/>
                <a:latin typeface="Meiryo" panose="020B0604030504040204" pitchFamily="34" charset="-128"/>
                <a:ea typeface="Meiryo" panose="020B0604030504040204" pitchFamily="34" charset="-128"/>
              </a:rPr>
              <a:t>）との統合がない</a:t>
            </a:r>
          </a:p>
          <a:p>
            <a:pPr marL="742950" lvl="1" indent="-285750" rtl="0" fontAlgn="base">
              <a:spcBef>
                <a:spcPts val="500"/>
              </a:spcBef>
              <a:spcAft>
                <a:spcPts val="0"/>
              </a:spcAft>
              <a:buFont typeface="Arial" panose="020B0604020202020204" pitchFamily="34" charset="0"/>
              <a:buChar char="•"/>
            </a:pPr>
            <a:r>
              <a:rPr lang="ja-JP" altLang="en-US" sz="2400" b="0" i="0" u="none" strike="noStrike">
                <a:solidFill>
                  <a:srgbClr val="000000"/>
                </a:solidFill>
                <a:effectLst/>
                <a:latin typeface="Meiryo" panose="020B0604030504040204" pitchFamily="34" charset="-128"/>
                <a:ea typeface="Meiryo" panose="020B0604030504040204" pitchFamily="34" charset="-128"/>
              </a:rPr>
              <a:t>実際の</a:t>
            </a:r>
            <a:r>
              <a:rPr lang="en-US" altLang="ja-JP" sz="2400" b="0" i="0" u="none" strike="noStrike" dirty="0">
                <a:solidFill>
                  <a:srgbClr val="000000"/>
                </a:solidFill>
                <a:effectLst/>
                <a:latin typeface="Meiryo" panose="020B0604030504040204" pitchFamily="34" charset="-128"/>
                <a:ea typeface="Meiryo" panose="020B0604030504040204" pitchFamily="34" charset="-128"/>
              </a:rPr>
              <a:t>IoT</a:t>
            </a:r>
            <a:r>
              <a:rPr lang="ja-JP" altLang="en-US" sz="2400" b="0" i="0" u="none" strike="noStrike">
                <a:solidFill>
                  <a:srgbClr val="000000"/>
                </a:solidFill>
                <a:effectLst/>
                <a:latin typeface="Meiryo" panose="020B0604030504040204" pitchFamily="34" charset="-128"/>
                <a:ea typeface="Meiryo" panose="020B0604030504040204" pitchFamily="34" charset="-128"/>
              </a:rPr>
              <a:t>攻撃（</a:t>
            </a:r>
            <a:r>
              <a:rPr lang="en-US" altLang="ja-JP" sz="2400" b="0" i="0" u="none" strike="noStrike" dirty="0">
                <a:solidFill>
                  <a:srgbClr val="000000"/>
                </a:solidFill>
                <a:effectLst/>
                <a:latin typeface="Meiryo" panose="020B0604030504040204" pitchFamily="34" charset="-128"/>
                <a:ea typeface="Meiryo" panose="020B0604030504040204" pitchFamily="34" charset="-128"/>
              </a:rPr>
              <a:t>CoAP flood / DoS</a:t>
            </a:r>
            <a:r>
              <a:rPr lang="ja-JP" altLang="en-US" sz="2400" b="0" i="0" u="none" strike="noStrike">
                <a:solidFill>
                  <a:srgbClr val="000000"/>
                </a:solidFill>
                <a:effectLst/>
                <a:latin typeface="Meiryo" panose="020B0604030504040204" pitchFamily="34" charset="-128"/>
                <a:ea typeface="Meiryo" panose="020B0604030504040204" pitchFamily="34" charset="-128"/>
              </a:rPr>
              <a:t>）を想定した評価が行われていない</a:t>
            </a:r>
            <a:endParaRPr lang="en-JP" sz="2400" dirty="0">
              <a:latin typeface="Meiryo" panose="020B0604030504040204" pitchFamily="34" charset="-128"/>
              <a:ea typeface="Meiryo" panose="020B0604030504040204" pitchFamily="34" charset="-128"/>
            </a:endParaRPr>
          </a:p>
        </p:txBody>
      </p:sp>
      <p:sp>
        <p:nvSpPr>
          <p:cNvPr id="3" name="TextBox 2">
            <a:extLst>
              <a:ext uri="{FF2B5EF4-FFF2-40B4-BE49-F238E27FC236}">
                <a16:creationId xmlns:a16="http://schemas.microsoft.com/office/drawing/2014/main" id="{4CFCB5E6-6AFC-0E19-26A4-9A8351D796A2}"/>
              </a:ext>
            </a:extLst>
          </p:cNvPr>
          <p:cNvSpPr txBox="1"/>
          <p:nvPr/>
        </p:nvSpPr>
        <p:spPr>
          <a:xfrm>
            <a:off x="454060" y="6070794"/>
            <a:ext cx="8210550" cy="600164"/>
          </a:xfrm>
          <a:prstGeom prst="rect">
            <a:avLst/>
          </a:prstGeom>
          <a:noFill/>
        </p:spPr>
        <p:txBody>
          <a:bodyPr wrap="square">
            <a:spAutoFit/>
          </a:bodyPr>
          <a:lstStyle/>
          <a:p>
            <a:r>
              <a:rPr lang="mn-MN" sz="1100" b="1" kern="100" dirty="0">
                <a:solidFill>
                  <a:srgbClr val="C00000"/>
                </a:solidFill>
                <a:effectLst/>
                <a:latin typeface="Times New Roman" panose="02020603050405020304" pitchFamily="18" charset="0"/>
                <a:ea typeface="Yu Mincho" panose="02020400000000000000" pitchFamily="18" charset="-128"/>
                <a:cs typeface="Times New Roman" panose="02020603050405020304" pitchFamily="18" charset="0"/>
              </a:rPr>
              <a:t> </a:t>
            </a:r>
            <a:endParaRPr lang="en-JP" sz="1100" kern="100" dirty="0">
              <a:effectLst/>
              <a:latin typeface="Times New Roman" panose="02020603050405020304" pitchFamily="18" charset="0"/>
              <a:ea typeface="Yu Mincho" panose="02020400000000000000" pitchFamily="18" charset="-128"/>
              <a:cs typeface="Times New Roman" panose="02020603050405020304" pitchFamily="18" charset="0"/>
            </a:endParaRPr>
          </a:p>
          <a:p>
            <a:r>
              <a:rPr lang="en-JP" sz="1100" b="1" kern="100" dirty="0">
                <a:effectLst/>
                <a:latin typeface="Times New Roman" panose="02020603050405020304" pitchFamily="18" charset="0"/>
                <a:ea typeface="Yu Mincho" panose="02020400000000000000" pitchFamily="18" charset="-128"/>
                <a:cs typeface="Times New Roman" panose="02020603050405020304" pitchFamily="18" charset="0"/>
              </a:rPr>
              <a:t>[8] Lightweight secure communication for CoAP-enabled Internet of Things using delegated DTLS handshake</a:t>
            </a:r>
            <a:r>
              <a:rPr lang="mn-MN" sz="1100" kern="100" dirty="0">
                <a:effectLst/>
                <a:latin typeface="Times New Roman" panose="02020603050405020304" pitchFamily="18" charset="0"/>
                <a:ea typeface="Yu Mincho" panose="02020400000000000000" pitchFamily="18" charset="-128"/>
                <a:cs typeface="Times New Roman" panose="02020603050405020304" pitchFamily="18" charset="0"/>
              </a:rPr>
              <a:t>) </a:t>
            </a:r>
            <a:r>
              <a:rPr lang="en-US" sz="1100" u="sng" kern="100" dirty="0">
                <a:solidFill>
                  <a:srgbClr val="0563C1"/>
                </a:solidFill>
                <a:effectLst/>
                <a:latin typeface="Times New Roman" panose="02020603050405020304" pitchFamily="18" charset="0"/>
                <a:ea typeface="Yu Mincho" panose="02020400000000000000" pitchFamily="18" charset="-128"/>
                <a:cs typeface="Times New Roman" panose="02020603050405020304" pitchFamily="18" charset="0"/>
                <a:hlinkClick r:id="rId2"/>
              </a:rPr>
              <a:t>https://ieeexplore.ieee.org/document/6983078</a:t>
            </a:r>
            <a:endParaRPr lang="en-JP" sz="1100" kern="100" dirty="0">
              <a:effectLst/>
              <a:latin typeface="Times New Roman" panose="02020603050405020304" pitchFamily="18" charset="0"/>
              <a:ea typeface="Yu Mincho" panose="02020400000000000000" pitchFamily="18" charset="-128"/>
              <a:cs typeface="Times New Roman" panose="02020603050405020304" pitchFamily="18" charset="0"/>
            </a:endParaRPr>
          </a:p>
        </p:txBody>
      </p:sp>
      <p:sp>
        <p:nvSpPr>
          <p:cNvPr id="4" name="Slide Number Placeholder 3">
            <a:extLst>
              <a:ext uri="{FF2B5EF4-FFF2-40B4-BE49-F238E27FC236}">
                <a16:creationId xmlns:a16="http://schemas.microsoft.com/office/drawing/2014/main" id="{1B4A7266-731E-F796-D5C8-46868D382A77}"/>
              </a:ext>
            </a:extLst>
          </p:cNvPr>
          <p:cNvSpPr>
            <a:spLocks noGrp="1"/>
          </p:cNvSpPr>
          <p:nvPr>
            <p:ph type="sldNum" sz="quarter" idx="12"/>
          </p:nvPr>
        </p:nvSpPr>
        <p:spPr/>
        <p:txBody>
          <a:bodyPr/>
          <a:lstStyle/>
          <a:p>
            <a:fld id="{828F3BD4-1AF2-D144-8129-4D42AD448F5E}" type="slidenum">
              <a:rPr lang="en-JP" smtClean="0"/>
              <a:t>51</a:t>
            </a:fld>
            <a:endParaRPr lang="en-JP"/>
          </a:p>
        </p:txBody>
      </p:sp>
    </p:spTree>
    <p:extLst>
      <p:ext uri="{BB962C8B-B14F-4D97-AF65-F5344CB8AC3E}">
        <p14:creationId xmlns:p14="http://schemas.microsoft.com/office/powerpoint/2010/main" val="1326304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EE773B3-38AF-2D61-0368-6CFDB6CA9EF2}"/>
              </a:ext>
            </a:extLst>
          </p:cNvPr>
          <p:cNvSpPr/>
          <p:nvPr/>
        </p:nvSpPr>
        <p:spPr>
          <a:xfrm>
            <a:off x="160441" y="752454"/>
            <a:ext cx="1695035" cy="1216280"/>
          </a:xfrm>
          <a:prstGeom prst="roundRect">
            <a:avLst/>
          </a:prstGeom>
          <a:solidFill>
            <a:schemeClr val="tx2">
              <a:lumMod val="10000"/>
              <a:lumOff val="9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eiryo" panose="020B0604030504040204" pitchFamily="34" charset="-128"/>
                <a:ea typeface="Meiryo" panose="020B0604030504040204" pitchFamily="34" charset="-128"/>
              </a:rPr>
              <a:t>Temperature CoAP- get /temp</a:t>
            </a:r>
          </a:p>
          <a:p>
            <a:pPr algn="ctr"/>
            <a:r>
              <a:rPr lang="en-US" sz="1600" dirty="0">
                <a:solidFill>
                  <a:schemeClr val="tx1"/>
                </a:solidFill>
                <a:latin typeface="Meiryo" panose="020B0604030504040204" pitchFamily="34" charset="-128"/>
                <a:ea typeface="Meiryo" panose="020B0604030504040204" pitchFamily="34" charset="-128"/>
              </a:rPr>
              <a:t>192.168.1.10</a:t>
            </a:r>
          </a:p>
        </p:txBody>
      </p:sp>
      <p:sp>
        <p:nvSpPr>
          <p:cNvPr id="6" name="Rectangle: Rounded Corners 5">
            <a:extLst>
              <a:ext uri="{FF2B5EF4-FFF2-40B4-BE49-F238E27FC236}">
                <a16:creationId xmlns:a16="http://schemas.microsoft.com/office/drawing/2014/main" id="{9E2F9DA3-A26D-525D-75C9-3834123163A1}"/>
              </a:ext>
            </a:extLst>
          </p:cNvPr>
          <p:cNvSpPr/>
          <p:nvPr/>
        </p:nvSpPr>
        <p:spPr>
          <a:xfrm>
            <a:off x="116181" y="2394029"/>
            <a:ext cx="1783556" cy="1034971"/>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latin typeface="Meiryo" panose="020B0604030504040204" pitchFamily="34" charset="-128"/>
              <a:ea typeface="Meiryo" panose="020B0604030504040204" pitchFamily="34" charset="-128"/>
            </a:endParaRPr>
          </a:p>
          <a:p>
            <a:pPr algn="ctr"/>
            <a:r>
              <a:rPr lang="en-US" sz="1600" dirty="0">
                <a:solidFill>
                  <a:schemeClr val="tx1"/>
                </a:solidFill>
                <a:latin typeface="Meiryo" panose="020B0604030504040204" pitchFamily="34" charset="-128"/>
                <a:ea typeface="Meiryo" panose="020B0604030504040204" pitchFamily="34" charset="-128"/>
              </a:rPr>
              <a:t>Door lock (sensor2)</a:t>
            </a:r>
          </a:p>
          <a:p>
            <a:pPr algn="ctr"/>
            <a:r>
              <a:rPr lang="en-US" sz="1600" dirty="0">
                <a:solidFill>
                  <a:schemeClr val="tx1"/>
                </a:solidFill>
                <a:latin typeface="Meiryo" panose="020B0604030504040204" pitchFamily="34" charset="-128"/>
                <a:ea typeface="Meiryo" panose="020B0604030504040204" pitchFamily="34" charset="-128"/>
              </a:rPr>
              <a:t>192.168.1.11</a:t>
            </a:r>
          </a:p>
          <a:p>
            <a:pPr algn="ctr"/>
            <a:endParaRPr lang="en-US" sz="1400" dirty="0">
              <a:solidFill>
                <a:schemeClr val="tx1"/>
              </a:solidFill>
              <a:latin typeface="Meiryo" panose="020B0604030504040204" pitchFamily="34" charset="-128"/>
              <a:ea typeface="Meiryo" panose="020B0604030504040204" pitchFamily="34" charset="-128"/>
            </a:endParaRPr>
          </a:p>
        </p:txBody>
      </p:sp>
      <p:sp>
        <p:nvSpPr>
          <p:cNvPr id="7" name="Rectangle: Rounded Corners 6">
            <a:extLst>
              <a:ext uri="{FF2B5EF4-FFF2-40B4-BE49-F238E27FC236}">
                <a16:creationId xmlns:a16="http://schemas.microsoft.com/office/drawing/2014/main" id="{45F7AF2F-98FD-1716-7AC4-B03C8FA4687A}"/>
              </a:ext>
            </a:extLst>
          </p:cNvPr>
          <p:cNvSpPr/>
          <p:nvPr/>
        </p:nvSpPr>
        <p:spPr>
          <a:xfrm>
            <a:off x="242973" y="3833702"/>
            <a:ext cx="1933285" cy="1009243"/>
          </a:xfrm>
          <a:prstGeom prst="roundRect">
            <a:avLst/>
          </a:prstGeom>
          <a:solidFill>
            <a:schemeClr val="accent2">
              <a:lumMod val="20000"/>
              <a:lumOff val="80000"/>
            </a:schemeClr>
          </a:solidFill>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600" dirty="0">
              <a:latin typeface="Meiryo" panose="020B0604030504040204" pitchFamily="34" charset="-128"/>
              <a:ea typeface="Meiryo" panose="020B0604030504040204" pitchFamily="34" charset="-128"/>
            </a:endParaRPr>
          </a:p>
          <a:p>
            <a:pPr algn="ctr"/>
            <a:r>
              <a:rPr lang="en-US" sz="1600" dirty="0">
                <a:latin typeface="Meiryo" panose="020B0604030504040204" pitchFamily="34" charset="-128"/>
                <a:ea typeface="Meiryo" panose="020B0604030504040204" pitchFamily="34" charset="-128"/>
              </a:rPr>
              <a:t>Attacker </a:t>
            </a:r>
          </a:p>
          <a:p>
            <a:pPr algn="ctr"/>
            <a:r>
              <a:rPr lang="en-US" sz="1600" dirty="0">
                <a:latin typeface="Meiryo" panose="020B0604030504040204" pitchFamily="34" charset="-128"/>
                <a:ea typeface="Meiryo" panose="020B0604030504040204" pitchFamily="34" charset="-128"/>
              </a:rPr>
              <a:t>CoAP flood / Dos</a:t>
            </a:r>
          </a:p>
          <a:p>
            <a:pPr algn="ctr"/>
            <a:r>
              <a:rPr lang="en-US" sz="1600" dirty="0">
                <a:solidFill>
                  <a:schemeClr val="tx1"/>
                </a:solidFill>
                <a:latin typeface="Meiryo" panose="020B0604030504040204" pitchFamily="34" charset="-128"/>
                <a:ea typeface="Meiryo" panose="020B0604030504040204" pitchFamily="34" charset="-128"/>
              </a:rPr>
              <a:t>192.168.1.50</a:t>
            </a:r>
          </a:p>
          <a:p>
            <a:pPr algn="ctr"/>
            <a:endParaRPr lang="en-US" sz="1600" dirty="0">
              <a:latin typeface="Meiryo" panose="020B0604030504040204" pitchFamily="34" charset="-128"/>
              <a:ea typeface="Meiryo" panose="020B0604030504040204" pitchFamily="34" charset="-128"/>
            </a:endParaRPr>
          </a:p>
        </p:txBody>
      </p:sp>
      <p:sp>
        <p:nvSpPr>
          <p:cNvPr id="8" name="Rectangle: Rounded Corners 7">
            <a:extLst>
              <a:ext uri="{FF2B5EF4-FFF2-40B4-BE49-F238E27FC236}">
                <a16:creationId xmlns:a16="http://schemas.microsoft.com/office/drawing/2014/main" id="{08EAFC1D-ED5C-8C38-1EE5-F24E67A4B920}"/>
              </a:ext>
            </a:extLst>
          </p:cNvPr>
          <p:cNvSpPr/>
          <p:nvPr/>
        </p:nvSpPr>
        <p:spPr>
          <a:xfrm>
            <a:off x="2720586" y="2284300"/>
            <a:ext cx="1854578" cy="1034971"/>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Meiryo" panose="020B0604030504040204" pitchFamily="34" charset="-128"/>
                <a:ea typeface="Meiryo" panose="020B0604030504040204" pitchFamily="34" charset="-128"/>
              </a:rPr>
              <a:t>Router/Switch </a:t>
            </a:r>
          </a:p>
          <a:p>
            <a:pPr algn="ctr"/>
            <a:r>
              <a:rPr lang="en-US" sz="1600" dirty="0">
                <a:solidFill>
                  <a:schemeClr val="tx1"/>
                </a:solidFill>
                <a:latin typeface="Meiryo" panose="020B0604030504040204" pitchFamily="34" charset="-128"/>
                <a:ea typeface="Meiryo" panose="020B0604030504040204" pitchFamily="34" charset="-128"/>
              </a:rPr>
              <a:t>192.168.1.1</a:t>
            </a:r>
          </a:p>
          <a:p>
            <a:pPr algn="ctr"/>
            <a:r>
              <a:rPr lang="ja-JP" altLang="en-US" sz="1600" b="1">
                <a:solidFill>
                  <a:schemeClr val="tx1"/>
                </a:solidFill>
                <a:latin typeface="Meiryo" panose="020B0604030504040204" pitchFamily="34" charset="-128"/>
                <a:ea typeface="Meiryo" panose="020B0604030504040204" pitchFamily="34" charset="-128"/>
              </a:rPr>
              <a:t>単純転送</a:t>
            </a:r>
            <a:endParaRPr lang="en-US" sz="1600" b="1" dirty="0">
              <a:solidFill>
                <a:schemeClr val="tx1"/>
              </a:solidFill>
              <a:latin typeface="Meiryo" panose="020B0604030504040204" pitchFamily="34" charset="-128"/>
              <a:ea typeface="Meiryo" panose="020B0604030504040204" pitchFamily="34" charset="-128"/>
            </a:endParaRPr>
          </a:p>
        </p:txBody>
      </p:sp>
      <p:cxnSp>
        <p:nvCxnSpPr>
          <p:cNvPr id="12" name="Straight Arrow Connector 11">
            <a:extLst>
              <a:ext uri="{FF2B5EF4-FFF2-40B4-BE49-F238E27FC236}">
                <a16:creationId xmlns:a16="http://schemas.microsoft.com/office/drawing/2014/main" id="{833D8D35-EF89-39F0-4D50-6A5D813AF0B6}"/>
              </a:ext>
            </a:extLst>
          </p:cNvPr>
          <p:cNvCxnSpPr>
            <a:cxnSpLocks/>
            <a:stCxn id="5" idx="3"/>
            <a:endCxn id="8" idx="0"/>
          </p:cNvCxnSpPr>
          <p:nvPr/>
        </p:nvCxnSpPr>
        <p:spPr>
          <a:xfrm>
            <a:off x="1855476" y="1360594"/>
            <a:ext cx="1792399" cy="923706"/>
          </a:xfrm>
          <a:prstGeom prst="straightConnector1">
            <a:avLst/>
          </a:prstGeom>
          <a:ln w="41275">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CB9D9031-9BCD-DF15-6E69-6B5FACDA6888}"/>
              </a:ext>
            </a:extLst>
          </p:cNvPr>
          <p:cNvCxnSpPr>
            <a:cxnSpLocks/>
            <a:stCxn id="6" idx="3"/>
          </p:cNvCxnSpPr>
          <p:nvPr/>
        </p:nvCxnSpPr>
        <p:spPr>
          <a:xfrm>
            <a:off x="1899737" y="2911515"/>
            <a:ext cx="857941" cy="0"/>
          </a:xfrm>
          <a:prstGeom prst="straightConnector1">
            <a:avLst/>
          </a:prstGeom>
          <a:ln w="41275">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E4F6FE78-5493-E4E1-4424-73AB907B88B7}"/>
              </a:ext>
            </a:extLst>
          </p:cNvPr>
          <p:cNvCxnSpPr>
            <a:cxnSpLocks/>
            <a:stCxn id="7" idx="0"/>
            <a:endCxn id="8" idx="2"/>
          </p:cNvCxnSpPr>
          <p:nvPr/>
        </p:nvCxnSpPr>
        <p:spPr>
          <a:xfrm flipV="1">
            <a:off x="1209616" y="3319271"/>
            <a:ext cx="2438259" cy="514431"/>
          </a:xfrm>
          <a:prstGeom prst="straightConnector1">
            <a:avLst/>
          </a:prstGeom>
          <a:ln w="41275">
            <a:tailEnd type="triangle"/>
          </a:ln>
        </p:spPr>
        <p:style>
          <a:lnRef idx="2">
            <a:schemeClr val="accent2"/>
          </a:lnRef>
          <a:fillRef idx="0">
            <a:schemeClr val="accent2"/>
          </a:fillRef>
          <a:effectRef idx="1">
            <a:schemeClr val="accent2"/>
          </a:effectRef>
          <a:fontRef idx="minor">
            <a:schemeClr val="tx1"/>
          </a:fontRef>
        </p:style>
      </p:cxnSp>
      <p:cxnSp>
        <p:nvCxnSpPr>
          <p:cNvPr id="20" name="Straight Arrow Connector 19">
            <a:extLst>
              <a:ext uri="{FF2B5EF4-FFF2-40B4-BE49-F238E27FC236}">
                <a16:creationId xmlns:a16="http://schemas.microsoft.com/office/drawing/2014/main" id="{32FE953D-67BC-EBDA-8FC0-FD2D7F244010}"/>
              </a:ext>
            </a:extLst>
          </p:cNvPr>
          <p:cNvCxnSpPr>
            <a:cxnSpLocks/>
            <a:stCxn id="8" idx="3"/>
          </p:cNvCxnSpPr>
          <p:nvPr/>
        </p:nvCxnSpPr>
        <p:spPr>
          <a:xfrm>
            <a:off x="4575164" y="2801786"/>
            <a:ext cx="1194275" cy="0"/>
          </a:xfrm>
          <a:prstGeom prst="straightConnector1">
            <a:avLst/>
          </a:prstGeom>
          <a:ln w="73025">
            <a:solidFill>
              <a:schemeClr val="tx1"/>
            </a:solidFill>
            <a:tailEnd type="triangle"/>
          </a:ln>
        </p:spPr>
        <p:style>
          <a:lnRef idx="2">
            <a:schemeClr val="accent6"/>
          </a:lnRef>
          <a:fillRef idx="0">
            <a:schemeClr val="accent6"/>
          </a:fillRef>
          <a:effectRef idx="1">
            <a:schemeClr val="accent6"/>
          </a:effectRef>
          <a:fontRef idx="minor">
            <a:schemeClr val="tx1"/>
          </a:fontRef>
        </p:style>
      </p:cxnSp>
      <p:sp>
        <p:nvSpPr>
          <p:cNvPr id="35" name="TextBox 34">
            <a:extLst>
              <a:ext uri="{FF2B5EF4-FFF2-40B4-BE49-F238E27FC236}">
                <a16:creationId xmlns:a16="http://schemas.microsoft.com/office/drawing/2014/main" id="{B8CA54B4-2898-B5FA-3FD4-D1DCF8CBAD53}"/>
              </a:ext>
            </a:extLst>
          </p:cNvPr>
          <p:cNvSpPr txBox="1"/>
          <p:nvPr/>
        </p:nvSpPr>
        <p:spPr>
          <a:xfrm>
            <a:off x="4542032" y="2356803"/>
            <a:ext cx="1207895" cy="338554"/>
          </a:xfrm>
          <a:prstGeom prst="rect">
            <a:avLst/>
          </a:prstGeom>
          <a:noFill/>
        </p:spPr>
        <p:txBody>
          <a:bodyPr wrap="none" rtlCol="0">
            <a:spAutoFit/>
          </a:bodyPr>
          <a:lstStyle/>
          <a:p>
            <a:r>
              <a:rPr lang="en-US" sz="1600" b="1" dirty="0">
                <a:latin typeface="Meiryo" panose="020B0604030504040204" pitchFamily="34" charset="-128"/>
                <a:ea typeface="Meiryo" panose="020B0604030504040204" pitchFamily="34" charset="-128"/>
              </a:rPr>
              <a:t>All Traffic</a:t>
            </a:r>
          </a:p>
        </p:txBody>
      </p:sp>
      <p:sp>
        <p:nvSpPr>
          <p:cNvPr id="38" name="Rectangle 37">
            <a:extLst>
              <a:ext uri="{FF2B5EF4-FFF2-40B4-BE49-F238E27FC236}">
                <a16:creationId xmlns:a16="http://schemas.microsoft.com/office/drawing/2014/main" id="{6DD4EB23-F661-7B07-0839-967306F2F6E3}"/>
              </a:ext>
            </a:extLst>
          </p:cNvPr>
          <p:cNvSpPr/>
          <p:nvPr/>
        </p:nvSpPr>
        <p:spPr>
          <a:xfrm>
            <a:off x="788473" y="6407130"/>
            <a:ext cx="119063" cy="12858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Times New Roman" panose="02020603050405020304" pitchFamily="18" charset="0"/>
              <a:cs typeface="Times New Roman" panose="02020603050405020304" pitchFamily="18" charset="0"/>
            </a:endParaRPr>
          </a:p>
        </p:txBody>
      </p:sp>
      <p:sp>
        <p:nvSpPr>
          <p:cNvPr id="39" name="Rectangle 38">
            <a:extLst>
              <a:ext uri="{FF2B5EF4-FFF2-40B4-BE49-F238E27FC236}">
                <a16:creationId xmlns:a16="http://schemas.microsoft.com/office/drawing/2014/main" id="{5C8EB882-64FF-F920-A7BD-9CDA51941385}"/>
              </a:ext>
            </a:extLst>
          </p:cNvPr>
          <p:cNvSpPr/>
          <p:nvPr/>
        </p:nvSpPr>
        <p:spPr>
          <a:xfrm>
            <a:off x="2515079" y="6404749"/>
            <a:ext cx="119063" cy="128588"/>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Times New Roman" panose="02020603050405020304" pitchFamily="18" charset="0"/>
              <a:cs typeface="Times New Roman" panose="02020603050405020304" pitchFamily="18" charset="0"/>
            </a:endParaRPr>
          </a:p>
        </p:txBody>
      </p:sp>
      <p:sp>
        <p:nvSpPr>
          <p:cNvPr id="40" name="Rectangle 39">
            <a:extLst>
              <a:ext uri="{FF2B5EF4-FFF2-40B4-BE49-F238E27FC236}">
                <a16:creationId xmlns:a16="http://schemas.microsoft.com/office/drawing/2014/main" id="{9ADDBCB2-21DF-AE3E-523B-41A914B9A7D6}"/>
              </a:ext>
            </a:extLst>
          </p:cNvPr>
          <p:cNvSpPr/>
          <p:nvPr/>
        </p:nvSpPr>
        <p:spPr>
          <a:xfrm>
            <a:off x="4442481" y="6381666"/>
            <a:ext cx="119063" cy="128588"/>
          </a:xfrm>
          <a:prstGeom prst="rect">
            <a:avLst/>
          </a:prstGeom>
          <a:solidFill>
            <a:schemeClr val="accent2">
              <a:lumMod val="20000"/>
              <a:lumOff val="8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Times New Roman" panose="02020603050405020304" pitchFamily="18" charset="0"/>
              <a:cs typeface="Times New Roman" panose="02020603050405020304" pitchFamily="18" charset="0"/>
            </a:endParaRPr>
          </a:p>
        </p:txBody>
      </p:sp>
      <p:sp>
        <p:nvSpPr>
          <p:cNvPr id="41" name="Rectangle 40">
            <a:extLst>
              <a:ext uri="{FF2B5EF4-FFF2-40B4-BE49-F238E27FC236}">
                <a16:creationId xmlns:a16="http://schemas.microsoft.com/office/drawing/2014/main" id="{0238BA42-FA1A-9977-88FD-3CC1D5C44A8F}"/>
              </a:ext>
            </a:extLst>
          </p:cNvPr>
          <p:cNvSpPr/>
          <p:nvPr/>
        </p:nvSpPr>
        <p:spPr>
          <a:xfrm>
            <a:off x="6161300" y="6467092"/>
            <a:ext cx="119063" cy="128588"/>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D2B20AD2-3E87-7C07-88F2-6D667F26AAB9}"/>
              </a:ext>
            </a:extLst>
          </p:cNvPr>
          <p:cNvSpPr txBox="1"/>
          <p:nvPr/>
        </p:nvSpPr>
        <p:spPr>
          <a:xfrm>
            <a:off x="907536" y="6353627"/>
            <a:ext cx="940386" cy="307777"/>
          </a:xfrm>
          <a:prstGeom prst="rect">
            <a:avLst/>
          </a:prstGeom>
          <a:noFill/>
        </p:spPr>
        <p:txBody>
          <a:bodyPr wrap="none" rtlCol="0">
            <a:spAutoFit/>
          </a:bodyPr>
          <a:lstStyle/>
          <a:p>
            <a:r>
              <a:rPr lang="en-US" sz="1400" dirty="0"/>
              <a:t>IoT Device</a:t>
            </a:r>
          </a:p>
        </p:txBody>
      </p:sp>
      <p:sp>
        <p:nvSpPr>
          <p:cNvPr id="44" name="TextBox 43">
            <a:extLst>
              <a:ext uri="{FF2B5EF4-FFF2-40B4-BE49-F238E27FC236}">
                <a16:creationId xmlns:a16="http://schemas.microsoft.com/office/drawing/2014/main" id="{5B2ED421-6264-FC87-876A-13B698E8D8EC}"/>
              </a:ext>
            </a:extLst>
          </p:cNvPr>
          <p:cNvSpPr txBox="1"/>
          <p:nvPr/>
        </p:nvSpPr>
        <p:spPr>
          <a:xfrm>
            <a:off x="2678072" y="6356351"/>
            <a:ext cx="1091774" cy="307777"/>
          </a:xfrm>
          <a:prstGeom prst="rect">
            <a:avLst/>
          </a:prstGeom>
          <a:noFill/>
        </p:spPr>
        <p:txBody>
          <a:bodyPr wrap="none" rtlCol="0">
            <a:spAutoFit/>
          </a:bodyPr>
          <a:lstStyle/>
          <a:p>
            <a:r>
              <a:rPr lang="en-US" sz="1400" dirty="0"/>
              <a:t>Gateway ML</a:t>
            </a:r>
          </a:p>
        </p:txBody>
      </p:sp>
      <p:sp>
        <p:nvSpPr>
          <p:cNvPr id="45" name="TextBox 44">
            <a:extLst>
              <a:ext uri="{FF2B5EF4-FFF2-40B4-BE49-F238E27FC236}">
                <a16:creationId xmlns:a16="http://schemas.microsoft.com/office/drawing/2014/main" id="{D47F3BCD-D51F-B8B3-790A-23D3B422B76A}"/>
              </a:ext>
            </a:extLst>
          </p:cNvPr>
          <p:cNvSpPr txBox="1"/>
          <p:nvPr/>
        </p:nvSpPr>
        <p:spPr>
          <a:xfrm>
            <a:off x="4669125" y="6353627"/>
            <a:ext cx="791563" cy="307777"/>
          </a:xfrm>
          <a:prstGeom prst="rect">
            <a:avLst/>
          </a:prstGeom>
          <a:noFill/>
        </p:spPr>
        <p:txBody>
          <a:bodyPr wrap="none" rtlCol="0">
            <a:spAutoFit/>
          </a:bodyPr>
          <a:lstStyle/>
          <a:p>
            <a:r>
              <a:rPr lang="en-US" sz="1400" dirty="0"/>
              <a:t>Attacker</a:t>
            </a:r>
          </a:p>
        </p:txBody>
      </p:sp>
      <p:sp>
        <p:nvSpPr>
          <p:cNvPr id="46" name="TextBox 45">
            <a:extLst>
              <a:ext uri="{FF2B5EF4-FFF2-40B4-BE49-F238E27FC236}">
                <a16:creationId xmlns:a16="http://schemas.microsoft.com/office/drawing/2014/main" id="{03D0EBEC-D5F4-00A3-6877-EDF83D6AEDEB}"/>
              </a:ext>
            </a:extLst>
          </p:cNvPr>
          <p:cNvSpPr txBox="1"/>
          <p:nvPr/>
        </p:nvSpPr>
        <p:spPr>
          <a:xfrm>
            <a:off x="6347256" y="6327281"/>
            <a:ext cx="1276311" cy="307777"/>
          </a:xfrm>
          <a:prstGeom prst="rect">
            <a:avLst/>
          </a:prstGeom>
          <a:noFill/>
        </p:spPr>
        <p:txBody>
          <a:bodyPr wrap="none" rtlCol="0">
            <a:spAutoFit/>
          </a:bodyPr>
          <a:lstStyle/>
          <a:p>
            <a:r>
              <a:rPr lang="en-US" sz="1400" dirty="0"/>
              <a:t>protected road</a:t>
            </a:r>
          </a:p>
        </p:txBody>
      </p:sp>
      <p:sp>
        <p:nvSpPr>
          <p:cNvPr id="70" name="TextBox 69">
            <a:extLst>
              <a:ext uri="{FF2B5EF4-FFF2-40B4-BE49-F238E27FC236}">
                <a16:creationId xmlns:a16="http://schemas.microsoft.com/office/drawing/2014/main" id="{5BA2D3FF-320C-E73B-73FA-FD65724477FF}"/>
              </a:ext>
            </a:extLst>
          </p:cNvPr>
          <p:cNvSpPr txBox="1"/>
          <p:nvPr/>
        </p:nvSpPr>
        <p:spPr>
          <a:xfrm rot="1724995">
            <a:off x="1973369" y="1249006"/>
            <a:ext cx="1806144" cy="523220"/>
          </a:xfrm>
          <a:prstGeom prst="rect">
            <a:avLst/>
          </a:prstGeom>
          <a:noFill/>
        </p:spPr>
        <p:txBody>
          <a:bodyPr wrap="square" rtlCol="0">
            <a:spAutoFit/>
          </a:bodyPr>
          <a:lstStyle/>
          <a:p>
            <a:r>
              <a:rPr lang="en-US" sz="1400" dirty="0"/>
              <a:t>Normal Traffic</a:t>
            </a:r>
          </a:p>
          <a:p>
            <a:r>
              <a:rPr lang="en-US" sz="1400" dirty="0"/>
              <a:t> (CoAP  Plaintext)</a:t>
            </a:r>
            <a:endParaRPr lang="en-US" sz="1400" dirty="0">
              <a:latin typeface="Meiryo" panose="020B0604030504040204" pitchFamily="34" charset="-128"/>
              <a:ea typeface="Meiryo" panose="020B0604030504040204" pitchFamily="34" charset="-128"/>
            </a:endParaRPr>
          </a:p>
        </p:txBody>
      </p:sp>
      <p:sp>
        <p:nvSpPr>
          <p:cNvPr id="73" name="Rectangle: Rounded Corners 72">
            <a:extLst>
              <a:ext uri="{FF2B5EF4-FFF2-40B4-BE49-F238E27FC236}">
                <a16:creationId xmlns:a16="http://schemas.microsoft.com/office/drawing/2014/main" id="{0860F095-FE40-02F7-4BD1-674484E97C09}"/>
              </a:ext>
            </a:extLst>
          </p:cNvPr>
          <p:cNvSpPr/>
          <p:nvPr/>
        </p:nvSpPr>
        <p:spPr>
          <a:xfrm>
            <a:off x="5740099" y="1451979"/>
            <a:ext cx="3243459" cy="2342757"/>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
            </a:pPr>
            <a:endParaRPr lang="en-US" dirty="0">
              <a:solidFill>
                <a:schemeClr val="tx1"/>
              </a:solidFill>
              <a:latin typeface="Meiryo" panose="020B0604030504040204" pitchFamily="34" charset="-128"/>
              <a:ea typeface="Meiryo" panose="020B0604030504040204" pitchFamily="34" charset="-128"/>
            </a:endParaRPr>
          </a:p>
          <a:p>
            <a:pPr marL="285750" indent="-285750" algn="ctr">
              <a:buFont typeface="Wingdings" pitchFamily="2" charset="2"/>
              <a:buChar char="§"/>
            </a:pPr>
            <a:endParaRPr lang="en-US" dirty="0">
              <a:solidFill>
                <a:schemeClr val="tx1"/>
              </a:solidFill>
              <a:latin typeface="Meiryo" panose="020B0604030504040204" pitchFamily="34" charset="-128"/>
              <a:ea typeface="Meiryo" panose="020B0604030504040204" pitchFamily="34" charset="-128"/>
            </a:endParaRPr>
          </a:p>
          <a:p>
            <a:pPr marL="285750" indent="-285750" algn="ctr">
              <a:buFont typeface="Wingdings" pitchFamily="2" charset="2"/>
              <a:buChar char="§"/>
            </a:pPr>
            <a:r>
              <a:rPr lang="en-US" sz="2000" b="1" dirty="0">
                <a:solidFill>
                  <a:schemeClr val="tx1"/>
                </a:solidFill>
                <a:latin typeface="Meiryo" panose="020B0604030504040204" pitchFamily="34" charset="-128"/>
                <a:ea typeface="Meiryo" panose="020B0604030504040204" pitchFamily="34" charset="-128"/>
              </a:rPr>
              <a:t>ML-IDS check</a:t>
            </a:r>
          </a:p>
          <a:p>
            <a:pPr marL="285750" indent="-285750" algn="ctr">
              <a:buFont typeface="Wingdings" pitchFamily="2" charset="2"/>
              <a:buChar char="§"/>
            </a:pPr>
            <a:r>
              <a:rPr lang="en-US" sz="2000" b="1" dirty="0">
                <a:solidFill>
                  <a:schemeClr val="tx1"/>
                </a:solidFill>
                <a:latin typeface="Meiryo" panose="020B0604030504040204" pitchFamily="34" charset="-128"/>
                <a:ea typeface="Meiryo" panose="020B0604030504040204" pitchFamily="34" charset="-128"/>
              </a:rPr>
              <a:t>Attack –drop</a:t>
            </a:r>
          </a:p>
          <a:p>
            <a:pPr algn="ctr"/>
            <a:r>
              <a:rPr lang="en-US" sz="2000" b="1" dirty="0">
                <a:solidFill>
                  <a:schemeClr val="tx1"/>
                </a:solidFill>
                <a:latin typeface="Meiryo" panose="020B0604030504040204" pitchFamily="34" charset="-128"/>
                <a:ea typeface="Meiryo" panose="020B0604030504040204" pitchFamily="34" charset="-128"/>
              </a:rPr>
              <a:t>or</a:t>
            </a:r>
          </a:p>
          <a:p>
            <a:pPr marL="285750" indent="-285750" algn="ctr">
              <a:buFont typeface="Wingdings" pitchFamily="2" charset="2"/>
              <a:buChar char="§"/>
            </a:pPr>
            <a:r>
              <a:rPr lang="en-US" sz="2000" b="1" dirty="0">
                <a:solidFill>
                  <a:schemeClr val="tx1"/>
                </a:solidFill>
                <a:latin typeface="Meiryo" panose="020B0604030504040204" pitchFamily="34" charset="-128"/>
                <a:ea typeface="Meiryo" panose="020B0604030504040204" pitchFamily="34" charset="-128"/>
              </a:rPr>
              <a:t>Normal traffic</a:t>
            </a:r>
          </a:p>
          <a:p>
            <a:pPr marL="285750" indent="-285750" algn="ctr">
              <a:buFont typeface="Wingdings" pitchFamily="2" charset="2"/>
              <a:buChar char="§"/>
            </a:pPr>
            <a:endParaRPr lang="en-US" sz="2000" b="1" dirty="0">
              <a:solidFill>
                <a:schemeClr val="tx1"/>
              </a:solidFill>
              <a:latin typeface="Meiryo" panose="020B0604030504040204" pitchFamily="34" charset="-128"/>
              <a:ea typeface="Meiryo" panose="020B0604030504040204" pitchFamily="34" charset="-128"/>
            </a:endParaRPr>
          </a:p>
          <a:p>
            <a:pPr algn="ctr"/>
            <a:r>
              <a:rPr lang="en-US" sz="2000" b="1" dirty="0">
                <a:solidFill>
                  <a:schemeClr val="tx1"/>
                </a:solidFill>
                <a:latin typeface="Meiryo" panose="020B0604030504040204" pitchFamily="34" charset="-128"/>
                <a:ea typeface="Meiryo" panose="020B0604030504040204" pitchFamily="34" charset="-128"/>
              </a:rPr>
              <a:t>DTLS</a:t>
            </a:r>
            <a:r>
              <a:rPr lang="ja-JP" altLang="en-US" sz="2000" b="1">
                <a:solidFill>
                  <a:schemeClr val="tx1"/>
                </a:solidFill>
                <a:latin typeface="Meiryo" panose="020B0604030504040204" pitchFamily="34" charset="-128"/>
                <a:ea typeface="Meiryo" panose="020B0604030504040204" pitchFamily="34" charset="-128"/>
              </a:rPr>
              <a:t>で暗号化して送信</a:t>
            </a:r>
            <a:endParaRPr lang="en-US" sz="2000" b="1" dirty="0">
              <a:solidFill>
                <a:schemeClr val="tx1"/>
              </a:solidFill>
              <a:latin typeface="Meiryo" panose="020B0604030504040204" pitchFamily="34" charset="-128"/>
              <a:ea typeface="Meiryo" panose="020B0604030504040204" pitchFamily="34" charset="-128"/>
            </a:endParaRPr>
          </a:p>
          <a:p>
            <a:pPr algn="ctr"/>
            <a:r>
              <a:rPr lang="en-US" dirty="0">
                <a:solidFill>
                  <a:schemeClr val="tx1"/>
                </a:solidFill>
                <a:latin typeface="Meiryo" panose="020B0604030504040204" pitchFamily="34" charset="-128"/>
                <a:ea typeface="Meiryo" panose="020B0604030504040204" pitchFamily="34" charset="-128"/>
              </a:rPr>
              <a:t>192.168.1.100</a:t>
            </a:r>
          </a:p>
          <a:p>
            <a:pPr algn="ctr"/>
            <a:endParaRPr lang="en-US" sz="1400" dirty="0">
              <a:solidFill>
                <a:schemeClr val="tx1"/>
              </a:solidFill>
              <a:latin typeface="Meiryo" panose="020B0604030504040204" pitchFamily="34" charset="-128"/>
              <a:ea typeface="Meiryo" panose="020B0604030504040204" pitchFamily="34" charset="-128"/>
            </a:endParaRPr>
          </a:p>
        </p:txBody>
      </p:sp>
      <p:sp>
        <p:nvSpPr>
          <p:cNvPr id="75" name="Rectangle: Rounded Corners 74">
            <a:extLst>
              <a:ext uri="{FF2B5EF4-FFF2-40B4-BE49-F238E27FC236}">
                <a16:creationId xmlns:a16="http://schemas.microsoft.com/office/drawing/2014/main" id="{260D789C-426C-237D-E202-28AA4C544847}"/>
              </a:ext>
            </a:extLst>
          </p:cNvPr>
          <p:cNvSpPr/>
          <p:nvPr/>
        </p:nvSpPr>
        <p:spPr>
          <a:xfrm>
            <a:off x="6347256" y="4659295"/>
            <a:ext cx="2168094" cy="1335768"/>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dirty="0">
              <a:solidFill>
                <a:schemeClr val="tx1"/>
              </a:solidFill>
              <a:latin typeface="Meiryo" panose="020B0604030504040204" pitchFamily="34" charset="-128"/>
              <a:ea typeface="Meiryo" panose="020B0604030504040204" pitchFamily="34" charset="-128"/>
            </a:endParaRPr>
          </a:p>
          <a:p>
            <a:pPr algn="ctr"/>
            <a:r>
              <a:rPr lang="en-US" b="1" dirty="0">
                <a:solidFill>
                  <a:schemeClr val="tx1"/>
                </a:solidFill>
                <a:latin typeface="Meiryo" panose="020B0604030504040204" pitchFamily="34" charset="-128"/>
                <a:ea typeface="Meiryo" panose="020B0604030504040204" pitchFamily="34" charset="-128"/>
              </a:rPr>
              <a:t>Backend server </a:t>
            </a:r>
          </a:p>
          <a:p>
            <a:pPr algn="ctr"/>
            <a:r>
              <a:rPr lang="en-US" dirty="0">
                <a:solidFill>
                  <a:schemeClr val="tx1"/>
                </a:solidFill>
                <a:latin typeface="Meiryo" panose="020B0604030504040204" pitchFamily="34" charset="-128"/>
                <a:ea typeface="Meiryo" panose="020B0604030504040204" pitchFamily="34" charset="-128"/>
              </a:rPr>
              <a:t>CoAP Server</a:t>
            </a:r>
          </a:p>
          <a:p>
            <a:pPr algn="ctr"/>
            <a:endParaRPr lang="en-US" dirty="0">
              <a:solidFill>
                <a:schemeClr val="tx1"/>
              </a:solidFill>
              <a:latin typeface="Meiryo" panose="020B0604030504040204" pitchFamily="34" charset="-128"/>
              <a:ea typeface="Meiryo" panose="020B0604030504040204" pitchFamily="34" charset="-128"/>
            </a:endParaRPr>
          </a:p>
          <a:p>
            <a:pPr algn="ctr"/>
            <a:r>
              <a:rPr lang="en-US" dirty="0">
                <a:solidFill>
                  <a:schemeClr val="tx1"/>
                </a:solidFill>
                <a:latin typeface="Meiryo" panose="020B0604030504040204" pitchFamily="34" charset="-128"/>
                <a:ea typeface="Meiryo" panose="020B0604030504040204" pitchFamily="34" charset="-128"/>
              </a:rPr>
              <a:t>192.168.1.200</a:t>
            </a:r>
          </a:p>
          <a:p>
            <a:pPr algn="ctr"/>
            <a:endParaRPr lang="en-US" sz="1400" dirty="0">
              <a:solidFill>
                <a:schemeClr val="tx1"/>
              </a:solidFill>
              <a:latin typeface="Meiryo" panose="020B0604030504040204" pitchFamily="34" charset="-128"/>
              <a:ea typeface="Meiryo" panose="020B0604030504040204" pitchFamily="34" charset="-128"/>
            </a:endParaRPr>
          </a:p>
        </p:txBody>
      </p:sp>
      <p:cxnSp>
        <p:nvCxnSpPr>
          <p:cNvPr id="82" name="Straight Arrow Connector 81">
            <a:extLst>
              <a:ext uri="{FF2B5EF4-FFF2-40B4-BE49-F238E27FC236}">
                <a16:creationId xmlns:a16="http://schemas.microsoft.com/office/drawing/2014/main" id="{A6B7D6C7-DD19-43AC-ABC0-643949FAAC46}"/>
              </a:ext>
            </a:extLst>
          </p:cNvPr>
          <p:cNvCxnSpPr>
            <a:cxnSpLocks/>
            <a:stCxn id="73" idx="2"/>
          </p:cNvCxnSpPr>
          <p:nvPr/>
        </p:nvCxnSpPr>
        <p:spPr>
          <a:xfrm>
            <a:off x="7361829" y="3794736"/>
            <a:ext cx="0" cy="825592"/>
          </a:xfrm>
          <a:prstGeom prst="straightConnector1">
            <a:avLst/>
          </a:prstGeom>
          <a:ln w="44450">
            <a:tailEnd type="triangle"/>
          </a:ln>
        </p:spPr>
        <p:style>
          <a:lnRef idx="2">
            <a:schemeClr val="accent6"/>
          </a:lnRef>
          <a:fillRef idx="0">
            <a:schemeClr val="accent6"/>
          </a:fillRef>
          <a:effectRef idx="1">
            <a:schemeClr val="accent6"/>
          </a:effectRef>
          <a:fontRef idx="minor">
            <a:schemeClr val="tx1"/>
          </a:fontRef>
        </p:style>
      </p:cxnSp>
      <p:sp>
        <p:nvSpPr>
          <p:cNvPr id="26" name="Shape 0">
            <a:extLst>
              <a:ext uri="{FF2B5EF4-FFF2-40B4-BE49-F238E27FC236}">
                <a16:creationId xmlns:a16="http://schemas.microsoft.com/office/drawing/2014/main" id="{FA54461C-5235-7D15-D978-89B8B5055506}"/>
              </a:ext>
            </a:extLst>
          </p:cNvPr>
          <p:cNvSpPr/>
          <p:nvPr/>
        </p:nvSpPr>
        <p:spPr>
          <a:xfrm>
            <a:off x="0" y="0"/>
            <a:ext cx="9144000" cy="484528"/>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r>
              <a:rPr lang="en-US" altLang="ja-JP" sz="2800" dirty="0">
                <a:solidFill>
                  <a:srgbClr val="222222"/>
                </a:solidFill>
                <a:latin typeface="Meiryo" panose="020B0604030504040204" pitchFamily="34" charset="-128"/>
                <a:ea typeface="Meiryo" panose="020B0604030504040204" pitchFamily="34" charset="-128"/>
              </a:rPr>
              <a:t>(</a:t>
            </a:r>
            <a:r>
              <a:rPr lang="en-US" altLang="ja-JP" sz="2800" b="1" dirty="0">
                <a:solidFill>
                  <a:srgbClr val="222222"/>
                </a:solidFill>
                <a:latin typeface="Meiryo" panose="020B0604030504040204" pitchFamily="34" charset="-128"/>
                <a:ea typeface="Meiryo" panose="020B0604030504040204" pitchFamily="34" charset="-128"/>
              </a:rPr>
              <a:t>ML based-IDS +DTLS+CoAP</a:t>
            </a:r>
            <a:r>
              <a:rPr lang="en-US" altLang="ja-JP" sz="2800" b="1" dirty="0">
                <a:solidFill>
                  <a:srgbClr val="222222"/>
                </a:solidFill>
                <a:latin typeface="Arial" panose="020B0604020202020204" pitchFamily="34" charset="0"/>
              </a:rPr>
              <a:t>)</a:t>
            </a:r>
            <a:r>
              <a:rPr lang="en-JP" altLang="ja-JP" sz="2800" b="1" dirty="0">
                <a:solidFill>
                  <a:srgbClr val="222222"/>
                </a:solidFill>
              </a:rPr>
              <a:t> </a:t>
            </a:r>
            <a:r>
              <a:rPr lang="ja-JP" altLang="en-US" sz="2800" b="1">
                <a:latin typeface="Meiryo" panose="020B0604030504040204" pitchFamily="34" charset="-128"/>
                <a:ea typeface="Meiryo" panose="020B0604030504040204" pitchFamily="34" charset="-128"/>
              </a:rPr>
              <a:t>のシステム</a:t>
            </a:r>
            <a:r>
              <a:rPr lang="ja-JP" altLang="en-US" sz="2800" b="1">
                <a:solidFill>
                  <a:srgbClr val="222222"/>
                </a:solidFill>
                <a:latin typeface="Meiryo" panose="020B0604030504040204" pitchFamily="34" charset="-128"/>
                <a:ea typeface="Meiryo" panose="020B0604030504040204" pitchFamily="34" charset="-128"/>
              </a:rPr>
              <a:t>構成</a:t>
            </a:r>
            <a:endParaRPr lang="en-US" sz="2800" b="1" dirty="0">
              <a:solidFill>
                <a:srgbClr val="000000"/>
              </a:solidFill>
              <a:latin typeface="Meiryo" panose="020B0604030504040204" pitchFamily="34" charset="-128"/>
              <a:ea typeface="Meiryo" panose="020B0604030504040204" pitchFamily="34" charset="-128"/>
            </a:endParaRPr>
          </a:p>
          <a:p>
            <a:endParaRPr lang="en-JP" sz="2800" dirty="0"/>
          </a:p>
          <a:p>
            <a:endParaRPr lang="en-JP" sz="2800" b="1" dirty="0"/>
          </a:p>
        </p:txBody>
      </p:sp>
      <p:sp>
        <p:nvSpPr>
          <p:cNvPr id="33" name="Slide Number Placeholder 32">
            <a:extLst>
              <a:ext uri="{FF2B5EF4-FFF2-40B4-BE49-F238E27FC236}">
                <a16:creationId xmlns:a16="http://schemas.microsoft.com/office/drawing/2014/main" id="{19732CDF-2E08-2DE6-D565-F18F829A2D70}"/>
              </a:ext>
            </a:extLst>
          </p:cNvPr>
          <p:cNvSpPr>
            <a:spLocks noGrp="1"/>
          </p:cNvSpPr>
          <p:nvPr>
            <p:ph type="sldNum" sz="quarter" idx="12"/>
          </p:nvPr>
        </p:nvSpPr>
        <p:spPr/>
        <p:txBody>
          <a:bodyPr/>
          <a:lstStyle/>
          <a:p>
            <a:fld id="{828F3BD4-1AF2-D144-8129-4D42AD448F5E}" type="slidenum">
              <a:rPr lang="en-JP" smtClean="0"/>
              <a:t>52</a:t>
            </a:fld>
            <a:endParaRPr lang="en-JP"/>
          </a:p>
        </p:txBody>
      </p:sp>
      <p:sp>
        <p:nvSpPr>
          <p:cNvPr id="37" name="TextBox 36">
            <a:extLst>
              <a:ext uri="{FF2B5EF4-FFF2-40B4-BE49-F238E27FC236}">
                <a16:creationId xmlns:a16="http://schemas.microsoft.com/office/drawing/2014/main" id="{F9A764AF-D57E-C6BC-23BE-7F4B37263C7F}"/>
              </a:ext>
            </a:extLst>
          </p:cNvPr>
          <p:cNvSpPr txBox="1"/>
          <p:nvPr/>
        </p:nvSpPr>
        <p:spPr>
          <a:xfrm>
            <a:off x="5920061" y="1021339"/>
            <a:ext cx="2385607" cy="369332"/>
          </a:xfrm>
          <a:prstGeom prst="rect">
            <a:avLst/>
          </a:prstGeom>
          <a:noFill/>
        </p:spPr>
        <p:txBody>
          <a:bodyPr wrap="square" rtlCol="0">
            <a:spAutoFit/>
          </a:bodyPr>
          <a:lstStyle/>
          <a:p>
            <a:pPr algn="ctr"/>
            <a:r>
              <a:rPr lang="en-US" sz="1800" b="1" dirty="0">
                <a:solidFill>
                  <a:schemeClr val="tx1"/>
                </a:solidFill>
                <a:latin typeface="Meiryo" panose="020B0604030504040204" pitchFamily="34" charset="-128"/>
                <a:ea typeface="Meiryo" panose="020B0604030504040204" pitchFamily="34" charset="-128"/>
              </a:rPr>
              <a:t>RPI </a:t>
            </a:r>
            <a:r>
              <a:rPr lang="en-US" b="1" dirty="0">
                <a:latin typeface="Meiryo" panose="020B0604030504040204" pitchFamily="34" charset="-128"/>
                <a:ea typeface="Meiryo" panose="020B0604030504040204" pitchFamily="34" charset="-128"/>
              </a:rPr>
              <a:t>(</a:t>
            </a:r>
            <a:r>
              <a:rPr lang="en-US" sz="1800" b="1" dirty="0">
                <a:solidFill>
                  <a:schemeClr val="tx1"/>
                </a:solidFill>
                <a:latin typeface="Meiryo" panose="020B0604030504040204" pitchFamily="34" charset="-128"/>
                <a:ea typeface="Meiryo" panose="020B0604030504040204" pitchFamily="34" charset="-128"/>
              </a:rPr>
              <a:t>Gateway)</a:t>
            </a:r>
            <a:r>
              <a:rPr lang="en-US" sz="1800" b="1" dirty="0" err="1">
                <a:solidFill>
                  <a:schemeClr val="tx1"/>
                </a:solidFill>
                <a:latin typeface="Meiryo" panose="020B0604030504040204" pitchFamily="34" charset="-128"/>
                <a:ea typeface="Meiryo" panose="020B0604030504040204" pitchFamily="34" charset="-128"/>
              </a:rPr>
              <a:t>中</a:t>
            </a:r>
            <a:r>
              <a:rPr lang="en-US" sz="1800" b="1" dirty="0">
                <a:solidFill>
                  <a:schemeClr val="tx1"/>
                </a:solidFill>
                <a:latin typeface="Meiryo" panose="020B0604030504040204" pitchFamily="34" charset="-128"/>
                <a:ea typeface="Meiryo" panose="020B0604030504040204" pitchFamily="34" charset="-128"/>
              </a:rPr>
              <a:t> </a:t>
            </a:r>
          </a:p>
        </p:txBody>
      </p:sp>
      <p:sp>
        <p:nvSpPr>
          <p:cNvPr id="65" name="TextBox 64">
            <a:extLst>
              <a:ext uri="{FF2B5EF4-FFF2-40B4-BE49-F238E27FC236}">
                <a16:creationId xmlns:a16="http://schemas.microsoft.com/office/drawing/2014/main" id="{BBC433B3-319B-21A1-DD00-AF82AA354C8B}"/>
              </a:ext>
            </a:extLst>
          </p:cNvPr>
          <p:cNvSpPr txBox="1"/>
          <p:nvPr/>
        </p:nvSpPr>
        <p:spPr>
          <a:xfrm>
            <a:off x="61677" y="5067105"/>
            <a:ext cx="5851769" cy="1015663"/>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システムは，</a:t>
            </a:r>
            <a:r>
              <a:rPr lang="en-US" sz="2000" dirty="0">
                <a:latin typeface="Meiryo" panose="020B0604030504040204" pitchFamily="34" charset="-128"/>
                <a:ea typeface="Meiryo" panose="020B0604030504040204" pitchFamily="34" charset="-128"/>
              </a:rPr>
              <a:t>ML</a:t>
            </a:r>
            <a:r>
              <a:rPr lang="ja-JP" altLang="en-US" sz="2000">
                <a:latin typeface="Meiryo" panose="020B0604030504040204" pitchFamily="34" charset="-128"/>
                <a:ea typeface="Meiryo" panose="020B0604030504040204" pitchFamily="34" charset="-128"/>
              </a:rPr>
              <a:t>ベース</a:t>
            </a:r>
            <a:r>
              <a:rPr lang="en-US" sz="2000" dirty="0">
                <a:latin typeface="Meiryo" panose="020B0604030504040204" pitchFamily="34" charset="-128"/>
                <a:ea typeface="Meiryo" panose="020B0604030504040204" pitchFamily="34" charset="-128"/>
              </a:rPr>
              <a:t>IDS</a:t>
            </a:r>
            <a:r>
              <a:rPr lang="ja-JP" altLang="en-US" sz="2000">
                <a:latin typeface="Meiryo" panose="020B0604030504040204" pitchFamily="34" charset="-128"/>
                <a:ea typeface="Meiryo" panose="020B0604030504040204" pitchFamily="34" charset="-128"/>
              </a:rPr>
              <a:t>による攻撃検知と</a:t>
            </a:r>
            <a:r>
              <a:rPr lang="en-US" sz="2000" dirty="0">
                <a:latin typeface="Meiryo" panose="020B0604030504040204" pitchFamily="34" charset="-128"/>
                <a:ea typeface="Meiryo" panose="020B0604030504040204" pitchFamily="34" charset="-128"/>
              </a:rPr>
              <a:t>DTLS</a:t>
            </a:r>
            <a:r>
              <a:rPr lang="ja-JP" altLang="en-US" sz="2000">
                <a:latin typeface="Meiryo" panose="020B0604030504040204" pitchFamily="34" charset="-128"/>
                <a:ea typeface="Meiryo" panose="020B0604030504040204" pitchFamily="34" charset="-128"/>
              </a:rPr>
              <a:t>による通信保護を統合した</a:t>
            </a:r>
            <a:r>
              <a:rPr lang="en-US" sz="2000" dirty="0">
                <a:latin typeface="Meiryo" panose="020B0604030504040204" pitchFamily="34" charset="-128"/>
                <a:ea typeface="Meiryo" panose="020B0604030504040204" pitchFamily="34" charset="-128"/>
              </a:rPr>
              <a:t>IoT</a:t>
            </a:r>
            <a:r>
              <a:rPr lang="ja-JP" altLang="en-US" sz="2000">
                <a:latin typeface="Meiryo" panose="020B0604030504040204" pitchFamily="34" charset="-128"/>
                <a:ea typeface="Meiryo" panose="020B0604030504040204" pitchFamily="34" charset="-128"/>
              </a:rPr>
              <a:t>セキュリティアーキテクチャである</a:t>
            </a:r>
            <a:endParaRPr lang="en-JP" sz="2000" dirty="0">
              <a:latin typeface="Meiryo" panose="020B0604030504040204" pitchFamily="34" charset="-128"/>
              <a:ea typeface="Meiryo" panose="020B0604030504040204" pitchFamily="34" charset="-128"/>
            </a:endParaRPr>
          </a:p>
        </p:txBody>
      </p:sp>
      <p:sp>
        <p:nvSpPr>
          <p:cNvPr id="83" name="TextBox 82">
            <a:extLst>
              <a:ext uri="{FF2B5EF4-FFF2-40B4-BE49-F238E27FC236}">
                <a16:creationId xmlns:a16="http://schemas.microsoft.com/office/drawing/2014/main" id="{C701D9B1-8E19-6C4D-9948-756DDBA11927}"/>
              </a:ext>
            </a:extLst>
          </p:cNvPr>
          <p:cNvSpPr txBox="1"/>
          <p:nvPr/>
        </p:nvSpPr>
        <p:spPr>
          <a:xfrm rot="20875483">
            <a:off x="2024053" y="3362412"/>
            <a:ext cx="2895032" cy="307777"/>
          </a:xfrm>
          <a:prstGeom prst="rect">
            <a:avLst/>
          </a:prstGeom>
          <a:noFill/>
        </p:spPr>
        <p:txBody>
          <a:bodyPr wrap="square">
            <a:spAutoFit/>
          </a:bodyPr>
          <a:lstStyle/>
          <a:p>
            <a:r>
              <a:rPr lang="en-US" sz="1400" dirty="0"/>
              <a:t>Attack Traffic</a:t>
            </a:r>
            <a:endParaRPr lang="en-JP" sz="1400" dirty="0"/>
          </a:p>
        </p:txBody>
      </p:sp>
      <p:sp>
        <p:nvSpPr>
          <p:cNvPr id="85" name="TextBox 84">
            <a:extLst>
              <a:ext uri="{FF2B5EF4-FFF2-40B4-BE49-F238E27FC236}">
                <a16:creationId xmlns:a16="http://schemas.microsoft.com/office/drawing/2014/main" id="{9E2A24AA-45BA-ACC6-EB19-17C8842021EA}"/>
              </a:ext>
            </a:extLst>
          </p:cNvPr>
          <p:cNvSpPr txBox="1"/>
          <p:nvPr/>
        </p:nvSpPr>
        <p:spPr>
          <a:xfrm>
            <a:off x="1899737" y="2403884"/>
            <a:ext cx="4641272" cy="523220"/>
          </a:xfrm>
          <a:prstGeom prst="rect">
            <a:avLst/>
          </a:prstGeom>
          <a:noFill/>
        </p:spPr>
        <p:txBody>
          <a:bodyPr wrap="square">
            <a:spAutoFit/>
          </a:bodyPr>
          <a:lstStyle/>
          <a:p>
            <a:r>
              <a:rPr lang="en-US" sz="1400" dirty="0"/>
              <a:t>Normal </a:t>
            </a:r>
          </a:p>
          <a:p>
            <a:r>
              <a:rPr lang="en-US" sz="1400" dirty="0"/>
              <a:t>Traffic</a:t>
            </a:r>
          </a:p>
        </p:txBody>
      </p:sp>
      <p:sp>
        <p:nvSpPr>
          <p:cNvPr id="92" name="正方形/長方形 4">
            <a:extLst>
              <a:ext uri="{FF2B5EF4-FFF2-40B4-BE49-F238E27FC236}">
                <a16:creationId xmlns:a16="http://schemas.microsoft.com/office/drawing/2014/main" id="{17D9529A-733F-790C-2C66-25B724BA5665}"/>
              </a:ext>
            </a:extLst>
          </p:cNvPr>
          <p:cNvSpPr/>
          <p:nvPr/>
        </p:nvSpPr>
        <p:spPr>
          <a:xfrm>
            <a:off x="63674" y="5022143"/>
            <a:ext cx="5764558" cy="1205790"/>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100" name="Down Arrow 99">
            <a:extLst>
              <a:ext uri="{FF2B5EF4-FFF2-40B4-BE49-F238E27FC236}">
                <a16:creationId xmlns:a16="http://schemas.microsoft.com/office/drawing/2014/main" id="{755E4E95-97DC-8436-EC56-169321AA1B21}"/>
              </a:ext>
            </a:extLst>
          </p:cNvPr>
          <p:cNvSpPr/>
          <p:nvPr/>
        </p:nvSpPr>
        <p:spPr>
          <a:xfrm>
            <a:off x="7432880" y="2911515"/>
            <a:ext cx="190687" cy="252309"/>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25172613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90F1307-96FC-FF23-3093-9375DDA6540A}"/>
              </a:ext>
            </a:extLst>
          </p:cNvPr>
          <p:cNvSpPr/>
          <p:nvPr/>
        </p:nvSpPr>
        <p:spPr>
          <a:xfrm>
            <a:off x="780321" y="948259"/>
            <a:ext cx="2304623" cy="1056753"/>
          </a:xfrm>
          <a:prstGeom prst="roundRect">
            <a:avLst/>
          </a:prstGeom>
          <a:solidFill>
            <a:schemeClr val="tx2">
              <a:lumMod val="10000"/>
              <a:lumOff val="9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CoAP</a:t>
            </a:r>
            <a:r>
              <a:rPr lang="mn-MN" dirty="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packet </a:t>
            </a:r>
            <a:r>
              <a:rPr lang="en-US" dirty="0" err="1">
                <a:solidFill>
                  <a:schemeClr val="tx1"/>
                </a:solidFill>
                <a:latin typeface="Times New Roman" panose="02020603050405020304" pitchFamily="18" charset="0"/>
                <a:cs typeface="Times New Roman" panose="02020603050405020304" pitchFamily="18" charset="0"/>
              </a:rPr>
              <a:t>arriv</a:t>
            </a:r>
            <a:r>
              <a:rPr lang="mn-MN" dirty="0">
                <a:solidFill>
                  <a:schemeClr val="tx1"/>
                </a:solidFill>
                <a:latin typeface="Times New Roman" panose="02020603050405020304" pitchFamily="18" charset="0"/>
                <a:cs typeface="Times New Roman" panose="02020603050405020304" pitchFamily="18" charset="0"/>
              </a:rPr>
              <a:t>e</a:t>
            </a:r>
            <a:r>
              <a:rPr lang="en-US" dirty="0">
                <a:solidFill>
                  <a:schemeClr val="tx1"/>
                </a:solidFill>
                <a:latin typeface="Times New Roman" panose="02020603050405020304" pitchFamily="18" charset="0"/>
                <a:cs typeface="Times New Roman" panose="02020603050405020304" pitchFamily="18" charset="0"/>
              </a:rPr>
              <a:t>d</a:t>
            </a:r>
          </a:p>
        </p:txBody>
      </p:sp>
      <p:sp>
        <p:nvSpPr>
          <p:cNvPr id="5" name="Rectangle: Rounded Corners 4">
            <a:extLst>
              <a:ext uri="{FF2B5EF4-FFF2-40B4-BE49-F238E27FC236}">
                <a16:creationId xmlns:a16="http://schemas.microsoft.com/office/drawing/2014/main" id="{517E7DE3-6841-FEDB-EC21-CF1C86A9B014}"/>
              </a:ext>
            </a:extLst>
          </p:cNvPr>
          <p:cNvSpPr/>
          <p:nvPr/>
        </p:nvSpPr>
        <p:spPr>
          <a:xfrm>
            <a:off x="740566" y="2371725"/>
            <a:ext cx="2344378" cy="733425"/>
          </a:xfrm>
          <a:prstGeom prst="roundRect">
            <a:avLst/>
          </a:prstGeom>
          <a:solidFill>
            <a:schemeClr val="accent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Times New Roman" panose="02020603050405020304" pitchFamily="18" charset="0"/>
              <a:cs typeface="Times New Roman" panose="02020603050405020304" pitchFamily="18" charset="0"/>
            </a:endParaRPr>
          </a:p>
          <a:p>
            <a:pPr algn="ctr"/>
            <a:r>
              <a:rPr lang="en-US" sz="1600" b="1" dirty="0">
                <a:solidFill>
                  <a:schemeClr val="tx1"/>
                </a:solidFill>
                <a:latin typeface="Times New Roman" panose="02020603050405020304" pitchFamily="18" charset="0"/>
                <a:cs typeface="Times New Roman" panose="02020603050405020304" pitchFamily="18" charset="0"/>
              </a:rPr>
              <a:t>ML-IDS checked</a:t>
            </a:r>
          </a:p>
          <a:p>
            <a:pPr algn="ctr"/>
            <a:r>
              <a:rPr lang="en-US" sz="1600" dirty="0">
                <a:solidFill>
                  <a:schemeClr val="tx1"/>
                </a:solidFill>
                <a:latin typeface="Times New Roman" panose="02020603050405020304" pitchFamily="18" charset="0"/>
                <a:cs typeface="Times New Roman" panose="02020603050405020304" pitchFamily="18" charset="0"/>
              </a:rPr>
              <a:t>Random forest</a:t>
            </a:r>
          </a:p>
          <a:p>
            <a:pPr algn="ct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6" name="Diamond 5">
            <a:extLst>
              <a:ext uri="{FF2B5EF4-FFF2-40B4-BE49-F238E27FC236}">
                <a16:creationId xmlns:a16="http://schemas.microsoft.com/office/drawing/2014/main" id="{087CF8BE-969B-B909-C4FA-2FFB458C1FC2}"/>
              </a:ext>
            </a:extLst>
          </p:cNvPr>
          <p:cNvSpPr/>
          <p:nvPr/>
        </p:nvSpPr>
        <p:spPr>
          <a:xfrm>
            <a:off x="740566" y="3495675"/>
            <a:ext cx="2344378" cy="1004888"/>
          </a:xfrm>
          <a:prstGeom prst="diamond">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Attack or Normal</a:t>
            </a:r>
          </a:p>
        </p:txBody>
      </p:sp>
      <p:sp>
        <p:nvSpPr>
          <p:cNvPr id="7" name="Rectangle: Rounded Corners 6">
            <a:extLst>
              <a:ext uri="{FF2B5EF4-FFF2-40B4-BE49-F238E27FC236}">
                <a16:creationId xmlns:a16="http://schemas.microsoft.com/office/drawing/2014/main" id="{7CE5C363-0C99-F944-E74D-3F2ED48AAB7D}"/>
              </a:ext>
            </a:extLst>
          </p:cNvPr>
          <p:cNvSpPr/>
          <p:nvPr/>
        </p:nvSpPr>
        <p:spPr>
          <a:xfrm>
            <a:off x="4569816" y="3517843"/>
            <a:ext cx="1691338" cy="1004888"/>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Gateway DTLS </a:t>
            </a:r>
          </a:p>
          <a:p>
            <a:pPr algn="ctr"/>
            <a:r>
              <a:rPr lang="en-US" sz="1600" dirty="0">
                <a:solidFill>
                  <a:schemeClr val="tx1"/>
                </a:solidFill>
                <a:latin typeface="Times New Roman" panose="02020603050405020304" pitchFamily="18" charset="0"/>
                <a:cs typeface="Times New Roman" panose="02020603050405020304" pitchFamily="18" charset="0"/>
              </a:rPr>
              <a:t>Plain encrypted</a:t>
            </a:r>
          </a:p>
        </p:txBody>
      </p:sp>
      <p:sp>
        <p:nvSpPr>
          <p:cNvPr id="9" name="Rectangle: Rounded Corners 8">
            <a:extLst>
              <a:ext uri="{FF2B5EF4-FFF2-40B4-BE49-F238E27FC236}">
                <a16:creationId xmlns:a16="http://schemas.microsoft.com/office/drawing/2014/main" id="{7DFEC6BF-3A83-F811-14E8-DFC11126A207}"/>
              </a:ext>
            </a:extLst>
          </p:cNvPr>
          <p:cNvSpPr/>
          <p:nvPr/>
        </p:nvSpPr>
        <p:spPr>
          <a:xfrm>
            <a:off x="6504002" y="4716167"/>
            <a:ext cx="1851291" cy="733425"/>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backend server</a:t>
            </a:r>
            <a:endParaRPr lang="mn-MN" sz="1600" b="1" dirty="0">
              <a:solidFill>
                <a:schemeClr val="tx1"/>
              </a:solidFill>
              <a:latin typeface="Times New Roman" panose="02020603050405020304" pitchFamily="18" charset="0"/>
              <a:cs typeface="Times New Roman" panose="02020603050405020304" pitchFamily="18" charset="0"/>
            </a:endParaRPr>
          </a:p>
          <a:p>
            <a:pPr algn="ctr"/>
            <a:r>
              <a:rPr lang="en-US" sz="1600" dirty="0">
                <a:solidFill>
                  <a:schemeClr val="tx1"/>
                </a:solidFill>
                <a:latin typeface="Times New Roman" panose="02020603050405020304" pitchFamily="18" charset="0"/>
                <a:cs typeface="Times New Roman" panose="02020603050405020304" pitchFamily="18" charset="0"/>
              </a:rPr>
              <a:t>DTLS</a:t>
            </a:r>
            <a:r>
              <a:rPr lang="mn-MN" sz="1600" dirty="0">
                <a:solidFill>
                  <a:schemeClr val="tx1"/>
                </a:solidFill>
                <a:latin typeface="Times New Roman" panose="02020603050405020304" pitchFamily="18" charset="0"/>
                <a:cs typeface="Times New Roman" panose="02020603050405020304" pitchFamily="18" charset="0"/>
              </a:rPr>
              <a:t> </a:t>
            </a:r>
            <a:r>
              <a:rPr lang="en-US" sz="1600" dirty="0">
                <a:solidFill>
                  <a:schemeClr val="tx1"/>
                </a:solidFill>
                <a:latin typeface="Times New Roman" panose="02020603050405020304" pitchFamily="18" charset="0"/>
                <a:cs typeface="Times New Roman" panose="02020603050405020304" pitchFamily="18" charset="0"/>
              </a:rPr>
              <a:t>decrypt </a:t>
            </a:r>
          </a:p>
        </p:txBody>
      </p:sp>
      <p:sp>
        <p:nvSpPr>
          <p:cNvPr id="10" name="Rectangle: Rounded Corners 9">
            <a:extLst>
              <a:ext uri="{FF2B5EF4-FFF2-40B4-BE49-F238E27FC236}">
                <a16:creationId xmlns:a16="http://schemas.microsoft.com/office/drawing/2014/main" id="{B2BD44B4-8F59-D534-9AD5-ADA45335B2CA}"/>
              </a:ext>
            </a:extLst>
          </p:cNvPr>
          <p:cNvSpPr/>
          <p:nvPr/>
        </p:nvSpPr>
        <p:spPr>
          <a:xfrm>
            <a:off x="974036" y="4878776"/>
            <a:ext cx="1618122" cy="814793"/>
          </a:xfrm>
          <a:prstGeom prst="roundRect">
            <a:avLst/>
          </a:prstGeom>
          <a:solidFill>
            <a:schemeClr val="bg1">
              <a:lumMod val="95000"/>
            </a:schemeClr>
          </a:solidFill>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b="1" dirty="0">
                <a:latin typeface="Times New Roman" panose="02020603050405020304" pitchFamily="18" charset="0"/>
                <a:cs typeface="Times New Roman" panose="02020603050405020304" pitchFamily="18" charset="0"/>
              </a:rPr>
              <a:t>Packet Drop </a:t>
            </a:r>
          </a:p>
          <a:p>
            <a:pPr algn="ctr"/>
            <a:r>
              <a:rPr lang="en-US" sz="1600" dirty="0">
                <a:latin typeface="Times New Roman" panose="02020603050405020304" pitchFamily="18" charset="0"/>
                <a:cs typeface="Times New Roman" panose="02020603050405020304" pitchFamily="18" charset="0"/>
              </a:rPr>
              <a:t>Log write </a:t>
            </a:r>
          </a:p>
        </p:txBody>
      </p:sp>
      <p:cxnSp>
        <p:nvCxnSpPr>
          <p:cNvPr id="14" name="Connector: Elbow 13">
            <a:extLst>
              <a:ext uri="{FF2B5EF4-FFF2-40B4-BE49-F238E27FC236}">
                <a16:creationId xmlns:a16="http://schemas.microsoft.com/office/drawing/2014/main" id="{BDC6427D-7EAC-5F26-5E77-B44CA2C86535}"/>
              </a:ext>
            </a:extLst>
          </p:cNvPr>
          <p:cNvCxnSpPr>
            <a:cxnSpLocks/>
            <a:stCxn id="6" idx="1"/>
            <a:endCxn id="10" idx="1"/>
          </p:cNvCxnSpPr>
          <p:nvPr/>
        </p:nvCxnSpPr>
        <p:spPr>
          <a:xfrm rot="10800000" flipH="1" flipV="1">
            <a:off x="740566" y="3998119"/>
            <a:ext cx="233470" cy="1288054"/>
          </a:xfrm>
          <a:prstGeom prst="bentConnector3">
            <a:avLst>
              <a:gd name="adj1" fmla="val -97914"/>
            </a:avLst>
          </a:prstGeom>
          <a:ln>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ADCCAC93-FA06-4FE4-37ED-FF6BE0284E92}"/>
              </a:ext>
            </a:extLst>
          </p:cNvPr>
          <p:cNvCxnSpPr>
            <a:cxnSpLocks/>
            <a:stCxn id="4" idx="2"/>
            <a:endCxn id="5" idx="0"/>
          </p:cNvCxnSpPr>
          <p:nvPr/>
        </p:nvCxnSpPr>
        <p:spPr>
          <a:xfrm flipH="1">
            <a:off x="1912755" y="2005012"/>
            <a:ext cx="19878" cy="3667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B81B3344-10DE-EC30-FAC4-FA49B888B7A6}"/>
              </a:ext>
            </a:extLst>
          </p:cNvPr>
          <p:cNvCxnSpPr>
            <a:cxnSpLocks/>
            <a:stCxn id="5" idx="2"/>
            <a:endCxn id="6" idx="0"/>
          </p:cNvCxnSpPr>
          <p:nvPr/>
        </p:nvCxnSpPr>
        <p:spPr>
          <a:xfrm>
            <a:off x="1912755" y="3105150"/>
            <a:ext cx="0" cy="3905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DA672DDF-F390-2F69-7C6D-2044AD31E7CF}"/>
              </a:ext>
            </a:extLst>
          </p:cNvPr>
          <p:cNvCxnSpPr>
            <a:cxnSpLocks/>
            <a:stCxn id="6" idx="3"/>
            <a:endCxn id="7" idx="1"/>
          </p:cNvCxnSpPr>
          <p:nvPr/>
        </p:nvCxnSpPr>
        <p:spPr>
          <a:xfrm>
            <a:off x="3084944" y="3998119"/>
            <a:ext cx="1484872" cy="221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6CCF729C-0F9B-F954-8F44-482986DD52F0}"/>
              </a:ext>
            </a:extLst>
          </p:cNvPr>
          <p:cNvSpPr txBox="1"/>
          <p:nvPr/>
        </p:nvSpPr>
        <p:spPr>
          <a:xfrm>
            <a:off x="3211" y="4517266"/>
            <a:ext cx="69766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Drop</a:t>
            </a:r>
          </a:p>
        </p:txBody>
      </p:sp>
      <p:sp>
        <p:nvSpPr>
          <p:cNvPr id="39" name="TextBox 38">
            <a:extLst>
              <a:ext uri="{FF2B5EF4-FFF2-40B4-BE49-F238E27FC236}">
                <a16:creationId xmlns:a16="http://schemas.microsoft.com/office/drawing/2014/main" id="{FF1565CE-8F98-AECF-4ACB-2DA15148050D}"/>
              </a:ext>
            </a:extLst>
          </p:cNvPr>
          <p:cNvSpPr txBox="1"/>
          <p:nvPr/>
        </p:nvSpPr>
        <p:spPr>
          <a:xfrm>
            <a:off x="3083898" y="3577620"/>
            <a:ext cx="1586377" cy="338554"/>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Normal</a:t>
            </a:r>
            <a:r>
              <a:rPr lang="mn-M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traffic</a:t>
            </a:r>
          </a:p>
        </p:txBody>
      </p:sp>
      <p:sp>
        <p:nvSpPr>
          <p:cNvPr id="41" name="TextBox 40">
            <a:extLst>
              <a:ext uri="{FF2B5EF4-FFF2-40B4-BE49-F238E27FC236}">
                <a16:creationId xmlns:a16="http://schemas.microsoft.com/office/drawing/2014/main" id="{717E48EC-F7A7-8A57-B569-1639D705B1E4}"/>
              </a:ext>
            </a:extLst>
          </p:cNvPr>
          <p:cNvSpPr txBox="1"/>
          <p:nvPr/>
        </p:nvSpPr>
        <p:spPr>
          <a:xfrm>
            <a:off x="6953883" y="3626227"/>
            <a:ext cx="1065533" cy="338554"/>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encrypted</a:t>
            </a:r>
          </a:p>
        </p:txBody>
      </p:sp>
      <p:sp>
        <p:nvSpPr>
          <p:cNvPr id="2" name="Shape 0">
            <a:extLst>
              <a:ext uri="{FF2B5EF4-FFF2-40B4-BE49-F238E27FC236}">
                <a16:creationId xmlns:a16="http://schemas.microsoft.com/office/drawing/2014/main" id="{7B5C3CCD-3BA1-8239-C708-042B0123DBD8}"/>
              </a:ext>
            </a:extLst>
          </p:cNvPr>
          <p:cNvSpPr/>
          <p:nvPr/>
        </p:nvSpPr>
        <p:spPr>
          <a:xfrm>
            <a:off x="0" y="0"/>
            <a:ext cx="9144000" cy="61843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ctr"/>
            <a:r>
              <a:rPr lang="mn-MN" altLang="ja-JP" sz="3200" b="1" dirty="0">
                <a:latin typeface="Meiryo" panose="020B0604030504040204" pitchFamily="34" charset="-128"/>
                <a:ea typeface="Meiryo" panose="020B0604030504040204" pitchFamily="34" charset="-128"/>
              </a:rPr>
              <a:t>    </a:t>
            </a:r>
            <a:r>
              <a:rPr lang="ja-JP" altLang="en-US" sz="3200" b="1">
                <a:latin typeface="Meiryo" panose="020B0604030504040204" pitchFamily="34" charset="-128"/>
                <a:ea typeface="Meiryo" panose="020B0604030504040204" pitchFamily="34" charset="-128"/>
              </a:rPr>
              <a:t>ゲートウェイの処理フロー</a:t>
            </a:r>
            <a:endParaRPr lang="en-JP" sz="3200" b="1" dirty="0">
              <a:latin typeface="Meiryo" panose="020B0604030504040204" pitchFamily="34" charset="-128"/>
              <a:ea typeface="Meiryo" panose="020B0604030504040204" pitchFamily="34" charset="-128"/>
            </a:endParaRPr>
          </a:p>
        </p:txBody>
      </p:sp>
      <p:sp>
        <p:nvSpPr>
          <p:cNvPr id="34" name="Slide Number Placeholder 33">
            <a:extLst>
              <a:ext uri="{FF2B5EF4-FFF2-40B4-BE49-F238E27FC236}">
                <a16:creationId xmlns:a16="http://schemas.microsoft.com/office/drawing/2014/main" id="{27CDE659-13AA-936E-911D-809FF62D8D31}"/>
              </a:ext>
            </a:extLst>
          </p:cNvPr>
          <p:cNvSpPr>
            <a:spLocks noGrp="1"/>
          </p:cNvSpPr>
          <p:nvPr>
            <p:ph type="sldNum" sz="quarter" idx="12"/>
          </p:nvPr>
        </p:nvSpPr>
        <p:spPr/>
        <p:txBody>
          <a:bodyPr/>
          <a:lstStyle/>
          <a:p>
            <a:fld id="{828F3BD4-1AF2-D144-8129-4D42AD448F5E}" type="slidenum">
              <a:rPr lang="en-JP" smtClean="0"/>
              <a:t>53</a:t>
            </a:fld>
            <a:endParaRPr lang="en-JP"/>
          </a:p>
        </p:txBody>
      </p:sp>
      <p:cxnSp>
        <p:nvCxnSpPr>
          <p:cNvPr id="50" name="Elbow Connector 49">
            <a:extLst>
              <a:ext uri="{FF2B5EF4-FFF2-40B4-BE49-F238E27FC236}">
                <a16:creationId xmlns:a16="http://schemas.microsoft.com/office/drawing/2014/main" id="{2AF29241-0104-EFA5-98B6-D3E7B479FBAE}"/>
              </a:ext>
            </a:extLst>
          </p:cNvPr>
          <p:cNvCxnSpPr>
            <a:stCxn id="7" idx="3"/>
            <a:endCxn id="9" idx="0"/>
          </p:cNvCxnSpPr>
          <p:nvPr/>
        </p:nvCxnSpPr>
        <p:spPr>
          <a:xfrm>
            <a:off x="6261154" y="4020287"/>
            <a:ext cx="1168494" cy="69588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42540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9D879-5E4A-A66D-B48C-EA4A6192538E}"/>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0C55FE31-9BD4-DC06-3822-ED38F79691A2}"/>
              </a:ext>
            </a:extLst>
          </p:cNvPr>
          <p:cNvSpPr/>
          <p:nvPr/>
        </p:nvSpPr>
        <p:spPr>
          <a:xfrm>
            <a:off x="1733549" y="1987649"/>
            <a:ext cx="5229312" cy="890572"/>
          </a:xfrm>
          <a:prstGeom prst="roundRect">
            <a:avLst/>
          </a:prstGeom>
          <a:solidFill>
            <a:schemeClr val="accent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
            </a:pPr>
            <a:r>
              <a:rPr lang="en-US" b="1" dirty="0">
                <a:solidFill>
                  <a:schemeClr val="tx1"/>
                </a:solidFill>
                <a:latin typeface="Meiryo" panose="020B0604030504040204" pitchFamily="34" charset="-128"/>
                <a:ea typeface="Meiryo" panose="020B0604030504040204" pitchFamily="34" charset="-128"/>
              </a:rPr>
              <a:t>DTLS</a:t>
            </a:r>
            <a:r>
              <a:rPr lang="ja-JP" altLang="en-US" b="1">
                <a:solidFill>
                  <a:schemeClr val="tx1"/>
                </a:solidFill>
                <a:latin typeface="Meiryo" panose="020B0604030504040204" pitchFamily="34" charset="-128"/>
                <a:ea typeface="Meiryo" panose="020B0604030504040204" pitchFamily="34" charset="-128"/>
              </a:rPr>
              <a:t>ハンドシェイク＋暗号化</a:t>
            </a:r>
            <a:br>
              <a:rPr lang="ja-JP" altLang="en-US">
                <a:solidFill>
                  <a:schemeClr val="tx1"/>
                </a:solidFill>
                <a:latin typeface="Meiryo" panose="020B0604030504040204" pitchFamily="34" charset="-128"/>
                <a:ea typeface="Meiryo" panose="020B0604030504040204" pitchFamily="34" charset="-128"/>
              </a:rPr>
            </a:br>
            <a:r>
              <a:rPr lang="en-US" dirty="0">
                <a:solidFill>
                  <a:schemeClr val="tx1"/>
                </a:solidFill>
                <a:latin typeface="Meiryo" panose="020B0604030504040204" pitchFamily="34" charset="-128"/>
                <a:ea typeface="Meiryo" panose="020B0604030504040204" pitchFamily="34" charset="-128"/>
              </a:rPr>
              <a:t>Client Hello → Server Hello → Certificate</a:t>
            </a:r>
          </a:p>
        </p:txBody>
      </p:sp>
      <p:sp>
        <p:nvSpPr>
          <p:cNvPr id="6" name="Rectangle: Rounded Corners 5">
            <a:extLst>
              <a:ext uri="{FF2B5EF4-FFF2-40B4-BE49-F238E27FC236}">
                <a16:creationId xmlns:a16="http://schemas.microsoft.com/office/drawing/2014/main" id="{5FEB20C4-0387-16E7-3051-56580C2D7CA1}"/>
              </a:ext>
            </a:extLst>
          </p:cNvPr>
          <p:cNvSpPr/>
          <p:nvPr/>
        </p:nvSpPr>
        <p:spPr>
          <a:xfrm>
            <a:off x="1733547" y="3222705"/>
            <a:ext cx="5229311" cy="872601"/>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
            </a:pPr>
            <a:r>
              <a:rPr lang="ja-JP" altLang="en-US" b="1">
                <a:solidFill>
                  <a:schemeClr val="tx1"/>
                </a:solidFill>
                <a:latin typeface="Meiryo" panose="020B0604030504040204" pitchFamily="34" charset="-128"/>
                <a:ea typeface="Meiryo" panose="020B0604030504040204" pitchFamily="34" charset="-128"/>
              </a:rPr>
              <a:t>暗号化された</a:t>
            </a:r>
            <a:r>
              <a:rPr lang="en-US" b="1" dirty="0">
                <a:solidFill>
                  <a:schemeClr val="tx1"/>
                </a:solidFill>
                <a:latin typeface="Meiryo" panose="020B0604030504040204" pitchFamily="34" charset="-128"/>
                <a:ea typeface="Meiryo" panose="020B0604030504040204" pitchFamily="34" charset="-128"/>
              </a:rPr>
              <a:t>CoAP-DTLS</a:t>
            </a:r>
            <a:r>
              <a:rPr lang="ja-JP" altLang="en-US" b="1">
                <a:solidFill>
                  <a:schemeClr val="tx1"/>
                </a:solidFill>
                <a:latin typeface="Meiryo" panose="020B0604030504040204" pitchFamily="34" charset="-128"/>
                <a:ea typeface="Meiryo" panose="020B0604030504040204" pitchFamily="34" charset="-128"/>
              </a:rPr>
              <a:t>パケット</a:t>
            </a:r>
            <a:br>
              <a:rPr lang="ja-JP" altLang="en-US">
                <a:solidFill>
                  <a:schemeClr val="tx1"/>
                </a:solidFill>
                <a:latin typeface="Meiryo" panose="020B0604030504040204" pitchFamily="34" charset="-128"/>
                <a:ea typeface="Meiryo" panose="020B0604030504040204" pitchFamily="34" charset="-128"/>
              </a:rPr>
            </a:br>
            <a:r>
              <a:rPr lang="en-US" dirty="0">
                <a:solidFill>
                  <a:schemeClr val="tx1"/>
                </a:solidFill>
                <a:latin typeface="Meiryo" panose="020B0604030504040204" pitchFamily="34" charset="-128"/>
                <a:ea typeface="Meiryo" panose="020B0604030504040204" pitchFamily="34" charset="-128"/>
              </a:rPr>
              <a:t>UDP</a:t>
            </a:r>
            <a:r>
              <a:rPr lang="ja-JP" altLang="en-US">
                <a:solidFill>
                  <a:schemeClr val="tx1"/>
                </a:solidFill>
                <a:latin typeface="Meiryo" panose="020B0604030504040204" pitchFamily="34" charset="-128"/>
                <a:ea typeface="Meiryo" panose="020B0604030504040204" pitchFamily="34" charset="-128"/>
              </a:rPr>
              <a:t>上で安全に転送</a:t>
            </a:r>
            <a:endParaRPr lang="mn-MN" b="1" dirty="0">
              <a:solidFill>
                <a:schemeClr val="tx1"/>
              </a:solidFill>
              <a:latin typeface="Meiryo" panose="020B0604030504040204" pitchFamily="34" charset="-128"/>
              <a:ea typeface="Meiryo" panose="020B0604030504040204" pitchFamily="34" charset="-128"/>
            </a:endParaRPr>
          </a:p>
        </p:txBody>
      </p:sp>
      <p:sp>
        <p:nvSpPr>
          <p:cNvPr id="7" name="Rectangle: Rounded Corners 6">
            <a:extLst>
              <a:ext uri="{FF2B5EF4-FFF2-40B4-BE49-F238E27FC236}">
                <a16:creationId xmlns:a16="http://schemas.microsoft.com/office/drawing/2014/main" id="{44335E0E-9CB2-ECD1-08BA-6BAE3EEBA8A8}"/>
              </a:ext>
            </a:extLst>
          </p:cNvPr>
          <p:cNvSpPr/>
          <p:nvPr/>
        </p:nvSpPr>
        <p:spPr>
          <a:xfrm>
            <a:off x="1748704" y="4446069"/>
            <a:ext cx="5288035" cy="989830"/>
          </a:xfrm>
          <a:prstGeom prst="roundRect">
            <a:avLst/>
          </a:prstGeom>
          <a:solidFill>
            <a:schemeClr val="accent5">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
            </a:pPr>
            <a:r>
              <a:rPr lang="mn-MN" b="1" dirty="0">
                <a:solidFill>
                  <a:schemeClr val="tx1"/>
                </a:solidFill>
                <a:latin typeface="Meiryo" panose="020B0604030504040204" pitchFamily="34" charset="-128"/>
                <a:ea typeface="Meiryo" panose="020B0604030504040204" pitchFamily="34" charset="-128"/>
              </a:rPr>
              <a:t>G</a:t>
            </a:r>
            <a:r>
              <a:rPr lang="en-US" b="1" dirty="0" err="1">
                <a:solidFill>
                  <a:schemeClr val="tx1"/>
                </a:solidFill>
                <a:latin typeface="Meiryo" panose="020B0604030504040204" pitchFamily="34" charset="-128"/>
                <a:ea typeface="Meiryo" panose="020B0604030504040204" pitchFamily="34" charset="-128"/>
              </a:rPr>
              <a:t>ateway</a:t>
            </a:r>
            <a:r>
              <a:rPr lang="en-US" b="1" dirty="0">
                <a:solidFill>
                  <a:schemeClr val="tx1"/>
                </a:solidFill>
                <a:latin typeface="Meiryo" panose="020B0604030504040204" pitchFamily="34" charset="-128"/>
                <a:ea typeface="Meiryo" panose="020B0604030504040204" pitchFamily="34" charset="-128"/>
              </a:rPr>
              <a:t> → </a:t>
            </a:r>
            <a:r>
              <a:rPr lang="ja-JP" altLang="en-US" b="1">
                <a:solidFill>
                  <a:schemeClr val="tx1"/>
                </a:solidFill>
                <a:latin typeface="Meiryo" panose="020B0604030504040204" pitchFamily="34" charset="-128"/>
                <a:ea typeface="Meiryo" panose="020B0604030504040204" pitchFamily="34" charset="-128"/>
              </a:rPr>
              <a:t>バックエンドサーバ</a:t>
            </a:r>
            <a:br>
              <a:rPr lang="ja-JP" altLang="en-US">
                <a:solidFill>
                  <a:schemeClr val="tx1"/>
                </a:solidFill>
                <a:latin typeface="Meiryo" panose="020B0604030504040204" pitchFamily="34" charset="-128"/>
                <a:ea typeface="Meiryo" panose="020B0604030504040204" pitchFamily="34" charset="-128"/>
              </a:rPr>
            </a:br>
            <a:r>
              <a:rPr lang="en-US" dirty="0">
                <a:solidFill>
                  <a:schemeClr val="tx1"/>
                </a:solidFill>
                <a:latin typeface="Meiryo" panose="020B0604030504040204" pitchFamily="34" charset="-128"/>
                <a:ea typeface="Meiryo" panose="020B0604030504040204" pitchFamily="34" charset="-128"/>
              </a:rPr>
              <a:t>IP: 192.168.1.200（CoAP</a:t>
            </a:r>
            <a:r>
              <a:rPr lang="ja-JP" altLang="en-US">
                <a:solidFill>
                  <a:schemeClr val="tx1"/>
                </a:solidFill>
                <a:latin typeface="Meiryo" panose="020B0604030504040204" pitchFamily="34" charset="-128"/>
                <a:ea typeface="Meiryo" panose="020B0604030504040204" pitchFamily="34" charset="-128"/>
              </a:rPr>
              <a:t>サーバ）</a:t>
            </a:r>
          </a:p>
        </p:txBody>
      </p:sp>
      <p:sp>
        <p:nvSpPr>
          <p:cNvPr id="8" name="Rectangle: Rounded Corners 7">
            <a:extLst>
              <a:ext uri="{FF2B5EF4-FFF2-40B4-BE49-F238E27FC236}">
                <a16:creationId xmlns:a16="http://schemas.microsoft.com/office/drawing/2014/main" id="{DD2739D3-6155-3CAD-740C-3387F18E0757}"/>
              </a:ext>
            </a:extLst>
          </p:cNvPr>
          <p:cNvSpPr/>
          <p:nvPr/>
        </p:nvSpPr>
        <p:spPr>
          <a:xfrm>
            <a:off x="1733547" y="5781409"/>
            <a:ext cx="5381902" cy="865534"/>
          </a:xfrm>
          <a:prstGeom prst="roundRect">
            <a:avLst/>
          </a:prstGeom>
          <a:solidFill>
            <a:schemeClr val="bg2">
              <a:lumMod val="9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
            </a:pPr>
            <a:r>
              <a:rPr lang="ja-JP" altLang="en-US" b="1">
                <a:solidFill>
                  <a:schemeClr val="tx1"/>
                </a:solidFill>
                <a:latin typeface="Meiryo" panose="020B0604030504040204" pitchFamily="34" charset="-128"/>
                <a:ea typeface="Meiryo" panose="020B0604030504040204" pitchFamily="34" charset="-128"/>
              </a:rPr>
              <a:t>バックエンド </a:t>
            </a:r>
            <a:r>
              <a:rPr lang="en-US" altLang="ja-JP" b="1" dirty="0">
                <a:solidFill>
                  <a:schemeClr val="tx1"/>
                </a:solidFill>
                <a:latin typeface="Meiryo" panose="020B0604030504040204" pitchFamily="34" charset="-128"/>
                <a:ea typeface="Meiryo" panose="020B0604030504040204" pitchFamily="34" charset="-128"/>
              </a:rPr>
              <a:t>— </a:t>
            </a:r>
            <a:r>
              <a:rPr lang="ja-JP" altLang="en-US" b="1">
                <a:solidFill>
                  <a:schemeClr val="tx1"/>
                </a:solidFill>
                <a:latin typeface="Meiryo" panose="020B0604030504040204" pitchFamily="34" charset="-128"/>
                <a:ea typeface="Meiryo" panose="020B0604030504040204" pitchFamily="34" charset="-128"/>
              </a:rPr>
              <a:t>復号処理</a:t>
            </a:r>
            <a:br>
              <a:rPr lang="ja-JP" altLang="en-US">
                <a:solidFill>
                  <a:schemeClr val="tx1"/>
                </a:solidFill>
                <a:latin typeface="Meiryo" panose="020B0604030504040204" pitchFamily="34" charset="-128"/>
                <a:ea typeface="Meiryo" panose="020B0604030504040204" pitchFamily="34" charset="-128"/>
              </a:rPr>
            </a:br>
            <a:r>
              <a:rPr lang="ja-JP" altLang="en-US">
                <a:solidFill>
                  <a:schemeClr val="tx1"/>
                </a:solidFill>
                <a:latin typeface="Meiryo" panose="020B0604030504040204" pitchFamily="34" charset="-128"/>
                <a:ea typeface="Meiryo" panose="020B0604030504040204" pitchFamily="34" charset="-128"/>
              </a:rPr>
              <a:t>パケット復号 → データ保存</a:t>
            </a:r>
          </a:p>
        </p:txBody>
      </p:sp>
      <p:sp>
        <p:nvSpPr>
          <p:cNvPr id="30" name="TextBox 29">
            <a:extLst>
              <a:ext uri="{FF2B5EF4-FFF2-40B4-BE49-F238E27FC236}">
                <a16:creationId xmlns:a16="http://schemas.microsoft.com/office/drawing/2014/main" id="{D5AAADF8-BC0F-C878-BF77-389F465ABC43}"/>
              </a:ext>
            </a:extLst>
          </p:cNvPr>
          <p:cNvSpPr txBox="1"/>
          <p:nvPr/>
        </p:nvSpPr>
        <p:spPr>
          <a:xfrm>
            <a:off x="5577457" y="1686745"/>
            <a:ext cx="4572000" cy="584775"/>
          </a:xfrm>
          <a:prstGeom prst="rect">
            <a:avLst/>
          </a:prstGeom>
          <a:noFill/>
        </p:spPr>
        <p:txBody>
          <a:bodyPr wrap="square">
            <a:spAutoFit/>
          </a:bodyPr>
          <a:lstStyle/>
          <a:p>
            <a:r>
              <a:rPr lang="en-US" sz="1600" dirty="0">
                <a:latin typeface="Meiryo" panose="020B0604030504040204" pitchFamily="34" charset="-128"/>
                <a:ea typeface="Meiryo" panose="020B0604030504040204" pitchFamily="34" charset="-128"/>
              </a:rPr>
              <a:t>Step 5 : DTLS </a:t>
            </a:r>
            <a:r>
              <a:rPr lang="ja-JP" altLang="en-US" sz="1600">
                <a:latin typeface="Meiryo" panose="020B0604030504040204" pitchFamily="34" charset="-128"/>
                <a:ea typeface="Meiryo" panose="020B0604030504040204" pitchFamily="34" charset="-128"/>
              </a:rPr>
              <a:t>暗号化</a:t>
            </a:r>
            <a:endParaRPr lang="mn-MN" sz="1600" dirty="0">
              <a:latin typeface="Meiryo" panose="020B0604030504040204" pitchFamily="34" charset="-128"/>
              <a:ea typeface="Meiryo" panose="020B0604030504040204" pitchFamily="34" charset="-128"/>
            </a:endParaRPr>
          </a:p>
          <a:p>
            <a:endParaRPr lang="en-US" sz="1600" dirty="0">
              <a:latin typeface="Meiryo" panose="020B0604030504040204" pitchFamily="34" charset="-128"/>
              <a:ea typeface="Meiryo" panose="020B0604030504040204" pitchFamily="34" charset="-128"/>
            </a:endParaRPr>
          </a:p>
        </p:txBody>
      </p:sp>
      <p:sp>
        <p:nvSpPr>
          <p:cNvPr id="32" name="TextBox 31">
            <a:extLst>
              <a:ext uri="{FF2B5EF4-FFF2-40B4-BE49-F238E27FC236}">
                <a16:creationId xmlns:a16="http://schemas.microsoft.com/office/drawing/2014/main" id="{A37F9699-C440-1A7B-DC2B-2D7324E4C5CD}"/>
              </a:ext>
            </a:extLst>
          </p:cNvPr>
          <p:cNvSpPr txBox="1"/>
          <p:nvPr/>
        </p:nvSpPr>
        <p:spPr>
          <a:xfrm>
            <a:off x="803410" y="4100431"/>
            <a:ext cx="3621088" cy="584775"/>
          </a:xfrm>
          <a:prstGeom prst="rect">
            <a:avLst/>
          </a:prstGeom>
          <a:noFill/>
        </p:spPr>
        <p:txBody>
          <a:bodyPr wrap="square">
            <a:spAutoFit/>
          </a:bodyPr>
          <a:lstStyle/>
          <a:p>
            <a:r>
              <a:rPr lang="en-US" sz="1600" dirty="0">
                <a:latin typeface="Meiryo" panose="020B0604030504040204" pitchFamily="34" charset="-128"/>
                <a:ea typeface="Meiryo" panose="020B0604030504040204" pitchFamily="34" charset="-128"/>
              </a:rPr>
              <a:t>Step 6 :Backend transfer</a:t>
            </a:r>
          </a:p>
          <a:p>
            <a:endParaRPr lang="en-US" sz="1600" dirty="0">
              <a:latin typeface="Meiryo" panose="020B0604030504040204" pitchFamily="34" charset="-128"/>
              <a:ea typeface="Meiryo" panose="020B0604030504040204" pitchFamily="34" charset="-128"/>
            </a:endParaRPr>
          </a:p>
        </p:txBody>
      </p:sp>
      <p:sp>
        <p:nvSpPr>
          <p:cNvPr id="37" name="Rectangle: Rounded Corners 36">
            <a:extLst>
              <a:ext uri="{FF2B5EF4-FFF2-40B4-BE49-F238E27FC236}">
                <a16:creationId xmlns:a16="http://schemas.microsoft.com/office/drawing/2014/main" id="{94A1BD25-3244-F95D-D8DD-6B7F459B40D1}"/>
              </a:ext>
            </a:extLst>
          </p:cNvPr>
          <p:cNvSpPr/>
          <p:nvPr/>
        </p:nvSpPr>
        <p:spPr>
          <a:xfrm>
            <a:off x="1733548" y="654554"/>
            <a:ext cx="5229313" cy="1006582"/>
          </a:xfrm>
          <a:prstGeom prst="roundRect">
            <a:avLst/>
          </a:pr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
            </a:pPr>
            <a:r>
              <a:rPr lang="en-US" b="1" dirty="0">
                <a:solidFill>
                  <a:schemeClr val="tx1"/>
                </a:solidFill>
                <a:latin typeface="Meiryo" panose="020B0604030504040204" pitchFamily="34" charset="-128"/>
                <a:ea typeface="Meiryo" panose="020B0604030504040204" pitchFamily="34" charset="-128"/>
              </a:rPr>
              <a:t>Layer 1</a:t>
            </a:r>
            <a:r>
              <a:rPr lang="ja-JP" altLang="en-US" b="1">
                <a:solidFill>
                  <a:schemeClr val="tx1"/>
                </a:solidFill>
                <a:latin typeface="Meiryo" panose="020B0604030504040204" pitchFamily="34" charset="-128"/>
                <a:ea typeface="Meiryo" panose="020B0604030504040204" pitchFamily="34" charset="-128"/>
              </a:rPr>
              <a:t>から通常パケット受信</a:t>
            </a:r>
            <a:br>
              <a:rPr lang="ja-JP" altLang="en-US" b="1">
                <a:solidFill>
                  <a:schemeClr val="tx1"/>
                </a:solidFill>
                <a:latin typeface="Meiryo" panose="020B0604030504040204" pitchFamily="34" charset="-128"/>
                <a:ea typeface="Meiryo" panose="020B0604030504040204" pitchFamily="34" charset="-128"/>
              </a:rPr>
            </a:br>
            <a:r>
              <a:rPr lang="en-US" dirty="0">
                <a:solidFill>
                  <a:schemeClr val="tx1"/>
                </a:solidFill>
                <a:latin typeface="Meiryo" panose="020B0604030504040204" pitchFamily="34" charset="-128"/>
                <a:ea typeface="Meiryo" panose="020B0604030504040204" pitchFamily="34" charset="-128"/>
              </a:rPr>
              <a:t>Plain text CoAP — 「GET /temperature」</a:t>
            </a:r>
          </a:p>
        </p:txBody>
      </p:sp>
      <p:sp>
        <p:nvSpPr>
          <p:cNvPr id="11" name="TextBox 10">
            <a:extLst>
              <a:ext uri="{FF2B5EF4-FFF2-40B4-BE49-F238E27FC236}">
                <a16:creationId xmlns:a16="http://schemas.microsoft.com/office/drawing/2014/main" id="{AE5E31E7-EDCB-C7D2-AC35-55C855AB4B39}"/>
              </a:ext>
            </a:extLst>
          </p:cNvPr>
          <p:cNvSpPr txBox="1"/>
          <p:nvPr/>
        </p:nvSpPr>
        <p:spPr>
          <a:xfrm>
            <a:off x="1563600" y="153668"/>
            <a:ext cx="5134062" cy="369332"/>
          </a:xfrm>
          <a:prstGeom prst="rect">
            <a:avLst/>
          </a:prstGeom>
          <a:noFill/>
        </p:spPr>
        <p:txBody>
          <a:bodyPr wrap="square">
            <a:spAutoFit/>
          </a:bodyPr>
          <a:lstStyle/>
          <a:p>
            <a:pPr marL="285750" indent="-285750">
              <a:buFont typeface="Wingdings" pitchFamily="2" charset="2"/>
              <a:buChar char="Ø"/>
            </a:pPr>
            <a:r>
              <a:rPr lang="en-US" altLang="ja-JP" sz="1800" b="1" dirty="0">
                <a:latin typeface="Meiryo" panose="020B0604030504040204" pitchFamily="34" charset="-128"/>
                <a:ea typeface="Meiryo" panose="020B0604030504040204" pitchFamily="34" charset="-128"/>
              </a:rPr>
              <a:t>Layer 2 – CoAP-DTLS</a:t>
            </a:r>
            <a:r>
              <a:rPr lang="ja-JP" altLang="en-US" sz="1800" b="1">
                <a:latin typeface="Meiryo" panose="020B0604030504040204" pitchFamily="34" charset="-128"/>
                <a:ea typeface="Meiryo" panose="020B0604030504040204" pitchFamily="34" charset="-128"/>
              </a:rPr>
              <a:t>暗号化と</a:t>
            </a:r>
            <a:r>
              <a:rPr lang="en-US" altLang="ja-JP" sz="1800" b="1" dirty="0">
                <a:latin typeface="Meiryo" panose="020B0604030504040204" pitchFamily="34" charset="-128"/>
                <a:ea typeface="Meiryo" panose="020B0604030504040204" pitchFamily="34" charset="-128"/>
              </a:rPr>
              <a:t>Backend </a:t>
            </a:r>
          </a:p>
        </p:txBody>
      </p:sp>
      <p:cxnSp>
        <p:nvCxnSpPr>
          <p:cNvPr id="18" name="Straight Connector 17">
            <a:extLst>
              <a:ext uri="{FF2B5EF4-FFF2-40B4-BE49-F238E27FC236}">
                <a16:creationId xmlns:a16="http://schemas.microsoft.com/office/drawing/2014/main" id="{9B375168-8ACE-1B09-3954-7D97AB0A1FD8}"/>
              </a:ext>
            </a:extLst>
          </p:cNvPr>
          <p:cNvCxnSpPr>
            <a:stCxn id="37" idx="2"/>
            <a:endCxn id="5" idx="0"/>
          </p:cNvCxnSpPr>
          <p:nvPr/>
        </p:nvCxnSpPr>
        <p:spPr>
          <a:xfrm>
            <a:off x="4348205" y="1661136"/>
            <a:ext cx="0" cy="326513"/>
          </a:xfrm>
          <a:prstGeom prst="line">
            <a:avLst/>
          </a:prstGeom>
          <a:ln w="2540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094827CD-22CE-2FCC-BA59-60F02E36FFD5}"/>
              </a:ext>
            </a:extLst>
          </p:cNvPr>
          <p:cNvCxnSpPr/>
          <p:nvPr/>
        </p:nvCxnSpPr>
        <p:spPr>
          <a:xfrm>
            <a:off x="4348203" y="2878221"/>
            <a:ext cx="0" cy="326513"/>
          </a:xfrm>
          <a:prstGeom prst="line">
            <a:avLst/>
          </a:prstGeom>
          <a:ln w="25400"/>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85326C33-ED2B-128C-3217-F8EBE2F918EC}"/>
              </a:ext>
            </a:extLst>
          </p:cNvPr>
          <p:cNvCxnSpPr/>
          <p:nvPr/>
        </p:nvCxnSpPr>
        <p:spPr>
          <a:xfrm>
            <a:off x="4369669" y="4107719"/>
            <a:ext cx="0" cy="326513"/>
          </a:xfrm>
          <a:prstGeom prst="line">
            <a:avLst/>
          </a:prstGeom>
          <a:ln w="25400"/>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C5AA6FE-DD88-4D8B-AA9C-E845AFF78945}"/>
              </a:ext>
            </a:extLst>
          </p:cNvPr>
          <p:cNvCxnSpPr/>
          <p:nvPr/>
        </p:nvCxnSpPr>
        <p:spPr>
          <a:xfrm>
            <a:off x="4348202" y="5435899"/>
            <a:ext cx="0" cy="326513"/>
          </a:xfrm>
          <a:prstGeom prst="line">
            <a:avLst/>
          </a:prstGeom>
          <a:ln w="25400"/>
        </p:spPr>
        <p:style>
          <a:lnRef idx="1">
            <a:schemeClr val="dk1"/>
          </a:lnRef>
          <a:fillRef idx="0">
            <a:schemeClr val="dk1"/>
          </a:fillRef>
          <a:effectRef idx="0">
            <a:schemeClr val="dk1"/>
          </a:effectRef>
          <a:fontRef idx="minor">
            <a:schemeClr val="tx1"/>
          </a:fontRef>
        </p:style>
      </p:cxnSp>
      <p:sp>
        <p:nvSpPr>
          <p:cNvPr id="28" name="Slide Number Placeholder 27">
            <a:extLst>
              <a:ext uri="{FF2B5EF4-FFF2-40B4-BE49-F238E27FC236}">
                <a16:creationId xmlns:a16="http://schemas.microsoft.com/office/drawing/2014/main" id="{C2E0B85F-E84F-C0DC-FEFE-66770FC95EA0}"/>
              </a:ext>
            </a:extLst>
          </p:cNvPr>
          <p:cNvSpPr>
            <a:spLocks noGrp="1"/>
          </p:cNvSpPr>
          <p:nvPr>
            <p:ph type="sldNum" sz="quarter" idx="12"/>
          </p:nvPr>
        </p:nvSpPr>
        <p:spPr/>
        <p:txBody>
          <a:bodyPr/>
          <a:lstStyle/>
          <a:p>
            <a:fld id="{828F3BD4-1AF2-D144-8129-4D42AD448F5E}" type="slidenum">
              <a:rPr lang="en-JP" smtClean="0"/>
              <a:t>54</a:t>
            </a:fld>
            <a:endParaRPr lang="en-JP"/>
          </a:p>
        </p:txBody>
      </p:sp>
    </p:spTree>
    <p:extLst>
      <p:ext uri="{BB962C8B-B14F-4D97-AF65-F5344CB8AC3E}">
        <p14:creationId xmlns:p14="http://schemas.microsoft.com/office/powerpoint/2010/main" val="17074432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4BFD90-356D-D917-F055-8E9B1EF12A9F}"/>
              </a:ext>
            </a:extLst>
          </p:cNvPr>
          <p:cNvPicPr>
            <a:picLocks noChangeAspect="1"/>
          </p:cNvPicPr>
          <p:nvPr/>
        </p:nvPicPr>
        <p:blipFill>
          <a:blip r:embed="rId2"/>
          <a:stretch>
            <a:fillRect/>
          </a:stretch>
        </p:blipFill>
        <p:spPr>
          <a:xfrm>
            <a:off x="300790" y="318514"/>
            <a:ext cx="7772400" cy="5805559"/>
          </a:xfrm>
          <a:prstGeom prst="rect">
            <a:avLst/>
          </a:prstGeom>
        </p:spPr>
      </p:pic>
      <p:sp>
        <p:nvSpPr>
          <p:cNvPr id="5" name="Slide Number Placeholder 4">
            <a:extLst>
              <a:ext uri="{FF2B5EF4-FFF2-40B4-BE49-F238E27FC236}">
                <a16:creationId xmlns:a16="http://schemas.microsoft.com/office/drawing/2014/main" id="{29FD6F6A-51E9-7932-5906-90B05DC472C6}"/>
              </a:ext>
            </a:extLst>
          </p:cNvPr>
          <p:cNvSpPr>
            <a:spLocks noGrp="1"/>
          </p:cNvSpPr>
          <p:nvPr>
            <p:ph type="sldNum" sz="quarter" idx="12"/>
          </p:nvPr>
        </p:nvSpPr>
        <p:spPr/>
        <p:txBody>
          <a:bodyPr/>
          <a:lstStyle/>
          <a:p>
            <a:fld id="{828F3BD4-1AF2-D144-8129-4D42AD448F5E}" type="slidenum">
              <a:rPr lang="en-JP" smtClean="0"/>
              <a:t>55</a:t>
            </a:fld>
            <a:endParaRPr lang="en-JP"/>
          </a:p>
        </p:txBody>
      </p:sp>
    </p:spTree>
    <p:extLst>
      <p:ext uri="{BB962C8B-B14F-4D97-AF65-F5344CB8AC3E}">
        <p14:creationId xmlns:p14="http://schemas.microsoft.com/office/powerpoint/2010/main" val="335222345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35340</TotalTime>
  <Words>4832</Words>
  <Application>Microsoft Macintosh PowerPoint</Application>
  <PresentationFormat>On-screen Show (4:3)</PresentationFormat>
  <Paragraphs>919</Paragraphs>
  <Slides>56</Slides>
  <Notes>20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56</vt:i4>
      </vt:variant>
    </vt:vector>
  </HeadingPairs>
  <TitlesOfParts>
    <vt:vector size="66" baseType="lpstr">
      <vt:lpstr>Meiryo</vt:lpstr>
      <vt:lpstr>Meiryo UI</vt:lpstr>
      <vt:lpstr>Source Han Sans</vt:lpstr>
      <vt:lpstr>Arial</vt:lpstr>
      <vt:lpstr>Calibri</vt:lpstr>
      <vt:lpstr>Calibri Light</vt:lpstr>
      <vt:lpstr>Helvetica Neue</vt:lpstr>
      <vt:lpstr>Times New Roman</vt:lpstr>
      <vt:lpstr>Wingdings</vt:lpstr>
      <vt:lpstr>Office Theme</vt:lpstr>
      <vt:lpstr>PowerPoint Presentation</vt:lpstr>
      <vt:lpstr>目次</vt:lpstr>
      <vt:lpstr>目次</vt:lpstr>
      <vt:lpstr>IoTデバイス数の推移[1]</vt:lpstr>
      <vt:lpstr>PowerPoint Presentation</vt:lpstr>
      <vt:lpstr>PowerPoint Presentation</vt:lpstr>
      <vt:lpstr>PowerPoint Presentation</vt:lpstr>
      <vt:lpstr>PowerPoint Presentation</vt:lpstr>
      <vt:lpstr>PowerPoint Presentation</vt:lpstr>
      <vt:lpstr>目次</vt:lpstr>
      <vt:lpstr>PowerPoint Presentation</vt:lpstr>
      <vt:lpstr>PowerPoint Presentation</vt:lpstr>
      <vt:lpstr>目次</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目次</vt:lpstr>
      <vt:lpstr>PowerPoint Presentation</vt:lpstr>
      <vt:lpstr>PowerPoint Presentation</vt:lpstr>
      <vt:lpstr>PowerPoint Presentation</vt:lpstr>
      <vt:lpstr>PowerPoint Presentation</vt:lpstr>
      <vt:lpstr>PowerPoint Presentation</vt:lpstr>
      <vt:lpstr>提案手法 </vt:lpstr>
      <vt:lpstr>PowerPoint Presentation</vt:lpstr>
      <vt:lpstr>目次</vt:lpstr>
      <vt:lpstr>PowerPoint Presentation</vt:lpstr>
      <vt:lpstr>PowerPoint Presentation</vt:lpstr>
      <vt:lpstr>PowerPoint Presentation</vt:lpstr>
      <vt:lpstr>目次</vt:lpstr>
      <vt:lpstr>PowerPoint Presentation</vt:lpstr>
      <vt:lpstr>目次</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undarmaa581@gmail.com</dc:creator>
  <cp:lastModifiedBy>undarmaa581@gmail.com</cp:lastModifiedBy>
  <cp:revision>59</cp:revision>
  <dcterms:created xsi:type="dcterms:W3CDTF">2026-04-03T11:09:25Z</dcterms:created>
  <dcterms:modified xsi:type="dcterms:W3CDTF">2026-05-08T13:08:53Z</dcterms:modified>
</cp:coreProperties>
</file>