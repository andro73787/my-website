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60" r:id="rId1"/>
  </p:sldMasterIdLst>
  <p:notesMasterIdLst>
    <p:notesMasterId r:id="rId60"/>
  </p:notesMasterIdLst>
  <p:sldIdLst>
    <p:sldId id="256" r:id="rId2"/>
    <p:sldId id="351" r:id="rId3"/>
    <p:sldId id="386" r:id="rId4"/>
    <p:sldId id="360" r:id="rId5"/>
    <p:sldId id="290" r:id="rId6"/>
    <p:sldId id="362" r:id="rId7"/>
    <p:sldId id="378" r:id="rId8"/>
    <p:sldId id="340" r:id="rId9"/>
    <p:sldId id="264" r:id="rId10"/>
    <p:sldId id="359" r:id="rId11"/>
    <p:sldId id="348" r:id="rId12"/>
    <p:sldId id="345" r:id="rId13"/>
    <p:sldId id="303" r:id="rId14"/>
    <p:sldId id="353" r:id="rId15"/>
    <p:sldId id="336" r:id="rId16"/>
    <p:sldId id="417" r:id="rId17"/>
    <p:sldId id="432" r:id="rId18"/>
    <p:sldId id="355" r:id="rId19"/>
    <p:sldId id="419" r:id="rId20"/>
    <p:sldId id="435" r:id="rId21"/>
    <p:sldId id="413" r:id="rId22"/>
    <p:sldId id="414" r:id="rId23"/>
    <p:sldId id="439" r:id="rId24"/>
    <p:sldId id="440" r:id="rId25"/>
    <p:sldId id="425" r:id="rId26"/>
    <p:sldId id="436" r:id="rId27"/>
    <p:sldId id="341" r:id="rId28"/>
    <p:sldId id="394" r:id="rId29"/>
    <p:sldId id="433" r:id="rId30"/>
    <p:sldId id="438" r:id="rId31"/>
    <p:sldId id="374" r:id="rId32"/>
    <p:sldId id="437" r:id="rId33"/>
    <p:sldId id="431" r:id="rId34"/>
    <p:sldId id="427" r:id="rId35"/>
    <p:sldId id="363" r:id="rId36"/>
    <p:sldId id="259" r:id="rId37"/>
    <p:sldId id="261" r:id="rId38"/>
    <p:sldId id="258" r:id="rId39"/>
    <p:sldId id="371" r:id="rId40"/>
    <p:sldId id="369" r:id="rId41"/>
    <p:sldId id="372" r:id="rId42"/>
    <p:sldId id="370" r:id="rId43"/>
    <p:sldId id="423" r:id="rId44"/>
    <p:sldId id="381" r:id="rId45"/>
    <p:sldId id="441" r:id="rId46"/>
    <p:sldId id="339" r:id="rId47"/>
    <p:sldId id="343" r:id="rId48"/>
    <p:sldId id="366" r:id="rId49"/>
    <p:sldId id="361" r:id="rId50"/>
    <p:sldId id="356" r:id="rId51"/>
    <p:sldId id="430" r:id="rId52"/>
    <p:sldId id="418" r:id="rId53"/>
    <p:sldId id="364" r:id="rId54"/>
    <p:sldId id="380" r:id="rId55"/>
    <p:sldId id="421" r:id="rId56"/>
    <p:sldId id="416" r:id="rId57"/>
    <p:sldId id="420" r:id="rId58"/>
    <p:sldId id="422" r:id="rId5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764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762"/>
    <p:restoredTop sz="91599"/>
  </p:normalViewPr>
  <p:slideViewPr>
    <p:cSldViewPr snapToGrid="0">
      <p:cViewPr>
        <p:scale>
          <a:sx n="112" d="100"/>
          <a:sy n="112" d="100"/>
        </p:scale>
        <p:origin x="1808" y="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55AC4E-FD3B-2849-90F0-E6D4145241B2}" type="datetimeFigureOut">
              <a:rPr lang="en-JP" smtClean="0"/>
              <a:t>2026/05/14</a:t>
            </a:fld>
            <a:endParaRPr lang="en-JP"/>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JP"/>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P"/>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4FBE9E-3954-214D-A9AB-6EB10B77F3AE}" type="slidenum">
              <a:rPr lang="en-JP" smtClean="0"/>
              <a:t>‹#›</a:t>
            </a:fld>
            <a:endParaRPr lang="en-JP"/>
          </a:p>
        </p:txBody>
      </p:sp>
    </p:spTree>
    <p:extLst>
      <p:ext uri="{BB962C8B-B14F-4D97-AF65-F5344CB8AC3E}">
        <p14:creationId xmlns:p14="http://schemas.microsoft.com/office/powerpoint/2010/main" val="3147726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jisho.org/search/%E4%BD%8D%E7%BD%AE" TargetMode="External"/><Relationship Id="rId2" Type="http://schemas.openxmlformats.org/officeDocument/2006/relationships/slide" Target="../slides/slide42.xml"/><Relationship Id="rId1" Type="http://schemas.openxmlformats.org/officeDocument/2006/relationships/notesMaster" Target="../notesMasters/notesMaster1.xml"/><Relationship Id="rId5" Type="http://schemas.openxmlformats.org/officeDocument/2006/relationships/hyperlink" Target="https://jisho.org/search/%E7%A2%BA%E7%AB%8B" TargetMode="External"/><Relationship Id="rId4" Type="http://schemas.openxmlformats.org/officeDocument/2006/relationships/hyperlink" Target="https://jisho.org/search/%E3%82%92" TargetMode="Externa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a:t>
            </a:fld>
            <a:endParaRPr lang="en-JP"/>
          </a:p>
        </p:txBody>
      </p:sp>
    </p:spTree>
    <p:extLst>
      <p:ext uri="{BB962C8B-B14F-4D97-AF65-F5344CB8AC3E}">
        <p14:creationId xmlns:p14="http://schemas.microsoft.com/office/powerpoint/2010/main" val="42619148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a:t>
            </a:fld>
            <a:endParaRPr lang="en-JP"/>
          </a:p>
        </p:txBody>
      </p:sp>
    </p:spTree>
    <p:extLst>
      <p:ext uri="{BB962C8B-B14F-4D97-AF65-F5344CB8AC3E}">
        <p14:creationId xmlns:p14="http://schemas.microsoft.com/office/powerpoint/2010/main" val="7824627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US" altLang="ja-JP" sz="4000" dirty="0"/>
              <a:t>2025 </a:t>
            </a:r>
            <a:r>
              <a:rPr lang="ja-JP" altLang="en-US" sz="4000"/>
              <a:t>年に </a:t>
            </a:r>
            <a:r>
              <a:rPr lang="en-US" altLang="ja-JP" sz="4000" dirty="0"/>
              <a:t>211 </a:t>
            </a:r>
            <a:r>
              <a:rPr lang="ja-JP" altLang="en-US" sz="4000"/>
              <a:t>億に到達し、その後も増加を続けて </a:t>
            </a:r>
            <a:r>
              <a:rPr lang="en-US" altLang="ja-JP" sz="4000" dirty="0"/>
              <a:t>2035 </a:t>
            </a:r>
            <a:r>
              <a:rPr lang="ja-JP" altLang="en-US" sz="4000"/>
              <a:t>年には </a:t>
            </a:r>
            <a:r>
              <a:rPr lang="en-US" altLang="ja-JP" sz="4000" dirty="0"/>
              <a:t>550 </a:t>
            </a:r>
            <a:r>
              <a:rPr lang="ja-JP" altLang="en-US" sz="4000"/>
              <a:t>億に達すると予測されています</a:t>
            </a:r>
            <a:r>
              <a:rPr lang="en-JP" sz="3600">
                <a:solidFill>
                  <a:schemeClr val="tx1"/>
                </a:solidFill>
                <a:latin typeface="Meiryo" panose="020B0604030504040204" pitchFamily="34" charset="-128"/>
                <a:ea typeface="Meiryo" panose="020B0604030504040204" pitchFamily="34" charset="-128"/>
              </a:rPr>
              <a:t>。</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a:t>
            </a:fld>
            <a:endParaRPr lang="en-JP"/>
          </a:p>
        </p:txBody>
      </p:sp>
    </p:spTree>
    <p:extLst>
      <p:ext uri="{BB962C8B-B14F-4D97-AF65-F5344CB8AC3E}">
        <p14:creationId xmlns:p14="http://schemas.microsoft.com/office/powerpoint/2010/main" val="2531527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r>
              <a:rPr kumimoji="1" lang="ja-JP" altLang="en-US" b="1">
                <a:solidFill>
                  <a:schemeClr val="tx1"/>
                </a:solidFill>
                <a:latin typeface="Meiryo" panose="020B0604030504040204" pitchFamily="34" charset="-128"/>
                <a:ea typeface="Meiryo" panose="020B0604030504040204" pitchFamily="34" charset="-128"/>
              </a:rPr>
              <a:t>不備ー</a:t>
            </a:r>
            <a:r>
              <a:rPr lang="ja-JP" altLang="en-US" b="0" i="0">
                <a:solidFill>
                  <a:srgbClr val="222222"/>
                </a:solidFill>
                <a:effectLst/>
                <a:latin typeface="Source Han Sans"/>
              </a:rPr>
              <a:t>ふび　</a:t>
            </a:r>
            <a:r>
              <a:rPr lang="ja-JP" altLang="en-US">
                <a:latin typeface="Meiryo UI" panose="020B0604030504040204" pitchFamily="50" charset="-128"/>
                <a:ea typeface="Meiryo UI" panose="020B0604030504040204" pitchFamily="50" charset="-128"/>
              </a:rPr>
              <a:t>主なー</a:t>
            </a:r>
            <a:r>
              <a:rPr lang="ja-JP" altLang="en-US" b="0" i="0">
                <a:solidFill>
                  <a:srgbClr val="222222"/>
                </a:solidFill>
                <a:effectLst/>
                <a:latin typeface="Source Han Sans"/>
              </a:rPr>
              <a:t>おもな</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a:t>
            </a:fld>
            <a:endParaRPr lang="en-JP"/>
          </a:p>
        </p:txBody>
      </p:sp>
    </p:spTree>
    <p:extLst>
      <p:ext uri="{BB962C8B-B14F-4D97-AF65-F5344CB8AC3E}">
        <p14:creationId xmlns:p14="http://schemas.microsoft.com/office/powerpoint/2010/main" val="3975707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7</a:t>
            </a:fld>
            <a:endParaRPr lang="en-JP"/>
          </a:p>
        </p:txBody>
      </p:sp>
    </p:spTree>
    <p:extLst>
      <p:ext uri="{BB962C8B-B14F-4D97-AF65-F5344CB8AC3E}">
        <p14:creationId xmlns:p14="http://schemas.microsoft.com/office/powerpoint/2010/main" val="21116667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9</a:t>
            </a:fld>
            <a:endParaRPr lang="en-JP"/>
          </a:p>
        </p:txBody>
      </p:sp>
    </p:spTree>
    <p:extLst>
      <p:ext uri="{BB962C8B-B14F-4D97-AF65-F5344CB8AC3E}">
        <p14:creationId xmlns:p14="http://schemas.microsoft.com/office/powerpoint/2010/main" val="24987888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ja-JP" altLang="en-US"/>
          </a:p>
        </p:txBody>
      </p:sp>
      <p:sp>
        <p:nvSpPr>
          <p:cNvPr id="3" name="Notes Placeholder 2"/>
          <p:cNvSpPr>
            <a:spLocks noGrp="1"/>
          </p:cNvSpPr>
          <p:nvPr>
            <p:ph type="body" idx="1"/>
          </p:nvPr>
        </p:nvSpPr>
        <p:spPr/>
        <p:txBody>
          <a:bodyPr/>
          <a:lstStyle/>
          <a:p>
            <a:pPr marL="0" marR="0" lvl="0" indent="0" algn="l" defTabSz="1097280" rtl="0" eaLnBrk="1" fontAlgn="auto" latinLnBrk="0" hangingPunct="1">
              <a:lnSpc>
                <a:spcPct val="100000"/>
              </a:lnSpc>
              <a:spcBef>
                <a:spcPts val="0"/>
              </a:spcBef>
              <a:spcAft>
                <a:spcPts val="0"/>
              </a:spcAft>
              <a:buClrTx/>
              <a:buSzTx/>
              <a:buFontTx/>
              <a:buNone/>
              <a:tabLst/>
              <a:defRPr/>
            </a:pPr>
            <a:r>
              <a:rPr lang="en-JP" sz="1400" dirty="0">
                <a:latin typeface="Meiryo" panose="020B0604030504040204" pitchFamily="34" charset="-128"/>
                <a:ea typeface="Meiryo" panose="020B0604030504040204" pitchFamily="34" charset="-128"/>
              </a:rPr>
              <a:t>。</a:t>
            </a:r>
          </a:p>
          <a:p>
            <a:r>
              <a:rPr lang="en-JP" sz="1600" dirty="0">
                <a:latin typeface="Meiryo" panose="020B0604030504040204" pitchFamily="34" charset="-128"/>
                <a:ea typeface="Meiryo" panose="020B0604030504040204" pitchFamily="34" charset="-128"/>
              </a:rPr>
              <a:t>予測ー</a:t>
            </a:r>
            <a:r>
              <a:rPr lang="ja-JP" altLang="en-US" b="0" i="0">
                <a:solidFill>
                  <a:srgbClr val="222222"/>
                </a:solidFill>
                <a:effectLst/>
                <a:latin typeface="Source Han Sans"/>
              </a:rPr>
              <a:t>よそく</a:t>
            </a:r>
            <a:r>
              <a:rPr lang="en-US" altLang="ja-JP" b="0" i="0" dirty="0">
                <a:solidFill>
                  <a:srgbClr val="222222"/>
                </a:solidFill>
                <a:effectLst/>
                <a:latin typeface="Source Han Sans"/>
              </a:rPr>
              <a:t>,</a:t>
            </a:r>
            <a:r>
              <a:rPr lang="ja-JP" altLang="en-US" sz="1600" b="0">
                <a:solidFill>
                  <a:schemeClr val="tx1"/>
                </a:solidFill>
                <a:latin typeface="Meiryo" panose="020B0604030504040204" pitchFamily="34" charset="-128"/>
                <a:ea typeface="Meiryo" panose="020B0604030504040204" pitchFamily="34" charset="-128"/>
              </a:rPr>
              <a:t>資源</a:t>
            </a:r>
            <a:r>
              <a:rPr lang="en-US" altLang="ja-JP" sz="1600" b="0" dirty="0">
                <a:solidFill>
                  <a:schemeClr val="tx1"/>
                </a:solidFill>
                <a:latin typeface="Meiryo" panose="020B0604030504040204" pitchFamily="34" charset="-128"/>
                <a:ea typeface="Meiryo" panose="020B0604030504040204" pitchFamily="34" charset="-128"/>
              </a:rPr>
              <a:t>-</a:t>
            </a:r>
            <a:r>
              <a:rPr lang="ja-JP" altLang="en-US" b="0" i="0">
                <a:solidFill>
                  <a:srgbClr val="222222"/>
                </a:solidFill>
                <a:effectLst/>
                <a:latin typeface="Source Han Sans"/>
              </a:rPr>
              <a:t>しげん</a:t>
            </a:r>
            <a:endParaRPr lang="en-JP" b="0" dirty="0"/>
          </a:p>
        </p:txBody>
      </p:sp>
      <p:sp>
        <p:nvSpPr>
          <p:cNvPr id="4" name="Slide Number Placeholder 3"/>
          <p:cNvSpPr>
            <a:spLocks noGrp="1"/>
          </p:cNvSpPr>
          <p:nvPr>
            <p:ph type="sldNum" sz="quarter" idx="5"/>
          </p:nvPr>
        </p:nvSpPr>
        <p:spPr/>
        <p:txBody>
          <a:bodyPr/>
          <a:lstStyle/>
          <a:p>
            <a:fld id="{5741F159-79E2-E24F-9993-34E52B426EB4}" type="slidenum">
              <a:rPr lang="en-JP" smtClean="0"/>
              <a:t>12</a:t>
            </a:fld>
            <a:endParaRPr lang="en-JP"/>
          </a:p>
        </p:txBody>
      </p:sp>
    </p:spTree>
    <p:extLst>
      <p:ext uri="{BB962C8B-B14F-4D97-AF65-F5344CB8AC3E}">
        <p14:creationId xmlns:p14="http://schemas.microsoft.com/office/powerpoint/2010/main" val="396274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1" lang="ja-JP" altLang="en-US"/>
              <a:t>境界ー</a:t>
            </a:r>
            <a:r>
              <a:rPr lang="ja-JP" altLang="en-US" b="0" i="0">
                <a:solidFill>
                  <a:srgbClr val="222222"/>
                </a:solidFill>
                <a:effectLst/>
                <a:latin typeface="Source Han Sans"/>
              </a:rPr>
              <a:t>きょうかい　</a:t>
            </a:r>
            <a:r>
              <a:rPr kumimoji="1" lang="ja-JP" altLang="en-US"/>
              <a:t>検出ー</a:t>
            </a:r>
            <a:r>
              <a:rPr lang="ja-JP" altLang="en-US" b="0" i="0">
                <a:solidFill>
                  <a:srgbClr val="222222"/>
                </a:solidFill>
                <a:effectLst/>
                <a:latin typeface="Source Han Sans"/>
              </a:rPr>
              <a:t>けんしゅつ　</a:t>
            </a:r>
            <a:r>
              <a:rPr kumimoji="1" lang="ja-JP" altLang="en-US"/>
              <a:t>実行ー</a:t>
            </a:r>
            <a:r>
              <a:rPr lang="ja-JP" altLang="en-US" b="0" i="0">
                <a:solidFill>
                  <a:srgbClr val="222222"/>
                </a:solidFill>
                <a:effectLst/>
                <a:latin typeface="Source Han Sans"/>
              </a:rPr>
              <a:t>じっこう</a:t>
            </a:r>
            <a:endParaRPr kumimoji="1" lang="en-US" altLang="ja-JP" dirty="0"/>
          </a:p>
          <a:p>
            <a:r>
              <a:rPr kumimoji="1" lang="ja-JP" altLang="en-US"/>
              <a:t>設置ー</a:t>
            </a:r>
            <a:r>
              <a:rPr lang="ja-JP" altLang="en-US" b="0" i="0">
                <a:solidFill>
                  <a:srgbClr val="222222"/>
                </a:solidFill>
                <a:effectLst/>
                <a:latin typeface="Source Han Sans"/>
              </a:rPr>
              <a:t>せっち</a:t>
            </a:r>
            <a:endParaRPr kumimoji="1" lang="en-US" altLang="ja-JP" dirty="0"/>
          </a:p>
          <a:p>
            <a:r>
              <a:rPr kumimoji="1" lang="ja-JP" altLang="en-US"/>
              <a:t>応じてー</a:t>
            </a:r>
            <a:r>
              <a:rPr lang="ja-JP" altLang="en-US" b="0" i="0">
                <a:solidFill>
                  <a:srgbClr val="222222"/>
                </a:solidFill>
                <a:effectLst/>
                <a:latin typeface="Source Han Sans"/>
              </a:rPr>
              <a:t>おう</a:t>
            </a:r>
            <a:endParaRPr kumimoji="1" lang="en-US" altLang="ja-JP" dirty="0"/>
          </a:p>
          <a:p>
            <a:r>
              <a:rPr kumimoji="1" lang="ja-JP" altLang="en-US"/>
              <a:t>出力ー</a:t>
            </a:r>
            <a:r>
              <a:rPr lang="ja-JP" altLang="en-US" b="0" i="0">
                <a:solidFill>
                  <a:srgbClr val="222222"/>
                </a:solidFill>
                <a:effectLst/>
                <a:latin typeface="Source Han Sans"/>
              </a:rPr>
              <a:t>しゅつりょく</a:t>
            </a:r>
            <a:endParaRPr kumimoji="1" lang="en-US" altLang="ja-JP" dirty="0"/>
          </a:p>
          <a:p>
            <a:r>
              <a:rPr kumimoji="1" lang="ja-JP" altLang="en-US"/>
              <a:t>発出ー</a:t>
            </a:r>
            <a:r>
              <a:rPr lang="ja-JP" altLang="en-US" b="0" i="0">
                <a:solidFill>
                  <a:srgbClr val="222222"/>
                </a:solidFill>
                <a:effectLst/>
                <a:latin typeface="Source Han Sans"/>
              </a:rPr>
              <a:t>はっしゅつ</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14</a:t>
            </a:fld>
            <a:endParaRPr lang="en-JP"/>
          </a:p>
        </p:txBody>
      </p:sp>
    </p:spTree>
    <p:extLst>
      <p:ext uri="{BB962C8B-B14F-4D97-AF65-F5344CB8AC3E}">
        <p14:creationId xmlns:p14="http://schemas.microsoft.com/office/powerpoint/2010/main" val="23782736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16</a:t>
            </a:fld>
            <a:endParaRPr lang="en-JP"/>
          </a:p>
        </p:txBody>
      </p:sp>
    </p:spTree>
    <p:extLst>
      <p:ext uri="{BB962C8B-B14F-4D97-AF65-F5344CB8AC3E}">
        <p14:creationId xmlns:p14="http://schemas.microsoft.com/office/powerpoint/2010/main" val="1885732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17</a:t>
            </a:fld>
            <a:endParaRPr lang="en-JP"/>
          </a:p>
        </p:txBody>
      </p:sp>
    </p:spTree>
    <p:extLst>
      <p:ext uri="{BB962C8B-B14F-4D97-AF65-F5344CB8AC3E}">
        <p14:creationId xmlns:p14="http://schemas.microsoft.com/office/powerpoint/2010/main" val="38041405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20</a:t>
            </a:fld>
            <a:endParaRPr lang="en-JP"/>
          </a:p>
        </p:txBody>
      </p:sp>
    </p:spTree>
    <p:extLst>
      <p:ext uri="{BB962C8B-B14F-4D97-AF65-F5344CB8AC3E}">
        <p14:creationId xmlns:p14="http://schemas.microsoft.com/office/powerpoint/2010/main" val="37481749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25</a:t>
            </a:fld>
            <a:endParaRPr lang="en-JP"/>
          </a:p>
        </p:txBody>
      </p:sp>
    </p:spTree>
    <p:extLst>
      <p:ext uri="{BB962C8B-B14F-4D97-AF65-F5344CB8AC3E}">
        <p14:creationId xmlns:p14="http://schemas.microsoft.com/office/powerpoint/2010/main" val="26689267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26</a:t>
            </a:fld>
            <a:endParaRPr lang="en-JP"/>
          </a:p>
        </p:txBody>
      </p:sp>
    </p:spTree>
    <p:extLst>
      <p:ext uri="{BB962C8B-B14F-4D97-AF65-F5344CB8AC3E}">
        <p14:creationId xmlns:p14="http://schemas.microsoft.com/office/powerpoint/2010/main" val="365108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28</a:t>
            </a:fld>
            <a:endParaRPr lang="en-JP"/>
          </a:p>
        </p:txBody>
      </p:sp>
    </p:spTree>
    <p:extLst>
      <p:ext uri="{BB962C8B-B14F-4D97-AF65-F5344CB8AC3E}">
        <p14:creationId xmlns:p14="http://schemas.microsoft.com/office/powerpoint/2010/main" val="26869064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34</a:t>
            </a:fld>
            <a:endParaRPr lang="en-JP"/>
          </a:p>
        </p:txBody>
      </p:sp>
    </p:spTree>
    <p:extLst>
      <p:ext uri="{BB962C8B-B14F-4D97-AF65-F5344CB8AC3E}">
        <p14:creationId xmlns:p14="http://schemas.microsoft.com/office/powerpoint/2010/main" val="661624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こちらは本研究で使用した実験環境です。</a:t>
            </a:r>
            <a:br>
              <a:rPr lang="ja-JP" altLang="en-US"/>
            </a:br>
            <a:br>
              <a:rPr lang="ja-JP" altLang="en-US"/>
            </a:br>
            <a:r>
              <a:rPr lang="ja-JP" altLang="en-US"/>
              <a:t>まず、ゲートウェイとして</a:t>
            </a:r>
            <a:r>
              <a:rPr lang="en-US" dirty="0"/>
              <a:t>Raspberry Pi 4</a:t>
            </a:r>
            <a:r>
              <a:rPr lang="ja-JP" altLang="en-US"/>
              <a:t>を使用しました。</a:t>
            </a:r>
            <a:br>
              <a:rPr lang="ja-JP" altLang="en-US"/>
            </a:br>
            <a:r>
              <a:rPr lang="ja-JP" altLang="en-US"/>
              <a:t>センサーデバイスは</a:t>
            </a:r>
            <a:r>
              <a:rPr lang="en-US" dirty="0"/>
              <a:t>Raspberry Pi 3B+</a:t>
            </a:r>
            <a:r>
              <a:rPr lang="ja-JP" altLang="en-US"/>
              <a:t>を</a:t>
            </a:r>
            <a:r>
              <a:rPr lang="en-US" altLang="ja-JP" dirty="0"/>
              <a:t>2</a:t>
            </a:r>
            <a:r>
              <a:rPr lang="ja-JP" altLang="en-US"/>
              <a:t>台構成しています。</a:t>
            </a:r>
            <a:br>
              <a:rPr lang="ja-JP" altLang="en-US"/>
            </a:br>
            <a:br>
              <a:rPr lang="ja-JP" altLang="en-US"/>
            </a:br>
            <a:r>
              <a:rPr lang="ja-JP" altLang="en-US"/>
              <a:t>攻撃環境には</a:t>
            </a:r>
            <a:r>
              <a:rPr lang="en-US" dirty="0"/>
              <a:t>Kali Linux</a:t>
            </a:r>
            <a:r>
              <a:rPr lang="ja-JP" altLang="en-US"/>
              <a:t>を使用し、ラップトップから攻撃トラフィックを生成しました。</a:t>
            </a:r>
            <a:br>
              <a:rPr lang="ja-JP" altLang="en-US"/>
            </a:br>
            <a:br>
              <a:rPr lang="ja-JP" altLang="en-US"/>
            </a:br>
            <a:r>
              <a:rPr lang="ja-JP" altLang="en-US"/>
              <a:t>データセットは既存の</a:t>
            </a:r>
            <a:r>
              <a:rPr lang="en-US" dirty="0"/>
              <a:t>CICIDS</a:t>
            </a:r>
            <a:r>
              <a:rPr lang="ja-JP" altLang="en-US"/>
              <a:t>に加えて、自分で生成したトラフィックも利用しています。</a:t>
            </a:r>
            <a:br>
              <a:rPr lang="ja-JP" altLang="en-US"/>
            </a:br>
            <a:br>
              <a:rPr lang="ja-JP" altLang="en-US"/>
            </a:br>
            <a:r>
              <a:rPr lang="en-US" dirty="0"/>
              <a:t>OS</a:t>
            </a:r>
            <a:r>
              <a:rPr lang="ja-JP" altLang="en-US"/>
              <a:t>は</a:t>
            </a:r>
            <a:r>
              <a:rPr lang="en-US" dirty="0"/>
              <a:t>Ubuntu 22.04 LTS</a:t>
            </a:r>
            <a:r>
              <a:rPr lang="ja-JP" altLang="en-US"/>
              <a:t>を使用しています。</a:t>
            </a:r>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35</a:t>
            </a:fld>
            <a:endParaRPr lang="en-JP"/>
          </a:p>
        </p:txBody>
      </p:sp>
    </p:spTree>
    <p:extLst>
      <p:ext uri="{BB962C8B-B14F-4D97-AF65-F5344CB8AC3E}">
        <p14:creationId xmlns:p14="http://schemas.microsoft.com/office/powerpoint/2010/main" val="26951354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定着</a:t>
            </a:r>
            <a:r>
              <a:rPr lang="en-US" altLang="ja-JP" b="0" i="0" dirty="0">
                <a:solidFill>
                  <a:srgbClr val="222222"/>
                </a:solidFill>
                <a:effectLst/>
                <a:latin typeface="Source Han Sans"/>
              </a:rPr>
              <a:t>-</a:t>
            </a:r>
            <a:r>
              <a:rPr lang="ja-JP" altLang="en-US" b="0" i="0">
                <a:solidFill>
                  <a:srgbClr val="222222"/>
                </a:solidFill>
                <a:effectLst/>
                <a:latin typeface="Source Han Sans"/>
              </a:rPr>
              <a:t>ていちゃく</a:t>
            </a:r>
            <a:r>
              <a:rPr lang="en-US" altLang="ja-JP" b="0" i="0" dirty="0">
                <a:solidFill>
                  <a:srgbClr val="222222"/>
                </a:solidFill>
                <a:effectLst/>
                <a:latin typeface="Source Han Sans"/>
              </a:rPr>
              <a:t>, </a:t>
            </a:r>
            <a:r>
              <a:rPr lang="ja-JP" altLang="en-US" b="0" i="0">
                <a:solidFill>
                  <a:srgbClr val="222222"/>
                </a:solidFill>
                <a:effectLst/>
                <a:latin typeface="Source Han Sans"/>
              </a:rPr>
              <a:t>判定</a:t>
            </a:r>
            <a:r>
              <a:rPr lang="en-US" altLang="ja-JP" b="0" i="0" dirty="0">
                <a:solidFill>
                  <a:srgbClr val="222222"/>
                </a:solidFill>
                <a:effectLst/>
                <a:latin typeface="Source Han Sans"/>
              </a:rPr>
              <a:t>- </a:t>
            </a:r>
            <a:r>
              <a:rPr lang="ja-JP" altLang="en-US" b="0" i="0">
                <a:solidFill>
                  <a:srgbClr val="222222"/>
                </a:solidFill>
                <a:effectLst/>
                <a:latin typeface="Source Han Sans"/>
              </a:rPr>
              <a:t>はんてい</a:t>
            </a:r>
            <a:r>
              <a:rPr lang="en-US" altLang="ja-JP" b="0" i="0" dirty="0">
                <a:solidFill>
                  <a:srgbClr val="222222"/>
                </a:solidFill>
                <a:effectLst/>
                <a:latin typeface="Source Han Sans"/>
              </a:rPr>
              <a:t>, </a:t>
            </a:r>
            <a:r>
              <a:rPr lang="ja-JP" altLang="en-US" b="0" i="0">
                <a:solidFill>
                  <a:srgbClr val="222222"/>
                </a:solidFill>
                <a:effectLst/>
                <a:latin typeface="Source Han Sans"/>
              </a:rPr>
              <a:t>おせん</a:t>
            </a:r>
            <a:r>
              <a:rPr lang="en-US" altLang="ja-JP" b="0" i="0" dirty="0">
                <a:solidFill>
                  <a:srgbClr val="222222"/>
                </a:solidFill>
                <a:effectLst/>
                <a:latin typeface="Source Han Sans"/>
              </a:rPr>
              <a:t>-</a:t>
            </a:r>
            <a:r>
              <a:rPr lang="ja-JP" altLang="en-US" b="0" i="0">
                <a:solidFill>
                  <a:srgbClr val="222222"/>
                </a:solidFill>
                <a:effectLst/>
                <a:latin typeface="Source Han Sans"/>
              </a:rPr>
              <a:t>汚染</a:t>
            </a:r>
            <a:r>
              <a:rPr lang="en-US" altLang="ja-JP" b="0" i="0" dirty="0">
                <a:solidFill>
                  <a:srgbClr val="222222"/>
                </a:solidFill>
                <a:effectLst/>
                <a:latin typeface="Source Han Sans"/>
              </a:rPr>
              <a:t>, </a:t>
            </a:r>
            <a:r>
              <a:rPr lang="ja-JP" altLang="en-US" b="0" i="0">
                <a:solidFill>
                  <a:srgbClr val="222222"/>
                </a:solidFill>
                <a:effectLst/>
                <a:latin typeface="Source Han Sans"/>
              </a:rPr>
              <a:t>干渉</a:t>
            </a:r>
            <a:r>
              <a:rPr lang="en-US" altLang="ja-JP" b="0" i="0" dirty="0">
                <a:solidFill>
                  <a:srgbClr val="222222"/>
                </a:solidFill>
                <a:effectLst/>
                <a:latin typeface="Source Han Sans"/>
              </a:rPr>
              <a:t>-</a:t>
            </a:r>
            <a:r>
              <a:rPr lang="ja-JP" altLang="en-US" b="0" i="0">
                <a:solidFill>
                  <a:srgbClr val="222222"/>
                </a:solidFill>
                <a:effectLst/>
                <a:latin typeface="Source Han Sans"/>
              </a:rPr>
              <a:t>かんしょう</a:t>
            </a:r>
            <a:r>
              <a:rPr lang="en-US" altLang="ja-JP" b="0" i="0" dirty="0">
                <a:solidFill>
                  <a:srgbClr val="222222"/>
                </a:solidFill>
                <a:effectLst/>
                <a:latin typeface="Source Han Sans"/>
              </a:rPr>
              <a:t>-, </a:t>
            </a:r>
            <a:r>
              <a:rPr lang="ja-JP" altLang="en-US"/>
              <a:t>透過型</a:t>
            </a:r>
            <a:r>
              <a:rPr lang="mn-MN" altLang="ja-JP" dirty="0"/>
              <a:t>-</a:t>
            </a:r>
            <a:r>
              <a:rPr lang="en-US" altLang="ja-JP" dirty="0"/>
              <a:t> </a:t>
            </a:r>
            <a:r>
              <a:rPr lang="ja-JP" altLang="en-US"/>
              <a:t>とうかがた</a:t>
            </a:r>
            <a:r>
              <a:rPr lang="en-US" altLang="ja-JP" dirty="0"/>
              <a:t>, </a:t>
            </a:r>
            <a:r>
              <a:rPr lang="ja-JP" altLang="en-US" b="0" i="0">
                <a:solidFill>
                  <a:srgbClr val="222222"/>
                </a:solidFill>
                <a:effectLst/>
                <a:latin typeface="Source Han Sans"/>
              </a:rPr>
              <a:t>けいゆ</a:t>
            </a:r>
            <a:r>
              <a:rPr lang="en-US" altLang="ja-JP" b="0" i="0" dirty="0">
                <a:solidFill>
                  <a:srgbClr val="222222"/>
                </a:solidFill>
                <a:effectLst/>
                <a:latin typeface="Source Han Sans"/>
              </a:rPr>
              <a:t>-</a:t>
            </a:r>
            <a:r>
              <a:rPr lang="ja-JP" altLang="en-US" b="0" i="0">
                <a:solidFill>
                  <a:srgbClr val="222222"/>
                </a:solidFill>
                <a:effectLst/>
                <a:latin typeface="Source Han Sans"/>
              </a:rPr>
              <a:t>経由</a:t>
            </a:r>
            <a:r>
              <a:rPr lang="en-US" altLang="ja-JP" b="0" i="0" dirty="0">
                <a:solidFill>
                  <a:srgbClr val="222222"/>
                </a:solidFill>
                <a:effectLst/>
                <a:latin typeface="Source Han Sans"/>
              </a:rPr>
              <a:t>, </a:t>
            </a:r>
          </a:p>
          <a:p>
            <a:pPr algn="l"/>
            <a:r>
              <a:rPr lang="ja-JP" altLang="en-US" b="0" i="0">
                <a:solidFill>
                  <a:srgbClr val="222222"/>
                </a:solidFill>
                <a:effectLst/>
                <a:ea typeface="Source Han Sans"/>
              </a:rPr>
              <a:t>じつようてき</a:t>
            </a:r>
            <a:r>
              <a:rPr lang="en-US" altLang="ja-JP" b="0" i="0" dirty="0">
                <a:solidFill>
                  <a:srgbClr val="222222"/>
                </a:solidFill>
                <a:effectLst/>
                <a:ea typeface="Source Han Sans"/>
              </a:rPr>
              <a:t>-</a:t>
            </a:r>
            <a:r>
              <a:rPr lang="ja-JP" altLang="en-US" b="0" i="0">
                <a:solidFill>
                  <a:srgbClr val="222222"/>
                </a:solidFill>
                <a:effectLst/>
                <a:ea typeface="Source Han Sans"/>
              </a:rPr>
              <a:t>実用的</a:t>
            </a:r>
            <a:r>
              <a:rPr lang="en-US" altLang="ja-JP" b="0" i="0" dirty="0">
                <a:solidFill>
                  <a:srgbClr val="222222"/>
                </a:solidFill>
                <a:effectLst/>
                <a:ea typeface="Source Han Sans"/>
              </a:rPr>
              <a:t>, </a:t>
            </a:r>
            <a:r>
              <a:rPr lang="ja-JP" altLang="en-US" b="0" i="0">
                <a:solidFill>
                  <a:srgbClr val="222222"/>
                </a:solidFill>
                <a:effectLst/>
                <a:latin typeface="Source Han Sans"/>
              </a:rPr>
              <a:t>ちえん遅延</a:t>
            </a:r>
            <a:endParaRPr lang="ja-JP" altLang="en-US" b="0" i="0">
              <a:solidFill>
                <a:srgbClr val="222222"/>
              </a:solidFill>
              <a:effectLst/>
              <a:ea typeface="Source Han Sans"/>
            </a:endParaRPr>
          </a:p>
          <a:p>
            <a:br>
              <a:rPr lang="ja-JP" altLang="en-US"/>
            </a:br>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36</a:t>
            </a:fld>
            <a:endParaRPr lang="en-JP"/>
          </a:p>
        </p:txBody>
      </p:sp>
    </p:spTree>
    <p:extLst>
      <p:ext uri="{BB962C8B-B14F-4D97-AF65-F5344CB8AC3E}">
        <p14:creationId xmlns:p14="http://schemas.microsoft.com/office/powerpoint/2010/main" val="25121854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38</a:t>
            </a:fld>
            <a:endParaRPr lang="en-JP"/>
          </a:p>
        </p:txBody>
      </p:sp>
    </p:spTree>
    <p:extLst>
      <p:ext uri="{BB962C8B-B14F-4D97-AF65-F5344CB8AC3E}">
        <p14:creationId xmlns:p14="http://schemas.microsoft.com/office/powerpoint/2010/main" val="9876873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ja-JP" altLang="en-US" b="0" i="0">
                <a:solidFill>
                  <a:srgbClr val="222222"/>
                </a:solidFill>
                <a:effectLst/>
                <a:latin typeface="Source Han Sans"/>
              </a:rPr>
              <a:t>はいけい</a:t>
            </a:r>
            <a:endParaRPr lang="en-JP" dirty="0"/>
          </a:p>
        </p:txBody>
      </p:sp>
      <p:sp>
        <p:nvSpPr>
          <p:cNvPr id="4" name="Slide Number Placeholder 3"/>
          <p:cNvSpPr>
            <a:spLocks noGrp="1"/>
          </p:cNvSpPr>
          <p:nvPr>
            <p:ph type="sldNum" sz="quarter" idx="5"/>
          </p:nvPr>
        </p:nvSpPr>
        <p:spPr/>
        <p:txBody>
          <a:bodyPr/>
          <a:lstStyle/>
          <a:p>
            <a:fld id="{5741F159-79E2-E24F-9993-34E52B426EB4}" type="slidenum">
              <a:rPr lang="en-JP" smtClean="0"/>
              <a:t>40</a:t>
            </a:fld>
            <a:endParaRPr lang="en-JP"/>
          </a:p>
        </p:txBody>
      </p:sp>
    </p:spTree>
    <p:extLst>
      <p:ext uri="{BB962C8B-B14F-4D97-AF65-F5344CB8AC3E}">
        <p14:creationId xmlns:p14="http://schemas.microsoft.com/office/powerpoint/2010/main" val="2854409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ja-JP" altLang="en-US" b="0" i="0">
                <a:solidFill>
                  <a:srgbClr val="222222"/>
                </a:solidFill>
                <a:effectLst/>
                <a:latin typeface="Source Han Sans"/>
              </a:rPr>
              <a:t>いち</a:t>
            </a:r>
            <a:r>
              <a:rPr lang="ja-JP" altLang="en-US" b="0" i="0" u="none" strike="noStrike">
                <a:solidFill>
                  <a:srgbClr val="3A251C"/>
                </a:solidFill>
                <a:effectLst/>
                <a:latin typeface="Source Han Sans"/>
                <a:hlinkClick r:id="rId3"/>
              </a:rPr>
              <a:t>位置</a:t>
            </a:r>
            <a:r>
              <a:rPr lang="ja-JP" altLang="en-US" b="0" i="0" u="none" strike="noStrike">
                <a:solidFill>
                  <a:srgbClr val="FF0000"/>
                </a:solidFill>
                <a:effectLst/>
                <a:latin typeface="Source Han Sans"/>
                <a:hlinkClick r:id="rId4"/>
              </a:rPr>
              <a:t>を</a:t>
            </a:r>
            <a:r>
              <a:rPr lang="en-US" altLang="ja-JP" b="0" i="0" u="none" strike="noStrike" dirty="0">
                <a:solidFill>
                  <a:srgbClr val="222222"/>
                </a:solidFill>
                <a:effectLst/>
                <a:latin typeface="Source Han Sans"/>
              </a:rPr>
              <a:t> </a:t>
            </a:r>
            <a:r>
              <a:rPr lang="ja-JP" altLang="en-US" b="0" i="0">
                <a:solidFill>
                  <a:srgbClr val="222222"/>
                </a:solidFill>
                <a:effectLst/>
                <a:latin typeface="Source Han Sans"/>
              </a:rPr>
              <a:t>かくりつ</a:t>
            </a:r>
            <a:r>
              <a:rPr lang="ja-JP" altLang="en-US" b="0" i="0" u="none" strike="noStrike">
                <a:solidFill>
                  <a:srgbClr val="3A251C"/>
                </a:solidFill>
                <a:effectLst/>
                <a:latin typeface="Source Han Sans"/>
                <a:hlinkClick r:id="rId5"/>
              </a:rPr>
              <a:t>確立</a:t>
            </a:r>
            <a:r>
              <a:rPr lang="en-US" altLang="ja-JP" b="0" i="0" u="none" strike="noStrike" dirty="0">
                <a:solidFill>
                  <a:srgbClr val="3A251C"/>
                </a:solidFill>
                <a:effectLst/>
                <a:latin typeface="Source Han Sans"/>
              </a:rPr>
              <a:t>- </a:t>
            </a:r>
            <a:r>
              <a:rPr lang="mn-MN" dirty="0"/>
              <a:t>байршил тогтоох</a:t>
            </a:r>
            <a:r>
              <a:rPr lang="en-US" dirty="0"/>
              <a:t> </a:t>
            </a:r>
            <a:r>
              <a:rPr lang="ja-JP" altLang="en-US" b="0" i="0">
                <a:solidFill>
                  <a:srgbClr val="222222"/>
                </a:solidFill>
                <a:effectLst/>
                <a:latin typeface="Source Han Sans"/>
              </a:rPr>
              <a:t>はいち配置</a:t>
            </a:r>
          </a:p>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41</a:t>
            </a:fld>
            <a:endParaRPr lang="en-JP"/>
          </a:p>
        </p:txBody>
      </p:sp>
    </p:spTree>
    <p:extLst>
      <p:ext uri="{BB962C8B-B14F-4D97-AF65-F5344CB8AC3E}">
        <p14:creationId xmlns:p14="http://schemas.microsoft.com/office/powerpoint/2010/main" val="11707074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51</a:t>
            </a:fld>
            <a:endParaRPr lang="en-JP"/>
          </a:p>
        </p:txBody>
      </p:sp>
    </p:spTree>
    <p:extLst>
      <p:ext uri="{BB962C8B-B14F-4D97-AF65-F5344CB8AC3E}">
        <p14:creationId xmlns:p14="http://schemas.microsoft.com/office/powerpoint/2010/main" val="5849373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55</a:t>
            </a:fld>
            <a:endParaRPr lang="en-JP"/>
          </a:p>
        </p:txBody>
      </p:sp>
    </p:spTree>
    <p:extLst>
      <p:ext uri="{BB962C8B-B14F-4D97-AF65-F5344CB8AC3E}">
        <p14:creationId xmlns:p14="http://schemas.microsoft.com/office/powerpoint/2010/main" val="29667977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P" dirty="0"/>
          </a:p>
        </p:txBody>
      </p:sp>
      <p:sp>
        <p:nvSpPr>
          <p:cNvPr id="4" name="Slide Number Placeholder 3"/>
          <p:cNvSpPr>
            <a:spLocks noGrp="1"/>
          </p:cNvSpPr>
          <p:nvPr>
            <p:ph type="sldNum" sz="quarter" idx="5"/>
          </p:nvPr>
        </p:nvSpPr>
        <p:spPr/>
        <p:txBody>
          <a:bodyPr/>
          <a:lstStyle/>
          <a:p>
            <a:fld id="{6B4FBE9E-3954-214D-A9AB-6EB10B77F3AE}" type="slidenum">
              <a:rPr lang="en-JP" smtClean="0"/>
              <a:t>57</a:t>
            </a:fld>
            <a:endParaRPr lang="en-JP"/>
          </a:p>
        </p:txBody>
      </p:sp>
    </p:spTree>
    <p:extLst>
      <p:ext uri="{BB962C8B-B14F-4D97-AF65-F5344CB8AC3E}">
        <p14:creationId xmlns:p14="http://schemas.microsoft.com/office/powerpoint/2010/main" val="1699719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EF6F8A-82B2-D34F-A65E-1B0286E398A9}" type="datetime1">
              <a:rPr lang="en-US" smtClean="0"/>
              <a:t>5/14/26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50328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0A2FE2F-6AF8-DA44-A8D6-E42C8BE3490E}" type="datetime1">
              <a:rPr lang="en-US" smtClean="0"/>
              <a:t>5/14/26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a:ln>
            <a:noFill/>
          </a:ln>
        </p:spPr>
        <p:txBody>
          <a:bodyPr/>
          <a:lstStyle>
            <a:lvl1pPr>
              <a:defRPr sz="1800">
                <a:solidFill>
                  <a:schemeClr val="tx1"/>
                </a:solidFill>
                <a:latin typeface="Meiryo" panose="020B0604030504040204" pitchFamily="34" charset="-128"/>
                <a:ea typeface="Meiryo" panose="020B0604030504040204" pitchFamily="34" charset="-128"/>
              </a:defRPr>
            </a:lvl1pPr>
          </a:lstStyle>
          <a:p>
            <a:fld id="{828F3BD4-1AF2-D144-8129-4D42AD448F5E}" type="slidenum">
              <a:rPr lang="en-JP" smtClean="0"/>
              <a:pPr/>
              <a:t>‹#›</a:t>
            </a:fld>
            <a:endParaRPr lang="en-JP" dirty="0"/>
          </a:p>
        </p:txBody>
      </p:sp>
    </p:spTree>
    <p:extLst>
      <p:ext uri="{BB962C8B-B14F-4D97-AF65-F5344CB8AC3E}">
        <p14:creationId xmlns:p14="http://schemas.microsoft.com/office/powerpoint/2010/main" val="1652950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0220CEF-3EFD-5C41-A645-BEFE8E662C11}" type="datetime1">
              <a:rPr lang="en-US" smtClean="0"/>
              <a:t>5/14/26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28826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1C9C73-9881-DA40-AB7A-58306184213A}" type="datetime1">
              <a:rPr lang="en-US" smtClean="0"/>
              <a:t>5/14/26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280739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8CD305-9C76-F34D-AFEF-A40EAB632C6B}" type="datetime1">
              <a:rPr lang="en-US" smtClean="0"/>
              <a:t>5/14/26</a:t>
            </a:fld>
            <a:endParaRPr lang="en-JP"/>
          </a:p>
        </p:txBody>
      </p:sp>
      <p:sp>
        <p:nvSpPr>
          <p:cNvPr id="8" name="Footer Placeholder 7"/>
          <p:cNvSpPr>
            <a:spLocks noGrp="1"/>
          </p:cNvSpPr>
          <p:nvPr>
            <p:ph type="ftr" sz="quarter" idx="11"/>
          </p:nvPr>
        </p:nvSpPr>
        <p:spPr/>
        <p:txBody>
          <a:bodyPr/>
          <a:lstStyle/>
          <a:p>
            <a:endParaRPr lang="en-JP"/>
          </a:p>
        </p:txBody>
      </p:sp>
      <p:sp>
        <p:nvSpPr>
          <p:cNvPr id="9" name="Slide Number Placeholder 8"/>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380012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131CD80-6708-B644-87A6-D5ABF080A52F}" type="datetime1">
              <a:rPr lang="en-US" smtClean="0"/>
              <a:t>5/14/26</a:t>
            </a:fld>
            <a:endParaRPr lang="en-JP"/>
          </a:p>
        </p:txBody>
      </p:sp>
      <p:sp>
        <p:nvSpPr>
          <p:cNvPr id="4" name="Footer Placeholder 3"/>
          <p:cNvSpPr>
            <a:spLocks noGrp="1"/>
          </p:cNvSpPr>
          <p:nvPr>
            <p:ph type="ftr" sz="quarter" idx="11"/>
          </p:nvPr>
        </p:nvSpPr>
        <p:spPr/>
        <p:txBody>
          <a:bodyPr/>
          <a:lstStyle/>
          <a:p>
            <a:endParaRPr lang="en-JP"/>
          </a:p>
        </p:txBody>
      </p:sp>
      <p:sp>
        <p:nvSpPr>
          <p:cNvPr id="5" name="Slide Number Placeholder 4"/>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542761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E84D18-F2A8-414A-9B88-B0C8901568E1}" type="datetime1">
              <a:rPr lang="en-US" smtClean="0"/>
              <a:t>5/14/26</a:t>
            </a:fld>
            <a:endParaRPr lang="en-JP"/>
          </a:p>
        </p:txBody>
      </p:sp>
      <p:sp>
        <p:nvSpPr>
          <p:cNvPr id="3" name="Footer Placeholder 2"/>
          <p:cNvSpPr>
            <a:spLocks noGrp="1"/>
          </p:cNvSpPr>
          <p:nvPr>
            <p:ph type="ftr" sz="quarter" idx="11"/>
          </p:nvPr>
        </p:nvSpPr>
        <p:spPr/>
        <p:txBody>
          <a:bodyPr/>
          <a:lstStyle/>
          <a:p>
            <a:endParaRPr lang="en-JP"/>
          </a:p>
        </p:txBody>
      </p:sp>
      <p:sp>
        <p:nvSpPr>
          <p:cNvPr id="4" name="Slide Number Placeholder 3"/>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222931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8C33180-8304-F84A-93F8-62BDA010013C}" type="datetime1">
              <a:rPr lang="en-US" smtClean="0"/>
              <a:t>5/14/26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4265048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0801750-9819-CA4C-9E13-1C18ECBCEEBA}" type="datetime1">
              <a:rPr lang="en-US" smtClean="0"/>
              <a:t>5/14/26</a:t>
            </a:fld>
            <a:endParaRPr lang="en-JP"/>
          </a:p>
        </p:txBody>
      </p:sp>
      <p:sp>
        <p:nvSpPr>
          <p:cNvPr id="6" name="Footer Placeholder 5"/>
          <p:cNvSpPr>
            <a:spLocks noGrp="1"/>
          </p:cNvSpPr>
          <p:nvPr>
            <p:ph type="ftr" sz="quarter" idx="11"/>
          </p:nvPr>
        </p:nvSpPr>
        <p:spPr/>
        <p:txBody>
          <a:bodyPr/>
          <a:lstStyle/>
          <a:p>
            <a:endParaRPr lang="en-JP"/>
          </a:p>
        </p:txBody>
      </p:sp>
      <p:sp>
        <p:nvSpPr>
          <p:cNvPr id="7" name="Slide Number Placeholder 6"/>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12189181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BCC079-B9ED-9D46-A5A8-B3527A47B364}" type="datetime1">
              <a:rPr lang="en-US" smtClean="0"/>
              <a:t>5/14/26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40085728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CB7EA5-502D-0E47-9916-AFB5B5A5AA82}" type="datetime1">
              <a:rPr lang="en-US" smtClean="0"/>
              <a:t>5/14/26</a:t>
            </a:fld>
            <a:endParaRPr lang="en-JP"/>
          </a:p>
        </p:txBody>
      </p:sp>
      <p:sp>
        <p:nvSpPr>
          <p:cNvPr id="5" name="Footer Placeholder 4"/>
          <p:cNvSpPr>
            <a:spLocks noGrp="1"/>
          </p:cNvSpPr>
          <p:nvPr>
            <p:ph type="ftr" sz="quarter" idx="11"/>
          </p:nvPr>
        </p:nvSpPr>
        <p:spPr/>
        <p:txBody>
          <a:bodyPr/>
          <a:lstStyle/>
          <a:p>
            <a:endParaRPr lang="en-JP"/>
          </a:p>
        </p:txBody>
      </p:sp>
      <p:sp>
        <p:nvSpPr>
          <p:cNvPr id="6" name="Slide Number Placeholder 5"/>
          <p:cNvSpPr>
            <a:spLocks noGrp="1"/>
          </p:cNvSpPr>
          <p:nvPr>
            <p:ph type="sldNum" sz="quarter" idx="12"/>
          </p:nvPr>
        </p:nvSpPr>
        <p:spPr/>
        <p:txBody>
          <a:bodyPr/>
          <a:lstStyle/>
          <a:p>
            <a:fld id="{828F3BD4-1AF2-D144-8129-4D42AD448F5E}" type="slidenum">
              <a:rPr lang="en-JP" smtClean="0"/>
              <a:t>‹#›</a:t>
            </a:fld>
            <a:endParaRPr lang="en-JP"/>
          </a:p>
        </p:txBody>
      </p:sp>
    </p:spTree>
    <p:extLst>
      <p:ext uri="{BB962C8B-B14F-4D97-AF65-F5344CB8AC3E}">
        <p14:creationId xmlns:p14="http://schemas.microsoft.com/office/powerpoint/2010/main" val="3639433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69498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CAA611-FC8D-0B48-A172-D9C4B897AC23}" type="datetime1">
              <a:rPr lang="en-US" smtClean="0"/>
              <a:t>5/14/26</a:t>
            </a:fld>
            <a:endParaRPr lang="en-JP"/>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JP"/>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8F3BD4-1AF2-D144-8129-4D42AD448F5E}" type="slidenum">
              <a:rPr lang="en-JP" smtClean="0"/>
              <a:t>‹#›</a:t>
            </a:fld>
            <a:endParaRPr lang="en-JP"/>
          </a:p>
        </p:txBody>
      </p:sp>
    </p:spTree>
    <p:extLst>
      <p:ext uri="{BB962C8B-B14F-4D97-AF65-F5344CB8AC3E}">
        <p14:creationId xmlns:p14="http://schemas.microsoft.com/office/powerpoint/2010/main" val="40641064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netgear.com/hub/network/security/iot-threat-report-25/,"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s://arxiv.org/pdf/1808.02741"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arxiv.org/pdf/1708.05044"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research.checkpoint.com/2020/dont-be-silly-its-only-a-lightbulb/" TargetMode="External"/><Relationship Id="rId2" Type="http://schemas.openxmlformats.org/officeDocument/2006/relationships/hyperlink" Target="https://www.cisa.gov/news-events/alerts/2015/04/30/securing-end-end-communication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rfc-editor.org/rfc/rfc826"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hyperlink" Target="https://arxiv.org/abs/1708.05044"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20.png"/><Relationship Id="rId5" Type="http://schemas.openxmlformats.org/officeDocument/2006/relationships/image" Target="../media/image15.png"/><Relationship Id="rId10" Type="http://schemas.openxmlformats.org/officeDocument/2006/relationships/image" Target="../media/image19.png"/><Relationship Id="rId4" Type="http://schemas.openxmlformats.org/officeDocument/2006/relationships/image" Target="../media/image14.png"/><Relationship Id="rId9"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https://ieeexplore.ieee.org/document/6983078"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www.rfc-editor.org/rfc/rfc826"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A6EAB68-F29A-CD85-0B08-D86B3E7615BB}"/>
              </a:ext>
            </a:extLst>
          </p:cNvPr>
          <p:cNvSpPr txBox="1"/>
          <p:nvPr/>
        </p:nvSpPr>
        <p:spPr>
          <a:xfrm>
            <a:off x="1762745" y="3888684"/>
            <a:ext cx="6053199" cy="1938992"/>
          </a:xfrm>
          <a:prstGeom prst="rect">
            <a:avLst/>
          </a:prstGeom>
          <a:noFill/>
        </p:spPr>
        <p:txBody>
          <a:bodyPr wrap="square">
            <a:spAutoFit/>
          </a:bodyPr>
          <a:lstStyle/>
          <a:p>
            <a:r>
              <a:rPr lang="ja-JP" altLang="en-US" sz="2400">
                <a:latin typeface="Meiryo" panose="020B0604030504040204" pitchFamily="34" charset="-128"/>
                <a:ea typeface="Meiryo" panose="020B0604030504040204" pitchFamily="34" charset="-128"/>
              </a:rPr>
              <a:t>所属　　： 情報基盤システム学研究室</a:t>
            </a:r>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発表者　：</a:t>
            </a:r>
            <a:r>
              <a:rPr lang="en-US" altLang="ja-JP" sz="2400" dirty="0">
                <a:latin typeface="Meiryo" panose="020B0604030504040204" pitchFamily="34" charset="-128"/>
                <a:ea typeface="Meiryo" panose="020B0604030504040204" pitchFamily="34" charset="-128"/>
              </a:rPr>
              <a:t>DAVAAKHUU   UNDARMAA</a:t>
            </a:r>
          </a:p>
          <a:p>
            <a:r>
              <a:rPr lang="ja-JP" altLang="en-US" sz="2400">
                <a:latin typeface="Meiryo" panose="020B0604030504040204" pitchFamily="34" charset="-128"/>
                <a:ea typeface="Meiryo" panose="020B0604030504040204" pitchFamily="34" charset="-128"/>
              </a:rPr>
              <a:t>指導教員： 池部 実 講師</a:t>
            </a:r>
            <a:r>
              <a:rPr lang="en-US"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吉崎 弘一 教授</a:t>
            </a:r>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発表日　： </a:t>
            </a:r>
            <a:r>
              <a:rPr lang="en-US" altLang="ja-JP" sz="2400" dirty="0">
                <a:latin typeface="Meiryo" panose="020B0604030504040204" pitchFamily="34" charset="-128"/>
                <a:ea typeface="Meiryo" panose="020B0604030504040204" pitchFamily="34" charset="-128"/>
              </a:rPr>
              <a:t>2026</a:t>
            </a:r>
            <a:r>
              <a:rPr lang="ja-JP" altLang="en-US" sz="2400">
                <a:latin typeface="Meiryo" panose="020B0604030504040204" pitchFamily="34" charset="-128"/>
                <a:ea typeface="Meiryo" panose="020B0604030504040204" pitchFamily="34" charset="-128"/>
              </a:rPr>
              <a:t>年</a:t>
            </a:r>
            <a:r>
              <a:rPr lang="en-US" altLang="ja-JP" sz="2400" dirty="0">
                <a:latin typeface="Meiryo" panose="020B0604030504040204" pitchFamily="34" charset="-128"/>
                <a:ea typeface="Meiryo" panose="020B0604030504040204" pitchFamily="34" charset="-128"/>
              </a:rPr>
              <a:t>5</a:t>
            </a:r>
            <a:r>
              <a:rPr lang="ja-JP" altLang="en-US" sz="2400">
                <a:latin typeface="Meiryo" panose="020B0604030504040204" pitchFamily="34" charset="-128"/>
                <a:ea typeface="Meiryo" panose="020B0604030504040204" pitchFamily="34" charset="-128"/>
              </a:rPr>
              <a:t>月</a:t>
            </a:r>
            <a:r>
              <a:rPr lang="en-US" altLang="ja-JP" sz="2400" dirty="0">
                <a:latin typeface="Meiryo" panose="020B0604030504040204" pitchFamily="34" charset="-128"/>
                <a:ea typeface="Meiryo" panose="020B0604030504040204" pitchFamily="34" charset="-128"/>
              </a:rPr>
              <a:t>14</a:t>
            </a:r>
            <a:r>
              <a:rPr lang="ja-JP" altLang="en-US" sz="2400">
                <a:latin typeface="Meiryo" panose="020B0604030504040204" pitchFamily="34" charset="-128"/>
                <a:ea typeface="Meiryo" panose="020B0604030504040204" pitchFamily="34" charset="-128"/>
              </a:rPr>
              <a:t>日</a:t>
            </a:r>
            <a:endParaRPr lang="en-US" altLang="ja-JP" sz="2400" dirty="0">
              <a:latin typeface="Meiryo" panose="020B0604030504040204" pitchFamily="34" charset="-128"/>
              <a:ea typeface="Meiryo" panose="020B0604030504040204" pitchFamily="34" charset="-128"/>
            </a:endParaRPr>
          </a:p>
          <a:p>
            <a:r>
              <a:rPr lang="ja-JP" altLang="en-US" sz="2400">
                <a:latin typeface="Meiryo" panose="020B0604030504040204" pitchFamily="34" charset="-128"/>
                <a:ea typeface="Meiryo" panose="020B0604030504040204" pitchFamily="34" charset="-128"/>
              </a:rPr>
              <a:t>会場　　： セミナー</a:t>
            </a:r>
            <a:r>
              <a:rPr lang="en-US" altLang="ja-JP" sz="2400" dirty="0">
                <a:latin typeface="Meiryo" panose="020B0604030504040204" pitchFamily="34" charset="-128"/>
                <a:ea typeface="Meiryo" panose="020B0604030504040204" pitchFamily="34" charset="-128"/>
              </a:rPr>
              <a:t>1(</a:t>
            </a:r>
            <a:r>
              <a:rPr lang="ja-JP" altLang="en-US" sz="2400">
                <a:latin typeface="Meiryo" panose="020B0604030504040204" pitchFamily="34" charset="-128"/>
                <a:ea typeface="Meiryo" panose="020B0604030504040204" pitchFamily="34" charset="-128"/>
              </a:rPr>
              <a:t>第三講義棟</a:t>
            </a:r>
            <a:r>
              <a:rPr lang="en-US" altLang="ja-JP" sz="2400" dirty="0">
                <a:latin typeface="Meiryo" panose="020B0604030504040204" pitchFamily="34" charset="-128"/>
                <a:ea typeface="Meiryo" panose="020B0604030504040204" pitchFamily="34" charset="-128"/>
              </a:rPr>
              <a:t>)</a:t>
            </a:r>
          </a:p>
        </p:txBody>
      </p:sp>
      <p:sp>
        <p:nvSpPr>
          <p:cNvPr id="8" name="TextBox 7">
            <a:extLst>
              <a:ext uri="{FF2B5EF4-FFF2-40B4-BE49-F238E27FC236}">
                <a16:creationId xmlns:a16="http://schemas.microsoft.com/office/drawing/2014/main" id="{4A6EACA9-19F2-693F-C84D-FE7203D5B4C5}"/>
              </a:ext>
            </a:extLst>
          </p:cNvPr>
          <p:cNvSpPr txBox="1"/>
          <p:nvPr/>
        </p:nvSpPr>
        <p:spPr>
          <a:xfrm>
            <a:off x="3377746" y="287698"/>
            <a:ext cx="2216937" cy="923330"/>
          </a:xfrm>
          <a:prstGeom prst="rect">
            <a:avLst/>
          </a:prstGeom>
          <a:noFill/>
        </p:spPr>
        <p:txBody>
          <a:bodyPr wrap="square" rtlCol="0">
            <a:spAutoFit/>
          </a:bodyPr>
          <a:lstStyle/>
          <a:p>
            <a:pPr algn="ctr" rtl="0">
              <a:spcBef>
                <a:spcPts val="0"/>
              </a:spcBef>
              <a:spcAft>
                <a:spcPts val="0"/>
              </a:spcAft>
            </a:pPr>
            <a:r>
              <a:rPr lang="ja-JP" altLang="en-US" sz="1800" b="0" i="0" u="none" strike="noStrike">
                <a:solidFill>
                  <a:srgbClr val="000000"/>
                </a:solidFill>
                <a:effectLst/>
                <a:latin typeface="Meiryo" panose="020B0604030504040204" pitchFamily="34" charset="-128"/>
                <a:ea typeface="Meiryo" panose="020B0604030504040204" pitchFamily="34" charset="-128"/>
              </a:rPr>
              <a:t>談話会第</a:t>
            </a:r>
            <a:r>
              <a:rPr lang="mn-MN" altLang="ja-JP" dirty="0">
                <a:solidFill>
                  <a:srgbClr val="000000"/>
                </a:solidFill>
                <a:latin typeface="Meiryo" panose="020B0604030504040204" pitchFamily="34" charset="-128"/>
                <a:ea typeface="Meiryo" panose="020B0604030504040204" pitchFamily="34" charset="-128"/>
              </a:rPr>
              <a:t>4</a:t>
            </a:r>
            <a:r>
              <a:rPr lang="ja-JP" altLang="en-US" sz="1800" b="0" i="0" u="none" strike="noStrike">
                <a:solidFill>
                  <a:srgbClr val="000000"/>
                </a:solidFill>
                <a:effectLst/>
                <a:latin typeface="Meiryo" panose="020B0604030504040204" pitchFamily="34" charset="-128"/>
                <a:ea typeface="Meiryo" panose="020B0604030504040204" pitchFamily="34" charset="-128"/>
              </a:rPr>
              <a:t>回</a:t>
            </a:r>
            <a:endParaRPr lang="ja-JP" altLang="en-US" b="0">
              <a:effectLst/>
              <a:latin typeface="Meiryo" panose="020B0604030504040204" pitchFamily="34" charset="-128"/>
              <a:ea typeface="Meiryo" panose="020B0604030504040204" pitchFamily="34" charset="-128"/>
            </a:endParaRPr>
          </a:p>
          <a:p>
            <a:br>
              <a:rPr lang="ja-JP" altLang="en-US">
                <a:latin typeface="Meiryo" panose="020B0604030504040204" pitchFamily="34" charset="-128"/>
                <a:ea typeface="Meiryo" panose="020B0604030504040204" pitchFamily="34" charset="-128"/>
              </a:rPr>
            </a:br>
            <a:endParaRPr lang="en-JP" dirty="0">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BDBBFD4A-966C-21F7-A96D-6975B5D83D3C}"/>
              </a:ext>
            </a:extLst>
          </p:cNvPr>
          <p:cNvSpPr txBox="1"/>
          <p:nvPr/>
        </p:nvSpPr>
        <p:spPr>
          <a:xfrm>
            <a:off x="709264" y="1211028"/>
            <a:ext cx="7977359" cy="1754326"/>
          </a:xfrm>
          <a:prstGeom prst="rect">
            <a:avLst/>
          </a:prstGeom>
          <a:noFill/>
        </p:spPr>
        <p:txBody>
          <a:bodyPr wrap="square">
            <a:spAutoFit/>
          </a:bodyPr>
          <a:lstStyle/>
          <a:p>
            <a:pPr algn="ctr"/>
            <a:r>
              <a:rPr lang="ja-JP" altLang="en-US" sz="3600">
                <a:latin typeface="Meiryo" panose="020B0604030504040204" pitchFamily="34" charset="-128"/>
                <a:ea typeface="Meiryo" panose="020B0604030504040204" pitchFamily="34" charset="-128"/>
              </a:rPr>
              <a:t>機械学習ベース</a:t>
            </a:r>
            <a:r>
              <a:rPr lang="en-US" sz="3600" i="0" u="none" strike="noStrike" dirty="0">
                <a:solidFill>
                  <a:srgbClr val="000000"/>
                </a:solidFill>
                <a:effectLst/>
                <a:latin typeface="Meiryo" panose="020B0604030504040204" pitchFamily="34" charset="-128"/>
                <a:ea typeface="Meiryo" panose="020B0604030504040204" pitchFamily="34" charset="-128"/>
              </a:rPr>
              <a:t>IDS</a:t>
            </a:r>
            <a:r>
              <a:rPr lang="ja-JP" altLang="en-US" sz="3600" i="0" u="none" strike="noStrike">
                <a:solidFill>
                  <a:srgbClr val="000000"/>
                </a:solidFill>
                <a:effectLst/>
                <a:latin typeface="Meiryo" panose="020B0604030504040204" pitchFamily="34" charset="-128"/>
                <a:ea typeface="Meiryo" panose="020B0604030504040204" pitchFamily="34" charset="-128"/>
              </a:rPr>
              <a:t>による</a:t>
            </a:r>
            <a:r>
              <a:rPr lang="en-US" sz="3600" i="0" u="none" strike="noStrike" dirty="0" err="1">
                <a:solidFill>
                  <a:srgbClr val="000000"/>
                </a:solidFill>
                <a:effectLst/>
                <a:latin typeface="Meiryo" panose="020B0604030504040204" pitchFamily="34" charset="-128"/>
                <a:ea typeface="Meiryo" panose="020B0604030504040204" pitchFamily="34" charset="-128"/>
              </a:rPr>
              <a:t>CoAP+DTLS</a:t>
            </a:r>
            <a:r>
              <a:rPr lang="ja-JP" altLang="en-US" sz="3600" i="0" u="none" strike="noStrike">
                <a:solidFill>
                  <a:srgbClr val="000000"/>
                </a:solidFill>
                <a:effectLst/>
                <a:latin typeface="Meiryo" panose="020B0604030504040204" pitchFamily="34" charset="-128"/>
                <a:ea typeface="Meiryo" panose="020B0604030504040204" pitchFamily="34" charset="-128"/>
              </a:rPr>
              <a:t>環境における</a:t>
            </a:r>
            <a:endParaRPr lang="mn-MN" altLang="ja-JP" sz="3600" i="0" u="none" strike="noStrike" dirty="0">
              <a:solidFill>
                <a:srgbClr val="000000"/>
              </a:solidFill>
              <a:effectLst/>
              <a:latin typeface="Meiryo" panose="020B0604030504040204" pitchFamily="34" charset="-128"/>
              <a:ea typeface="Meiryo" panose="020B0604030504040204" pitchFamily="34" charset="-128"/>
            </a:endParaRPr>
          </a:p>
          <a:p>
            <a:pPr algn="ctr"/>
            <a:r>
              <a:rPr lang="en-US" sz="3600" i="0" u="none" strike="noStrike" dirty="0">
                <a:solidFill>
                  <a:srgbClr val="000000"/>
                </a:solidFill>
                <a:effectLst/>
                <a:latin typeface="Meiryo" panose="020B0604030504040204" pitchFamily="34" charset="-128"/>
                <a:ea typeface="Meiryo" panose="020B0604030504040204" pitchFamily="34" charset="-128"/>
              </a:rPr>
              <a:t>ARP</a:t>
            </a:r>
            <a:r>
              <a:rPr lang="ja-JP" altLang="en-US" sz="3600" i="0" u="none" strike="noStrike">
                <a:solidFill>
                  <a:srgbClr val="000000"/>
                </a:solidFill>
                <a:effectLst/>
                <a:latin typeface="Meiryo" panose="020B0604030504040204" pitchFamily="34" charset="-128"/>
                <a:ea typeface="Meiryo" panose="020B0604030504040204" pitchFamily="34" charset="-128"/>
              </a:rPr>
              <a:t>スプーフィング攻撃の検知手法</a:t>
            </a:r>
            <a:endParaRPr lang="en-JP" sz="36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0142791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r>
              <a:rPr lang="ja-JP" altLang="en-US" sz="3100" b="1">
                <a:solidFill>
                  <a:srgbClr val="C00000"/>
                </a:solidFill>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solidFill>
                  <a:schemeClr val="tx1">
                    <a:lumMod val="95000"/>
                    <a:lumOff val="5000"/>
                  </a:schemeClr>
                </a:solidFill>
                <a:latin typeface="Meiryo" panose="020B0604030504040204" pitchFamily="34" charset="-128"/>
                <a:ea typeface="Meiryo" panose="020B0604030504040204" pitchFamily="34" charset="-128"/>
              </a:rPr>
              <a:t>提案</a:t>
            </a:r>
            <a:r>
              <a:rPr lang="ja-JP" altLang="en-US" sz="3200" i="0" u="none" strike="noStrike">
                <a:solidFill>
                  <a:srgbClr val="000000"/>
                </a:solidFill>
                <a:effectLst/>
                <a:latin typeface="Meiryo" panose="020B0604030504040204" pitchFamily="34" charset="-128"/>
                <a:ea typeface="Meiryo" panose="020B0604030504040204" pitchFamily="34" charset="-128"/>
              </a:rPr>
              <a:t>システム</a:t>
            </a:r>
            <a:endParaRPr lang="mn-MN" altLang="ja-JP" sz="3100" dirty="0">
              <a:solidFill>
                <a:schemeClr val="tx1">
                  <a:lumMod val="95000"/>
                  <a:lumOff val="5000"/>
                </a:schemeClr>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1</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25344879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研究背景 </a:t>
            </a:r>
            <a:endParaRPr lang="en-US"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r>
              <a:rPr lang="ja-JP" altLang="en-US" sz="3100" b="1">
                <a:solidFill>
                  <a:srgbClr val="C00000"/>
                </a:solidFill>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solidFill>
                  <a:schemeClr val="tx1">
                    <a:lumMod val="95000"/>
                    <a:lumOff val="5000"/>
                  </a:schemeClr>
                </a:solidFill>
                <a:latin typeface="Meiryo" panose="020B0604030504040204" pitchFamily="34" charset="-128"/>
                <a:ea typeface="Meiryo" panose="020B0604030504040204" pitchFamily="34" charset="-128"/>
              </a:rPr>
              <a:t>提案</a:t>
            </a:r>
            <a:r>
              <a:rPr lang="ja-JP" altLang="en-US" sz="3200" i="0" u="none" strike="noStrike">
                <a:solidFill>
                  <a:srgbClr val="000000"/>
                </a:solidFill>
                <a:effectLst/>
                <a:latin typeface="Meiryo" panose="020B0604030504040204" pitchFamily="34" charset="-128"/>
                <a:ea typeface="Meiryo" panose="020B0604030504040204" pitchFamily="34" charset="-128"/>
              </a:rPr>
              <a:t>システム</a:t>
            </a:r>
            <a:endParaRPr lang="mn-MN" altLang="ja-JP" sz="3100" dirty="0">
              <a:solidFill>
                <a:schemeClr val="tx1">
                  <a:lumMod val="95000"/>
                  <a:lumOff val="5000"/>
                </a:schemeClr>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2</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3785274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39F8FBC4-24D7-97E0-240B-C9C49E978ADA}"/>
              </a:ext>
            </a:extLst>
          </p:cNvPr>
          <p:cNvPicPr>
            <a:picLocks noChangeAspect="1"/>
          </p:cNvPicPr>
          <p:nvPr/>
        </p:nvPicPr>
        <p:blipFill>
          <a:blip r:embed="rId3"/>
          <a:stretch>
            <a:fillRect/>
          </a:stretch>
        </p:blipFill>
        <p:spPr>
          <a:xfrm>
            <a:off x="261557" y="2053582"/>
            <a:ext cx="8620887" cy="3736951"/>
          </a:xfrm>
          <a:prstGeom prst="rect">
            <a:avLst/>
          </a:prstGeom>
        </p:spPr>
      </p:pic>
      <p:sp>
        <p:nvSpPr>
          <p:cNvPr id="10" name="Slide Number Placeholder 9">
            <a:extLst>
              <a:ext uri="{FF2B5EF4-FFF2-40B4-BE49-F238E27FC236}">
                <a16:creationId xmlns:a16="http://schemas.microsoft.com/office/drawing/2014/main" id="{C419F2BA-2905-DFD6-71AA-6107682B9259}"/>
              </a:ext>
            </a:extLst>
          </p:cNvPr>
          <p:cNvSpPr>
            <a:spLocks noGrp="1"/>
          </p:cNvSpPr>
          <p:nvPr>
            <p:ph type="sldNum" sz="quarter" idx="12"/>
          </p:nvPr>
        </p:nvSpPr>
        <p:spPr/>
        <p:txBody>
          <a:bodyPr/>
          <a:lstStyle/>
          <a:p>
            <a:fld id="{6CF4360A-F402-6E48-BA01-8A5E455C98CB}" type="slidenum">
              <a:rPr lang="en-JP" smtClean="0"/>
              <a:t>3</a:t>
            </a:fld>
            <a:endParaRPr lang="en-JP" dirty="0"/>
          </a:p>
        </p:txBody>
      </p:sp>
      <p:sp>
        <p:nvSpPr>
          <p:cNvPr id="13" name="TextBox 12">
            <a:extLst>
              <a:ext uri="{FF2B5EF4-FFF2-40B4-BE49-F238E27FC236}">
                <a16:creationId xmlns:a16="http://schemas.microsoft.com/office/drawing/2014/main" id="{8B053020-3255-3510-33C3-A5C17DB34F62}"/>
              </a:ext>
            </a:extLst>
          </p:cNvPr>
          <p:cNvSpPr txBox="1"/>
          <p:nvPr/>
        </p:nvSpPr>
        <p:spPr>
          <a:xfrm>
            <a:off x="122982" y="6316452"/>
            <a:ext cx="8124547" cy="502573"/>
          </a:xfrm>
          <a:prstGeom prst="rect">
            <a:avLst/>
          </a:prstGeom>
          <a:noFill/>
        </p:spPr>
        <p:txBody>
          <a:bodyPr wrap="square">
            <a:spAutoFit/>
          </a:bodyPr>
          <a:lstStyle/>
          <a:p>
            <a:r>
              <a:rPr lang="en-US" sz="1333" dirty="0">
                <a:latin typeface="Meiryo" panose="020B0604030504040204" pitchFamily="34" charset="-128"/>
                <a:ea typeface="Meiryo" panose="020B0604030504040204" pitchFamily="34" charset="-128"/>
              </a:rPr>
              <a:t>[1]Satyajit Sinha, State of IoT 2025: Number of connected IoT devices growing 14% to 21.1 billion globally, https://</a:t>
            </a:r>
            <a:r>
              <a:rPr lang="en-US" sz="1333" dirty="0" err="1">
                <a:latin typeface="Meiryo" panose="020B0604030504040204" pitchFamily="34" charset="-128"/>
                <a:ea typeface="Meiryo" panose="020B0604030504040204" pitchFamily="34" charset="-128"/>
              </a:rPr>
              <a:t>iot-analytics.com</a:t>
            </a:r>
            <a:r>
              <a:rPr lang="en-US" sz="1333" dirty="0">
                <a:latin typeface="Meiryo" panose="020B0604030504040204" pitchFamily="34" charset="-128"/>
                <a:ea typeface="Meiryo" panose="020B0604030504040204" pitchFamily="34" charset="-128"/>
              </a:rPr>
              <a:t>/number-connected-</a:t>
            </a:r>
            <a:r>
              <a:rPr lang="en-US" sz="1333" dirty="0" err="1">
                <a:latin typeface="Meiryo" panose="020B0604030504040204" pitchFamily="34" charset="-128"/>
                <a:ea typeface="Meiryo" panose="020B0604030504040204" pitchFamily="34" charset="-128"/>
              </a:rPr>
              <a:t>iot</a:t>
            </a:r>
            <a:r>
              <a:rPr lang="en-US" sz="1333" dirty="0">
                <a:latin typeface="Meiryo" panose="020B0604030504040204" pitchFamily="34" charset="-128"/>
                <a:ea typeface="Meiryo" panose="020B0604030504040204" pitchFamily="34" charset="-128"/>
              </a:rPr>
              <a:t>-devices/  (参照日:2025/11/27)</a:t>
            </a:r>
          </a:p>
        </p:txBody>
      </p:sp>
      <p:sp>
        <p:nvSpPr>
          <p:cNvPr id="2" name="Title 1">
            <a:extLst>
              <a:ext uri="{FF2B5EF4-FFF2-40B4-BE49-F238E27FC236}">
                <a16:creationId xmlns:a16="http://schemas.microsoft.com/office/drawing/2014/main" id="{3C863840-7BC9-4184-065D-D1BC5DCB1BAB}"/>
              </a:ext>
            </a:extLst>
          </p:cNvPr>
          <p:cNvSpPr>
            <a:spLocks noGrp="1"/>
          </p:cNvSpPr>
          <p:nvPr>
            <p:ph type="title"/>
          </p:nvPr>
        </p:nvSpPr>
        <p:spPr>
          <a:xfrm>
            <a:off x="0" y="134234"/>
            <a:ext cx="5867400" cy="1325563"/>
          </a:xfrm>
        </p:spPr>
        <p:txBody>
          <a:bodyPr>
            <a:normAutofit/>
          </a:bodyPr>
          <a:lstStyle/>
          <a:p>
            <a:pPr marL="571500" indent="-571500">
              <a:buFont typeface="Wingdings" pitchFamily="2" charset="2"/>
              <a:buChar char="Ø"/>
            </a:pPr>
            <a:r>
              <a:rPr lang="en-US" sz="3200" b="1" dirty="0">
                <a:latin typeface="Meiryo" panose="020B0604030504040204" pitchFamily="34" charset="-128"/>
                <a:ea typeface="Meiryo" panose="020B0604030504040204" pitchFamily="34" charset="-128"/>
              </a:rPr>
              <a:t>IoT</a:t>
            </a:r>
            <a:r>
              <a:rPr lang="ja-JP" altLang="en-US" sz="3200" b="1">
                <a:latin typeface="Meiryo" panose="020B0604030504040204" pitchFamily="34" charset="-128"/>
                <a:ea typeface="Meiryo" panose="020B0604030504040204" pitchFamily="34" charset="-128"/>
              </a:rPr>
              <a:t>デバイス数の推移</a:t>
            </a:r>
            <a:r>
              <a:rPr lang="en-US" altLang="ja-JP" sz="2000" dirty="0">
                <a:latin typeface="Meiryo" panose="020B0604030504040204" pitchFamily="34" charset="-128"/>
                <a:ea typeface="Meiryo" panose="020B0604030504040204" pitchFamily="34" charset="-128"/>
              </a:rPr>
              <a:t>[1]</a:t>
            </a:r>
            <a:endParaRPr lang="en-JP" sz="2000" dirty="0">
              <a:latin typeface="Meiryo" panose="020B0604030504040204" pitchFamily="34" charset="-128"/>
              <a:ea typeface="Meiryo" panose="020B0604030504040204" pitchFamily="34" charset="-128"/>
            </a:endParaRPr>
          </a:p>
        </p:txBody>
      </p:sp>
      <p:sp>
        <p:nvSpPr>
          <p:cNvPr id="5" name="正方形/長方形 4">
            <a:extLst>
              <a:ext uri="{FF2B5EF4-FFF2-40B4-BE49-F238E27FC236}">
                <a16:creationId xmlns:a16="http://schemas.microsoft.com/office/drawing/2014/main" id="{BDAC89E7-51F4-1D06-4034-A88182D4ED82}"/>
              </a:ext>
            </a:extLst>
          </p:cNvPr>
          <p:cNvSpPr/>
          <p:nvPr/>
        </p:nvSpPr>
        <p:spPr>
          <a:xfrm>
            <a:off x="2497428" y="5599322"/>
            <a:ext cx="429235" cy="220087"/>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6" name="正方形/長方形 5">
            <a:extLst>
              <a:ext uri="{FF2B5EF4-FFF2-40B4-BE49-F238E27FC236}">
                <a16:creationId xmlns:a16="http://schemas.microsoft.com/office/drawing/2014/main" id="{18C51983-F570-1557-571B-88E9D3B1A7A9}"/>
              </a:ext>
            </a:extLst>
          </p:cNvPr>
          <p:cNvSpPr/>
          <p:nvPr/>
        </p:nvSpPr>
        <p:spPr>
          <a:xfrm>
            <a:off x="6641999" y="5601718"/>
            <a:ext cx="390213" cy="24209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9" name="正方形/長方形 8">
            <a:extLst>
              <a:ext uri="{FF2B5EF4-FFF2-40B4-BE49-F238E27FC236}">
                <a16:creationId xmlns:a16="http://schemas.microsoft.com/office/drawing/2014/main" id="{C3B0B5EB-3318-4B7F-74DC-DD53A8EB987B}"/>
              </a:ext>
            </a:extLst>
          </p:cNvPr>
          <p:cNvSpPr/>
          <p:nvPr/>
        </p:nvSpPr>
        <p:spPr>
          <a:xfrm>
            <a:off x="8740589" y="1367118"/>
            <a:ext cx="324971" cy="4191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8" name="角丸四角形吹き出し 83">
            <a:extLst>
              <a:ext uri="{FF2B5EF4-FFF2-40B4-BE49-F238E27FC236}">
                <a16:creationId xmlns:a16="http://schemas.microsoft.com/office/drawing/2014/main" id="{8CEB5C6A-D7B1-4783-4299-1870967C1D73}"/>
              </a:ext>
            </a:extLst>
          </p:cNvPr>
          <p:cNvSpPr/>
          <p:nvPr/>
        </p:nvSpPr>
        <p:spPr>
          <a:xfrm>
            <a:off x="6029326" y="228601"/>
            <a:ext cx="3025028" cy="1845204"/>
          </a:xfrm>
          <a:prstGeom prst="wedgeRoundRectCallout">
            <a:avLst>
              <a:gd name="adj1" fmla="val -31839"/>
              <a:gd name="adj2" fmla="val 66931"/>
              <a:gd name="adj3" fmla="val 16667"/>
            </a:avLst>
          </a:prstGeom>
          <a:solidFill>
            <a:srgbClr val="FFFFFF"/>
          </a:solidFill>
          <a:ln w="285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333" dirty="0">
                <a:solidFill>
                  <a:schemeClr val="tx1"/>
                </a:solidFill>
                <a:latin typeface="Meiryo" panose="020B0604030504040204" pitchFamily="34" charset="-128"/>
                <a:ea typeface="Meiryo" panose="020B0604030504040204" pitchFamily="34" charset="-128"/>
              </a:rPr>
              <a:t>2025</a:t>
            </a:r>
            <a:r>
              <a:rPr lang="ja-JP" altLang="en-US" sz="2333">
                <a:solidFill>
                  <a:schemeClr val="tx1"/>
                </a:solidFill>
                <a:latin typeface="Meiryo" panose="020B0604030504040204" pitchFamily="34" charset="-128"/>
                <a:ea typeface="Meiryo" panose="020B0604030504040204" pitchFamily="34" charset="-128"/>
              </a:rPr>
              <a:t>年は </a:t>
            </a:r>
            <a:r>
              <a:rPr lang="en-US" altLang="ja-JP" sz="2333" b="1" dirty="0">
                <a:solidFill>
                  <a:schemeClr val="tx1"/>
                </a:solidFill>
                <a:latin typeface="Meiryo" panose="020B0604030504040204" pitchFamily="34" charset="-128"/>
                <a:ea typeface="Meiryo" panose="020B0604030504040204" pitchFamily="34" charset="-128"/>
              </a:rPr>
              <a:t>211</a:t>
            </a:r>
            <a:r>
              <a:rPr lang="ja-JP" altLang="en-US" sz="2333" b="1">
                <a:solidFill>
                  <a:schemeClr val="tx1"/>
                </a:solidFill>
                <a:latin typeface="Meiryo" panose="020B0604030504040204" pitchFamily="34" charset="-128"/>
                <a:ea typeface="Meiryo" panose="020B0604030504040204" pitchFamily="34" charset="-128"/>
              </a:rPr>
              <a:t>億</a:t>
            </a:r>
            <a:r>
              <a:rPr lang="ja-JP" altLang="en-US" sz="2333">
                <a:solidFill>
                  <a:schemeClr val="tx1"/>
                </a:solidFill>
                <a:latin typeface="Meiryo" panose="020B0604030504040204" pitchFamily="34" charset="-128"/>
                <a:ea typeface="Meiryo" panose="020B0604030504040204" pitchFamily="34" charset="-128"/>
              </a:rPr>
              <a:t>、</a:t>
            </a:r>
            <a:br>
              <a:rPr lang="en-US" altLang="ja-JP" sz="2333" dirty="0">
                <a:solidFill>
                  <a:schemeClr val="tx1"/>
                </a:solidFill>
                <a:latin typeface="Meiryo" panose="020B0604030504040204" pitchFamily="34" charset="-128"/>
                <a:ea typeface="Meiryo" panose="020B0604030504040204" pitchFamily="34" charset="-128"/>
              </a:rPr>
            </a:br>
            <a:r>
              <a:rPr lang="en-US" altLang="ja-JP" sz="2333" dirty="0">
                <a:solidFill>
                  <a:schemeClr val="tx1"/>
                </a:solidFill>
                <a:latin typeface="Meiryo" panose="020B0604030504040204" pitchFamily="34" charset="-128"/>
                <a:ea typeface="Meiryo" panose="020B0604030504040204" pitchFamily="34" charset="-128"/>
              </a:rPr>
              <a:t>2035</a:t>
            </a:r>
            <a:r>
              <a:rPr lang="ja-JP" altLang="en-US" sz="2333">
                <a:solidFill>
                  <a:schemeClr val="tx1"/>
                </a:solidFill>
                <a:latin typeface="Meiryo" panose="020B0604030504040204" pitchFamily="34" charset="-128"/>
                <a:ea typeface="Meiryo" panose="020B0604030504040204" pitchFamily="34" charset="-128"/>
              </a:rPr>
              <a:t>年は </a:t>
            </a:r>
            <a:r>
              <a:rPr lang="en-US" altLang="ja-JP" sz="2333" b="1" dirty="0">
                <a:solidFill>
                  <a:schemeClr val="tx1"/>
                </a:solidFill>
                <a:latin typeface="Meiryo" panose="020B0604030504040204" pitchFamily="34" charset="-128"/>
                <a:ea typeface="Meiryo" panose="020B0604030504040204" pitchFamily="34" charset="-128"/>
              </a:rPr>
              <a:t>550</a:t>
            </a:r>
            <a:r>
              <a:rPr lang="ja-JP" altLang="en-US" sz="2333" b="1">
                <a:solidFill>
                  <a:schemeClr val="tx1"/>
                </a:solidFill>
                <a:latin typeface="Meiryo" panose="020B0604030504040204" pitchFamily="34" charset="-128"/>
                <a:ea typeface="Meiryo" panose="020B0604030504040204" pitchFamily="34" charset="-128"/>
              </a:rPr>
              <a:t>億</a:t>
            </a:r>
            <a:r>
              <a:rPr lang="ja-JP" altLang="en-US" sz="2333">
                <a:solidFill>
                  <a:schemeClr val="tx1"/>
                </a:solidFill>
                <a:latin typeface="Meiryo" panose="020B0604030504040204" pitchFamily="34" charset="-128"/>
                <a:ea typeface="Meiryo" panose="020B0604030504040204" pitchFamily="34" charset="-128"/>
              </a:rPr>
              <a:t>に</a:t>
            </a:r>
            <a:br>
              <a:rPr lang="en-US" altLang="ja-JP" sz="2333" dirty="0">
                <a:solidFill>
                  <a:schemeClr val="tx1"/>
                </a:solidFill>
                <a:latin typeface="Meiryo" panose="020B0604030504040204" pitchFamily="34" charset="-128"/>
                <a:ea typeface="Meiryo" panose="020B0604030504040204" pitchFamily="34" charset="-128"/>
              </a:rPr>
            </a:br>
            <a:r>
              <a:rPr lang="ja-JP" altLang="en-US" sz="2333">
                <a:solidFill>
                  <a:schemeClr val="tx1"/>
                </a:solidFill>
                <a:latin typeface="Meiryo" panose="020B0604030504040204" pitchFamily="34" charset="-128"/>
                <a:ea typeface="Meiryo" panose="020B0604030504040204" pitchFamily="34" charset="-128"/>
              </a:rPr>
              <a:t>増加する見込み</a:t>
            </a:r>
            <a:endParaRPr lang="en-US" altLang="ja-JP" sz="2333" dirty="0">
              <a:solidFill>
                <a:schemeClr val="tx1"/>
              </a:solidFill>
              <a:latin typeface="Meiryo" panose="020B0604030504040204" pitchFamily="34" charset="-128"/>
              <a:ea typeface="Meiryo" panose="020B0604030504040204" pitchFamily="34" charset="-128"/>
            </a:endParaRPr>
          </a:p>
          <a:p>
            <a:pPr algn="ctr"/>
            <a:r>
              <a:rPr lang="en-US" sz="2000" dirty="0">
                <a:solidFill>
                  <a:schemeClr val="tx1"/>
                </a:solidFill>
                <a:latin typeface="Meiryo" panose="020B0604030504040204" pitchFamily="34" charset="-128"/>
                <a:ea typeface="Meiryo" panose="020B0604030504040204" pitchFamily="34" charset="-128"/>
              </a:rPr>
              <a:t>(2025年10月時点)</a:t>
            </a:r>
            <a:endParaRPr lang="en-JP" sz="1167"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361415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18D9E6-0DA4-1456-EA60-A439F3892696}"/>
              </a:ext>
            </a:extLst>
          </p:cNvPr>
          <p:cNvSpPr>
            <a:spLocks noGrp="1"/>
          </p:cNvSpPr>
          <p:nvPr>
            <p:ph type="sldNum" sz="quarter" idx="12"/>
          </p:nvPr>
        </p:nvSpPr>
        <p:spPr/>
        <p:txBody>
          <a:bodyPr/>
          <a:lstStyle/>
          <a:p>
            <a:fld id="{BB44241B-2579-694C-B40C-A1E3D5F0E4EC}" type="slidenum">
              <a:rPr lang="en-JP"/>
              <a:t>4</a:t>
            </a:fld>
            <a:endParaRPr lang="en-JP" dirty="0"/>
          </a:p>
        </p:txBody>
      </p:sp>
      <p:sp>
        <p:nvSpPr>
          <p:cNvPr id="12" name="TextBox 12">
            <a:extLst>
              <a:ext uri="{FF2B5EF4-FFF2-40B4-BE49-F238E27FC236}">
                <a16:creationId xmlns:a16="http://schemas.microsoft.com/office/drawing/2014/main" id="{63C5E2FA-D74F-80A6-404F-8FE976F27B2B}"/>
              </a:ext>
            </a:extLst>
          </p:cNvPr>
          <p:cNvSpPr txBox="1"/>
          <p:nvPr/>
        </p:nvSpPr>
        <p:spPr>
          <a:xfrm>
            <a:off x="112406" y="6321300"/>
            <a:ext cx="8079094" cy="415498"/>
          </a:xfrm>
          <a:prstGeom prst="rect">
            <a:avLst/>
          </a:prstGeom>
          <a:noFill/>
        </p:spPr>
        <p:txBody>
          <a:bodyPr wrap="square">
            <a:spAutoFit/>
          </a:bodyPr>
          <a:lstStyle/>
          <a:p>
            <a:r>
              <a:rPr lang="en-US" sz="1050" dirty="0">
                <a:latin typeface="Meiryo" panose="020B0604030504040204" pitchFamily="34" charset="-128"/>
                <a:ea typeface="Meiryo" panose="020B0604030504040204" pitchFamily="34" charset="-128"/>
              </a:rPr>
              <a:t>[2]</a:t>
            </a:r>
            <a:r>
              <a:rPr lang="en-US" sz="1050" dirty="0" err="1">
                <a:latin typeface="Meiryo" panose="020B0604030504040204" pitchFamily="34" charset="-128"/>
                <a:ea typeface="Meiryo" panose="020B0604030504040204" pitchFamily="34" charset="-128"/>
              </a:rPr>
              <a:t>Chimdesa</a:t>
            </a:r>
            <a:r>
              <a:rPr lang="en-US" sz="1050" dirty="0">
                <a:latin typeface="Meiryo" panose="020B0604030504040204" pitchFamily="34" charset="-128"/>
                <a:ea typeface="Meiryo" panose="020B0604030504040204" pitchFamily="34" charset="-128"/>
              </a:rPr>
              <a:t> </a:t>
            </a:r>
            <a:r>
              <a:rPr lang="en-US" sz="1050" dirty="0" err="1">
                <a:latin typeface="Meiryo" panose="020B0604030504040204" pitchFamily="34" charset="-128"/>
                <a:ea typeface="Meiryo" panose="020B0604030504040204" pitchFamily="34" charset="-128"/>
              </a:rPr>
              <a:t>Diriba</a:t>
            </a:r>
            <a:r>
              <a:rPr lang="en-US" sz="1050" dirty="0">
                <a:latin typeface="Meiryo" panose="020B0604030504040204" pitchFamily="34" charset="-128"/>
                <a:ea typeface="Meiryo" panose="020B0604030504040204" pitchFamily="34" charset="-128"/>
              </a:rPr>
              <a:t>, What are the Top IoT Security issues ?, https://</a:t>
            </a:r>
            <a:r>
              <a:rPr lang="en-US" sz="1050" dirty="0" err="1">
                <a:latin typeface="Meiryo" panose="020B0604030504040204" pitchFamily="34" charset="-128"/>
                <a:ea typeface="Meiryo" panose="020B0604030504040204" pitchFamily="34" charset="-128"/>
              </a:rPr>
              <a:t>teleforum.ethiotelecom.et</a:t>
            </a:r>
            <a:r>
              <a:rPr lang="en-US" sz="1050" dirty="0">
                <a:latin typeface="Meiryo" panose="020B0604030504040204" pitchFamily="34" charset="-128"/>
                <a:ea typeface="Meiryo" panose="020B0604030504040204" pitchFamily="34" charset="-128"/>
              </a:rPr>
              <a:t>/blogs/2100/What-are-the-Top-IoT-Security-issues(参照日:2025/11/27)</a:t>
            </a:r>
          </a:p>
        </p:txBody>
      </p:sp>
      <p:pic>
        <p:nvPicPr>
          <p:cNvPr id="19" name="Picture 18">
            <a:extLst>
              <a:ext uri="{FF2B5EF4-FFF2-40B4-BE49-F238E27FC236}">
                <a16:creationId xmlns:a16="http://schemas.microsoft.com/office/drawing/2014/main" id="{08F37175-F7C4-304E-F588-B36F856642A5}"/>
              </a:ext>
            </a:extLst>
          </p:cNvPr>
          <p:cNvPicPr>
            <a:picLocks noChangeAspect="1"/>
          </p:cNvPicPr>
          <p:nvPr/>
        </p:nvPicPr>
        <p:blipFill>
          <a:blip r:embed="rId3"/>
          <a:stretch>
            <a:fillRect/>
          </a:stretch>
        </p:blipFill>
        <p:spPr>
          <a:xfrm>
            <a:off x="0" y="2204929"/>
            <a:ext cx="9144000" cy="4116371"/>
          </a:xfrm>
          <a:prstGeom prst="rect">
            <a:avLst/>
          </a:prstGeom>
        </p:spPr>
      </p:pic>
      <p:sp>
        <p:nvSpPr>
          <p:cNvPr id="20" name="Shape 4">
            <a:extLst>
              <a:ext uri="{FF2B5EF4-FFF2-40B4-BE49-F238E27FC236}">
                <a16:creationId xmlns:a16="http://schemas.microsoft.com/office/drawing/2014/main" id="{ABC4A2D3-9154-F55C-C665-EE8B1C4BE7C2}"/>
              </a:ext>
            </a:extLst>
          </p:cNvPr>
          <p:cNvSpPr/>
          <p:nvPr/>
        </p:nvSpPr>
        <p:spPr>
          <a:xfrm>
            <a:off x="0" y="845852"/>
            <a:ext cx="5145394" cy="384048"/>
          </a:xfrm>
          <a:prstGeom prst="rect">
            <a:avLst/>
          </a:prstGeom>
          <a:solidFill>
            <a:schemeClr val="bg2"/>
          </a:solidFill>
          <a:ln w="12700">
            <a:solidFill>
              <a:srgbClr val="2563A8"/>
            </a:solidFill>
            <a:prstDash val="solid"/>
          </a:ln>
        </p:spPr>
        <p:txBody>
          <a:bodyPr/>
          <a:lstStyle/>
          <a:p>
            <a:r>
              <a:rPr lang="en-US" altLang="ja-JP" sz="2000" b="1" dirty="0">
                <a:latin typeface="Meiryo" panose="020B0604030504040204" pitchFamily="34" charset="-128"/>
                <a:ea typeface="Meiryo" panose="020B0604030504040204" pitchFamily="34" charset="-128"/>
              </a:rPr>
              <a:t>46%</a:t>
            </a:r>
            <a:r>
              <a:rPr lang="ja-JP" altLang="en-US" sz="2000" b="1">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ランサムウェア攻撃が増加</a:t>
            </a:r>
            <a:endParaRPr kumimoji="1" lang="ja-JP" altLang="en-US" sz="2000">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sp>
        <p:nvSpPr>
          <p:cNvPr id="21" name="Shape 4">
            <a:extLst>
              <a:ext uri="{FF2B5EF4-FFF2-40B4-BE49-F238E27FC236}">
                <a16:creationId xmlns:a16="http://schemas.microsoft.com/office/drawing/2014/main" id="{8BD00668-439D-0985-C671-63EA79DFC1C8}"/>
              </a:ext>
            </a:extLst>
          </p:cNvPr>
          <p:cNvSpPr/>
          <p:nvPr/>
        </p:nvSpPr>
        <p:spPr>
          <a:xfrm>
            <a:off x="0" y="1264023"/>
            <a:ext cx="5145394" cy="464401"/>
          </a:xfrm>
          <a:prstGeom prst="rect">
            <a:avLst/>
          </a:prstGeom>
          <a:solidFill>
            <a:schemeClr val="bg2"/>
          </a:solidFill>
          <a:ln w="12700">
            <a:solidFill>
              <a:srgbClr val="2563A8"/>
            </a:solidFill>
            <a:prstDash val="solid"/>
          </a:ln>
        </p:spPr>
        <p:txBody>
          <a:bodyPr/>
          <a:lstStyle/>
          <a:p>
            <a:r>
              <a:rPr lang="en-US" altLang="ja-JP" sz="2000" b="1" dirty="0">
                <a:latin typeface="Meiryo" panose="020B0604030504040204" pitchFamily="34" charset="-128"/>
                <a:ea typeface="Meiryo" panose="020B0604030504040204" pitchFamily="34" charset="-128"/>
              </a:rPr>
              <a:t>12,000+</a:t>
            </a:r>
            <a:r>
              <a:rPr lang="ja-JP" altLang="en-US" sz="2000">
                <a:latin typeface="Meiryo" panose="020B0604030504040204" pitchFamily="34" charset="-128"/>
                <a:ea typeface="Meiryo" panose="020B0604030504040204" pitchFamily="34" charset="-128"/>
              </a:rPr>
              <a:t>：新しいランサムウェアの種類</a:t>
            </a:r>
            <a:endParaRPr kumimoji="1" lang="ja-JP" altLang="en-US" sz="2000" b="1">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sp>
        <p:nvSpPr>
          <p:cNvPr id="22" name="Shape 4">
            <a:extLst>
              <a:ext uri="{FF2B5EF4-FFF2-40B4-BE49-F238E27FC236}">
                <a16:creationId xmlns:a16="http://schemas.microsoft.com/office/drawing/2014/main" id="{0EF9ACDA-C69E-403E-FA3B-0002BFAD7FE6}"/>
              </a:ext>
            </a:extLst>
          </p:cNvPr>
          <p:cNvSpPr/>
          <p:nvPr/>
        </p:nvSpPr>
        <p:spPr>
          <a:xfrm>
            <a:off x="0" y="1774653"/>
            <a:ext cx="5145394" cy="384048"/>
          </a:xfrm>
          <a:prstGeom prst="rect">
            <a:avLst/>
          </a:prstGeom>
          <a:solidFill>
            <a:schemeClr val="bg2"/>
          </a:solidFill>
          <a:ln w="12700">
            <a:solidFill>
              <a:srgbClr val="2563A8"/>
            </a:solidFill>
            <a:prstDash val="solid"/>
          </a:ln>
        </p:spPr>
        <p:txBody>
          <a:bodyPr/>
          <a:lstStyle/>
          <a:p>
            <a:r>
              <a:rPr lang="en-US" altLang="ja-JP" sz="2000" b="1" dirty="0">
                <a:latin typeface="Meiryo" panose="020B0604030504040204" pitchFamily="34" charset="-128"/>
                <a:ea typeface="Meiryo" panose="020B0604030504040204" pitchFamily="34" charset="-128"/>
              </a:rPr>
              <a:t>12,000+</a:t>
            </a:r>
            <a:r>
              <a:rPr lang="ja-JP" altLang="en-US" sz="2000" b="1">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新しいランサムウェアの種類</a:t>
            </a:r>
            <a:endParaRPr kumimoji="1" lang="ja-JP" altLang="en-US" sz="2000">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sp>
        <p:nvSpPr>
          <p:cNvPr id="23" name="Shape 4">
            <a:extLst>
              <a:ext uri="{FF2B5EF4-FFF2-40B4-BE49-F238E27FC236}">
                <a16:creationId xmlns:a16="http://schemas.microsoft.com/office/drawing/2014/main" id="{5FCD9458-222A-F0E8-A7A4-773963029AB4}"/>
              </a:ext>
            </a:extLst>
          </p:cNvPr>
          <p:cNvSpPr/>
          <p:nvPr/>
        </p:nvSpPr>
        <p:spPr>
          <a:xfrm>
            <a:off x="5178731" y="845851"/>
            <a:ext cx="3965270" cy="1312850"/>
          </a:xfrm>
          <a:prstGeom prst="rect">
            <a:avLst/>
          </a:prstGeom>
          <a:solidFill>
            <a:schemeClr val="bg2"/>
          </a:solidFill>
          <a:ln w="12700">
            <a:solidFill>
              <a:srgbClr val="2563A8"/>
            </a:solidFill>
            <a:prstDash val="solid"/>
          </a:ln>
        </p:spPr>
        <p:txBody>
          <a:bodyPr/>
          <a:lstStyle/>
          <a:p>
            <a:r>
              <a:rPr lang="en-US" sz="2000" b="1" dirty="0">
                <a:latin typeface="Meiryo" panose="020B0604030504040204" pitchFamily="34" charset="-128"/>
                <a:ea typeface="Meiryo" panose="020B0604030504040204" pitchFamily="34" charset="-128"/>
              </a:rPr>
              <a:t>50%:</a:t>
            </a:r>
            <a:r>
              <a:rPr lang="en-US" sz="2000" dirty="0">
                <a:latin typeface="Meiryo" panose="020B0604030504040204" pitchFamily="34" charset="-128"/>
                <a:ea typeface="Meiryo" panose="020B0604030504040204" pitchFamily="34" charset="-128"/>
              </a:rPr>
              <a:t>OT</a:t>
            </a:r>
            <a:r>
              <a:rPr lang="ja-JP" altLang="en-US" sz="2000">
                <a:latin typeface="Meiryo" panose="020B0604030504040204" pitchFamily="34" charset="-128"/>
                <a:ea typeface="Meiryo" panose="020B0604030504040204" pitchFamily="34" charset="-128"/>
              </a:rPr>
              <a:t>攻撃が報告の半分を</a:t>
            </a:r>
            <a:endParaRPr lang="en-US"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占める</a:t>
            </a:r>
            <a:endParaRPr lang="en-US" altLang="ja-JP" sz="2000" dirty="0">
              <a:latin typeface="Meiryo" panose="020B0604030504040204" pitchFamily="34" charset="-128"/>
              <a:ea typeface="Meiryo" panose="020B0604030504040204" pitchFamily="34" charset="-128"/>
            </a:endParaRPr>
          </a:p>
          <a:p>
            <a:r>
              <a:rPr lang="en-US" altLang="ja-JP" sz="2000" b="1" dirty="0">
                <a:latin typeface="Meiryo" panose="020B0604030504040204" pitchFamily="34" charset="-128"/>
                <a:ea typeface="Meiryo" panose="020B0604030504040204" pitchFamily="34" charset="-128"/>
              </a:rPr>
              <a:t>820,000</a:t>
            </a:r>
            <a:r>
              <a:rPr lang="ja-JP" altLang="en-US" sz="2000" b="1">
                <a:latin typeface="Meiryo" panose="020B0604030504040204" pitchFamily="34" charset="-128"/>
                <a:ea typeface="Meiryo" panose="020B0604030504040204" pitchFamily="34" charset="-128"/>
              </a:rPr>
              <a:t>：</a:t>
            </a:r>
            <a:r>
              <a:rPr lang="en-US" altLang="ja-JP" sz="2000" dirty="0">
                <a:latin typeface="Meiryo" panose="020B0604030504040204" pitchFamily="34" charset="-128"/>
                <a:ea typeface="Meiryo" panose="020B0604030504040204" pitchFamily="34" charset="-128"/>
              </a:rPr>
              <a:t>1</a:t>
            </a:r>
            <a:r>
              <a:rPr lang="ja-JP" altLang="en-US" sz="2000">
                <a:latin typeface="Meiryo" panose="020B0604030504040204" pitchFamily="34" charset="-128"/>
                <a:ea typeface="Meiryo" panose="020B0604030504040204" pitchFamily="34" charset="-128"/>
              </a:rPr>
              <a:t>日あたりの</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攻撃数</a:t>
            </a:r>
            <a:endParaRPr lang="en-JP" sz="2000" dirty="0">
              <a:latin typeface="Meiryo" panose="020B0604030504040204" pitchFamily="34" charset="-128"/>
              <a:ea typeface="Meiryo" panose="020B0604030504040204" pitchFamily="34" charset="-128"/>
            </a:endParaRPr>
          </a:p>
          <a:p>
            <a:endParaRPr lang="en-JP" sz="2000" b="1" dirty="0">
              <a:latin typeface="Meiryo" panose="020B0604030504040204" pitchFamily="34" charset="-128"/>
              <a:ea typeface="Meiryo" panose="020B0604030504040204" pitchFamily="34" charset="-128"/>
            </a:endParaRPr>
          </a:p>
        </p:txBody>
      </p:sp>
      <p:sp>
        <p:nvSpPr>
          <p:cNvPr id="26" name="TextBox 25">
            <a:extLst>
              <a:ext uri="{FF2B5EF4-FFF2-40B4-BE49-F238E27FC236}">
                <a16:creationId xmlns:a16="http://schemas.microsoft.com/office/drawing/2014/main" id="{2BC055A7-DDA1-3B86-D328-93C8A5D6FB6D}"/>
              </a:ext>
            </a:extLst>
          </p:cNvPr>
          <p:cNvSpPr txBox="1"/>
          <p:nvPr/>
        </p:nvSpPr>
        <p:spPr>
          <a:xfrm>
            <a:off x="0" y="140576"/>
            <a:ext cx="8943975" cy="1077218"/>
          </a:xfrm>
          <a:prstGeom prst="rect">
            <a:avLst/>
          </a:prstGeom>
          <a:noFill/>
        </p:spPr>
        <p:txBody>
          <a:bodyPr wrap="square">
            <a:spAutoFit/>
          </a:bodyPr>
          <a:lstStyle/>
          <a:p>
            <a:pPr marL="457200" indent="-457200">
              <a:buFont typeface="Wingdings" pitchFamily="2" charset="2"/>
              <a:buChar char="Ø"/>
            </a:pPr>
            <a:r>
              <a:rPr lang="en-US" sz="3200" b="1" dirty="0">
                <a:latin typeface="Meiryo" panose="020B0604030504040204" pitchFamily="34" charset="-128"/>
                <a:ea typeface="Meiryo" panose="020B0604030504040204" pitchFamily="34" charset="-128"/>
              </a:rPr>
              <a:t>IoT</a:t>
            </a:r>
            <a:r>
              <a:rPr lang="ja-JP" altLang="en-US" sz="3200" b="1">
                <a:latin typeface="Meiryo" panose="020B0604030504040204" pitchFamily="34" charset="-128"/>
                <a:ea typeface="Meiryo" panose="020B0604030504040204" pitchFamily="34" charset="-128"/>
              </a:rPr>
              <a:t>デバイスに対する主な攻撃</a:t>
            </a:r>
            <a:r>
              <a:rPr lang="en-US" altLang="ja-JP" sz="2000" dirty="0">
                <a:latin typeface="Meiryo" panose="020B0604030504040204" pitchFamily="34" charset="-128"/>
                <a:ea typeface="Meiryo" panose="020B0604030504040204" pitchFamily="34" charset="-128"/>
              </a:rPr>
              <a:t>[2]</a:t>
            </a:r>
            <a:endParaRPr lang="en-JP" sz="2000" dirty="0">
              <a:latin typeface="Meiryo" panose="020B0604030504040204" pitchFamily="34" charset="-128"/>
              <a:ea typeface="Meiryo" panose="020B0604030504040204" pitchFamily="34" charset="-128"/>
            </a:endParaRPr>
          </a:p>
          <a:p>
            <a:endParaRPr lang="en-JP" sz="3200" b="1" dirty="0">
              <a:latin typeface="Meiryo" panose="020B0604030504040204" pitchFamily="34" charset="-128"/>
              <a:ea typeface="Meiryo" panose="020B0604030504040204" pitchFamily="34" charset="-128"/>
            </a:endParaRPr>
          </a:p>
        </p:txBody>
      </p:sp>
      <p:sp>
        <p:nvSpPr>
          <p:cNvPr id="29" name="正方形/長方形 5">
            <a:extLst>
              <a:ext uri="{FF2B5EF4-FFF2-40B4-BE49-F238E27FC236}">
                <a16:creationId xmlns:a16="http://schemas.microsoft.com/office/drawing/2014/main" id="{6ACE6559-97E9-784D-EC55-D011FBE1C122}"/>
              </a:ext>
            </a:extLst>
          </p:cNvPr>
          <p:cNvSpPr/>
          <p:nvPr/>
        </p:nvSpPr>
        <p:spPr>
          <a:xfrm>
            <a:off x="6918726" y="3847824"/>
            <a:ext cx="1936516" cy="131993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23309334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454A1B-21B6-A611-2EB3-DCE50457D220}"/>
              </a:ext>
            </a:extLst>
          </p:cNvPr>
          <p:cNvPicPr>
            <a:picLocks noChangeAspect="1"/>
          </p:cNvPicPr>
          <p:nvPr/>
        </p:nvPicPr>
        <p:blipFill>
          <a:blip r:embed="rId2"/>
          <a:stretch>
            <a:fillRect/>
          </a:stretch>
        </p:blipFill>
        <p:spPr>
          <a:xfrm>
            <a:off x="0" y="0"/>
            <a:ext cx="9144000" cy="6334125"/>
          </a:xfrm>
          <a:prstGeom prst="rect">
            <a:avLst/>
          </a:prstGeom>
        </p:spPr>
      </p:pic>
      <p:sp>
        <p:nvSpPr>
          <p:cNvPr id="7" name="Rounded Rectangle 6">
            <a:extLst>
              <a:ext uri="{FF2B5EF4-FFF2-40B4-BE49-F238E27FC236}">
                <a16:creationId xmlns:a16="http://schemas.microsoft.com/office/drawing/2014/main" id="{A29E828E-408F-5FB2-4F8C-EC588035C79C}"/>
              </a:ext>
            </a:extLst>
          </p:cNvPr>
          <p:cNvSpPr/>
          <p:nvPr/>
        </p:nvSpPr>
        <p:spPr>
          <a:xfrm>
            <a:off x="6372223" y="1323976"/>
            <a:ext cx="2476502" cy="234315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tLang="ja-JP" b="1" dirty="0">
              <a:solidFill>
                <a:schemeClr val="tx1"/>
              </a:solidFill>
              <a:latin typeface="Meiryo" panose="020B0604030504040204" pitchFamily="34" charset="-128"/>
              <a:ea typeface="Meiryo" panose="020B0604030504040204" pitchFamily="34" charset="-128"/>
            </a:endParaRPr>
          </a:p>
          <a:p>
            <a:r>
              <a:rPr lang="ja-JP" altLang="en-US" b="1">
                <a:solidFill>
                  <a:schemeClr val="tx1"/>
                </a:solidFill>
                <a:latin typeface="Meiryo" panose="020B0604030504040204" pitchFamily="34" charset="-128"/>
                <a:ea typeface="Meiryo" panose="020B0604030504040204" pitchFamily="34" charset="-128"/>
              </a:rPr>
              <a:t>初期セキュリティの問題</a:t>
            </a:r>
            <a:r>
              <a:rPr lang="en-JP" altLang="ja-JP" b="1" dirty="0">
                <a:solidFill>
                  <a:schemeClr val="tx1"/>
                </a:solidFill>
                <a:latin typeface="Meiryo" panose="020B0604030504040204" pitchFamily="34" charset="-128"/>
                <a:ea typeface="Meiryo" panose="020B0604030504040204" pitchFamily="34" charset="-128"/>
              </a:rPr>
              <a:t> </a:t>
            </a:r>
            <a:r>
              <a:rPr lang="en-US" altLang="ja-JP" sz="1200" dirty="0">
                <a:solidFill>
                  <a:schemeClr val="tx1"/>
                </a:solidFill>
                <a:latin typeface="Meiryo" panose="020B0604030504040204" pitchFamily="34" charset="-128"/>
                <a:ea typeface="Meiryo" panose="020B0604030504040204" pitchFamily="34" charset="-128"/>
              </a:rPr>
              <a:t>[5]</a:t>
            </a:r>
            <a:endParaRPr lang="en-US" altLang="ja-JP" sz="1600" dirty="0">
              <a:solidFill>
                <a:schemeClr val="tx1"/>
              </a:solidFill>
              <a:latin typeface="Meiryo" panose="020B0604030504040204" pitchFamily="34" charset="-128"/>
              <a:ea typeface="Meiryo" panose="020B0604030504040204" pitchFamily="34" charset="-128"/>
            </a:endParaRPr>
          </a:p>
          <a:p>
            <a:r>
              <a:rPr lang="ja-JP" altLang="en-US" sz="1600">
                <a:solidFill>
                  <a:schemeClr val="tx1"/>
                </a:solidFill>
                <a:latin typeface="Meiryo" panose="020B0604030504040204" pitchFamily="34" charset="-128"/>
                <a:ea typeface="Meiryo" panose="020B0604030504040204" pitchFamily="34" charset="-128"/>
              </a:rPr>
              <a:t>次に、多くの</a:t>
            </a:r>
            <a:r>
              <a:rPr lang="en-US" sz="1600" dirty="0">
                <a:solidFill>
                  <a:schemeClr val="tx1"/>
                </a:solidFill>
                <a:latin typeface="Meiryo" panose="020B0604030504040204" pitchFamily="34" charset="-128"/>
                <a:ea typeface="Meiryo" panose="020B0604030504040204" pitchFamily="34" charset="-128"/>
              </a:rPr>
              <a:t>IoT</a:t>
            </a:r>
            <a:r>
              <a:rPr lang="ja-JP" altLang="en-US" sz="1600">
                <a:solidFill>
                  <a:schemeClr val="tx1"/>
                </a:solidFill>
                <a:latin typeface="Meiryo" panose="020B0604030504040204" pitchFamily="34" charset="-128"/>
                <a:ea typeface="Meiryo" panose="020B0604030504040204" pitchFamily="34" charset="-128"/>
              </a:rPr>
              <a:t>機器は初期セキュリティが弱いです</a:t>
            </a:r>
            <a:r>
              <a:rPr lang="en-US" altLang="ja-JP" sz="1600" dirty="0">
                <a:solidFill>
                  <a:schemeClr val="tx1"/>
                </a:solidFill>
                <a:latin typeface="Meiryo" panose="020B0604030504040204" pitchFamily="34" charset="-128"/>
                <a:ea typeface="Meiryo" panose="020B0604030504040204" pitchFamily="34" charset="-128"/>
              </a:rPr>
              <a:t>.</a:t>
            </a:r>
            <a:r>
              <a:rPr lang="ja-JP" altLang="en-US" sz="1600">
                <a:solidFill>
                  <a:schemeClr val="tx1"/>
                </a:solidFill>
                <a:latin typeface="Meiryo" panose="020B0604030504040204" pitchFamily="34" charset="-128"/>
                <a:ea typeface="Meiryo" panose="020B0604030504040204" pitchFamily="34" charset="-128"/>
              </a:rPr>
              <a:t>攻撃の</a:t>
            </a:r>
            <a:r>
              <a:rPr lang="en-US" altLang="ja-JP" sz="1600" dirty="0">
                <a:solidFill>
                  <a:schemeClr val="tx1"/>
                </a:solidFill>
                <a:latin typeface="Meiryo" panose="020B0604030504040204" pitchFamily="34" charset="-128"/>
                <a:ea typeface="Meiryo" panose="020B0604030504040204" pitchFamily="34" charset="-128"/>
              </a:rPr>
              <a:t>99%</a:t>
            </a:r>
            <a:r>
              <a:rPr lang="ja-JP" altLang="en-US" sz="1600">
                <a:solidFill>
                  <a:schemeClr val="tx1"/>
                </a:solidFill>
                <a:latin typeface="Meiryo" panose="020B0604030504040204" pitchFamily="34" charset="-128"/>
                <a:ea typeface="Meiryo" panose="020B0604030504040204" pitchFamily="34" charset="-128"/>
              </a:rPr>
              <a:t>以上が既知の脆弱性を利用しています</a:t>
            </a:r>
            <a:r>
              <a:rPr lang="en-US" altLang="ja-JP" sz="1600" dirty="0">
                <a:solidFill>
                  <a:schemeClr val="tx1"/>
                </a:solidFill>
                <a:latin typeface="Meiryo" panose="020B0604030504040204" pitchFamily="34" charset="-128"/>
                <a:ea typeface="Meiryo" panose="020B0604030504040204" pitchFamily="34" charset="-128"/>
              </a:rPr>
              <a:t>. </a:t>
            </a:r>
            <a:r>
              <a:rPr lang="ja-JP" altLang="en-US" sz="1600">
                <a:solidFill>
                  <a:schemeClr val="tx1"/>
                </a:solidFill>
                <a:latin typeface="Meiryo" panose="020B0604030504040204" pitchFamily="34" charset="-128"/>
                <a:ea typeface="Meiryo" panose="020B0604030504040204" pitchFamily="34" charset="-128"/>
              </a:rPr>
              <a:t>つまり、基本的な対策が不十分です</a:t>
            </a:r>
            <a:r>
              <a:rPr lang="en-US" altLang="ja-JP" sz="1600" dirty="0">
                <a:solidFill>
                  <a:schemeClr val="tx1"/>
                </a:solidFill>
                <a:latin typeface="Meiryo" panose="020B0604030504040204" pitchFamily="34" charset="-128"/>
                <a:ea typeface="Meiryo" panose="020B0604030504040204" pitchFamily="34" charset="-128"/>
              </a:rPr>
              <a:t>.</a:t>
            </a:r>
            <a:endParaRPr lang="ja-JP" altLang="en-US" sz="1600">
              <a:solidFill>
                <a:schemeClr val="tx1"/>
              </a:solidFill>
              <a:latin typeface="Meiryo" panose="020B0604030504040204" pitchFamily="34" charset="-128"/>
              <a:ea typeface="Meiryo" panose="020B0604030504040204" pitchFamily="34" charset="-128"/>
            </a:endParaRPr>
          </a:p>
          <a:p>
            <a:pPr algn="ctr"/>
            <a:endParaRPr lang="en-JP" sz="1600" dirty="0">
              <a:solidFill>
                <a:schemeClr val="tx1"/>
              </a:solidFill>
            </a:endParaRPr>
          </a:p>
        </p:txBody>
      </p:sp>
      <p:sp>
        <p:nvSpPr>
          <p:cNvPr id="8" name="Rounded Rectangle 7">
            <a:extLst>
              <a:ext uri="{FF2B5EF4-FFF2-40B4-BE49-F238E27FC236}">
                <a16:creationId xmlns:a16="http://schemas.microsoft.com/office/drawing/2014/main" id="{E7B184B0-45EE-CDC3-7CDF-55E5DB6BB229}"/>
              </a:ext>
            </a:extLst>
          </p:cNvPr>
          <p:cNvSpPr/>
          <p:nvPr/>
        </p:nvSpPr>
        <p:spPr>
          <a:xfrm>
            <a:off x="0" y="4333876"/>
            <a:ext cx="2914650" cy="200025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tx1"/>
                </a:solidFill>
                <a:latin typeface="Meiryo" panose="020B0604030504040204" pitchFamily="34" charset="-128"/>
                <a:ea typeface="Meiryo" panose="020B0604030504040204" pitchFamily="34" charset="-128"/>
              </a:rPr>
              <a:t>攻撃されやすい</a:t>
            </a:r>
            <a:r>
              <a:rPr lang="en-US" altLang="ja-JP" b="1" dirty="0">
                <a:solidFill>
                  <a:schemeClr val="tx1"/>
                </a:solidFill>
                <a:latin typeface="Meiryo" panose="020B0604030504040204" pitchFamily="34" charset="-128"/>
                <a:ea typeface="Meiryo" panose="020B0604030504040204" pitchFamily="34" charset="-128"/>
              </a:rPr>
              <a:t> </a:t>
            </a:r>
            <a:r>
              <a:rPr lang="en-US" altLang="ja-JP" sz="1200" dirty="0">
                <a:solidFill>
                  <a:schemeClr val="tx1"/>
                </a:solidFill>
                <a:latin typeface="Meiryo" panose="020B0604030504040204" pitchFamily="34" charset="-128"/>
                <a:ea typeface="Meiryo" panose="020B0604030504040204" pitchFamily="34" charset="-128"/>
              </a:rPr>
              <a:t>[6]</a:t>
            </a:r>
            <a:br>
              <a:rPr lang="en-JP" sz="1600" dirty="0">
                <a:solidFill>
                  <a:schemeClr val="tx1"/>
                </a:solidFill>
                <a:latin typeface="Meiryo" panose="020B0604030504040204" pitchFamily="34" charset="-128"/>
                <a:ea typeface="Meiryo" panose="020B0604030504040204" pitchFamily="34" charset="-128"/>
              </a:rPr>
            </a:br>
            <a:r>
              <a:rPr lang="ja-JP" altLang="en-US" sz="1600">
                <a:solidFill>
                  <a:schemeClr val="tx1"/>
                </a:solidFill>
                <a:latin typeface="Meiryo" panose="020B0604030504040204" pitchFamily="34" charset="-128"/>
                <a:ea typeface="Meiryo" panose="020B0604030504040204" pitchFamily="34" charset="-128"/>
              </a:rPr>
              <a:t>さらに、スマートホームは攻撃されやすい環境です</a:t>
            </a:r>
            <a:br>
              <a:rPr lang="ja-JP" altLang="en-US" sz="1600">
                <a:solidFill>
                  <a:schemeClr val="tx1"/>
                </a:solidFill>
                <a:latin typeface="Meiryo" panose="020B0604030504040204" pitchFamily="34" charset="-128"/>
                <a:ea typeface="Meiryo" panose="020B0604030504040204" pitchFamily="34" charset="-128"/>
              </a:rPr>
            </a:br>
            <a:r>
              <a:rPr lang="en-US" altLang="ja-JP" sz="1600" dirty="0">
                <a:solidFill>
                  <a:schemeClr val="tx1"/>
                </a:solidFill>
                <a:latin typeface="Meiryo" panose="020B0604030504040204" pitchFamily="34" charset="-128"/>
                <a:ea typeface="Meiryo" panose="020B0604030504040204" pitchFamily="34" charset="-128"/>
              </a:rPr>
              <a:t>1</a:t>
            </a:r>
            <a:r>
              <a:rPr lang="ja-JP" altLang="en-US" sz="1600">
                <a:solidFill>
                  <a:schemeClr val="tx1"/>
                </a:solidFill>
                <a:latin typeface="Meiryo" panose="020B0604030504040204" pitchFamily="34" charset="-128"/>
                <a:ea typeface="Meiryo" panose="020B0604030504040204" pitchFamily="34" charset="-128"/>
              </a:rPr>
              <a:t>週間で</a:t>
            </a:r>
            <a:r>
              <a:rPr lang="en-US" altLang="ja-JP" sz="1600" dirty="0">
                <a:solidFill>
                  <a:schemeClr val="tx1"/>
                </a:solidFill>
                <a:latin typeface="Meiryo" panose="020B0604030504040204" pitchFamily="34" charset="-128"/>
                <a:ea typeface="Meiryo" panose="020B0604030504040204" pitchFamily="34" charset="-128"/>
              </a:rPr>
              <a:t>1</a:t>
            </a:r>
            <a:r>
              <a:rPr lang="ja-JP" altLang="en-US" sz="1600">
                <a:solidFill>
                  <a:schemeClr val="tx1"/>
                </a:solidFill>
                <a:latin typeface="Meiryo" panose="020B0604030504040204" pitchFamily="34" charset="-128"/>
                <a:ea typeface="Meiryo" panose="020B0604030504040204" pitchFamily="34" charset="-128"/>
              </a:rPr>
              <a:t>万件以上の攻撃が確認されています</a:t>
            </a:r>
            <a:br>
              <a:rPr lang="ja-JP" altLang="en-US" sz="1600">
                <a:solidFill>
                  <a:schemeClr val="tx1"/>
                </a:solidFill>
                <a:latin typeface="Meiryo" panose="020B0604030504040204" pitchFamily="34" charset="-128"/>
                <a:ea typeface="Meiryo" panose="020B0604030504040204" pitchFamily="34" charset="-128"/>
              </a:rPr>
            </a:br>
            <a:r>
              <a:rPr lang="ja-JP" altLang="en-US" sz="1600">
                <a:solidFill>
                  <a:schemeClr val="tx1"/>
                </a:solidFill>
                <a:latin typeface="Meiryo" panose="020B0604030504040204" pitchFamily="34" charset="-128"/>
                <a:ea typeface="Meiryo" panose="020B0604030504040204" pitchFamily="34" charset="-128"/>
              </a:rPr>
              <a:t>特に、</a:t>
            </a:r>
            <a:r>
              <a:rPr lang="en-US" altLang="ja-JP" sz="1600" dirty="0">
                <a:solidFill>
                  <a:schemeClr val="tx1"/>
                </a:solidFill>
                <a:latin typeface="Meiryo" panose="020B0604030504040204" pitchFamily="34" charset="-128"/>
                <a:ea typeface="Meiryo" panose="020B0604030504040204" pitchFamily="34" charset="-128"/>
              </a:rPr>
              <a:t>default</a:t>
            </a:r>
            <a:r>
              <a:rPr lang="ja-JP" altLang="en-US" sz="1600">
                <a:solidFill>
                  <a:schemeClr val="tx1"/>
                </a:solidFill>
                <a:latin typeface="Meiryo" panose="020B0604030504040204" pitchFamily="34" charset="-128"/>
                <a:ea typeface="Meiryo" panose="020B0604030504040204" pitchFamily="34" charset="-128"/>
              </a:rPr>
              <a:t>パスワードが狙われています</a:t>
            </a:r>
            <a:r>
              <a:rPr lang="en-US" altLang="ja-JP" sz="1600" b="1" dirty="0">
                <a:solidFill>
                  <a:schemeClr val="tx1"/>
                </a:solidFill>
                <a:latin typeface="Meiryo" panose="020B0604030504040204" pitchFamily="34" charset="-128"/>
                <a:ea typeface="Meiryo" panose="020B0604030504040204" pitchFamily="34" charset="-128"/>
              </a:rPr>
              <a:t>.</a:t>
            </a:r>
            <a:endParaRPr lang="ja-JP" altLang="en-US" sz="1600">
              <a:solidFill>
                <a:schemeClr val="tx1"/>
              </a:solidFill>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C9A75EC7-847D-59EF-8B65-AB5236536C39}"/>
              </a:ext>
            </a:extLst>
          </p:cNvPr>
          <p:cNvSpPr/>
          <p:nvPr/>
        </p:nvSpPr>
        <p:spPr>
          <a:xfrm>
            <a:off x="76201" y="1323975"/>
            <a:ext cx="2695576" cy="264795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tx1"/>
                </a:solidFill>
                <a:latin typeface="Meiryo" panose="020B0604030504040204" pitchFamily="34" charset="-128"/>
                <a:ea typeface="Meiryo" panose="020B0604030504040204" pitchFamily="34" charset="-128"/>
              </a:rPr>
              <a:t> デバイスの増加</a:t>
            </a:r>
            <a:r>
              <a:rPr lang="en-US" altLang="ja-JP" b="1" dirty="0">
                <a:solidFill>
                  <a:schemeClr val="tx1"/>
                </a:solidFill>
                <a:latin typeface="Meiryo" panose="020B0604030504040204" pitchFamily="34" charset="-128"/>
                <a:ea typeface="Meiryo" panose="020B0604030504040204" pitchFamily="34" charset="-128"/>
              </a:rPr>
              <a:t> </a:t>
            </a:r>
            <a:r>
              <a:rPr lang="en-US" altLang="ja-JP" sz="1200" dirty="0">
                <a:solidFill>
                  <a:schemeClr val="tx1"/>
                </a:solidFill>
                <a:latin typeface="Meiryo" panose="020B0604030504040204" pitchFamily="34" charset="-128"/>
                <a:ea typeface="Meiryo" panose="020B0604030504040204" pitchFamily="34" charset="-128"/>
              </a:rPr>
              <a:t>[4]</a:t>
            </a:r>
            <a:endParaRPr lang="en-JP" altLang="ja-JP" sz="1200" dirty="0">
              <a:solidFill>
                <a:schemeClr val="tx1"/>
              </a:solidFill>
              <a:latin typeface="Meiryo" panose="020B0604030504040204" pitchFamily="34" charset="-128"/>
              <a:ea typeface="Meiryo" panose="020B0604030504040204" pitchFamily="34" charset="-128"/>
            </a:endParaRPr>
          </a:p>
          <a:p>
            <a:r>
              <a:rPr lang="ja-JP" altLang="en-US">
                <a:solidFill>
                  <a:schemeClr val="tx1"/>
                </a:solidFill>
                <a:latin typeface="Meiryo" panose="020B0604030504040204" pitchFamily="34" charset="-128"/>
                <a:ea typeface="Meiryo" panose="020B0604030504040204" pitchFamily="34" charset="-128"/>
              </a:rPr>
              <a:t>まず、</a:t>
            </a:r>
            <a:r>
              <a:rPr lang="en-US" dirty="0">
                <a:solidFill>
                  <a:schemeClr val="tx1"/>
                </a:solidFill>
                <a:latin typeface="Meiryo" panose="020B0604030504040204" pitchFamily="34" charset="-128"/>
                <a:ea typeface="Meiryo" panose="020B0604030504040204" pitchFamily="34" charset="-128"/>
              </a:rPr>
              <a:t>IoT</a:t>
            </a:r>
            <a:r>
              <a:rPr lang="ja-JP" altLang="en-US">
                <a:solidFill>
                  <a:schemeClr val="tx1"/>
                </a:solidFill>
                <a:latin typeface="Meiryo" panose="020B0604030504040204" pitchFamily="34" charset="-128"/>
                <a:ea typeface="Meiryo" panose="020B0604030504040204" pitchFamily="34" charset="-128"/>
              </a:rPr>
              <a:t>機器の数が急増しています</a:t>
            </a:r>
            <a:r>
              <a:rPr lang="mn-MN" altLang="ja-JP" dirty="0">
                <a:solidFill>
                  <a:schemeClr val="tx1"/>
                </a:solidFill>
                <a:latin typeface="Meiryo" panose="020B0604030504040204" pitchFamily="34" charset="-128"/>
                <a:ea typeface="Meiryo" panose="020B0604030504040204" pitchFamily="34" charset="-128"/>
              </a:rPr>
              <a:t>.</a:t>
            </a:r>
            <a:br>
              <a:rPr lang="ja-JP" altLang="en-US">
                <a:solidFill>
                  <a:schemeClr val="tx1"/>
                </a:solidFill>
                <a:latin typeface="Meiryo" panose="020B0604030504040204" pitchFamily="34" charset="-128"/>
                <a:ea typeface="Meiryo" panose="020B0604030504040204" pitchFamily="34" charset="-128"/>
              </a:rPr>
            </a:br>
            <a:r>
              <a:rPr lang="en-US" altLang="ja-JP" dirty="0">
                <a:solidFill>
                  <a:schemeClr val="tx1"/>
                </a:solidFill>
                <a:latin typeface="Meiryo" panose="020B0604030504040204" pitchFamily="34" charset="-128"/>
                <a:ea typeface="Meiryo" panose="020B0604030504040204" pitchFamily="34" charset="-128"/>
              </a:rPr>
              <a:t>1</a:t>
            </a:r>
            <a:r>
              <a:rPr lang="ja-JP" altLang="en-US">
                <a:solidFill>
                  <a:schemeClr val="tx1"/>
                </a:solidFill>
                <a:latin typeface="Meiryo" panose="020B0604030504040204" pitchFamily="34" charset="-128"/>
                <a:ea typeface="Meiryo" panose="020B0604030504040204" pitchFamily="34" charset="-128"/>
              </a:rPr>
              <a:t>家庭あたり平均</a:t>
            </a:r>
            <a:r>
              <a:rPr lang="en-US" altLang="ja-JP" dirty="0">
                <a:solidFill>
                  <a:schemeClr val="tx1"/>
                </a:solidFill>
                <a:latin typeface="Meiryo" panose="020B0604030504040204" pitchFamily="34" charset="-128"/>
                <a:ea typeface="Meiryo" panose="020B0604030504040204" pitchFamily="34" charset="-128"/>
              </a:rPr>
              <a:t>21</a:t>
            </a:r>
            <a:r>
              <a:rPr lang="ja-JP" altLang="en-US">
                <a:solidFill>
                  <a:schemeClr val="tx1"/>
                </a:solidFill>
                <a:latin typeface="Meiryo" panose="020B0604030504040204" pitchFamily="34" charset="-128"/>
                <a:ea typeface="Meiryo" panose="020B0604030504040204" pitchFamily="34" charset="-128"/>
              </a:rPr>
              <a:t>台が接続されており、今後さらに増えると予測されています</a:t>
            </a:r>
            <a:r>
              <a:rPr lang="mn-MN" altLang="ja-JP" dirty="0">
                <a:solidFill>
                  <a:schemeClr val="tx1"/>
                </a:solidFill>
                <a:latin typeface="Meiryo" panose="020B0604030504040204" pitchFamily="34" charset="-128"/>
                <a:ea typeface="Meiryo" panose="020B0604030504040204" pitchFamily="34" charset="-128"/>
              </a:rPr>
              <a:t>.</a:t>
            </a:r>
            <a:r>
              <a:rPr lang="ja-JP" altLang="en-US">
                <a:solidFill>
                  <a:schemeClr val="tx1"/>
                </a:solidFill>
                <a:latin typeface="Meiryo" panose="020B0604030504040204" pitchFamily="34" charset="-128"/>
                <a:ea typeface="Meiryo" panose="020B0604030504040204" pitchFamily="34" charset="-128"/>
              </a:rPr>
              <a:t>そのため、攻撃対象も増加しています</a:t>
            </a:r>
            <a:r>
              <a:rPr lang="mn-MN" altLang="ja-JP" dirty="0">
                <a:solidFill>
                  <a:schemeClr val="tx1"/>
                </a:solidFill>
                <a:latin typeface="Meiryo" panose="020B0604030504040204" pitchFamily="34" charset="-128"/>
                <a:ea typeface="Meiryo" panose="020B0604030504040204" pitchFamily="34" charset="-128"/>
              </a:rPr>
              <a:t>.</a:t>
            </a:r>
            <a:endParaRPr lang="ja-JP" altLang="en-US">
              <a:solidFill>
                <a:schemeClr val="tx1"/>
              </a:solidFill>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6F1753CE-EE53-617C-7017-FEA3D2969ABF}"/>
              </a:ext>
            </a:extLst>
          </p:cNvPr>
          <p:cNvSpPr/>
          <p:nvPr/>
        </p:nvSpPr>
        <p:spPr>
          <a:xfrm>
            <a:off x="6229352" y="4333876"/>
            <a:ext cx="2914648" cy="2000250"/>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b="1" dirty="0">
                <a:solidFill>
                  <a:schemeClr val="tx1"/>
                </a:solidFill>
                <a:latin typeface="Meiryo" panose="020B0604030504040204" pitchFamily="34" charset="-128"/>
                <a:ea typeface="Meiryo" panose="020B0604030504040204" pitchFamily="34" charset="-128"/>
              </a:rPr>
              <a:t>      </a:t>
            </a:r>
          </a:p>
          <a:p>
            <a:r>
              <a:rPr lang="en-US" altLang="ja-JP" b="1" dirty="0">
                <a:solidFill>
                  <a:schemeClr val="tx1"/>
                </a:solidFill>
                <a:latin typeface="Meiryo" panose="020B0604030504040204" pitchFamily="34" charset="-128"/>
                <a:ea typeface="Meiryo" panose="020B0604030504040204" pitchFamily="34" charset="-128"/>
              </a:rPr>
              <a:t>     </a:t>
            </a:r>
            <a:r>
              <a:rPr lang="ja-JP" altLang="en-US" b="1">
                <a:solidFill>
                  <a:schemeClr val="tx1"/>
                </a:solidFill>
                <a:latin typeface="Meiryo" panose="020B0604030504040204" pitchFamily="34" charset="-128"/>
                <a:ea typeface="Meiryo" panose="020B0604030504040204" pitchFamily="34" charset="-128"/>
              </a:rPr>
              <a:t>検知不足</a:t>
            </a:r>
            <a:r>
              <a:rPr lang="en-US" altLang="ja-JP" b="1" dirty="0">
                <a:solidFill>
                  <a:schemeClr val="tx1"/>
                </a:solidFill>
                <a:latin typeface="Meiryo" panose="020B0604030504040204" pitchFamily="34" charset="-128"/>
                <a:ea typeface="Meiryo" panose="020B0604030504040204" pitchFamily="34" charset="-128"/>
              </a:rPr>
              <a:t> </a:t>
            </a:r>
            <a:r>
              <a:rPr lang="en-US" altLang="ja-JP" sz="1200" dirty="0">
                <a:solidFill>
                  <a:schemeClr val="tx1"/>
                </a:solidFill>
                <a:latin typeface="Meiryo" panose="020B0604030504040204" pitchFamily="34" charset="-128"/>
                <a:ea typeface="Meiryo" panose="020B0604030504040204" pitchFamily="34" charset="-128"/>
              </a:rPr>
              <a:t>[7] </a:t>
            </a:r>
            <a:endParaRPr lang="ja-JP" altLang="en-US" sz="1200" b="1">
              <a:solidFill>
                <a:schemeClr val="tx1"/>
              </a:solidFill>
              <a:latin typeface="Meiryo" panose="020B0604030504040204" pitchFamily="34" charset="-128"/>
              <a:ea typeface="Meiryo" panose="020B0604030504040204" pitchFamily="34" charset="-128"/>
            </a:endParaRPr>
          </a:p>
          <a:p>
            <a:r>
              <a:rPr lang="ja-JP" altLang="en-US" sz="1600">
                <a:solidFill>
                  <a:schemeClr val="tx1"/>
                </a:solidFill>
                <a:latin typeface="Meiryo" panose="020B0604030504040204" pitchFamily="34" charset="-128"/>
                <a:ea typeface="Meiryo" panose="020B0604030504040204" pitchFamily="34" charset="-128"/>
              </a:rPr>
              <a:t>最後に、攻撃は長時間気づかれない場合があります</a:t>
            </a:r>
            <a:r>
              <a:rPr lang="en-US" altLang="ja-JP" sz="1600" dirty="0">
                <a:solidFill>
                  <a:schemeClr val="tx1"/>
                </a:solidFill>
                <a:latin typeface="Meiryo" panose="020B0604030504040204" pitchFamily="34" charset="-128"/>
                <a:ea typeface="Meiryo" panose="020B0604030504040204" pitchFamily="34" charset="-128"/>
              </a:rPr>
              <a:t>.</a:t>
            </a:r>
            <a:r>
              <a:rPr lang="ja-JP" altLang="en-US" sz="1600">
                <a:solidFill>
                  <a:schemeClr val="tx1"/>
                </a:solidFill>
                <a:latin typeface="Meiryo" panose="020B0604030504040204" pitchFamily="34" charset="-128"/>
                <a:ea typeface="Meiryo" panose="020B0604030504040204" pitchFamily="34" charset="-128"/>
              </a:rPr>
              <a:t>平均で週に約</a:t>
            </a:r>
            <a:r>
              <a:rPr lang="en-US" altLang="ja-JP" sz="1600" dirty="0">
                <a:solidFill>
                  <a:schemeClr val="tx1"/>
                </a:solidFill>
                <a:latin typeface="Meiryo" panose="020B0604030504040204" pitchFamily="34" charset="-128"/>
                <a:ea typeface="Meiryo" panose="020B0604030504040204" pitchFamily="34" charset="-128"/>
              </a:rPr>
              <a:t>52</a:t>
            </a:r>
            <a:r>
              <a:rPr lang="ja-JP" altLang="en-US" sz="1600">
                <a:solidFill>
                  <a:schemeClr val="tx1"/>
                </a:solidFill>
                <a:latin typeface="Meiryo" panose="020B0604030504040204" pitchFamily="34" charset="-128"/>
                <a:ea typeface="Meiryo" panose="020B0604030504040204" pitchFamily="34" charset="-128"/>
              </a:rPr>
              <a:t>時間も継続します</a:t>
            </a:r>
            <a:r>
              <a:rPr lang="en-US" altLang="ja-JP" sz="1600" dirty="0">
                <a:solidFill>
                  <a:schemeClr val="tx1"/>
                </a:solidFill>
                <a:latin typeface="Meiryo" panose="020B0604030504040204" pitchFamily="34" charset="-128"/>
                <a:ea typeface="Meiryo" panose="020B0604030504040204" pitchFamily="34" charset="-128"/>
              </a:rPr>
              <a:t>.</a:t>
            </a:r>
            <a:r>
              <a:rPr lang="ja-JP" altLang="en-US" sz="1600">
                <a:solidFill>
                  <a:schemeClr val="tx1"/>
                </a:solidFill>
                <a:latin typeface="Meiryo" panose="020B0604030504040204" pitchFamily="34" charset="-128"/>
                <a:ea typeface="Meiryo" panose="020B0604030504040204" pitchFamily="34" charset="-128"/>
              </a:rPr>
              <a:t>これは監視が不十分であることを示しています</a:t>
            </a:r>
            <a:r>
              <a:rPr lang="en-US" altLang="ja-JP" sz="1600" dirty="0">
                <a:solidFill>
                  <a:schemeClr val="tx1"/>
                </a:solidFill>
                <a:latin typeface="Meiryo" panose="020B0604030504040204" pitchFamily="34" charset="-128"/>
                <a:ea typeface="Meiryo" panose="020B0604030504040204" pitchFamily="34" charset="-128"/>
              </a:rPr>
              <a:t>.</a:t>
            </a:r>
            <a:endParaRPr lang="ja-JP" altLang="en-US" sz="1600">
              <a:solidFill>
                <a:schemeClr val="tx1"/>
              </a:solidFill>
              <a:latin typeface="Meiryo" panose="020B0604030504040204" pitchFamily="34" charset="-128"/>
              <a:ea typeface="Meiryo" panose="020B0604030504040204" pitchFamily="34" charset="-128"/>
            </a:endParaRPr>
          </a:p>
          <a:p>
            <a:pPr algn="ctr"/>
            <a:endParaRPr lang="en-JP" sz="1600" dirty="0">
              <a:solidFill>
                <a:schemeClr val="tx1"/>
              </a:solidFill>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E2434362-CD2B-9928-F54A-8602592261B3}"/>
              </a:ext>
            </a:extLst>
          </p:cNvPr>
          <p:cNvSpPr txBox="1"/>
          <p:nvPr/>
        </p:nvSpPr>
        <p:spPr>
          <a:xfrm>
            <a:off x="76200" y="6362700"/>
            <a:ext cx="8372475" cy="430887"/>
          </a:xfrm>
          <a:prstGeom prst="rect">
            <a:avLst/>
          </a:prstGeom>
          <a:noFill/>
        </p:spPr>
        <p:txBody>
          <a:bodyPr wrap="square" rtlCol="0">
            <a:spAutoFit/>
          </a:bodyPr>
          <a:lstStyle/>
          <a:p>
            <a:r>
              <a:rPr lang="en-US" sz="1100" dirty="0"/>
              <a:t>[4_]NETGEAR IoT Threat </a:t>
            </a:r>
            <a:r>
              <a:rPr lang="en-US" sz="1100" dirty="0" err="1"/>
              <a:t>Report</a:t>
            </a:r>
            <a:r>
              <a:rPr lang="en-US" sz="1100" dirty="0" err="1">
                <a:hlinkClick r:id="rId3"/>
              </a:rPr>
              <a:t>https</a:t>
            </a:r>
            <a:r>
              <a:rPr lang="en-US" sz="1100" dirty="0">
                <a:hlinkClick r:id="rId3"/>
              </a:rPr>
              <a:t>://www.netgear.com/hub/network/security/iot-threat-report-25/,</a:t>
            </a:r>
            <a:r>
              <a:rPr lang="en-US" sz="1100" dirty="0"/>
              <a:t>   [5] CE Pro report , [6] </a:t>
            </a:r>
            <a:r>
              <a:rPr lang="en-US" sz="1100" dirty="0" err="1"/>
              <a:t>Infosecurity</a:t>
            </a:r>
            <a:r>
              <a:rPr lang="en-US" sz="1100" dirty="0"/>
              <a:t>            [7] Magazine article Wireless Communications Alliance related report</a:t>
            </a:r>
            <a:endParaRPr lang="en-JP" sz="1100" dirty="0"/>
          </a:p>
        </p:txBody>
      </p:sp>
      <p:sp>
        <p:nvSpPr>
          <p:cNvPr id="13" name="Slide Number Placeholder 12">
            <a:extLst>
              <a:ext uri="{FF2B5EF4-FFF2-40B4-BE49-F238E27FC236}">
                <a16:creationId xmlns:a16="http://schemas.microsoft.com/office/drawing/2014/main" id="{90BD53A3-BFB1-BC84-52D0-42F62735D390}"/>
              </a:ext>
            </a:extLst>
          </p:cNvPr>
          <p:cNvSpPr>
            <a:spLocks noGrp="1"/>
          </p:cNvSpPr>
          <p:nvPr>
            <p:ph type="sldNum" sz="quarter" idx="12"/>
          </p:nvPr>
        </p:nvSpPr>
        <p:spPr/>
        <p:txBody>
          <a:bodyPr/>
          <a:lstStyle/>
          <a:p>
            <a:fld id="{828F3BD4-1AF2-D144-8129-4D42AD448F5E}" type="slidenum">
              <a:rPr lang="en-JP" smtClean="0"/>
              <a:t>5</a:t>
            </a:fld>
            <a:endParaRPr lang="en-JP"/>
          </a:p>
        </p:txBody>
      </p:sp>
    </p:spTree>
    <p:extLst>
      <p:ext uri="{BB962C8B-B14F-4D97-AF65-F5344CB8AC3E}">
        <p14:creationId xmlns:p14="http://schemas.microsoft.com/office/powerpoint/2010/main" val="39970819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2B230842-D738-F9B1-AD04-F85CCC0909BE}"/>
              </a:ext>
            </a:extLst>
          </p:cNvPr>
          <p:cNvSpPr/>
          <p:nvPr/>
        </p:nvSpPr>
        <p:spPr>
          <a:xfrm>
            <a:off x="3320717" y="1251284"/>
            <a:ext cx="2065420" cy="1034716"/>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eiryo" panose="020B0604030504040204" pitchFamily="34" charset="-128"/>
                <a:ea typeface="Meiryo" panose="020B0604030504040204" pitchFamily="34" charset="-128"/>
              </a:rPr>
              <a:t>CoAP</a:t>
            </a:r>
            <a:endParaRPr lang="en-JP" sz="2400" b="1" dirty="0">
              <a:solidFill>
                <a:schemeClr val="tx1"/>
              </a:solidFill>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FD2CE14D-9EC6-2835-69F7-E237BB8FE814}"/>
              </a:ext>
            </a:extLst>
          </p:cNvPr>
          <p:cNvSpPr/>
          <p:nvPr/>
        </p:nvSpPr>
        <p:spPr>
          <a:xfrm>
            <a:off x="647703" y="1251284"/>
            <a:ext cx="2065420" cy="103471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DTLS</a:t>
            </a:r>
            <a:endParaRPr lang="en-JP" sz="2000" b="1" dirty="0">
              <a:solidFill>
                <a:schemeClr val="tx1"/>
              </a:solidFill>
              <a:latin typeface="Meiryo" panose="020B0604030504040204" pitchFamily="34" charset="-128"/>
              <a:ea typeface="Meiryo" panose="020B0604030504040204" pitchFamily="34" charset="-128"/>
            </a:endParaRPr>
          </a:p>
        </p:txBody>
      </p:sp>
      <p:sp>
        <p:nvSpPr>
          <p:cNvPr id="8" name="Rounded Rectangle 7">
            <a:extLst>
              <a:ext uri="{FF2B5EF4-FFF2-40B4-BE49-F238E27FC236}">
                <a16:creationId xmlns:a16="http://schemas.microsoft.com/office/drawing/2014/main" id="{3E6A7065-1924-B7EA-A4A6-78C99EA80EEB}"/>
              </a:ext>
            </a:extLst>
          </p:cNvPr>
          <p:cNvSpPr/>
          <p:nvPr/>
        </p:nvSpPr>
        <p:spPr>
          <a:xfrm>
            <a:off x="5993731" y="1251284"/>
            <a:ext cx="2065420" cy="1034716"/>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Meiryo" panose="020B0604030504040204" pitchFamily="34" charset="-128"/>
                <a:ea typeface="Meiryo" panose="020B0604030504040204" pitchFamily="34" charset="-128"/>
              </a:rPr>
              <a:t>ML-I</a:t>
            </a:r>
            <a:r>
              <a:rPr lang="mn-MN" b="1" dirty="0">
                <a:solidFill>
                  <a:schemeClr val="tx1"/>
                </a:solidFill>
                <a:latin typeface="Meiryo" panose="020B0604030504040204" pitchFamily="34" charset="-128"/>
                <a:ea typeface="Meiryo" panose="020B0604030504040204" pitchFamily="34" charset="-128"/>
              </a:rPr>
              <a:t>P</a:t>
            </a:r>
            <a:r>
              <a:rPr lang="en-US" b="1" dirty="0">
                <a:solidFill>
                  <a:schemeClr val="tx1"/>
                </a:solidFill>
                <a:latin typeface="Meiryo" panose="020B0604030504040204" pitchFamily="34" charset="-128"/>
                <a:ea typeface="Meiryo" panose="020B0604030504040204" pitchFamily="34" charset="-128"/>
              </a:rPr>
              <a:t>S</a:t>
            </a:r>
            <a:endParaRPr lang="en-JP" sz="1800" b="1" dirty="0">
              <a:solidFill>
                <a:schemeClr val="tx1"/>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69FACAE6-7F5B-B7F3-A59B-59087D5AC791}"/>
              </a:ext>
            </a:extLst>
          </p:cNvPr>
          <p:cNvSpPr txBox="1"/>
          <p:nvPr/>
        </p:nvSpPr>
        <p:spPr>
          <a:xfrm>
            <a:off x="6424864" y="2835261"/>
            <a:ext cx="2065420"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攻撃を検知</a:t>
            </a:r>
            <a:endParaRPr lang="en-JP" sz="2000"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391BAEEA-F6BF-E207-B05A-A468B7D7ECDE}"/>
              </a:ext>
            </a:extLst>
          </p:cNvPr>
          <p:cNvSpPr txBox="1"/>
          <p:nvPr/>
        </p:nvSpPr>
        <p:spPr>
          <a:xfrm>
            <a:off x="3545304" y="2688669"/>
            <a:ext cx="2279985"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軽量プロトコル</a:t>
            </a:r>
            <a:endParaRPr lang="en-JP" sz="2000" dirty="0">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A5960195-7A5A-817B-FEBD-E2756F4CA2FF}"/>
              </a:ext>
            </a:extLst>
          </p:cNvPr>
          <p:cNvSpPr txBox="1"/>
          <p:nvPr/>
        </p:nvSpPr>
        <p:spPr>
          <a:xfrm>
            <a:off x="647703" y="2744604"/>
            <a:ext cx="2382253"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暗号化による保護</a:t>
            </a:r>
            <a:endParaRPr lang="en-JP" sz="2000" dirty="0">
              <a:latin typeface="Meiryo" panose="020B0604030504040204" pitchFamily="34" charset="-128"/>
              <a:ea typeface="Meiryo" panose="020B0604030504040204" pitchFamily="34" charset="-128"/>
            </a:endParaRPr>
          </a:p>
        </p:txBody>
      </p:sp>
      <p:sp>
        <p:nvSpPr>
          <p:cNvPr id="16" name="TextBox 15">
            <a:extLst>
              <a:ext uri="{FF2B5EF4-FFF2-40B4-BE49-F238E27FC236}">
                <a16:creationId xmlns:a16="http://schemas.microsoft.com/office/drawing/2014/main" id="{2D6D4762-4C77-8917-6700-FCFE0061A2C4}"/>
              </a:ext>
            </a:extLst>
          </p:cNvPr>
          <p:cNvSpPr txBox="1"/>
          <p:nvPr/>
        </p:nvSpPr>
        <p:spPr>
          <a:xfrm>
            <a:off x="400482" y="3418549"/>
            <a:ext cx="4814634"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しかし，各技術を単独で使用した場合：</a:t>
            </a:r>
            <a:endParaRPr lang="en-JP" sz="2000" dirty="0">
              <a:latin typeface="Meiryo" panose="020B0604030504040204" pitchFamily="34" charset="-128"/>
              <a:ea typeface="Meiryo" panose="020B0604030504040204" pitchFamily="34" charset="-128"/>
            </a:endParaRPr>
          </a:p>
        </p:txBody>
      </p:sp>
      <p:sp>
        <p:nvSpPr>
          <p:cNvPr id="17" name="Down Arrow 16">
            <a:extLst>
              <a:ext uri="{FF2B5EF4-FFF2-40B4-BE49-F238E27FC236}">
                <a16:creationId xmlns:a16="http://schemas.microsoft.com/office/drawing/2014/main" id="{DD666D4F-993A-4DC4-AE80-78A368FBF652}"/>
              </a:ext>
            </a:extLst>
          </p:cNvPr>
          <p:cNvSpPr/>
          <p:nvPr/>
        </p:nvSpPr>
        <p:spPr>
          <a:xfrm>
            <a:off x="1584111" y="2502568"/>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8" name="Down Arrow 17">
            <a:extLst>
              <a:ext uri="{FF2B5EF4-FFF2-40B4-BE49-F238E27FC236}">
                <a16:creationId xmlns:a16="http://schemas.microsoft.com/office/drawing/2014/main" id="{45A57AB4-C54D-0989-7999-016066268C4B}"/>
              </a:ext>
            </a:extLst>
          </p:cNvPr>
          <p:cNvSpPr/>
          <p:nvPr/>
        </p:nvSpPr>
        <p:spPr>
          <a:xfrm>
            <a:off x="4325305" y="2410110"/>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9" name="Down Arrow 18">
            <a:extLst>
              <a:ext uri="{FF2B5EF4-FFF2-40B4-BE49-F238E27FC236}">
                <a16:creationId xmlns:a16="http://schemas.microsoft.com/office/drawing/2014/main" id="{709BEFC5-764E-85D0-CE1E-BA49785BA89C}"/>
              </a:ext>
            </a:extLst>
          </p:cNvPr>
          <p:cNvSpPr/>
          <p:nvPr/>
        </p:nvSpPr>
        <p:spPr>
          <a:xfrm>
            <a:off x="7128711" y="2504517"/>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21" name="TextBox 20">
            <a:extLst>
              <a:ext uri="{FF2B5EF4-FFF2-40B4-BE49-F238E27FC236}">
                <a16:creationId xmlns:a16="http://schemas.microsoft.com/office/drawing/2014/main" id="{76A6991C-3973-3279-FF0A-569E9199615A}"/>
              </a:ext>
            </a:extLst>
          </p:cNvPr>
          <p:cNvSpPr txBox="1"/>
          <p:nvPr/>
        </p:nvSpPr>
        <p:spPr>
          <a:xfrm>
            <a:off x="136072" y="4140013"/>
            <a:ext cx="8871856" cy="2308324"/>
          </a:xfrm>
          <a:prstGeom prst="rect">
            <a:avLst/>
          </a:prstGeom>
          <a:noFill/>
        </p:spPr>
        <p:txBody>
          <a:bodyPr wrap="square">
            <a:spAutoFit/>
          </a:bodyPr>
          <a:lstStyle/>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CoAP</a:t>
            </a:r>
            <a:r>
              <a:rPr lang="ja-JP" altLang="en-US" sz="2400">
                <a:latin typeface="Meiryo" panose="020B0604030504040204" pitchFamily="34" charset="-128"/>
                <a:ea typeface="Meiryo" panose="020B0604030504040204" pitchFamily="34" charset="-128"/>
              </a:rPr>
              <a:t>単体 </a:t>
            </a:r>
            <a:r>
              <a:rPr lang="en-US"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通信は可能だが、暗号化もセキュリティもない</a:t>
            </a:r>
            <a:endParaRPr lang="mn-MN"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単体 </a:t>
            </a:r>
            <a:r>
              <a:rPr lang="en-US" altLang="ja-JP" sz="2400" dirty="0">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ペイロードは守れるが、</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スプーフィングは防げない</a:t>
            </a:r>
            <a:endParaRPr lang="mn-MN" altLang="ja-JP" sz="2400" dirty="0">
              <a:latin typeface="Meiryo" panose="020B0604030504040204" pitchFamily="34" charset="-128"/>
              <a:ea typeface="Meiryo" panose="020B0604030504040204" pitchFamily="34" charset="-128"/>
            </a:endParaRPr>
          </a:p>
          <a:p>
            <a:pPr marL="342900" indent="-342900">
              <a:buFont typeface="Wingdings" pitchFamily="2" charset="2"/>
              <a:buChar char="§"/>
            </a:pPr>
            <a:endParaRPr lang="ja-JP" altLang="en-US" sz="2400">
              <a:latin typeface="Meiryo" panose="020B0604030504040204" pitchFamily="34" charset="-128"/>
              <a:ea typeface="Meiryo" panose="020B0604030504040204" pitchFamily="34" charset="-128"/>
            </a:endParaRPr>
          </a:p>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ML-IPS</a:t>
            </a:r>
            <a:r>
              <a:rPr lang="ja-JP" altLang="en-US" sz="2400">
                <a:latin typeface="Meiryo" panose="020B0604030504040204" pitchFamily="34" charset="-128"/>
                <a:ea typeface="Meiryo" panose="020B0604030504040204" pitchFamily="34" charset="-128"/>
              </a:rPr>
              <a:t>単体 </a:t>
            </a:r>
            <a:r>
              <a:rPr lang="en-US" altLang="ja-JP" sz="2400" dirty="0">
                <a:latin typeface="Meiryo" panose="020B0604030504040204" pitchFamily="34" charset="-128"/>
                <a:ea typeface="Meiryo" panose="020B0604030504040204" pitchFamily="34" charset="-128"/>
              </a:rPr>
              <a:t>— </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は検知できるが、ペイロードは無防備</a:t>
            </a:r>
            <a:endParaRPr lang="en-JP" sz="2400" dirty="0">
              <a:latin typeface="Meiryo" panose="020B0604030504040204" pitchFamily="34" charset="-128"/>
              <a:ea typeface="Meiryo" panose="020B0604030504040204" pitchFamily="34" charset="-128"/>
            </a:endParaRPr>
          </a:p>
        </p:txBody>
      </p:sp>
      <p:sp>
        <p:nvSpPr>
          <p:cNvPr id="24" name="Shape 0">
            <a:extLst>
              <a:ext uri="{FF2B5EF4-FFF2-40B4-BE49-F238E27FC236}">
                <a16:creationId xmlns:a16="http://schemas.microsoft.com/office/drawing/2014/main" id="{0AEAE166-0D67-431D-8D86-E7A66DCBEC38}"/>
              </a:ext>
            </a:extLst>
          </p:cNvPr>
          <p:cNvSpPr/>
          <p:nvPr/>
        </p:nvSpPr>
        <p:spPr>
          <a:xfrm>
            <a:off x="0" y="0"/>
            <a:ext cx="9144000" cy="68580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Ø"/>
            </a:pPr>
            <a:r>
              <a:rPr lang="ja-JP" altLang="en-US" sz="3200" b="1">
                <a:latin typeface="Meiryo" panose="020B0604030504040204" pitchFamily="34" charset="-128"/>
                <a:ea typeface="Meiryo" panose="020B0604030504040204" pitchFamily="34" charset="-128"/>
              </a:rPr>
              <a:t>既存技術</a:t>
            </a:r>
            <a:endParaRPr lang="en-JP" sz="3200" b="1" dirty="0">
              <a:latin typeface="Meiryo" panose="020B0604030504040204" pitchFamily="34" charset="-128"/>
              <a:ea typeface="Meiryo" panose="020B0604030504040204" pitchFamily="34" charset="-128"/>
            </a:endParaRPr>
          </a:p>
          <a:p>
            <a:pPr marL="457200" indent="-457200">
              <a:buFont typeface="Wingdings" pitchFamily="2" charset="2"/>
              <a:buChar char="Ø"/>
            </a:pPr>
            <a:endParaRPr lang="en-JP" sz="3200" b="1" dirty="0">
              <a:latin typeface="Meiryo" panose="020B0604030504040204" pitchFamily="34" charset="-128"/>
              <a:ea typeface="Meiryo" panose="020B0604030504040204" pitchFamily="34" charset="-128"/>
            </a:endParaRPr>
          </a:p>
        </p:txBody>
      </p:sp>
      <p:sp>
        <p:nvSpPr>
          <p:cNvPr id="25" name="Slide Number Placeholder 24">
            <a:extLst>
              <a:ext uri="{FF2B5EF4-FFF2-40B4-BE49-F238E27FC236}">
                <a16:creationId xmlns:a16="http://schemas.microsoft.com/office/drawing/2014/main" id="{7DE6349A-5EC5-31CE-903F-106FBEC17B5E}"/>
              </a:ext>
            </a:extLst>
          </p:cNvPr>
          <p:cNvSpPr>
            <a:spLocks noGrp="1"/>
          </p:cNvSpPr>
          <p:nvPr>
            <p:ph type="sldNum" sz="quarter" idx="12"/>
          </p:nvPr>
        </p:nvSpPr>
        <p:spPr/>
        <p:txBody>
          <a:bodyPr/>
          <a:lstStyle/>
          <a:p>
            <a:fld id="{828F3BD4-1AF2-D144-8129-4D42AD448F5E}" type="slidenum">
              <a:rPr lang="en-JP" smtClean="0"/>
              <a:t>6</a:t>
            </a:fld>
            <a:endParaRPr lang="en-JP" dirty="0"/>
          </a:p>
        </p:txBody>
      </p:sp>
    </p:spTree>
    <p:extLst>
      <p:ext uri="{BB962C8B-B14F-4D97-AF65-F5344CB8AC3E}">
        <p14:creationId xmlns:p14="http://schemas.microsoft.com/office/powerpoint/2010/main" val="4181540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研究目的     </a:t>
            </a:r>
            <a:endParaRPr lang="en-US"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2800">
                <a:latin typeface="Meiryo" panose="020B0604030504040204" pitchFamily="34" charset="-128"/>
                <a:ea typeface="Meiryo" panose="020B0604030504040204" pitchFamily="34" charset="-128"/>
              </a:rPr>
              <a:t>提案</a:t>
            </a:r>
            <a:r>
              <a:rPr lang="ja-JP" altLang="en-US" sz="2800" i="0" u="none" strike="noStrike">
                <a:solidFill>
                  <a:srgbClr val="000000"/>
                </a:solidFill>
                <a:effectLst/>
                <a:latin typeface="Meiryo" panose="020B0604030504040204" pitchFamily="34" charset="-128"/>
                <a:ea typeface="Meiryo" panose="020B0604030504040204" pitchFamily="34" charset="-128"/>
              </a:rPr>
              <a:t>システム</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7</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2843285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59FCD8A0-D63D-788C-EE59-14CA850726AF}"/>
              </a:ext>
            </a:extLst>
          </p:cNvPr>
          <p:cNvSpPr/>
          <p:nvPr/>
        </p:nvSpPr>
        <p:spPr>
          <a:xfrm>
            <a:off x="0" y="0"/>
            <a:ext cx="9144000" cy="685800"/>
          </a:xfrm>
          <a:prstGeom prst="rect">
            <a:avLst/>
          </a:prstGeom>
          <a:solidFill>
            <a:srgbClr val="1E3A5F"/>
          </a:solidFill>
          <a:ln w="12700">
            <a:solidFill>
              <a:srgbClr val="1E3A5F"/>
            </a:solidFill>
            <a:prstDash val="solid"/>
          </a:ln>
        </p:spPr>
        <p:txBody>
          <a:bodyPr/>
          <a:lstStyle/>
          <a:p>
            <a:r>
              <a:rPr lang="en-US" sz="1800" b="1" dirty="0">
                <a:solidFill>
                  <a:srgbClr val="FFFFFF"/>
                </a:solidFill>
                <a:latin typeface="Meiryo" panose="020B0604030504040204" pitchFamily="34" charset="-128"/>
                <a:ea typeface="Meiryo" panose="020B0604030504040204" pitchFamily="34" charset="-128"/>
                <a:cs typeface="Calibri" pitchFamily="34" charset="-120"/>
              </a:rPr>
              <a:t>   </a:t>
            </a:r>
          </a:p>
          <a:p>
            <a:pPr marL="285750" indent="-285750">
              <a:buFont typeface="Wingdings" pitchFamily="2" charset="2"/>
              <a:buChar char="§"/>
            </a:pPr>
            <a:r>
              <a:rPr lang="en-US" sz="2800" b="1" dirty="0">
                <a:solidFill>
                  <a:srgbClr val="FFFFFF"/>
                </a:solidFill>
                <a:latin typeface="Meiryo" panose="020B0604030504040204" pitchFamily="34" charset="-128"/>
                <a:ea typeface="Meiryo" panose="020B0604030504040204" pitchFamily="34" charset="-128"/>
                <a:cs typeface="Calibri" pitchFamily="34" charset="-120"/>
              </a:rPr>
              <a:t>研究目的</a:t>
            </a:r>
            <a:endParaRPr lang="en-JP" sz="2800" dirty="0">
              <a:latin typeface="Meiryo" panose="020B0604030504040204" pitchFamily="34" charset="-128"/>
              <a:ea typeface="Meiryo" panose="020B0604030504040204" pitchFamily="34" charset="-128"/>
            </a:endParaRPr>
          </a:p>
        </p:txBody>
      </p:sp>
      <p:sp>
        <p:nvSpPr>
          <p:cNvPr id="2" name="Shape 3">
            <a:extLst>
              <a:ext uri="{FF2B5EF4-FFF2-40B4-BE49-F238E27FC236}">
                <a16:creationId xmlns:a16="http://schemas.microsoft.com/office/drawing/2014/main" id="{B29FCF33-C6D5-19EE-3F36-A4B4864EF6D7}"/>
              </a:ext>
            </a:extLst>
          </p:cNvPr>
          <p:cNvSpPr/>
          <p:nvPr/>
        </p:nvSpPr>
        <p:spPr>
          <a:xfrm>
            <a:off x="184929" y="1177290"/>
            <a:ext cx="8750388" cy="4686300"/>
          </a:xfrm>
          <a:prstGeom prst="rect">
            <a:avLst/>
          </a:prstGeom>
          <a:solidFill>
            <a:srgbClr val="E0F2F1"/>
          </a:solidFill>
          <a:ln w="12700">
            <a:solidFill>
              <a:srgbClr val="0D9488"/>
            </a:solidFill>
            <a:prstDash val="solid"/>
          </a:ln>
          <a:effectLst>
            <a:outerShdw blurRad="101600" dist="38100" dir="8100000" algn="bl" rotWithShape="0">
              <a:srgbClr val="000000">
                <a:alpha val="12000"/>
              </a:srgbClr>
            </a:outerShdw>
          </a:effectLst>
        </p:spPr>
        <p:txBody>
          <a:bodyPr/>
          <a:lstStyle/>
          <a:p>
            <a:pPr marL="457200" indent="-457200">
              <a:buFont typeface="Wingdings" pitchFamily="2" charset="2"/>
              <a:buChar char="Ø"/>
            </a:pPr>
            <a:endParaRPr lang="mn-MN" altLang="ja-JP" sz="3200" dirty="0">
              <a:latin typeface="Meiryo" panose="020B0604030504040204" pitchFamily="34" charset="-128"/>
              <a:ea typeface="Meiryo" panose="020B0604030504040204" pitchFamily="34" charset="-128"/>
            </a:endParaRPr>
          </a:p>
          <a:p>
            <a:pPr marL="457200" indent="-457200">
              <a:buFont typeface="Wingdings" pitchFamily="2" charset="2"/>
              <a:buChar char="Ø"/>
            </a:pPr>
            <a:endParaRPr lang="mn-MN" altLang="ja-JP" sz="3200" dirty="0">
              <a:latin typeface="Meiryo" panose="020B0604030504040204" pitchFamily="34" charset="-128"/>
              <a:ea typeface="Meiryo" panose="020B0604030504040204" pitchFamily="34" charset="-128"/>
            </a:endParaRPr>
          </a:p>
          <a:p>
            <a:pPr marL="457200" indent="-457200">
              <a:buFont typeface="Wingdings" pitchFamily="2" charset="2"/>
              <a:buChar char="Ø"/>
            </a:pPr>
            <a:r>
              <a:rPr lang="ja-JP" altLang="en-US" sz="3200">
                <a:latin typeface="Meiryo" panose="020B0604030504040204" pitchFamily="34" charset="-128"/>
                <a:ea typeface="Meiryo" panose="020B0604030504040204" pitchFamily="34" charset="-128"/>
              </a:rPr>
              <a:t>本研究の目的は，</a:t>
            </a:r>
            <a:r>
              <a:rPr lang="en-US" sz="3200" dirty="0">
                <a:latin typeface="Meiryo" panose="020B0604030504040204" pitchFamily="34" charset="-128"/>
                <a:ea typeface="Meiryo" panose="020B0604030504040204" pitchFamily="34" charset="-128"/>
              </a:rPr>
              <a:t>DTLS</a:t>
            </a:r>
            <a:r>
              <a:rPr lang="ja-JP" altLang="en-US" sz="3200">
                <a:latin typeface="Meiryo" panose="020B0604030504040204" pitchFamily="34" charset="-128"/>
                <a:ea typeface="Meiryo" panose="020B0604030504040204" pitchFamily="34" charset="-128"/>
              </a:rPr>
              <a:t>により</a:t>
            </a:r>
            <a:r>
              <a:rPr lang="en-US" sz="3200" dirty="0">
                <a:latin typeface="Meiryo" panose="020B0604030504040204" pitchFamily="34" charset="-128"/>
                <a:ea typeface="Meiryo" panose="020B0604030504040204" pitchFamily="34" charset="-128"/>
              </a:rPr>
              <a:t>Payload</a:t>
            </a:r>
            <a:r>
              <a:rPr lang="ja-JP" altLang="en-US" sz="3200">
                <a:latin typeface="Meiryo" panose="020B0604030504040204" pitchFamily="34" charset="-128"/>
                <a:ea typeface="Meiryo" panose="020B0604030504040204" pitchFamily="34" charset="-128"/>
              </a:rPr>
              <a:t>へアクセスできない</a:t>
            </a:r>
            <a:r>
              <a:rPr lang="en-US" sz="3200" dirty="0">
                <a:latin typeface="Meiryo" panose="020B0604030504040204" pitchFamily="34" charset="-128"/>
                <a:ea typeface="Meiryo" panose="020B0604030504040204" pitchFamily="34" charset="-128"/>
              </a:rPr>
              <a:t>IoT</a:t>
            </a:r>
            <a:r>
              <a:rPr lang="ja-JP" altLang="en-US" sz="3200">
                <a:latin typeface="Meiryo" panose="020B0604030504040204" pitchFamily="34" charset="-128"/>
                <a:ea typeface="Meiryo" panose="020B0604030504040204" pitchFamily="34" charset="-128"/>
              </a:rPr>
              <a:t>環境において，</a:t>
            </a:r>
            <a:r>
              <a:rPr lang="en-US" sz="3200" dirty="0">
                <a:latin typeface="Meiryo" panose="020B0604030504040204" pitchFamily="34" charset="-128"/>
                <a:ea typeface="Meiryo" panose="020B0604030504040204" pitchFamily="34" charset="-128"/>
              </a:rPr>
              <a:t>ARP</a:t>
            </a:r>
            <a:r>
              <a:rPr lang="ja-JP" altLang="en-US" sz="3200">
                <a:latin typeface="Meiryo" panose="020B0604030504040204" pitchFamily="34" charset="-128"/>
                <a:ea typeface="Meiryo" panose="020B0604030504040204" pitchFamily="34" charset="-128"/>
              </a:rPr>
              <a:t>トラフィックの特徴を用いて</a:t>
            </a:r>
            <a:r>
              <a:rPr lang="en-US" sz="3200" dirty="0">
                <a:latin typeface="Meiryo" panose="020B0604030504040204" pitchFamily="34" charset="-128"/>
                <a:ea typeface="Meiryo" panose="020B0604030504040204" pitchFamily="34" charset="-128"/>
              </a:rPr>
              <a:t>ARP Spoofing</a:t>
            </a:r>
            <a:r>
              <a:rPr lang="ja-JP" altLang="en-US" sz="3200">
                <a:latin typeface="Meiryo" panose="020B0604030504040204" pitchFamily="34" charset="-128"/>
                <a:ea typeface="Meiryo" panose="020B0604030504040204" pitchFamily="34" charset="-128"/>
              </a:rPr>
              <a:t>による</a:t>
            </a:r>
            <a:r>
              <a:rPr lang="en-US" sz="3200" dirty="0">
                <a:latin typeface="Meiryo" panose="020B0604030504040204" pitchFamily="34" charset="-128"/>
                <a:ea typeface="Meiryo" panose="020B0604030504040204" pitchFamily="34" charset="-128"/>
              </a:rPr>
              <a:t>MITM</a:t>
            </a:r>
            <a:r>
              <a:rPr lang="ja-JP" altLang="en-US" sz="3200">
                <a:latin typeface="Meiryo" panose="020B0604030504040204" pitchFamily="34" charset="-128"/>
                <a:ea typeface="Meiryo" panose="020B0604030504040204" pitchFamily="34" charset="-128"/>
              </a:rPr>
              <a:t>攻撃を検知する軽量な</a:t>
            </a:r>
            <a:r>
              <a:rPr lang="en-US" sz="3200" dirty="0">
                <a:latin typeface="Meiryo" panose="020B0604030504040204" pitchFamily="34" charset="-128"/>
                <a:ea typeface="Meiryo" panose="020B0604030504040204" pitchFamily="34" charset="-128"/>
              </a:rPr>
              <a:t>ML</a:t>
            </a:r>
            <a:r>
              <a:rPr lang="ja-JP" altLang="en-US" sz="3200">
                <a:latin typeface="Meiryo" panose="020B0604030504040204" pitchFamily="34" charset="-128"/>
                <a:ea typeface="Meiryo" panose="020B0604030504040204" pitchFamily="34" charset="-128"/>
              </a:rPr>
              <a:t>ベース透過型</a:t>
            </a:r>
            <a:r>
              <a:rPr lang="en-US" sz="3200" dirty="0">
                <a:latin typeface="Meiryo" panose="020B0604030504040204" pitchFamily="34" charset="-128"/>
                <a:ea typeface="Meiryo" panose="020B0604030504040204" pitchFamily="34" charset="-128"/>
              </a:rPr>
              <a:t>IDS</a:t>
            </a:r>
            <a:r>
              <a:rPr lang="ja-JP" altLang="en-US" sz="3200">
                <a:latin typeface="Meiryo" panose="020B0604030504040204" pitchFamily="34" charset="-128"/>
                <a:ea typeface="Meiryo" panose="020B0604030504040204" pitchFamily="34" charset="-128"/>
              </a:rPr>
              <a:t>を実現することである．</a:t>
            </a:r>
            <a:endParaRPr lang="en-JP" sz="3200" dirty="0">
              <a:latin typeface="Meiryo" panose="020B0604030504040204" pitchFamily="34" charset="-128"/>
              <a:ea typeface="Meiryo" panose="020B0604030504040204" pitchFamily="34" charset="-128"/>
            </a:endParaRPr>
          </a:p>
        </p:txBody>
      </p:sp>
      <p:sp>
        <p:nvSpPr>
          <p:cNvPr id="8" name="Text 11">
            <a:extLst>
              <a:ext uri="{FF2B5EF4-FFF2-40B4-BE49-F238E27FC236}">
                <a16:creationId xmlns:a16="http://schemas.microsoft.com/office/drawing/2014/main" id="{5D3EFC6A-3D6F-243B-DAC5-DC6B4A9AE163}"/>
              </a:ext>
            </a:extLst>
          </p:cNvPr>
          <p:cNvSpPr/>
          <p:nvPr/>
        </p:nvSpPr>
        <p:spPr>
          <a:xfrm>
            <a:off x="-2448097" y="4871195"/>
            <a:ext cx="7726680" cy="329184"/>
          </a:xfrm>
          <a:prstGeom prst="rect">
            <a:avLst/>
          </a:prstGeom>
          <a:noFill/>
          <a:ln/>
        </p:spPr>
        <p:txBody>
          <a:bodyPr wrap="square" rtlCol="0" anchor="ctr"/>
          <a:lstStyle/>
          <a:p>
            <a:pPr marL="0" indent="0">
              <a:buNone/>
            </a:pPr>
            <a:endParaRPr lang="en-US" sz="2400" dirty="0">
              <a:latin typeface="Meiryo" panose="020B0604030504040204" pitchFamily="34" charset="-128"/>
              <a:ea typeface="Meiryo" panose="020B0604030504040204" pitchFamily="34" charset="-128"/>
            </a:endParaRPr>
          </a:p>
        </p:txBody>
      </p:sp>
      <p:sp>
        <p:nvSpPr>
          <p:cNvPr id="12" name="Text 15">
            <a:extLst>
              <a:ext uri="{FF2B5EF4-FFF2-40B4-BE49-F238E27FC236}">
                <a16:creationId xmlns:a16="http://schemas.microsoft.com/office/drawing/2014/main" id="{27851369-563F-CFC0-C67D-CCE2B893B0CC}"/>
              </a:ext>
            </a:extLst>
          </p:cNvPr>
          <p:cNvSpPr/>
          <p:nvPr/>
        </p:nvSpPr>
        <p:spPr>
          <a:xfrm>
            <a:off x="874039" y="5035787"/>
            <a:ext cx="8061278" cy="484632"/>
          </a:xfrm>
          <a:prstGeom prst="rect">
            <a:avLst/>
          </a:prstGeom>
          <a:noFill/>
          <a:ln/>
        </p:spPr>
        <p:txBody>
          <a:bodyPr wrap="square" rtlCol="0" anchor="ctr"/>
          <a:lstStyle/>
          <a:p>
            <a:pPr marL="0" indent="0">
              <a:buNone/>
            </a:pPr>
            <a:endParaRPr lang="en-US" sz="2400" dirty="0">
              <a:latin typeface="Meiryo" panose="020B0604030504040204" pitchFamily="34" charset="-128"/>
              <a:ea typeface="Meiryo" panose="020B0604030504040204" pitchFamily="34" charset="-128"/>
            </a:endParaRPr>
          </a:p>
        </p:txBody>
      </p:sp>
      <p:sp>
        <p:nvSpPr>
          <p:cNvPr id="18" name="Text 21">
            <a:extLst>
              <a:ext uri="{FF2B5EF4-FFF2-40B4-BE49-F238E27FC236}">
                <a16:creationId xmlns:a16="http://schemas.microsoft.com/office/drawing/2014/main" id="{54A13E5B-390E-994E-892A-96C5C81A6DC3}"/>
              </a:ext>
            </a:extLst>
          </p:cNvPr>
          <p:cNvSpPr/>
          <p:nvPr/>
        </p:nvSpPr>
        <p:spPr>
          <a:xfrm>
            <a:off x="196805" y="6068791"/>
            <a:ext cx="502920" cy="384048"/>
          </a:xfrm>
          <a:prstGeom prst="rect">
            <a:avLst/>
          </a:prstGeom>
          <a:noFill/>
          <a:ln/>
        </p:spPr>
        <p:txBody>
          <a:bodyPr wrap="square" rtlCol="0" anchor="ctr"/>
          <a:lstStyle/>
          <a:p>
            <a:pPr algn="ctr"/>
            <a:r>
              <a:rPr lang="en-US" sz="1300" b="1" dirty="0">
                <a:solidFill>
                  <a:srgbClr val="FFFFFF"/>
                </a:solidFill>
                <a:latin typeface="Calibri" pitchFamily="34" charset="0"/>
                <a:ea typeface="Calibri" pitchFamily="34" charset="-122"/>
                <a:cs typeface="Calibri" pitchFamily="34" charset="-120"/>
              </a:rPr>
              <a:t>③</a:t>
            </a:r>
            <a:endParaRPr lang="en-US" sz="1300" dirty="0"/>
          </a:p>
          <a:p>
            <a:pPr marL="0" indent="0" algn="ctr">
              <a:buNone/>
            </a:pPr>
            <a:endParaRPr lang="en-US" sz="1300" dirty="0"/>
          </a:p>
        </p:txBody>
      </p:sp>
      <p:sp>
        <p:nvSpPr>
          <p:cNvPr id="23" name="Slide Number Placeholder 22">
            <a:extLst>
              <a:ext uri="{FF2B5EF4-FFF2-40B4-BE49-F238E27FC236}">
                <a16:creationId xmlns:a16="http://schemas.microsoft.com/office/drawing/2014/main" id="{EE47CFA3-D95D-EF06-57D5-6F838A0D8552}"/>
              </a:ext>
            </a:extLst>
          </p:cNvPr>
          <p:cNvSpPr>
            <a:spLocks noGrp="1"/>
          </p:cNvSpPr>
          <p:nvPr>
            <p:ph type="sldNum" sz="quarter" idx="12"/>
          </p:nvPr>
        </p:nvSpPr>
        <p:spPr/>
        <p:txBody>
          <a:bodyPr/>
          <a:lstStyle/>
          <a:p>
            <a:fld id="{828F3BD4-1AF2-D144-8129-4D42AD448F5E}" type="slidenum">
              <a:rPr lang="en-JP" smtClean="0"/>
              <a:t>8</a:t>
            </a:fld>
            <a:endParaRPr lang="en-JP"/>
          </a:p>
        </p:txBody>
      </p:sp>
    </p:spTree>
    <p:extLst>
      <p:ext uri="{BB962C8B-B14F-4D97-AF65-F5344CB8AC3E}">
        <p14:creationId xmlns:p14="http://schemas.microsoft.com/office/powerpoint/2010/main" val="28776842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関連技術・関連研究</a:t>
            </a:r>
            <a:r>
              <a:rPr lang="en-US" altLang="ja-JP" sz="3100" b="1" dirty="0">
                <a:solidFill>
                  <a:srgbClr val="C00000"/>
                </a:solidFill>
                <a:latin typeface="Meiryo" panose="020B0604030504040204" pitchFamily="34" charset="-128"/>
                <a:ea typeface="Meiryo" panose="020B0604030504040204" pitchFamily="34" charset="-128"/>
              </a:rPr>
              <a:t> </a:t>
            </a:r>
          </a:p>
          <a:p>
            <a:pPr marL="476219" indent="-342878">
              <a:lnSpc>
                <a:spcPct val="150000"/>
              </a:lnSpc>
              <a:spcBef>
                <a:spcPts val="0"/>
              </a:spcBef>
              <a:buSzPts val="2800"/>
              <a:buFont typeface="Wingdings" pitchFamily="2" charset="2"/>
              <a:buChar char="§"/>
            </a:pPr>
            <a:r>
              <a:rPr lang="ja-JP" altLang="en-US" i="0" u="none" strike="noStrike">
                <a:solidFill>
                  <a:srgbClr val="000000"/>
                </a:solidFill>
                <a:effectLst/>
                <a:latin typeface="Meiryo" panose="020B0604030504040204" pitchFamily="34" charset="-128"/>
                <a:ea typeface="Meiryo" panose="020B0604030504040204" pitchFamily="34" charset="-128"/>
              </a:rPr>
              <a:t>提案システム</a:t>
            </a:r>
            <a:endParaRPr lang="en-US" altLang="ja-JP" i="0" u="none" strike="noStrike" dirty="0">
              <a:solidFill>
                <a:srgbClr val="000000"/>
              </a:solidFill>
              <a:effectLst/>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9</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3409827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Slide Number Placeholder 20">
            <a:extLst>
              <a:ext uri="{FF2B5EF4-FFF2-40B4-BE49-F238E27FC236}">
                <a16:creationId xmlns:a16="http://schemas.microsoft.com/office/drawing/2014/main" id="{58800FA3-8BA7-B920-DD70-90A0F4C2D2B1}"/>
              </a:ext>
            </a:extLst>
          </p:cNvPr>
          <p:cNvSpPr>
            <a:spLocks noGrp="1"/>
          </p:cNvSpPr>
          <p:nvPr>
            <p:ph type="sldNum" sz="quarter" idx="12"/>
          </p:nvPr>
        </p:nvSpPr>
        <p:spPr/>
        <p:txBody>
          <a:bodyPr/>
          <a:lstStyle/>
          <a:p>
            <a:fld id="{BB44241B-2579-694C-B40C-A1E3D5F0E4EC}" type="slidenum">
              <a:rPr lang="en-JP" smtClean="0"/>
              <a:t>10</a:t>
            </a:fld>
            <a:endParaRPr lang="en-JP"/>
          </a:p>
        </p:txBody>
      </p:sp>
      <p:sp>
        <p:nvSpPr>
          <p:cNvPr id="2" name="Shape 0">
            <a:extLst>
              <a:ext uri="{FF2B5EF4-FFF2-40B4-BE49-F238E27FC236}">
                <a16:creationId xmlns:a16="http://schemas.microsoft.com/office/drawing/2014/main" id="{D07E90C5-08C4-DE9B-C6D3-C6703A2C7962}"/>
              </a:ext>
            </a:extLst>
          </p:cNvPr>
          <p:cNvSpPr/>
          <p:nvPr/>
        </p:nvSpPr>
        <p:spPr>
          <a:xfrm>
            <a:off x="0" y="0"/>
            <a:ext cx="9144000" cy="703227"/>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lang="en-US" altLang="ja-JP" sz="3200" b="1" dirty="0">
                <a:latin typeface="Meiryo" panose="020B0604030504040204" pitchFamily="34" charset="-128"/>
                <a:ea typeface="Meiryo" panose="020B0604030504040204" pitchFamily="34" charset="-128"/>
                <a:cs typeface="Times New Roman" panose="02020603050405020304" pitchFamily="18" charset="0"/>
              </a:rPr>
              <a:t>CoAP (</a:t>
            </a:r>
            <a:r>
              <a:rPr lang="en-US" sz="3200" b="1" dirty="0">
                <a:latin typeface="Meiryo" panose="020B0604030504040204" pitchFamily="34" charset="-128"/>
                <a:ea typeface="Meiryo" panose="020B0604030504040204" pitchFamily="34" charset="-128"/>
                <a:cs typeface="Times New Roman" panose="02020603050405020304" pitchFamily="18" charset="0"/>
              </a:rPr>
              <a:t> Constrained Application Protocol)</a:t>
            </a:r>
            <a:endParaRPr lang="en-JP" sz="3200" b="1" dirty="0">
              <a:latin typeface="Meiryo" panose="020B0604030504040204" pitchFamily="34" charset="-128"/>
              <a:ea typeface="Meiryo" panose="020B0604030504040204" pitchFamily="34" charset="-128"/>
            </a:endParaRPr>
          </a:p>
        </p:txBody>
      </p:sp>
      <p:sp>
        <p:nvSpPr>
          <p:cNvPr id="5" name="Rounded Rectangle 4">
            <a:extLst>
              <a:ext uri="{FF2B5EF4-FFF2-40B4-BE49-F238E27FC236}">
                <a16:creationId xmlns:a16="http://schemas.microsoft.com/office/drawing/2014/main" id="{3F98B37C-93AB-A437-84CF-87FD45729424}"/>
              </a:ext>
            </a:extLst>
          </p:cNvPr>
          <p:cNvSpPr/>
          <p:nvPr/>
        </p:nvSpPr>
        <p:spPr>
          <a:xfrm>
            <a:off x="114212" y="1329894"/>
            <a:ext cx="1538590" cy="790833"/>
          </a:xfrm>
          <a:prstGeom prst="roundRect">
            <a:avLst/>
          </a:prstGeom>
          <a:ln w="254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mn-MN" sz="2000" dirty="0"/>
              <a:t>I</a:t>
            </a:r>
            <a:r>
              <a:rPr lang="en-US" sz="2000" dirty="0" err="1"/>
              <a:t>oT</a:t>
            </a:r>
            <a:r>
              <a:rPr lang="en-US" sz="2000" dirty="0"/>
              <a:t> </a:t>
            </a:r>
            <a:r>
              <a:rPr lang="en-US" sz="2000" dirty="0" err="1"/>
              <a:t>Devicel</a:t>
            </a:r>
            <a:endParaRPr lang="en-US" sz="2000" dirty="0"/>
          </a:p>
          <a:p>
            <a:pPr algn="ctr"/>
            <a:r>
              <a:rPr lang="en-US" sz="2000" dirty="0"/>
              <a:t>(Client)</a:t>
            </a:r>
            <a:endParaRPr lang="en-JP" sz="2000" dirty="0"/>
          </a:p>
        </p:txBody>
      </p:sp>
      <p:sp>
        <p:nvSpPr>
          <p:cNvPr id="7" name="Rounded Rectangle 6">
            <a:extLst>
              <a:ext uri="{FF2B5EF4-FFF2-40B4-BE49-F238E27FC236}">
                <a16:creationId xmlns:a16="http://schemas.microsoft.com/office/drawing/2014/main" id="{FD2B9C07-774F-55E1-122A-585B68AD8468}"/>
              </a:ext>
            </a:extLst>
          </p:cNvPr>
          <p:cNvSpPr/>
          <p:nvPr/>
        </p:nvSpPr>
        <p:spPr>
          <a:xfrm>
            <a:off x="2629533" y="1339496"/>
            <a:ext cx="1538590" cy="790833"/>
          </a:xfrm>
          <a:prstGeom prst="roundRect">
            <a:avLst/>
          </a:prstGeom>
          <a:ln w="254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JP" sz="2000" dirty="0"/>
              <a:t>Server </a:t>
            </a:r>
          </a:p>
          <a:p>
            <a:pPr algn="ctr"/>
            <a:r>
              <a:rPr lang="en-JP" sz="2000" dirty="0"/>
              <a:t>(CoAP)</a:t>
            </a:r>
          </a:p>
        </p:txBody>
      </p:sp>
      <p:cxnSp>
        <p:nvCxnSpPr>
          <p:cNvPr id="9" name="Straight Connector 8">
            <a:extLst>
              <a:ext uri="{FF2B5EF4-FFF2-40B4-BE49-F238E27FC236}">
                <a16:creationId xmlns:a16="http://schemas.microsoft.com/office/drawing/2014/main" id="{194623AB-34D4-0E71-299D-6B0D19F19426}"/>
              </a:ext>
            </a:extLst>
          </p:cNvPr>
          <p:cNvCxnSpPr>
            <a:cxnSpLocks/>
          </p:cNvCxnSpPr>
          <p:nvPr/>
        </p:nvCxnSpPr>
        <p:spPr>
          <a:xfrm flipH="1">
            <a:off x="886060" y="2110946"/>
            <a:ext cx="1" cy="263610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8611149-7B31-0067-888E-6C9F4995C726}"/>
              </a:ext>
            </a:extLst>
          </p:cNvPr>
          <p:cNvCxnSpPr>
            <a:cxnSpLocks/>
            <a:stCxn id="7" idx="2"/>
          </p:cNvCxnSpPr>
          <p:nvPr/>
        </p:nvCxnSpPr>
        <p:spPr>
          <a:xfrm>
            <a:off x="3398828" y="2130329"/>
            <a:ext cx="0" cy="267529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3E8BFD70-4629-F3DA-BE06-4F62E2DDC47E}"/>
              </a:ext>
            </a:extLst>
          </p:cNvPr>
          <p:cNvCxnSpPr>
            <a:cxnSpLocks/>
          </p:cNvCxnSpPr>
          <p:nvPr/>
        </p:nvCxnSpPr>
        <p:spPr>
          <a:xfrm>
            <a:off x="883507" y="2921340"/>
            <a:ext cx="251532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4C115DB-0D5D-33CE-1BCA-5885CB30A7DE}"/>
              </a:ext>
            </a:extLst>
          </p:cNvPr>
          <p:cNvCxnSpPr>
            <a:cxnSpLocks/>
          </p:cNvCxnSpPr>
          <p:nvPr/>
        </p:nvCxnSpPr>
        <p:spPr>
          <a:xfrm flipH="1">
            <a:off x="883507" y="3925957"/>
            <a:ext cx="2515321"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C4AB04C-F1D5-40BC-313F-FD1064CE9330}"/>
              </a:ext>
            </a:extLst>
          </p:cNvPr>
          <p:cNvSpPr txBox="1"/>
          <p:nvPr/>
        </p:nvSpPr>
        <p:spPr>
          <a:xfrm>
            <a:off x="928219" y="3021805"/>
            <a:ext cx="2515318" cy="369332"/>
          </a:xfrm>
          <a:prstGeom prst="rect">
            <a:avLst/>
          </a:prstGeom>
          <a:noFill/>
        </p:spPr>
        <p:txBody>
          <a:bodyPr wrap="square" rtlCol="0">
            <a:spAutoFit/>
          </a:bodyPr>
          <a:lstStyle/>
          <a:p>
            <a:r>
              <a:rPr lang="en-JP" dirty="0"/>
              <a:t>[1] CoAP Request (CON)</a:t>
            </a:r>
          </a:p>
        </p:txBody>
      </p:sp>
      <p:sp>
        <p:nvSpPr>
          <p:cNvPr id="15" name="TextBox 14">
            <a:extLst>
              <a:ext uri="{FF2B5EF4-FFF2-40B4-BE49-F238E27FC236}">
                <a16:creationId xmlns:a16="http://schemas.microsoft.com/office/drawing/2014/main" id="{6AB8CAA8-ED7D-7727-6D07-3562DC79F273}"/>
              </a:ext>
            </a:extLst>
          </p:cNvPr>
          <p:cNvSpPr txBox="1"/>
          <p:nvPr/>
        </p:nvSpPr>
        <p:spPr>
          <a:xfrm>
            <a:off x="914357" y="3982094"/>
            <a:ext cx="2782370" cy="369332"/>
          </a:xfrm>
          <a:prstGeom prst="rect">
            <a:avLst/>
          </a:prstGeom>
          <a:noFill/>
        </p:spPr>
        <p:txBody>
          <a:bodyPr wrap="square">
            <a:spAutoFit/>
          </a:bodyPr>
          <a:lstStyle/>
          <a:p>
            <a:r>
              <a:rPr lang="en-JP" dirty="0"/>
              <a:t>[2] CoAP Response ( 2.05)</a:t>
            </a:r>
          </a:p>
        </p:txBody>
      </p:sp>
      <p:sp>
        <p:nvSpPr>
          <p:cNvPr id="28" name="Shape 4">
            <a:extLst>
              <a:ext uri="{FF2B5EF4-FFF2-40B4-BE49-F238E27FC236}">
                <a16:creationId xmlns:a16="http://schemas.microsoft.com/office/drawing/2014/main" id="{5582BF86-ABBC-52C3-1C0D-DD14D35F3E62}"/>
              </a:ext>
            </a:extLst>
          </p:cNvPr>
          <p:cNvSpPr/>
          <p:nvPr/>
        </p:nvSpPr>
        <p:spPr>
          <a:xfrm>
            <a:off x="4438347" y="3315114"/>
            <a:ext cx="4640229" cy="384048"/>
          </a:xfrm>
          <a:prstGeom prst="rect">
            <a:avLst/>
          </a:prstGeom>
          <a:solidFill>
            <a:srgbClr val="2563A8"/>
          </a:solidFill>
          <a:ln w="12700">
            <a:solidFill>
              <a:srgbClr val="2563A8"/>
            </a:solidFill>
            <a:prstDash val="solid"/>
          </a:ln>
        </p:spPr>
        <p:txBody>
          <a:bodyPr/>
          <a:lstStyle/>
          <a:p>
            <a:r>
              <a:rPr lang="ja-JP" altLang="en-US" b="1">
                <a:solidFill>
                  <a:schemeClr val="bg1"/>
                </a:solidFill>
                <a:latin typeface="Meiryo" panose="020B0604030504040204" pitchFamily="34" charset="-128"/>
                <a:ea typeface="Meiryo" panose="020B0604030504040204" pitchFamily="34" charset="-128"/>
              </a:rPr>
              <a:t>なぜ</a:t>
            </a:r>
            <a:r>
              <a:rPr lang="en-US" b="1" dirty="0">
                <a:solidFill>
                  <a:schemeClr val="bg1"/>
                </a:solidFill>
                <a:latin typeface="Meiryo" panose="020B0604030504040204" pitchFamily="34" charset="-128"/>
                <a:ea typeface="Meiryo" panose="020B0604030504040204" pitchFamily="34" charset="-128"/>
              </a:rPr>
              <a:t>IoT</a:t>
            </a:r>
            <a:r>
              <a:rPr lang="ja-JP" altLang="en-US" b="1">
                <a:solidFill>
                  <a:schemeClr val="bg1"/>
                </a:solidFill>
                <a:latin typeface="Meiryo" panose="020B0604030504040204" pitchFamily="34" charset="-128"/>
                <a:ea typeface="Meiryo" panose="020B0604030504040204" pitchFamily="34" charset="-128"/>
              </a:rPr>
              <a:t>で使うのか</a:t>
            </a:r>
          </a:p>
          <a:p>
            <a:endParaRPr lang="en-JP" dirty="0">
              <a:solidFill>
                <a:schemeClr val="bg1"/>
              </a:solidFill>
              <a:latin typeface="Meiryo" panose="020B0604030504040204" pitchFamily="34" charset="-128"/>
              <a:ea typeface="Meiryo" panose="020B0604030504040204" pitchFamily="34" charset="-128"/>
            </a:endParaRPr>
          </a:p>
        </p:txBody>
      </p:sp>
      <p:sp>
        <p:nvSpPr>
          <p:cNvPr id="29" name="Shape 3">
            <a:extLst>
              <a:ext uri="{FF2B5EF4-FFF2-40B4-BE49-F238E27FC236}">
                <a16:creationId xmlns:a16="http://schemas.microsoft.com/office/drawing/2014/main" id="{46DF8458-95BB-AB35-12AE-02A20736F104}"/>
              </a:ext>
            </a:extLst>
          </p:cNvPr>
          <p:cNvSpPr/>
          <p:nvPr/>
        </p:nvSpPr>
        <p:spPr>
          <a:xfrm>
            <a:off x="4421694" y="3751534"/>
            <a:ext cx="4700807" cy="1452934"/>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デバイスはリソースが限られているため、軽量で省電力な通信が求められます。そのため、</a:t>
            </a:r>
            <a:r>
              <a:rPr lang="en-US" sz="2000" dirty="0">
                <a:latin typeface="Meiryo" panose="020B0604030504040204" pitchFamily="34" charset="-128"/>
                <a:ea typeface="Meiryo" panose="020B0604030504040204" pitchFamily="34" charset="-128"/>
              </a:rPr>
              <a:t>TCP</a:t>
            </a:r>
            <a:r>
              <a:rPr lang="ja-JP" altLang="en-US" sz="2000">
                <a:latin typeface="Meiryo" panose="020B0604030504040204" pitchFamily="34" charset="-128"/>
                <a:ea typeface="Meiryo" panose="020B0604030504040204" pitchFamily="34" charset="-128"/>
              </a:rPr>
              <a:t>ではなく</a:t>
            </a:r>
            <a:r>
              <a:rPr lang="en-US" sz="2000" dirty="0">
                <a:latin typeface="Meiryo" panose="020B0604030504040204" pitchFamily="34" charset="-128"/>
                <a:ea typeface="Meiryo" panose="020B0604030504040204" pitchFamily="34" charset="-128"/>
              </a:rPr>
              <a:t>UDP</a:t>
            </a:r>
            <a:r>
              <a:rPr lang="ja-JP" altLang="en-US" sz="2000">
                <a:latin typeface="Meiryo" panose="020B0604030504040204" pitchFamily="34" charset="-128"/>
                <a:ea typeface="Meiryo" panose="020B0604030504040204" pitchFamily="34" charset="-128"/>
              </a:rPr>
              <a:t>を利用する</a:t>
            </a:r>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が適している</a:t>
            </a:r>
            <a:r>
              <a:rPr lang="en-US" altLang="ja-JP" sz="2000" dirty="0">
                <a:latin typeface="Meiryo" panose="020B0604030504040204" pitchFamily="34" charset="-128"/>
                <a:ea typeface="Meiryo" panose="020B0604030504040204" pitchFamily="34" charset="-128"/>
              </a:rPr>
              <a:t>.</a:t>
            </a:r>
            <a:endParaRPr lang="ja-JP" altLang="en-US" sz="2000">
              <a:latin typeface="Meiryo" panose="020B0604030504040204" pitchFamily="34" charset="-128"/>
              <a:ea typeface="Meiryo" panose="020B0604030504040204" pitchFamily="34" charset="-128"/>
            </a:endParaRPr>
          </a:p>
          <a:p>
            <a:endParaRPr lang="en-JP" sz="2000" dirty="0">
              <a:latin typeface="Meiryo" panose="020B0604030504040204" pitchFamily="34" charset="-128"/>
              <a:ea typeface="Meiryo" panose="020B0604030504040204" pitchFamily="34" charset="-128"/>
            </a:endParaRPr>
          </a:p>
        </p:txBody>
      </p:sp>
      <p:sp>
        <p:nvSpPr>
          <p:cNvPr id="30" name="Shape 11">
            <a:extLst>
              <a:ext uri="{FF2B5EF4-FFF2-40B4-BE49-F238E27FC236}">
                <a16:creationId xmlns:a16="http://schemas.microsoft.com/office/drawing/2014/main" id="{F3A80D79-E0C4-05A4-471F-7E4D7DB9157E}"/>
              </a:ext>
            </a:extLst>
          </p:cNvPr>
          <p:cNvSpPr/>
          <p:nvPr/>
        </p:nvSpPr>
        <p:spPr>
          <a:xfrm>
            <a:off x="4421690" y="1260901"/>
            <a:ext cx="4656482" cy="530059"/>
          </a:xfrm>
          <a:prstGeom prst="rect">
            <a:avLst/>
          </a:prstGeom>
          <a:solidFill>
            <a:srgbClr val="0D9488"/>
          </a:solidFill>
          <a:ln w="12700">
            <a:solidFill>
              <a:srgbClr val="0D9488"/>
            </a:solidFill>
            <a:prstDash val="solid"/>
          </a:ln>
        </p:spPr>
        <p:txBody>
          <a:bodyPr/>
          <a:lstStyle/>
          <a:p>
            <a:r>
              <a:rPr lang="en-US" sz="2000" b="1" dirty="0">
                <a:solidFill>
                  <a:schemeClr val="bg1"/>
                </a:solidFill>
                <a:latin typeface="Meiryo" panose="020B0604030504040204" pitchFamily="34" charset="-128"/>
                <a:ea typeface="Meiryo" panose="020B0604030504040204" pitchFamily="34" charset="-128"/>
              </a:rPr>
              <a:t>CoAP</a:t>
            </a:r>
            <a:r>
              <a:rPr lang="ja-JP" altLang="en-US" sz="2000" b="1">
                <a:solidFill>
                  <a:schemeClr val="bg1"/>
                </a:solidFill>
                <a:latin typeface="Meiryo" panose="020B0604030504040204" pitchFamily="34" charset="-128"/>
                <a:ea typeface="Meiryo" panose="020B0604030504040204" pitchFamily="34" charset="-128"/>
              </a:rPr>
              <a:t>とは</a:t>
            </a:r>
          </a:p>
        </p:txBody>
      </p:sp>
      <p:sp>
        <p:nvSpPr>
          <p:cNvPr id="31" name="Shape 3">
            <a:extLst>
              <a:ext uri="{FF2B5EF4-FFF2-40B4-BE49-F238E27FC236}">
                <a16:creationId xmlns:a16="http://schemas.microsoft.com/office/drawing/2014/main" id="{86154A24-C682-FD5D-E3DB-33B859C67735}"/>
              </a:ext>
            </a:extLst>
          </p:cNvPr>
          <p:cNvSpPr/>
          <p:nvPr/>
        </p:nvSpPr>
        <p:spPr>
          <a:xfrm>
            <a:off x="4421694" y="1849608"/>
            <a:ext cx="4656478" cy="1135000"/>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とは、主に</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環境で使用される軽量な通信プロトコルであり、</a:t>
            </a:r>
            <a:r>
              <a:rPr lang="en-US" sz="2000" dirty="0">
                <a:latin typeface="Meiryo" panose="020B0604030504040204" pitchFamily="34" charset="-128"/>
                <a:ea typeface="Meiryo" panose="020B0604030504040204" pitchFamily="34" charset="-128"/>
              </a:rPr>
              <a:t>UDP</a:t>
            </a:r>
            <a:r>
              <a:rPr lang="ja-JP" altLang="en-US" sz="2000">
                <a:latin typeface="Meiryo" panose="020B0604030504040204" pitchFamily="34" charset="-128"/>
                <a:ea typeface="Meiryo" panose="020B0604030504040204" pitchFamily="34" charset="-128"/>
              </a:rPr>
              <a:t>上で動作</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39" name="Shape 18">
            <a:extLst>
              <a:ext uri="{FF2B5EF4-FFF2-40B4-BE49-F238E27FC236}">
                <a16:creationId xmlns:a16="http://schemas.microsoft.com/office/drawing/2014/main" id="{379E52AC-35D6-1F16-D4CC-47DF30A51532}"/>
              </a:ext>
            </a:extLst>
          </p:cNvPr>
          <p:cNvSpPr/>
          <p:nvPr/>
        </p:nvSpPr>
        <p:spPr>
          <a:xfrm>
            <a:off x="287148" y="4909073"/>
            <a:ext cx="3880971" cy="384048"/>
          </a:xfrm>
          <a:prstGeom prst="rect">
            <a:avLst/>
          </a:prstGeom>
          <a:solidFill>
            <a:srgbClr val="1E3A5F"/>
          </a:solidFill>
          <a:ln w="12700">
            <a:solidFill>
              <a:srgbClr val="1E3A5F"/>
            </a:solidFill>
            <a:prstDash val="solid"/>
          </a:ln>
        </p:spPr>
        <p:txBody>
          <a:bodyPr/>
          <a:lstStyle/>
          <a:p>
            <a:r>
              <a:rPr lang="en-US" b="1" dirty="0">
                <a:solidFill>
                  <a:schemeClr val="bg1"/>
                </a:solidFill>
                <a:latin typeface="Meiryo" panose="020B0604030504040204" pitchFamily="34" charset="-128"/>
                <a:ea typeface="Meiryo" panose="020B0604030504040204" pitchFamily="34" charset="-128"/>
              </a:rPr>
              <a:t>HTTP</a:t>
            </a:r>
            <a:r>
              <a:rPr lang="ja-JP" altLang="en-US" b="1">
                <a:solidFill>
                  <a:schemeClr val="bg1"/>
                </a:solidFill>
                <a:latin typeface="Meiryo" panose="020B0604030504040204" pitchFamily="34" charset="-128"/>
                <a:ea typeface="Meiryo" panose="020B0604030504040204" pitchFamily="34" charset="-128"/>
              </a:rPr>
              <a:t>との比較</a:t>
            </a:r>
            <a:endParaRPr lang="en-JP" b="1" dirty="0">
              <a:solidFill>
                <a:schemeClr val="bg1"/>
              </a:solidFill>
              <a:latin typeface="Meiryo" panose="020B0604030504040204" pitchFamily="34" charset="-128"/>
              <a:ea typeface="Meiryo" panose="020B0604030504040204" pitchFamily="34" charset="-128"/>
            </a:endParaRPr>
          </a:p>
        </p:txBody>
      </p:sp>
      <p:sp>
        <p:nvSpPr>
          <p:cNvPr id="41" name="Shape 3">
            <a:extLst>
              <a:ext uri="{FF2B5EF4-FFF2-40B4-BE49-F238E27FC236}">
                <a16:creationId xmlns:a16="http://schemas.microsoft.com/office/drawing/2014/main" id="{68B2AAD5-A348-1F74-2F4E-6042D85C98D1}"/>
              </a:ext>
            </a:extLst>
          </p:cNvPr>
          <p:cNvSpPr/>
          <p:nvPr/>
        </p:nvSpPr>
        <p:spPr>
          <a:xfrm>
            <a:off x="287148" y="5327196"/>
            <a:ext cx="6312777" cy="1239596"/>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HTTP</a:t>
            </a:r>
            <a:r>
              <a:rPr lang="ja-JP" altLang="en-US" sz="2000">
                <a:latin typeface="Meiryo" panose="020B0604030504040204" pitchFamily="34" charset="-128"/>
                <a:ea typeface="Meiryo" panose="020B0604030504040204" pitchFamily="34" charset="-128"/>
              </a:rPr>
              <a:t>と比較すると、</a:t>
            </a:r>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は</a:t>
            </a:r>
            <a:r>
              <a:rPr lang="en-US" altLang="ja-JP" sz="2000" dirty="0">
                <a:latin typeface="Meiryo" panose="020B0604030504040204" pitchFamily="34" charset="-128"/>
                <a:ea typeface="Meiryo" panose="020B0604030504040204" pitchFamily="34" charset="-128"/>
              </a:rPr>
              <a:t>overhead</a:t>
            </a:r>
            <a:r>
              <a:rPr lang="ja-JP" altLang="en-US" sz="2000">
                <a:latin typeface="Meiryo" panose="020B0604030504040204" pitchFamily="34" charset="-128"/>
                <a:ea typeface="Meiryo" panose="020B0604030504040204" pitchFamily="34" charset="-128"/>
              </a:rPr>
              <a:t>が小さく、通信効率が高いため、低消費電力が求められる</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環境に適しています</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156077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19">
            <a:extLst>
              <a:ext uri="{FF2B5EF4-FFF2-40B4-BE49-F238E27FC236}">
                <a16:creationId xmlns:a16="http://schemas.microsoft.com/office/drawing/2014/main" id="{F169270B-E4FD-812E-C3B6-EAAA66CCDA81}"/>
              </a:ext>
            </a:extLst>
          </p:cNvPr>
          <p:cNvSpPr>
            <a:spLocks noGrp="1"/>
          </p:cNvSpPr>
          <p:nvPr>
            <p:ph type="sldNum" sz="quarter" idx="12"/>
          </p:nvPr>
        </p:nvSpPr>
        <p:spPr/>
        <p:txBody>
          <a:bodyPr/>
          <a:lstStyle/>
          <a:p>
            <a:fld id="{BB44241B-2579-694C-B40C-A1E3D5F0E4EC}" type="slidenum">
              <a:rPr lang="en-JP" smtClean="0"/>
              <a:t>11</a:t>
            </a:fld>
            <a:endParaRPr lang="en-JP"/>
          </a:p>
        </p:txBody>
      </p:sp>
      <p:sp>
        <p:nvSpPr>
          <p:cNvPr id="2" name="Shape 0">
            <a:extLst>
              <a:ext uri="{FF2B5EF4-FFF2-40B4-BE49-F238E27FC236}">
                <a16:creationId xmlns:a16="http://schemas.microsoft.com/office/drawing/2014/main" id="{143913EF-F896-AE4E-F43E-365049FE2DEE}"/>
              </a:ext>
            </a:extLst>
          </p:cNvPr>
          <p:cNvSpPr/>
          <p:nvPr/>
        </p:nvSpPr>
        <p:spPr>
          <a:xfrm>
            <a:off x="0" y="10277"/>
            <a:ext cx="9144000" cy="703227"/>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lang="en-JP" sz="2800" b="1" dirty="0">
                <a:latin typeface="Meiryo" panose="020B0604030504040204" pitchFamily="34" charset="-128"/>
                <a:ea typeface="Meiryo" panose="020B0604030504040204" pitchFamily="34" charset="-128"/>
                <a:cs typeface="Times New Roman" panose="02020603050405020304" pitchFamily="18" charset="0"/>
              </a:rPr>
              <a:t>DTLS (Datagram Transport Layer Security</a:t>
            </a:r>
            <a:r>
              <a:rPr lang="en-US" sz="2800" b="1" dirty="0">
                <a:latin typeface="Meiryo" panose="020B0604030504040204" pitchFamily="34" charset="-128"/>
                <a:ea typeface="Meiryo" panose="020B0604030504040204" pitchFamily="34" charset="-128"/>
                <a:cs typeface="Times New Roman" panose="02020603050405020304" pitchFamily="18" charset="0"/>
              </a:rPr>
              <a:t>）</a:t>
            </a:r>
            <a:endParaRPr lang="en-JP" sz="2800" b="1" dirty="0">
              <a:latin typeface="Meiryo" panose="020B0604030504040204" pitchFamily="34" charset="-128"/>
              <a:ea typeface="Meiryo" panose="020B0604030504040204" pitchFamily="34" charset="-128"/>
            </a:endParaRPr>
          </a:p>
        </p:txBody>
      </p:sp>
      <p:sp>
        <p:nvSpPr>
          <p:cNvPr id="3" name="Rounded Rectangle 2">
            <a:extLst>
              <a:ext uri="{FF2B5EF4-FFF2-40B4-BE49-F238E27FC236}">
                <a16:creationId xmlns:a16="http://schemas.microsoft.com/office/drawing/2014/main" id="{B580728A-FBBA-87A6-6CCB-CEBBC40E986F}"/>
              </a:ext>
            </a:extLst>
          </p:cNvPr>
          <p:cNvSpPr/>
          <p:nvPr/>
        </p:nvSpPr>
        <p:spPr>
          <a:xfrm>
            <a:off x="300930" y="1497479"/>
            <a:ext cx="961265" cy="529345"/>
          </a:xfrm>
          <a:prstGeom prst="roundRect">
            <a:avLst/>
          </a:prstGeom>
          <a:ln w="254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Client</a:t>
            </a:r>
            <a:endParaRPr lang="en-JP" dirty="0"/>
          </a:p>
        </p:txBody>
      </p:sp>
      <p:sp>
        <p:nvSpPr>
          <p:cNvPr id="5" name="Rounded Rectangle 4">
            <a:extLst>
              <a:ext uri="{FF2B5EF4-FFF2-40B4-BE49-F238E27FC236}">
                <a16:creationId xmlns:a16="http://schemas.microsoft.com/office/drawing/2014/main" id="{D4A1A0D0-01A8-8FD3-1DA7-CE159F3EE4BC}"/>
              </a:ext>
            </a:extLst>
          </p:cNvPr>
          <p:cNvSpPr/>
          <p:nvPr/>
        </p:nvSpPr>
        <p:spPr>
          <a:xfrm>
            <a:off x="2710513" y="1491914"/>
            <a:ext cx="1055063" cy="529350"/>
          </a:xfrm>
          <a:prstGeom prst="roundRect">
            <a:avLst/>
          </a:prstGeom>
          <a:ln w="254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JP" dirty="0"/>
          </a:p>
          <a:p>
            <a:pPr algn="ctr"/>
            <a:r>
              <a:rPr lang="en-JP" dirty="0"/>
              <a:t>Server </a:t>
            </a:r>
          </a:p>
          <a:p>
            <a:pPr algn="ctr"/>
            <a:endParaRPr lang="en-JP" dirty="0"/>
          </a:p>
        </p:txBody>
      </p:sp>
      <p:cxnSp>
        <p:nvCxnSpPr>
          <p:cNvPr id="7" name="Straight Connector 6">
            <a:extLst>
              <a:ext uri="{FF2B5EF4-FFF2-40B4-BE49-F238E27FC236}">
                <a16:creationId xmlns:a16="http://schemas.microsoft.com/office/drawing/2014/main" id="{4E2483AC-E61A-A7FF-7477-131A6351218A}"/>
              </a:ext>
            </a:extLst>
          </p:cNvPr>
          <p:cNvCxnSpPr>
            <a:cxnSpLocks/>
          </p:cNvCxnSpPr>
          <p:nvPr/>
        </p:nvCxnSpPr>
        <p:spPr>
          <a:xfrm flipH="1">
            <a:off x="496415" y="2041159"/>
            <a:ext cx="12874" cy="39421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8C3E66B-E0BD-AEAB-E4B1-904130439D71}"/>
              </a:ext>
            </a:extLst>
          </p:cNvPr>
          <p:cNvCxnSpPr>
            <a:cxnSpLocks/>
          </p:cNvCxnSpPr>
          <p:nvPr/>
        </p:nvCxnSpPr>
        <p:spPr>
          <a:xfrm>
            <a:off x="3591573" y="2041159"/>
            <a:ext cx="10088" cy="394219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6140D6C-FD27-90F3-8239-57A3899E74C3}"/>
              </a:ext>
            </a:extLst>
          </p:cNvPr>
          <p:cNvCxnSpPr>
            <a:cxnSpLocks/>
          </p:cNvCxnSpPr>
          <p:nvPr/>
        </p:nvCxnSpPr>
        <p:spPr>
          <a:xfrm>
            <a:off x="628872" y="2736446"/>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0BBABD6-7869-A29F-37DC-D366F2AED3B8}"/>
              </a:ext>
            </a:extLst>
          </p:cNvPr>
          <p:cNvCxnSpPr>
            <a:cxnSpLocks/>
          </p:cNvCxnSpPr>
          <p:nvPr/>
        </p:nvCxnSpPr>
        <p:spPr>
          <a:xfrm flipH="1">
            <a:off x="615988" y="3389610"/>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0481D8B-1352-04FC-01E6-04C11BE9EEE5}"/>
              </a:ext>
            </a:extLst>
          </p:cNvPr>
          <p:cNvSpPr txBox="1"/>
          <p:nvPr/>
        </p:nvSpPr>
        <p:spPr>
          <a:xfrm>
            <a:off x="1000465" y="2397892"/>
            <a:ext cx="1550104" cy="369332"/>
          </a:xfrm>
          <a:prstGeom prst="rect">
            <a:avLst/>
          </a:prstGeom>
          <a:noFill/>
        </p:spPr>
        <p:txBody>
          <a:bodyPr wrap="none" rtlCol="0">
            <a:spAutoFit/>
          </a:bodyPr>
          <a:lstStyle/>
          <a:p>
            <a:r>
              <a:rPr lang="en-JP" dirty="0"/>
              <a:t>Hello Message</a:t>
            </a:r>
          </a:p>
        </p:txBody>
      </p:sp>
      <p:cxnSp>
        <p:nvCxnSpPr>
          <p:cNvPr id="22" name="Straight Arrow Connector 21">
            <a:extLst>
              <a:ext uri="{FF2B5EF4-FFF2-40B4-BE49-F238E27FC236}">
                <a16:creationId xmlns:a16="http://schemas.microsoft.com/office/drawing/2014/main" id="{520136E2-A68D-4F0A-695D-E552422DB788}"/>
              </a:ext>
            </a:extLst>
          </p:cNvPr>
          <p:cNvCxnSpPr>
            <a:cxnSpLocks/>
          </p:cNvCxnSpPr>
          <p:nvPr/>
        </p:nvCxnSpPr>
        <p:spPr>
          <a:xfrm flipH="1">
            <a:off x="587004" y="4522527"/>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6D1243DF-495B-9333-EC47-57185863F266}"/>
              </a:ext>
            </a:extLst>
          </p:cNvPr>
          <p:cNvCxnSpPr>
            <a:cxnSpLocks/>
          </p:cNvCxnSpPr>
          <p:nvPr/>
        </p:nvCxnSpPr>
        <p:spPr>
          <a:xfrm>
            <a:off x="615988" y="3908279"/>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14B9CCE-1953-C5B2-9E41-FA078DCE2085}"/>
              </a:ext>
            </a:extLst>
          </p:cNvPr>
          <p:cNvSpPr txBox="1"/>
          <p:nvPr/>
        </p:nvSpPr>
        <p:spPr>
          <a:xfrm>
            <a:off x="862656" y="3026133"/>
            <a:ext cx="2275623" cy="369332"/>
          </a:xfrm>
          <a:prstGeom prst="rect">
            <a:avLst/>
          </a:prstGeom>
          <a:noFill/>
        </p:spPr>
        <p:txBody>
          <a:bodyPr wrap="none" rtlCol="0">
            <a:spAutoFit/>
          </a:bodyPr>
          <a:lstStyle/>
          <a:p>
            <a:r>
              <a:rPr lang="en-JP" dirty="0"/>
              <a:t>Server Hello Response</a:t>
            </a:r>
          </a:p>
        </p:txBody>
      </p:sp>
      <p:sp>
        <p:nvSpPr>
          <p:cNvPr id="25" name="TextBox 24">
            <a:extLst>
              <a:ext uri="{FF2B5EF4-FFF2-40B4-BE49-F238E27FC236}">
                <a16:creationId xmlns:a16="http://schemas.microsoft.com/office/drawing/2014/main" id="{B5EDA94A-5EB7-3D28-4AC1-F81F498BB0E0}"/>
              </a:ext>
            </a:extLst>
          </p:cNvPr>
          <p:cNvSpPr txBox="1"/>
          <p:nvPr/>
        </p:nvSpPr>
        <p:spPr>
          <a:xfrm>
            <a:off x="742144" y="3524612"/>
            <a:ext cx="2729689" cy="369332"/>
          </a:xfrm>
          <a:prstGeom prst="rect">
            <a:avLst/>
          </a:prstGeom>
          <a:noFill/>
        </p:spPr>
        <p:txBody>
          <a:bodyPr wrap="square" rtlCol="0">
            <a:spAutoFit/>
          </a:bodyPr>
          <a:lstStyle/>
          <a:p>
            <a:r>
              <a:rPr lang="en-JP" dirty="0"/>
              <a:t>Cer client key exchange</a:t>
            </a:r>
          </a:p>
        </p:txBody>
      </p:sp>
      <p:sp>
        <p:nvSpPr>
          <p:cNvPr id="26" name="TextBox 25">
            <a:extLst>
              <a:ext uri="{FF2B5EF4-FFF2-40B4-BE49-F238E27FC236}">
                <a16:creationId xmlns:a16="http://schemas.microsoft.com/office/drawing/2014/main" id="{9300F652-5BF2-3D6E-B88B-3AD39398B90A}"/>
              </a:ext>
            </a:extLst>
          </p:cNvPr>
          <p:cNvSpPr txBox="1"/>
          <p:nvPr/>
        </p:nvSpPr>
        <p:spPr>
          <a:xfrm>
            <a:off x="641747" y="4153195"/>
            <a:ext cx="2882199" cy="369332"/>
          </a:xfrm>
          <a:prstGeom prst="rect">
            <a:avLst/>
          </a:prstGeom>
          <a:noFill/>
        </p:spPr>
        <p:txBody>
          <a:bodyPr wrap="none" rtlCol="0">
            <a:spAutoFit/>
          </a:bodyPr>
          <a:lstStyle/>
          <a:p>
            <a:r>
              <a:rPr lang="en-JP" dirty="0"/>
              <a:t>Change Cipher Spec Finished</a:t>
            </a:r>
          </a:p>
        </p:txBody>
      </p:sp>
      <p:cxnSp>
        <p:nvCxnSpPr>
          <p:cNvPr id="27" name="Straight Arrow Connector 26">
            <a:extLst>
              <a:ext uri="{FF2B5EF4-FFF2-40B4-BE49-F238E27FC236}">
                <a16:creationId xmlns:a16="http://schemas.microsoft.com/office/drawing/2014/main" id="{133A1382-9B33-DC47-D402-9CE80635FA7E}"/>
              </a:ext>
            </a:extLst>
          </p:cNvPr>
          <p:cNvCxnSpPr>
            <a:cxnSpLocks/>
          </p:cNvCxnSpPr>
          <p:nvPr/>
        </p:nvCxnSpPr>
        <p:spPr>
          <a:xfrm>
            <a:off x="615988" y="5248986"/>
            <a:ext cx="2907958" cy="0"/>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516DFB1-29EE-AB80-5123-9B8828B83C8E}"/>
              </a:ext>
            </a:extLst>
          </p:cNvPr>
          <p:cNvSpPr txBox="1"/>
          <p:nvPr/>
        </p:nvSpPr>
        <p:spPr>
          <a:xfrm>
            <a:off x="1283794" y="4879653"/>
            <a:ext cx="1623265" cy="369332"/>
          </a:xfrm>
          <a:prstGeom prst="rect">
            <a:avLst/>
          </a:prstGeom>
          <a:noFill/>
        </p:spPr>
        <p:txBody>
          <a:bodyPr wrap="none" rtlCol="0">
            <a:spAutoFit/>
          </a:bodyPr>
          <a:lstStyle/>
          <a:p>
            <a:r>
              <a:rPr lang="en-JP" dirty="0"/>
              <a:t>Encrypted Data</a:t>
            </a:r>
          </a:p>
        </p:txBody>
      </p:sp>
      <p:sp>
        <p:nvSpPr>
          <p:cNvPr id="33" name="Shape 4">
            <a:extLst>
              <a:ext uri="{FF2B5EF4-FFF2-40B4-BE49-F238E27FC236}">
                <a16:creationId xmlns:a16="http://schemas.microsoft.com/office/drawing/2014/main" id="{31AAD2EC-53FA-2FC6-52C2-509E3DFE36B9}"/>
              </a:ext>
            </a:extLst>
          </p:cNvPr>
          <p:cNvSpPr/>
          <p:nvPr/>
        </p:nvSpPr>
        <p:spPr>
          <a:xfrm>
            <a:off x="4299835" y="2543173"/>
            <a:ext cx="4640229" cy="384048"/>
          </a:xfrm>
          <a:prstGeom prst="rect">
            <a:avLst/>
          </a:prstGeom>
          <a:solidFill>
            <a:schemeClr val="accent2">
              <a:lumMod val="60000"/>
              <a:lumOff val="40000"/>
            </a:schemeClr>
          </a:solidFill>
          <a:ln w="12700">
            <a:solidFill>
              <a:srgbClr val="2563A8"/>
            </a:solidFill>
            <a:prstDash val="solid"/>
          </a:ln>
        </p:spPr>
        <p:txBody>
          <a:bodyPr/>
          <a:lstStyle/>
          <a:p>
            <a:r>
              <a:rPr lang="en-US" sz="2000" b="1" dirty="0">
                <a:solidFill>
                  <a:schemeClr val="bg1"/>
                </a:solidFill>
                <a:latin typeface="Meiryo" panose="020B0604030504040204" pitchFamily="34" charset="-128"/>
                <a:ea typeface="Meiryo" panose="020B0604030504040204" pitchFamily="34" charset="-128"/>
              </a:rPr>
              <a:t>TLS</a:t>
            </a:r>
            <a:r>
              <a:rPr lang="ja-JP" altLang="en-US" sz="2000" b="1">
                <a:solidFill>
                  <a:schemeClr val="bg1"/>
                </a:solidFill>
                <a:latin typeface="Meiryo" panose="020B0604030504040204" pitchFamily="34" charset="-128"/>
                <a:ea typeface="Meiryo" panose="020B0604030504040204" pitchFamily="34" charset="-128"/>
              </a:rPr>
              <a:t>との違い</a:t>
            </a:r>
            <a:endParaRPr lang="en-JP" sz="2000" b="1" dirty="0">
              <a:solidFill>
                <a:schemeClr val="bg1"/>
              </a:solidFill>
              <a:latin typeface="Meiryo" panose="020B0604030504040204" pitchFamily="34" charset="-128"/>
              <a:ea typeface="Meiryo" panose="020B0604030504040204" pitchFamily="34" charset="-128"/>
            </a:endParaRPr>
          </a:p>
        </p:txBody>
      </p:sp>
      <p:sp>
        <p:nvSpPr>
          <p:cNvPr id="34" name="Shape 3">
            <a:extLst>
              <a:ext uri="{FF2B5EF4-FFF2-40B4-BE49-F238E27FC236}">
                <a16:creationId xmlns:a16="http://schemas.microsoft.com/office/drawing/2014/main" id="{2B945977-547B-EDC9-7F47-FF7EB7AA75C7}"/>
              </a:ext>
            </a:extLst>
          </p:cNvPr>
          <p:cNvSpPr/>
          <p:nvPr/>
        </p:nvSpPr>
        <p:spPr>
          <a:xfrm>
            <a:off x="4289095" y="2948346"/>
            <a:ext cx="4700807" cy="977171"/>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TLS</a:t>
            </a:r>
            <a:r>
              <a:rPr lang="ja-JP" altLang="en-US" sz="2000">
                <a:latin typeface="Meiryo" panose="020B0604030504040204" pitchFamily="34" charset="-128"/>
                <a:ea typeface="Meiryo" panose="020B0604030504040204" pitchFamily="34" charset="-128"/>
              </a:rPr>
              <a:t>は</a:t>
            </a:r>
            <a:r>
              <a:rPr lang="en-US" sz="2000" dirty="0">
                <a:latin typeface="Meiryo" panose="020B0604030504040204" pitchFamily="34" charset="-128"/>
                <a:ea typeface="Meiryo" panose="020B0604030504040204" pitchFamily="34" charset="-128"/>
              </a:rPr>
              <a:t>TCP</a:t>
            </a:r>
            <a:r>
              <a:rPr lang="ja-JP" altLang="en-US" sz="2000">
                <a:latin typeface="Meiryo" panose="020B0604030504040204" pitchFamily="34" charset="-128"/>
                <a:ea typeface="Meiryo" panose="020B0604030504040204" pitchFamily="34" charset="-128"/>
              </a:rPr>
              <a:t>上で動作するのに対し、</a:t>
            </a:r>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は</a:t>
            </a:r>
            <a:r>
              <a:rPr lang="en-US" sz="2000" dirty="0">
                <a:latin typeface="Meiryo" panose="020B0604030504040204" pitchFamily="34" charset="-128"/>
                <a:ea typeface="Meiryo" panose="020B0604030504040204" pitchFamily="34" charset="-128"/>
              </a:rPr>
              <a:t>UDP</a:t>
            </a:r>
            <a:r>
              <a:rPr lang="ja-JP" altLang="en-US" sz="2000">
                <a:latin typeface="Meiryo" panose="020B0604030504040204" pitchFamily="34" charset="-128"/>
                <a:ea typeface="Meiryo" panose="020B0604030504040204" pitchFamily="34" charset="-128"/>
              </a:rPr>
              <a:t>上で動作する点が大きな違いです</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35" name="Shape 11">
            <a:extLst>
              <a:ext uri="{FF2B5EF4-FFF2-40B4-BE49-F238E27FC236}">
                <a16:creationId xmlns:a16="http://schemas.microsoft.com/office/drawing/2014/main" id="{9959B03D-6C36-F282-1C83-F5BB1554DC09}"/>
              </a:ext>
            </a:extLst>
          </p:cNvPr>
          <p:cNvSpPr/>
          <p:nvPr/>
        </p:nvSpPr>
        <p:spPr>
          <a:xfrm>
            <a:off x="4289093" y="828411"/>
            <a:ext cx="4656482" cy="530059"/>
          </a:xfrm>
          <a:prstGeom prst="rect">
            <a:avLst/>
          </a:prstGeom>
          <a:solidFill>
            <a:schemeClr val="accent6">
              <a:lumMod val="60000"/>
              <a:lumOff val="40000"/>
            </a:schemeClr>
          </a:solidFill>
          <a:ln w="12700">
            <a:noFill/>
            <a:prstDash val="solid"/>
          </a:ln>
        </p:spPr>
        <p:txBody>
          <a:bodyPr/>
          <a:lstStyle/>
          <a:p>
            <a:r>
              <a:rPr lang="en-US" sz="2000" b="1" dirty="0">
                <a:solidFill>
                  <a:schemeClr val="bg1"/>
                </a:solidFill>
                <a:latin typeface="Meiryo" panose="020B0604030504040204" pitchFamily="34" charset="-128"/>
                <a:ea typeface="Meiryo" panose="020B0604030504040204" pitchFamily="34" charset="-128"/>
              </a:rPr>
              <a:t>DTLS</a:t>
            </a:r>
            <a:r>
              <a:rPr lang="ja-JP" altLang="en-US" sz="2000" b="1">
                <a:solidFill>
                  <a:schemeClr val="bg1"/>
                </a:solidFill>
                <a:latin typeface="Meiryo" panose="020B0604030504040204" pitchFamily="34" charset="-128"/>
                <a:ea typeface="Meiryo" panose="020B0604030504040204" pitchFamily="34" charset="-128"/>
              </a:rPr>
              <a:t>とは</a:t>
            </a:r>
          </a:p>
        </p:txBody>
      </p:sp>
      <p:sp>
        <p:nvSpPr>
          <p:cNvPr id="36" name="Shape 3">
            <a:extLst>
              <a:ext uri="{FF2B5EF4-FFF2-40B4-BE49-F238E27FC236}">
                <a16:creationId xmlns:a16="http://schemas.microsoft.com/office/drawing/2014/main" id="{6193179B-EEC2-7FB3-0878-DB21FDBF99FF}"/>
              </a:ext>
            </a:extLst>
          </p:cNvPr>
          <p:cNvSpPr/>
          <p:nvPr/>
        </p:nvSpPr>
        <p:spPr>
          <a:xfrm>
            <a:off x="4289097" y="1417118"/>
            <a:ext cx="4656478" cy="970507"/>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は、</a:t>
            </a:r>
            <a:r>
              <a:rPr lang="en-US" sz="2000" dirty="0">
                <a:latin typeface="Meiryo" panose="020B0604030504040204" pitchFamily="34" charset="-128"/>
                <a:ea typeface="Meiryo" panose="020B0604030504040204" pitchFamily="34" charset="-128"/>
              </a:rPr>
              <a:t>UDP</a:t>
            </a:r>
            <a:r>
              <a:rPr lang="ja-JP" altLang="en-US" sz="2000">
                <a:latin typeface="Meiryo" panose="020B0604030504040204" pitchFamily="34" charset="-128"/>
                <a:ea typeface="Meiryo" panose="020B0604030504040204" pitchFamily="34" charset="-128"/>
              </a:rPr>
              <a:t>通信において</a:t>
            </a:r>
            <a:r>
              <a:rPr lang="en-US" sz="2000" dirty="0">
                <a:latin typeface="Meiryo" panose="020B0604030504040204" pitchFamily="34" charset="-128"/>
                <a:ea typeface="Meiryo" panose="020B0604030504040204" pitchFamily="34" charset="-128"/>
              </a:rPr>
              <a:t>TLS</a:t>
            </a:r>
            <a:r>
              <a:rPr lang="ja-JP" altLang="en-US" sz="2000">
                <a:latin typeface="Meiryo" panose="020B0604030504040204" pitchFamily="34" charset="-128"/>
                <a:ea typeface="Meiryo" panose="020B0604030504040204" pitchFamily="34" charset="-128"/>
              </a:rPr>
              <a:t>と同様のセキュリティ機能を提供するプロトコルです</a:t>
            </a:r>
            <a:r>
              <a:rPr lang="en-US" altLang="ja-JP" sz="2000" dirty="0">
                <a:latin typeface="Meiryo" panose="020B0604030504040204" pitchFamily="34" charset="-128"/>
                <a:ea typeface="Meiryo" panose="020B0604030504040204" pitchFamily="34" charset="-128"/>
              </a:rPr>
              <a:t>.</a:t>
            </a:r>
            <a:endParaRPr lang="ja-JP" altLang="en-US" sz="2000">
              <a:latin typeface="Meiryo" panose="020B0604030504040204" pitchFamily="34" charset="-128"/>
              <a:ea typeface="Meiryo" panose="020B0604030504040204" pitchFamily="34" charset="-128"/>
            </a:endParaRPr>
          </a:p>
        </p:txBody>
      </p:sp>
      <p:sp>
        <p:nvSpPr>
          <p:cNvPr id="41" name="Shape 18">
            <a:extLst>
              <a:ext uri="{FF2B5EF4-FFF2-40B4-BE49-F238E27FC236}">
                <a16:creationId xmlns:a16="http://schemas.microsoft.com/office/drawing/2014/main" id="{7BC5E228-570A-6E65-4EAD-8A6A32A52664}"/>
              </a:ext>
            </a:extLst>
          </p:cNvPr>
          <p:cNvSpPr/>
          <p:nvPr/>
        </p:nvSpPr>
        <p:spPr>
          <a:xfrm>
            <a:off x="4345697" y="4223664"/>
            <a:ext cx="4594367" cy="384048"/>
          </a:xfrm>
          <a:prstGeom prst="rect">
            <a:avLst/>
          </a:prstGeom>
          <a:solidFill>
            <a:schemeClr val="accent1">
              <a:lumMod val="75000"/>
            </a:schemeClr>
          </a:solidFill>
          <a:ln w="12700">
            <a:solidFill>
              <a:srgbClr val="1E3A5F"/>
            </a:solidFill>
            <a:prstDash val="solid"/>
          </a:ln>
        </p:spPr>
        <p:txBody>
          <a:bodyPr/>
          <a:lstStyle/>
          <a:p>
            <a:r>
              <a:rPr lang="en-US" sz="1800" b="1" dirty="0">
                <a:solidFill>
                  <a:schemeClr val="bg1"/>
                </a:solidFill>
                <a:latin typeface="Meiryo" panose="020B0604030504040204" pitchFamily="34" charset="-128"/>
                <a:ea typeface="Meiryo" panose="020B0604030504040204" pitchFamily="34" charset="-128"/>
              </a:rPr>
              <a:t>DTLS</a:t>
            </a:r>
            <a:r>
              <a:rPr lang="ja-JP" altLang="en-US" sz="1800" b="1">
                <a:solidFill>
                  <a:schemeClr val="bg1"/>
                </a:solidFill>
                <a:latin typeface="Meiryo" panose="020B0604030504040204" pitchFamily="34" charset="-128"/>
                <a:ea typeface="Meiryo" panose="020B0604030504040204" pitchFamily="34" charset="-128"/>
              </a:rPr>
              <a:t>プロトコル処理</a:t>
            </a:r>
            <a:endParaRPr lang="en-JP" b="1" dirty="0">
              <a:solidFill>
                <a:schemeClr val="bg1"/>
              </a:solidFill>
              <a:latin typeface="Meiryo" panose="020B0604030504040204" pitchFamily="34" charset="-128"/>
              <a:ea typeface="Meiryo" panose="020B0604030504040204" pitchFamily="34" charset="-128"/>
            </a:endParaRPr>
          </a:p>
        </p:txBody>
      </p:sp>
      <p:sp>
        <p:nvSpPr>
          <p:cNvPr id="43" name="Shape 3">
            <a:extLst>
              <a:ext uri="{FF2B5EF4-FFF2-40B4-BE49-F238E27FC236}">
                <a16:creationId xmlns:a16="http://schemas.microsoft.com/office/drawing/2014/main" id="{E0A1BDFD-493C-D745-B092-B4DB553F566C}"/>
              </a:ext>
            </a:extLst>
          </p:cNvPr>
          <p:cNvSpPr/>
          <p:nvPr/>
        </p:nvSpPr>
        <p:spPr>
          <a:xfrm>
            <a:off x="4345697" y="4607712"/>
            <a:ext cx="4602895" cy="1673817"/>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pPr marL="285750" indent="-285750">
              <a:buFont typeface="Arial" panose="020B0604020202020204" pitchFamily="34" charset="0"/>
              <a:buChar char="•"/>
            </a:pPr>
            <a:endParaRPr lang="en-US" sz="2000" b="1" dirty="0">
              <a:latin typeface="Meiryo" panose="020B0604030504040204" pitchFamily="34" charset="-128"/>
              <a:ea typeface="Meiryo" panose="020B0604030504040204" pitchFamily="34" charset="-128"/>
            </a:endParaRPr>
          </a:p>
          <a:p>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暗号化・復号化、メッセージの</a:t>
            </a: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整合性確認などの処理を行います</a:t>
            </a:r>
            <a:r>
              <a:rPr lang="en-US" altLang="ja-JP" sz="2000" dirty="0">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a:p>
            <a:endParaRPr lang="en-JP" sz="2000"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7699061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3775838-8A78-616D-45AA-9C6650A43B6C}"/>
              </a:ext>
            </a:extLst>
          </p:cNvPr>
          <p:cNvSpPr>
            <a:spLocks noGrp="1"/>
          </p:cNvSpPr>
          <p:nvPr>
            <p:ph type="sldNum" sz="quarter" idx="12"/>
          </p:nvPr>
        </p:nvSpPr>
        <p:spPr/>
        <p:txBody>
          <a:bodyPr/>
          <a:lstStyle/>
          <a:p>
            <a:fld id="{BB44241B-2579-694C-B40C-A1E3D5F0E4EC}" type="slidenum">
              <a:rPr lang="en-JP" smtClean="0"/>
              <a:pPr/>
              <a:t>12</a:t>
            </a:fld>
            <a:endParaRPr lang="en-JP" dirty="0"/>
          </a:p>
        </p:txBody>
      </p:sp>
      <p:sp>
        <p:nvSpPr>
          <p:cNvPr id="12" name="吹き出し: 角を丸めた四角形 47">
            <a:extLst>
              <a:ext uri="{FF2B5EF4-FFF2-40B4-BE49-F238E27FC236}">
                <a16:creationId xmlns:a16="http://schemas.microsoft.com/office/drawing/2014/main" id="{6CA0EAC8-A804-BA57-E241-15B065B6DEFC}"/>
              </a:ext>
            </a:extLst>
          </p:cNvPr>
          <p:cNvSpPr/>
          <p:nvPr/>
        </p:nvSpPr>
        <p:spPr>
          <a:xfrm rot="10800000" flipV="1">
            <a:off x="5865570" y="819350"/>
            <a:ext cx="2915148" cy="1267437"/>
          </a:xfrm>
          <a:prstGeom prst="wedgeRoundRectCallout">
            <a:avLst>
              <a:gd name="adj1" fmla="val 59416"/>
              <a:gd name="adj2" fmla="val -12782"/>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r>
              <a:rPr lang="en-US" altLang="ja-JP" sz="1667" b="1" dirty="0">
                <a:solidFill>
                  <a:schemeClr val="tx1"/>
                </a:solidFill>
                <a:latin typeface="Meiryo" panose="020B0604030504040204" pitchFamily="34" charset="-128"/>
                <a:ea typeface="Meiryo" panose="020B0604030504040204" pitchFamily="34" charset="-128"/>
              </a:rPr>
              <a:t>1.</a:t>
            </a:r>
            <a:r>
              <a:rPr lang="ja-JP" altLang="en-US" sz="1667" b="1">
                <a:solidFill>
                  <a:schemeClr val="tx1"/>
                </a:solidFill>
                <a:latin typeface="Meiryo" panose="020B0604030504040204" pitchFamily="34" charset="-128"/>
                <a:ea typeface="Meiryo" panose="020B0604030504040204" pitchFamily="34" charset="-128"/>
              </a:rPr>
              <a:t>人間がプログラムしなくても、経験（データ）から学習する仕組み</a:t>
            </a:r>
            <a:endParaRPr lang="ja-JP" altLang="en-US" sz="1667">
              <a:solidFill>
                <a:schemeClr val="tx1"/>
              </a:solidFill>
              <a:latin typeface="Meiryo" panose="020B0604030504040204" pitchFamily="34" charset="-128"/>
              <a:ea typeface="Meiryo" panose="020B0604030504040204" pitchFamily="34" charset="-128"/>
            </a:endParaRPr>
          </a:p>
          <a:p>
            <a:endParaRPr lang="en-JP" sz="1667" dirty="0">
              <a:solidFill>
                <a:schemeClr val="tx1"/>
              </a:solidFill>
              <a:latin typeface="Meiryo" panose="020B0604030504040204" pitchFamily="34" charset="-128"/>
              <a:ea typeface="Meiryo" panose="020B0604030504040204" pitchFamily="34" charset="-128"/>
            </a:endParaRPr>
          </a:p>
        </p:txBody>
      </p:sp>
      <p:sp>
        <p:nvSpPr>
          <p:cNvPr id="18" name="TextBox 17">
            <a:extLst>
              <a:ext uri="{FF2B5EF4-FFF2-40B4-BE49-F238E27FC236}">
                <a16:creationId xmlns:a16="http://schemas.microsoft.com/office/drawing/2014/main" id="{33F8C54A-C1D3-0F8A-A8BE-1F6C6FA40FE2}"/>
              </a:ext>
            </a:extLst>
          </p:cNvPr>
          <p:cNvSpPr txBox="1"/>
          <p:nvPr/>
        </p:nvSpPr>
        <p:spPr>
          <a:xfrm>
            <a:off x="166104" y="6494464"/>
            <a:ext cx="4888522" cy="253916"/>
          </a:xfrm>
          <a:prstGeom prst="rect">
            <a:avLst/>
          </a:prstGeom>
          <a:noFill/>
        </p:spPr>
        <p:txBody>
          <a:bodyPr wrap="square">
            <a:spAutoFit/>
          </a:bodyPr>
          <a:lstStyle/>
          <a:p>
            <a:r>
              <a:rPr lang="en-US" sz="1050" dirty="0">
                <a:latin typeface="Meiryo" panose="020B0604030504040204" pitchFamily="34" charset="-128"/>
                <a:ea typeface="Meiryo" panose="020B0604030504040204" pitchFamily="34" charset="-128"/>
              </a:rPr>
              <a:t>[9] </a:t>
            </a:r>
            <a:r>
              <a:rPr lang="en-JP" sz="1050" dirty="0">
                <a:latin typeface="Meiryo" panose="020B0604030504040204" pitchFamily="34" charset="-128"/>
                <a:ea typeface="Meiryo" panose="020B0604030504040204" pitchFamily="34" charset="-128"/>
              </a:rPr>
              <a:t>https://ischool.syracuse.edu/what-is-machine-learning/</a:t>
            </a:r>
          </a:p>
        </p:txBody>
      </p:sp>
      <p:sp>
        <p:nvSpPr>
          <p:cNvPr id="19" name="吹き出し: 角を丸めた四角形 47">
            <a:extLst>
              <a:ext uri="{FF2B5EF4-FFF2-40B4-BE49-F238E27FC236}">
                <a16:creationId xmlns:a16="http://schemas.microsoft.com/office/drawing/2014/main" id="{7653D000-6485-0111-549C-0284DE58E530}"/>
              </a:ext>
            </a:extLst>
          </p:cNvPr>
          <p:cNvSpPr/>
          <p:nvPr/>
        </p:nvSpPr>
        <p:spPr>
          <a:xfrm rot="10800000" flipV="1">
            <a:off x="5607829" y="2382392"/>
            <a:ext cx="3240104" cy="1132253"/>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altLang="ja-JP" sz="1667" b="1" dirty="0">
                <a:solidFill>
                  <a:schemeClr val="tx1"/>
                </a:solidFill>
                <a:latin typeface="Meiryo" panose="020B0604030504040204" pitchFamily="34" charset="-128"/>
                <a:ea typeface="Meiryo" panose="020B0604030504040204" pitchFamily="34" charset="-128"/>
              </a:rPr>
              <a:t>2.</a:t>
            </a:r>
            <a:r>
              <a:rPr lang="ja-JP" altLang="en-US" sz="1667" b="1">
                <a:solidFill>
                  <a:schemeClr val="tx1"/>
                </a:solidFill>
                <a:latin typeface="Meiryo" panose="020B0604030504040204" pitchFamily="34" charset="-128"/>
                <a:ea typeface="Meiryo" panose="020B0604030504040204" pitchFamily="34" charset="-128"/>
              </a:rPr>
              <a:t>画像認識・異常検知・音声認識などに広く利用される</a:t>
            </a:r>
            <a:endParaRPr lang="en-US" altLang="ja-JP" sz="1667" b="1" dirty="0">
              <a:solidFill>
                <a:schemeClr val="tx1"/>
              </a:solidFill>
              <a:latin typeface="Meiryo" panose="020B0604030504040204" pitchFamily="34" charset="-128"/>
              <a:ea typeface="Meiryo" panose="020B0604030504040204" pitchFamily="34" charset="-128"/>
            </a:endParaRPr>
          </a:p>
          <a:p>
            <a:pPr algn="ctr"/>
            <a:endParaRPr lang="ja-JP" altLang="en-US" sz="1667">
              <a:solidFill>
                <a:schemeClr val="tx1"/>
              </a:solidFill>
              <a:latin typeface="Meiryo" panose="020B0604030504040204" pitchFamily="34" charset="-128"/>
              <a:ea typeface="Meiryo" panose="020B0604030504040204" pitchFamily="34" charset="-128"/>
            </a:endParaRPr>
          </a:p>
        </p:txBody>
      </p:sp>
      <p:sp>
        <p:nvSpPr>
          <p:cNvPr id="20" name="吹き出し: 角を丸めた四角形 47">
            <a:extLst>
              <a:ext uri="{FF2B5EF4-FFF2-40B4-BE49-F238E27FC236}">
                <a16:creationId xmlns:a16="http://schemas.microsoft.com/office/drawing/2014/main" id="{68ECF0A3-0DE0-FBC1-1D18-67F734532813}"/>
              </a:ext>
            </a:extLst>
          </p:cNvPr>
          <p:cNvSpPr/>
          <p:nvPr/>
        </p:nvSpPr>
        <p:spPr>
          <a:xfrm rot="10800000" flipV="1">
            <a:off x="5818054" y="3979358"/>
            <a:ext cx="2962663" cy="1183306"/>
          </a:xfrm>
          <a:prstGeom prst="wedgeRoundRectCallout">
            <a:avLst>
              <a:gd name="adj1" fmla="val 58612"/>
              <a:gd name="adj2" fmla="val 22485"/>
              <a:gd name="adj3" fmla="val 1666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endParaRPr lang="en-US" altLang="ja-JP" sz="1667" b="1" dirty="0">
              <a:solidFill>
                <a:schemeClr val="tx1"/>
              </a:solidFill>
              <a:latin typeface="Meiryo" panose="020B0604030504040204" pitchFamily="34" charset="-128"/>
              <a:ea typeface="Meiryo" panose="020B0604030504040204" pitchFamily="34" charset="-128"/>
            </a:endParaRPr>
          </a:p>
          <a:p>
            <a:endParaRPr lang="en-US" altLang="ja-JP" sz="1667" b="1" dirty="0">
              <a:solidFill>
                <a:schemeClr val="tx1"/>
              </a:solidFill>
              <a:latin typeface="Meiryo" panose="020B0604030504040204" pitchFamily="34" charset="-128"/>
              <a:ea typeface="Meiryo" panose="020B0604030504040204" pitchFamily="34" charset="-128"/>
            </a:endParaRPr>
          </a:p>
          <a:p>
            <a:r>
              <a:rPr lang="en-US" altLang="ja-JP" sz="1667" b="1" dirty="0">
                <a:solidFill>
                  <a:schemeClr val="tx1"/>
                </a:solidFill>
                <a:latin typeface="Meiryo" panose="020B0604030504040204" pitchFamily="34" charset="-128"/>
                <a:ea typeface="Meiryo" panose="020B0604030504040204" pitchFamily="34" charset="-128"/>
              </a:rPr>
              <a:t>3.</a:t>
            </a:r>
            <a:r>
              <a:rPr lang="ja-JP" altLang="en-US" sz="1667" b="1">
                <a:solidFill>
                  <a:schemeClr val="tx1"/>
                </a:solidFill>
                <a:latin typeface="Meiryo" panose="020B0604030504040204" pitchFamily="34" charset="-128"/>
                <a:ea typeface="Meiryo" panose="020B0604030504040204" pitchFamily="34" charset="-128"/>
              </a:rPr>
              <a:t>大量のデータ </a:t>
            </a:r>
            <a:r>
              <a:rPr lang="en-US" altLang="ja-JP" sz="1667" b="1" dirty="0">
                <a:solidFill>
                  <a:schemeClr val="tx1"/>
                </a:solidFill>
                <a:latin typeface="Meiryo" panose="020B0604030504040204" pitchFamily="34" charset="-128"/>
                <a:ea typeface="Meiryo" panose="020B0604030504040204" pitchFamily="34" charset="-128"/>
              </a:rPr>
              <a:t>+ </a:t>
            </a:r>
            <a:r>
              <a:rPr lang="ja-JP" altLang="en-US" sz="1667" b="1">
                <a:solidFill>
                  <a:schemeClr val="tx1"/>
                </a:solidFill>
                <a:latin typeface="Meiryo" panose="020B0604030504040204" pitchFamily="34" charset="-128"/>
                <a:ea typeface="Meiryo" panose="020B0604030504040204" pitchFamily="34" charset="-128"/>
              </a:rPr>
              <a:t>アルゴリズム </a:t>
            </a:r>
            <a:r>
              <a:rPr lang="en-US" altLang="ja-JP" sz="1667" b="1" dirty="0">
                <a:solidFill>
                  <a:schemeClr val="tx1"/>
                </a:solidFill>
                <a:latin typeface="Meiryo" panose="020B0604030504040204" pitchFamily="34" charset="-128"/>
                <a:ea typeface="Meiryo" panose="020B0604030504040204" pitchFamily="34" charset="-128"/>
              </a:rPr>
              <a:t>+ </a:t>
            </a:r>
            <a:r>
              <a:rPr lang="ja-JP" altLang="en-US" sz="1667" b="1">
                <a:solidFill>
                  <a:schemeClr val="tx1"/>
                </a:solidFill>
                <a:latin typeface="Meiryo" panose="020B0604030504040204" pitchFamily="34" charset="-128"/>
                <a:ea typeface="Meiryo" panose="020B0604030504040204" pitchFamily="34" charset="-128"/>
              </a:rPr>
              <a:t>計算資源 → 高精度な予測</a:t>
            </a:r>
            <a:endParaRPr lang="en-US" altLang="ja-JP" sz="1667" b="1" dirty="0">
              <a:solidFill>
                <a:schemeClr val="tx1"/>
              </a:solidFill>
              <a:latin typeface="Meiryo" panose="020B0604030504040204" pitchFamily="34" charset="-128"/>
              <a:ea typeface="Meiryo" panose="020B0604030504040204" pitchFamily="34" charset="-128"/>
            </a:endParaRPr>
          </a:p>
          <a:p>
            <a:endParaRPr lang="ja-JP" altLang="en-US" sz="1500">
              <a:solidFill>
                <a:schemeClr val="tx1"/>
              </a:solidFill>
              <a:latin typeface="Meiryo" panose="020B0604030504040204" pitchFamily="34" charset="-128"/>
              <a:ea typeface="Meiryo" panose="020B0604030504040204" pitchFamily="34" charset="-128"/>
            </a:endParaRPr>
          </a:p>
        </p:txBody>
      </p:sp>
      <p:sp>
        <p:nvSpPr>
          <p:cNvPr id="22" name="TextBox 21">
            <a:extLst>
              <a:ext uri="{FF2B5EF4-FFF2-40B4-BE49-F238E27FC236}">
                <a16:creationId xmlns:a16="http://schemas.microsoft.com/office/drawing/2014/main" id="{F1372356-A1FC-12E3-172F-2814DF70F933}"/>
              </a:ext>
            </a:extLst>
          </p:cNvPr>
          <p:cNvSpPr txBox="1"/>
          <p:nvPr/>
        </p:nvSpPr>
        <p:spPr>
          <a:xfrm>
            <a:off x="166104" y="5278789"/>
            <a:ext cx="8681829" cy="1015663"/>
          </a:xfrm>
          <a:prstGeom prst="rect">
            <a:avLst/>
          </a:prstGeom>
          <a:noFill/>
        </p:spPr>
        <p:txBody>
          <a:bodyPr wrap="square">
            <a:spAutoFit/>
          </a:bodyPr>
          <a:lstStyle/>
          <a:p>
            <a:pPr defTabSz="914363">
              <a:defRPr/>
            </a:pPr>
            <a:r>
              <a:rPr lang="en-JP" sz="2000" dirty="0">
                <a:latin typeface="Meiryo" panose="020B0604030504040204" pitchFamily="34" charset="-128"/>
                <a:ea typeface="Meiryo" panose="020B0604030504040204" pitchFamily="34" charset="-128"/>
              </a:rPr>
              <a:t>Machine Learning（機械学習）とは、コンピュータが明確なプログラムを書かなくても、データや経験から自動的に学習し、パターンを見つけたり、将来の結果を予測したりする技術です.</a:t>
            </a:r>
            <a:endParaRPr lang="en-JP" sz="2000" dirty="0"/>
          </a:p>
        </p:txBody>
      </p:sp>
      <p:sp>
        <p:nvSpPr>
          <p:cNvPr id="2" name="Shape 0">
            <a:extLst>
              <a:ext uri="{FF2B5EF4-FFF2-40B4-BE49-F238E27FC236}">
                <a16:creationId xmlns:a16="http://schemas.microsoft.com/office/drawing/2014/main" id="{F24D36E2-E3B0-4843-6D1D-7FEFA4876CAD}"/>
              </a:ext>
            </a:extLst>
          </p:cNvPr>
          <p:cNvSpPr/>
          <p:nvPr/>
        </p:nvSpPr>
        <p:spPr>
          <a:xfrm>
            <a:off x="0" y="1"/>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l" fontAlgn="base"/>
            <a:r>
              <a:rPr lang="en-US" altLang="ja-JP" sz="3200" b="1" dirty="0">
                <a:latin typeface="Meiryo" panose="020B0604030504040204" pitchFamily="34" charset="-128"/>
                <a:ea typeface="Meiryo" panose="020B0604030504040204" pitchFamily="34" charset="-128"/>
              </a:rPr>
              <a:t>  </a:t>
            </a:r>
            <a:r>
              <a:rPr lang="ja-JP" altLang="en-US" sz="3200" b="1">
                <a:latin typeface="Meiryo" panose="020B0604030504040204" pitchFamily="34" charset="-128"/>
                <a:ea typeface="Meiryo" panose="020B0604030504040204" pitchFamily="34" charset="-128"/>
              </a:rPr>
              <a:t>機械学習</a:t>
            </a: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pic>
        <p:nvPicPr>
          <p:cNvPr id="3" name="Picture 2">
            <a:extLst>
              <a:ext uri="{FF2B5EF4-FFF2-40B4-BE49-F238E27FC236}">
                <a16:creationId xmlns:a16="http://schemas.microsoft.com/office/drawing/2014/main" id="{A7DA2BBB-256E-030E-CD7A-61342B0C8661}"/>
              </a:ext>
            </a:extLst>
          </p:cNvPr>
          <p:cNvPicPr>
            <a:picLocks noChangeAspect="1"/>
          </p:cNvPicPr>
          <p:nvPr/>
        </p:nvPicPr>
        <p:blipFill>
          <a:blip r:embed="rId3"/>
          <a:stretch>
            <a:fillRect/>
          </a:stretch>
        </p:blipFill>
        <p:spPr>
          <a:xfrm>
            <a:off x="37097" y="695738"/>
            <a:ext cx="5270399" cy="4283765"/>
          </a:xfrm>
          <a:prstGeom prst="rect">
            <a:avLst/>
          </a:prstGeom>
        </p:spPr>
      </p:pic>
    </p:spTree>
    <p:extLst>
      <p:ext uri="{BB962C8B-B14F-4D97-AF65-F5344CB8AC3E}">
        <p14:creationId xmlns:p14="http://schemas.microsoft.com/office/powerpoint/2010/main" val="1785483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25E1A69F-37CF-C4B0-17D4-91D2899ADB0D}"/>
              </a:ext>
            </a:extLst>
          </p:cNvPr>
          <p:cNvSpPr/>
          <p:nvPr/>
        </p:nvSpPr>
        <p:spPr>
          <a:xfrm>
            <a:off x="0" y="1"/>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l" fontAlgn="base"/>
            <a:r>
              <a:rPr lang="en-US" altLang="ja-JP" sz="3200" b="1" dirty="0">
                <a:latin typeface="Meiryo" panose="020B0604030504040204" pitchFamily="34" charset="-128"/>
                <a:ea typeface="Meiryo" panose="020B0604030504040204" pitchFamily="34" charset="-128"/>
              </a:rPr>
              <a:t>  </a:t>
            </a:r>
            <a:r>
              <a:rPr lang="en-US" sz="3200" b="1" dirty="0">
                <a:latin typeface="Meiryo" panose="020B0604030504040204" pitchFamily="34" charset="-128"/>
                <a:ea typeface="Meiryo" panose="020B0604030504040204" pitchFamily="34" charset="-128"/>
              </a:rPr>
              <a:t>Random forest — workflow</a:t>
            </a:r>
            <a:br>
              <a:rPr lang="en-US" sz="3200" b="1" dirty="0">
                <a:latin typeface="Meiryo" panose="020B0604030504040204" pitchFamily="34" charset="-128"/>
                <a:ea typeface="Meiryo" panose="020B0604030504040204" pitchFamily="34" charset="-128"/>
              </a:rPr>
            </a:b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pic>
        <p:nvPicPr>
          <p:cNvPr id="5" name="Picture 4">
            <a:extLst>
              <a:ext uri="{FF2B5EF4-FFF2-40B4-BE49-F238E27FC236}">
                <a16:creationId xmlns:a16="http://schemas.microsoft.com/office/drawing/2014/main" id="{D2E35B68-1A65-A1C6-857E-ADE316C8DA7B}"/>
              </a:ext>
            </a:extLst>
          </p:cNvPr>
          <p:cNvPicPr>
            <a:picLocks noChangeAspect="1"/>
          </p:cNvPicPr>
          <p:nvPr/>
        </p:nvPicPr>
        <p:blipFill>
          <a:blip r:embed="rId2"/>
          <a:stretch>
            <a:fillRect/>
          </a:stretch>
        </p:blipFill>
        <p:spPr>
          <a:xfrm>
            <a:off x="90236" y="1085850"/>
            <a:ext cx="4884821" cy="4686300"/>
          </a:xfrm>
          <a:prstGeom prst="rect">
            <a:avLst/>
          </a:prstGeom>
        </p:spPr>
      </p:pic>
      <p:sp>
        <p:nvSpPr>
          <p:cNvPr id="7" name="TextBox 6">
            <a:extLst>
              <a:ext uri="{FF2B5EF4-FFF2-40B4-BE49-F238E27FC236}">
                <a16:creationId xmlns:a16="http://schemas.microsoft.com/office/drawing/2014/main" id="{797A8BD9-A1ED-9116-5014-2B955F65C2F0}"/>
              </a:ext>
            </a:extLst>
          </p:cNvPr>
          <p:cNvSpPr txBox="1"/>
          <p:nvPr/>
        </p:nvSpPr>
        <p:spPr>
          <a:xfrm>
            <a:off x="0" y="6371649"/>
            <a:ext cx="6644308" cy="430887"/>
          </a:xfrm>
          <a:prstGeom prst="rect">
            <a:avLst/>
          </a:prstGeom>
          <a:noFill/>
        </p:spPr>
        <p:txBody>
          <a:bodyPr wrap="square">
            <a:spAutoFit/>
          </a:bodyPr>
          <a:lstStyle/>
          <a:p>
            <a:r>
              <a:rPr lang="en-JP" sz="1100" dirty="0">
                <a:latin typeface="Meiryo" panose="020B0604030504040204" pitchFamily="34" charset="-128"/>
                <a:ea typeface="Meiryo" panose="020B0604030504040204" pitchFamily="34" charset="-128"/>
              </a:rPr>
              <a:t>[5] https://medium.com/@abhishekjainindore24/everything-about-random-forest-90c106d63989</a:t>
            </a:r>
          </a:p>
        </p:txBody>
      </p:sp>
      <p:sp>
        <p:nvSpPr>
          <p:cNvPr id="8" name="Slide Number Placeholder 7">
            <a:extLst>
              <a:ext uri="{FF2B5EF4-FFF2-40B4-BE49-F238E27FC236}">
                <a16:creationId xmlns:a16="http://schemas.microsoft.com/office/drawing/2014/main" id="{075B570F-5CB2-00EE-1711-9DB614C95FB3}"/>
              </a:ext>
            </a:extLst>
          </p:cNvPr>
          <p:cNvSpPr>
            <a:spLocks noGrp="1"/>
          </p:cNvSpPr>
          <p:nvPr>
            <p:ph type="sldNum" sz="quarter" idx="12"/>
          </p:nvPr>
        </p:nvSpPr>
        <p:spPr/>
        <p:txBody>
          <a:bodyPr/>
          <a:lstStyle/>
          <a:p>
            <a:fld id="{828F3BD4-1AF2-D144-8129-4D42AD448F5E}" type="slidenum">
              <a:rPr lang="en-JP" smtClean="0"/>
              <a:t>13</a:t>
            </a:fld>
            <a:endParaRPr lang="en-JP"/>
          </a:p>
        </p:txBody>
      </p:sp>
      <p:sp>
        <p:nvSpPr>
          <p:cNvPr id="10" name="TextBox 9">
            <a:extLst>
              <a:ext uri="{FF2B5EF4-FFF2-40B4-BE49-F238E27FC236}">
                <a16:creationId xmlns:a16="http://schemas.microsoft.com/office/drawing/2014/main" id="{2229D917-86AC-0D79-1772-34FA8F79B601}"/>
              </a:ext>
            </a:extLst>
          </p:cNvPr>
          <p:cNvSpPr txBox="1"/>
          <p:nvPr/>
        </p:nvSpPr>
        <p:spPr>
          <a:xfrm>
            <a:off x="4572000" y="1332138"/>
            <a:ext cx="4584032" cy="4893647"/>
          </a:xfrm>
          <a:prstGeom prst="rect">
            <a:avLst/>
          </a:prstGeom>
          <a:noFill/>
        </p:spPr>
        <p:txBody>
          <a:bodyPr wrap="square">
            <a:spAutoFit/>
          </a:bodyPr>
          <a:lstStyle/>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データを入力 </a:t>
            </a:r>
          </a:p>
          <a:p>
            <a:r>
              <a:rPr lang="en-JP" sz="2400" dirty="0">
                <a:latin typeface="Meiryo" panose="020B0604030504040204" pitchFamily="34" charset="-128"/>
                <a:ea typeface="Meiryo" panose="020B0604030504040204" pitchFamily="34" charset="-128"/>
              </a:rPr>
              <a:t> </a:t>
            </a:r>
          </a:p>
          <a:p>
            <a:endParaRPr lang="mn-MN"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 複数の決定木でそれぞれ判定</a:t>
            </a:r>
          </a:p>
          <a:p>
            <a:endParaRPr lang="en-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mn-MN"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各結果を多数決で統合  </a:t>
            </a:r>
          </a:p>
          <a:p>
            <a:pPr marL="285750" indent="-285750">
              <a:buFont typeface="Arial" panose="020B0604020202020204" pitchFamily="34" charset="0"/>
              <a:buChar char="•"/>
            </a:pPr>
            <a:endParaRPr lang="en-JP"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endParaRPr lang="mn-MN" sz="24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 最終的な結果を出力</a:t>
            </a:r>
          </a:p>
          <a:p>
            <a:endParaRPr lang="en-US" sz="2400" dirty="0">
              <a:latin typeface="Meiryo" panose="020B0604030504040204" pitchFamily="34" charset="-128"/>
              <a:ea typeface="Meiryo" panose="020B0604030504040204" pitchFamily="34" charset="-128"/>
            </a:endParaRPr>
          </a:p>
          <a:p>
            <a:endParaRPr lang="en-US" sz="2400" dirty="0">
              <a:latin typeface="Meiryo" panose="020B0604030504040204" pitchFamily="34" charset="-128"/>
              <a:ea typeface="Meiryo" panose="020B0604030504040204" pitchFamily="34" charset="-128"/>
            </a:endParaRPr>
          </a:p>
          <a:p>
            <a:pPr marL="342900" indent="-342900">
              <a:buFont typeface="Arial" panose="020B0604020202020204" pitchFamily="34" charset="0"/>
              <a:buChar char="•"/>
            </a:pPr>
            <a:r>
              <a:rPr lang="en-JP" sz="2400" dirty="0">
                <a:latin typeface="Meiryo" panose="020B0604030504040204" pitchFamily="34" charset="-128"/>
                <a:ea typeface="Meiryo" panose="020B0604030504040204" pitchFamily="34" charset="-128"/>
              </a:rPr>
              <a:t>（Normal / Attack）</a:t>
            </a:r>
          </a:p>
        </p:txBody>
      </p:sp>
      <p:sp>
        <p:nvSpPr>
          <p:cNvPr id="13" name="Down Arrow 12">
            <a:extLst>
              <a:ext uri="{FF2B5EF4-FFF2-40B4-BE49-F238E27FC236}">
                <a16:creationId xmlns:a16="http://schemas.microsoft.com/office/drawing/2014/main" id="{E6CF3BC4-5C8B-E37E-F9D2-95800FCFAE4F}"/>
              </a:ext>
            </a:extLst>
          </p:cNvPr>
          <p:cNvSpPr/>
          <p:nvPr/>
        </p:nvSpPr>
        <p:spPr>
          <a:xfrm>
            <a:off x="6260335" y="1891931"/>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4" name="Down Arrow 13">
            <a:extLst>
              <a:ext uri="{FF2B5EF4-FFF2-40B4-BE49-F238E27FC236}">
                <a16:creationId xmlns:a16="http://schemas.microsoft.com/office/drawing/2014/main" id="{3DDF69D0-8FC1-CB31-1450-71D3F369DD11}"/>
              </a:ext>
            </a:extLst>
          </p:cNvPr>
          <p:cNvSpPr/>
          <p:nvPr/>
        </p:nvSpPr>
        <p:spPr>
          <a:xfrm>
            <a:off x="6278166" y="2977714"/>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5" name="Down Arrow 14">
            <a:extLst>
              <a:ext uri="{FF2B5EF4-FFF2-40B4-BE49-F238E27FC236}">
                <a16:creationId xmlns:a16="http://schemas.microsoft.com/office/drawing/2014/main" id="{7F83401F-6F4B-C973-D5D6-A947518DC8CD}"/>
              </a:ext>
            </a:extLst>
          </p:cNvPr>
          <p:cNvSpPr/>
          <p:nvPr/>
        </p:nvSpPr>
        <p:spPr>
          <a:xfrm>
            <a:off x="6260335" y="4115930"/>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6" name="Down Arrow 15">
            <a:extLst>
              <a:ext uri="{FF2B5EF4-FFF2-40B4-BE49-F238E27FC236}">
                <a16:creationId xmlns:a16="http://schemas.microsoft.com/office/drawing/2014/main" id="{73CFA28D-2AC2-02EC-D67F-9AC8862AE56C}"/>
              </a:ext>
            </a:extLst>
          </p:cNvPr>
          <p:cNvSpPr/>
          <p:nvPr/>
        </p:nvSpPr>
        <p:spPr>
          <a:xfrm>
            <a:off x="6272077" y="5170857"/>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Tree>
    <p:extLst>
      <p:ext uri="{BB962C8B-B14F-4D97-AF65-F5344CB8AC3E}">
        <p14:creationId xmlns:p14="http://schemas.microsoft.com/office/powerpoint/2010/main" val="1385949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2E952C1E-7902-2181-0E6C-1720BE6C9A9C}"/>
              </a:ext>
            </a:extLst>
          </p:cNvPr>
          <p:cNvSpPr>
            <a:spLocks noGrp="1"/>
          </p:cNvSpPr>
          <p:nvPr>
            <p:ph idx="1"/>
          </p:nvPr>
        </p:nvSpPr>
        <p:spPr>
          <a:xfrm>
            <a:off x="291353" y="1072607"/>
            <a:ext cx="8223997" cy="1166346"/>
          </a:xfrm>
        </p:spPr>
        <p:txBody>
          <a:bodyPr>
            <a:noAutofit/>
          </a:bodyPr>
          <a:lstStyle/>
          <a:p>
            <a:r>
              <a:rPr kumimoji="1" lang="ja-JP" altLang="en-US" sz="2400">
                <a:latin typeface="Meiryo" panose="020B0604030504040204" pitchFamily="34" charset="-128"/>
                <a:ea typeface="Meiryo" panose="020B0604030504040204" pitchFamily="34" charset="-128"/>
              </a:rPr>
              <a:t>ネットワークトラフィックの監視から</a:t>
            </a:r>
            <a:r>
              <a:rPr kumimoji="1" lang="ja-JP" altLang="en-US" sz="2400" u="sng">
                <a:latin typeface="Meiryo" panose="020B0604030504040204" pitchFamily="34" charset="-128"/>
                <a:ea typeface="Meiryo" panose="020B0604030504040204" pitchFamily="34" charset="-128"/>
              </a:rPr>
              <a:t>異常な動作</a:t>
            </a:r>
            <a:r>
              <a:rPr kumimoji="1" lang="ja-JP" altLang="en-US" sz="2400">
                <a:latin typeface="Meiryo" panose="020B0604030504040204" pitchFamily="34" charset="-128"/>
                <a:ea typeface="Meiryo" panose="020B0604030504040204" pitchFamily="34" charset="-128"/>
              </a:rPr>
              <a:t>を検出</a:t>
            </a:r>
            <a:r>
              <a:rPr kumimoji="1" lang="en-US" altLang="ja-JP" sz="2400" dirty="0">
                <a:latin typeface="Meiryo" panose="020B0604030504040204" pitchFamily="34" charset="-128"/>
                <a:ea typeface="Meiryo" panose="020B0604030504040204" pitchFamily="34" charset="-128"/>
              </a:rPr>
              <a:t>[11]</a:t>
            </a:r>
          </a:p>
          <a:p>
            <a:pPr lvl="1">
              <a:lnSpc>
                <a:spcPct val="150000"/>
              </a:lnSpc>
              <a:buFont typeface="Wingdings" pitchFamily="2" charset="2"/>
              <a:buChar char="Ø"/>
            </a:pPr>
            <a:r>
              <a:rPr kumimoji="1" lang="ja-JP" altLang="en-US">
                <a:latin typeface="Meiryo" panose="020B0604030504040204" pitchFamily="34" charset="-128"/>
                <a:ea typeface="Meiryo" panose="020B0604030504040204" pitchFamily="34" charset="-128"/>
              </a:rPr>
              <a:t>攻撃・マルウェア・不正アクセスなどを監視</a:t>
            </a:r>
            <a:endParaRPr kumimoji="1" lang="en-US" altLang="ja-JP" dirty="0">
              <a:latin typeface="Meiryo" panose="020B0604030504040204" pitchFamily="34" charset="-128"/>
              <a:ea typeface="Meiryo" panose="020B0604030504040204" pitchFamily="34" charset="-128"/>
            </a:endParaRPr>
          </a:p>
        </p:txBody>
      </p:sp>
      <p:sp>
        <p:nvSpPr>
          <p:cNvPr id="4" name="スライド番号プレースホルダー 3">
            <a:extLst>
              <a:ext uri="{FF2B5EF4-FFF2-40B4-BE49-F238E27FC236}">
                <a16:creationId xmlns:a16="http://schemas.microsoft.com/office/drawing/2014/main" id="{BF2FC18E-4B34-34DB-9C0F-0D7E66AAFC1A}"/>
              </a:ext>
            </a:extLst>
          </p:cNvPr>
          <p:cNvSpPr>
            <a:spLocks noGrp="1"/>
          </p:cNvSpPr>
          <p:nvPr>
            <p:ph type="sldNum" sz="quarter" idx="12"/>
          </p:nvPr>
        </p:nvSpPr>
        <p:spPr/>
        <p:txBody>
          <a:bodyPr/>
          <a:lstStyle/>
          <a:p>
            <a:fld id="{BB44241B-2579-694C-B40C-A1E3D5F0E4EC}" type="slidenum">
              <a:rPr lang="en-JP" smtClean="0"/>
              <a:pPr/>
              <a:t>14</a:t>
            </a:fld>
            <a:endParaRPr lang="en-JP" dirty="0">
              <a:latin typeface="Meiryo UI" panose="020B0604030504040204" pitchFamily="34" charset="-128"/>
              <a:ea typeface="Meiryo UI" panose="020B0604030504040204" pitchFamily="34" charset="-128"/>
            </a:endParaRPr>
          </a:p>
        </p:txBody>
      </p:sp>
      <p:sp>
        <p:nvSpPr>
          <p:cNvPr id="5" name="正方形/長方形 4">
            <a:extLst>
              <a:ext uri="{FF2B5EF4-FFF2-40B4-BE49-F238E27FC236}">
                <a16:creationId xmlns:a16="http://schemas.microsoft.com/office/drawing/2014/main" id="{06F568A4-8AB4-E9AF-C41E-B2E65421C677}"/>
              </a:ext>
            </a:extLst>
          </p:cNvPr>
          <p:cNvSpPr/>
          <p:nvPr/>
        </p:nvSpPr>
        <p:spPr>
          <a:xfrm>
            <a:off x="1335208" y="4521020"/>
            <a:ext cx="3541326" cy="10122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67" b="1" dirty="0">
                <a:solidFill>
                  <a:schemeClr val="tx1"/>
                </a:solidFill>
                <a:latin typeface="Meiryo" panose="020B0604030504040204" pitchFamily="34" charset="-128"/>
                <a:ea typeface="Meiryo" panose="020B0604030504040204" pitchFamily="34" charset="-128"/>
              </a:rPr>
              <a:t>(* Network Intrusion Detection System)</a:t>
            </a:r>
            <a:endParaRPr kumimoji="1" lang="ja-JP" altLang="en-US" sz="1667" b="1">
              <a:solidFill>
                <a:schemeClr val="tx1"/>
              </a:solidFill>
              <a:latin typeface="Meiryo" panose="020B0604030504040204" pitchFamily="34" charset="-128"/>
              <a:ea typeface="Meiryo" panose="020B0604030504040204" pitchFamily="34" charset="-128"/>
            </a:endParaRPr>
          </a:p>
        </p:txBody>
      </p:sp>
      <p:pic>
        <p:nvPicPr>
          <p:cNvPr id="6" name="Picture 9">
            <a:extLst>
              <a:ext uri="{FF2B5EF4-FFF2-40B4-BE49-F238E27FC236}">
                <a16:creationId xmlns:a16="http://schemas.microsoft.com/office/drawing/2014/main" id="{7F8EFA64-77A7-50BC-A3EC-E10B8A80299C}"/>
              </a:ext>
            </a:extLst>
          </p:cNvPr>
          <p:cNvPicPr>
            <a:picLocks noChangeAspect="1"/>
          </p:cNvPicPr>
          <p:nvPr/>
        </p:nvPicPr>
        <p:blipFill>
          <a:blip r:embed="rId3"/>
          <a:srcRect l="35662" t="28384" r="13235" b="19257"/>
          <a:stretch>
            <a:fillRect/>
          </a:stretch>
        </p:blipFill>
        <p:spPr>
          <a:xfrm>
            <a:off x="4867014" y="3301885"/>
            <a:ext cx="3857558" cy="2971801"/>
          </a:xfrm>
          <a:prstGeom prst="rect">
            <a:avLst/>
          </a:prstGeom>
        </p:spPr>
      </p:pic>
      <p:sp>
        <p:nvSpPr>
          <p:cNvPr id="7" name="コンテンツ プレースホルダー 2">
            <a:extLst>
              <a:ext uri="{FF2B5EF4-FFF2-40B4-BE49-F238E27FC236}">
                <a16:creationId xmlns:a16="http://schemas.microsoft.com/office/drawing/2014/main" id="{03320AD8-8840-DD9A-08B2-451B0C966718}"/>
              </a:ext>
            </a:extLst>
          </p:cNvPr>
          <p:cNvSpPr txBox="1">
            <a:spLocks/>
          </p:cNvSpPr>
          <p:nvPr/>
        </p:nvSpPr>
        <p:spPr>
          <a:xfrm>
            <a:off x="212674" y="2703014"/>
            <a:ext cx="7886700" cy="2198596"/>
          </a:xfrm>
          <a:prstGeom prst="rect">
            <a:avLst/>
          </a:prstGeom>
        </p:spPr>
        <p:txBody>
          <a:bodyPr vert="horz" lIns="76200" tIns="38100" rIns="76200" bIns="38100" rtlCol="0">
            <a:norm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eiryo UI" panose="020B0604030504040204" pitchFamily="34" charset="-128"/>
                <a:ea typeface="Meiryo UI" panose="020B0604030504040204" pitchFamily="34" charset="-128"/>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eiryo UI" panose="020B0604030504040204" pitchFamily="34" charset="-128"/>
                <a:ea typeface="Meiryo UI" panose="020B0604030504040204" pitchFamily="34" charset="-128"/>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eiryo UI" panose="020B0604030504040204" pitchFamily="34" charset="-128"/>
                <a:ea typeface="Meiryo UI" panose="020B0604030504040204" pitchFamily="34" charset="-128"/>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eiryo UI" panose="020B0604030504040204" pitchFamily="34" charset="-128"/>
                <a:ea typeface="Meiryo UI" panose="020B0604030504040204" pitchFamily="34" charset="-128"/>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eiryo UI" panose="020B0604030504040204" pitchFamily="34" charset="-128"/>
                <a:ea typeface="Meiryo UI" panose="020B0604030504040204" pitchFamily="34" charset="-128"/>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r>
              <a:rPr kumimoji="1" lang="ja-JP" altLang="en-US" sz="2800">
                <a:latin typeface="Meiryo" panose="020B0604030504040204" pitchFamily="34" charset="-128"/>
                <a:ea typeface="Meiryo" panose="020B0604030504040204" pitchFamily="34" charset="-128"/>
              </a:rPr>
              <a:t>インターネットと</a:t>
            </a:r>
            <a:r>
              <a:rPr kumimoji="1" lang="en-US" altLang="ja-JP" sz="2800" dirty="0">
                <a:latin typeface="Meiryo" panose="020B0604030504040204" pitchFamily="34" charset="-128"/>
                <a:ea typeface="Meiryo" panose="020B0604030504040204" pitchFamily="34" charset="-128"/>
              </a:rPr>
              <a:t>LAN</a:t>
            </a:r>
            <a:r>
              <a:rPr kumimoji="1" lang="ja-JP" altLang="en-US" sz="2800">
                <a:latin typeface="Meiryo" panose="020B0604030504040204" pitchFamily="34" charset="-128"/>
                <a:ea typeface="Meiryo" panose="020B0604030504040204" pitchFamily="34" charset="-128"/>
              </a:rPr>
              <a:t>の境界に設置</a:t>
            </a:r>
            <a:endParaRPr kumimoji="1" lang="en-US" altLang="ja-JP" sz="2800" dirty="0">
              <a:latin typeface="Meiryo" panose="020B0604030504040204" pitchFamily="34" charset="-128"/>
              <a:ea typeface="Meiryo" panose="020B0604030504040204" pitchFamily="34" charset="-128"/>
            </a:endParaRPr>
          </a:p>
          <a:p>
            <a:r>
              <a:rPr kumimoji="1" lang="ja-JP" altLang="en-US" sz="2800">
                <a:latin typeface="Meiryo" panose="020B0604030504040204" pitchFamily="34" charset="-128"/>
                <a:ea typeface="Meiryo" panose="020B0604030504040204" pitchFamily="34" charset="-128"/>
              </a:rPr>
              <a:t>検出内容に応じて</a:t>
            </a:r>
            <a:br>
              <a:rPr kumimoji="1" lang="en-US" altLang="ja-JP" sz="2800" dirty="0">
                <a:latin typeface="Meiryo" panose="020B0604030504040204" pitchFamily="34" charset="-128"/>
                <a:ea typeface="Meiryo" panose="020B0604030504040204" pitchFamily="34" charset="-128"/>
              </a:rPr>
            </a:br>
            <a:r>
              <a:rPr kumimoji="1" lang="ja-JP" altLang="en-US" sz="2800">
                <a:latin typeface="Meiryo" panose="020B0604030504040204" pitchFamily="34" charset="-128"/>
                <a:ea typeface="Meiryo" panose="020B0604030504040204" pitchFamily="34" charset="-128"/>
              </a:rPr>
              <a:t>ログ出力・アラート発出の</a:t>
            </a:r>
            <a:br>
              <a:rPr kumimoji="1" lang="en-US" altLang="ja-JP" sz="2800" dirty="0">
                <a:latin typeface="Meiryo" panose="020B0604030504040204" pitchFamily="34" charset="-128"/>
                <a:ea typeface="Meiryo" panose="020B0604030504040204" pitchFamily="34" charset="-128"/>
              </a:rPr>
            </a:br>
            <a:r>
              <a:rPr kumimoji="1" lang="ja-JP" altLang="en-US" sz="2800">
                <a:latin typeface="Meiryo" panose="020B0604030504040204" pitchFamily="34" charset="-128"/>
                <a:ea typeface="Meiryo" panose="020B0604030504040204" pitchFamily="34" charset="-128"/>
              </a:rPr>
              <a:t>アクションを実行</a:t>
            </a:r>
            <a:endParaRPr kumimoji="1" lang="en-US" altLang="ja-JP" sz="2800" dirty="0">
              <a:latin typeface="Meiryo" panose="020B0604030504040204" pitchFamily="34" charset="-128"/>
              <a:ea typeface="Meiryo" panose="020B0604030504040204" pitchFamily="34" charset="-128"/>
            </a:endParaRPr>
          </a:p>
        </p:txBody>
      </p:sp>
      <p:sp>
        <p:nvSpPr>
          <p:cNvPr id="8" name="三角形 7">
            <a:extLst>
              <a:ext uri="{FF2B5EF4-FFF2-40B4-BE49-F238E27FC236}">
                <a16:creationId xmlns:a16="http://schemas.microsoft.com/office/drawing/2014/main" id="{A17501F2-71F1-94D8-4F41-7E706C06A15C}"/>
              </a:ext>
            </a:extLst>
          </p:cNvPr>
          <p:cNvSpPr/>
          <p:nvPr/>
        </p:nvSpPr>
        <p:spPr>
          <a:xfrm rot="5400000">
            <a:off x="4136796" y="3985650"/>
            <a:ext cx="2750535" cy="1383006"/>
          </a:xfrm>
          <a:prstGeom prst="triangle">
            <a:avLst>
              <a:gd name="adj" fmla="val 0"/>
            </a:avLst>
          </a:prstGeom>
          <a:solidFill>
            <a:srgbClr val="FBFBFB"/>
          </a:solidFill>
          <a:ln>
            <a:solidFill>
              <a:srgbClr val="FBFB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9" name="正方形/長方形 8">
            <a:extLst>
              <a:ext uri="{FF2B5EF4-FFF2-40B4-BE49-F238E27FC236}">
                <a16:creationId xmlns:a16="http://schemas.microsoft.com/office/drawing/2014/main" id="{7F75B75A-98EF-975B-1F7B-119563FF9419}"/>
              </a:ext>
            </a:extLst>
          </p:cNvPr>
          <p:cNvSpPr/>
          <p:nvPr/>
        </p:nvSpPr>
        <p:spPr>
          <a:xfrm>
            <a:off x="8524440" y="3301885"/>
            <a:ext cx="200132" cy="663624"/>
          </a:xfrm>
          <a:prstGeom prst="rect">
            <a:avLst/>
          </a:prstGeom>
          <a:solidFill>
            <a:srgbClr val="F1F1F2"/>
          </a:solidFill>
          <a:ln>
            <a:solidFill>
              <a:srgbClr val="F1F1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10" name="TextBox 12">
            <a:extLst>
              <a:ext uri="{FF2B5EF4-FFF2-40B4-BE49-F238E27FC236}">
                <a16:creationId xmlns:a16="http://schemas.microsoft.com/office/drawing/2014/main" id="{A33455DB-F42A-6D6E-1F1A-E986644579E9}"/>
              </a:ext>
            </a:extLst>
          </p:cNvPr>
          <p:cNvSpPr txBox="1"/>
          <p:nvPr/>
        </p:nvSpPr>
        <p:spPr>
          <a:xfrm>
            <a:off x="112406" y="5823795"/>
            <a:ext cx="4652687" cy="912814"/>
          </a:xfrm>
          <a:prstGeom prst="rect">
            <a:avLst/>
          </a:prstGeom>
          <a:noFill/>
        </p:spPr>
        <p:txBody>
          <a:bodyPr wrap="square">
            <a:spAutoFit/>
          </a:bodyPr>
          <a:lstStyle/>
          <a:p>
            <a:r>
              <a:rPr lang="en-US" sz="1333" dirty="0">
                <a:latin typeface="Meiryo" panose="020B0604030504040204" pitchFamily="34" charset="-128"/>
                <a:ea typeface="Meiryo" panose="020B0604030504040204" pitchFamily="34" charset="-128"/>
              </a:rPr>
              <a:t>[8] Stephen Cooper, Intrusion Detection Systems Explained: 12 Best IDS Software Tools Reviewed, https://</a:t>
            </a:r>
            <a:r>
              <a:rPr lang="en-US" sz="1333" dirty="0" err="1">
                <a:latin typeface="Meiryo" panose="020B0604030504040204" pitchFamily="34" charset="-128"/>
                <a:ea typeface="Meiryo" panose="020B0604030504040204" pitchFamily="34" charset="-128"/>
              </a:rPr>
              <a:t>www.comparitech.com</a:t>
            </a:r>
            <a:r>
              <a:rPr lang="en-US" sz="1333" dirty="0">
                <a:latin typeface="Meiryo" panose="020B0604030504040204" pitchFamily="34" charset="-128"/>
                <a:ea typeface="Meiryo" panose="020B0604030504040204" pitchFamily="34" charset="-128"/>
              </a:rPr>
              <a:t>/net-admin/network-intrusion-detection-tools/ (参照日:2025/11/27)</a:t>
            </a:r>
          </a:p>
        </p:txBody>
      </p:sp>
      <p:sp>
        <p:nvSpPr>
          <p:cNvPr id="11" name="Shape 0">
            <a:extLst>
              <a:ext uri="{FF2B5EF4-FFF2-40B4-BE49-F238E27FC236}">
                <a16:creationId xmlns:a16="http://schemas.microsoft.com/office/drawing/2014/main" id="{E9562081-D07C-095C-D6B1-553A8B59C0F1}"/>
              </a:ext>
            </a:extLst>
          </p:cNvPr>
          <p:cNvSpPr/>
          <p:nvPr/>
        </p:nvSpPr>
        <p:spPr>
          <a:xfrm>
            <a:off x="0" y="0"/>
            <a:ext cx="9144000" cy="703227"/>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kumimoji="1" lang="ja-JP" altLang="en-US" sz="3600" b="1">
                <a:latin typeface="Meiryo" panose="020B0604030504040204" pitchFamily="34" charset="-128"/>
                <a:ea typeface="Meiryo" panose="020B0604030504040204" pitchFamily="34" charset="-128"/>
              </a:rPr>
              <a:t>ネットワーク侵入検知システム</a:t>
            </a:r>
            <a:r>
              <a:rPr kumimoji="1" lang="en-US" altLang="ja-JP" sz="3600" b="1" dirty="0">
                <a:latin typeface="Meiryo" panose="020B0604030504040204" pitchFamily="34" charset="-128"/>
                <a:ea typeface="Meiryo" panose="020B0604030504040204" pitchFamily="34" charset="-128"/>
              </a:rPr>
              <a:t>(NIDS</a:t>
            </a:r>
            <a:r>
              <a:rPr kumimoji="1" lang="ja-JP" altLang="en-US" sz="3600" b="1">
                <a:latin typeface="Meiryo" panose="020B0604030504040204" pitchFamily="34" charset="-128"/>
                <a:ea typeface="Meiryo" panose="020B0604030504040204" pitchFamily="34" charset="-128"/>
              </a:rPr>
              <a:t>）</a:t>
            </a:r>
            <a:endParaRPr lang="en-JP" sz="3600" b="1" dirty="0"/>
          </a:p>
        </p:txBody>
      </p:sp>
    </p:spTree>
    <p:extLst>
      <p:ext uri="{BB962C8B-B14F-4D97-AF65-F5344CB8AC3E}">
        <p14:creationId xmlns:p14="http://schemas.microsoft.com/office/powerpoint/2010/main" val="2924556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BB167F-AE33-6176-36EE-DACB38367217}"/>
              </a:ext>
            </a:extLst>
          </p:cNvPr>
          <p:cNvSpPr>
            <a:spLocks noGrp="1"/>
          </p:cNvSpPr>
          <p:nvPr>
            <p:ph type="sldNum" sz="quarter" idx="12"/>
          </p:nvPr>
        </p:nvSpPr>
        <p:spPr/>
        <p:txBody>
          <a:bodyPr/>
          <a:lstStyle/>
          <a:p>
            <a:fld id="{828F3BD4-1AF2-D144-8129-4D42AD448F5E}" type="slidenum">
              <a:rPr lang="en-JP" smtClean="0"/>
              <a:pPr/>
              <a:t>15</a:t>
            </a:fld>
            <a:endParaRPr lang="en-JP" dirty="0"/>
          </a:p>
        </p:txBody>
      </p:sp>
      <p:sp>
        <p:nvSpPr>
          <p:cNvPr id="9" name="Shape 0">
            <a:extLst>
              <a:ext uri="{FF2B5EF4-FFF2-40B4-BE49-F238E27FC236}">
                <a16:creationId xmlns:a16="http://schemas.microsoft.com/office/drawing/2014/main" id="{93260295-994B-55D1-C939-524AFE3A6019}"/>
              </a:ext>
            </a:extLst>
          </p:cNvPr>
          <p:cNvSpPr/>
          <p:nvPr/>
        </p:nvSpPr>
        <p:spPr>
          <a:xfrm>
            <a:off x="0" y="226142"/>
            <a:ext cx="9144000" cy="1077686"/>
          </a:xfrm>
          <a:prstGeom prst="rect">
            <a:avLst/>
          </a:prstGeom>
          <a:solidFill>
            <a:schemeClr val="bg1"/>
          </a:solidFill>
          <a:ln w="12700">
            <a:solidFill>
              <a:schemeClr val="accent1">
                <a:lumMod val="20000"/>
                <a:lumOff val="80000"/>
              </a:schemeClr>
            </a:solidFill>
            <a:prstDash val="solid"/>
          </a:ln>
        </p:spPr>
        <p:txBody>
          <a:bodyPr/>
          <a:lstStyle/>
          <a:p>
            <a:pPr marL="457200" indent="-457200">
              <a:buFont typeface="Wingdings" pitchFamily="2" charset="2"/>
              <a:buChar char="§"/>
            </a:pPr>
            <a:r>
              <a:rPr lang="en-JP" sz="3200" dirty="0">
                <a:latin typeface="Meiryo" panose="020B0604030504040204" pitchFamily="34" charset="-128"/>
                <a:ea typeface="Meiryo" panose="020B0604030504040204" pitchFamily="34" charset="-128"/>
              </a:rPr>
              <a:t>なぜDTLSがあっても被害が止まらないのか — 3つの構造的な理由</a:t>
            </a:r>
          </a:p>
        </p:txBody>
      </p:sp>
      <p:sp>
        <p:nvSpPr>
          <p:cNvPr id="10" name="Rounded Rectangle 9">
            <a:extLst>
              <a:ext uri="{FF2B5EF4-FFF2-40B4-BE49-F238E27FC236}">
                <a16:creationId xmlns:a16="http://schemas.microsoft.com/office/drawing/2014/main" id="{28FD6E5E-4F80-58F3-5111-9D5613989F96}"/>
              </a:ext>
            </a:extLst>
          </p:cNvPr>
          <p:cNvSpPr/>
          <p:nvPr/>
        </p:nvSpPr>
        <p:spPr>
          <a:xfrm>
            <a:off x="186321" y="1428838"/>
            <a:ext cx="8553635" cy="1527422"/>
          </a:xfrm>
          <a:prstGeom prst="roundRect">
            <a:avLst/>
          </a:prstGeom>
          <a:solidFill>
            <a:schemeClr val="accent5">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sz="2000" dirty="0">
              <a:solidFill>
                <a:schemeClr val="tx1"/>
              </a:solidFill>
              <a:latin typeface="Meiryo" panose="020B0604030504040204" pitchFamily="34" charset="-128"/>
              <a:ea typeface="Meiryo" panose="020B0604030504040204" pitchFamily="34" charset="-128"/>
            </a:endParaRPr>
          </a:p>
          <a:p>
            <a:r>
              <a:rPr lang="ja-JP" altLang="en-US" sz="2000">
                <a:solidFill>
                  <a:schemeClr val="tx1"/>
                </a:solidFill>
                <a:latin typeface="Meiryo" panose="020B0604030504040204" pitchFamily="34" charset="-128"/>
                <a:ea typeface="Meiryo" panose="020B0604030504040204" pitchFamily="34" charset="-128"/>
              </a:rPr>
              <a:t>理由</a:t>
            </a:r>
            <a:r>
              <a:rPr lang="en-US" altLang="ja-JP" sz="2000" dirty="0">
                <a:solidFill>
                  <a:schemeClr val="tx1"/>
                </a:solidFill>
                <a:latin typeface="Meiryo" panose="020B0604030504040204" pitchFamily="34" charset="-128"/>
                <a:ea typeface="Meiryo" panose="020B0604030504040204" pitchFamily="34" charset="-128"/>
              </a:rPr>
              <a:t>:1 </a:t>
            </a:r>
            <a:r>
              <a:rPr lang="ja-JP" altLang="en-US" sz="2000" b="1">
                <a:solidFill>
                  <a:srgbClr val="C00000"/>
                </a:solidFill>
                <a:latin typeface="Meiryo" panose="020B0604030504040204" pitchFamily="34" charset="-128"/>
                <a:ea typeface="Meiryo" panose="020B0604030504040204" pitchFamily="34" charset="-128"/>
              </a:rPr>
              <a:t>動作層が違う</a:t>
            </a:r>
          </a:p>
          <a:p>
            <a:pPr marL="285750" indent="-285750">
              <a:buFont typeface="Wingdings" pitchFamily="2" charset="2"/>
              <a:buChar char="Ø"/>
            </a:pPr>
            <a:r>
              <a:rPr lang="en-US" sz="2000" dirty="0">
                <a:solidFill>
                  <a:schemeClr val="tx1"/>
                </a:solidFill>
                <a:latin typeface="Meiryo" panose="020B0604030504040204" pitchFamily="34" charset="-128"/>
                <a:ea typeface="Meiryo" panose="020B0604030504040204" pitchFamily="34" charset="-128"/>
              </a:rPr>
              <a:t>DTLS</a:t>
            </a:r>
            <a:r>
              <a:rPr lang="ja-JP" altLang="en-US" sz="2000">
                <a:solidFill>
                  <a:schemeClr val="tx1"/>
                </a:solidFill>
                <a:latin typeface="Meiryo" panose="020B0604030504040204" pitchFamily="34" charset="-128"/>
                <a:ea typeface="Meiryo" panose="020B0604030504040204" pitchFamily="34" charset="-128"/>
              </a:rPr>
              <a:t>は</a:t>
            </a:r>
            <a:r>
              <a:rPr lang="en-US" sz="2000" dirty="0">
                <a:solidFill>
                  <a:schemeClr val="tx1"/>
                </a:solidFill>
                <a:latin typeface="Meiryo" panose="020B0604030504040204" pitchFamily="34" charset="-128"/>
                <a:ea typeface="Meiryo" panose="020B0604030504040204" pitchFamily="34" charset="-128"/>
              </a:rPr>
              <a:t>L4（Transport Layer）</a:t>
            </a:r>
            <a:r>
              <a:rPr lang="ja-JP" altLang="en-US" sz="2000">
                <a:solidFill>
                  <a:schemeClr val="tx1"/>
                </a:solidFill>
                <a:latin typeface="Meiryo" panose="020B0604030504040204" pitchFamily="34" charset="-128"/>
                <a:ea typeface="Meiryo" panose="020B0604030504040204" pitchFamily="34" charset="-128"/>
              </a:rPr>
              <a:t>で暗号化</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は</a:t>
            </a:r>
            <a:r>
              <a:rPr lang="en-US" sz="2000" dirty="0">
                <a:solidFill>
                  <a:schemeClr val="tx1"/>
                </a:solidFill>
                <a:latin typeface="Meiryo" panose="020B0604030504040204" pitchFamily="34" charset="-128"/>
                <a:ea typeface="Meiryo" panose="020B0604030504040204" pitchFamily="34" charset="-128"/>
              </a:rPr>
              <a:t>L2（Data Link Layer）</a:t>
            </a:r>
            <a:r>
              <a:rPr lang="ja-JP" altLang="en-US" sz="2000">
                <a:solidFill>
                  <a:schemeClr val="tx1"/>
                </a:solidFill>
                <a:latin typeface="Meiryo" panose="020B0604030504040204" pitchFamily="34" charset="-128"/>
                <a:ea typeface="Meiryo" panose="020B0604030504040204" pitchFamily="34" charset="-128"/>
              </a:rPr>
              <a:t>で動作</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en-US" sz="2000" dirty="0">
                <a:solidFill>
                  <a:schemeClr val="tx1"/>
                </a:solidFill>
                <a:latin typeface="Meiryo" panose="020B0604030504040204" pitchFamily="34" charset="-128"/>
                <a:ea typeface="Meiryo" panose="020B0604030504040204" pitchFamily="34" charset="-128"/>
              </a:rPr>
              <a:t>DTLS</a:t>
            </a:r>
            <a:r>
              <a:rPr lang="ja-JP" altLang="en-US" sz="2000">
                <a:solidFill>
                  <a:schemeClr val="tx1"/>
                </a:solidFill>
                <a:latin typeface="Meiryo" panose="020B0604030504040204" pitchFamily="34" charset="-128"/>
                <a:ea typeface="Meiryo" panose="020B0604030504040204" pitchFamily="34" charset="-128"/>
              </a:rPr>
              <a:t>は</a:t>
            </a:r>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に届かない </a:t>
            </a:r>
            <a:r>
              <a:rPr lang="en-US" altLang="ja-JP" sz="2000" dirty="0">
                <a:solidFill>
                  <a:schemeClr val="tx1"/>
                </a:solidFill>
                <a:latin typeface="Meiryo" panose="020B0604030504040204" pitchFamily="34" charset="-128"/>
                <a:ea typeface="Meiryo" panose="020B0604030504040204" pitchFamily="34" charset="-128"/>
              </a:rPr>
              <a:t>— </a:t>
            </a:r>
            <a:r>
              <a:rPr lang="ja-JP" altLang="en-US" sz="2000">
                <a:solidFill>
                  <a:schemeClr val="tx1"/>
                </a:solidFill>
                <a:latin typeface="Meiryo" panose="020B0604030504040204" pitchFamily="34" charset="-128"/>
                <a:ea typeface="Meiryo" panose="020B0604030504040204" pitchFamily="34" charset="-128"/>
              </a:rPr>
              <a:t>設計上の限界</a:t>
            </a:r>
            <a:endParaRPr lang="en-US" sz="2000" dirty="0">
              <a:solidFill>
                <a:schemeClr val="tx1"/>
              </a:solidFill>
              <a:latin typeface="Meiryo" panose="020B0604030504040204" pitchFamily="34" charset="-128"/>
              <a:ea typeface="Meiryo" panose="020B0604030504040204" pitchFamily="34" charset="-128"/>
            </a:endParaRPr>
          </a:p>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3" name="Rounded Rectangle 12">
            <a:extLst>
              <a:ext uri="{FF2B5EF4-FFF2-40B4-BE49-F238E27FC236}">
                <a16:creationId xmlns:a16="http://schemas.microsoft.com/office/drawing/2014/main" id="{AC88C59A-33AB-C930-1CDD-46BA3A727ADC}"/>
              </a:ext>
            </a:extLst>
          </p:cNvPr>
          <p:cNvSpPr/>
          <p:nvPr/>
        </p:nvSpPr>
        <p:spPr>
          <a:xfrm>
            <a:off x="186322" y="3059824"/>
            <a:ext cx="8553635" cy="1527422"/>
          </a:xfrm>
          <a:prstGeom prst="round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tLang="ja-JP" sz="2000" dirty="0">
              <a:solidFill>
                <a:schemeClr val="tx1"/>
              </a:solidFill>
              <a:latin typeface="Meiryo" panose="020B0604030504040204" pitchFamily="34" charset="-128"/>
              <a:ea typeface="Meiryo" panose="020B0604030504040204" pitchFamily="34" charset="-128"/>
            </a:endParaRPr>
          </a:p>
          <a:p>
            <a:endParaRPr lang="en-US" altLang="ja-JP" sz="2000" dirty="0">
              <a:solidFill>
                <a:schemeClr val="tx1"/>
              </a:solidFill>
              <a:latin typeface="Meiryo" panose="020B0604030504040204" pitchFamily="34" charset="-128"/>
              <a:ea typeface="Meiryo" panose="020B0604030504040204" pitchFamily="34" charset="-128"/>
            </a:endParaRPr>
          </a:p>
          <a:p>
            <a:endParaRPr lang="en-US" altLang="ja-JP" sz="2000" dirty="0">
              <a:solidFill>
                <a:schemeClr val="tx1"/>
              </a:solidFill>
              <a:latin typeface="Meiryo" panose="020B0604030504040204" pitchFamily="34" charset="-128"/>
              <a:ea typeface="Meiryo" panose="020B0604030504040204" pitchFamily="34" charset="-128"/>
            </a:endParaRPr>
          </a:p>
          <a:p>
            <a:r>
              <a:rPr lang="ja-JP" altLang="en-US" sz="2000">
                <a:solidFill>
                  <a:schemeClr val="tx1"/>
                </a:solidFill>
                <a:latin typeface="Meiryo" panose="020B0604030504040204" pitchFamily="34" charset="-128"/>
                <a:ea typeface="Meiryo" panose="020B0604030504040204" pitchFamily="34" charset="-128"/>
              </a:rPr>
              <a:t>理由</a:t>
            </a:r>
            <a:r>
              <a:rPr lang="en-US" altLang="ja-JP" sz="2000" dirty="0">
                <a:solidFill>
                  <a:schemeClr val="tx1"/>
                </a:solidFill>
                <a:latin typeface="Meiryo" panose="020B0604030504040204" pitchFamily="34" charset="-128"/>
                <a:ea typeface="Meiryo" panose="020B0604030504040204" pitchFamily="34" charset="-128"/>
              </a:rPr>
              <a:t>:2 </a:t>
            </a:r>
            <a:r>
              <a:rPr lang="en-US" sz="2000" b="1" dirty="0">
                <a:solidFill>
                  <a:srgbClr val="C00000"/>
                </a:solidFill>
                <a:latin typeface="Meiryo" panose="020B0604030504040204" pitchFamily="34" charset="-128"/>
                <a:ea typeface="Meiryo" panose="020B0604030504040204" pitchFamily="34" charset="-128"/>
              </a:rPr>
              <a:t>ARP</a:t>
            </a:r>
            <a:r>
              <a:rPr lang="ja-JP" altLang="en-US" sz="2000" b="1">
                <a:solidFill>
                  <a:srgbClr val="C00000"/>
                </a:solidFill>
                <a:latin typeface="Meiryo" panose="020B0604030504040204" pitchFamily="34" charset="-128"/>
                <a:ea typeface="Meiryo" panose="020B0604030504040204" pitchFamily="34" charset="-128"/>
              </a:rPr>
              <a:t>は認証なし</a:t>
            </a:r>
          </a:p>
          <a:p>
            <a:pPr marL="285750" indent="-285750">
              <a:buFont typeface="Wingdings" pitchFamily="2" charset="2"/>
              <a:buChar char="Ø"/>
            </a:pPr>
            <a:r>
              <a:rPr lang="en-US" sz="2000" dirty="0">
                <a:solidFill>
                  <a:schemeClr val="tx1"/>
                </a:solidFill>
                <a:latin typeface="Meiryo" panose="020B0604030504040204" pitchFamily="34" charset="-128"/>
                <a:ea typeface="Meiryo" panose="020B0604030504040204" pitchFamily="34" charset="-128"/>
              </a:rPr>
              <a:t>RFC 826</a:t>
            </a:r>
            <a:r>
              <a:rPr lang="ja-JP" altLang="en-US" sz="2000">
                <a:solidFill>
                  <a:schemeClr val="tx1"/>
                </a:solidFill>
                <a:latin typeface="Meiryo" panose="020B0604030504040204" pitchFamily="34" charset="-128"/>
                <a:ea typeface="Meiryo" panose="020B0604030504040204" pitchFamily="34" charset="-128"/>
              </a:rPr>
              <a:t>制定時から認証機構が存在しない</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solidFill>
                  <a:schemeClr val="tx1"/>
                </a:solidFill>
                <a:latin typeface="Meiryo" panose="020B0604030504040204" pitchFamily="34" charset="-128"/>
                <a:ea typeface="Meiryo" panose="020B0604030504040204" pitchFamily="34" charset="-128"/>
              </a:rPr>
              <a:t>誰でも偽の</a:t>
            </a:r>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リプライを送れる</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solidFill>
                  <a:schemeClr val="tx1"/>
                </a:solidFill>
                <a:latin typeface="Meiryo" panose="020B0604030504040204" pitchFamily="34" charset="-128"/>
                <a:ea typeface="Meiryo" panose="020B0604030504040204" pitchFamily="34" charset="-128"/>
              </a:rPr>
              <a:t>受信側は真偽を確認できない </a:t>
            </a:r>
            <a:r>
              <a:rPr lang="en-US" altLang="ja-JP" sz="2000" dirty="0">
                <a:solidFill>
                  <a:schemeClr val="tx1"/>
                </a:solidFill>
                <a:latin typeface="Meiryo" panose="020B0604030504040204" pitchFamily="34" charset="-128"/>
                <a:ea typeface="Meiryo" panose="020B0604030504040204" pitchFamily="34" charset="-128"/>
              </a:rPr>
              <a:t>— </a:t>
            </a:r>
            <a:r>
              <a:rPr lang="ja-JP" altLang="en-US" sz="2000">
                <a:solidFill>
                  <a:schemeClr val="tx1"/>
                </a:solidFill>
                <a:latin typeface="Meiryo" panose="020B0604030504040204" pitchFamily="34" charset="-128"/>
                <a:ea typeface="Meiryo" panose="020B0604030504040204" pitchFamily="34" charset="-128"/>
              </a:rPr>
              <a:t>プロトコルの根本問題</a:t>
            </a:r>
            <a:endParaRPr lang="mn-MN" sz="2000" dirty="0">
              <a:solidFill>
                <a:schemeClr val="tx1"/>
              </a:solidFill>
              <a:latin typeface="Meiryo" panose="020B0604030504040204" pitchFamily="34" charset="-128"/>
              <a:ea typeface="Meiryo" panose="020B0604030504040204" pitchFamily="34" charset="-128"/>
            </a:endParaRPr>
          </a:p>
          <a:p>
            <a:endParaRPr lang="mn-MN" sz="2000" dirty="0">
              <a:solidFill>
                <a:schemeClr val="tx1"/>
              </a:solidFill>
              <a:latin typeface="Meiryo" panose="020B0604030504040204" pitchFamily="34" charset="-128"/>
              <a:ea typeface="Meiryo" panose="020B0604030504040204" pitchFamily="34" charset="-128"/>
            </a:endParaRPr>
          </a:p>
          <a:p>
            <a:endParaRPr lang="en-US" sz="2000" dirty="0">
              <a:solidFill>
                <a:schemeClr val="tx1"/>
              </a:solidFill>
              <a:latin typeface="Meiryo" panose="020B0604030504040204" pitchFamily="34" charset="-128"/>
              <a:ea typeface="Meiryo" panose="020B0604030504040204" pitchFamily="34" charset="-128"/>
            </a:endParaRPr>
          </a:p>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4" name="Rounded Rectangle 13">
            <a:extLst>
              <a:ext uri="{FF2B5EF4-FFF2-40B4-BE49-F238E27FC236}">
                <a16:creationId xmlns:a16="http://schemas.microsoft.com/office/drawing/2014/main" id="{31A3C590-E2DC-C380-D532-40A2FFCF49BB}"/>
              </a:ext>
            </a:extLst>
          </p:cNvPr>
          <p:cNvSpPr/>
          <p:nvPr/>
        </p:nvSpPr>
        <p:spPr>
          <a:xfrm>
            <a:off x="186322" y="4734996"/>
            <a:ext cx="8553635" cy="1527422"/>
          </a:xfrm>
          <a:prstGeom prst="roundRect">
            <a:avLst/>
          </a:prstGeom>
          <a:solidFill>
            <a:schemeClr val="tx2">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sz="2000" dirty="0">
              <a:solidFill>
                <a:schemeClr val="tx1"/>
              </a:solidFill>
              <a:latin typeface="Meiryo" panose="020B0604030504040204" pitchFamily="34" charset="-128"/>
              <a:ea typeface="Meiryo" panose="020B0604030504040204" pitchFamily="34" charset="-128"/>
            </a:endParaRPr>
          </a:p>
          <a:p>
            <a:endParaRPr lang="en-US" altLang="ja-JP" sz="2000" dirty="0">
              <a:solidFill>
                <a:schemeClr val="tx1"/>
              </a:solidFill>
              <a:latin typeface="Meiryo" panose="020B0604030504040204" pitchFamily="34" charset="-128"/>
              <a:ea typeface="Meiryo" panose="020B0604030504040204" pitchFamily="34" charset="-128"/>
            </a:endParaRPr>
          </a:p>
          <a:p>
            <a:r>
              <a:rPr lang="ja-JP" altLang="en-US" sz="2000">
                <a:solidFill>
                  <a:schemeClr val="tx1"/>
                </a:solidFill>
                <a:latin typeface="Meiryo" panose="020B0604030504040204" pitchFamily="34" charset="-128"/>
                <a:ea typeface="Meiryo" panose="020B0604030504040204" pitchFamily="34" charset="-128"/>
              </a:rPr>
              <a:t>理由</a:t>
            </a:r>
            <a:r>
              <a:rPr lang="en-US" altLang="ja-JP" sz="2000" dirty="0">
                <a:solidFill>
                  <a:schemeClr val="tx1"/>
                </a:solidFill>
                <a:latin typeface="Meiryo" panose="020B0604030504040204" pitchFamily="34" charset="-128"/>
                <a:ea typeface="Meiryo" panose="020B0604030504040204" pitchFamily="34" charset="-128"/>
              </a:rPr>
              <a:t>:3 </a:t>
            </a:r>
            <a:r>
              <a:rPr lang="en-US" sz="2000" b="1" dirty="0">
                <a:solidFill>
                  <a:srgbClr val="C00000"/>
                </a:solidFill>
                <a:latin typeface="Meiryo" panose="020B0604030504040204" pitchFamily="34" charset="-128"/>
                <a:ea typeface="Meiryo" panose="020B0604030504040204" pitchFamily="34" charset="-128"/>
              </a:rPr>
              <a:t>IoT</a:t>
            </a:r>
            <a:r>
              <a:rPr lang="ja-JP" altLang="en-US" sz="2000" b="1">
                <a:solidFill>
                  <a:srgbClr val="C00000"/>
                </a:solidFill>
                <a:latin typeface="Meiryo" panose="020B0604030504040204" pitchFamily="34" charset="-128"/>
                <a:ea typeface="Meiryo" panose="020B0604030504040204" pitchFamily="34" charset="-128"/>
              </a:rPr>
              <a:t>普及で標的増加</a:t>
            </a:r>
          </a:p>
          <a:p>
            <a:pPr marL="285750" indent="-285750">
              <a:buFont typeface="Wingdings" pitchFamily="2" charset="2"/>
              <a:buChar char="Ø"/>
            </a:pPr>
            <a:r>
              <a:rPr lang="en-US" altLang="ja-JP" sz="2000" dirty="0">
                <a:solidFill>
                  <a:schemeClr val="tx1"/>
                </a:solidFill>
                <a:latin typeface="Meiryo" panose="020B0604030504040204" pitchFamily="34" charset="-128"/>
                <a:ea typeface="Meiryo" panose="020B0604030504040204" pitchFamily="34" charset="-128"/>
              </a:rPr>
              <a:t>2025</a:t>
            </a:r>
            <a:r>
              <a:rPr lang="ja-JP" altLang="en-US" sz="2000">
                <a:solidFill>
                  <a:schemeClr val="tx1"/>
                </a:solidFill>
                <a:latin typeface="Meiryo" panose="020B0604030504040204" pitchFamily="34" charset="-128"/>
                <a:ea typeface="Meiryo" panose="020B0604030504040204" pitchFamily="34" charset="-128"/>
              </a:rPr>
              <a:t>年</a:t>
            </a:r>
            <a:r>
              <a:rPr lang="en-US" altLang="ja-JP" sz="2000" dirty="0">
                <a:solidFill>
                  <a:schemeClr val="tx1"/>
                </a:solidFill>
                <a:latin typeface="Meiryo" panose="020B0604030504040204" pitchFamily="34" charset="-128"/>
                <a:ea typeface="Meiryo" panose="020B0604030504040204" pitchFamily="34" charset="-128"/>
              </a:rPr>
              <a:t>: </a:t>
            </a:r>
            <a:r>
              <a:rPr lang="en-US" sz="2000" dirty="0">
                <a:solidFill>
                  <a:schemeClr val="tx1"/>
                </a:solidFill>
                <a:latin typeface="Meiryo" panose="020B0604030504040204" pitchFamily="34" charset="-128"/>
                <a:ea typeface="Meiryo" panose="020B0604030504040204" pitchFamily="34" charset="-128"/>
              </a:rPr>
              <a:t>IoT</a:t>
            </a:r>
            <a:r>
              <a:rPr lang="ja-JP" altLang="en-US" sz="2000">
                <a:solidFill>
                  <a:schemeClr val="tx1"/>
                </a:solidFill>
                <a:latin typeface="Meiryo" panose="020B0604030504040204" pitchFamily="34" charset="-128"/>
                <a:ea typeface="Meiryo" panose="020B0604030504040204" pitchFamily="34" charset="-128"/>
              </a:rPr>
              <a:t>デバイス</a:t>
            </a:r>
            <a:r>
              <a:rPr lang="en-US" altLang="ja-JP" sz="2000" dirty="0">
                <a:solidFill>
                  <a:schemeClr val="tx1"/>
                </a:solidFill>
                <a:latin typeface="Meiryo" panose="020B0604030504040204" pitchFamily="34" charset="-128"/>
                <a:ea typeface="Meiryo" panose="020B0604030504040204" pitchFamily="34" charset="-128"/>
              </a:rPr>
              <a:t>750</a:t>
            </a:r>
            <a:r>
              <a:rPr lang="ja-JP" altLang="en-US" sz="2000">
                <a:solidFill>
                  <a:schemeClr val="tx1"/>
                </a:solidFill>
                <a:latin typeface="Meiryo" panose="020B0604030504040204" pitchFamily="34" charset="-128"/>
                <a:ea typeface="Meiryo" panose="020B0604030504040204" pitchFamily="34" charset="-128"/>
              </a:rPr>
              <a:t>億台超</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solidFill>
                  <a:schemeClr val="tx1"/>
                </a:solidFill>
                <a:latin typeface="Meiryo" panose="020B0604030504040204" pitchFamily="34" charset="-128"/>
                <a:ea typeface="Meiryo" panose="020B0604030504040204" pitchFamily="34" charset="-128"/>
              </a:rPr>
              <a:t>多くはセキュリティ機能が最小限</a:t>
            </a:r>
            <a:endParaRPr lang="en-US" altLang="ja-JP" sz="2000"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000">
                <a:solidFill>
                  <a:schemeClr val="tx1"/>
                </a:solidFill>
                <a:latin typeface="Meiryo" panose="020B0604030504040204" pitchFamily="34" charset="-128"/>
                <a:ea typeface="Meiryo" panose="020B0604030504040204" pitchFamily="34" charset="-128"/>
              </a:rPr>
              <a:t>同一</a:t>
            </a:r>
            <a:r>
              <a:rPr lang="en-US" sz="2000" dirty="0">
                <a:solidFill>
                  <a:schemeClr val="tx1"/>
                </a:solidFill>
                <a:latin typeface="Meiryo" panose="020B0604030504040204" pitchFamily="34" charset="-128"/>
                <a:ea typeface="Meiryo" panose="020B0604030504040204" pitchFamily="34" charset="-128"/>
              </a:rPr>
              <a:t>LAN</a:t>
            </a:r>
            <a:r>
              <a:rPr lang="ja-JP" altLang="en-US" sz="2000">
                <a:solidFill>
                  <a:schemeClr val="tx1"/>
                </a:solidFill>
                <a:latin typeface="Meiryo" panose="020B0604030504040204" pitchFamily="34" charset="-128"/>
                <a:ea typeface="Meiryo" panose="020B0604030504040204" pitchFamily="34" charset="-128"/>
              </a:rPr>
              <a:t>内の攻撃者が急増 </a:t>
            </a:r>
            <a:endParaRPr lang="mn-MN" sz="2000" dirty="0">
              <a:solidFill>
                <a:schemeClr val="tx1"/>
              </a:solidFill>
              <a:latin typeface="Meiryo" panose="020B0604030504040204" pitchFamily="34" charset="-128"/>
              <a:ea typeface="Meiryo" panose="020B0604030504040204" pitchFamily="34" charset="-128"/>
            </a:endParaRPr>
          </a:p>
          <a:p>
            <a:endParaRPr lang="en-US" sz="2000" dirty="0">
              <a:solidFill>
                <a:schemeClr val="tx1"/>
              </a:solidFill>
              <a:latin typeface="Meiryo" panose="020B0604030504040204" pitchFamily="34" charset="-128"/>
              <a:ea typeface="Meiryo" panose="020B0604030504040204" pitchFamily="34" charset="-128"/>
            </a:endParaRPr>
          </a:p>
          <a:p>
            <a:pPr algn="ctr"/>
            <a:endParaRPr lang="en-JP" sz="2000"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4193693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9EA01C-BE55-F3A6-EF6E-34C4B927B64E}"/>
              </a:ext>
            </a:extLst>
          </p:cNvPr>
          <p:cNvSpPr>
            <a:spLocks noGrp="1"/>
          </p:cNvSpPr>
          <p:nvPr>
            <p:ph type="sldNum" sz="quarter" idx="12"/>
          </p:nvPr>
        </p:nvSpPr>
        <p:spPr/>
        <p:txBody>
          <a:bodyPr/>
          <a:lstStyle/>
          <a:p>
            <a:fld id="{828F3BD4-1AF2-D144-8129-4D42AD448F5E}" type="slidenum">
              <a:rPr lang="en-JP" smtClean="0"/>
              <a:pPr/>
              <a:t>16</a:t>
            </a:fld>
            <a:endParaRPr lang="en-JP" dirty="0"/>
          </a:p>
        </p:txBody>
      </p:sp>
      <p:sp>
        <p:nvSpPr>
          <p:cNvPr id="7" name="Shape 0">
            <a:extLst>
              <a:ext uri="{FF2B5EF4-FFF2-40B4-BE49-F238E27FC236}">
                <a16:creationId xmlns:a16="http://schemas.microsoft.com/office/drawing/2014/main" id="{31A7A351-671B-A68A-040A-94ACE63C58BE}"/>
              </a:ext>
            </a:extLst>
          </p:cNvPr>
          <p:cNvSpPr/>
          <p:nvPr/>
        </p:nvSpPr>
        <p:spPr>
          <a:xfrm>
            <a:off x="0" y="0"/>
            <a:ext cx="9144000" cy="481404"/>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a:r>
              <a:rPr lang="en-US" sz="2800" b="1" i="0" dirty="0">
                <a:solidFill>
                  <a:srgbClr val="000000"/>
                </a:solidFill>
                <a:effectLst/>
                <a:latin typeface="Meiryo" panose="020B0604030504040204" pitchFamily="34" charset="-128"/>
                <a:ea typeface="Meiryo" panose="020B0604030504040204" pitchFamily="34" charset="-128"/>
              </a:rPr>
              <a:t>Payload</a:t>
            </a:r>
            <a:r>
              <a:rPr lang="ja-JP" altLang="en-US" sz="2800" b="1" i="0">
                <a:solidFill>
                  <a:srgbClr val="000000"/>
                </a:solidFill>
                <a:effectLst/>
                <a:latin typeface="Meiryo" panose="020B0604030504040204" pitchFamily="34" charset="-128"/>
                <a:ea typeface="Meiryo" panose="020B0604030504040204" pitchFamily="34" charset="-128"/>
              </a:rPr>
              <a:t>と</a:t>
            </a:r>
            <a:r>
              <a:rPr lang="en-US" sz="2800" b="1" i="0" dirty="0">
                <a:solidFill>
                  <a:srgbClr val="000000"/>
                </a:solidFill>
                <a:effectLst/>
                <a:latin typeface="Meiryo" panose="020B0604030504040204" pitchFamily="34" charset="-128"/>
                <a:ea typeface="Meiryo" panose="020B0604030504040204" pitchFamily="34" charset="-128"/>
              </a:rPr>
              <a:t>Metadata — </a:t>
            </a:r>
            <a:r>
              <a:rPr lang="ja-JP" altLang="en-US" sz="2800" b="1" i="0">
                <a:solidFill>
                  <a:srgbClr val="000000"/>
                </a:solidFill>
                <a:effectLst/>
                <a:latin typeface="Meiryo" panose="020B0604030504040204" pitchFamily="34" charset="-128"/>
                <a:ea typeface="Meiryo" panose="020B0604030504040204" pitchFamily="34" charset="-128"/>
              </a:rPr>
              <a:t>何が守られ、何が見えるか</a:t>
            </a:r>
            <a:endParaRPr lang="en-JP" sz="2800" b="1" dirty="0">
              <a:latin typeface="Meiryo" panose="020B0604030504040204" pitchFamily="34" charset="-128"/>
              <a:ea typeface="Meiryo" panose="020B0604030504040204" pitchFamily="34" charset="-128"/>
            </a:endParaRPr>
          </a:p>
        </p:txBody>
      </p:sp>
      <p:sp>
        <p:nvSpPr>
          <p:cNvPr id="8" name="Rectangle: Rounded Corners 6">
            <a:extLst>
              <a:ext uri="{FF2B5EF4-FFF2-40B4-BE49-F238E27FC236}">
                <a16:creationId xmlns:a16="http://schemas.microsoft.com/office/drawing/2014/main" id="{C2B064A0-52B2-1F63-E1A5-1F5720F09C6C}"/>
              </a:ext>
            </a:extLst>
          </p:cNvPr>
          <p:cNvSpPr/>
          <p:nvPr/>
        </p:nvSpPr>
        <p:spPr>
          <a:xfrm>
            <a:off x="32658" y="566058"/>
            <a:ext cx="4539342" cy="5790294"/>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9" name="Rectangle: Rounded Corners 6">
            <a:extLst>
              <a:ext uri="{FF2B5EF4-FFF2-40B4-BE49-F238E27FC236}">
                <a16:creationId xmlns:a16="http://schemas.microsoft.com/office/drawing/2014/main" id="{6B1DFE74-87DC-519A-E9D0-E72F11A77C79}"/>
              </a:ext>
            </a:extLst>
          </p:cNvPr>
          <p:cNvSpPr/>
          <p:nvPr/>
        </p:nvSpPr>
        <p:spPr>
          <a:xfrm>
            <a:off x="4690952" y="649117"/>
            <a:ext cx="4420391" cy="5707234"/>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b="1" dirty="0">
              <a:solidFill>
                <a:schemeClr val="tx1"/>
              </a:solidFill>
              <a:latin typeface="Meiryo" panose="020B0604030504040204" pitchFamily="34" charset="-128"/>
              <a:ea typeface="Meiryo" panose="020B0604030504040204" pitchFamily="34" charset="-128"/>
            </a:endParaRPr>
          </a:p>
        </p:txBody>
      </p:sp>
      <p:sp>
        <p:nvSpPr>
          <p:cNvPr id="12" name="Rounded Rectangle 11">
            <a:extLst>
              <a:ext uri="{FF2B5EF4-FFF2-40B4-BE49-F238E27FC236}">
                <a16:creationId xmlns:a16="http://schemas.microsoft.com/office/drawing/2014/main" id="{AD9EE902-D898-1338-84F5-DC4FB5701190}"/>
              </a:ext>
            </a:extLst>
          </p:cNvPr>
          <p:cNvSpPr/>
          <p:nvPr/>
        </p:nvSpPr>
        <p:spPr>
          <a:xfrm>
            <a:off x="122307" y="1504757"/>
            <a:ext cx="4360042" cy="12705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b="1">
                <a:solidFill>
                  <a:schemeClr val="tx1"/>
                </a:solidFill>
                <a:latin typeface="Meiryo" panose="020B0604030504040204" pitchFamily="34" charset="-128"/>
                <a:ea typeface="Meiryo" panose="020B0604030504040204" pitchFamily="34" charset="-128"/>
              </a:rPr>
              <a:t>中身 </a:t>
            </a:r>
            <a:r>
              <a:rPr lang="en-US" altLang="ja-JP" sz="2000" b="1" dirty="0">
                <a:solidFill>
                  <a:schemeClr val="tx1"/>
                </a:solidFill>
                <a:latin typeface="Meiryo" panose="020B0604030504040204" pitchFamily="34" charset="-128"/>
                <a:ea typeface="Meiryo" panose="020B0604030504040204" pitchFamily="34" charset="-128"/>
              </a:rPr>
              <a:t>= </a:t>
            </a:r>
            <a:r>
              <a:rPr lang="en-US" sz="2000" b="1" dirty="0">
                <a:solidFill>
                  <a:schemeClr val="tx1"/>
                </a:solidFill>
                <a:latin typeface="Meiryo" panose="020B0604030504040204" pitchFamily="34" charset="-128"/>
                <a:ea typeface="Meiryo" panose="020B0604030504040204" pitchFamily="34" charset="-128"/>
              </a:rPr>
              <a:t>Payload </a:t>
            </a:r>
            <a:r>
              <a:rPr lang="en-JP" sz="2000" dirty="0">
                <a:latin typeface="Meiryo" panose="020B0604030504040204" pitchFamily="34" charset="-128"/>
                <a:ea typeface="Meiryo" panose="020B0604030504040204" pitchFamily="34" charset="-128"/>
              </a:rPr>
              <a:t>🔒</a:t>
            </a:r>
          </a:p>
          <a:p>
            <a:pPr algn="ctr"/>
            <a:r>
              <a:rPr lang="en-JP" sz="2000" dirty="0">
                <a:latin typeface="Meiryo" panose="020B0604030504040204" pitchFamily="34" charset="-128"/>
                <a:ea typeface="Meiryo" panose="020B0604030504040204" pitchFamily="34" charset="-128"/>
              </a:rPr>
              <a:t>「</a:t>
            </a:r>
            <a:r>
              <a:rPr lang="ja-JP" altLang="en-US" sz="2000">
                <a:latin typeface="Meiryo" panose="020B0604030504040204" pitchFamily="34" charset="-128"/>
                <a:ea typeface="Meiryo" panose="020B0604030504040204" pitchFamily="34" charset="-128"/>
              </a:rPr>
              <a:t>現金</a:t>
            </a:r>
            <a:r>
              <a:rPr lang="en-US" altLang="ja-JP" sz="2000" dirty="0">
                <a:latin typeface="Meiryo" panose="020B0604030504040204" pitchFamily="34" charset="-128"/>
                <a:ea typeface="Meiryo" panose="020B0604030504040204" pitchFamily="34" charset="-128"/>
              </a:rPr>
              <a:t>100</a:t>
            </a:r>
            <a:r>
              <a:rPr lang="ja-JP" altLang="en-US" sz="2000">
                <a:latin typeface="Meiryo" panose="020B0604030504040204" pitchFamily="34" charset="-128"/>
                <a:ea typeface="Meiryo" panose="020B0604030504040204" pitchFamily="34" charset="-128"/>
              </a:rPr>
              <a:t>万円入り」← 見えない</a:t>
            </a:r>
            <a:endParaRPr lang="mn-MN" altLang="ja-JP" sz="2000" dirty="0">
              <a:latin typeface="Meiryo" panose="020B0604030504040204" pitchFamily="34" charset="-128"/>
              <a:ea typeface="Meiryo" panose="020B0604030504040204" pitchFamily="34" charset="-128"/>
            </a:endParaRPr>
          </a:p>
          <a:p>
            <a:pPr algn="ctr"/>
            <a:r>
              <a:rPr lang="ja-JP" altLang="en-US" sz="2000">
                <a:latin typeface="Meiryo" panose="020B0604030504040204" pitchFamily="34" charset="-128"/>
                <a:ea typeface="Meiryo" panose="020B0604030504040204" pitchFamily="34" charset="-128"/>
              </a:rPr>
              <a:t>中身 → 鍵がなければ読めない</a:t>
            </a:r>
            <a:endParaRPr lang="en-JP" sz="2000" dirty="0">
              <a:latin typeface="Meiryo" panose="020B0604030504040204" pitchFamily="34" charset="-128"/>
              <a:ea typeface="Meiryo" panose="020B0604030504040204" pitchFamily="34" charset="-128"/>
            </a:endParaRPr>
          </a:p>
        </p:txBody>
      </p:sp>
      <p:sp>
        <p:nvSpPr>
          <p:cNvPr id="13" name="Rounded Rectangle 12">
            <a:extLst>
              <a:ext uri="{FF2B5EF4-FFF2-40B4-BE49-F238E27FC236}">
                <a16:creationId xmlns:a16="http://schemas.microsoft.com/office/drawing/2014/main" id="{C9F4AB1C-9C65-D12E-4E6A-7084ACD8B54B}"/>
              </a:ext>
            </a:extLst>
          </p:cNvPr>
          <p:cNvSpPr/>
          <p:nvPr/>
        </p:nvSpPr>
        <p:spPr>
          <a:xfrm>
            <a:off x="119743" y="2852443"/>
            <a:ext cx="4360041" cy="178226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mn-MN" altLang="ja-JP" b="1" dirty="0">
              <a:solidFill>
                <a:schemeClr val="tx1"/>
              </a:solidFill>
              <a:latin typeface="Meiryo" panose="020B0604030504040204" pitchFamily="34" charset="-128"/>
              <a:ea typeface="Meiryo" panose="020B0604030504040204" pitchFamily="34" charset="-128"/>
            </a:endParaRPr>
          </a:p>
          <a:p>
            <a:pPr algn="ctr"/>
            <a:r>
              <a:rPr lang="ja-JP" altLang="en-US" sz="2000" b="1">
                <a:solidFill>
                  <a:schemeClr val="tx1"/>
                </a:solidFill>
                <a:latin typeface="Meiryo" panose="020B0604030504040204" pitchFamily="34" charset="-128"/>
                <a:ea typeface="Meiryo" panose="020B0604030504040204" pitchFamily="34" charset="-128"/>
              </a:rPr>
              <a:t>外側のラベル </a:t>
            </a:r>
            <a:r>
              <a:rPr lang="en-US" altLang="ja-JP" sz="2000" b="1" dirty="0">
                <a:solidFill>
                  <a:schemeClr val="tx1"/>
                </a:solidFill>
                <a:latin typeface="Meiryo" panose="020B0604030504040204" pitchFamily="34" charset="-128"/>
                <a:ea typeface="Meiryo" panose="020B0604030504040204" pitchFamily="34" charset="-128"/>
              </a:rPr>
              <a:t>= Metadata</a:t>
            </a:r>
          </a:p>
          <a:p>
            <a:pPr algn="ctr"/>
            <a:r>
              <a:rPr lang="ja-JP" altLang="en-US" sz="2000">
                <a:latin typeface="Meiryo" panose="020B0604030504040204" pitchFamily="34" charset="-128"/>
                <a:ea typeface="Meiryo" panose="020B0604030504040204" pitchFamily="34" charset="-128"/>
              </a:rPr>
              <a:t>宛先</a:t>
            </a: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大分県○○市</a:t>
            </a:r>
            <a:r>
              <a:rPr lang="en-US" altLang="ja-JP" sz="2000" dirty="0">
                <a:latin typeface="Meiryo" panose="020B0604030504040204" pitchFamily="34" charset="-128"/>
                <a:ea typeface="Meiryo" panose="020B0604030504040204" pitchFamily="34" charset="-128"/>
              </a:rPr>
              <a:t>1-2-3</a:t>
            </a:r>
            <a:endParaRPr lang="mn-MN" altLang="ja-JP" sz="2000" dirty="0">
              <a:latin typeface="Meiryo" panose="020B0604030504040204" pitchFamily="34" charset="-128"/>
              <a:ea typeface="Meiryo" panose="020B0604030504040204" pitchFamily="34" charset="-128"/>
            </a:endParaRPr>
          </a:p>
          <a:p>
            <a:pPr algn="ctr"/>
            <a:r>
              <a:rPr lang="ja-JP" altLang="en-US" sz="2000">
                <a:latin typeface="Meiryo" panose="020B0604030504040204" pitchFamily="34" charset="-128"/>
                <a:ea typeface="Meiryo" panose="020B0604030504040204" pitchFamily="34" charset="-128"/>
              </a:rPr>
              <a:t>差出人</a:t>
            </a:r>
            <a:r>
              <a:rPr lang="en-US" altLang="ja-JP" sz="2000" dirty="0">
                <a:latin typeface="Meiryo" panose="020B0604030504040204" pitchFamily="34" charset="-128"/>
                <a:ea typeface="Meiryo" panose="020B0604030504040204" pitchFamily="34" charset="-128"/>
              </a:rPr>
              <a:t>: </a:t>
            </a:r>
            <a:r>
              <a:rPr lang="ja-JP" altLang="en-US" sz="2000">
                <a:latin typeface="Meiryo" panose="020B0604030504040204" pitchFamily="34" charset="-128"/>
                <a:ea typeface="Meiryo" panose="020B0604030504040204" pitchFamily="34" charset="-128"/>
              </a:rPr>
              <a:t>別府市△△重さ</a:t>
            </a:r>
            <a:r>
              <a:rPr lang="en-US" altLang="ja-JP" sz="2000" dirty="0">
                <a:latin typeface="Meiryo" panose="020B0604030504040204" pitchFamily="34" charset="-128"/>
                <a:ea typeface="Meiryo" panose="020B0604030504040204" pitchFamily="34" charset="-128"/>
              </a:rPr>
              <a:t>: 128g</a:t>
            </a:r>
            <a:endParaRPr lang="mn-MN" altLang="ja-JP" sz="2000" dirty="0">
              <a:latin typeface="Meiryo" panose="020B0604030504040204" pitchFamily="34" charset="-128"/>
              <a:ea typeface="Meiryo" panose="020B0604030504040204" pitchFamily="34" charset="-128"/>
            </a:endParaRPr>
          </a:p>
          <a:p>
            <a:pPr algn="ctr"/>
            <a:r>
              <a:rPr lang="ja-JP" altLang="en-US" sz="2000">
                <a:latin typeface="Meiryo" panose="020B0604030504040204" pitchFamily="34" charset="-128"/>
                <a:ea typeface="Meiryo" panose="020B0604030504040204" pitchFamily="34" charset="-128"/>
              </a:rPr>
              <a:t>→ 誰でも見えるいつ・誰へ</a:t>
            </a:r>
            <a:endParaRPr lang="mn-MN" altLang="ja-JP" sz="2000" dirty="0">
              <a:latin typeface="Meiryo" panose="020B0604030504040204" pitchFamily="34" charset="-128"/>
              <a:ea typeface="Meiryo" panose="020B0604030504040204" pitchFamily="34" charset="-128"/>
            </a:endParaRPr>
          </a:p>
          <a:p>
            <a:pPr algn="ctr"/>
            <a:r>
              <a:rPr lang="ja-JP" altLang="en-US" sz="2000">
                <a:latin typeface="Meiryo" panose="020B0604030504040204" pitchFamily="34" charset="-128"/>
                <a:ea typeface="Meiryo" panose="020B0604030504040204" pitchFamily="34" charset="-128"/>
              </a:rPr>
              <a:t>・何グラム送ったか</a:t>
            </a:r>
            <a:endParaRPr lang="en-JP" sz="2000" dirty="0">
              <a:solidFill>
                <a:schemeClr val="tx1"/>
              </a:solidFill>
              <a:latin typeface="Meiryo" panose="020B0604030504040204" pitchFamily="34" charset="-128"/>
              <a:ea typeface="Meiryo" panose="020B0604030504040204" pitchFamily="34" charset="-128"/>
            </a:endParaRPr>
          </a:p>
          <a:p>
            <a:pPr algn="ctr"/>
            <a:endParaRPr lang="en-JP" dirty="0">
              <a:latin typeface="Meiryo" panose="020B0604030504040204" pitchFamily="34" charset="-128"/>
              <a:ea typeface="Meiryo" panose="020B0604030504040204" pitchFamily="34" charset="-128"/>
            </a:endParaRPr>
          </a:p>
        </p:txBody>
      </p:sp>
      <p:sp>
        <p:nvSpPr>
          <p:cNvPr id="14" name="Rounded Rectangle 13">
            <a:extLst>
              <a:ext uri="{FF2B5EF4-FFF2-40B4-BE49-F238E27FC236}">
                <a16:creationId xmlns:a16="http://schemas.microsoft.com/office/drawing/2014/main" id="{CFD52143-FF3D-0402-081A-F2F4C3A7E610}"/>
              </a:ext>
            </a:extLst>
          </p:cNvPr>
          <p:cNvSpPr/>
          <p:nvPr/>
        </p:nvSpPr>
        <p:spPr>
          <a:xfrm>
            <a:off x="32657" y="4789073"/>
            <a:ext cx="4539342" cy="125684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mn-MN" sz="2000" dirty="0">
              <a:solidFill>
                <a:schemeClr val="tx1"/>
              </a:solidFill>
              <a:latin typeface="Meiryo" panose="020B0604030504040204" pitchFamily="34" charset="-128"/>
              <a:ea typeface="Meiryo" panose="020B0604030504040204" pitchFamily="34" charset="-128"/>
            </a:endParaRPr>
          </a:p>
          <a:p>
            <a:pPr algn="ctr"/>
            <a:r>
              <a:rPr lang="en-US" sz="2000" dirty="0">
                <a:solidFill>
                  <a:schemeClr val="tx1"/>
                </a:solidFill>
                <a:latin typeface="Meiryo" panose="020B0604030504040204" pitchFamily="34" charset="-128"/>
                <a:ea typeface="Meiryo" panose="020B0604030504040204" pitchFamily="34" charset="-128"/>
              </a:rPr>
              <a:t>Payload = </a:t>
            </a:r>
            <a:r>
              <a:rPr lang="ja-JP" altLang="en-US" sz="2000">
                <a:solidFill>
                  <a:schemeClr val="tx1"/>
                </a:solidFill>
                <a:latin typeface="Meiryo" panose="020B0604030504040204" pitchFamily="34" charset="-128"/>
                <a:ea typeface="Meiryo" panose="020B0604030504040204" pitchFamily="34" charset="-128"/>
              </a:rPr>
              <a:t>中身（</a:t>
            </a:r>
            <a:r>
              <a:rPr lang="en-US" sz="2000" dirty="0">
                <a:solidFill>
                  <a:schemeClr val="tx1"/>
                </a:solidFill>
                <a:latin typeface="Meiryo" panose="020B0604030504040204" pitchFamily="34" charset="-128"/>
                <a:ea typeface="Meiryo" panose="020B0604030504040204" pitchFamily="34" charset="-128"/>
              </a:rPr>
              <a:t>DTLS</a:t>
            </a:r>
            <a:r>
              <a:rPr lang="ja-JP" altLang="en-US" sz="2000">
                <a:solidFill>
                  <a:schemeClr val="tx1"/>
                </a:solidFill>
                <a:latin typeface="Meiryo" panose="020B0604030504040204" pitchFamily="34" charset="-128"/>
                <a:ea typeface="Meiryo" panose="020B0604030504040204" pitchFamily="34" charset="-128"/>
              </a:rPr>
              <a:t>が暗号化）</a:t>
            </a:r>
          </a:p>
          <a:p>
            <a:pPr algn="ctr"/>
            <a:r>
              <a:rPr lang="en-US" sz="2000" dirty="0">
                <a:solidFill>
                  <a:schemeClr val="tx1"/>
                </a:solidFill>
                <a:latin typeface="Meiryo" panose="020B0604030504040204" pitchFamily="34" charset="-128"/>
                <a:ea typeface="Meiryo" panose="020B0604030504040204" pitchFamily="34" charset="-128"/>
              </a:rPr>
              <a:t>Metadata = </a:t>
            </a:r>
            <a:r>
              <a:rPr lang="ja-JP" altLang="en-US" sz="2000">
                <a:solidFill>
                  <a:schemeClr val="tx1"/>
                </a:solidFill>
                <a:latin typeface="Meiryo" panose="020B0604030504040204" pitchFamily="34" charset="-128"/>
                <a:ea typeface="Meiryo" panose="020B0604030504040204" pitchFamily="34" charset="-128"/>
              </a:rPr>
              <a:t>外側（誰でも見える）</a:t>
            </a:r>
          </a:p>
          <a:p>
            <a:pPr algn="ctr"/>
            <a:r>
              <a:rPr lang="en-US" sz="2000" dirty="0">
                <a:solidFill>
                  <a:schemeClr val="tx1"/>
                </a:solidFill>
                <a:latin typeface="Meiryo" panose="020B0604030504040204" pitchFamily="34" charset="-128"/>
                <a:ea typeface="Meiryo" panose="020B0604030504040204" pitchFamily="34" charset="-128"/>
              </a:rPr>
              <a:t>DTLS = </a:t>
            </a:r>
            <a:r>
              <a:rPr lang="ja-JP" altLang="en-US" sz="2000">
                <a:solidFill>
                  <a:schemeClr val="tx1"/>
                </a:solidFill>
                <a:latin typeface="Meiryo" panose="020B0604030504040204" pitchFamily="34" charset="-128"/>
                <a:ea typeface="Meiryo" panose="020B0604030504040204" pitchFamily="34" charset="-128"/>
              </a:rPr>
              <a:t>鍵</a:t>
            </a:r>
            <a:r>
              <a:rPr lang="en-US" sz="2000" dirty="0">
                <a:solidFill>
                  <a:schemeClr val="tx1"/>
                </a:solidFill>
                <a:latin typeface="Meiryo" panose="020B0604030504040204" pitchFamily="34" charset="-128"/>
                <a:ea typeface="Meiryo" panose="020B0604030504040204" pitchFamily="34" charset="-128"/>
              </a:rPr>
              <a:t>ARP Spoofing = </a:t>
            </a:r>
            <a:r>
              <a:rPr lang="ja-JP" altLang="en-US" sz="2000">
                <a:solidFill>
                  <a:schemeClr val="tx1"/>
                </a:solidFill>
                <a:latin typeface="Meiryo" panose="020B0604030504040204" pitchFamily="34" charset="-128"/>
                <a:ea typeface="Meiryo" panose="020B0604030504040204" pitchFamily="34" charset="-128"/>
              </a:rPr>
              <a:t>配達員</a:t>
            </a:r>
            <a:endParaRPr lang="en-JP" sz="2000" dirty="0">
              <a:solidFill>
                <a:schemeClr val="tx1"/>
              </a:solidFill>
              <a:latin typeface="Meiryo" panose="020B0604030504040204" pitchFamily="34" charset="-128"/>
              <a:ea typeface="Meiryo" panose="020B0604030504040204" pitchFamily="34" charset="-128"/>
            </a:endParaRPr>
          </a:p>
          <a:p>
            <a:pPr algn="ctr"/>
            <a:endParaRPr lang="en-JP" sz="2000" dirty="0">
              <a:solidFill>
                <a:schemeClr val="tx1"/>
              </a:solidFill>
              <a:latin typeface="Meiryo" panose="020B0604030504040204" pitchFamily="34" charset="-128"/>
              <a:ea typeface="Meiryo" panose="020B0604030504040204" pitchFamily="34" charset="-128"/>
            </a:endParaRPr>
          </a:p>
        </p:txBody>
      </p:sp>
      <p:pic>
        <p:nvPicPr>
          <p:cNvPr id="18" name="Picture 17">
            <a:extLst>
              <a:ext uri="{FF2B5EF4-FFF2-40B4-BE49-F238E27FC236}">
                <a16:creationId xmlns:a16="http://schemas.microsoft.com/office/drawing/2014/main" id="{60CC2F59-A74E-87A8-458C-9E81CB045359}"/>
              </a:ext>
            </a:extLst>
          </p:cNvPr>
          <p:cNvPicPr>
            <a:picLocks noChangeAspect="1"/>
          </p:cNvPicPr>
          <p:nvPr/>
        </p:nvPicPr>
        <p:blipFill>
          <a:blip r:embed="rId3"/>
          <a:stretch>
            <a:fillRect/>
          </a:stretch>
        </p:blipFill>
        <p:spPr>
          <a:xfrm>
            <a:off x="384031" y="812086"/>
            <a:ext cx="1080806" cy="685203"/>
          </a:xfrm>
          <a:prstGeom prst="rect">
            <a:avLst/>
          </a:prstGeom>
        </p:spPr>
      </p:pic>
      <p:sp>
        <p:nvSpPr>
          <p:cNvPr id="19" name="TextBox 18">
            <a:extLst>
              <a:ext uri="{FF2B5EF4-FFF2-40B4-BE49-F238E27FC236}">
                <a16:creationId xmlns:a16="http://schemas.microsoft.com/office/drawing/2014/main" id="{A0E86326-33B0-7EC0-4926-2DED07119F5B}"/>
              </a:ext>
            </a:extLst>
          </p:cNvPr>
          <p:cNvSpPr txBox="1"/>
          <p:nvPr/>
        </p:nvSpPr>
        <p:spPr>
          <a:xfrm>
            <a:off x="1464837" y="1005327"/>
            <a:ext cx="2927863" cy="646331"/>
          </a:xfrm>
          <a:prstGeom prst="rect">
            <a:avLst/>
          </a:prstGeom>
          <a:noFill/>
        </p:spPr>
        <p:txBody>
          <a:bodyPr wrap="square" rtlCol="0">
            <a:spAutoFit/>
          </a:bodyPr>
          <a:lstStyle/>
          <a:p>
            <a:r>
              <a:rPr lang="en-JP" sz="1800" b="1" dirty="0">
                <a:solidFill>
                  <a:schemeClr val="tx1"/>
                </a:solidFill>
                <a:latin typeface="Meiryo" panose="020B0604030504040204" pitchFamily="34" charset="-128"/>
                <a:ea typeface="Meiryo" panose="020B0604030504040204" pitchFamily="34" charset="-128"/>
              </a:rPr>
              <a:t>📮 </a:t>
            </a:r>
            <a:r>
              <a:rPr lang="ja-JP" altLang="en-US" sz="1800" b="1">
                <a:solidFill>
                  <a:schemeClr val="tx1"/>
                </a:solidFill>
                <a:latin typeface="Meiryo" panose="020B0604030504040204" pitchFamily="34" charset="-128"/>
                <a:ea typeface="Meiryo" panose="020B0604030504040204" pitchFamily="34" charset="-128"/>
              </a:rPr>
              <a:t>たとえ </a:t>
            </a:r>
            <a:r>
              <a:rPr lang="en-US" altLang="ja-JP" sz="1800" b="1" dirty="0">
                <a:solidFill>
                  <a:schemeClr val="tx1"/>
                </a:solidFill>
                <a:latin typeface="Meiryo" panose="020B0604030504040204" pitchFamily="34" charset="-128"/>
                <a:ea typeface="Meiryo" panose="020B0604030504040204" pitchFamily="34" charset="-128"/>
              </a:rPr>
              <a:t>— </a:t>
            </a:r>
            <a:r>
              <a:rPr lang="ja-JP" altLang="en-US" sz="1800" b="1">
                <a:solidFill>
                  <a:schemeClr val="tx1"/>
                </a:solidFill>
                <a:latin typeface="Meiryo" panose="020B0604030504040204" pitchFamily="34" charset="-128"/>
                <a:ea typeface="Meiryo" panose="020B0604030504040204" pitchFamily="34" charset="-128"/>
              </a:rPr>
              <a:t>郵便の封筒</a:t>
            </a:r>
            <a:endParaRPr lang="en-JP" sz="1800" b="1" dirty="0">
              <a:solidFill>
                <a:schemeClr val="tx1"/>
              </a:solidFill>
              <a:latin typeface="Meiryo" panose="020B0604030504040204" pitchFamily="34" charset="-128"/>
              <a:ea typeface="Meiryo" panose="020B0604030504040204" pitchFamily="34" charset="-128"/>
            </a:endParaRPr>
          </a:p>
          <a:p>
            <a:endParaRPr lang="en-JP" dirty="0"/>
          </a:p>
        </p:txBody>
      </p:sp>
      <p:sp>
        <p:nvSpPr>
          <p:cNvPr id="20" name="Rounded Rectangle 19">
            <a:extLst>
              <a:ext uri="{FF2B5EF4-FFF2-40B4-BE49-F238E27FC236}">
                <a16:creationId xmlns:a16="http://schemas.microsoft.com/office/drawing/2014/main" id="{0C743AB7-EAF7-7476-CB2B-559EA6B1C2EC}"/>
              </a:ext>
            </a:extLst>
          </p:cNvPr>
          <p:cNvSpPr/>
          <p:nvPr/>
        </p:nvSpPr>
        <p:spPr>
          <a:xfrm>
            <a:off x="4659085" y="1192305"/>
            <a:ext cx="4539342" cy="327554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sz="2000" dirty="0">
                <a:latin typeface="Meiryo" panose="020B0604030504040204" pitchFamily="34" charset="-128"/>
                <a:ea typeface="Meiryo" panose="020B0604030504040204" pitchFamily="34" charset="-128"/>
              </a:rPr>
              <a:t>Metadata — </a:t>
            </a:r>
            <a:r>
              <a:rPr lang="ja-JP" altLang="en-US" sz="2000">
                <a:latin typeface="Meiryo" panose="020B0604030504040204" pitchFamily="34" charset="-128"/>
                <a:ea typeface="Meiryo" panose="020B0604030504040204" pitchFamily="34" charset="-128"/>
              </a:rPr>
              <a:t>暗号化されない</a:t>
            </a:r>
            <a:r>
              <a:rPr lang="en-US" sz="1600" dirty="0">
                <a:solidFill>
                  <a:srgbClr val="000000"/>
                </a:solidFill>
                <a:latin typeface="Arial" panose="020B0604020202020204" pitchFamily="34" charset="0"/>
              </a:rPr>
              <a:t>[3]</a:t>
            </a:r>
            <a:endParaRPr lang="mn-MN" altLang="ja-JP" sz="16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送信元</a:t>
            </a:r>
            <a:r>
              <a:rPr lang="en-US" sz="2000" dirty="0">
                <a:latin typeface="Meiryo" panose="020B0604030504040204" pitchFamily="34" charset="-128"/>
                <a:ea typeface="Meiryo" panose="020B0604030504040204" pitchFamily="34" charset="-128"/>
              </a:rPr>
              <a:t>MAC: AA:AA:AA </a:t>
            </a:r>
            <a:endParaRPr lang="mn-MN"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宛先</a:t>
            </a:r>
            <a:r>
              <a:rPr lang="en-US" sz="2000" dirty="0">
                <a:latin typeface="Meiryo" panose="020B0604030504040204" pitchFamily="34" charset="-128"/>
                <a:ea typeface="Meiryo" panose="020B0604030504040204" pitchFamily="34" charset="-128"/>
              </a:rPr>
              <a:t>MAC: BB:BB:BB</a:t>
            </a:r>
            <a:endParaRPr lang="mn-MN"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送信元</a:t>
            </a:r>
            <a:r>
              <a:rPr lang="en-US" sz="2000" dirty="0">
                <a:latin typeface="Meiryo" panose="020B0604030504040204" pitchFamily="34" charset="-128"/>
                <a:ea typeface="Meiryo" panose="020B0604030504040204" pitchFamily="34" charset="-128"/>
              </a:rPr>
              <a:t>IP: 192.168.1.</a:t>
            </a:r>
            <a:r>
              <a:rPr lang="mn-MN" sz="2000" dirty="0">
                <a:latin typeface="Meiryo" panose="020B0604030504040204" pitchFamily="34" charset="-128"/>
                <a:ea typeface="Meiryo" panose="020B0604030504040204" pitchFamily="34" charset="-128"/>
              </a:rPr>
              <a:t>.. </a:t>
            </a: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宛先</a:t>
            </a:r>
            <a:r>
              <a:rPr lang="en-US" sz="2000" dirty="0">
                <a:latin typeface="Meiryo" panose="020B0604030504040204" pitchFamily="34" charset="-128"/>
                <a:ea typeface="Meiryo" panose="020B0604030504040204" pitchFamily="34" charset="-128"/>
              </a:rPr>
              <a:t>IP: 192.168.1.</a:t>
            </a:r>
            <a:r>
              <a:rPr lang="mn-MN" sz="2000" dirty="0">
                <a:latin typeface="Meiryo" panose="020B0604030504040204" pitchFamily="34" charset="-128"/>
                <a:ea typeface="Meiryo" panose="020B0604030504040204" pitchFamily="34" charset="-128"/>
              </a:rPr>
              <a:t>..</a:t>
            </a: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サイズ</a:t>
            </a:r>
            <a:r>
              <a:rPr lang="en-US" altLang="ja-JP" sz="2000" dirty="0">
                <a:latin typeface="Meiryo" panose="020B0604030504040204" pitchFamily="34" charset="-128"/>
                <a:ea typeface="Meiryo" panose="020B0604030504040204" pitchFamily="34" charset="-128"/>
              </a:rPr>
              <a:t>: 128</a:t>
            </a:r>
            <a:r>
              <a:rPr lang="ja-JP" altLang="en-US" sz="2000">
                <a:latin typeface="Meiryo" panose="020B0604030504040204" pitchFamily="34" charset="-128"/>
                <a:ea typeface="Meiryo" panose="020B0604030504040204" pitchFamily="34" charset="-128"/>
              </a:rPr>
              <a:t>バイト</a:t>
            </a:r>
            <a:endParaRPr lang="mn-MN" altLang="ja-JP" sz="2000" dirty="0">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a:latin typeface="Meiryo" panose="020B0604030504040204" pitchFamily="34" charset="-128"/>
                <a:ea typeface="Meiryo" panose="020B0604030504040204" pitchFamily="34" charset="-128"/>
              </a:rPr>
              <a:t> 時刻</a:t>
            </a:r>
            <a:r>
              <a:rPr lang="en-US" altLang="ja-JP" sz="2000" dirty="0">
                <a:latin typeface="Meiryo" panose="020B0604030504040204" pitchFamily="34" charset="-128"/>
                <a:ea typeface="Meiryo" panose="020B0604030504040204" pitchFamily="34" charset="-128"/>
              </a:rPr>
              <a:t>: 07:32:15</a:t>
            </a:r>
            <a:endParaRPr lang="mn-MN" altLang="ja-JP" sz="2000" dirty="0">
              <a:latin typeface="Meiryo" panose="020B0604030504040204" pitchFamily="34" charset="-128"/>
              <a:ea typeface="Meiryo" panose="020B0604030504040204" pitchFamily="34" charset="-128"/>
            </a:endParaRPr>
          </a:p>
          <a:p>
            <a:pPr marL="342900" indent="-342900">
              <a:buFont typeface="Wingdings" pitchFamily="2" charset="2"/>
              <a:buChar char="Ø"/>
            </a:pPr>
            <a:r>
              <a:rPr lang="ja-JP" altLang="en-US">
                <a:latin typeface="Meiryo" panose="020B0604030504040204" pitchFamily="34" charset="-128"/>
                <a:ea typeface="Meiryo" panose="020B0604030504040204" pitchFamily="34" charset="-128"/>
              </a:rPr>
              <a:t>攻撃者が</a:t>
            </a:r>
            <a:r>
              <a:rPr lang="en-US" dirty="0">
                <a:latin typeface="Meiryo" panose="020B0604030504040204" pitchFamily="34" charset="-128"/>
                <a:ea typeface="Meiryo" panose="020B0604030504040204" pitchFamily="34" charset="-128"/>
              </a:rPr>
              <a:t>MITM</a:t>
            </a:r>
            <a:r>
              <a:rPr lang="ja-JP" altLang="en-US">
                <a:latin typeface="Meiryo" panose="020B0604030504040204" pitchFamily="34" charset="-128"/>
                <a:ea typeface="Meiryo" panose="020B0604030504040204" pitchFamily="34" charset="-128"/>
              </a:rPr>
              <a:t>位置から観察でき</a:t>
            </a:r>
            <a:endParaRPr lang="mn-MN" altLang="ja-JP" dirty="0">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a:latin typeface="Meiryo" panose="020B0604030504040204" pitchFamily="34" charset="-128"/>
                <a:ea typeface="Meiryo" panose="020B0604030504040204" pitchFamily="34" charset="-128"/>
              </a:rPr>
              <a:t>生活パターン・在宅状況が推測可能</a:t>
            </a:r>
            <a:endParaRPr lang="en-JP" dirty="0">
              <a:latin typeface="Meiryo" panose="020B0604030504040204" pitchFamily="34" charset="-128"/>
              <a:ea typeface="Meiryo" panose="020B0604030504040204" pitchFamily="34" charset="-128"/>
            </a:endParaRPr>
          </a:p>
        </p:txBody>
      </p:sp>
      <p:sp>
        <p:nvSpPr>
          <p:cNvPr id="21" name="TextBox 20">
            <a:extLst>
              <a:ext uri="{FF2B5EF4-FFF2-40B4-BE49-F238E27FC236}">
                <a16:creationId xmlns:a16="http://schemas.microsoft.com/office/drawing/2014/main" id="{C74A5EEA-0A3E-C5EB-9B09-19E80C4C680A}"/>
              </a:ext>
            </a:extLst>
          </p:cNvPr>
          <p:cNvSpPr txBox="1"/>
          <p:nvPr/>
        </p:nvSpPr>
        <p:spPr>
          <a:xfrm>
            <a:off x="5048963" y="727847"/>
            <a:ext cx="3711006" cy="400110"/>
          </a:xfrm>
          <a:prstGeom prst="rect">
            <a:avLst/>
          </a:prstGeom>
          <a:noFill/>
        </p:spPr>
        <p:txBody>
          <a:bodyPr wrap="square" rtlCol="0">
            <a:spAutoFit/>
          </a:bodyPr>
          <a:lstStyle/>
          <a:p>
            <a:pPr algn="ctr"/>
            <a:r>
              <a:rPr lang="en-US" sz="2000" b="1" dirty="0">
                <a:latin typeface="Meiryo" panose="020B0604030504040204" pitchFamily="34" charset="-128"/>
                <a:ea typeface="Meiryo" panose="020B0604030504040204" pitchFamily="34" charset="-128"/>
              </a:rPr>
              <a:t>IoT Device</a:t>
            </a:r>
            <a:r>
              <a:rPr lang="ja-JP" altLang="en-US" sz="2000" b="1">
                <a:latin typeface="Meiryo" panose="020B0604030504040204" pitchFamily="34" charset="-128"/>
                <a:ea typeface="Meiryo" panose="020B0604030504040204" pitchFamily="34" charset="-128"/>
              </a:rPr>
              <a:t>パケットの実例</a:t>
            </a:r>
            <a:endParaRPr lang="en-JP" sz="2000" b="1" dirty="0">
              <a:latin typeface="Meiryo" panose="020B0604030504040204" pitchFamily="34" charset="-128"/>
              <a:ea typeface="Meiryo" panose="020B0604030504040204" pitchFamily="34" charset="-128"/>
            </a:endParaRPr>
          </a:p>
        </p:txBody>
      </p:sp>
      <p:sp>
        <p:nvSpPr>
          <p:cNvPr id="22" name="Rounded Rectangle 21">
            <a:extLst>
              <a:ext uri="{FF2B5EF4-FFF2-40B4-BE49-F238E27FC236}">
                <a16:creationId xmlns:a16="http://schemas.microsoft.com/office/drawing/2014/main" id="{8160EC68-5390-68E7-8757-79F060A97290}"/>
              </a:ext>
            </a:extLst>
          </p:cNvPr>
          <p:cNvSpPr/>
          <p:nvPr/>
        </p:nvSpPr>
        <p:spPr>
          <a:xfrm>
            <a:off x="4755474" y="4467850"/>
            <a:ext cx="4420390" cy="17408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latin typeface="Meiryo" panose="020B0604030504040204" pitchFamily="34" charset="-128"/>
                <a:ea typeface="Meiryo" panose="020B0604030504040204" pitchFamily="34" charset="-128"/>
              </a:rPr>
              <a:t>Payload-&gt;DTLS</a:t>
            </a:r>
            <a:r>
              <a:rPr lang="ja-JP" altLang="en-US">
                <a:latin typeface="Meiryo" panose="020B0604030504040204" pitchFamily="34" charset="-128"/>
                <a:ea typeface="Meiryo" panose="020B0604030504040204" pitchFamily="34" charset="-128"/>
              </a:rPr>
              <a:t>で暗号化（読めない）</a:t>
            </a:r>
          </a:p>
          <a:p>
            <a:pPr marL="285750" indent="-285750">
              <a:buFont typeface="Arial" panose="020B0604020202020204" pitchFamily="34" charset="0"/>
              <a:buChar char="•"/>
            </a:pPr>
            <a:r>
              <a:rPr lang="en-JP" dirty="0">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a3 f2 9c 11 8e 4d b7 22 c1 5f..</a:t>
            </a:r>
          </a:p>
          <a:p>
            <a:pPr marL="285750" indent="-285750">
              <a:buFont typeface="Arial" panose="020B0604020202020204" pitchFamily="34" charset="0"/>
              <a:buChar char="•"/>
            </a:pPr>
            <a:r>
              <a:rPr lang="ja-JP" altLang="en-US">
                <a:latin typeface="Meiryo" panose="020B0604030504040204" pitchFamily="34" charset="-128"/>
                <a:ea typeface="Meiryo" panose="020B0604030504040204" pitchFamily="34" charset="-128"/>
              </a:rPr>
              <a:t>元データ</a:t>
            </a:r>
            <a:r>
              <a:rPr lang="en-US" altLang="ja-JP" dirty="0">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temp":23.5, "</a:t>
            </a:r>
            <a:r>
              <a:rPr lang="en-US" dirty="0" err="1">
                <a:latin typeface="Meiryo" panose="020B0604030504040204" pitchFamily="34" charset="-128"/>
                <a:ea typeface="Meiryo" panose="020B0604030504040204" pitchFamily="34" charset="-128"/>
              </a:rPr>
              <a:t>lock":"CLOSED</a:t>
            </a:r>
            <a:r>
              <a:rPr lang="en-US" dirty="0">
                <a:latin typeface="Meiryo" panose="020B0604030504040204" pitchFamily="34" charset="-128"/>
                <a:ea typeface="Meiryo" panose="020B0604030504040204" pitchFamily="34" charset="-128"/>
              </a:rPr>
              <a:t>"}</a:t>
            </a:r>
          </a:p>
          <a:p>
            <a:pPr marL="285750" indent="-285750">
              <a:buFont typeface="Wingdings" pitchFamily="2" charset="2"/>
              <a:buChar char="Ø"/>
            </a:pPr>
            <a:r>
              <a:rPr lang="en-US" dirty="0">
                <a:latin typeface="Meiryo" panose="020B0604030504040204" pitchFamily="34" charset="-128"/>
                <a:ea typeface="Meiryo" panose="020B0604030504040204" pitchFamily="34" charset="-128"/>
              </a:rPr>
              <a:t>session key</a:t>
            </a:r>
            <a:r>
              <a:rPr lang="ja-JP" altLang="en-US">
                <a:latin typeface="Meiryo" panose="020B0604030504040204" pitchFamily="34" charset="-128"/>
                <a:ea typeface="Meiryo" panose="020B0604030504040204" pitchFamily="34" charset="-128"/>
              </a:rPr>
              <a:t>がなければ解読不可能</a:t>
            </a:r>
            <a:endParaRPr lang="en-JP" dirty="0">
              <a:latin typeface="Meiryo" panose="020B0604030504040204" pitchFamily="34" charset="-128"/>
              <a:ea typeface="Meiryo" panose="020B0604030504040204" pitchFamily="34" charset="-128"/>
            </a:endParaRPr>
          </a:p>
        </p:txBody>
      </p:sp>
      <p:sp>
        <p:nvSpPr>
          <p:cNvPr id="23" name="TextBox 22">
            <a:extLst>
              <a:ext uri="{FF2B5EF4-FFF2-40B4-BE49-F238E27FC236}">
                <a16:creationId xmlns:a16="http://schemas.microsoft.com/office/drawing/2014/main" id="{BEC93695-567A-B24A-9339-EC1448C15429}"/>
              </a:ext>
            </a:extLst>
          </p:cNvPr>
          <p:cNvSpPr txBox="1"/>
          <p:nvPr/>
        </p:nvSpPr>
        <p:spPr>
          <a:xfrm>
            <a:off x="45587" y="6602379"/>
            <a:ext cx="6855560" cy="276999"/>
          </a:xfrm>
          <a:prstGeom prst="rect">
            <a:avLst/>
          </a:prstGeom>
          <a:noFill/>
        </p:spPr>
        <p:txBody>
          <a:bodyPr wrap="square" rtlCol="0">
            <a:spAutoFit/>
          </a:bodyPr>
          <a:lstStyle/>
          <a:p>
            <a:pPr rtl="0">
              <a:spcBef>
                <a:spcPts val="0"/>
              </a:spcBef>
              <a:spcAft>
                <a:spcPts val="0"/>
              </a:spcAft>
            </a:pPr>
            <a:r>
              <a:rPr lang="en-US" sz="1200" dirty="0">
                <a:solidFill>
                  <a:srgbClr val="000000"/>
                </a:solidFill>
                <a:latin typeface="Arial" panose="020B0604020202020204" pitchFamily="34" charset="0"/>
              </a:rPr>
              <a:t>[9]</a:t>
            </a:r>
            <a:r>
              <a:rPr lang="en-US" sz="1200" b="0" i="0" u="none" strike="noStrike" dirty="0">
                <a:solidFill>
                  <a:srgbClr val="000000"/>
                </a:solidFill>
                <a:effectLst/>
                <a:latin typeface="Arial" panose="020B0604020202020204" pitchFamily="34" charset="0"/>
              </a:rPr>
              <a:t>Cybersecurity / IoT Security / Privacy / Traffic </a:t>
            </a:r>
            <a:r>
              <a:rPr lang="en-US" sz="1200" b="0" i="0" u="none" strike="noStrike" dirty="0" err="1">
                <a:solidFill>
                  <a:srgbClr val="000000"/>
                </a:solidFill>
                <a:effectLst/>
                <a:latin typeface="Arial" panose="020B0604020202020204" pitchFamily="34" charset="0"/>
              </a:rPr>
              <a:t>Analysislink:</a:t>
            </a:r>
            <a:r>
              <a:rPr lang="en-US" sz="1200" b="0" i="0" u="sng" strike="noStrike" dirty="0" err="1">
                <a:solidFill>
                  <a:srgbClr val="1155CC"/>
                </a:solidFill>
                <a:effectLst/>
                <a:latin typeface="Arial" panose="020B0604020202020204" pitchFamily="34" charset="0"/>
                <a:hlinkClick r:id="rId4"/>
              </a:rPr>
              <a:t>https</a:t>
            </a:r>
            <a:r>
              <a:rPr lang="en-US" sz="1200" b="0" i="0" u="sng" strike="noStrike" dirty="0">
                <a:solidFill>
                  <a:srgbClr val="1155CC"/>
                </a:solidFill>
                <a:effectLst/>
                <a:latin typeface="Arial" panose="020B0604020202020204" pitchFamily="34" charset="0"/>
                <a:hlinkClick r:id="rId4"/>
              </a:rPr>
              <a:t>://arxiv.org/pdf/1808.02741</a:t>
            </a:r>
            <a:endParaRPr lang="en-US" sz="1200" b="0" dirty="0">
              <a:effectLst/>
            </a:endParaRPr>
          </a:p>
        </p:txBody>
      </p:sp>
    </p:spTree>
    <p:extLst>
      <p:ext uri="{BB962C8B-B14F-4D97-AF65-F5344CB8AC3E}">
        <p14:creationId xmlns:p14="http://schemas.microsoft.com/office/powerpoint/2010/main" val="1114263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9023048-3151-3585-B7D9-6616E0DAE645}"/>
              </a:ext>
            </a:extLst>
          </p:cNvPr>
          <p:cNvSpPr txBox="1"/>
          <p:nvPr/>
        </p:nvSpPr>
        <p:spPr>
          <a:xfrm>
            <a:off x="557684" y="357819"/>
            <a:ext cx="4572000" cy="1200329"/>
          </a:xfrm>
          <a:prstGeom prst="rect">
            <a:avLst/>
          </a:prstGeom>
          <a:noFill/>
        </p:spPr>
        <p:txBody>
          <a:bodyPr wrap="square">
            <a:spAutoFit/>
          </a:bodyPr>
          <a:lstStyle/>
          <a:p>
            <a:pPr rtl="0">
              <a:spcBef>
                <a:spcPts val="0"/>
              </a:spcBef>
              <a:spcAft>
                <a:spcPts val="0"/>
              </a:spcAft>
            </a:pPr>
            <a:r>
              <a:rPr lang="ja-JP" altLang="en-US" sz="3600" b="0" i="0" u="none" strike="noStrike">
                <a:solidFill>
                  <a:srgbClr val="000000"/>
                </a:solidFill>
                <a:effectLst/>
                <a:latin typeface="Meiryo" panose="020B0604030504040204" pitchFamily="34" charset="-128"/>
                <a:ea typeface="Meiryo" panose="020B0604030504040204" pitchFamily="34" charset="-128"/>
              </a:rPr>
              <a:t>関連研究</a:t>
            </a:r>
            <a:r>
              <a:rPr lang="en-US" altLang="ja-JP" sz="3600" b="0" i="0" u="none" strike="noStrike" dirty="0">
                <a:solidFill>
                  <a:srgbClr val="000000"/>
                </a:solidFill>
                <a:effectLst/>
                <a:latin typeface="Meiryo" panose="020B0604030504040204" pitchFamily="34" charset="-128"/>
                <a:ea typeface="Meiryo" panose="020B0604030504040204" pitchFamily="34" charset="-128"/>
              </a:rPr>
              <a:t>1</a:t>
            </a:r>
            <a:r>
              <a:rPr lang="en-US" altLang="ja-JP" sz="3600" b="0" i="0" u="none" strike="noStrike" baseline="-25000" dirty="0">
                <a:solidFill>
                  <a:srgbClr val="000000"/>
                </a:solidFill>
                <a:effectLst/>
                <a:latin typeface="Meiryo" panose="020B0604030504040204" pitchFamily="34" charset="-128"/>
                <a:ea typeface="Meiryo" panose="020B0604030504040204" pitchFamily="34" charset="-128"/>
              </a:rPr>
              <a:t>[10]</a:t>
            </a:r>
            <a:br>
              <a:rPr lang="ja-JP" altLang="en-US" sz="3600">
                <a:latin typeface="Meiryo" panose="020B0604030504040204" pitchFamily="34" charset="-128"/>
                <a:ea typeface="Meiryo" panose="020B0604030504040204" pitchFamily="34" charset="-128"/>
              </a:rPr>
            </a:br>
            <a:endParaRPr lang="en-JP" sz="3600"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F6811410-0372-D1C8-CD3B-E699CA288B62}"/>
              </a:ext>
            </a:extLst>
          </p:cNvPr>
          <p:cNvSpPr txBox="1"/>
          <p:nvPr/>
        </p:nvSpPr>
        <p:spPr>
          <a:xfrm>
            <a:off x="295232" y="1166842"/>
            <a:ext cx="8553536" cy="5755422"/>
          </a:xfrm>
          <a:prstGeom prst="rect">
            <a:avLst/>
          </a:prstGeom>
          <a:noFill/>
        </p:spPr>
        <p:txBody>
          <a:bodyPr wrap="square">
            <a:spAutoFit/>
          </a:bodyPr>
          <a:lstStyle/>
          <a:p>
            <a:r>
              <a:rPr lang="en-US" sz="2000" dirty="0" err="1">
                <a:latin typeface="Meiryo" panose="020B0604030504040204" pitchFamily="34" charset="-128"/>
                <a:ea typeface="Meiryo" panose="020B0604030504040204" pitchFamily="34" charset="-128"/>
              </a:rPr>
              <a:t>出典</a:t>
            </a:r>
            <a:r>
              <a:rPr lang="en-US" sz="2000" dirty="0">
                <a:latin typeface="Meiryo" panose="020B0604030504040204" pitchFamily="34" charset="-128"/>
                <a:ea typeface="Meiryo" panose="020B0604030504040204" pitchFamily="34" charset="-128"/>
              </a:rPr>
              <a:t>: </a:t>
            </a:r>
            <a:r>
              <a:rPr lang="en-US" sz="2000" dirty="0" err="1">
                <a:latin typeface="Meiryo" panose="020B0604030504040204" pitchFamily="34" charset="-128"/>
                <a:ea typeface="Meiryo" panose="020B0604030504040204" pitchFamily="34" charset="-128"/>
              </a:rPr>
              <a:t>Apthorpe</a:t>
            </a:r>
            <a:r>
              <a:rPr lang="en-US" sz="2000" dirty="0">
                <a:latin typeface="Meiryo" panose="020B0604030504040204" pitchFamily="34" charset="-128"/>
                <a:ea typeface="Meiryo" panose="020B0604030504040204" pitchFamily="34" charset="-128"/>
              </a:rPr>
              <a:t> et al., “</a:t>
            </a:r>
            <a:r>
              <a:rPr lang="en-US" sz="2000" b="1" dirty="0">
                <a:latin typeface="Meiryo" panose="020B0604030504040204" pitchFamily="34" charset="-128"/>
                <a:ea typeface="Meiryo" panose="020B0604030504040204" pitchFamily="34" charset="-128"/>
              </a:rPr>
              <a:t>Spying on the Smart Home: Privacy Attacks and Defenses on Encrypted IoT Traffic</a:t>
            </a:r>
            <a:r>
              <a:rPr lang="en-US" sz="2000" dirty="0">
                <a:latin typeface="Meiryo" panose="020B0604030504040204" pitchFamily="34" charset="-128"/>
                <a:ea typeface="Meiryo" panose="020B0604030504040204" pitchFamily="34" charset="-128"/>
              </a:rPr>
              <a:t>”, </a:t>
            </a:r>
            <a:endParaRPr lang="en-US" altLang="ja-JP" sz="2400" i="0" u="none" strike="noStrike" dirty="0">
              <a:effectLst/>
              <a:latin typeface="Meiryo" panose="020B0604030504040204" pitchFamily="34" charset="-128"/>
              <a:ea typeface="Meiryo" panose="020B0604030504040204" pitchFamily="34" charset="-128"/>
            </a:endParaRPr>
          </a:p>
          <a:p>
            <a:endParaRPr lang="en-US" altLang="ja-JP" sz="2400" i="0" u="none" strike="noStrike" dirty="0">
              <a:effectLst/>
              <a:latin typeface="Meiryo" panose="020B0604030504040204" pitchFamily="34" charset="-128"/>
              <a:ea typeface="Meiryo" panose="020B0604030504040204" pitchFamily="34" charset="-128"/>
            </a:endParaRPr>
          </a:p>
          <a:p>
            <a:r>
              <a:rPr lang="ja-JP" altLang="en-US" sz="2400" i="0" u="none" strike="noStrike">
                <a:effectLst/>
                <a:latin typeface="Meiryo" panose="020B0604030504040204" pitchFamily="34" charset="-128"/>
                <a:ea typeface="Meiryo" panose="020B0604030504040204" pitchFamily="34" charset="-128"/>
              </a:rPr>
              <a:t>研究概要</a:t>
            </a:r>
          </a:p>
          <a:p>
            <a:r>
              <a:rPr lang="ja-JP" altLang="en-US" sz="2400" i="0" u="none" strike="noStrike">
                <a:effectLst/>
                <a:latin typeface="Meiryo" panose="020B0604030504040204" pitchFamily="34" charset="-128"/>
                <a:ea typeface="Meiryo" panose="020B0604030504040204" pitchFamily="34" charset="-128"/>
              </a:rPr>
              <a:t>研究者らは，「通信内容（</a:t>
            </a:r>
            <a:r>
              <a:rPr lang="en-US" altLang="ja-JP" sz="2400" i="0" u="none" strike="noStrike" dirty="0">
                <a:effectLst/>
                <a:latin typeface="Meiryo" panose="020B0604030504040204" pitchFamily="34" charset="-128"/>
                <a:ea typeface="Meiryo" panose="020B0604030504040204" pitchFamily="34" charset="-128"/>
              </a:rPr>
              <a:t>Payload</a:t>
            </a:r>
            <a:r>
              <a:rPr lang="ja-JP" altLang="en-US" sz="2400" i="0" u="none" strike="noStrike">
                <a:effectLst/>
                <a:latin typeface="Meiryo" panose="020B0604030504040204" pitchFamily="34" charset="-128"/>
                <a:ea typeface="Meiryo" panose="020B0604030504040204" pitchFamily="34" charset="-128"/>
              </a:rPr>
              <a:t>）が暗号化されていても，</a:t>
            </a:r>
          </a:p>
          <a:p>
            <a:r>
              <a:rPr lang="ja-JP" altLang="en-US" sz="2400" i="0" u="none" strike="noStrike">
                <a:effectLst/>
                <a:latin typeface="Meiryo" panose="020B0604030504040204" pitchFamily="34" charset="-128"/>
                <a:ea typeface="Meiryo" panose="020B0604030504040204" pitchFamily="34" charset="-128"/>
              </a:rPr>
              <a:t>トラフィックパターンやメタデータから利用者行動を推測可能ではないか」という問題を提起した．</a:t>
            </a:r>
          </a:p>
          <a:p>
            <a:endParaRPr lang="ja-JP" altLang="en-US" sz="2400" i="0" u="none" strike="noStrike">
              <a:effectLst/>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400" i="0" u="none" strike="noStrike">
                <a:effectLst/>
                <a:latin typeface="Meiryo" panose="020B0604030504040204" pitchFamily="34" charset="-128"/>
                <a:ea typeface="Meiryo" panose="020B0604030504040204" pitchFamily="34" charset="-128"/>
              </a:rPr>
              <a:t>この仮説を検証するため，</a:t>
            </a:r>
            <a:endParaRPr lang="mn-MN" altLang="ja-JP" sz="2400" i="0" u="none" strike="noStrike" dirty="0">
              <a:effectLst/>
              <a:latin typeface="Meiryo" panose="020B0604030504040204" pitchFamily="34" charset="-128"/>
              <a:ea typeface="Meiryo" panose="020B0604030504040204" pitchFamily="34" charset="-128"/>
            </a:endParaRPr>
          </a:p>
          <a:p>
            <a:r>
              <a:rPr lang="ja-JP" altLang="en-US" sz="2400" i="0" u="none" strike="noStrike">
                <a:effectLst/>
                <a:latin typeface="Meiryo" panose="020B0604030504040204" pitchFamily="34" charset="-128"/>
                <a:ea typeface="Meiryo" panose="020B0604030504040204" pitchFamily="34" charset="-128"/>
              </a:rPr>
              <a:t>市販スマートホーム</a:t>
            </a:r>
            <a:r>
              <a:rPr lang="en-US" altLang="ja-JP" sz="2400" i="0" u="none" strike="noStrike" dirty="0">
                <a:effectLst/>
                <a:latin typeface="Meiryo" panose="020B0604030504040204" pitchFamily="34" charset="-128"/>
                <a:ea typeface="Meiryo" panose="020B0604030504040204" pitchFamily="34" charset="-128"/>
              </a:rPr>
              <a:t>IoT</a:t>
            </a:r>
            <a:r>
              <a:rPr lang="ja-JP" altLang="en-US" sz="2400" i="0" u="none" strike="noStrike">
                <a:effectLst/>
                <a:latin typeface="Meiryo" panose="020B0604030504040204" pitchFamily="34" charset="-128"/>
                <a:ea typeface="Meiryo" panose="020B0604030504040204" pitchFamily="34" charset="-128"/>
              </a:rPr>
              <a:t>デバイスの暗号化通信を分析した．</a:t>
            </a:r>
          </a:p>
          <a:p>
            <a:endParaRPr lang="ja-JP" altLang="en-US" sz="2400" i="0" u="none" strike="noStrike">
              <a:effectLst/>
              <a:latin typeface="Meiryo" panose="020B0604030504040204" pitchFamily="34" charset="-128"/>
              <a:ea typeface="Meiryo" panose="020B0604030504040204" pitchFamily="34" charset="-128"/>
            </a:endParaRPr>
          </a:p>
          <a:p>
            <a:pPr marL="285750" indent="-285750">
              <a:buFont typeface="Wingdings" pitchFamily="2" charset="2"/>
              <a:buChar char="Ø"/>
            </a:pPr>
            <a:r>
              <a:rPr lang="ja-JP" altLang="en-US" sz="2400" i="0" u="none" strike="noStrike">
                <a:effectLst/>
                <a:latin typeface="Meiryo" panose="020B0604030504040204" pitchFamily="34" charset="-128"/>
                <a:ea typeface="Meiryo" panose="020B0604030504040204" pitchFamily="34" charset="-128"/>
              </a:rPr>
              <a:t>その結果，暗号化通信であっても，通信頻度やパケットサイズなどの特徴から，ユーザ行動推測が可能であることを示した．</a:t>
            </a:r>
            <a:endParaRPr lang="mn-MN" altLang="ja-JP" sz="2400" i="0" u="none" strike="noStrike" dirty="0">
              <a:effectLst/>
              <a:latin typeface="Meiryo" panose="020B0604030504040204" pitchFamily="34" charset="-128"/>
              <a:ea typeface="Meiryo" panose="020B0604030504040204" pitchFamily="34" charset="-128"/>
            </a:endParaRPr>
          </a:p>
          <a:p>
            <a:endParaRPr lang="mn-MN" altLang="ja-JP" sz="2000" dirty="0">
              <a:latin typeface="Meiryo" panose="020B0604030504040204" pitchFamily="34" charset="-128"/>
              <a:ea typeface="Meiryo" panose="020B0604030504040204" pitchFamily="34" charset="-128"/>
            </a:endParaRPr>
          </a:p>
          <a:p>
            <a:endParaRPr lang="en-US" sz="2000" dirty="0"/>
          </a:p>
        </p:txBody>
      </p:sp>
      <p:sp>
        <p:nvSpPr>
          <p:cNvPr id="9" name="TextBox 8">
            <a:extLst>
              <a:ext uri="{FF2B5EF4-FFF2-40B4-BE49-F238E27FC236}">
                <a16:creationId xmlns:a16="http://schemas.microsoft.com/office/drawing/2014/main" id="{4275085C-C8BF-42EC-3666-CD65B0FC3736}"/>
              </a:ext>
            </a:extLst>
          </p:cNvPr>
          <p:cNvSpPr txBox="1"/>
          <p:nvPr/>
        </p:nvSpPr>
        <p:spPr>
          <a:xfrm>
            <a:off x="295232" y="6301016"/>
            <a:ext cx="6386041" cy="415498"/>
          </a:xfrm>
          <a:prstGeom prst="rect">
            <a:avLst/>
          </a:prstGeom>
          <a:noFill/>
        </p:spPr>
        <p:txBody>
          <a:bodyPr wrap="square">
            <a:spAutoFit/>
          </a:bodyPr>
          <a:lstStyle/>
          <a:p>
            <a:pPr rtl="0">
              <a:spcBef>
                <a:spcPts val="0"/>
              </a:spcBef>
              <a:spcAft>
                <a:spcPts val="0"/>
              </a:spcAft>
            </a:pPr>
            <a:r>
              <a:rPr lang="en-JP" sz="1050" b="1" kern="100" dirty="0">
                <a:effectLst/>
                <a:latin typeface="Meiryo" panose="020B0604030504040204" pitchFamily="34" charset="-128"/>
                <a:ea typeface="Meiryo" panose="020B0604030504040204" pitchFamily="34" charset="-128"/>
                <a:cs typeface="Times New Roman" panose="02020603050405020304" pitchFamily="18" charset="0"/>
              </a:rPr>
              <a:t>[10] </a:t>
            </a:r>
            <a:r>
              <a:rPr lang="en-US" sz="1050" b="0" i="0" u="none" strike="noStrike" dirty="0">
                <a:solidFill>
                  <a:srgbClr val="000000"/>
                </a:solidFill>
                <a:effectLst/>
                <a:latin typeface="Meiryo" panose="020B0604030504040204" pitchFamily="34" charset="-128"/>
                <a:ea typeface="Meiryo" panose="020B0604030504040204" pitchFamily="34" charset="-128"/>
              </a:rPr>
              <a:t>Research Field: Cybersecurity / IoT Security / Privacy / Traffic </a:t>
            </a:r>
            <a:r>
              <a:rPr lang="en-US" sz="1050" b="0" i="0" u="none" strike="noStrike" dirty="0" err="1">
                <a:solidFill>
                  <a:srgbClr val="000000"/>
                </a:solidFill>
                <a:effectLst/>
                <a:latin typeface="Meiryo" panose="020B0604030504040204" pitchFamily="34" charset="-128"/>
                <a:ea typeface="Meiryo" panose="020B0604030504040204" pitchFamily="34" charset="-128"/>
              </a:rPr>
              <a:t>Analysisink</a:t>
            </a:r>
            <a:r>
              <a:rPr lang="en-US" sz="1050" b="0" i="0" u="none" strike="noStrike" dirty="0">
                <a:solidFill>
                  <a:srgbClr val="000000"/>
                </a:solidFill>
                <a:effectLst/>
                <a:latin typeface="Meiryo" panose="020B0604030504040204" pitchFamily="34" charset="-128"/>
                <a:ea typeface="Meiryo" panose="020B0604030504040204" pitchFamily="34" charset="-128"/>
              </a:rPr>
              <a:t>: </a:t>
            </a:r>
            <a:r>
              <a:rPr lang="en-US" sz="1050" b="0" i="0" u="sng" strike="noStrike" dirty="0">
                <a:solidFill>
                  <a:srgbClr val="1155CC"/>
                </a:solidFill>
                <a:effectLst/>
                <a:latin typeface="Meiryo" panose="020B0604030504040204" pitchFamily="34" charset="-128"/>
                <a:ea typeface="Meiryo" panose="020B0604030504040204" pitchFamily="34" charset="-128"/>
                <a:hlinkClick r:id="rId3"/>
              </a:rPr>
              <a:t>https://arxiv.org/pdf/1708.05044</a:t>
            </a:r>
            <a:endParaRPr lang="en-US" sz="1050" b="0" dirty="0">
              <a:effectLst/>
              <a:latin typeface="Meiryo" panose="020B0604030504040204" pitchFamily="34" charset="-128"/>
              <a:ea typeface="Meiryo" panose="020B0604030504040204" pitchFamily="34" charset="-128"/>
            </a:endParaRPr>
          </a:p>
        </p:txBody>
      </p:sp>
      <p:sp>
        <p:nvSpPr>
          <p:cNvPr id="10" name="Slide Number Placeholder 9">
            <a:extLst>
              <a:ext uri="{FF2B5EF4-FFF2-40B4-BE49-F238E27FC236}">
                <a16:creationId xmlns:a16="http://schemas.microsoft.com/office/drawing/2014/main" id="{FD47498A-3ECA-081D-D2B4-A98F090D0CBA}"/>
              </a:ext>
            </a:extLst>
          </p:cNvPr>
          <p:cNvSpPr>
            <a:spLocks noGrp="1"/>
          </p:cNvSpPr>
          <p:nvPr>
            <p:ph type="sldNum" sz="quarter" idx="12"/>
          </p:nvPr>
        </p:nvSpPr>
        <p:spPr/>
        <p:txBody>
          <a:bodyPr/>
          <a:lstStyle/>
          <a:p>
            <a:fld id="{828F3BD4-1AF2-D144-8129-4D42AD448F5E}" type="slidenum">
              <a:rPr lang="en-JP" smtClean="0"/>
              <a:t>17</a:t>
            </a:fld>
            <a:endParaRPr lang="en-JP"/>
          </a:p>
        </p:txBody>
      </p:sp>
    </p:spTree>
    <p:extLst>
      <p:ext uri="{BB962C8B-B14F-4D97-AF65-F5344CB8AC3E}">
        <p14:creationId xmlns:p14="http://schemas.microsoft.com/office/powerpoint/2010/main" val="20420553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C6BA0EB-7B7E-DE50-58B3-59541CFCE05A}"/>
              </a:ext>
            </a:extLst>
          </p:cNvPr>
          <p:cNvSpPr>
            <a:spLocks noGrp="1"/>
          </p:cNvSpPr>
          <p:nvPr>
            <p:ph type="sldNum" sz="quarter" idx="12"/>
          </p:nvPr>
        </p:nvSpPr>
        <p:spPr/>
        <p:txBody>
          <a:bodyPr/>
          <a:lstStyle/>
          <a:p>
            <a:fld id="{828F3BD4-1AF2-D144-8129-4D42AD448F5E}" type="slidenum">
              <a:rPr lang="en-JP" smtClean="0"/>
              <a:pPr/>
              <a:t>18</a:t>
            </a:fld>
            <a:endParaRPr lang="en-JP" dirty="0"/>
          </a:p>
        </p:txBody>
      </p:sp>
      <p:sp>
        <p:nvSpPr>
          <p:cNvPr id="7" name="Shape 0">
            <a:extLst>
              <a:ext uri="{FF2B5EF4-FFF2-40B4-BE49-F238E27FC236}">
                <a16:creationId xmlns:a16="http://schemas.microsoft.com/office/drawing/2014/main" id="{0E56D31E-A7E2-56CF-276A-FB2DDB0D2B37}"/>
              </a:ext>
            </a:extLst>
          </p:cNvPr>
          <p:cNvSpPr/>
          <p:nvPr/>
        </p:nvSpPr>
        <p:spPr>
          <a:xfrm>
            <a:off x="13491" y="0"/>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
            </a:pPr>
            <a:r>
              <a:rPr lang="ja-JP" altLang="en-US" sz="2400" b="1">
                <a:latin typeface="Meiryo" panose="020B0604030504040204" pitchFamily="34" charset="-128"/>
                <a:ea typeface="Meiryo" panose="020B0604030504040204" pitchFamily="34" charset="-128"/>
              </a:rPr>
              <a:t>実被害・公式報告 </a:t>
            </a:r>
            <a:r>
              <a:rPr lang="en-US" altLang="ja-JP" sz="2400" b="1" dirty="0">
                <a:latin typeface="Meiryo" panose="020B0604030504040204" pitchFamily="34" charset="-128"/>
                <a:ea typeface="Meiryo" panose="020B0604030504040204" pitchFamily="34" charset="-128"/>
              </a:rPr>
              <a:t>— </a:t>
            </a:r>
            <a:r>
              <a:rPr lang="en-US" sz="2400" b="1" dirty="0">
                <a:latin typeface="Meiryo" panose="020B0604030504040204" pitchFamily="34" charset="-128"/>
                <a:ea typeface="Meiryo" panose="020B0604030504040204" pitchFamily="34" charset="-128"/>
              </a:rPr>
              <a:t>ARP</a:t>
            </a:r>
            <a:r>
              <a:rPr lang="ja-JP" altLang="en-US" sz="2400" b="1">
                <a:latin typeface="Meiryo" panose="020B0604030504040204" pitchFamily="34" charset="-128"/>
                <a:ea typeface="Meiryo" panose="020B0604030504040204" pitchFamily="34" charset="-128"/>
              </a:rPr>
              <a:t>スプーフィングは現実の脅威</a:t>
            </a:r>
            <a:endParaRPr lang="en-JP" sz="2400" b="1" dirty="0">
              <a:latin typeface="Meiryo" panose="020B0604030504040204" pitchFamily="34" charset="-128"/>
              <a:ea typeface="Meiryo" panose="020B0604030504040204" pitchFamily="34" charset="-128"/>
            </a:endParaRPr>
          </a:p>
        </p:txBody>
      </p:sp>
      <p:sp>
        <p:nvSpPr>
          <p:cNvPr id="16" name="Rounded Rectangle 15">
            <a:extLst>
              <a:ext uri="{FF2B5EF4-FFF2-40B4-BE49-F238E27FC236}">
                <a16:creationId xmlns:a16="http://schemas.microsoft.com/office/drawing/2014/main" id="{E7D2C7BF-202A-3A09-2F34-0B9583920999}"/>
              </a:ext>
            </a:extLst>
          </p:cNvPr>
          <p:cNvSpPr/>
          <p:nvPr/>
        </p:nvSpPr>
        <p:spPr>
          <a:xfrm>
            <a:off x="-1" y="582170"/>
            <a:ext cx="9035143" cy="2765793"/>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 typeface="Wingdings" pitchFamily="2" charset="2"/>
              <a:buChar char="Ø"/>
            </a:pPr>
            <a:r>
              <a:rPr lang="en-US" altLang="ja-JP" sz="2400" b="1" dirty="0">
                <a:solidFill>
                  <a:schemeClr val="tx1"/>
                </a:solidFill>
                <a:latin typeface="Meiryo" panose="020B0604030504040204" pitchFamily="34" charset="-128"/>
                <a:ea typeface="Meiryo" panose="020B0604030504040204" pitchFamily="34" charset="-128"/>
              </a:rPr>
              <a:t>① </a:t>
            </a:r>
            <a:r>
              <a:rPr lang="en-US" altLang="ja-JP" sz="2400" dirty="0">
                <a:solidFill>
                  <a:schemeClr val="tx1"/>
                </a:solidFill>
                <a:latin typeface="Meiryo" panose="020B0604030504040204" pitchFamily="34" charset="-128"/>
                <a:ea typeface="Meiryo" panose="020B0604030504040204" pitchFamily="34" charset="-128"/>
              </a:rPr>
              <a:t>CISA</a:t>
            </a:r>
            <a:r>
              <a:rPr lang="ja-JP" altLang="en-US" sz="2400">
                <a:solidFill>
                  <a:schemeClr val="tx1"/>
                </a:solidFill>
                <a:latin typeface="Meiryo" panose="020B0604030504040204" pitchFamily="34" charset="-128"/>
                <a:ea typeface="Meiryo" panose="020B0604030504040204" pitchFamily="34" charset="-128"/>
              </a:rPr>
              <a:t>（米国国家サイバーセキュリティ機関）公式勧告</a:t>
            </a:r>
            <a:endParaRPr lang="mn-MN" altLang="ja-JP" sz="2400" dirty="0">
              <a:solidFill>
                <a:schemeClr val="tx1"/>
              </a:solidFill>
              <a:latin typeface="Meiryo" panose="020B0604030504040204" pitchFamily="34" charset="-128"/>
              <a:ea typeface="Meiryo" panose="020B0604030504040204" pitchFamily="34" charset="-128"/>
            </a:endParaRPr>
          </a:p>
          <a:p>
            <a:pPr algn="ctr"/>
            <a:r>
              <a:rPr lang="en-US" sz="2400" dirty="0">
                <a:solidFill>
                  <a:schemeClr val="tx1"/>
                </a:solidFill>
                <a:latin typeface="Meiryo" panose="020B0604030504040204" pitchFamily="34" charset="-128"/>
                <a:ea typeface="Meiryo" panose="020B0604030504040204" pitchFamily="34" charset="-128"/>
              </a:rPr>
              <a:t>ARP</a:t>
            </a:r>
            <a:r>
              <a:rPr lang="ja-JP" altLang="en-US" sz="2400">
                <a:solidFill>
                  <a:schemeClr val="tx1"/>
                </a:solidFill>
                <a:latin typeface="Meiryo" panose="020B0604030504040204" pitchFamily="34" charset="-128"/>
                <a:ea typeface="Meiryo" panose="020B0604030504040204" pitchFamily="34" charset="-128"/>
              </a:rPr>
              <a:t>スプーフィングは</a:t>
            </a:r>
            <a:r>
              <a:rPr lang="en-US" sz="2400" dirty="0">
                <a:solidFill>
                  <a:schemeClr val="tx1"/>
                </a:solidFill>
                <a:latin typeface="Meiryo" panose="020B0604030504040204" pitchFamily="34" charset="-128"/>
                <a:ea typeface="Meiryo" panose="020B0604030504040204" pitchFamily="34" charset="-128"/>
              </a:rPr>
              <a:t>Man-in-the-Middle</a:t>
            </a:r>
            <a:r>
              <a:rPr lang="ja-JP" altLang="en-US" sz="2400">
                <a:solidFill>
                  <a:schemeClr val="tx1"/>
                </a:solidFill>
                <a:latin typeface="Meiryo" panose="020B0604030504040204" pitchFamily="34" charset="-128"/>
                <a:ea typeface="Meiryo" panose="020B0604030504040204" pitchFamily="34" charset="-128"/>
              </a:rPr>
              <a:t>攻撃の代表的な手法であり、ネットワーク通信の経路を不正に書き換える</a:t>
            </a:r>
            <a:r>
              <a:rPr lang="mn-MN" altLang="ja-JP" sz="2400" dirty="0">
                <a:solidFill>
                  <a:schemeClr val="tx1"/>
                </a:solidFill>
                <a:latin typeface="Meiryo" panose="020B0604030504040204" pitchFamily="34" charset="-128"/>
                <a:ea typeface="Meiryo" panose="020B0604030504040204" pitchFamily="34" charset="-128"/>
              </a:rPr>
              <a:t>.</a:t>
            </a:r>
            <a:r>
              <a:rPr lang="ja-JP" altLang="en-US" sz="2400">
                <a:solidFill>
                  <a:schemeClr val="tx1"/>
                </a:solidFill>
                <a:latin typeface="Meiryo" panose="020B0604030504040204" pitchFamily="34" charset="-128"/>
                <a:ea typeface="Meiryo" panose="020B0604030504040204" pitchFamily="34" charset="-128"/>
              </a:rPr>
              <a:t>暗号化（</a:t>
            </a:r>
            <a:r>
              <a:rPr lang="en-US" sz="2400" dirty="0">
                <a:solidFill>
                  <a:schemeClr val="tx1"/>
                </a:solidFill>
                <a:latin typeface="Meiryo" panose="020B0604030504040204" pitchFamily="34" charset="-128"/>
                <a:ea typeface="Meiryo" panose="020B0604030504040204" pitchFamily="34" charset="-128"/>
              </a:rPr>
              <a:t>TLS/DTLS）</a:t>
            </a:r>
            <a:r>
              <a:rPr lang="ja-JP" altLang="en-US" sz="2400">
                <a:solidFill>
                  <a:schemeClr val="tx1"/>
                </a:solidFill>
                <a:latin typeface="Meiryo" panose="020B0604030504040204" pitchFamily="34" charset="-128"/>
                <a:ea typeface="Meiryo" panose="020B0604030504040204" pitchFamily="34" charset="-128"/>
              </a:rPr>
              <a:t>があっても経路の乗っ取りは防げない</a:t>
            </a:r>
            <a:r>
              <a:rPr lang="mn-MN" altLang="ja-JP" sz="2400" dirty="0">
                <a:solidFill>
                  <a:schemeClr val="tx1"/>
                </a:solidFill>
                <a:latin typeface="Meiryo" panose="020B0604030504040204" pitchFamily="34" charset="-128"/>
                <a:ea typeface="Meiryo" panose="020B0604030504040204" pitchFamily="34" charset="-128"/>
              </a:rPr>
              <a:t>.</a:t>
            </a:r>
            <a:r>
              <a:rPr lang="ja-JP" altLang="en-US" sz="2400">
                <a:solidFill>
                  <a:schemeClr val="tx1"/>
                </a:solidFill>
                <a:latin typeface="Meiryo" panose="020B0604030504040204" pitchFamily="34" charset="-128"/>
                <a:ea typeface="Meiryo" panose="020B0604030504040204" pitchFamily="34" charset="-128"/>
              </a:rPr>
              <a:t>単一の技術では対策できず、多層防御が必要である</a:t>
            </a:r>
            <a:r>
              <a:rPr lang="mn-MN" altLang="ja-JP" sz="2400" dirty="0">
                <a:solidFill>
                  <a:schemeClr val="tx1"/>
                </a:solidFill>
                <a:latin typeface="Meiryo" panose="020B0604030504040204" pitchFamily="34" charset="-128"/>
                <a:ea typeface="Meiryo" panose="020B0604030504040204" pitchFamily="34" charset="-128"/>
              </a:rPr>
              <a:t>.</a:t>
            </a:r>
            <a:endParaRPr lang="ja-JP" altLang="en-US">
              <a:solidFill>
                <a:srgbClr val="C00000"/>
              </a:solidFill>
              <a:latin typeface="Meiryo" panose="020B0604030504040204" pitchFamily="34" charset="-128"/>
              <a:ea typeface="Meiryo" panose="020B0604030504040204" pitchFamily="34" charset="-128"/>
            </a:endParaRPr>
          </a:p>
          <a:p>
            <a:pPr algn="ctr"/>
            <a:endParaRPr lang="mn-MN" altLang="ja-JP" sz="1400" dirty="0">
              <a:solidFill>
                <a:schemeClr val="tx1"/>
              </a:solidFill>
              <a:latin typeface="Meiryo" panose="020B0604030504040204" pitchFamily="34" charset="-128"/>
              <a:ea typeface="Meiryo" panose="020B0604030504040204" pitchFamily="34" charset="-128"/>
            </a:endParaRPr>
          </a:p>
          <a:p>
            <a:pPr algn="ctr"/>
            <a:r>
              <a:rPr lang="ja-JP" altLang="en-US" sz="1400">
                <a:solidFill>
                  <a:schemeClr val="tx1"/>
                </a:solidFill>
                <a:latin typeface="Meiryo" panose="020B0604030504040204" pitchFamily="34" charset="-128"/>
                <a:ea typeface="Meiryo" panose="020B0604030504040204" pitchFamily="34" charset="-128"/>
              </a:rPr>
              <a:t>出典</a:t>
            </a:r>
            <a:r>
              <a:rPr lang="en-US" altLang="ja-JP" sz="1400" dirty="0">
                <a:solidFill>
                  <a:schemeClr val="tx1"/>
                </a:solidFill>
                <a:latin typeface="Meiryo" panose="020B0604030504040204" pitchFamily="34" charset="-128"/>
                <a:ea typeface="Meiryo" panose="020B0604030504040204" pitchFamily="34" charset="-128"/>
              </a:rPr>
              <a:t>: </a:t>
            </a:r>
            <a:r>
              <a:rPr lang="en-US" sz="1400" dirty="0">
                <a:solidFill>
                  <a:schemeClr val="tx1"/>
                </a:solidFill>
                <a:latin typeface="Meiryo" panose="020B0604030504040204" pitchFamily="34" charset="-128"/>
                <a:ea typeface="Meiryo" panose="020B0604030504040204" pitchFamily="34" charset="-128"/>
                <a:hlinkClick r:id="rId2"/>
              </a:rPr>
              <a:t>https://www.cisa.gov/news-events/alerts/2015/04/30/securing-end-end-communications</a:t>
            </a:r>
            <a:endParaRPr lang="mn-MN" sz="1400" dirty="0">
              <a:solidFill>
                <a:schemeClr val="tx1"/>
              </a:solidFill>
              <a:latin typeface="Meiryo" panose="020B0604030504040204" pitchFamily="34" charset="-128"/>
              <a:ea typeface="Meiryo" panose="020B0604030504040204" pitchFamily="34" charset="-128"/>
            </a:endParaRPr>
          </a:p>
          <a:p>
            <a:pPr algn="ctr"/>
            <a:endParaRPr lang="en-JP" sz="1400" dirty="0">
              <a:solidFill>
                <a:schemeClr val="tx1"/>
              </a:solidFill>
              <a:latin typeface="Meiryo" panose="020B0604030504040204" pitchFamily="34" charset="-128"/>
              <a:ea typeface="Meiryo" panose="020B0604030504040204" pitchFamily="34" charset="-128"/>
            </a:endParaRPr>
          </a:p>
        </p:txBody>
      </p:sp>
      <p:sp>
        <p:nvSpPr>
          <p:cNvPr id="17" name="Rounded Rectangle 16">
            <a:extLst>
              <a:ext uri="{FF2B5EF4-FFF2-40B4-BE49-F238E27FC236}">
                <a16:creationId xmlns:a16="http://schemas.microsoft.com/office/drawing/2014/main" id="{CC7CA189-9ACD-BAC8-6080-852BB2EE89EE}"/>
              </a:ext>
            </a:extLst>
          </p:cNvPr>
          <p:cNvSpPr/>
          <p:nvPr/>
        </p:nvSpPr>
        <p:spPr>
          <a:xfrm>
            <a:off x="-2" y="3461204"/>
            <a:ext cx="9035143" cy="2877726"/>
          </a:xfrm>
          <a:prstGeom prst="round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CVE-2020-6007</a:t>
            </a:r>
          </a:p>
          <a:p>
            <a:pPr marL="342900" indent="-342900" algn="ctr">
              <a:buFont typeface="Wingdings" pitchFamily="2" charset="2"/>
              <a:buChar char="Ø"/>
            </a:pPr>
            <a:r>
              <a:rPr lang="en-US" sz="2400" b="1" dirty="0">
                <a:solidFill>
                  <a:schemeClr val="tx1"/>
                </a:solidFill>
                <a:latin typeface="Meiryo" panose="020B0604030504040204" pitchFamily="34" charset="-128"/>
                <a:ea typeface="Meiryo" panose="020B0604030504040204" pitchFamily="34" charset="-128"/>
              </a:rPr>
              <a:t>② </a:t>
            </a:r>
            <a:r>
              <a:rPr lang="en-US" sz="2400" dirty="0">
                <a:solidFill>
                  <a:schemeClr val="tx1"/>
                </a:solidFill>
                <a:latin typeface="Meiryo" panose="020B0604030504040204" pitchFamily="34" charset="-128"/>
                <a:ea typeface="Meiryo" panose="020B0604030504040204" pitchFamily="34" charset="-128"/>
              </a:rPr>
              <a:t>Philips Hue </a:t>
            </a:r>
            <a:r>
              <a:rPr lang="ja-JP" altLang="en-US" sz="2400">
                <a:solidFill>
                  <a:schemeClr val="tx1"/>
                </a:solidFill>
                <a:latin typeface="Meiryo" panose="020B0604030504040204" pitchFamily="34" charset="-128"/>
                <a:ea typeface="Meiryo" panose="020B0604030504040204" pitchFamily="34" charset="-128"/>
              </a:rPr>
              <a:t>スマート電球</a:t>
            </a:r>
            <a:endParaRPr lang="mn-MN" altLang="ja-JP" sz="2400" dirty="0">
              <a:solidFill>
                <a:schemeClr val="tx1"/>
              </a:solidFill>
              <a:latin typeface="Meiryo" panose="020B0604030504040204" pitchFamily="34" charset="-128"/>
              <a:ea typeface="Meiryo" panose="020B0604030504040204" pitchFamily="34" charset="-128"/>
            </a:endParaRPr>
          </a:p>
          <a:p>
            <a:r>
              <a:rPr lang="en-US" altLang="ja-JP" sz="2400" dirty="0">
                <a:solidFill>
                  <a:schemeClr val="tx1"/>
                </a:solidFill>
                <a:latin typeface="Meiryo" panose="020B0604030504040204" pitchFamily="34" charset="-128"/>
                <a:ea typeface="Meiryo" panose="020B0604030504040204" pitchFamily="34" charset="-128"/>
              </a:rPr>
              <a:t>CVE-2020-6007 Philips Hue </a:t>
            </a:r>
            <a:r>
              <a:rPr lang="ja-JP" altLang="en-US" sz="2400">
                <a:solidFill>
                  <a:schemeClr val="tx1"/>
                </a:solidFill>
                <a:latin typeface="Meiryo" panose="020B0604030504040204" pitchFamily="34" charset="-128"/>
                <a:ea typeface="Meiryo" panose="020B0604030504040204" pitchFamily="34" charset="-128"/>
              </a:rPr>
              <a:t>スマート電球</a:t>
            </a:r>
            <a:r>
              <a:rPr lang="en-US" altLang="ja-JP" sz="2400" dirty="0">
                <a:solidFill>
                  <a:schemeClr val="tx1"/>
                </a:solidFill>
                <a:latin typeface="Meiryo" panose="020B0604030504040204" pitchFamily="34" charset="-128"/>
                <a:ea typeface="Meiryo" panose="020B0604030504040204" pitchFamily="34" charset="-128"/>
              </a:rPr>
              <a:t>Zigbee</a:t>
            </a:r>
            <a:r>
              <a:rPr lang="ja-JP" altLang="en-US" sz="2400">
                <a:solidFill>
                  <a:schemeClr val="tx1"/>
                </a:solidFill>
                <a:latin typeface="Meiryo" panose="020B0604030504040204" pitchFamily="34" charset="-128"/>
                <a:ea typeface="Meiryo" panose="020B0604030504040204" pitchFamily="34" charset="-128"/>
              </a:rPr>
              <a:t>プロトコルの</a:t>
            </a:r>
            <a:r>
              <a:rPr lang="en-US" altLang="ja-JP" sz="2400" dirty="0">
                <a:solidFill>
                  <a:schemeClr val="tx1"/>
                </a:solidFill>
                <a:latin typeface="Meiryo" panose="020B0604030504040204" pitchFamily="34" charset="-128"/>
                <a:ea typeface="Meiryo" panose="020B0604030504040204" pitchFamily="34" charset="-128"/>
              </a:rPr>
              <a:t>L2</a:t>
            </a:r>
            <a:r>
              <a:rPr lang="ja-JP" altLang="en-US" sz="2400">
                <a:solidFill>
                  <a:schemeClr val="tx1"/>
                </a:solidFill>
                <a:latin typeface="Meiryo" panose="020B0604030504040204" pitchFamily="34" charset="-128"/>
                <a:ea typeface="Meiryo" panose="020B0604030504040204" pitchFamily="34" charset="-128"/>
              </a:rPr>
              <a:t>層の脆弱性を利用し、悪意あるファームウェアを書き込むことで</a:t>
            </a:r>
            <a:r>
              <a:rPr lang="en-US" altLang="ja-JP" sz="2400" dirty="0" err="1">
                <a:solidFill>
                  <a:schemeClr val="tx1"/>
                </a:solidFill>
                <a:latin typeface="Meiryo" panose="020B0604030504040204" pitchFamily="34" charset="-128"/>
                <a:ea typeface="Meiryo" panose="020B0604030504040204" pitchFamily="34" charset="-128"/>
              </a:rPr>
              <a:t>WiFi</a:t>
            </a:r>
            <a:r>
              <a:rPr lang="ja-JP" altLang="en-US" sz="2400">
                <a:solidFill>
                  <a:schemeClr val="tx1"/>
                </a:solidFill>
                <a:latin typeface="Meiryo" panose="020B0604030504040204" pitchFamily="34" charset="-128"/>
                <a:ea typeface="Meiryo" panose="020B0604030504040204" pitchFamily="34" charset="-128"/>
              </a:rPr>
              <a:t>ネットワーク全体への侵入が可能となった</a:t>
            </a:r>
            <a:r>
              <a:rPr lang="mn-MN" altLang="ja-JP" sz="2400" dirty="0">
                <a:solidFill>
                  <a:schemeClr val="tx1"/>
                </a:solidFill>
                <a:latin typeface="Meiryo" panose="020B0604030504040204" pitchFamily="34" charset="-128"/>
                <a:ea typeface="Meiryo" panose="020B0604030504040204" pitchFamily="34" charset="-128"/>
              </a:rPr>
              <a:t>.</a:t>
            </a:r>
            <a:r>
              <a:rPr lang="ja-JP" altLang="en-US" sz="2400">
                <a:solidFill>
                  <a:schemeClr val="tx1"/>
                </a:solidFill>
                <a:latin typeface="Meiryo" panose="020B0604030504040204" pitchFamily="34" charset="-128"/>
                <a:ea typeface="Meiryo" panose="020B0604030504040204" pitchFamily="34" charset="-128"/>
              </a:rPr>
              <a:t>暗号化通信を使用していたが、</a:t>
            </a:r>
            <a:r>
              <a:rPr lang="en-US" altLang="ja-JP" sz="2400" dirty="0">
                <a:solidFill>
                  <a:schemeClr val="tx1"/>
                </a:solidFill>
                <a:latin typeface="Meiryo" panose="020B0604030504040204" pitchFamily="34" charset="-128"/>
                <a:ea typeface="Meiryo" panose="020B0604030504040204" pitchFamily="34" charset="-128"/>
              </a:rPr>
              <a:t>L2</a:t>
            </a:r>
            <a:r>
              <a:rPr lang="ja-JP" altLang="en-US" sz="2400">
                <a:solidFill>
                  <a:schemeClr val="tx1"/>
                </a:solidFill>
                <a:latin typeface="Meiryo" panose="020B0604030504040204" pitchFamily="34" charset="-128"/>
                <a:ea typeface="Meiryo" panose="020B0604030504040204" pitchFamily="34" charset="-128"/>
              </a:rPr>
              <a:t>層は無防備であることが実証された</a:t>
            </a:r>
            <a:r>
              <a:rPr lang="mn-MN" altLang="ja-JP" sz="2400" dirty="0">
                <a:solidFill>
                  <a:schemeClr val="tx1"/>
                </a:solidFill>
                <a:latin typeface="Meiryo" panose="020B0604030504040204" pitchFamily="34" charset="-128"/>
                <a:ea typeface="Meiryo" panose="020B0604030504040204" pitchFamily="34" charset="-128"/>
              </a:rPr>
              <a:t>.</a:t>
            </a:r>
            <a:endParaRPr lang="mn-MN" altLang="ja-JP" sz="2400" b="1" dirty="0">
              <a:solidFill>
                <a:schemeClr val="tx1"/>
              </a:solidFill>
              <a:latin typeface="Meiryo" panose="020B0604030504040204" pitchFamily="34" charset="-128"/>
              <a:ea typeface="Meiryo" panose="020B0604030504040204" pitchFamily="34" charset="-128"/>
            </a:endParaRPr>
          </a:p>
          <a:p>
            <a:r>
              <a:rPr lang="ja-JP" altLang="en-US" sz="1400">
                <a:solidFill>
                  <a:schemeClr val="tx1"/>
                </a:solidFill>
                <a:latin typeface="Meiryo" panose="020B0604030504040204" pitchFamily="34" charset="-128"/>
                <a:ea typeface="Meiryo" panose="020B0604030504040204" pitchFamily="34" charset="-128"/>
              </a:rPr>
              <a:t>出典</a:t>
            </a:r>
            <a:r>
              <a:rPr lang="en-US" altLang="ja-JP" sz="1400" dirty="0">
                <a:solidFill>
                  <a:schemeClr val="tx1"/>
                </a:solidFill>
                <a:latin typeface="Meiryo" panose="020B0604030504040204" pitchFamily="34" charset="-128"/>
                <a:ea typeface="Meiryo" panose="020B0604030504040204" pitchFamily="34" charset="-128"/>
              </a:rPr>
              <a:t>: </a:t>
            </a:r>
            <a:r>
              <a:rPr lang="en-US" sz="1400" dirty="0">
                <a:solidFill>
                  <a:schemeClr val="tx1"/>
                </a:solidFill>
                <a:latin typeface="Meiryo" panose="020B0604030504040204" pitchFamily="34" charset="-128"/>
                <a:ea typeface="Meiryo" panose="020B0604030504040204" pitchFamily="34" charset="-128"/>
              </a:rPr>
              <a:t>NVD NIST, TP-Link Security Advisory, 2022</a:t>
            </a:r>
            <a:endParaRPr lang="mn-MN" sz="1400" dirty="0">
              <a:solidFill>
                <a:schemeClr val="tx1"/>
              </a:solidFill>
              <a:latin typeface="Meiryo" panose="020B0604030504040204" pitchFamily="34" charset="-128"/>
              <a:ea typeface="Meiryo" panose="020B0604030504040204" pitchFamily="34" charset="-128"/>
            </a:endParaRPr>
          </a:p>
          <a:p>
            <a:r>
              <a:rPr lang="en-US" sz="1400" dirty="0">
                <a:solidFill>
                  <a:schemeClr val="tx1"/>
                </a:solidFill>
                <a:latin typeface="Meiryo" panose="020B0604030504040204" pitchFamily="34" charset="-128"/>
                <a:ea typeface="Meiryo" panose="020B0604030504040204" pitchFamily="34" charset="-128"/>
                <a:hlinkClick r:id="rId3"/>
              </a:rPr>
              <a:t>https://research.checkpoint.com/2020/dont-be-silly-its-only-a-lightbulb/</a:t>
            </a:r>
            <a:endParaRPr lang="mn-MN" sz="1400" dirty="0">
              <a:solidFill>
                <a:schemeClr val="tx1"/>
              </a:solidFill>
              <a:latin typeface="Meiryo" panose="020B0604030504040204" pitchFamily="34" charset="-128"/>
              <a:ea typeface="Meiryo" panose="020B0604030504040204" pitchFamily="34" charset="-128"/>
            </a:endParaRPr>
          </a:p>
          <a:p>
            <a:endParaRPr lang="en-JP" sz="1400" dirty="0">
              <a:solidFill>
                <a:schemeClr val="tx1"/>
              </a:solidFill>
              <a:latin typeface="Meiryo" panose="020B0604030504040204" pitchFamily="34" charset="-128"/>
              <a:ea typeface="Meiryo" panose="020B0604030504040204" pitchFamily="34" charset="-128"/>
            </a:endParaRPr>
          </a:p>
        </p:txBody>
      </p:sp>
      <p:sp>
        <p:nvSpPr>
          <p:cNvPr id="19" name="TextBox 18">
            <a:extLst>
              <a:ext uri="{FF2B5EF4-FFF2-40B4-BE49-F238E27FC236}">
                <a16:creationId xmlns:a16="http://schemas.microsoft.com/office/drawing/2014/main" id="{C519E8DD-947E-A960-5735-BD3432FBEFFF}"/>
              </a:ext>
            </a:extLst>
          </p:cNvPr>
          <p:cNvSpPr txBox="1"/>
          <p:nvPr/>
        </p:nvSpPr>
        <p:spPr>
          <a:xfrm>
            <a:off x="54428" y="6452171"/>
            <a:ext cx="3667992" cy="430887"/>
          </a:xfrm>
          <a:prstGeom prst="rect">
            <a:avLst/>
          </a:prstGeom>
          <a:noFill/>
        </p:spPr>
        <p:txBody>
          <a:bodyPr wrap="none" rtlCol="0">
            <a:spAutoFit/>
          </a:bodyPr>
          <a:lstStyle/>
          <a:p>
            <a:r>
              <a:rPr lang="en-US" sz="1100" dirty="0">
                <a:solidFill>
                  <a:schemeClr val="tx1"/>
                </a:solidFill>
                <a:latin typeface="Meiryo" panose="020B0604030504040204" pitchFamily="34" charset="-128"/>
                <a:ea typeface="Meiryo" panose="020B0604030504040204" pitchFamily="34" charset="-128"/>
              </a:rPr>
              <a:t> </a:t>
            </a:r>
          </a:p>
          <a:p>
            <a:r>
              <a:rPr lang="en-US" sz="1100" dirty="0">
                <a:solidFill>
                  <a:schemeClr val="tx1"/>
                </a:solidFill>
                <a:latin typeface="Meiryo" panose="020B0604030504040204" pitchFamily="34" charset="-128"/>
                <a:ea typeface="Meiryo" panose="020B0604030504040204" pitchFamily="34" charset="-128"/>
              </a:rPr>
              <a:t>https://</a:t>
            </a:r>
            <a:r>
              <a:rPr lang="en-US" sz="1100" dirty="0" err="1">
                <a:solidFill>
                  <a:schemeClr val="tx1"/>
                </a:solidFill>
                <a:latin typeface="Meiryo" panose="020B0604030504040204" pitchFamily="34" charset="-128"/>
                <a:ea typeface="Meiryo" panose="020B0604030504040204" pitchFamily="34" charset="-128"/>
              </a:rPr>
              <a:t>nvd.nist.gov</a:t>
            </a:r>
            <a:r>
              <a:rPr lang="en-US" sz="1100" dirty="0">
                <a:solidFill>
                  <a:schemeClr val="tx1"/>
                </a:solidFill>
                <a:latin typeface="Meiryo" panose="020B0604030504040204" pitchFamily="34" charset="-128"/>
                <a:ea typeface="Meiryo" panose="020B0604030504040204" pitchFamily="34" charset="-128"/>
              </a:rPr>
              <a:t>/vuln/detail/CVE-2022-30075 </a:t>
            </a:r>
            <a:endParaRPr lang="en-JP" sz="1800"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9490712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DAD614-9721-2BB7-95AC-F10DA8893123}"/>
              </a:ext>
            </a:extLst>
          </p:cNvPr>
          <p:cNvSpPr>
            <a:spLocks noGrp="1"/>
          </p:cNvSpPr>
          <p:nvPr>
            <p:ph type="sldNum" sz="quarter" idx="12"/>
          </p:nvPr>
        </p:nvSpPr>
        <p:spPr>
          <a:xfrm>
            <a:off x="6357228" y="6132908"/>
            <a:ext cx="2057400" cy="365125"/>
          </a:xfrm>
        </p:spPr>
        <p:txBody>
          <a:bodyPr/>
          <a:lstStyle/>
          <a:p>
            <a:fld id="{828F3BD4-1AF2-D144-8129-4D42AD448F5E}" type="slidenum">
              <a:rPr lang="en-JP" smtClean="0"/>
              <a:pPr/>
              <a:t>19</a:t>
            </a:fld>
            <a:endParaRPr lang="en-JP" dirty="0"/>
          </a:p>
        </p:txBody>
      </p:sp>
      <p:sp>
        <p:nvSpPr>
          <p:cNvPr id="5" name="Rectangle: Rounded Corners 4">
            <a:extLst>
              <a:ext uri="{FF2B5EF4-FFF2-40B4-BE49-F238E27FC236}">
                <a16:creationId xmlns:a16="http://schemas.microsoft.com/office/drawing/2014/main" id="{67A79C76-2AEA-8EBC-7245-4005D7B5576C}"/>
              </a:ext>
            </a:extLst>
          </p:cNvPr>
          <p:cNvSpPr/>
          <p:nvPr/>
        </p:nvSpPr>
        <p:spPr>
          <a:xfrm>
            <a:off x="239486" y="3899223"/>
            <a:ext cx="2270108" cy="835803"/>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i="0" dirty="0">
                <a:solidFill>
                  <a:srgbClr val="000000"/>
                </a:solidFill>
                <a:effectLst/>
                <a:latin typeface="Meiryo" panose="020B0604030504040204" pitchFamily="34" charset="-128"/>
                <a:ea typeface="Meiryo" panose="020B0604030504040204" pitchFamily="34" charset="-128"/>
              </a:rPr>
              <a:t>IoT Client</a:t>
            </a:r>
            <a:endParaRPr lang="en-US" sz="2400" b="1" dirty="0">
              <a:solidFill>
                <a:srgbClr val="000000"/>
              </a:solidFill>
              <a:latin typeface="Meiryo" panose="020B0604030504040204" pitchFamily="34" charset="-128"/>
              <a:ea typeface="Meiryo" panose="020B0604030504040204" pitchFamily="34" charset="-128"/>
            </a:endParaRPr>
          </a:p>
        </p:txBody>
      </p:sp>
      <p:sp>
        <p:nvSpPr>
          <p:cNvPr id="6" name="Rectangle: Rounded Corners 6">
            <a:extLst>
              <a:ext uri="{FF2B5EF4-FFF2-40B4-BE49-F238E27FC236}">
                <a16:creationId xmlns:a16="http://schemas.microsoft.com/office/drawing/2014/main" id="{538028A0-8187-636E-EF88-520D41683FAC}"/>
              </a:ext>
            </a:extLst>
          </p:cNvPr>
          <p:cNvSpPr/>
          <p:nvPr/>
        </p:nvSpPr>
        <p:spPr>
          <a:xfrm>
            <a:off x="6080632" y="3890220"/>
            <a:ext cx="2527251" cy="1136877"/>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en-US" sz="2400" b="1" i="0" dirty="0">
                <a:solidFill>
                  <a:srgbClr val="000000"/>
                </a:solidFill>
                <a:effectLst/>
                <a:latin typeface="Meiryo" panose="020B0604030504040204" pitchFamily="34" charset="-128"/>
                <a:ea typeface="Meiryo" panose="020B0604030504040204" pitchFamily="34" charset="-128"/>
              </a:rPr>
              <a:t>Gateway</a:t>
            </a:r>
          </a:p>
          <a:p>
            <a:pPr algn="ctr"/>
            <a:r>
              <a:rPr lang="en-US" sz="2400" b="1" i="0" dirty="0">
                <a:solidFill>
                  <a:srgbClr val="000000"/>
                </a:solidFill>
                <a:effectLst/>
                <a:latin typeface="Meiryo" panose="020B0604030504040204" pitchFamily="34" charset="-128"/>
                <a:ea typeface="Meiryo" panose="020B0604030504040204" pitchFamily="34" charset="-128"/>
              </a:rPr>
              <a:t>Router</a:t>
            </a:r>
          </a:p>
        </p:txBody>
      </p:sp>
      <p:sp>
        <p:nvSpPr>
          <p:cNvPr id="8" name="TextBox 7">
            <a:extLst>
              <a:ext uri="{FF2B5EF4-FFF2-40B4-BE49-F238E27FC236}">
                <a16:creationId xmlns:a16="http://schemas.microsoft.com/office/drawing/2014/main" id="{24198E81-88A1-24F1-6603-616923EC3AC6}"/>
              </a:ext>
            </a:extLst>
          </p:cNvPr>
          <p:cNvSpPr txBox="1"/>
          <p:nvPr/>
        </p:nvSpPr>
        <p:spPr>
          <a:xfrm>
            <a:off x="-157691" y="4731320"/>
            <a:ext cx="2807318" cy="707886"/>
          </a:xfrm>
          <a:prstGeom prst="rect">
            <a:avLst/>
          </a:prstGeom>
          <a:noFill/>
        </p:spPr>
        <p:txBody>
          <a:bodyPr wrap="square">
            <a:spAutoFit/>
          </a:bodyPr>
          <a:lstStyle/>
          <a:p>
            <a:pPr algn="ctr"/>
            <a:r>
              <a:rPr lang="en-US" sz="2000" dirty="0">
                <a:solidFill>
                  <a:schemeClr val="tx1"/>
                </a:solidFill>
                <a:latin typeface="Meiryo" panose="020B0604030504040204" pitchFamily="34" charset="-128"/>
                <a:ea typeface="Meiryo" panose="020B0604030504040204" pitchFamily="34" charset="-128"/>
              </a:rPr>
              <a:t>IP: </a:t>
            </a:r>
            <a:r>
              <a:rPr lang="en-US" sz="2000" dirty="0">
                <a:latin typeface="Meiryo" panose="020B0604030504040204" pitchFamily="34" charset="-128"/>
                <a:ea typeface="Meiryo" panose="020B0604030504040204" pitchFamily="34" charset="-128"/>
              </a:rPr>
              <a:t>192.168.1.20</a:t>
            </a:r>
          </a:p>
          <a:p>
            <a:pPr algn="ctr"/>
            <a:r>
              <a:rPr lang="en-US" sz="2000" dirty="0">
                <a:solidFill>
                  <a:schemeClr val="accent1"/>
                </a:solidFill>
                <a:latin typeface="Meiryo" panose="020B0604030504040204" pitchFamily="34" charset="-128"/>
                <a:ea typeface="Meiryo" panose="020B0604030504040204" pitchFamily="34" charset="-128"/>
              </a:rPr>
              <a:t>MAC: AA:AA:AA</a:t>
            </a:r>
            <a:endParaRPr lang="en-JP" sz="2000" dirty="0">
              <a:solidFill>
                <a:schemeClr val="accent1"/>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FF595972-2DFB-CEE5-25A0-18D7C98DD5BE}"/>
              </a:ext>
            </a:extLst>
          </p:cNvPr>
          <p:cNvSpPr txBox="1"/>
          <p:nvPr/>
        </p:nvSpPr>
        <p:spPr>
          <a:xfrm>
            <a:off x="6313686" y="5048468"/>
            <a:ext cx="2437482" cy="707886"/>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IP:192.168.1.100</a:t>
            </a:r>
          </a:p>
          <a:p>
            <a:r>
              <a:rPr lang="en-US" sz="2000" dirty="0">
                <a:solidFill>
                  <a:schemeClr val="accent6"/>
                </a:solidFill>
                <a:latin typeface="Meiryo" panose="020B0604030504040204" pitchFamily="34" charset="-128"/>
                <a:ea typeface="Meiryo" panose="020B0604030504040204" pitchFamily="34" charset="-128"/>
              </a:rPr>
              <a:t>MAC:</a:t>
            </a:r>
            <a:r>
              <a:rPr lang="en-US" sz="2000" dirty="0">
                <a:latin typeface="Meiryo" panose="020B0604030504040204" pitchFamily="34" charset="-128"/>
                <a:ea typeface="Meiryo" panose="020B0604030504040204" pitchFamily="34" charset="-128"/>
              </a:rPr>
              <a:t> </a:t>
            </a:r>
            <a:r>
              <a:rPr lang="en-US" sz="2000" dirty="0">
                <a:solidFill>
                  <a:schemeClr val="accent6"/>
                </a:solidFill>
                <a:latin typeface="Meiryo" panose="020B0604030504040204" pitchFamily="34" charset="-128"/>
                <a:ea typeface="Meiryo" panose="020B0604030504040204" pitchFamily="34" charset="-128"/>
              </a:rPr>
              <a:t>BB:BB:BB</a:t>
            </a:r>
            <a:endParaRPr lang="en-JP" sz="2000" dirty="0">
              <a:solidFill>
                <a:schemeClr val="accent6"/>
              </a:solidFill>
              <a:latin typeface="Meiryo" panose="020B0604030504040204" pitchFamily="34" charset="-128"/>
              <a:ea typeface="Meiryo" panose="020B0604030504040204" pitchFamily="34" charset="-128"/>
            </a:endParaRPr>
          </a:p>
        </p:txBody>
      </p:sp>
      <p:sp>
        <p:nvSpPr>
          <p:cNvPr id="15" name="TextBox 14">
            <a:extLst>
              <a:ext uri="{FF2B5EF4-FFF2-40B4-BE49-F238E27FC236}">
                <a16:creationId xmlns:a16="http://schemas.microsoft.com/office/drawing/2014/main" id="{9A779319-307D-5FCB-88E2-EEA73E03B140}"/>
              </a:ext>
            </a:extLst>
          </p:cNvPr>
          <p:cNvSpPr txBox="1"/>
          <p:nvPr/>
        </p:nvSpPr>
        <p:spPr>
          <a:xfrm>
            <a:off x="827314" y="5663030"/>
            <a:ext cx="5702661" cy="646331"/>
          </a:xfrm>
          <a:prstGeom prst="rect">
            <a:avLst/>
          </a:prstGeom>
          <a:noFill/>
        </p:spPr>
        <p:txBody>
          <a:bodyPr wrap="square">
            <a:spAutoFit/>
          </a:bodyPr>
          <a:lstStyle/>
          <a:p>
            <a:r>
              <a:rPr lang="en-US" b="1" dirty="0">
                <a:latin typeface="Meiryo" panose="020B0604030504040204" pitchFamily="34" charset="-128"/>
                <a:ea typeface="Meiryo" panose="020B0604030504040204" pitchFamily="34" charset="-128"/>
              </a:rPr>
              <a:t>② ARP Reply</a:t>
            </a:r>
            <a:r>
              <a:rPr lang="mn-MN" b="1" dirty="0">
                <a:latin typeface="Meiryo" panose="020B0604030504040204" pitchFamily="34" charset="-128"/>
                <a:ea typeface="Meiryo" panose="020B0604030504040204" pitchFamily="34" charset="-128"/>
              </a:rPr>
              <a:t> (</a:t>
            </a:r>
            <a:r>
              <a:rPr lang="en-US" b="1" i="0" dirty="0">
                <a:solidFill>
                  <a:srgbClr val="000000"/>
                </a:solidFill>
                <a:effectLst/>
                <a:latin typeface="Meiryo" panose="020B0604030504040204" pitchFamily="34" charset="-128"/>
                <a:ea typeface="Meiryo" panose="020B0604030504040204" pitchFamily="34" charset="-128"/>
              </a:rPr>
              <a:t>Unicast</a:t>
            </a:r>
            <a:r>
              <a:rPr lang="en-US" b="0" i="0" dirty="0">
                <a:solidFill>
                  <a:srgbClr val="000000"/>
                </a:solidFill>
                <a:effectLst/>
                <a:latin typeface="Meiryo" panose="020B0604030504040204" pitchFamily="34" charset="-128"/>
                <a:ea typeface="Meiryo" panose="020B0604030504040204" pitchFamily="34" charset="-128"/>
              </a:rPr>
              <a:t>)</a:t>
            </a:r>
            <a:r>
              <a:rPr lang="en-US" b="1" dirty="0">
                <a:latin typeface="Meiryo" panose="020B0604030504040204" pitchFamily="34" charset="-128"/>
                <a:ea typeface="Meiryo" panose="020B0604030504040204" pitchFamily="34" charset="-128"/>
              </a:rPr>
              <a:t>「</a:t>
            </a:r>
            <a:r>
              <a:rPr lang="ja-JP" altLang="en-US" b="1">
                <a:latin typeface="Meiryo" panose="020B0604030504040204" pitchFamily="34" charset="-128"/>
                <a:ea typeface="Meiryo" panose="020B0604030504040204" pitchFamily="34" charset="-128"/>
              </a:rPr>
              <a:t>私が </a:t>
            </a:r>
            <a:r>
              <a:rPr lang="en-US" altLang="ja-JP" b="1" dirty="0">
                <a:latin typeface="Meiryo" panose="020B0604030504040204" pitchFamily="34" charset="-128"/>
                <a:ea typeface="Meiryo" panose="020B0604030504040204" pitchFamily="34" charset="-128"/>
              </a:rPr>
              <a:t>.100 </a:t>
            </a:r>
            <a:r>
              <a:rPr lang="ja-JP" altLang="en-US" b="1">
                <a:latin typeface="Meiryo" panose="020B0604030504040204" pitchFamily="34" charset="-128"/>
                <a:ea typeface="Meiryo" panose="020B0604030504040204" pitchFamily="34" charset="-128"/>
              </a:rPr>
              <a:t>です。</a:t>
            </a:r>
            <a:endParaRPr lang="en-US" altLang="ja-JP" b="1" dirty="0">
              <a:latin typeface="Meiryo" panose="020B0604030504040204" pitchFamily="34" charset="-128"/>
              <a:ea typeface="Meiryo" panose="020B0604030504040204" pitchFamily="34" charset="-128"/>
            </a:endParaRPr>
          </a:p>
          <a:p>
            <a:r>
              <a:rPr lang="en-US" b="1" dirty="0">
                <a:solidFill>
                  <a:schemeClr val="accent6"/>
                </a:solidFill>
                <a:latin typeface="Meiryo" panose="020B0604030504040204" pitchFamily="34" charset="-128"/>
                <a:ea typeface="Meiryo" panose="020B0604030504040204" pitchFamily="34" charset="-128"/>
              </a:rPr>
              <a:t>MAC = BB:BB:BB</a:t>
            </a:r>
            <a:r>
              <a:rPr lang="en-US" b="1" dirty="0">
                <a:latin typeface="Meiryo" panose="020B0604030504040204" pitchFamily="34" charset="-128"/>
                <a:ea typeface="Meiryo" panose="020B0604030504040204" pitchFamily="34" charset="-128"/>
              </a:rPr>
              <a:t>」← IoT sensor</a:t>
            </a:r>
            <a:r>
              <a:rPr lang="ja-JP" altLang="en-US" b="1">
                <a:latin typeface="Meiryo" panose="020B0604030504040204" pitchFamily="34" charset="-128"/>
                <a:ea typeface="Meiryo" panose="020B0604030504040204" pitchFamily="34" charset="-128"/>
              </a:rPr>
              <a:t>へ返答</a:t>
            </a:r>
            <a:endParaRPr lang="en-JP" b="1" dirty="0">
              <a:latin typeface="Meiryo" panose="020B0604030504040204" pitchFamily="34" charset="-128"/>
              <a:ea typeface="Meiryo" panose="020B0604030504040204" pitchFamily="34" charset="-128"/>
            </a:endParaRPr>
          </a:p>
        </p:txBody>
      </p:sp>
      <p:cxnSp>
        <p:nvCxnSpPr>
          <p:cNvPr id="17" name="Straight Arrow Connector 16">
            <a:extLst>
              <a:ext uri="{FF2B5EF4-FFF2-40B4-BE49-F238E27FC236}">
                <a16:creationId xmlns:a16="http://schemas.microsoft.com/office/drawing/2014/main" id="{A844BAE4-D313-68DE-62DB-785114A442BE}"/>
              </a:ext>
            </a:extLst>
          </p:cNvPr>
          <p:cNvCxnSpPr/>
          <p:nvPr/>
        </p:nvCxnSpPr>
        <p:spPr>
          <a:xfrm>
            <a:off x="2873780" y="4240760"/>
            <a:ext cx="2541848" cy="0"/>
          </a:xfrm>
          <a:prstGeom prst="straightConnector1">
            <a:avLst/>
          </a:prstGeom>
          <a:ln w="539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1E04447-6310-78DD-5B96-2DEB2ECB8145}"/>
              </a:ext>
            </a:extLst>
          </p:cNvPr>
          <p:cNvCxnSpPr>
            <a:cxnSpLocks/>
          </p:cNvCxnSpPr>
          <p:nvPr/>
        </p:nvCxnSpPr>
        <p:spPr>
          <a:xfrm flipH="1">
            <a:off x="2873780" y="4667072"/>
            <a:ext cx="2438400" cy="0"/>
          </a:xfrm>
          <a:prstGeom prst="straightConnector1">
            <a:avLst/>
          </a:prstGeom>
          <a:ln w="539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2412E8B2-A118-4F6A-3AB7-B7D9A7BDE258}"/>
              </a:ext>
            </a:extLst>
          </p:cNvPr>
          <p:cNvSpPr txBox="1"/>
          <p:nvPr/>
        </p:nvSpPr>
        <p:spPr>
          <a:xfrm>
            <a:off x="3788699" y="3865404"/>
            <a:ext cx="1262743" cy="369332"/>
          </a:xfrm>
          <a:prstGeom prst="rect">
            <a:avLst/>
          </a:prstGeom>
          <a:noFill/>
        </p:spPr>
        <p:txBody>
          <a:bodyPr wrap="square">
            <a:spAutoFit/>
          </a:bodyPr>
          <a:lstStyle/>
          <a:p>
            <a:r>
              <a:rPr lang="en-US" b="1" dirty="0"/>
              <a:t>①</a:t>
            </a:r>
            <a:endParaRPr lang="en-JP" b="1" dirty="0"/>
          </a:p>
        </p:txBody>
      </p:sp>
      <p:sp>
        <p:nvSpPr>
          <p:cNvPr id="30" name="TextBox 29">
            <a:extLst>
              <a:ext uri="{FF2B5EF4-FFF2-40B4-BE49-F238E27FC236}">
                <a16:creationId xmlns:a16="http://schemas.microsoft.com/office/drawing/2014/main" id="{F377BF36-E0D5-B9C4-0081-1D5B030BC23C}"/>
              </a:ext>
            </a:extLst>
          </p:cNvPr>
          <p:cNvSpPr txBox="1"/>
          <p:nvPr/>
        </p:nvSpPr>
        <p:spPr>
          <a:xfrm>
            <a:off x="3788699" y="4715931"/>
            <a:ext cx="1915887" cy="369332"/>
          </a:xfrm>
          <a:prstGeom prst="rect">
            <a:avLst/>
          </a:prstGeom>
          <a:noFill/>
        </p:spPr>
        <p:txBody>
          <a:bodyPr wrap="square">
            <a:spAutoFit/>
          </a:bodyPr>
          <a:lstStyle/>
          <a:p>
            <a:r>
              <a:rPr lang="en-US" b="1" dirty="0"/>
              <a:t>② </a:t>
            </a:r>
            <a:endParaRPr lang="en-JP" b="1" dirty="0"/>
          </a:p>
        </p:txBody>
      </p:sp>
      <p:sp>
        <p:nvSpPr>
          <p:cNvPr id="32" name="正方形/長方形 4">
            <a:extLst>
              <a:ext uri="{FF2B5EF4-FFF2-40B4-BE49-F238E27FC236}">
                <a16:creationId xmlns:a16="http://schemas.microsoft.com/office/drawing/2014/main" id="{C534638C-EF14-2CAC-C6F3-CB9422ED712C}"/>
              </a:ext>
            </a:extLst>
          </p:cNvPr>
          <p:cNvSpPr/>
          <p:nvPr/>
        </p:nvSpPr>
        <p:spPr>
          <a:xfrm>
            <a:off x="827314" y="5574087"/>
            <a:ext cx="5416295" cy="833789"/>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cxnSp>
        <p:nvCxnSpPr>
          <p:cNvPr id="34" name="Elbow Connector 33">
            <a:extLst>
              <a:ext uri="{FF2B5EF4-FFF2-40B4-BE49-F238E27FC236}">
                <a16:creationId xmlns:a16="http://schemas.microsoft.com/office/drawing/2014/main" id="{DDDF3840-1F06-3B66-EF22-99E778A6B6D1}"/>
              </a:ext>
            </a:extLst>
          </p:cNvPr>
          <p:cNvCxnSpPr>
            <a:cxnSpLocks/>
            <a:stCxn id="10" idx="2"/>
          </p:cNvCxnSpPr>
          <p:nvPr/>
        </p:nvCxnSpPr>
        <p:spPr>
          <a:xfrm rot="5400000">
            <a:off x="6789463" y="5324120"/>
            <a:ext cx="310731" cy="1175198"/>
          </a:xfrm>
          <a:prstGeom prst="bentConnector2">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DB60AA86-39ED-5654-DD78-C2AEAB673907}"/>
              </a:ext>
            </a:extLst>
          </p:cNvPr>
          <p:cNvSpPr txBox="1"/>
          <p:nvPr/>
        </p:nvSpPr>
        <p:spPr>
          <a:xfrm>
            <a:off x="1888785" y="2580479"/>
            <a:ext cx="7135471" cy="923330"/>
          </a:xfrm>
          <a:prstGeom prst="rect">
            <a:avLst/>
          </a:prstGeom>
          <a:noFill/>
        </p:spPr>
        <p:txBody>
          <a:bodyPr wrap="square">
            <a:spAutoFit/>
          </a:bodyPr>
          <a:lstStyle/>
          <a:p>
            <a:r>
              <a:rPr lang="en-US" b="1" dirty="0">
                <a:latin typeface="Meiryo" panose="020B0604030504040204" pitchFamily="34" charset="-128"/>
                <a:ea typeface="Meiryo" panose="020B0604030504040204" pitchFamily="34" charset="-128"/>
              </a:rPr>
              <a:t>① ARP </a:t>
            </a:r>
            <a:r>
              <a:rPr lang="en-US" b="1" dirty="0" err="1">
                <a:latin typeface="Meiryo" panose="020B0604030504040204" pitchFamily="34" charset="-128"/>
                <a:ea typeface="Meiryo" panose="020B0604030504040204" pitchFamily="34" charset="-128"/>
              </a:rPr>
              <a:t>Request（Broadcast</a:t>
            </a:r>
            <a:r>
              <a:rPr lang="en-US" b="1" dirty="0">
                <a:latin typeface="Meiryo" panose="020B0604030504040204" pitchFamily="34" charset="-128"/>
                <a:ea typeface="Meiryo" panose="020B0604030504040204" pitchFamily="34" charset="-128"/>
              </a:rPr>
              <a:t>）</a:t>
            </a:r>
          </a:p>
          <a:p>
            <a:endParaRPr lang="en-US" b="1" dirty="0">
              <a:latin typeface="Meiryo" panose="020B0604030504040204" pitchFamily="34" charset="-128"/>
              <a:ea typeface="Meiryo" panose="020B0604030504040204" pitchFamily="34" charset="-128"/>
            </a:endParaRPr>
          </a:p>
          <a:p>
            <a:r>
              <a:rPr lang="en-US" b="1" dirty="0">
                <a:latin typeface="Meiryo" panose="020B0604030504040204" pitchFamily="34" charset="-128"/>
                <a:ea typeface="Meiryo" panose="020B0604030504040204" pitchFamily="34" charset="-128"/>
              </a:rPr>
              <a:t>「192.168.1.100 </a:t>
            </a:r>
            <a:r>
              <a:rPr lang="ja-JP" altLang="en-US" b="1">
                <a:latin typeface="Meiryo" panose="020B0604030504040204" pitchFamily="34" charset="-128"/>
                <a:ea typeface="Meiryo" panose="020B0604030504040204" pitchFamily="34" charset="-128"/>
              </a:rPr>
              <a:t>の</a:t>
            </a:r>
            <a:r>
              <a:rPr lang="en-US" b="1" dirty="0">
                <a:latin typeface="Meiryo" panose="020B0604030504040204" pitchFamily="34" charset="-128"/>
                <a:ea typeface="Meiryo" panose="020B0604030504040204" pitchFamily="34" charset="-128"/>
              </a:rPr>
              <a:t>MAC</a:t>
            </a:r>
            <a:r>
              <a:rPr lang="ja-JP" altLang="en-US" b="1">
                <a:latin typeface="Meiryo" panose="020B0604030504040204" pitchFamily="34" charset="-128"/>
                <a:ea typeface="Meiryo" panose="020B0604030504040204" pitchFamily="34" charset="-128"/>
              </a:rPr>
              <a:t>アドレスを教えてください」→ 全員に</a:t>
            </a:r>
            <a:endParaRPr lang="en-JP" b="1" dirty="0">
              <a:latin typeface="Meiryo" panose="020B0604030504040204" pitchFamily="34" charset="-128"/>
              <a:ea typeface="Meiryo" panose="020B0604030504040204" pitchFamily="34" charset="-128"/>
            </a:endParaRPr>
          </a:p>
        </p:txBody>
      </p:sp>
      <p:sp>
        <p:nvSpPr>
          <p:cNvPr id="37" name="正方形/長方形 4">
            <a:extLst>
              <a:ext uri="{FF2B5EF4-FFF2-40B4-BE49-F238E27FC236}">
                <a16:creationId xmlns:a16="http://schemas.microsoft.com/office/drawing/2014/main" id="{DCA244AF-78F3-D658-1191-477E8B429169}"/>
              </a:ext>
            </a:extLst>
          </p:cNvPr>
          <p:cNvSpPr/>
          <p:nvPr/>
        </p:nvSpPr>
        <p:spPr>
          <a:xfrm>
            <a:off x="1980255" y="2501470"/>
            <a:ext cx="6770913" cy="1065256"/>
          </a:xfrm>
          <a:prstGeom prst="rect">
            <a:avLst/>
          </a:prstGeom>
          <a:noFill/>
          <a:ln w="34925">
            <a:solidFill>
              <a:schemeClr val="accent1">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cxnSp>
        <p:nvCxnSpPr>
          <p:cNvPr id="40" name="Elbow Connector 39">
            <a:extLst>
              <a:ext uri="{FF2B5EF4-FFF2-40B4-BE49-F238E27FC236}">
                <a16:creationId xmlns:a16="http://schemas.microsoft.com/office/drawing/2014/main" id="{329FD8D3-13E0-B01A-0274-026937A52D4B}"/>
              </a:ext>
            </a:extLst>
          </p:cNvPr>
          <p:cNvCxnSpPr>
            <a:cxnSpLocks/>
          </p:cNvCxnSpPr>
          <p:nvPr/>
        </p:nvCxnSpPr>
        <p:spPr>
          <a:xfrm rot="5400000" flipH="1" flipV="1">
            <a:off x="1041023" y="2991252"/>
            <a:ext cx="847062" cy="795509"/>
          </a:xfrm>
          <a:prstGeom prst="bentConnector3">
            <a:avLst>
              <a:gd name="adj1" fmla="val 98834"/>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8" name="Shape 3">
            <a:extLst>
              <a:ext uri="{FF2B5EF4-FFF2-40B4-BE49-F238E27FC236}">
                <a16:creationId xmlns:a16="http://schemas.microsoft.com/office/drawing/2014/main" id="{3375DA20-5F17-9CCA-E0FD-9B0594E1B1C8}"/>
              </a:ext>
            </a:extLst>
          </p:cNvPr>
          <p:cNvSpPr/>
          <p:nvPr/>
        </p:nvSpPr>
        <p:spPr>
          <a:xfrm>
            <a:off x="157606" y="513242"/>
            <a:ext cx="8750388" cy="1864369"/>
          </a:xfrm>
          <a:prstGeom prst="rect">
            <a:avLst/>
          </a:prstGeom>
          <a:solidFill>
            <a:srgbClr val="E0F2F1"/>
          </a:solidFill>
          <a:ln w="12700">
            <a:solidFill>
              <a:srgbClr val="0D9488"/>
            </a:solidFill>
            <a:prstDash val="solid"/>
          </a:ln>
          <a:effectLst>
            <a:outerShdw blurRad="101600" dist="38100" dir="8100000" algn="bl" rotWithShape="0">
              <a:srgbClr val="000000">
                <a:alpha val="12000"/>
              </a:srgbClr>
            </a:outerShdw>
          </a:effectLst>
        </p:spPr>
        <p:txBody>
          <a:bodyPr/>
          <a:lstStyle/>
          <a:p>
            <a:pPr marL="0" indent="0">
              <a:buNone/>
            </a:pPr>
            <a:r>
              <a:rPr lang="en-US" sz="2400" dirty="0" err="1">
                <a:latin typeface="Meiryo" panose="020B0604030504040204" pitchFamily="34" charset="-128"/>
                <a:ea typeface="Meiryo" panose="020B0604030504040204" pitchFamily="34" charset="-128"/>
              </a:rPr>
              <a:t>ARP（Address</a:t>
            </a:r>
            <a:r>
              <a:rPr lang="en-US" sz="2400" dirty="0">
                <a:latin typeface="Meiryo" panose="020B0604030504040204" pitchFamily="34" charset="-128"/>
                <a:ea typeface="Meiryo" panose="020B0604030504040204" pitchFamily="34" charset="-128"/>
              </a:rPr>
              <a:t> Resolution </a:t>
            </a:r>
            <a:r>
              <a:rPr lang="en-US" sz="2400" dirty="0" err="1">
                <a:latin typeface="Meiryo" panose="020B0604030504040204" pitchFamily="34" charset="-128"/>
                <a:ea typeface="Meiryo" panose="020B0604030504040204" pitchFamily="34" charset="-128"/>
              </a:rPr>
              <a:t>Protocol）RFC</a:t>
            </a:r>
            <a:r>
              <a:rPr lang="en-US" sz="2400" dirty="0">
                <a:latin typeface="Meiryo" panose="020B0604030504040204" pitchFamily="34" charset="-128"/>
                <a:ea typeface="Meiryo" panose="020B0604030504040204" pitchFamily="34" charset="-128"/>
              </a:rPr>
              <a:t> 826, 1982</a:t>
            </a:r>
            <a:r>
              <a:rPr lang="ja-JP" altLang="en-US" sz="2400">
                <a:latin typeface="Meiryo" panose="020B0604030504040204" pitchFamily="34" charset="-128"/>
                <a:ea typeface="Meiryo" panose="020B0604030504040204" pitchFamily="34" charset="-128"/>
              </a:rPr>
              <a:t>年</a:t>
            </a:r>
          </a:p>
          <a:p>
            <a:pPr marL="0" indent="0">
              <a:buNone/>
            </a:pPr>
            <a:r>
              <a:rPr lang="ja-JP" altLang="en-US" sz="2400">
                <a:latin typeface="Meiryo" panose="020B0604030504040204" pitchFamily="34" charset="-128"/>
                <a:ea typeface="Meiryo" panose="020B0604030504040204" pitchFamily="34" charset="-128"/>
              </a:rPr>
              <a:t>ネットワーク上で </a:t>
            </a:r>
            <a:r>
              <a:rPr lang="en-US" sz="2400" dirty="0">
                <a:latin typeface="Meiryo" panose="020B0604030504040204" pitchFamily="34" charset="-128"/>
                <a:ea typeface="Meiryo" panose="020B0604030504040204" pitchFamily="34" charset="-128"/>
              </a:rPr>
              <a:t>IP</a:t>
            </a:r>
            <a:r>
              <a:rPr lang="ja-JP" altLang="en-US" sz="2400">
                <a:latin typeface="Meiryo" panose="020B0604030504040204" pitchFamily="34" charset="-128"/>
                <a:ea typeface="Meiryo" panose="020B0604030504040204" pitchFamily="34" charset="-128"/>
              </a:rPr>
              <a:t>アドレス（論理アドレス） を </a:t>
            </a:r>
            <a:r>
              <a:rPr lang="en-US" sz="2400" dirty="0">
                <a:latin typeface="Meiryo" panose="020B0604030504040204" pitchFamily="34" charset="-128"/>
                <a:ea typeface="Meiryo" panose="020B0604030504040204" pitchFamily="34" charset="-128"/>
              </a:rPr>
              <a:t>MAC</a:t>
            </a:r>
            <a:r>
              <a:rPr lang="ja-JP" altLang="en-US" sz="2400">
                <a:latin typeface="Meiryo" panose="020B0604030504040204" pitchFamily="34" charset="-128"/>
                <a:ea typeface="Meiryo" panose="020B0604030504040204" pitchFamily="34" charset="-128"/>
              </a:rPr>
              <a:t>アドレス（物理アドレス） に変換するプロトコル</a:t>
            </a:r>
            <a:r>
              <a:rPr lang="en-US" altLang="ja-JP" sz="2400" dirty="0">
                <a:latin typeface="Meiryo" panose="020B0604030504040204" pitchFamily="34" charset="-128"/>
                <a:ea typeface="Meiryo" panose="020B0604030504040204" pitchFamily="34" charset="-128"/>
              </a:rPr>
              <a:t>.</a:t>
            </a:r>
            <a:endParaRPr lang="ja-JP" altLang="en-US" sz="2400">
              <a:latin typeface="Meiryo" panose="020B0604030504040204" pitchFamily="34" charset="-128"/>
              <a:ea typeface="Meiryo" panose="020B0604030504040204" pitchFamily="34" charset="-128"/>
            </a:endParaRPr>
          </a:p>
          <a:p>
            <a:pPr marL="0" indent="0">
              <a:buNone/>
            </a:pPr>
            <a:r>
              <a:rPr lang="ja-JP" altLang="en-US" sz="2400">
                <a:latin typeface="Meiryo" panose="020B0604030504040204" pitchFamily="34" charset="-128"/>
                <a:ea typeface="Meiryo" panose="020B0604030504040204" pitchFamily="34" charset="-128"/>
              </a:rPr>
              <a:t>データを送るには「どの物理機器か」を特定する必要があり、</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がその橋渡しをする</a:t>
            </a:r>
            <a:r>
              <a:rPr lang="mn-MN" altLang="ja-JP" sz="2400" dirty="0">
                <a:latin typeface="Meiryo" panose="020B0604030504040204" pitchFamily="34" charset="-128"/>
                <a:ea typeface="Meiryo" panose="020B0604030504040204" pitchFamily="34" charset="-128"/>
              </a:rPr>
              <a:t>.</a:t>
            </a:r>
            <a:r>
              <a:rPr lang="en-US" altLang="ja-JP" sz="1600" dirty="0">
                <a:latin typeface="Meiryo" panose="020B0604030504040204" pitchFamily="34" charset="-128"/>
                <a:ea typeface="Meiryo" panose="020B0604030504040204" pitchFamily="34" charset="-128"/>
              </a:rPr>
              <a:t>[11]</a:t>
            </a:r>
            <a:endParaRPr lang="en-JP" sz="1600" dirty="0">
              <a:latin typeface="Meiryo" panose="020B0604030504040204" pitchFamily="34" charset="-128"/>
              <a:ea typeface="Meiryo" panose="020B0604030504040204" pitchFamily="34" charset="-128"/>
            </a:endParaRPr>
          </a:p>
        </p:txBody>
      </p:sp>
      <p:sp>
        <p:nvSpPr>
          <p:cNvPr id="49" name="TextBox 48">
            <a:extLst>
              <a:ext uri="{FF2B5EF4-FFF2-40B4-BE49-F238E27FC236}">
                <a16:creationId xmlns:a16="http://schemas.microsoft.com/office/drawing/2014/main" id="{BB65E155-1A2E-1F29-C739-99686936EA53}"/>
              </a:ext>
            </a:extLst>
          </p:cNvPr>
          <p:cNvSpPr txBox="1"/>
          <p:nvPr/>
        </p:nvSpPr>
        <p:spPr>
          <a:xfrm>
            <a:off x="-11474" y="6554789"/>
            <a:ext cx="2978764" cy="461665"/>
          </a:xfrm>
          <a:prstGeom prst="rect">
            <a:avLst/>
          </a:prstGeom>
          <a:noFill/>
        </p:spPr>
        <p:txBody>
          <a:bodyPr wrap="none" rtlCol="0">
            <a:spAutoFit/>
          </a:bodyPr>
          <a:lstStyle/>
          <a:p>
            <a:r>
              <a:rPr lang="en-US" sz="1200" dirty="0">
                <a:hlinkClick r:id="rId2"/>
              </a:rPr>
              <a:t>[11]https://www.rfc-editor.org/rfc/rfc826</a:t>
            </a:r>
            <a:r>
              <a:rPr lang="en-US" sz="1200" dirty="0"/>
              <a:t> [1]</a:t>
            </a:r>
            <a:endParaRPr lang="en-JP" sz="1200" dirty="0"/>
          </a:p>
          <a:p>
            <a:endParaRPr lang="en-JP" sz="1200" dirty="0"/>
          </a:p>
        </p:txBody>
      </p:sp>
      <p:sp>
        <p:nvSpPr>
          <p:cNvPr id="54" name="Shape 0">
            <a:extLst>
              <a:ext uri="{FF2B5EF4-FFF2-40B4-BE49-F238E27FC236}">
                <a16:creationId xmlns:a16="http://schemas.microsoft.com/office/drawing/2014/main" id="{BC58C275-8A2A-36AF-183E-1778DEF50275}"/>
              </a:ext>
            </a:extLst>
          </p:cNvPr>
          <p:cNvSpPr/>
          <p:nvPr/>
        </p:nvSpPr>
        <p:spPr>
          <a:xfrm>
            <a:off x="0" y="16207"/>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l" fontAlgn="base"/>
            <a:r>
              <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rPr>
              <a:t>ARP</a:t>
            </a:r>
            <a:r>
              <a:rPr lang="ja-JP" altLang="en-US" sz="3200" b="1">
                <a:solidFill>
                  <a:srgbClr val="273239"/>
                </a:solidFill>
                <a:latin typeface="Meiryo" panose="020B0604030504040204" pitchFamily="34" charset="-128"/>
                <a:ea typeface="Meiryo" panose="020B0604030504040204" pitchFamily="34" charset="-128"/>
                <a:cs typeface="Times New Roman" panose="02020603050405020304" pitchFamily="18" charset="0"/>
              </a:rPr>
              <a:t>とは何か </a:t>
            </a:r>
            <a:r>
              <a:rPr lang="en-US" altLang="ja-JP"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rPr>
              <a:t>— </a:t>
            </a:r>
            <a:r>
              <a:rPr lang="ja-JP" altLang="en-US" sz="3200" b="1">
                <a:solidFill>
                  <a:srgbClr val="273239"/>
                </a:solidFill>
                <a:latin typeface="Meiryo" panose="020B0604030504040204" pitchFamily="34" charset="-128"/>
                <a:ea typeface="Meiryo" panose="020B0604030504040204" pitchFamily="34" charset="-128"/>
                <a:cs typeface="Times New Roman" panose="02020603050405020304" pitchFamily="18" charset="0"/>
              </a:rPr>
              <a:t>アドレス解決プロトコル</a:t>
            </a: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2279681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E7C212-1F18-71AC-E7F3-120E0CADDA3C}"/>
              </a:ext>
            </a:extLst>
          </p:cNvPr>
          <p:cNvSpPr>
            <a:spLocks noGrp="1"/>
          </p:cNvSpPr>
          <p:nvPr>
            <p:ph type="sldNum" sz="quarter" idx="12"/>
          </p:nvPr>
        </p:nvSpPr>
        <p:spPr/>
        <p:txBody>
          <a:bodyPr/>
          <a:lstStyle/>
          <a:p>
            <a:fld id="{828F3BD4-1AF2-D144-8129-4D42AD448F5E}" type="slidenum">
              <a:rPr lang="en-JP" smtClean="0"/>
              <a:pPr/>
              <a:t>20</a:t>
            </a:fld>
            <a:endParaRPr lang="en-JP" dirty="0"/>
          </a:p>
        </p:txBody>
      </p:sp>
      <p:pic>
        <p:nvPicPr>
          <p:cNvPr id="1026" name="Picture 2" descr="パソコンを使うOL・女性会社員のイラスト">
            <a:extLst>
              <a:ext uri="{FF2B5EF4-FFF2-40B4-BE49-F238E27FC236}">
                <a16:creationId xmlns:a16="http://schemas.microsoft.com/office/drawing/2014/main" id="{96787F3B-9331-9525-46CB-33C680FA70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643" y="1291771"/>
            <a:ext cx="1292534" cy="12990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C1052C5-E584-FF5D-54B2-B494F02E57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71306" y="1098025"/>
            <a:ext cx="1292534" cy="115350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F9FF6CB-F530-B87A-0635-9D8BFB09786A}"/>
              </a:ext>
            </a:extLst>
          </p:cNvPr>
          <p:cNvPicPr>
            <a:picLocks noChangeAspect="1"/>
          </p:cNvPicPr>
          <p:nvPr/>
        </p:nvPicPr>
        <p:blipFill>
          <a:blip r:embed="rId5"/>
          <a:stretch>
            <a:fillRect/>
          </a:stretch>
        </p:blipFill>
        <p:spPr>
          <a:xfrm>
            <a:off x="3503486" y="859549"/>
            <a:ext cx="1467908" cy="643932"/>
          </a:xfrm>
          <a:prstGeom prst="rect">
            <a:avLst/>
          </a:prstGeom>
        </p:spPr>
      </p:pic>
      <p:graphicFrame>
        <p:nvGraphicFramePr>
          <p:cNvPr id="5" name="Table 4">
            <a:extLst>
              <a:ext uri="{FF2B5EF4-FFF2-40B4-BE49-F238E27FC236}">
                <a16:creationId xmlns:a16="http://schemas.microsoft.com/office/drawing/2014/main" id="{8C48245D-69A6-5AEB-0FFD-C75FEA81FEA9}"/>
              </a:ext>
            </a:extLst>
          </p:cNvPr>
          <p:cNvGraphicFramePr>
            <a:graphicFrameLocks noGrp="1"/>
          </p:cNvGraphicFramePr>
          <p:nvPr>
            <p:extLst>
              <p:ext uri="{D42A27DB-BD31-4B8C-83A1-F6EECF244321}">
                <p14:modId xmlns:p14="http://schemas.microsoft.com/office/powerpoint/2010/main" val="3167148646"/>
              </p:ext>
            </p:extLst>
          </p:nvPr>
        </p:nvGraphicFramePr>
        <p:xfrm>
          <a:off x="133165" y="4083608"/>
          <a:ext cx="3950542" cy="1993627"/>
        </p:xfrm>
        <a:graphic>
          <a:graphicData uri="http://schemas.openxmlformats.org/drawingml/2006/table">
            <a:tbl>
              <a:tblPr firstRow="1" firstCol="1" bandRow="1">
                <a:tableStyleId>{E8B1032C-EA38-4F05-BA0D-38AFFFC7BED3}</a:tableStyleId>
              </a:tblPr>
              <a:tblGrid>
                <a:gridCol w="1813442">
                  <a:extLst>
                    <a:ext uri="{9D8B030D-6E8A-4147-A177-3AD203B41FA5}">
                      <a16:colId xmlns:a16="http://schemas.microsoft.com/office/drawing/2014/main" val="3662228784"/>
                    </a:ext>
                  </a:extLst>
                </a:gridCol>
                <a:gridCol w="2137100">
                  <a:extLst>
                    <a:ext uri="{9D8B030D-6E8A-4147-A177-3AD203B41FA5}">
                      <a16:colId xmlns:a16="http://schemas.microsoft.com/office/drawing/2014/main" val="3743810619"/>
                    </a:ext>
                  </a:extLst>
                </a:gridCol>
              </a:tblGrid>
              <a:tr h="435595">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kern="1200" dirty="0">
                        <a:solidFill>
                          <a:schemeClr val="tx1"/>
                        </a:solidFill>
                        <a:effectLst/>
                        <a:latin typeface="Meiryo" panose="020B0604030504040204" pitchFamily="34" charset="-128"/>
                        <a:ea typeface="Meiryo" panose="020B0604030504040204" pitchFamily="3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latin typeface="Meiryo" panose="020B0604030504040204" pitchFamily="34" charset="-128"/>
                          <a:ea typeface="Meiryo" panose="020B0604030504040204" pitchFamily="34" charset="-128"/>
                        </a:rPr>
                        <a:t>Host A – ARP Cache Table</a:t>
                      </a:r>
                      <a:endParaRPr lang="en-JP" sz="1600" b="1" kern="1200" dirty="0">
                        <a:solidFill>
                          <a:schemeClr val="tx1"/>
                        </a:solidFill>
                        <a:effectLst/>
                        <a:latin typeface="Meiryo" panose="020B0604030504040204" pitchFamily="34" charset="-128"/>
                        <a:ea typeface="Meiryo" panose="020B0604030504040204" pitchFamily="34" charset="-128"/>
                      </a:endParaRPr>
                    </a:p>
                    <a:p>
                      <a:pPr algn="ct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514407">
                <a:tc>
                  <a:txBody>
                    <a:bodyPr/>
                    <a:lstStyle/>
                    <a:p>
                      <a:pPr algn="ctr"/>
                      <a:r>
                        <a:rPr lang="en-JP" sz="1600" b="1" dirty="0">
                          <a:solidFill>
                            <a:schemeClr val="tx1"/>
                          </a:solidFill>
                          <a:effectLst/>
                          <a:latin typeface="Meiryo" panose="020B0604030504040204" pitchFamily="34" charset="-128"/>
                          <a:ea typeface="Meiryo" panose="020B0604030504040204" pitchFamily="34" charset="-128"/>
                        </a:rPr>
                        <a:t>IP </a:t>
                      </a:r>
                    </a:p>
                  </a:txBody>
                  <a:tcPr marL="9525" marR="9525" marT="9525" marB="9525" anchor="ctr"/>
                </a:tc>
                <a:tc>
                  <a:txBody>
                    <a:bodyPr/>
                    <a:lstStyle/>
                    <a:p>
                      <a:pPr algn="ctr"/>
                      <a:r>
                        <a:rPr lang="en-JP" sz="1600" b="1" dirty="0">
                          <a:solidFill>
                            <a:schemeClr val="tx1"/>
                          </a:solidFill>
                          <a:effectLst/>
                          <a:latin typeface="Meiryo" panose="020B0604030504040204" pitchFamily="34" charset="-128"/>
                          <a:ea typeface="Meiryo" panose="020B0604030504040204" pitchFamily="34" charset="-128"/>
                        </a:rPr>
                        <a:t>MAC </a:t>
                      </a:r>
                    </a:p>
                  </a:txBody>
                  <a:tcPr marL="9525" marR="9525" marT="9525" marB="9525" anchor="ctr"/>
                </a:tc>
                <a:extLst>
                  <a:ext uri="{0D108BD9-81ED-4DB2-BD59-A6C34878D82A}">
                    <a16:rowId xmlns:a16="http://schemas.microsoft.com/office/drawing/2014/main" val="1605301550"/>
                  </a:ext>
                </a:extLst>
              </a:tr>
              <a:tr h="728650">
                <a:tc>
                  <a:txBody>
                    <a:bodyPr/>
                    <a:lstStyle/>
                    <a:p>
                      <a:r>
                        <a:rPr lang="en-US" sz="1600" dirty="0">
                          <a:solidFill>
                            <a:schemeClr val="tx1"/>
                          </a:solidFill>
                          <a:latin typeface="Meiryo" panose="020B0604030504040204" pitchFamily="34" charset="-128"/>
                          <a:ea typeface="Meiryo" panose="020B0604030504040204" pitchFamily="34" charset="-128"/>
                        </a:rPr>
                        <a:t> IP: 192.168.1.1</a:t>
                      </a:r>
                    </a:p>
                  </a:txBody>
                  <a:tcPr marL="9525" marR="9525" marT="9525" marB="9525" anchor="ctr"/>
                </a:tc>
                <a:tc>
                  <a:txBody>
                    <a:bodyPr/>
                    <a:lstStyle/>
                    <a:p>
                      <a:r>
                        <a:rPr lang="en-JP" sz="1600" dirty="0">
                          <a:solidFill>
                            <a:schemeClr val="tx1"/>
                          </a:solidFill>
                          <a:effectLst/>
                          <a:latin typeface="Meiryo" panose="020B0604030504040204" pitchFamily="34" charset="-128"/>
                          <a:ea typeface="Meiryo" panose="020B0604030504040204" pitchFamily="34" charset="-128"/>
                        </a:rPr>
                        <a:t>    AA:AA:AA:AA:AA:AA</a:t>
                      </a:r>
                    </a:p>
                  </a:txBody>
                  <a:tcPr marL="9525" marR="9525" marT="9525" marB="9525" anchor="ctr"/>
                </a:tc>
                <a:extLst>
                  <a:ext uri="{0D108BD9-81ED-4DB2-BD59-A6C34878D82A}">
                    <a16:rowId xmlns:a16="http://schemas.microsoft.com/office/drawing/2014/main" val="3401524390"/>
                  </a:ext>
                </a:extLst>
              </a:tr>
            </a:tbl>
          </a:graphicData>
        </a:graphic>
      </p:graphicFrame>
      <p:cxnSp>
        <p:nvCxnSpPr>
          <p:cNvPr id="9" name="Straight Arrow Connector 8">
            <a:extLst>
              <a:ext uri="{FF2B5EF4-FFF2-40B4-BE49-F238E27FC236}">
                <a16:creationId xmlns:a16="http://schemas.microsoft.com/office/drawing/2014/main" id="{7F1AF8B5-6B7C-3D90-A350-CDE84CFE5669}"/>
              </a:ext>
            </a:extLst>
          </p:cNvPr>
          <p:cNvCxnSpPr>
            <a:cxnSpLocks/>
          </p:cNvCxnSpPr>
          <p:nvPr/>
        </p:nvCxnSpPr>
        <p:spPr>
          <a:xfrm flipH="1">
            <a:off x="2471057" y="2044972"/>
            <a:ext cx="3461657" cy="0"/>
          </a:xfrm>
          <a:prstGeom prst="straightConnector1">
            <a:avLst/>
          </a:prstGeom>
          <a:ln w="50800">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2AC6BB3A-A166-E44F-6113-A27D8B83DA1A}"/>
              </a:ext>
            </a:extLst>
          </p:cNvPr>
          <p:cNvSpPr txBox="1"/>
          <p:nvPr/>
        </p:nvSpPr>
        <p:spPr>
          <a:xfrm>
            <a:off x="3309179" y="1700688"/>
            <a:ext cx="1888659" cy="369332"/>
          </a:xfrm>
          <a:prstGeom prst="rect">
            <a:avLst/>
          </a:prstGeom>
          <a:noFill/>
        </p:spPr>
        <p:txBody>
          <a:bodyPr wrap="none" rtlCol="0">
            <a:spAutoFit/>
          </a:bodyPr>
          <a:lstStyle/>
          <a:p>
            <a:r>
              <a:rPr lang="en-US" b="1" dirty="0"/>
              <a:t>I am : </a:t>
            </a:r>
            <a:r>
              <a:rPr lang="en-JP" b="1" dirty="0"/>
              <a:t>192.168.1.2</a:t>
            </a:r>
          </a:p>
        </p:txBody>
      </p:sp>
      <p:sp>
        <p:nvSpPr>
          <p:cNvPr id="21" name="TextBox 20">
            <a:extLst>
              <a:ext uri="{FF2B5EF4-FFF2-40B4-BE49-F238E27FC236}">
                <a16:creationId xmlns:a16="http://schemas.microsoft.com/office/drawing/2014/main" id="{E8066873-E5FE-B2AE-58D7-3B1CA7CE93CC}"/>
              </a:ext>
            </a:extLst>
          </p:cNvPr>
          <p:cNvSpPr txBox="1"/>
          <p:nvPr/>
        </p:nvSpPr>
        <p:spPr>
          <a:xfrm>
            <a:off x="3072492" y="2115156"/>
            <a:ext cx="4572000" cy="369332"/>
          </a:xfrm>
          <a:prstGeom prst="rect">
            <a:avLst/>
          </a:prstGeom>
          <a:noFill/>
        </p:spPr>
        <p:txBody>
          <a:bodyPr wrap="square">
            <a:spAutoFit/>
          </a:bodyPr>
          <a:lstStyle/>
          <a:p>
            <a:r>
              <a:rPr lang="en-US" b="1" dirty="0"/>
              <a:t>My MAC: BB:BB:BB:BB:BB:BB</a:t>
            </a:r>
            <a:endParaRPr lang="en-JP" b="1" dirty="0"/>
          </a:p>
        </p:txBody>
      </p:sp>
      <p:sp>
        <p:nvSpPr>
          <p:cNvPr id="25" name="Rounded Rectangle 24">
            <a:extLst>
              <a:ext uri="{FF2B5EF4-FFF2-40B4-BE49-F238E27FC236}">
                <a16:creationId xmlns:a16="http://schemas.microsoft.com/office/drawing/2014/main" id="{21DC0D6F-02DD-9BE9-3813-163C798566EB}"/>
              </a:ext>
            </a:extLst>
          </p:cNvPr>
          <p:cNvSpPr/>
          <p:nvPr/>
        </p:nvSpPr>
        <p:spPr>
          <a:xfrm>
            <a:off x="5951228" y="2412590"/>
            <a:ext cx="3059608" cy="1393343"/>
          </a:xfrm>
          <a:prstGeom prst="roundRect">
            <a:avLst/>
          </a:prstGeom>
          <a:solidFill>
            <a:schemeClr val="accent6">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dirty="0">
              <a:solidFill>
                <a:schemeClr val="tx1"/>
              </a:solidFill>
              <a:latin typeface="Meiryo" panose="020B0604030504040204" pitchFamily="34" charset="-128"/>
              <a:ea typeface="Meiryo" panose="020B0604030504040204" pitchFamily="34" charset="-128"/>
            </a:endParaRPr>
          </a:p>
          <a:p>
            <a:endParaRPr lang="mn-MN"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Host </a:t>
            </a:r>
            <a:r>
              <a:rPr lang="mn-MN" dirty="0">
                <a:solidFill>
                  <a:schemeClr val="tx1"/>
                </a:solidFill>
                <a:latin typeface="Meiryo" panose="020B0604030504040204" pitchFamily="34" charset="-128"/>
                <a:ea typeface="Meiryo" panose="020B0604030504040204" pitchFamily="34" charset="-128"/>
              </a:rPr>
              <a:t>B</a:t>
            </a:r>
            <a:endParaRPr lang="en-US"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IP: 192.168.1.</a:t>
            </a:r>
            <a:r>
              <a:rPr lang="mn-MN" dirty="0">
                <a:solidFill>
                  <a:schemeClr val="tx1"/>
                </a:solidFill>
                <a:latin typeface="Meiryo" panose="020B0604030504040204" pitchFamily="34" charset="-128"/>
                <a:ea typeface="Meiryo" panose="020B0604030504040204" pitchFamily="34" charset="-128"/>
              </a:rPr>
              <a:t>2</a:t>
            </a:r>
            <a:endParaRPr lang="en-US"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MAC: BB:BB:BB:BB:BB:BB</a:t>
            </a:r>
            <a:endParaRPr lang="en-JP" sz="1800" dirty="0">
              <a:solidFill>
                <a:schemeClr val="tx1"/>
              </a:solidFill>
              <a:effectLst/>
              <a:latin typeface="Meiryo" panose="020B0604030504040204" pitchFamily="34" charset="-128"/>
              <a:ea typeface="Meiryo" panose="020B0604030504040204" pitchFamily="34" charset="-128"/>
            </a:endParaRPr>
          </a:p>
          <a:p>
            <a:endParaRPr lang="en-US" dirty="0">
              <a:solidFill>
                <a:schemeClr val="tx1"/>
              </a:solidFill>
              <a:latin typeface="Meiryo" panose="020B0604030504040204" pitchFamily="34" charset="-128"/>
              <a:ea typeface="Meiryo" panose="020B0604030504040204" pitchFamily="34" charset="-128"/>
            </a:endParaRPr>
          </a:p>
          <a:p>
            <a:pPr algn="ctr"/>
            <a:endParaRPr lang="en-JP" dirty="0">
              <a:solidFill>
                <a:schemeClr val="tx1"/>
              </a:solidFill>
              <a:latin typeface="Meiryo" panose="020B0604030504040204" pitchFamily="34" charset="-128"/>
              <a:ea typeface="Meiryo" panose="020B0604030504040204" pitchFamily="34" charset="-128"/>
            </a:endParaRPr>
          </a:p>
        </p:txBody>
      </p:sp>
      <p:sp>
        <p:nvSpPr>
          <p:cNvPr id="2" name="Rounded Rectangle 1">
            <a:extLst>
              <a:ext uri="{FF2B5EF4-FFF2-40B4-BE49-F238E27FC236}">
                <a16:creationId xmlns:a16="http://schemas.microsoft.com/office/drawing/2014/main" id="{600146A7-4195-7251-6026-D1705DB34742}"/>
              </a:ext>
            </a:extLst>
          </p:cNvPr>
          <p:cNvSpPr/>
          <p:nvPr/>
        </p:nvSpPr>
        <p:spPr>
          <a:xfrm>
            <a:off x="133165" y="2554671"/>
            <a:ext cx="2939328" cy="1393343"/>
          </a:xfrm>
          <a:prstGeom prst="roundRect">
            <a:avLst/>
          </a:prstGeom>
          <a:solidFill>
            <a:schemeClr val="accent6">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dirty="0">
              <a:solidFill>
                <a:schemeClr val="tx1"/>
              </a:solidFill>
              <a:latin typeface="Meiryo" panose="020B0604030504040204" pitchFamily="34" charset="-128"/>
              <a:ea typeface="Meiryo" panose="020B0604030504040204" pitchFamily="34" charset="-128"/>
            </a:endParaRPr>
          </a:p>
          <a:p>
            <a:endParaRPr lang="mn-MN" dirty="0">
              <a:solidFill>
                <a:schemeClr val="tx1"/>
              </a:solidFill>
              <a:latin typeface="Meiryo" panose="020B0604030504040204" pitchFamily="34" charset="-128"/>
              <a:ea typeface="Meiryo" panose="020B0604030504040204" pitchFamily="34" charset="-128"/>
            </a:endParaRPr>
          </a:p>
          <a:p>
            <a:r>
              <a:rPr lang="en-US" dirty="0">
                <a:solidFill>
                  <a:schemeClr val="tx1"/>
                </a:solidFill>
                <a:latin typeface="Meiryo" panose="020B0604030504040204" pitchFamily="34" charset="-128"/>
                <a:ea typeface="Meiryo" panose="020B0604030504040204" pitchFamily="34" charset="-128"/>
              </a:rPr>
              <a:t>Host A </a:t>
            </a:r>
          </a:p>
          <a:p>
            <a:r>
              <a:rPr lang="en-US" dirty="0">
                <a:solidFill>
                  <a:schemeClr val="tx1"/>
                </a:solidFill>
                <a:latin typeface="Meiryo" panose="020B0604030504040204" pitchFamily="34" charset="-128"/>
                <a:ea typeface="Meiryo" panose="020B0604030504040204" pitchFamily="34" charset="-128"/>
              </a:rPr>
              <a:t>IP: 192.168.1.1</a:t>
            </a:r>
          </a:p>
          <a:p>
            <a:r>
              <a:rPr lang="en-US" dirty="0">
                <a:solidFill>
                  <a:schemeClr val="tx1"/>
                </a:solidFill>
                <a:latin typeface="Meiryo" panose="020B0604030504040204" pitchFamily="34" charset="-128"/>
                <a:ea typeface="Meiryo" panose="020B0604030504040204" pitchFamily="34" charset="-128"/>
              </a:rPr>
              <a:t>MAC:</a:t>
            </a:r>
            <a:endParaRPr lang="mn-MN" dirty="0">
              <a:solidFill>
                <a:schemeClr val="tx1"/>
              </a:solidFill>
              <a:latin typeface="Meiryo" panose="020B0604030504040204" pitchFamily="34" charset="-128"/>
              <a:ea typeface="Meiryo" panose="020B0604030504040204" pitchFamily="34" charset="-128"/>
            </a:endParaRPr>
          </a:p>
          <a:p>
            <a:r>
              <a:rPr lang="en-JP" sz="1800" dirty="0">
                <a:solidFill>
                  <a:schemeClr val="tx1"/>
                </a:solidFill>
                <a:effectLst/>
                <a:latin typeface="Meiryo" panose="020B0604030504040204" pitchFamily="34" charset="-128"/>
                <a:ea typeface="Meiryo" panose="020B0604030504040204" pitchFamily="34" charset="-128"/>
              </a:rPr>
              <a:t>AA:AA:AA:AA:AA:AA</a:t>
            </a:r>
          </a:p>
          <a:p>
            <a:endParaRPr lang="en-US" dirty="0">
              <a:solidFill>
                <a:schemeClr val="tx1"/>
              </a:solidFill>
              <a:latin typeface="Meiryo" panose="020B0604030504040204" pitchFamily="34" charset="-128"/>
              <a:ea typeface="Meiryo" panose="020B0604030504040204" pitchFamily="34" charset="-128"/>
            </a:endParaRPr>
          </a:p>
          <a:p>
            <a:pPr algn="ctr"/>
            <a:endParaRPr lang="en-JP" dirty="0">
              <a:solidFill>
                <a:schemeClr val="tx1"/>
              </a:solidFill>
              <a:latin typeface="Meiryo" panose="020B0604030504040204" pitchFamily="34" charset="-128"/>
              <a:ea typeface="Meiryo" panose="020B0604030504040204" pitchFamily="34" charset="-128"/>
            </a:endParaRPr>
          </a:p>
        </p:txBody>
      </p:sp>
      <p:graphicFrame>
        <p:nvGraphicFramePr>
          <p:cNvPr id="6" name="Table 5">
            <a:extLst>
              <a:ext uri="{FF2B5EF4-FFF2-40B4-BE49-F238E27FC236}">
                <a16:creationId xmlns:a16="http://schemas.microsoft.com/office/drawing/2014/main" id="{5DFBC099-DCE0-FB6F-63EE-85CB62ABEBCF}"/>
              </a:ext>
            </a:extLst>
          </p:cNvPr>
          <p:cNvGraphicFramePr>
            <a:graphicFrameLocks noGrp="1"/>
          </p:cNvGraphicFramePr>
          <p:nvPr>
            <p:extLst>
              <p:ext uri="{D42A27DB-BD31-4B8C-83A1-F6EECF244321}">
                <p14:modId xmlns:p14="http://schemas.microsoft.com/office/powerpoint/2010/main" val="1216449665"/>
              </p:ext>
            </p:extLst>
          </p:nvPr>
        </p:nvGraphicFramePr>
        <p:xfrm>
          <a:off x="5060294" y="4038890"/>
          <a:ext cx="3950542" cy="1993627"/>
        </p:xfrm>
        <a:graphic>
          <a:graphicData uri="http://schemas.openxmlformats.org/drawingml/2006/table">
            <a:tbl>
              <a:tblPr firstRow="1" firstCol="1" bandRow="1">
                <a:tableStyleId>{E8B1032C-EA38-4F05-BA0D-38AFFFC7BED3}</a:tableStyleId>
              </a:tblPr>
              <a:tblGrid>
                <a:gridCol w="1813442">
                  <a:extLst>
                    <a:ext uri="{9D8B030D-6E8A-4147-A177-3AD203B41FA5}">
                      <a16:colId xmlns:a16="http://schemas.microsoft.com/office/drawing/2014/main" val="3662228784"/>
                    </a:ext>
                  </a:extLst>
                </a:gridCol>
                <a:gridCol w="2137100">
                  <a:extLst>
                    <a:ext uri="{9D8B030D-6E8A-4147-A177-3AD203B41FA5}">
                      <a16:colId xmlns:a16="http://schemas.microsoft.com/office/drawing/2014/main" val="3743810619"/>
                    </a:ext>
                  </a:extLst>
                </a:gridCol>
              </a:tblGrid>
              <a:tr h="43816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600" b="1" kern="1200" dirty="0">
                        <a:solidFill>
                          <a:schemeClr val="tx1"/>
                        </a:solidFill>
                        <a:effectLst/>
                        <a:latin typeface="Meiryo" panose="020B0604030504040204" pitchFamily="34" charset="-128"/>
                        <a:ea typeface="Meiryo" panose="020B0604030504040204" pitchFamily="3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latin typeface="Meiryo" panose="020B0604030504040204" pitchFamily="34" charset="-128"/>
                          <a:ea typeface="Meiryo" panose="020B0604030504040204" pitchFamily="34" charset="-128"/>
                        </a:rPr>
                        <a:t>Host B – ARP Cache Table</a:t>
                      </a:r>
                      <a:endParaRPr lang="en-JP" sz="1600" b="1" kern="1200" dirty="0">
                        <a:solidFill>
                          <a:schemeClr val="tx1"/>
                        </a:solidFill>
                        <a:effectLst/>
                        <a:latin typeface="Meiryo" panose="020B0604030504040204" pitchFamily="34" charset="-128"/>
                        <a:ea typeface="Meiryo" panose="020B0604030504040204" pitchFamily="34" charset="-128"/>
                      </a:endParaRPr>
                    </a:p>
                    <a:p>
                      <a:pPr algn="ct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514407">
                <a:tc>
                  <a:txBody>
                    <a:bodyPr/>
                    <a:lstStyle/>
                    <a:p>
                      <a:pPr algn="ctr"/>
                      <a:r>
                        <a:rPr lang="en-JP" sz="1600" b="1" dirty="0">
                          <a:solidFill>
                            <a:schemeClr val="tx1"/>
                          </a:solidFill>
                          <a:effectLst/>
                          <a:latin typeface="Meiryo" panose="020B0604030504040204" pitchFamily="34" charset="-128"/>
                          <a:ea typeface="Meiryo" panose="020B0604030504040204" pitchFamily="34" charset="-128"/>
                        </a:rPr>
                        <a:t>IP </a:t>
                      </a:r>
                    </a:p>
                  </a:txBody>
                  <a:tcPr marL="9525" marR="9525" marT="9525" marB="9525" anchor="ctr"/>
                </a:tc>
                <a:tc>
                  <a:txBody>
                    <a:bodyPr/>
                    <a:lstStyle/>
                    <a:p>
                      <a:pPr algn="ctr"/>
                      <a:r>
                        <a:rPr lang="en-JP" sz="1600" b="1" dirty="0">
                          <a:solidFill>
                            <a:schemeClr val="tx1"/>
                          </a:solidFill>
                          <a:effectLst/>
                          <a:latin typeface="Meiryo" panose="020B0604030504040204" pitchFamily="34" charset="-128"/>
                          <a:ea typeface="Meiryo" panose="020B0604030504040204" pitchFamily="34" charset="-128"/>
                        </a:rPr>
                        <a:t>MAC </a:t>
                      </a:r>
                    </a:p>
                  </a:txBody>
                  <a:tcPr marL="9525" marR="9525" marT="9525" marB="9525" anchor="ctr"/>
                </a:tc>
                <a:extLst>
                  <a:ext uri="{0D108BD9-81ED-4DB2-BD59-A6C34878D82A}">
                    <a16:rowId xmlns:a16="http://schemas.microsoft.com/office/drawing/2014/main" val="1605301550"/>
                  </a:ext>
                </a:extLst>
              </a:tr>
              <a:tr h="728650">
                <a:tc>
                  <a:txBody>
                    <a:bodyPr/>
                    <a:lstStyle/>
                    <a:p>
                      <a:r>
                        <a:rPr lang="en-US" sz="1600" dirty="0">
                          <a:solidFill>
                            <a:schemeClr val="tx1"/>
                          </a:solidFill>
                          <a:latin typeface="Meiryo" panose="020B0604030504040204" pitchFamily="34" charset="-128"/>
                          <a:ea typeface="Meiryo" panose="020B0604030504040204" pitchFamily="34" charset="-128"/>
                        </a:rPr>
                        <a:t>  IP: 192.168.1.2</a:t>
                      </a:r>
                    </a:p>
                  </a:txBody>
                  <a:tcPr marL="9525" marR="9525" marT="9525" marB="9525" anchor="ctr"/>
                </a:tc>
                <a:tc>
                  <a:txBody>
                    <a:bodyPr/>
                    <a:lstStyle/>
                    <a:p>
                      <a:r>
                        <a:rPr lang="en-US" sz="1600" dirty="0">
                          <a:solidFill>
                            <a:schemeClr val="tx1"/>
                          </a:solidFill>
                          <a:latin typeface="Meiryo" panose="020B0604030504040204" pitchFamily="34" charset="-128"/>
                          <a:ea typeface="Meiryo" panose="020B0604030504040204" pitchFamily="34" charset="-128"/>
                        </a:rPr>
                        <a:t>  BB:BB:BB:BB:BB:BB</a:t>
                      </a: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3401524390"/>
                  </a:ext>
                </a:extLst>
              </a:tr>
            </a:tbl>
          </a:graphicData>
        </a:graphic>
      </p:graphicFrame>
      <p:sp>
        <p:nvSpPr>
          <p:cNvPr id="10" name="Shape 0">
            <a:extLst>
              <a:ext uri="{FF2B5EF4-FFF2-40B4-BE49-F238E27FC236}">
                <a16:creationId xmlns:a16="http://schemas.microsoft.com/office/drawing/2014/main" id="{7A2AB6BA-1EE8-EE97-C5DB-0313B33BBCB9}"/>
              </a:ext>
            </a:extLst>
          </p:cNvPr>
          <p:cNvSpPr/>
          <p:nvPr/>
        </p:nvSpPr>
        <p:spPr>
          <a:xfrm>
            <a:off x="13491" y="0"/>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fontAlgn="base"/>
            <a:r>
              <a:rPr lang="en-US" sz="3200" b="1" dirty="0">
                <a:latin typeface="Meiryo" panose="020B0604030504040204" pitchFamily="34" charset="-128"/>
                <a:ea typeface="Meiryo" panose="020B0604030504040204" pitchFamily="34" charset="-128"/>
              </a:rPr>
              <a:t>ARP Cache Table for Host A and Host B</a:t>
            </a:r>
            <a:endParaRPr lang="en-US" sz="3200" dirty="0">
              <a:latin typeface="Meiryo" panose="020B0604030504040204" pitchFamily="34" charset="-128"/>
              <a:ea typeface="Meiryo" panose="020B0604030504040204" pitchFamily="34" charset="-128"/>
            </a:endParaRPr>
          </a:p>
          <a:p>
            <a:pPr algn="l" fontAlgn="base"/>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16725228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AE7C212-1F18-71AC-E7F3-120E0CADDA3C}"/>
              </a:ext>
            </a:extLst>
          </p:cNvPr>
          <p:cNvSpPr>
            <a:spLocks noGrp="1"/>
          </p:cNvSpPr>
          <p:nvPr>
            <p:ph type="sldNum" sz="quarter" idx="12"/>
          </p:nvPr>
        </p:nvSpPr>
        <p:spPr/>
        <p:txBody>
          <a:bodyPr/>
          <a:lstStyle/>
          <a:p>
            <a:fld id="{828F3BD4-1AF2-D144-8129-4D42AD448F5E}" type="slidenum">
              <a:rPr lang="en-JP" smtClean="0"/>
              <a:pPr/>
              <a:t>21</a:t>
            </a:fld>
            <a:endParaRPr lang="en-JP" dirty="0"/>
          </a:p>
        </p:txBody>
      </p:sp>
      <p:pic>
        <p:nvPicPr>
          <p:cNvPr id="1026" name="Picture 2" descr="パソコンを使うOL・女性会社員のイラスト">
            <a:extLst>
              <a:ext uri="{FF2B5EF4-FFF2-40B4-BE49-F238E27FC236}">
                <a16:creationId xmlns:a16="http://schemas.microsoft.com/office/drawing/2014/main" id="{96787F3B-9331-9525-46CB-33C680FA70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051" y="697592"/>
            <a:ext cx="1292534" cy="12990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C1052C5-E584-FF5D-54B2-B494F02E57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0383" y="635881"/>
            <a:ext cx="1292534" cy="115350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2F9FF6CB-F530-B87A-0635-9D8BFB09786A}"/>
              </a:ext>
            </a:extLst>
          </p:cNvPr>
          <p:cNvPicPr>
            <a:picLocks noChangeAspect="1"/>
          </p:cNvPicPr>
          <p:nvPr/>
        </p:nvPicPr>
        <p:blipFill>
          <a:blip r:embed="rId4"/>
          <a:stretch>
            <a:fillRect/>
          </a:stretch>
        </p:blipFill>
        <p:spPr>
          <a:xfrm>
            <a:off x="3533837" y="850207"/>
            <a:ext cx="1128026" cy="496899"/>
          </a:xfrm>
          <a:prstGeom prst="rect">
            <a:avLst/>
          </a:prstGeom>
        </p:spPr>
      </p:pic>
      <p:graphicFrame>
        <p:nvGraphicFramePr>
          <p:cNvPr id="5" name="Table 4">
            <a:extLst>
              <a:ext uri="{FF2B5EF4-FFF2-40B4-BE49-F238E27FC236}">
                <a16:creationId xmlns:a16="http://schemas.microsoft.com/office/drawing/2014/main" id="{8C48245D-69A6-5AEB-0FFD-C75FEA81FEA9}"/>
              </a:ext>
            </a:extLst>
          </p:cNvPr>
          <p:cNvGraphicFramePr>
            <a:graphicFrameLocks noGrp="1"/>
          </p:cNvGraphicFramePr>
          <p:nvPr>
            <p:extLst>
              <p:ext uri="{D42A27DB-BD31-4B8C-83A1-F6EECF244321}">
                <p14:modId xmlns:p14="http://schemas.microsoft.com/office/powerpoint/2010/main" val="326440966"/>
              </p:ext>
            </p:extLst>
          </p:nvPr>
        </p:nvGraphicFramePr>
        <p:xfrm>
          <a:off x="50665" y="3128300"/>
          <a:ext cx="4006328" cy="1157816"/>
        </p:xfrm>
        <a:graphic>
          <a:graphicData uri="http://schemas.openxmlformats.org/drawingml/2006/table">
            <a:tbl>
              <a:tblPr firstRow="1" firstCol="1" bandRow="1">
                <a:tableStyleId>{E8B1032C-EA38-4F05-BA0D-38AFFFC7BED3}</a:tableStyleId>
              </a:tblPr>
              <a:tblGrid>
                <a:gridCol w="1839050">
                  <a:extLst>
                    <a:ext uri="{9D8B030D-6E8A-4147-A177-3AD203B41FA5}">
                      <a16:colId xmlns:a16="http://schemas.microsoft.com/office/drawing/2014/main" val="3662228784"/>
                    </a:ext>
                  </a:extLst>
                </a:gridCol>
                <a:gridCol w="2167278">
                  <a:extLst>
                    <a:ext uri="{9D8B030D-6E8A-4147-A177-3AD203B41FA5}">
                      <a16:colId xmlns:a16="http://schemas.microsoft.com/office/drawing/2014/main" val="3743810619"/>
                    </a:ext>
                  </a:extLst>
                </a:gridCol>
              </a:tblGrid>
              <a:tr h="13882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rPr>
                        <a:t>Host </a:t>
                      </a:r>
                      <a:r>
                        <a:rPr lang="en-US" sz="1600" b="1" kern="1200" dirty="0">
                          <a:solidFill>
                            <a:srgbClr val="C00000"/>
                          </a:solidFill>
                          <a:effectLst/>
                        </a:rPr>
                        <a:t>A</a:t>
                      </a:r>
                      <a:r>
                        <a:rPr lang="en-US" sz="1600" b="1" kern="1200" dirty="0">
                          <a:solidFill>
                            <a:schemeClr val="tx1"/>
                          </a:solidFill>
                          <a:effectLst/>
                        </a:rPr>
                        <a:t> – ARP Cache Table</a:t>
                      </a:r>
                      <a:endParaRPr lang="mn-MN" sz="1600" b="1" kern="12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223100">
                <a:tc>
                  <a:txBody>
                    <a:bodyPr/>
                    <a:lstStyle/>
                    <a:p>
                      <a:pPr algn="ctr"/>
                      <a:r>
                        <a:rPr lang="en-JP" sz="1600" b="1" dirty="0">
                          <a:solidFill>
                            <a:schemeClr val="tx1"/>
                          </a:solidFill>
                          <a:effectLst/>
                        </a:rPr>
                        <a:t>IP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a:txBody>
                    <a:bodyPr/>
                    <a:lstStyle/>
                    <a:p>
                      <a:pPr algn="ctr"/>
                      <a:r>
                        <a:rPr lang="en-JP" sz="1600" b="1" dirty="0">
                          <a:solidFill>
                            <a:schemeClr val="tx1"/>
                          </a:solidFill>
                          <a:effectLst/>
                        </a:rPr>
                        <a:t>MAC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1605301550"/>
                  </a:ext>
                </a:extLst>
              </a:tr>
              <a:tr h="316018">
                <a:tc>
                  <a:txBody>
                    <a:bodyPr/>
                    <a:lstStyle/>
                    <a:p>
                      <a:r>
                        <a:rPr lang="en-US" sz="1600" strike="sngStrike" dirty="0">
                          <a:solidFill>
                            <a:schemeClr val="tx1"/>
                          </a:solidFill>
                        </a:rPr>
                        <a:t>IP: 192.168.1.2</a:t>
                      </a:r>
                      <a:endParaRPr lang="en-US" sz="1600" strike="sngStrike" dirty="0">
                        <a:solidFill>
                          <a:schemeClr val="tx1"/>
                        </a:solidFill>
                        <a:latin typeface="Meiryo" panose="020B0604030504040204" pitchFamily="34" charset="-128"/>
                        <a:ea typeface="Meiryo" panose="020B0604030504040204" pitchFamily="34" charset="-128"/>
                      </a:endParaRPr>
                    </a:p>
                  </a:txBody>
                  <a:tcPr marL="9525" marR="9525" marT="9525" marB="9525" anchor="ctr"/>
                </a:tc>
                <a:tc>
                  <a:txBody>
                    <a:bodyPr/>
                    <a:lstStyle/>
                    <a:p>
                      <a:r>
                        <a:rPr lang="en-JP" sz="1600" strike="sngStrike" dirty="0">
                          <a:solidFill>
                            <a:schemeClr val="tx1"/>
                          </a:solidFill>
                          <a:effectLst/>
                        </a:rPr>
                        <a:t>BB:BB:BB:BB:BB:BB</a:t>
                      </a:r>
                      <a:endParaRPr lang="en-JP" sz="1600" strike="sngStrike"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3401524390"/>
                  </a:ext>
                </a:extLst>
              </a:tr>
              <a:tr h="316018">
                <a:tc>
                  <a:txBody>
                    <a:bodyPr/>
                    <a:lstStyle/>
                    <a:p>
                      <a:r>
                        <a:rPr lang="en-US" sz="1600" b="1" dirty="0">
                          <a:solidFill>
                            <a:srgbClr val="C00000"/>
                          </a:solidFill>
                          <a:latin typeface="Meiryo" panose="020B0604030504040204" pitchFamily="34" charset="-128"/>
                          <a:ea typeface="Meiryo" panose="020B0604030504040204" pitchFamily="34" charset="-128"/>
                        </a:rPr>
                        <a:t>ip: 192.168.1.2</a:t>
                      </a:r>
                    </a:p>
                  </a:txBody>
                  <a:tcPr marL="9525" marR="9525" marT="9525" marB="9525" anchor="ctr"/>
                </a:tc>
                <a:tc>
                  <a:txBody>
                    <a:bodyPr/>
                    <a:lstStyle/>
                    <a:p>
                      <a:r>
                        <a:rPr lang="en-JP" sz="1600" b="1" dirty="0">
                          <a:solidFill>
                            <a:srgbClr val="C00000"/>
                          </a:solidFill>
                          <a:effectLst/>
                          <a:latin typeface="Meiryo" panose="020B0604030504040204" pitchFamily="34" charset="-128"/>
                          <a:ea typeface="Meiryo" panose="020B0604030504040204" pitchFamily="34" charset="-128"/>
                        </a:rPr>
                        <a:t>CC:CC:CC:CC:CC</a:t>
                      </a:r>
                    </a:p>
                  </a:txBody>
                  <a:tcPr marL="9525" marR="9525" marT="9525" marB="9525" anchor="ctr"/>
                </a:tc>
                <a:extLst>
                  <a:ext uri="{0D108BD9-81ED-4DB2-BD59-A6C34878D82A}">
                    <a16:rowId xmlns:a16="http://schemas.microsoft.com/office/drawing/2014/main" val="481083826"/>
                  </a:ext>
                </a:extLst>
              </a:tr>
            </a:tbl>
          </a:graphicData>
        </a:graphic>
      </p:graphicFrame>
      <p:sp>
        <p:nvSpPr>
          <p:cNvPr id="15" name="TextBox 14">
            <a:extLst>
              <a:ext uri="{FF2B5EF4-FFF2-40B4-BE49-F238E27FC236}">
                <a16:creationId xmlns:a16="http://schemas.microsoft.com/office/drawing/2014/main" id="{2AC6BB3A-A166-E44F-6113-A27D8B83DA1A}"/>
              </a:ext>
            </a:extLst>
          </p:cNvPr>
          <p:cNvSpPr txBox="1"/>
          <p:nvPr/>
        </p:nvSpPr>
        <p:spPr>
          <a:xfrm>
            <a:off x="3148008" y="1647580"/>
            <a:ext cx="1888659" cy="369332"/>
          </a:xfrm>
          <a:prstGeom prst="rect">
            <a:avLst/>
          </a:prstGeom>
          <a:noFill/>
        </p:spPr>
        <p:txBody>
          <a:bodyPr wrap="none" rtlCol="0">
            <a:spAutoFit/>
          </a:bodyPr>
          <a:lstStyle/>
          <a:p>
            <a:r>
              <a:rPr lang="en-US" b="1" dirty="0">
                <a:solidFill>
                  <a:srgbClr val="C00000"/>
                </a:solidFill>
              </a:rPr>
              <a:t>I am : </a:t>
            </a:r>
            <a:r>
              <a:rPr lang="en-JP" b="1" dirty="0">
                <a:solidFill>
                  <a:srgbClr val="C00000"/>
                </a:solidFill>
              </a:rPr>
              <a:t>192.168.1.2</a:t>
            </a:r>
          </a:p>
        </p:txBody>
      </p:sp>
      <p:sp>
        <p:nvSpPr>
          <p:cNvPr id="21" name="TextBox 20">
            <a:extLst>
              <a:ext uri="{FF2B5EF4-FFF2-40B4-BE49-F238E27FC236}">
                <a16:creationId xmlns:a16="http://schemas.microsoft.com/office/drawing/2014/main" id="{E8066873-E5FE-B2AE-58D7-3B1CA7CE93CC}"/>
              </a:ext>
            </a:extLst>
          </p:cNvPr>
          <p:cNvSpPr txBox="1"/>
          <p:nvPr/>
        </p:nvSpPr>
        <p:spPr>
          <a:xfrm>
            <a:off x="2914650" y="1999074"/>
            <a:ext cx="4572000" cy="369332"/>
          </a:xfrm>
          <a:prstGeom prst="rect">
            <a:avLst/>
          </a:prstGeom>
          <a:noFill/>
        </p:spPr>
        <p:txBody>
          <a:bodyPr wrap="square">
            <a:spAutoFit/>
          </a:bodyPr>
          <a:lstStyle/>
          <a:p>
            <a:r>
              <a:rPr lang="en-US" b="1" dirty="0">
                <a:solidFill>
                  <a:srgbClr val="C00000"/>
                </a:solidFill>
              </a:rPr>
              <a:t>My MAC: CC:CC:CC:CC:CC:CC</a:t>
            </a:r>
            <a:endParaRPr lang="en-JP" b="1" dirty="0">
              <a:solidFill>
                <a:srgbClr val="C00000"/>
              </a:solidFill>
            </a:endParaRPr>
          </a:p>
        </p:txBody>
      </p:sp>
      <p:sp>
        <p:nvSpPr>
          <p:cNvPr id="25" name="Rounded Rectangle 24">
            <a:extLst>
              <a:ext uri="{FF2B5EF4-FFF2-40B4-BE49-F238E27FC236}">
                <a16:creationId xmlns:a16="http://schemas.microsoft.com/office/drawing/2014/main" id="{21DC0D6F-02DD-9BE9-3813-163C798566EB}"/>
              </a:ext>
            </a:extLst>
          </p:cNvPr>
          <p:cNvSpPr/>
          <p:nvPr/>
        </p:nvSpPr>
        <p:spPr>
          <a:xfrm>
            <a:off x="6172736" y="2018513"/>
            <a:ext cx="2732689" cy="931563"/>
          </a:xfrm>
          <a:prstGeom prst="roundRect">
            <a:avLst/>
          </a:prstGeom>
          <a:solidFill>
            <a:schemeClr val="accent6">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dirty="0">
              <a:solidFill>
                <a:schemeClr val="tx1"/>
              </a:solidFill>
            </a:endParaRPr>
          </a:p>
          <a:p>
            <a:endParaRPr lang="mn-MN" dirty="0">
              <a:solidFill>
                <a:schemeClr val="tx1"/>
              </a:solidFill>
            </a:endParaRPr>
          </a:p>
          <a:p>
            <a:r>
              <a:rPr lang="en-US" dirty="0">
                <a:solidFill>
                  <a:schemeClr val="tx1"/>
                </a:solidFill>
              </a:rPr>
              <a:t>Host </a:t>
            </a:r>
            <a:r>
              <a:rPr lang="mn-MN" b="1" dirty="0">
                <a:solidFill>
                  <a:srgbClr val="C00000"/>
                </a:solidFill>
              </a:rPr>
              <a:t>B</a:t>
            </a:r>
            <a:endParaRPr lang="en-US" b="1" dirty="0">
              <a:solidFill>
                <a:srgbClr val="C00000"/>
              </a:solidFill>
            </a:endParaRPr>
          </a:p>
          <a:p>
            <a:r>
              <a:rPr lang="en-US" dirty="0">
                <a:solidFill>
                  <a:schemeClr val="tx1"/>
                </a:solidFill>
              </a:rPr>
              <a:t>IP: 192.168.1.</a:t>
            </a:r>
            <a:r>
              <a:rPr lang="mn-MN" dirty="0">
                <a:solidFill>
                  <a:schemeClr val="tx1"/>
                </a:solidFill>
              </a:rPr>
              <a:t>2</a:t>
            </a:r>
            <a:endParaRPr lang="en-US" dirty="0">
              <a:solidFill>
                <a:schemeClr val="tx1"/>
              </a:solidFill>
            </a:endParaRPr>
          </a:p>
          <a:p>
            <a:r>
              <a:rPr lang="en-US" dirty="0">
                <a:solidFill>
                  <a:schemeClr val="tx1"/>
                </a:solidFill>
              </a:rPr>
              <a:t>MAC: BB:BB:BB:BB:BB:BB</a:t>
            </a:r>
            <a:endParaRPr lang="en-JP" sz="1800" dirty="0">
              <a:solidFill>
                <a:schemeClr val="tx1"/>
              </a:solidFill>
              <a:effectLst/>
              <a:latin typeface="Times New Roman" panose="02020603050405020304" pitchFamily="18" charset="0"/>
              <a:ea typeface="Times New Roman" panose="02020603050405020304" pitchFamily="18" charset="0"/>
            </a:endParaRPr>
          </a:p>
          <a:p>
            <a:endParaRPr lang="en-US" dirty="0">
              <a:solidFill>
                <a:schemeClr val="tx1"/>
              </a:solidFill>
            </a:endParaRPr>
          </a:p>
          <a:p>
            <a:pPr algn="ctr"/>
            <a:endParaRPr lang="en-JP" dirty="0">
              <a:solidFill>
                <a:schemeClr val="tx1"/>
              </a:solidFill>
            </a:endParaRPr>
          </a:p>
        </p:txBody>
      </p:sp>
      <p:sp>
        <p:nvSpPr>
          <p:cNvPr id="2" name="Rounded Rectangle 1">
            <a:extLst>
              <a:ext uri="{FF2B5EF4-FFF2-40B4-BE49-F238E27FC236}">
                <a16:creationId xmlns:a16="http://schemas.microsoft.com/office/drawing/2014/main" id="{600146A7-4195-7251-6026-D1705DB34742}"/>
              </a:ext>
            </a:extLst>
          </p:cNvPr>
          <p:cNvSpPr/>
          <p:nvPr/>
        </p:nvSpPr>
        <p:spPr>
          <a:xfrm>
            <a:off x="145040" y="2044705"/>
            <a:ext cx="2732689" cy="931562"/>
          </a:xfrm>
          <a:prstGeom prst="roundRect">
            <a:avLst/>
          </a:prstGeom>
          <a:solidFill>
            <a:schemeClr val="accent6">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Host</a:t>
            </a:r>
            <a:r>
              <a:rPr lang="en-US" b="1" dirty="0">
                <a:solidFill>
                  <a:srgbClr val="C00000"/>
                </a:solidFill>
              </a:rPr>
              <a:t> A </a:t>
            </a:r>
          </a:p>
          <a:p>
            <a:r>
              <a:rPr lang="en-US" dirty="0">
                <a:solidFill>
                  <a:schemeClr val="tx1"/>
                </a:solidFill>
              </a:rPr>
              <a:t>IP: 192.168.1.1</a:t>
            </a:r>
          </a:p>
          <a:p>
            <a:r>
              <a:rPr lang="en-US" dirty="0">
                <a:solidFill>
                  <a:schemeClr val="tx1"/>
                </a:solidFill>
              </a:rPr>
              <a:t>MAC:</a:t>
            </a:r>
            <a:r>
              <a:rPr lang="en-JP" sz="1800" dirty="0">
                <a:solidFill>
                  <a:schemeClr val="tx1"/>
                </a:solidFill>
                <a:effectLst/>
              </a:rPr>
              <a:t>AA:AA:AA:AA:AA:AA</a:t>
            </a:r>
            <a:endParaRPr lang="en-JP" sz="1800" dirty="0">
              <a:solidFill>
                <a:schemeClr val="tx1"/>
              </a:solidFill>
              <a:effectLst/>
              <a:latin typeface="Times New Roman" panose="02020603050405020304" pitchFamily="18" charset="0"/>
              <a:ea typeface="Meiryo" panose="020B0604030504040204" pitchFamily="34" charset="-128"/>
            </a:endParaRPr>
          </a:p>
        </p:txBody>
      </p:sp>
      <p:graphicFrame>
        <p:nvGraphicFramePr>
          <p:cNvPr id="6" name="Table 5">
            <a:extLst>
              <a:ext uri="{FF2B5EF4-FFF2-40B4-BE49-F238E27FC236}">
                <a16:creationId xmlns:a16="http://schemas.microsoft.com/office/drawing/2014/main" id="{5DFBC099-DCE0-FB6F-63EE-85CB62ABEBCF}"/>
              </a:ext>
            </a:extLst>
          </p:cNvPr>
          <p:cNvGraphicFramePr>
            <a:graphicFrameLocks noGrp="1"/>
          </p:cNvGraphicFramePr>
          <p:nvPr>
            <p:extLst>
              <p:ext uri="{D42A27DB-BD31-4B8C-83A1-F6EECF244321}">
                <p14:modId xmlns:p14="http://schemas.microsoft.com/office/powerpoint/2010/main" val="476476499"/>
              </p:ext>
            </p:extLst>
          </p:nvPr>
        </p:nvGraphicFramePr>
        <p:xfrm>
          <a:off x="5079077" y="3075275"/>
          <a:ext cx="3950542" cy="926257"/>
        </p:xfrm>
        <a:graphic>
          <a:graphicData uri="http://schemas.openxmlformats.org/drawingml/2006/table">
            <a:tbl>
              <a:tblPr firstRow="1" firstCol="1" bandRow="1">
                <a:tableStyleId>{E8B1032C-EA38-4F05-BA0D-38AFFFC7BED3}</a:tableStyleId>
              </a:tblPr>
              <a:tblGrid>
                <a:gridCol w="1813442">
                  <a:extLst>
                    <a:ext uri="{9D8B030D-6E8A-4147-A177-3AD203B41FA5}">
                      <a16:colId xmlns:a16="http://schemas.microsoft.com/office/drawing/2014/main" val="3662228784"/>
                    </a:ext>
                  </a:extLst>
                </a:gridCol>
                <a:gridCol w="2137100">
                  <a:extLst>
                    <a:ext uri="{9D8B030D-6E8A-4147-A177-3AD203B41FA5}">
                      <a16:colId xmlns:a16="http://schemas.microsoft.com/office/drawing/2014/main" val="3743810619"/>
                    </a:ext>
                  </a:extLst>
                </a:gridCol>
              </a:tblGrid>
              <a:tr h="400477">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rPr>
                        <a:t>Host</a:t>
                      </a:r>
                      <a:r>
                        <a:rPr lang="en-US" sz="1600" b="1" kern="1200" dirty="0">
                          <a:solidFill>
                            <a:srgbClr val="C00000"/>
                          </a:solidFill>
                          <a:effectLst/>
                        </a:rPr>
                        <a:t> B </a:t>
                      </a:r>
                      <a:r>
                        <a:rPr lang="en-US" sz="1600" b="1" kern="1200" dirty="0">
                          <a:solidFill>
                            <a:schemeClr val="tx1"/>
                          </a:solidFill>
                          <a:effectLst/>
                        </a:rPr>
                        <a:t>– ARP Cache Table</a:t>
                      </a:r>
                      <a:endParaRPr lang="en-JP" sz="1600" b="1" kern="12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204106">
                <a:tc>
                  <a:txBody>
                    <a:bodyPr/>
                    <a:lstStyle/>
                    <a:p>
                      <a:pPr algn="ctr"/>
                      <a:r>
                        <a:rPr lang="en-JP" sz="1600" b="1" dirty="0">
                          <a:solidFill>
                            <a:schemeClr val="tx1"/>
                          </a:solidFill>
                          <a:effectLst/>
                        </a:rPr>
                        <a:t>IP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a:txBody>
                    <a:bodyPr/>
                    <a:lstStyle/>
                    <a:p>
                      <a:pPr algn="ctr"/>
                      <a:r>
                        <a:rPr lang="en-JP" sz="1600" b="1" dirty="0">
                          <a:solidFill>
                            <a:schemeClr val="tx1"/>
                          </a:solidFill>
                          <a:effectLst/>
                        </a:rPr>
                        <a:t>MAC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1605301550"/>
                  </a:ext>
                </a:extLst>
              </a:tr>
              <a:tr h="225997">
                <a:tc>
                  <a:txBody>
                    <a:bodyPr/>
                    <a:lstStyle/>
                    <a:p>
                      <a:r>
                        <a:rPr lang="en-US" sz="1600" dirty="0">
                          <a:solidFill>
                            <a:schemeClr val="tx1"/>
                          </a:solidFill>
                        </a:rPr>
                        <a:t>IP: 192.168.1.2</a:t>
                      </a:r>
                      <a:endParaRPr lang="en-US" sz="1600" dirty="0">
                        <a:solidFill>
                          <a:schemeClr val="tx1"/>
                        </a:solidFill>
                        <a:latin typeface="Meiryo" panose="020B0604030504040204" pitchFamily="34" charset="-128"/>
                        <a:ea typeface="Meiryo" panose="020B0604030504040204" pitchFamily="34" charset="-128"/>
                      </a:endParaRPr>
                    </a:p>
                  </a:txBody>
                  <a:tcPr marL="9525" marR="9525" marT="9525" marB="9525" anchor="ctr"/>
                </a:tc>
                <a:tc>
                  <a:txBody>
                    <a:bodyPr/>
                    <a:lstStyle/>
                    <a:p>
                      <a:r>
                        <a:rPr lang="en-US" sz="1600" dirty="0">
                          <a:solidFill>
                            <a:schemeClr val="tx1"/>
                          </a:solidFill>
                        </a:rPr>
                        <a:t>AA:AA:AA:AA:AA:AA</a:t>
                      </a: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3401524390"/>
                  </a:ext>
                </a:extLst>
              </a:tr>
            </a:tbl>
          </a:graphicData>
        </a:graphic>
      </p:graphicFrame>
      <p:sp>
        <p:nvSpPr>
          <p:cNvPr id="10" name="Shape 0">
            <a:extLst>
              <a:ext uri="{FF2B5EF4-FFF2-40B4-BE49-F238E27FC236}">
                <a16:creationId xmlns:a16="http://schemas.microsoft.com/office/drawing/2014/main" id="{7A2AB6BA-1EE8-EE97-C5DB-0313B33BBCB9}"/>
              </a:ext>
            </a:extLst>
          </p:cNvPr>
          <p:cNvSpPr/>
          <p:nvPr/>
        </p:nvSpPr>
        <p:spPr>
          <a:xfrm>
            <a:off x="13491" y="0"/>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fontAlgn="base">
              <a:buFont typeface="Wingdings" pitchFamily="2" charset="2"/>
              <a:buChar char="§"/>
            </a:pPr>
            <a:r>
              <a:rPr lang="en-US" sz="3200" b="1" dirty="0">
                <a:latin typeface="Meiryo" panose="020B0604030504040204" pitchFamily="34" charset="-128"/>
                <a:ea typeface="Meiryo" panose="020B0604030504040204" pitchFamily="34" charset="-128"/>
              </a:rPr>
              <a:t>After Attack ARP Cache Table</a:t>
            </a: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cxnSp>
        <p:nvCxnSpPr>
          <p:cNvPr id="12" name="Elbow Connector 11">
            <a:extLst>
              <a:ext uri="{FF2B5EF4-FFF2-40B4-BE49-F238E27FC236}">
                <a16:creationId xmlns:a16="http://schemas.microsoft.com/office/drawing/2014/main" id="{2B7D1823-BBD1-11AD-EAF3-48117062B42C}"/>
              </a:ext>
            </a:extLst>
          </p:cNvPr>
          <p:cNvCxnSpPr>
            <a:cxnSpLocks/>
            <a:endCxn id="2" idx="3"/>
          </p:cNvCxnSpPr>
          <p:nvPr/>
        </p:nvCxnSpPr>
        <p:spPr>
          <a:xfrm rot="16200000" flipV="1">
            <a:off x="2663342" y="2724873"/>
            <a:ext cx="2212908" cy="1784134"/>
          </a:xfrm>
          <a:prstGeom prst="bentConnector2">
            <a:avLst/>
          </a:prstGeom>
          <a:ln w="444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7" name="Picture 4" descr="ハッカーのイラスト">
            <a:extLst>
              <a:ext uri="{FF2B5EF4-FFF2-40B4-BE49-F238E27FC236}">
                <a16:creationId xmlns:a16="http://schemas.microsoft.com/office/drawing/2014/main" id="{098CF81C-0F8C-6B48-F7D5-7FFED1B8C1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987" y="4944291"/>
            <a:ext cx="1146629" cy="1146629"/>
          </a:xfrm>
          <a:prstGeom prst="rect">
            <a:avLst/>
          </a:prstGeom>
          <a:noFill/>
          <a:extLst>
            <a:ext uri="{909E8E84-426E-40DD-AFC4-6F175D3DCCD1}">
              <a14:hiddenFill xmlns:a14="http://schemas.microsoft.com/office/drawing/2010/main">
                <a:solidFill>
                  <a:srgbClr val="FFFFFF"/>
                </a:solidFill>
              </a14:hiddenFill>
            </a:ext>
          </a:extLst>
        </p:spPr>
      </p:pic>
      <p:sp>
        <p:nvSpPr>
          <p:cNvPr id="28" name="Rounded Rectangle 27">
            <a:extLst>
              <a:ext uri="{FF2B5EF4-FFF2-40B4-BE49-F238E27FC236}">
                <a16:creationId xmlns:a16="http://schemas.microsoft.com/office/drawing/2014/main" id="{8C1905C0-3226-A805-A519-E5874F72ED52}"/>
              </a:ext>
            </a:extLst>
          </p:cNvPr>
          <p:cNvSpPr/>
          <p:nvPr/>
        </p:nvSpPr>
        <p:spPr>
          <a:xfrm>
            <a:off x="1852802" y="4712747"/>
            <a:ext cx="2732689" cy="1249650"/>
          </a:xfrm>
          <a:prstGeom prst="round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b="1" dirty="0">
              <a:solidFill>
                <a:schemeClr val="tx1"/>
              </a:solidFill>
              <a:latin typeface="Meiryo" panose="020B0604030504040204" pitchFamily="34" charset="-128"/>
              <a:ea typeface="Meiryo" panose="020B0604030504040204" pitchFamily="34" charset="-128"/>
            </a:endParaRPr>
          </a:p>
          <a:p>
            <a:endParaRPr lang="mn-MN" b="1" dirty="0">
              <a:solidFill>
                <a:schemeClr val="tx1"/>
              </a:solidFill>
              <a:latin typeface="Meiryo" panose="020B0604030504040204" pitchFamily="34" charset="-128"/>
              <a:ea typeface="Meiryo" panose="020B0604030504040204" pitchFamily="34" charset="-128"/>
            </a:endParaRPr>
          </a:p>
          <a:p>
            <a:r>
              <a:rPr lang="en-US" b="1" dirty="0">
                <a:solidFill>
                  <a:schemeClr val="tx1"/>
                </a:solidFill>
                <a:latin typeface="Meiryo" panose="020B0604030504040204" pitchFamily="34" charset="-128"/>
                <a:ea typeface="Meiryo" panose="020B0604030504040204" pitchFamily="34" charset="-128"/>
              </a:rPr>
              <a:t>Attacker</a:t>
            </a:r>
          </a:p>
          <a:p>
            <a:r>
              <a:rPr lang="en-US" b="1" dirty="0">
                <a:solidFill>
                  <a:schemeClr val="tx1"/>
                </a:solidFill>
                <a:latin typeface="Meiryo" panose="020B0604030504040204" pitchFamily="34" charset="-128"/>
                <a:ea typeface="Meiryo" panose="020B0604030504040204" pitchFamily="34" charset="-128"/>
              </a:rPr>
              <a:t>IP: 192.168.1.3</a:t>
            </a:r>
          </a:p>
          <a:p>
            <a:r>
              <a:rPr lang="en-US" b="1" dirty="0">
                <a:solidFill>
                  <a:srgbClr val="C00000"/>
                </a:solidFill>
                <a:latin typeface="Meiryo" panose="020B0604030504040204" pitchFamily="34" charset="-128"/>
                <a:ea typeface="Meiryo" panose="020B0604030504040204" pitchFamily="34" charset="-128"/>
              </a:rPr>
              <a:t>MAC: CC:CC:CC:CC:CC:CC</a:t>
            </a:r>
            <a:endParaRPr lang="en-JP" sz="1800" b="1" dirty="0">
              <a:solidFill>
                <a:srgbClr val="C00000"/>
              </a:solidFill>
              <a:effectLst/>
              <a:latin typeface="Meiryo" panose="020B0604030504040204" pitchFamily="34" charset="-128"/>
              <a:ea typeface="Meiryo" panose="020B0604030504040204" pitchFamily="34" charset="-128"/>
            </a:endParaRPr>
          </a:p>
          <a:p>
            <a:endParaRPr lang="en-US"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graphicFrame>
        <p:nvGraphicFramePr>
          <p:cNvPr id="30" name="Table 29">
            <a:extLst>
              <a:ext uri="{FF2B5EF4-FFF2-40B4-BE49-F238E27FC236}">
                <a16:creationId xmlns:a16="http://schemas.microsoft.com/office/drawing/2014/main" id="{F0031D2B-8194-1881-3EEC-E0EF35E0DA3C}"/>
              </a:ext>
            </a:extLst>
          </p:cNvPr>
          <p:cNvGraphicFramePr>
            <a:graphicFrameLocks noGrp="1"/>
          </p:cNvGraphicFramePr>
          <p:nvPr>
            <p:extLst>
              <p:ext uri="{D42A27DB-BD31-4B8C-83A1-F6EECF244321}">
                <p14:modId xmlns:p14="http://schemas.microsoft.com/office/powerpoint/2010/main" val="738952734"/>
              </p:ext>
            </p:extLst>
          </p:nvPr>
        </p:nvGraphicFramePr>
        <p:xfrm>
          <a:off x="4661863" y="4723394"/>
          <a:ext cx="4006328" cy="841798"/>
        </p:xfrm>
        <a:graphic>
          <a:graphicData uri="http://schemas.openxmlformats.org/drawingml/2006/table">
            <a:tbl>
              <a:tblPr firstRow="1" firstCol="1" bandRow="1">
                <a:tableStyleId>{ED083AE6-46FA-4A59-8FB0-9F97EB10719F}</a:tableStyleId>
              </a:tblPr>
              <a:tblGrid>
                <a:gridCol w="1839050">
                  <a:extLst>
                    <a:ext uri="{9D8B030D-6E8A-4147-A177-3AD203B41FA5}">
                      <a16:colId xmlns:a16="http://schemas.microsoft.com/office/drawing/2014/main" val="3662228784"/>
                    </a:ext>
                  </a:extLst>
                </a:gridCol>
                <a:gridCol w="2167278">
                  <a:extLst>
                    <a:ext uri="{9D8B030D-6E8A-4147-A177-3AD203B41FA5}">
                      <a16:colId xmlns:a16="http://schemas.microsoft.com/office/drawing/2014/main" val="3743810619"/>
                    </a:ext>
                  </a:extLst>
                </a:gridCol>
              </a:tblGrid>
              <a:tr h="138823">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effectLst/>
                        </a:rPr>
                        <a:t>Attacker –  Cache Table</a:t>
                      </a:r>
                      <a:endParaRPr lang="mn-MN" sz="1600" b="1" kern="12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hMerge="1">
                  <a:txBody>
                    <a:bodyPr/>
                    <a:lstStyle/>
                    <a:p>
                      <a:pPr algn="ctr"/>
                      <a:r>
                        <a:rPr lang="en-JP" sz="1200" dirty="0">
                          <a:effectLst/>
                        </a:rPr>
                        <a:t>IP хаяг</a:t>
                      </a:r>
                      <a:endParaRPr lang="en-JP" sz="1200" dirty="0">
                        <a:effectLst/>
                        <a:latin typeface="Times New Roman" panose="02020603050405020304" pitchFamily="18" charset="0"/>
                        <a:ea typeface="Times New Roman" panose="02020603050405020304" pitchFamily="18" charset="0"/>
                      </a:endParaRPr>
                    </a:p>
                  </a:txBody>
                  <a:tcPr marL="9525" marR="9525" marT="9525" marB="9525" anchor="ctr"/>
                </a:tc>
                <a:extLst>
                  <a:ext uri="{0D108BD9-81ED-4DB2-BD59-A6C34878D82A}">
                    <a16:rowId xmlns:a16="http://schemas.microsoft.com/office/drawing/2014/main" val="373116597"/>
                  </a:ext>
                </a:extLst>
              </a:tr>
              <a:tr h="223100">
                <a:tc>
                  <a:txBody>
                    <a:bodyPr/>
                    <a:lstStyle/>
                    <a:p>
                      <a:pPr algn="ctr"/>
                      <a:r>
                        <a:rPr lang="en-JP" sz="1600" b="1" dirty="0">
                          <a:solidFill>
                            <a:schemeClr val="tx1"/>
                          </a:solidFill>
                          <a:effectLst/>
                        </a:rPr>
                        <a:t>IP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tc>
                  <a:txBody>
                    <a:bodyPr/>
                    <a:lstStyle/>
                    <a:p>
                      <a:pPr algn="ctr"/>
                      <a:r>
                        <a:rPr lang="en-JP" sz="1600" b="1" dirty="0">
                          <a:solidFill>
                            <a:schemeClr val="tx1"/>
                          </a:solidFill>
                          <a:effectLst/>
                        </a:rPr>
                        <a:t>MAC </a:t>
                      </a:r>
                      <a:endParaRPr lang="en-JP" sz="1600" b="1"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1605301550"/>
                  </a:ext>
                </a:extLst>
              </a:tr>
              <a:tr h="316018">
                <a:tc>
                  <a:txBody>
                    <a:bodyPr/>
                    <a:lstStyle/>
                    <a:p>
                      <a:r>
                        <a:rPr lang="en-US" sz="1600" dirty="0">
                          <a:solidFill>
                            <a:schemeClr val="tx1"/>
                          </a:solidFill>
                        </a:rPr>
                        <a:t>IP: 192.168.1.1</a:t>
                      </a:r>
                      <a:endParaRPr lang="en-US" sz="1600" dirty="0">
                        <a:solidFill>
                          <a:schemeClr val="tx1"/>
                        </a:solidFill>
                        <a:latin typeface="Meiryo" panose="020B0604030504040204" pitchFamily="34" charset="-128"/>
                        <a:ea typeface="Meiryo" panose="020B0604030504040204" pitchFamily="34" charset="-128"/>
                      </a:endParaRPr>
                    </a:p>
                  </a:txBody>
                  <a:tcPr marL="9525" marR="9525" marT="9525" marB="9525" anchor="ctr"/>
                </a:tc>
                <a:tc>
                  <a:txBody>
                    <a:bodyPr/>
                    <a:lstStyle/>
                    <a:p>
                      <a:r>
                        <a:rPr lang="en-JP" sz="1600" dirty="0">
                          <a:solidFill>
                            <a:schemeClr val="tx1"/>
                          </a:solidFill>
                          <a:effectLst/>
                        </a:rPr>
                        <a:t>AA:AA:AA:AA:AA:AA</a:t>
                      </a:r>
                      <a:endParaRPr lang="en-JP" sz="1600" dirty="0">
                        <a:solidFill>
                          <a:schemeClr val="tx1"/>
                        </a:solidFill>
                        <a:effectLst/>
                        <a:latin typeface="Meiryo" panose="020B0604030504040204" pitchFamily="34" charset="-128"/>
                        <a:ea typeface="Meiryo" panose="020B0604030504040204" pitchFamily="34" charset="-128"/>
                      </a:endParaRPr>
                    </a:p>
                  </a:txBody>
                  <a:tcPr marL="9525" marR="9525" marT="9525" marB="9525" anchor="ctr"/>
                </a:tc>
                <a:extLst>
                  <a:ext uri="{0D108BD9-81ED-4DB2-BD59-A6C34878D82A}">
                    <a16:rowId xmlns:a16="http://schemas.microsoft.com/office/drawing/2014/main" val="3401524390"/>
                  </a:ext>
                </a:extLst>
              </a:tr>
            </a:tbl>
          </a:graphicData>
        </a:graphic>
      </p:graphicFrame>
      <p:sp>
        <p:nvSpPr>
          <p:cNvPr id="7" name="TextBox 6">
            <a:extLst>
              <a:ext uri="{FF2B5EF4-FFF2-40B4-BE49-F238E27FC236}">
                <a16:creationId xmlns:a16="http://schemas.microsoft.com/office/drawing/2014/main" id="{D10B5E17-D2B9-376E-8C41-2E7B0A45F9B8}"/>
              </a:ext>
            </a:extLst>
          </p:cNvPr>
          <p:cNvSpPr txBox="1"/>
          <p:nvPr/>
        </p:nvSpPr>
        <p:spPr>
          <a:xfrm>
            <a:off x="0" y="6616648"/>
            <a:ext cx="7762803" cy="261610"/>
          </a:xfrm>
          <a:prstGeom prst="rect">
            <a:avLst/>
          </a:prstGeom>
          <a:noFill/>
        </p:spPr>
        <p:txBody>
          <a:bodyPr wrap="square" rtlCol="0">
            <a:spAutoFit/>
          </a:bodyPr>
          <a:lstStyle/>
          <a:p>
            <a:r>
              <a:rPr lang="en-US" sz="1100" dirty="0"/>
              <a:t>[12]https://</a:t>
            </a:r>
            <a:r>
              <a:rPr lang="en-US" sz="1100" dirty="0" err="1"/>
              <a:t>pdf.sciencedirectassets.com</a:t>
            </a:r>
            <a:r>
              <a:rPr lang="en-US" sz="1100" dirty="0"/>
              <a:t>/272436/1-s2.0-S1084804525X00114/1-s2.0-S1084804525002930/</a:t>
            </a:r>
            <a:r>
              <a:rPr lang="en-US" sz="1100" dirty="0" err="1"/>
              <a:t>main.pdf?X-Amz-Security</a:t>
            </a:r>
            <a:r>
              <a:rPr lang="en-US" sz="1100" dirty="0"/>
              <a:t>-</a:t>
            </a:r>
            <a:endParaRPr lang="en-JP" sz="1100" dirty="0"/>
          </a:p>
        </p:txBody>
      </p:sp>
    </p:spTree>
    <p:extLst>
      <p:ext uri="{BB962C8B-B14F-4D97-AF65-F5344CB8AC3E}">
        <p14:creationId xmlns:p14="http://schemas.microsoft.com/office/powerpoint/2010/main" val="8174634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122948D-5E2B-637A-4D76-592664DC9FBD}"/>
              </a:ext>
            </a:extLst>
          </p:cNvPr>
          <p:cNvSpPr>
            <a:spLocks noGrp="1"/>
          </p:cNvSpPr>
          <p:nvPr>
            <p:ph type="sldNum" sz="quarter" idx="12"/>
          </p:nvPr>
        </p:nvSpPr>
        <p:spPr/>
        <p:txBody>
          <a:bodyPr/>
          <a:lstStyle/>
          <a:p>
            <a:fld id="{828F3BD4-1AF2-D144-8129-4D42AD448F5E}" type="slidenum">
              <a:rPr lang="en-JP" smtClean="0"/>
              <a:pPr/>
              <a:t>22</a:t>
            </a:fld>
            <a:endParaRPr lang="en-JP" dirty="0"/>
          </a:p>
        </p:txBody>
      </p:sp>
      <p:sp>
        <p:nvSpPr>
          <p:cNvPr id="7" name="Shape 0">
            <a:extLst>
              <a:ext uri="{FF2B5EF4-FFF2-40B4-BE49-F238E27FC236}">
                <a16:creationId xmlns:a16="http://schemas.microsoft.com/office/drawing/2014/main" id="{42F55E4D-8A74-D451-B55D-E873A4E52A54}"/>
              </a:ext>
            </a:extLst>
          </p:cNvPr>
          <p:cNvSpPr/>
          <p:nvPr/>
        </p:nvSpPr>
        <p:spPr>
          <a:xfrm>
            <a:off x="0" y="11430"/>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Arial" panose="020B0604020202020204" pitchFamily="34" charset="0"/>
              <a:buChar char="•"/>
            </a:pPr>
            <a:r>
              <a:rPr lang="en-US" altLang="ja-JP" sz="2400" b="1" i="0" dirty="0">
                <a:solidFill>
                  <a:srgbClr val="000000"/>
                </a:solidFill>
                <a:effectLst/>
                <a:latin typeface="Meiryo" panose="020B0604030504040204" pitchFamily="34" charset="-128"/>
                <a:ea typeface="Meiryo" panose="020B0604030504040204" pitchFamily="34" charset="-128"/>
              </a:rPr>
              <a:t>ARP Spoofing → MITM → Metadata</a:t>
            </a:r>
            <a:r>
              <a:rPr lang="ja-JP" altLang="en-US" sz="2400" b="1" i="0">
                <a:solidFill>
                  <a:srgbClr val="000000"/>
                </a:solidFill>
                <a:effectLst/>
                <a:latin typeface="Meiryo" panose="020B0604030504040204" pitchFamily="34" charset="-128"/>
                <a:ea typeface="Meiryo" panose="020B0604030504040204" pitchFamily="34" charset="-128"/>
              </a:rPr>
              <a:t>収集の流れ</a:t>
            </a:r>
            <a:endParaRPr lang="en-JP" sz="2400" b="1"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3304ABE2-48F5-D670-1A2D-9E30A9FA284A}"/>
              </a:ext>
            </a:extLst>
          </p:cNvPr>
          <p:cNvSpPr txBox="1"/>
          <p:nvPr/>
        </p:nvSpPr>
        <p:spPr>
          <a:xfrm>
            <a:off x="57150" y="1771287"/>
            <a:ext cx="9086850" cy="3416320"/>
          </a:xfrm>
          <a:prstGeom prst="rect">
            <a:avLst/>
          </a:prstGeom>
          <a:noFill/>
        </p:spPr>
        <p:txBody>
          <a:bodyPr wrap="square" rtlCol="0">
            <a:spAutoFit/>
          </a:bodyPr>
          <a:lstStyle/>
          <a:p>
            <a:r>
              <a:rPr lang="ja-JP" altLang="en-US" sz="2400">
                <a:latin typeface="Meiryo" panose="020B0604030504040204" pitchFamily="34" charset="-128"/>
                <a:ea typeface="Meiryo" panose="020B0604030504040204" pitchFamily="34" charset="-128"/>
              </a:rPr>
              <a:t>① 攻撃者が同一ネットワークに接続</a:t>
            </a:r>
          </a:p>
          <a:p>
            <a:r>
              <a:rPr lang="ja-JP" altLang="en-US" sz="2400">
                <a:latin typeface="Meiryo" panose="020B0604030504040204" pitchFamily="34" charset="-128"/>
                <a:ea typeface="Meiryo" panose="020B0604030504040204" pitchFamily="34" charset="-128"/>
              </a:rPr>
              <a:t>② </a:t>
            </a:r>
            <a:r>
              <a:rPr lang="en-US" sz="2400" dirty="0">
                <a:latin typeface="Meiryo" panose="020B0604030504040204" pitchFamily="34" charset="-128"/>
                <a:ea typeface="Meiryo" panose="020B0604030504040204" pitchFamily="34" charset="-128"/>
              </a:rPr>
              <a:t>ARP Spoofing</a:t>
            </a:r>
            <a:r>
              <a:rPr lang="ja-JP" altLang="en-US" sz="2400">
                <a:latin typeface="Meiryo" panose="020B0604030504040204" pitchFamily="34" charset="-128"/>
                <a:ea typeface="Meiryo" panose="020B0604030504040204" pitchFamily="34" charset="-128"/>
              </a:rPr>
              <a:t>により</a:t>
            </a:r>
            <a:r>
              <a:rPr lang="en-US" sz="2400" dirty="0">
                <a:latin typeface="Meiryo" panose="020B0604030504040204" pitchFamily="34" charset="-128"/>
                <a:ea typeface="Meiryo" panose="020B0604030504040204" pitchFamily="34" charset="-128"/>
              </a:rPr>
              <a:t>IoT</a:t>
            </a:r>
            <a:r>
              <a:rPr lang="ja-JP" altLang="en-US" sz="2400">
                <a:latin typeface="Meiryo" panose="020B0604030504040204" pitchFamily="34" charset="-128"/>
                <a:ea typeface="Meiryo" panose="020B0604030504040204" pitchFamily="34" charset="-128"/>
              </a:rPr>
              <a:t>デバイスと</a:t>
            </a:r>
            <a:r>
              <a:rPr lang="en-US" sz="2400" dirty="0">
                <a:latin typeface="Meiryo" panose="020B0604030504040204" pitchFamily="34" charset="-128"/>
                <a:ea typeface="Meiryo" panose="020B0604030504040204" pitchFamily="34" charset="-128"/>
              </a:rPr>
              <a:t>Router</a:t>
            </a:r>
            <a:r>
              <a:rPr lang="ja-JP" altLang="en-US" sz="2400">
                <a:latin typeface="Meiryo" panose="020B0604030504040204" pitchFamily="34" charset="-128"/>
                <a:ea typeface="Meiryo" panose="020B0604030504040204" pitchFamily="34" charset="-128"/>
              </a:rPr>
              <a:t>の</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キャッシュを汚染</a:t>
            </a:r>
          </a:p>
          <a:p>
            <a:r>
              <a:rPr lang="ja-JP" altLang="en-US" sz="2400">
                <a:latin typeface="Meiryo" panose="020B0604030504040204" pitchFamily="34" charset="-128"/>
                <a:ea typeface="Meiryo" panose="020B0604030504040204" pitchFamily="34" charset="-128"/>
              </a:rPr>
              <a:t>③ </a:t>
            </a:r>
            <a:r>
              <a:rPr lang="en-US" sz="2400" dirty="0">
                <a:latin typeface="Meiryo" panose="020B0604030504040204" pitchFamily="34" charset="-128"/>
                <a:ea typeface="Meiryo" panose="020B0604030504040204" pitchFamily="34" charset="-128"/>
              </a:rPr>
              <a:t>IoT</a:t>
            </a:r>
            <a:r>
              <a:rPr lang="ja-JP" altLang="en-US" sz="2400">
                <a:latin typeface="Meiryo" panose="020B0604030504040204" pitchFamily="34" charset="-128"/>
                <a:ea typeface="Meiryo" panose="020B0604030504040204" pitchFamily="34" charset="-128"/>
              </a:rPr>
              <a:t>デバイスの通信が攻撃者を経由する</a:t>
            </a:r>
            <a:r>
              <a:rPr lang="en-US" sz="2400" dirty="0">
                <a:latin typeface="Meiryo" panose="020B0604030504040204" pitchFamily="34" charset="-128"/>
                <a:ea typeface="Meiryo" panose="020B0604030504040204" pitchFamily="34" charset="-128"/>
              </a:rPr>
              <a:t>MITM</a:t>
            </a:r>
            <a:r>
              <a:rPr lang="ja-JP" altLang="en-US" sz="2400">
                <a:latin typeface="Meiryo" panose="020B0604030504040204" pitchFamily="34" charset="-128"/>
                <a:ea typeface="Meiryo" panose="020B0604030504040204" pitchFamily="34" charset="-128"/>
              </a:rPr>
              <a:t>位置が確立される</a:t>
            </a:r>
          </a:p>
          <a:p>
            <a:r>
              <a:rPr lang="ja-JP" altLang="en-US" sz="2400">
                <a:latin typeface="Meiryo" panose="020B0604030504040204" pitchFamily="34" charset="-128"/>
                <a:ea typeface="Meiryo" panose="020B0604030504040204" pitchFamily="34" charset="-128"/>
              </a:rPr>
              <a:t>④ </a:t>
            </a:r>
            <a:r>
              <a:rPr lang="en-US" sz="2400" dirty="0">
                <a:latin typeface="Meiryo" panose="020B0604030504040204" pitchFamily="34" charset="-128"/>
                <a:ea typeface="Meiryo" panose="020B0604030504040204" pitchFamily="34" charset="-128"/>
              </a:rPr>
              <a:t>CoAP/DTLS</a:t>
            </a:r>
            <a:r>
              <a:rPr lang="ja-JP" altLang="en-US" sz="2400">
                <a:latin typeface="Meiryo" panose="020B0604030504040204" pitchFamily="34" charset="-128"/>
                <a:ea typeface="Meiryo" panose="020B0604030504040204" pitchFamily="34" charset="-128"/>
              </a:rPr>
              <a:t>通信はペイロードが暗号化されたまま攻撃者を通過</a:t>
            </a:r>
          </a:p>
          <a:p>
            <a:r>
              <a:rPr lang="ja-JP" altLang="en-US" sz="2400">
                <a:latin typeface="Meiryo" panose="020B0604030504040204" pitchFamily="34" charset="-128"/>
                <a:ea typeface="Meiryo" panose="020B0604030504040204" pitchFamily="34" charset="-128"/>
              </a:rPr>
              <a:t>⑤ 攻撃者はペイロードを解読できないが，送信時刻・パケットサイズ・通信頻度などの</a:t>
            </a:r>
            <a:r>
              <a:rPr lang="en-US" sz="2400" dirty="0">
                <a:latin typeface="Meiryo" panose="020B0604030504040204" pitchFamily="34" charset="-128"/>
                <a:ea typeface="Meiryo" panose="020B0604030504040204" pitchFamily="34" charset="-128"/>
              </a:rPr>
              <a:t>Metadata</a:t>
            </a:r>
            <a:r>
              <a:rPr lang="ja-JP" altLang="en-US" sz="2400">
                <a:latin typeface="Meiryo" panose="020B0604030504040204" pitchFamily="34" charset="-128"/>
                <a:ea typeface="Meiryo" panose="020B0604030504040204" pitchFamily="34" charset="-128"/>
              </a:rPr>
              <a:t>を観察できる</a:t>
            </a:r>
            <a:endParaRPr lang="en-JP" sz="2400" dirty="0">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581B2049-B363-E69A-2808-817B72B83114}"/>
              </a:ext>
            </a:extLst>
          </p:cNvPr>
          <p:cNvSpPr txBox="1"/>
          <p:nvPr/>
        </p:nvSpPr>
        <p:spPr>
          <a:xfrm>
            <a:off x="57151" y="741511"/>
            <a:ext cx="8458200" cy="830997"/>
          </a:xfrm>
          <a:prstGeom prst="rect">
            <a:avLst/>
          </a:prstGeom>
          <a:noFill/>
        </p:spPr>
        <p:txBody>
          <a:bodyPr wrap="square" rtlCol="0">
            <a:spAutoFit/>
          </a:bodyPr>
          <a:lstStyle/>
          <a:p>
            <a:pPr marL="285750" indent="-285750">
              <a:buFont typeface="Wingdings" pitchFamily="2" charset="2"/>
              <a:buChar char="§"/>
            </a:pPr>
            <a:r>
              <a:rPr lang="ja-JP" altLang="en-US" sz="2400">
                <a:latin typeface="Meiryo" panose="020B0604030504040204" pitchFamily="34" charset="-128"/>
                <a:ea typeface="Meiryo" panose="020B0604030504040204" pitchFamily="34" charset="-128"/>
              </a:rPr>
              <a:t>研究者らは，暗号化されていても</a:t>
            </a:r>
            <a:r>
              <a:rPr lang="en-US" sz="2400" dirty="0">
                <a:latin typeface="Meiryo" panose="020B0604030504040204" pitchFamily="34" charset="-128"/>
                <a:ea typeface="Meiryo" panose="020B0604030504040204" pitchFamily="34" charset="-128"/>
              </a:rPr>
              <a:t>Metadata</a:t>
            </a:r>
            <a:r>
              <a:rPr lang="ja-JP" altLang="en-US" sz="2400">
                <a:latin typeface="Meiryo" panose="020B0604030504040204" pitchFamily="34" charset="-128"/>
                <a:ea typeface="Meiryo" panose="020B0604030504040204" pitchFamily="34" charset="-128"/>
              </a:rPr>
              <a:t>から利用者の行動推測が可能であることを示した．</a:t>
            </a:r>
            <a:endParaRPr lang="mn-MN" altLang="ja-JP" sz="2400" dirty="0">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6EAB6574-BE7C-06EF-28F6-1256A4F3B3FB}"/>
              </a:ext>
            </a:extLst>
          </p:cNvPr>
          <p:cNvSpPr txBox="1"/>
          <p:nvPr/>
        </p:nvSpPr>
        <p:spPr>
          <a:xfrm>
            <a:off x="114300" y="6269489"/>
            <a:ext cx="6709410" cy="577081"/>
          </a:xfrm>
          <a:prstGeom prst="rect">
            <a:avLst/>
          </a:prstGeom>
          <a:noFill/>
        </p:spPr>
        <p:txBody>
          <a:bodyPr wrap="square" rtlCol="0">
            <a:spAutoFit/>
          </a:bodyPr>
          <a:lstStyle/>
          <a:p>
            <a:r>
              <a:rPr lang="en-US" altLang="ja-JP" sz="1050" b="1" dirty="0"/>
              <a:t>[13] </a:t>
            </a:r>
            <a:r>
              <a:rPr lang="ja-JP" altLang="en-US" sz="1050" b="1"/>
              <a:t>出典</a:t>
            </a:r>
            <a:r>
              <a:rPr lang="en-US" altLang="ja-JP" sz="1050" b="1" dirty="0"/>
              <a:t>:</a:t>
            </a:r>
            <a:r>
              <a:rPr lang="ja-JP" altLang="en-US" sz="1050"/>
              <a:t> </a:t>
            </a:r>
            <a:r>
              <a:rPr lang="en-US" sz="1050" dirty="0"/>
              <a:t>N. </a:t>
            </a:r>
            <a:r>
              <a:rPr lang="en-US" sz="1050" dirty="0" err="1"/>
              <a:t>Apthorpe</a:t>
            </a:r>
            <a:r>
              <a:rPr lang="en-US" sz="1050" dirty="0"/>
              <a:t>, D. Reisman, S. </a:t>
            </a:r>
            <a:r>
              <a:rPr lang="en-US" sz="1050" dirty="0" err="1"/>
              <a:t>Sundaresan</a:t>
            </a:r>
            <a:r>
              <a:rPr lang="en-US" sz="1050" dirty="0"/>
              <a:t>, A. Narayanan, and N. </a:t>
            </a:r>
            <a:r>
              <a:rPr lang="en-US" sz="1050" dirty="0" err="1"/>
              <a:t>Feamster</a:t>
            </a:r>
            <a:r>
              <a:rPr lang="en-US" sz="1050" dirty="0"/>
              <a:t>,"Spying on the Smart Home: Privacy Attacks and Defenses on Encrypted IoT Traffic,”</a:t>
            </a:r>
            <a:endParaRPr lang="mn-MN" sz="1050" dirty="0"/>
          </a:p>
          <a:p>
            <a:r>
              <a:rPr lang="en-US" sz="1050" dirty="0">
                <a:hlinkClick r:id="rId2"/>
              </a:rPr>
              <a:t>https://arxiv.org/abs/1708.05044</a:t>
            </a:r>
            <a:endParaRPr lang="en-JP" sz="1050" dirty="0"/>
          </a:p>
        </p:txBody>
      </p:sp>
      <p:sp>
        <p:nvSpPr>
          <p:cNvPr id="11" name="TextBox 10">
            <a:extLst>
              <a:ext uri="{FF2B5EF4-FFF2-40B4-BE49-F238E27FC236}">
                <a16:creationId xmlns:a16="http://schemas.microsoft.com/office/drawing/2014/main" id="{1FC90D57-F1A1-58B7-D2E5-D3A46EC675B0}"/>
              </a:ext>
            </a:extLst>
          </p:cNvPr>
          <p:cNvSpPr txBox="1"/>
          <p:nvPr/>
        </p:nvSpPr>
        <p:spPr>
          <a:xfrm>
            <a:off x="114300" y="5495990"/>
            <a:ext cx="8698663" cy="984885"/>
          </a:xfrm>
          <a:prstGeom prst="rect">
            <a:avLst/>
          </a:prstGeom>
          <a:noFill/>
        </p:spPr>
        <p:txBody>
          <a:bodyPr wrap="none" rtlCol="0">
            <a:spAutoFit/>
          </a:bodyPr>
          <a:lstStyle/>
          <a:p>
            <a:pPr marL="285750" indent="-285750">
              <a:buFont typeface="Wingdings" pitchFamily="2" charset="2"/>
              <a:buChar char="Ø"/>
            </a:pPr>
            <a:r>
              <a:rPr lang="ja-JP" altLang="en-US" sz="2000">
                <a:latin typeface="Meiryo" panose="020B0604030504040204" pitchFamily="34" charset="-128"/>
                <a:ea typeface="Meiryo" panose="020B0604030504040204" pitchFamily="34" charset="-128"/>
              </a:rPr>
              <a:t>攻撃者が</a:t>
            </a:r>
            <a:r>
              <a:rPr lang="en-US" sz="2000" dirty="0">
                <a:latin typeface="Meiryo" panose="020B0604030504040204" pitchFamily="34" charset="-128"/>
                <a:ea typeface="Meiryo" panose="020B0604030504040204" pitchFamily="34" charset="-128"/>
              </a:rPr>
              <a:t>Metadata</a:t>
            </a:r>
            <a:r>
              <a:rPr lang="ja-JP" altLang="en-US" sz="2000">
                <a:latin typeface="Meiryo" panose="020B0604030504040204" pitchFamily="34" charset="-128"/>
                <a:ea typeface="Meiryo" panose="020B0604030504040204" pitchFamily="34" charset="-128"/>
              </a:rPr>
              <a:t>を収集する手段の一つが</a:t>
            </a:r>
            <a:r>
              <a:rPr lang="en-US" sz="2000" dirty="0">
                <a:latin typeface="Meiryo" panose="020B0604030504040204" pitchFamily="34" charset="-128"/>
                <a:ea typeface="Meiryo" panose="020B0604030504040204" pitchFamily="34" charset="-128"/>
              </a:rPr>
              <a:t>ARP Spoofing</a:t>
            </a:r>
            <a:r>
              <a:rPr lang="ja-JP" altLang="en-US" sz="2000">
                <a:latin typeface="Meiryo" panose="020B0604030504040204" pitchFamily="34" charset="-128"/>
                <a:ea typeface="Meiryo" panose="020B0604030504040204" pitchFamily="34" charset="-128"/>
              </a:rPr>
              <a:t>による中間者</a:t>
            </a:r>
            <a:endParaRPr lang="mn-MN"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a:t>
            </a:r>
            <a:r>
              <a:rPr lang="en-US" sz="2000" dirty="0">
                <a:latin typeface="Meiryo" panose="020B0604030504040204" pitchFamily="34" charset="-128"/>
                <a:ea typeface="Meiryo" panose="020B0604030504040204" pitchFamily="34" charset="-128"/>
              </a:rPr>
              <a:t>MITM）</a:t>
            </a:r>
            <a:r>
              <a:rPr lang="ja-JP" altLang="en-US" sz="2000">
                <a:latin typeface="Meiryo" panose="020B0604030504040204" pitchFamily="34" charset="-128"/>
                <a:ea typeface="Meiryo" panose="020B0604030504040204" pitchFamily="34" charset="-128"/>
              </a:rPr>
              <a:t>攻撃である．</a:t>
            </a:r>
            <a:endParaRPr lang="en-JP" sz="2000" dirty="0">
              <a:latin typeface="Meiryo" panose="020B0604030504040204" pitchFamily="34" charset="-128"/>
              <a:ea typeface="Meiryo" panose="020B0604030504040204" pitchFamily="34" charset="-128"/>
            </a:endParaRPr>
          </a:p>
          <a:p>
            <a:endParaRPr lang="en-JP" dirty="0"/>
          </a:p>
        </p:txBody>
      </p:sp>
      <p:sp>
        <p:nvSpPr>
          <p:cNvPr id="12" name="正方形/長方形 4">
            <a:extLst>
              <a:ext uri="{FF2B5EF4-FFF2-40B4-BE49-F238E27FC236}">
                <a16:creationId xmlns:a16="http://schemas.microsoft.com/office/drawing/2014/main" id="{56312E2F-29FD-1B48-8CBE-DD980C2E6B75}"/>
              </a:ext>
            </a:extLst>
          </p:cNvPr>
          <p:cNvSpPr/>
          <p:nvPr/>
        </p:nvSpPr>
        <p:spPr>
          <a:xfrm>
            <a:off x="114300" y="1696554"/>
            <a:ext cx="8972550" cy="3491053"/>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14394860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B65950F-7B93-3358-81FD-1AC75DC8940F}"/>
              </a:ext>
            </a:extLst>
          </p:cNvPr>
          <p:cNvSpPr>
            <a:spLocks noGrp="1"/>
          </p:cNvSpPr>
          <p:nvPr>
            <p:ph type="sldNum" sz="quarter" idx="12"/>
          </p:nvPr>
        </p:nvSpPr>
        <p:spPr/>
        <p:txBody>
          <a:bodyPr/>
          <a:lstStyle/>
          <a:p>
            <a:fld id="{828F3BD4-1AF2-D144-8129-4D42AD448F5E}" type="slidenum">
              <a:rPr lang="en-JP" smtClean="0"/>
              <a:pPr/>
              <a:t>23</a:t>
            </a:fld>
            <a:endParaRPr lang="en-JP" dirty="0"/>
          </a:p>
        </p:txBody>
      </p:sp>
      <p:sp>
        <p:nvSpPr>
          <p:cNvPr id="6" name="Shape 0">
            <a:extLst>
              <a:ext uri="{FF2B5EF4-FFF2-40B4-BE49-F238E27FC236}">
                <a16:creationId xmlns:a16="http://schemas.microsoft.com/office/drawing/2014/main" id="{546C59D4-72D1-9F89-44DA-0569A9EAA7EB}"/>
              </a:ext>
            </a:extLst>
          </p:cNvPr>
          <p:cNvSpPr/>
          <p:nvPr/>
        </p:nvSpPr>
        <p:spPr>
          <a:xfrm>
            <a:off x="-1" y="-14"/>
            <a:ext cx="9144000" cy="716475"/>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Arial" panose="020B0604020202020204" pitchFamily="34" charset="0"/>
              <a:buChar char="•"/>
            </a:pPr>
            <a:r>
              <a:rPr lang="ja-JP" altLang="en-US" sz="2400" b="0" i="0">
                <a:solidFill>
                  <a:srgbClr val="000000"/>
                </a:solidFill>
                <a:effectLst/>
                <a:latin typeface="Meiryo" panose="020B0604030504040204" pitchFamily="34" charset="-128"/>
                <a:ea typeface="Meiryo" panose="020B0604030504040204" pitchFamily="34" charset="-128"/>
              </a:rPr>
              <a:t>攻撃者は</a:t>
            </a:r>
            <a:r>
              <a:rPr lang="en-US" sz="2400" b="0" i="0" dirty="0">
                <a:solidFill>
                  <a:srgbClr val="000000"/>
                </a:solidFill>
                <a:effectLst/>
                <a:latin typeface="Meiryo" panose="020B0604030504040204" pitchFamily="34" charset="-128"/>
                <a:ea typeface="Meiryo" panose="020B0604030504040204" pitchFamily="34" charset="-128"/>
              </a:rPr>
              <a:t>Payload</a:t>
            </a:r>
            <a:r>
              <a:rPr lang="ja-JP" altLang="en-US" sz="2400" b="0" i="0">
                <a:solidFill>
                  <a:srgbClr val="000000"/>
                </a:solidFill>
                <a:effectLst/>
                <a:latin typeface="Meiryo" panose="020B0604030504040204" pitchFamily="34" charset="-128"/>
                <a:ea typeface="Meiryo" panose="020B0604030504040204" pitchFamily="34" charset="-128"/>
              </a:rPr>
              <a:t>を解読しない </a:t>
            </a:r>
            <a:r>
              <a:rPr lang="en-US" altLang="ja-JP" sz="2400" b="0" i="0" dirty="0">
                <a:solidFill>
                  <a:srgbClr val="000000"/>
                </a:solidFill>
                <a:effectLst/>
                <a:latin typeface="Meiryo" panose="020B0604030504040204" pitchFamily="34" charset="-128"/>
                <a:ea typeface="Meiryo" panose="020B0604030504040204" pitchFamily="34" charset="-128"/>
              </a:rPr>
              <a:t>— </a:t>
            </a:r>
            <a:r>
              <a:rPr lang="en-US" sz="2400" b="0" i="0" dirty="0">
                <a:solidFill>
                  <a:srgbClr val="000000"/>
                </a:solidFill>
                <a:effectLst/>
                <a:latin typeface="Meiryo" panose="020B0604030504040204" pitchFamily="34" charset="-128"/>
                <a:ea typeface="Meiryo" panose="020B0604030504040204" pitchFamily="34" charset="-128"/>
              </a:rPr>
              <a:t>Metadata</a:t>
            </a:r>
            <a:r>
              <a:rPr lang="ja-JP" altLang="en-US" sz="2400" b="0" i="0">
                <a:solidFill>
                  <a:srgbClr val="000000"/>
                </a:solidFill>
                <a:effectLst/>
                <a:latin typeface="Meiryo" panose="020B0604030504040204" pitchFamily="34" charset="-128"/>
                <a:ea typeface="Meiryo" panose="020B0604030504040204" pitchFamily="34" charset="-128"/>
              </a:rPr>
              <a:t>を観察する</a:t>
            </a:r>
            <a:endParaRPr lang="mn-MN" altLang="ja-JP" sz="2400" b="0" i="0" dirty="0">
              <a:solidFill>
                <a:srgbClr val="000000"/>
              </a:solidFill>
              <a:effectLst/>
              <a:latin typeface="Meiryo" panose="020B0604030504040204" pitchFamily="34" charset="-128"/>
              <a:ea typeface="Meiryo" panose="020B0604030504040204" pitchFamily="34" charset="-128"/>
            </a:endParaRPr>
          </a:p>
          <a:p>
            <a:r>
              <a:rPr lang="mn-MN" altLang="ja-JP" sz="2400" dirty="0">
                <a:solidFill>
                  <a:srgbClr val="000000"/>
                </a:solidFill>
                <a:latin typeface="Meiryo" panose="020B0604030504040204" pitchFamily="34" charset="-128"/>
                <a:ea typeface="Meiryo" panose="020B0604030504040204" pitchFamily="34" charset="-128"/>
              </a:rPr>
              <a:t>     </a:t>
            </a:r>
            <a:r>
              <a:rPr lang="ja-JP" altLang="en-US" sz="2400">
                <a:latin typeface="Meiryo" panose="020B0604030504040204" pitchFamily="34" charset="-128"/>
                <a:ea typeface="Meiryo" panose="020B0604030504040204" pitchFamily="34" charset="-128"/>
              </a:rPr>
              <a:t>スマートホームの</a:t>
            </a:r>
            <a:r>
              <a:rPr lang="en-US" sz="2400" dirty="0">
                <a:latin typeface="Meiryo" panose="020B0604030504040204" pitchFamily="34" charset="-128"/>
                <a:ea typeface="Meiryo" panose="020B0604030504040204" pitchFamily="34" charset="-128"/>
              </a:rPr>
              <a:t>IoT</a:t>
            </a:r>
            <a:r>
              <a:rPr lang="ja-JP" altLang="en-US" sz="2400">
                <a:latin typeface="Meiryo" panose="020B0604030504040204" pitchFamily="34" charset="-128"/>
                <a:ea typeface="Meiryo" panose="020B0604030504040204" pitchFamily="34" charset="-128"/>
              </a:rPr>
              <a:t>機器</a:t>
            </a:r>
            <a:endParaRPr lang="en-JP" sz="2400" b="1" dirty="0">
              <a:latin typeface="Meiryo" panose="020B0604030504040204" pitchFamily="34" charset="-128"/>
              <a:ea typeface="Meiryo" panose="020B0604030504040204" pitchFamily="34" charset="-128"/>
            </a:endParaRPr>
          </a:p>
        </p:txBody>
      </p:sp>
      <p:sp>
        <p:nvSpPr>
          <p:cNvPr id="7" name="Rectangle: Rounded Corners 6">
            <a:extLst>
              <a:ext uri="{FF2B5EF4-FFF2-40B4-BE49-F238E27FC236}">
                <a16:creationId xmlns:a16="http://schemas.microsoft.com/office/drawing/2014/main" id="{73C88A8B-4E6E-C01D-2C8E-7B0E4513D5D8}"/>
              </a:ext>
            </a:extLst>
          </p:cNvPr>
          <p:cNvSpPr/>
          <p:nvPr/>
        </p:nvSpPr>
        <p:spPr>
          <a:xfrm>
            <a:off x="83820" y="996006"/>
            <a:ext cx="2787087" cy="1345372"/>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
            </a:pPr>
            <a:r>
              <a:rPr lang="en-US" b="1" i="0" dirty="0">
                <a:solidFill>
                  <a:srgbClr val="000000"/>
                </a:solidFill>
                <a:effectLst/>
                <a:latin typeface="Meiryo" panose="020B0604030504040204" pitchFamily="34" charset="-128"/>
                <a:ea typeface="Meiryo" panose="020B0604030504040204" pitchFamily="34" charset="-128"/>
              </a:rPr>
              <a:t>IP Camera</a:t>
            </a:r>
          </a:p>
          <a:p>
            <a:pPr algn="ctr"/>
            <a:r>
              <a:rPr lang="en-US" i="0" dirty="0">
                <a:solidFill>
                  <a:srgbClr val="000000"/>
                </a:solidFill>
                <a:effectLst/>
                <a:latin typeface="Meiryo" panose="020B0604030504040204" pitchFamily="34" charset="-128"/>
                <a:ea typeface="Meiryo" panose="020B0604030504040204" pitchFamily="34" charset="-128"/>
              </a:rPr>
              <a:t>07:30 </a:t>
            </a:r>
            <a:r>
              <a:rPr lang="ja-JP" altLang="en-US" i="0">
                <a:solidFill>
                  <a:srgbClr val="000000"/>
                </a:solidFill>
                <a:effectLst/>
                <a:latin typeface="Meiryo" panose="020B0604030504040204" pitchFamily="34" charset="-128"/>
                <a:ea typeface="Meiryo" panose="020B0604030504040204" pitchFamily="34" charset="-128"/>
              </a:rPr>
              <a:t>大容量パケット</a:t>
            </a:r>
          </a:p>
          <a:p>
            <a:pPr algn="ctr"/>
            <a:r>
              <a:rPr lang="en-US" altLang="ja-JP" i="0" dirty="0">
                <a:solidFill>
                  <a:srgbClr val="000000"/>
                </a:solidFill>
                <a:effectLst/>
                <a:latin typeface="Meiryo" panose="020B0604030504040204" pitchFamily="34" charset="-128"/>
                <a:ea typeface="Meiryo" panose="020B0604030504040204" pitchFamily="34" charset="-128"/>
              </a:rPr>
              <a:t>08:00 </a:t>
            </a:r>
            <a:r>
              <a:rPr lang="ja-JP" altLang="en-US" i="0">
                <a:solidFill>
                  <a:srgbClr val="000000"/>
                </a:solidFill>
                <a:effectLst/>
                <a:latin typeface="Meiryo" panose="020B0604030504040204" pitchFamily="34" charset="-128"/>
                <a:ea typeface="Meiryo" panose="020B0604030504040204" pitchFamily="34" charset="-128"/>
              </a:rPr>
              <a:t>通信停止</a:t>
            </a:r>
          </a:p>
          <a:p>
            <a:pPr algn="ctr"/>
            <a:r>
              <a:rPr lang="ja-JP" altLang="en-US" i="0">
                <a:solidFill>
                  <a:srgbClr val="000000"/>
                </a:solidFill>
                <a:effectLst/>
                <a:latin typeface="Meiryo" panose="020B0604030504040204" pitchFamily="34" charset="-128"/>
                <a:ea typeface="Meiryo" panose="020B0604030504040204" pitchFamily="34" charset="-128"/>
              </a:rPr>
              <a:t>→ 起床・外出時刻</a:t>
            </a:r>
          </a:p>
          <a:p>
            <a:pPr algn="ctr"/>
            <a:r>
              <a:rPr lang="ja-JP" altLang="en-US" i="0">
                <a:solidFill>
                  <a:srgbClr val="000000"/>
                </a:solidFill>
                <a:effectLst/>
                <a:latin typeface="Meiryo" panose="020B0604030504040204" pitchFamily="34" charset="-128"/>
                <a:ea typeface="Meiryo" panose="020B0604030504040204" pitchFamily="34" charset="-128"/>
              </a:rPr>
              <a:t>が特定できる</a:t>
            </a:r>
            <a:endParaRPr lang="en-US" i="0" dirty="0">
              <a:solidFill>
                <a:srgbClr val="000000"/>
              </a:solidFill>
              <a:effectLst/>
              <a:latin typeface="Meiryo" panose="020B0604030504040204" pitchFamily="34" charset="-128"/>
              <a:ea typeface="Meiryo" panose="020B0604030504040204" pitchFamily="34" charset="-128"/>
            </a:endParaRPr>
          </a:p>
        </p:txBody>
      </p:sp>
      <p:sp>
        <p:nvSpPr>
          <p:cNvPr id="8" name="Rectangle: Rounded Corners 6">
            <a:extLst>
              <a:ext uri="{FF2B5EF4-FFF2-40B4-BE49-F238E27FC236}">
                <a16:creationId xmlns:a16="http://schemas.microsoft.com/office/drawing/2014/main" id="{0924A5D8-63C9-742E-6DF8-3A809F600910}"/>
              </a:ext>
            </a:extLst>
          </p:cNvPr>
          <p:cNvSpPr/>
          <p:nvPr/>
        </p:nvSpPr>
        <p:spPr>
          <a:xfrm>
            <a:off x="3178456" y="1007348"/>
            <a:ext cx="2787087" cy="1345372"/>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
            </a:pPr>
            <a:r>
              <a:rPr lang="en-US" b="1" i="0" dirty="0">
                <a:solidFill>
                  <a:srgbClr val="000000"/>
                </a:solidFill>
                <a:effectLst/>
                <a:latin typeface="Meiryo" panose="020B0604030504040204" pitchFamily="34" charset="-128"/>
                <a:ea typeface="Meiryo" panose="020B0604030504040204" pitchFamily="34" charset="-128"/>
              </a:rPr>
              <a:t>Thermostat</a:t>
            </a:r>
          </a:p>
          <a:p>
            <a:pPr algn="ctr"/>
            <a:r>
              <a:rPr lang="en-US" i="0" dirty="0">
                <a:solidFill>
                  <a:srgbClr val="000000"/>
                </a:solidFill>
                <a:effectLst/>
                <a:latin typeface="Meiryo" panose="020B0604030504040204" pitchFamily="34" charset="-128"/>
                <a:ea typeface="Meiryo" panose="020B0604030504040204" pitchFamily="34" charset="-128"/>
              </a:rPr>
              <a:t>17:30 </a:t>
            </a:r>
            <a:r>
              <a:rPr lang="ja-JP" altLang="en-US" i="0">
                <a:solidFill>
                  <a:srgbClr val="000000"/>
                </a:solidFill>
                <a:effectLst/>
                <a:latin typeface="Meiryo" panose="020B0604030504040204" pitchFamily="34" charset="-128"/>
                <a:ea typeface="Meiryo" panose="020B0604030504040204" pitchFamily="34" charset="-128"/>
              </a:rPr>
              <a:t>コマンド送信</a:t>
            </a:r>
          </a:p>
          <a:p>
            <a:pPr algn="ctr"/>
            <a:r>
              <a:rPr lang="ja-JP" altLang="en-US" i="0">
                <a:solidFill>
                  <a:srgbClr val="000000"/>
                </a:solidFill>
                <a:effectLst/>
                <a:latin typeface="Meiryo" panose="020B0604030504040204" pitchFamily="34" charset="-128"/>
                <a:ea typeface="Meiryo" panose="020B0604030504040204" pitchFamily="34" charset="-128"/>
              </a:rPr>
              <a:t>小容量・低頻度</a:t>
            </a:r>
          </a:p>
          <a:p>
            <a:pPr algn="ctr"/>
            <a:r>
              <a:rPr lang="ja-JP" altLang="en-US" i="0">
                <a:solidFill>
                  <a:srgbClr val="000000"/>
                </a:solidFill>
                <a:effectLst/>
                <a:latin typeface="Meiryo" panose="020B0604030504040204" pitchFamily="34" charset="-128"/>
                <a:ea typeface="Meiryo" panose="020B0604030504040204" pitchFamily="34" charset="-128"/>
              </a:rPr>
              <a:t>→ 帰宅時間・</a:t>
            </a:r>
          </a:p>
          <a:p>
            <a:pPr algn="ctr"/>
            <a:r>
              <a:rPr lang="ja-JP" altLang="en-US" i="0">
                <a:solidFill>
                  <a:srgbClr val="000000"/>
                </a:solidFill>
                <a:effectLst/>
                <a:latin typeface="Meiryo" panose="020B0604030504040204" pitchFamily="34" charset="-128"/>
                <a:ea typeface="Meiryo" panose="020B0604030504040204" pitchFamily="34" charset="-128"/>
              </a:rPr>
              <a:t>生活リズムが判明</a:t>
            </a:r>
            <a:endParaRPr lang="en-US" i="0" dirty="0">
              <a:solidFill>
                <a:srgbClr val="000000"/>
              </a:solidFill>
              <a:effectLst/>
              <a:latin typeface="Meiryo" panose="020B0604030504040204" pitchFamily="34" charset="-128"/>
              <a:ea typeface="Meiryo" panose="020B0604030504040204" pitchFamily="34" charset="-128"/>
            </a:endParaRPr>
          </a:p>
        </p:txBody>
      </p:sp>
      <p:sp>
        <p:nvSpPr>
          <p:cNvPr id="9" name="Rectangle: Rounded Corners 6">
            <a:extLst>
              <a:ext uri="{FF2B5EF4-FFF2-40B4-BE49-F238E27FC236}">
                <a16:creationId xmlns:a16="http://schemas.microsoft.com/office/drawing/2014/main" id="{57E450A3-1313-30DA-6B1A-1B4471FA96B7}"/>
              </a:ext>
            </a:extLst>
          </p:cNvPr>
          <p:cNvSpPr/>
          <p:nvPr/>
        </p:nvSpPr>
        <p:spPr>
          <a:xfrm>
            <a:off x="6250232" y="1007348"/>
            <a:ext cx="2787087" cy="1345372"/>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
            </a:pPr>
            <a:r>
              <a:rPr lang="en-US" b="1" i="0" dirty="0">
                <a:solidFill>
                  <a:srgbClr val="000000"/>
                </a:solidFill>
                <a:effectLst/>
                <a:latin typeface="Meiryo" panose="020B0604030504040204" pitchFamily="34" charset="-128"/>
                <a:ea typeface="Meiryo" panose="020B0604030504040204" pitchFamily="34" charset="-128"/>
              </a:rPr>
              <a:t>Smart Bulb</a:t>
            </a:r>
          </a:p>
          <a:p>
            <a:pPr algn="ctr"/>
            <a:r>
              <a:rPr lang="en-US" i="0" dirty="0">
                <a:solidFill>
                  <a:srgbClr val="000000"/>
                </a:solidFill>
                <a:effectLst/>
                <a:latin typeface="Meiryo" panose="020B0604030504040204" pitchFamily="34" charset="-128"/>
                <a:ea typeface="Meiryo" panose="020B0604030504040204" pitchFamily="34" charset="-128"/>
              </a:rPr>
              <a:t>23:00 ON→OFF</a:t>
            </a:r>
          </a:p>
          <a:p>
            <a:pPr algn="ctr"/>
            <a:r>
              <a:rPr lang="ja-JP" altLang="en-US" i="0">
                <a:solidFill>
                  <a:srgbClr val="000000"/>
                </a:solidFill>
                <a:effectLst/>
                <a:latin typeface="Meiryo" panose="020B0604030504040204" pitchFamily="34" charset="-128"/>
                <a:ea typeface="Meiryo" panose="020B0604030504040204" pitchFamily="34" charset="-128"/>
              </a:rPr>
              <a:t>部屋ごとの送信元</a:t>
            </a:r>
            <a:r>
              <a:rPr lang="en-US" i="0" dirty="0">
                <a:solidFill>
                  <a:srgbClr val="000000"/>
                </a:solidFill>
                <a:effectLst/>
                <a:latin typeface="Meiryo" panose="020B0604030504040204" pitchFamily="34" charset="-128"/>
                <a:ea typeface="Meiryo" panose="020B0604030504040204" pitchFamily="34" charset="-128"/>
              </a:rPr>
              <a:t>IP</a:t>
            </a:r>
          </a:p>
          <a:p>
            <a:pPr algn="ctr"/>
            <a:r>
              <a:rPr lang="en-US" i="0" dirty="0">
                <a:solidFill>
                  <a:srgbClr val="000000"/>
                </a:solidFill>
                <a:effectLst/>
                <a:latin typeface="Meiryo" panose="020B0604030504040204" pitchFamily="34" charset="-128"/>
                <a:ea typeface="Meiryo" panose="020B0604030504040204" pitchFamily="34" charset="-128"/>
              </a:rPr>
              <a:t>→ </a:t>
            </a:r>
            <a:r>
              <a:rPr lang="ja-JP" altLang="en-US" i="0">
                <a:solidFill>
                  <a:srgbClr val="000000"/>
                </a:solidFill>
                <a:effectLst/>
                <a:latin typeface="Meiryo" panose="020B0604030504040204" pitchFamily="34" charset="-128"/>
                <a:ea typeface="Meiryo" panose="020B0604030504040204" pitchFamily="34" charset="-128"/>
              </a:rPr>
              <a:t>就寝時間・</a:t>
            </a:r>
          </a:p>
          <a:p>
            <a:pPr algn="ctr"/>
            <a:r>
              <a:rPr lang="ja-JP" altLang="en-US" i="0">
                <a:solidFill>
                  <a:srgbClr val="000000"/>
                </a:solidFill>
                <a:effectLst/>
                <a:latin typeface="Meiryo" panose="020B0604030504040204" pitchFamily="34" charset="-128"/>
                <a:ea typeface="Meiryo" panose="020B0604030504040204" pitchFamily="34" charset="-128"/>
              </a:rPr>
              <a:t>在室状況が判明</a:t>
            </a:r>
            <a:endParaRPr lang="en-US" i="0" dirty="0">
              <a:solidFill>
                <a:srgbClr val="000000"/>
              </a:solidFill>
              <a:effectLst/>
              <a:latin typeface="Meiryo" panose="020B0604030504040204" pitchFamily="34" charset="-128"/>
              <a:ea typeface="Meiryo" panose="020B0604030504040204" pitchFamily="34" charset="-128"/>
            </a:endParaRPr>
          </a:p>
        </p:txBody>
      </p:sp>
      <p:sp>
        <p:nvSpPr>
          <p:cNvPr id="12" name="Rectangle: Rounded Corners 6">
            <a:extLst>
              <a:ext uri="{FF2B5EF4-FFF2-40B4-BE49-F238E27FC236}">
                <a16:creationId xmlns:a16="http://schemas.microsoft.com/office/drawing/2014/main" id="{19456389-4210-6460-C442-40273060366C}"/>
              </a:ext>
            </a:extLst>
          </p:cNvPr>
          <p:cNvSpPr/>
          <p:nvPr/>
        </p:nvSpPr>
        <p:spPr>
          <a:xfrm>
            <a:off x="97227" y="2643606"/>
            <a:ext cx="3135630" cy="1551203"/>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Wingdings" pitchFamily="2" charset="2"/>
              <a:buChar char="§"/>
            </a:pPr>
            <a:r>
              <a:rPr lang="en-JP" b="1" dirty="0">
                <a:solidFill>
                  <a:schemeClr val="tx1"/>
                </a:solidFill>
                <a:latin typeface="Meiryo" panose="020B0604030504040204" pitchFamily="34" charset="-128"/>
                <a:ea typeface="Meiryo" panose="020B0604030504040204" pitchFamily="34" charset="-128"/>
              </a:rPr>
              <a:t>Door Sensor</a:t>
            </a:r>
          </a:p>
          <a:p>
            <a:r>
              <a:rPr lang="en-JP" dirty="0">
                <a:solidFill>
                  <a:schemeClr val="tx1"/>
                </a:solidFill>
                <a:latin typeface="Meiryo" panose="020B0604030504040204" pitchFamily="34" charset="-128"/>
                <a:ea typeface="Meiryo" panose="020B0604030504040204" pitchFamily="34" charset="-128"/>
              </a:rPr>
              <a:t>08:00〜18:00 無通信</a:t>
            </a:r>
          </a:p>
          <a:p>
            <a:r>
              <a:rPr lang="en-JP" dirty="0">
                <a:solidFill>
                  <a:schemeClr val="tx1"/>
                </a:solidFill>
                <a:latin typeface="Meiryo" panose="020B0604030504040204" pitchFamily="34" charset="-128"/>
                <a:ea typeface="Meiryo" panose="020B0604030504040204" pitchFamily="34" charset="-128"/>
              </a:rPr>
              <a:t>開閉イベントなし</a:t>
            </a:r>
          </a:p>
          <a:p>
            <a:r>
              <a:rPr lang="en-JP" dirty="0">
                <a:solidFill>
                  <a:schemeClr val="tx1"/>
                </a:solidFill>
                <a:latin typeface="Meiryo" panose="020B0604030504040204" pitchFamily="34" charset="-128"/>
                <a:ea typeface="Meiryo" panose="020B0604030504040204" pitchFamily="34" charset="-128"/>
              </a:rPr>
              <a:t>→ 不在時間帯が</a:t>
            </a:r>
          </a:p>
          <a:p>
            <a:r>
              <a:rPr lang="en-JP" dirty="0">
                <a:solidFill>
                  <a:schemeClr val="tx1"/>
                </a:solidFill>
                <a:latin typeface="Meiryo" panose="020B0604030504040204" pitchFamily="34" charset="-128"/>
                <a:ea typeface="Meiryo" panose="020B0604030504040204" pitchFamily="34" charset="-128"/>
              </a:rPr>
              <a:t>丸わかり</a:t>
            </a:r>
          </a:p>
        </p:txBody>
      </p:sp>
      <p:sp>
        <p:nvSpPr>
          <p:cNvPr id="14" name="TextBox 13">
            <a:extLst>
              <a:ext uri="{FF2B5EF4-FFF2-40B4-BE49-F238E27FC236}">
                <a16:creationId xmlns:a16="http://schemas.microsoft.com/office/drawing/2014/main" id="{70E861BF-2150-D407-BDDF-A2274E27E335}"/>
              </a:ext>
            </a:extLst>
          </p:cNvPr>
          <p:cNvSpPr txBox="1"/>
          <p:nvPr/>
        </p:nvSpPr>
        <p:spPr>
          <a:xfrm>
            <a:off x="3254655" y="2643607"/>
            <a:ext cx="5991153" cy="1631216"/>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これらを組み合わせると → 詳細な生活パターン</a:t>
            </a:r>
          </a:p>
          <a:p>
            <a:r>
              <a:rPr lang="en-JP" sz="2000" dirty="0">
                <a:latin typeface="Meiryo" panose="020B0604030504040204" pitchFamily="34" charset="-128"/>
                <a:ea typeface="Meiryo" panose="020B0604030504040204" pitchFamily="34" charset="-128"/>
              </a:rPr>
              <a:t>  が完成</a:t>
            </a:r>
          </a:p>
          <a:p>
            <a:r>
              <a:rPr lang="en-JP" sz="2000" dirty="0">
                <a:latin typeface="Meiryo" panose="020B0604030504040204" pitchFamily="34" charset="-128"/>
                <a:ea typeface="Meiryo" panose="020B0604030504040204" pitchFamily="34" charset="-128"/>
              </a:rPr>
              <a:t>「平日8:00〜18:00は不在」「就寝は23時頃」</a:t>
            </a:r>
            <a:endParaRPr lang="mn-MN"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「帰宅は17:30頃」</a:t>
            </a:r>
            <a:endParaRPr lang="mn-MN" sz="2000" dirty="0">
              <a:latin typeface="Meiryo" panose="020B0604030504040204" pitchFamily="34" charset="-128"/>
              <a:ea typeface="Meiryo" panose="020B0604030504040204" pitchFamily="34" charset="-128"/>
            </a:endParaRPr>
          </a:p>
          <a:p>
            <a:r>
              <a:rPr lang="en-JP" sz="2000" dirty="0">
                <a:latin typeface="Meiryo" panose="020B0604030504040204" pitchFamily="34" charset="-128"/>
                <a:ea typeface="Meiryo" panose="020B0604030504040204" pitchFamily="34" charset="-128"/>
              </a:rPr>
              <a:t>← Payloadを一切読まずに判明 </a:t>
            </a:r>
            <a:r>
              <a:rPr lang="en-JP" sz="1400" dirty="0">
                <a:latin typeface="Meiryo" panose="020B0604030504040204" pitchFamily="34" charset="-128"/>
                <a:ea typeface="Meiryo" panose="020B0604030504040204" pitchFamily="34" charset="-128"/>
              </a:rPr>
              <a:t>[1]</a:t>
            </a:r>
          </a:p>
        </p:txBody>
      </p:sp>
      <p:sp>
        <p:nvSpPr>
          <p:cNvPr id="16" name="TextBox 15">
            <a:extLst>
              <a:ext uri="{FF2B5EF4-FFF2-40B4-BE49-F238E27FC236}">
                <a16:creationId xmlns:a16="http://schemas.microsoft.com/office/drawing/2014/main" id="{FBFBF77D-27B6-7445-BBD0-3A1FA3886CC5}"/>
              </a:ext>
            </a:extLst>
          </p:cNvPr>
          <p:cNvSpPr txBox="1"/>
          <p:nvPr/>
        </p:nvSpPr>
        <p:spPr>
          <a:xfrm>
            <a:off x="292526" y="4740758"/>
            <a:ext cx="5572124" cy="1477328"/>
          </a:xfrm>
          <a:prstGeom prst="rect">
            <a:avLst/>
          </a:prstGeom>
          <a:noFill/>
        </p:spPr>
        <p:txBody>
          <a:bodyPr wrap="square">
            <a:spAutoFit/>
          </a:bodyPr>
          <a:lstStyle/>
          <a:p>
            <a:pPr marL="285750" indent="-285750">
              <a:buFont typeface="Arial" panose="020B0604020202020204" pitchFamily="34" charset="0"/>
              <a:buChar char="•"/>
            </a:pPr>
            <a:r>
              <a:rPr lang="en-JP" sz="2400" dirty="0">
                <a:latin typeface="Meiryo" panose="020B0604030504040204" pitchFamily="34" charset="-128"/>
                <a:ea typeface="Meiryo" panose="020B0604030504040204" pitchFamily="34" charset="-128"/>
              </a:rPr>
              <a:t>プライバシー侵害</a:t>
            </a:r>
          </a:p>
          <a:p>
            <a:r>
              <a:rPr lang="en-JP" sz="2400" dirty="0">
                <a:latin typeface="Meiryo" panose="020B0604030504040204" pitchFamily="34" charset="-128"/>
                <a:ea typeface="Meiryo" panose="020B0604030504040204" pitchFamily="34" charset="-128"/>
              </a:rPr>
              <a:t>不在時間・生活習慣・在宅状況が</a:t>
            </a:r>
          </a:p>
          <a:p>
            <a:r>
              <a:rPr lang="en-JP" sz="2400" dirty="0">
                <a:latin typeface="Meiryo" panose="020B0604030504040204" pitchFamily="34" charset="-128"/>
                <a:ea typeface="Meiryo" panose="020B0604030504040204" pitchFamily="34" charset="-128"/>
              </a:rPr>
              <a:t>第三者に把握される</a:t>
            </a:r>
          </a:p>
          <a:p>
            <a:endParaRPr lang="en-JP" dirty="0">
              <a:latin typeface="Meiryo" panose="020B0604030504040204" pitchFamily="34" charset="-128"/>
              <a:ea typeface="Meiryo" panose="020B0604030504040204" pitchFamily="34" charset="-128"/>
            </a:endParaRPr>
          </a:p>
        </p:txBody>
      </p:sp>
      <p:sp>
        <p:nvSpPr>
          <p:cNvPr id="18" name="TextBox 17">
            <a:extLst>
              <a:ext uri="{FF2B5EF4-FFF2-40B4-BE49-F238E27FC236}">
                <a16:creationId xmlns:a16="http://schemas.microsoft.com/office/drawing/2014/main" id="{77AF54F7-8851-D097-6972-7649F7FE84A3}"/>
              </a:ext>
            </a:extLst>
          </p:cNvPr>
          <p:cNvSpPr txBox="1"/>
          <p:nvPr/>
        </p:nvSpPr>
        <p:spPr>
          <a:xfrm>
            <a:off x="5363490" y="4827923"/>
            <a:ext cx="3882318" cy="1015663"/>
          </a:xfrm>
          <a:prstGeom prst="rect">
            <a:avLst/>
          </a:prstGeom>
          <a:noFill/>
        </p:spPr>
        <p:txBody>
          <a:bodyPr wrap="square">
            <a:spAutoFit/>
          </a:bodyPr>
          <a:lstStyle/>
          <a:p>
            <a:pPr marL="285750" indent="-285750">
              <a:buFont typeface="Arial" panose="020B0604020202020204" pitchFamily="34" charset="0"/>
              <a:buChar char="•"/>
            </a:pPr>
            <a:r>
              <a:rPr lang="en-JP" sz="2000" dirty="0">
                <a:latin typeface="Meiryo" panose="020B0604030504040204" pitchFamily="34" charset="-128"/>
                <a:ea typeface="Meiryo" panose="020B0604030504040204" pitchFamily="34" charset="-128"/>
              </a:rPr>
              <a:t>MITMの位置から通信を遮断</a:t>
            </a:r>
          </a:p>
          <a:p>
            <a:r>
              <a:rPr lang="en-JP" sz="2000" dirty="0">
                <a:latin typeface="Meiryo" panose="020B0604030504040204" pitchFamily="34" charset="-128"/>
                <a:ea typeface="Meiryo" panose="020B0604030504040204" pitchFamily="34" charset="-128"/>
              </a:rPr>
              <a:t>→ カメラ・警報が機能しない</a:t>
            </a:r>
          </a:p>
          <a:p>
            <a:r>
              <a:rPr lang="en-JP" sz="2000" dirty="0">
                <a:latin typeface="Meiryo" panose="020B0604030504040204" pitchFamily="34" charset="-128"/>
                <a:ea typeface="Meiryo" panose="020B0604030504040204" pitchFamily="34" charset="-128"/>
              </a:rPr>
              <a:t>→ 緊急時に対応不可</a:t>
            </a:r>
          </a:p>
        </p:txBody>
      </p:sp>
      <p:sp>
        <p:nvSpPr>
          <p:cNvPr id="19" name="正方形/長方形 4">
            <a:extLst>
              <a:ext uri="{FF2B5EF4-FFF2-40B4-BE49-F238E27FC236}">
                <a16:creationId xmlns:a16="http://schemas.microsoft.com/office/drawing/2014/main" id="{41D73FBB-C985-ED2C-A2A2-07B2B54F2FC6}"/>
              </a:ext>
            </a:extLst>
          </p:cNvPr>
          <p:cNvSpPr/>
          <p:nvPr/>
        </p:nvSpPr>
        <p:spPr>
          <a:xfrm>
            <a:off x="83820" y="4658971"/>
            <a:ext cx="4926329" cy="155120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20" name="正方形/長方形 4">
            <a:extLst>
              <a:ext uri="{FF2B5EF4-FFF2-40B4-BE49-F238E27FC236}">
                <a16:creationId xmlns:a16="http://schemas.microsoft.com/office/drawing/2014/main" id="{70E609F5-5A69-F027-4BB5-99548B389ED6}"/>
              </a:ext>
            </a:extLst>
          </p:cNvPr>
          <p:cNvSpPr/>
          <p:nvPr/>
        </p:nvSpPr>
        <p:spPr>
          <a:xfrm>
            <a:off x="5310078" y="4650766"/>
            <a:ext cx="3727241" cy="1551203"/>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21" name="TextBox 20">
            <a:extLst>
              <a:ext uri="{FF2B5EF4-FFF2-40B4-BE49-F238E27FC236}">
                <a16:creationId xmlns:a16="http://schemas.microsoft.com/office/drawing/2014/main" id="{8D3E92B6-2DB8-4D93-8FDA-923746FF0F21}"/>
              </a:ext>
            </a:extLst>
          </p:cNvPr>
          <p:cNvSpPr txBox="1"/>
          <p:nvPr/>
        </p:nvSpPr>
        <p:spPr>
          <a:xfrm>
            <a:off x="97227" y="6350709"/>
            <a:ext cx="8132373" cy="430887"/>
          </a:xfrm>
          <a:prstGeom prst="rect">
            <a:avLst/>
          </a:prstGeom>
          <a:noFill/>
        </p:spPr>
        <p:txBody>
          <a:bodyPr wrap="square" rtlCol="0">
            <a:spAutoFit/>
          </a:bodyPr>
          <a:lstStyle/>
          <a:p>
            <a:r>
              <a:rPr lang="en-US" sz="1100" dirty="0"/>
              <a:t>[14]N. </a:t>
            </a:r>
            <a:r>
              <a:rPr lang="en-US" sz="1100" dirty="0" err="1"/>
              <a:t>Apthorpe</a:t>
            </a:r>
            <a:r>
              <a:rPr lang="en-US" sz="1100" dirty="0"/>
              <a:t>, D. Reisman, S. </a:t>
            </a:r>
            <a:r>
              <a:rPr lang="en-US" sz="1100" dirty="0" err="1"/>
              <a:t>Sundaresan</a:t>
            </a:r>
            <a:r>
              <a:rPr lang="en-US" sz="1100" dirty="0"/>
              <a:t>, A. Narayanan, and N. </a:t>
            </a:r>
            <a:r>
              <a:rPr lang="en-US" sz="1100" dirty="0" err="1"/>
              <a:t>Feamster</a:t>
            </a:r>
            <a:r>
              <a:rPr lang="en-US" sz="1100" dirty="0"/>
              <a:t>, </a:t>
            </a:r>
          </a:p>
          <a:p>
            <a:r>
              <a:rPr lang="en-US" sz="1100" dirty="0"/>
              <a:t>"Spying on the Smart Home: Privacy Attacks and Defenses on Encrypted IoT Traffic," arXiv:1708.05044, 2018 </a:t>
            </a:r>
            <a:endParaRPr lang="en-JP" sz="1100" dirty="0"/>
          </a:p>
        </p:txBody>
      </p:sp>
    </p:spTree>
    <p:extLst>
      <p:ext uri="{BB962C8B-B14F-4D97-AF65-F5344CB8AC3E}">
        <p14:creationId xmlns:p14="http://schemas.microsoft.com/office/powerpoint/2010/main" val="42941345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46A61B-3C17-AC02-2F20-84471513E31D}"/>
              </a:ext>
            </a:extLst>
          </p:cNvPr>
          <p:cNvSpPr>
            <a:spLocks noGrp="1"/>
          </p:cNvSpPr>
          <p:nvPr>
            <p:ph type="sldNum" sz="quarter" idx="12"/>
          </p:nvPr>
        </p:nvSpPr>
        <p:spPr/>
        <p:txBody>
          <a:bodyPr/>
          <a:lstStyle/>
          <a:p>
            <a:fld id="{828F3BD4-1AF2-D144-8129-4D42AD448F5E}" type="slidenum">
              <a:rPr lang="en-JP" smtClean="0"/>
              <a:pPr/>
              <a:t>24</a:t>
            </a:fld>
            <a:endParaRPr lang="en-JP" dirty="0"/>
          </a:p>
        </p:txBody>
      </p:sp>
      <p:sp>
        <p:nvSpPr>
          <p:cNvPr id="5" name="Rounded Rectangle 4">
            <a:extLst>
              <a:ext uri="{FF2B5EF4-FFF2-40B4-BE49-F238E27FC236}">
                <a16:creationId xmlns:a16="http://schemas.microsoft.com/office/drawing/2014/main" id="{DD9A2CAA-3E4C-36B4-87DE-DBA7C69865F0}"/>
              </a:ext>
            </a:extLst>
          </p:cNvPr>
          <p:cNvSpPr/>
          <p:nvPr/>
        </p:nvSpPr>
        <p:spPr>
          <a:xfrm>
            <a:off x="1923661" y="136524"/>
            <a:ext cx="4713515" cy="664028"/>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0" dirty="0">
                <a:solidFill>
                  <a:srgbClr val="000000"/>
                </a:solidFill>
                <a:effectLst/>
                <a:latin typeface="Meiryo" panose="020B0604030504040204" pitchFamily="34" charset="-128"/>
                <a:ea typeface="Meiryo" panose="020B0604030504040204" pitchFamily="34" charset="-128"/>
              </a:rPr>
              <a:t>IoTID20 Attack Taxonomy</a:t>
            </a:r>
            <a:endParaRPr lang="en-JP" dirty="0">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32C5288F-88EA-7DAF-AE7E-1E43FB33DFE3}"/>
              </a:ext>
            </a:extLst>
          </p:cNvPr>
          <p:cNvSpPr/>
          <p:nvPr/>
        </p:nvSpPr>
        <p:spPr>
          <a:xfrm>
            <a:off x="666358" y="1312179"/>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i="0" dirty="0">
                <a:solidFill>
                  <a:srgbClr val="000000"/>
                </a:solidFill>
                <a:effectLst/>
                <a:latin typeface="Meiryo" panose="020B0604030504040204" pitchFamily="34" charset="-128"/>
                <a:ea typeface="Meiryo" panose="020B0604030504040204" pitchFamily="34" charset="-128"/>
              </a:rPr>
              <a:t>DoS</a:t>
            </a:r>
            <a:endParaRPr lang="en-JP" dirty="0">
              <a:latin typeface="Meiryo" panose="020B0604030504040204" pitchFamily="34" charset="-128"/>
              <a:ea typeface="Meiryo" panose="020B0604030504040204" pitchFamily="34" charset="-128"/>
            </a:endParaRPr>
          </a:p>
        </p:txBody>
      </p:sp>
      <p:sp>
        <p:nvSpPr>
          <p:cNvPr id="9" name="Rounded Rectangle 8">
            <a:extLst>
              <a:ext uri="{FF2B5EF4-FFF2-40B4-BE49-F238E27FC236}">
                <a16:creationId xmlns:a16="http://schemas.microsoft.com/office/drawing/2014/main" id="{CA3DD05B-ABC3-1F2E-4474-871759E99746}"/>
              </a:ext>
            </a:extLst>
          </p:cNvPr>
          <p:cNvSpPr/>
          <p:nvPr/>
        </p:nvSpPr>
        <p:spPr>
          <a:xfrm>
            <a:off x="2723760" y="1312181"/>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i="0" dirty="0" err="1">
                <a:solidFill>
                  <a:srgbClr val="000000"/>
                </a:solidFill>
                <a:effectLst/>
                <a:latin typeface="Meiryo" panose="020B0604030504040204" pitchFamily="34" charset="-128"/>
                <a:ea typeface="Meiryo" panose="020B0604030504040204" pitchFamily="34" charset="-128"/>
              </a:rPr>
              <a:t>Mirai</a:t>
            </a:r>
            <a:endParaRPr lang="en-JP" dirty="0">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A48C96FF-762D-B3F7-D782-ED94F2B81726}"/>
              </a:ext>
            </a:extLst>
          </p:cNvPr>
          <p:cNvSpPr/>
          <p:nvPr/>
        </p:nvSpPr>
        <p:spPr>
          <a:xfrm>
            <a:off x="2723760" y="2313666"/>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mn-MN" dirty="0">
              <a:latin typeface="Meiryo" panose="020B0604030504040204" pitchFamily="34" charset="-128"/>
              <a:ea typeface="Meiryo" panose="020B0604030504040204" pitchFamily="34" charset="-128"/>
            </a:endParaRPr>
          </a:p>
          <a:p>
            <a:pPr algn="ctr"/>
            <a:r>
              <a:rPr lang="en-US" dirty="0">
                <a:latin typeface="Meiryo" panose="020B0604030504040204" pitchFamily="34" charset="-128"/>
                <a:ea typeface="Meiryo" panose="020B0604030504040204" pitchFamily="34" charset="-128"/>
              </a:rPr>
              <a:t>Host Brute Force</a:t>
            </a:r>
            <a:br>
              <a:rPr lang="en-US" dirty="0">
                <a:latin typeface="Meiryo" panose="020B0604030504040204" pitchFamily="34" charset="-128"/>
                <a:ea typeface="Meiryo" panose="020B0604030504040204" pitchFamily="34" charset="-128"/>
              </a:rPr>
            </a:br>
            <a:endParaRPr lang="en-JP" dirty="0">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256EC607-EFCF-B3F4-2F91-1BB20AB5D811}"/>
              </a:ext>
            </a:extLst>
          </p:cNvPr>
          <p:cNvSpPr/>
          <p:nvPr/>
        </p:nvSpPr>
        <p:spPr>
          <a:xfrm>
            <a:off x="2723760" y="3391351"/>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Meiryo" panose="020B0604030504040204" pitchFamily="34" charset="-128"/>
                <a:ea typeface="Meiryo" panose="020B0604030504040204" pitchFamily="34" charset="-128"/>
              </a:rPr>
              <a:t>HTTP Flooding</a:t>
            </a:r>
            <a:endParaRPr lang="en-JP" dirty="0">
              <a:latin typeface="Meiryo" panose="020B0604030504040204" pitchFamily="34" charset="-128"/>
              <a:ea typeface="Meiryo" panose="020B0604030504040204" pitchFamily="34" charset="-128"/>
            </a:endParaRPr>
          </a:p>
        </p:txBody>
      </p:sp>
      <p:sp>
        <p:nvSpPr>
          <p:cNvPr id="13" name="Rounded Rectangle 12">
            <a:extLst>
              <a:ext uri="{FF2B5EF4-FFF2-40B4-BE49-F238E27FC236}">
                <a16:creationId xmlns:a16="http://schemas.microsoft.com/office/drawing/2014/main" id="{836CF98B-7923-1143-F728-D2BE6584FB9D}"/>
              </a:ext>
            </a:extLst>
          </p:cNvPr>
          <p:cNvSpPr/>
          <p:nvPr/>
        </p:nvSpPr>
        <p:spPr>
          <a:xfrm>
            <a:off x="4579774" y="1312180"/>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C00000"/>
                </a:solidFill>
                <a:latin typeface="Meiryo" panose="020B0604030504040204" pitchFamily="34" charset="-128"/>
                <a:ea typeface="Meiryo" panose="020B0604030504040204" pitchFamily="34" charset="-128"/>
              </a:rPr>
              <a:t>MITM</a:t>
            </a:r>
            <a:endParaRPr lang="en-JP" b="1" dirty="0">
              <a:solidFill>
                <a:srgbClr val="C00000"/>
              </a:solidFill>
              <a:latin typeface="Meiryo" panose="020B0604030504040204" pitchFamily="34" charset="-128"/>
              <a:ea typeface="Meiryo" panose="020B0604030504040204" pitchFamily="34" charset="-128"/>
            </a:endParaRPr>
          </a:p>
        </p:txBody>
      </p:sp>
      <p:sp>
        <p:nvSpPr>
          <p:cNvPr id="14" name="Rounded Rectangle 13">
            <a:extLst>
              <a:ext uri="{FF2B5EF4-FFF2-40B4-BE49-F238E27FC236}">
                <a16:creationId xmlns:a16="http://schemas.microsoft.com/office/drawing/2014/main" id="{63C59CCF-0F41-6EA4-DD33-DD1738DB38C2}"/>
              </a:ext>
            </a:extLst>
          </p:cNvPr>
          <p:cNvSpPr/>
          <p:nvPr/>
        </p:nvSpPr>
        <p:spPr>
          <a:xfrm>
            <a:off x="4579774" y="2313666"/>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solidFill>
                  <a:srgbClr val="C00000"/>
                </a:solidFill>
                <a:latin typeface="Meiryo" panose="020B0604030504040204" pitchFamily="34" charset="-128"/>
                <a:ea typeface="Meiryo" panose="020B0604030504040204" pitchFamily="34" charset="-128"/>
              </a:rPr>
              <a:t>ARP Spoofing</a:t>
            </a:r>
            <a:endParaRPr lang="en-JP" b="1" dirty="0">
              <a:solidFill>
                <a:srgbClr val="C00000"/>
              </a:solidFill>
              <a:latin typeface="Meiryo" panose="020B0604030504040204" pitchFamily="34" charset="-128"/>
              <a:ea typeface="Meiryo" panose="020B0604030504040204" pitchFamily="34" charset="-128"/>
            </a:endParaRPr>
          </a:p>
        </p:txBody>
      </p:sp>
      <p:sp>
        <p:nvSpPr>
          <p:cNvPr id="15" name="Rounded Rectangle 14">
            <a:extLst>
              <a:ext uri="{FF2B5EF4-FFF2-40B4-BE49-F238E27FC236}">
                <a16:creationId xmlns:a16="http://schemas.microsoft.com/office/drawing/2014/main" id="{9E80603A-6C53-41D0-D211-59A923F2D05B}"/>
              </a:ext>
            </a:extLst>
          </p:cNvPr>
          <p:cNvSpPr/>
          <p:nvPr/>
        </p:nvSpPr>
        <p:spPr>
          <a:xfrm>
            <a:off x="4579774" y="3336469"/>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Meiryo" panose="020B0604030504040204" pitchFamily="34" charset="-128"/>
                <a:ea typeface="Meiryo" panose="020B0604030504040204" pitchFamily="34" charset="-128"/>
              </a:rPr>
              <a:t>Service</a:t>
            </a:r>
            <a:endParaRPr lang="en-JP" dirty="0">
              <a:latin typeface="Meiryo" panose="020B0604030504040204" pitchFamily="34" charset="-128"/>
              <a:ea typeface="Meiryo" panose="020B0604030504040204" pitchFamily="34" charset="-128"/>
            </a:endParaRPr>
          </a:p>
        </p:txBody>
      </p:sp>
      <p:sp>
        <p:nvSpPr>
          <p:cNvPr id="16" name="Rounded Rectangle 15">
            <a:extLst>
              <a:ext uri="{FF2B5EF4-FFF2-40B4-BE49-F238E27FC236}">
                <a16:creationId xmlns:a16="http://schemas.microsoft.com/office/drawing/2014/main" id="{6E2E6A9C-C5B5-3DCD-4DFA-A902B0EF0382}"/>
              </a:ext>
            </a:extLst>
          </p:cNvPr>
          <p:cNvSpPr/>
          <p:nvPr/>
        </p:nvSpPr>
        <p:spPr>
          <a:xfrm>
            <a:off x="6637176" y="1312180"/>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a:latin typeface="Meiryo" panose="020B0604030504040204" pitchFamily="34" charset="-128"/>
                <a:ea typeface="Meiryo" panose="020B0604030504040204" pitchFamily="34" charset="-128"/>
              </a:rPr>
              <a:t>Scan</a:t>
            </a:r>
            <a:endParaRPr lang="en-JP" b="1" dirty="0">
              <a:latin typeface="Meiryo" panose="020B0604030504040204" pitchFamily="34" charset="-128"/>
              <a:ea typeface="Meiryo" panose="020B0604030504040204" pitchFamily="34" charset="-128"/>
            </a:endParaRPr>
          </a:p>
        </p:txBody>
      </p:sp>
      <p:sp>
        <p:nvSpPr>
          <p:cNvPr id="17" name="Rounded Rectangle 16">
            <a:extLst>
              <a:ext uri="{FF2B5EF4-FFF2-40B4-BE49-F238E27FC236}">
                <a16:creationId xmlns:a16="http://schemas.microsoft.com/office/drawing/2014/main" id="{088DEC6B-EFF7-6B2C-3452-C5EC8BDDBAA2}"/>
              </a:ext>
            </a:extLst>
          </p:cNvPr>
          <p:cNvSpPr/>
          <p:nvPr/>
        </p:nvSpPr>
        <p:spPr>
          <a:xfrm>
            <a:off x="6661668" y="2237466"/>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Meiryo" panose="020B0604030504040204" pitchFamily="34" charset="-128"/>
                <a:ea typeface="Meiryo" panose="020B0604030504040204" pitchFamily="34" charset="-128"/>
              </a:rPr>
              <a:t>Host Port</a:t>
            </a:r>
            <a:endParaRPr lang="en-JP" dirty="0">
              <a:latin typeface="Meiryo" panose="020B0604030504040204" pitchFamily="34" charset="-128"/>
              <a:ea typeface="Meiryo" panose="020B0604030504040204" pitchFamily="34" charset="-128"/>
            </a:endParaRPr>
          </a:p>
        </p:txBody>
      </p:sp>
      <p:sp>
        <p:nvSpPr>
          <p:cNvPr id="18" name="Rounded Rectangle 17">
            <a:extLst>
              <a:ext uri="{FF2B5EF4-FFF2-40B4-BE49-F238E27FC236}">
                <a16:creationId xmlns:a16="http://schemas.microsoft.com/office/drawing/2014/main" id="{65B20BC5-A201-BC22-4AFF-183E8D768343}"/>
              </a:ext>
            </a:extLst>
          </p:cNvPr>
          <p:cNvSpPr/>
          <p:nvPr/>
        </p:nvSpPr>
        <p:spPr>
          <a:xfrm>
            <a:off x="6637176" y="3336468"/>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latin typeface="Meiryo" panose="020B0604030504040204" pitchFamily="34" charset="-128"/>
                <a:ea typeface="Meiryo" panose="020B0604030504040204" pitchFamily="34" charset="-128"/>
              </a:rPr>
              <a:t>OS</a:t>
            </a:r>
            <a:endParaRPr lang="en-JP" dirty="0">
              <a:latin typeface="Meiryo" panose="020B0604030504040204" pitchFamily="34" charset="-128"/>
              <a:ea typeface="Meiryo" panose="020B0604030504040204" pitchFamily="34" charset="-128"/>
            </a:endParaRPr>
          </a:p>
        </p:txBody>
      </p:sp>
      <p:sp>
        <p:nvSpPr>
          <p:cNvPr id="19" name="Rounded Rectangle 18">
            <a:extLst>
              <a:ext uri="{FF2B5EF4-FFF2-40B4-BE49-F238E27FC236}">
                <a16:creationId xmlns:a16="http://schemas.microsoft.com/office/drawing/2014/main" id="{F718C2F3-3874-3D32-D538-61DCDA63234B}"/>
              </a:ext>
            </a:extLst>
          </p:cNvPr>
          <p:cNvSpPr/>
          <p:nvPr/>
        </p:nvSpPr>
        <p:spPr>
          <a:xfrm>
            <a:off x="666358" y="2313665"/>
            <a:ext cx="1556658" cy="7184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0" i="0" dirty="0">
                <a:solidFill>
                  <a:srgbClr val="000000"/>
                </a:solidFill>
                <a:effectLst/>
                <a:latin typeface="Meiryo" panose="020B0604030504040204" pitchFamily="34" charset="-128"/>
                <a:ea typeface="Meiryo" panose="020B0604030504040204" pitchFamily="34" charset="-128"/>
              </a:rPr>
              <a:t>Syn Flooding</a:t>
            </a:r>
            <a:endParaRPr lang="en-JP" dirty="0">
              <a:latin typeface="Meiryo" panose="020B0604030504040204" pitchFamily="34" charset="-128"/>
              <a:ea typeface="Meiryo" panose="020B0604030504040204" pitchFamily="34" charset="-128"/>
            </a:endParaRPr>
          </a:p>
        </p:txBody>
      </p:sp>
      <p:cxnSp>
        <p:nvCxnSpPr>
          <p:cNvPr id="21" name="Straight Connector 20">
            <a:extLst>
              <a:ext uri="{FF2B5EF4-FFF2-40B4-BE49-F238E27FC236}">
                <a16:creationId xmlns:a16="http://schemas.microsoft.com/office/drawing/2014/main" id="{602FA856-A72B-47FF-AB9D-AA5754734900}"/>
              </a:ext>
            </a:extLst>
          </p:cNvPr>
          <p:cNvCxnSpPr>
            <a:cxnSpLocks/>
          </p:cNvCxnSpPr>
          <p:nvPr/>
        </p:nvCxnSpPr>
        <p:spPr>
          <a:xfrm>
            <a:off x="1673290" y="1018266"/>
            <a:ext cx="59653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115736-1E67-6C5D-A236-5055C171BDD2}"/>
              </a:ext>
            </a:extLst>
          </p:cNvPr>
          <p:cNvCxnSpPr/>
          <p:nvPr/>
        </p:nvCxnSpPr>
        <p:spPr>
          <a:xfrm>
            <a:off x="3512976" y="1029152"/>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FD22B7A-680F-63EA-9D08-0FC0D2B38670}"/>
              </a:ext>
            </a:extLst>
          </p:cNvPr>
          <p:cNvCxnSpPr>
            <a:cxnSpLocks/>
          </p:cNvCxnSpPr>
          <p:nvPr/>
        </p:nvCxnSpPr>
        <p:spPr>
          <a:xfrm>
            <a:off x="5483290" y="1029152"/>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F4D6BBB-81BB-C15D-E5F2-09FDB52FED79}"/>
              </a:ext>
            </a:extLst>
          </p:cNvPr>
          <p:cNvCxnSpPr/>
          <p:nvPr/>
        </p:nvCxnSpPr>
        <p:spPr>
          <a:xfrm>
            <a:off x="1684176" y="1029152"/>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4EEF121-828C-71E2-6982-B670023F64EE}"/>
              </a:ext>
            </a:extLst>
          </p:cNvPr>
          <p:cNvCxnSpPr>
            <a:cxnSpLocks/>
          </p:cNvCxnSpPr>
          <p:nvPr/>
        </p:nvCxnSpPr>
        <p:spPr>
          <a:xfrm>
            <a:off x="7638661" y="1018266"/>
            <a:ext cx="0" cy="19594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4455586B-EA60-F8D6-AEEE-3572DAD5CD7F}"/>
              </a:ext>
            </a:extLst>
          </p:cNvPr>
          <p:cNvCxnSpPr>
            <a:cxnSpLocks/>
          </p:cNvCxnSpPr>
          <p:nvPr/>
        </p:nvCxnSpPr>
        <p:spPr>
          <a:xfrm>
            <a:off x="1671735" y="2052409"/>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4536F6B-099A-4F46-A803-8630C1E1AC78}"/>
              </a:ext>
            </a:extLst>
          </p:cNvPr>
          <p:cNvCxnSpPr>
            <a:cxnSpLocks/>
          </p:cNvCxnSpPr>
          <p:nvPr/>
        </p:nvCxnSpPr>
        <p:spPr>
          <a:xfrm>
            <a:off x="3512976" y="2052409"/>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5C62199-2590-FF77-5C2E-BEC580998512}"/>
              </a:ext>
            </a:extLst>
          </p:cNvPr>
          <p:cNvCxnSpPr>
            <a:cxnSpLocks/>
          </p:cNvCxnSpPr>
          <p:nvPr/>
        </p:nvCxnSpPr>
        <p:spPr>
          <a:xfrm>
            <a:off x="3512976" y="3151411"/>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E5966E5-01E6-A2D9-D60B-CAB4DEEAEFE9}"/>
              </a:ext>
            </a:extLst>
          </p:cNvPr>
          <p:cNvCxnSpPr>
            <a:cxnSpLocks/>
          </p:cNvCxnSpPr>
          <p:nvPr/>
        </p:nvCxnSpPr>
        <p:spPr>
          <a:xfrm>
            <a:off x="5341776" y="2128608"/>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2E866A39-1784-BDD3-6021-3740DD52445D}"/>
              </a:ext>
            </a:extLst>
          </p:cNvPr>
          <p:cNvCxnSpPr>
            <a:cxnSpLocks/>
          </p:cNvCxnSpPr>
          <p:nvPr/>
        </p:nvCxnSpPr>
        <p:spPr>
          <a:xfrm>
            <a:off x="5407090" y="3151411"/>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21755093-99D9-6019-8ED6-241B7B10759E}"/>
              </a:ext>
            </a:extLst>
          </p:cNvPr>
          <p:cNvCxnSpPr>
            <a:cxnSpLocks/>
          </p:cNvCxnSpPr>
          <p:nvPr/>
        </p:nvCxnSpPr>
        <p:spPr>
          <a:xfrm>
            <a:off x="7415505" y="2030636"/>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615A96-A38F-926F-1DBE-08D63437D01A}"/>
              </a:ext>
            </a:extLst>
          </p:cNvPr>
          <p:cNvCxnSpPr>
            <a:cxnSpLocks/>
          </p:cNvCxnSpPr>
          <p:nvPr/>
        </p:nvCxnSpPr>
        <p:spPr>
          <a:xfrm>
            <a:off x="7439997" y="3032122"/>
            <a:ext cx="0" cy="185057"/>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298A4C16-04B7-CAB5-41D1-FA76EF082F00}"/>
              </a:ext>
            </a:extLst>
          </p:cNvPr>
          <p:cNvSpPr txBox="1"/>
          <p:nvPr/>
        </p:nvSpPr>
        <p:spPr>
          <a:xfrm>
            <a:off x="272923" y="4616593"/>
            <a:ext cx="8329902" cy="1323439"/>
          </a:xfrm>
          <a:prstGeom prst="rect">
            <a:avLst/>
          </a:prstGeom>
          <a:noFill/>
        </p:spPr>
        <p:txBody>
          <a:bodyPr wrap="square">
            <a:spAutoFit/>
          </a:bodyPr>
          <a:lstStyle/>
          <a:p>
            <a:pPr marL="342900" indent="-342900">
              <a:buFont typeface="Wingdings" pitchFamily="2" charset="2"/>
              <a:buChar char="§"/>
            </a:pPr>
            <a:r>
              <a:rPr lang="en-JP" sz="2000" dirty="0">
                <a:latin typeface="Meiryo" panose="020B0604030504040204" pitchFamily="34" charset="-128"/>
                <a:ea typeface="Meiryo" panose="020B0604030504040204" pitchFamily="34" charset="-128"/>
              </a:rPr>
              <a:t>IoTID20はIoT環境の実トラフィックから構築された代表的なデータセットで、4つの攻撃カテゴリを定義しています</a:t>
            </a:r>
            <a:r>
              <a:rPr lang="mn-MN" sz="2000" dirty="0">
                <a:latin typeface="Meiryo" panose="020B0604030504040204" pitchFamily="34" charset="-128"/>
                <a:ea typeface="Meiryo" panose="020B0604030504040204" pitchFamily="34" charset="-128"/>
              </a:rPr>
              <a:t>.</a:t>
            </a:r>
          </a:p>
          <a:p>
            <a:pPr marL="285750" indent="-285750">
              <a:buFont typeface="Wingdings" pitchFamily="2" charset="2"/>
              <a:buChar char="§"/>
            </a:pPr>
            <a:r>
              <a:rPr lang="en-JP" sz="2000" dirty="0">
                <a:latin typeface="Meiryo" panose="020B0604030504040204" pitchFamily="34" charset="-128"/>
                <a:ea typeface="Meiryo" panose="020B0604030504040204" pitchFamily="34" charset="-128"/>
              </a:rPr>
              <a:t>研究が対象とするARPスプーフィングは、この分類においてMITM攻撃の一手法として公式に位置づけられています</a:t>
            </a:r>
          </a:p>
        </p:txBody>
      </p:sp>
      <p:sp>
        <p:nvSpPr>
          <p:cNvPr id="44" name="TextBox 43">
            <a:extLst>
              <a:ext uri="{FF2B5EF4-FFF2-40B4-BE49-F238E27FC236}">
                <a16:creationId xmlns:a16="http://schemas.microsoft.com/office/drawing/2014/main" id="{55D451B9-FE88-3FB8-0CA9-92EC85323C15}"/>
              </a:ext>
            </a:extLst>
          </p:cNvPr>
          <p:cNvSpPr txBox="1"/>
          <p:nvPr/>
        </p:nvSpPr>
        <p:spPr>
          <a:xfrm>
            <a:off x="171195" y="6483034"/>
            <a:ext cx="5562164" cy="276999"/>
          </a:xfrm>
          <a:prstGeom prst="rect">
            <a:avLst/>
          </a:prstGeom>
          <a:noFill/>
        </p:spPr>
        <p:txBody>
          <a:bodyPr wrap="none" rtlCol="0">
            <a:spAutoFit/>
          </a:bodyPr>
          <a:lstStyle/>
          <a:p>
            <a:r>
              <a:rPr lang="en-US" sz="1200" dirty="0"/>
              <a:t>[15]</a:t>
            </a:r>
            <a:r>
              <a:rPr lang="ja-JP" altLang="en-US" sz="1200">
                <a:latin typeface="Meiryo" panose="020B0604030504040204" pitchFamily="34" charset="-128"/>
                <a:ea typeface="Meiryo" panose="020B0604030504040204" pitchFamily="34" charset="-128"/>
                <a:cs typeface="Times New Roman" panose="02020603050405020304" pitchFamily="18" charset="0"/>
              </a:rPr>
              <a:t>出典</a:t>
            </a:r>
            <a:r>
              <a:rPr lang="en-US" altLang="ja-JP" sz="1200" dirty="0">
                <a:latin typeface="Meiryo" panose="020B0604030504040204" pitchFamily="34" charset="-128"/>
                <a:ea typeface="Meiryo" panose="020B0604030504040204" pitchFamily="34" charset="-128"/>
                <a:cs typeface="Times New Roman" panose="02020603050405020304" pitchFamily="18" charset="0"/>
              </a:rPr>
              <a:t>: </a:t>
            </a:r>
            <a:r>
              <a:rPr lang="en-US" sz="1200" dirty="0">
                <a:latin typeface="Meiryo" panose="020B0604030504040204" pitchFamily="34" charset="-128"/>
                <a:ea typeface="Meiryo" panose="020B0604030504040204" pitchFamily="34" charset="-128"/>
                <a:cs typeface="Times New Roman" panose="02020603050405020304" pitchFamily="18" charset="0"/>
              </a:rPr>
              <a:t>Ullah et al., IEEE Access 2020 IoT</a:t>
            </a:r>
            <a:r>
              <a:rPr lang="ja-JP" altLang="en-US" sz="1200">
                <a:latin typeface="Meiryo" panose="020B0604030504040204" pitchFamily="34" charset="-128"/>
                <a:ea typeface="Meiryo" panose="020B0604030504040204" pitchFamily="34" charset="-128"/>
                <a:cs typeface="Times New Roman" panose="02020603050405020304" pitchFamily="18" charset="0"/>
              </a:rPr>
              <a:t>環境の実トラフィックから構築</a:t>
            </a:r>
            <a:endParaRPr lang="en-JP" sz="1200" dirty="0">
              <a:latin typeface="Meiryo" panose="020B0604030504040204" pitchFamily="34" charset="-128"/>
              <a:ea typeface="Meiryo" panose="020B0604030504040204" pitchFamily="34" charset="-128"/>
              <a:cs typeface="Times New Roman" panose="02020603050405020304" pitchFamily="18" charset="0"/>
            </a:endParaRPr>
          </a:p>
        </p:txBody>
      </p:sp>
    </p:spTree>
    <p:extLst>
      <p:ext uri="{BB962C8B-B14F-4D97-AF65-F5344CB8AC3E}">
        <p14:creationId xmlns:p14="http://schemas.microsoft.com/office/powerpoint/2010/main" val="12975666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6">
            <a:extLst>
              <a:ext uri="{FF2B5EF4-FFF2-40B4-BE49-F238E27FC236}">
                <a16:creationId xmlns:a16="http://schemas.microsoft.com/office/drawing/2014/main" id="{7FF5011C-B599-586C-78F9-92DAE119AFB9}"/>
              </a:ext>
            </a:extLst>
          </p:cNvPr>
          <p:cNvSpPr/>
          <p:nvPr/>
        </p:nvSpPr>
        <p:spPr>
          <a:xfrm>
            <a:off x="6779823" y="2991625"/>
            <a:ext cx="2213332" cy="1289325"/>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en-US" sz="2400" b="1" i="0" dirty="0">
                <a:solidFill>
                  <a:srgbClr val="000000"/>
                </a:solidFill>
                <a:effectLst/>
                <a:latin typeface="Meiryo" panose="020B0604030504040204" pitchFamily="34" charset="-128"/>
                <a:ea typeface="Meiryo" panose="020B0604030504040204" pitchFamily="34" charset="-128"/>
              </a:rPr>
              <a:t>Gateway</a:t>
            </a:r>
          </a:p>
        </p:txBody>
      </p:sp>
      <p:sp>
        <p:nvSpPr>
          <p:cNvPr id="10" name="Rectangle: Rounded Corners 4">
            <a:extLst>
              <a:ext uri="{FF2B5EF4-FFF2-40B4-BE49-F238E27FC236}">
                <a16:creationId xmlns:a16="http://schemas.microsoft.com/office/drawing/2014/main" id="{766501A8-0D68-685D-213F-99DB41CEBAC9}"/>
              </a:ext>
            </a:extLst>
          </p:cNvPr>
          <p:cNvSpPr/>
          <p:nvPr/>
        </p:nvSpPr>
        <p:spPr>
          <a:xfrm>
            <a:off x="50434" y="2801372"/>
            <a:ext cx="1576090" cy="1258758"/>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2400" b="1" dirty="0">
              <a:solidFill>
                <a:srgbClr val="000000"/>
              </a:solidFill>
              <a:latin typeface="Meiryo" panose="020B0604030504040204" pitchFamily="34" charset="-128"/>
              <a:ea typeface="Meiryo" panose="020B0604030504040204" pitchFamily="34" charset="-128"/>
            </a:endParaRPr>
          </a:p>
          <a:p>
            <a:pPr algn="ctr"/>
            <a:r>
              <a:rPr lang="en-US" altLang="ja-JP" sz="2400" b="1" i="0" dirty="0">
                <a:solidFill>
                  <a:srgbClr val="000000"/>
                </a:solidFill>
                <a:effectLst/>
                <a:latin typeface="Meiryo" panose="020B0604030504040204" pitchFamily="34" charset="-128"/>
                <a:ea typeface="Meiryo" panose="020B0604030504040204" pitchFamily="34" charset="-128"/>
              </a:rPr>
              <a:t>IoT</a:t>
            </a:r>
          </a:p>
          <a:p>
            <a:pPr algn="ctr"/>
            <a:r>
              <a:rPr lang="en-US" altLang="ja-JP" sz="2400" b="1" dirty="0">
                <a:solidFill>
                  <a:srgbClr val="000000"/>
                </a:solidFill>
                <a:latin typeface="Meiryo" panose="020B0604030504040204" pitchFamily="34" charset="-128"/>
                <a:ea typeface="Meiryo" panose="020B0604030504040204" pitchFamily="34" charset="-128"/>
              </a:rPr>
              <a:t>sensor</a:t>
            </a:r>
            <a:endParaRPr lang="en-JP" sz="2400" dirty="0">
              <a:solidFill>
                <a:schemeClr val="tx1"/>
              </a:solidFill>
              <a:latin typeface="Meiryo" panose="020B0604030504040204" pitchFamily="34" charset="-128"/>
              <a:ea typeface="Meiryo" panose="020B0604030504040204" pitchFamily="34" charset="-128"/>
            </a:endParaRPr>
          </a:p>
        </p:txBody>
      </p:sp>
      <p:sp>
        <p:nvSpPr>
          <p:cNvPr id="36" name="Shape 0">
            <a:extLst>
              <a:ext uri="{FF2B5EF4-FFF2-40B4-BE49-F238E27FC236}">
                <a16:creationId xmlns:a16="http://schemas.microsoft.com/office/drawing/2014/main" id="{2E2CE1B2-4B9B-2CED-D943-2A870364AEB4}"/>
              </a:ext>
            </a:extLst>
          </p:cNvPr>
          <p:cNvSpPr/>
          <p:nvPr/>
        </p:nvSpPr>
        <p:spPr>
          <a:xfrm>
            <a:off x="0" y="0"/>
            <a:ext cx="9144000" cy="63256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Ø"/>
            </a:pPr>
            <a:r>
              <a:rPr lang="en-US" sz="2800" b="1" dirty="0">
                <a:latin typeface="Meiryo" panose="020B0604030504040204" pitchFamily="34" charset="-128"/>
                <a:ea typeface="Meiryo" panose="020B0604030504040204" pitchFamily="34" charset="-128"/>
              </a:rPr>
              <a:t>ARP Spoofing - cache</a:t>
            </a:r>
            <a:r>
              <a:rPr lang="ja-JP" altLang="en-US" sz="2800" b="1">
                <a:latin typeface="Meiryo" panose="020B0604030504040204" pitchFamily="34" charset="-128"/>
                <a:ea typeface="Meiryo" panose="020B0604030504040204" pitchFamily="34" charset="-128"/>
              </a:rPr>
              <a:t>汚染から</a:t>
            </a:r>
            <a:r>
              <a:rPr lang="en-US" sz="2800" b="1" dirty="0">
                <a:latin typeface="Meiryo" panose="020B0604030504040204" pitchFamily="34" charset="-128"/>
                <a:ea typeface="Meiryo" panose="020B0604030504040204" pitchFamily="34" charset="-128"/>
              </a:rPr>
              <a:t>MITM</a:t>
            </a:r>
            <a:r>
              <a:rPr lang="ja-JP" altLang="en-US" sz="2800" b="1">
                <a:latin typeface="Meiryo" panose="020B0604030504040204" pitchFamily="34" charset="-128"/>
                <a:ea typeface="Meiryo" panose="020B0604030504040204" pitchFamily="34" charset="-128"/>
              </a:rPr>
              <a:t>確立まで</a:t>
            </a:r>
            <a:endParaRPr lang="en-JP" sz="2800" b="1" dirty="0">
              <a:latin typeface="Meiryo" panose="020B0604030504040204" pitchFamily="34" charset="-128"/>
              <a:ea typeface="Meiryo" panose="020B0604030504040204" pitchFamily="34" charset="-128"/>
            </a:endParaRPr>
          </a:p>
        </p:txBody>
      </p:sp>
      <p:sp>
        <p:nvSpPr>
          <p:cNvPr id="63" name="Slide Number Placeholder 62">
            <a:extLst>
              <a:ext uri="{FF2B5EF4-FFF2-40B4-BE49-F238E27FC236}">
                <a16:creationId xmlns:a16="http://schemas.microsoft.com/office/drawing/2014/main" id="{7997AEC5-C830-216D-A285-C2D5C6551311}"/>
              </a:ext>
            </a:extLst>
          </p:cNvPr>
          <p:cNvSpPr>
            <a:spLocks noGrp="1"/>
          </p:cNvSpPr>
          <p:nvPr>
            <p:ph type="sldNum" sz="quarter" idx="12"/>
          </p:nvPr>
        </p:nvSpPr>
        <p:spPr/>
        <p:txBody>
          <a:bodyPr/>
          <a:lstStyle/>
          <a:p>
            <a:fld id="{828F3BD4-1AF2-D144-8129-4D42AD448F5E}" type="slidenum">
              <a:rPr lang="en-JP" smtClean="0"/>
              <a:t>25</a:t>
            </a:fld>
            <a:endParaRPr lang="en-JP"/>
          </a:p>
        </p:txBody>
      </p:sp>
      <p:cxnSp>
        <p:nvCxnSpPr>
          <p:cNvPr id="39" name="Straight Arrow Connector 38">
            <a:extLst>
              <a:ext uri="{FF2B5EF4-FFF2-40B4-BE49-F238E27FC236}">
                <a16:creationId xmlns:a16="http://schemas.microsoft.com/office/drawing/2014/main" id="{A9385096-C957-3D0C-CC92-C7618F5846A2}"/>
              </a:ext>
            </a:extLst>
          </p:cNvPr>
          <p:cNvCxnSpPr>
            <a:cxnSpLocks/>
          </p:cNvCxnSpPr>
          <p:nvPr/>
        </p:nvCxnSpPr>
        <p:spPr>
          <a:xfrm>
            <a:off x="1714983" y="3425744"/>
            <a:ext cx="1300360" cy="3256"/>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ABBB60B-6276-8BFF-2014-1B7023C6DBF8}"/>
              </a:ext>
            </a:extLst>
          </p:cNvPr>
          <p:cNvCxnSpPr>
            <a:cxnSpLocks/>
          </p:cNvCxnSpPr>
          <p:nvPr/>
        </p:nvCxnSpPr>
        <p:spPr>
          <a:xfrm>
            <a:off x="5895002" y="3523852"/>
            <a:ext cx="884821"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A43943D-A6AB-D3DB-FB8A-C8BF5B5F532F}"/>
              </a:ext>
            </a:extLst>
          </p:cNvPr>
          <p:cNvSpPr txBox="1"/>
          <p:nvPr/>
        </p:nvSpPr>
        <p:spPr>
          <a:xfrm>
            <a:off x="1892593" y="3010758"/>
            <a:ext cx="1888188" cy="923330"/>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DTLS </a:t>
            </a:r>
            <a:r>
              <a:rPr lang="en-JP" dirty="0">
                <a:latin typeface="Meiryo" panose="020B0604030504040204" pitchFamily="34" charset="-128"/>
                <a:ea typeface="Meiryo" panose="020B0604030504040204" pitchFamily="34" charset="-128"/>
              </a:rPr>
              <a:t>🔒</a:t>
            </a:r>
          </a:p>
          <a:p>
            <a:endParaRPr lang="en-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攻撃者へ</a:t>
            </a:r>
            <a:endParaRPr lang="en-JP" dirty="0">
              <a:latin typeface="Meiryo" panose="020B0604030504040204" pitchFamily="34" charset="-128"/>
              <a:ea typeface="Meiryo" panose="020B0604030504040204" pitchFamily="34" charset="-128"/>
            </a:endParaRPr>
          </a:p>
        </p:txBody>
      </p:sp>
      <p:sp>
        <p:nvSpPr>
          <p:cNvPr id="2" name="Rectangle: Rounded Corners 6">
            <a:extLst>
              <a:ext uri="{FF2B5EF4-FFF2-40B4-BE49-F238E27FC236}">
                <a16:creationId xmlns:a16="http://schemas.microsoft.com/office/drawing/2014/main" id="{BED9B5FC-C6AF-6070-1C8E-D3D7DF041307}"/>
              </a:ext>
            </a:extLst>
          </p:cNvPr>
          <p:cNvSpPr/>
          <p:nvPr/>
        </p:nvSpPr>
        <p:spPr>
          <a:xfrm>
            <a:off x="3015343" y="2239927"/>
            <a:ext cx="2879660" cy="2366891"/>
          </a:xfrm>
          <a:prstGeom prst="roundRect">
            <a:avLst/>
          </a:prstGeom>
          <a:solidFill>
            <a:schemeClr val="accent2">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Arial" panose="020B0604020202020204" pitchFamily="34" charset="0"/>
              </a:rPr>
              <a:t>😈 </a:t>
            </a:r>
            <a:r>
              <a:rPr lang="ja-JP" altLang="en-US" sz="2400" b="1" i="0">
                <a:solidFill>
                  <a:srgbClr val="000000"/>
                </a:solidFill>
                <a:effectLst/>
                <a:latin typeface="Arial" panose="020B0604020202020204" pitchFamily="34" charset="0"/>
              </a:rPr>
              <a:t>攻撃者</a:t>
            </a:r>
            <a:endParaRPr lang="en-US" altLang="ja-JP" sz="2400" b="1" i="0" dirty="0">
              <a:solidFill>
                <a:srgbClr val="000000"/>
              </a:solidFill>
              <a:effectLst/>
              <a:latin typeface="Arial" panose="020B0604020202020204" pitchFamily="34" charset="0"/>
            </a:endParaRPr>
          </a:p>
          <a:p>
            <a:pPr algn="ctr"/>
            <a:r>
              <a:rPr lang="ja-JP" altLang="en-US" sz="2400" b="1">
                <a:solidFill>
                  <a:srgbClr val="C00000"/>
                </a:solidFill>
                <a:latin typeface="Meiryo" panose="020B0604030504040204" pitchFamily="34" charset="-128"/>
                <a:ea typeface="Meiryo" panose="020B0604030504040204" pitchFamily="34" charset="-128"/>
              </a:rPr>
              <a:t>中間に割り込む</a:t>
            </a:r>
            <a:endParaRPr lang="mn-MN" altLang="ja-JP" sz="2400" b="1" dirty="0">
              <a:solidFill>
                <a:srgbClr val="C00000"/>
              </a:solidFill>
              <a:latin typeface="Meiryo" panose="020B0604030504040204" pitchFamily="34" charset="-128"/>
              <a:ea typeface="Meiryo" panose="020B0604030504040204" pitchFamily="34" charset="-128"/>
            </a:endParaRPr>
          </a:p>
          <a:p>
            <a:pPr algn="ctr"/>
            <a:r>
              <a:rPr lang="en-US" sz="2400" b="1" dirty="0">
                <a:solidFill>
                  <a:srgbClr val="C00000"/>
                </a:solidFill>
                <a:latin typeface="Meiryo" panose="020B0604030504040204" pitchFamily="34" charset="-128"/>
                <a:ea typeface="Meiryo" panose="020B0604030504040204" pitchFamily="34" charset="-128"/>
              </a:rPr>
              <a:t>.1.99 </a:t>
            </a:r>
            <a:r>
              <a:rPr lang="en-US" b="1" dirty="0" err="1">
                <a:solidFill>
                  <a:srgbClr val="C00000"/>
                </a:solidFill>
                <a:latin typeface="Meiryo" panose="020B0604030504040204" pitchFamily="34" charset="-128"/>
                <a:ea typeface="Meiryo" panose="020B0604030504040204" pitchFamily="34" charset="-128"/>
              </a:rPr>
              <a:t>macXX:XX:XX</a:t>
            </a:r>
            <a:endParaRPr lang="en-US" b="1" dirty="0">
              <a:solidFill>
                <a:srgbClr val="C00000"/>
              </a:solidFill>
              <a:latin typeface="Meiryo" panose="020B0604030504040204" pitchFamily="34" charset="-128"/>
              <a:ea typeface="Meiryo" panose="020B0604030504040204" pitchFamily="34" charset="-128"/>
            </a:endParaRPr>
          </a:p>
          <a:p>
            <a:pPr algn="ctr"/>
            <a:r>
              <a:rPr lang="ja-JP" altLang="en-US" sz="1600" b="1">
                <a:solidFill>
                  <a:srgbClr val="C00000"/>
                </a:solidFill>
                <a:latin typeface="Meiryo" panose="020B0604030504040204" pitchFamily="34" charset="-128"/>
                <a:ea typeface="Meiryo" panose="020B0604030504040204" pitchFamily="34" charset="-128"/>
              </a:rPr>
              <a:t>同一</a:t>
            </a:r>
            <a:r>
              <a:rPr lang="en-US" sz="1600" b="1" dirty="0" err="1">
                <a:solidFill>
                  <a:srgbClr val="C00000"/>
                </a:solidFill>
                <a:latin typeface="Meiryo" panose="020B0604030504040204" pitchFamily="34" charset="-128"/>
                <a:ea typeface="Meiryo" panose="020B0604030504040204" pitchFamily="34" charset="-128"/>
              </a:rPr>
              <a:t>WiFi</a:t>
            </a:r>
            <a:r>
              <a:rPr lang="en-US" sz="1600" b="1" dirty="0">
                <a:solidFill>
                  <a:srgbClr val="C00000"/>
                </a:solidFill>
                <a:latin typeface="Meiryo" panose="020B0604030504040204" pitchFamily="34" charset="-128"/>
                <a:ea typeface="Meiryo" panose="020B0604030504040204" pitchFamily="34" charset="-128"/>
              </a:rPr>
              <a:t>/Switch</a:t>
            </a:r>
            <a:r>
              <a:rPr lang="ja-JP" altLang="en-US" sz="1600" b="1">
                <a:solidFill>
                  <a:srgbClr val="C00000"/>
                </a:solidFill>
                <a:latin typeface="Meiryo" panose="020B0604030504040204" pitchFamily="34" charset="-128"/>
                <a:ea typeface="Meiryo" panose="020B0604030504040204" pitchFamily="34" charset="-128"/>
              </a:rPr>
              <a:t>に接続</a:t>
            </a:r>
            <a:endParaRPr lang="en-US" sz="1600" b="1" dirty="0">
              <a:solidFill>
                <a:srgbClr val="C00000"/>
              </a:solidFill>
              <a:latin typeface="Meiryo" panose="020B0604030504040204" pitchFamily="34" charset="-128"/>
              <a:ea typeface="Meiryo" panose="020B0604030504040204" pitchFamily="34" charset="-128"/>
            </a:endParaRPr>
          </a:p>
        </p:txBody>
      </p:sp>
      <p:sp>
        <p:nvSpPr>
          <p:cNvPr id="12" name="Curved Down Arrow 11">
            <a:extLst>
              <a:ext uri="{FF2B5EF4-FFF2-40B4-BE49-F238E27FC236}">
                <a16:creationId xmlns:a16="http://schemas.microsoft.com/office/drawing/2014/main" id="{1FE44A68-4C3A-7FC8-AF45-00867A50FBB8}"/>
              </a:ext>
            </a:extLst>
          </p:cNvPr>
          <p:cNvSpPr/>
          <p:nvPr/>
        </p:nvSpPr>
        <p:spPr>
          <a:xfrm rot="10800000" flipV="1">
            <a:off x="869695" y="1383072"/>
            <a:ext cx="3341915" cy="722142"/>
          </a:xfrm>
          <a:prstGeom prst="curved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chemeClr val="tx1"/>
              </a:solidFill>
            </a:endParaRPr>
          </a:p>
        </p:txBody>
      </p:sp>
      <p:sp>
        <p:nvSpPr>
          <p:cNvPr id="13" name="TextBox 12">
            <a:extLst>
              <a:ext uri="{FF2B5EF4-FFF2-40B4-BE49-F238E27FC236}">
                <a16:creationId xmlns:a16="http://schemas.microsoft.com/office/drawing/2014/main" id="{19103CD7-FD3F-412F-98AB-FF685B138C50}"/>
              </a:ext>
            </a:extLst>
          </p:cNvPr>
          <p:cNvSpPr txBox="1"/>
          <p:nvPr/>
        </p:nvSpPr>
        <p:spPr>
          <a:xfrm>
            <a:off x="1446985" y="1596266"/>
            <a:ext cx="2498601" cy="646331"/>
          </a:xfrm>
          <a:prstGeom prst="rect">
            <a:avLst/>
          </a:prstGeom>
          <a:noFill/>
        </p:spPr>
        <p:txBody>
          <a:bodyPr wrap="square" rtlCol="0">
            <a:spAutoFit/>
          </a:bodyPr>
          <a:lstStyle/>
          <a:p>
            <a:r>
              <a:rPr lang="ja-JP" altLang="en-US">
                <a:latin typeface="Meiryo" panose="020B0604030504040204" pitchFamily="34" charset="-128"/>
                <a:ea typeface="Meiryo" panose="020B0604030504040204" pitchFamily="34" charset="-128"/>
              </a:rPr>
              <a:t>偽</a:t>
            </a:r>
            <a:r>
              <a:rPr lang="en-US" dirty="0">
                <a:latin typeface="Meiryo" panose="020B0604030504040204" pitchFamily="34" charset="-128"/>
                <a:ea typeface="Meiryo" panose="020B0604030504040204" pitchFamily="34" charset="-128"/>
              </a:rPr>
              <a:t>ARP Reply</a:t>
            </a:r>
          </a:p>
          <a:p>
            <a:r>
              <a:rPr lang="en-US" b="0" i="0" dirty="0">
                <a:solidFill>
                  <a:srgbClr val="000000"/>
                </a:solidFill>
                <a:effectLst/>
                <a:latin typeface="Arial" panose="020B0604020202020204" pitchFamily="34" charset="0"/>
              </a:rPr>
              <a:t>.1.100=XX:XX:XX(</a:t>
            </a:r>
            <a:r>
              <a:rPr lang="ja-JP" altLang="en-US" b="0" i="0">
                <a:solidFill>
                  <a:srgbClr val="000000"/>
                </a:solidFill>
                <a:effectLst/>
                <a:latin typeface="Arial" panose="020B0604020202020204" pitchFamily="34" charset="0"/>
              </a:rPr>
              <a:t>私</a:t>
            </a:r>
            <a:r>
              <a:rPr lang="en-US" altLang="ja-JP" b="0" i="0" dirty="0">
                <a:solidFill>
                  <a:srgbClr val="000000"/>
                </a:solidFill>
                <a:effectLst/>
                <a:latin typeface="Arial" panose="020B0604020202020204" pitchFamily="34" charset="0"/>
              </a:rPr>
              <a:t>)</a:t>
            </a:r>
            <a:endParaRPr lang="en-JP" dirty="0">
              <a:latin typeface="Meiryo" panose="020B0604030504040204" pitchFamily="34" charset="-128"/>
              <a:ea typeface="Meiryo" panose="020B0604030504040204" pitchFamily="34" charset="-128"/>
            </a:endParaRPr>
          </a:p>
        </p:txBody>
      </p:sp>
      <p:sp>
        <p:nvSpPr>
          <p:cNvPr id="3" name="Curved Down Arrow 2">
            <a:extLst>
              <a:ext uri="{FF2B5EF4-FFF2-40B4-BE49-F238E27FC236}">
                <a16:creationId xmlns:a16="http://schemas.microsoft.com/office/drawing/2014/main" id="{F42B9097-7321-FC1E-8B3E-9D0780A3B600}"/>
              </a:ext>
            </a:extLst>
          </p:cNvPr>
          <p:cNvSpPr/>
          <p:nvPr/>
        </p:nvSpPr>
        <p:spPr>
          <a:xfrm>
            <a:off x="5179595" y="1308511"/>
            <a:ext cx="3392905" cy="690002"/>
          </a:xfrm>
          <a:prstGeom prst="curvedDownArrow">
            <a:avLst>
              <a:gd name="adj1" fmla="val 25000"/>
              <a:gd name="adj2" fmla="val 50000"/>
              <a:gd name="adj3" fmla="val 14174"/>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chemeClr val="tx1"/>
              </a:solidFill>
            </a:endParaRPr>
          </a:p>
        </p:txBody>
      </p:sp>
      <p:sp>
        <p:nvSpPr>
          <p:cNvPr id="5" name="TextBox 4">
            <a:extLst>
              <a:ext uri="{FF2B5EF4-FFF2-40B4-BE49-F238E27FC236}">
                <a16:creationId xmlns:a16="http://schemas.microsoft.com/office/drawing/2014/main" id="{28E4B471-56BA-687A-B0FC-A2109045C5A4}"/>
              </a:ext>
            </a:extLst>
          </p:cNvPr>
          <p:cNvSpPr txBox="1"/>
          <p:nvPr/>
        </p:nvSpPr>
        <p:spPr>
          <a:xfrm>
            <a:off x="5800021" y="1790228"/>
            <a:ext cx="4631870" cy="369332"/>
          </a:xfrm>
          <a:prstGeom prst="rect">
            <a:avLst/>
          </a:prstGeom>
          <a:noFill/>
        </p:spPr>
        <p:txBody>
          <a:bodyPr wrap="square">
            <a:spAutoFit/>
          </a:bodyPr>
          <a:lstStyle/>
          <a:p>
            <a:r>
              <a:rPr lang="en-US" b="0" i="0" dirty="0">
                <a:solidFill>
                  <a:srgbClr val="000000"/>
                </a:solidFill>
                <a:effectLst/>
                <a:latin typeface="Arial" panose="020B0604020202020204" pitchFamily="34" charset="0"/>
              </a:rPr>
              <a:t>.1.20=XX:XX:XX(</a:t>
            </a:r>
            <a:r>
              <a:rPr lang="ja-JP" altLang="en-US" b="0" i="0">
                <a:solidFill>
                  <a:srgbClr val="000000"/>
                </a:solidFill>
                <a:effectLst/>
                <a:latin typeface="Arial" panose="020B0604020202020204" pitchFamily="34" charset="0"/>
              </a:rPr>
              <a:t>私</a:t>
            </a:r>
            <a:r>
              <a:rPr lang="en-US" altLang="ja-JP" b="0" i="0" dirty="0">
                <a:solidFill>
                  <a:srgbClr val="000000"/>
                </a:solidFill>
                <a:effectLst/>
                <a:latin typeface="Arial" panose="020B0604020202020204" pitchFamily="34" charset="0"/>
              </a:rPr>
              <a:t>)</a:t>
            </a:r>
            <a:endParaRPr lang="en-JP" dirty="0"/>
          </a:p>
        </p:txBody>
      </p:sp>
      <p:sp>
        <p:nvSpPr>
          <p:cNvPr id="14" name="Down Arrow 13">
            <a:extLst>
              <a:ext uri="{FF2B5EF4-FFF2-40B4-BE49-F238E27FC236}">
                <a16:creationId xmlns:a16="http://schemas.microsoft.com/office/drawing/2014/main" id="{7E6F49AC-7646-891D-6838-08C68752F4CB}"/>
              </a:ext>
            </a:extLst>
          </p:cNvPr>
          <p:cNvSpPr/>
          <p:nvPr/>
        </p:nvSpPr>
        <p:spPr>
          <a:xfrm>
            <a:off x="740197" y="4087900"/>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26" name="Rounded Rectangle 25">
            <a:extLst>
              <a:ext uri="{FF2B5EF4-FFF2-40B4-BE49-F238E27FC236}">
                <a16:creationId xmlns:a16="http://schemas.microsoft.com/office/drawing/2014/main" id="{EE2ACDBA-0979-5F65-5ED4-9B2D253073A9}"/>
              </a:ext>
            </a:extLst>
          </p:cNvPr>
          <p:cNvSpPr/>
          <p:nvPr/>
        </p:nvSpPr>
        <p:spPr>
          <a:xfrm>
            <a:off x="6779823" y="4689834"/>
            <a:ext cx="2213332" cy="1249650"/>
          </a:xfrm>
          <a:prstGeom prst="roundRect">
            <a:avLst/>
          </a:prstGeom>
          <a:solidFill>
            <a:schemeClr val="bg2">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eiryo" panose="020B0604030504040204" pitchFamily="34" charset="-128"/>
                <a:ea typeface="Meiryo" panose="020B0604030504040204" pitchFamily="34" charset="-128"/>
              </a:rPr>
              <a:t>Cache（</a:t>
            </a:r>
            <a:r>
              <a:rPr lang="ja-JP" altLang="en-US" b="1">
                <a:solidFill>
                  <a:schemeClr val="tx1"/>
                </a:solidFill>
                <a:latin typeface="Meiryo" panose="020B0604030504040204" pitchFamily="34" charset="-128"/>
                <a:ea typeface="Meiryo" panose="020B0604030504040204" pitchFamily="34" charset="-128"/>
              </a:rPr>
              <a:t>汚染後）</a:t>
            </a:r>
          </a:p>
          <a:p>
            <a:pPr algn="ctr"/>
            <a:r>
              <a:rPr lang="en-US" altLang="ja-JP" b="1" dirty="0">
                <a:solidFill>
                  <a:schemeClr val="tx1"/>
                </a:solidFill>
                <a:latin typeface="Meiryo" panose="020B0604030504040204" pitchFamily="34" charset="-128"/>
                <a:ea typeface="Meiryo" panose="020B0604030504040204" pitchFamily="34" charset="-128"/>
              </a:rPr>
              <a:t>.1.20 → </a:t>
            </a:r>
            <a:r>
              <a:rPr lang="en-US" b="1" dirty="0">
                <a:solidFill>
                  <a:schemeClr val="tx1"/>
                </a:solidFill>
                <a:latin typeface="Meiryo" panose="020B0604030504040204" pitchFamily="34" charset="-128"/>
                <a:ea typeface="Meiryo" panose="020B0604030504040204" pitchFamily="34" charset="-128"/>
              </a:rPr>
              <a:t>XX:XX:XX </a:t>
            </a:r>
            <a:endParaRPr lang="en-JP" b="1" dirty="0">
              <a:solidFill>
                <a:schemeClr val="tx1"/>
              </a:solidFill>
              <a:latin typeface="Meiryo" panose="020B0604030504040204" pitchFamily="34" charset="-128"/>
              <a:ea typeface="Meiryo" panose="020B0604030504040204" pitchFamily="34" charset="-128"/>
            </a:endParaRPr>
          </a:p>
        </p:txBody>
      </p:sp>
      <p:sp>
        <p:nvSpPr>
          <p:cNvPr id="27" name="Down Arrow 26">
            <a:extLst>
              <a:ext uri="{FF2B5EF4-FFF2-40B4-BE49-F238E27FC236}">
                <a16:creationId xmlns:a16="http://schemas.microsoft.com/office/drawing/2014/main" id="{63EF4AEC-D623-AB39-EF1D-E6BB824D642D}"/>
              </a:ext>
            </a:extLst>
          </p:cNvPr>
          <p:cNvSpPr/>
          <p:nvPr/>
        </p:nvSpPr>
        <p:spPr>
          <a:xfrm>
            <a:off x="7744954" y="4365381"/>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28" name="Rounded Rectangle 27">
            <a:extLst>
              <a:ext uri="{FF2B5EF4-FFF2-40B4-BE49-F238E27FC236}">
                <a16:creationId xmlns:a16="http://schemas.microsoft.com/office/drawing/2014/main" id="{276DF4A9-2C4F-E5CB-8A04-D714C2FBCB50}"/>
              </a:ext>
            </a:extLst>
          </p:cNvPr>
          <p:cNvSpPr/>
          <p:nvPr/>
        </p:nvSpPr>
        <p:spPr>
          <a:xfrm>
            <a:off x="20250" y="4606232"/>
            <a:ext cx="2213332" cy="1249650"/>
          </a:xfrm>
          <a:prstGeom prst="roundRect">
            <a:avLst/>
          </a:prstGeom>
          <a:solidFill>
            <a:schemeClr val="bg2">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latin typeface="Meiryo" panose="020B0604030504040204" pitchFamily="34" charset="-128"/>
              <a:ea typeface="Meiryo" panose="020B0604030504040204" pitchFamily="34" charset="-128"/>
            </a:endParaRPr>
          </a:p>
          <a:p>
            <a:r>
              <a:rPr lang="en-US" b="1" dirty="0">
                <a:solidFill>
                  <a:schemeClr val="tx1"/>
                </a:solidFill>
                <a:latin typeface="Meiryo" panose="020B0604030504040204" pitchFamily="34" charset="-128"/>
                <a:ea typeface="Meiryo" panose="020B0604030504040204" pitchFamily="34" charset="-128"/>
              </a:rPr>
              <a:t>Cache（</a:t>
            </a:r>
            <a:r>
              <a:rPr lang="ja-JP" altLang="en-US" b="1">
                <a:solidFill>
                  <a:schemeClr val="tx1"/>
                </a:solidFill>
                <a:latin typeface="Meiryo" panose="020B0604030504040204" pitchFamily="34" charset="-128"/>
                <a:ea typeface="Meiryo" panose="020B0604030504040204" pitchFamily="34" charset="-128"/>
              </a:rPr>
              <a:t>汚染後）</a:t>
            </a:r>
            <a:endParaRPr lang="en-US" altLang="ja-JP" b="1" dirty="0">
              <a:solidFill>
                <a:schemeClr val="tx1"/>
              </a:solidFill>
              <a:latin typeface="Meiryo" panose="020B0604030504040204" pitchFamily="34" charset="-128"/>
              <a:ea typeface="Meiryo" panose="020B0604030504040204" pitchFamily="34" charset="-128"/>
            </a:endParaRPr>
          </a:p>
          <a:p>
            <a:r>
              <a:rPr lang="en-US" altLang="ja-JP" b="1" dirty="0">
                <a:solidFill>
                  <a:schemeClr val="tx1"/>
                </a:solidFill>
                <a:latin typeface="Meiryo" panose="020B0604030504040204" pitchFamily="34" charset="-128"/>
                <a:ea typeface="Meiryo" panose="020B0604030504040204" pitchFamily="34" charset="-128"/>
              </a:rPr>
              <a:t>.1.100 → </a:t>
            </a:r>
            <a:r>
              <a:rPr lang="en-US" b="1" dirty="0">
                <a:solidFill>
                  <a:schemeClr val="tx1"/>
                </a:solidFill>
                <a:latin typeface="Meiryo" panose="020B0604030504040204" pitchFamily="34" charset="-128"/>
                <a:ea typeface="Meiryo" panose="020B0604030504040204" pitchFamily="34" charset="-128"/>
              </a:rPr>
              <a:t>XX:XX:XX</a:t>
            </a:r>
            <a:endParaRPr lang="en-JP"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4457366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提案手法    </a:t>
            </a:r>
            <a:endParaRPr lang="mn-MN"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26</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34570402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26910D3-3090-2BBB-D153-8944E39ED6BB}"/>
              </a:ext>
            </a:extLst>
          </p:cNvPr>
          <p:cNvPicPr>
            <a:picLocks noChangeAspect="1"/>
          </p:cNvPicPr>
          <p:nvPr/>
        </p:nvPicPr>
        <p:blipFill>
          <a:blip r:embed="rId2"/>
          <a:stretch>
            <a:fillRect/>
          </a:stretch>
        </p:blipFill>
        <p:spPr>
          <a:xfrm>
            <a:off x="53855" y="1790178"/>
            <a:ext cx="931817" cy="1746702"/>
          </a:xfrm>
          <a:prstGeom prst="rect">
            <a:avLst/>
          </a:prstGeom>
        </p:spPr>
      </p:pic>
      <p:sp>
        <p:nvSpPr>
          <p:cNvPr id="19" name="Left-Right Arrow 18">
            <a:extLst>
              <a:ext uri="{FF2B5EF4-FFF2-40B4-BE49-F238E27FC236}">
                <a16:creationId xmlns:a16="http://schemas.microsoft.com/office/drawing/2014/main" id="{BE439358-D81D-75A7-8A1E-C4D6799A7ABD}"/>
              </a:ext>
            </a:extLst>
          </p:cNvPr>
          <p:cNvSpPr/>
          <p:nvPr/>
        </p:nvSpPr>
        <p:spPr>
          <a:xfrm>
            <a:off x="992105" y="3147071"/>
            <a:ext cx="1256476" cy="131402"/>
          </a:xfrm>
          <a:prstGeom prst="lef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a:p>
        </p:txBody>
      </p:sp>
      <p:pic>
        <p:nvPicPr>
          <p:cNvPr id="32" name="Picture 31">
            <a:extLst>
              <a:ext uri="{FF2B5EF4-FFF2-40B4-BE49-F238E27FC236}">
                <a16:creationId xmlns:a16="http://schemas.microsoft.com/office/drawing/2014/main" id="{02D4093D-AE87-3993-FD2B-5CB283B08F20}"/>
              </a:ext>
            </a:extLst>
          </p:cNvPr>
          <p:cNvPicPr>
            <a:picLocks noChangeAspect="1"/>
          </p:cNvPicPr>
          <p:nvPr/>
        </p:nvPicPr>
        <p:blipFill>
          <a:blip r:embed="rId3"/>
          <a:stretch>
            <a:fillRect/>
          </a:stretch>
        </p:blipFill>
        <p:spPr>
          <a:xfrm>
            <a:off x="1990508" y="932923"/>
            <a:ext cx="760795" cy="476990"/>
          </a:xfrm>
          <a:prstGeom prst="rect">
            <a:avLst/>
          </a:prstGeom>
        </p:spPr>
      </p:pic>
      <p:sp>
        <p:nvSpPr>
          <p:cNvPr id="46" name="Bent Arrow 45">
            <a:extLst>
              <a:ext uri="{FF2B5EF4-FFF2-40B4-BE49-F238E27FC236}">
                <a16:creationId xmlns:a16="http://schemas.microsoft.com/office/drawing/2014/main" id="{7C11349D-3AF5-ECB8-5C22-074F0C9F2A25}"/>
              </a:ext>
            </a:extLst>
          </p:cNvPr>
          <p:cNvSpPr/>
          <p:nvPr/>
        </p:nvSpPr>
        <p:spPr>
          <a:xfrm rot="10800000">
            <a:off x="7100776" y="3563197"/>
            <a:ext cx="1649841" cy="188693"/>
          </a:xfrm>
          <a:prstGeom prst="ben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dirty="0">
              <a:solidFill>
                <a:schemeClr val="tx1"/>
              </a:solidFill>
            </a:endParaRPr>
          </a:p>
        </p:txBody>
      </p:sp>
      <p:pic>
        <p:nvPicPr>
          <p:cNvPr id="47" name="Picture 46">
            <a:extLst>
              <a:ext uri="{FF2B5EF4-FFF2-40B4-BE49-F238E27FC236}">
                <a16:creationId xmlns:a16="http://schemas.microsoft.com/office/drawing/2014/main" id="{5242EC0E-823D-0539-252E-FE3698BDE659}"/>
              </a:ext>
            </a:extLst>
          </p:cNvPr>
          <p:cNvPicPr>
            <a:picLocks noChangeAspect="1"/>
          </p:cNvPicPr>
          <p:nvPr/>
        </p:nvPicPr>
        <p:blipFill>
          <a:blip r:embed="rId4"/>
          <a:stretch>
            <a:fillRect/>
          </a:stretch>
        </p:blipFill>
        <p:spPr>
          <a:xfrm>
            <a:off x="7212686" y="1418060"/>
            <a:ext cx="1502588" cy="942808"/>
          </a:xfrm>
          <a:prstGeom prst="rect">
            <a:avLst/>
          </a:prstGeom>
        </p:spPr>
      </p:pic>
      <p:sp>
        <p:nvSpPr>
          <p:cNvPr id="48" name="TextBox 47">
            <a:extLst>
              <a:ext uri="{FF2B5EF4-FFF2-40B4-BE49-F238E27FC236}">
                <a16:creationId xmlns:a16="http://schemas.microsoft.com/office/drawing/2014/main" id="{AFC1EF38-B3C8-4959-0A80-3741677F9330}"/>
              </a:ext>
            </a:extLst>
          </p:cNvPr>
          <p:cNvSpPr txBox="1"/>
          <p:nvPr/>
        </p:nvSpPr>
        <p:spPr>
          <a:xfrm>
            <a:off x="7504991" y="2338335"/>
            <a:ext cx="1022132" cy="307777"/>
          </a:xfrm>
          <a:prstGeom prst="rect">
            <a:avLst/>
          </a:prstGeom>
          <a:noFill/>
        </p:spPr>
        <p:txBody>
          <a:bodyPr wrap="square" rtlCol="0">
            <a:spAutoFit/>
          </a:bodyPr>
          <a:lstStyle/>
          <a:p>
            <a:r>
              <a:rPr lang="en-JP" sz="1400" b="1" dirty="0">
                <a:solidFill>
                  <a:srgbClr val="C00000"/>
                </a:solidFill>
                <a:latin typeface="Meiryo" panose="020B0604030504040204" pitchFamily="34" charset="-128"/>
                <a:ea typeface="Meiryo" panose="020B0604030504040204" pitchFamily="34" charset="-128"/>
              </a:rPr>
              <a:t>Attacker</a:t>
            </a:r>
          </a:p>
        </p:txBody>
      </p:sp>
      <p:sp>
        <p:nvSpPr>
          <p:cNvPr id="49" name="Left-Right Arrow 48">
            <a:extLst>
              <a:ext uri="{FF2B5EF4-FFF2-40B4-BE49-F238E27FC236}">
                <a16:creationId xmlns:a16="http://schemas.microsoft.com/office/drawing/2014/main" id="{1A47444E-9524-0334-8B6D-33B2E0A4D864}"/>
              </a:ext>
            </a:extLst>
          </p:cNvPr>
          <p:cNvSpPr/>
          <p:nvPr/>
        </p:nvSpPr>
        <p:spPr>
          <a:xfrm>
            <a:off x="7374254" y="2993246"/>
            <a:ext cx="1022132" cy="127595"/>
          </a:xfrm>
          <a:prstGeom prst="leftRightArrow">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a:p>
        </p:txBody>
      </p:sp>
      <p:sp>
        <p:nvSpPr>
          <p:cNvPr id="50" name="TextBox 49">
            <a:extLst>
              <a:ext uri="{FF2B5EF4-FFF2-40B4-BE49-F238E27FC236}">
                <a16:creationId xmlns:a16="http://schemas.microsoft.com/office/drawing/2014/main" id="{FCFD3722-4FB7-9603-24F0-072A9421029B}"/>
              </a:ext>
            </a:extLst>
          </p:cNvPr>
          <p:cNvSpPr txBox="1"/>
          <p:nvPr/>
        </p:nvSpPr>
        <p:spPr>
          <a:xfrm>
            <a:off x="7137057" y="3367389"/>
            <a:ext cx="1585564" cy="300082"/>
          </a:xfrm>
          <a:prstGeom prst="rect">
            <a:avLst/>
          </a:prstGeom>
          <a:noFill/>
        </p:spPr>
        <p:txBody>
          <a:bodyPr wrap="square" rtlCol="0">
            <a:spAutoFit/>
          </a:bodyPr>
          <a:lstStyle/>
          <a:p>
            <a:r>
              <a:rPr lang="en-US" sz="1350" dirty="0">
                <a:solidFill>
                  <a:srgbClr val="C00000"/>
                </a:solidFill>
              </a:rPr>
              <a:t>ARP Spoofing </a:t>
            </a:r>
            <a:endParaRPr lang="en-JP" sz="1350" dirty="0">
              <a:solidFill>
                <a:srgbClr val="C00000"/>
              </a:solidFill>
            </a:endParaRPr>
          </a:p>
        </p:txBody>
      </p:sp>
      <p:pic>
        <p:nvPicPr>
          <p:cNvPr id="52" name="Picture 51">
            <a:extLst>
              <a:ext uri="{FF2B5EF4-FFF2-40B4-BE49-F238E27FC236}">
                <a16:creationId xmlns:a16="http://schemas.microsoft.com/office/drawing/2014/main" id="{E7F1857C-32CF-5FC8-AB7D-D96FFB8BE504}"/>
              </a:ext>
            </a:extLst>
          </p:cNvPr>
          <p:cNvPicPr>
            <a:picLocks noChangeAspect="1"/>
          </p:cNvPicPr>
          <p:nvPr/>
        </p:nvPicPr>
        <p:blipFill>
          <a:blip r:embed="rId5"/>
          <a:stretch>
            <a:fillRect/>
          </a:stretch>
        </p:blipFill>
        <p:spPr>
          <a:xfrm>
            <a:off x="370063" y="976521"/>
            <a:ext cx="1023272" cy="528638"/>
          </a:xfrm>
          <a:prstGeom prst="rect">
            <a:avLst/>
          </a:prstGeom>
        </p:spPr>
      </p:pic>
      <p:sp>
        <p:nvSpPr>
          <p:cNvPr id="55" name="Bent Arrow 54">
            <a:extLst>
              <a:ext uri="{FF2B5EF4-FFF2-40B4-BE49-F238E27FC236}">
                <a16:creationId xmlns:a16="http://schemas.microsoft.com/office/drawing/2014/main" id="{71DCE43E-E4DC-DB63-1CE8-D0A7F2FC1E6E}"/>
              </a:ext>
            </a:extLst>
          </p:cNvPr>
          <p:cNvSpPr/>
          <p:nvPr/>
        </p:nvSpPr>
        <p:spPr>
          <a:xfrm flipV="1">
            <a:off x="745893" y="4647734"/>
            <a:ext cx="1256476" cy="267290"/>
          </a:xfrm>
          <a:prstGeom prst="bentArrow">
            <a:avLst/>
          </a:prstGeom>
          <a:solidFill>
            <a:schemeClr val="accent6">
              <a:lumMod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dirty="0">
              <a:solidFill>
                <a:schemeClr val="tx1"/>
              </a:solidFill>
            </a:endParaRPr>
          </a:p>
        </p:txBody>
      </p:sp>
      <p:sp>
        <p:nvSpPr>
          <p:cNvPr id="59" name="TextBox 58">
            <a:extLst>
              <a:ext uri="{FF2B5EF4-FFF2-40B4-BE49-F238E27FC236}">
                <a16:creationId xmlns:a16="http://schemas.microsoft.com/office/drawing/2014/main" id="{891AB5D9-182E-25DA-5AF2-2607A252597A}"/>
              </a:ext>
            </a:extLst>
          </p:cNvPr>
          <p:cNvSpPr txBox="1"/>
          <p:nvPr/>
        </p:nvSpPr>
        <p:spPr>
          <a:xfrm>
            <a:off x="313715" y="4916181"/>
            <a:ext cx="2081368" cy="369332"/>
          </a:xfrm>
          <a:prstGeom prst="rect">
            <a:avLst/>
          </a:prstGeom>
          <a:noFill/>
        </p:spPr>
        <p:txBody>
          <a:bodyPr wrap="square">
            <a:spAutoFit/>
          </a:bodyPr>
          <a:lstStyle/>
          <a:p>
            <a:r>
              <a:rPr lang="en-JP"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Enctypted Traffic</a:t>
            </a:r>
          </a:p>
        </p:txBody>
      </p:sp>
      <p:sp>
        <p:nvSpPr>
          <p:cNvPr id="61" name="TextBox 60">
            <a:extLst>
              <a:ext uri="{FF2B5EF4-FFF2-40B4-BE49-F238E27FC236}">
                <a16:creationId xmlns:a16="http://schemas.microsoft.com/office/drawing/2014/main" id="{D5A88AA2-713E-292F-37BC-DEFDFA0B5F38}"/>
              </a:ext>
            </a:extLst>
          </p:cNvPr>
          <p:cNvSpPr txBox="1"/>
          <p:nvPr/>
        </p:nvSpPr>
        <p:spPr>
          <a:xfrm>
            <a:off x="7308531" y="4150297"/>
            <a:ext cx="2529110" cy="300082"/>
          </a:xfrm>
          <a:prstGeom prst="rect">
            <a:avLst/>
          </a:prstGeom>
          <a:noFill/>
        </p:spPr>
        <p:txBody>
          <a:bodyPr wrap="square">
            <a:spAutoFit/>
          </a:bodyPr>
          <a:lstStyle/>
          <a:p>
            <a:r>
              <a:rPr lang="en-JP" sz="1350" b="1" dirty="0">
                <a:solidFill>
                  <a:srgbClr val="C00000"/>
                </a:solidFill>
                <a:latin typeface="Meiryo" panose="020B0604030504040204" pitchFamily="34" charset="-128"/>
                <a:ea typeface="Meiryo" panose="020B0604030504040204" pitchFamily="34" charset="-128"/>
              </a:rPr>
              <a:t>Malicious Traffic</a:t>
            </a:r>
          </a:p>
        </p:txBody>
      </p:sp>
      <p:cxnSp>
        <p:nvCxnSpPr>
          <p:cNvPr id="62" name="Straight Arrow Connector 61">
            <a:extLst>
              <a:ext uri="{FF2B5EF4-FFF2-40B4-BE49-F238E27FC236}">
                <a16:creationId xmlns:a16="http://schemas.microsoft.com/office/drawing/2014/main" id="{C43E0002-502B-4332-50FE-25EC941789E1}"/>
              </a:ext>
            </a:extLst>
          </p:cNvPr>
          <p:cNvCxnSpPr>
            <a:cxnSpLocks/>
          </p:cNvCxnSpPr>
          <p:nvPr/>
        </p:nvCxnSpPr>
        <p:spPr>
          <a:xfrm flipH="1">
            <a:off x="1354399" y="1240840"/>
            <a:ext cx="647970" cy="0"/>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67" name="TextBox 66">
            <a:extLst>
              <a:ext uri="{FF2B5EF4-FFF2-40B4-BE49-F238E27FC236}">
                <a16:creationId xmlns:a16="http://schemas.microsoft.com/office/drawing/2014/main" id="{25C0994D-DE4E-C824-2D4D-04EA154EC4AF}"/>
              </a:ext>
            </a:extLst>
          </p:cNvPr>
          <p:cNvSpPr txBox="1"/>
          <p:nvPr/>
        </p:nvSpPr>
        <p:spPr>
          <a:xfrm>
            <a:off x="456732" y="3915502"/>
            <a:ext cx="4759286" cy="646331"/>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E</a:t>
            </a:r>
            <a:r>
              <a:rPr lang="en-JP" dirty="0">
                <a:latin typeface="Times New Roman" panose="02020603050405020304" pitchFamily="18" charset="0"/>
                <a:cs typeface="Times New Roman" panose="02020603050405020304" pitchFamily="18" charset="0"/>
              </a:rPr>
              <a:t>ncrypte </a:t>
            </a:r>
          </a:p>
          <a:p>
            <a:r>
              <a:rPr lang="en-JP" dirty="0">
                <a:latin typeface="Times New Roman" panose="02020603050405020304" pitchFamily="18" charset="0"/>
                <a:cs typeface="Times New Roman" panose="02020603050405020304" pitchFamily="18" charset="0"/>
              </a:rPr>
              <a:t>communication</a:t>
            </a:r>
          </a:p>
        </p:txBody>
      </p:sp>
      <p:sp>
        <p:nvSpPr>
          <p:cNvPr id="69" name="Rectangle 68">
            <a:extLst>
              <a:ext uri="{FF2B5EF4-FFF2-40B4-BE49-F238E27FC236}">
                <a16:creationId xmlns:a16="http://schemas.microsoft.com/office/drawing/2014/main" id="{B504446D-2D8F-4558-50FC-7D796330FFCD}"/>
              </a:ext>
            </a:extLst>
          </p:cNvPr>
          <p:cNvSpPr/>
          <p:nvPr/>
        </p:nvSpPr>
        <p:spPr>
          <a:xfrm>
            <a:off x="2215785" y="1563920"/>
            <a:ext cx="4759286" cy="4674001"/>
          </a:xfrm>
          <a:prstGeom prst="rect">
            <a:avLst/>
          </a:prstGeom>
          <a:ln w="444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JP" sz="1350" dirty="0"/>
          </a:p>
        </p:txBody>
      </p:sp>
      <p:pic>
        <p:nvPicPr>
          <p:cNvPr id="71" name="Picture 70">
            <a:extLst>
              <a:ext uri="{FF2B5EF4-FFF2-40B4-BE49-F238E27FC236}">
                <a16:creationId xmlns:a16="http://schemas.microsoft.com/office/drawing/2014/main" id="{BAB59F2A-2C15-6B64-879F-0962A652407D}"/>
              </a:ext>
            </a:extLst>
          </p:cNvPr>
          <p:cNvPicPr>
            <a:picLocks noChangeAspect="1"/>
          </p:cNvPicPr>
          <p:nvPr/>
        </p:nvPicPr>
        <p:blipFill>
          <a:blip r:embed="rId6"/>
          <a:stretch>
            <a:fillRect/>
          </a:stretch>
        </p:blipFill>
        <p:spPr>
          <a:xfrm>
            <a:off x="2499716" y="1671995"/>
            <a:ext cx="923925" cy="496899"/>
          </a:xfrm>
          <a:prstGeom prst="rect">
            <a:avLst/>
          </a:prstGeom>
        </p:spPr>
      </p:pic>
      <p:cxnSp>
        <p:nvCxnSpPr>
          <p:cNvPr id="72" name="Straight Arrow Connector 71">
            <a:extLst>
              <a:ext uri="{FF2B5EF4-FFF2-40B4-BE49-F238E27FC236}">
                <a16:creationId xmlns:a16="http://schemas.microsoft.com/office/drawing/2014/main" id="{AD6B0973-C973-C2DB-2360-734D9A600D13}"/>
              </a:ext>
            </a:extLst>
          </p:cNvPr>
          <p:cNvCxnSpPr>
            <a:cxnSpLocks/>
          </p:cNvCxnSpPr>
          <p:nvPr/>
        </p:nvCxnSpPr>
        <p:spPr>
          <a:xfrm flipV="1">
            <a:off x="4014812" y="2019290"/>
            <a:ext cx="0" cy="341374"/>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74" name="Rounded Rectangle 73">
            <a:extLst>
              <a:ext uri="{FF2B5EF4-FFF2-40B4-BE49-F238E27FC236}">
                <a16:creationId xmlns:a16="http://schemas.microsoft.com/office/drawing/2014/main" id="{29D365C1-027F-8B86-7EDD-104EF734B89C}"/>
              </a:ext>
            </a:extLst>
          </p:cNvPr>
          <p:cNvSpPr/>
          <p:nvPr/>
        </p:nvSpPr>
        <p:spPr>
          <a:xfrm>
            <a:off x="2388097" y="2468907"/>
            <a:ext cx="1454618" cy="921293"/>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ja-JP" altLang="en-US" sz="1600" b="1" i="0">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透過型</a:t>
            </a:r>
            <a:endParaRPr lang="en-US" altLang="ja-JP" sz="1600" b="1" i="0" dirty="0">
              <a:solidFill>
                <a:schemeClr val="tx1"/>
              </a:solidFill>
              <a:effectLst/>
              <a:latin typeface="Meiryo" panose="020B0604030504040204" pitchFamily="34" charset="-128"/>
              <a:ea typeface="Meiryo" panose="020B0604030504040204" pitchFamily="34" charset="-128"/>
              <a:cs typeface="Times New Roman" panose="02020603050405020304" pitchFamily="18" charset="0"/>
            </a:endParaRPr>
          </a:p>
          <a:p>
            <a:pPr algn="ctr"/>
            <a:r>
              <a:rPr lang="en-US" sz="1600" b="1" dirty="0">
                <a:solidFill>
                  <a:schemeClr val="tx1"/>
                </a:solidFill>
                <a:latin typeface="Meiryo" panose="020B0604030504040204" pitchFamily="34" charset="-128"/>
                <a:ea typeface="Meiryo" panose="020B0604030504040204" pitchFamily="34" charset="-128"/>
              </a:rPr>
              <a:t>IDS</a:t>
            </a:r>
            <a:endParaRPr lang="en-JP" sz="1600" b="1" dirty="0">
              <a:solidFill>
                <a:schemeClr val="tx1"/>
              </a:solidFill>
              <a:latin typeface="Meiryo" panose="020B0604030504040204" pitchFamily="34" charset="-128"/>
              <a:ea typeface="Meiryo" panose="020B0604030504040204" pitchFamily="34" charset="-128"/>
            </a:endParaRPr>
          </a:p>
        </p:txBody>
      </p:sp>
      <p:sp>
        <p:nvSpPr>
          <p:cNvPr id="75" name="TextBox 74">
            <a:extLst>
              <a:ext uri="{FF2B5EF4-FFF2-40B4-BE49-F238E27FC236}">
                <a16:creationId xmlns:a16="http://schemas.microsoft.com/office/drawing/2014/main" id="{69BCDBDA-8FA8-D6BB-1EC1-433FB61C2A89}"/>
              </a:ext>
            </a:extLst>
          </p:cNvPr>
          <p:cNvSpPr txBox="1"/>
          <p:nvPr/>
        </p:nvSpPr>
        <p:spPr>
          <a:xfrm>
            <a:off x="5435727" y="2216555"/>
            <a:ext cx="1511999"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a:t>
            </a:r>
            <a:r>
              <a:rPr lang="en-JP" sz="1600" dirty="0">
                <a:latin typeface="Times New Roman" panose="02020603050405020304" pitchFamily="18" charset="0"/>
                <a:cs typeface="Times New Roman" panose="02020603050405020304" pitchFamily="18" charset="0"/>
              </a:rPr>
              <a:t>ttackdetected</a:t>
            </a:r>
          </a:p>
        </p:txBody>
      </p:sp>
      <p:pic>
        <p:nvPicPr>
          <p:cNvPr id="76" name="Picture 75">
            <a:extLst>
              <a:ext uri="{FF2B5EF4-FFF2-40B4-BE49-F238E27FC236}">
                <a16:creationId xmlns:a16="http://schemas.microsoft.com/office/drawing/2014/main" id="{2522D428-DA88-8105-A9FD-3F9A961CEE1E}"/>
              </a:ext>
            </a:extLst>
          </p:cNvPr>
          <p:cNvPicPr>
            <a:picLocks noChangeAspect="1"/>
          </p:cNvPicPr>
          <p:nvPr/>
        </p:nvPicPr>
        <p:blipFill>
          <a:blip r:embed="rId7"/>
          <a:stretch>
            <a:fillRect/>
          </a:stretch>
        </p:blipFill>
        <p:spPr>
          <a:xfrm>
            <a:off x="5720361" y="1671995"/>
            <a:ext cx="737585" cy="458875"/>
          </a:xfrm>
          <a:prstGeom prst="rect">
            <a:avLst/>
          </a:prstGeom>
        </p:spPr>
      </p:pic>
      <p:pic>
        <p:nvPicPr>
          <p:cNvPr id="77" name="Picture 76">
            <a:extLst>
              <a:ext uri="{FF2B5EF4-FFF2-40B4-BE49-F238E27FC236}">
                <a16:creationId xmlns:a16="http://schemas.microsoft.com/office/drawing/2014/main" id="{E487F1D6-DB80-2319-057B-590470F5B51A}"/>
              </a:ext>
            </a:extLst>
          </p:cNvPr>
          <p:cNvPicPr>
            <a:picLocks noChangeAspect="1"/>
          </p:cNvPicPr>
          <p:nvPr/>
        </p:nvPicPr>
        <p:blipFill>
          <a:blip r:embed="rId8"/>
          <a:stretch>
            <a:fillRect/>
          </a:stretch>
        </p:blipFill>
        <p:spPr>
          <a:xfrm>
            <a:off x="2449417" y="3484146"/>
            <a:ext cx="253890" cy="351301"/>
          </a:xfrm>
          <a:prstGeom prst="rect">
            <a:avLst/>
          </a:prstGeom>
        </p:spPr>
      </p:pic>
      <p:pic>
        <p:nvPicPr>
          <p:cNvPr id="78" name="Picture 77">
            <a:extLst>
              <a:ext uri="{FF2B5EF4-FFF2-40B4-BE49-F238E27FC236}">
                <a16:creationId xmlns:a16="http://schemas.microsoft.com/office/drawing/2014/main" id="{243C226B-965D-EC73-25B8-EB65EC9BD176}"/>
              </a:ext>
            </a:extLst>
          </p:cNvPr>
          <p:cNvPicPr>
            <a:picLocks noChangeAspect="1"/>
          </p:cNvPicPr>
          <p:nvPr/>
        </p:nvPicPr>
        <p:blipFill>
          <a:blip r:embed="rId9"/>
          <a:stretch>
            <a:fillRect/>
          </a:stretch>
        </p:blipFill>
        <p:spPr>
          <a:xfrm>
            <a:off x="2267641" y="4000019"/>
            <a:ext cx="2513056" cy="2153385"/>
          </a:xfrm>
          <a:prstGeom prst="rect">
            <a:avLst/>
          </a:prstGeom>
        </p:spPr>
      </p:pic>
      <p:pic>
        <p:nvPicPr>
          <p:cNvPr id="79" name="Picture 78">
            <a:extLst>
              <a:ext uri="{FF2B5EF4-FFF2-40B4-BE49-F238E27FC236}">
                <a16:creationId xmlns:a16="http://schemas.microsoft.com/office/drawing/2014/main" id="{551B34E5-387C-D7B0-D5C6-7EDF59516651}"/>
              </a:ext>
            </a:extLst>
          </p:cNvPr>
          <p:cNvPicPr>
            <a:picLocks noChangeAspect="1"/>
          </p:cNvPicPr>
          <p:nvPr/>
        </p:nvPicPr>
        <p:blipFill>
          <a:blip r:embed="rId10"/>
          <a:stretch>
            <a:fillRect/>
          </a:stretch>
        </p:blipFill>
        <p:spPr>
          <a:xfrm>
            <a:off x="6539750" y="4110545"/>
            <a:ext cx="295275" cy="428625"/>
          </a:xfrm>
          <a:prstGeom prst="rect">
            <a:avLst/>
          </a:prstGeom>
        </p:spPr>
      </p:pic>
      <p:sp>
        <p:nvSpPr>
          <p:cNvPr id="80" name="TextBox 79">
            <a:extLst>
              <a:ext uri="{FF2B5EF4-FFF2-40B4-BE49-F238E27FC236}">
                <a16:creationId xmlns:a16="http://schemas.microsoft.com/office/drawing/2014/main" id="{269842F5-839E-4CCB-3E53-49919684E3D9}"/>
              </a:ext>
            </a:extLst>
          </p:cNvPr>
          <p:cNvSpPr txBox="1"/>
          <p:nvPr/>
        </p:nvSpPr>
        <p:spPr>
          <a:xfrm>
            <a:off x="3637057" y="1674734"/>
            <a:ext cx="1621021" cy="338554"/>
          </a:xfrm>
          <a:prstGeom prst="rect">
            <a:avLst/>
          </a:prstGeom>
          <a:noFill/>
        </p:spPr>
        <p:txBody>
          <a:bodyPr wrap="none" rtlCol="0">
            <a:spAutoFit/>
          </a:bodyPr>
          <a:lstStyle/>
          <a:p>
            <a:r>
              <a:rPr lang="en-JP" sz="1600" b="1" dirty="0">
                <a:latin typeface="Meiryo" panose="020B0604030504040204" pitchFamily="34" charset="-128"/>
                <a:ea typeface="Meiryo" panose="020B0604030504040204" pitchFamily="34" charset="-128"/>
              </a:rPr>
              <a:t>Home Router</a:t>
            </a:r>
          </a:p>
        </p:txBody>
      </p:sp>
      <p:cxnSp>
        <p:nvCxnSpPr>
          <p:cNvPr id="82" name="Elbow Connector 81">
            <a:extLst>
              <a:ext uri="{FF2B5EF4-FFF2-40B4-BE49-F238E27FC236}">
                <a16:creationId xmlns:a16="http://schemas.microsoft.com/office/drawing/2014/main" id="{406830F6-9980-48BA-FE75-6E6228A9C36F}"/>
              </a:ext>
            </a:extLst>
          </p:cNvPr>
          <p:cNvCxnSpPr>
            <a:cxnSpLocks/>
            <a:stCxn id="32" idx="3"/>
          </p:cNvCxnSpPr>
          <p:nvPr/>
        </p:nvCxnSpPr>
        <p:spPr>
          <a:xfrm>
            <a:off x="2751302" y="1171418"/>
            <a:ext cx="235403" cy="281387"/>
          </a:xfrm>
          <a:prstGeom prst="bentConnector2">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BE4082EC-1A41-7307-A3E9-6A317B3DAAC0}"/>
              </a:ext>
            </a:extLst>
          </p:cNvPr>
          <p:cNvSpPr txBox="1"/>
          <p:nvPr/>
        </p:nvSpPr>
        <p:spPr>
          <a:xfrm>
            <a:off x="3080589" y="6352759"/>
            <a:ext cx="4804731" cy="253916"/>
          </a:xfrm>
          <a:prstGeom prst="rect">
            <a:avLst/>
          </a:prstGeom>
          <a:noFill/>
        </p:spPr>
        <p:txBody>
          <a:bodyPr wrap="square">
            <a:spAutoFit/>
          </a:bodyPr>
          <a:lstStyle/>
          <a:p>
            <a:r>
              <a:rPr lang="ja-JP" altLang="en-US" sz="1050">
                <a:solidFill>
                  <a:srgbClr val="222222"/>
                </a:solidFill>
                <a:latin typeface="Meiryo" panose="020B0604030504040204" pitchFamily="34" charset="-128"/>
                <a:ea typeface="Meiryo" panose="020B0604030504040204" pitchFamily="34" charset="-128"/>
              </a:rPr>
              <a:t>システムの構成図 </a:t>
            </a:r>
            <a:r>
              <a:rPr lang="en-US" altLang="ja-JP" sz="1050" dirty="0">
                <a:solidFill>
                  <a:srgbClr val="222222"/>
                </a:solidFill>
                <a:latin typeface="Meiryo" panose="020B0604030504040204" pitchFamily="34" charset="-128"/>
                <a:ea typeface="Meiryo" panose="020B0604030504040204" pitchFamily="34" charset="-128"/>
              </a:rPr>
              <a:t>(</a:t>
            </a:r>
            <a:r>
              <a:rPr lang="en-US" altLang="ja-JP" sz="1050" dirty="0">
                <a:solidFill>
                  <a:srgbClr val="222222"/>
                </a:solidFill>
                <a:latin typeface="Arial" panose="020B0604020202020204" pitchFamily="34" charset="0"/>
              </a:rPr>
              <a:t>DTLS+CoAP+IDS)</a:t>
            </a:r>
            <a:endParaRPr lang="en-JP" sz="1050" dirty="0"/>
          </a:p>
        </p:txBody>
      </p:sp>
      <p:sp>
        <p:nvSpPr>
          <p:cNvPr id="89" name="TextBox 88">
            <a:extLst>
              <a:ext uri="{FF2B5EF4-FFF2-40B4-BE49-F238E27FC236}">
                <a16:creationId xmlns:a16="http://schemas.microsoft.com/office/drawing/2014/main" id="{A6D4E73D-98FD-997D-C073-2B686C7D397A}"/>
              </a:ext>
            </a:extLst>
          </p:cNvPr>
          <p:cNvSpPr txBox="1"/>
          <p:nvPr/>
        </p:nvSpPr>
        <p:spPr>
          <a:xfrm>
            <a:off x="2581150" y="4238788"/>
            <a:ext cx="5073267" cy="300082"/>
          </a:xfrm>
          <a:prstGeom prst="rect">
            <a:avLst/>
          </a:prstGeom>
          <a:noFill/>
        </p:spPr>
        <p:txBody>
          <a:bodyPr wrap="square">
            <a:spAutoFit/>
          </a:bodyPr>
          <a:lstStyle/>
          <a:p>
            <a:r>
              <a:rPr lang="en-US" sz="1350" dirty="0"/>
              <a:t>IoT Device</a:t>
            </a:r>
            <a:endParaRPr lang="en-JP" sz="1350" dirty="0"/>
          </a:p>
        </p:txBody>
      </p:sp>
      <p:sp>
        <p:nvSpPr>
          <p:cNvPr id="2" name="Left-Right Arrow 1">
            <a:extLst>
              <a:ext uri="{FF2B5EF4-FFF2-40B4-BE49-F238E27FC236}">
                <a16:creationId xmlns:a16="http://schemas.microsoft.com/office/drawing/2014/main" id="{971EB2E9-2C75-2F34-CB92-92682BE3D27D}"/>
              </a:ext>
            </a:extLst>
          </p:cNvPr>
          <p:cNvSpPr/>
          <p:nvPr/>
        </p:nvSpPr>
        <p:spPr>
          <a:xfrm rot="5400000">
            <a:off x="3010550" y="3666671"/>
            <a:ext cx="449640" cy="87904"/>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a:p>
        </p:txBody>
      </p:sp>
      <p:pic>
        <p:nvPicPr>
          <p:cNvPr id="3" name="Picture 2">
            <a:extLst>
              <a:ext uri="{FF2B5EF4-FFF2-40B4-BE49-F238E27FC236}">
                <a16:creationId xmlns:a16="http://schemas.microsoft.com/office/drawing/2014/main" id="{342C00CE-E3E9-31F5-6F0C-1CDF6E7696F7}"/>
              </a:ext>
            </a:extLst>
          </p:cNvPr>
          <p:cNvPicPr>
            <a:picLocks noChangeAspect="1"/>
          </p:cNvPicPr>
          <p:nvPr/>
        </p:nvPicPr>
        <p:blipFill>
          <a:blip r:embed="rId11"/>
          <a:stretch>
            <a:fillRect/>
          </a:stretch>
        </p:blipFill>
        <p:spPr>
          <a:xfrm>
            <a:off x="4080330" y="2308242"/>
            <a:ext cx="765884" cy="675740"/>
          </a:xfrm>
          <a:prstGeom prst="rect">
            <a:avLst/>
          </a:prstGeom>
        </p:spPr>
      </p:pic>
      <p:sp>
        <p:nvSpPr>
          <p:cNvPr id="5" name="Rounded Rectangle 4">
            <a:extLst>
              <a:ext uri="{FF2B5EF4-FFF2-40B4-BE49-F238E27FC236}">
                <a16:creationId xmlns:a16="http://schemas.microsoft.com/office/drawing/2014/main" id="{E05601E7-4251-F033-BCF1-09C9B2A2B194}"/>
              </a:ext>
            </a:extLst>
          </p:cNvPr>
          <p:cNvSpPr/>
          <p:nvPr/>
        </p:nvSpPr>
        <p:spPr>
          <a:xfrm>
            <a:off x="3986086" y="3107264"/>
            <a:ext cx="2732553" cy="623158"/>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ML-Based IDS</a:t>
            </a:r>
            <a:endParaRPr lang="en-JP" sz="2000" b="1" dirty="0">
              <a:solidFill>
                <a:schemeClr val="tx1"/>
              </a:solidFill>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95D04EF8-CD42-CA7E-BA41-374A8A72BB84}"/>
              </a:ext>
            </a:extLst>
          </p:cNvPr>
          <p:cNvSpPr txBox="1"/>
          <p:nvPr/>
        </p:nvSpPr>
        <p:spPr>
          <a:xfrm>
            <a:off x="4792887" y="4425119"/>
            <a:ext cx="1960041" cy="523220"/>
          </a:xfrm>
          <a:prstGeom prst="rect">
            <a:avLst/>
          </a:prstGeom>
          <a:noFill/>
        </p:spPr>
        <p:txBody>
          <a:bodyPr wrap="square">
            <a:spAutoFit/>
          </a:bodyPr>
          <a:lstStyle/>
          <a:p>
            <a:pPr algn="ctr"/>
            <a:r>
              <a:rPr lang="en-US" sz="1400" dirty="0" err="1">
                <a:latin typeface="Meiryo" panose="020B0604030504040204" pitchFamily="34" charset="-128"/>
                <a:ea typeface="Meiryo" panose="020B0604030504040204" pitchFamily="34" charset="-128"/>
              </a:rPr>
              <a:t>CoAP+DTLS</a:t>
            </a:r>
            <a:endParaRPr lang="en-US" sz="1400" dirty="0">
              <a:latin typeface="Meiryo" panose="020B0604030504040204" pitchFamily="34" charset="-128"/>
              <a:ea typeface="Meiryo" panose="020B0604030504040204" pitchFamily="34" charset="-128"/>
            </a:endParaRPr>
          </a:p>
          <a:p>
            <a:pPr algn="ctr"/>
            <a:r>
              <a:rPr lang="en-US" sz="1400" dirty="0">
                <a:latin typeface="Meiryo" panose="020B0604030504040204" pitchFamily="34" charset="-128"/>
                <a:ea typeface="Meiryo" panose="020B0604030504040204" pitchFamily="34" charset="-128"/>
              </a:rPr>
              <a:t>Encrypted Traffic</a:t>
            </a:r>
          </a:p>
        </p:txBody>
      </p:sp>
      <p:sp>
        <p:nvSpPr>
          <p:cNvPr id="11" name="Left-Right Arrow 10">
            <a:extLst>
              <a:ext uri="{FF2B5EF4-FFF2-40B4-BE49-F238E27FC236}">
                <a16:creationId xmlns:a16="http://schemas.microsoft.com/office/drawing/2014/main" id="{F987DCA4-F04F-CCF6-E614-BE4CE0D434DC}"/>
              </a:ext>
            </a:extLst>
          </p:cNvPr>
          <p:cNvSpPr/>
          <p:nvPr/>
        </p:nvSpPr>
        <p:spPr>
          <a:xfrm rot="5400000">
            <a:off x="4565213" y="3977908"/>
            <a:ext cx="203801" cy="34289"/>
          </a:xfrm>
          <a:prstGeom prst="lef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1350"/>
          </a:p>
        </p:txBody>
      </p:sp>
      <p:cxnSp>
        <p:nvCxnSpPr>
          <p:cNvPr id="12" name="Straight Arrow Connector 11">
            <a:extLst>
              <a:ext uri="{FF2B5EF4-FFF2-40B4-BE49-F238E27FC236}">
                <a16:creationId xmlns:a16="http://schemas.microsoft.com/office/drawing/2014/main" id="{A187074D-85F1-26FD-4405-B5FC9E741F05}"/>
              </a:ext>
            </a:extLst>
          </p:cNvPr>
          <p:cNvCxnSpPr>
            <a:cxnSpLocks/>
          </p:cNvCxnSpPr>
          <p:nvPr/>
        </p:nvCxnSpPr>
        <p:spPr>
          <a:xfrm>
            <a:off x="3908086" y="2812309"/>
            <a:ext cx="196869" cy="0"/>
          </a:xfrm>
          <a:prstGeom prst="straightConnector1">
            <a:avLst/>
          </a:prstGeom>
          <a:ln w="2540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
        <p:nvSpPr>
          <p:cNvPr id="17" name="TextBox 16">
            <a:extLst>
              <a:ext uri="{FF2B5EF4-FFF2-40B4-BE49-F238E27FC236}">
                <a16:creationId xmlns:a16="http://schemas.microsoft.com/office/drawing/2014/main" id="{A87472E4-6484-F57A-1DEB-1194E83964DA}"/>
              </a:ext>
            </a:extLst>
          </p:cNvPr>
          <p:cNvSpPr txBox="1"/>
          <p:nvPr/>
        </p:nvSpPr>
        <p:spPr>
          <a:xfrm>
            <a:off x="898564" y="3341357"/>
            <a:ext cx="1344792" cy="300082"/>
          </a:xfrm>
          <a:prstGeom prst="rect">
            <a:avLst/>
          </a:prstGeom>
          <a:noFill/>
        </p:spPr>
        <p:txBody>
          <a:bodyPr wrap="none" rtlCol="0">
            <a:spAutoFit/>
          </a:bodyPr>
          <a:lstStyle/>
          <a:p>
            <a:r>
              <a:rPr lang="en-US" sz="1350" dirty="0">
                <a:latin typeface="Meiryo" panose="020B0604030504040204" pitchFamily="34" charset="-128"/>
                <a:ea typeface="Meiryo" panose="020B0604030504040204" pitchFamily="34" charset="-128"/>
              </a:rPr>
              <a:t>Normal traffic</a:t>
            </a:r>
            <a:endParaRPr lang="en-JP" sz="1350" dirty="0">
              <a:latin typeface="Meiryo" panose="020B0604030504040204" pitchFamily="34" charset="-128"/>
              <a:ea typeface="Meiryo" panose="020B0604030504040204" pitchFamily="34" charset="-128"/>
            </a:endParaRPr>
          </a:p>
        </p:txBody>
      </p:sp>
      <p:cxnSp>
        <p:nvCxnSpPr>
          <p:cNvPr id="20" name="Straight Connector 19">
            <a:extLst>
              <a:ext uri="{FF2B5EF4-FFF2-40B4-BE49-F238E27FC236}">
                <a16:creationId xmlns:a16="http://schemas.microsoft.com/office/drawing/2014/main" id="{AA3528C9-DEBB-8727-73CE-904925C67FB3}"/>
              </a:ext>
            </a:extLst>
          </p:cNvPr>
          <p:cNvCxnSpPr>
            <a:cxnSpLocks/>
          </p:cNvCxnSpPr>
          <p:nvPr/>
        </p:nvCxnSpPr>
        <p:spPr>
          <a:xfrm>
            <a:off x="2195219" y="3975081"/>
            <a:ext cx="4779852" cy="19971"/>
          </a:xfrm>
          <a:prstGeom prst="line">
            <a:avLst/>
          </a:prstGeom>
          <a:ln w="38100">
            <a:solidFill>
              <a:schemeClr val="tx1">
                <a:alpha val="78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19DBBE-EC0E-4274-0B23-906CE9FD213C}"/>
              </a:ext>
            </a:extLst>
          </p:cNvPr>
          <p:cNvSpPr txBox="1"/>
          <p:nvPr/>
        </p:nvSpPr>
        <p:spPr>
          <a:xfrm>
            <a:off x="844826" y="367748"/>
            <a:ext cx="184731" cy="923330"/>
          </a:xfrm>
          <a:prstGeom prst="rect">
            <a:avLst/>
          </a:prstGeom>
          <a:noFill/>
        </p:spPr>
        <p:txBody>
          <a:bodyPr wrap="none" rtlCol="0">
            <a:spAutoFit/>
          </a:bodyPr>
          <a:lstStyle/>
          <a:p>
            <a:endParaRPr lang="en-JP" dirty="0"/>
          </a:p>
          <a:p>
            <a:endParaRPr lang="en-JP" dirty="0"/>
          </a:p>
          <a:p>
            <a:endParaRPr lang="en-JP" dirty="0"/>
          </a:p>
        </p:txBody>
      </p:sp>
      <p:sp>
        <p:nvSpPr>
          <p:cNvPr id="14" name="Shape 0">
            <a:extLst>
              <a:ext uri="{FF2B5EF4-FFF2-40B4-BE49-F238E27FC236}">
                <a16:creationId xmlns:a16="http://schemas.microsoft.com/office/drawing/2014/main" id="{1C99BEC0-3DF8-92DA-AD24-9480AF95659A}"/>
              </a:ext>
            </a:extLst>
          </p:cNvPr>
          <p:cNvSpPr/>
          <p:nvPr/>
        </p:nvSpPr>
        <p:spPr>
          <a:xfrm>
            <a:off x="0" y="0"/>
            <a:ext cx="9144000" cy="86102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342900" indent="-342900">
              <a:buFont typeface="Wingdings" pitchFamily="2" charset="2"/>
              <a:buChar char="Ø"/>
            </a:pPr>
            <a:r>
              <a:rPr lang="en-US" altLang="ja-JP" sz="2800" dirty="0">
                <a:solidFill>
                  <a:srgbClr val="222222"/>
                </a:solidFill>
                <a:latin typeface="Meiryo" panose="020B0604030504040204" pitchFamily="34" charset="-128"/>
                <a:ea typeface="Meiryo" panose="020B0604030504040204" pitchFamily="34" charset="-128"/>
              </a:rPr>
              <a:t>(</a:t>
            </a:r>
            <a:r>
              <a:rPr lang="en-US" altLang="ja-JP" sz="2800" b="1" dirty="0">
                <a:solidFill>
                  <a:srgbClr val="222222"/>
                </a:solidFill>
                <a:latin typeface="Meiryo" panose="020B0604030504040204" pitchFamily="34" charset="-128"/>
                <a:ea typeface="Meiryo" panose="020B0604030504040204" pitchFamily="34" charset="-128"/>
              </a:rPr>
              <a:t>ML based-</a:t>
            </a:r>
            <a:r>
              <a:rPr lang="ja-JP" altLang="en-US" sz="2800" b="1" i="0">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透過型</a:t>
            </a:r>
            <a:r>
              <a:rPr lang="en-US" altLang="ja-JP" sz="2800" b="1" dirty="0" err="1">
                <a:latin typeface="Meiryo" panose="020B0604030504040204" pitchFamily="34" charset="-128"/>
                <a:ea typeface="Meiryo" panose="020B0604030504040204" pitchFamily="34" charset="-128"/>
                <a:cs typeface="Times New Roman" panose="02020603050405020304" pitchFamily="18" charset="0"/>
              </a:rPr>
              <a:t>IDS</a:t>
            </a:r>
            <a:r>
              <a:rPr lang="en-US" altLang="ja-JP" sz="2800" b="1" dirty="0" err="1">
                <a:solidFill>
                  <a:srgbClr val="222222"/>
                </a:solidFill>
                <a:latin typeface="Meiryo" panose="020B0604030504040204" pitchFamily="34" charset="-128"/>
                <a:ea typeface="Meiryo" panose="020B0604030504040204" pitchFamily="34" charset="-128"/>
              </a:rPr>
              <a:t>+DTLS+CoAP</a:t>
            </a:r>
            <a:r>
              <a:rPr lang="en-US" altLang="ja-JP" sz="2800" b="1" dirty="0">
                <a:solidFill>
                  <a:srgbClr val="222222"/>
                </a:solidFill>
                <a:latin typeface="Meiryo" panose="020B0604030504040204" pitchFamily="34" charset="-128"/>
                <a:ea typeface="Meiryo" panose="020B0604030504040204" pitchFamily="34" charset="-128"/>
              </a:rPr>
              <a:t>)</a:t>
            </a:r>
            <a:r>
              <a:rPr lang="en-JP" altLang="ja-JP" sz="2800" b="1" dirty="0">
                <a:solidFill>
                  <a:srgbClr val="222222"/>
                </a:solidFill>
                <a:latin typeface="Meiryo" panose="020B0604030504040204" pitchFamily="34" charset="-128"/>
                <a:ea typeface="Meiryo" panose="020B0604030504040204" pitchFamily="34" charset="-128"/>
              </a:rPr>
              <a:t> </a:t>
            </a:r>
            <a:r>
              <a:rPr lang="ja-JP" altLang="en-US" sz="2800" b="1">
                <a:latin typeface="Meiryo" panose="020B0604030504040204" pitchFamily="34" charset="-128"/>
                <a:ea typeface="Meiryo" panose="020B0604030504040204" pitchFamily="34" charset="-128"/>
              </a:rPr>
              <a:t>のシステム</a:t>
            </a:r>
            <a:r>
              <a:rPr lang="ja-JP" altLang="en-US" sz="2800" b="1">
                <a:solidFill>
                  <a:srgbClr val="222222"/>
                </a:solidFill>
                <a:latin typeface="Meiryo" panose="020B0604030504040204" pitchFamily="34" charset="-128"/>
                <a:ea typeface="Meiryo" panose="020B0604030504040204" pitchFamily="34" charset="-128"/>
              </a:rPr>
              <a:t>構成</a:t>
            </a:r>
            <a:endParaRPr lang="en-US" sz="2800" b="1" dirty="0">
              <a:solidFill>
                <a:srgbClr val="000000"/>
              </a:solidFill>
              <a:latin typeface="Meiryo" panose="020B0604030504040204" pitchFamily="34" charset="-128"/>
              <a:ea typeface="Meiryo" panose="020B0604030504040204" pitchFamily="34" charset="-128"/>
            </a:endParaRPr>
          </a:p>
          <a:p>
            <a:endParaRPr lang="en-JP" sz="2800" dirty="0">
              <a:latin typeface="Meiryo" panose="020B0604030504040204" pitchFamily="34" charset="-128"/>
              <a:ea typeface="Meiryo" panose="020B0604030504040204" pitchFamily="34" charset="-128"/>
            </a:endParaRPr>
          </a:p>
          <a:p>
            <a:endParaRPr lang="en-JP" sz="2800" b="1" dirty="0">
              <a:latin typeface="Meiryo" panose="020B0604030504040204" pitchFamily="34" charset="-128"/>
              <a:ea typeface="Meiryo" panose="020B0604030504040204" pitchFamily="34" charset="-128"/>
            </a:endParaRPr>
          </a:p>
        </p:txBody>
      </p:sp>
      <p:sp>
        <p:nvSpPr>
          <p:cNvPr id="18" name="Slide Number Placeholder 17">
            <a:extLst>
              <a:ext uri="{FF2B5EF4-FFF2-40B4-BE49-F238E27FC236}">
                <a16:creationId xmlns:a16="http://schemas.microsoft.com/office/drawing/2014/main" id="{73F7038B-8264-F2E7-5351-1315360E931C}"/>
              </a:ext>
            </a:extLst>
          </p:cNvPr>
          <p:cNvSpPr>
            <a:spLocks noGrp="1"/>
          </p:cNvSpPr>
          <p:nvPr>
            <p:ph type="sldNum" sz="quarter" idx="12"/>
          </p:nvPr>
        </p:nvSpPr>
        <p:spPr/>
        <p:txBody>
          <a:bodyPr/>
          <a:lstStyle/>
          <a:p>
            <a:fld id="{828F3BD4-1AF2-D144-8129-4D42AD448F5E}" type="slidenum">
              <a:rPr lang="en-JP" smtClean="0"/>
              <a:t>27</a:t>
            </a:fld>
            <a:endParaRPr lang="en-JP"/>
          </a:p>
        </p:txBody>
      </p:sp>
      <p:sp>
        <p:nvSpPr>
          <p:cNvPr id="7" name="正方形/長方形 4">
            <a:extLst>
              <a:ext uri="{FF2B5EF4-FFF2-40B4-BE49-F238E27FC236}">
                <a16:creationId xmlns:a16="http://schemas.microsoft.com/office/drawing/2014/main" id="{E30762A2-CAD0-CD85-18D2-C39E73E9D436}"/>
              </a:ext>
            </a:extLst>
          </p:cNvPr>
          <p:cNvSpPr/>
          <p:nvPr/>
        </p:nvSpPr>
        <p:spPr>
          <a:xfrm>
            <a:off x="2360102" y="2468908"/>
            <a:ext cx="1512000" cy="95262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37663195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528BC8C-7BC7-F825-FCF9-1134F68997C4}"/>
              </a:ext>
            </a:extLst>
          </p:cNvPr>
          <p:cNvSpPr>
            <a:spLocks noGrp="1"/>
          </p:cNvSpPr>
          <p:nvPr>
            <p:ph type="sldNum" sz="quarter" idx="12"/>
          </p:nvPr>
        </p:nvSpPr>
        <p:spPr/>
        <p:txBody>
          <a:bodyPr/>
          <a:lstStyle/>
          <a:p>
            <a:fld id="{828F3BD4-1AF2-D144-8129-4D42AD448F5E}" type="slidenum">
              <a:rPr lang="en-JP" smtClean="0"/>
              <a:pPr/>
              <a:t>28</a:t>
            </a:fld>
            <a:endParaRPr lang="en-JP" dirty="0"/>
          </a:p>
        </p:txBody>
      </p:sp>
      <p:sp>
        <p:nvSpPr>
          <p:cNvPr id="17" name="Rectangle: Rounded Corners 4">
            <a:extLst>
              <a:ext uri="{FF2B5EF4-FFF2-40B4-BE49-F238E27FC236}">
                <a16:creationId xmlns:a16="http://schemas.microsoft.com/office/drawing/2014/main" id="{1BA071A4-D38D-F621-57A1-70D7CE40F5FF}"/>
              </a:ext>
            </a:extLst>
          </p:cNvPr>
          <p:cNvSpPr/>
          <p:nvPr/>
        </p:nvSpPr>
        <p:spPr>
          <a:xfrm>
            <a:off x="141514" y="2516737"/>
            <a:ext cx="2270108" cy="835803"/>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400" b="1" i="0" dirty="0">
                <a:solidFill>
                  <a:srgbClr val="000000"/>
                </a:solidFill>
                <a:effectLst/>
                <a:latin typeface="Meiryo" panose="020B0604030504040204" pitchFamily="34" charset="-128"/>
                <a:ea typeface="Meiryo" panose="020B0604030504040204" pitchFamily="34" charset="-128"/>
              </a:rPr>
              <a:t>IoT Client</a:t>
            </a:r>
            <a:endParaRPr lang="en-US" sz="2400" b="1" dirty="0">
              <a:solidFill>
                <a:srgbClr val="000000"/>
              </a:solidFill>
              <a:latin typeface="Meiryo" panose="020B0604030504040204" pitchFamily="34" charset="-128"/>
              <a:ea typeface="Meiryo" panose="020B0604030504040204" pitchFamily="34" charset="-128"/>
            </a:endParaRPr>
          </a:p>
        </p:txBody>
      </p:sp>
      <p:sp>
        <p:nvSpPr>
          <p:cNvPr id="18" name="Rectangle: Rounded Corners 6">
            <a:extLst>
              <a:ext uri="{FF2B5EF4-FFF2-40B4-BE49-F238E27FC236}">
                <a16:creationId xmlns:a16="http://schemas.microsoft.com/office/drawing/2014/main" id="{3E6E1670-A58C-4E83-A94D-492CE3BFAD3E}"/>
              </a:ext>
            </a:extLst>
          </p:cNvPr>
          <p:cNvSpPr/>
          <p:nvPr/>
        </p:nvSpPr>
        <p:spPr>
          <a:xfrm>
            <a:off x="5982660" y="2507734"/>
            <a:ext cx="2527251" cy="1136877"/>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en-JP" sz="2400" dirty="0">
                <a:solidFill>
                  <a:schemeClr val="tx1"/>
                </a:solidFill>
                <a:latin typeface="Meiryo" panose="020B0604030504040204" pitchFamily="34" charset="-128"/>
                <a:ea typeface="Meiryo" panose="020B0604030504040204" pitchFamily="34" charset="-128"/>
              </a:rPr>
              <a:t>HOME </a:t>
            </a:r>
            <a:r>
              <a:rPr lang="en-US" sz="2400" dirty="0">
                <a:solidFill>
                  <a:schemeClr val="tx1"/>
                </a:solidFill>
                <a:latin typeface="Meiryo" panose="020B0604030504040204" pitchFamily="34" charset="-128"/>
                <a:ea typeface="Meiryo" panose="020B0604030504040204" pitchFamily="34" charset="-128"/>
              </a:rPr>
              <a:t>Router</a:t>
            </a:r>
            <a:endParaRPr lang="en-US" sz="2400" b="1" i="0" dirty="0">
              <a:solidFill>
                <a:schemeClr val="tx1"/>
              </a:solidFill>
              <a:effectLst/>
              <a:latin typeface="Meiryo" panose="020B0604030504040204" pitchFamily="34" charset="-128"/>
              <a:ea typeface="Meiryo" panose="020B0604030504040204" pitchFamily="34" charset="-128"/>
            </a:endParaRPr>
          </a:p>
        </p:txBody>
      </p:sp>
      <p:sp>
        <p:nvSpPr>
          <p:cNvPr id="19" name="TextBox 18">
            <a:extLst>
              <a:ext uri="{FF2B5EF4-FFF2-40B4-BE49-F238E27FC236}">
                <a16:creationId xmlns:a16="http://schemas.microsoft.com/office/drawing/2014/main" id="{A6CBFFD7-6396-CEE3-9FAC-FABDDE04AC60}"/>
              </a:ext>
            </a:extLst>
          </p:cNvPr>
          <p:cNvSpPr txBox="1"/>
          <p:nvPr/>
        </p:nvSpPr>
        <p:spPr>
          <a:xfrm>
            <a:off x="6215714" y="3665982"/>
            <a:ext cx="2437482" cy="707886"/>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IP:192.168.1.100</a:t>
            </a:r>
          </a:p>
          <a:p>
            <a:r>
              <a:rPr lang="en-US" sz="2000" dirty="0">
                <a:solidFill>
                  <a:schemeClr val="accent6"/>
                </a:solidFill>
                <a:latin typeface="Meiryo" panose="020B0604030504040204" pitchFamily="34" charset="-128"/>
                <a:ea typeface="Meiryo" panose="020B0604030504040204" pitchFamily="34" charset="-128"/>
              </a:rPr>
              <a:t>MAC:</a:t>
            </a:r>
            <a:r>
              <a:rPr lang="en-US" sz="2000" dirty="0">
                <a:latin typeface="Meiryo" panose="020B0604030504040204" pitchFamily="34" charset="-128"/>
                <a:ea typeface="Meiryo" panose="020B0604030504040204" pitchFamily="34" charset="-128"/>
              </a:rPr>
              <a:t> </a:t>
            </a:r>
            <a:r>
              <a:rPr lang="en-US" sz="2000" dirty="0">
                <a:solidFill>
                  <a:schemeClr val="accent6"/>
                </a:solidFill>
                <a:latin typeface="Meiryo" panose="020B0604030504040204" pitchFamily="34" charset="-128"/>
                <a:ea typeface="Meiryo" panose="020B0604030504040204" pitchFamily="34" charset="-128"/>
              </a:rPr>
              <a:t>BB:BB:BB</a:t>
            </a:r>
            <a:endParaRPr lang="en-JP" sz="2000" dirty="0">
              <a:solidFill>
                <a:schemeClr val="accent6"/>
              </a:solidFill>
              <a:latin typeface="Meiryo" panose="020B0604030504040204" pitchFamily="34" charset="-128"/>
              <a:ea typeface="Meiryo" panose="020B0604030504040204" pitchFamily="34" charset="-128"/>
            </a:endParaRPr>
          </a:p>
        </p:txBody>
      </p:sp>
      <p:sp>
        <p:nvSpPr>
          <p:cNvPr id="20" name="TextBox 19">
            <a:extLst>
              <a:ext uri="{FF2B5EF4-FFF2-40B4-BE49-F238E27FC236}">
                <a16:creationId xmlns:a16="http://schemas.microsoft.com/office/drawing/2014/main" id="{151AA40D-497D-E678-48C7-AC7D9AD23756}"/>
              </a:ext>
            </a:extLst>
          </p:cNvPr>
          <p:cNvSpPr txBox="1"/>
          <p:nvPr/>
        </p:nvSpPr>
        <p:spPr>
          <a:xfrm>
            <a:off x="729342" y="4280544"/>
            <a:ext cx="5702661" cy="646331"/>
          </a:xfrm>
          <a:prstGeom prst="rect">
            <a:avLst/>
          </a:prstGeom>
          <a:noFill/>
        </p:spPr>
        <p:txBody>
          <a:bodyPr wrap="square">
            <a:spAutoFit/>
          </a:bodyPr>
          <a:lstStyle/>
          <a:p>
            <a:r>
              <a:rPr lang="en-US" b="1" dirty="0">
                <a:latin typeface="Meiryo" panose="020B0604030504040204" pitchFamily="34" charset="-128"/>
                <a:ea typeface="Meiryo" panose="020B0604030504040204" pitchFamily="34" charset="-128"/>
              </a:rPr>
              <a:t>② ARP Reply</a:t>
            </a:r>
            <a:r>
              <a:rPr lang="mn-MN" b="1" dirty="0">
                <a:latin typeface="Meiryo" panose="020B0604030504040204" pitchFamily="34" charset="-128"/>
                <a:ea typeface="Meiryo" panose="020B0604030504040204" pitchFamily="34" charset="-128"/>
              </a:rPr>
              <a:t> (</a:t>
            </a:r>
            <a:r>
              <a:rPr lang="en-US" b="1" i="0" dirty="0">
                <a:solidFill>
                  <a:srgbClr val="000000"/>
                </a:solidFill>
                <a:effectLst/>
                <a:latin typeface="Meiryo" panose="020B0604030504040204" pitchFamily="34" charset="-128"/>
                <a:ea typeface="Meiryo" panose="020B0604030504040204" pitchFamily="34" charset="-128"/>
              </a:rPr>
              <a:t>Unicast</a:t>
            </a:r>
            <a:r>
              <a:rPr lang="en-US" b="0" i="0" dirty="0">
                <a:solidFill>
                  <a:srgbClr val="000000"/>
                </a:solidFill>
                <a:effectLst/>
                <a:latin typeface="Meiryo" panose="020B0604030504040204" pitchFamily="34" charset="-128"/>
                <a:ea typeface="Meiryo" panose="020B0604030504040204" pitchFamily="34" charset="-128"/>
              </a:rPr>
              <a:t>)</a:t>
            </a:r>
            <a:r>
              <a:rPr lang="en-US" b="1" dirty="0">
                <a:latin typeface="Meiryo" panose="020B0604030504040204" pitchFamily="34" charset="-128"/>
                <a:ea typeface="Meiryo" panose="020B0604030504040204" pitchFamily="34" charset="-128"/>
              </a:rPr>
              <a:t>「</a:t>
            </a:r>
            <a:r>
              <a:rPr lang="ja-JP" altLang="en-US" b="1">
                <a:latin typeface="Meiryo" panose="020B0604030504040204" pitchFamily="34" charset="-128"/>
                <a:ea typeface="Meiryo" panose="020B0604030504040204" pitchFamily="34" charset="-128"/>
              </a:rPr>
              <a:t>私が </a:t>
            </a:r>
            <a:r>
              <a:rPr lang="en-US" altLang="ja-JP" b="1" dirty="0">
                <a:latin typeface="Meiryo" panose="020B0604030504040204" pitchFamily="34" charset="-128"/>
                <a:ea typeface="Meiryo" panose="020B0604030504040204" pitchFamily="34" charset="-128"/>
              </a:rPr>
              <a:t>.100 </a:t>
            </a:r>
            <a:r>
              <a:rPr lang="ja-JP" altLang="en-US" b="1">
                <a:latin typeface="Meiryo" panose="020B0604030504040204" pitchFamily="34" charset="-128"/>
                <a:ea typeface="Meiryo" panose="020B0604030504040204" pitchFamily="34" charset="-128"/>
              </a:rPr>
              <a:t>です</a:t>
            </a:r>
            <a:endParaRPr lang="en-US" altLang="ja-JP" b="1" dirty="0">
              <a:latin typeface="Meiryo" panose="020B0604030504040204" pitchFamily="34" charset="-128"/>
              <a:ea typeface="Meiryo" panose="020B0604030504040204" pitchFamily="34" charset="-128"/>
            </a:endParaRPr>
          </a:p>
          <a:p>
            <a:r>
              <a:rPr lang="en-US" b="1" dirty="0">
                <a:solidFill>
                  <a:schemeClr val="accent6"/>
                </a:solidFill>
                <a:latin typeface="Meiryo" panose="020B0604030504040204" pitchFamily="34" charset="-128"/>
                <a:ea typeface="Meiryo" panose="020B0604030504040204" pitchFamily="34" charset="-128"/>
              </a:rPr>
              <a:t>MAC = BB:BB:BB</a:t>
            </a:r>
            <a:r>
              <a:rPr lang="en-US" b="1" dirty="0">
                <a:latin typeface="Meiryo" panose="020B0604030504040204" pitchFamily="34" charset="-128"/>
                <a:ea typeface="Meiryo" panose="020B0604030504040204" pitchFamily="34" charset="-128"/>
              </a:rPr>
              <a:t>」← IoT sensor</a:t>
            </a:r>
            <a:r>
              <a:rPr lang="ja-JP" altLang="en-US" b="1">
                <a:latin typeface="Meiryo" panose="020B0604030504040204" pitchFamily="34" charset="-128"/>
                <a:ea typeface="Meiryo" panose="020B0604030504040204" pitchFamily="34" charset="-128"/>
              </a:rPr>
              <a:t>へ返答</a:t>
            </a:r>
            <a:endParaRPr lang="en-JP" b="1" dirty="0">
              <a:latin typeface="Meiryo" panose="020B0604030504040204" pitchFamily="34" charset="-128"/>
              <a:ea typeface="Meiryo" panose="020B0604030504040204" pitchFamily="34" charset="-128"/>
            </a:endParaRPr>
          </a:p>
        </p:txBody>
      </p:sp>
      <p:cxnSp>
        <p:nvCxnSpPr>
          <p:cNvPr id="21" name="Straight Arrow Connector 20">
            <a:extLst>
              <a:ext uri="{FF2B5EF4-FFF2-40B4-BE49-F238E27FC236}">
                <a16:creationId xmlns:a16="http://schemas.microsoft.com/office/drawing/2014/main" id="{AAE5E3E8-DF24-8EF4-D9BC-61F99915C6BE}"/>
              </a:ext>
            </a:extLst>
          </p:cNvPr>
          <p:cNvCxnSpPr/>
          <p:nvPr/>
        </p:nvCxnSpPr>
        <p:spPr>
          <a:xfrm>
            <a:off x="2775808" y="2858274"/>
            <a:ext cx="2541848" cy="0"/>
          </a:xfrm>
          <a:prstGeom prst="straightConnector1">
            <a:avLst/>
          </a:prstGeom>
          <a:ln w="539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A774A92-4FF6-7ACF-F387-5DED71E98BE6}"/>
              </a:ext>
            </a:extLst>
          </p:cNvPr>
          <p:cNvCxnSpPr>
            <a:cxnSpLocks/>
          </p:cNvCxnSpPr>
          <p:nvPr/>
        </p:nvCxnSpPr>
        <p:spPr>
          <a:xfrm flipH="1">
            <a:off x="2775808" y="3284586"/>
            <a:ext cx="2438400" cy="0"/>
          </a:xfrm>
          <a:prstGeom prst="straightConnector1">
            <a:avLst/>
          </a:prstGeom>
          <a:ln w="539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6B4410D0-4199-FADA-FD5F-C58B6CA6FE4A}"/>
              </a:ext>
            </a:extLst>
          </p:cNvPr>
          <p:cNvSpPr txBox="1"/>
          <p:nvPr/>
        </p:nvSpPr>
        <p:spPr>
          <a:xfrm>
            <a:off x="3690727" y="2482918"/>
            <a:ext cx="1262743" cy="369332"/>
          </a:xfrm>
          <a:prstGeom prst="rect">
            <a:avLst/>
          </a:prstGeom>
          <a:noFill/>
        </p:spPr>
        <p:txBody>
          <a:bodyPr wrap="square">
            <a:spAutoFit/>
          </a:bodyPr>
          <a:lstStyle/>
          <a:p>
            <a:r>
              <a:rPr lang="en-US" b="1" dirty="0"/>
              <a:t>①</a:t>
            </a:r>
            <a:endParaRPr lang="en-JP" b="1" dirty="0"/>
          </a:p>
        </p:txBody>
      </p:sp>
      <p:sp>
        <p:nvSpPr>
          <p:cNvPr id="24" name="TextBox 23">
            <a:extLst>
              <a:ext uri="{FF2B5EF4-FFF2-40B4-BE49-F238E27FC236}">
                <a16:creationId xmlns:a16="http://schemas.microsoft.com/office/drawing/2014/main" id="{7B6DCFC1-AA72-5B76-2E7B-C22EA9A159D5}"/>
              </a:ext>
            </a:extLst>
          </p:cNvPr>
          <p:cNvSpPr txBox="1"/>
          <p:nvPr/>
        </p:nvSpPr>
        <p:spPr>
          <a:xfrm>
            <a:off x="3690727" y="3333445"/>
            <a:ext cx="1915887" cy="369332"/>
          </a:xfrm>
          <a:prstGeom prst="rect">
            <a:avLst/>
          </a:prstGeom>
          <a:noFill/>
        </p:spPr>
        <p:txBody>
          <a:bodyPr wrap="square">
            <a:spAutoFit/>
          </a:bodyPr>
          <a:lstStyle/>
          <a:p>
            <a:r>
              <a:rPr lang="en-US" b="1" dirty="0"/>
              <a:t>② </a:t>
            </a:r>
            <a:endParaRPr lang="en-JP" b="1" dirty="0"/>
          </a:p>
        </p:txBody>
      </p:sp>
      <p:cxnSp>
        <p:nvCxnSpPr>
          <p:cNvPr id="25" name="Elbow Connector 24">
            <a:extLst>
              <a:ext uri="{FF2B5EF4-FFF2-40B4-BE49-F238E27FC236}">
                <a16:creationId xmlns:a16="http://schemas.microsoft.com/office/drawing/2014/main" id="{D33A918D-BE8E-9E2A-6FD1-CDDAEE027F3A}"/>
              </a:ext>
            </a:extLst>
          </p:cNvPr>
          <p:cNvCxnSpPr>
            <a:cxnSpLocks/>
            <a:stCxn id="19" idx="2"/>
          </p:cNvCxnSpPr>
          <p:nvPr/>
        </p:nvCxnSpPr>
        <p:spPr>
          <a:xfrm rot="5400000">
            <a:off x="6691491" y="3941634"/>
            <a:ext cx="310731" cy="1175198"/>
          </a:xfrm>
          <a:prstGeom prst="bentConnector2">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C5336A5C-EFF6-04A6-3D5D-1703B1D3266A}"/>
              </a:ext>
            </a:extLst>
          </p:cNvPr>
          <p:cNvSpPr txBox="1"/>
          <p:nvPr/>
        </p:nvSpPr>
        <p:spPr>
          <a:xfrm>
            <a:off x="1790813" y="1197993"/>
            <a:ext cx="7135471" cy="923330"/>
          </a:xfrm>
          <a:prstGeom prst="rect">
            <a:avLst/>
          </a:prstGeom>
          <a:noFill/>
        </p:spPr>
        <p:txBody>
          <a:bodyPr wrap="square">
            <a:spAutoFit/>
          </a:bodyPr>
          <a:lstStyle/>
          <a:p>
            <a:r>
              <a:rPr lang="en-US" b="1" dirty="0">
                <a:latin typeface="Meiryo" panose="020B0604030504040204" pitchFamily="34" charset="-128"/>
                <a:ea typeface="Meiryo" panose="020B0604030504040204" pitchFamily="34" charset="-128"/>
              </a:rPr>
              <a:t>① ARP </a:t>
            </a:r>
            <a:r>
              <a:rPr lang="en-US" b="1" dirty="0" err="1">
                <a:latin typeface="Meiryo" panose="020B0604030504040204" pitchFamily="34" charset="-128"/>
                <a:ea typeface="Meiryo" panose="020B0604030504040204" pitchFamily="34" charset="-128"/>
              </a:rPr>
              <a:t>Request（Broadcast</a:t>
            </a:r>
            <a:r>
              <a:rPr lang="en-US" b="1" dirty="0">
                <a:latin typeface="Meiryo" panose="020B0604030504040204" pitchFamily="34" charset="-128"/>
                <a:ea typeface="Meiryo" panose="020B0604030504040204" pitchFamily="34" charset="-128"/>
              </a:rPr>
              <a:t>）</a:t>
            </a:r>
          </a:p>
          <a:p>
            <a:endParaRPr lang="en-US" b="1" dirty="0">
              <a:latin typeface="Meiryo" panose="020B0604030504040204" pitchFamily="34" charset="-128"/>
              <a:ea typeface="Meiryo" panose="020B0604030504040204" pitchFamily="34" charset="-128"/>
            </a:endParaRPr>
          </a:p>
          <a:p>
            <a:r>
              <a:rPr lang="en-US" b="1" dirty="0">
                <a:latin typeface="Meiryo" panose="020B0604030504040204" pitchFamily="34" charset="-128"/>
                <a:ea typeface="Meiryo" panose="020B0604030504040204" pitchFamily="34" charset="-128"/>
              </a:rPr>
              <a:t>「192.168.1.100 </a:t>
            </a:r>
            <a:r>
              <a:rPr lang="ja-JP" altLang="en-US" b="1">
                <a:latin typeface="Meiryo" panose="020B0604030504040204" pitchFamily="34" charset="-128"/>
                <a:ea typeface="Meiryo" panose="020B0604030504040204" pitchFamily="34" charset="-128"/>
              </a:rPr>
              <a:t>の</a:t>
            </a:r>
            <a:r>
              <a:rPr lang="en-US" b="1" dirty="0">
                <a:latin typeface="Meiryo" panose="020B0604030504040204" pitchFamily="34" charset="-128"/>
                <a:ea typeface="Meiryo" panose="020B0604030504040204" pitchFamily="34" charset="-128"/>
              </a:rPr>
              <a:t>MAC</a:t>
            </a:r>
            <a:r>
              <a:rPr lang="ja-JP" altLang="en-US" b="1">
                <a:latin typeface="Meiryo" panose="020B0604030504040204" pitchFamily="34" charset="-128"/>
                <a:ea typeface="Meiryo" panose="020B0604030504040204" pitchFamily="34" charset="-128"/>
              </a:rPr>
              <a:t>アドレスを教えてください」→ 全員に</a:t>
            </a:r>
            <a:endParaRPr lang="en-JP" b="1" dirty="0">
              <a:latin typeface="Meiryo" panose="020B0604030504040204" pitchFamily="34" charset="-128"/>
              <a:ea typeface="Meiryo" panose="020B0604030504040204" pitchFamily="34" charset="-128"/>
            </a:endParaRPr>
          </a:p>
        </p:txBody>
      </p:sp>
      <p:sp>
        <p:nvSpPr>
          <p:cNvPr id="27" name="正方形/長方形 4">
            <a:extLst>
              <a:ext uri="{FF2B5EF4-FFF2-40B4-BE49-F238E27FC236}">
                <a16:creationId xmlns:a16="http://schemas.microsoft.com/office/drawing/2014/main" id="{AD60ECEB-1661-5C4E-090D-3623B07273E2}"/>
              </a:ext>
            </a:extLst>
          </p:cNvPr>
          <p:cNvSpPr/>
          <p:nvPr/>
        </p:nvSpPr>
        <p:spPr>
          <a:xfrm>
            <a:off x="1882283" y="1118984"/>
            <a:ext cx="6770913" cy="1065256"/>
          </a:xfrm>
          <a:prstGeom prst="rect">
            <a:avLst/>
          </a:prstGeom>
          <a:noFill/>
          <a:ln w="34925">
            <a:solidFill>
              <a:schemeClr val="accent1">
                <a:alpha val="99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cxnSp>
        <p:nvCxnSpPr>
          <p:cNvPr id="28" name="Elbow Connector 27">
            <a:extLst>
              <a:ext uri="{FF2B5EF4-FFF2-40B4-BE49-F238E27FC236}">
                <a16:creationId xmlns:a16="http://schemas.microsoft.com/office/drawing/2014/main" id="{8A487028-F6ED-8040-611A-F97840765384}"/>
              </a:ext>
            </a:extLst>
          </p:cNvPr>
          <p:cNvCxnSpPr>
            <a:cxnSpLocks/>
          </p:cNvCxnSpPr>
          <p:nvPr/>
        </p:nvCxnSpPr>
        <p:spPr>
          <a:xfrm rot="5400000" flipH="1" flipV="1">
            <a:off x="943051" y="1608766"/>
            <a:ext cx="847062" cy="795509"/>
          </a:xfrm>
          <a:prstGeom prst="bentConnector3">
            <a:avLst>
              <a:gd name="adj1" fmla="val 98834"/>
            </a:avLst>
          </a:prstGeom>
          <a:ln w="254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1" name="Shape 0">
            <a:extLst>
              <a:ext uri="{FF2B5EF4-FFF2-40B4-BE49-F238E27FC236}">
                <a16:creationId xmlns:a16="http://schemas.microsoft.com/office/drawing/2014/main" id="{B33E5455-CA56-41EB-25C3-A7390BEB76F7}"/>
              </a:ext>
            </a:extLst>
          </p:cNvPr>
          <p:cNvSpPr/>
          <p:nvPr/>
        </p:nvSpPr>
        <p:spPr>
          <a:xfrm>
            <a:off x="0" y="0"/>
            <a:ext cx="9144000" cy="691502"/>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lang="en-US" sz="2800" b="1" i="0" dirty="0">
                <a:solidFill>
                  <a:srgbClr val="000000"/>
                </a:solidFill>
                <a:effectLst/>
                <a:latin typeface="Meiryo" panose="020B0604030504040204" pitchFamily="34" charset="-128"/>
                <a:ea typeface="Meiryo" panose="020B0604030504040204" pitchFamily="34" charset="-128"/>
              </a:rPr>
              <a:t>Step 1 — ARP </a:t>
            </a:r>
            <a:r>
              <a:rPr lang="en-US" sz="2800" b="1" i="0" dirty="0" err="1">
                <a:solidFill>
                  <a:srgbClr val="000000"/>
                </a:solidFill>
                <a:effectLst/>
                <a:latin typeface="Meiryo" panose="020B0604030504040204" pitchFamily="34" charset="-128"/>
                <a:ea typeface="Meiryo" panose="020B0604030504040204" pitchFamily="34" charset="-128"/>
              </a:rPr>
              <a:t>Resolution（ARP</a:t>
            </a:r>
            <a:r>
              <a:rPr lang="ja-JP" altLang="en-US" sz="2800" b="1" i="0">
                <a:solidFill>
                  <a:srgbClr val="000000"/>
                </a:solidFill>
                <a:effectLst/>
                <a:latin typeface="Meiryo" panose="020B0604030504040204" pitchFamily="34" charset="-128"/>
                <a:ea typeface="Meiryo" panose="020B0604030504040204" pitchFamily="34" charset="-128"/>
              </a:rPr>
              <a:t>キャッシュ生成）</a:t>
            </a:r>
            <a:endParaRPr lang="en-JP" sz="2800" b="1" dirty="0">
              <a:latin typeface="Meiryo" panose="020B0604030504040204" pitchFamily="34" charset="-128"/>
              <a:ea typeface="Meiryo" panose="020B0604030504040204" pitchFamily="34" charset="-128"/>
            </a:endParaRPr>
          </a:p>
          <a:p>
            <a:endParaRPr lang="en-JP" sz="2800" b="1" dirty="0">
              <a:latin typeface="Meiryo" panose="020B0604030504040204" pitchFamily="34" charset="-128"/>
              <a:ea typeface="Meiryo" panose="020B0604030504040204" pitchFamily="34" charset="-128"/>
            </a:endParaRPr>
          </a:p>
        </p:txBody>
      </p:sp>
      <p:sp>
        <p:nvSpPr>
          <p:cNvPr id="32" name="正方形/長方形 4">
            <a:extLst>
              <a:ext uri="{FF2B5EF4-FFF2-40B4-BE49-F238E27FC236}">
                <a16:creationId xmlns:a16="http://schemas.microsoft.com/office/drawing/2014/main" id="{43D3AD5D-1A3D-4FE3-7D7F-E020E5197FFE}"/>
              </a:ext>
            </a:extLst>
          </p:cNvPr>
          <p:cNvSpPr/>
          <p:nvPr/>
        </p:nvSpPr>
        <p:spPr>
          <a:xfrm>
            <a:off x="566365" y="4168722"/>
            <a:ext cx="5416295" cy="833789"/>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37" name="TextBox 36">
            <a:extLst>
              <a:ext uri="{FF2B5EF4-FFF2-40B4-BE49-F238E27FC236}">
                <a16:creationId xmlns:a16="http://schemas.microsoft.com/office/drawing/2014/main" id="{38EF1BD0-E1FA-0887-B952-C85ABECDED2F}"/>
              </a:ext>
            </a:extLst>
          </p:cNvPr>
          <p:cNvSpPr txBox="1"/>
          <p:nvPr/>
        </p:nvSpPr>
        <p:spPr>
          <a:xfrm>
            <a:off x="-240741" y="3446755"/>
            <a:ext cx="3034618" cy="646331"/>
          </a:xfrm>
          <a:prstGeom prst="rect">
            <a:avLst/>
          </a:prstGeom>
          <a:noFill/>
        </p:spPr>
        <p:txBody>
          <a:bodyPr wrap="square">
            <a:spAutoFit/>
          </a:bodyPr>
          <a:lstStyle/>
          <a:p>
            <a:pPr algn="ctr"/>
            <a:r>
              <a:rPr lang="en-US" sz="1800" dirty="0">
                <a:solidFill>
                  <a:schemeClr val="tx1"/>
                </a:solidFill>
                <a:latin typeface="Meiryo" panose="020B0604030504040204" pitchFamily="34" charset="-128"/>
                <a:ea typeface="Meiryo" panose="020B0604030504040204" pitchFamily="34" charset="-128"/>
              </a:rPr>
              <a:t>IP: </a:t>
            </a:r>
            <a:r>
              <a:rPr lang="en-US" sz="1800" dirty="0">
                <a:latin typeface="Meiryo" panose="020B0604030504040204" pitchFamily="34" charset="-128"/>
                <a:ea typeface="Meiryo" panose="020B0604030504040204" pitchFamily="34" charset="-128"/>
              </a:rPr>
              <a:t>192.168.1.20</a:t>
            </a:r>
          </a:p>
          <a:p>
            <a:pPr algn="ctr"/>
            <a:r>
              <a:rPr lang="en-US" sz="1800" dirty="0">
                <a:solidFill>
                  <a:schemeClr val="accent1"/>
                </a:solidFill>
                <a:latin typeface="Meiryo" panose="020B0604030504040204" pitchFamily="34" charset="-128"/>
                <a:ea typeface="Meiryo" panose="020B0604030504040204" pitchFamily="34" charset="-128"/>
              </a:rPr>
              <a:t>MAC: AA:AA:AA</a:t>
            </a:r>
            <a:endParaRPr lang="en-JP" sz="1800" dirty="0">
              <a:solidFill>
                <a:schemeClr val="accent1"/>
              </a:solidFill>
              <a:latin typeface="Meiryo" panose="020B0604030504040204" pitchFamily="34" charset="-128"/>
              <a:ea typeface="Meiryo" panose="020B0604030504040204" pitchFamily="34" charset="-128"/>
            </a:endParaRPr>
          </a:p>
        </p:txBody>
      </p:sp>
      <p:sp>
        <p:nvSpPr>
          <p:cNvPr id="40" name="Rounded Rectangle 39">
            <a:extLst>
              <a:ext uri="{FF2B5EF4-FFF2-40B4-BE49-F238E27FC236}">
                <a16:creationId xmlns:a16="http://schemas.microsoft.com/office/drawing/2014/main" id="{4A265983-BBB7-AE47-7340-90EAEEB40161}"/>
              </a:ext>
            </a:extLst>
          </p:cNvPr>
          <p:cNvSpPr/>
          <p:nvPr/>
        </p:nvSpPr>
        <p:spPr>
          <a:xfrm>
            <a:off x="559417" y="5412874"/>
            <a:ext cx="3653354" cy="1249650"/>
          </a:xfrm>
          <a:prstGeom prst="round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b="1" dirty="0">
              <a:solidFill>
                <a:schemeClr val="tx1"/>
              </a:solidFill>
              <a:latin typeface="Meiryo" panose="020B0604030504040204" pitchFamily="34" charset="-128"/>
              <a:ea typeface="Meiryo" panose="020B0604030504040204" pitchFamily="34" charset="-128"/>
            </a:endParaRPr>
          </a:p>
          <a:p>
            <a:endParaRPr lang="mn-MN" b="1" dirty="0">
              <a:solidFill>
                <a:schemeClr val="tx1"/>
              </a:solidFill>
              <a:latin typeface="Meiryo" panose="020B0604030504040204" pitchFamily="34" charset="-128"/>
              <a:ea typeface="Meiryo" panose="020B0604030504040204" pitchFamily="34" charset="-128"/>
            </a:endParaRPr>
          </a:p>
          <a:p>
            <a:r>
              <a:rPr lang="en-US" b="1" i="0" dirty="0">
                <a:solidFill>
                  <a:schemeClr val="tx1"/>
                </a:solidFill>
                <a:effectLst/>
                <a:latin typeface="Meiryo" panose="020B0604030504040204" pitchFamily="34" charset="-128"/>
                <a:ea typeface="Meiryo" panose="020B0604030504040204" pitchFamily="34" charset="-128"/>
              </a:rPr>
              <a:t>③ ARP </a:t>
            </a:r>
            <a:r>
              <a:rPr lang="en-US" b="1" dirty="0">
                <a:solidFill>
                  <a:schemeClr val="tx1"/>
                </a:solidFill>
                <a:latin typeface="Meiryo" panose="020B0604030504040204" pitchFamily="34" charset="-128"/>
                <a:ea typeface="Meiryo" panose="020B0604030504040204" pitchFamily="34" charset="-128"/>
              </a:rPr>
              <a:t>Cache</a:t>
            </a:r>
            <a:r>
              <a:rPr lang="ja-JP" altLang="en-US" b="1" i="0">
                <a:solidFill>
                  <a:schemeClr val="tx1"/>
                </a:solidFill>
                <a:effectLst/>
                <a:latin typeface="Meiryo" panose="020B0604030504040204" pitchFamily="34" charset="-128"/>
                <a:ea typeface="Meiryo" panose="020B0604030504040204" pitchFamily="34" charset="-128"/>
              </a:rPr>
              <a:t>に記録</a:t>
            </a:r>
            <a:endParaRPr lang="en-JP" b="1" dirty="0">
              <a:solidFill>
                <a:schemeClr val="tx1"/>
              </a:solidFill>
              <a:latin typeface="Meiryo" panose="020B0604030504040204" pitchFamily="34" charset="-128"/>
              <a:ea typeface="Meiryo" panose="020B0604030504040204" pitchFamily="34" charset="-128"/>
            </a:endParaRPr>
          </a:p>
          <a:p>
            <a:r>
              <a:rPr lang="en-US" b="1" dirty="0">
                <a:solidFill>
                  <a:schemeClr val="tx1"/>
                </a:solidFill>
                <a:latin typeface="Meiryo" panose="020B0604030504040204" pitchFamily="34" charset="-128"/>
                <a:ea typeface="Meiryo" panose="020B0604030504040204" pitchFamily="34" charset="-128"/>
              </a:rPr>
              <a:t>IP</a:t>
            </a:r>
            <a:r>
              <a:rPr lang="ja-JP" altLang="en-US" b="1">
                <a:solidFill>
                  <a:schemeClr val="tx1"/>
                </a:solidFill>
                <a:latin typeface="Meiryo" panose="020B0604030504040204" pitchFamily="34" charset="-128"/>
                <a:ea typeface="Meiryo" panose="020B0604030504040204" pitchFamily="34" charset="-128"/>
              </a:rPr>
              <a:t>アドレス</a:t>
            </a:r>
            <a:r>
              <a:rPr lang="en-US" altLang="ja-JP" b="1" dirty="0">
                <a:solidFill>
                  <a:schemeClr val="tx1"/>
                </a:solidFill>
                <a:latin typeface="Meiryo" panose="020B0604030504040204" pitchFamily="34" charset="-128"/>
                <a:ea typeface="Meiryo" panose="020B0604030504040204" pitchFamily="34" charset="-128"/>
              </a:rPr>
              <a:t>:192.168.1.100</a:t>
            </a:r>
          </a:p>
          <a:p>
            <a:r>
              <a:rPr lang="en-US" b="1" dirty="0">
                <a:solidFill>
                  <a:schemeClr val="tx1"/>
                </a:solidFill>
                <a:latin typeface="Meiryo" panose="020B0604030504040204" pitchFamily="34" charset="-128"/>
                <a:ea typeface="Meiryo" panose="020B0604030504040204" pitchFamily="34" charset="-128"/>
              </a:rPr>
              <a:t>MAC</a:t>
            </a:r>
            <a:r>
              <a:rPr lang="ja-JP" altLang="en-US" b="1">
                <a:solidFill>
                  <a:schemeClr val="tx1"/>
                </a:solidFill>
                <a:latin typeface="Meiryo" panose="020B0604030504040204" pitchFamily="34" charset="-128"/>
                <a:ea typeface="Meiryo" panose="020B0604030504040204" pitchFamily="34" charset="-128"/>
              </a:rPr>
              <a:t>アドレス</a:t>
            </a:r>
            <a:r>
              <a:rPr lang="en-US" b="1" dirty="0">
                <a:solidFill>
                  <a:schemeClr val="tx1"/>
                </a:solidFill>
                <a:latin typeface="Meiryo" panose="020B0604030504040204" pitchFamily="34" charset="-128"/>
                <a:ea typeface="Meiryo" panose="020B0604030504040204" pitchFamily="34" charset="-128"/>
              </a:rPr>
              <a:t>BB:BB:BB:DD:E</a:t>
            </a:r>
            <a:endParaRPr lang="en-JP" b="1" dirty="0">
              <a:solidFill>
                <a:schemeClr val="tx1"/>
              </a:solidFill>
              <a:latin typeface="Meiryo" panose="020B0604030504040204" pitchFamily="34" charset="-128"/>
              <a:ea typeface="Meiryo" panose="020B0604030504040204" pitchFamily="34" charset="-128"/>
            </a:endParaRPr>
          </a:p>
          <a:p>
            <a:endParaRPr lang="en-US"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4578653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1B0E41E-C9BC-44B6-9577-39062E91F701}"/>
              </a:ext>
            </a:extLst>
          </p:cNvPr>
          <p:cNvSpPr>
            <a:spLocks noGrp="1"/>
          </p:cNvSpPr>
          <p:nvPr>
            <p:ph type="sldNum" sz="quarter" idx="12"/>
          </p:nvPr>
        </p:nvSpPr>
        <p:spPr/>
        <p:txBody>
          <a:bodyPr/>
          <a:lstStyle/>
          <a:p>
            <a:fld id="{828F3BD4-1AF2-D144-8129-4D42AD448F5E}" type="slidenum">
              <a:rPr lang="en-JP" smtClean="0"/>
              <a:pPr/>
              <a:t>29</a:t>
            </a:fld>
            <a:endParaRPr lang="en-JP" dirty="0"/>
          </a:p>
        </p:txBody>
      </p:sp>
      <p:sp>
        <p:nvSpPr>
          <p:cNvPr id="7" name="Shape 0">
            <a:extLst>
              <a:ext uri="{FF2B5EF4-FFF2-40B4-BE49-F238E27FC236}">
                <a16:creationId xmlns:a16="http://schemas.microsoft.com/office/drawing/2014/main" id="{F5FD7332-19D4-50CE-0475-A1B6F075744A}"/>
              </a:ext>
            </a:extLst>
          </p:cNvPr>
          <p:cNvSpPr/>
          <p:nvPr/>
        </p:nvSpPr>
        <p:spPr>
          <a:xfrm>
            <a:off x="0" y="0"/>
            <a:ext cx="9144000" cy="691502"/>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r>
              <a:rPr lang="en-US" sz="2800" b="1" i="0" dirty="0">
                <a:solidFill>
                  <a:srgbClr val="000000"/>
                </a:solidFill>
                <a:effectLst/>
                <a:latin typeface="Meiryo" panose="020B0604030504040204" pitchFamily="34" charset="-128"/>
                <a:ea typeface="Meiryo" panose="020B0604030504040204" pitchFamily="34" charset="-128"/>
              </a:rPr>
              <a:t>Step 1 — ARP </a:t>
            </a:r>
            <a:r>
              <a:rPr lang="en-US" sz="2800" b="1" i="0" dirty="0" err="1">
                <a:solidFill>
                  <a:srgbClr val="000000"/>
                </a:solidFill>
                <a:effectLst/>
                <a:latin typeface="Meiryo" panose="020B0604030504040204" pitchFamily="34" charset="-128"/>
                <a:ea typeface="Meiryo" panose="020B0604030504040204" pitchFamily="34" charset="-128"/>
              </a:rPr>
              <a:t>Resolution（ARP</a:t>
            </a:r>
            <a:r>
              <a:rPr lang="ja-JP" altLang="en-US" sz="2800" b="1" i="0">
                <a:solidFill>
                  <a:srgbClr val="000000"/>
                </a:solidFill>
                <a:effectLst/>
                <a:latin typeface="Meiryo" panose="020B0604030504040204" pitchFamily="34" charset="-128"/>
                <a:ea typeface="Meiryo" panose="020B0604030504040204" pitchFamily="34" charset="-128"/>
              </a:rPr>
              <a:t>キャッシュ生成）</a:t>
            </a:r>
            <a:r>
              <a:rPr lang="en-US" altLang="ja-JP" sz="2800" b="1" i="0" dirty="0">
                <a:solidFill>
                  <a:srgbClr val="000000"/>
                </a:solidFill>
                <a:effectLst/>
                <a:latin typeface="Meiryo" panose="020B0604030504040204" pitchFamily="34" charset="-128"/>
                <a:ea typeface="Meiryo" panose="020B0604030504040204" pitchFamily="34" charset="-128"/>
              </a:rPr>
              <a:t>2</a:t>
            </a:r>
            <a:endParaRPr lang="en-JP" sz="2800" b="1" dirty="0">
              <a:latin typeface="Meiryo" panose="020B0604030504040204" pitchFamily="34" charset="-128"/>
              <a:ea typeface="Meiryo" panose="020B0604030504040204" pitchFamily="34" charset="-128"/>
            </a:endParaRPr>
          </a:p>
          <a:p>
            <a:endParaRPr lang="en-JP" sz="2800" b="1" dirty="0">
              <a:latin typeface="Meiryo" panose="020B0604030504040204" pitchFamily="34" charset="-128"/>
              <a:ea typeface="Meiryo" panose="020B0604030504040204" pitchFamily="34" charset="-128"/>
            </a:endParaRPr>
          </a:p>
        </p:txBody>
      </p:sp>
      <p:sp>
        <p:nvSpPr>
          <p:cNvPr id="25" name="Rectangle: Rounded Corners 6">
            <a:extLst>
              <a:ext uri="{FF2B5EF4-FFF2-40B4-BE49-F238E27FC236}">
                <a16:creationId xmlns:a16="http://schemas.microsoft.com/office/drawing/2014/main" id="{3FFD65B7-92F3-8207-BA5D-8F212C61B79E}"/>
              </a:ext>
            </a:extLst>
          </p:cNvPr>
          <p:cNvSpPr/>
          <p:nvPr/>
        </p:nvSpPr>
        <p:spPr>
          <a:xfrm>
            <a:off x="3808543" y="935575"/>
            <a:ext cx="1817786" cy="1690326"/>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ja-JP" altLang="en-US" sz="2400" b="1" i="0">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透過型</a:t>
            </a:r>
            <a:r>
              <a:rPr lang="en-US" altLang="ja-JP" sz="2400" b="1" dirty="0">
                <a:solidFill>
                  <a:schemeClr val="tx1"/>
                </a:solidFill>
                <a:latin typeface="Meiryo" panose="020B0604030504040204" pitchFamily="34" charset="-128"/>
                <a:ea typeface="Meiryo" panose="020B0604030504040204" pitchFamily="34" charset="-128"/>
                <a:cs typeface="Times New Roman" panose="02020603050405020304" pitchFamily="18" charset="0"/>
              </a:rPr>
              <a:t>IDS</a:t>
            </a:r>
            <a:endParaRPr lang="mn-MN" altLang="ja-JP" sz="2400" b="1" dirty="0">
              <a:solidFill>
                <a:schemeClr val="tx1"/>
              </a:solidFill>
              <a:latin typeface="Meiryo" panose="020B0604030504040204" pitchFamily="34" charset="-128"/>
              <a:ea typeface="Meiryo" panose="020B0604030504040204" pitchFamily="34" charset="-128"/>
              <a:cs typeface="Times New Roman" panose="02020603050405020304" pitchFamily="18" charset="0"/>
            </a:endParaRPr>
          </a:p>
          <a:p>
            <a:pPr algn="ctr"/>
            <a:r>
              <a:rPr lang="en-US" sz="2000" dirty="0">
                <a:solidFill>
                  <a:schemeClr val="tx1"/>
                </a:solidFill>
                <a:latin typeface="Meiryo" panose="020B0604030504040204" pitchFamily="34" charset="-128"/>
                <a:ea typeface="Meiryo" panose="020B0604030504040204" pitchFamily="34" charset="-128"/>
              </a:rPr>
              <a:t>IP: </a:t>
            </a:r>
            <a:r>
              <a:rPr lang="ja-JP" altLang="en-US" sz="2000">
                <a:solidFill>
                  <a:schemeClr val="tx1"/>
                </a:solidFill>
                <a:latin typeface="Meiryo" panose="020B0604030504040204" pitchFamily="34" charset="-128"/>
                <a:ea typeface="Meiryo" panose="020B0604030504040204" pitchFamily="34" charset="-128"/>
              </a:rPr>
              <a:t>なし </a:t>
            </a:r>
            <a:r>
              <a:rPr lang="en-US" sz="2000" dirty="0">
                <a:solidFill>
                  <a:schemeClr val="tx1"/>
                </a:solidFill>
                <a:latin typeface="Meiryo" panose="020B0604030504040204" pitchFamily="34" charset="-128"/>
                <a:ea typeface="Meiryo" panose="020B0604030504040204" pitchFamily="34" charset="-128"/>
              </a:rPr>
              <a:t>MAC: </a:t>
            </a:r>
            <a:r>
              <a:rPr lang="ja-JP" altLang="en-US" sz="2000">
                <a:solidFill>
                  <a:schemeClr val="tx1"/>
                </a:solidFill>
                <a:latin typeface="Meiryo" panose="020B0604030504040204" pitchFamily="34" charset="-128"/>
                <a:ea typeface="Meiryo" panose="020B0604030504040204" pitchFamily="34" charset="-128"/>
              </a:rPr>
              <a:t>なし</a:t>
            </a:r>
            <a:endParaRPr lang="en-US" sz="2000" b="1" i="0" dirty="0">
              <a:solidFill>
                <a:schemeClr val="tx1"/>
              </a:solidFill>
              <a:effectLst/>
              <a:latin typeface="Meiryo" panose="020B0604030504040204" pitchFamily="34" charset="-128"/>
              <a:ea typeface="Meiryo" panose="020B0604030504040204" pitchFamily="34" charset="-128"/>
            </a:endParaRPr>
          </a:p>
        </p:txBody>
      </p:sp>
      <p:sp>
        <p:nvSpPr>
          <p:cNvPr id="26" name="Rectangle: Rounded Corners 8">
            <a:extLst>
              <a:ext uri="{FF2B5EF4-FFF2-40B4-BE49-F238E27FC236}">
                <a16:creationId xmlns:a16="http://schemas.microsoft.com/office/drawing/2014/main" id="{EBAEF9A4-43A8-61D3-A890-750537F95841}"/>
              </a:ext>
            </a:extLst>
          </p:cNvPr>
          <p:cNvSpPr/>
          <p:nvPr/>
        </p:nvSpPr>
        <p:spPr>
          <a:xfrm>
            <a:off x="6259978" y="1009542"/>
            <a:ext cx="2791496" cy="1256295"/>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solidFill>
                <a:srgbClr val="000000"/>
              </a:solidFill>
              <a:latin typeface="Meiryo" panose="020B0604030504040204" pitchFamily="34" charset="-128"/>
              <a:ea typeface="Meiryo" panose="020B0604030504040204" pitchFamily="34" charset="-128"/>
            </a:endParaRPr>
          </a:p>
          <a:p>
            <a:pPr algn="ctr"/>
            <a:r>
              <a:rPr lang="en-JP" sz="2000" b="0" i="0" dirty="0">
                <a:solidFill>
                  <a:srgbClr val="000000"/>
                </a:solidFill>
                <a:effectLst/>
                <a:latin typeface="Meiryo" panose="020B0604030504040204" pitchFamily="34" charset="-128"/>
                <a:ea typeface="Meiryo" panose="020B0604030504040204" pitchFamily="34" charset="-128"/>
              </a:rPr>
              <a:t>📡</a:t>
            </a:r>
            <a:endParaRPr lang="en-JP" sz="2000" dirty="0">
              <a:solidFill>
                <a:schemeClr val="tx1"/>
              </a:solidFill>
              <a:latin typeface="Meiryo" panose="020B0604030504040204" pitchFamily="34" charset="-128"/>
              <a:ea typeface="Meiryo" panose="020B0604030504040204" pitchFamily="34" charset="-128"/>
            </a:endParaRPr>
          </a:p>
          <a:p>
            <a:pPr algn="ctr"/>
            <a:r>
              <a:rPr lang="en-JP" sz="2000" b="1" dirty="0">
                <a:solidFill>
                  <a:schemeClr val="tx1"/>
                </a:solidFill>
                <a:latin typeface="Meiryo" panose="020B0604030504040204" pitchFamily="34" charset="-128"/>
                <a:ea typeface="Meiryo" panose="020B0604030504040204" pitchFamily="34" charset="-128"/>
              </a:rPr>
              <a:t>HOME </a:t>
            </a:r>
            <a:r>
              <a:rPr lang="en-US" sz="2000" b="1" dirty="0">
                <a:solidFill>
                  <a:schemeClr val="tx1"/>
                </a:solidFill>
                <a:latin typeface="Meiryo" panose="020B0604030504040204" pitchFamily="34" charset="-128"/>
                <a:ea typeface="Meiryo" panose="020B0604030504040204" pitchFamily="34" charset="-128"/>
              </a:rPr>
              <a:t>Router</a:t>
            </a:r>
            <a:endParaRPr lang="en-US" sz="2000" b="1" dirty="0">
              <a:latin typeface="Meiryo" panose="020B0604030504040204" pitchFamily="34" charset="-128"/>
              <a:ea typeface="Meiryo" panose="020B0604030504040204" pitchFamily="34" charset="-128"/>
            </a:endParaRPr>
          </a:p>
          <a:p>
            <a:r>
              <a:rPr lang="en-US" sz="2000" b="1" dirty="0">
                <a:solidFill>
                  <a:schemeClr val="tx1"/>
                </a:solidFill>
                <a:latin typeface="Meiryo" panose="020B0604030504040204" pitchFamily="34" charset="-128"/>
                <a:ea typeface="Meiryo" panose="020B0604030504040204" pitchFamily="34" charset="-128"/>
              </a:rPr>
              <a:t>IP:192.168.1.100</a:t>
            </a:r>
          </a:p>
          <a:p>
            <a:r>
              <a:rPr lang="en-US" sz="2000" b="1" dirty="0">
                <a:solidFill>
                  <a:schemeClr val="tx1"/>
                </a:solidFill>
                <a:latin typeface="Meiryo" panose="020B0604030504040204" pitchFamily="34" charset="-128"/>
                <a:ea typeface="Meiryo" panose="020B0604030504040204" pitchFamily="34" charset="-128"/>
              </a:rPr>
              <a:t>MAC: BB:BB:BB</a:t>
            </a:r>
            <a:endParaRPr lang="en-JP" sz="2000" b="1" dirty="0">
              <a:solidFill>
                <a:schemeClr val="tx1"/>
              </a:solidFill>
              <a:latin typeface="Meiryo" panose="020B0604030504040204" pitchFamily="34" charset="-128"/>
              <a:ea typeface="Meiryo" panose="020B0604030504040204" pitchFamily="34" charset="-128"/>
            </a:endParaRPr>
          </a:p>
          <a:p>
            <a:pPr algn="ctr"/>
            <a:endParaRPr lang="en-US" sz="2400" dirty="0">
              <a:solidFill>
                <a:schemeClr val="tx1"/>
              </a:solidFill>
              <a:latin typeface="Meiryo" panose="020B0604030504040204" pitchFamily="34" charset="-128"/>
              <a:ea typeface="Meiryo" panose="020B0604030504040204" pitchFamily="34" charset="-128"/>
            </a:endParaRPr>
          </a:p>
        </p:txBody>
      </p:sp>
      <p:sp>
        <p:nvSpPr>
          <p:cNvPr id="27" name="Rectangle: Rounded Corners 4">
            <a:extLst>
              <a:ext uri="{FF2B5EF4-FFF2-40B4-BE49-F238E27FC236}">
                <a16:creationId xmlns:a16="http://schemas.microsoft.com/office/drawing/2014/main" id="{5760C208-80CB-F556-E078-3C7253E0C979}"/>
              </a:ext>
            </a:extLst>
          </p:cNvPr>
          <p:cNvSpPr/>
          <p:nvPr/>
        </p:nvSpPr>
        <p:spPr>
          <a:xfrm>
            <a:off x="92526" y="1083508"/>
            <a:ext cx="2810693" cy="1394460"/>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mn-MN" altLang="ja-JP" sz="2400" b="1" i="0" dirty="0">
              <a:solidFill>
                <a:srgbClr val="000000"/>
              </a:solidFill>
              <a:effectLst/>
              <a:latin typeface="Meiryo" panose="020B0604030504040204" pitchFamily="34" charset="-128"/>
              <a:ea typeface="Meiryo" panose="020B0604030504040204" pitchFamily="34" charset="-128"/>
            </a:endParaRPr>
          </a:p>
          <a:p>
            <a:pPr algn="ctr"/>
            <a:r>
              <a:rPr lang="en-US" altLang="ja-JP" sz="2400" b="1" i="0" dirty="0">
                <a:solidFill>
                  <a:srgbClr val="000000"/>
                </a:solidFill>
                <a:effectLst/>
                <a:latin typeface="Meiryo" panose="020B0604030504040204" pitchFamily="34" charset="-128"/>
                <a:ea typeface="Meiryo" panose="020B0604030504040204" pitchFamily="34" charset="-128"/>
              </a:rPr>
              <a:t>IoT </a:t>
            </a:r>
            <a:r>
              <a:rPr lang="en-US" altLang="ja-JP" sz="2400" b="1" dirty="0">
                <a:solidFill>
                  <a:srgbClr val="000000"/>
                </a:solidFill>
                <a:latin typeface="Meiryo" panose="020B0604030504040204" pitchFamily="34" charset="-128"/>
                <a:ea typeface="Meiryo" panose="020B0604030504040204" pitchFamily="34" charset="-128"/>
              </a:rPr>
              <a:t>Client</a:t>
            </a:r>
            <a:endParaRPr lang="mn-MN" altLang="ja-JP" sz="2400" b="1" dirty="0">
              <a:solidFill>
                <a:srgbClr val="000000"/>
              </a:solidFill>
              <a:latin typeface="Meiryo" panose="020B0604030504040204" pitchFamily="34" charset="-128"/>
              <a:ea typeface="Meiryo" panose="020B0604030504040204" pitchFamily="34" charset="-128"/>
            </a:endParaRPr>
          </a:p>
          <a:p>
            <a:r>
              <a:rPr lang="en-US" sz="2000" b="1" dirty="0">
                <a:solidFill>
                  <a:schemeClr val="tx1"/>
                </a:solidFill>
                <a:latin typeface="Meiryo" panose="020B0604030504040204" pitchFamily="34" charset="-128"/>
                <a:ea typeface="Meiryo" panose="020B0604030504040204" pitchFamily="34" charset="-128"/>
              </a:rPr>
              <a:t>IP:192.168.1.20 </a:t>
            </a:r>
          </a:p>
          <a:p>
            <a:r>
              <a:rPr lang="en-US" sz="2000" b="1" dirty="0">
                <a:solidFill>
                  <a:schemeClr val="tx1"/>
                </a:solidFill>
                <a:latin typeface="Meiryo" panose="020B0604030504040204" pitchFamily="34" charset="-128"/>
                <a:ea typeface="Meiryo" panose="020B0604030504040204" pitchFamily="34" charset="-128"/>
              </a:rPr>
              <a:t>MAC: AA:AA:AA</a:t>
            </a:r>
          </a:p>
          <a:p>
            <a:pPr algn="ctr"/>
            <a:endParaRPr lang="en-JP" sz="2400" dirty="0">
              <a:solidFill>
                <a:schemeClr val="tx1"/>
              </a:solidFill>
              <a:latin typeface="Meiryo" panose="020B0604030504040204" pitchFamily="34" charset="-128"/>
              <a:ea typeface="Meiryo" panose="020B0604030504040204" pitchFamily="34" charset="-128"/>
            </a:endParaRPr>
          </a:p>
        </p:txBody>
      </p:sp>
      <p:cxnSp>
        <p:nvCxnSpPr>
          <p:cNvPr id="28" name="Straight Arrow Connector 27">
            <a:extLst>
              <a:ext uri="{FF2B5EF4-FFF2-40B4-BE49-F238E27FC236}">
                <a16:creationId xmlns:a16="http://schemas.microsoft.com/office/drawing/2014/main" id="{AB762894-486C-0DC7-EEFC-29BB94DB891D}"/>
              </a:ext>
            </a:extLst>
          </p:cNvPr>
          <p:cNvCxnSpPr>
            <a:cxnSpLocks/>
          </p:cNvCxnSpPr>
          <p:nvPr/>
        </p:nvCxnSpPr>
        <p:spPr>
          <a:xfrm>
            <a:off x="2903219" y="1663127"/>
            <a:ext cx="909142"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98E1E84-CD45-2150-41B9-00B2FB9FDDCD}"/>
              </a:ext>
            </a:extLst>
          </p:cNvPr>
          <p:cNvCxnSpPr>
            <a:cxnSpLocks/>
          </p:cNvCxnSpPr>
          <p:nvPr/>
        </p:nvCxnSpPr>
        <p:spPr>
          <a:xfrm>
            <a:off x="5626329" y="1664753"/>
            <a:ext cx="633649"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Rounded Rectangle 42">
            <a:extLst>
              <a:ext uri="{FF2B5EF4-FFF2-40B4-BE49-F238E27FC236}">
                <a16:creationId xmlns:a16="http://schemas.microsoft.com/office/drawing/2014/main" id="{281F0C0E-B98E-5553-BD16-E826C1B45D78}"/>
              </a:ext>
            </a:extLst>
          </p:cNvPr>
          <p:cNvSpPr/>
          <p:nvPr/>
        </p:nvSpPr>
        <p:spPr>
          <a:xfrm>
            <a:off x="0" y="2826593"/>
            <a:ext cx="4810945" cy="866200"/>
          </a:xfrm>
          <a:prstGeom prst="roundRect">
            <a:avLst/>
          </a:prstGeom>
          <a:solidFill>
            <a:schemeClr val="bg2">
              <a:lumMod val="9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b="1" dirty="0">
              <a:solidFill>
                <a:schemeClr val="tx1"/>
              </a:solidFill>
              <a:latin typeface="Meiryo" panose="020B0604030504040204" pitchFamily="34" charset="-128"/>
              <a:ea typeface="Meiryo" panose="020B0604030504040204" pitchFamily="34" charset="-128"/>
            </a:endParaRPr>
          </a:p>
          <a:p>
            <a:endParaRPr lang="mn-MN" b="1" dirty="0">
              <a:solidFill>
                <a:schemeClr val="tx1"/>
              </a:solidFill>
            </a:endParaRPr>
          </a:p>
          <a:p>
            <a:r>
              <a:rPr lang="en-US" b="1" dirty="0">
                <a:solidFill>
                  <a:schemeClr val="tx1"/>
                </a:solidFill>
                <a:latin typeface="Meiryo" panose="020B0604030504040204" pitchFamily="34" charset="-128"/>
                <a:ea typeface="Meiryo" panose="020B0604030504040204" pitchFamily="34" charset="-128"/>
              </a:rPr>
              <a:t>① ARP </a:t>
            </a:r>
            <a:r>
              <a:rPr lang="en-US" b="1" dirty="0" err="1">
                <a:solidFill>
                  <a:schemeClr val="tx1"/>
                </a:solidFill>
                <a:latin typeface="Meiryo" panose="020B0604030504040204" pitchFamily="34" charset="-128"/>
                <a:ea typeface="Meiryo" panose="020B0604030504040204" pitchFamily="34" charset="-128"/>
              </a:rPr>
              <a:t>Request（Broadcast</a:t>
            </a:r>
            <a:r>
              <a:rPr lang="en-US" b="1" dirty="0">
                <a:solidFill>
                  <a:schemeClr val="tx1"/>
                </a:solidFill>
                <a:latin typeface="Meiryo" panose="020B0604030504040204" pitchFamily="34" charset="-128"/>
                <a:ea typeface="Meiryo" panose="020B0604030504040204" pitchFamily="34" charset="-128"/>
              </a:rPr>
              <a:t>）</a:t>
            </a:r>
          </a:p>
          <a:p>
            <a:r>
              <a:rPr lang="en-US" dirty="0">
                <a:solidFill>
                  <a:schemeClr val="tx1"/>
                </a:solidFill>
                <a:latin typeface="Meiryo" panose="020B0604030504040204" pitchFamily="34" charset="-128"/>
                <a:ea typeface="Meiryo" panose="020B0604030504040204" pitchFamily="34" charset="-128"/>
              </a:rPr>
              <a:t>「192.168.1.100 </a:t>
            </a:r>
            <a:r>
              <a:rPr lang="ja-JP" altLang="en-US">
                <a:solidFill>
                  <a:schemeClr val="tx1"/>
                </a:solidFill>
                <a:latin typeface="Meiryo" panose="020B0604030504040204" pitchFamily="34" charset="-128"/>
                <a:ea typeface="Meiryo" panose="020B0604030504040204" pitchFamily="34" charset="-128"/>
              </a:rPr>
              <a:t>の </a:t>
            </a:r>
            <a:r>
              <a:rPr lang="en-US" dirty="0">
                <a:solidFill>
                  <a:schemeClr val="tx1"/>
                </a:solidFill>
                <a:latin typeface="Meiryo" panose="020B0604030504040204" pitchFamily="34" charset="-128"/>
                <a:ea typeface="Meiryo" panose="020B0604030504040204" pitchFamily="34" charset="-128"/>
              </a:rPr>
              <a:t>MAC </a:t>
            </a:r>
            <a:r>
              <a:rPr lang="ja-JP" altLang="en-US">
                <a:solidFill>
                  <a:schemeClr val="tx1"/>
                </a:solidFill>
                <a:latin typeface="Meiryo" panose="020B0604030504040204" pitchFamily="34" charset="-128"/>
                <a:ea typeface="Meiryo" panose="020B0604030504040204" pitchFamily="34" charset="-128"/>
              </a:rPr>
              <a:t>アドレスを教え</a:t>
            </a:r>
            <a:br>
              <a:rPr lang="ja-JP" altLang="en-US">
                <a:solidFill>
                  <a:schemeClr val="tx1"/>
                </a:solidFill>
                <a:latin typeface="Meiryo" panose="020B0604030504040204" pitchFamily="34" charset="-128"/>
                <a:ea typeface="Meiryo" panose="020B0604030504040204" pitchFamily="34" charset="-128"/>
              </a:rPr>
            </a:br>
            <a:r>
              <a:rPr lang="en-US" dirty="0">
                <a:solidFill>
                  <a:schemeClr val="tx1"/>
                </a:solidFill>
                <a:latin typeface="Meiryo" panose="020B0604030504040204" pitchFamily="34" charset="-128"/>
                <a:ea typeface="Meiryo" panose="020B0604030504040204" pitchFamily="34" charset="-128"/>
              </a:rPr>
              <a:t>（</a:t>
            </a:r>
            <a:r>
              <a:rPr lang="ja-JP" altLang="en-US">
                <a:solidFill>
                  <a:schemeClr val="tx1"/>
                </a:solidFill>
                <a:latin typeface="Meiryo" panose="020B0604030504040204" pitchFamily="34" charset="-128"/>
                <a:ea typeface="Meiryo" panose="020B0604030504040204" pitchFamily="34" charset="-128"/>
              </a:rPr>
              <a:t>全員に）</a:t>
            </a:r>
          </a:p>
          <a:p>
            <a:endParaRPr lang="en-US"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sp>
        <p:nvSpPr>
          <p:cNvPr id="44" name="Rounded Rectangle 43">
            <a:extLst>
              <a:ext uri="{FF2B5EF4-FFF2-40B4-BE49-F238E27FC236}">
                <a16:creationId xmlns:a16="http://schemas.microsoft.com/office/drawing/2014/main" id="{B1BC71E7-975E-0A73-4B63-5595F5CAED6A}"/>
              </a:ext>
            </a:extLst>
          </p:cNvPr>
          <p:cNvSpPr/>
          <p:nvPr/>
        </p:nvSpPr>
        <p:spPr>
          <a:xfrm>
            <a:off x="92523" y="3893485"/>
            <a:ext cx="4810944" cy="970711"/>
          </a:xfrm>
          <a:prstGeom prst="roundRect">
            <a:avLst/>
          </a:prstGeom>
          <a:solidFill>
            <a:schemeClr val="accent1">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b="1" dirty="0">
              <a:solidFill>
                <a:schemeClr val="tx1"/>
              </a:solidFill>
              <a:latin typeface="Meiryo" panose="020B0604030504040204" pitchFamily="34" charset="-128"/>
              <a:ea typeface="Meiryo" panose="020B0604030504040204" pitchFamily="34" charset="-128"/>
            </a:endParaRPr>
          </a:p>
          <a:p>
            <a:endParaRPr lang="mn-MN" b="1" dirty="0"/>
          </a:p>
          <a:p>
            <a:r>
              <a:rPr lang="en-US" b="1" dirty="0">
                <a:solidFill>
                  <a:schemeClr val="tx1"/>
                </a:solidFill>
                <a:latin typeface="Meiryo" panose="020B0604030504040204" pitchFamily="34" charset="-128"/>
                <a:ea typeface="Meiryo" panose="020B0604030504040204" pitchFamily="34" charset="-128"/>
              </a:rPr>
              <a:t>② ARP </a:t>
            </a:r>
            <a:r>
              <a:rPr lang="en-US" b="1" dirty="0" err="1">
                <a:solidFill>
                  <a:schemeClr val="tx1"/>
                </a:solidFill>
                <a:latin typeface="Meiryo" panose="020B0604030504040204" pitchFamily="34" charset="-128"/>
                <a:ea typeface="Meiryo" panose="020B0604030504040204" pitchFamily="34" charset="-128"/>
              </a:rPr>
              <a:t>Reply（Unicast</a:t>
            </a:r>
            <a:r>
              <a:rPr lang="en-US" b="1" dirty="0">
                <a:solidFill>
                  <a:schemeClr val="tx1"/>
                </a:solidFill>
                <a:latin typeface="Meiryo" panose="020B0604030504040204" pitchFamily="34" charset="-128"/>
                <a:ea typeface="Meiryo" panose="020B0604030504040204" pitchFamily="34" charset="-128"/>
              </a:rPr>
              <a:t>）</a:t>
            </a:r>
          </a:p>
          <a:p>
            <a:r>
              <a:rPr lang="en-US" b="1" dirty="0">
                <a:solidFill>
                  <a:schemeClr val="tx1"/>
                </a:solidFill>
                <a:latin typeface="Meiryo" panose="020B0604030504040204" pitchFamily="34" charset="-128"/>
                <a:ea typeface="Meiryo" panose="020B0604030504040204" pitchFamily="34" charset="-128"/>
              </a:rPr>
              <a:t>Router:「</a:t>
            </a:r>
            <a:r>
              <a:rPr lang="ja-JP" altLang="en-US" b="1">
                <a:solidFill>
                  <a:schemeClr val="tx1"/>
                </a:solidFill>
                <a:latin typeface="Meiryo" panose="020B0604030504040204" pitchFamily="34" charset="-128"/>
                <a:ea typeface="Meiryo" panose="020B0604030504040204" pitchFamily="34" charset="-128"/>
              </a:rPr>
              <a:t>私が </a:t>
            </a:r>
            <a:r>
              <a:rPr lang="en-US" altLang="ja-JP" b="1" dirty="0">
                <a:solidFill>
                  <a:schemeClr val="tx1"/>
                </a:solidFill>
                <a:latin typeface="Meiryo" panose="020B0604030504040204" pitchFamily="34" charset="-128"/>
                <a:ea typeface="Meiryo" panose="020B0604030504040204" pitchFamily="34" charset="-128"/>
              </a:rPr>
              <a:t>.1.100 </a:t>
            </a:r>
            <a:r>
              <a:rPr lang="ja-JP" altLang="en-US" b="1">
                <a:solidFill>
                  <a:schemeClr val="tx1"/>
                </a:solidFill>
                <a:latin typeface="Meiryo" panose="020B0604030504040204" pitchFamily="34" charset="-128"/>
                <a:ea typeface="Meiryo" panose="020B0604030504040204" pitchFamily="34" charset="-128"/>
              </a:rPr>
              <a:t>です。</a:t>
            </a:r>
            <a:r>
              <a:rPr lang="en-US" b="1" dirty="0">
                <a:solidFill>
                  <a:schemeClr val="tx1"/>
                </a:solidFill>
                <a:latin typeface="Meiryo" panose="020B0604030504040204" pitchFamily="34" charset="-128"/>
                <a:ea typeface="Meiryo" panose="020B0604030504040204" pitchFamily="34" charset="-128"/>
              </a:rPr>
              <a:t>MAC = BB:BB:B← IoT Client </a:t>
            </a:r>
            <a:r>
              <a:rPr lang="ja-JP" altLang="en-US" b="1">
                <a:solidFill>
                  <a:schemeClr val="tx1"/>
                </a:solidFill>
                <a:latin typeface="Meiryo" panose="020B0604030504040204" pitchFamily="34" charset="-128"/>
                <a:ea typeface="Meiryo" panose="020B0604030504040204" pitchFamily="34" charset="-128"/>
              </a:rPr>
              <a:t>へのみ返答</a:t>
            </a:r>
          </a:p>
          <a:p>
            <a:endParaRPr lang="en-US"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sp>
        <p:nvSpPr>
          <p:cNvPr id="45" name="Rounded Rectangle 44">
            <a:extLst>
              <a:ext uri="{FF2B5EF4-FFF2-40B4-BE49-F238E27FC236}">
                <a16:creationId xmlns:a16="http://schemas.microsoft.com/office/drawing/2014/main" id="{31F436AA-7D6A-FE91-BCD9-4C4EB850DD90}"/>
              </a:ext>
            </a:extLst>
          </p:cNvPr>
          <p:cNvSpPr/>
          <p:nvPr/>
        </p:nvSpPr>
        <p:spPr>
          <a:xfrm>
            <a:off x="92523" y="5112085"/>
            <a:ext cx="4810943" cy="1244266"/>
          </a:xfrm>
          <a:prstGeom prst="roundRect">
            <a:avLst/>
          </a:prstGeom>
          <a:solidFill>
            <a:schemeClr val="accent6">
              <a:lumMod val="20000"/>
              <a:lumOff val="8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b="1" dirty="0"/>
          </a:p>
          <a:p>
            <a:endParaRPr lang="mn-MN" b="1" dirty="0"/>
          </a:p>
          <a:p>
            <a:r>
              <a:rPr lang="en-JP" b="1" dirty="0">
                <a:solidFill>
                  <a:schemeClr val="tx1"/>
                </a:solidFill>
                <a:latin typeface="Meiryo" panose="020B0604030504040204" pitchFamily="34" charset="-128"/>
                <a:ea typeface="Meiryo" panose="020B0604030504040204" pitchFamily="34" charset="-128"/>
              </a:rPr>
              <a:t>③</a:t>
            </a:r>
            <a:r>
              <a:rPr lang="en-US" b="1" dirty="0">
                <a:solidFill>
                  <a:schemeClr val="tx1"/>
                </a:solidFill>
                <a:latin typeface="Meiryo" panose="020B0604030504040204" pitchFamily="34" charset="-128"/>
                <a:ea typeface="Meiryo" panose="020B0604030504040204" pitchFamily="34" charset="-128"/>
              </a:rPr>
              <a:t>ARP Cache </a:t>
            </a:r>
            <a:r>
              <a:rPr lang="ja-JP" altLang="en-US" b="1">
                <a:solidFill>
                  <a:schemeClr val="tx1"/>
                </a:solidFill>
                <a:latin typeface="Meiryo" panose="020B0604030504040204" pitchFamily="34" charset="-128"/>
                <a:ea typeface="Meiryo" panose="020B0604030504040204" pitchFamily="34" charset="-128"/>
              </a:rPr>
              <a:t>に記録</a:t>
            </a:r>
          </a:p>
          <a:p>
            <a:r>
              <a:rPr lang="en-US" b="1" dirty="0">
                <a:solidFill>
                  <a:schemeClr val="tx1"/>
                </a:solidFill>
                <a:latin typeface="Meiryo" panose="020B0604030504040204" pitchFamily="34" charset="-128"/>
                <a:ea typeface="Meiryo" panose="020B0604030504040204" pitchFamily="34" charset="-128"/>
              </a:rPr>
              <a:t>IP </a:t>
            </a:r>
            <a:r>
              <a:rPr lang="ja-JP" altLang="en-US" b="1">
                <a:solidFill>
                  <a:schemeClr val="tx1"/>
                </a:solidFill>
                <a:latin typeface="Meiryo" panose="020B0604030504040204" pitchFamily="34" charset="-128"/>
                <a:ea typeface="Meiryo" panose="020B0604030504040204" pitchFamily="34" charset="-128"/>
              </a:rPr>
              <a:t>アドレス</a:t>
            </a:r>
            <a:r>
              <a:rPr lang="en-US" altLang="ja-JP" b="1" dirty="0">
                <a:solidFill>
                  <a:schemeClr val="tx1"/>
                </a:solidFill>
                <a:latin typeface="Meiryo" panose="020B0604030504040204" pitchFamily="34" charset="-128"/>
                <a:ea typeface="Meiryo" panose="020B0604030504040204" pitchFamily="34" charset="-128"/>
              </a:rPr>
              <a:t>: 192.168.1.1</a:t>
            </a:r>
            <a:br>
              <a:rPr lang="en-US" altLang="ja-JP" b="1" dirty="0">
                <a:solidFill>
                  <a:schemeClr val="tx1"/>
                </a:solidFill>
                <a:latin typeface="Meiryo" panose="020B0604030504040204" pitchFamily="34" charset="-128"/>
                <a:ea typeface="Meiryo" panose="020B0604030504040204" pitchFamily="34" charset="-128"/>
              </a:rPr>
            </a:br>
            <a:r>
              <a:rPr lang="en-US" altLang="ja-JP" b="1" dirty="0">
                <a:solidFill>
                  <a:schemeClr val="tx1"/>
                </a:solidFill>
                <a:latin typeface="Meiryo" panose="020B0604030504040204" pitchFamily="34" charset="-128"/>
                <a:ea typeface="Meiryo" panose="020B0604030504040204" pitchFamily="34" charset="-128"/>
              </a:rPr>
              <a:t>→ </a:t>
            </a:r>
            <a:r>
              <a:rPr lang="en-US" b="1" dirty="0">
                <a:solidFill>
                  <a:schemeClr val="tx1"/>
                </a:solidFill>
                <a:latin typeface="Meiryo" panose="020B0604030504040204" pitchFamily="34" charset="-128"/>
                <a:ea typeface="Meiryo" panose="020B0604030504040204" pitchFamily="34" charset="-128"/>
              </a:rPr>
              <a:t>MAC </a:t>
            </a:r>
            <a:r>
              <a:rPr lang="ja-JP" altLang="en-US" b="1">
                <a:solidFill>
                  <a:schemeClr val="tx1"/>
                </a:solidFill>
                <a:latin typeface="Meiryo" panose="020B0604030504040204" pitchFamily="34" charset="-128"/>
                <a:ea typeface="Meiryo" panose="020B0604030504040204" pitchFamily="34" charset="-128"/>
              </a:rPr>
              <a:t>アドレス</a:t>
            </a:r>
            <a:r>
              <a:rPr lang="en-US" altLang="ja-JP" b="1" dirty="0">
                <a:solidFill>
                  <a:schemeClr val="tx1"/>
                </a:solidFill>
                <a:latin typeface="Meiryo" panose="020B0604030504040204" pitchFamily="34" charset="-128"/>
                <a:ea typeface="Meiryo" panose="020B0604030504040204" pitchFamily="34" charset="-128"/>
              </a:rPr>
              <a:t>: </a:t>
            </a:r>
            <a:r>
              <a:rPr lang="en-US" b="1" dirty="0" err="1">
                <a:solidFill>
                  <a:schemeClr val="tx1"/>
                </a:solidFill>
                <a:latin typeface="Meiryo" panose="020B0604030504040204" pitchFamily="34" charset="-128"/>
                <a:ea typeface="Meiryo" panose="020B0604030504040204" pitchFamily="34" charset="-128"/>
              </a:rPr>
              <a:t>CC:CC:CC（Router</a:t>
            </a:r>
            <a:r>
              <a:rPr lang="en-US" b="1" dirty="0">
                <a:latin typeface="Meiryo" panose="020B0604030504040204" pitchFamily="34" charset="-128"/>
                <a:ea typeface="Meiryo" panose="020B0604030504040204" pitchFamily="34" charset="-128"/>
              </a:rPr>
              <a:t>）</a:t>
            </a:r>
          </a:p>
          <a:p>
            <a:endParaRPr lang="mn-MN" b="1" dirty="0">
              <a:solidFill>
                <a:schemeClr val="tx1"/>
              </a:solidFill>
              <a:latin typeface="Meiryo" panose="020B0604030504040204" pitchFamily="34" charset="-128"/>
              <a:ea typeface="Meiryo" panose="020B0604030504040204" pitchFamily="34" charset="-128"/>
            </a:endParaRPr>
          </a:p>
          <a:p>
            <a:endParaRPr lang="en-US"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sp>
        <p:nvSpPr>
          <p:cNvPr id="47" name="Rounded Rectangle 46">
            <a:extLst>
              <a:ext uri="{FF2B5EF4-FFF2-40B4-BE49-F238E27FC236}">
                <a16:creationId xmlns:a16="http://schemas.microsoft.com/office/drawing/2014/main" id="{BB697359-D375-7BD6-42C3-BF84E72352F6}"/>
              </a:ext>
            </a:extLst>
          </p:cNvPr>
          <p:cNvSpPr/>
          <p:nvPr/>
        </p:nvSpPr>
        <p:spPr>
          <a:xfrm>
            <a:off x="5326380" y="2638006"/>
            <a:ext cx="3725094" cy="3718346"/>
          </a:xfrm>
          <a:prstGeom prst="roundRect">
            <a:avLst/>
          </a:prstGeom>
          <a:solidFill>
            <a:schemeClr val="accent4">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b="1">
                <a:solidFill>
                  <a:schemeClr val="tx1"/>
                </a:solidFill>
                <a:latin typeface="Meiryo" panose="020B0604030504040204" pitchFamily="34" charset="-128"/>
                <a:ea typeface="Meiryo" panose="020B0604030504040204" pitchFamily="34" charset="-128"/>
              </a:rPr>
              <a:t>透過型</a:t>
            </a:r>
            <a:r>
              <a:rPr lang="en-US" b="1" dirty="0">
                <a:solidFill>
                  <a:schemeClr val="tx1"/>
                </a:solidFill>
                <a:latin typeface="Meiryo" panose="020B0604030504040204" pitchFamily="34" charset="-128"/>
                <a:ea typeface="Meiryo" panose="020B0604030504040204" pitchFamily="34" charset="-128"/>
              </a:rPr>
              <a:t>IDS</a:t>
            </a:r>
            <a:r>
              <a:rPr lang="ja-JP" altLang="en-US" b="1">
                <a:solidFill>
                  <a:schemeClr val="tx1"/>
                </a:solidFill>
                <a:latin typeface="Meiryo" panose="020B0604030504040204" pitchFamily="34" charset="-128"/>
                <a:ea typeface="Meiryo" panose="020B0604030504040204" pitchFamily="34" charset="-128"/>
              </a:rPr>
              <a:t>の主な役割</a:t>
            </a:r>
            <a:endParaRPr lang="ja-JP" altLang="en-US" sz="2000" b="1">
              <a:solidFill>
                <a:schemeClr val="tx1"/>
              </a:solidFill>
              <a:latin typeface="Meiryo" panose="020B0604030504040204" pitchFamily="34" charset="-128"/>
              <a:ea typeface="Meiryo" panose="020B0604030504040204" pitchFamily="34" charset="-128"/>
            </a:endParaRPr>
          </a:p>
          <a:p>
            <a:r>
              <a:rPr lang="ja-JP" altLang="en-US" sz="2000">
                <a:solidFill>
                  <a:schemeClr val="tx1"/>
                </a:solidFill>
                <a:latin typeface="Meiryo" panose="020B0604030504040204" pitchFamily="34" charset="-128"/>
                <a:ea typeface="Meiryo" panose="020B0604030504040204" pitchFamily="34" charset="-128"/>
              </a:rPr>
              <a:t>① </a:t>
            </a:r>
            <a:r>
              <a:rPr lang="ja-JP" altLang="en-US" sz="2000" b="1">
                <a:solidFill>
                  <a:schemeClr val="tx1"/>
                </a:solidFill>
                <a:latin typeface="Meiryo" panose="020B0604030504040204" pitchFamily="34" charset="-128"/>
                <a:ea typeface="Meiryo" panose="020B0604030504040204" pitchFamily="34" charset="-128"/>
              </a:rPr>
              <a:t>観察（</a:t>
            </a:r>
            <a:r>
              <a:rPr lang="en-US" sz="2000" b="1" dirty="0">
                <a:solidFill>
                  <a:schemeClr val="tx1"/>
                </a:solidFill>
                <a:latin typeface="Meiryo" panose="020B0604030504040204" pitchFamily="34" charset="-128"/>
                <a:ea typeface="Meiryo" panose="020B0604030504040204" pitchFamily="34" charset="-128"/>
              </a:rPr>
              <a:t>Monitoring）</a:t>
            </a:r>
          </a:p>
          <a:p>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トラフィックを監視し，</a:t>
            </a:r>
          </a:p>
          <a:p>
            <a:r>
              <a:rPr lang="ja-JP" altLang="en-US" sz="2000">
                <a:solidFill>
                  <a:schemeClr val="tx1"/>
                </a:solidFill>
                <a:latin typeface="Meiryo" panose="020B0604030504040204" pitchFamily="34" charset="-128"/>
                <a:ea typeface="Meiryo" panose="020B0604030504040204" pitchFamily="34" charset="-128"/>
              </a:rPr>
              <a:t>通信状況を記録する．</a:t>
            </a:r>
          </a:p>
          <a:p>
            <a:r>
              <a:rPr lang="ja-JP" altLang="en-US" sz="2000" b="1">
                <a:solidFill>
                  <a:schemeClr val="tx1"/>
                </a:solidFill>
                <a:latin typeface="Meiryo" panose="020B0604030504040204" pitchFamily="34" charset="-128"/>
                <a:ea typeface="Meiryo" panose="020B0604030504040204" pitchFamily="34" charset="-128"/>
              </a:rPr>
              <a:t>② 分析（</a:t>
            </a:r>
            <a:r>
              <a:rPr lang="en-US" sz="2000" b="1" dirty="0">
                <a:solidFill>
                  <a:schemeClr val="tx1"/>
                </a:solidFill>
                <a:latin typeface="Meiryo" panose="020B0604030504040204" pitchFamily="34" charset="-128"/>
                <a:ea typeface="Meiryo" panose="020B0604030504040204" pitchFamily="34" charset="-128"/>
              </a:rPr>
              <a:t>Analysis）</a:t>
            </a:r>
          </a:p>
          <a:p>
            <a:r>
              <a:rPr lang="ja-JP" altLang="en-US" sz="2000">
                <a:solidFill>
                  <a:schemeClr val="tx1"/>
                </a:solidFill>
                <a:latin typeface="Meiryo" panose="020B0604030504040204" pitchFamily="34" charset="-128"/>
                <a:ea typeface="Meiryo" panose="020B0604030504040204" pitchFamily="34" charset="-128"/>
              </a:rPr>
              <a:t>正常通信か，</a:t>
            </a:r>
          </a:p>
          <a:p>
            <a:r>
              <a:rPr lang="en-US" sz="2000" dirty="0">
                <a:solidFill>
                  <a:schemeClr val="tx1"/>
                </a:solidFill>
                <a:latin typeface="Meiryo" panose="020B0604030504040204" pitchFamily="34" charset="-128"/>
                <a:ea typeface="Meiryo" panose="020B0604030504040204" pitchFamily="34" charset="-128"/>
              </a:rPr>
              <a:t>ARP Spoofing</a:t>
            </a:r>
            <a:r>
              <a:rPr lang="ja-JP" altLang="en-US" sz="2000">
                <a:solidFill>
                  <a:schemeClr val="tx1"/>
                </a:solidFill>
                <a:latin typeface="Meiryo" panose="020B0604030504040204" pitchFamily="34" charset="-128"/>
                <a:ea typeface="Meiryo" panose="020B0604030504040204" pitchFamily="34" charset="-128"/>
              </a:rPr>
              <a:t>攻撃かを判定する．</a:t>
            </a:r>
          </a:p>
          <a:p>
            <a:r>
              <a:rPr lang="ja-JP" altLang="en-US" sz="2000" b="1">
                <a:solidFill>
                  <a:schemeClr val="tx1"/>
                </a:solidFill>
                <a:latin typeface="Meiryo" panose="020B0604030504040204" pitchFamily="34" charset="-128"/>
                <a:ea typeface="Meiryo" panose="020B0604030504040204" pitchFamily="34" charset="-128"/>
              </a:rPr>
              <a:t>③ 転送（</a:t>
            </a:r>
            <a:r>
              <a:rPr lang="en-US" sz="2000" b="1" dirty="0">
                <a:solidFill>
                  <a:schemeClr val="tx1"/>
                </a:solidFill>
                <a:latin typeface="Meiryo" panose="020B0604030504040204" pitchFamily="34" charset="-128"/>
                <a:ea typeface="Meiryo" panose="020B0604030504040204" pitchFamily="34" charset="-128"/>
              </a:rPr>
              <a:t>Forwarding）</a:t>
            </a:r>
          </a:p>
          <a:p>
            <a:r>
              <a:rPr lang="en-US" sz="2000" dirty="0">
                <a:solidFill>
                  <a:schemeClr val="tx1"/>
                </a:solidFill>
                <a:latin typeface="Meiryo" panose="020B0604030504040204" pitchFamily="34" charset="-128"/>
                <a:ea typeface="Meiryo" panose="020B0604030504040204" pitchFamily="34" charset="-128"/>
              </a:rPr>
              <a:t>DTLS</a:t>
            </a:r>
            <a:r>
              <a:rPr lang="ja-JP" altLang="en-US" sz="2000">
                <a:solidFill>
                  <a:schemeClr val="tx1"/>
                </a:solidFill>
                <a:latin typeface="Meiryo" panose="020B0604030504040204" pitchFamily="34" charset="-128"/>
                <a:ea typeface="Meiryo" panose="020B0604030504040204" pitchFamily="34" charset="-128"/>
              </a:rPr>
              <a:t>の</a:t>
            </a:r>
            <a:r>
              <a:rPr lang="en-US" sz="2000" dirty="0">
                <a:solidFill>
                  <a:schemeClr val="tx1"/>
                </a:solidFill>
                <a:latin typeface="Meiryo" panose="020B0604030504040204" pitchFamily="34" charset="-128"/>
                <a:ea typeface="Meiryo" panose="020B0604030504040204" pitchFamily="34" charset="-128"/>
              </a:rPr>
              <a:t>Payload</a:t>
            </a:r>
            <a:r>
              <a:rPr lang="ja-JP" altLang="en-US" sz="2000">
                <a:solidFill>
                  <a:schemeClr val="tx1"/>
                </a:solidFill>
                <a:latin typeface="Meiryo" panose="020B0604030504040204" pitchFamily="34" charset="-128"/>
                <a:ea typeface="Meiryo" panose="020B0604030504040204" pitchFamily="34" charset="-128"/>
              </a:rPr>
              <a:t>を復号せず，</a:t>
            </a:r>
          </a:p>
          <a:p>
            <a:r>
              <a:rPr lang="ja-JP" altLang="en-US" sz="2000">
                <a:solidFill>
                  <a:schemeClr val="tx1"/>
                </a:solidFill>
                <a:latin typeface="Meiryo" panose="020B0604030504040204" pitchFamily="34" charset="-128"/>
                <a:ea typeface="Meiryo" panose="020B0604030504040204" pitchFamily="34" charset="-128"/>
              </a:rPr>
              <a:t>通信を透過的に転送する</a:t>
            </a:r>
            <a:r>
              <a:rPr lang="ja-JP" altLang="en-US">
                <a:solidFill>
                  <a:schemeClr val="tx1"/>
                </a:solidFill>
                <a:latin typeface="Meiryo" panose="020B0604030504040204" pitchFamily="34" charset="-128"/>
                <a:ea typeface="Meiryo" panose="020B0604030504040204" pitchFamily="34" charset="-128"/>
              </a:rPr>
              <a:t>．</a:t>
            </a:r>
            <a:endParaRPr lang="en-JP"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3460387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6">
            <a:extLst>
              <a:ext uri="{FF2B5EF4-FFF2-40B4-BE49-F238E27FC236}">
                <a16:creationId xmlns:a16="http://schemas.microsoft.com/office/drawing/2014/main" id="{7FF5011C-B599-586C-78F9-92DAE119AFB9}"/>
              </a:ext>
            </a:extLst>
          </p:cNvPr>
          <p:cNvSpPr/>
          <p:nvPr/>
        </p:nvSpPr>
        <p:spPr>
          <a:xfrm>
            <a:off x="4049753" y="1183410"/>
            <a:ext cx="1817786" cy="1229775"/>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ja-JP" altLang="en-US" sz="2400" b="1" i="0">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透過型</a:t>
            </a:r>
            <a:r>
              <a:rPr lang="en-US" sz="2400" b="1" i="0" dirty="0">
                <a:solidFill>
                  <a:schemeClr val="tx1"/>
                </a:solidFill>
                <a:effectLst/>
                <a:latin typeface="Meiryo" panose="020B0604030504040204" pitchFamily="34" charset="-128"/>
                <a:ea typeface="Meiryo" panose="020B0604030504040204" pitchFamily="34" charset="-128"/>
                <a:cs typeface="Times New Roman" panose="02020603050405020304" pitchFamily="18" charset="0"/>
              </a:rPr>
              <a:t>IDS</a:t>
            </a:r>
            <a:endParaRPr lang="en-US" sz="2400" b="1" i="0" dirty="0">
              <a:solidFill>
                <a:schemeClr val="tx1"/>
              </a:solidFill>
              <a:effectLst/>
              <a:latin typeface="Meiryo" panose="020B0604030504040204" pitchFamily="34" charset="-128"/>
              <a:ea typeface="Meiryo" panose="020B0604030504040204" pitchFamily="34" charset="-128"/>
            </a:endParaRPr>
          </a:p>
        </p:txBody>
      </p:sp>
      <p:sp>
        <p:nvSpPr>
          <p:cNvPr id="9" name="Rectangle: Rounded Corners 8">
            <a:extLst>
              <a:ext uri="{FF2B5EF4-FFF2-40B4-BE49-F238E27FC236}">
                <a16:creationId xmlns:a16="http://schemas.microsoft.com/office/drawing/2014/main" id="{D5E7BCE3-9E99-9AA4-52E6-B50466164EB7}"/>
              </a:ext>
            </a:extLst>
          </p:cNvPr>
          <p:cNvSpPr/>
          <p:nvPr/>
        </p:nvSpPr>
        <p:spPr>
          <a:xfrm>
            <a:off x="6995616" y="1083508"/>
            <a:ext cx="1817786" cy="122977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dirty="0">
              <a:solidFill>
                <a:srgbClr val="000000"/>
              </a:solidFill>
              <a:latin typeface="Meiryo" panose="020B0604030504040204" pitchFamily="34" charset="-128"/>
              <a:ea typeface="Meiryo" panose="020B0604030504040204" pitchFamily="34" charset="-128"/>
            </a:endParaRPr>
          </a:p>
          <a:p>
            <a:pPr algn="ctr"/>
            <a:r>
              <a:rPr lang="en-US" sz="2400" b="1" dirty="0">
                <a:solidFill>
                  <a:srgbClr val="000000"/>
                </a:solidFill>
                <a:latin typeface="Meiryo" panose="020B0604030504040204" pitchFamily="34" charset="-128"/>
                <a:ea typeface="Meiryo" panose="020B0604030504040204" pitchFamily="34" charset="-128"/>
              </a:rPr>
              <a:t>Backend</a:t>
            </a:r>
            <a:endParaRPr lang="en-US" sz="2400" dirty="0">
              <a:solidFill>
                <a:schemeClr val="tx1"/>
              </a:solidFill>
              <a:latin typeface="Meiryo" panose="020B0604030504040204" pitchFamily="34" charset="-128"/>
              <a:ea typeface="Meiryo" panose="020B0604030504040204" pitchFamily="34" charset="-128"/>
            </a:endParaRPr>
          </a:p>
        </p:txBody>
      </p:sp>
      <p:sp>
        <p:nvSpPr>
          <p:cNvPr id="10" name="Rectangle: Rounded Corners 4">
            <a:extLst>
              <a:ext uri="{FF2B5EF4-FFF2-40B4-BE49-F238E27FC236}">
                <a16:creationId xmlns:a16="http://schemas.microsoft.com/office/drawing/2014/main" id="{766501A8-0D68-685D-213F-99DB41CEBAC9}"/>
              </a:ext>
            </a:extLst>
          </p:cNvPr>
          <p:cNvSpPr/>
          <p:nvPr/>
        </p:nvSpPr>
        <p:spPr>
          <a:xfrm>
            <a:off x="92527" y="1110024"/>
            <a:ext cx="1576090" cy="1229777"/>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altLang="ja-JP" sz="2400" b="1" dirty="0">
              <a:solidFill>
                <a:srgbClr val="000000"/>
              </a:solidFill>
              <a:latin typeface="Meiryo" panose="020B0604030504040204" pitchFamily="34" charset="-128"/>
              <a:ea typeface="Meiryo" panose="020B0604030504040204" pitchFamily="34" charset="-128"/>
            </a:endParaRPr>
          </a:p>
          <a:p>
            <a:pPr algn="ctr"/>
            <a:r>
              <a:rPr lang="en-US" altLang="ja-JP" sz="2400" b="1" i="0" dirty="0">
                <a:solidFill>
                  <a:srgbClr val="000000"/>
                </a:solidFill>
                <a:effectLst/>
                <a:latin typeface="Meiryo" panose="020B0604030504040204" pitchFamily="34" charset="-128"/>
                <a:ea typeface="Meiryo" panose="020B0604030504040204" pitchFamily="34" charset="-128"/>
              </a:rPr>
              <a:t>IoT </a:t>
            </a:r>
            <a:r>
              <a:rPr lang="en-US" altLang="ja-JP" sz="2400" b="1" dirty="0">
                <a:solidFill>
                  <a:srgbClr val="000000"/>
                </a:solidFill>
                <a:latin typeface="Meiryo" panose="020B0604030504040204" pitchFamily="34" charset="-128"/>
                <a:ea typeface="Meiryo" panose="020B0604030504040204" pitchFamily="34" charset="-128"/>
              </a:rPr>
              <a:t>Client</a:t>
            </a:r>
            <a:endParaRPr lang="en-JP" sz="2400" dirty="0">
              <a:solidFill>
                <a:schemeClr val="tx1"/>
              </a:solidFill>
              <a:latin typeface="Meiryo" panose="020B0604030504040204" pitchFamily="34" charset="-128"/>
              <a:ea typeface="Meiryo" panose="020B0604030504040204" pitchFamily="34" charset="-128"/>
            </a:endParaRPr>
          </a:p>
        </p:txBody>
      </p:sp>
      <p:cxnSp>
        <p:nvCxnSpPr>
          <p:cNvPr id="17" name="Straight Arrow Connector 16">
            <a:extLst>
              <a:ext uri="{FF2B5EF4-FFF2-40B4-BE49-F238E27FC236}">
                <a16:creationId xmlns:a16="http://schemas.microsoft.com/office/drawing/2014/main" id="{CF1146AC-D13C-3BCB-E689-BAB2B4611C29}"/>
              </a:ext>
            </a:extLst>
          </p:cNvPr>
          <p:cNvCxnSpPr>
            <a:cxnSpLocks/>
          </p:cNvCxnSpPr>
          <p:nvPr/>
        </p:nvCxnSpPr>
        <p:spPr>
          <a:xfrm flipV="1">
            <a:off x="1668617" y="1479355"/>
            <a:ext cx="2304673" cy="6072"/>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6" name="Shape 0">
            <a:extLst>
              <a:ext uri="{FF2B5EF4-FFF2-40B4-BE49-F238E27FC236}">
                <a16:creationId xmlns:a16="http://schemas.microsoft.com/office/drawing/2014/main" id="{2E2CE1B2-4B9B-2CED-D943-2A870364AEB4}"/>
              </a:ext>
            </a:extLst>
          </p:cNvPr>
          <p:cNvSpPr/>
          <p:nvPr/>
        </p:nvSpPr>
        <p:spPr>
          <a:xfrm>
            <a:off x="0" y="0"/>
            <a:ext cx="9144000" cy="84421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endParaRPr lang="mn-MN" altLang="ja-JP" sz="2800" b="1" dirty="0">
              <a:latin typeface="Meiryo" panose="020B0604030504040204" pitchFamily="34" charset="-128"/>
              <a:ea typeface="Meiryo" panose="020B0604030504040204" pitchFamily="34" charset="-128"/>
            </a:endParaRPr>
          </a:p>
          <a:p>
            <a:r>
              <a:rPr lang="en-US" altLang="ja-JP" sz="2400" b="1" i="0" dirty="0">
                <a:solidFill>
                  <a:srgbClr val="000000"/>
                </a:solidFill>
                <a:effectLst/>
                <a:latin typeface="Meiryo" panose="020B0604030504040204" pitchFamily="34" charset="-128"/>
                <a:ea typeface="Meiryo" panose="020B0604030504040204" pitchFamily="34" charset="-128"/>
              </a:rPr>
              <a:t>Step</a:t>
            </a:r>
            <a:r>
              <a:rPr lang="en-US" sz="2400" b="1" i="0" dirty="0">
                <a:solidFill>
                  <a:srgbClr val="000000"/>
                </a:solidFill>
                <a:effectLst/>
                <a:latin typeface="Meiryo" panose="020B0604030504040204" pitchFamily="34" charset="-128"/>
                <a:ea typeface="Meiryo" panose="020B0604030504040204" pitchFamily="34" charset="-128"/>
              </a:rPr>
              <a:t> 2 : DTLS</a:t>
            </a:r>
            <a:r>
              <a:rPr lang="ja-JP" altLang="en-US" sz="2400" b="1" i="0">
                <a:solidFill>
                  <a:srgbClr val="000000"/>
                </a:solidFill>
                <a:effectLst/>
                <a:latin typeface="Meiryo" panose="020B0604030504040204" pitchFamily="34" charset="-128"/>
                <a:ea typeface="Meiryo" panose="020B0604030504040204" pitchFamily="34" charset="-128"/>
              </a:rPr>
              <a:t>通信は</a:t>
            </a:r>
            <a:r>
              <a:rPr lang="en-US" sz="2400" b="1" i="0" dirty="0">
                <a:solidFill>
                  <a:srgbClr val="000000"/>
                </a:solidFill>
                <a:effectLst/>
                <a:latin typeface="Meiryo" panose="020B0604030504040204" pitchFamily="34" charset="-128"/>
                <a:ea typeface="Meiryo" panose="020B0604030504040204" pitchFamily="34" charset="-128"/>
              </a:rPr>
              <a:t>ARP</a:t>
            </a:r>
            <a:r>
              <a:rPr lang="ja-JP" altLang="en-US" sz="2400" b="1" i="0">
                <a:solidFill>
                  <a:srgbClr val="000000"/>
                </a:solidFill>
                <a:effectLst/>
                <a:latin typeface="Meiryo" panose="020B0604030504040204" pitchFamily="34" charset="-128"/>
                <a:ea typeface="Meiryo" panose="020B0604030504040204" pitchFamily="34" charset="-128"/>
              </a:rPr>
              <a:t>による</a:t>
            </a:r>
            <a:r>
              <a:rPr lang="en-US" sz="2400" b="1" i="0" dirty="0">
                <a:solidFill>
                  <a:srgbClr val="000000"/>
                </a:solidFill>
                <a:effectLst/>
                <a:latin typeface="Meiryo" panose="020B0604030504040204" pitchFamily="34" charset="-128"/>
                <a:ea typeface="Meiryo" panose="020B0604030504040204" pitchFamily="34" charset="-128"/>
              </a:rPr>
              <a:t>MAC</a:t>
            </a:r>
            <a:r>
              <a:rPr lang="ja-JP" altLang="en-US" sz="2400" b="1" i="0">
                <a:solidFill>
                  <a:srgbClr val="000000"/>
                </a:solidFill>
                <a:effectLst/>
                <a:latin typeface="Meiryo" panose="020B0604030504040204" pitchFamily="34" charset="-128"/>
                <a:ea typeface="Meiryo" panose="020B0604030504040204" pitchFamily="34" charset="-128"/>
              </a:rPr>
              <a:t>解決の後に開始される</a:t>
            </a:r>
            <a:endParaRPr lang="en-JP" sz="2400" b="1" dirty="0">
              <a:latin typeface="Meiryo" panose="020B0604030504040204" pitchFamily="34" charset="-128"/>
              <a:ea typeface="Meiryo" panose="020B0604030504040204" pitchFamily="34" charset="-128"/>
            </a:endParaRPr>
          </a:p>
        </p:txBody>
      </p:sp>
      <p:sp>
        <p:nvSpPr>
          <p:cNvPr id="63" name="Slide Number Placeholder 62">
            <a:extLst>
              <a:ext uri="{FF2B5EF4-FFF2-40B4-BE49-F238E27FC236}">
                <a16:creationId xmlns:a16="http://schemas.microsoft.com/office/drawing/2014/main" id="{7997AEC5-C830-216D-A285-C2D5C6551311}"/>
              </a:ext>
            </a:extLst>
          </p:cNvPr>
          <p:cNvSpPr>
            <a:spLocks noGrp="1"/>
          </p:cNvSpPr>
          <p:nvPr>
            <p:ph type="sldNum" sz="quarter" idx="12"/>
          </p:nvPr>
        </p:nvSpPr>
        <p:spPr/>
        <p:txBody>
          <a:bodyPr/>
          <a:lstStyle/>
          <a:p>
            <a:fld id="{828F3BD4-1AF2-D144-8129-4D42AD448F5E}" type="slidenum">
              <a:rPr lang="en-JP" smtClean="0"/>
              <a:t>30</a:t>
            </a:fld>
            <a:endParaRPr lang="en-JP" dirty="0"/>
          </a:p>
        </p:txBody>
      </p:sp>
      <p:sp>
        <p:nvSpPr>
          <p:cNvPr id="25" name="TextBox 24">
            <a:extLst>
              <a:ext uri="{FF2B5EF4-FFF2-40B4-BE49-F238E27FC236}">
                <a16:creationId xmlns:a16="http://schemas.microsoft.com/office/drawing/2014/main" id="{878E3297-CEAA-EE75-0FCA-D6F90B203E5C}"/>
              </a:ext>
            </a:extLst>
          </p:cNvPr>
          <p:cNvSpPr txBox="1"/>
          <p:nvPr/>
        </p:nvSpPr>
        <p:spPr>
          <a:xfrm>
            <a:off x="1943962" y="1182118"/>
            <a:ext cx="1592103" cy="338554"/>
          </a:xfrm>
          <a:prstGeom prst="rect">
            <a:avLst/>
          </a:prstGeom>
          <a:noFill/>
        </p:spPr>
        <p:txBody>
          <a:bodyPr wrap="none" rtlCol="0">
            <a:spAutoFit/>
          </a:bodyPr>
          <a:lstStyle/>
          <a:p>
            <a:r>
              <a:rPr lang="en-JP" sz="1600" dirty="0">
                <a:latin typeface="Meiryo" panose="020B0604030504040204" pitchFamily="34" charset="-128"/>
                <a:ea typeface="Meiryo" panose="020B0604030504040204" pitchFamily="34" charset="-128"/>
              </a:rPr>
              <a:t>1. ClientHello </a:t>
            </a:r>
          </a:p>
        </p:txBody>
      </p:sp>
      <p:cxnSp>
        <p:nvCxnSpPr>
          <p:cNvPr id="27" name="Straight Arrow Connector 26">
            <a:extLst>
              <a:ext uri="{FF2B5EF4-FFF2-40B4-BE49-F238E27FC236}">
                <a16:creationId xmlns:a16="http://schemas.microsoft.com/office/drawing/2014/main" id="{B76433F0-71E4-64CC-81F7-F59974F6D5C7}"/>
              </a:ext>
            </a:extLst>
          </p:cNvPr>
          <p:cNvCxnSpPr>
            <a:cxnSpLocks/>
            <a:stCxn id="29" idx="2"/>
          </p:cNvCxnSpPr>
          <p:nvPr/>
        </p:nvCxnSpPr>
        <p:spPr>
          <a:xfrm flipH="1" flipV="1">
            <a:off x="1701029" y="1882155"/>
            <a:ext cx="2174290" cy="1"/>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2715D5B-19C3-3F2A-AD9E-481CCA8277F2}"/>
              </a:ext>
            </a:extLst>
          </p:cNvPr>
          <p:cNvSpPr txBox="1"/>
          <p:nvPr/>
        </p:nvSpPr>
        <p:spPr>
          <a:xfrm>
            <a:off x="1564826" y="1543602"/>
            <a:ext cx="4620986" cy="338554"/>
          </a:xfrm>
          <a:prstGeom prst="rect">
            <a:avLst/>
          </a:prstGeom>
          <a:noFill/>
        </p:spPr>
        <p:txBody>
          <a:bodyPr wrap="square">
            <a:spAutoFit/>
          </a:bodyPr>
          <a:lstStyle/>
          <a:p>
            <a:r>
              <a:rPr lang="en-JP" sz="1600" b="0" i="0" dirty="0">
                <a:solidFill>
                  <a:srgbClr val="000000"/>
                </a:solidFill>
                <a:effectLst/>
                <a:latin typeface="Meiryo" panose="020B0604030504040204" pitchFamily="34" charset="-128"/>
                <a:ea typeface="Meiryo" panose="020B0604030504040204" pitchFamily="34" charset="-128"/>
              </a:rPr>
              <a:t>2. </a:t>
            </a:r>
            <a:r>
              <a:rPr lang="en-US" sz="1600" b="0" i="0" dirty="0">
                <a:solidFill>
                  <a:srgbClr val="000000"/>
                </a:solidFill>
                <a:effectLst/>
                <a:latin typeface="Meiryo" panose="020B0604030504040204" pitchFamily="34" charset="-128"/>
                <a:ea typeface="Meiryo" panose="020B0604030504040204" pitchFamily="34" charset="-128"/>
              </a:rPr>
              <a:t>Server</a:t>
            </a:r>
            <a:r>
              <a:rPr lang="mn-MN" sz="1600" b="0" i="0" dirty="0">
                <a:solidFill>
                  <a:srgbClr val="000000"/>
                </a:solidFill>
                <a:effectLst/>
                <a:latin typeface="Meiryo" panose="020B0604030504040204" pitchFamily="34" charset="-128"/>
                <a:ea typeface="Meiryo" panose="020B0604030504040204" pitchFamily="34" charset="-128"/>
              </a:rPr>
              <a:t> </a:t>
            </a:r>
            <a:r>
              <a:rPr lang="en-US" sz="1600" b="0" i="0" dirty="0">
                <a:solidFill>
                  <a:srgbClr val="000000"/>
                </a:solidFill>
                <a:effectLst/>
                <a:latin typeface="Meiryo" panose="020B0604030504040204" pitchFamily="34" charset="-128"/>
                <a:ea typeface="Meiryo" panose="020B0604030504040204" pitchFamily="34" charset="-128"/>
              </a:rPr>
              <a:t>Hello + </a:t>
            </a:r>
            <a:r>
              <a:rPr lang="ja-JP" altLang="en-US" sz="1600" b="0" i="0">
                <a:solidFill>
                  <a:srgbClr val="000000"/>
                </a:solidFill>
                <a:effectLst/>
                <a:latin typeface="Meiryo" panose="020B0604030504040204" pitchFamily="34" charset="-128"/>
                <a:ea typeface="Meiryo" panose="020B0604030504040204" pitchFamily="34" charset="-128"/>
              </a:rPr>
              <a:t>証明書</a:t>
            </a:r>
            <a:endParaRPr lang="en-JP" sz="1600" dirty="0">
              <a:latin typeface="Meiryo" panose="020B0604030504040204" pitchFamily="34" charset="-128"/>
              <a:ea typeface="Meiryo" panose="020B0604030504040204" pitchFamily="34" charset="-128"/>
            </a:endParaRPr>
          </a:p>
        </p:txBody>
      </p:sp>
      <p:sp>
        <p:nvSpPr>
          <p:cNvPr id="37" name="TextBox 36">
            <a:extLst>
              <a:ext uri="{FF2B5EF4-FFF2-40B4-BE49-F238E27FC236}">
                <a16:creationId xmlns:a16="http://schemas.microsoft.com/office/drawing/2014/main" id="{5D9F74FD-6108-3374-3473-41D095CAB8B0}"/>
              </a:ext>
            </a:extLst>
          </p:cNvPr>
          <p:cNvSpPr txBox="1"/>
          <p:nvPr/>
        </p:nvSpPr>
        <p:spPr>
          <a:xfrm>
            <a:off x="1701029" y="1953807"/>
            <a:ext cx="2272261" cy="338554"/>
          </a:xfrm>
          <a:prstGeom prst="rect">
            <a:avLst/>
          </a:prstGeom>
          <a:noFill/>
        </p:spPr>
        <p:txBody>
          <a:bodyPr wrap="square">
            <a:spAutoFit/>
          </a:bodyPr>
          <a:lstStyle/>
          <a:p>
            <a:r>
              <a:rPr lang="en-JP" sz="1600" dirty="0">
                <a:latin typeface="Meiryo" panose="020B0604030504040204" pitchFamily="34" charset="-128"/>
                <a:ea typeface="Meiryo" panose="020B0604030504040204" pitchFamily="34" charset="-128"/>
              </a:rPr>
              <a:t>3. </a:t>
            </a:r>
            <a:r>
              <a:rPr lang="ja-JP" altLang="en-US" sz="1600" b="0" i="0">
                <a:solidFill>
                  <a:srgbClr val="000000"/>
                </a:solidFill>
                <a:effectLst/>
                <a:latin typeface="Meiryo" panose="020B0604030504040204" pitchFamily="34" charset="-128"/>
                <a:ea typeface="Meiryo" panose="020B0604030504040204" pitchFamily="34" charset="-128"/>
              </a:rPr>
              <a:t>鍵交換 → </a:t>
            </a:r>
            <a:r>
              <a:rPr lang="en-US" sz="1600" b="0" i="0" dirty="0">
                <a:solidFill>
                  <a:srgbClr val="000000"/>
                </a:solidFill>
                <a:effectLst/>
                <a:latin typeface="Meiryo" panose="020B0604030504040204" pitchFamily="34" charset="-128"/>
                <a:ea typeface="Meiryo" panose="020B0604030504040204" pitchFamily="34" charset="-128"/>
              </a:rPr>
              <a:t>Finished</a:t>
            </a:r>
            <a:r>
              <a:rPr lang="en-JP" sz="1600" dirty="0">
                <a:latin typeface="Meiryo" panose="020B0604030504040204" pitchFamily="34" charset="-128"/>
                <a:ea typeface="Meiryo" panose="020B0604030504040204" pitchFamily="34" charset="-128"/>
              </a:rPr>
              <a:t> </a:t>
            </a:r>
          </a:p>
        </p:txBody>
      </p:sp>
      <p:cxnSp>
        <p:nvCxnSpPr>
          <p:cNvPr id="39" name="Straight Arrow Connector 38">
            <a:extLst>
              <a:ext uri="{FF2B5EF4-FFF2-40B4-BE49-F238E27FC236}">
                <a16:creationId xmlns:a16="http://schemas.microsoft.com/office/drawing/2014/main" id="{A9385096-C957-3D0C-CC92-C7618F5846A2}"/>
              </a:ext>
            </a:extLst>
          </p:cNvPr>
          <p:cNvCxnSpPr>
            <a:cxnSpLocks/>
          </p:cNvCxnSpPr>
          <p:nvPr/>
        </p:nvCxnSpPr>
        <p:spPr>
          <a:xfrm flipV="1">
            <a:off x="1668617" y="2266571"/>
            <a:ext cx="2304673" cy="6072"/>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C3393D7-261B-BE8C-5F1D-608C183EC21B}"/>
              </a:ext>
            </a:extLst>
          </p:cNvPr>
          <p:cNvCxnSpPr>
            <a:cxnSpLocks/>
          </p:cNvCxnSpPr>
          <p:nvPr/>
        </p:nvCxnSpPr>
        <p:spPr>
          <a:xfrm flipV="1">
            <a:off x="5864896" y="1460033"/>
            <a:ext cx="1133363" cy="1773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25602C69-50DA-5C4B-7C0F-306A70919928}"/>
              </a:ext>
            </a:extLst>
          </p:cNvPr>
          <p:cNvCxnSpPr>
            <a:cxnSpLocks/>
          </p:cNvCxnSpPr>
          <p:nvPr/>
        </p:nvCxnSpPr>
        <p:spPr>
          <a:xfrm flipH="1">
            <a:off x="5883891" y="1804152"/>
            <a:ext cx="1095373" cy="14021"/>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ABBB60B-6276-8BFF-2014-1B7023C6DBF8}"/>
              </a:ext>
            </a:extLst>
          </p:cNvPr>
          <p:cNvCxnSpPr>
            <a:cxnSpLocks/>
          </p:cNvCxnSpPr>
          <p:nvPr/>
        </p:nvCxnSpPr>
        <p:spPr>
          <a:xfrm>
            <a:off x="5883891" y="2123084"/>
            <a:ext cx="1124811"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Rounded Rectangle 47">
            <a:extLst>
              <a:ext uri="{FF2B5EF4-FFF2-40B4-BE49-F238E27FC236}">
                <a16:creationId xmlns:a16="http://schemas.microsoft.com/office/drawing/2014/main" id="{D7AE3924-5C1B-64C3-2B11-B66975D14129}"/>
              </a:ext>
            </a:extLst>
          </p:cNvPr>
          <p:cNvSpPr/>
          <p:nvPr/>
        </p:nvSpPr>
        <p:spPr>
          <a:xfrm>
            <a:off x="92527" y="2637038"/>
            <a:ext cx="8958943" cy="949655"/>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a:solidFill>
                  <a:schemeClr val="tx1"/>
                </a:solidFill>
                <a:effectLst/>
                <a:latin typeface="Meiryo" panose="020B0604030504040204" pitchFamily="34" charset="-128"/>
                <a:ea typeface="Meiryo" panose="020B0604030504040204" pitchFamily="34" charset="-128"/>
              </a:rPr>
              <a:t>重要</a:t>
            </a:r>
            <a:r>
              <a:rPr lang="en-US" altLang="ja-JP" sz="2000" b="1" dirty="0">
                <a:solidFill>
                  <a:schemeClr val="tx1"/>
                </a:solidFill>
                <a:effectLst/>
                <a:latin typeface="Meiryo" panose="020B0604030504040204" pitchFamily="34" charset="-128"/>
                <a:ea typeface="Meiryo" panose="020B0604030504040204" pitchFamily="34" charset="-128"/>
              </a:rPr>
              <a:t>: </a:t>
            </a:r>
            <a:r>
              <a:rPr lang="en-US" sz="2000" b="1" dirty="0">
                <a:solidFill>
                  <a:schemeClr val="tx1"/>
                </a:solidFill>
                <a:effectLst/>
                <a:latin typeface="Meiryo" panose="020B0604030504040204" pitchFamily="34" charset="-128"/>
                <a:ea typeface="Meiryo" panose="020B0604030504040204" pitchFamily="34" charset="-128"/>
              </a:rPr>
              <a:t>ARP</a:t>
            </a:r>
            <a:r>
              <a:rPr lang="ja-JP" altLang="en-US" sz="2000" b="1">
                <a:solidFill>
                  <a:schemeClr val="tx1"/>
                </a:solidFill>
                <a:effectLst/>
                <a:latin typeface="Meiryo" panose="020B0604030504040204" pitchFamily="34" charset="-128"/>
                <a:ea typeface="Meiryo" panose="020B0604030504040204" pitchFamily="34" charset="-128"/>
              </a:rPr>
              <a:t>で</a:t>
            </a:r>
            <a:r>
              <a:rPr lang="en-US" sz="2000" b="1" dirty="0">
                <a:solidFill>
                  <a:schemeClr val="tx1"/>
                </a:solidFill>
                <a:effectLst/>
                <a:latin typeface="Meiryo" panose="020B0604030504040204" pitchFamily="34" charset="-128"/>
                <a:ea typeface="Meiryo" panose="020B0604030504040204" pitchFamily="34" charset="-128"/>
              </a:rPr>
              <a:t>MAC</a:t>
            </a:r>
            <a:r>
              <a:rPr lang="ja-JP" altLang="en-US" sz="2000" b="1">
                <a:solidFill>
                  <a:schemeClr val="tx1"/>
                </a:solidFill>
                <a:effectLst/>
                <a:latin typeface="Meiryo" panose="020B0604030504040204" pitchFamily="34" charset="-128"/>
                <a:ea typeface="Meiryo" panose="020B0604030504040204" pitchFamily="34" charset="-128"/>
              </a:rPr>
              <a:t>アドレスを解決しなければ、</a:t>
            </a:r>
            <a:r>
              <a:rPr lang="en-US" sz="2000" b="1" dirty="0">
                <a:solidFill>
                  <a:schemeClr val="tx1"/>
                </a:solidFill>
                <a:effectLst/>
                <a:latin typeface="Meiryo" panose="020B0604030504040204" pitchFamily="34" charset="-128"/>
                <a:ea typeface="Meiryo" panose="020B0604030504040204" pitchFamily="34" charset="-128"/>
              </a:rPr>
              <a:t>DTLS</a:t>
            </a:r>
            <a:r>
              <a:rPr lang="ja-JP" altLang="en-US" sz="2000" b="1">
                <a:solidFill>
                  <a:schemeClr val="tx1"/>
                </a:solidFill>
                <a:effectLst/>
                <a:latin typeface="Meiryo" panose="020B0604030504040204" pitchFamily="34" charset="-128"/>
                <a:ea typeface="Meiryo" panose="020B0604030504040204" pitchFamily="34" charset="-128"/>
              </a:rPr>
              <a:t>パケットを送れない</a:t>
            </a:r>
          </a:p>
          <a:p>
            <a:pPr algn="ctr"/>
            <a:r>
              <a:rPr lang="en-US" sz="2000" b="1" dirty="0">
                <a:solidFill>
                  <a:schemeClr val="tx1"/>
                </a:solidFill>
                <a:effectLst/>
                <a:latin typeface="Meiryo" panose="020B0604030504040204" pitchFamily="34" charset="-128"/>
                <a:ea typeface="Meiryo" panose="020B0604030504040204" pitchFamily="34" charset="-128"/>
              </a:rPr>
              <a:t>L2（ARP）</a:t>
            </a:r>
            <a:r>
              <a:rPr lang="ja-JP" altLang="en-US" sz="2000" b="1">
                <a:solidFill>
                  <a:schemeClr val="tx1"/>
                </a:solidFill>
                <a:effectLst/>
                <a:latin typeface="Meiryo" panose="020B0604030504040204" pitchFamily="34" charset="-128"/>
                <a:ea typeface="Meiryo" panose="020B0604030504040204" pitchFamily="34" charset="-128"/>
              </a:rPr>
              <a:t>が先 → </a:t>
            </a:r>
            <a:r>
              <a:rPr lang="en-US" sz="2000" b="1" dirty="0">
                <a:solidFill>
                  <a:schemeClr val="tx1"/>
                </a:solidFill>
                <a:effectLst/>
                <a:latin typeface="Meiryo" panose="020B0604030504040204" pitchFamily="34" charset="-128"/>
                <a:ea typeface="Meiryo" panose="020B0604030504040204" pitchFamily="34" charset="-128"/>
              </a:rPr>
              <a:t>L4（DTLS）</a:t>
            </a:r>
            <a:r>
              <a:rPr lang="ja-JP" altLang="en-US" sz="2000" b="1">
                <a:solidFill>
                  <a:schemeClr val="tx1"/>
                </a:solidFill>
                <a:effectLst/>
                <a:latin typeface="Meiryo" panose="020B0604030504040204" pitchFamily="34" charset="-128"/>
                <a:ea typeface="Meiryo" panose="020B0604030504040204" pitchFamily="34" charset="-128"/>
              </a:rPr>
              <a:t>が後 </a:t>
            </a:r>
            <a:r>
              <a:rPr lang="en-US" altLang="ja-JP" sz="2000" b="1" dirty="0">
                <a:solidFill>
                  <a:schemeClr val="tx1"/>
                </a:solidFill>
                <a:effectLst/>
                <a:latin typeface="Meiryo" panose="020B0604030504040204" pitchFamily="34" charset="-128"/>
                <a:ea typeface="Meiryo" panose="020B0604030504040204" pitchFamily="34" charset="-128"/>
              </a:rPr>
              <a:t>— </a:t>
            </a:r>
            <a:r>
              <a:rPr lang="ja-JP" altLang="en-US" sz="2000" b="1">
                <a:solidFill>
                  <a:schemeClr val="tx1"/>
                </a:solidFill>
                <a:effectLst/>
                <a:latin typeface="Meiryo" panose="020B0604030504040204" pitchFamily="34" charset="-128"/>
                <a:ea typeface="Meiryo" panose="020B0604030504040204" pitchFamily="34" charset="-128"/>
              </a:rPr>
              <a:t>この順序は必ず守られる</a:t>
            </a:r>
            <a:endParaRPr lang="en-JP" sz="2000" b="1" dirty="0">
              <a:solidFill>
                <a:schemeClr val="tx1"/>
              </a:solidFill>
              <a:effectLst/>
              <a:latin typeface="Meiryo" panose="020B0604030504040204" pitchFamily="34" charset="-128"/>
              <a:ea typeface="Meiryo" panose="020B0604030504040204" pitchFamily="34" charset="-128"/>
            </a:endParaRPr>
          </a:p>
        </p:txBody>
      </p:sp>
      <p:sp>
        <p:nvSpPr>
          <p:cNvPr id="55" name="TextBox 54">
            <a:extLst>
              <a:ext uri="{FF2B5EF4-FFF2-40B4-BE49-F238E27FC236}">
                <a16:creationId xmlns:a16="http://schemas.microsoft.com/office/drawing/2014/main" id="{6DF5195D-333D-4FF6-EF30-75782FCA254B}"/>
              </a:ext>
            </a:extLst>
          </p:cNvPr>
          <p:cNvSpPr txBox="1"/>
          <p:nvPr/>
        </p:nvSpPr>
        <p:spPr>
          <a:xfrm>
            <a:off x="166640" y="6003452"/>
            <a:ext cx="5581017" cy="830997"/>
          </a:xfrm>
          <a:prstGeom prst="rect">
            <a:avLst/>
          </a:prstGeom>
          <a:noFill/>
        </p:spPr>
        <p:txBody>
          <a:bodyPr wrap="square">
            <a:spAutoFit/>
          </a:bodyPr>
          <a:lstStyle/>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は「何を送るか」は守れる </a:t>
            </a:r>
            <a:endParaRPr lang="mn-MN" altLang="ja-JP"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しかし「どこへ届くか」は守れない</a:t>
            </a:r>
            <a:endParaRPr lang="en-JP" sz="2400" dirty="0">
              <a:latin typeface="Meiryo" panose="020B0604030504040204" pitchFamily="34" charset="-128"/>
              <a:ea typeface="Meiryo" panose="020B0604030504040204" pitchFamily="34" charset="-128"/>
            </a:endParaRPr>
          </a:p>
        </p:txBody>
      </p:sp>
      <p:sp>
        <p:nvSpPr>
          <p:cNvPr id="2" name="Rounded Rectangle 1">
            <a:extLst>
              <a:ext uri="{FF2B5EF4-FFF2-40B4-BE49-F238E27FC236}">
                <a16:creationId xmlns:a16="http://schemas.microsoft.com/office/drawing/2014/main" id="{B8960A1D-7C43-D980-1B0E-3CD8A7B196D0}"/>
              </a:ext>
            </a:extLst>
          </p:cNvPr>
          <p:cNvSpPr/>
          <p:nvPr/>
        </p:nvSpPr>
        <p:spPr>
          <a:xfrm>
            <a:off x="92526" y="3766501"/>
            <a:ext cx="8958943" cy="949655"/>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effectLst/>
                <a:latin typeface="Meiryo" panose="020B0604030504040204" pitchFamily="34" charset="-128"/>
                <a:ea typeface="Meiryo" panose="020B0604030504040204" pitchFamily="34" charset="-128"/>
              </a:rPr>
              <a:t>t=0</a:t>
            </a:r>
            <a:r>
              <a:rPr lang="ja-JP" altLang="en-US" sz="2000" b="1">
                <a:solidFill>
                  <a:schemeClr val="tx1"/>
                </a:solidFill>
                <a:effectLst/>
                <a:latin typeface="Meiryo" panose="020B0604030504040204" pitchFamily="34" charset="-128"/>
                <a:ea typeface="Meiryo" panose="020B0604030504040204" pitchFamily="34" charset="-128"/>
              </a:rPr>
              <a:t>秒</a:t>
            </a:r>
            <a:r>
              <a:rPr lang="en-US" altLang="ja-JP" sz="2000" b="1" dirty="0">
                <a:solidFill>
                  <a:schemeClr val="tx1"/>
                </a:solidFill>
                <a:effectLst/>
                <a:latin typeface="Meiryo" panose="020B0604030504040204" pitchFamily="34" charset="-128"/>
                <a:ea typeface="Meiryo" panose="020B0604030504040204" pitchFamily="34" charset="-128"/>
              </a:rPr>
              <a:t>: ARP Request</a:t>
            </a:r>
            <a:r>
              <a:rPr lang="ja-JP" altLang="en-US" sz="2000" b="1">
                <a:solidFill>
                  <a:schemeClr val="tx1"/>
                </a:solidFill>
                <a:effectLst/>
                <a:latin typeface="Meiryo" panose="020B0604030504040204" pitchFamily="34" charset="-128"/>
                <a:ea typeface="Meiryo" panose="020B0604030504040204" pitchFamily="34" charset="-128"/>
              </a:rPr>
              <a:t>送信 → </a:t>
            </a:r>
            <a:r>
              <a:rPr lang="en-US" altLang="ja-JP" sz="2000" b="1" dirty="0">
                <a:solidFill>
                  <a:schemeClr val="tx1"/>
                </a:solidFill>
                <a:effectLst/>
                <a:latin typeface="Meiryo" panose="020B0604030504040204" pitchFamily="34" charset="-128"/>
                <a:ea typeface="Meiryo" panose="020B0604030504040204" pitchFamily="34" charset="-128"/>
              </a:rPr>
              <a:t>Reply</a:t>
            </a:r>
            <a:r>
              <a:rPr lang="ja-JP" altLang="en-US" sz="2000" b="1">
                <a:solidFill>
                  <a:schemeClr val="tx1"/>
                </a:solidFill>
                <a:effectLst/>
                <a:latin typeface="Meiryo" panose="020B0604030504040204" pitchFamily="34" charset="-128"/>
                <a:ea typeface="Meiryo" panose="020B0604030504040204" pitchFamily="34" charset="-128"/>
              </a:rPr>
              <a:t>受信 → </a:t>
            </a:r>
            <a:r>
              <a:rPr lang="en-US" altLang="ja-JP" sz="2000" b="1" dirty="0">
                <a:solidFill>
                  <a:schemeClr val="tx1"/>
                </a:solidFill>
                <a:effectLst/>
                <a:latin typeface="Meiryo" panose="020B0604030504040204" pitchFamily="34" charset="-128"/>
                <a:ea typeface="Meiryo" panose="020B0604030504040204" pitchFamily="34" charset="-128"/>
              </a:rPr>
              <a:t>Cache</a:t>
            </a:r>
            <a:r>
              <a:rPr lang="ja-JP" altLang="en-US" sz="2000" b="1">
                <a:solidFill>
                  <a:schemeClr val="tx1"/>
                </a:solidFill>
                <a:effectLst/>
                <a:latin typeface="Meiryo" panose="020B0604030504040204" pitchFamily="34" charset="-128"/>
                <a:ea typeface="Meiryo" panose="020B0604030504040204" pitchFamily="34" charset="-128"/>
              </a:rPr>
              <a:t>記録</a:t>
            </a:r>
          </a:p>
          <a:p>
            <a:pPr algn="ctr"/>
            <a:r>
              <a:rPr lang="en-US" altLang="ja-JP" sz="2000" b="1" dirty="0">
                <a:solidFill>
                  <a:schemeClr val="tx1"/>
                </a:solidFill>
                <a:effectLst/>
                <a:latin typeface="Meiryo" panose="020B0604030504040204" pitchFamily="34" charset="-128"/>
                <a:ea typeface="Meiryo" panose="020B0604030504040204" pitchFamily="34" charset="-128"/>
              </a:rPr>
              <a:t>192.168.1.1 → BB:BB:BB </a:t>
            </a:r>
            <a:r>
              <a:rPr lang="ja-JP" altLang="en-US" sz="2000" b="1">
                <a:solidFill>
                  <a:schemeClr val="tx1"/>
                </a:solidFill>
                <a:effectLst/>
                <a:latin typeface="Meiryo" panose="020B0604030504040204" pitchFamily="34" charset="-128"/>
                <a:ea typeface="Meiryo" panose="020B0604030504040204" pitchFamily="34" charset="-128"/>
              </a:rPr>
              <a:t>がキャッシュに入る</a:t>
            </a:r>
            <a:endParaRPr lang="en-JP" sz="2000" b="1" dirty="0">
              <a:solidFill>
                <a:schemeClr val="tx1"/>
              </a:solidFill>
              <a:effectLst/>
              <a:latin typeface="Meiryo" panose="020B0604030504040204" pitchFamily="34" charset="-128"/>
              <a:ea typeface="Meiryo" panose="020B0604030504040204" pitchFamily="34" charset="-128"/>
            </a:endParaRPr>
          </a:p>
        </p:txBody>
      </p:sp>
      <p:sp>
        <p:nvSpPr>
          <p:cNvPr id="3" name="Rounded Rectangle 2">
            <a:extLst>
              <a:ext uri="{FF2B5EF4-FFF2-40B4-BE49-F238E27FC236}">
                <a16:creationId xmlns:a16="http://schemas.microsoft.com/office/drawing/2014/main" id="{9B06378C-D347-882D-8037-2851CDAB79AD}"/>
              </a:ext>
            </a:extLst>
          </p:cNvPr>
          <p:cNvSpPr/>
          <p:nvPr/>
        </p:nvSpPr>
        <p:spPr>
          <a:xfrm>
            <a:off x="92525" y="4820242"/>
            <a:ext cx="8958943" cy="949655"/>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effectLst/>
                <a:latin typeface="Meiryo" panose="020B0604030504040204" pitchFamily="34" charset="-128"/>
                <a:ea typeface="Meiryo" panose="020B0604030504040204" pitchFamily="34" charset="-128"/>
              </a:rPr>
              <a:t>t=0.1</a:t>
            </a:r>
            <a:r>
              <a:rPr lang="ja-JP" altLang="en-US" sz="2000" b="1">
                <a:solidFill>
                  <a:schemeClr val="tx1"/>
                </a:solidFill>
                <a:effectLst/>
                <a:latin typeface="Meiryo" panose="020B0604030504040204" pitchFamily="34" charset="-128"/>
                <a:ea typeface="Meiryo" panose="020B0604030504040204" pitchFamily="34" charset="-128"/>
              </a:rPr>
              <a:t>秒</a:t>
            </a:r>
            <a:r>
              <a:rPr lang="en-US" altLang="ja-JP" sz="2000" b="1" dirty="0">
                <a:solidFill>
                  <a:schemeClr val="tx1"/>
                </a:solidFill>
                <a:effectLst/>
                <a:latin typeface="Meiryo" panose="020B0604030504040204" pitchFamily="34" charset="-128"/>
                <a:ea typeface="Meiryo" panose="020B0604030504040204" pitchFamily="34" charset="-128"/>
              </a:rPr>
              <a:t>: DTLS</a:t>
            </a:r>
            <a:r>
              <a:rPr lang="ja-JP" altLang="en-US" sz="2000" b="1">
                <a:solidFill>
                  <a:schemeClr val="tx1"/>
                </a:solidFill>
                <a:effectLst/>
                <a:latin typeface="Meiryo" panose="020B0604030504040204" pitchFamily="34" charset="-128"/>
                <a:ea typeface="Meiryo" panose="020B0604030504040204" pitchFamily="34" charset="-128"/>
              </a:rPr>
              <a:t>ハンドシェイク開始</a:t>
            </a:r>
          </a:p>
          <a:p>
            <a:pPr algn="ctr"/>
            <a:r>
              <a:rPr lang="en-US" altLang="ja-JP" sz="2000" b="1" dirty="0">
                <a:solidFill>
                  <a:schemeClr val="tx1"/>
                </a:solidFill>
                <a:effectLst/>
                <a:latin typeface="Meiryo" panose="020B0604030504040204" pitchFamily="34" charset="-128"/>
                <a:ea typeface="Meiryo" panose="020B0604030504040204" pitchFamily="34" charset="-128"/>
              </a:rPr>
              <a:t>ARP</a:t>
            </a:r>
            <a:r>
              <a:rPr lang="ja-JP" altLang="en-US" sz="2000" b="1">
                <a:solidFill>
                  <a:schemeClr val="tx1"/>
                </a:solidFill>
                <a:effectLst/>
                <a:latin typeface="Meiryo" panose="020B0604030504040204" pitchFamily="34" charset="-128"/>
                <a:ea typeface="Meiryo" panose="020B0604030504040204" pitchFamily="34" charset="-128"/>
              </a:rPr>
              <a:t>キャッシュの</a:t>
            </a:r>
            <a:r>
              <a:rPr lang="en-US" altLang="ja-JP" sz="2000" b="1" dirty="0">
                <a:solidFill>
                  <a:schemeClr val="tx1"/>
                </a:solidFill>
                <a:effectLst/>
                <a:latin typeface="Meiryo" panose="020B0604030504040204" pitchFamily="34" charset="-128"/>
                <a:ea typeface="Meiryo" panose="020B0604030504040204" pitchFamily="34" charset="-128"/>
              </a:rPr>
              <a:t>BB:BB:BB</a:t>
            </a:r>
            <a:r>
              <a:rPr lang="ja-JP" altLang="en-US" sz="2000" b="1">
                <a:solidFill>
                  <a:schemeClr val="tx1"/>
                </a:solidFill>
                <a:effectLst/>
                <a:latin typeface="Meiryo" panose="020B0604030504040204" pitchFamily="34" charset="-128"/>
                <a:ea typeface="Meiryo" panose="020B0604030504040204" pitchFamily="34" charset="-128"/>
              </a:rPr>
              <a:t>を使って</a:t>
            </a:r>
            <a:r>
              <a:rPr lang="en-US" altLang="ja-JP" sz="2000" b="1" dirty="0">
                <a:solidFill>
                  <a:schemeClr val="tx1"/>
                </a:solidFill>
                <a:effectLst/>
                <a:latin typeface="Meiryo" panose="020B0604030504040204" pitchFamily="34" charset="-128"/>
                <a:ea typeface="Meiryo" panose="020B0604030504040204" pitchFamily="34" charset="-128"/>
              </a:rPr>
              <a:t>Gateway</a:t>
            </a:r>
            <a:r>
              <a:rPr lang="ja-JP" altLang="en-US" sz="2000" b="1">
                <a:solidFill>
                  <a:schemeClr val="tx1"/>
                </a:solidFill>
                <a:effectLst/>
                <a:latin typeface="Meiryo" panose="020B0604030504040204" pitchFamily="34" charset="-128"/>
                <a:ea typeface="Meiryo" panose="020B0604030504040204" pitchFamily="34" charset="-128"/>
              </a:rPr>
              <a:t>に</a:t>
            </a:r>
            <a:r>
              <a:rPr lang="en-US" altLang="ja-JP" sz="2000" b="1" dirty="0">
                <a:solidFill>
                  <a:schemeClr val="tx1"/>
                </a:solidFill>
                <a:effectLst/>
                <a:latin typeface="Meiryo" panose="020B0604030504040204" pitchFamily="34" charset="-128"/>
                <a:ea typeface="Meiryo" panose="020B0604030504040204" pitchFamily="34" charset="-128"/>
              </a:rPr>
              <a:t>UDP</a:t>
            </a:r>
            <a:r>
              <a:rPr lang="ja-JP" altLang="en-US" sz="2000" b="1">
                <a:solidFill>
                  <a:schemeClr val="tx1"/>
                </a:solidFill>
                <a:effectLst/>
                <a:latin typeface="Meiryo" panose="020B0604030504040204" pitchFamily="34" charset="-128"/>
                <a:ea typeface="Meiryo" panose="020B0604030504040204" pitchFamily="34" charset="-128"/>
              </a:rPr>
              <a:t>接続</a:t>
            </a:r>
            <a:endParaRPr lang="en-JP" sz="2000" b="1" dirty="0">
              <a:solidFill>
                <a:schemeClr val="tx1"/>
              </a:solidFill>
              <a:effectLst/>
              <a:latin typeface="Meiryo" panose="020B0604030504040204" pitchFamily="34" charset="-128"/>
              <a:ea typeface="Meiryo" panose="020B0604030504040204" pitchFamily="34" charset="-128"/>
            </a:endParaRPr>
          </a:p>
        </p:txBody>
      </p:sp>
      <p:sp>
        <p:nvSpPr>
          <p:cNvPr id="4" name="正方形/長方形 4">
            <a:extLst>
              <a:ext uri="{FF2B5EF4-FFF2-40B4-BE49-F238E27FC236}">
                <a16:creationId xmlns:a16="http://schemas.microsoft.com/office/drawing/2014/main" id="{1695BF05-FA64-24B8-3F54-511AA4D2E736}"/>
              </a:ext>
            </a:extLst>
          </p:cNvPr>
          <p:cNvSpPr/>
          <p:nvPr/>
        </p:nvSpPr>
        <p:spPr>
          <a:xfrm>
            <a:off x="92526" y="5949706"/>
            <a:ext cx="5491846" cy="77177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13335624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1127357-EDC7-DF5F-34E6-B02D37CD2262}"/>
              </a:ext>
            </a:extLst>
          </p:cNvPr>
          <p:cNvSpPr>
            <a:spLocks noGrp="1"/>
          </p:cNvSpPr>
          <p:nvPr>
            <p:ph type="sldNum" sz="quarter" idx="12"/>
          </p:nvPr>
        </p:nvSpPr>
        <p:spPr/>
        <p:txBody>
          <a:bodyPr/>
          <a:lstStyle/>
          <a:p>
            <a:fld id="{828F3BD4-1AF2-D144-8129-4D42AD448F5E}" type="slidenum">
              <a:rPr lang="en-JP" smtClean="0"/>
              <a:pPr/>
              <a:t>31</a:t>
            </a:fld>
            <a:endParaRPr lang="en-JP" dirty="0"/>
          </a:p>
        </p:txBody>
      </p:sp>
      <p:sp>
        <p:nvSpPr>
          <p:cNvPr id="5" name="Shape 0">
            <a:extLst>
              <a:ext uri="{FF2B5EF4-FFF2-40B4-BE49-F238E27FC236}">
                <a16:creationId xmlns:a16="http://schemas.microsoft.com/office/drawing/2014/main" id="{1A070053-C877-40E1-BD7F-FCD824D2029D}"/>
              </a:ext>
            </a:extLst>
          </p:cNvPr>
          <p:cNvSpPr/>
          <p:nvPr/>
        </p:nvSpPr>
        <p:spPr>
          <a:xfrm>
            <a:off x="0" y="0"/>
            <a:ext cx="9144000" cy="544286"/>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342900" indent="-342900">
              <a:buFont typeface="Wingdings" pitchFamily="2" charset="2"/>
              <a:buChar char="§"/>
            </a:pPr>
            <a:r>
              <a:rPr lang="en-US" altLang="ja-JP" sz="2000" b="1" i="0" dirty="0">
                <a:solidFill>
                  <a:srgbClr val="000000"/>
                </a:solidFill>
                <a:effectLst/>
                <a:latin typeface="Meiryo" panose="020B0604030504040204" pitchFamily="34" charset="-128"/>
                <a:ea typeface="Meiryo" panose="020B0604030504040204" pitchFamily="34" charset="-128"/>
              </a:rPr>
              <a:t>Step 3 DTLS</a:t>
            </a:r>
            <a:r>
              <a:rPr lang="ja-JP" altLang="en-US" sz="2000" b="1" i="0">
                <a:solidFill>
                  <a:srgbClr val="000000"/>
                </a:solidFill>
                <a:effectLst/>
                <a:latin typeface="Meiryo" panose="020B0604030504040204" pitchFamily="34" charset="-128"/>
                <a:ea typeface="Meiryo" panose="020B0604030504040204" pitchFamily="34" charset="-128"/>
              </a:rPr>
              <a:t>暗号化通信（パケット構造と見える情報・見えない情報）</a:t>
            </a:r>
            <a:endParaRPr lang="en-JP" sz="2000" b="1" dirty="0">
              <a:latin typeface="Meiryo" panose="020B0604030504040204" pitchFamily="34" charset="-128"/>
              <a:ea typeface="Meiryo" panose="020B0604030504040204" pitchFamily="34" charset="-128"/>
            </a:endParaRPr>
          </a:p>
        </p:txBody>
      </p:sp>
      <p:sp>
        <p:nvSpPr>
          <p:cNvPr id="6" name="Rounded Rectangle 5">
            <a:extLst>
              <a:ext uri="{FF2B5EF4-FFF2-40B4-BE49-F238E27FC236}">
                <a16:creationId xmlns:a16="http://schemas.microsoft.com/office/drawing/2014/main" id="{C75604AD-F05F-A8DA-64D8-E2BBF64984B7}"/>
              </a:ext>
            </a:extLst>
          </p:cNvPr>
          <p:cNvSpPr/>
          <p:nvPr/>
        </p:nvSpPr>
        <p:spPr>
          <a:xfrm>
            <a:off x="-2" y="1078241"/>
            <a:ext cx="9144000" cy="949655"/>
          </a:xfrm>
          <a:prstGeom prst="roundRect">
            <a:avLst/>
          </a:prstGeom>
          <a:solidFill>
            <a:schemeClr val="accent6">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C00000"/>
                </a:solidFill>
                <a:latin typeface="Meiryo" panose="020B0604030504040204" pitchFamily="34" charset="-128"/>
                <a:ea typeface="Meiryo" panose="020B0604030504040204" pitchFamily="34" charset="-128"/>
              </a:rPr>
              <a:t>L2 Ethernet Header</a:t>
            </a:r>
            <a:r>
              <a:rPr lang="ja-JP" altLang="en-US" sz="2000" b="1">
                <a:solidFill>
                  <a:srgbClr val="C00000"/>
                </a:solidFill>
                <a:latin typeface="Meiryo" panose="020B0604030504040204" pitchFamily="34" charset="-128"/>
                <a:ea typeface="Meiryo" panose="020B0604030504040204" pitchFamily="34" charset="-128"/>
              </a:rPr>
              <a:t>平文 </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誰でも見える送信元 </a:t>
            </a:r>
            <a:r>
              <a:rPr lang="en-US" sz="2000" b="1" dirty="0">
                <a:solidFill>
                  <a:schemeClr val="tx1"/>
                </a:solidFill>
                <a:latin typeface="Meiryo" panose="020B0604030504040204" pitchFamily="34" charset="-128"/>
                <a:ea typeface="Meiryo" panose="020B0604030504040204" pitchFamily="34" charset="-128"/>
              </a:rPr>
              <a:t>AA:AA:AA → </a:t>
            </a:r>
            <a:r>
              <a:rPr lang="ja-JP" altLang="en-US" sz="2000" b="1">
                <a:solidFill>
                  <a:schemeClr val="tx1"/>
                </a:solidFill>
                <a:latin typeface="Meiryo" panose="020B0604030504040204" pitchFamily="34" charset="-128"/>
                <a:ea typeface="Meiryo" panose="020B0604030504040204" pitchFamily="34" charset="-128"/>
              </a:rPr>
              <a:t>宛先 </a:t>
            </a:r>
            <a:r>
              <a:rPr lang="en-US" sz="2000" b="1" dirty="0">
                <a:solidFill>
                  <a:schemeClr val="tx1"/>
                </a:solidFill>
                <a:latin typeface="Meiryo" panose="020B0604030504040204" pitchFamily="34" charset="-128"/>
                <a:ea typeface="Meiryo" panose="020B0604030504040204" pitchFamily="34" charset="-128"/>
              </a:rPr>
              <a:t>BB:BB:BB※ARP</a:t>
            </a:r>
            <a:r>
              <a:rPr lang="ja-JP" altLang="en-US" sz="2000" b="1">
                <a:solidFill>
                  <a:schemeClr val="tx1"/>
                </a:solidFill>
                <a:latin typeface="Meiryo" panose="020B0604030504040204" pitchFamily="34" charset="-128"/>
                <a:ea typeface="Meiryo" panose="020B0604030504040204" pitchFamily="34" charset="-128"/>
              </a:rPr>
              <a:t>キャッシュから取得した値</a:t>
            </a:r>
            <a:endParaRPr lang="en-JP" sz="2000" b="1" dirty="0">
              <a:solidFill>
                <a:schemeClr val="tx1"/>
              </a:solidFill>
              <a:effectLst/>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B6F52F91-AFF5-A904-BED7-6E4204F64B55}"/>
              </a:ext>
            </a:extLst>
          </p:cNvPr>
          <p:cNvSpPr/>
          <p:nvPr/>
        </p:nvSpPr>
        <p:spPr>
          <a:xfrm>
            <a:off x="0" y="2100627"/>
            <a:ext cx="9144000" cy="707888"/>
          </a:xfrm>
          <a:prstGeom prst="roundRect">
            <a:avLst/>
          </a:prstGeom>
          <a:solidFill>
            <a:schemeClr val="accent1">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C00000"/>
                </a:solidFill>
                <a:latin typeface="Meiryo" panose="020B0604030504040204" pitchFamily="34" charset="-128"/>
                <a:ea typeface="Meiryo" panose="020B0604030504040204" pitchFamily="34" charset="-128"/>
              </a:rPr>
              <a:t>L3 IP Header</a:t>
            </a:r>
            <a:r>
              <a:rPr lang="ja-JP" altLang="en-US" sz="2000" b="1">
                <a:solidFill>
                  <a:srgbClr val="C00000"/>
                </a:solidFill>
                <a:latin typeface="Meiryo" panose="020B0604030504040204" pitchFamily="34" charset="-128"/>
                <a:ea typeface="Meiryo" panose="020B0604030504040204" pitchFamily="34" charset="-128"/>
              </a:rPr>
              <a:t>平文 </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見える</a:t>
            </a:r>
            <a:r>
              <a:rPr lang="en-US" sz="2000" b="1" dirty="0" err="1">
                <a:solidFill>
                  <a:schemeClr val="tx1"/>
                </a:solidFill>
                <a:latin typeface="Meiryo" panose="020B0604030504040204" pitchFamily="34" charset="-128"/>
                <a:ea typeface="Meiryo" panose="020B0604030504040204" pitchFamily="34" charset="-128"/>
              </a:rPr>
              <a:t>src</a:t>
            </a:r>
            <a:r>
              <a:rPr lang="en-US" sz="2000" b="1" dirty="0">
                <a:solidFill>
                  <a:schemeClr val="tx1"/>
                </a:solidFill>
                <a:latin typeface="Meiryo" panose="020B0604030504040204" pitchFamily="34" charset="-128"/>
                <a:ea typeface="Meiryo" panose="020B0604030504040204" pitchFamily="34" charset="-128"/>
              </a:rPr>
              <a:t>: 192.168.1.20 → </a:t>
            </a:r>
            <a:r>
              <a:rPr lang="en-US" sz="2000" b="1" dirty="0" err="1">
                <a:solidFill>
                  <a:schemeClr val="tx1"/>
                </a:solidFill>
                <a:latin typeface="Meiryo" panose="020B0604030504040204" pitchFamily="34" charset="-128"/>
                <a:ea typeface="Meiryo" panose="020B0604030504040204" pitchFamily="34" charset="-128"/>
              </a:rPr>
              <a:t>dst</a:t>
            </a:r>
            <a:r>
              <a:rPr lang="en-US" sz="2000" b="1" dirty="0">
                <a:solidFill>
                  <a:schemeClr val="tx1"/>
                </a:solidFill>
                <a:latin typeface="Meiryo" panose="020B0604030504040204" pitchFamily="34" charset="-128"/>
                <a:ea typeface="Meiryo" panose="020B0604030504040204" pitchFamily="34" charset="-128"/>
              </a:rPr>
              <a:t>: 192.168.1.100</a:t>
            </a:r>
            <a:endParaRPr lang="en-JP" sz="2000" b="1" dirty="0">
              <a:solidFill>
                <a:schemeClr val="tx1"/>
              </a:solidFill>
              <a:effectLst/>
              <a:latin typeface="Meiryo" panose="020B0604030504040204" pitchFamily="34" charset="-128"/>
              <a:ea typeface="Meiryo" panose="020B0604030504040204" pitchFamily="34" charset="-128"/>
            </a:endParaRPr>
          </a:p>
        </p:txBody>
      </p:sp>
      <p:sp>
        <p:nvSpPr>
          <p:cNvPr id="8" name="Rounded Rectangle 7">
            <a:extLst>
              <a:ext uri="{FF2B5EF4-FFF2-40B4-BE49-F238E27FC236}">
                <a16:creationId xmlns:a16="http://schemas.microsoft.com/office/drawing/2014/main" id="{594A08F0-9AE7-5AA0-ACA5-6486B51B0D5C}"/>
              </a:ext>
            </a:extLst>
          </p:cNvPr>
          <p:cNvSpPr/>
          <p:nvPr/>
        </p:nvSpPr>
        <p:spPr>
          <a:xfrm>
            <a:off x="-4218" y="2903016"/>
            <a:ext cx="9143998" cy="707889"/>
          </a:xfrm>
          <a:prstGeom prst="roundRect">
            <a:avLst/>
          </a:prstGeom>
          <a:solidFill>
            <a:schemeClr val="accent3">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1" dirty="0">
                <a:solidFill>
                  <a:srgbClr val="C00000"/>
                </a:solidFill>
                <a:latin typeface="Meiryo" panose="020B0604030504040204" pitchFamily="34" charset="-128"/>
                <a:ea typeface="Meiryo" panose="020B0604030504040204" pitchFamily="34" charset="-128"/>
              </a:rPr>
              <a:t>L4 UDP Header</a:t>
            </a:r>
            <a:r>
              <a:rPr lang="ja-JP" altLang="en-US" sz="2000" b="1">
                <a:solidFill>
                  <a:srgbClr val="C00000"/>
                </a:solidFill>
                <a:latin typeface="Meiryo" panose="020B0604030504040204" pitchFamily="34" charset="-128"/>
                <a:ea typeface="Meiryo" panose="020B0604030504040204" pitchFamily="34" charset="-128"/>
              </a:rPr>
              <a:t>平文 </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見える</a:t>
            </a:r>
            <a:r>
              <a:rPr lang="en-US" sz="2000" b="1" dirty="0" err="1">
                <a:solidFill>
                  <a:schemeClr val="tx1"/>
                </a:solidFill>
                <a:latin typeface="Meiryo" panose="020B0604030504040204" pitchFamily="34" charset="-128"/>
                <a:ea typeface="Meiryo" panose="020B0604030504040204" pitchFamily="34" charset="-128"/>
              </a:rPr>
              <a:t>src</a:t>
            </a:r>
            <a:r>
              <a:rPr lang="en-US" sz="2000" b="1" dirty="0">
                <a:solidFill>
                  <a:schemeClr val="tx1"/>
                </a:solidFill>
                <a:latin typeface="Meiryo" panose="020B0604030504040204" pitchFamily="34" charset="-128"/>
                <a:ea typeface="Meiryo" panose="020B0604030504040204" pitchFamily="34" charset="-128"/>
              </a:rPr>
              <a:t> port: 12345 → </a:t>
            </a:r>
            <a:r>
              <a:rPr lang="en-US" sz="2000" b="1" dirty="0" err="1">
                <a:solidFill>
                  <a:schemeClr val="tx1"/>
                </a:solidFill>
                <a:latin typeface="Meiryo" panose="020B0604030504040204" pitchFamily="34" charset="-128"/>
                <a:ea typeface="Meiryo" panose="020B0604030504040204" pitchFamily="34" charset="-128"/>
              </a:rPr>
              <a:t>dst</a:t>
            </a:r>
            <a:r>
              <a:rPr lang="en-US" sz="2000" b="1" dirty="0">
                <a:solidFill>
                  <a:schemeClr val="tx1"/>
                </a:solidFill>
                <a:latin typeface="Meiryo" panose="020B0604030504040204" pitchFamily="34" charset="-128"/>
                <a:ea typeface="Meiryo" panose="020B0604030504040204" pitchFamily="34" charset="-128"/>
              </a:rPr>
              <a:t> port: 5684</a:t>
            </a:r>
            <a:endParaRPr lang="en-JP" sz="2000" b="1" dirty="0">
              <a:solidFill>
                <a:schemeClr val="tx1"/>
              </a:solidFill>
              <a:effectLst/>
              <a:latin typeface="Meiryo" panose="020B0604030504040204" pitchFamily="34" charset="-128"/>
              <a:ea typeface="Meiryo" panose="020B0604030504040204" pitchFamily="34" charset="-128"/>
            </a:endParaRPr>
          </a:p>
        </p:txBody>
      </p:sp>
      <p:sp>
        <p:nvSpPr>
          <p:cNvPr id="9" name="TextBox 8">
            <a:extLst>
              <a:ext uri="{FF2B5EF4-FFF2-40B4-BE49-F238E27FC236}">
                <a16:creationId xmlns:a16="http://schemas.microsoft.com/office/drawing/2014/main" id="{04EFE229-FD5D-C919-6E8B-8D8B9BDA4B7E}"/>
              </a:ext>
            </a:extLst>
          </p:cNvPr>
          <p:cNvSpPr txBox="1"/>
          <p:nvPr/>
        </p:nvSpPr>
        <p:spPr>
          <a:xfrm>
            <a:off x="581030" y="635975"/>
            <a:ext cx="7747634" cy="369332"/>
          </a:xfrm>
          <a:prstGeom prst="rect">
            <a:avLst/>
          </a:prstGeom>
          <a:noFill/>
        </p:spPr>
        <p:txBody>
          <a:bodyPr wrap="none" rtlCol="0">
            <a:spAutoFit/>
          </a:bodyPr>
          <a:lstStyle/>
          <a:p>
            <a:r>
              <a:rPr lang="ja-JP" altLang="en-US" b="1" i="0">
                <a:solidFill>
                  <a:srgbClr val="000000"/>
                </a:solidFill>
                <a:effectLst/>
                <a:latin typeface="Meiryo" panose="020B0604030504040204" pitchFamily="34" charset="-128"/>
                <a:ea typeface="Meiryo" panose="020B0604030504040204" pitchFamily="34" charset="-128"/>
              </a:rPr>
              <a:t>送信パケットの構造（</a:t>
            </a:r>
            <a:r>
              <a:rPr lang="en-US" b="1" dirty="0">
                <a:latin typeface="Meiryo" panose="020B0604030504040204" pitchFamily="34" charset="-128"/>
                <a:ea typeface="Meiryo" panose="020B0604030504040204" pitchFamily="34" charset="-128"/>
              </a:rPr>
              <a:t> IoT Device -（</a:t>
            </a:r>
            <a:r>
              <a:rPr lang="ja-JP" altLang="en-US" b="1">
                <a:latin typeface="Meiryo" panose="020B0604030504040204" pitchFamily="34" charset="-128"/>
                <a:ea typeface="Meiryo" panose="020B0604030504040204" pitchFamily="34" charset="-128"/>
              </a:rPr>
              <a:t>透過型</a:t>
            </a:r>
            <a:r>
              <a:rPr lang="en-US" b="1" dirty="0">
                <a:latin typeface="Meiryo" panose="020B0604030504040204" pitchFamily="34" charset="-128"/>
                <a:ea typeface="Meiryo" panose="020B0604030504040204" pitchFamily="34" charset="-128"/>
              </a:rPr>
              <a:t>IDS</a:t>
            </a:r>
            <a:r>
              <a:rPr lang="ja-JP" altLang="en-US" b="1">
                <a:latin typeface="Meiryo" panose="020B0604030504040204" pitchFamily="34" charset="-128"/>
                <a:ea typeface="Meiryo" panose="020B0604030504040204" pitchFamily="34" charset="-128"/>
              </a:rPr>
              <a:t>を経由）</a:t>
            </a:r>
            <a:r>
              <a:rPr lang="en-US" altLang="ja-JP" b="1" dirty="0">
                <a:latin typeface="Meiryo" panose="020B0604030504040204" pitchFamily="34" charset="-128"/>
                <a:ea typeface="Meiryo" panose="020B0604030504040204" pitchFamily="34" charset="-128"/>
              </a:rPr>
              <a:t>-</a:t>
            </a:r>
            <a:r>
              <a:rPr lang="en-US" b="1" dirty="0">
                <a:latin typeface="Meiryo" panose="020B0604030504040204" pitchFamily="34" charset="-128"/>
                <a:ea typeface="Meiryo" panose="020B0604030504040204" pitchFamily="34" charset="-128"/>
              </a:rPr>
              <a:t> Router </a:t>
            </a:r>
            <a:r>
              <a:rPr lang="ja-JP" altLang="en-US" b="1">
                <a:latin typeface="Meiryo" panose="020B0604030504040204" pitchFamily="34" charset="-128"/>
                <a:ea typeface="Meiryo" panose="020B0604030504040204" pitchFamily="34" charset="-128"/>
              </a:rPr>
              <a:t> </a:t>
            </a:r>
            <a:r>
              <a:rPr lang="en-US" b="1" i="0" dirty="0">
                <a:solidFill>
                  <a:srgbClr val="000000"/>
                </a:solidFill>
                <a:effectLst/>
                <a:latin typeface="Meiryo" panose="020B0604030504040204" pitchFamily="34" charset="-128"/>
                <a:ea typeface="Meiryo" panose="020B0604030504040204" pitchFamily="34" charset="-128"/>
              </a:rPr>
              <a:t>）</a:t>
            </a:r>
            <a:endParaRPr lang="en-JP" b="1" dirty="0">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287027DA-0469-9BF6-C421-8D309E672516}"/>
              </a:ext>
            </a:extLst>
          </p:cNvPr>
          <p:cNvSpPr/>
          <p:nvPr/>
        </p:nvSpPr>
        <p:spPr>
          <a:xfrm>
            <a:off x="0" y="3750957"/>
            <a:ext cx="9143998" cy="949655"/>
          </a:xfrm>
          <a:prstGeom prst="round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latin typeface="Meiryo" panose="020B0604030504040204" pitchFamily="34" charset="-128"/>
                <a:ea typeface="Meiryo" panose="020B0604030504040204" pitchFamily="34" charset="-128"/>
              </a:rPr>
              <a:t>L7 DTLS Payload</a:t>
            </a:r>
            <a:r>
              <a:rPr lang="en-US" sz="2000" b="1" dirty="0">
                <a:solidFill>
                  <a:schemeClr val="tx1"/>
                </a:solidFill>
                <a:latin typeface="Meiryo" panose="020B0604030504040204" pitchFamily="34" charset="-128"/>
                <a:ea typeface="Meiryo" panose="020B0604030504040204" pitchFamily="34" charset="-128"/>
              </a:rPr>
              <a:t>（</a:t>
            </a:r>
            <a:r>
              <a:rPr lang="ja-JP" altLang="en-US" sz="2000" b="1">
                <a:solidFill>
                  <a:schemeClr val="tx1"/>
                </a:solidFill>
                <a:latin typeface="Meiryo" panose="020B0604030504040204" pitchFamily="34" charset="-128"/>
                <a:ea typeface="Meiryo" panose="020B0604030504040204" pitchFamily="34" charset="-128"/>
              </a:rPr>
              <a:t>暗号化）</a:t>
            </a:r>
            <a:r>
              <a:rPr lang="en-JP" sz="2000" b="1" dirty="0">
                <a:solidFill>
                  <a:schemeClr val="tx1"/>
                </a:solidFill>
                <a:latin typeface="Meiryo" panose="020B0604030504040204" pitchFamily="34" charset="-128"/>
                <a:ea typeface="Meiryo" panose="020B0604030504040204" pitchFamily="34" charset="-128"/>
              </a:rPr>
              <a:t>🔒 </a:t>
            </a:r>
            <a:r>
              <a:rPr lang="en-US" sz="2000" b="1" dirty="0">
                <a:solidFill>
                  <a:schemeClr val="tx1"/>
                </a:solidFill>
                <a:latin typeface="Meiryo" panose="020B0604030504040204" pitchFamily="34" charset="-128"/>
                <a:ea typeface="Meiryo" panose="020B0604030504040204" pitchFamily="34" charset="-128"/>
              </a:rPr>
              <a:t>a3 f2 9c 11 8e 4d b7 22 c1 5f...</a:t>
            </a:r>
            <a:r>
              <a:rPr lang="ja-JP" altLang="en-US" sz="2000" b="1">
                <a:solidFill>
                  <a:schemeClr val="tx1"/>
                </a:solidFill>
                <a:latin typeface="Meiryo" panose="020B0604030504040204" pitchFamily="34" charset="-128"/>
                <a:ea typeface="Meiryo" panose="020B0604030504040204" pitchFamily="34" charset="-128"/>
              </a:rPr>
              <a:t>元データ</a:t>
            </a:r>
            <a:r>
              <a:rPr lang="en-US" altLang="ja-JP" sz="2000" b="1" dirty="0">
                <a:solidFill>
                  <a:schemeClr val="tx1"/>
                </a:solidFill>
                <a:latin typeface="Meiryo" panose="020B0604030504040204" pitchFamily="34" charset="-128"/>
                <a:ea typeface="Meiryo" panose="020B0604030504040204" pitchFamily="34" charset="-128"/>
              </a:rPr>
              <a:t>: {"</a:t>
            </a:r>
            <a:r>
              <a:rPr lang="en-US" sz="2000" b="1" dirty="0">
                <a:solidFill>
                  <a:schemeClr val="tx1"/>
                </a:solidFill>
                <a:latin typeface="Meiryo" panose="020B0604030504040204" pitchFamily="34" charset="-128"/>
                <a:ea typeface="Meiryo" panose="020B0604030504040204" pitchFamily="34" charset="-128"/>
              </a:rPr>
              <a:t>temp":23.5} — session key</a:t>
            </a:r>
            <a:r>
              <a:rPr lang="ja-JP" altLang="en-US" sz="2000" b="1">
                <a:solidFill>
                  <a:schemeClr val="tx1"/>
                </a:solidFill>
                <a:latin typeface="Meiryo" panose="020B0604030504040204" pitchFamily="34" charset="-128"/>
                <a:ea typeface="Meiryo" panose="020B0604030504040204" pitchFamily="34" charset="-128"/>
              </a:rPr>
              <a:t>なしでは読めない</a:t>
            </a:r>
            <a:endParaRPr lang="en-JP" sz="2000" b="1" dirty="0">
              <a:solidFill>
                <a:schemeClr val="tx1"/>
              </a:solidFill>
              <a:effectLst/>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97F65029-753C-66F4-FA38-0B312AD95881}"/>
              </a:ext>
            </a:extLst>
          </p:cNvPr>
          <p:cNvSpPr/>
          <p:nvPr/>
        </p:nvSpPr>
        <p:spPr>
          <a:xfrm>
            <a:off x="125621" y="4859873"/>
            <a:ext cx="3903726" cy="1839772"/>
          </a:xfrm>
          <a:prstGeom prst="roundRect">
            <a:avLst/>
          </a:prstGeom>
          <a:solidFill>
            <a:schemeClr val="accent2">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b="1" dirty="0">
              <a:solidFill>
                <a:schemeClr val="tx1"/>
              </a:solidFill>
              <a:latin typeface="Meiryo" panose="020B0604030504040204" pitchFamily="34" charset="-128"/>
              <a:ea typeface="Meiryo" panose="020B0604030504040204" pitchFamily="34" charset="-128"/>
            </a:endParaRPr>
          </a:p>
          <a:p>
            <a:endParaRPr lang="mn-MN" sz="2000" b="1" dirty="0">
              <a:solidFill>
                <a:schemeClr val="tx1"/>
              </a:solidFill>
              <a:latin typeface="Meiryo" panose="020B0604030504040204" pitchFamily="34" charset="-128"/>
              <a:ea typeface="Meiryo" panose="020B0604030504040204" pitchFamily="34" charset="-128"/>
            </a:endParaRPr>
          </a:p>
          <a:p>
            <a:pPr marL="285750" indent="-285750">
              <a:buFont typeface="Arial" panose="020B0604020202020204" pitchFamily="34" charset="0"/>
              <a:buChar char="•"/>
            </a:pPr>
            <a:r>
              <a:rPr lang="ja-JP" altLang="en-US" sz="2000" b="1">
                <a:solidFill>
                  <a:schemeClr val="tx1"/>
                </a:solidFill>
                <a:latin typeface="Meiryo" panose="020B0604030504040204" pitchFamily="34" charset="-128"/>
                <a:ea typeface="Meiryo" panose="020B0604030504040204" pitchFamily="34" charset="-128"/>
              </a:rPr>
              <a:t>攻撃者に見える</a:t>
            </a:r>
            <a:r>
              <a:rPr lang="en-US" sz="2000" b="1" dirty="0">
                <a:solidFill>
                  <a:schemeClr val="tx1"/>
                </a:solidFill>
                <a:latin typeface="Meiryo" panose="020B0604030504040204" pitchFamily="34" charset="-128"/>
                <a:ea typeface="Meiryo" panose="020B0604030504040204" pitchFamily="34" charset="-128"/>
              </a:rPr>
              <a:t>Metadata</a:t>
            </a:r>
          </a:p>
          <a:p>
            <a:r>
              <a:rPr lang="ja-JP" altLang="en-US" sz="2000">
                <a:solidFill>
                  <a:schemeClr val="tx1"/>
                </a:solidFill>
                <a:latin typeface="Meiryo" panose="020B0604030504040204" pitchFamily="34" charset="-128"/>
                <a:ea typeface="Meiryo" panose="020B0604030504040204" pitchFamily="34" charset="-128"/>
              </a:rPr>
              <a:t>送信元</a:t>
            </a:r>
            <a:r>
              <a:rPr lang="en-US" sz="2000" dirty="0">
                <a:solidFill>
                  <a:schemeClr val="tx1"/>
                </a:solidFill>
                <a:latin typeface="Meiryo" panose="020B0604030504040204" pitchFamily="34" charset="-128"/>
                <a:ea typeface="Meiryo" panose="020B0604030504040204" pitchFamily="34" charset="-128"/>
              </a:rPr>
              <a:t>MAC: AA:AA:AA</a:t>
            </a:r>
          </a:p>
          <a:p>
            <a:r>
              <a:rPr lang="en-US" sz="2000" dirty="0">
                <a:solidFill>
                  <a:schemeClr val="tx1"/>
                </a:solidFill>
                <a:latin typeface="Meiryo" panose="020B0604030504040204" pitchFamily="34" charset="-128"/>
                <a:ea typeface="Meiryo" panose="020B0604030504040204" pitchFamily="34" charset="-128"/>
              </a:rPr>
              <a:t>IP</a:t>
            </a:r>
            <a:r>
              <a:rPr lang="ja-JP" altLang="en-US" sz="2000">
                <a:solidFill>
                  <a:schemeClr val="tx1"/>
                </a:solidFill>
                <a:latin typeface="Meiryo" panose="020B0604030504040204" pitchFamily="34" charset="-128"/>
                <a:ea typeface="Meiryo" panose="020B0604030504040204" pitchFamily="34" charset="-128"/>
              </a:rPr>
              <a:t>アドレス</a:t>
            </a:r>
            <a:r>
              <a:rPr lang="en-US" altLang="ja-JP" sz="2000" dirty="0">
                <a:solidFill>
                  <a:schemeClr val="tx1"/>
                </a:solidFill>
                <a:latin typeface="Meiryo" panose="020B0604030504040204" pitchFamily="34" charset="-128"/>
                <a:ea typeface="Meiryo" panose="020B0604030504040204" pitchFamily="34" charset="-128"/>
              </a:rPr>
              <a:t>: 192.168.1.20</a:t>
            </a:r>
            <a:r>
              <a:rPr lang="en-US" sz="2000" dirty="0">
                <a:solidFill>
                  <a:schemeClr val="tx1"/>
                </a:solidFill>
                <a:latin typeface="Meiryo" panose="020B0604030504040204" pitchFamily="34" charset="-128"/>
                <a:ea typeface="Meiryo" panose="020B0604030504040204" pitchFamily="34" charset="-128"/>
              </a:rPr>
              <a:t>port: 5684 / </a:t>
            </a:r>
            <a:r>
              <a:rPr lang="ja-JP" altLang="en-US" sz="2000">
                <a:solidFill>
                  <a:schemeClr val="tx1"/>
                </a:solidFill>
                <a:latin typeface="Meiryo" panose="020B0604030504040204" pitchFamily="34" charset="-128"/>
                <a:ea typeface="Meiryo" panose="020B0604030504040204" pitchFamily="34" charset="-128"/>
              </a:rPr>
              <a:t>サイズ </a:t>
            </a:r>
            <a:r>
              <a:rPr lang="en-US" altLang="ja-JP" sz="2000" dirty="0">
                <a:solidFill>
                  <a:schemeClr val="tx1"/>
                </a:solidFill>
                <a:latin typeface="Meiryo" panose="020B0604030504040204" pitchFamily="34" charset="-128"/>
                <a:ea typeface="Meiryo" panose="020B0604030504040204" pitchFamily="34" charset="-128"/>
              </a:rPr>
              <a:t>/ </a:t>
            </a:r>
            <a:r>
              <a:rPr lang="ja-JP" altLang="en-US" sz="2000">
                <a:solidFill>
                  <a:schemeClr val="tx1"/>
                </a:solidFill>
                <a:latin typeface="Meiryo" panose="020B0604030504040204" pitchFamily="34" charset="-128"/>
                <a:ea typeface="Meiryo" panose="020B0604030504040204" pitchFamily="34" charset="-128"/>
              </a:rPr>
              <a:t>時刻</a:t>
            </a:r>
            <a:endParaRPr lang="en-US" sz="2000"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sp>
        <p:nvSpPr>
          <p:cNvPr id="12" name="Rounded Rectangle 11">
            <a:extLst>
              <a:ext uri="{FF2B5EF4-FFF2-40B4-BE49-F238E27FC236}">
                <a16:creationId xmlns:a16="http://schemas.microsoft.com/office/drawing/2014/main" id="{3D74E469-890D-D333-0DDA-AB661C4E6C04}"/>
              </a:ext>
            </a:extLst>
          </p:cNvPr>
          <p:cNvSpPr/>
          <p:nvPr/>
        </p:nvSpPr>
        <p:spPr>
          <a:xfrm>
            <a:off x="4127209" y="4859874"/>
            <a:ext cx="3903725" cy="1839771"/>
          </a:xfrm>
          <a:prstGeom prst="roundRect">
            <a:avLst/>
          </a:prstGeom>
          <a:solidFill>
            <a:schemeClr val="accent6">
              <a:lumMod val="40000"/>
              <a:lumOff val="6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mn-MN" sz="2000" b="1"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
            </a:pPr>
            <a:r>
              <a:rPr lang="ja-JP" altLang="en-US" sz="2000" b="1">
                <a:solidFill>
                  <a:schemeClr val="tx1"/>
                </a:solidFill>
                <a:latin typeface="Meiryo" panose="020B0604030504040204" pitchFamily="34" charset="-128"/>
                <a:ea typeface="Meiryo" panose="020B0604030504040204" pitchFamily="34" charset="-128"/>
              </a:rPr>
              <a:t>攻撃者に見えない</a:t>
            </a:r>
            <a:endParaRPr lang="en-US" altLang="ja-JP" sz="2000" b="1" dirty="0">
              <a:solidFill>
                <a:schemeClr val="tx1"/>
              </a:solidFill>
              <a:latin typeface="Meiryo" panose="020B0604030504040204" pitchFamily="34" charset="-128"/>
              <a:ea typeface="Meiryo" panose="020B0604030504040204" pitchFamily="34" charset="-128"/>
            </a:endParaRPr>
          </a:p>
          <a:p>
            <a:pPr marL="285750" indent="-285750">
              <a:buFont typeface="Wingdings" pitchFamily="2" charset="2"/>
              <a:buChar char="§"/>
            </a:pPr>
            <a:endParaRPr lang="en-US" sz="2000" dirty="0">
              <a:solidFill>
                <a:schemeClr val="tx1"/>
              </a:solidFill>
              <a:latin typeface="Meiryo" panose="020B0604030504040204" pitchFamily="34" charset="-128"/>
              <a:ea typeface="Meiryo" panose="020B0604030504040204" pitchFamily="34" charset="-128"/>
            </a:endParaRPr>
          </a:p>
          <a:p>
            <a:r>
              <a:rPr lang="en-US" sz="2000" dirty="0">
                <a:solidFill>
                  <a:schemeClr val="tx1"/>
                </a:solidFill>
                <a:latin typeface="Meiryo" panose="020B0604030504040204" pitchFamily="34" charset="-128"/>
                <a:ea typeface="Meiryo" panose="020B0604030504040204" pitchFamily="34" charset="-128"/>
              </a:rPr>
              <a:t>Payload{"temp":23.5}</a:t>
            </a:r>
            <a:r>
              <a:rPr lang="ja-JP" altLang="en-US" sz="2000">
                <a:solidFill>
                  <a:schemeClr val="tx1"/>
                </a:solidFill>
                <a:latin typeface="Meiryo" panose="020B0604030504040204" pitchFamily="34" charset="-128"/>
                <a:ea typeface="Meiryo" panose="020B0604030504040204" pitchFamily="34" charset="-128"/>
              </a:rPr>
              <a:t>コマンド内容</a:t>
            </a:r>
            <a:r>
              <a:rPr lang="en-US" sz="2000" dirty="0">
                <a:solidFill>
                  <a:schemeClr val="tx1"/>
                </a:solidFill>
                <a:latin typeface="Meiryo" panose="020B0604030504040204" pitchFamily="34" charset="-128"/>
                <a:ea typeface="Meiryo" panose="020B0604030504040204" pitchFamily="34" charset="-128"/>
              </a:rPr>
              <a:t>PIN</a:t>
            </a:r>
            <a:r>
              <a:rPr lang="ja-JP" altLang="en-US" sz="2000">
                <a:solidFill>
                  <a:schemeClr val="tx1"/>
                </a:solidFill>
                <a:latin typeface="Meiryo" panose="020B0604030504040204" pitchFamily="34" charset="-128"/>
                <a:ea typeface="Meiryo" panose="020B0604030504040204" pitchFamily="34" charset="-128"/>
              </a:rPr>
              <a:t>番号など</a:t>
            </a:r>
            <a:endParaRPr lang="en-US" sz="2000" b="1" dirty="0">
              <a:solidFill>
                <a:schemeClr val="tx1"/>
              </a:solidFill>
              <a:latin typeface="Meiryo" panose="020B0604030504040204" pitchFamily="34" charset="-128"/>
              <a:ea typeface="Meiryo" panose="020B0604030504040204" pitchFamily="34" charset="-128"/>
            </a:endParaRPr>
          </a:p>
          <a:p>
            <a:pPr algn="ctr"/>
            <a:endParaRPr lang="en-JP" b="1" dirty="0">
              <a:solidFill>
                <a:schemeClr val="tx1"/>
              </a:solidFill>
              <a:latin typeface="Meiryo" panose="020B0604030504040204" pitchFamily="34" charset="-128"/>
              <a:ea typeface="Meiryo" panose="020B0604030504040204" pitchFamily="34" charset="-128"/>
            </a:endParaRPr>
          </a:p>
        </p:txBody>
      </p:sp>
      <p:sp>
        <p:nvSpPr>
          <p:cNvPr id="2" name="正方形/長方形 4">
            <a:extLst>
              <a:ext uri="{FF2B5EF4-FFF2-40B4-BE49-F238E27FC236}">
                <a16:creationId xmlns:a16="http://schemas.microsoft.com/office/drawing/2014/main" id="{6213CD3E-C482-6E5D-0976-36CE5FEAD1A6}"/>
              </a:ext>
            </a:extLst>
          </p:cNvPr>
          <p:cNvSpPr/>
          <p:nvPr/>
        </p:nvSpPr>
        <p:spPr>
          <a:xfrm>
            <a:off x="-4219" y="1078242"/>
            <a:ext cx="9144000" cy="920320"/>
          </a:xfrm>
          <a:prstGeom prst="rect">
            <a:avLst/>
          </a:prstGeom>
          <a:noFill/>
          <a:ln w="57150">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41087160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C90861-8ABC-9931-30B1-1B56D7BDD3A4}"/>
              </a:ext>
            </a:extLst>
          </p:cNvPr>
          <p:cNvSpPr>
            <a:spLocks noGrp="1"/>
          </p:cNvSpPr>
          <p:nvPr>
            <p:ph type="sldNum" sz="quarter" idx="12"/>
          </p:nvPr>
        </p:nvSpPr>
        <p:spPr/>
        <p:txBody>
          <a:bodyPr/>
          <a:lstStyle/>
          <a:p>
            <a:fld id="{828F3BD4-1AF2-D144-8129-4D42AD448F5E}" type="slidenum">
              <a:rPr lang="en-JP" smtClean="0"/>
              <a:pPr/>
              <a:t>32</a:t>
            </a:fld>
            <a:endParaRPr lang="en-JP" dirty="0"/>
          </a:p>
        </p:txBody>
      </p:sp>
      <p:sp>
        <p:nvSpPr>
          <p:cNvPr id="13" name="Rectangle: Rounded Corners 6">
            <a:extLst>
              <a:ext uri="{FF2B5EF4-FFF2-40B4-BE49-F238E27FC236}">
                <a16:creationId xmlns:a16="http://schemas.microsoft.com/office/drawing/2014/main" id="{AB85986E-1CCA-A4C5-AFE5-8D2D65A2B028}"/>
              </a:ext>
            </a:extLst>
          </p:cNvPr>
          <p:cNvSpPr/>
          <p:nvPr/>
        </p:nvSpPr>
        <p:spPr>
          <a:xfrm>
            <a:off x="3007794" y="649963"/>
            <a:ext cx="3318954" cy="5889795"/>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8" name="Rounded Rectangle 17">
            <a:extLst>
              <a:ext uri="{FF2B5EF4-FFF2-40B4-BE49-F238E27FC236}">
                <a16:creationId xmlns:a16="http://schemas.microsoft.com/office/drawing/2014/main" id="{0AE7155D-3C64-A9A9-CCCF-8ABC737317F1}"/>
              </a:ext>
            </a:extLst>
          </p:cNvPr>
          <p:cNvSpPr/>
          <p:nvPr/>
        </p:nvSpPr>
        <p:spPr>
          <a:xfrm>
            <a:off x="3100285" y="4137660"/>
            <a:ext cx="3225738" cy="10917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   </a:t>
            </a:r>
            <a:endParaRPr lang="mn-MN" sz="2000" b="1" dirty="0">
              <a:solidFill>
                <a:schemeClr val="tx1"/>
              </a:solidFill>
              <a:latin typeface="Meiryo" panose="020B0604030504040204" pitchFamily="34" charset="-128"/>
              <a:ea typeface="Meiryo" panose="020B0604030504040204" pitchFamily="34" charset="-128"/>
            </a:endParaRPr>
          </a:p>
          <a:p>
            <a:pPr algn="ctr"/>
            <a:r>
              <a:rPr lang="en-US" sz="2000" dirty="0">
                <a:solidFill>
                  <a:schemeClr val="tx1"/>
                </a:solidFill>
                <a:latin typeface="Meiryo" panose="020B0604030504040204" pitchFamily="34" charset="-128"/>
                <a:ea typeface="Meiryo" panose="020B0604030504040204" pitchFamily="34" charset="-128"/>
              </a:rPr>
              <a:t>2B. DTLS</a:t>
            </a:r>
            <a:r>
              <a:rPr lang="ja-JP" altLang="en-US" sz="2000">
                <a:solidFill>
                  <a:schemeClr val="tx1"/>
                </a:solidFill>
                <a:latin typeface="Meiryo" panose="020B0604030504040204" pitchFamily="34" charset="-128"/>
                <a:ea typeface="Meiryo" panose="020B0604030504040204" pitchFamily="34" charset="-128"/>
              </a:rPr>
              <a:t>処理内容確認なし透過転送のみ</a:t>
            </a:r>
          </a:p>
          <a:p>
            <a:pPr algn="ctr"/>
            <a:r>
              <a:rPr lang="en-US" altLang="ja-JP" sz="2000" dirty="0">
                <a:solidFill>
                  <a:schemeClr val="tx1"/>
                </a:solidFill>
                <a:latin typeface="Meiryo" panose="020B0604030504040204" pitchFamily="34" charset="-128"/>
                <a:ea typeface="Meiryo" panose="020B0604030504040204" pitchFamily="34" charset="-128"/>
              </a:rPr>
              <a:t>+12</a:t>
            </a:r>
            <a:r>
              <a:rPr lang="en-US" sz="2000" dirty="0">
                <a:solidFill>
                  <a:schemeClr val="tx1"/>
                </a:solidFill>
                <a:latin typeface="Meiryo" panose="020B0604030504040204" pitchFamily="34" charset="-128"/>
                <a:ea typeface="Meiryo" panose="020B0604030504040204" pitchFamily="34" charset="-128"/>
              </a:rPr>
              <a:t>ms</a:t>
            </a:r>
            <a:r>
              <a:rPr lang="ja-JP" altLang="en-US" sz="2000">
                <a:solidFill>
                  <a:schemeClr val="tx1"/>
                </a:solidFill>
                <a:latin typeface="Meiryo" panose="020B0604030504040204" pitchFamily="34" charset="-128"/>
                <a:ea typeface="Meiryo" panose="020B0604030504040204" pitchFamily="34" charset="-128"/>
              </a:rPr>
              <a:t>追加</a:t>
            </a:r>
            <a:endParaRPr lang="en-JP" sz="2000" dirty="0">
              <a:solidFill>
                <a:schemeClr val="tx1"/>
              </a:solidFill>
              <a:latin typeface="Meiryo" panose="020B0604030504040204" pitchFamily="34" charset="-128"/>
              <a:ea typeface="Meiryo" panose="020B0604030504040204" pitchFamily="34" charset="-128"/>
            </a:endParaRPr>
          </a:p>
        </p:txBody>
      </p:sp>
      <p:sp>
        <p:nvSpPr>
          <p:cNvPr id="22" name="TextBox 21">
            <a:extLst>
              <a:ext uri="{FF2B5EF4-FFF2-40B4-BE49-F238E27FC236}">
                <a16:creationId xmlns:a16="http://schemas.microsoft.com/office/drawing/2014/main" id="{2501D35A-C362-3712-B001-BD311F84D807}"/>
              </a:ext>
            </a:extLst>
          </p:cNvPr>
          <p:cNvSpPr txBox="1"/>
          <p:nvPr/>
        </p:nvSpPr>
        <p:spPr>
          <a:xfrm>
            <a:off x="2728251" y="658431"/>
            <a:ext cx="3878036" cy="646331"/>
          </a:xfrm>
          <a:prstGeom prst="rect">
            <a:avLst/>
          </a:prstGeom>
          <a:noFill/>
        </p:spPr>
        <p:txBody>
          <a:bodyPr wrap="square" rtlCol="0">
            <a:spAutoFit/>
          </a:bodyPr>
          <a:lstStyle/>
          <a:p>
            <a:pPr algn="ctr"/>
            <a:r>
              <a:rPr lang="ja-JP" altLang="en-US" b="1" i="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透過型</a:t>
            </a:r>
            <a:r>
              <a:rPr lang="en-US" b="1" i="0"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IDS</a:t>
            </a:r>
          </a:p>
          <a:p>
            <a:pPr algn="ctr"/>
            <a:r>
              <a:rPr lang="en-US" sz="1800" b="1" i="0" dirty="0">
                <a:solidFill>
                  <a:srgbClr val="C00000"/>
                </a:solidFill>
                <a:effectLst/>
                <a:latin typeface="Meiryo" panose="020B0604030504040204" pitchFamily="34" charset="-128"/>
                <a:ea typeface="Meiryo" panose="020B0604030504040204" pitchFamily="34" charset="-128"/>
              </a:rPr>
              <a:t> Raspberry Pi </a:t>
            </a:r>
            <a:endParaRPr lang="en-JP" sz="1800" dirty="0">
              <a:solidFill>
                <a:srgbClr val="C00000"/>
              </a:solidFill>
              <a:latin typeface="Meiryo" panose="020B0604030504040204" pitchFamily="34" charset="-128"/>
              <a:ea typeface="Meiryo" panose="020B0604030504040204" pitchFamily="34" charset="-128"/>
            </a:endParaRPr>
          </a:p>
        </p:txBody>
      </p:sp>
      <p:sp>
        <p:nvSpPr>
          <p:cNvPr id="2" name="Rounded Rectangle 1">
            <a:extLst>
              <a:ext uri="{FF2B5EF4-FFF2-40B4-BE49-F238E27FC236}">
                <a16:creationId xmlns:a16="http://schemas.microsoft.com/office/drawing/2014/main" id="{83B63AF3-97F5-019D-9DBC-E664310B2EF0}"/>
              </a:ext>
            </a:extLst>
          </p:cNvPr>
          <p:cNvSpPr/>
          <p:nvPr/>
        </p:nvSpPr>
        <p:spPr>
          <a:xfrm>
            <a:off x="3007794" y="2730683"/>
            <a:ext cx="3309023" cy="1269262"/>
          </a:xfrm>
          <a:prstGeom prst="roundRect">
            <a:avLst/>
          </a:prstGeom>
          <a:solidFill>
            <a:schemeClr val="bg1"/>
          </a:solidFill>
          <a:ln>
            <a:solidFill>
              <a:schemeClr val="accent1">
                <a:shade val="15000"/>
                <a:alpha val="91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 </a:t>
            </a:r>
            <a:r>
              <a:rPr lang="en-US" sz="2000" dirty="0">
                <a:solidFill>
                  <a:schemeClr val="tx1"/>
                </a:solidFill>
                <a:latin typeface="Meiryo" panose="020B0604030504040204" pitchFamily="34" charset="-128"/>
                <a:ea typeface="Meiryo" panose="020B0604030504040204" pitchFamily="34" charset="-128"/>
              </a:rPr>
              <a:t> 2a. </a:t>
            </a:r>
            <a:r>
              <a:rPr lang="en-US" sz="2000" b="1" i="0" dirty="0">
                <a:solidFill>
                  <a:srgbClr val="000000"/>
                </a:solidFill>
                <a:effectLst/>
                <a:latin typeface="Meiryo" panose="020B0604030504040204" pitchFamily="34" charset="-128"/>
                <a:ea typeface="Meiryo" panose="020B0604030504040204" pitchFamily="34" charset="-128"/>
              </a:rPr>
              <a:t>ARP</a:t>
            </a:r>
            <a:r>
              <a:rPr lang="ja-JP" altLang="en-US" sz="2000" b="1" i="0">
                <a:solidFill>
                  <a:srgbClr val="000000"/>
                </a:solidFill>
                <a:effectLst/>
                <a:latin typeface="Meiryo" panose="020B0604030504040204" pitchFamily="34" charset="-128"/>
                <a:ea typeface="Meiryo" panose="020B0604030504040204" pitchFamily="34" charset="-128"/>
              </a:rPr>
              <a:t>監視 </a:t>
            </a:r>
            <a:r>
              <a:rPr lang="en-US" altLang="ja-JP" sz="2000" b="1" i="0" dirty="0">
                <a:solidFill>
                  <a:srgbClr val="000000"/>
                </a:solidFill>
                <a:effectLst/>
                <a:latin typeface="Meiryo" panose="020B0604030504040204" pitchFamily="34" charset="-128"/>
                <a:ea typeface="Meiryo" panose="020B0604030504040204" pitchFamily="34" charset="-128"/>
              </a:rPr>
              <a:t>· </a:t>
            </a:r>
            <a:r>
              <a:rPr lang="en-US" sz="2000" b="1" i="0" dirty="0">
                <a:solidFill>
                  <a:srgbClr val="000000"/>
                </a:solidFill>
                <a:effectLst/>
                <a:latin typeface="Meiryo" panose="020B0604030504040204" pitchFamily="34" charset="-128"/>
                <a:ea typeface="Meiryo" panose="020B0604030504040204" pitchFamily="34" charset="-128"/>
              </a:rPr>
              <a:t>ML-IDS</a:t>
            </a:r>
            <a:endParaRPr lang="en-US" sz="2000" b="1" dirty="0">
              <a:solidFill>
                <a:schemeClr val="tx1"/>
              </a:solidFill>
              <a:latin typeface="Meiryo" panose="020B0604030504040204" pitchFamily="34" charset="-128"/>
              <a:ea typeface="Meiryo" panose="020B0604030504040204" pitchFamily="34" charset="-128"/>
            </a:endParaRPr>
          </a:p>
          <a:p>
            <a:pPr algn="ctr"/>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処理</a:t>
            </a:r>
            <a:r>
              <a:rPr lang="en-US" sz="2000" dirty="0">
                <a:solidFill>
                  <a:schemeClr val="tx1"/>
                </a:solidFill>
                <a:latin typeface="Meiryo" panose="020B0604030504040204" pitchFamily="34" charset="-128"/>
                <a:ea typeface="Meiryo" panose="020B0604030504040204" pitchFamily="34" charset="-128"/>
              </a:rPr>
              <a:t>Feature</a:t>
            </a:r>
            <a:r>
              <a:rPr lang="ja-JP" altLang="en-US" sz="2000">
                <a:solidFill>
                  <a:schemeClr val="tx1"/>
                </a:solidFill>
                <a:latin typeface="Meiryo" panose="020B0604030504040204" pitchFamily="34" charset="-128"/>
                <a:ea typeface="Meiryo" panose="020B0604030504040204" pitchFamily="34" charset="-128"/>
              </a:rPr>
              <a:t>抽出</a:t>
            </a:r>
            <a:endParaRPr lang="en-US" altLang="ja-JP" sz="2000" dirty="0">
              <a:solidFill>
                <a:schemeClr val="tx1"/>
              </a:solidFill>
              <a:latin typeface="Meiryo" panose="020B0604030504040204" pitchFamily="34" charset="-128"/>
              <a:ea typeface="Meiryo" panose="020B0604030504040204" pitchFamily="34" charset="-128"/>
            </a:endParaRPr>
          </a:p>
          <a:p>
            <a:pPr algn="ctr"/>
            <a:r>
              <a:rPr lang="en-US" sz="2000" dirty="0">
                <a:solidFill>
                  <a:schemeClr val="tx1"/>
                </a:solidFill>
                <a:latin typeface="Meiryo" panose="020B0604030504040204" pitchFamily="34" charset="-128"/>
                <a:ea typeface="Meiryo" panose="020B0604030504040204" pitchFamily="34" charset="-128"/>
              </a:rPr>
              <a:t>RF</a:t>
            </a:r>
            <a:r>
              <a:rPr lang="ja-JP" altLang="en-US" sz="2000">
                <a:solidFill>
                  <a:schemeClr val="tx1"/>
                </a:solidFill>
                <a:latin typeface="Meiryo" panose="020B0604030504040204" pitchFamily="34" charset="-128"/>
                <a:ea typeface="Meiryo" panose="020B0604030504040204" pitchFamily="34" charset="-128"/>
              </a:rPr>
              <a:t>分類</a:t>
            </a:r>
            <a:endParaRPr lang="en-JP" sz="2000" b="1" dirty="0">
              <a:solidFill>
                <a:schemeClr val="tx1"/>
              </a:solidFill>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02F3F8B1-CEAE-DC37-0B6D-910F9E86EDA8}"/>
              </a:ext>
            </a:extLst>
          </p:cNvPr>
          <p:cNvSpPr/>
          <p:nvPr/>
        </p:nvSpPr>
        <p:spPr>
          <a:xfrm>
            <a:off x="3157902" y="1467544"/>
            <a:ext cx="2972128" cy="10946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dirty="0">
                <a:solidFill>
                  <a:srgbClr val="000000"/>
                </a:solidFill>
                <a:latin typeface="Meiryo" panose="020B0604030504040204" pitchFamily="34" charset="-128"/>
                <a:ea typeface="Meiryo" panose="020B0604030504040204" pitchFamily="34" charset="-128"/>
              </a:rPr>
              <a:t>1.</a:t>
            </a:r>
            <a:r>
              <a:rPr lang="ja-JP" altLang="en-US" sz="2000" b="0" i="0">
                <a:solidFill>
                  <a:srgbClr val="000000"/>
                </a:solidFill>
                <a:effectLst/>
                <a:latin typeface="Meiryo" panose="020B0604030504040204" pitchFamily="34" charset="-128"/>
                <a:ea typeface="Meiryo" panose="020B0604030504040204" pitchFamily="34" charset="-128"/>
              </a:rPr>
              <a:t>パケット種別判定</a:t>
            </a:r>
          </a:p>
          <a:p>
            <a:pPr algn="ctr"/>
            <a:r>
              <a:rPr lang="en-US" sz="2000" b="0" i="0" dirty="0">
                <a:solidFill>
                  <a:srgbClr val="000000"/>
                </a:solidFill>
                <a:effectLst/>
                <a:latin typeface="Meiryo" panose="020B0604030504040204" pitchFamily="34" charset="-128"/>
                <a:ea typeface="Meiryo" panose="020B0604030504040204" pitchFamily="34" charset="-128"/>
              </a:rPr>
              <a:t>ARP? or CoAP/DTLS?</a:t>
            </a:r>
            <a:endParaRPr lang="en-JP" sz="2000" b="1" dirty="0">
              <a:solidFill>
                <a:schemeClr val="tx1"/>
              </a:solidFill>
              <a:latin typeface="Meiryo" panose="020B0604030504040204" pitchFamily="34" charset="-128"/>
              <a:ea typeface="Meiryo" panose="020B0604030504040204" pitchFamily="34" charset="-128"/>
            </a:endParaRPr>
          </a:p>
        </p:txBody>
      </p:sp>
      <p:sp>
        <p:nvSpPr>
          <p:cNvPr id="9" name="Rounded Rectangle 8">
            <a:extLst>
              <a:ext uri="{FF2B5EF4-FFF2-40B4-BE49-F238E27FC236}">
                <a16:creationId xmlns:a16="http://schemas.microsoft.com/office/drawing/2014/main" id="{8E692AA2-17FA-7333-AAD3-04025C0C573E}"/>
              </a:ext>
            </a:extLst>
          </p:cNvPr>
          <p:cNvSpPr/>
          <p:nvPr/>
        </p:nvSpPr>
        <p:spPr>
          <a:xfrm>
            <a:off x="3099560" y="5378276"/>
            <a:ext cx="3151105" cy="76596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i="0">
                <a:solidFill>
                  <a:srgbClr val="000000"/>
                </a:solidFill>
                <a:effectLst/>
                <a:latin typeface="Meiryo" panose="020B0604030504040204" pitchFamily="34" charset="-128"/>
                <a:ea typeface="Meiryo" panose="020B0604030504040204" pitchFamily="34" charset="-128"/>
              </a:rPr>
              <a:t>③ ルーティング決定</a:t>
            </a:r>
          </a:p>
          <a:p>
            <a:pPr algn="ctr"/>
            <a:r>
              <a:rPr lang="en-US" b="1" i="0" dirty="0">
                <a:solidFill>
                  <a:srgbClr val="000000"/>
                </a:solidFill>
                <a:effectLst/>
                <a:latin typeface="Meiryo" panose="020B0604030504040204" pitchFamily="34" charset="-128"/>
                <a:ea typeface="Meiryo" panose="020B0604030504040204" pitchFamily="34" charset="-128"/>
              </a:rPr>
              <a:t>BLOCK or eth0</a:t>
            </a:r>
            <a:r>
              <a:rPr lang="ja-JP" altLang="en-US" b="1" i="0">
                <a:solidFill>
                  <a:srgbClr val="000000"/>
                </a:solidFill>
                <a:effectLst/>
                <a:latin typeface="Meiryo" panose="020B0604030504040204" pitchFamily="34" charset="-128"/>
                <a:ea typeface="Meiryo" panose="020B0604030504040204" pitchFamily="34" charset="-128"/>
              </a:rPr>
              <a:t>へ転送</a:t>
            </a:r>
            <a:endParaRPr lang="en-JP" dirty="0">
              <a:latin typeface="Meiryo" panose="020B0604030504040204" pitchFamily="34" charset="-128"/>
              <a:ea typeface="Meiryo" panose="020B0604030504040204" pitchFamily="34" charset="-128"/>
            </a:endParaRPr>
          </a:p>
        </p:txBody>
      </p:sp>
      <p:sp>
        <p:nvSpPr>
          <p:cNvPr id="3" name="Rectangle: Rounded Corners 6">
            <a:extLst>
              <a:ext uri="{FF2B5EF4-FFF2-40B4-BE49-F238E27FC236}">
                <a16:creationId xmlns:a16="http://schemas.microsoft.com/office/drawing/2014/main" id="{DA06D1F9-6840-7229-8ACE-5D8FB5274E3C}"/>
              </a:ext>
            </a:extLst>
          </p:cNvPr>
          <p:cNvSpPr/>
          <p:nvPr/>
        </p:nvSpPr>
        <p:spPr>
          <a:xfrm>
            <a:off x="101891" y="602623"/>
            <a:ext cx="2670583" cy="5753727"/>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8" name="Rectangle: Rounded Corners 6">
            <a:extLst>
              <a:ext uri="{FF2B5EF4-FFF2-40B4-BE49-F238E27FC236}">
                <a16:creationId xmlns:a16="http://schemas.microsoft.com/office/drawing/2014/main" id="{D83DD573-9AC1-92DB-C9B0-927585F7A551}"/>
              </a:ext>
            </a:extLst>
          </p:cNvPr>
          <p:cNvSpPr/>
          <p:nvPr/>
        </p:nvSpPr>
        <p:spPr>
          <a:xfrm>
            <a:off x="6443378" y="692516"/>
            <a:ext cx="2670583" cy="4259096"/>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797631EC-8597-6A46-754E-935C862FFFF6}"/>
              </a:ext>
            </a:extLst>
          </p:cNvPr>
          <p:cNvSpPr txBox="1"/>
          <p:nvPr/>
        </p:nvSpPr>
        <p:spPr>
          <a:xfrm>
            <a:off x="530084" y="641603"/>
            <a:ext cx="1738037" cy="369332"/>
          </a:xfrm>
          <a:prstGeom prst="rect">
            <a:avLst/>
          </a:prstGeom>
          <a:noFill/>
        </p:spPr>
        <p:txBody>
          <a:bodyPr wrap="square" rtlCol="0">
            <a:spAutoFit/>
          </a:bodyPr>
          <a:lstStyle/>
          <a:p>
            <a:r>
              <a:rPr lang="en-US" b="0" i="0" dirty="0">
                <a:solidFill>
                  <a:srgbClr val="000000"/>
                </a:solidFill>
                <a:effectLst/>
                <a:latin typeface="Hiragino Sans" panose="020B0400000000000000" pitchFamily="34" charset="-128"/>
                <a:ea typeface="Hiragino Sans" panose="020B0400000000000000" pitchFamily="34" charset="-128"/>
              </a:rPr>
              <a:t> (</a:t>
            </a:r>
            <a:r>
              <a:rPr lang="en-US" dirty="0">
                <a:solidFill>
                  <a:srgbClr val="000000"/>
                </a:solidFill>
                <a:latin typeface="Hiragino Sans" panose="020B0400000000000000" pitchFamily="34" charset="-128"/>
                <a:ea typeface="Hiragino Sans" panose="020B0400000000000000" pitchFamily="34" charset="-128"/>
              </a:rPr>
              <a:t>eth1</a:t>
            </a:r>
            <a:r>
              <a:rPr lang="en-US" b="0" i="0" dirty="0">
                <a:solidFill>
                  <a:srgbClr val="000000"/>
                </a:solidFill>
                <a:effectLst/>
                <a:latin typeface="Hiragino Sans" panose="020B0400000000000000" pitchFamily="34" charset="-128"/>
                <a:ea typeface="Hiragino Sans" panose="020B0400000000000000" pitchFamily="34" charset="-128"/>
              </a:rPr>
              <a:t>IoT</a:t>
            </a:r>
            <a:r>
              <a:rPr lang="ja-JP" altLang="en-US" b="0" i="0">
                <a:solidFill>
                  <a:srgbClr val="000000"/>
                </a:solidFill>
                <a:effectLst/>
                <a:latin typeface="Hiragino Sans" panose="020B0400000000000000" pitchFamily="34" charset="-128"/>
                <a:ea typeface="Hiragino Sans" panose="020B0400000000000000" pitchFamily="34" charset="-128"/>
              </a:rPr>
              <a:t>側</a:t>
            </a:r>
            <a:r>
              <a:rPr lang="en-US" altLang="ja-JP" b="0" i="0" dirty="0">
                <a:solidFill>
                  <a:srgbClr val="000000"/>
                </a:solidFill>
                <a:effectLst/>
                <a:latin typeface="Hiragino Sans" panose="020B0400000000000000" pitchFamily="34" charset="-128"/>
                <a:ea typeface="Hiragino Sans" panose="020B0400000000000000" pitchFamily="34" charset="-128"/>
              </a:rPr>
              <a:t>)</a:t>
            </a:r>
            <a:endParaRPr lang="en-JP" dirty="0"/>
          </a:p>
        </p:txBody>
      </p:sp>
      <p:sp>
        <p:nvSpPr>
          <p:cNvPr id="15" name="Rounded Rectangle 14">
            <a:extLst>
              <a:ext uri="{FF2B5EF4-FFF2-40B4-BE49-F238E27FC236}">
                <a16:creationId xmlns:a16="http://schemas.microsoft.com/office/drawing/2014/main" id="{9A89F345-9B0B-BA1C-6A4A-DBD2DDDCA019}"/>
              </a:ext>
            </a:extLst>
          </p:cNvPr>
          <p:cNvSpPr/>
          <p:nvPr/>
        </p:nvSpPr>
        <p:spPr>
          <a:xfrm>
            <a:off x="233861" y="1049916"/>
            <a:ext cx="2406641" cy="76122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i="0" dirty="0" err="1">
                <a:solidFill>
                  <a:schemeClr val="accent6"/>
                </a:solidFill>
                <a:effectLst/>
                <a:latin typeface="Meiryo" panose="020B0604030504040204" pitchFamily="34" charset="-128"/>
                <a:ea typeface="Meiryo" panose="020B0604030504040204" pitchFamily="34" charset="-128"/>
              </a:rPr>
              <a:t>IoT</a:t>
            </a:r>
            <a:r>
              <a:rPr lang="en-US" sz="1600" b="1" dirty="0" err="1">
                <a:solidFill>
                  <a:schemeClr val="accent6"/>
                </a:solidFill>
                <a:latin typeface="Meiryo" panose="020B0604030504040204" pitchFamily="34" charset="-128"/>
                <a:ea typeface="Meiryo" panose="020B0604030504040204" pitchFamily="34" charset="-128"/>
              </a:rPr>
              <a:t>device</a:t>
            </a:r>
            <a:r>
              <a:rPr lang="en-US" sz="1600" b="1" dirty="0">
                <a:solidFill>
                  <a:schemeClr val="accent6"/>
                </a:solidFill>
                <a:latin typeface="Meiryo" panose="020B0604030504040204" pitchFamily="34" charset="-128"/>
                <a:ea typeface="Meiryo" panose="020B0604030504040204" pitchFamily="34" charset="-128"/>
              </a:rPr>
              <a:t> 1</a:t>
            </a:r>
          </a:p>
          <a:p>
            <a:pPr algn="ctr"/>
            <a:r>
              <a:rPr lang="en-JP" sz="1600" b="0" i="0" dirty="0">
                <a:solidFill>
                  <a:srgbClr val="000000"/>
                </a:solidFill>
                <a:effectLst/>
                <a:latin typeface="Meiryo" panose="020B0604030504040204" pitchFamily="34" charset="-128"/>
                <a:ea typeface="Meiryo" panose="020B0604030504040204" pitchFamily="34" charset="-128"/>
              </a:rPr>
              <a:t>..1.20 </a:t>
            </a:r>
            <a:r>
              <a:rPr lang="en-US" sz="1600" b="0" i="0" dirty="0">
                <a:solidFill>
                  <a:srgbClr val="000000"/>
                </a:solidFill>
                <a:effectLst/>
                <a:latin typeface="Meiryo" panose="020B0604030504040204" pitchFamily="34" charset="-128"/>
                <a:ea typeface="Meiryo" panose="020B0604030504040204" pitchFamily="34" charset="-128"/>
              </a:rPr>
              <a:t>AA:AA:AA</a:t>
            </a:r>
            <a:endParaRPr lang="en-JP" sz="1600" b="1" dirty="0">
              <a:solidFill>
                <a:schemeClr val="tx1"/>
              </a:solidFill>
              <a:latin typeface="Meiryo" panose="020B0604030504040204" pitchFamily="34" charset="-128"/>
              <a:ea typeface="Meiryo" panose="020B0604030504040204" pitchFamily="34" charset="-128"/>
            </a:endParaRPr>
          </a:p>
        </p:txBody>
      </p:sp>
      <p:sp>
        <p:nvSpPr>
          <p:cNvPr id="16" name="Rounded Rectangle 15">
            <a:extLst>
              <a:ext uri="{FF2B5EF4-FFF2-40B4-BE49-F238E27FC236}">
                <a16:creationId xmlns:a16="http://schemas.microsoft.com/office/drawing/2014/main" id="{BE9D5B85-35F1-860F-B658-BD7A49014675}"/>
              </a:ext>
            </a:extLst>
          </p:cNvPr>
          <p:cNvSpPr/>
          <p:nvPr/>
        </p:nvSpPr>
        <p:spPr>
          <a:xfrm>
            <a:off x="259347" y="1911505"/>
            <a:ext cx="2406641" cy="74883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i="0" dirty="0" err="1">
                <a:solidFill>
                  <a:schemeClr val="accent6"/>
                </a:solidFill>
                <a:effectLst/>
                <a:latin typeface="Meiryo" panose="020B0604030504040204" pitchFamily="34" charset="-128"/>
                <a:ea typeface="Meiryo" panose="020B0604030504040204" pitchFamily="34" charset="-128"/>
              </a:rPr>
              <a:t>IoT</a:t>
            </a:r>
            <a:r>
              <a:rPr lang="en-US" sz="1800" b="1" dirty="0" err="1">
                <a:solidFill>
                  <a:schemeClr val="accent6"/>
                </a:solidFill>
                <a:latin typeface="Meiryo" panose="020B0604030504040204" pitchFamily="34" charset="-128"/>
                <a:ea typeface="Meiryo" panose="020B0604030504040204" pitchFamily="34" charset="-128"/>
              </a:rPr>
              <a:t>device</a:t>
            </a:r>
            <a:r>
              <a:rPr lang="en-US" sz="1800" b="1" dirty="0">
                <a:solidFill>
                  <a:schemeClr val="accent6"/>
                </a:solidFill>
                <a:latin typeface="Meiryo" panose="020B0604030504040204" pitchFamily="34" charset="-128"/>
                <a:ea typeface="Meiryo" panose="020B0604030504040204" pitchFamily="34" charset="-128"/>
              </a:rPr>
              <a:t> 2</a:t>
            </a:r>
          </a:p>
          <a:p>
            <a:pPr algn="ctr"/>
            <a:r>
              <a:rPr lang="en-US" dirty="0">
                <a:solidFill>
                  <a:srgbClr val="000000"/>
                </a:solidFill>
                <a:latin typeface="Meiryo" panose="020B0604030504040204" pitchFamily="34" charset="-128"/>
                <a:ea typeface="Meiryo" panose="020B0604030504040204" pitchFamily="34" charset="-128"/>
              </a:rPr>
              <a:t>..</a:t>
            </a:r>
            <a:r>
              <a:rPr lang="en-JP" b="0" i="0" dirty="0">
                <a:solidFill>
                  <a:srgbClr val="000000"/>
                </a:solidFill>
                <a:effectLst/>
                <a:latin typeface="Meiryo" panose="020B0604030504040204" pitchFamily="34" charset="-128"/>
                <a:ea typeface="Meiryo" panose="020B0604030504040204" pitchFamily="34" charset="-128"/>
              </a:rPr>
              <a:t>1.21 </a:t>
            </a:r>
            <a:r>
              <a:rPr lang="en-US" b="0" i="0" dirty="0">
                <a:solidFill>
                  <a:srgbClr val="000000"/>
                </a:solidFill>
                <a:effectLst/>
                <a:latin typeface="Meiryo" panose="020B0604030504040204" pitchFamily="34" charset="-128"/>
                <a:ea typeface="Meiryo" panose="020B0604030504040204" pitchFamily="34" charset="-128"/>
              </a:rPr>
              <a:t>CC:CC:CC</a:t>
            </a:r>
            <a:endParaRPr lang="en-JP" b="1" dirty="0">
              <a:solidFill>
                <a:schemeClr val="tx1"/>
              </a:solidFill>
              <a:latin typeface="Meiryo" panose="020B0604030504040204" pitchFamily="34" charset="-128"/>
              <a:ea typeface="Meiryo" panose="020B0604030504040204" pitchFamily="34" charset="-128"/>
            </a:endParaRPr>
          </a:p>
        </p:txBody>
      </p:sp>
      <p:sp>
        <p:nvSpPr>
          <p:cNvPr id="17" name="Rounded Rectangle 16">
            <a:extLst>
              <a:ext uri="{FF2B5EF4-FFF2-40B4-BE49-F238E27FC236}">
                <a16:creationId xmlns:a16="http://schemas.microsoft.com/office/drawing/2014/main" id="{C91F001C-BA33-7FD3-1FC6-21F5C0EE5C3B}"/>
              </a:ext>
            </a:extLst>
          </p:cNvPr>
          <p:cNvSpPr/>
          <p:nvPr/>
        </p:nvSpPr>
        <p:spPr>
          <a:xfrm>
            <a:off x="216586" y="2880956"/>
            <a:ext cx="2406641" cy="959812"/>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b="0" i="0" dirty="0">
                <a:solidFill>
                  <a:srgbClr val="000000"/>
                </a:solidFill>
                <a:effectLst/>
                <a:latin typeface="Meiryo" panose="020B0604030504040204" pitchFamily="34" charset="-128"/>
                <a:ea typeface="Meiryo" panose="020B0604030504040204" pitchFamily="34" charset="-128"/>
              </a:rPr>
              <a:t>😈 .</a:t>
            </a:r>
            <a:r>
              <a:rPr lang="ja-JP" altLang="en-US" b="0" i="0">
                <a:solidFill>
                  <a:srgbClr val="000000"/>
                </a:solidFill>
                <a:effectLst/>
                <a:latin typeface="Anthropic Sans"/>
              </a:rPr>
              <a:t> </a:t>
            </a:r>
            <a:r>
              <a:rPr lang="ja-JP" altLang="en-US" b="1" i="0">
                <a:solidFill>
                  <a:srgbClr val="C00000"/>
                </a:solidFill>
                <a:effectLst/>
                <a:latin typeface="Meiryo" panose="020B0604030504040204" pitchFamily="34" charset="-128"/>
                <a:ea typeface="Meiryo" panose="020B0604030504040204" pitchFamily="34" charset="-128"/>
              </a:rPr>
              <a:t>攻撃者</a:t>
            </a:r>
            <a:endParaRPr lang="en-JP" b="1" i="0" dirty="0">
              <a:solidFill>
                <a:srgbClr val="C00000"/>
              </a:solidFill>
              <a:effectLst/>
              <a:latin typeface="Meiryo" panose="020B0604030504040204" pitchFamily="34" charset="-128"/>
              <a:ea typeface="Meiryo" panose="020B0604030504040204" pitchFamily="34" charset="-128"/>
            </a:endParaRPr>
          </a:p>
          <a:p>
            <a:pPr algn="ctr"/>
            <a:r>
              <a:rPr lang="en-JP" b="0" i="0" dirty="0">
                <a:solidFill>
                  <a:srgbClr val="000000"/>
                </a:solidFill>
                <a:effectLst/>
                <a:latin typeface="Meiryo" panose="020B0604030504040204" pitchFamily="34" charset="-128"/>
                <a:ea typeface="Meiryo" panose="020B0604030504040204" pitchFamily="34" charset="-128"/>
              </a:rPr>
              <a:t>..1.99 </a:t>
            </a:r>
            <a:r>
              <a:rPr lang="en-US" b="0" i="0" dirty="0">
                <a:solidFill>
                  <a:srgbClr val="000000"/>
                </a:solidFill>
                <a:effectLst/>
                <a:latin typeface="Meiryo" panose="020B0604030504040204" pitchFamily="34" charset="-128"/>
                <a:ea typeface="Meiryo" panose="020B0604030504040204" pitchFamily="34" charset="-128"/>
              </a:rPr>
              <a:t>XX:XX:XX</a:t>
            </a:r>
            <a:endParaRPr lang="en-JP" b="1" dirty="0">
              <a:solidFill>
                <a:schemeClr val="tx1"/>
              </a:solidFill>
              <a:latin typeface="Meiryo" panose="020B0604030504040204" pitchFamily="34" charset="-128"/>
              <a:ea typeface="Meiryo" panose="020B0604030504040204" pitchFamily="34" charset="-128"/>
            </a:endParaRPr>
          </a:p>
        </p:txBody>
      </p:sp>
      <p:sp>
        <p:nvSpPr>
          <p:cNvPr id="19" name="Rounded Rectangle 18">
            <a:extLst>
              <a:ext uri="{FF2B5EF4-FFF2-40B4-BE49-F238E27FC236}">
                <a16:creationId xmlns:a16="http://schemas.microsoft.com/office/drawing/2014/main" id="{3E7B21F3-33FA-A926-1E2F-307CA215C03B}"/>
              </a:ext>
            </a:extLst>
          </p:cNvPr>
          <p:cNvSpPr/>
          <p:nvPr/>
        </p:nvSpPr>
        <p:spPr>
          <a:xfrm>
            <a:off x="156599" y="3999945"/>
            <a:ext cx="2406641" cy="91674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CoAP/DTLS</a:t>
            </a:r>
            <a:r>
              <a:rPr lang="ja-JP" altLang="en-US" sz="2000">
                <a:solidFill>
                  <a:schemeClr val="tx1"/>
                </a:solidFill>
              </a:rPr>
              <a:t>パケット</a:t>
            </a:r>
            <a:r>
              <a:rPr lang="en-US" altLang="ja-JP" sz="2000" dirty="0">
                <a:solidFill>
                  <a:schemeClr val="tx1"/>
                </a:solidFill>
              </a:rPr>
              <a:t>[</a:t>
            </a:r>
            <a:r>
              <a:rPr lang="en-JP" sz="2000" dirty="0">
                <a:solidFill>
                  <a:schemeClr val="tx1"/>
                </a:solidFill>
              </a:rPr>
              <a:t>🔒 </a:t>
            </a:r>
            <a:r>
              <a:rPr lang="en-US" sz="2000" dirty="0">
                <a:solidFill>
                  <a:schemeClr val="tx1"/>
                </a:solidFill>
              </a:rPr>
              <a:t>a3 f2 9c...]</a:t>
            </a:r>
            <a:r>
              <a:rPr lang="en-US" sz="2000" dirty="0" err="1">
                <a:solidFill>
                  <a:schemeClr val="tx1"/>
                </a:solidFill>
              </a:rPr>
              <a:t>dst</a:t>
            </a:r>
            <a:r>
              <a:rPr lang="en-US" sz="2000" dirty="0">
                <a:solidFill>
                  <a:schemeClr val="tx1"/>
                </a:solidFill>
              </a:rPr>
              <a:t>: BB:BB:BB</a:t>
            </a:r>
            <a:endParaRPr lang="en-JP" sz="2000" b="1" dirty="0">
              <a:solidFill>
                <a:schemeClr val="tx1"/>
              </a:solidFill>
              <a:latin typeface="Meiryo" panose="020B0604030504040204" pitchFamily="34" charset="-128"/>
              <a:ea typeface="Meiryo" panose="020B0604030504040204" pitchFamily="34" charset="-128"/>
            </a:endParaRPr>
          </a:p>
        </p:txBody>
      </p:sp>
      <p:sp>
        <p:nvSpPr>
          <p:cNvPr id="20" name="Rounded Rectangle 19">
            <a:extLst>
              <a:ext uri="{FF2B5EF4-FFF2-40B4-BE49-F238E27FC236}">
                <a16:creationId xmlns:a16="http://schemas.microsoft.com/office/drawing/2014/main" id="{BE846451-8177-FC6F-E630-9D648CD62B65}"/>
              </a:ext>
            </a:extLst>
          </p:cNvPr>
          <p:cNvSpPr/>
          <p:nvPr/>
        </p:nvSpPr>
        <p:spPr>
          <a:xfrm>
            <a:off x="216587" y="5146101"/>
            <a:ext cx="2406641" cy="79753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Meiryo" panose="020B0604030504040204" pitchFamily="34" charset="-128"/>
                <a:ea typeface="Meiryo" panose="020B0604030504040204" pitchFamily="34" charset="-128"/>
              </a:rPr>
              <a:t>ARP</a:t>
            </a:r>
            <a:r>
              <a:rPr lang="ja-JP" altLang="en-US" sz="2000">
                <a:solidFill>
                  <a:schemeClr val="tx1"/>
                </a:solidFill>
                <a:latin typeface="Meiryo" panose="020B0604030504040204" pitchFamily="34" charset="-128"/>
                <a:ea typeface="Meiryo" panose="020B0604030504040204" pitchFamily="34" charset="-128"/>
              </a:rPr>
              <a:t>パケット</a:t>
            </a:r>
            <a:r>
              <a:rPr lang="en-US" sz="2000" dirty="0">
                <a:solidFill>
                  <a:schemeClr val="tx1"/>
                </a:solidFill>
                <a:latin typeface="Meiryo" panose="020B0604030504040204" pitchFamily="34" charset="-128"/>
                <a:ea typeface="Meiryo" panose="020B0604030504040204" pitchFamily="34" charset="-128"/>
              </a:rPr>
              <a:t>broadcast / reply</a:t>
            </a:r>
            <a:endParaRPr lang="en-JP" sz="2000" b="1" dirty="0">
              <a:solidFill>
                <a:schemeClr val="tx1"/>
              </a:solidFill>
              <a:latin typeface="Meiryo" panose="020B0604030504040204" pitchFamily="34" charset="-128"/>
              <a:ea typeface="Meiryo" panose="020B0604030504040204" pitchFamily="34" charset="-128"/>
            </a:endParaRPr>
          </a:p>
        </p:txBody>
      </p:sp>
      <p:sp>
        <p:nvSpPr>
          <p:cNvPr id="23" name="TextBox 22">
            <a:extLst>
              <a:ext uri="{FF2B5EF4-FFF2-40B4-BE49-F238E27FC236}">
                <a16:creationId xmlns:a16="http://schemas.microsoft.com/office/drawing/2014/main" id="{6DA2A64B-B039-D9F2-97C7-D15C6481218B}"/>
              </a:ext>
            </a:extLst>
          </p:cNvPr>
          <p:cNvSpPr txBox="1"/>
          <p:nvPr/>
        </p:nvSpPr>
        <p:spPr>
          <a:xfrm>
            <a:off x="6722415" y="660363"/>
            <a:ext cx="2057400" cy="369332"/>
          </a:xfrm>
          <a:prstGeom prst="rect">
            <a:avLst/>
          </a:prstGeom>
          <a:noFill/>
        </p:spPr>
        <p:txBody>
          <a:bodyPr wrap="square" rtlCol="0">
            <a:spAutoFit/>
          </a:bodyPr>
          <a:lstStyle/>
          <a:p>
            <a:r>
              <a:rPr lang="en-US" b="0" i="0" dirty="0">
                <a:solidFill>
                  <a:srgbClr val="000000"/>
                </a:solidFill>
                <a:effectLst/>
                <a:latin typeface="Hiragino Sans" panose="020B0400000000000000" pitchFamily="34" charset="-128"/>
                <a:ea typeface="Hiragino Sans" panose="020B0400000000000000" pitchFamily="34" charset="-128"/>
              </a:rPr>
              <a:t> (eth0Internet</a:t>
            </a:r>
            <a:r>
              <a:rPr lang="ja-JP" altLang="en-US" b="0" i="0">
                <a:solidFill>
                  <a:srgbClr val="000000"/>
                </a:solidFill>
                <a:effectLst/>
                <a:latin typeface="Hiragino Sans" panose="020B0400000000000000" pitchFamily="34" charset="-128"/>
                <a:ea typeface="Hiragino Sans" panose="020B0400000000000000" pitchFamily="34" charset="-128"/>
              </a:rPr>
              <a:t>側</a:t>
            </a:r>
            <a:r>
              <a:rPr lang="en-US" altLang="ja-JP" b="0" i="0" dirty="0">
                <a:solidFill>
                  <a:srgbClr val="000000"/>
                </a:solidFill>
                <a:effectLst/>
                <a:latin typeface="Hiragino Sans" panose="020B0400000000000000" pitchFamily="34" charset="-128"/>
                <a:ea typeface="Hiragino Sans" panose="020B0400000000000000" pitchFamily="34" charset="-128"/>
              </a:rPr>
              <a:t>)</a:t>
            </a:r>
            <a:endParaRPr lang="en-JP" dirty="0"/>
          </a:p>
        </p:txBody>
      </p:sp>
      <p:sp>
        <p:nvSpPr>
          <p:cNvPr id="24" name="Rounded Rectangle 23">
            <a:extLst>
              <a:ext uri="{FF2B5EF4-FFF2-40B4-BE49-F238E27FC236}">
                <a16:creationId xmlns:a16="http://schemas.microsoft.com/office/drawing/2014/main" id="{D474444E-C380-64F5-5B4F-C13EE2DF3D83}"/>
              </a:ext>
            </a:extLst>
          </p:cNvPr>
          <p:cNvSpPr/>
          <p:nvPr/>
        </p:nvSpPr>
        <p:spPr>
          <a:xfrm>
            <a:off x="6676371" y="1229906"/>
            <a:ext cx="2332949" cy="6018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dirty="0">
                <a:solidFill>
                  <a:schemeClr val="tx1"/>
                </a:solidFill>
              </a:rPr>
              <a:t>🌐 </a:t>
            </a:r>
            <a:r>
              <a:rPr lang="en-JP" sz="2000" dirty="0">
                <a:solidFill>
                  <a:schemeClr val="tx1"/>
                </a:solidFill>
                <a:latin typeface="Meiryo" panose="020B0604030504040204" pitchFamily="34" charset="-128"/>
                <a:ea typeface="Meiryo" panose="020B0604030504040204" pitchFamily="34" charset="-128"/>
              </a:rPr>
              <a:t>HOME </a:t>
            </a:r>
            <a:r>
              <a:rPr lang="en-US" sz="2000" dirty="0">
                <a:solidFill>
                  <a:schemeClr val="tx1"/>
                </a:solidFill>
                <a:latin typeface="Meiryo" panose="020B0604030504040204" pitchFamily="34" charset="-128"/>
                <a:ea typeface="Meiryo" panose="020B0604030504040204" pitchFamily="34" charset="-128"/>
              </a:rPr>
              <a:t>Router</a:t>
            </a:r>
            <a:endParaRPr lang="en-JP" sz="2000" b="1" dirty="0">
              <a:solidFill>
                <a:schemeClr val="tx1"/>
              </a:solidFill>
              <a:latin typeface="Meiryo" panose="020B0604030504040204" pitchFamily="34" charset="-128"/>
              <a:ea typeface="Meiryo" panose="020B0604030504040204" pitchFamily="34" charset="-128"/>
            </a:endParaRPr>
          </a:p>
        </p:txBody>
      </p:sp>
      <p:sp>
        <p:nvSpPr>
          <p:cNvPr id="25" name="Rounded Rectangle 24">
            <a:extLst>
              <a:ext uri="{FF2B5EF4-FFF2-40B4-BE49-F238E27FC236}">
                <a16:creationId xmlns:a16="http://schemas.microsoft.com/office/drawing/2014/main" id="{016E3AED-E4A4-4FAB-F6F8-A05E0176ED07}"/>
              </a:ext>
            </a:extLst>
          </p:cNvPr>
          <p:cNvSpPr/>
          <p:nvPr/>
        </p:nvSpPr>
        <p:spPr>
          <a:xfrm>
            <a:off x="6567045" y="2505878"/>
            <a:ext cx="2332949" cy="83479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1800" b="0" i="0" dirty="0">
                <a:solidFill>
                  <a:schemeClr val="tx1"/>
                </a:solidFill>
                <a:effectLst/>
                <a:latin typeface="Meiryo" panose="020B0604030504040204" pitchFamily="34" charset="-128"/>
                <a:ea typeface="Meiryo" panose="020B0604030504040204" pitchFamily="34" charset="-128"/>
              </a:rPr>
              <a:t>☁️</a:t>
            </a:r>
          </a:p>
          <a:p>
            <a:pPr algn="ctr"/>
            <a:r>
              <a:rPr lang="en-US" dirty="0">
                <a:solidFill>
                  <a:schemeClr val="tx1"/>
                </a:solidFill>
                <a:latin typeface="Meiryo" panose="020B0604030504040204" pitchFamily="34" charset="-128"/>
                <a:ea typeface="Meiryo" panose="020B0604030504040204" pitchFamily="34" charset="-128"/>
              </a:rPr>
              <a:t>Cloud Server</a:t>
            </a:r>
          </a:p>
          <a:p>
            <a:pPr algn="ctr"/>
            <a:r>
              <a:rPr lang="en-US" dirty="0">
                <a:solidFill>
                  <a:schemeClr val="tx1"/>
                </a:solidFill>
                <a:latin typeface="Meiryo" panose="020B0604030504040204" pitchFamily="34" charset="-128"/>
                <a:ea typeface="Meiryo" panose="020B0604030504040204" pitchFamily="34" charset="-128"/>
              </a:rPr>
              <a:t>CoAP Endpoint</a:t>
            </a:r>
          </a:p>
        </p:txBody>
      </p:sp>
      <p:sp>
        <p:nvSpPr>
          <p:cNvPr id="26" name="Rounded Rectangle 25">
            <a:extLst>
              <a:ext uri="{FF2B5EF4-FFF2-40B4-BE49-F238E27FC236}">
                <a16:creationId xmlns:a16="http://schemas.microsoft.com/office/drawing/2014/main" id="{01F86818-1B5C-0B79-636D-E6BE340C97B0}"/>
              </a:ext>
            </a:extLst>
          </p:cNvPr>
          <p:cNvSpPr/>
          <p:nvPr/>
        </p:nvSpPr>
        <p:spPr>
          <a:xfrm>
            <a:off x="6654452" y="3487741"/>
            <a:ext cx="2332949" cy="1170861"/>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panose="020B0604030504040204" pitchFamily="34" charset="-128"/>
                <a:ea typeface="Meiryo" panose="020B0604030504040204" pitchFamily="34" charset="-128"/>
              </a:rPr>
              <a:t>DTLS</a:t>
            </a:r>
            <a:r>
              <a:rPr lang="ja-JP" altLang="en-US">
                <a:solidFill>
                  <a:schemeClr val="tx1"/>
                </a:solidFill>
                <a:latin typeface="Meiryo" panose="020B0604030504040204" pitchFamily="34" charset="-128"/>
                <a:ea typeface="Meiryo" panose="020B0604030504040204" pitchFamily="34" charset="-128"/>
              </a:rPr>
              <a:t>解読</a:t>
            </a:r>
            <a:r>
              <a:rPr lang="en-US" altLang="ja-JP" dirty="0">
                <a:solidFill>
                  <a:schemeClr val="tx1"/>
                </a:solidFill>
                <a:latin typeface="Meiryo" panose="020B0604030504040204" pitchFamily="34" charset="-128"/>
                <a:ea typeface="Meiryo" panose="020B0604030504040204" pitchFamily="34" charset="-128"/>
              </a:rPr>
              <a:t>{"</a:t>
            </a:r>
            <a:r>
              <a:rPr lang="en-US" dirty="0">
                <a:solidFill>
                  <a:schemeClr val="tx1"/>
                </a:solidFill>
                <a:latin typeface="Meiryo" panose="020B0604030504040204" pitchFamily="34" charset="-128"/>
                <a:ea typeface="Meiryo" panose="020B0604030504040204" pitchFamily="34" charset="-128"/>
              </a:rPr>
              <a:t>temp":23.5}session key</a:t>
            </a:r>
            <a:r>
              <a:rPr lang="ja-JP" altLang="en-US">
                <a:solidFill>
                  <a:schemeClr val="tx1"/>
                </a:solidFill>
                <a:latin typeface="Meiryo" panose="020B0604030504040204" pitchFamily="34" charset="-128"/>
                <a:ea typeface="Meiryo" panose="020B0604030504040204" pitchFamily="34" charset="-128"/>
              </a:rPr>
              <a:t>で</a:t>
            </a:r>
            <a:endParaRPr lang="en-US" sz="1800" dirty="0">
              <a:solidFill>
                <a:schemeClr val="tx1"/>
              </a:solidFill>
              <a:latin typeface="Meiryo" panose="020B0604030504040204" pitchFamily="34" charset="-128"/>
              <a:ea typeface="Meiryo" panose="020B0604030504040204" pitchFamily="34" charset="-128"/>
            </a:endParaRPr>
          </a:p>
        </p:txBody>
      </p:sp>
      <p:sp>
        <p:nvSpPr>
          <p:cNvPr id="28" name="Up-Down Arrow 27">
            <a:extLst>
              <a:ext uri="{FF2B5EF4-FFF2-40B4-BE49-F238E27FC236}">
                <a16:creationId xmlns:a16="http://schemas.microsoft.com/office/drawing/2014/main" id="{FCFCA15A-3BD4-AF39-7CA7-FCAA7B13DB01}"/>
              </a:ext>
            </a:extLst>
          </p:cNvPr>
          <p:cNvSpPr/>
          <p:nvPr/>
        </p:nvSpPr>
        <p:spPr>
          <a:xfrm rot="5400000">
            <a:off x="2762177" y="942012"/>
            <a:ext cx="235320" cy="423759"/>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9" name="Up-Down Arrow 28">
            <a:extLst>
              <a:ext uri="{FF2B5EF4-FFF2-40B4-BE49-F238E27FC236}">
                <a16:creationId xmlns:a16="http://schemas.microsoft.com/office/drawing/2014/main" id="{5BBD47BE-1AAF-3B48-AC4F-5EA6E1AB345E}"/>
              </a:ext>
            </a:extLst>
          </p:cNvPr>
          <p:cNvSpPr/>
          <p:nvPr/>
        </p:nvSpPr>
        <p:spPr>
          <a:xfrm rot="5400000">
            <a:off x="6229361" y="991656"/>
            <a:ext cx="235320" cy="423759"/>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cxnSp>
        <p:nvCxnSpPr>
          <p:cNvPr id="31" name="Straight Arrow Connector 30">
            <a:extLst>
              <a:ext uri="{FF2B5EF4-FFF2-40B4-BE49-F238E27FC236}">
                <a16:creationId xmlns:a16="http://schemas.microsoft.com/office/drawing/2014/main" id="{EB0175F5-209E-6731-8FA9-80C5C6CC730F}"/>
              </a:ext>
            </a:extLst>
          </p:cNvPr>
          <p:cNvCxnSpPr>
            <a:cxnSpLocks/>
          </p:cNvCxnSpPr>
          <p:nvPr/>
        </p:nvCxnSpPr>
        <p:spPr>
          <a:xfrm flipV="1">
            <a:off x="2613230" y="2759658"/>
            <a:ext cx="355853" cy="10477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F0721971-2C21-C503-3E12-D6D4E4DF8E18}"/>
              </a:ext>
            </a:extLst>
          </p:cNvPr>
          <p:cNvCxnSpPr>
            <a:cxnSpLocks/>
          </p:cNvCxnSpPr>
          <p:nvPr/>
        </p:nvCxnSpPr>
        <p:spPr>
          <a:xfrm flipV="1">
            <a:off x="2665988" y="3840768"/>
            <a:ext cx="294723" cy="150424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39" name="Rounded Rectangle 38">
            <a:extLst>
              <a:ext uri="{FF2B5EF4-FFF2-40B4-BE49-F238E27FC236}">
                <a16:creationId xmlns:a16="http://schemas.microsoft.com/office/drawing/2014/main" id="{547A1DFA-D11D-1DF5-AACB-08272EF2C370}"/>
              </a:ext>
            </a:extLst>
          </p:cNvPr>
          <p:cNvSpPr/>
          <p:nvPr/>
        </p:nvSpPr>
        <p:spPr>
          <a:xfrm>
            <a:off x="7046580" y="5348018"/>
            <a:ext cx="1310473" cy="966585"/>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000" b="1" i="0" dirty="0">
                <a:solidFill>
                  <a:schemeClr val="tx1"/>
                </a:solidFill>
                <a:effectLst/>
                <a:latin typeface="Meiryo" panose="020B0604030504040204" pitchFamily="34" charset="-128"/>
                <a:ea typeface="Meiryo" panose="020B0604030504040204" pitchFamily="34" charset="-128"/>
              </a:rPr>
              <a:t>   </a:t>
            </a:r>
            <a:r>
              <a:rPr lang="en-US" sz="2000" dirty="0">
                <a:solidFill>
                  <a:schemeClr val="tx1"/>
                </a:solidFill>
              </a:rPr>
              <a:t>eth0 </a:t>
            </a:r>
            <a:r>
              <a:rPr lang="ja-JP" altLang="en-US" sz="2000">
                <a:solidFill>
                  <a:schemeClr val="tx1"/>
                </a:solidFill>
              </a:rPr>
              <a:t>転送</a:t>
            </a:r>
            <a:r>
              <a:rPr lang="en-US" sz="2000" dirty="0">
                <a:solidFill>
                  <a:schemeClr val="tx1"/>
                </a:solidFill>
              </a:rPr>
              <a:t>Cloud </a:t>
            </a:r>
            <a:r>
              <a:rPr lang="ja-JP" altLang="en-US" sz="2000">
                <a:solidFill>
                  <a:schemeClr val="tx1"/>
                </a:solidFill>
              </a:rPr>
              <a:t>へ</a:t>
            </a:r>
            <a:endParaRPr lang="en-JP" sz="2000" b="1" dirty="0">
              <a:solidFill>
                <a:schemeClr val="tx1"/>
              </a:solidFill>
              <a:latin typeface="Meiryo" panose="020B0604030504040204" pitchFamily="34" charset="-128"/>
              <a:ea typeface="Meiryo" panose="020B0604030504040204" pitchFamily="34" charset="-128"/>
            </a:endParaRPr>
          </a:p>
        </p:txBody>
      </p:sp>
      <p:cxnSp>
        <p:nvCxnSpPr>
          <p:cNvPr id="40" name="Elbow Connector 39">
            <a:extLst>
              <a:ext uri="{FF2B5EF4-FFF2-40B4-BE49-F238E27FC236}">
                <a16:creationId xmlns:a16="http://schemas.microsoft.com/office/drawing/2014/main" id="{D7AF49B7-DC7C-DADA-FBC0-CC8FBD5DF178}"/>
              </a:ext>
            </a:extLst>
          </p:cNvPr>
          <p:cNvCxnSpPr>
            <a:cxnSpLocks/>
          </p:cNvCxnSpPr>
          <p:nvPr/>
        </p:nvCxnSpPr>
        <p:spPr>
          <a:xfrm flipV="1">
            <a:off x="6373831" y="5476184"/>
            <a:ext cx="672749" cy="285074"/>
          </a:xfrm>
          <a:prstGeom prst="bentConnector3">
            <a:avLst>
              <a:gd name="adj1" fmla="val 50000"/>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1" name="Shape 0">
            <a:extLst>
              <a:ext uri="{FF2B5EF4-FFF2-40B4-BE49-F238E27FC236}">
                <a16:creationId xmlns:a16="http://schemas.microsoft.com/office/drawing/2014/main" id="{31058EAF-B32D-6C68-D5E7-E3DFF8D730A4}"/>
              </a:ext>
            </a:extLst>
          </p:cNvPr>
          <p:cNvSpPr/>
          <p:nvPr/>
        </p:nvSpPr>
        <p:spPr>
          <a:xfrm>
            <a:off x="0" y="22211"/>
            <a:ext cx="9144000" cy="481404"/>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a:r>
              <a:rPr lang="ja-JP" altLang="en-US" sz="2400" b="1" i="0">
                <a:solidFill>
                  <a:srgbClr val="000000"/>
                </a:solidFill>
                <a:effectLst/>
                <a:latin typeface="Meiryo" panose="020B0604030504040204" pitchFamily="34" charset="-128"/>
                <a:ea typeface="Meiryo" panose="020B0604030504040204" pitchFamily="34" charset="-128"/>
              </a:rPr>
              <a:t>提案アーキテクチャ </a:t>
            </a:r>
            <a:r>
              <a:rPr lang="en-US" altLang="ja-JP" sz="2400" b="1" i="0" dirty="0">
                <a:solidFill>
                  <a:srgbClr val="000000"/>
                </a:solidFill>
                <a:effectLst/>
                <a:latin typeface="Meiryo" panose="020B0604030504040204" pitchFamily="34" charset="-128"/>
                <a:ea typeface="Meiryo" panose="020B0604030504040204" pitchFamily="34" charset="-128"/>
              </a:rPr>
              <a:t>—</a:t>
            </a:r>
            <a:r>
              <a:rPr lang="ja-JP" altLang="en-US" sz="2400" b="1" i="0">
                <a:effectLst/>
                <a:latin typeface="Meiryo" panose="020B0604030504040204" pitchFamily="34" charset="-128"/>
                <a:ea typeface="Meiryo" panose="020B0604030504040204" pitchFamily="34" charset="-128"/>
                <a:cs typeface="Times New Roman" panose="02020603050405020304" pitchFamily="18" charset="0"/>
              </a:rPr>
              <a:t>透過型</a:t>
            </a:r>
            <a:r>
              <a:rPr lang="en-US" sz="2400" b="1" i="0" dirty="0">
                <a:effectLst/>
                <a:latin typeface="Meiryo" panose="020B0604030504040204" pitchFamily="34" charset="-128"/>
                <a:ea typeface="Meiryo" panose="020B0604030504040204" pitchFamily="34" charset="-128"/>
                <a:cs typeface="Times New Roman" panose="02020603050405020304" pitchFamily="18" charset="0"/>
              </a:rPr>
              <a:t>I</a:t>
            </a:r>
            <a:r>
              <a:rPr lang="en-US" sz="2400" b="1" dirty="0">
                <a:latin typeface="Meiryo" panose="020B0604030504040204" pitchFamily="34" charset="-128"/>
                <a:ea typeface="Meiryo" panose="020B0604030504040204" pitchFamily="34" charset="-128"/>
                <a:cs typeface="Times New Roman" panose="02020603050405020304" pitchFamily="18" charset="0"/>
              </a:rPr>
              <a:t>D</a:t>
            </a:r>
            <a:r>
              <a:rPr lang="en-US" sz="2400" b="1" i="0" dirty="0">
                <a:effectLst/>
                <a:latin typeface="Meiryo" panose="020B0604030504040204" pitchFamily="34" charset="-128"/>
                <a:ea typeface="Meiryo" panose="020B0604030504040204" pitchFamily="34" charset="-128"/>
                <a:cs typeface="Times New Roman" panose="02020603050405020304" pitchFamily="18" charset="0"/>
              </a:rPr>
              <a:t>S </a:t>
            </a:r>
            <a:endParaRPr lang="en-JP" sz="2400" b="1" dirty="0">
              <a:latin typeface="Meiryo" panose="020B0604030504040204" pitchFamily="34" charset="-128"/>
              <a:ea typeface="Meiryo" panose="020B0604030504040204" pitchFamily="34" charset="-128"/>
            </a:endParaRPr>
          </a:p>
        </p:txBody>
      </p:sp>
      <p:sp>
        <p:nvSpPr>
          <p:cNvPr id="27" name="Up-Down Arrow 26">
            <a:extLst>
              <a:ext uri="{FF2B5EF4-FFF2-40B4-BE49-F238E27FC236}">
                <a16:creationId xmlns:a16="http://schemas.microsoft.com/office/drawing/2014/main" id="{F923CCDD-E9A4-365B-9ABE-E6DA2EC8A154}"/>
              </a:ext>
            </a:extLst>
          </p:cNvPr>
          <p:cNvSpPr/>
          <p:nvPr/>
        </p:nvSpPr>
        <p:spPr>
          <a:xfrm rot="10800000">
            <a:off x="7646099" y="2002887"/>
            <a:ext cx="265140" cy="397553"/>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23456796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4F07EAA-D0BE-A078-C5CB-5AE29375FF92}"/>
              </a:ext>
            </a:extLst>
          </p:cNvPr>
          <p:cNvSpPr>
            <a:spLocks noGrp="1"/>
          </p:cNvSpPr>
          <p:nvPr>
            <p:ph type="sldNum" sz="quarter" idx="12"/>
          </p:nvPr>
        </p:nvSpPr>
        <p:spPr/>
        <p:txBody>
          <a:bodyPr/>
          <a:lstStyle/>
          <a:p>
            <a:fld id="{828F3BD4-1AF2-D144-8129-4D42AD448F5E}" type="slidenum">
              <a:rPr lang="en-JP" smtClean="0"/>
              <a:pPr/>
              <a:t>33</a:t>
            </a:fld>
            <a:endParaRPr lang="en-JP" dirty="0"/>
          </a:p>
        </p:txBody>
      </p:sp>
      <p:sp>
        <p:nvSpPr>
          <p:cNvPr id="6" name="Shape 0">
            <a:extLst>
              <a:ext uri="{FF2B5EF4-FFF2-40B4-BE49-F238E27FC236}">
                <a16:creationId xmlns:a16="http://schemas.microsoft.com/office/drawing/2014/main" id="{D4A34447-448A-8003-200A-A22B72018052}"/>
              </a:ext>
            </a:extLst>
          </p:cNvPr>
          <p:cNvSpPr/>
          <p:nvPr/>
        </p:nvSpPr>
        <p:spPr>
          <a:xfrm>
            <a:off x="0" y="22211"/>
            <a:ext cx="9144000" cy="481404"/>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a:r>
              <a:rPr lang="ja-JP" altLang="en-US" sz="2400" b="1" i="0">
                <a:solidFill>
                  <a:srgbClr val="000000"/>
                </a:solidFill>
                <a:effectLst/>
                <a:latin typeface="Meiryo" panose="020B0604030504040204" pitchFamily="34" charset="-128"/>
                <a:ea typeface="Meiryo" panose="020B0604030504040204" pitchFamily="34" charset="-128"/>
              </a:rPr>
              <a:t>特徴量（</a:t>
            </a:r>
            <a:r>
              <a:rPr lang="en-US" altLang="ja-JP" sz="2400" b="1" i="0" dirty="0">
                <a:solidFill>
                  <a:srgbClr val="000000"/>
                </a:solidFill>
                <a:effectLst/>
                <a:latin typeface="Meiryo" panose="020B0604030504040204" pitchFamily="34" charset="-128"/>
                <a:ea typeface="Meiryo" panose="020B0604030504040204" pitchFamily="34" charset="-128"/>
              </a:rPr>
              <a:t>Feature</a:t>
            </a:r>
            <a:r>
              <a:rPr lang="ja-JP" altLang="en-US" sz="2400" b="1" i="0">
                <a:solidFill>
                  <a:srgbClr val="000000"/>
                </a:solidFill>
                <a:effectLst/>
                <a:latin typeface="Meiryo" panose="020B0604030504040204" pitchFamily="34" charset="-128"/>
                <a:ea typeface="Meiryo" panose="020B0604030504040204" pitchFamily="34" charset="-128"/>
              </a:rPr>
              <a:t>）</a:t>
            </a:r>
            <a:r>
              <a:rPr lang="en-US" altLang="ja-JP" sz="2400" b="1" i="0" dirty="0">
                <a:solidFill>
                  <a:srgbClr val="000000"/>
                </a:solidFill>
                <a:effectLst/>
                <a:latin typeface="Meiryo" panose="020B0604030504040204" pitchFamily="34" charset="-128"/>
                <a:ea typeface="Meiryo" panose="020B0604030504040204" pitchFamily="34" charset="-128"/>
              </a:rPr>
              <a:t>— ARP Spoofing</a:t>
            </a:r>
            <a:r>
              <a:rPr lang="ja-JP" altLang="en-US" sz="2400" b="1" i="0">
                <a:solidFill>
                  <a:srgbClr val="000000"/>
                </a:solidFill>
                <a:effectLst/>
                <a:latin typeface="Meiryo" panose="020B0604030504040204" pitchFamily="34" charset="-128"/>
                <a:ea typeface="Meiryo" panose="020B0604030504040204" pitchFamily="34" charset="-128"/>
              </a:rPr>
              <a:t>の検知に使用する指標</a:t>
            </a:r>
            <a:endParaRPr lang="en-JP" sz="2400" b="1" dirty="0">
              <a:latin typeface="Meiryo" panose="020B0604030504040204" pitchFamily="34" charset="-128"/>
              <a:ea typeface="Meiryo" panose="020B0604030504040204" pitchFamily="34" charset="-128"/>
            </a:endParaRPr>
          </a:p>
        </p:txBody>
      </p:sp>
      <p:graphicFrame>
        <p:nvGraphicFramePr>
          <p:cNvPr id="7" name="Table 6">
            <a:extLst>
              <a:ext uri="{FF2B5EF4-FFF2-40B4-BE49-F238E27FC236}">
                <a16:creationId xmlns:a16="http://schemas.microsoft.com/office/drawing/2014/main" id="{C1FA3FEE-D3B1-A35C-B077-62F83B3F64F5}"/>
              </a:ext>
            </a:extLst>
          </p:cNvPr>
          <p:cNvGraphicFramePr>
            <a:graphicFrameLocks noGrp="1"/>
          </p:cNvGraphicFramePr>
          <p:nvPr>
            <p:extLst>
              <p:ext uri="{D42A27DB-BD31-4B8C-83A1-F6EECF244321}">
                <p14:modId xmlns:p14="http://schemas.microsoft.com/office/powerpoint/2010/main" val="591179004"/>
              </p:ext>
            </p:extLst>
          </p:nvPr>
        </p:nvGraphicFramePr>
        <p:xfrm>
          <a:off x="142875" y="808334"/>
          <a:ext cx="8858250" cy="5548017"/>
        </p:xfrm>
        <a:graphic>
          <a:graphicData uri="http://schemas.openxmlformats.org/drawingml/2006/table">
            <a:tbl>
              <a:tblPr firstRow="1" firstCol="1" bandRow="1">
                <a:tableStyleId>{5C22544A-7EE6-4342-B048-85BDC9FD1C3A}</a:tableStyleId>
              </a:tblPr>
              <a:tblGrid>
                <a:gridCol w="691515">
                  <a:extLst>
                    <a:ext uri="{9D8B030D-6E8A-4147-A177-3AD203B41FA5}">
                      <a16:colId xmlns:a16="http://schemas.microsoft.com/office/drawing/2014/main" val="3666543715"/>
                    </a:ext>
                  </a:extLst>
                </a:gridCol>
                <a:gridCol w="1874520">
                  <a:extLst>
                    <a:ext uri="{9D8B030D-6E8A-4147-A177-3AD203B41FA5}">
                      <a16:colId xmlns:a16="http://schemas.microsoft.com/office/drawing/2014/main" val="1394333909"/>
                    </a:ext>
                  </a:extLst>
                </a:gridCol>
                <a:gridCol w="2748915">
                  <a:extLst>
                    <a:ext uri="{9D8B030D-6E8A-4147-A177-3AD203B41FA5}">
                      <a16:colId xmlns:a16="http://schemas.microsoft.com/office/drawing/2014/main" val="1475884943"/>
                    </a:ext>
                  </a:extLst>
                </a:gridCol>
                <a:gridCol w="1771650">
                  <a:extLst>
                    <a:ext uri="{9D8B030D-6E8A-4147-A177-3AD203B41FA5}">
                      <a16:colId xmlns:a16="http://schemas.microsoft.com/office/drawing/2014/main" val="2074187728"/>
                    </a:ext>
                  </a:extLst>
                </a:gridCol>
                <a:gridCol w="1771650">
                  <a:extLst>
                    <a:ext uri="{9D8B030D-6E8A-4147-A177-3AD203B41FA5}">
                      <a16:colId xmlns:a16="http://schemas.microsoft.com/office/drawing/2014/main" val="3880416678"/>
                    </a:ext>
                  </a:extLst>
                </a:gridCol>
              </a:tblGrid>
              <a:tr h="526962">
                <a:tc>
                  <a:txBody>
                    <a:bodyPr/>
                    <a:lstStyle/>
                    <a:p>
                      <a:pPr algn="ctr"/>
                      <a:r>
                        <a:rPr lang="mn-MN" sz="2000" kern="0" dirty="0">
                          <a:effectLst/>
                          <a:latin typeface="Meiryo" panose="020B0604030504040204" pitchFamily="34" charset="-128"/>
                          <a:ea typeface="Meiryo" panose="020B0604030504040204" pitchFamily="34" charset="-128"/>
                          <a:cs typeface="Times New Roman" panose="02020603050405020304" pitchFamily="18" charset="0"/>
                        </a:rPr>
                        <a:t>N</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0">
                          <a:effectLst/>
                          <a:latin typeface="Meiryo" panose="020B0604030504040204" pitchFamily="34" charset="-128"/>
                          <a:ea typeface="Meiryo" panose="020B0604030504040204" pitchFamily="34" charset="-128"/>
                        </a:rPr>
                        <a:t>名称</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0">
                          <a:effectLst/>
                          <a:latin typeface="Meiryo" panose="020B0604030504040204" pitchFamily="34" charset="-128"/>
                          <a:ea typeface="Meiryo" panose="020B0604030504040204" pitchFamily="34" charset="-128"/>
                        </a:rPr>
                        <a:t>何を測定するか</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0">
                          <a:effectLst/>
                          <a:latin typeface="Meiryo" panose="020B0604030504040204" pitchFamily="34" charset="-128"/>
                          <a:ea typeface="Meiryo" panose="020B0604030504040204" pitchFamily="34" charset="-128"/>
                        </a:rPr>
                        <a:t>正常時</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0">
                          <a:effectLst/>
                          <a:latin typeface="Meiryo" panose="020B0604030504040204" pitchFamily="34" charset="-128"/>
                          <a:ea typeface="Meiryo" panose="020B0604030504040204" pitchFamily="34" charset="-128"/>
                        </a:rPr>
                        <a:t>攻撃時</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806076490"/>
                  </a:ext>
                </a:extLst>
              </a:tr>
              <a:tr h="1004211">
                <a:tc>
                  <a:txBody>
                    <a:bodyPr/>
                    <a:lstStyle/>
                    <a:p>
                      <a:pPr algn="ctr"/>
                      <a:r>
                        <a:rPr lang="en-JP" sz="2000" kern="0">
                          <a:effectLst/>
                          <a:latin typeface="Meiryo" panose="020B0604030504040204" pitchFamily="34" charset="-128"/>
                          <a:ea typeface="Meiryo" panose="020B0604030504040204" pitchFamily="34" charset="-128"/>
                        </a:rPr>
                        <a:t>1</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dirty="0">
                          <a:effectLst/>
                          <a:latin typeface="Meiryo" panose="020B0604030504040204" pitchFamily="34" charset="-128"/>
                          <a:ea typeface="Meiryo" panose="020B0604030504040204" pitchFamily="34" charset="-128"/>
                        </a:rPr>
                        <a:t>ARP Reply</a:t>
                      </a:r>
                      <a:r>
                        <a:rPr lang="ja-JP" sz="2000" kern="0">
                          <a:effectLst/>
                          <a:latin typeface="Meiryo" panose="020B0604030504040204" pitchFamily="34" charset="-128"/>
                          <a:ea typeface="Meiryo" panose="020B0604030504040204" pitchFamily="34" charset="-128"/>
                        </a:rPr>
                        <a:t>頻度</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a:effectLst/>
                          <a:latin typeface="Meiryo" panose="020B0604030504040204" pitchFamily="34" charset="-128"/>
                          <a:ea typeface="Meiryo" panose="020B0604030504040204" pitchFamily="34" charset="-128"/>
                        </a:rPr>
                        <a:t>60</a:t>
                      </a:r>
                      <a:r>
                        <a:rPr lang="ja-JP" sz="2000" kern="0">
                          <a:effectLst/>
                          <a:latin typeface="Meiryo" panose="020B0604030504040204" pitchFamily="34" charset="-128"/>
                          <a:ea typeface="Meiryo" panose="020B0604030504040204" pitchFamily="34" charset="-128"/>
                        </a:rPr>
                        <a:t>秒間の</a:t>
                      </a:r>
                      <a:r>
                        <a:rPr lang="en-JP" sz="2000" kern="0">
                          <a:effectLst/>
                          <a:latin typeface="Meiryo" panose="020B0604030504040204" pitchFamily="34" charset="-128"/>
                          <a:ea typeface="Meiryo" panose="020B0604030504040204" pitchFamily="34" charset="-128"/>
                        </a:rPr>
                        <a:t>ARP Reply</a:t>
                      </a:r>
                      <a:r>
                        <a:rPr lang="ja-JP" sz="2000" kern="0">
                          <a:effectLst/>
                          <a:latin typeface="Meiryo" panose="020B0604030504040204" pitchFamily="34" charset="-128"/>
                          <a:ea typeface="Meiryo" panose="020B0604030504040204" pitchFamily="34" charset="-128"/>
                        </a:rPr>
                        <a:t>発生回数</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a:effectLst/>
                          <a:latin typeface="Meiryo" panose="020B0604030504040204" pitchFamily="34" charset="-128"/>
                          <a:ea typeface="Meiryo" panose="020B0604030504040204" pitchFamily="34" charset="-128"/>
                        </a:rPr>
                        <a:t>3</a:t>
                      </a:r>
                      <a:r>
                        <a:rPr lang="ja-JP" sz="2000" kern="0">
                          <a:effectLst/>
                          <a:latin typeface="Meiryo" panose="020B0604030504040204" pitchFamily="34" charset="-128"/>
                          <a:ea typeface="Meiryo" panose="020B0604030504040204" pitchFamily="34" charset="-128"/>
                        </a:rPr>
                        <a:t>〜</a:t>
                      </a:r>
                      <a:r>
                        <a:rPr lang="en-JP" sz="2000" kern="0">
                          <a:effectLst/>
                          <a:latin typeface="Meiryo" panose="020B0604030504040204" pitchFamily="34" charset="-128"/>
                          <a:ea typeface="Meiryo" panose="020B0604030504040204" pitchFamily="34" charset="-128"/>
                        </a:rPr>
                        <a:t>5</a:t>
                      </a:r>
                      <a:r>
                        <a:rPr lang="ja-JP" sz="2000" kern="0">
                          <a:effectLst/>
                          <a:latin typeface="Meiryo" panose="020B0604030504040204" pitchFamily="34" charset="-128"/>
                          <a:ea typeface="Meiryo" panose="020B0604030504040204" pitchFamily="34" charset="-128"/>
                        </a:rPr>
                        <a:t>回</a:t>
                      </a:r>
                      <a:r>
                        <a:rPr lang="en-JP" sz="2000" kern="0">
                          <a:effectLst/>
                          <a:latin typeface="Meiryo" panose="020B0604030504040204" pitchFamily="34" charset="-128"/>
                          <a:ea typeface="Meiryo" panose="020B0604030504040204" pitchFamily="34" charset="-128"/>
                        </a:rPr>
                        <a:t>/60</a:t>
                      </a:r>
                      <a:r>
                        <a:rPr lang="ja-JP" sz="2000" kern="0">
                          <a:effectLst/>
                          <a:latin typeface="Meiryo" panose="020B0604030504040204" pitchFamily="34" charset="-128"/>
                          <a:ea typeface="Meiryo" panose="020B0604030504040204" pitchFamily="34" charset="-128"/>
                        </a:rPr>
                        <a:t>秒</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a:effectLst/>
                          <a:latin typeface="Meiryo" panose="020B0604030504040204" pitchFamily="34" charset="-128"/>
                          <a:ea typeface="Meiryo" panose="020B0604030504040204" pitchFamily="34" charset="-128"/>
                        </a:rPr>
                        <a:t>30</a:t>
                      </a:r>
                      <a:r>
                        <a:rPr lang="ja-JP" sz="2000" kern="0">
                          <a:effectLst/>
                          <a:latin typeface="Meiryo" panose="020B0604030504040204" pitchFamily="34" charset="-128"/>
                          <a:ea typeface="Meiryo" panose="020B0604030504040204" pitchFamily="34" charset="-128"/>
                        </a:rPr>
                        <a:t>〜</a:t>
                      </a:r>
                      <a:r>
                        <a:rPr lang="en-JP" sz="2000" kern="0">
                          <a:effectLst/>
                          <a:latin typeface="Meiryo" panose="020B0604030504040204" pitchFamily="34" charset="-128"/>
                          <a:ea typeface="Meiryo" panose="020B0604030504040204" pitchFamily="34" charset="-128"/>
                        </a:rPr>
                        <a:t>50</a:t>
                      </a:r>
                      <a:r>
                        <a:rPr lang="ja-JP" sz="2000" kern="0">
                          <a:effectLst/>
                          <a:latin typeface="Meiryo" panose="020B0604030504040204" pitchFamily="34" charset="-128"/>
                          <a:ea typeface="Meiryo" panose="020B0604030504040204" pitchFamily="34" charset="-128"/>
                        </a:rPr>
                        <a:t>回</a:t>
                      </a:r>
                      <a:r>
                        <a:rPr lang="en-JP" sz="2000" kern="0">
                          <a:effectLst/>
                          <a:latin typeface="Meiryo" panose="020B0604030504040204" pitchFamily="34" charset="-128"/>
                          <a:ea typeface="Meiryo" panose="020B0604030504040204" pitchFamily="34" charset="-128"/>
                        </a:rPr>
                        <a:t>/60</a:t>
                      </a:r>
                      <a:r>
                        <a:rPr lang="ja-JP" sz="2000" kern="0">
                          <a:effectLst/>
                          <a:latin typeface="Meiryo" panose="020B0604030504040204" pitchFamily="34" charset="-128"/>
                          <a:ea typeface="Meiryo" panose="020B0604030504040204" pitchFamily="34" charset="-128"/>
                        </a:rPr>
                        <a:t>秒</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861526292"/>
                  </a:ext>
                </a:extLst>
              </a:tr>
              <a:tr h="1004211">
                <a:tc>
                  <a:txBody>
                    <a:bodyPr/>
                    <a:lstStyle/>
                    <a:p>
                      <a:pPr algn="ctr"/>
                      <a:r>
                        <a:rPr lang="en-JP" sz="2000" kern="0">
                          <a:effectLst/>
                          <a:latin typeface="Meiryo" panose="020B0604030504040204" pitchFamily="34" charset="-128"/>
                          <a:ea typeface="Meiryo" panose="020B0604030504040204" pitchFamily="34" charset="-128"/>
                        </a:rPr>
                        <a:t>2</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dirty="0">
                          <a:effectLst/>
                          <a:latin typeface="Meiryo" panose="020B0604030504040204" pitchFamily="34" charset="-128"/>
                          <a:ea typeface="Meiryo" panose="020B0604030504040204" pitchFamily="34" charset="-128"/>
                        </a:rPr>
                        <a:t>Gratuitous ARP</a:t>
                      </a:r>
                      <a:r>
                        <a:rPr lang="ja-JP" sz="2000" kern="0">
                          <a:effectLst/>
                          <a:latin typeface="Meiryo" panose="020B0604030504040204" pitchFamily="34" charset="-128"/>
                          <a:ea typeface="Meiryo" panose="020B0604030504040204" pitchFamily="34" charset="-128"/>
                        </a:rPr>
                        <a:t>数</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2000" kern="0">
                          <a:effectLst/>
                          <a:latin typeface="Meiryo" panose="020B0604030504040204" pitchFamily="34" charset="-128"/>
                          <a:ea typeface="Meiryo" panose="020B0604030504040204" pitchFamily="34" charset="-128"/>
                        </a:rPr>
                        <a:t>要求なしに送信された</a:t>
                      </a:r>
                      <a:r>
                        <a:rPr lang="en-JP" sz="2000" kern="0">
                          <a:effectLst/>
                          <a:latin typeface="Meiryo" panose="020B0604030504040204" pitchFamily="34" charset="-128"/>
                          <a:ea typeface="Meiryo" panose="020B0604030504040204" pitchFamily="34" charset="-128"/>
                        </a:rPr>
                        <a:t>ARP Reply</a:t>
                      </a:r>
                      <a:r>
                        <a:rPr lang="ja-JP" sz="2000" kern="0">
                          <a:effectLst/>
                          <a:latin typeface="Meiryo" panose="020B0604030504040204" pitchFamily="34" charset="-128"/>
                          <a:ea typeface="Meiryo" panose="020B0604030504040204" pitchFamily="34" charset="-128"/>
                        </a:rPr>
                        <a:t>数</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a:effectLst/>
                          <a:latin typeface="Meiryo" panose="020B0604030504040204" pitchFamily="34" charset="-128"/>
                          <a:ea typeface="Meiryo" panose="020B0604030504040204" pitchFamily="34" charset="-128"/>
                        </a:rPr>
                        <a:t>0</a:t>
                      </a:r>
                      <a:r>
                        <a:rPr lang="ja-JP" sz="2000" kern="0">
                          <a:effectLst/>
                          <a:latin typeface="Meiryo" panose="020B0604030504040204" pitchFamily="34" charset="-128"/>
                          <a:ea typeface="Meiryo" panose="020B0604030504040204" pitchFamily="34" charset="-128"/>
                        </a:rPr>
                        <a:t>〜</a:t>
                      </a:r>
                      <a:r>
                        <a:rPr lang="en-JP" sz="2000" kern="0">
                          <a:effectLst/>
                          <a:latin typeface="Meiryo" panose="020B0604030504040204" pitchFamily="34" charset="-128"/>
                          <a:ea typeface="Meiryo" panose="020B0604030504040204" pitchFamily="34" charset="-128"/>
                        </a:rPr>
                        <a:t>1</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a:effectLst/>
                          <a:latin typeface="Meiryo" panose="020B0604030504040204" pitchFamily="34" charset="-128"/>
                          <a:ea typeface="Meiryo" panose="020B0604030504040204" pitchFamily="34" charset="-128"/>
                        </a:rPr>
                        <a:t>20</a:t>
                      </a:r>
                      <a:r>
                        <a:rPr lang="ja-JP" sz="2000" kern="0">
                          <a:effectLst/>
                          <a:latin typeface="Meiryo" panose="020B0604030504040204" pitchFamily="34" charset="-128"/>
                          <a:ea typeface="Meiryo" panose="020B0604030504040204" pitchFamily="34" charset="-128"/>
                        </a:rPr>
                        <a:t>〜</a:t>
                      </a:r>
                      <a:r>
                        <a:rPr lang="en-JP" sz="2000" kern="0">
                          <a:effectLst/>
                          <a:latin typeface="Meiryo" panose="020B0604030504040204" pitchFamily="34" charset="-128"/>
                          <a:ea typeface="Meiryo" panose="020B0604030504040204" pitchFamily="34" charset="-128"/>
                        </a:rPr>
                        <a:t>30</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642687551"/>
                  </a:ext>
                </a:extLst>
              </a:tr>
              <a:tr h="1004211">
                <a:tc>
                  <a:txBody>
                    <a:bodyPr/>
                    <a:lstStyle/>
                    <a:p>
                      <a:pPr algn="ctr"/>
                      <a:r>
                        <a:rPr lang="en-JP" sz="2000" kern="0">
                          <a:effectLst/>
                          <a:latin typeface="Meiryo" panose="020B0604030504040204" pitchFamily="34" charset="-128"/>
                          <a:ea typeface="Meiryo" panose="020B0604030504040204" pitchFamily="34" charset="-128"/>
                        </a:rPr>
                        <a:t>3</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a:effectLst/>
                          <a:latin typeface="Meiryo" panose="020B0604030504040204" pitchFamily="34" charset="-128"/>
                          <a:ea typeface="Meiryo" panose="020B0604030504040204" pitchFamily="34" charset="-128"/>
                        </a:rPr>
                        <a:t>IP⇔MAC</a:t>
                      </a:r>
                      <a:r>
                        <a:rPr lang="ja-JP" sz="2000" kern="0">
                          <a:effectLst/>
                          <a:latin typeface="Meiryo" panose="020B0604030504040204" pitchFamily="34" charset="-128"/>
                          <a:ea typeface="Meiryo" panose="020B0604030504040204" pitchFamily="34" charset="-128"/>
                        </a:rPr>
                        <a:t>不整合</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ja-JP" sz="2000" kern="0">
                          <a:effectLst/>
                          <a:latin typeface="Meiryo" panose="020B0604030504040204" pitchFamily="34" charset="-128"/>
                          <a:ea typeface="Meiryo" panose="020B0604030504040204" pitchFamily="34" charset="-128"/>
                        </a:rPr>
                        <a:t>キャッシュと異なる</a:t>
                      </a:r>
                      <a:r>
                        <a:rPr lang="en-JP" sz="2000" kern="0">
                          <a:effectLst/>
                          <a:latin typeface="Meiryo" panose="020B0604030504040204" pitchFamily="34" charset="-128"/>
                          <a:ea typeface="Meiryo" panose="020B0604030504040204" pitchFamily="34" charset="-128"/>
                        </a:rPr>
                        <a:t>MAC</a:t>
                      </a:r>
                      <a:r>
                        <a:rPr lang="ja-JP" sz="2000" kern="0">
                          <a:effectLst/>
                          <a:latin typeface="Meiryo" panose="020B0604030504040204" pitchFamily="34" charset="-128"/>
                          <a:ea typeface="Meiryo" panose="020B0604030504040204" pitchFamily="34" charset="-128"/>
                        </a:rPr>
                        <a:t>出現回数</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0">
                          <a:effectLst/>
                          <a:latin typeface="Meiryo" panose="020B0604030504040204" pitchFamily="34" charset="-128"/>
                          <a:ea typeface="Meiryo" panose="020B0604030504040204" pitchFamily="34" charset="-128"/>
                        </a:rPr>
                        <a:t>変化なし</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a:effectLst/>
                          <a:latin typeface="Meiryo" panose="020B0604030504040204" pitchFamily="34" charset="-128"/>
                          <a:ea typeface="Meiryo" panose="020B0604030504040204" pitchFamily="34" charset="-128"/>
                        </a:rPr>
                        <a:t>MAC</a:t>
                      </a:r>
                      <a:r>
                        <a:rPr lang="ja-JP" sz="2000" kern="0">
                          <a:effectLst/>
                          <a:latin typeface="Meiryo" panose="020B0604030504040204" pitchFamily="34" charset="-128"/>
                          <a:ea typeface="Meiryo" panose="020B0604030504040204" pitchFamily="34" charset="-128"/>
                        </a:rPr>
                        <a:t>変更あり</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640823334"/>
                  </a:ext>
                </a:extLst>
              </a:tr>
              <a:tr h="1004211">
                <a:tc>
                  <a:txBody>
                    <a:bodyPr/>
                    <a:lstStyle/>
                    <a:p>
                      <a:pPr algn="ctr"/>
                      <a:r>
                        <a:rPr lang="en-JP" sz="2000" kern="0">
                          <a:effectLst/>
                          <a:latin typeface="Meiryo" panose="020B0604030504040204" pitchFamily="34" charset="-128"/>
                          <a:ea typeface="Meiryo" panose="020B0604030504040204" pitchFamily="34" charset="-128"/>
                        </a:rPr>
                        <a:t>4</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a:effectLst/>
                          <a:latin typeface="Meiryo" panose="020B0604030504040204" pitchFamily="34" charset="-128"/>
                          <a:ea typeface="Meiryo" panose="020B0604030504040204" pitchFamily="34" charset="-128"/>
                        </a:rPr>
                        <a:t>Reply/Request</a:t>
                      </a:r>
                      <a:r>
                        <a:rPr lang="ja-JP" sz="2000" kern="0">
                          <a:effectLst/>
                          <a:latin typeface="Meiryo" panose="020B0604030504040204" pitchFamily="34" charset="-128"/>
                          <a:ea typeface="Meiryo" panose="020B0604030504040204" pitchFamily="34" charset="-128"/>
                        </a:rPr>
                        <a:t>比率</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a:effectLst/>
                          <a:latin typeface="Meiryo" panose="020B0604030504040204" pitchFamily="34" charset="-128"/>
                          <a:ea typeface="Meiryo" panose="020B0604030504040204" pitchFamily="34" charset="-128"/>
                        </a:rPr>
                        <a:t>Reply</a:t>
                      </a:r>
                      <a:r>
                        <a:rPr lang="ja-JP" sz="2000" kern="0">
                          <a:effectLst/>
                          <a:latin typeface="Meiryo" panose="020B0604030504040204" pitchFamily="34" charset="-128"/>
                          <a:ea typeface="Meiryo" panose="020B0604030504040204" pitchFamily="34" charset="-128"/>
                        </a:rPr>
                        <a:t>数</a:t>
                      </a:r>
                      <a:r>
                        <a:rPr lang="en-JP" sz="2000" kern="0">
                          <a:effectLst/>
                          <a:latin typeface="Meiryo" panose="020B0604030504040204" pitchFamily="34" charset="-128"/>
                          <a:ea typeface="Meiryo" panose="020B0604030504040204" pitchFamily="34" charset="-128"/>
                        </a:rPr>
                        <a:t> : Request</a:t>
                      </a:r>
                      <a:r>
                        <a:rPr lang="ja-JP" sz="2000" kern="0">
                          <a:effectLst/>
                          <a:latin typeface="Meiryo" panose="020B0604030504040204" pitchFamily="34" charset="-128"/>
                          <a:ea typeface="Meiryo" panose="020B0604030504040204" pitchFamily="34" charset="-128"/>
                        </a:rPr>
                        <a:t>数の比率</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kern="0">
                          <a:effectLst/>
                          <a:latin typeface="Meiryo" panose="020B0604030504040204" pitchFamily="34" charset="-128"/>
                          <a:ea typeface="Meiryo" panose="020B0604030504040204" pitchFamily="34" charset="-128"/>
                        </a:rPr>
                        <a:t>約</a:t>
                      </a:r>
                      <a:r>
                        <a:rPr lang="en-JP" sz="2000" kern="0">
                          <a:effectLst/>
                          <a:latin typeface="Meiryo" panose="020B0604030504040204" pitchFamily="34" charset="-128"/>
                          <a:ea typeface="Meiryo" panose="020B0604030504040204" pitchFamily="34" charset="-128"/>
                        </a:rPr>
                        <a:t>1:1</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a:effectLst/>
                          <a:latin typeface="Meiryo" panose="020B0604030504040204" pitchFamily="34" charset="-128"/>
                          <a:ea typeface="Meiryo" panose="020B0604030504040204" pitchFamily="34" charset="-128"/>
                        </a:rPr>
                        <a:t>5:1</a:t>
                      </a:r>
                      <a:r>
                        <a:rPr lang="ja-JP" sz="2000" kern="0">
                          <a:effectLst/>
                          <a:latin typeface="Meiryo" panose="020B0604030504040204" pitchFamily="34" charset="-128"/>
                          <a:ea typeface="Meiryo" panose="020B0604030504040204" pitchFamily="34" charset="-128"/>
                        </a:rPr>
                        <a:t>〜</a:t>
                      </a:r>
                      <a:r>
                        <a:rPr lang="en-JP" sz="2000" kern="0">
                          <a:effectLst/>
                          <a:latin typeface="Meiryo" panose="020B0604030504040204" pitchFamily="34" charset="-128"/>
                          <a:ea typeface="Meiryo" panose="020B0604030504040204" pitchFamily="34" charset="-128"/>
                        </a:rPr>
                        <a:t>6:1</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990026048"/>
                  </a:ext>
                </a:extLst>
              </a:tr>
              <a:tr h="1004211">
                <a:tc>
                  <a:txBody>
                    <a:bodyPr/>
                    <a:lstStyle/>
                    <a:p>
                      <a:pPr algn="ctr"/>
                      <a:r>
                        <a:rPr lang="en-JP" sz="2000" kern="0" dirty="0">
                          <a:effectLst/>
                          <a:latin typeface="Meiryo" panose="020B0604030504040204" pitchFamily="34" charset="-128"/>
                          <a:ea typeface="Meiryo" panose="020B0604030504040204" pitchFamily="34" charset="-128"/>
                        </a:rPr>
                        <a:t>5</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a:effectLst/>
                          <a:latin typeface="Meiryo" panose="020B0604030504040204" pitchFamily="34" charset="-128"/>
                          <a:ea typeface="Meiryo" panose="020B0604030504040204" pitchFamily="34" charset="-128"/>
                        </a:rPr>
                        <a:t>MAC</a:t>
                      </a:r>
                      <a:r>
                        <a:rPr lang="ja-JP" sz="2000" kern="0">
                          <a:effectLst/>
                          <a:latin typeface="Meiryo" panose="020B0604030504040204" pitchFamily="34" charset="-128"/>
                          <a:ea typeface="Meiryo" panose="020B0604030504040204" pitchFamily="34" charset="-128"/>
                        </a:rPr>
                        <a:t>エントロピー</a:t>
                      </a:r>
                      <a:endParaRPr lang="en-JP" sz="200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r>
                        <a:rPr lang="en-JP" sz="2000" kern="0" dirty="0">
                          <a:effectLst/>
                          <a:latin typeface="Meiryo" panose="020B0604030504040204" pitchFamily="34" charset="-128"/>
                          <a:ea typeface="Meiryo" panose="020B0604030504040204" pitchFamily="34" charset="-128"/>
                        </a:rPr>
                        <a:t>1IP</a:t>
                      </a:r>
                      <a:r>
                        <a:rPr lang="ja-JP" sz="2000" kern="0">
                          <a:effectLst/>
                          <a:latin typeface="Meiryo" panose="020B0604030504040204" pitchFamily="34" charset="-128"/>
                          <a:ea typeface="Meiryo" panose="020B0604030504040204" pitchFamily="34" charset="-128"/>
                        </a:rPr>
                        <a:t>に対応する</a:t>
                      </a:r>
                      <a:r>
                        <a:rPr lang="en-JP" sz="2000" kern="0" dirty="0">
                          <a:effectLst/>
                          <a:latin typeface="Meiryo" panose="020B0604030504040204" pitchFamily="34" charset="-128"/>
                          <a:ea typeface="Meiryo" panose="020B0604030504040204" pitchFamily="34" charset="-128"/>
                        </a:rPr>
                        <a:t>MAC</a:t>
                      </a:r>
                      <a:r>
                        <a:rPr lang="ja-JP" sz="2000" kern="0">
                          <a:effectLst/>
                          <a:latin typeface="Meiryo" panose="020B0604030504040204" pitchFamily="34" charset="-128"/>
                          <a:ea typeface="Meiryo" panose="020B0604030504040204" pitchFamily="34" charset="-128"/>
                        </a:rPr>
                        <a:t>数の分散</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dirty="0">
                          <a:effectLst/>
                          <a:latin typeface="Meiryo" panose="020B0604030504040204" pitchFamily="34" charset="-128"/>
                          <a:ea typeface="Meiryo" panose="020B0604030504040204" pitchFamily="34" charset="-128"/>
                        </a:rPr>
                        <a:t>1.0</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kern="0" dirty="0">
                          <a:effectLst/>
                          <a:latin typeface="Meiryo" panose="020B0604030504040204" pitchFamily="34" charset="-128"/>
                          <a:ea typeface="Meiryo" panose="020B0604030504040204" pitchFamily="34" charset="-128"/>
                        </a:rPr>
                        <a:t>3.0</a:t>
                      </a:r>
                      <a:r>
                        <a:rPr lang="ja-JP" sz="2000" kern="0">
                          <a:effectLst/>
                          <a:latin typeface="Meiryo" panose="020B0604030504040204" pitchFamily="34" charset="-128"/>
                          <a:ea typeface="Meiryo" panose="020B0604030504040204" pitchFamily="34" charset="-128"/>
                        </a:rPr>
                        <a:t>〜</a:t>
                      </a:r>
                      <a:r>
                        <a:rPr lang="en-JP" sz="2000" kern="0" dirty="0">
                          <a:effectLst/>
                          <a:latin typeface="Meiryo" panose="020B0604030504040204" pitchFamily="34" charset="-128"/>
                          <a:ea typeface="Meiryo" panose="020B0604030504040204" pitchFamily="34" charset="-128"/>
                        </a:rPr>
                        <a:t>4.0</a:t>
                      </a:r>
                      <a:endParaRPr lang="en-JP" sz="200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913410987"/>
                  </a:ext>
                </a:extLst>
              </a:tr>
            </a:tbl>
          </a:graphicData>
        </a:graphic>
      </p:graphicFrame>
    </p:spTree>
    <p:extLst>
      <p:ext uri="{BB962C8B-B14F-4D97-AF65-F5344CB8AC3E}">
        <p14:creationId xmlns:p14="http://schemas.microsoft.com/office/powerpoint/2010/main" val="2855358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提案手法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評価手法     </a:t>
            </a:r>
            <a:endParaRPr lang="mn-MN"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34</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25025743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59FCD8A0-D63D-788C-EE59-14CA850726AF}"/>
              </a:ext>
            </a:extLst>
          </p:cNvPr>
          <p:cNvSpPr/>
          <p:nvPr/>
        </p:nvSpPr>
        <p:spPr>
          <a:xfrm>
            <a:off x="0" y="0"/>
            <a:ext cx="9144000" cy="457200"/>
          </a:xfrm>
          <a:prstGeom prst="rect">
            <a:avLst/>
          </a:prstGeom>
          <a:solidFill>
            <a:schemeClr val="tx2">
              <a:lumMod val="20000"/>
              <a:lumOff val="80000"/>
            </a:schemeClr>
          </a:solidFill>
          <a:ln w="12700">
            <a:solidFill>
              <a:srgbClr val="1E3A5F"/>
            </a:solidFill>
            <a:prstDash val="solid"/>
          </a:ln>
        </p:spPr>
        <p:txBody>
          <a:bodyPr/>
          <a:lstStyle/>
          <a:p>
            <a:pPr marL="457200" indent="-457200">
              <a:buFont typeface="Wingdings" pitchFamily="2" charset="2"/>
              <a:buChar char="Ø"/>
            </a:pPr>
            <a:r>
              <a:rPr lang="mn-MN" sz="2800" b="1" dirty="0">
                <a:latin typeface="Meiryo" panose="020B0604030504040204" pitchFamily="34" charset="-128"/>
                <a:ea typeface="Meiryo" panose="020B0604030504040204" pitchFamily="34" charset="-128"/>
                <a:cs typeface="Calibri" pitchFamily="34" charset="-120"/>
              </a:rPr>
              <a:t>  </a:t>
            </a:r>
            <a:r>
              <a:rPr lang="en-US" sz="2800" b="1" dirty="0" err="1">
                <a:latin typeface="Meiryo" panose="020B0604030504040204" pitchFamily="34" charset="-128"/>
                <a:ea typeface="Meiryo" panose="020B0604030504040204" pitchFamily="34" charset="-128"/>
                <a:cs typeface="Calibri" pitchFamily="34" charset="-120"/>
              </a:rPr>
              <a:t>実験環境</a:t>
            </a:r>
            <a:endParaRPr lang="en-US" sz="28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8F733132-32C6-3362-503A-17D27E3E7695}"/>
              </a:ext>
            </a:extLst>
          </p:cNvPr>
          <p:cNvSpPr txBox="1"/>
          <p:nvPr/>
        </p:nvSpPr>
        <p:spPr>
          <a:xfrm>
            <a:off x="115728" y="136524"/>
            <a:ext cx="7957117" cy="6740307"/>
          </a:xfrm>
          <a:prstGeom prst="rect">
            <a:avLst/>
          </a:prstGeom>
          <a:noFill/>
        </p:spPr>
        <p:txBody>
          <a:bodyPr wrap="square">
            <a:spAutoFit/>
          </a:bodyPr>
          <a:lstStyle/>
          <a:p>
            <a:endParaRPr lang="en-US" altLang="ja-JP" sz="24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ja-JP" altLang="en-US" sz="2400" b="1">
                <a:latin typeface="Meiryo" panose="020B0604030504040204" pitchFamily="34" charset="-128"/>
                <a:ea typeface="Meiryo" panose="020B0604030504040204" pitchFamily="34" charset="-128"/>
                <a:cs typeface="Times New Roman" panose="02020603050405020304" pitchFamily="18" charset="0"/>
              </a:rPr>
              <a:t>透過型</a:t>
            </a:r>
            <a:r>
              <a:rPr lang="en-US" sz="2400" b="1" dirty="0">
                <a:latin typeface="Meiryo" panose="020B0604030504040204" pitchFamily="34" charset="-128"/>
                <a:ea typeface="Meiryo" panose="020B0604030504040204" pitchFamily="34" charset="-128"/>
                <a:cs typeface="Times New Roman" panose="02020603050405020304" pitchFamily="18" charset="0"/>
              </a:rPr>
              <a:t>IDS:</a:t>
            </a:r>
            <a:endParaRPr lang="mn-MN" sz="2400" b="1" dirty="0">
              <a:latin typeface="Meiryo" panose="020B0604030504040204" pitchFamily="34" charset="-128"/>
              <a:ea typeface="Meiryo" panose="020B0604030504040204" pitchFamily="34" charset="-128"/>
              <a:cs typeface="Times New Roman" panose="02020603050405020304" pitchFamily="18" charset="0"/>
            </a:endParaRPr>
          </a:p>
          <a:p>
            <a:r>
              <a:rPr lang="en-US" sz="2400" dirty="0">
                <a:latin typeface="Meiryo" panose="020B0604030504040204" pitchFamily="34" charset="-128"/>
                <a:ea typeface="Meiryo" panose="020B0604030504040204" pitchFamily="34" charset="-128"/>
                <a:cs typeface="Times New Roman" panose="02020603050405020304" pitchFamily="18" charset="0"/>
              </a:rPr>
              <a:t>     Raspberry Pi 4（4GB RAM）</a:t>
            </a:r>
            <a:endParaRPr lang="ja-JP" altLang="en-US" sz="240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endParaRPr lang="ja-JP" altLang="en-US" sz="240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en-US" sz="2400" b="1" dirty="0">
                <a:latin typeface="Meiryo" panose="020B0604030504040204" pitchFamily="34" charset="-128"/>
                <a:ea typeface="Meiryo" panose="020B0604030504040204" pitchFamily="34" charset="-128"/>
                <a:cs typeface="Times New Roman" panose="02020603050405020304" pitchFamily="18" charset="0"/>
              </a:rPr>
              <a:t>IoT Sensor（×2）:</a:t>
            </a:r>
          </a:p>
          <a:p>
            <a:r>
              <a:rPr lang="en-US" sz="2400" dirty="0">
                <a:latin typeface="Meiryo" panose="020B0604030504040204" pitchFamily="34" charset="-128"/>
                <a:ea typeface="Meiryo" panose="020B0604030504040204" pitchFamily="34" charset="-128"/>
                <a:cs typeface="Times New Roman" panose="02020603050405020304" pitchFamily="18" charset="0"/>
              </a:rPr>
              <a:t>      Raspberry Pi 3B+</a:t>
            </a:r>
          </a:p>
          <a:p>
            <a:r>
              <a:rPr lang="en-US" sz="2400" dirty="0">
                <a:latin typeface="Meiryo" panose="020B0604030504040204" pitchFamily="34" charset="-128"/>
                <a:ea typeface="Meiryo" panose="020B0604030504040204" pitchFamily="34" charset="-128"/>
                <a:cs typeface="Times New Roman" panose="02020603050405020304" pitchFamily="18" charset="0"/>
              </a:rPr>
              <a:t>      CoAP</a:t>
            </a:r>
            <a:r>
              <a:rPr lang="ja-JP" altLang="en-US" sz="2400">
                <a:latin typeface="Meiryo" panose="020B0604030504040204" pitchFamily="34" charset="-128"/>
                <a:ea typeface="Meiryo" panose="020B0604030504040204" pitchFamily="34" charset="-128"/>
                <a:cs typeface="Times New Roman" panose="02020603050405020304" pitchFamily="18" charset="0"/>
              </a:rPr>
              <a:t>クライアント</a:t>
            </a:r>
            <a:endParaRPr lang="en-US" altLang="ja-JP" sz="2400" dirty="0">
              <a:latin typeface="Meiryo" panose="020B0604030504040204" pitchFamily="34" charset="-128"/>
              <a:ea typeface="Meiryo" panose="020B0604030504040204" pitchFamily="34" charset="-128"/>
              <a:cs typeface="Times New Roman" panose="02020603050405020304" pitchFamily="18" charset="0"/>
            </a:endParaRPr>
          </a:p>
          <a:p>
            <a:endParaRPr lang="ja-JP" altLang="en-US" sz="240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ja-JP" altLang="en-US" sz="2400" b="1">
                <a:latin typeface="Meiryo" panose="020B0604030504040204" pitchFamily="34" charset="-128"/>
                <a:ea typeface="Meiryo" panose="020B0604030504040204" pitchFamily="34" charset="-128"/>
                <a:cs typeface="Times New Roman" panose="02020603050405020304" pitchFamily="18" charset="0"/>
              </a:rPr>
              <a:t>攻撃環境</a:t>
            </a:r>
            <a:r>
              <a:rPr lang="en-US" altLang="ja-JP" sz="2400" b="1" dirty="0">
                <a:latin typeface="Meiryo" panose="020B0604030504040204" pitchFamily="34" charset="-128"/>
                <a:ea typeface="Meiryo" panose="020B0604030504040204" pitchFamily="34" charset="-128"/>
                <a:cs typeface="Times New Roman" panose="02020603050405020304" pitchFamily="18" charset="0"/>
              </a:rPr>
              <a:t>:</a:t>
            </a:r>
          </a:p>
          <a:p>
            <a:r>
              <a:rPr lang="en-US" altLang="ja-JP" sz="2400" dirty="0">
                <a:latin typeface="Meiryo" panose="020B0604030504040204" pitchFamily="34" charset="-128"/>
                <a:ea typeface="Meiryo" panose="020B0604030504040204" pitchFamily="34" charset="-128"/>
                <a:cs typeface="Times New Roman" panose="02020603050405020304" pitchFamily="18" charset="0"/>
              </a:rPr>
              <a:t>     </a:t>
            </a:r>
            <a:r>
              <a:rPr lang="en-US" sz="2400" dirty="0">
                <a:latin typeface="Meiryo" panose="020B0604030504040204" pitchFamily="34" charset="-128"/>
                <a:ea typeface="Meiryo" panose="020B0604030504040204" pitchFamily="34" charset="-128"/>
                <a:cs typeface="Times New Roman" panose="02020603050405020304" pitchFamily="18" charset="0"/>
              </a:rPr>
              <a:t>Laptop · </a:t>
            </a:r>
            <a:r>
              <a:rPr lang="en-US" sz="2400" dirty="0" err="1">
                <a:latin typeface="Meiryo" panose="020B0604030504040204" pitchFamily="34" charset="-128"/>
                <a:ea typeface="Meiryo" panose="020B0604030504040204" pitchFamily="34" charset="-128"/>
                <a:cs typeface="Times New Roman" panose="02020603050405020304" pitchFamily="18" charset="0"/>
              </a:rPr>
              <a:t>arpspoof</a:t>
            </a:r>
            <a:r>
              <a:rPr lang="en-US" sz="2400" dirty="0">
                <a:latin typeface="Meiryo" panose="020B0604030504040204" pitchFamily="34" charset="-128"/>
                <a:ea typeface="Meiryo" panose="020B0604030504040204" pitchFamily="34" charset="-128"/>
                <a:cs typeface="Times New Roman" panose="02020603050405020304" pitchFamily="18" charset="0"/>
              </a:rPr>
              <a:t> · </a:t>
            </a:r>
            <a:r>
              <a:rPr lang="en-US" sz="2400" dirty="0" err="1">
                <a:latin typeface="Meiryo" panose="020B0604030504040204" pitchFamily="34" charset="-128"/>
                <a:ea typeface="Meiryo" panose="020B0604030504040204" pitchFamily="34" charset="-128"/>
                <a:cs typeface="Times New Roman" panose="02020603050405020304" pitchFamily="18" charset="0"/>
              </a:rPr>
              <a:t>Scapy</a:t>
            </a:r>
            <a:endParaRPr lang="en-US" sz="2400" dirty="0">
              <a:latin typeface="Meiryo" panose="020B0604030504040204" pitchFamily="34" charset="-128"/>
              <a:ea typeface="Meiryo" panose="020B0604030504040204" pitchFamily="34" charset="-128"/>
              <a:cs typeface="Times New Roman" panose="02020603050405020304" pitchFamily="18" charset="0"/>
            </a:endParaRPr>
          </a:p>
          <a:p>
            <a:endParaRPr lang="en-US" sz="2400" dirty="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ja-JP" altLang="en-US" sz="2400" b="1">
                <a:latin typeface="Meiryo" panose="020B0604030504040204" pitchFamily="34" charset="-128"/>
                <a:ea typeface="Meiryo" panose="020B0604030504040204" pitchFamily="34" charset="-128"/>
                <a:cs typeface="Times New Roman" panose="02020603050405020304" pitchFamily="18" charset="0"/>
              </a:rPr>
              <a:t>データセット</a:t>
            </a:r>
            <a:r>
              <a:rPr lang="en-US" altLang="ja-JP" sz="2400" b="1" dirty="0">
                <a:latin typeface="Meiryo" panose="020B0604030504040204" pitchFamily="34" charset="-128"/>
                <a:ea typeface="Meiryo" panose="020B0604030504040204" pitchFamily="34" charset="-128"/>
                <a:cs typeface="Times New Roman" panose="02020603050405020304" pitchFamily="18" charset="0"/>
              </a:rPr>
              <a:t>:</a:t>
            </a:r>
          </a:p>
          <a:p>
            <a:r>
              <a:rPr lang="en-US" altLang="ja-JP" sz="2400" dirty="0">
                <a:latin typeface="Meiryo" panose="020B0604030504040204" pitchFamily="34" charset="-128"/>
                <a:ea typeface="Meiryo" panose="020B0604030504040204" pitchFamily="34" charset="-128"/>
                <a:cs typeface="Times New Roman" panose="02020603050405020304" pitchFamily="18" charset="0"/>
              </a:rPr>
              <a:t>    1. </a:t>
            </a:r>
            <a:r>
              <a:rPr lang="ja-JP" altLang="en-US" sz="2400">
                <a:latin typeface="Meiryo" panose="020B0604030504040204" pitchFamily="34" charset="-128"/>
                <a:ea typeface="Meiryo" panose="020B0604030504040204" pitchFamily="34" charset="-128"/>
                <a:cs typeface="Times New Roman" panose="02020603050405020304" pitchFamily="18" charset="0"/>
              </a:rPr>
              <a:t>自作トラフィック</a:t>
            </a:r>
          </a:p>
          <a:p>
            <a:r>
              <a:rPr lang="en-US" altLang="ja-JP" sz="2400" dirty="0">
                <a:latin typeface="Meiryo" panose="020B0604030504040204" pitchFamily="34" charset="-128"/>
                <a:ea typeface="Meiryo" panose="020B0604030504040204" pitchFamily="34" charset="-128"/>
                <a:cs typeface="Times New Roman" panose="02020603050405020304" pitchFamily="18" charset="0"/>
              </a:rPr>
              <a:t>    </a:t>
            </a:r>
            <a:r>
              <a:rPr lang="ja-JP" altLang="en-US" sz="2400">
                <a:latin typeface="Meiryo" panose="020B0604030504040204" pitchFamily="34" charset="-128"/>
                <a:ea typeface="Meiryo" panose="020B0604030504040204" pitchFamily="34" charset="-128"/>
                <a:cs typeface="Times New Roman" panose="02020603050405020304" pitchFamily="18" charset="0"/>
              </a:rPr>
              <a:t>  （</a:t>
            </a:r>
            <a:r>
              <a:rPr lang="en-US" sz="2400" dirty="0">
                <a:latin typeface="Meiryo" panose="020B0604030504040204" pitchFamily="34" charset="-128"/>
                <a:ea typeface="Meiryo" panose="020B0604030504040204" pitchFamily="34" charset="-128"/>
                <a:cs typeface="Times New Roman" panose="02020603050405020304" pitchFamily="18" charset="0"/>
              </a:rPr>
              <a:t>Normal + ARP Spoofing</a:t>
            </a:r>
            <a:r>
              <a:rPr lang="ja-JP" altLang="en-US" sz="2400">
                <a:latin typeface="Meiryo" panose="020B0604030504040204" pitchFamily="34" charset="-128"/>
                <a:ea typeface="Meiryo" panose="020B0604030504040204" pitchFamily="34" charset="-128"/>
                <a:cs typeface="Times New Roman" panose="02020603050405020304" pitchFamily="18" charset="0"/>
              </a:rPr>
              <a:t>による攻撃）</a:t>
            </a:r>
          </a:p>
          <a:p>
            <a:r>
              <a:rPr lang="en-US" altLang="ja-JP" sz="2400" dirty="0">
                <a:latin typeface="Meiryo" panose="020B0604030504040204" pitchFamily="34" charset="-128"/>
                <a:ea typeface="Meiryo" panose="020B0604030504040204" pitchFamily="34" charset="-128"/>
                <a:cs typeface="Times New Roman" panose="02020603050405020304" pitchFamily="18" charset="0"/>
              </a:rPr>
              <a:t>    2.</a:t>
            </a:r>
            <a:r>
              <a:rPr lang="en-US" sz="2400" dirty="0"/>
              <a:t> </a:t>
            </a:r>
            <a:r>
              <a:rPr lang="en-US" sz="2400" dirty="0" err="1">
                <a:latin typeface="Meiryo" panose="020B0604030504040204" pitchFamily="34" charset="-128"/>
                <a:ea typeface="Meiryo" panose="020B0604030504040204" pitchFamily="34" charset="-128"/>
              </a:rPr>
              <a:t>CICIoT</a:t>
            </a:r>
            <a:r>
              <a:rPr lang="en-US" sz="2400" dirty="0">
                <a:latin typeface="Meiryo" panose="020B0604030504040204" pitchFamily="34" charset="-128"/>
                <a:ea typeface="Meiryo" panose="020B0604030504040204" pitchFamily="34" charset="-128"/>
              </a:rPr>
              <a:t> 2023</a:t>
            </a:r>
          </a:p>
          <a:p>
            <a:endParaRPr lang="ja-JP" altLang="en-US" sz="2400">
              <a:latin typeface="Meiryo" panose="020B0604030504040204" pitchFamily="34" charset="-128"/>
              <a:ea typeface="Meiryo" panose="020B0604030504040204" pitchFamily="34" charset="-128"/>
              <a:cs typeface="Times New Roman" panose="02020603050405020304" pitchFamily="18" charset="0"/>
            </a:endParaRPr>
          </a:p>
          <a:p>
            <a:pPr marL="342900" indent="-342900">
              <a:buFont typeface="Wingdings" pitchFamily="2" charset="2"/>
              <a:buChar char="§"/>
            </a:pPr>
            <a:r>
              <a:rPr lang="ja-JP" altLang="en-US" sz="2400" b="1">
                <a:latin typeface="Meiryo" panose="020B0604030504040204" pitchFamily="34" charset="-128"/>
                <a:ea typeface="Meiryo" panose="020B0604030504040204" pitchFamily="34" charset="-128"/>
                <a:cs typeface="Times New Roman" panose="02020603050405020304" pitchFamily="18" charset="0"/>
              </a:rPr>
              <a:t>ネットワーク</a:t>
            </a:r>
            <a:r>
              <a:rPr lang="en-US" altLang="ja-JP" sz="2400" b="1" dirty="0">
                <a:latin typeface="Meiryo" panose="020B0604030504040204" pitchFamily="34" charset="-128"/>
                <a:ea typeface="Meiryo" panose="020B0604030504040204" pitchFamily="34" charset="-128"/>
                <a:cs typeface="Times New Roman" panose="02020603050405020304" pitchFamily="18" charset="0"/>
              </a:rPr>
              <a:t>:  </a:t>
            </a:r>
            <a:r>
              <a:rPr lang="en-US" sz="2400" dirty="0">
                <a:latin typeface="Meiryo" panose="020B0604030504040204" pitchFamily="34" charset="-128"/>
                <a:ea typeface="Meiryo" panose="020B0604030504040204" pitchFamily="34" charset="-128"/>
                <a:cs typeface="Times New Roman" panose="02020603050405020304" pitchFamily="18" charset="0"/>
              </a:rPr>
              <a:t>Ethernet</a:t>
            </a:r>
            <a:r>
              <a:rPr lang="ja-JP" altLang="en-US" sz="2400">
                <a:latin typeface="Meiryo" panose="020B0604030504040204" pitchFamily="34" charset="-128"/>
                <a:ea typeface="Meiryo" panose="020B0604030504040204" pitchFamily="34" charset="-128"/>
                <a:cs typeface="Times New Roman" panose="02020603050405020304" pitchFamily="18" charset="0"/>
              </a:rPr>
              <a:t>有線 </a:t>
            </a:r>
            <a:r>
              <a:rPr lang="en-US" altLang="ja-JP" sz="2400" dirty="0">
                <a:latin typeface="Meiryo" panose="020B0604030504040204" pitchFamily="34" charset="-128"/>
                <a:ea typeface="Meiryo" panose="020B0604030504040204" pitchFamily="34" charset="-128"/>
                <a:cs typeface="Times New Roman" panose="02020603050405020304" pitchFamily="18" charset="0"/>
              </a:rPr>
              <a:t>· </a:t>
            </a:r>
            <a:r>
              <a:rPr lang="en-US" sz="2400" dirty="0">
                <a:latin typeface="Meiryo" panose="020B0604030504040204" pitchFamily="34" charset="-128"/>
                <a:ea typeface="Meiryo" panose="020B0604030504040204" pitchFamily="34" charset="-128"/>
                <a:cs typeface="Times New Roman" panose="02020603050405020304" pitchFamily="18" charset="0"/>
              </a:rPr>
              <a:t>Switch</a:t>
            </a:r>
            <a:r>
              <a:rPr lang="ja-JP" altLang="en-US" sz="2400">
                <a:latin typeface="Meiryo" panose="020B0604030504040204" pitchFamily="34" charset="-128"/>
                <a:ea typeface="Meiryo" panose="020B0604030504040204" pitchFamily="34" charset="-128"/>
                <a:cs typeface="Times New Roman" panose="02020603050405020304" pitchFamily="18" charset="0"/>
              </a:rPr>
              <a:t>経由</a:t>
            </a:r>
          </a:p>
          <a:p>
            <a:r>
              <a:rPr lang="en-US" altLang="ja-JP" sz="2400" dirty="0">
                <a:latin typeface="Meiryo" panose="020B0604030504040204" pitchFamily="34" charset="-128"/>
                <a:ea typeface="Meiryo" panose="020B0604030504040204" pitchFamily="34" charset="-128"/>
                <a:cs typeface="Times New Roman" panose="02020603050405020304" pitchFamily="18" charset="0"/>
              </a:rPr>
              <a:t>     (192.168.1.0/24)</a:t>
            </a:r>
            <a:endParaRPr lang="en-JP" sz="2400" dirty="0">
              <a:latin typeface="Meiryo" panose="020B0604030504040204" pitchFamily="34" charset="-128"/>
              <a:ea typeface="Meiryo" panose="020B0604030504040204" pitchFamily="34" charset="-128"/>
              <a:cs typeface="Times New Roman" panose="02020603050405020304" pitchFamily="18" charset="0"/>
            </a:endParaRPr>
          </a:p>
        </p:txBody>
      </p:sp>
      <p:sp>
        <p:nvSpPr>
          <p:cNvPr id="9" name="Slide Number Placeholder 8">
            <a:extLst>
              <a:ext uri="{FF2B5EF4-FFF2-40B4-BE49-F238E27FC236}">
                <a16:creationId xmlns:a16="http://schemas.microsoft.com/office/drawing/2014/main" id="{46C28CBA-C817-F83E-4C45-9D2B9CD09EF7}"/>
              </a:ext>
            </a:extLst>
          </p:cNvPr>
          <p:cNvSpPr>
            <a:spLocks noGrp="1"/>
          </p:cNvSpPr>
          <p:nvPr>
            <p:ph type="sldNum" sz="quarter" idx="12"/>
          </p:nvPr>
        </p:nvSpPr>
        <p:spPr/>
        <p:txBody>
          <a:bodyPr/>
          <a:lstStyle/>
          <a:p>
            <a:fld id="{828F3BD4-1AF2-D144-8129-4D42AD448F5E}" type="slidenum">
              <a:rPr lang="en-JP" smtClean="0"/>
              <a:t>35</a:t>
            </a:fld>
            <a:endParaRPr lang="en-JP"/>
          </a:p>
        </p:txBody>
      </p:sp>
    </p:spTree>
    <p:extLst>
      <p:ext uri="{BB962C8B-B14F-4D97-AF65-F5344CB8AC3E}">
        <p14:creationId xmlns:p14="http://schemas.microsoft.com/office/powerpoint/2010/main" val="27022068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FA592E1F-F09F-C232-E3C0-E1510B33D79B}"/>
              </a:ext>
            </a:extLst>
          </p:cNvPr>
          <p:cNvSpPr/>
          <p:nvPr/>
        </p:nvSpPr>
        <p:spPr>
          <a:xfrm>
            <a:off x="0" y="0"/>
            <a:ext cx="9144000" cy="685800"/>
          </a:xfrm>
          <a:prstGeom prst="rect">
            <a:avLst/>
          </a:prstGeom>
          <a:solidFill>
            <a:schemeClr val="tx2">
              <a:lumMod val="20000"/>
              <a:lumOff val="80000"/>
            </a:schemeClr>
          </a:solidFill>
          <a:ln w="12700">
            <a:noFill/>
            <a:prstDash val="solid"/>
          </a:ln>
        </p:spPr>
        <p:txBody>
          <a:bodyPr/>
          <a:lstStyle/>
          <a:p>
            <a:pPr marL="457200" indent="-457200">
              <a:buFont typeface="Wingdings" pitchFamily="2" charset="2"/>
              <a:buChar char="§"/>
            </a:pPr>
            <a:r>
              <a:rPr lang="en-JP" sz="3200" b="1" dirty="0">
                <a:latin typeface="Meiryo" panose="020B0604030504040204" pitchFamily="34" charset="-128"/>
                <a:ea typeface="Meiryo" panose="020B0604030504040204" pitchFamily="34" charset="-128"/>
              </a:rPr>
              <a:t>評価方法</a:t>
            </a:r>
            <a:r>
              <a:rPr lang="en-US" sz="3200" b="1" dirty="0">
                <a:latin typeface="Meiryo" panose="020B0604030504040204" pitchFamily="34" charset="-128"/>
                <a:ea typeface="Meiryo" panose="020B0604030504040204" pitchFamily="34" charset="-128"/>
              </a:rPr>
              <a:t>・1</a:t>
            </a:r>
            <a:endParaRPr lang="en-JP" sz="3200" b="1" dirty="0">
              <a:latin typeface="Meiryo" panose="020B0604030504040204" pitchFamily="34" charset="-128"/>
              <a:ea typeface="Meiryo" panose="020B0604030504040204" pitchFamily="34" charset="-128"/>
            </a:endParaRPr>
          </a:p>
          <a:p>
            <a:endParaRPr lang="en-JP" sz="3200" b="1" dirty="0">
              <a:latin typeface="Meiryo" panose="020B0604030504040204" pitchFamily="34" charset="-128"/>
              <a:ea typeface="Meiryo" panose="020B0604030504040204" pitchFamily="34" charset="-128"/>
            </a:endParaRPr>
          </a:p>
          <a:p>
            <a:endParaRPr lang="en-JP" sz="3200" dirty="0"/>
          </a:p>
        </p:txBody>
      </p:sp>
      <p:sp>
        <p:nvSpPr>
          <p:cNvPr id="7" name="TextBox 6">
            <a:extLst>
              <a:ext uri="{FF2B5EF4-FFF2-40B4-BE49-F238E27FC236}">
                <a16:creationId xmlns:a16="http://schemas.microsoft.com/office/drawing/2014/main" id="{4D850017-C662-EFD8-BEF7-C4BAA4CC723A}"/>
              </a:ext>
            </a:extLst>
          </p:cNvPr>
          <p:cNvSpPr txBox="1"/>
          <p:nvPr/>
        </p:nvSpPr>
        <p:spPr>
          <a:xfrm>
            <a:off x="0" y="674370"/>
            <a:ext cx="8885321" cy="5632311"/>
          </a:xfrm>
          <a:prstGeom prst="rect">
            <a:avLst/>
          </a:prstGeom>
          <a:noFill/>
        </p:spPr>
        <p:txBody>
          <a:bodyPr wrap="square">
            <a:spAutoFit/>
          </a:bodyPr>
          <a:lstStyle/>
          <a:p>
            <a:pPr algn="ctr"/>
            <a:r>
              <a:rPr lang="ja-JP" altLang="en-US" sz="2400">
                <a:latin typeface="Meiryo" panose="020B0604030504040204" pitchFamily="34" charset="-128"/>
                <a:ea typeface="Meiryo" panose="020B0604030504040204" pitchFamily="34" charset="-128"/>
              </a:rPr>
              <a:t>評価の観点</a:t>
            </a:r>
          </a:p>
          <a:p>
            <a:r>
              <a:rPr lang="en-US" altLang="ja-JP" sz="2400" dirty="0">
                <a:latin typeface="Meiryo" panose="020B0604030504040204" pitchFamily="34" charset="-128"/>
                <a:ea typeface="Meiryo" panose="020B0604030504040204" pitchFamily="34" charset="-128"/>
              </a:rPr>
              <a:t>1. </a:t>
            </a:r>
            <a:r>
              <a:rPr lang="ja-JP" altLang="en-US" sz="2400">
                <a:latin typeface="Meiryo" panose="020B0604030504040204" pitchFamily="34" charset="-128"/>
                <a:ea typeface="Meiryo" panose="020B0604030504040204" pitchFamily="34" charset="-128"/>
              </a:rPr>
              <a:t>検知性能</a:t>
            </a: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攻撃を正しく検知できるか．また，正常通信を誤って攻撃と判定しないか．</a:t>
            </a:r>
          </a:p>
          <a:p>
            <a:endParaRPr lang="ja-JP" altLang="en-US" sz="2400">
              <a:latin typeface="Meiryo" panose="020B0604030504040204" pitchFamily="34" charset="-128"/>
              <a:ea typeface="Meiryo" panose="020B0604030504040204" pitchFamily="34" charset="-128"/>
            </a:endParaRPr>
          </a:p>
          <a:p>
            <a:r>
              <a:rPr lang="en-US" altLang="ja-JP" sz="2400" dirty="0">
                <a:latin typeface="Meiryo" panose="020B0604030504040204" pitchFamily="34" charset="-128"/>
                <a:ea typeface="Meiryo" panose="020B0604030504040204" pitchFamily="34" charset="-128"/>
              </a:rPr>
              <a:t>2. </a:t>
            </a:r>
            <a:r>
              <a:rPr lang="ja-JP" altLang="en-US" sz="2400">
                <a:latin typeface="Meiryo" panose="020B0604030504040204" pitchFamily="34" charset="-128"/>
                <a:ea typeface="Meiryo" panose="020B0604030504040204" pitchFamily="34" charset="-128"/>
              </a:rPr>
              <a:t>検知レイテンシ</a:t>
            </a: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偽の</a:t>
            </a:r>
            <a:r>
              <a:rPr lang="en-US" altLang="ja-JP"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パケットを受信してから検知するまでの時間．</a:t>
            </a:r>
            <a:r>
              <a:rPr lang="en-US" altLang="ja-JP"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キャッシュへの汚染が定着する前に検知できるか．</a:t>
            </a:r>
          </a:p>
          <a:p>
            <a:endParaRPr lang="ja-JP" altLang="en-US" sz="2400">
              <a:latin typeface="Meiryo" panose="020B0604030504040204" pitchFamily="34" charset="-128"/>
              <a:ea typeface="Meiryo" panose="020B0604030504040204" pitchFamily="34" charset="-128"/>
            </a:endParaRPr>
          </a:p>
          <a:p>
            <a:r>
              <a:rPr lang="en-US" altLang="ja-JP" sz="2400" dirty="0">
                <a:latin typeface="Meiryo" panose="020B0604030504040204" pitchFamily="34" charset="-128"/>
                <a:ea typeface="Meiryo" panose="020B0604030504040204" pitchFamily="34" charset="-128"/>
              </a:rPr>
              <a:t>3. CoAP/DTLS</a:t>
            </a:r>
            <a:r>
              <a:rPr lang="ja-JP" altLang="en-US" sz="2400">
                <a:latin typeface="Meiryo" panose="020B0604030504040204" pitchFamily="34" charset="-128"/>
                <a:ea typeface="Meiryo" panose="020B0604030504040204" pitchFamily="34" charset="-128"/>
              </a:rPr>
              <a:t>への影響</a:t>
            </a: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正常な暗号化通信に干渉しないか．透過型</a:t>
            </a:r>
            <a:r>
              <a:rPr lang="en-US" altLang="ja-JP" sz="2400" dirty="0">
                <a:latin typeface="Meiryo" panose="020B0604030504040204" pitchFamily="34" charset="-128"/>
                <a:ea typeface="Meiryo" panose="020B0604030504040204" pitchFamily="34" charset="-128"/>
              </a:rPr>
              <a:t>IDS</a:t>
            </a:r>
            <a:r>
              <a:rPr lang="ja-JP" altLang="en-US" sz="2400">
                <a:latin typeface="Meiryo" panose="020B0604030504040204" pitchFamily="34" charset="-128"/>
                <a:ea typeface="Meiryo" panose="020B0604030504040204" pitchFamily="34" charset="-128"/>
              </a:rPr>
              <a:t>を経由することで通信遅延はどの程度増加するか．</a:t>
            </a:r>
          </a:p>
          <a:p>
            <a:endParaRPr lang="ja-JP" altLang="en-US" sz="2400">
              <a:latin typeface="Meiryo" panose="020B0604030504040204" pitchFamily="34" charset="-128"/>
              <a:ea typeface="Meiryo" panose="020B0604030504040204" pitchFamily="34" charset="-128"/>
            </a:endParaRPr>
          </a:p>
          <a:p>
            <a:r>
              <a:rPr lang="en-US" altLang="ja-JP" sz="2400" dirty="0">
                <a:latin typeface="Meiryo" panose="020B0604030504040204" pitchFamily="34" charset="-128"/>
                <a:ea typeface="Meiryo" panose="020B0604030504040204" pitchFamily="34" charset="-128"/>
              </a:rPr>
              <a:t>4. </a:t>
            </a:r>
            <a:r>
              <a:rPr lang="ja-JP" altLang="en-US" sz="2400">
                <a:latin typeface="Meiryo" panose="020B0604030504040204" pitchFamily="34" charset="-128"/>
                <a:ea typeface="Meiryo" panose="020B0604030504040204" pitchFamily="34" charset="-128"/>
              </a:rPr>
              <a:t>リソース消費</a:t>
            </a:r>
          </a:p>
          <a:p>
            <a:pPr marL="342900" indent="-342900">
              <a:buFont typeface="Wingdings" pitchFamily="2" charset="2"/>
              <a:buChar char="§"/>
            </a:pPr>
            <a:r>
              <a:rPr lang="en-US" altLang="ja-JP" sz="2400" dirty="0">
                <a:latin typeface="Meiryo" panose="020B0604030504040204" pitchFamily="34" charset="-128"/>
                <a:ea typeface="Meiryo" panose="020B0604030504040204" pitchFamily="34" charset="-128"/>
              </a:rPr>
              <a:t>Raspberry Pi 4</a:t>
            </a:r>
            <a:r>
              <a:rPr lang="ja-JP" altLang="en-US" sz="2400">
                <a:latin typeface="Meiryo" panose="020B0604030504040204" pitchFamily="34" charset="-128"/>
                <a:ea typeface="Meiryo" panose="020B0604030504040204" pitchFamily="34" charset="-128"/>
              </a:rPr>
              <a:t>上での</a:t>
            </a:r>
            <a:r>
              <a:rPr lang="en-US" altLang="ja-JP" sz="2400" dirty="0">
                <a:latin typeface="Meiryo" panose="020B0604030504040204" pitchFamily="34" charset="-128"/>
                <a:ea typeface="Meiryo" panose="020B0604030504040204" pitchFamily="34" charset="-128"/>
              </a:rPr>
              <a:t>CPU</a:t>
            </a:r>
            <a:r>
              <a:rPr lang="ja-JP" altLang="en-US" sz="2400">
                <a:latin typeface="Meiryo" panose="020B0604030504040204" pitchFamily="34" charset="-128"/>
                <a:ea typeface="Meiryo" panose="020B0604030504040204" pitchFamily="34" charset="-128"/>
              </a:rPr>
              <a:t>・メモリ使用量は実用的な範囲か．</a:t>
            </a:r>
            <a:endParaRPr lang="en-JP" sz="2400" dirty="0">
              <a:latin typeface="Meiryo" panose="020B0604030504040204" pitchFamily="34" charset="-128"/>
              <a:ea typeface="Meiryo" panose="020B0604030504040204" pitchFamily="34" charset="-128"/>
            </a:endParaRPr>
          </a:p>
        </p:txBody>
      </p:sp>
      <p:sp>
        <p:nvSpPr>
          <p:cNvPr id="10" name="Slide Number Placeholder 9">
            <a:extLst>
              <a:ext uri="{FF2B5EF4-FFF2-40B4-BE49-F238E27FC236}">
                <a16:creationId xmlns:a16="http://schemas.microsoft.com/office/drawing/2014/main" id="{3AEBA63C-2DB6-0E48-FDF9-3FE9614AB397}"/>
              </a:ext>
            </a:extLst>
          </p:cNvPr>
          <p:cNvSpPr>
            <a:spLocks noGrp="1"/>
          </p:cNvSpPr>
          <p:nvPr>
            <p:ph type="sldNum" sz="quarter" idx="12"/>
          </p:nvPr>
        </p:nvSpPr>
        <p:spPr/>
        <p:txBody>
          <a:bodyPr/>
          <a:lstStyle/>
          <a:p>
            <a:fld id="{828F3BD4-1AF2-D144-8129-4D42AD448F5E}" type="slidenum">
              <a:rPr lang="en-JP" smtClean="0"/>
              <a:t>36</a:t>
            </a:fld>
            <a:endParaRPr lang="en-JP"/>
          </a:p>
        </p:txBody>
      </p:sp>
    </p:spTree>
    <p:extLst>
      <p:ext uri="{BB962C8B-B14F-4D97-AF65-F5344CB8AC3E}">
        <p14:creationId xmlns:p14="http://schemas.microsoft.com/office/powerpoint/2010/main" val="5958837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chemeClr val="tx2">
              <a:lumMod val="20000"/>
              <a:lumOff val="80000"/>
            </a:schemeClr>
          </a:solidFill>
          <a:ln w="12700">
            <a:noFill/>
            <a:prstDash val="solid"/>
          </a:ln>
        </p:spPr>
        <p:txBody>
          <a:bodyPr/>
          <a:lstStyle/>
          <a:p>
            <a:pPr marL="457200" indent="-457200">
              <a:buFont typeface="Wingdings" pitchFamily="2" charset="2"/>
              <a:buChar char="§"/>
            </a:pPr>
            <a:r>
              <a:rPr lang="en-JP" sz="3200" b="1" dirty="0">
                <a:latin typeface="Meiryo" panose="020B0604030504040204" pitchFamily="34" charset="-128"/>
                <a:ea typeface="Meiryo" panose="020B0604030504040204" pitchFamily="34" charset="-128"/>
              </a:rPr>
              <a:t>評価方法</a:t>
            </a:r>
            <a:r>
              <a:rPr lang="en-US" sz="3200" b="1" dirty="0">
                <a:latin typeface="Meiryo" panose="020B0604030504040204" pitchFamily="34" charset="-128"/>
                <a:ea typeface="Meiryo" panose="020B0604030504040204" pitchFamily="34" charset="-128"/>
              </a:rPr>
              <a:t>・2</a:t>
            </a:r>
            <a:r>
              <a:rPr lang="mn-MN" sz="3200" b="1" dirty="0">
                <a:latin typeface="Meiryo" panose="020B0604030504040204" pitchFamily="34" charset="-128"/>
                <a:ea typeface="Meiryo" panose="020B0604030504040204" pitchFamily="34" charset="-128"/>
              </a:rPr>
              <a:t> </a:t>
            </a:r>
            <a:r>
              <a:rPr lang="en-US" altLang="ja-JP" sz="3200" b="1" dirty="0">
                <a:latin typeface="Meiryo" panose="020B0604030504040204" pitchFamily="34" charset="-128"/>
                <a:ea typeface="Meiryo" panose="020B0604030504040204" pitchFamily="34" charset="-128"/>
              </a:rPr>
              <a:t>— </a:t>
            </a:r>
            <a:r>
              <a:rPr lang="ja-JP" altLang="en-US" sz="3200" b="1">
                <a:latin typeface="Meiryo" panose="020B0604030504040204" pitchFamily="34" charset="-128"/>
                <a:ea typeface="Meiryo" panose="020B0604030504040204" pitchFamily="34" charset="-128"/>
              </a:rPr>
              <a:t>評価指標と目標値</a:t>
            </a:r>
            <a:endParaRPr lang="en-JP" sz="3200" b="1" dirty="0">
              <a:latin typeface="Meiryo" panose="020B0604030504040204" pitchFamily="34" charset="-128"/>
              <a:ea typeface="Meiryo" panose="020B0604030504040204" pitchFamily="34" charset="-128"/>
            </a:endParaRPr>
          </a:p>
          <a:p>
            <a:endParaRPr lang="en-JP" sz="3200" b="1" dirty="0">
              <a:latin typeface="Meiryo" panose="020B0604030504040204" pitchFamily="34" charset="-128"/>
              <a:ea typeface="Meiryo" panose="020B0604030504040204" pitchFamily="34" charset="-128"/>
            </a:endParaRPr>
          </a:p>
        </p:txBody>
      </p:sp>
      <p:sp>
        <p:nvSpPr>
          <p:cNvPr id="36" name="TextBox 35">
            <a:extLst>
              <a:ext uri="{FF2B5EF4-FFF2-40B4-BE49-F238E27FC236}">
                <a16:creationId xmlns:a16="http://schemas.microsoft.com/office/drawing/2014/main" id="{E1C811FB-DEF0-A18D-C58D-3A1849CCD647}"/>
              </a:ext>
            </a:extLst>
          </p:cNvPr>
          <p:cNvSpPr txBox="1"/>
          <p:nvPr/>
        </p:nvSpPr>
        <p:spPr>
          <a:xfrm>
            <a:off x="8135748" y="6243742"/>
            <a:ext cx="470000" cy="369332"/>
          </a:xfrm>
          <a:prstGeom prst="rect">
            <a:avLst/>
          </a:prstGeom>
          <a:noFill/>
        </p:spPr>
        <p:txBody>
          <a:bodyPr wrap="none" rtlCol="0">
            <a:spAutoFit/>
          </a:bodyPr>
          <a:lstStyle/>
          <a:p>
            <a:r>
              <a:rPr lang="en-JP" dirty="0">
                <a:latin typeface="Meiryo" panose="020B0604030504040204" pitchFamily="34" charset="-128"/>
                <a:ea typeface="Meiryo" panose="020B0604030504040204" pitchFamily="34" charset="-128"/>
              </a:rPr>
              <a:t>34</a:t>
            </a:r>
          </a:p>
        </p:txBody>
      </p:sp>
      <p:graphicFrame>
        <p:nvGraphicFramePr>
          <p:cNvPr id="3" name="Table 2">
            <a:extLst>
              <a:ext uri="{FF2B5EF4-FFF2-40B4-BE49-F238E27FC236}">
                <a16:creationId xmlns:a16="http://schemas.microsoft.com/office/drawing/2014/main" id="{C56362DC-F41C-40F3-8586-02BF865CA25C}"/>
              </a:ext>
            </a:extLst>
          </p:cNvPr>
          <p:cNvGraphicFramePr>
            <a:graphicFrameLocks noGrp="1"/>
          </p:cNvGraphicFramePr>
          <p:nvPr>
            <p:extLst>
              <p:ext uri="{D42A27DB-BD31-4B8C-83A1-F6EECF244321}">
                <p14:modId xmlns:p14="http://schemas.microsoft.com/office/powerpoint/2010/main" val="3104345036"/>
              </p:ext>
            </p:extLst>
          </p:nvPr>
        </p:nvGraphicFramePr>
        <p:xfrm>
          <a:off x="83998" y="773933"/>
          <a:ext cx="8976003" cy="4269480"/>
        </p:xfrm>
        <a:graphic>
          <a:graphicData uri="http://schemas.openxmlformats.org/drawingml/2006/table">
            <a:tbl>
              <a:tblPr firstRow="1" firstCol="1" bandRow="1">
                <a:tableStyleId>{68D230F3-CF80-4859-8CE7-A43EE81993B5}</a:tableStyleId>
              </a:tblPr>
              <a:tblGrid>
                <a:gridCol w="2992001">
                  <a:extLst>
                    <a:ext uri="{9D8B030D-6E8A-4147-A177-3AD203B41FA5}">
                      <a16:colId xmlns:a16="http://schemas.microsoft.com/office/drawing/2014/main" val="915060801"/>
                    </a:ext>
                  </a:extLst>
                </a:gridCol>
                <a:gridCol w="2992001">
                  <a:extLst>
                    <a:ext uri="{9D8B030D-6E8A-4147-A177-3AD203B41FA5}">
                      <a16:colId xmlns:a16="http://schemas.microsoft.com/office/drawing/2014/main" val="764214879"/>
                    </a:ext>
                  </a:extLst>
                </a:gridCol>
                <a:gridCol w="2992001">
                  <a:extLst>
                    <a:ext uri="{9D8B030D-6E8A-4147-A177-3AD203B41FA5}">
                      <a16:colId xmlns:a16="http://schemas.microsoft.com/office/drawing/2014/main" val="1766381853"/>
                    </a:ext>
                  </a:extLst>
                </a:gridCol>
              </a:tblGrid>
              <a:tr h="711580">
                <a:tc>
                  <a:txBody>
                    <a:bodyPr/>
                    <a:lstStyle/>
                    <a:p>
                      <a:pPr algn="ctr"/>
                      <a:r>
                        <a:rPr lang="ja-JP" sz="2000" b="0" kern="0">
                          <a:effectLst/>
                          <a:latin typeface="Meiryo" panose="020B0604030504040204" pitchFamily="34" charset="-128"/>
                          <a:ea typeface="Meiryo" panose="020B0604030504040204" pitchFamily="34" charset="-128"/>
                        </a:rPr>
                        <a:t>指標</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目標値</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257351382"/>
                  </a:ext>
                </a:extLst>
              </a:tr>
              <a:tr h="711580">
                <a:tc>
                  <a:txBody>
                    <a:bodyPr/>
                    <a:lstStyle/>
                    <a:p>
                      <a:pPr algn="ctr"/>
                      <a:r>
                        <a:rPr lang="ja-JP" sz="2000" b="0" kern="0">
                          <a:effectLst/>
                          <a:latin typeface="Meiryo" panose="020B0604030504040204" pitchFamily="34" charset="-128"/>
                          <a:ea typeface="Meiryo" panose="020B0604030504040204" pitchFamily="34" charset="-128"/>
                        </a:rPr>
                        <a:t>検知精度（</a:t>
                      </a:r>
                      <a:r>
                        <a:rPr lang="en-JP" sz="2000" b="0" kern="0">
                          <a:effectLst/>
                          <a:latin typeface="Meiryo" panose="020B0604030504040204" pitchFamily="34" charset="-128"/>
                          <a:ea typeface="Meiryo" panose="020B0604030504040204" pitchFamily="34" charset="-128"/>
                        </a:rPr>
                        <a:t>Accuracy</a:t>
                      </a:r>
                      <a:r>
                        <a:rPr lang="ja-JP" sz="2000" b="0" kern="0">
                          <a:effectLst/>
                          <a:latin typeface="Meiryo" panose="020B0604030504040204" pitchFamily="34" charset="-128"/>
                          <a:ea typeface="Meiryo" panose="020B0604030504040204" pitchFamily="34" charset="-128"/>
                        </a:rPr>
                        <a:t>）</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正常・攻撃を正しく分類できるか</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a:effectLst/>
                          <a:latin typeface="Meiryo" panose="020B0604030504040204" pitchFamily="34" charset="-128"/>
                          <a:ea typeface="Meiryo" panose="020B0604030504040204" pitchFamily="34" charset="-128"/>
                        </a:rPr>
                        <a:t>95%</a:t>
                      </a:r>
                      <a:r>
                        <a:rPr lang="ja-JP" sz="2000" b="0" kern="0">
                          <a:effectLst/>
                          <a:latin typeface="Meiryo" panose="020B0604030504040204" pitchFamily="34" charset="-128"/>
                          <a:ea typeface="Meiryo" panose="020B0604030504040204" pitchFamily="34" charset="-128"/>
                        </a:rPr>
                        <a:t>以上</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001996826"/>
                  </a:ext>
                </a:extLst>
              </a:tr>
              <a:tr h="711580">
                <a:tc>
                  <a:txBody>
                    <a:bodyPr/>
                    <a:lstStyle/>
                    <a:p>
                      <a:pPr algn="ctr"/>
                      <a:r>
                        <a:rPr lang="ja-JP" sz="2000" b="0" kern="0">
                          <a:effectLst/>
                          <a:latin typeface="Meiryo" panose="020B0604030504040204" pitchFamily="34" charset="-128"/>
                          <a:ea typeface="Meiryo" panose="020B0604030504040204" pitchFamily="34" charset="-128"/>
                        </a:rPr>
                        <a:t>誤検知率（</a:t>
                      </a:r>
                      <a:r>
                        <a:rPr lang="en-JP" sz="2000" b="0" kern="0">
                          <a:effectLst/>
                          <a:latin typeface="Meiryo" panose="020B0604030504040204" pitchFamily="34" charset="-128"/>
                          <a:ea typeface="Meiryo" panose="020B0604030504040204" pitchFamily="34" charset="-128"/>
                        </a:rPr>
                        <a:t>FPR</a:t>
                      </a:r>
                      <a:r>
                        <a:rPr lang="ja-JP" sz="2000" b="0" kern="0">
                          <a:effectLst/>
                          <a:latin typeface="Meiryo" panose="020B0604030504040204" pitchFamily="34" charset="-128"/>
                          <a:ea typeface="Meiryo" panose="020B0604030504040204" pitchFamily="34" charset="-128"/>
                        </a:rPr>
                        <a:t>）</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正常通信を攻撃と誤判定する割合</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a:effectLst/>
                          <a:latin typeface="Meiryo" panose="020B0604030504040204" pitchFamily="34" charset="-128"/>
                          <a:ea typeface="Meiryo" panose="020B0604030504040204" pitchFamily="34" charset="-128"/>
                        </a:rPr>
                        <a:t>5%</a:t>
                      </a:r>
                      <a:r>
                        <a:rPr lang="ja-JP" sz="2000" b="0" kern="0">
                          <a:effectLst/>
                          <a:latin typeface="Meiryo" panose="020B0604030504040204" pitchFamily="34" charset="-128"/>
                          <a:ea typeface="Meiryo" panose="020B0604030504040204" pitchFamily="34" charset="-128"/>
                        </a:rPr>
                        <a:t>以下</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2952353336"/>
                  </a:ext>
                </a:extLst>
              </a:tr>
              <a:tr h="711580">
                <a:tc>
                  <a:txBody>
                    <a:bodyPr/>
                    <a:lstStyle/>
                    <a:p>
                      <a:pPr algn="ctr"/>
                      <a:r>
                        <a:rPr lang="ja-JP" sz="2000" b="0" kern="0">
                          <a:effectLst/>
                          <a:latin typeface="Meiryo" panose="020B0604030504040204" pitchFamily="34" charset="-128"/>
                          <a:ea typeface="Meiryo" panose="020B0604030504040204" pitchFamily="34" charset="-128"/>
                        </a:rPr>
                        <a:t>検知レイテンシ</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altLang="en-US" sz="2000">
                          <a:latin typeface="Meiryo" panose="020B0604030504040204" pitchFamily="34" charset="-128"/>
                          <a:ea typeface="Meiryo" panose="020B0604030504040204" pitchFamily="34" charset="-128"/>
                        </a:rPr>
                        <a:t>パケット受信から検知までの時間</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dirty="0">
                          <a:effectLst/>
                          <a:latin typeface="Meiryo" panose="020B0604030504040204" pitchFamily="34" charset="-128"/>
                          <a:ea typeface="Meiryo" panose="020B0604030504040204" pitchFamily="34" charset="-128"/>
                        </a:rPr>
                        <a:t>100ms</a:t>
                      </a:r>
                      <a:r>
                        <a:rPr lang="ja-JP" sz="2000" b="0" kern="0">
                          <a:effectLst/>
                          <a:latin typeface="Meiryo" panose="020B0604030504040204" pitchFamily="34" charset="-128"/>
                          <a:ea typeface="Meiryo" panose="020B0604030504040204" pitchFamily="34" charset="-128"/>
                        </a:rPr>
                        <a:t>以内</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728723644"/>
                  </a:ext>
                </a:extLst>
              </a:tr>
              <a:tr h="711580">
                <a:tc>
                  <a:txBody>
                    <a:bodyPr/>
                    <a:lstStyle/>
                    <a:p>
                      <a:pPr algn="ctr"/>
                      <a:r>
                        <a:rPr lang="en-JP" sz="2000" b="0" kern="0">
                          <a:effectLst/>
                          <a:latin typeface="Meiryo" panose="020B0604030504040204" pitchFamily="34" charset="-128"/>
                          <a:ea typeface="Meiryo" panose="020B0604030504040204" pitchFamily="34" charset="-128"/>
                        </a:rPr>
                        <a:t>CPU</a:t>
                      </a:r>
                      <a:r>
                        <a:rPr lang="ja-JP" sz="2000" b="0" kern="0">
                          <a:effectLst/>
                          <a:latin typeface="Meiryo" panose="020B0604030504040204" pitchFamily="34" charset="-128"/>
                          <a:ea typeface="Meiryo" panose="020B0604030504040204" pitchFamily="34" charset="-128"/>
                        </a:rPr>
                        <a:t>使用率</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a:effectLst/>
                          <a:latin typeface="Meiryo" panose="020B0604030504040204" pitchFamily="34" charset="-128"/>
                          <a:ea typeface="Meiryo" panose="020B0604030504040204" pitchFamily="34" charset="-128"/>
                        </a:rPr>
                        <a:t>Raspberry Pi</a:t>
                      </a:r>
                      <a:r>
                        <a:rPr lang="ja-JP" sz="2000" b="0" kern="0">
                          <a:effectLst/>
                          <a:latin typeface="Meiryo" panose="020B0604030504040204" pitchFamily="34" charset="-128"/>
                          <a:ea typeface="Meiryo" panose="020B0604030504040204" pitchFamily="34" charset="-128"/>
                        </a:rPr>
                        <a:t>上での処理負荷</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測定・記録</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3437444323"/>
                  </a:ext>
                </a:extLst>
              </a:tr>
              <a:tr h="711580">
                <a:tc>
                  <a:txBody>
                    <a:bodyPr/>
                    <a:lstStyle/>
                    <a:p>
                      <a:pPr algn="ctr"/>
                      <a:r>
                        <a:rPr lang="ja-JP" sz="2000" b="0" kern="0">
                          <a:effectLst/>
                          <a:latin typeface="Meiryo" panose="020B0604030504040204" pitchFamily="34" charset="-128"/>
                          <a:ea typeface="Meiryo" panose="020B0604030504040204" pitchFamily="34" charset="-128"/>
                        </a:rPr>
                        <a:t>メモリ使用量</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en-JP" sz="2000" b="0" kern="0">
                          <a:effectLst/>
                          <a:latin typeface="Meiryo" panose="020B0604030504040204" pitchFamily="34" charset="-128"/>
                          <a:ea typeface="Meiryo" panose="020B0604030504040204" pitchFamily="34" charset="-128"/>
                        </a:rPr>
                        <a:t>RAM</a:t>
                      </a:r>
                      <a:r>
                        <a:rPr lang="ja-JP" sz="2000" b="0" kern="0">
                          <a:effectLst/>
                          <a:latin typeface="Meiryo" panose="020B0604030504040204" pitchFamily="34" charset="-128"/>
                          <a:ea typeface="Meiryo" panose="020B0604030504040204" pitchFamily="34" charset="-128"/>
                        </a:rPr>
                        <a:t>消費量</a:t>
                      </a:r>
                      <a:endParaRPr lang="en-JP" sz="2000" b="0" kern="10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tc>
                  <a:txBody>
                    <a:bodyPr/>
                    <a:lstStyle/>
                    <a:p>
                      <a:pPr algn="ctr"/>
                      <a:r>
                        <a:rPr lang="ja-JP" sz="2000" b="0" kern="0">
                          <a:effectLst/>
                          <a:latin typeface="Meiryo" panose="020B0604030504040204" pitchFamily="34" charset="-128"/>
                          <a:ea typeface="Meiryo" panose="020B0604030504040204" pitchFamily="34" charset="-128"/>
                        </a:rPr>
                        <a:t>測定・記録</a:t>
                      </a:r>
                      <a:endParaRPr lang="en-JP" sz="2000" b="0" kern="100" dirty="0">
                        <a:effectLst/>
                        <a:latin typeface="Meiryo" panose="020B0604030504040204" pitchFamily="34" charset="-128"/>
                        <a:ea typeface="Meiryo" panose="020B0604030504040204" pitchFamily="34" charset="-128"/>
                        <a:cs typeface="Times New Roman" panose="02020603050405020304" pitchFamily="18" charset="0"/>
                      </a:endParaRPr>
                    </a:p>
                  </a:txBody>
                  <a:tcPr marL="9525" marR="9525" marT="9525" marB="9525" anchor="ctr"/>
                </a:tc>
                <a:extLst>
                  <a:ext uri="{0D108BD9-81ED-4DB2-BD59-A6C34878D82A}">
                    <a16:rowId xmlns:a16="http://schemas.microsoft.com/office/drawing/2014/main" val="1996604605"/>
                  </a:ext>
                </a:extLst>
              </a:tr>
            </a:tbl>
          </a:graphicData>
        </a:graphic>
      </p:graphicFrame>
      <p:sp>
        <p:nvSpPr>
          <p:cNvPr id="5" name="TextBox 4">
            <a:extLst>
              <a:ext uri="{FF2B5EF4-FFF2-40B4-BE49-F238E27FC236}">
                <a16:creationId xmlns:a16="http://schemas.microsoft.com/office/drawing/2014/main" id="{2FB5AE8D-FC21-07B5-2F44-DAED2324C71A}"/>
              </a:ext>
            </a:extLst>
          </p:cNvPr>
          <p:cNvSpPr txBox="1"/>
          <p:nvPr/>
        </p:nvSpPr>
        <p:spPr>
          <a:xfrm>
            <a:off x="174717" y="5404098"/>
            <a:ext cx="6408963" cy="1200329"/>
          </a:xfrm>
          <a:prstGeom prst="rect">
            <a:avLst/>
          </a:prstGeom>
          <a:noFill/>
        </p:spPr>
        <p:txBody>
          <a:bodyPr wrap="square">
            <a:spAutoFit/>
          </a:bodyPr>
          <a:lstStyle/>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正常トラフィックのみ → FPR測定</a:t>
            </a:r>
            <a:endParaRPr lang="mn-MN"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攻撃トラフィックのみ → 検知率測定</a:t>
            </a:r>
            <a:endParaRPr lang="mn-MN"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JP" sz="2400" dirty="0">
                <a:latin typeface="Meiryo" panose="020B0604030504040204" pitchFamily="34" charset="-128"/>
                <a:ea typeface="Meiryo" panose="020B0604030504040204" pitchFamily="34" charset="-128"/>
              </a:rPr>
              <a:t>正常＋攻撃混在 → 総合精度測定</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提案手法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i="0" u="none" strike="noStrike">
                <a:solidFill>
                  <a:srgbClr val="C00000"/>
                </a:solidFill>
                <a:effectLst/>
                <a:latin typeface="Meiryo" panose="020B0604030504040204" pitchFamily="34" charset="-128"/>
                <a:ea typeface="Meiryo" panose="020B0604030504040204" pitchFamily="34" charset="-128"/>
              </a:rPr>
              <a:t>現在の進捗状況</a:t>
            </a:r>
            <a:endParaRPr lang="mn-MN" altLang="ja-JP" sz="3100" b="1" dirty="0">
              <a:solidFill>
                <a:srgbClr val="C00000"/>
              </a:solidFill>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まとめ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38</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40132603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0C39319-43E4-528B-EB6D-2A73F540B207}"/>
              </a:ext>
            </a:extLst>
          </p:cNvPr>
          <p:cNvGraphicFramePr>
            <a:graphicFrameLocks noGrp="1"/>
          </p:cNvGraphicFramePr>
          <p:nvPr>
            <p:extLst>
              <p:ext uri="{D42A27DB-BD31-4B8C-83A1-F6EECF244321}">
                <p14:modId xmlns:p14="http://schemas.microsoft.com/office/powerpoint/2010/main" val="1998605014"/>
              </p:ext>
            </p:extLst>
          </p:nvPr>
        </p:nvGraphicFramePr>
        <p:xfrm>
          <a:off x="198726" y="777747"/>
          <a:ext cx="8796683" cy="5529726"/>
        </p:xfrm>
        <a:graphic>
          <a:graphicData uri="http://schemas.openxmlformats.org/drawingml/2006/table">
            <a:tbl>
              <a:tblPr>
                <a:tableStyleId>{00A15C55-8517-42AA-B614-E9B94910E393}</a:tableStyleId>
              </a:tblPr>
              <a:tblGrid>
                <a:gridCol w="1717072">
                  <a:extLst>
                    <a:ext uri="{9D8B030D-6E8A-4147-A177-3AD203B41FA5}">
                      <a16:colId xmlns:a16="http://schemas.microsoft.com/office/drawing/2014/main" val="1021150111"/>
                    </a:ext>
                  </a:extLst>
                </a:gridCol>
                <a:gridCol w="523486">
                  <a:extLst>
                    <a:ext uri="{9D8B030D-6E8A-4147-A177-3AD203B41FA5}">
                      <a16:colId xmlns:a16="http://schemas.microsoft.com/office/drawing/2014/main" val="2730429466"/>
                    </a:ext>
                  </a:extLst>
                </a:gridCol>
                <a:gridCol w="625631">
                  <a:extLst>
                    <a:ext uri="{9D8B030D-6E8A-4147-A177-3AD203B41FA5}">
                      <a16:colId xmlns:a16="http://schemas.microsoft.com/office/drawing/2014/main" val="2366417431"/>
                    </a:ext>
                  </a:extLst>
                </a:gridCol>
                <a:gridCol w="549021">
                  <a:extLst>
                    <a:ext uri="{9D8B030D-6E8A-4147-A177-3AD203B41FA5}">
                      <a16:colId xmlns:a16="http://schemas.microsoft.com/office/drawing/2014/main" val="44532495"/>
                    </a:ext>
                  </a:extLst>
                </a:gridCol>
                <a:gridCol w="574558">
                  <a:extLst>
                    <a:ext uri="{9D8B030D-6E8A-4147-A177-3AD203B41FA5}">
                      <a16:colId xmlns:a16="http://schemas.microsoft.com/office/drawing/2014/main" val="4236980589"/>
                    </a:ext>
                  </a:extLst>
                </a:gridCol>
                <a:gridCol w="561790">
                  <a:extLst>
                    <a:ext uri="{9D8B030D-6E8A-4147-A177-3AD203B41FA5}">
                      <a16:colId xmlns:a16="http://schemas.microsoft.com/office/drawing/2014/main" val="715787506"/>
                    </a:ext>
                  </a:extLst>
                </a:gridCol>
                <a:gridCol w="561789">
                  <a:extLst>
                    <a:ext uri="{9D8B030D-6E8A-4147-A177-3AD203B41FA5}">
                      <a16:colId xmlns:a16="http://schemas.microsoft.com/office/drawing/2014/main" val="3988664764"/>
                    </a:ext>
                  </a:extLst>
                </a:gridCol>
                <a:gridCol w="715006">
                  <a:extLst>
                    <a:ext uri="{9D8B030D-6E8A-4147-A177-3AD203B41FA5}">
                      <a16:colId xmlns:a16="http://schemas.microsoft.com/office/drawing/2014/main" val="414039997"/>
                    </a:ext>
                  </a:extLst>
                </a:gridCol>
                <a:gridCol w="663934">
                  <a:extLst>
                    <a:ext uri="{9D8B030D-6E8A-4147-A177-3AD203B41FA5}">
                      <a16:colId xmlns:a16="http://schemas.microsoft.com/office/drawing/2014/main" val="2876268700"/>
                    </a:ext>
                  </a:extLst>
                </a:gridCol>
                <a:gridCol w="612862">
                  <a:extLst>
                    <a:ext uri="{9D8B030D-6E8A-4147-A177-3AD203B41FA5}">
                      <a16:colId xmlns:a16="http://schemas.microsoft.com/office/drawing/2014/main" val="1979359521"/>
                    </a:ext>
                  </a:extLst>
                </a:gridCol>
                <a:gridCol w="740542">
                  <a:extLst>
                    <a:ext uri="{9D8B030D-6E8A-4147-A177-3AD203B41FA5}">
                      <a16:colId xmlns:a16="http://schemas.microsoft.com/office/drawing/2014/main" val="2287624637"/>
                    </a:ext>
                  </a:extLst>
                </a:gridCol>
                <a:gridCol w="472415">
                  <a:extLst>
                    <a:ext uri="{9D8B030D-6E8A-4147-A177-3AD203B41FA5}">
                      <a16:colId xmlns:a16="http://schemas.microsoft.com/office/drawing/2014/main" val="2610930124"/>
                    </a:ext>
                  </a:extLst>
                </a:gridCol>
                <a:gridCol w="478577">
                  <a:extLst>
                    <a:ext uri="{9D8B030D-6E8A-4147-A177-3AD203B41FA5}">
                      <a16:colId xmlns:a16="http://schemas.microsoft.com/office/drawing/2014/main" val="2247617909"/>
                    </a:ext>
                  </a:extLst>
                </a:gridCol>
              </a:tblGrid>
              <a:tr h="680438">
                <a:tc>
                  <a:txBody>
                    <a:bodyPr/>
                    <a:lstStyle/>
                    <a:p>
                      <a:r>
                        <a:rPr lang="ja-JP" altLang="en-US" sz="2400" b="1">
                          <a:latin typeface="Meiryo" panose="020B0604030504040204" pitchFamily="34" charset="-128"/>
                          <a:ea typeface="Meiryo" panose="020B0604030504040204" pitchFamily="34" charset="-128"/>
                        </a:rPr>
                        <a:t>作業項目</a:t>
                      </a:r>
                    </a:p>
                  </a:txBody>
                  <a:tcPr marL="43513" marR="43513" marT="21757" marB="21757" anchor="ctr"/>
                </a:tc>
                <a:tc>
                  <a:txBody>
                    <a:bodyPr/>
                    <a:lstStyle/>
                    <a:p>
                      <a:r>
                        <a:rPr lang="en-US" altLang="ja-JP" sz="1600" dirty="0">
                          <a:latin typeface="Meiryo" panose="020B0604030504040204" pitchFamily="34" charset="-128"/>
                          <a:ea typeface="Meiryo" panose="020B0604030504040204" pitchFamily="34" charset="-128"/>
                        </a:rPr>
                        <a:t>4</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5</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6</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7</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8</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9</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10</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11</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12</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dirty="0">
                          <a:latin typeface="Meiryo" panose="020B0604030504040204" pitchFamily="34" charset="-128"/>
                          <a:ea typeface="Meiryo" panose="020B0604030504040204" pitchFamily="34" charset="-128"/>
                        </a:rPr>
                        <a:t>1</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dirty="0">
                          <a:latin typeface="Meiryo" panose="020B0604030504040204" pitchFamily="34" charset="-128"/>
                          <a:ea typeface="Meiryo" panose="020B0604030504040204" pitchFamily="34" charset="-128"/>
                        </a:rPr>
                        <a:t>2</a:t>
                      </a:r>
                      <a:r>
                        <a:rPr lang="ja-JP" altLang="en-US" sz="1600">
                          <a:latin typeface="Meiryo" panose="020B0604030504040204" pitchFamily="34" charset="-128"/>
                          <a:ea typeface="Meiryo" panose="020B0604030504040204" pitchFamily="34" charset="-128"/>
                        </a:rPr>
                        <a:t>月</a:t>
                      </a:r>
                    </a:p>
                  </a:txBody>
                  <a:tcPr marL="43513" marR="43513" marT="21757" marB="21757" anchor="ctr"/>
                </a:tc>
                <a:tc>
                  <a:txBody>
                    <a:bodyPr/>
                    <a:lstStyle/>
                    <a:p>
                      <a:r>
                        <a:rPr lang="en-US" altLang="ja-JP" sz="1600">
                          <a:latin typeface="Meiryo" panose="020B0604030504040204" pitchFamily="34" charset="-128"/>
                          <a:ea typeface="Meiryo" panose="020B0604030504040204" pitchFamily="34" charset="-128"/>
                        </a:rPr>
                        <a:t>3</a:t>
                      </a:r>
                      <a:r>
                        <a:rPr lang="ja-JP" altLang="en-US" sz="1600">
                          <a:latin typeface="Meiryo" panose="020B0604030504040204" pitchFamily="34" charset="-128"/>
                          <a:ea typeface="Meiryo" panose="020B0604030504040204" pitchFamily="34" charset="-128"/>
                        </a:rPr>
                        <a:t>月</a:t>
                      </a:r>
                    </a:p>
                  </a:txBody>
                  <a:tcPr marL="43513" marR="43513" marT="21757" marB="21757" anchor="ctr"/>
                </a:tc>
                <a:extLst>
                  <a:ext uri="{0D108BD9-81ED-4DB2-BD59-A6C34878D82A}">
                    <a16:rowId xmlns:a16="http://schemas.microsoft.com/office/drawing/2014/main" val="347869850"/>
                  </a:ext>
                </a:extLst>
              </a:tr>
              <a:tr h="724606">
                <a:tc>
                  <a:txBody>
                    <a:bodyPr/>
                    <a:lstStyle/>
                    <a:p>
                      <a:r>
                        <a:rPr lang="ja-JP" altLang="en-US" sz="2400" b="1">
                          <a:latin typeface="Meiryo" panose="020B0604030504040204" pitchFamily="34" charset="-128"/>
                          <a:ea typeface="Meiryo" panose="020B0604030504040204" pitchFamily="34" charset="-128"/>
                        </a:rPr>
                        <a:t>文献調査</a:t>
                      </a:r>
                    </a:p>
                  </a:txBody>
                  <a:tcPr marL="43513" marR="43513" marT="21757" marB="21757" anchor="ctr"/>
                </a:tc>
                <a:tc>
                  <a:txBody>
                    <a:bodyPr/>
                    <a:lstStyle/>
                    <a:p>
                      <a:endParaRPr lang="ja-JP" altLang="en-US" sz="1600">
                        <a:latin typeface="Meiryo" panose="020B0604030504040204" pitchFamily="34" charset="-128"/>
                        <a:ea typeface="Meiryo" panose="020B0604030504040204" pitchFamily="34" charset="-128"/>
                      </a:endParaRPr>
                    </a:p>
                  </a:txBody>
                  <a:tcPr marL="43513" marR="43513" marT="21757" marB="21757"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a:latin typeface="Meiryo" panose="020B0604030504040204" pitchFamily="34" charset="-128"/>
                          <a:ea typeface="Meiryo" panose="020B0604030504040204" pitchFamily="34" charset="-128"/>
                        </a:rPr>
                        <a:t>★今</a:t>
                      </a:r>
                    </a:p>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3937407494"/>
                  </a:ext>
                </a:extLst>
              </a:tr>
              <a:tr h="724606">
                <a:tc>
                  <a:txBody>
                    <a:bodyPr/>
                    <a:lstStyle/>
                    <a:p>
                      <a:r>
                        <a:rPr lang="ja-JP" altLang="en-US" sz="2400" b="1">
                          <a:latin typeface="Meiryo" panose="020B0604030504040204" pitchFamily="34" charset="-128"/>
                          <a:ea typeface="Meiryo" panose="020B0604030504040204" pitchFamily="34" charset="-128"/>
                        </a:rPr>
                        <a:t>環境構築</a:t>
                      </a: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r>
                        <a:rPr lang="en-JP" sz="1600" dirty="0">
                          <a:latin typeface="Meiryo" panose="020B0604030504040204" pitchFamily="34" charset="-128"/>
                          <a:ea typeface="Meiryo" panose="020B0604030504040204" pitchFamily="34" charset="-128"/>
                        </a:rPr>
                        <a:t>■</a:t>
                      </a:r>
                    </a:p>
                  </a:txBody>
                  <a:tcPr marL="43513" marR="43513" marT="21757" marB="21757" anchor="ctr"/>
                </a:tc>
                <a:tc>
                  <a:txBody>
                    <a:bodyPr/>
                    <a:lstStyle/>
                    <a:p>
                      <a:r>
                        <a:rPr lang="en-JP" sz="1600" dirty="0">
                          <a:latin typeface="Meiryo" panose="020B0604030504040204" pitchFamily="34" charset="-128"/>
                          <a:ea typeface="Meiryo" panose="020B0604030504040204" pitchFamily="34" charset="-128"/>
                        </a:rPr>
                        <a:t>■</a:t>
                      </a: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102510619"/>
                  </a:ext>
                </a:extLst>
              </a:tr>
              <a:tr h="1059041">
                <a:tc>
                  <a:txBody>
                    <a:bodyPr/>
                    <a:lstStyle/>
                    <a:p>
                      <a:r>
                        <a:rPr lang="ja-JP" altLang="en-US" sz="2400" b="1">
                          <a:latin typeface="Meiryo" panose="020B0604030504040204" pitchFamily="34" charset="-128"/>
                          <a:ea typeface="Meiryo" panose="020B0604030504040204" pitchFamily="34" charset="-128"/>
                        </a:rPr>
                        <a:t>システム</a:t>
                      </a:r>
                      <a:endParaRPr lang="mn-MN" altLang="ja-JP" sz="2400" b="1" dirty="0">
                        <a:latin typeface="Meiryo" panose="020B0604030504040204" pitchFamily="34" charset="-128"/>
                        <a:ea typeface="Meiryo" panose="020B0604030504040204" pitchFamily="34" charset="-128"/>
                      </a:endParaRPr>
                    </a:p>
                    <a:p>
                      <a:r>
                        <a:rPr lang="ja-JP" altLang="en-US" sz="2400" b="1">
                          <a:latin typeface="Meiryo" panose="020B0604030504040204" pitchFamily="34" charset="-128"/>
                          <a:ea typeface="Meiryo" panose="020B0604030504040204" pitchFamily="34" charset="-128"/>
                        </a:rPr>
                        <a:t>実装</a:t>
                      </a: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2103282200"/>
                  </a:ext>
                </a:extLst>
              </a:tr>
              <a:tr h="891823">
                <a:tc>
                  <a:txBody>
                    <a:bodyPr/>
                    <a:lstStyle/>
                    <a:p>
                      <a:r>
                        <a:rPr lang="ja-JP" altLang="en-US" sz="2400" b="1">
                          <a:latin typeface="Meiryo" panose="020B0604030504040204" pitchFamily="34" charset="-128"/>
                          <a:ea typeface="Meiryo" panose="020B0604030504040204" pitchFamily="34" charset="-128"/>
                        </a:rPr>
                        <a:t>実験・評価</a:t>
                      </a: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r>
                        <a:rPr lang="en-JP" sz="1600">
                          <a:latin typeface="Meiryo" panose="020B0604030504040204" pitchFamily="34" charset="-128"/>
                          <a:ea typeface="Meiryo" panose="020B0604030504040204" pitchFamily="34" charset="-128"/>
                        </a:rPr>
                        <a:t>■</a:t>
                      </a:r>
                    </a:p>
                  </a:txBody>
                  <a:tcPr marL="43513" marR="43513" marT="21757" marB="21757" anchor="ctr"/>
                </a:tc>
                <a:tc>
                  <a:txBody>
                    <a:bodyPr/>
                    <a:lstStyle/>
                    <a:p>
                      <a:r>
                        <a:rPr lang="en-JP" sz="1600">
                          <a:latin typeface="Meiryo" panose="020B0604030504040204" pitchFamily="34" charset="-128"/>
                          <a:ea typeface="Meiryo" panose="020B0604030504040204" pitchFamily="34" charset="-128"/>
                        </a:rPr>
                        <a:t>■</a:t>
                      </a: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1509182322"/>
                  </a:ext>
                </a:extLst>
              </a:tr>
              <a:tr h="724606">
                <a:tc>
                  <a:txBody>
                    <a:bodyPr/>
                    <a:lstStyle/>
                    <a:p>
                      <a:r>
                        <a:rPr lang="mn-MN" altLang="ja-JP" sz="2400" b="1" dirty="0">
                          <a:latin typeface="Meiryo" panose="020B0604030504040204" pitchFamily="34" charset="-128"/>
                          <a:ea typeface="Meiryo" panose="020B0604030504040204" pitchFamily="34" charset="-128"/>
                        </a:rPr>
                        <a:t>  </a:t>
                      </a:r>
                      <a:r>
                        <a:rPr lang="ja-JP" altLang="en-US" sz="2400" b="1">
                          <a:latin typeface="Meiryo" panose="020B0604030504040204" pitchFamily="34" charset="-128"/>
                          <a:ea typeface="Meiryo" panose="020B0604030504040204" pitchFamily="34" charset="-128"/>
                        </a:rPr>
                        <a:t>執筆</a:t>
                      </a: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3043378197"/>
                  </a:ext>
                </a:extLst>
              </a:tr>
              <a:tr h="724606">
                <a:tc>
                  <a:txBody>
                    <a:bodyPr/>
                    <a:lstStyle/>
                    <a:p>
                      <a:r>
                        <a:rPr lang="ja-JP" altLang="en-US" sz="2400" b="1">
                          <a:latin typeface="Meiryo" panose="020B0604030504040204" pitchFamily="34" charset="-128"/>
                          <a:ea typeface="Meiryo" panose="020B0604030504040204" pitchFamily="34" charset="-128"/>
                        </a:rPr>
                        <a:t>最終発表</a:t>
                      </a: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tc>
                  <a:txBody>
                    <a:bodyPr/>
                    <a:lstStyle/>
                    <a:p>
                      <a:endParaRPr lang="en-JP" sz="1600" dirty="0">
                        <a:latin typeface="Meiryo" panose="020B0604030504040204" pitchFamily="34" charset="-128"/>
                        <a:ea typeface="Meiryo" panose="020B0604030504040204" pitchFamily="34" charset="-128"/>
                      </a:endParaRPr>
                    </a:p>
                  </a:txBody>
                  <a:tcPr marL="43513" marR="43513" marT="21757" marB="21757" anchor="ctr"/>
                </a:tc>
                <a:extLst>
                  <a:ext uri="{0D108BD9-81ED-4DB2-BD59-A6C34878D82A}">
                    <a16:rowId xmlns:a16="http://schemas.microsoft.com/office/drawing/2014/main" val="4044141026"/>
                  </a:ext>
                </a:extLst>
              </a:tr>
            </a:tbl>
          </a:graphicData>
        </a:graphic>
      </p:graphicFrame>
      <p:sp>
        <p:nvSpPr>
          <p:cNvPr id="3" name="Shape 30">
            <a:extLst>
              <a:ext uri="{FF2B5EF4-FFF2-40B4-BE49-F238E27FC236}">
                <a16:creationId xmlns:a16="http://schemas.microsoft.com/office/drawing/2014/main" id="{D0E98E2F-E77B-500C-54D8-A90F525EBF3D}"/>
              </a:ext>
            </a:extLst>
          </p:cNvPr>
          <p:cNvSpPr/>
          <p:nvPr/>
        </p:nvSpPr>
        <p:spPr>
          <a:xfrm>
            <a:off x="1918078" y="1522108"/>
            <a:ext cx="474043" cy="484751"/>
          </a:xfrm>
          <a:prstGeom prst="rect">
            <a:avLst/>
          </a:prstGeom>
          <a:solidFill>
            <a:srgbClr val="2563A8"/>
          </a:solidFill>
          <a:ln w="12700">
            <a:solidFill>
              <a:srgbClr val="E8EDF3"/>
            </a:solidFill>
            <a:prstDash val="solid"/>
          </a:ln>
        </p:spPr>
        <p:txBody>
          <a:bodyPr/>
          <a:lstStyle/>
          <a:p>
            <a:endParaRPr lang="en-JP" dirty="0"/>
          </a:p>
        </p:txBody>
      </p:sp>
      <p:sp>
        <p:nvSpPr>
          <p:cNvPr id="5" name="TextBox 4">
            <a:extLst>
              <a:ext uri="{FF2B5EF4-FFF2-40B4-BE49-F238E27FC236}">
                <a16:creationId xmlns:a16="http://schemas.microsoft.com/office/drawing/2014/main" id="{7411B321-E088-AD72-D2D8-E62C6FF5EDE4}"/>
              </a:ext>
            </a:extLst>
          </p:cNvPr>
          <p:cNvSpPr txBox="1"/>
          <p:nvPr/>
        </p:nvSpPr>
        <p:spPr>
          <a:xfrm>
            <a:off x="616219" y="235087"/>
            <a:ext cx="5588462" cy="954107"/>
          </a:xfrm>
          <a:prstGeom prst="rect">
            <a:avLst/>
          </a:prstGeom>
          <a:noFill/>
        </p:spPr>
        <p:txBody>
          <a:bodyPr wrap="square">
            <a:spAutoFit/>
          </a:bodyPr>
          <a:lstStyle/>
          <a:p>
            <a:pPr marL="342900" indent="-342900" rtl="0">
              <a:spcBef>
                <a:spcPts val="0"/>
              </a:spcBef>
              <a:spcAft>
                <a:spcPts val="0"/>
              </a:spcAft>
              <a:buFont typeface="Wingdings" pitchFamily="2" charset="2"/>
              <a:buChar char="§"/>
            </a:pPr>
            <a:r>
              <a:rPr lang="ja-JP" altLang="en-US" sz="2800" b="1" i="0" u="none" strike="noStrike">
                <a:solidFill>
                  <a:srgbClr val="000000"/>
                </a:solidFill>
                <a:effectLst/>
                <a:latin typeface="Meiryo" panose="020B0604030504040204" pitchFamily="34" charset="-128"/>
                <a:ea typeface="Meiryo" panose="020B0604030504040204" pitchFamily="34" charset="-128"/>
              </a:rPr>
              <a:t>現在の進捗状況</a:t>
            </a:r>
            <a:br>
              <a:rPr lang="ja-JP" altLang="en-US" sz="2800" b="1">
                <a:latin typeface="Meiryo" panose="020B0604030504040204" pitchFamily="34" charset="-128"/>
                <a:ea typeface="Meiryo" panose="020B0604030504040204" pitchFamily="34" charset="-128"/>
              </a:rPr>
            </a:br>
            <a:endParaRPr lang="en-JP" sz="2800" b="1" dirty="0">
              <a:latin typeface="Meiryo" panose="020B0604030504040204" pitchFamily="34" charset="-128"/>
              <a:ea typeface="Meiryo" panose="020B0604030504040204" pitchFamily="34" charset="-128"/>
            </a:endParaRPr>
          </a:p>
        </p:txBody>
      </p:sp>
      <p:sp>
        <p:nvSpPr>
          <p:cNvPr id="6" name="Shape 30">
            <a:extLst>
              <a:ext uri="{FF2B5EF4-FFF2-40B4-BE49-F238E27FC236}">
                <a16:creationId xmlns:a16="http://schemas.microsoft.com/office/drawing/2014/main" id="{1C60CEAD-5873-4A66-B2EE-1D1DD63D583A}"/>
              </a:ext>
            </a:extLst>
          </p:cNvPr>
          <p:cNvSpPr/>
          <p:nvPr/>
        </p:nvSpPr>
        <p:spPr>
          <a:xfrm>
            <a:off x="3080786" y="1642954"/>
            <a:ext cx="474043" cy="484751"/>
          </a:xfrm>
          <a:prstGeom prst="rect">
            <a:avLst/>
          </a:prstGeom>
          <a:solidFill>
            <a:srgbClr val="2563A8"/>
          </a:solidFill>
          <a:ln w="12700">
            <a:solidFill>
              <a:srgbClr val="E8EDF3"/>
            </a:solidFill>
            <a:prstDash val="solid"/>
          </a:ln>
        </p:spPr>
        <p:txBody>
          <a:bodyPr/>
          <a:lstStyle/>
          <a:p>
            <a:endParaRPr lang="en-JP" dirty="0"/>
          </a:p>
        </p:txBody>
      </p:sp>
      <p:sp>
        <p:nvSpPr>
          <p:cNvPr id="7" name="Shape 30">
            <a:extLst>
              <a:ext uri="{FF2B5EF4-FFF2-40B4-BE49-F238E27FC236}">
                <a16:creationId xmlns:a16="http://schemas.microsoft.com/office/drawing/2014/main" id="{5800B416-2767-92F9-11D2-A87D55FFD112}"/>
              </a:ext>
            </a:extLst>
          </p:cNvPr>
          <p:cNvSpPr/>
          <p:nvPr/>
        </p:nvSpPr>
        <p:spPr>
          <a:xfrm>
            <a:off x="2490738" y="2339774"/>
            <a:ext cx="474043" cy="484751"/>
          </a:xfrm>
          <a:prstGeom prst="rect">
            <a:avLst/>
          </a:prstGeom>
          <a:solidFill>
            <a:srgbClr val="2563A8"/>
          </a:solidFill>
          <a:ln w="12700">
            <a:solidFill>
              <a:srgbClr val="E8EDF3"/>
            </a:solidFill>
            <a:prstDash val="solid"/>
          </a:ln>
        </p:spPr>
      </p:sp>
      <p:sp>
        <p:nvSpPr>
          <p:cNvPr id="8" name="Shape 30">
            <a:extLst>
              <a:ext uri="{FF2B5EF4-FFF2-40B4-BE49-F238E27FC236}">
                <a16:creationId xmlns:a16="http://schemas.microsoft.com/office/drawing/2014/main" id="{90A96DCC-D9E4-5438-627E-D28AC6DFD0AD}"/>
              </a:ext>
            </a:extLst>
          </p:cNvPr>
          <p:cNvSpPr/>
          <p:nvPr/>
        </p:nvSpPr>
        <p:spPr>
          <a:xfrm>
            <a:off x="3080786" y="2339774"/>
            <a:ext cx="474043" cy="484751"/>
          </a:xfrm>
          <a:prstGeom prst="rect">
            <a:avLst/>
          </a:prstGeom>
          <a:solidFill>
            <a:srgbClr val="2563A8"/>
          </a:solidFill>
          <a:ln w="12700">
            <a:solidFill>
              <a:srgbClr val="E8EDF3"/>
            </a:solidFill>
            <a:prstDash val="solid"/>
          </a:ln>
        </p:spPr>
      </p:sp>
      <p:sp>
        <p:nvSpPr>
          <p:cNvPr id="9" name="Shape 30">
            <a:extLst>
              <a:ext uri="{FF2B5EF4-FFF2-40B4-BE49-F238E27FC236}">
                <a16:creationId xmlns:a16="http://schemas.microsoft.com/office/drawing/2014/main" id="{6C5B7110-168B-8A73-D8C1-951463CC6EF8}"/>
              </a:ext>
            </a:extLst>
          </p:cNvPr>
          <p:cNvSpPr/>
          <p:nvPr/>
        </p:nvSpPr>
        <p:spPr>
          <a:xfrm>
            <a:off x="3080785" y="3065311"/>
            <a:ext cx="474043" cy="484751"/>
          </a:xfrm>
          <a:prstGeom prst="rect">
            <a:avLst/>
          </a:prstGeom>
          <a:solidFill>
            <a:srgbClr val="FFC000"/>
          </a:solidFill>
          <a:ln w="12700">
            <a:solidFill>
              <a:srgbClr val="E8EDF3"/>
            </a:solidFill>
            <a:prstDash val="solid"/>
          </a:ln>
        </p:spPr>
      </p:sp>
      <p:sp>
        <p:nvSpPr>
          <p:cNvPr id="10" name="Shape 30">
            <a:extLst>
              <a:ext uri="{FF2B5EF4-FFF2-40B4-BE49-F238E27FC236}">
                <a16:creationId xmlns:a16="http://schemas.microsoft.com/office/drawing/2014/main" id="{49FA9E2E-01C6-190F-2CB7-A131AA791967}"/>
              </a:ext>
            </a:extLst>
          </p:cNvPr>
          <p:cNvSpPr/>
          <p:nvPr/>
        </p:nvSpPr>
        <p:spPr>
          <a:xfrm>
            <a:off x="3601949" y="3065311"/>
            <a:ext cx="474043" cy="484751"/>
          </a:xfrm>
          <a:prstGeom prst="rect">
            <a:avLst/>
          </a:prstGeom>
          <a:solidFill>
            <a:srgbClr val="FFC000"/>
          </a:solidFill>
          <a:ln w="12700">
            <a:solidFill>
              <a:srgbClr val="E8EDF3"/>
            </a:solidFill>
            <a:prstDash val="solid"/>
          </a:ln>
        </p:spPr>
      </p:sp>
      <p:sp>
        <p:nvSpPr>
          <p:cNvPr id="11" name="Shape 30">
            <a:extLst>
              <a:ext uri="{FF2B5EF4-FFF2-40B4-BE49-F238E27FC236}">
                <a16:creationId xmlns:a16="http://schemas.microsoft.com/office/drawing/2014/main" id="{04BDF549-9DEF-754D-F834-0FD2EE340367}"/>
              </a:ext>
            </a:extLst>
          </p:cNvPr>
          <p:cNvSpPr/>
          <p:nvPr/>
        </p:nvSpPr>
        <p:spPr>
          <a:xfrm>
            <a:off x="4170234" y="3065311"/>
            <a:ext cx="474043" cy="484751"/>
          </a:xfrm>
          <a:prstGeom prst="rect">
            <a:avLst/>
          </a:prstGeom>
          <a:solidFill>
            <a:srgbClr val="FFC000"/>
          </a:solidFill>
          <a:ln w="12700">
            <a:solidFill>
              <a:srgbClr val="E8EDF3"/>
            </a:solidFill>
            <a:prstDash val="solid"/>
          </a:ln>
        </p:spPr>
      </p:sp>
      <p:sp>
        <p:nvSpPr>
          <p:cNvPr id="12" name="Shape 30">
            <a:extLst>
              <a:ext uri="{FF2B5EF4-FFF2-40B4-BE49-F238E27FC236}">
                <a16:creationId xmlns:a16="http://schemas.microsoft.com/office/drawing/2014/main" id="{671E93B3-89AF-9360-64C5-15B9370BC4F2}"/>
              </a:ext>
            </a:extLst>
          </p:cNvPr>
          <p:cNvSpPr/>
          <p:nvPr/>
        </p:nvSpPr>
        <p:spPr>
          <a:xfrm>
            <a:off x="4721278" y="3065311"/>
            <a:ext cx="474043" cy="484751"/>
          </a:xfrm>
          <a:prstGeom prst="rect">
            <a:avLst/>
          </a:prstGeom>
          <a:solidFill>
            <a:srgbClr val="FFC000"/>
          </a:solidFill>
          <a:ln w="12700">
            <a:solidFill>
              <a:srgbClr val="E8EDF3"/>
            </a:solidFill>
            <a:prstDash val="solid"/>
          </a:ln>
        </p:spPr>
      </p:sp>
      <p:sp>
        <p:nvSpPr>
          <p:cNvPr id="13" name="Shape 30">
            <a:extLst>
              <a:ext uri="{FF2B5EF4-FFF2-40B4-BE49-F238E27FC236}">
                <a16:creationId xmlns:a16="http://schemas.microsoft.com/office/drawing/2014/main" id="{1893CA81-DC67-5925-002F-ED36B59B24E3}"/>
              </a:ext>
            </a:extLst>
          </p:cNvPr>
          <p:cNvSpPr/>
          <p:nvPr/>
        </p:nvSpPr>
        <p:spPr>
          <a:xfrm>
            <a:off x="3997285" y="4232056"/>
            <a:ext cx="474043" cy="484751"/>
          </a:xfrm>
          <a:prstGeom prst="rect">
            <a:avLst/>
          </a:prstGeom>
          <a:solidFill>
            <a:schemeClr val="accent6"/>
          </a:solidFill>
          <a:ln w="12700">
            <a:solidFill>
              <a:srgbClr val="E8EDF3"/>
            </a:solidFill>
            <a:prstDash val="solid"/>
          </a:ln>
        </p:spPr>
      </p:sp>
      <p:sp>
        <p:nvSpPr>
          <p:cNvPr id="14" name="Shape 30">
            <a:extLst>
              <a:ext uri="{FF2B5EF4-FFF2-40B4-BE49-F238E27FC236}">
                <a16:creationId xmlns:a16="http://schemas.microsoft.com/office/drawing/2014/main" id="{E78E4902-18C0-EA74-26F3-CBF3CC7C134C}"/>
              </a:ext>
            </a:extLst>
          </p:cNvPr>
          <p:cNvSpPr/>
          <p:nvPr/>
        </p:nvSpPr>
        <p:spPr>
          <a:xfrm>
            <a:off x="4572000" y="4236737"/>
            <a:ext cx="474043" cy="484751"/>
          </a:xfrm>
          <a:prstGeom prst="rect">
            <a:avLst/>
          </a:prstGeom>
          <a:solidFill>
            <a:schemeClr val="accent6"/>
          </a:solidFill>
          <a:ln w="12700">
            <a:solidFill>
              <a:srgbClr val="E8EDF3"/>
            </a:solidFill>
            <a:prstDash val="solid"/>
          </a:ln>
        </p:spPr>
      </p:sp>
      <p:sp>
        <p:nvSpPr>
          <p:cNvPr id="15" name="Shape 30">
            <a:extLst>
              <a:ext uri="{FF2B5EF4-FFF2-40B4-BE49-F238E27FC236}">
                <a16:creationId xmlns:a16="http://schemas.microsoft.com/office/drawing/2014/main" id="{C55111FC-9FA1-EC41-F422-DF5B2700F6E6}"/>
              </a:ext>
            </a:extLst>
          </p:cNvPr>
          <p:cNvSpPr/>
          <p:nvPr/>
        </p:nvSpPr>
        <p:spPr>
          <a:xfrm>
            <a:off x="5146715" y="4232056"/>
            <a:ext cx="474043" cy="484751"/>
          </a:xfrm>
          <a:prstGeom prst="rect">
            <a:avLst/>
          </a:prstGeom>
          <a:solidFill>
            <a:schemeClr val="accent6"/>
          </a:solidFill>
          <a:ln w="12700">
            <a:solidFill>
              <a:srgbClr val="E8EDF3"/>
            </a:solidFill>
            <a:prstDash val="solid"/>
          </a:ln>
        </p:spPr>
      </p:sp>
      <p:sp>
        <p:nvSpPr>
          <p:cNvPr id="16" name="Shape 30">
            <a:extLst>
              <a:ext uri="{FF2B5EF4-FFF2-40B4-BE49-F238E27FC236}">
                <a16:creationId xmlns:a16="http://schemas.microsoft.com/office/drawing/2014/main" id="{4DD9CFBD-B5BA-4988-B074-9C43B1F9CFD9}"/>
              </a:ext>
            </a:extLst>
          </p:cNvPr>
          <p:cNvSpPr/>
          <p:nvPr/>
        </p:nvSpPr>
        <p:spPr>
          <a:xfrm>
            <a:off x="5778767" y="4232056"/>
            <a:ext cx="474043" cy="484751"/>
          </a:xfrm>
          <a:prstGeom prst="rect">
            <a:avLst/>
          </a:prstGeom>
          <a:solidFill>
            <a:schemeClr val="accent6"/>
          </a:solidFill>
          <a:ln w="12700">
            <a:solidFill>
              <a:srgbClr val="E8EDF3"/>
            </a:solidFill>
            <a:prstDash val="solid"/>
          </a:ln>
        </p:spPr>
      </p:sp>
      <p:sp>
        <p:nvSpPr>
          <p:cNvPr id="17" name="Shape 30">
            <a:extLst>
              <a:ext uri="{FF2B5EF4-FFF2-40B4-BE49-F238E27FC236}">
                <a16:creationId xmlns:a16="http://schemas.microsoft.com/office/drawing/2014/main" id="{2BFE7A78-BCBE-639F-8591-6EB952E6BD7E}"/>
              </a:ext>
            </a:extLst>
          </p:cNvPr>
          <p:cNvSpPr/>
          <p:nvPr/>
        </p:nvSpPr>
        <p:spPr>
          <a:xfrm>
            <a:off x="6758373" y="5143952"/>
            <a:ext cx="474043" cy="484751"/>
          </a:xfrm>
          <a:prstGeom prst="rect">
            <a:avLst/>
          </a:prstGeom>
          <a:solidFill>
            <a:srgbClr val="00B0F0"/>
          </a:solidFill>
          <a:ln w="12700">
            <a:solidFill>
              <a:srgbClr val="E8EDF3"/>
            </a:solidFill>
            <a:prstDash val="solid"/>
          </a:ln>
        </p:spPr>
        <p:txBody>
          <a:bodyPr/>
          <a:lstStyle/>
          <a:p>
            <a:endParaRPr lang="en-JP" dirty="0"/>
          </a:p>
        </p:txBody>
      </p:sp>
      <p:sp>
        <p:nvSpPr>
          <p:cNvPr id="18" name="Shape 30">
            <a:extLst>
              <a:ext uri="{FF2B5EF4-FFF2-40B4-BE49-F238E27FC236}">
                <a16:creationId xmlns:a16="http://schemas.microsoft.com/office/drawing/2014/main" id="{5252411F-7B7D-8E15-33C3-F4E5E43B40C3}"/>
              </a:ext>
            </a:extLst>
          </p:cNvPr>
          <p:cNvSpPr/>
          <p:nvPr/>
        </p:nvSpPr>
        <p:spPr>
          <a:xfrm>
            <a:off x="7340552" y="5143952"/>
            <a:ext cx="474043" cy="484751"/>
          </a:xfrm>
          <a:prstGeom prst="rect">
            <a:avLst/>
          </a:prstGeom>
          <a:solidFill>
            <a:srgbClr val="00B0F0"/>
          </a:solidFill>
          <a:ln w="12700">
            <a:solidFill>
              <a:srgbClr val="E8EDF3"/>
            </a:solidFill>
            <a:prstDash val="solid"/>
          </a:ln>
        </p:spPr>
      </p:sp>
      <p:sp>
        <p:nvSpPr>
          <p:cNvPr id="19" name="Shape 30">
            <a:extLst>
              <a:ext uri="{FF2B5EF4-FFF2-40B4-BE49-F238E27FC236}">
                <a16:creationId xmlns:a16="http://schemas.microsoft.com/office/drawing/2014/main" id="{16343577-63BC-F0B0-E957-D087F195152F}"/>
              </a:ext>
            </a:extLst>
          </p:cNvPr>
          <p:cNvSpPr/>
          <p:nvPr/>
        </p:nvSpPr>
        <p:spPr>
          <a:xfrm>
            <a:off x="7982004" y="5143951"/>
            <a:ext cx="601926" cy="484751"/>
          </a:xfrm>
          <a:prstGeom prst="rect">
            <a:avLst/>
          </a:prstGeom>
          <a:solidFill>
            <a:srgbClr val="00B0F0"/>
          </a:solidFill>
          <a:ln w="12700">
            <a:solidFill>
              <a:srgbClr val="E8EDF3"/>
            </a:solidFill>
            <a:prstDash val="solid"/>
          </a:ln>
        </p:spPr>
      </p:sp>
      <p:sp>
        <p:nvSpPr>
          <p:cNvPr id="20" name="Shape 30">
            <a:extLst>
              <a:ext uri="{FF2B5EF4-FFF2-40B4-BE49-F238E27FC236}">
                <a16:creationId xmlns:a16="http://schemas.microsoft.com/office/drawing/2014/main" id="{443A724E-B0A8-F56A-EDF6-E47AD445DE83}"/>
              </a:ext>
            </a:extLst>
          </p:cNvPr>
          <p:cNvSpPr/>
          <p:nvPr/>
        </p:nvSpPr>
        <p:spPr>
          <a:xfrm>
            <a:off x="6758372" y="5702739"/>
            <a:ext cx="474043" cy="484751"/>
          </a:xfrm>
          <a:prstGeom prst="rect">
            <a:avLst/>
          </a:prstGeom>
          <a:solidFill>
            <a:srgbClr val="00B0F0"/>
          </a:solidFill>
          <a:ln w="12700">
            <a:solidFill>
              <a:srgbClr val="E8EDF3"/>
            </a:solidFill>
            <a:prstDash val="solid"/>
          </a:ln>
        </p:spPr>
      </p:sp>
      <p:sp>
        <p:nvSpPr>
          <p:cNvPr id="21" name="Shape 30">
            <a:extLst>
              <a:ext uri="{FF2B5EF4-FFF2-40B4-BE49-F238E27FC236}">
                <a16:creationId xmlns:a16="http://schemas.microsoft.com/office/drawing/2014/main" id="{F5884481-9BBC-68A4-D3CF-A6F65C792F66}"/>
              </a:ext>
            </a:extLst>
          </p:cNvPr>
          <p:cNvSpPr/>
          <p:nvPr/>
        </p:nvSpPr>
        <p:spPr>
          <a:xfrm>
            <a:off x="7310558" y="5702738"/>
            <a:ext cx="474043" cy="484751"/>
          </a:xfrm>
          <a:prstGeom prst="rect">
            <a:avLst/>
          </a:prstGeom>
          <a:solidFill>
            <a:srgbClr val="00B0F0"/>
          </a:solidFill>
          <a:ln w="12700">
            <a:solidFill>
              <a:srgbClr val="E8EDF3"/>
            </a:solidFill>
            <a:prstDash val="solid"/>
          </a:ln>
        </p:spPr>
      </p:sp>
      <p:sp>
        <p:nvSpPr>
          <p:cNvPr id="22" name="Shape 30">
            <a:extLst>
              <a:ext uri="{FF2B5EF4-FFF2-40B4-BE49-F238E27FC236}">
                <a16:creationId xmlns:a16="http://schemas.microsoft.com/office/drawing/2014/main" id="{5518330F-E877-A44A-5173-71BC558E7F44}"/>
              </a:ext>
            </a:extLst>
          </p:cNvPr>
          <p:cNvSpPr/>
          <p:nvPr/>
        </p:nvSpPr>
        <p:spPr>
          <a:xfrm>
            <a:off x="7922730" y="5714656"/>
            <a:ext cx="661199" cy="484751"/>
          </a:xfrm>
          <a:prstGeom prst="rect">
            <a:avLst/>
          </a:prstGeom>
          <a:solidFill>
            <a:srgbClr val="00B0F0"/>
          </a:solidFill>
          <a:ln w="12700">
            <a:solidFill>
              <a:srgbClr val="E8EDF3"/>
            </a:solidFill>
            <a:prstDash val="solid"/>
          </a:ln>
        </p:spPr>
      </p:sp>
      <p:sp>
        <p:nvSpPr>
          <p:cNvPr id="23" name="TextBox 22">
            <a:extLst>
              <a:ext uri="{FF2B5EF4-FFF2-40B4-BE49-F238E27FC236}">
                <a16:creationId xmlns:a16="http://schemas.microsoft.com/office/drawing/2014/main" id="{622DCCAC-20FA-0D43-7A21-222CA076D31B}"/>
              </a:ext>
            </a:extLst>
          </p:cNvPr>
          <p:cNvSpPr txBox="1"/>
          <p:nvPr/>
        </p:nvSpPr>
        <p:spPr>
          <a:xfrm>
            <a:off x="8396773" y="6307475"/>
            <a:ext cx="470000" cy="646331"/>
          </a:xfrm>
          <a:prstGeom prst="rect">
            <a:avLst/>
          </a:prstGeom>
          <a:noFill/>
        </p:spPr>
        <p:txBody>
          <a:bodyPr wrap="square" rtlCol="0">
            <a:spAutoFit/>
          </a:bodyPr>
          <a:lstStyle/>
          <a:p>
            <a:r>
              <a:rPr lang="en-JP" dirty="0">
                <a:latin typeface="Meiryo" panose="020B0604030504040204" pitchFamily="34" charset="-128"/>
                <a:ea typeface="Meiryo" panose="020B0604030504040204" pitchFamily="34" charset="-128"/>
              </a:rPr>
              <a:t>37</a:t>
            </a:r>
          </a:p>
          <a:p>
            <a:endParaRPr lang="en-JP" dirty="0"/>
          </a:p>
        </p:txBody>
      </p:sp>
    </p:spTree>
    <p:extLst>
      <p:ext uri="{BB962C8B-B14F-4D97-AF65-F5344CB8AC3E}">
        <p14:creationId xmlns:p14="http://schemas.microsoft.com/office/powerpoint/2010/main" val="40098608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C6B426-797B-9E93-F9E1-D5F99B88E7A6}"/>
              </a:ext>
            </a:extLst>
          </p:cNvPr>
          <p:cNvSpPr>
            <a:spLocks noGrp="1"/>
          </p:cNvSpPr>
          <p:nvPr>
            <p:ph type="title"/>
          </p:nvPr>
        </p:nvSpPr>
        <p:spPr/>
        <p:txBody>
          <a:bodyPr/>
          <a:lstStyle/>
          <a:p>
            <a:r>
              <a:rPr lang="ja-JP" altLang="en-US" dirty="0">
                <a:latin typeface="Meiryo UI" panose="020B0604030504040204" pitchFamily="50" charset="-128"/>
                <a:ea typeface="Meiryo UI" panose="020B0604030504040204" pitchFamily="50" charset="-128"/>
              </a:rPr>
              <a:t>目次</a:t>
            </a:r>
            <a:endParaRPr lang="en-JP" dirty="0">
              <a:latin typeface="Meiryo UI" panose="020B0604030504040204" pitchFamily="50" charset="-128"/>
              <a:ea typeface="Meiryo UI" panose="020B0604030504040204" pitchFamily="50" charset="-128"/>
            </a:endParaRPr>
          </a:p>
        </p:txBody>
      </p:sp>
      <p:sp>
        <p:nvSpPr>
          <p:cNvPr id="3" name="Content Placeholder 2">
            <a:extLst>
              <a:ext uri="{FF2B5EF4-FFF2-40B4-BE49-F238E27FC236}">
                <a16:creationId xmlns:a16="http://schemas.microsoft.com/office/drawing/2014/main" id="{68AF4777-263A-D285-FE95-4A835C74B5A2}"/>
              </a:ext>
            </a:extLst>
          </p:cNvPr>
          <p:cNvSpPr>
            <a:spLocks noGrp="1"/>
          </p:cNvSpPr>
          <p:nvPr>
            <p:ph idx="1"/>
          </p:nvPr>
        </p:nvSpPr>
        <p:spPr>
          <a:xfrm>
            <a:off x="470010" y="1635919"/>
            <a:ext cx="7886700" cy="4856955"/>
          </a:xfrm>
        </p:spPr>
        <p:txBody>
          <a:bodyPr>
            <a:normAutofit lnSpcReduction="10000"/>
          </a:bodyPr>
          <a:lstStyle/>
          <a:p>
            <a:pPr marL="476219" indent="-342878">
              <a:lnSpc>
                <a:spcPct val="150000"/>
              </a:lnSpc>
              <a:spcBef>
                <a:spcPts val="0"/>
              </a:spcBef>
              <a:buSzPts val="2800"/>
              <a:buFont typeface="Wingdings" pitchFamily="2" charset="2"/>
              <a:buChar char="§"/>
            </a:pPr>
            <a:r>
              <a:rPr lang="en-US" altLang="ja-JP" sz="3100" dirty="0">
                <a:latin typeface="Meiryo" panose="020B0604030504040204" pitchFamily="34" charset="-128"/>
                <a:ea typeface="Meiryo" panose="020B0604030504040204" pitchFamily="34" charset="-128"/>
              </a:rPr>
              <a:t> </a:t>
            </a:r>
            <a:r>
              <a:rPr lang="ja-JP" altLang="en-US" sz="3100">
                <a:latin typeface="Meiryo" panose="020B0604030504040204" pitchFamily="34" charset="-128"/>
                <a:ea typeface="Meiryo" panose="020B0604030504040204" pitchFamily="34" charset="-128"/>
              </a:rPr>
              <a:t>研究背景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研究目的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関連技術・関連研究   </a:t>
            </a:r>
            <a:endParaRPr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提案手法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a:latin typeface="Meiryo" panose="020B0604030504040204" pitchFamily="34" charset="-128"/>
                <a:ea typeface="Meiryo" panose="020B0604030504040204" pitchFamily="34" charset="-128"/>
              </a:rPr>
              <a:t>評価手法     </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i="0" u="none" strike="noStrike">
                <a:effectLst/>
                <a:latin typeface="Meiryo" panose="020B0604030504040204" pitchFamily="34" charset="-128"/>
                <a:ea typeface="Meiryo" panose="020B0604030504040204" pitchFamily="34" charset="-128"/>
              </a:rPr>
              <a:t>現在の進捗状況</a:t>
            </a:r>
            <a:endParaRPr lang="mn-MN"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r>
              <a:rPr lang="ja-JP" altLang="en-US" sz="3100" b="1">
                <a:solidFill>
                  <a:srgbClr val="C00000"/>
                </a:solidFill>
                <a:latin typeface="Meiryo" panose="020B0604030504040204" pitchFamily="34" charset="-128"/>
                <a:ea typeface="Meiryo" panose="020B0604030504040204" pitchFamily="34" charset="-128"/>
              </a:rPr>
              <a:t>まとめ</a:t>
            </a:r>
            <a:r>
              <a:rPr lang="ja-JP" altLang="en-US" sz="3100">
                <a:latin typeface="Meiryo" panose="020B0604030504040204" pitchFamily="34" charset="-128"/>
                <a:ea typeface="Meiryo" panose="020B0604030504040204" pitchFamily="34" charset="-128"/>
              </a:rPr>
              <a:t>       </a:t>
            </a:r>
            <a:endParaRPr kumimoji="1" lang="en-US" altLang="ja-JP" sz="3100" dirty="0">
              <a:latin typeface="Meiryo" panose="020B0604030504040204" pitchFamily="34" charset="-128"/>
              <a:ea typeface="Meiryo" panose="020B0604030504040204" pitchFamily="34" charset="-128"/>
            </a:endParaRPr>
          </a:p>
          <a:p>
            <a:pPr marL="476219" indent="-342878">
              <a:lnSpc>
                <a:spcPct val="150000"/>
              </a:lnSpc>
              <a:spcBef>
                <a:spcPts val="0"/>
              </a:spcBef>
              <a:buSzPts val="2800"/>
              <a:buFont typeface="Wingdings" pitchFamily="2" charset="2"/>
              <a:buChar char="§"/>
            </a:pPr>
            <a:endParaRPr lang="en-US" altLang="ja-JP" sz="2500" dirty="0">
              <a:latin typeface="Meiryo UI" panose="020B0604030504040204" pitchFamily="50" charset="-128"/>
              <a:ea typeface="Meiryo UI" panose="020B0604030504040204" pitchFamily="50" charset="-128"/>
            </a:endParaRPr>
          </a:p>
          <a:p>
            <a:endParaRPr lang="en-JP" sz="2500" dirty="0">
              <a:latin typeface="Meiryo UI" panose="020B0604030504040204" pitchFamily="50" charset="-128"/>
              <a:ea typeface="Meiryo UI" panose="020B0604030504040204" pitchFamily="50" charset="-128"/>
            </a:endParaRPr>
          </a:p>
        </p:txBody>
      </p:sp>
      <p:sp>
        <p:nvSpPr>
          <p:cNvPr id="6" name="Slide Number Placeholder 5">
            <a:extLst>
              <a:ext uri="{FF2B5EF4-FFF2-40B4-BE49-F238E27FC236}">
                <a16:creationId xmlns:a16="http://schemas.microsoft.com/office/drawing/2014/main" id="{E98CE72E-8D3B-327B-7659-89789A410CB0}"/>
              </a:ext>
            </a:extLst>
          </p:cNvPr>
          <p:cNvSpPr>
            <a:spLocks noGrp="1"/>
          </p:cNvSpPr>
          <p:nvPr>
            <p:ph type="sldNum" sz="quarter" idx="12"/>
          </p:nvPr>
        </p:nvSpPr>
        <p:spPr/>
        <p:txBody>
          <a:bodyPr/>
          <a:lstStyle/>
          <a:p>
            <a:fld id="{BB44241B-2579-694C-B40C-A1E3D5F0E4EC}" type="slidenum">
              <a:rPr lang="en-JP" smtClean="0">
                <a:latin typeface="Meiryo" panose="020B0604030504040204" pitchFamily="34" charset="-128"/>
                <a:ea typeface="Meiryo" panose="020B0604030504040204" pitchFamily="34" charset="-128"/>
              </a:rPr>
              <a:t>40</a:t>
            </a:fld>
            <a:endParaRPr lang="en-JP" dirty="0">
              <a:latin typeface="Meiryo" panose="020B0604030504040204" pitchFamily="34" charset="-128"/>
              <a:ea typeface="Meiryo" panose="020B0604030504040204" pitchFamily="34" charset="-128"/>
            </a:endParaRPr>
          </a:p>
        </p:txBody>
      </p:sp>
      <p:sp>
        <p:nvSpPr>
          <p:cNvPr id="5" name="TextBox 4">
            <a:extLst>
              <a:ext uri="{FF2B5EF4-FFF2-40B4-BE49-F238E27FC236}">
                <a16:creationId xmlns:a16="http://schemas.microsoft.com/office/drawing/2014/main" id="{50F375AD-778D-AB44-5C16-9E3EFA85933A}"/>
              </a:ext>
            </a:extLst>
          </p:cNvPr>
          <p:cNvSpPr txBox="1"/>
          <p:nvPr/>
        </p:nvSpPr>
        <p:spPr>
          <a:xfrm>
            <a:off x="5987668" y="3263465"/>
            <a:ext cx="4572000" cy="369332"/>
          </a:xfrm>
          <a:prstGeom prst="rect">
            <a:avLst/>
          </a:prstGeom>
          <a:noFill/>
        </p:spPr>
        <p:txBody>
          <a:bodyPr wrap="square">
            <a:spAutoFit/>
          </a:bodyPr>
          <a:lstStyle/>
          <a:p>
            <a:r>
              <a:rPr lang="en-JP" b="0" dirty="0">
                <a:effectLst/>
              </a:rPr>
              <a:t> </a:t>
            </a:r>
            <a:endParaRPr lang="en-JP" dirty="0"/>
          </a:p>
        </p:txBody>
      </p:sp>
    </p:spTree>
    <p:extLst>
      <p:ext uri="{BB962C8B-B14F-4D97-AF65-F5344CB8AC3E}">
        <p14:creationId xmlns:p14="http://schemas.microsoft.com/office/powerpoint/2010/main" val="22347932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73958E9-28BE-C4D9-69A3-2B2A9772E762}"/>
              </a:ext>
            </a:extLst>
          </p:cNvPr>
          <p:cNvSpPr txBox="1"/>
          <p:nvPr/>
        </p:nvSpPr>
        <p:spPr>
          <a:xfrm>
            <a:off x="260529" y="131616"/>
            <a:ext cx="2252540" cy="646331"/>
          </a:xfrm>
          <a:prstGeom prst="rect">
            <a:avLst/>
          </a:prstGeom>
          <a:noFill/>
        </p:spPr>
        <p:txBody>
          <a:bodyPr wrap="none" rtlCol="0">
            <a:spAutoFit/>
          </a:bodyPr>
          <a:lstStyle/>
          <a:p>
            <a:r>
              <a:rPr lang="ja-JP" altLang="en-US" sz="3600" b="1">
                <a:latin typeface="Meiryo" panose="020B0604030504040204" pitchFamily="34" charset="-128"/>
                <a:ea typeface="Meiryo" panose="020B0604030504040204" pitchFamily="34" charset="-128"/>
              </a:rPr>
              <a:t>まとめ</a:t>
            </a:r>
            <a:r>
              <a:rPr lang="en-US" altLang="ja-JP" sz="3600" b="1" dirty="0">
                <a:latin typeface="Meiryo" panose="020B0604030504040204" pitchFamily="34" charset="-128"/>
                <a:ea typeface="Meiryo" panose="020B0604030504040204" pitchFamily="34" charset="-128"/>
              </a:rPr>
              <a:t> -1</a:t>
            </a:r>
            <a:endParaRPr lang="en-JP" sz="3600" b="1" dirty="0">
              <a:latin typeface="Meiryo" panose="020B0604030504040204" pitchFamily="34" charset="-128"/>
              <a:ea typeface="Meiryo" panose="020B0604030504040204" pitchFamily="34" charset="-128"/>
            </a:endParaRPr>
          </a:p>
        </p:txBody>
      </p:sp>
      <p:sp>
        <p:nvSpPr>
          <p:cNvPr id="6" name="TextBox 5">
            <a:extLst>
              <a:ext uri="{FF2B5EF4-FFF2-40B4-BE49-F238E27FC236}">
                <a16:creationId xmlns:a16="http://schemas.microsoft.com/office/drawing/2014/main" id="{F8ED50DB-7C0F-90E0-E92C-5E6134FD1BE0}"/>
              </a:ext>
            </a:extLst>
          </p:cNvPr>
          <p:cNvSpPr txBox="1"/>
          <p:nvPr/>
        </p:nvSpPr>
        <p:spPr>
          <a:xfrm>
            <a:off x="8097251" y="6109521"/>
            <a:ext cx="926433" cy="369332"/>
          </a:xfrm>
          <a:prstGeom prst="rect">
            <a:avLst/>
          </a:prstGeom>
          <a:noFill/>
        </p:spPr>
        <p:txBody>
          <a:bodyPr wrap="square">
            <a:spAutoFit/>
          </a:bodyPr>
          <a:lstStyle/>
          <a:p>
            <a:r>
              <a:rPr lang="en-JP" dirty="0">
                <a:latin typeface="Meiryo" panose="020B0604030504040204" pitchFamily="34" charset="-128"/>
                <a:ea typeface="Meiryo" panose="020B0604030504040204" pitchFamily="34" charset="-128"/>
              </a:rPr>
              <a:t>39</a:t>
            </a:r>
          </a:p>
        </p:txBody>
      </p:sp>
      <p:sp>
        <p:nvSpPr>
          <p:cNvPr id="9" name="TextBox 8">
            <a:extLst>
              <a:ext uri="{FF2B5EF4-FFF2-40B4-BE49-F238E27FC236}">
                <a16:creationId xmlns:a16="http://schemas.microsoft.com/office/drawing/2014/main" id="{46B6D430-F8BA-C28A-D480-D4C29EC09D53}"/>
              </a:ext>
            </a:extLst>
          </p:cNvPr>
          <p:cNvSpPr txBox="1"/>
          <p:nvPr/>
        </p:nvSpPr>
        <p:spPr>
          <a:xfrm>
            <a:off x="260529" y="937260"/>
            <a:ext cx="8220531" cy="5262979"/>
          </a:xfrm>
          <a:prstGeom prst="rect">
            <a:avLst/>
          </a:prstGeom>
          <a:noFill/>
        </p:spPr>
        <p:txBody>
          <a:bodyPr wrap="square">
            <a:spAutoFit/>
          </a:bodyPr>
          <a:lstStyle/>
          <a:p>
            <a:r>
              <a:rPr lang="ja-JP" altLang="en-US" sz="2400" b="1">
                <a:latin typeface="Meiryo" panose="020B0604030504040204" pitchFamily="34" charset="-128"/>
                <a:ea typeface="Meiryo" panose="020B0604030504040204" pitchFamily="34" charset="-128"/>
              </a:rPr>
              <a:t>① 課題</a:t>
            </a:r>
            <a:endParaRPr lang="mn-MN" altLang="ja-JP" sz="2400" b="1" dirty="0">
              <a:latin typeface="Meiryo" panose="020B0604030504040204" pitchFamily="34" charset="-128"/>
              <a:ea typeface="Meiryo" panose="020B0604030504040204" pitchFamily="34" charset="-128"/>
            </a:endParaRPr>
          </a:p>
          <a:p>
            <a:endParaRPr lang="ja-JP" altLang="en-US" sz="2400" b="1">
              <a:solidFill>
                <a:srgbClr val="C00000"/>
              </a:solidFill>
              <a:latin typeface="Meiryo" panose="020B0604030504040204" pitchFamily="34" charset="-128"/>
              <a:ea typeface="Meiryo" panose="020B0604030504040204" pitchFamily="34" charset="-128"/>
            </a:endParaRPr>
          </a:p>
          <a:p>
            <a:pPr marL="342900" indent="-342900">
              <a:buFont typeface="Wingdings" pitchFamily="2" charset="2"/>
              <a:buChar char="Ø"/>
            </a:pPr>
            <a:r>
              <a:rPr lang="en-US" sz="2400" dirty="0" err="1">
                <a:latin typeface="Meiryo" panose="020B0604030504040204" pitchFamily="34" charset="-128"/>
                <a:ea typeface="Meiryo" panose="020B0604030504040204" pitchFamily="34" charset="-128"/>
              </a:rPr>
              <a:t>CoAP+DTLS</a:t>
            </a:r>
            <a:r>
              <a:rPr lang="ja-JP" altLang="en-US" sz="2400">
                <a:latin typeface="Meiryo" panose="020B0604030504040204" pitchFamily="34" charset="-128"/>
                <a:ea typeface="Meiryo" panose="020B0604030504040204" pitchFamily="34" charset="-128"/>
              </a:rPr>
              <a:t>環境では</a:t>
            </a:r>
            <a:r>
              <a:rPr lang="en-US"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がペイロードを暗号化するため，</a:t>
            </a:r>
            <a:r>
              <a:rPr lang="en-US" sz="2400" dirty="0">
                <a:latin typeface="Meiryo" panose="020B0604030504040204" pitchFamily="34" charset="-128"/>
                <a:ea typeface="Meiryo" panose="020B0604030504040204" pitchFamily="34" charset="-128"/>
              </a:rPr>
              <a:t>DPI</a:t>
            </a:r>
            <a:r>
              <a:rPr lang="ja-JP" altLang="en-US" sz="2400">
                <a:latin typeface="Meiryo" panose="020B0604030504040204" pitchFamily="34" charset="-128"/>
                <a:ea typeface="Meiryo" panose="020B0604030504040204" pitchFamily="34" charset="-128"/>
              </a:rPr>
              <a:t>ベースの従来型</a:t>
            </a:r>
            <a:r>
              <a:rPr lang="en-US" sz="2400" dirty="0">
                <a:latin typeface="Meiryo" panose="020B0604030504040204" pitchFamily="34" charset="-128"/>
                <a:ea typeface="Meiryo" panose="020B0604030504040204" pitchFamily="34" charset="-128"/>
              </a:rPr>
              <a:t>IDS</a:t>
            </a:r>
            <a:r>
              <a:rPr lang="ja-JP" altLang="en-US" sz="2400">
                <a:latin typeface="Meiryo" panose="020B0604030504040204" pitchFamily="34" charset="-128"/>
                <a:ea typeface="Meiryo" panose="020B0604030504040204" pitchFamily="34" charset="-128"/>
              </a:rPr>
              <a:t>は</a:t>
            </a:r>
            <a:r>
              <a:rPr lang="en-US" sz="2400" dirty="0">
                <a:latin typeface="Meiryo" panose="020B0604030504040204" pitchFamily="34" charset="-128"/>
                <a:ea typeface="Meiryo" panose="020B0604030504040204" pitchFamily="34" charset="-128"/>
              </a:rPr>
              <a:t>ARP Spoofing</a:t>
            </a:r>
            <a:r>
              <a:rPr lang="ja-JP" altLang="en-US" sz="2400">
                <a:latin typeface="Meiryo" panose="020B0604030504040204" pitchFamily="34" charset="-128"/>
                <a:ea typeface="Meiryo" panose="020B0604030504040204" pitchFamily="34" charset="-128"/>
              </a:rPr>
              <a:t>を検知することが困難である．また</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プロトコルは認証機構を持たないため（</a:t>
            </a:r>
            <a:r>
              <a:rPr lang="en-US" sz="2400" dirty="0">
                <a:latin typeface="Meiryo" panose="020B0604030504040204" pitchFamily="34" charset="-128"/>
                <a:ea typeface="Meiryo" panose="020B0604030504040204" pitchFamily="34" charset="-128"/>
              </a:rPr>
              <a:t>RFC 826），</a:t>
            </a:r>
            <a:r>
              <a:rPr lang="ja-JP" altLang="en-US" sz="2400">
                <a:latin typeface="Meiryo" panose="020B0604030504040204" pitchFamily="34" charset="-128"/>
                <a:ea typeface="Meiryo" panose="020B0604030504040204" pitchFamily="34" charset="-128"/>
              </a:rPr>
              <a:t>同一ネットワーク内の攻撃者が</a:t>
            </a:r>
            <a:r>
              <a:rPr lang="en-US" sz="2400" dirty="0">
                <a:latin typeface="Meiryo" panose="020B0604030504040204" pitchFamily="34" charset="-128"/>
                <a:ea typeface="Meiryo" panose="020B0604030504040204" pitchFamily="34" charset="-128"/>
              </a:rPr>
              <a:t>MITM</a:t>
            </a:r>
            <a:r>
              <a:rPr lang="ja-JP" altLang="en-US" sz="2400">
                <a:latin typeface="Meiryo" panose="020B0604030504040204" pitchFamily="34" charset="-128"/>
                <a:ea typeface="Meiryo" panose="020B0604030504040204" pitchFamily="34" charset="-128"/>
              </a:rPr>
              <a:t>位置を確立できる．</a:t>
            </a:r>
            <a:endParaRPr lang="mn-MN" altLang="ja-JP" sz="2400" dirty="0">
              <a:latin typeface="Meiryo" panose="020B0604030504040204" pitchFamily="34" charset="-128"/>
              <a:ea typeface="Meiryo" panose="020B0604030504040204" pitchFamily="34" charset="-128"/>
            </a:endParaRPr>
          </a:p>
          <a:p>
            <a:endParaRPr lang="ja-JP" altLang="en-US" sz="2400">
              <a:latin typeface="Meiryo" panose="020B0604030504040204" pitchFamily="34" charset="-128"/>
              <a:ea typeface="Meiryo" panose="020B0604030504040204" pitchFamily="34" charset="-128"/>
            </a:endParaRPr>
          </a:p>
          <a:p>
            <a:r>
              <a:rPr lang="ja-JP" altLang="en-US" sz="2400" b="1">
                <a:latin typeface="Meiryo" panose="020B0604030504040204" pitchFamily="34" charset="-128"/>
                <a:ea typeface="Meiryo" panose="020B0604030504040204" pitchFamily="34" charset="-128"/>
              </a:rPr>
              <a:t>② 提案手法</a:t>
            </a:r>
            <a:endParaRPr lang="mn-MN" altLang="ja-JP" sz="2400" b="1" dirty="0">
              <a:latin typeface="Meiryo" panose="020B0604030504040204" pitchFamily="34" charset="-128"/>
              <a:ea typeface="Meiryo" panose="020B0604030504040204" pitchFamily="34" charset="-128"/>
            </a:endParaRPr>
          </a:p>
          <a:p>
            <a:endParaRPr lang="ja-JP" altLang="en-US" sz="2400" b="1">
              <a:solidFill>
                <a:srgbClr val="C00000"/>
              </a:solidFill>
              <a:latin typeface="Meiryo" panose="020B0604030504040204" pitchFamily="34" charset="-128"/>
              <a:ea typeface="Meiryo" panose="020B0604030504040204" pitchFamily="34" charset="-128"/>
            </a:endParaRPr>
          </a:p>
          <a:p>
            <a:pPr marL="342900" indent="-342900">
              <a:buFont typeface="Wingdings" pitchFamily="2" charset="2"/>
              <a:buChar char="Ø"/>
            </a:pPr>
            <a:r>
              <a:rPr lang="en-US" sz="2400" dirty="0">
                <a:latin typeface="Meiryo" panose="020B0604030504040204" pitchFamily="34" charset="-128"/>
                <a:ea typeface="Meiryo" panose="020B0604030504040204" pitchFamily="34" charset="-128"/>
              </a:rPr>
              <a:t>Router</a:t>
            </a:r>
            <a:r>
              <a:rPr lang="ja-JP" altLang="en-US" sz="2400">
                <a:latin typeface="Meiryo" panose="020B0604030504040204" pitchFamily="34" charset="-128"/>
                <a:ea typeface="Meiryo" panose="020B0604030504040204" pitchFamily="34" charset="-128"/>
              </a:rPr>
              <a:t>と</a:t>
            </a:r>
            <a:r>
              <a:rPr lang="en-US" sz="2400" dirty="0">
                <a:latin typeface="Meiryo" panose="020B0604030504040204" pitchFamily="34" charset="-128"/>
                <a:ea typeface="Meiryo" panose="020B0604030504040204" pitchFamily="34" charset="-128"/>
              </a:rPr>
              <a:t>IoT</a:t>
            </a:r>
            <a:r>
              <a:rPr lang="ja-JP" altLang="en-US" sz="2400">
                <a:latin typeface="Meiryo" panose="020B0604030504040204" pitchFamily="34" charset="-128"/>
                <a:ea typeface="Meiryo" panose="020B0604030504040204" pitchFamily="34" charset="-128"/>
              </a:rPr>
              <a:t>デバイスの間に透過型</a:t>
            </a:r>
            <a:r>
              <a:rPr lang="en-US" sz="2400" dirty="0">
                <a:latin typeface="Meiryo" panose="020B0604030504040204" pitchFamily="34" charset="-128"/>
                <a:ea typeface="Meiryo" panose="020B0604030504040204" pitchFamily="34" charset="-128"/>
              </a:rPr>
              <a:t>IDS</a:t>
            </a:r>
            <a:r>
              <a:rPr lang="ja-JP" altLang="en-US" sz="2400">
                <a:latin typeface="Meiryo" panose="020B0604030504040204" pitchFamily="34" charset="-128"/>
                <a:ea typeface="Meiryo" panose="020B0604030504040204" pitchFamily="34" charset="-128"/>
              </a:rPr>
              <a:t>をインラインで配置する．</a:t>
            </a:r>
            <a:r>
              <a:rPr lang="en-US" sz="2400" dirty="0">
                <a:latin typeface="Meiryo" panose="020B0604030504040204" pitchFamily="34" charset="-128"/>
                <a:ea typeface="Meiryo" panose="020B0604030504040204" pitchFamily="34" charset="-128"/>
              </a:rPr>
              <a:t>L2 Bridge</a:t>
            </a:r>
            <a:r>
              <a:rPr lang="ja-JP" altLang="en-US" sz="2400">
                <a:latin typeface="Meiryo" panose="020B0604030504040204" pitchFamily="34" charset="-128"/>
                <a:ea typeface="Meiryo" panose="020B0604030504040204" pitchFamily="34" charset="-128"/>
              </a:rPr>
              <a:t>として</a:t>
            </a:r>
            <a:r>
              <a:rPr lang="en-US" sz="2400" dirty="0">
                <a:latin typeface="Meiryo" panose="020B0604030504040204" pitchFamily="34" charset="-128"/>
                <a:ea typeface="Meiryo" panose="020B0604030504040204" pitchFamily="34" charset="-128"/>
              </a:rPr>
              <a:t>IP</a:t>
            </a:r>
            <a:r>
              <a:rPr lang="ja-JP" altLang="en-US" sz="2400">
                <a:latin typeface="Meiryo" panose="020B0604030504040204" pitchFamily="34" charset="-128"/>
                <a:ea typeface="Meiryo" panose="020B0604030504040204" pitchFamily="34" charset="-128"/>
              </a:rPr>
              <a:t>アドレスなしで動作し，</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トラフィックのみを監視・分析する．</a:t>
            </a:r>
            <a:r>
              <a:rPr lang="en-US" sz="2400" dirty="0">
                <a:latin typeface="Meiryo" panose="020B0604030504040204" pitchFamily="34" charset="-128"/>
                <a:ea typeface="Meiryo" panose="020B0604030504040204" pitchFamily="34" charset="-128"/>
              </a:rPr>
              <a:t>CoAP/DTLS</a:t>
            </a:r>
            <a:r>
              <a:rPr lang="ja-JP" altLang="en-US" sz="2400">
                <a:latin typeface="Meiryo" panose="020B0604030504040204" pitchFamily="34" charset="-128"/>
                <a:ea typeface="Meiryo" panose="020B0604030504040204" pitchFamily="34" charset="-128"/>
              </a:rPr>
              <a:t>通信はペイロードに触れず透過転送する．</a:t>
            </a:r>
            <a:endParaRPr lang="en-JP" sz="2400" dirty="0"/>
          </a:p>
        </p:txBody>
      </p:sp>
    </p:spTree>
    <p:extLst>
      <p:ext uri="{BB962C8B-B14F-4D97-AF65-F5344CB8AC3E}">
        <p14:creationId xmlns:p14="http://schemas.microsoft.com/office/powerpoint/2010/main" val="11599264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E45BABBD-E20F-1714-1A4A-EF687F1B74F8}"/>
              </a:ext>
            </a:extLst>
          </p:cNvPr>
          <p:cNvSpPr txBox="1"/>
          <p:nvPr/>
        </p:nvSpPr>
        <p:spPr>
          <a:xfrm>
            <a:off x="685800" y="249674"/>
            <a:ext cx="4572000" cy="646331"/>
          </a:xfrm>
          <a:prstGeom prst="rect">
            <a:avLst/>
          </a:prstGeom>
          <a:noFill/>
        </p:spPr>
        <p:txBody>
          <a:bodyPr wrap="square">
            <a:spAutoFit/>
          </a:bodyPr>
          <a:lstStyle/>
          <a:p>
            <a:r>
              <a:rPr lang="ja-JP" altLang="en-US" sz="3600" b="1">
                <a:latin typeface="Meiryo" panose="020B0604030504040204" pitchFamily="34" charset="-128"/>
                <a:ea typeface="Meiryo" panose="020B0604030504040204" pitchFamily="34" charset="-128"/>
              </a:rPr>
              <a:t>まとめ</a:t>
            </a:r>
            <a:r>
              <a:rPr lang="en-US" altLang="ja-JP" sz="3600" b="1" dirty="0">
                <a:latin typeface="Meiryo" panose="020B0604030504040204" pitchFamily="34" charset="-128"/>
                <a:ea typeface="Meiryo" panose="020B0604030504040204" pitchFamily="34" charset="-128"/>
              </a:rPr>
              <a:t> –2</a:t>
            </a:r>
            <a:endParaRPr lang="en-JP" sz="3600" b="1"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B52579A1-128D-1847-E52B-5F7002B65443}"/>
              </a:ext>
            </a:extLst>
          </p:cNvPr>
          <p:cNvSpPr txBox="1"/>
          <p:nvPr/>
        </p:nvSpPr>
        <p:spPr>
          <a:xfrm>
            <a:off x="337185" y="1012954"/>
            <a:ext cx="8241030" cy="4832092"/>
          </a:xfrm>
          <a:prstGeom prst="rect">
            <a:avLst/>
          </a:prstGeom>
          <a:noFill/>
        </p:spPr>
        <p:txBody>
          <a:bodyPr wrap="square">
            <a:spAutoFit/>
          </a:bodyPr>
          <a:lstStyle/>
          <a:p>
            <a:r>
              <a:rPr lang="ja-JP" altLang="en-US" sz="2800" b="1">
                <a:latin typeface="Meiryo" panose="020B0604030504040204" pitchFamily="34" charset="-128"/>
                <a:ea typeface="Meiryo" panose="020B0604030504040204" pitchFamily="34" charset="-128"/>
              </a:rPr>
              <a:t>③ 検知方法</a:t>
            </a:r>
            <a:r>
              <a:rPr lang="ja-JP" altLang="en-US" sz="2800">
                <a:latin typeface="Meiryo" panose="020B0604030504040204" pitchFamily="34" charset="-128"/>
                <a:ea typeface="Meiryo" panose="020B0604030504040204" pitchFamily="34" charset="-128"/>
              </a:rPr>
              <a:t> </a:t>
            </a:r>
            <a:endParaRPr lang="en-US" altLang="ja-JP" sz="2800" dirty="0">
              <a:latin typeface="Meiryo" panose="020B0604030504040204" pitchFamily="34" charset="-128"/>
              <a:ea typeface="Meiryo" panose="020B0604030504040204" pitchFamily="34" charset="-128"/>
            </a:endParaRPr>
          </a:p>
          <a:p>
            <a:pPr marL="342900" indent="-342900">
              <a:buFont typeface="Wingdings" pitchFamily="2" charset="2"/>
              <a:buChar char="Ø"/>
            </a:pPr>
            <a:r>
              <a:rPr lang="en-US" sz="2800" dirty="0">
                <a:latin typeface="Meiryo" panose="020B0604030504040204" pitchFamily="34" charset="-128"/>
                <a:ea typeface="Meiryo" panose="020B0604030504040204" pitchFamily="34" charset="-128"/>
              </a:rPr>
              <a:t>ARP Reply</a:t>
            </a:r>
            <a:r>
              <a:rPr lang="ja-JP" altLang="en-US" sz="2800">
                <a:latin typeface="Meiryo" panose="020B0604030504040204" pitchFamily="34" charset="-128"/>
                <a:ea typeface="Meiryo" panose="020B0604030504040204" pitchFamily="34" charset="-128"/>
              </a:rPr>
              <a:t>頻度・</a:t>
            </a:r>
            <a:r>
              <a:rPr lang="en-US" sz="2800" dirty="0">
                <a:latin typeface="Meiryo" panose="020B0604030504040204" pitchFamily="34" charset="-128"/>
                <a:ea typeface="Meiryo" panose="020B0604030504040204" pitchFamily="34" charset="-128"/>
              </a:rPr>
              <a:t>Gratuitous ARP</a:t>
            </a:r>
            <a:r>
              <a:rPr lang="ja-JP" altLang="en-US" sz="2800">
                <a:latin typeface="Meiryo" panose="020B0604030504040204" pitchFamily="34" charset="-128"/>
                <a:ea typeface="Meiryo" panose="020B0604030504040204" pitchFamily="34" charset="-128"/>
              </a:rPr>
              <a:t>数・</a:t>
            </a:r>
            <a:r>
              <a:rPr lang="en-US" sz="2800" dirty="0">
                <a:latin typeface="Meiryo" panose="020B0604030504040204" pitchFamily="34" charset="-128"/>
                <a:ea typeface="Meiryo" panose="020B0604030504040204" pitchFamily="34" charset="-128"/>
              </a:rPr>
              <a:t>IP-MAC</a:t>
            </a:r>
            <a:r>
              <a:rPr lang="ja-JP" altLang="en-US" sz="2800">
                <a:latin typeface="Meiryo" panose="020B0604030504040204" pitchFamily="34" charset="-128"/>
                <a:ea typeface="Meiryo" panose="020B0604030504040204" pitchFamily="34" charset="-128"/>
              </a:rPr>
              <a:t>不整合・</a:t>
            </a:r>
            <a:r>
              <a:rPr lang="en-US" sz="2800" dirty="0">
                <a:latin typeface="Meiryo" panose="020B0604030504040204" pitchFamily="34" charset="-128"/>
                <a:ea typeface="Meiryo" panose="020B0604030504040204" pitchFamily="34" charset="-128"/>
              </a:rPr>
              <a:t>Reply/Request</a:t>
            </a:r>
            <a:r>
              <a:rPr lang="ja-JP" altLang="en-US" sz="2800">
                <a:latin typeface="Meiryo" panose="020B0604030504040204" pitchFamily="34" charset="-128"/>
                <a:ea typeface="Meiryo" panose="020B0604030504040204" pitchFamily="34" charset="-128"/>
              </a:rPr>
              <a:t>比率・</a:t>
            </a:r>
            <a:r>
              <a:rPr lang="en-US" sz="2800" dirty="0">
                <a:latin typeface="Meiryo" panose="020B0604030504040204" pitchFamily="34" charset="-128"/>
                <a:ea typeface="Meiryo" panose="020B0604030504040204" pitchFamily="34" charset="-128"/>
              </a:rPr>
              <a:t>MAC</a:t>
            </a:r>
            <a:r>
              <a:rPr lang="ja-JP" altLang="en-US" sz="2800">
                <a:latin typeface="Meiryo" panose="020B0604030504040204" pitchFamily="34" charset="-128"/>
                <a:ea typeface="Meiryo" panose="020B0604030504040204" pitchFamily="34" charset="-128"/>
              </a:rPr>
              <a:t>エントロピーの</a:t>
            </a:r>
            <a:r>
              <a:rPr lang="en-US" altLang="ja-JP" sz="2800" dirty="0">
                <a:latin typeface="Meiryo" panose="020B0604030504040204" pitchFamily="34" charset="-128"/>
                <a:ea typeface="Meiryo" panose="020B0604030504040204" pitchFamily="34" charset="-128"/>
              </a:rPr>
              <a:t>5</a:t>
            </a:r>
            <a:r>
              <a:rPr lang="ja-JP" altLang="en-US" sz="2800">
                <a:latin typeface="Meiryo" panose="020B0604030504040204" pitchFamily="34" charset="-128"/>
                <a:ea typeface="Meiryo" panose="020B0604030504040204" pitchFamily="34" charset="-128"/>
              </a:rPr>
              <a:t>つの特徴量を</a:t>
            </a:r>
            <a:r>
              <a:rPr lang="en-US" sz="2800" dirty="0">
                <a:latin typeface="Meiryo" panose="020B0604030504040204" pitchFamily="34" charset="-128"/>
                <a:ea typeface="Meiryo" panose="020B0604030504040204" pitchFamily="34" charset="-128"/>
              </a:rPr>
              <a:t>Random Forest</a:t>
            </a:r>
            <a:r>
              <a:rPr lang="ja-JP" altLang="en-US" sz="2800">
                <a:latin typeface="Meiryo" panose="020B0604030504040204" pitchFamily="34" charset="-128"/>
                <a:ea typeface="Meiryo" panose="020B0604030504040204" pitchFamily="34" charset="-128"/>
              </a:rPr>
              <a:t>で学習し，正常</a:t>
            </a:r>
            <a:r>
              <a:rPr lang="en-US" altLang="ja-JP" sz="2800" dirty="0">
                <a:latin typeface="Meiryo" panose="020B0604030504040204" pitchFamily="34" charset="-128"/>
                <a:ea typeface="Meiryo" panose="020B0604030504040204" pitchFamily="34" charset="-128"/>
              </a:rPr>
              <a:t>/</a:t>
            </a:r>
            <a:r>
              <a:rPr lang="ja-JP" altLang="en-US" sz="2800">
                <a:latin typeface="Meiryo" panose="020B0604030504040204" pitchFamily="34" charset="-128"/>
                <a:ea typeface="Meiryo" panose="020B0604030504040204" pitchFamily="34" charset="-128"/>
              </a:rPr>
              <a:t>攻撃を判定する．</a:t>
            </a:r>
            <a:endParaRPr lang="en-US" altLang="ja-JP" sz="2800" dirty="0">
              <a:latin typeface="Meiryo" panose="020B0604030504040204" pitchFamily="34" charset="-128"/>
              <a:ea typeface="Meiryo" panose="020B0604030504040204" pitchFamily="34" charset="-128"/>
            </a:endParaRPr>
          </a:p>
          <a:p>
            <a:endParaRPr lang="en-US" altLang="ja-JP" sz="2800" dirty="0">
              <a:latin typeface="Meiryo" panose="020B0604030504040204" pitchFamily="34" charset="-128"/>
              <a:ea typeface="Meiryo" panose="020B0604030504040204" pitchFamily="34" charset="-128"/>
            </a:endParaRPr>
          </a:p>
          <a:p>
            <a:r>
              <a:rPr lang="ja-JP" altLang="en-US" sz="2800" b="1">
                <a:latin typeface="Meiryo" panose="020B0604030504040204" pitchFamily="34" charset="-128"/>
                <a:ea typeface="Meiryo" panose="020B0604030504040204" pitchFamily="34" charset="-128"/>
              </a:rPr>
              <a:t> </a:t>
            </a:r>
            <a:r>
              <a:rPr lang="ja-JP" altLang="en-US" sz="2800" b="1"/>
              <a:t>④ 新規性</a:t>
            </a:r>
            <a:endParaRPr lang="mn-MN" altLang="ja-JP" sz="2800" b="1" dirty="0"/>
          </a:p>
          <a:p>
            <a:pPr marL="342900" indent="-342900">
              <a:buFont typeface="Wingdings" pitchFamily="2" charset="2"/>
              <a:buChar char="Ø"/>
            </a:pPr>
            <a:r>
              <a:rPr lang="ja-JP" altLang="en-US" sz="2800"/>
              <a:t> </a:t>
            </a:r>
            <a:r>
              <a:rPr lang="en-US" sz="2800" dirty="0" err="1">
                <a:latin typeface="Meiryo" panose="020B0604030504040204" pitchFamily="34" charset="-128"/>
                <a:ea typeface="Meiryo" panose="020B0604030504040204" pitchFamily="34" charset="-128"/>
              </a:rPr>
              <a:t>CoAP+DTLS</a:t>
            </a:r>
            <a:r>
              <a:rPr lang="ja-JP" altLang="en-US" sz="2800">
                <a:latin typeface="Meiryo" panose="020B0604030504040204" pitchFamily="34" charset="-128"/>
                <a:ea typeface="Meiryo" panose="020B0604030504040204" pitchFamily="34" charset="-128"/>
              </a:rPr>
              <a:t>環境において</a:t>
            </a:r>
            <a:r>
              <a:rPr lang="en-US" sz="2800" dirty="0">
                <a:latin typeface="Meiryo" panose="020B0604030504040204" pitchFamily="34" charset="-128"/>
                <a:ea typeface="Meiryo" panose="020B0604030504040204" pitchFamily="34" charset="-128"/>
              </a:rPr>
              <a:t>Deep Packet Inspection</a:t>
            </a:r>
            <a:r>
              <a:rPr lang="ja-JP" altLang="en-US" sz="2800">
                <a:latin typeface="Meiryo" panose="020B0604030504040204" pitchFamily="34" charset="-128"/>
                <a:ea typeface="Meiryo" panose="020B0604030504040204" pitchFamily="34" charset="-128"/>
              </a:rPr>
              <a:t>が使用不可な状況でも，</a:t>
            </a:r>
            <a:r>
              <a:rPr lang="en-US" sz="2800" dirty="0">
                <a:latin typeface="Meiryo" panose="020B0604030504040204" pitchFamily="34" charset="-128"/>
                <a:ea typeface="Meiryo" panose="020B0604030504040204" pitchFamily="34" charset="-128"/>
              </a:rPr>
              <a:t>ARP</a:t>
            </a:r>
            <a:r>
              <a:rPr lang="ja-JP" altLang="en-US" sz="2800">
                <a:latin typeface="Meiryo" panose="020B0604030504040204" pitchFamily="34" charset="-128"/>
                <a:ea typeface="Meiryo" panose="020B0604030504040204" pitchFamily="34" charset="-128"/>
              </a:rPr>
              <a:t>メタデータのみで</a:t>
            </a:r>
            <a:r>
              <a:rPr lang="en-US" sz="2800" dirty="0">
                <a:latin typeface="Meiryo" panose="020B0604030504040204" pitchFamily="34" charset="-128"/>
                <a:ea typeface="Meiryo" panose="020B0604030504040204" pitchFamily="34" charset="-128"/>
              </a:rPr>
              <a:t>ARP Spoofing</a:t>
            </a:r>
            <a:r>
              <a:rPr lang="ja-JP" altLang="en-US" sz="2800">
                <a:latin typeface="Meiryo" panose="020B0604030504040204" pitchFamily="34" charset="-128"/>
                <a:ea typeface="Meiryo" panose="020B0604030504040204" pitchFamily="34" charset="-128"/>
              </a:rPr>
              <a:t>を検知できることを実証することを本研究の目的とする</a:t>
            </a:r>
            <a:r>
              <a:rPr lang="mn-MN" altLang="ja-JP" sz="2800" dirty="0">
                <a:latin typeface="Meiryo" panose="020B0604030504040204" pitchFamily="34" charset="-128"/>
                <a:ea typeface="Meiryo" panose="020B0604030504040204" pitchFamily="34" charset="-128"/>
              </a:rPr>
              <a:t>.</a:t>
            </a:r>
            <a:endParaRPr lang="ja-JP" altLang="en-US" sz="280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28812826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48915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11977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39EC4F3D-6E13-15D8-0021-119DEB5EC572}"/>
              </a:ext>
            </a:extLst>
          </p:cNvPr>
          <p:cNvSpPr/>
          <p:nvPr/>
        </p:nvSpPr>
        <p:spPr>
          <a:xfrm>
            <a:off x="0" y="0"/>
            <a:ext cx="9144000" cy="685800"/>
          </a:xfrm>
          <a:prstGeom prst="rect">
            <a:avLst/>
          </a:prstGeom>
          <a:solidFill>
            <a:srgbClr val="1E3A5F"/>
          </a:solidFill>
          <a:ln w="12700">
            <a:solidFill>
              <a:srgbClr val="1E3A5F"/>
            </a:solidFill>
            <a:prstDash val="solid"/>
          </a:ln>
        </p:spPr>
        <p:txBody>
          <a:bodyPr/>
          <a:lstStyle/>
          <a:p>
            <a:r>
              <a:rPr lang="mn-MN" altLang="ja-JP" sz="2000" b="1" i="0" u="none" strike="noStrike" dirty="0">
                <a:solidFill>
                  <a:schemeClr val="bg1"/>
                </a:solidFill>
                <a:effectLst/>
                <a:latin typeface="Meiryo" panose="020B0604030504040204" pitchFamily="34" charset="-128"/>
                <a:ea typeface="Meiryo" panose="020B0604030504040204" pitchFamily="34" charset="-128"/>
              </a:rPr>
              <a:t>    </a:t>
            </a:r>
          </a:p>
          <a:p>
            <a:pPr marL="342900" indent="-342900">
              <a:buFont typeface="Wingdings" pitchFamily="2" charset="2"/>
              <a:buChar char="§"/>
            </a:pPr>
            <a:r>
              <a:rPr lang="mn-MN" altLang="ja-JP" sz="2000" b="1" dirty="0">
                <a:solidFill>
                  <a:schemeClr val="bg1"/>
                </a:solidFill>
                <a:latin typeface="Meiryo" panose="020B0604030504040204" pitchFamily="34" charset="-128"/>
                <a:ea typeface="Meiryo" panose="020B0604030504040204" pitchFamily="34" charset="-128"/>
              </a:rPr>
              <a:t>   </a:t>
            </a:r>
            <a:r>
              <a:rPr lang="ja-JP" altLang="en-US" sz="2800" b="1" i="0" u="none" strike="noStrike">
                <a:solidFill>
                  <a:schemeClr val="bg1"/>
                </a:solidFill>
                <a:effectLst/>
                <a:latin typeface="Meiryo" panose="020B0604030504040204" pitchFamily="34" charset="-128"/>
                <a:ea typeface="Meiryo" panose="020B0604030504040204" pitchFamily="34" charset="-128"/>
              </a:rPr>
              <a:t>開発するシステムの要件</a:t>
            </a:r>
            <a:endParaRPr lang="ja-JP" altLang="en-US" sz="2800" b="1">
              <a:solidFill>
                <a:schemeClr val="bg1"/>
              </a:solidFill>
              <a:effectLst/>
              <a:latin typeface="Meiryo" panose="020B0604030504040204" pitchFamily="34" charset="-128"/>
              <a:ea typeface="Meiryo" panose="020B0604030504040204" pitchFamily="34" charset="-128"/>
            </a:endParaRPr>
          </a:p>
          <a:p>
            <a:endParaRPr lang="en-US" sz="2000" b="1" dirty="0">
              <a:solidFill>
                <a:schemeClr val="bg1"/>
              </a:solidFill>
              <a:latin typeface="Meiryo" panose="020B0604030504040204" pitchFamily="34" charset="-128"/>
              <a:ea typeface="Meiryo" panose="020B0604030504040204" pitchFamily="34" charset="-128"/>
              <a:cs typeface="Calibri" pitchFamily="34" charset="-120"/>
            </a:endParaRPr>
          </a:p>
        </p:txBody>
      </p:sp>
      <p:sp>
        <p:nvSpPr>
          <p:cNvPr id="9" name="TextBox 8">
            <a:extLst>
              <a:ext uri="{FF2B5EF4-FFF2-40B4-BE49-F238E27FC236}">
                <a16:creationId xmlns:a16="http://schemas.microsoft.com/office/drawing/2014/main" id="{0AD0D363-5947-255F-4320-07B2B0065578}"/>
              </a:ext>
            </a:extLst>
          </p:cNvPr>
          <p:cNvSpPr txBox="1"/>
          <p:nvPr/>
        </p:nvSpPr>
        <p:spPr>
          <a:xfrm>
            <a:off x="161925" y="1136064"/>
            <a:ext cx="9144000" cy="4893647"/>
          </a:xfrm>
          <a:prstGeom prst="rect">
            <a:avLst/>
          </a:prstGeom>
          <a:noFill/>
        </p:spPr>
        <p:txBody>
          <a:bodyPr wrap="square">
            <a:spAutoFit/>
          </a:bodyPr>
          <a:lstStyle/>
          <a:p>
            <a:pPr algn="just"/>
            <a:r>
              <a:rPr lang="en-JP" sz="2000" dirty="0">
                <a:latin typeface="Meiryo" panose="020B0604030504040204" pitchFamily="34" charset="-128"/>
                <a:ea typeface="Meiryo" panose="020B0604030504040204" pitchFamily="34" charset="-128"/>
              </a:rPr>
              <a:t>🟨 </a:t>
            </a:r>
            <a:r>
              <a:rPr lang="en-JP" sz="2400" b="1" dirty="0">
                <a:latin typeface="Meiryo" panose="020B0604030504040204" pitchFamily="34" charset="-128"/>
                <a:ea typeface="Meiryo" panose="020B0604030504040204" pitchFamily="34" charset="-128"/>
              </a:rPr>
              <a:t>セキュリティ面</a:t>
            </a:r>
          </a:p>
          <a:p>
            <a:pPr marL="342900" indent="-342900" algn="just">
              <a:buFont typeface="Wingdings" pitchFamily="2" charset="2"/>
              <a:buChar char="§"/>
            </a:pPr>
            <a:r>
              <a:rPr lang="en-US" sz="2000" dirty="0">
                <a:latin typeface="Meiryo" panose="020B0604030504040204" pitchFamily="34" charset="-128"/>
                <a:ea typeface="Meiryo" panose="020B0604030504040204" pitchFamily="34" charset="-128"/>
              </a:rPr>
              <a:t>ARP</a:t>
            </a:r>
            <a:r>
              <a:rPr lang="ja-JP" altLang="en-US" sz="2000">
                <a:latin typeface="Meiryo" panose="020B0604030504040204" pitchFamily="34" charset="-128"/>
                <a:ea typeface="Meiryo" panose="020B0604030504040204" pitchFamily="34" charset="-128"/>
              </a:rPr>
              <a:t>スプーフィング検知</a:t>
            </a: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 </a:t>
            </a:r>
            <a:r>
              <a:rPr lang="en-US" sz="2000" dirty="0">
                <a:latin typeface="Meiryo" panose="020B0604030504040204" pitchFamily="34" charset="-128"/>
                <a:ea typeface="Meiryo" panose="020B0604030504040204" pitchFamily="34" charset="-128"/>
              </a:rPr>
              <a:t>ARP</a:t>
            </a:r>
            <a:r>
              <a:rPr lang="ja-JP" altLang="en-US" sz="2000">
                <a:latin typeface="Meiryo" panose="020B0604030504040204" pitchFamily="34" charset="-128"/>
                <a:ea typeface="Meiryo" panose="020B0604030504040204" pitchFamily="34" charset="-128"/>
              </a:rPr>
              <a:t>キャッシュへの汚染が定着する前に検知</a:t>
            </a:r>
          </a:p>
          <a:p>
            <a:pPr marL="342900" indent="-342900" algn="just">
              <a:buFont typeface="Wingdings" pitchFamily="2" charset="2"/>
              <a:buChar char="§"/>
            </a:pPr>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と</a:t>
            </a:r>
            <a:r>
              <a:rPr lang="en-US" sz="2000" dirty="0">
                <a:latin typeface="Meiryo" panose="020B0604030504040204" pitchFamily="34" charset="-128"/>
                <a:ea typeface="Meiryo" panose="020B0604030504040204" pitchFamily="34" charset="-128"/>
              </a:rPr>
              <a:t>ML-IDS</a:t>
            </a:r>
            <a:r>
              <a:rPr lang="ja-JP" altLang="en-US" sz="2000">
                <a:latin typeface="Meiryo" panose="020B0604030504040204" pitchFamily="34" charset="-128"/>
                <a:ea typeface="Meiryo" panose="020B0604030504040204" pitchFamily="34" charset="-128"/>
              </a:rPr>
              <a:t>を組み合わせた多層的な保護</a:t>
            </a:r>
            <a:endParaRPr lang="en-US" altLang="ja-JP" sz="2000" dirty="0">
              <a:latin typeface="Meiryo" panose="020B0604030504040204" pitchFamily="34" charset="-128"/>
              <a:ea typeface="Meiryo" panose="020B0604030504040204" pitchFamily="34" charset="-128"/>
            </a:endParaRPr>
          </a:p>
          <a:p>
            <a:pPr algn="just"/>
            <a:endParaRPr lang="en-JP" sz="2000" dirty="0">
              <a:latin typeface="Meiryo" panose="020B0604030504040204" pitchFamily="34" charset="-128"/>
              <a:ea typeface="Meiryo" panose="020B0604030504040204" pitchFamily="34" charset="-128"/>
            </a:endParaRPr>
          </a:p>
          <a:p>
            <a:pPr algn="just"/>
            <a:r>
              <a:rPr lang="en-JP" sz="2000" dirty="0">
                <a:latin typeface="Meiryo" panose="020B0604030504040204" pitchFamily="34" charset="-128"/>
                <a:ea typeface="Meiryo" panose="020B0604030504040204" pitchFamily="34" charset="-128"/>
              </a:rPr>
              <a:t>🟨 </a:t>
            </a:r>
            <a:r>
              <a:rPr lang="en-JP" sz="2400" b="1" dirty="0">
                <a:latin typeface="Meiryo" panose="020B0604030504040204" pitchFamily="34" charset="-128"/>
                <a:ea typeface="Meiryo" panose="020B0604030504040204" pitchFamily="34" charset="-128"/>
              </a:rPr>
              <a:t>パフォーマンス面</a:t>
            </a: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 検知精度 </a:t>
            </a:r>
            <a:r>
              <a:rPr lang="en-US" altLang="ja-JP" sz="2000" dirty="0">
                <a:latin typeface="Meiryo" panose="020B0604030504040204" pitchFamily="34" charset="-128"/>
                <a:ea typeface="Meiryo" panose="020B0604030504040204" pitchFamily="34" charset="-128"/>
              </a:rPr>
              <a:t>95%</a:t>
            </a:r>
            <a:r>
              <a:rPr lang="ja-JP" altLang="en-US" sz="2000">
                <a:latin typeface="Meiryo" panose="020B0604030504040204" pitchFamily="34" charset="-128"/>
                <a:ea typeface="Meiryo" panose="020B0604030504040204" pitchFamily="34" charset="-128"/>
              </a:rPr>
              <a:t>以上</a:t>
            </a: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 正常通信を誤って検知しない</a:t>
            </a: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 パケット受信から即時処理する</a:t>
            </a:r>
          </a:p>
          <a:p>
            <a:pPr marL="342900" indent="-342900" algn="just">
              <a:buFont typeface="Wingdings" pitchFamily="2" charset="2"/>
              <a:buChar char="§"/>
            </a:pPr>
            <a:r>
              <a:rPr lang="ja-JP" altLang="en-US" sz="2000">
                <a:latin typeface="Meiryo" panose="020B0604030504040204" pitchFamily="34" charset="-128"/>
                <a:ea typeface="Meiryo" panose="020B0604030504040204" pitchFamily="34" charset="-128"/>
              </a:rPr>
              <a:t>正常な</a:t>
            </a:r>
            <a:r>
              <a:rPr lang="en-US" altLang="ja-JP" sz="2000" dirty="0">
                <a:latin typeface="Meiryo" panose="020B0604030504040204" pitchFamily="34" charset="-128"/>
                <a:ea typeface="Meiryo" panose="020B0604030504040204" pitchFamily="34" charset="-128"/>
              </a:rPr>
              <a:t>CoAP/DTLS</a:t>
            </a:r>
            <a:r>
              <a:rPr lang="ja-JP" altLang="en-US" sz="2000">
                <a:latin typeface="Meiryo" panose="020B0604030504040204" pitchFamily="34" charset="-128"/>
                <a:ea typeface="Meiryo" panose="020B0604030504040204" pitchFamily="34" charset="-128"/>
              </a:rPr>
              <a:t>トラフィックに干渉しない</a:t>
            </a:r>
            <a:endParaRPr lang="mn-MN" sz="2000" dirty="0">
              <a:latin typeface="Meiryo" panose="020B0604030504040204" pitchFamily="34" charset="-128"/>
              <a:ea typeface="Meiryo" panose="020B0604030504040204" pitchFamily="34" charset="-128"/>
            </a:endParaRPr>
          </a:p>
          <a:p>
            <a:pPr algn="just"/>
            <a:endParaRPr lang="en-JP" sz="2000" dirty="0">
              <a:latin typeface="Meiryo" panose="020B0604030504040204" pitchFamily="34" charset="-128"/>
              <a:ea typeface="Meiryo" panose="020B0604030504040204" pitchFamily="34" charset="-128"/>
            </a:endParaRPr>
          </a:p>
          <a:p>
            <a:pPr algn="just"/>
            <a:r>
              <a:rPr lang="en-JP" sz="2000" dirty="0">
                <a:latin typeface="Meiryo" panose="020B0604030504040204" pitchFamily="34" charset="-128"/>
                <a:ea typeface="Meiryo" panose="020B0604030504040204" pitchFamily="34" charset="-128"/>
              </a:rPr>
              <a:t>🟨 </a:t>
            </a:r>
            <a:r>
              <a:rPr lang="en-JP" sz="2400" b="1" dirty="0">
                <a:latin typeface="Meiryo" panose="020B0604030504040204" pitchFamily="34" charset="-128"/>
                <a:ea typeface="Meiryo" panose="020B0604030504040204" pitchFamily="34" charset="-128"/>
              </a:rPr>
              <a:t>運用・管理面</a:t>
            </a:r>
            <a:endParaRPr lang="mn-MN" sz="2400" b="1" dirty="0">
              <a:latin typeface="Meiryo" panose="020B0604030504040204" pitchFamily="34" charset="-128"/>
              <a:ea typeface="Meiryo" panose="020B0604030504040204" pitchFamily="34" charset="-128"/>
            </a:endParaRPr>
          </a:p>
          <a:p>
            <a:pPr marL="342900" indent="-342900" algn="just">
              <a:buFont typeface="Wingdings" pitchFamily="2" charset="2"/>
              <a:buChar char="§"/>
            </a:pPr>
            <a:r>
              <a:rPr lang="en-JP" sz="2000" dirty="0">
                <a:latin typeface="Meiryo" panose="020B0604030504040204" pitchFamily="34" charset="-128"/>
                <a:ea typeface="Meiryo" panose="020B0604030504040204" pitchFamily="34" charset="-128"/>
              </a:rPr>
              <a:t>検知した攻撃を自動的に遮断（ドロップ）できること攻撃ログを記録し、後から分析可能であること管理者の負担を軽減し、直感的に状況を把握できること</a:t>
            </a:r>
            <a:endParaRPr lang="mn-MN" sz="2000" dirty="0">
              <a:latin typeface="Meiryo" panose="020B0604030504040204" pitchFamily="34" charset="-128"/>
              <a:ea typeface="Meiryo" panose="020B0604030504040204" pitchFamily="34" charset="-128"/>
            </a:endParaRPr>
          </a:p>
        </p:txBody>
      </p:sp>
      <p:sp>
        <p:nvSpPr>
          <p:cNvPr id="10" name="Slide Number Placeholder 9">
            <a:extLst>
              <a:ext uri="{FF2B5EF4-FFF2-40B4-BE49-F238E27FC236}">
                <a16:creationId xmlns:a16="http://schemas.microsoft.com/office/drawing/2014/main" id="{DD2E0F9F-7B94-C4D1-568C-76ADA7FF0B67}"/>
              </a:ext>
            </a:extLst>
          </p:cNvPr>
          <p:cNvSpPr>
            <a:spLocks noGrp="1"/>
          </p:cNvSpPr>
          <p:nvPr>
            <p:ph type="sldNum" sz="quarter" idx="12"/>
          </p:nvPr>
        </p:nvSpPr>
        <p:spPr/>
        <p:txBody>
          <a:bodyPr/>
          <a:lstStyle/>
          <a:p>
            <a:fld id="{828F3BD4-1AF2-D144-8129-4D42AD448F5E}" type="slidenum">
              <a:rPr lang="en-JP" smtClean="0"/>
              <a:t>45</a:t>
            </a:fld>
            <a:endParaRPr lang="en-JP"/>
          </a:p>
        </p:txBody>
      </p:sp>
    </p:spTree>
    <p:extLst>
      <p:ext uri="{BB962C8B-B14F-4D97-AF65-F5344CB8AC3E}">
        <p14:creationId xmlns:p14="http://schemas.microsoft.com/office/powerpoint/2010/main" val="41285732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9E2F9DA3-A26D-525D-75C9-3834123163A1}"/>
              </a:ext>
            </a:extLst>
          </p:cNvPr>
          <p:cNvSpPr/>
          <p:nvPr/>
        </p:nvSpPr>
        <p:spPr>
          <a:xfrm>
            <a:off x="115371" y="2394029"/>
            <a:ext cx="1649832" cy="1034971"/>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latin typeface="Meiryo" panose="020B0604030504040204" pitchFamily="34" charset="-128"/>
              <a:ea typeface="Meiryo" panose="020B0604030504040204" pitchFamily="34" charset="-128"/>
            </a:endParaRPr>
          </a:p>
          <a:p>
            <a:pPr algn="ctr"/>
            <a:r>
              <a:rPr lang="en-US" sz="1600" dirty="0">
                <a:solidFill>
                  <a:schemeClr val="tx1"/>
                </a:solidFill>
                <a:latin typeface="Meiryo" panose="020B0604030504040204" pitchFamily="34" charset="-128"/>
                <a:ea typeface="Meiryo" panose="020B0604030504040204" pitchFamily="34" charset="-128"/>
              </a:rPr>
              <a:t>(sensor2)</a:t>
            </a:r>
          </a:p>
          <a:p>
            <a:pPr algn="ctr"/>
            <a:r>
              <a:rPr lang="en-US" sz="1600" dirty="0">
                <a:solidFill>
                  <a:schemeClr val="tx1"/>
                </a:solidFill>
                <a:latin typeface="Meiryo" panose="020B0604030504040204" pitchFamily="34" charset="-128"/>
                <a:ea typeface="Meiryo" panose="020B0604030504040204" pitchFamily="34" charset="-128"/>
              </a:rPr>
              <a:t>192.168.1.11</a:t>
            </a:r>
          </a:p>
          <a:p>
            <a:pPr algn="ctr"/>
            <a:r>
              <a:rPr lang="en-US" sz="1600" dirty="0">
                <a:solidFill>
                  <a:schemeClr val="tx1"/>
                </a:solidFill>
              </a:rPr>
              <a:t>CoAP/DTLS</a:t>
            </a:r>
            <a:r>
              <a:rPr lang="ja-JP" altLang="en-US" sz="1600">
                <a:solidFill>
                  <a:schemeClr val="tx1"/>
                </a:solidFill>
              </a:rPr>
              <a:t>送信</a:t>
            </a:r>
            <a:endParaRPr lang="en-US" sz="1600" dirty="0">
              <a:solidFill>
                <a:schemeClr val="tx1"/>
              </a:solidFill>
              <a:latin typeface="Meiryo" panose="020B0604030504040204" pitchFamily="34" charset="-128"/>
              <a:ea typeface="Meiryo" panose="020B0604030504040204" pitchFamily="34" charset="-128"/>
            </a:endParaRPr>
          </a:p>
          <a:p>
            <a:pPr algn="ctr"/>
            <a:endParaRPr lang="en-US" sz="1400" dirty="0">
              <a:solidFill>
                <a:schemeClr val="tx1"/>
              </a:solidFill>
              <a:latin typeface="Meiryo" panose="020B0604030504040204" pitchFamily="34" charset="-128"/>
              <a:ea typeface="Meiryo" panose="020B0604030504040204" pitchFamily="34" charset="-128"/>
            </a:endParaRPr>
          </a:p>
        </p:txBody>
      </p:sp>
      <p:sp>
        <p:nvSpPr>
          <p:cNvPr id="8" name="Rectangle: Rounded Corners 7">
            <a:extLst>
              <a:ext uri="{FF2B5EF4-FFF2-40B4-BE49-F238E27FC236}">
                <a16:creationId xmlns:a16="http://schemas.microsoft.com/office/drawing/2014/main" id="{08EAFC1D-ED5C-8C38-1EE5-F24E67A4B920}"/>
              </a:ext>
            </a:extLst>
          </p:cNvPr>
          <p:cNvSpPr/>
          <p:nvPr/>
        </p:nvSpPr>
        <p:spPr>
          <a:xfrm>
            <a:off x="2605551" y="841725"/>
            <a:ext cx="3647988" cy="4176581"/>
          </a:xfrm>
          <a:prstGeom prst="roundRect">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tx1"/>
              </a:solidFill>
              <a:latin typeface="Meiryo" panose="020B0604030504040204" pitchFamily="34" charset="-128"/>
              <a:ea typeface="Meiryo" panose="020B0604030504040204" pitchFamily="34" charset="-128"/>
            </a:endParaRPr>
          </a:p>
        </p:txBody>
      </p:sp>
      <p:cxnSp>
        <p:nvCxnSpPr>
          <p:cNvPr id="13" name="Straight Arrow Connector 12">
            <a:extLst>
              <a:ext uri="{FF2B5EF4-FFF2-40B4-BE49-F238E27FC236}">
                <a16:creationId xmlns:a16="http://schemas.microsoft.com/office/drawing/2014/main" id="{CB9D9031-9BCD-DF15-6E69-6B5FACDA6888}"/>
              </a:ext>
            </a:extLst>
          </p:cNvPr>
          <p:cNvCxnSpPr>
            <a:cxnSpLocks/>
            <a:stCxn id="6" idx="3"/>
          </p:cNvCxnSpPr>
          <p:nvPr/>
        </p:nvCxnSpPr>
        <p:spPr>
          <a:xfrm>
            <a:off x="1765203" y="2911515"/>
            <a:ext cx="792940" cy="0"/>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sp>
        <p:nvSpPr>
          <p:cNvPr id="73" name="Rectangle: Rounded Corners 72">
            <a:extLst>
              <a:ext uri="{FF2B5EF4-FFF2-40B4-BE49-F238E27FC236}">
                <a16:creationId xmlns:a16="http://schemas.microsoft.com/office/drawing/2014/main" id="{0860F095-FE40-02F7-4BD1-674484E97C09}"/>
              </a:ext>
            </a:extLst>
          </p:cNvPr>
          <p:cNvSpPr/>
          <p:nvPr/>
        </p:nvSpPr>
        <p:spPr>
          <a:xfrm>
            <a:off x="6860935" y="2469919"/>
            <a:ext cx="2265981" cy="88047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eiryo" panose="020B0604030504040204" pitchFamily="34" charset="-128"/>
                <a:ea typeface="Meiryo" panose="020B0604030504040204" pitchFamily="34" charset="-128"/>
              </a:rPr>
              <a:t>Cloud Server</a:t>
            </a:r>
          </a:p>
          <a:p>
            <a:pPr algn="ctr"/>
            <a:r>
              <a:rPr lang="ja-JP" altLang="en-US" sz="1600">
                <a:solidFill>
                  <a:schemeClr val="tx1"/>
                </a:solidFill>
                <a:latin typeface="Meiryo" panose="020B0604030504040204" pitchFamily="34" charset="-128"/>
                <a:ea typeface="Meiryo" panose="020B0604030504040204" pitchFamily="34" charset="-128"/>
              </a:rPr>
              <a:t>そのまま転送</a:t>
            </a:r>
            <a:endParaRPr lang="en-US" sz="1600" dirty="0">
              <a:solidFill>
                <a:schemeClr val="tx1"/>
              </a:solidFill>
              <a:latin typeface="Meiryo" panose="020B0604030504040204" pitchFamily="34" charset="-128"/>
              <a:ea typeface="Meiryo" panose="020B0604030504040204" pitchFamily="34" charset="-128"/>
            </a:endParaRPr>
          </a:p>
        </p:txBody>
      </p:sp>
      <p:sp>
        <p:nvSpPr>
          <p:cNvPr id="26" name="Shape 0">
            <a:extLst>
              <a:ext uri="{FF2B5EF4-FFF2-40B4-BE49-F238E27FC236}">
                <a16:creationId xmlns:a16="http://schemas.microsoft.com/office/drawing/2014/main" id="{FA54461C-5235-7D15-D978-89B8B5055506}"/>
              </a:ext>
            </a:extLst>
          </p:cNvPr>
          <p:cNvSpPr/>
          <p:nvPr/>
        </p:nvSpPr>
        <p:spPr>
          <a:xfrm>
            <a:off x="0" y="0"/>
            <a:ext cx="9144000" cy="48452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endParaRPr lang="en-JP" sz="2800" b="1" dirty="0"/>
          </a:p>
        </p:txBody>
      </p:sp>
      <p:sp>
        <p:nvSpPr>
          <p:cNvPr id="33" name="Slide Number Placeholder 32">
            <a:extLst>
              <a:ext uri="{FF2B5EF4-FFF2-40B4-BE49-F238E27FC236}">
                <a16:creationId xmlns:a16="http://schemas.microsoft.com/office/drawing/2014/main" id="{19732CDF-2E08-2DE6-D565-F18F829A2D70}"/>
              </a:ext>
            </a:extLst>
          </p:cNvPr>
          <p:cNvSpPr>
            <a:spLocks noGrp="1"/>
          </p:cNvSpPr>
          <p:nvPr>
            <p:ph type="sldNum" sz="quarter" idx="12"/>
          </p:nvPr>
        </p:nvSpPr>
        <p:spPr/>
        <p:txBody>
          <a:bodyPr/>
          <a:lstStyle/>
          <a:p>
            <a:fld id="{828F3BD4-1AF2-D144-8129-4D42AD448F5E}" type="slidenum">
              <a:rPr lang="en-JP" smtClean="0"/>
              <a:t>46</a:t>
            </a:fld>
            <a:endParaRPr lang="en-JP"/>
          </a:p>
        </p:txBody>
      </p:sp>
      <p:sp>
        <p:nvSpPr>
          <p:cNvPr id="10" name="Rectangle: Rounded Corners 72">
            <a:extLst>
              <a:ext uri="{FF2B5EF4-FFF2-40B4-BE49-F238E27FC236}">
                <a16:creationId xmlns:a16="http://schemas.microsoft.com/office/drawing/2014/main" id="{5658D5C9-A8BB-63DD-8E8D-94636B720A83}"/>
              </a:ext>
            </a:extLst>
          </p:cNvPr>
          <p:cNvSpPr/>
          <p:nvPr/>
        </p:nvSpPr>
        <p:spPr>
          <a:xfrm>
            <a:off x="3140481" y="2133290"/>
            <a:ext cx="2578127" cy="1036143"/>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latin typeface="Meiryo" panose="020B0604030504040204" pitchFamily="34" charset="-128"/>
                <a:ea typeface="Meiryo" panose="020B0604030504040204" pitchFamily="34" charset="-128"/>
                <a:cs typeface="Times New Roman" panose="02020603050405020304" pitchFamily="18" charset="0"/>
              </a:rPr>
              <a:t>L2/L3 header </a:t>
            </a:r>
            <a:r>
              <a:rPr lang="ja-JP" altLang="en-US" sz="1400">
                <a:solidFill>
                  <a:schemeClr val="tx1"/>
                </a:solidFill>
                <a:latin typeface="Meiryo" panose="020B0604030504040204" pitchFamily="34" charset="-128"/>
                <a:ea typeface="Meiryo" panose="020B0604030504040204" pitchFamily="34" charset="-128"/>
                <a:cs typeface="Times New Roman" panose="02020603050405020304" pitchFamily="18" charset="0"/>
              </a:rPr>
              <a:t>確認</a:t>
            </a:r>
            <a:endParaRPr lang="en-US" altLang="ja-JP" sz="1400" dirty="0">
              <a:solidFill>
                <a:schemeClr val="tx1"/>
              </a:solidFill>
              <a:latin typeface="Meiryo" panose="020B0604030504040204" pitchFamily="34" charset="-128"/>
              <a:ea typeface="Meiryo" panose="020B0604030504040204" pitchFamily="34" charset="-128"/>
              <a:cs typeface="Times New Roman" panose="02020603050405020304" pitchFamily="18" charset="0"/>
            </a:endParaRPr>
          </a:p>
          <a:p>
            <a:pPr algn="ctr"/>
            <a:r>
              <a:rPr lang="en-US" sz="1400" dirty="0" err="1">
                <a:solidFill>
                  <a:schemeClr val="tx1"/>
                </a:solidFill>
                <a:latin typeface="Meiryo" panose="020B0604030504040204" pitchFamily="34" charset="-128"/>
                <a:ea typeface="Meiryo" panose="020B0604030504040204" pitchFamily="34" charset="-128"/>
                <a:cs typeface="Times New Roman" panose="02020603050405020304" pitchFamily="18" charset="0"/>
              </a:rPr>
              <a:t>dst</a:t>
            </a:r>
            <a:r>
              <a:rPr lang="en-US" sz="1400" dirty="0">
                <a:solidFill>
                  <a:schemeClr val="tx1"/>
                </a:solidFill>
                <a:latin typeface="Meiryo" panose="020B0604030504040204" pitchFamily="34" charset="-128"/>
                <a:ea typeface="Meiryo" panose="020B0604030504040204" pitchFamily="34" charset="-128"/>
                <a:cs typeface="Times New Roman" panose="02020603050405020304" pitchFamily="18" charset="0"/>
              </a:rPr>
              <a:t> IP: 192.168.1.100 → </a:t>
            </a:r>
            <a:r>
              <a:rPr lang="ja-JP" altLang="en-US" sz="1400">
                <a:solidFill>
                  <a:schemeClr val="tx1"/>
                </a:solidFill>
                <a:latin typeface="Meiryo" panose="020B0604030504040204" pitchFamily="34" charset="-128"/>
                <a:ea typeface="Meiryo" panose="020B0604030504040204" pitchFamily="34" charset="-128"/>
                <a:cs typeface="Times New Roman" panose="02020603050405020304" pitchFamily="18" charset="0"/>
              </a:rPr>
              <a:t>転送</a:t>
            </a:r>
            <a:endParaRPr lang="en-US" sz="1400" dirty="0">
              <a:solidFill>
                <a:schemeClr val="tx1"/>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11" name="Rounded Rectangle 10">
            <a:extLst>
              <a:ext uri="{FF2B5EF4-FFF2-40B4-BE49-F238E27FC236}">
                <a16:creationId xmlns:a16="http://schemas.microsoft.com/office/drawing/2014/main" id="{73CBE094-761C-1052-0C69-6A9EAF35CB0C}"/>
              </a:ext>
            </a:extLst>
          </p:cNvPr>
          <p:cNvSpPr/>
          <p:nvPr/>
        </p:nvSpPr>
        <p:spPr>
          <a:xfrm>
            <a:off x="3140481" y="1099457"/>
            <a:ext cx="2578126" cy="89524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latin typeface="Meiryo" panose="020B0604030504040204" pitchFamily="34" charset="-128"/>
                <a:ea typeface="Meiryo" panose="020B0604030504040204" pitchFamily="34" charset="-128"/>
                <a:cs typeface="Times New Roman" panose="02020603050405020304" pitchFamily="18" charset="0"/>
              </a:rPr>
              <a:t>Home Router / Gateway</a:t>
            </a:r>
            <a:r>
              <a:rPr lang="ja-JP" altLang="en-US" sz="1200">
                <a:latin typeface="Meiryo" panose="020B0604030504040204" pitchFamily="34" charset="-128"/>
                <a:ea typeface="Meiryo" panose="020B0604030504040204" pitchFamily="34" charset="-128"/>
                <a:cs typeface="Times New Roman" panose="02020603050405020304" pitchFamily="18" charset="0"/>
              </a:rPr>
              <a:t>現在の一般的な構成</a:t>
            </a:r>
            <a:endParaRPr lang="en-JP" sz="1200" dirty="0">
              <a:latin typeface="Meiryo" panose="020B0604030504040204" pitchFamily="34" charset="-128"/>
              <a:ea typeface="Meiryo" panose="020B0604030504040204" pitchFamily="34" charset="-128"/>
              <a:cs typeface="Times New Roman" panose="02020603050405020304" pitchFamily="18" charset="0"/>
            </a:endParaRPr>
          </a:p>
        </p:txBody>
      </p:sp>
      <p:sp>
        <p:nvSpPr>
          <p:cNvPr id="12" name="Rectangle: Rounded Corners 72">
            <a:extLst>
              <a:ext uri="{FF2B5EF4-FFF2-40B4-BE49-F238E27FC236}">
                <a16:creationId xmlns:a16="http://schemas.microsoft.com/office/drawing/2014/main" id="{087A4BF0-2C40-DBFA-E56A-77A69AFB3B1B}"/>
              </a:ext>
            </a:extLst>
          </p:cNvPr>
          <p:cNvSpPr/>
          <p:nvPr/>
        </p:nvSpPr>
        <p:spPr>
          <a:xfrm>
            <a:off x="3212947" y="3308026"/>
            <a:ext cx="2730653" cy="1359763"/>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latin typeface="Meiryo" panose="020B0604030504040204" pitchFamily="34" charset="-128"/>
                <a:ea typeface="Meiryo" panose="020B0604030504040204" pitchFamily="34" charset="-128"/>
              </a:rPr>
              <a:t>Payload </a:t>
            </a:r>
            <a:r>
              <a:rPr lang="ja-JP" altLang="en-US" sz="1600">
                <a:solidFill>
                  <a:schemeClr val="tx1"/>
                </a:solidFill>
                <a:latin typeface="Meiryo" panose="020B0604030504040204" pitchFamily="34" charset="-128"/>
                <a:ea typeface="Meiryo" panose="020B0604030504040204" pitchFamily="34" charset="-128"/>
              </a:rPr>
              <a:t>確認しようとすると</a:t>
            </a:r>
            <a:r>
              <a:rPr lang="en-US" altLang="ja-JP" sz="1600" dirty="0">
                <a:solidFill>
                  <a:schemeClr val="tx1"/>
                </a:solidFill>
                <a:latin typeface="Meiryo" panose="020B0604030504040204" pitchFamily="34" charset="-128"/>
                <a:ea typeface="Meiryo" panose="020B0604030504040204" pitchFamily="34" charset="-128"/>
              </a:rPr>
              <a:t>...</a:t>
            </a:r>
            <a:r>
              <a:rPr lang="en-US" sz="1600" dirty="0">
                <a:solidFill>
                  <a:schemeClr val="tx1"/>
                </a:solidFill>
                <a:latin typeface="Meiryo" panose="020B0604030504040204" pitchFamily="34" charset="-128"/>
                <a:ea typeface="Meiryo" panose="020B0604030504040204" pitchFamily="34" charset="-128"/>
              </a:rPr>
              <a:t>a3 f2 9c 11 8e 4d b7 22...DTLS</a:t>
            </a:r>
            <a:r>
              <a:rPr lang="ja-JP" altLang="en-US" sz="1600">
                <a:solidFill>
                  <a:schemeClr val="tx1"/>
                </a:solidFill>
                <a:latin typeface="Meiryo" panose="020B0604030504040204" pitchFamily="34" charset="-128"/>
                <a:ea typeface="Meiryo" panose="020B0604030504040204" pitchFamily="34" charset="-128"/>
              </a:rPr>
              <a:t>暗号化 → 読めない</a:t>
            </a:r>
            <a:endParaRPr lang="en-US" sz="1600" dirty="0">
              <a:solidFill>
                <a:schemeClr val="tx1"/>
              </a:solidFill>
              <a:latin typeface="Meiryo" panose="020B0604030504040204" pitchFamily="34" charset="-128"/>
              <a:ea typeface="Meiryo" panose="020B0604030504040204" pitchFamily="34" charset="-128"/>
            </a:endParaRPr>
          </a:p>
        </p:txBody>
      </p:sp>
      <p:cxnSp>
        <p:nvCxnSpPr>
          <p:cNvPr id="14" name="Straight Arrow Connector 13">
            <a:extLst>
              <a:ext uri="{FF2B5EF4-FFF2-40B4-BE49-F238E27FC236}">
                <a16:creationId xmlns:a16="http://schemas.microsoft.com/office/drawing/2014/main" id="{C6BF6FAF-7851-0D98-E7A0-C83B3254EC2E}"/>
              </a:ext>
            </a:extLst>
          </p:cNvPr>
          <p:cNvCxnSpPr>
            <a:cxnSpLocks/>
          </p:cNvCxnSpPr>
          <p:nvPr/>
        </p:nvCxnSpPr>
        <p:spPr>
          <a:xfrm>
            <a:off x="6457950" y="2947010"/>
            <a:ext cx="367984" cy="0"/>
          </a:xfrm>
          <a:prstGeom prst="straightConnector1">
            <a:avLst/>
          </a:prstGeom>
          <a:ln w="41275">
            <a:tailEnd type="triangle"/>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9E352CCA-07FD-16C2-C837-2C4EF6526F72}"/>
              </a:ext>
            </a:extLst>
          </p:cNvPr>
          <p:cNvSpPr txBox="1"/>
          <p:nvPr/>
        </p:nvSpPr>
        <p:spPr>
          <a:xfrm>
            <a:off x="318188" y="5596420"/>
            <a:ext cx="4238724" cy="923330"/>
          </a:xfrm>
          <a:prstGeom prst="rect">
            <a:avLst/>
          </a:prstGeom>
          <a:noFill/>
        </p:spPr>
        <p:txBody>
          <a:bodyPr wrap="none" rtlCol="0">
            <a:spAutoFit/>
          </a:bodyPr>
          <a:lstStyle/>
          <a:p>
            <a:r>
              <a:rPr lang="ja-JP" altLang="en-US">
                <a:latin typeface="Meiryo" panose="020B0604030504040204" pitchFamily="34" charset="-128"/>
                <a:ea typeface="Meiryo" panose="020B0604030504040204" pitchFamily="34" charset="-128"/>
              </a:rPr>
              <a:t>問題</a:t>
            </a:r>
            <a:r>
              <a:rPr lang="en-US" altLang="ja-JP" dirty="0">
                <a:latin typeface="Meiryo" panose="020B0604030504040204" pitchFamily="34" charset="-128"/>
                <a:ea typeface="Meiryo" panose="020B0604030504040204" pitchFamily="34" charset="-128"/>
              </a:rPr>
              <a:t>: </a:t>
            </a:r>
            <a:r>
              <a:rPr lang="en-US" dirty="0">
                <a:latin typeface="Meiryo" panose="020B0604030504040204" pitchFamily="34" charset="-128"/>
                <a:ea typeface="Meiryo" panose="020B0604030504040204" pitchFamily="34" charset="-128"/>
              </a:rPr>
              <a:t>DPI</a:t>
            </a:r>
            <a:r>
              <a:rPr lang="ja-JP" altLang="en-US">
                <a:latin typeface="Meiryo" panose="020B0604030504040204" pitchFamily="34" charset="-128"/>
                <a:ea typeface="Meiryo" panose="020B0604030504040204" pitchFamily="34" charset="-128"/>
              </a:rPr>
              <a:t>ベース</a:t>
            </a:r>
            <a:r>
              <a:rPr lang="en-US" dirty="0">
                <a:latin typeface="Meiryo" panose="020B0604030504040204" pitchFamily="34" charset="-128"/>
                <a:ea typeface="Meiryo" panose="020B0604030504040204" pitchFamily="34" charset="-128"/>
              </a:rPr>
              <a:t>IDS</a:t>
            </a:r>
            <a:r>
              <a:rPr lang="ja-JP" altLang="en-US">
                <a:latin typeface="Meiryo" panose="020B0604030504040204" pitchFamily="34" charset="-128"/>
                <a:ea typeface="Meiryo" panose="020B0604030504040204" pitchFamily="34" charset="-128"/>
              </a:rPr>
              <a:t>が機能しない</a:t>
            </a:r>
          </a:p>
          <a:p>
            <a:r>
              <a:rPr lang="en-US" dirty="0">
                <a:latin typeface="Meiryo" panose="020B0604030504040204" pitchFamily="34" charset="-128"/>
                <a:ea typeface="Meiryo" panose="020B0604030504040204" pitchFamily="34" charset="-128"/>
              </a:rPr>
              <a:t>Router</a:t>
            </a:r>
            <a:r>
              <a:rPr lang="ja-JP" altLang="en-US">
                <a:latin typeface="Meiryo" panose="020B0604030504040204" pitchFamily="34" charset="-128"/>
                <a:ea typeface="Meiryo" panose="020B0604030504040204" pitchFamily="34" charset="-128"/>
              </a:rPr>
              <a:t>は</a:t>
            </a:r>
            <a:r>
              <a:rPr lang="en-US" dirty="0">
                <a:latin typeface="Meiryo" panose="020B0604030504040204" pitchFamily="34" charset="-128"/>
                <a:ea typeface="Meiryo" panose="020B0604030504040204" pitchFamily="34" charset="-128"/>
              </a:rPr>
              <a:t>ARP</a:t>
            </a:r>
            <a:r>
              <a:rPr lang="ja-JP" altLang="en-US">
                <a:latin typeface="Meiryo" panose="020B0604030504040204" pitchFamily="34" charset="-128"/>
                <a:ea typeface="Meiryo" panose="020B0604030504040204" pitchFamily="34" charset="-128"/>
              </a:rPr>
              <a:t>も確認しない →</a:t>
            </a:r>
          </a:p>
          <a:p>
            <a:r>
              <a:rPr lang="en-US" dirty="0">
                <a:latin typeface="Meiryo" panose="020B0604030504040204" pitchFamily="34" charset="-128"/>
                <a:ea typeface="Meiryo" panose="020B0604030504040204" pitchFamily="34" charset="-128"/>
              </a:rPr>
              <a:t>ARP Spoofing</a:t>
            </a:r>
            <a:r>
              <a:rPr lang="ja-JP" altLang="en-US">
                <a:latin typeface="Meiryo" panose="020B0604030504040204" pitchFamily="34" charset="-128"/>
                <a:ea typeface="Meiryo" panose="020B0604030504040204" pitchFamily="34" charset="-128"/>
              </a:rPr>
              <a:t>が発生しても気づかない</a:t>
            </a:r>
            <a:endParaRPr lang="en-JP" dirty="0">
              <a:latin typeface="Meiryo" panose="020B0604030504040204" pitchFamily="34" charset="-128"/>
              <a:ea typeface="Meiryo" panose="020B0604030504040204" pitchFamily="34" charset="-128"/>
            </a:endParaRPr>
          </a:p>
        </p:txBody>
      </p:sp>
      <p:sp>
        <p:nvSpPr>
          <p:cNvPr id="17" name="正方形/長方形 4">
            <a:extLst>
              <a:ext uri="{FF2B5EF4-FFF2-40B4-BE49-F238E27FC236}">
                <a16:creationId xmlns:a16="http://schemas.microsoft.com/office/drawing/2014/main" id="{B0C7E714-9E98-0EE7-FB6D-A7A3DBD90782}"/>
              </a:ext>
            </a:extLst>
          </p:cNvPr>
          <p:cNvSpPr/>
          <p:nvPr/>
        </p:nvSpPr>
        <p:spPr>
          <a:xfrm>
            <a:off x="318188" y="5375503"/>
            <a:ext cx="4093028" cy="139754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25301375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28C6C95-20B9-D638-15B5-681FAD315D03}"/>
              </a:ext>
            </a:extLst>
          </p:cNvPr>
          <p:cNvSpPr/>
          <p:nvPr/>
        </p:nvSpPr>
        <p:spPr>
          <a:xfrm>
            <a:off x="947343" y="419493"/>
            <a:ext cx="2025647" cy="800176"/>
          </a:xfrm>
          <a:prstGeom prst="roundRect">
            <a:avLst/>
          </a:prstGeom>
          <a:solidFill>
            <a:schemeClr val="tx2">
              <a:lumMod val="10000"/>
              <a:lumOff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eiryo" panose="020B0604030504040204" pitchFamily="34" charset="-128"/>
                <a:ea typeface="Meiryo" panose="020B0604030504040204" pitchFamily="34" charset="-128"/>
              </a:rPr>
              <a:t>IoT Device</a:t>
            </a:r>
          </a:p>
          <a:p>
            <a:pPr algn="ctr"/>
            <a:r>
              <a:rPr lang="en-US" sz="1600" dirty="0">
                <a:solidFill>
                  <a:schemeClr val="tx1"/>
                </a:solidFill>
                <a:latin typeface="Meiryo" panose="020B0604030504040204" pitchFamily="34" charset="-128"/>
                <a:ea typeface="Meiryo" panose="020B0604030504040204" pitchFamily="34" charset="-128"/>
              </a:rPr>
              <a:t>CoAP UDP plain text</a:t>
            </a:r>
          </a:p>
        </p:txBody>
      </p:sp>
      <p:sp>
        <p:nvSpPr>
          <p:cNvPr id="3" name="Rectangle: Rounded Corners 2">
            <a:extLst>
              <a:ext uri="{FF2B5EF4-FFF2-40B4-BE49-F238E27FC236}">
                <a16:creationId xmlns:a16="http://schemas.microsoft.com/office/drawing/2014/main" id="{77B2200A-1042-9F71-1611-6F600E968C0A}"/>
              </a:ext>
            </a:extLst>
          </p:cNvPr>
          <p:cNvSpPr/>
          <p:nvPr/>
        </p:nvSpPr>
        <p:spPr>
          <a:xfrm>
            <a:off x="5605069" y="461399"/>
            <a:ext cx="1651000" cy="943208"/>
          </a:xfrm>
          <a:prstGeom prst="roundRect">
            <a:avLst/>
          </a:prstGeom>
          <a:solidFill>
            <a:schemeClr val="tx2">
              <a:lumMod val="10000"/>
              <a:lumOff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latin typeface="Meiryo" panose="020B0604030504040204" pitchFamily="34" charset="-128"/>
              <a:ea typeface="Meiryo" panose="020B0604030504040204" pitchFamily="34" charset="-128"/>
            </a:endParaRPr>
          </a:p>
          <a:p>
            <a:pPr algn="ctr"/>
            <a:r>
              <a:rPr lang="en-US" sz="1600" b="1" dirty="0">
                <a:solidFill>
                  <a:schemeClr val="tx1"/>
                </a:solidFill>
                <a:latin typeface="Meiryo" panose="020B0604030504040204" pitchFamily="34" charset="-128"/>
                <a:ea typeface="Meiryo" panose="020B0604030504040204" pitchFamily="34" charset="-128"/>
              </a:rPr>
              <a:t>Attacker</a:t>
            </a:r>
          </a:p>
          <a:p>
            <a:pPr algn="ctr"/>
            <a:r>
              <a:rPr lang="en-US" sz="1600" dirty="0">
                <a:solidFill>
                  <a:schemeClr val="tx1"/>
                </a:solidFill>
                <a:latin typeface="Meiryo" panose="020B0604030504040204" pitchFamily="34" charset="-128"/>
                <a:ea typeface="Meiryo" panose="020B0604030504040204" pitchFamily="34" charset="-128"/>
              </a:rPr>
              <a:t>CoAP Flood /Dos </a:t>
            </a:r>
          </a:p>
          <a:p>
            <a:pPr algn="ctr"/>
            <a:endParaRPr lang="en-US" sz="1600" dirty="0">
              <a:solidFill>
                <a:schemeClr val="tx1"/>
              </a:solidFill>
              <a:latin typeface="Meiryo" panose="020B0604030504040204" pitchFamily="34" charset="-128"/>
              <a:ea typeface="Meiryo" panose="020B0604030504040204" pitchFamily="34" charset="-128"/>
            </a:endParaRPr>
          </a:p>
        </p:txBody>
      </p:sp>
      <p:sp>
        <p:nvSpPr>
          <p:cNvPr id="5" name="Rectangle: Rounded Corners 4">
            <a:extLst>
              <a:ext uri="{FF2B5EF4-FFF2-40B4-BE49-F238E27FC236}">
                <a16:creationId xmlns:a16="http://schemas.microsoft.com/office/drawing/2014/main" id="{8061B4AC-3537-1795-9AAE-9E3FB0F521FE}"/>
              </a:ext>
            </a:extLst>
          </p:cNvPr>
          <p:cNvSpPr/>
          <p:nvPr/>
        </p:nvSpPr>
        <p:spPr>
          <a:xfrm>
            <a:off x="1733550" y="1851809"/>
            <a:ext cx="4794250" cy="855032"/>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latin typeface="Meiryo" panose="020B0604030504040204" pitchFamily="34" charset="-128"/>
                <a:ea typeface="Meiryo" panose="020B0604030504040204" pitchFamily="34" charset="-128"/>
              </a:rPr>
              <a:t>tcpdump</a:t>
            </a:r>
            <a:r>
              <a:rPr lang="en-US" b="1" dirty="0">
                <a:solidFill>
                  <a:schemeClr val="tx1"/>
                </a:solidFill>
                <a:latin typeface="Meiryo" panose="020B0604030504040204" pitchFamily="34" charset="-128"/>
                <a:ea typeface="Meiryo" panose="020B0604030504040204" pitchFamily="34" charset="-128"/>
              </a:rPr>
              <a:t> / </a:t>
            </a:r>
            <a:r>
              <a:rPr lang="en-US" b="1" dirty="0" err="1">
                <a:solidFill>
                  <a:schemeClr val="tx1"/>
                </a:solidFill>
                <a:latin typeface="Meiryo" panose="020B0604030504040204" pitchFamily="34" charset="-128"/>
                <a:ea typeface="Meiryo" panose="020B0604030504040204" pitchFamily="34" charset="-128"/>
              </a:rPr>
              <a:t>scapy</a:t>
            </a:r>
            <a:r>
              <a:rPr lang="en-US" b="1" dirty="0">
                <a:solidFill>
                  <a:schemeClr val="tx1"/>
                </a:solidFill>
                <a:latin typeface="Meiryo" panose="020B0604030504040204" pitchFamily="34" charset="-128"/>
                <a:ea typeface="Meiryo" panose="020B0604030504040204" pitchFamily="34" charset="-128"/>
              </a:rPr>
              <a:t> </a:t>
            </a:r>
          </a:p>
          <a:p>
            <a:pPr algn="ctr"/>
            <a:r>
              <a:rPr lang="ja-JP" altLang="en-US" dirty="0">
                <a:solidFill>
                  <a:schemeClr val="tx1"/>
                </a:solidFill>
                <a:latin typeface="Meiryo" panose="020B0604030504040204" pitchFamily="34" charset="-128"/>
                <a:ea typeface="Meiryo" panose="020B0604030504040204" pitchFamily="34" charset="-128"/>
              </a:rPr>
              <a:t>すべてのパケットを取得</a:t>
            </a:r>
            <a:endParaRPr lang="en-US" dirty="0">
              <a:solidFill>
                <a:schemeClr val="tx1"/>
              </a:solidFill>
              <a:latin typeface="Meiryo" panose="020B0604030504040204" pitchFamily="34" charset="-128"/>
              <a:ea typeface="Meiryo" panose="020B0604030504040204" pitchFamily="34" charset="-128"/>
            </a:endParaRPr>
          </a:p>
        </p:txBody>
      </p:sp>
      <p:sp>
        <p:nvSpPr>
          <p:cNvPr id="6" name="Rectangle: Rounded Corners 5">
            <a:extLst>
              <a:ext uri="{FF2B5EF4-FFF2-40B4-BE49-F238E27FC236}">
                <a16:creationId xmlns:a16="http://schemas.microsoft.com/office/drawing/2014/main" id="{50E5EC17-5D5E-BAF0-CFD4-53E17CCE6F32}"/>
              </a:ext>
            </a:extLst>
          </p:cNvPr>
          <p:cNvSpPr/>
          <p:nvPr/>
        </p:nvSpPr>
        <p:spPr>
          <a:xfrm>
            <a:off x="1733550" y="2995172"/>
            <a:ext cx="4794250" cy="813393"/>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eiryo" panose="020B0604030504040204" pitchFamily="34" charset="-128"/>
                <a:ea typeface="Meiryo" panose="020B0604030504040204" pitchFamily="34" charset="-128"/>
              </a:rPr>
              <a:t>Protocol filtering</a:t>
            </a:r>
          </a:p>
          <a:p>
            <a:pPr algn="ctr"/>
            <a:r>
              <a:rPr lang="en-US" altLang="ja-JP" dirty="0">
                <a:solidFill>
                  <a:schemeClr val="tx1"/>
                </a:solidFill>
                <a:latin typeface="Meiryo" panose="020B0604030504040204" pitchFamily="34" charset="-128"/>
                <a:ea typeface="Meiryo" panose="020B0604030504040204" pitchFamily="34" charset="-128"/>
              </a:rPr>
              <a:t>CoAP</a:t>
            </a:r>
            <a:r>
              <a:rPr lang="ja-JP" altLang="en-US" dirty="0">
                <a:solidFill>
                  <a:schemeClr val="tx1"/>
                </a:solidFill>
                <a:latin typeface="Meiryo" panose="020B0604030504040204" pitchFamily="34" charset="-128"/>
                <a:ea typeface="Meiryo" panose="020B0604030504040204" pitchFamily="34" charset="-128"/>
              </a:rPr>
              <a:t>の場合は次のステップへ進む</a:t>
            </a:r>
            <a:endParaRPr lang="mn-MN" b="1" dirty="0">
              <a:solidFill>
                <a:schemeClr val="tx1"/>
              </a:solidFill>
              <a:latin typeface="Meiryo" panose="020B0604030504040204" pitchFamily="34" charset="-128"/>
              <a:ea typeface="Meiryo" panose="020B0604030504040204" pitchFamily="34" charset="-128"/>
            </a:endParaRPr>
          </a:p>
        </p:txBody>
      </p:sp>
      <p:sp>
        <p:nvSpPr>
          <p:cNvPr id="7" name="Rectangle: Rounded Corners 6">
            <a:extLst>
              <a:ext uri="{FF2B5EF4-FFF2-40B4-BE49-F238E27FC236}">
                <a16:creationId xmlns:a16="http://schemas.microsoft.com/office/drawing/2014/main" id="{587FFFA8-9DBB-C267-04AC-97946DB37B3F}"/>
              </a:ext>
            </a:extLst>
          </p:cNvPr>
          <p:cNvSpPr/>
          <p:nvPr/>
        </p:nvSpPr>
        <p:spPr>
          <a:xfrm>
            <a:off x="1733550" y="4144046"/>
            <a:ext cx="4794250" cy="877950"/>
          </a:xfrm>
          <a:prstGeom prst="roundRect">
            <a:avLst/>
          </a:prstGeom>
          <a:solidFill>
            <a:schemeClr val="accent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chemeClr val="tx1"/>
                </a:solidFill>
                <a:latin typeface="Meiryo" panose="020B0604030504040204" pitchFamily="34" charset="-128"/>
                <a:ea typeface="Meiryo" panose="020B0604030504040204" pitchFamily="34" charset="-128"/>
              </a:rPr>
              <a:t>CoAP</a:t>
            </a:r>
            <a:r>
              <a:rPr lang="ja-JP" altLang="en-US" sz="1600" b="1" dirty="0">
                <a:solidFill>
                  <a:schemeClr val="tx1"/>
                </a:solidFill>
                <a:latin typeface="Meiryo" panose="020B0604030504040204" pitchFamily="34" charset="-128"/>
                <a:ea typeface="Meiryo" panose="020B0604030504040204" pitchFamily="34" charset="-128"/>
              </a:rPr>
              <a:t>の特徴量を抽出</a:t>
            </a:r>
            <a:endParaRPr lang="en-US" altLang="ja-JP" sz="1600" b="1" dirty="0">
              <a:solidFill>
                <a:schemeClr val="tx1"/>
              </a:solidFill>
              <a:latin typeface="Meiryo" panose="020B0604030504040204" pitchFamily="34" charset="-128"/>
              <a:ea typeface="Meiryo" panose="020B0604030504040204" pitchFamily="34" charset="-128"/>
            </a:endParaRPr>
          </a:p>
          <a:p>
            <a:pPr algn="ctr"/>
            <a:r>
              <a:rPr lang="en-US" sz="1600" dirty="0">
                <a:solidFill>
                  <a:schemeClr val="tx1"/>
                </a:solidFill>
                <a:latin typeface="Meiryo" panose="020B0604030504040204" pitchFamily="34" charset="-128"/>
                <a:ea typeface="Meiryo" panose="020B0604030504040204" pitchFamily="34" charset="-128"/>
              </a:rPr>
              <a:t>Message type, Payload Size8 Source IP, ..Features </a:t>
            </a:r>
          </a:p>
        </p:txBody>
      </p:sp>
      <p:sp>
        <p:nvSpPr>
          <p:cNvPr id="8" name="Rectangle: Rounded Corners 7">
            <a:extLst>
              <a:ext uri="{FF2B5EF4-FFF2-40B4-BE49-F238E27FC236}">
                <a16:creationId xmlns:a16="http://schemas.microsoft.com/office/drawing/2014/main" id="{65275E9D-76EF-BAF4-C9A8-322D27A857BF}"/>
              </a:ext>
            </a:extLst>
          </p:cNvPr>
          <p:cNvSpPr/>
          <p:nvPr/>
        </p:nvSpPr>
        <p:spPr>
          <a:xfrm>
            <a:off x="2972990" y="5159222"/>
            <a:ext cx="2315369" cy="704852"/>
          </a:xfrm>
          <a:prstGeom prst="roundRect">
            <a:avLst/>
          </a:prstGeom>
          <a:solidFill>
            <a:schemeClr val="accent4">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Meiryo" panose="020B0604030504040204" pitchFamily="34" charset="-128"/>
                <a:ea typeface="Meiryo" panose="020B0604030504040204" pitchFamily="34" charset="-128"/>
              </a:rPr>
              <a:t>機械学習で分類</a:t>
            </a:r>
            <a:endParaRPr lang="en-US" altLang="ja-JP" b="1" dirty="0">
              <a:solidFill>
                <a:schemeClr val="tx1"/>
              </a:solidFill>
              <a:latin typeface="Meiryo" panose="020B0604030504040204" pitchFamily="34" charset="-128"/>
              <a:ea typeface="Meiryo" panose="020B0604030504040204" pitchFamily="34" charset="-128"/>
            </a:endParaRPr>
          </a:p>
          <a:p>
            <a:pPr algn="ctr"/>
            <a:r>
              <a:rPr lang="en-US" dirty="0">
                <a:solidFill>
                  <a:schemeClr val="tx1"/>
                </a:solidFill>
                <a:latin typeface="Meiryo" panose="020B0604030504040204" pitchFamily="34" charset="-128"/>
                <a:ea typeface="Meiryo" panose="020B0604030504040204" pitchFamily="34" charset="-128"/>
              </a:rPr>
              <a:t>Attack or Normal</a:t>
            </a:r>
          </a:p>
        </p:txBody>
      </p:sp>
      <p:sp>
        <p:nvSpPr>
          <p:cNvPr id="9" name="Rectangle: Rounded Corners 8">
            <a:extLst>
              <a:ext uri="{FF2B5EF4-FFF2-40B4-BE49-F238E27FC236}">
                <a16:creationId xmlns:a16="http://schemas.microsoft.com/office/drawing/2014/main" id="{404B5884-2ABE-8E0B-3174-1D17D675E8A9}"/>
              </a:ext>
            </a:extLst>
          </p:cNvPr>
          <p:cNvSpPr/>
          <p:nvPr/>
        </p:nvSpPr>
        <p:spPr>
          <a:xfrm>
            <a:off x="1276347" y="5946776"/>
            <a:ext cx="1803399" cy="666751"/>
          </a:xfrm>
          <a:prstGeom prst="roundRect">
            <a:avLst/>
          </a:prstGeom>
          <a:solidFill>
            <a:schemeClr val="bg2">
              <a:lumMod val="9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eiryo" panose="020B0604030504040204" pitchFamily="34" charset="-128"/>
                <a:ea typeface="Meiryo" panose="020B0604030504040204" pitchFamily="34" charset="-128"/>
              </a:rPr>
              <a:t>Packet Drop </a:t>
            </a:r>
          </a:p>
        </p:txBody>
      </p:sp>
      <p:sp>
        <p:nvSpPr>
          <p:cNvPr id="10" name="Rectangle: Rounded Corners 9">
            <a:extLst>
              <a:ext uri="{FF2B5EF4-FFF2-40B4-BE49-F238E27FC236}">
                <a16:creationId xmlns:a16="http://schemas.microsoft.com/office/drawing/2014/main" id="{E8B51E3B-5F05-C57E-D21A-4E5266ED3DF2}"/>
              </a:ext>
            </a:extLst>
          </p:cNvPr>
          <p:cNvSpPr/>
          <p:nvPr/>
        </p:nvSpPr>
        <p:spPr>
          <a:xfrm>
            <a:off x="5537200" y="5946775"/>
            <a:ext cx="2571750" cy="666751"/>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eiryo" panose="020B0604030504040204" pitchFamily="34" charset="-128"/>
                <a:ea typeface="Meiryo" panose="020B0604030504040204" pitchFamily="34" charset="-128"/>
              </a:rPr>
              <a:t>Layer 2</a:t>
            </a:r>
            <a:r>
              <a:rPr lang="ja-JP" altLang="en-US" b="1" dirty="0">
                <a:solidFill>
                  <a:schemeClr val="tx1"/>
                </a:solidFill>
                <a:latin typeface="Meiryo" panose="020B0604030504040204" pitchFamily="34" charset="-128"/>
                <a:ea typeface="Meiryo" panose="020B0604030504040204" pitchFamily="34" charset="-128"/>
              </a:rPr>
              <a:t>へ</a:t>
            </a:r>
            <a:r>
              <a:rPr lang="en-US" b="1" dirty="0">
                <a:solidFill>
                  <a:schemeClr val="tx1"/>
                </a:solidFill>
                <a:latin typeface="Meiryo" panose="020B0604030504040204" pitchFamily="34" charset="-128"/>
                <a:ea typeface="Meiryo" panose="020B0604030504040204" pitchFamily="34" charset="-128"/>
              </a:rPr>
              <a:t> </a:t>
            </a:r>
            <a:r>
              <a:rPr lang="ja-JP" altLang="en-US" b="1" dirty="0">
                <a:solidFill>
                  <a:schemeClr val="tx1"/>
                </a:solidFill>
                <a:latin typeface="Meiryo" panose="020B0604030504040204" pitchFamily="34" charset="-128"/>
                <a:ea typeface="Meiryo" panose="020B0604030504040204" pitchFamily="34" charset="-128"/>
              </a:rPr>
              <a:t>転送</a:t>
            </a:r>
            <a:endParaRPr lang="en-US" b="1" dirty="0">
              <a:solidFill>
                <a:schemeClr val="tx1"/>
              </a:solidFill>
              <a:latin typeface="Meiryo" panose="020B0604030504040204" pitchFamily="34" charset="-128"/>
              <a:ea typeface="Meiryo" panose="020B0604030504040204" pitchFamily="34" charset="-128"/>
            </a:endParaRPr>
          </a:p>
        </p:txBody>
      </p:sp>
      <p:cxnSp>
        <p:nvCxnSpPr>
          <p:cNvPr id="12" name="Connector: Elbow 11">
            <a:extLst>
              <a:ext uri="{FF2B5EF4-FFF2-40B4-BE49-F238E27FC236}">
                <a16:creationId xmlns:a16="http://schemas.microsoft.com/office/drawing/2014/main" id="{3766B9DD-ED44-1BE7-7C69-E890D4A04041}"/>
              </a:ext>
            </a:extLst>
          </p:cNvPr>
          <p:cNvCxnSpPr>
            <a:cxnSpLocks/>
            <a:stCxn id="8" idx="1"/>
            <a:endCxn id="9" idx="0"/>
          </p:cNvCxnSpPr>
          <p:nvPr/>
        </p:nvCxnSpPr>
        <p:spPr>
          <a:xfrm rot="10800000" flipV="1">
            <a:off x="2178048" y="5511648"/>
            <a:ext cx="794943" cy="43512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4" name="Connector: Elbow 13">
            <a:extLst>
              <a:ext uri="{FF2B5EF4-FFF2-40B4-BE49-F238E27FC236}">
                <a16:creationId xmlns:a16="http://schemas.microsoft.com/office/drawing/2014/main" id="{2FA36E60-032A-B176-40D3-BD7A49B80FA2}"/>
              </a:ext>
            </a:extLst>
          </p:cNvPr>
          <p:cNvCxnSpPr>
            <a:cxnSpLocks/>
            <a:stCxn id="8" idx="3"/>
            <a:endCxn id="10" idx="0"/>
          </p:cNvCxnSpPr>
          <p:nvPr/>
        </p:nvCxnSpPr>
        <p:spPr>
          <a:xfrm>
            <a:off x="5288359" y="5511648"/>
            <a:ext cx="1534716" cy="435127"/>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D5D23EF-AEBF-533F-B068-3DDB8222D0E0}"/>
              </a:ext>
            </a:extLst>
          </p:cNvPr>
          <p:cNvCxnSpPr>
            <a:cxnSpLocks/>
          </p:cNvCxnSpPr>
          <p:nvPr/>
        </p:nvCxnSpPr>
        <p:spPr>
          <a:xfrm>
            <a:off x="2621857" y="1210387"/>
            <a:ext cx="0" cy="33337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5E2E30DD-6F88-45BB-F0F9-F4870D0F18D5}"/>
              </a:ext>
            </a:extLst>
          </p:cNvPr>
          <p:cNvCxnSpPr>
            <a:cxnSpLocks/>
          </p:cNvCxnSpPr>
          <p:nvPr/>
        </p:nvCxnSpPr>
        <p:spPr>
          <a:xfrm>
            <a:off x="2621857" y="1567478"/>
            <a:ext cx="3641557" cy="0"/>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Arrow Connector 24">
            <a:extLst>
              <a:ext uri="{FF2B5EF4-FFF2-40B4-BE49-F238E27FC236}">
                <a16:creationId xmlns:a16="http://schemas.microsoft.com/office/drawing/2014/main" id="{E2499BEE-CA39-56DB-FAD2-91E3D2EFFE7C}"/>
              </a:ext>
            </a:extLst>
          </p:cNvPr>
          <p:cNvCxnSpPr>
            <a:cxnSpLocks/>
            <a:endCxn id="5" idx="0"/>
          </p:cNvCxnSpPr>
          <p:nvPr/>
        </p:nvCxnSpPr>
        <p:spPr>
          <a:xfrm>
            <a:off x="4130675" y="1567478"/>
            <a:ext cx="0" cy="28433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 name="TextBox 25">
            <a:extLst>
              <a:ext uri="{FF2B5EF4-FFF2-40B4-BE49-F238E27FC236}">
                <a16:creationId xmlns:a16="http://schemas.microsoft.com/office/drawing/2014/main" id="{44FD0551-832C-613C-C2E7-EEE6817A3407}"/>
              </a:ext>
            </a:extLst>
          </p:cNvPr>
          <p:cNvSpPr txBox="1"/>
          <p:nvPr/>
        </p:nvSpPr>
        <p:spPr>
          <a:xfrm>
            <a:off x="468270" y="1650481"/>
            <a:ext cx="4502937" cy="338554"/>
          </a:xfrm>
          <a:prstGeom prst="rect">
            <a:avLst/>
          </a:prstGeom>
          <a:noFill/>
        </p:spPr>
        <p:txBody>
          <a:bodyPr wrap="square" rtlCol="0">
            <a:spAutoFit/>
          </a:bodyPr>
          <a:lstStyle/>
          <a:p>
            <a:r>
              <a:rPr lang="en-US" sz="1600" dirty="0">
                <a:latin typeface="Meiryo" panose="020B0604030504040204" pitchFamily="34" charset="-128"/>
                <a:ea typeface="Meiryo" panose="020B0604030504040204" pitchFamily="34" charset="-128"/>
              </a:rPr>
              <a:t>Step 1: Packet capture</a:t>
            </a:r>
          </a:p>
        </p:txBody>
      </p:sp>
      <p:sp>
        <p:nvSpPr>
          <p:cNvPr id="30" name="TextBox 29">
            <a:extLst>
              <a:ext uri="{FF2B5EF4-FFF2-40B4-BE49-F238E27FC236}">
                <a16:creationId xmlns:a16="http://schemas.microsoft.com/office/drawing/2014/main" id="{81A086EF-5F31-2281-243F-5D7C3B8917C0}"/>
              </a:ext>
            </a:extLst>
          </p:cNvPr>
          <p:cNvSpPr txBox="1"/>
          <p:nvPr/>
        </p:nvSpPr>
        <p:spPr>
          <a:xfrm>
            <a:off x="5731042" y="2776588"/>
            <a:ext cx="4572000" cy="584775"/>
          </a:xfrm>
          <a:prstGeom prst="rect">
            <a:avLst/>
          </a:prstGeom>
          <a:noFill/>
        </p:spPr>
        <p:txBody>
          <a:bodyPr wrap="square">
            <a:spAutoFit/>
          </a:bodyPr>
          <a:lstStyle/>
          <a:p>
            <a:r>
              <a:rPr lang="en-US" sz="1600" dirty="0">
                <a:latin typeface="Meiryo" panose="020B0604030504040204" pitchFamily="34" charset="-128"/>
                <a:ea typeface="Meiryo" panose="020B0604030504040204" pitchFamily="34" charset="-128"/>
              </a:rPr>
              <a:t>Step 2 : Protocol filtering</a:t>
            </a:r>
          </a:p>
          <a:p>
            <a:endParaRPr lang="en-US" sz="1600" dirty="0">
              <a:latin typeface="Meiryo" panose="020B0604030504040204" pitchFamily="34" charset="-128"/>
              <a:ea typeface="Meiryo" panose="020B0604030504040204" pitchFamily="34" charset="-128"/>
            </a:endParaRPr>
          </a:p>
        </p:txBody>
      </p:sp>
      <p:sp>
        <p:nvSpPr>
          <p:cNvPr id="32" name="TextBox 31">
            <a:extLst>
              <a:ext uri="{FF2B5EF4-FFF2-40B4-BE49-F238E27FC236}">
                <a16:creationId xmlns:a16="http://schemas.microsoft.com/office/drawing/2014/main" id="{BDB205E8-B948-372C-8909-EB0F510EC287}"/>
              </a:ext>
            </a:extLst>
          </p:cNvPr>
          <p:cNvSpPr txBox="1"/>
          <p:nvPr/>
        </p:nvSpPr>
        <p:spPr>
          <a:xfrm>
            <a:off x="439821" y="3849553"/>
            <a:ext cx="3476449" cy="584775"/>
          </a:xfrm>
          <a:prstGeom prst="rect">
            <a:avLst/>
          </a:prstGeom>
          <a:noFill/>
        </p:spPr>
        <p:txBody>
          <a:bodyPr wrap="square">
            <a:spAutoFit/>
          </a:bodyPr>
          <a:lstStyle/>
          <a:p>
            <a:r>
              <a:rPr lang="en-US" sz="1600" dirty="0">
                <a:latin typeface="Meiryo" panose="020B0604030504040204" pitchFamily="34" charset="-128"/>
                <a:ea typeface="Meiryo" panose="020B0604030504040204" pitchFamily="34" charset="-128"/>
              </a:rPr>
              <a:t>Step 3 : Feature extraction</a:t>
            </a:r>
          </a:p>
          <a:p>
            <a:endParaRPr lang="en-US" sz="1600" dirty="0">
              <a:latin typeface="Meiryo" panose="020B0604030504040204" pitchFamily="34" charset="-128"/>
              <a:ea typeface="Meiryo" panose="020B0604030504040204" pitchFamily="34" charset="-128"/>
            </a:endParaRPr>
          </a:p>
        </p:txBody>
      </p:sp>
      <p:cxnSp>
        <p:nvCxnSpPr>
          <p:cNvPr id="34" name="Straight Connector 33">
            <a:extLst>
              <a:ext uri="{FF2B5EF4-FFF2-40B4-BE49-F238E27FC236}">
                <a16:creationId xmlns:a16="http://schemas.microsoft.com/office/drawing/2014/main" id="{AFB7ABBC-2134-2EBC-9D72-94D61EDA7E77}"/>
              </a:ext>
            </a:extLst>
          </p:cNvPr>
          <p:cNvCxnSpPr>
            <a:cxnSpLocks/>
            <a:stCxn id="5" idx="2"/>
            <a:endCxn id="6" idx="0"/>
          </p:cNvCxnSpPr>
          <p:nvPr/>
        </p:nvCxnSpPr>
        <p:spPr>
          <a:xfrm>
            <a:off x="4130675" y="2706841"/>
            <a:ext cx="0" cy="288331"/>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55E6014D-3DB8-732C-1B49-117D2B20116A}"/>
              </a:ext>
            </a:extLst>
          </p:cNvPr>
          <p:cNvCxnSpPr>
            <a:cxnSpLocks/>
            <a:stCxn id="6" idx="2"/>
            <a:endCxn id="7" idx="0"/>
          </p:cNvCxnSpPr>
          <p:nvPr/>
        </p:nvCxnSpPr>
        <p:spPr>
          <a:xfrm>
            <a:off x="4130675" y="3808565"/>
            <a:ext cx="0" cy="335481"/>
          </a:xfrm>
          <a:prstGeom prst="line">
            <a:avLst/>
          </a:prstGeom>
        </p:spPr>
        <p:style>
          <a:lnRef idx="2">
            <a:schemeClr val="accent1"/>
          </a:lnRef>
          <a:fillRef idx="0">
            <a:schemeClr val="accent1"/>
          </a:fillRef>
          <a:effectRef idx="1">
            <a:schemeClr val="accent1"/>
          </a:effectRef>
          <a:fontRef idx="minor">
            <a:schemeClr val="tx1"/>
          </a:fontRef>
        </p:style>
      </p:cxnSp>
      <p:cxnSp>
        <p:nvCxnSpPr>
          <p:cNvPr id="74" name="Straight Connector 73">
            <a:extLst>
              <a:ext uri="{FF2B5EF4-FFF2-40B4-BE49-F238E27FC236}">
                <a16:creationId xmlns:a16="http://schemas.microsoft.com/office/drawing/2014/main" id="{2D7345D0-B3C1-DDD1-6A33-8871AB580E66}"/>
              </a:ext>
            </a:extLst>
          </p:cNvPr>
          <p:cNvCxnSpPr>
            <a:cxnSpLocks/>
            <a:stCxn id="7" idx="2"/>
          </p:cNvCxnSpPr>
          <p:nvPr/>
        </p:nvCxnSpPr>
        <p:spPr>
          <a:xfrm flipH="1">
            <a:off x="4130674" y="5021996"/>
            <a:ext cx="1" cy="332451"/>
          </a:xfrm>
          <a:prstGeom prst="line">
            <a:avLst/>
          </a:prstGeom>
        </p:spPr>
        <p:style>
          <a:lnRef idx="2">
            <a:schemeClr val="accent1"/>
          </a:lnRef>
          <a:fillRef idx="0">
            <a:schemeClr val="accent1"/>
          </a:fillRef>
          <a:effectRef idx="1">
            <a:schemeClr val="accent1"/>
          </a:effectRef>
          <a:fontRef idx="minor">
            <a:schemeClr val="tx1"/>
          </a:fontRef>
        </p:style>
      </p:cxnSp>
      <p:sp>
        <p:nvSpPr>
          <p:cNvPr id="77" name="TextBox 76">
            <a:extLst>
              <a:ext uri="{FF2B5EF4-FFF2-40B4-BE49-F238E27FC236}">
                <a16:creationId xmlns:a16="http://schemas.microsoft.com/office/drawing/2014/main" id="{7AE56ABC-A5E2-863D-B4D1-D2F16891D27A}"/>
              </a:ext>
            </a:extLst>
          </p:cNvPr>
          <p:cNvSpPr txBox="1"/>
          <p:nvPr/>
        </p:nvSpPr>
        <p:spPr>
          <a:xfrm>
            <a:off x="5653255" y="5073668"/>
            <a:ext cx="4727574" cy="584775"/>
          </a:xfrm>
          <a:prstGeom prst="rect">
            <a:avLst/>
          </a:prstGeom>
          <a:noFill/>
        </p:spPr>
        <p:txBody>
          <a:bodyPr wrap="square">
            <a:spAutoFit/>
          </a:bodyPr>
          <a:lstStyle/>
          <a:p>
            <a:r>
              <a:rPr lang="en-US" sz="1600" dirty="0">
                <a:latin typeface="Meiryo" panose="020B0604030504040204" pitchFamily="34" charset="-128"/>
                <a:ea typeface="Meiryo" panose="020B0604030504040204" pitchFamily="34" charset="-128"/>
              </a:rPr>
              <a:t>Step 4 :ML Classification</a:t>
            </a:r>
          </a:p>
          <a:p>
            <a:endParaRPr lang="en-US" sz="1600" dirty="0">
              <a:latin typeface="Meiryo" panose="020B0604030504040204" pitchFamily="34" charset="-128"/>
              <a:ea typeface="Meiryo" panose="020B0604030504040204" pitchFamily="34" charset="-128"/>
            </a:endParaRPr>
          </a:p>
        </p:txBody>
      </p:sp>
      <p:sp>
        <p:nvSpPr>
          <p:cNvPr id="11" name="TextBox 10">
            <a:extLst>
              <a:ext uri="{FF2B5EF4-FFF2-40B4-BE49-F238E27FC236}">
                <a16:creationId xmlns:a16="http://schemas.microsoft.com/office/drawing/2014/main" id="{95C910BB-AAC6-C619-E5C2-9A6026DDE0E2}"/>
              </a:ext>
            </a:extLst>
          </p:cNvPr>
          <p:cNvSpPr txBox="1"/>
          <p:nvPr/>
        </p:nvSpPr>
        <p:spPr>
          <a:xfrm>
            <a:off x="1591663" y="95403"/>
            <a:ext cx="5078021" cy="400110"/>
          </a:xfrm>
          <a:prstGeom prst="rect">
            <a:avLst/>
          </a:prstGeom>
          <a:noFill/>
        </p:spPr>
        <p:txBody>
          <a:bodyPr wrap="square">
            <a:spAutoFit/>
          </a:bodyPr>
          <a:lstStyle/>
          <a:p>
            <a:pPr marL="342900" indent="-342900" algn="ctr">
              <a:buFont typeface="Wingdings" pitchFamily="2" charset="2"/>
              <a:buChar char="Ø"/>
            </a:pPr>
            <a:r>
              <a:rPr lang="en-US" altLang="ja-JP" sz="2000" b="1" dirty="0">
                <a:latin typeface="Meiryo" panose="020B0604030504040204" pitchFamily="34" charset="-128"/>
                <a:ea typeface="Meiryo" panose="020B0604030504040204" pitchFamily="34" charset="-128"/>
              </a:rPr>
              <a:t>Layer 1 – ML-based IDS</a:t>
            </a:r>
            <a:endParaRPr lang="en-JP" sz="2000" b="1" dirty="0">
              <a:latin typeface="Meiryo" panose="020B0604030504040204" pitchFamily="34" charset="-128"/>
              <a:ea typeface="Meiryo" panose="020B0604030504040204" pitchFamily="34" charset="-128"/>
            </a:endParaRPr>
          </a:p>
        </p:txBody>
      </p:sp>
      <p:cxnSp>
        <p:nvCxnSpPr>
          <p:cNvPr id="39" name="Straight Arrow Connector 38">
            <a:extLst>
              <a:ext uri="{FF2B5EF4-FFF2-40B4-BE49-F238E27FC236}">
                <a16:creationId xmlns:a16="http://schemas.microsoft.com/office/drawing/2014/main" id="{DA185D4E-824A-8931-BA9F-CA3DDB3CCD10}"/>
              </a:ext>
            </a:extLst>
          </p:cNvPr>
          <p:cNvCxnSpPr>
            <a:cxnSpLocks/>
          </p:cNvCxnSpPr>
          <p:nvPr/>
        </p:nvCxnSpPr>
        <p:spPr>
          <a:xfrm>
            <a:off x="6263414" y="1376271"/>
            <a:ext cx="0" cy="27421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43" name="Slide Number Placeholder 42">
            <a:extLst>
              <a:ext uri="{FF2B5EF4-FFF2-40B4-BE49-F238E27FC236}">
                <a16:creationId xmlns:a16="http://schemas.microsoft.com/office/drawing/2014/main" id="{E9CA44A4-31EC-4633-3440-7F22F1A88FB8}"/>
              </a:ext>
            </a:extLst>
          </p:cNvPr>
          <p:cNvSpPr>
            <a:spLocks noGrp="1"/>
          </p:cNvSpPr>
          <p:nvPr>
            <p:ph type="sldNum" sz="quarter" idx="12"/>
          </p:nvPr>
        </p:nvSpPr>
        <p:spPr/>
        <p:txBody>
          <a:bodyPr/>
          <a:lstStyle/>
          <a:p>
            <a:fld id="{828F3BD4-1AF2-D144-8129-4D42AD448F5E}" type="slidenum">
              <a:rPr lang="en-JP" smtClean="0"/>
              <a:t>47</a:t>
            </a:fld>
            <a:endParaRPr lang="en-JP"/>
          </a:p>
        </p:txBody>
      </p:sp>
    </p:spTree>
    <p:extLst>
      <p:ext uri="{BB962C8B-B14F-4D97-AF65-F5344CB8AC3E}">
        <p14:creationId xmlns:p14="http://schemas.microsoft.com/office/powerpoint/2010/main" val="35860123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54D721-5901-8170-B3BE-CBB12F8A9C9A}"/>
              </a:ext>
            </a:extLst>
          </p:cNvPr>
          <p:cNvPicPr>
            <a:picLocks noChangeAspect="1"/>
          </p:cNvPicPr>
          <p:nvPr/>
        </p:nvPicPr>
        <p:blipFill>
          <a:blip r:embed="rId2"/>
          <a:stretch>
            <a:fillRect/>
          </a:stretch>
        </p:blipFill>
        <p:spPr>
          <a:xfrm>
            <a:off x="1" y="1091761"/>
            <a:ext cx="9144000" cy="5172753"/>
          </a:xfrm>
          <a:prstGeom prst="rect">
            <a:avLst/>
          </a:prstGeom>
        </p:spPr>
      </p:pic>
      <p:sp>
        <p:nvSpPr>
          <p:cNvPr id="6" name="TextBox 5">
            <a:extLst>
              <a:ext uri="{FF2B5EF4-FFF2-40B4-BE49-F238E27FC236}">
                <a16:creationId xmlns:a16="http://schemas.microsoft.com/office/drawing/2014/main" id="{071D6292-799F-01D8-5075-F6626B675BC4}"/>
              </a:ext>
            </a:extLst>
          </p:cNvPr>
          <p:cNvSpPr txBox="1"/>
          <p:nvPr/>
        </p:nvSpPr>
        <p:spPr>
          <a:xfrm>
            <a:off x="123825" y="6344245"/>
            <a:ext cx="6715125" cy="430887"/>
          </a:xfrm>
          <a:prstGeom prst="rect">
            <a:avLst/>
          </a:prstGeom>
          <a:noFill/>
        </p:spPr>
        <p:txBody>
          <a:bodyPr wrap="square">
            <a:spAutoFit/>
          </a:bodyPr>
          <a:lstStyle/>
          <a:p>
            <a:r>
              <a:rPr lang="en-JP" sz="1100" dirty="0">
                <a:latin typeface="Times New Roman" panose="02020603050405020304" pitchFamily="18" charset="0"/>
                <a:ea typeface="Meiryo" panose="020B0604030504040204" pitchFamily="34" charset="-128"/>
                <a:cs typeface="Times New Roman" panose="02020603050405020304" pitchFamily="18" charset="0"/>
              </a:rPr>
              <a:t>[3] https://www.cepro.com/news/report-average-smart-home-faces-29-cybersecurity-attacks-daily-integrators-on-front-line/623233/?utm_source</a:t>
            </a:r>
          </a:p>
        </p:txBody>
      </p:sp>
      <p:sp>
        <p:nvSpPr>
          <p:cNvPr id="8" name="TextBox 7">
            <a:extLst>
              <a:ext uri="{FF2B5EF4-FFF2-40B4-BE49-F238E27FC236}">
                <a16:creationId xmlns:a16="http://schemas.microsoft.com/office/drawing/2014/main" id="{C57D62E3-3BFA-79BD-90AC-70636888601D}"/>
              </a:ext>
            </a:extLst>
          </p:cNvPr>
          <p:cNvSpPr txBox="1"/>
          <p:nvPr/>
        </p:nvSpPr>
        <p:spPr>
          <a:xfrm>
            <a:off x="123825" y="298021"/>
            <a:ext cx="8486775" cy="523220"/>
          </a:xfrm>
          <a:prstGeom prst="rect">
            <a:avLst/>
          </a:prstGeom>
          <a:noFill/>
        </p:spPr>
        <p:txBody>
          <a:bodyPr wrap="square">
            <a:spAutoFit/>
          </a:bodyPr>
          <a:lstStyle/>
          <a:p>
            <a:pPr marL="457200" indent="-457200">
              <a:buFont typeface="Wingdings" pitchFamily="2" charset="2"/>
              <a:buChar char="Ø"/>
            </a:pPr>
            <a:r>
              <a:rPr lang="ja-JP" altLang="en-US" sz="2800" b="1">
                <a:latin typeface="Meiryo" panose="020B0604030504040204" pitchFamily="34" charset="-128"/>
                <a:ea typeface="Meiryo" panose="020B0604030504040204" pitchFamily="34" charset="-128"/>
              </a:rPr>
              <a:t>スマートホームにおけるサイバー攻撃の現状</a:t>
            </a:r>
            <a:r>
              <a:rPr lang="en-US" altLang="ja-JP" sz="2000" dirty="0">
                <a:latin typeface="Meiryo" panose="020B0604030504040204" pitchFamily="34" charset="-128"/>
                <a:ea typeface="Meiryo" panose="020B0604030504040204" pitchFamily="34" charset="-128"/>
              </a:rPr>
              <a:t>[3]</a:t>
            </a:r>
            <a:endParaRPr lang="en-JP" sz="2000" dirty="0">
              <a:latin typeface="Meiryo" panose="020B0604030504040204" pitchFamily="34" charset="-128"/>
              <a:ea typeface="Meiryo" panose="020B0604030504040204" pitchFamily="34" charset="-128"/>
            </a:endParaRPr>
          </a:p>
        </p:txBody>
      </p:sp>
      <p:sp>
        <p:nvSpPr>
          <p:cNvPr id="10" name="Rounded Rectangle 9">
            <a:extLst>
              <a:ext uri="{FF2B5EF4-FFF2-40B4-BE49-F238E27FC236}">
                <a16:creationId xmlns:a16="http://schemas.microsoft.com/office/drawing/2014/main" id="{C9B310A2-C657-3C69-4839-33358069B677}"/>
              </a:ext>
            </a:extLst>
          </p:cNvPr>
          <p:cNvSpPr/>
          <p:nvPr/>
        </p:nvSpPr>
        <p:spPr>
          <a:xfrm>
            <a:off x="3533774" y="1091760"/>
            <a:ext cx="1666875" cy="57864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tx1"/>
                </a:solidFill>
                <a:latin typeface="Meiryo" panose="020B0604030504040204" pitchFamily="34" charset="-128"/>
                <a:ea typeface="Meiryo" panose="020B0604030504040204" pitchFamily="34" charset="-128"/>
              </a:rPr>
              <a:t>家庭ネットワークで毎日</a:t>
            </a:r>
            <a:endParaRPr lang="en-JP" b="1" dirty="0">
              <a:solidFill>
                <a:schemeClr val="tx1"/>
              </a:solidFill>
              <a:latin typeface="Meiryo" panose="020B0604030504040204" pitchFamily="34" charset="-128"/>
              <a:ea typeface="Meiryo" panose="020B0604030504040204" pitchFamily="34" charset="-128"/>
            </a:endParaRPr>
          </a:p>
        </p:txBody>
      </p:sp>
      <p:sp>
        <p:nvSpPr>
          <p:cNvPr id="11" name="Rounded Rectangle 10">
            <a:extLst>
              <a:ext uri="{FF2B5EF4-FFF2-40B4-BE49-F238E27FC236}">
                <a16:creationId xmlns:a16="http://schemas.microsoft.com/office/drawing/2014/main" id="{82B9F072-5B35-4F00-5548-70A664E42EED}"/>
              </a:ext>
            </a:extLst>
          </p:cNvPr>
          <p:cNvSpPr/>
          <p:nvPr/>
        </p:nvSpPr>
        <p:spPr>
          <a:xfrm>
            <a:off x="442912" y="1091761"/>
            <a:ext cx="1957388" cy="57864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latin typeface="Meiryo" panose="020B0604030504040204" pitchFamily="34" charset="-128"/>
                <a:ea typeface="Meiryo" panose="020B0604030504040204" pitchFamily="34" charset="-128"/>
              </a:rPr>
              <a:t>2024</a:t>
            </a:r>
            <a:r>
              <a:rPr lang="ja-JP" altLang="en-US" b="1">
                <a:solidFill>
                  <a:schemeClr val="tx1"/>
                </a:solidFill>
                <a:latin typeface="Meiryo" panose="020B0604030504040204" pitchFamily="34" charset="-128"/>
                <a:ea typeface="Meiryo" panose="020B0604030504040204" pitchFamily="34" charset="-128"/>
              </a:rPr>
              <a:t>年の攻撃増加率</a:t>
            </a:r>
            <a:endParaRPr lang="en-JP" b="1" dirty="0">
              <a:solidFill>
                <a:schemeClr val="tx1"/>
              </a:solidFill>
              <a:latin typeface="Meiryo" panose="020B0604030504040204" pitchFamily="34" charset="-128"/>
              <a:ea typeface="Meiryo" panose="020B0604030504040204" pitchFamily="34" charset="-128"/>
            </a:endParaRPr>
          </a:p>
        </p:txBody>
      </p:sp>
      <p:sp>
        <p:nvSpPr>
          <p:cNvPr id="12" name="Rounded Rectangle 11">
            <a:extLst>
              <a:ext uri="{FF2B5EF4-FFF2-40B4-BE49-F238E27FC236}">
                <a16:creationId xmlns:a16="http://schemas.microsoft.com/office/drawing/2014/main" id="{E77ECF07-29D2-0A6C-0504-D1C422317F88}"/>
              </a:ext>
            </a:extLst>
          </p:cNvPr>
          <p:cNvSpPr/>
          <p:nvPr/>
        </p:nvSpPr>
        <p:spPr>
          <a:xfrm>
            <a:off x="6557962" y="1091760"/>
            <a:ext cx="1957388" cy="578645"/>
          </a:xfrm>
          <a:prstGeom prst="round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Meiryo" panose="020B0604030504040204" pitchFamily="34" charset="-128"/>
                <a:ea typeface="Meiryo" panose="020B0604030504040204" pitchFamily="34" charset="-128"/>
              </a:rPr>
              <a:t>DoS</a:t>
            </a:r>
            <a:r>
              <a:rPr lang="ja-JP" altLang="en-US" b="1">
                <a:solidFill>
                  <a:schemeClr val="tx1"/>
                </a:solidFill>
                <a:latin typeface="Meiryo" panose="020B0604030504040204" pitchFamily="34" charset="-128"/>
                <a:ea typeface="Meiryo" panose="020B0604030504040204" pitchFamily="34" charset="-128"/>
              </a:rPr>
              <a:t>攻撃の割合</a:t>
            </a:r>
            <a:endParaRPr lang="en-JP" b="1" dirty="0">
              <a:solidFill>
                <a:schemeClr val="tx1"/>
              </a:solidFill>
              <a:latin typeface="Meiryo" panose="020B0604030504040204" pitchFamily="34" charset="-128"/>
              <a:ea typeface="Meiryo" panose="020B0604030504040204" pitchFamily="34" charset="-128"/>
            </a:endParaRPr>
          </a:p>
        </p:txBody>
      </p:sp>
      <p:sp>
        <p:nvSpPr>
          <p:cNvPr id="13" name="正方形/長方形 4">
            <a:extLst>
              <a:ext uri="{FF2B5EF4-FFF2-40B4-BE49-F238E27FC236}">
                <a16:creationId xmlns:a16="http://schemas.microsoft.com/office/drawing/2014/main" id="{D8026E66-44BC-EE58-73D3-E3D2E5D79C09}"/>
              </a:ext>
            </a:extLst>
          </p:cNvPr>
          <p:cNvSpPr/>
          <p:nvPr/>
        </p:nvSpPr>
        <p:spPr>
          <a:xfrm>
            <a:off x="7936203" y="5559291"/>
            <a:ext cx="579147" cy="29858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
        <p:nvSpPr>
          <p:cNvPr id="14" name="Slide Number Placeholder 13">
            <a:extLst>
              <a:ext uri="{FF2B5EF4-FFF2-40B4-BE49-F238E27FC236}">
                <a16:creationId xmlns:a16="http://schemas.microsoft.com/office/drawing/2014/main" id="{78749FA2-31C4-D93E-A3B4-65C819FB9F16}"/>
              </a:ext>
            </a:extLst>
          </p:cNvPr>
          <p:cNvSpPr>
            <a:spLocks noGrp="1"/>
          </p:cNvSpPr>
          <p:nvPr>
            <p:ph type="sldNum" sz="quarter" idx="12"/>
          </p:nvPr>
        </p:nvSpPr>
        <p:spPr/>
        <p:txBody>
          <a:bodyPr/>
          <a:lstStyle/>
          <a:p>
            <a:fld id="{828F3BD4-1AF2-D144-8129-4D42AD448F5E}" type="slidenum">
              <a:rPr lang="en-JP" smtClean="0"/>
              <a:t>48</a:t>
            </a:fld>
            <a:endParaRPr lang="en-JP"/>
          </a:p>
        </p:txBody>
      </p:sp>
    </p:spTree>
    <p:extLst>
      <p:ext uri="{BB962C8B-B14F-4D97-AF65-F5344CB8AC3E}">
        <p14:creationId xmlns:p14="http://schemas.microsoft.com/office/powerpoint/2010/main" val="41558658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CD078D-0AD3-3219-F20B-E138D8CC7CF1}"/>
              </a:ext>
            </a:extLst>
          </p:cNvPr>
          <p:cNvSpPr txBox="1"/>
          <p:nvPr/>
        </p:nvSpPr>
        <p:spPr>
          <a:xfrm>
            <a:off x="479390" y="224344"/>
            <a:ext cx="4572000" cy="1754326"/>
          </a:xfrm>
          <a:prstGeom prst="rect">
            <a:avLst/>
          </a:prstGeom>
          <a:noFill/>
        </p:spPr>
        <p:txBody>
          <a:bodyPr wrap="square">
            <a:spAutoFit/>
          </a:bodyPr>
          <a:lstStyle/>
          <a:p>
            <a:pPr rtl="0">
              <a:spcBef>
                <a:spcPts val="0"/>
              </a:spcBef>
              <a:spcAft>
                <a:spcPts val="0"/>
              </a:spcAft>
            </a:pPr>
            <a:r>
              <a:rPr lang="ja-JP" altLang="en-US" sz="3600" b="0" i="0" u="none" strike="noStrike">
                <a:solidFill>
                  <a:srgbClr val="000000"/>
                </a:solidFill>
                <a:effectLst/>
                <a:latin typeface="Meiryo" panose="020B0604030504040204" pitchFamily="34" charset="-128"/>
                <a:ea typeface="Meiryo" panose="020B0604030504040204" pitchFamily="34" charset="-128"/>
              </a:rPr>
              <a:t>関連研究</a:t>
            </a:r>
            <a:r>
              <a:rPr lang="en-US" altLang="ja-JP" sz="3600" b="0" i="0" u="none" strike="noStrike" dirty="0">
                <a:solidFill>
                  <a:srgbClr val="000000"/>
                </a:solidFill>
                <a:effectLst/>
                <a:latin typeface="Meiryo" panose="020B0604030504040204" pitchFamily="34" charset="-128"/>
                <a:ea typeface="Meiryo" panose="020B0604030504040204" pitchFamily="34" charset="-128"/>
              </a:rPr>
              <a:t>1</a:t>
            </a:r>
            <a:r>
              <a:rPr lang="en-US" altLang="ja-JP" sz="3600" b="0" i="0" u="none" strike="noStrike" baseline="-25000" dirty="0">
                <a:solidFill>
                  <a:srgbClr val="000000"/>
                </a:solidFill>
                <a:effectLst/>
                <a:latin typeface="Meiryo" panose="020B0604030504040204" pitchFamily="34" charset="-128"/>
                <a:ea typeface="Meiryo" panose="020B0604030504040204" pitchFamily="34" charset="-128"/>
              </a:rPr>
              <a:t>[10]</a:t>
            </a:r>
            <a:endParaRPr lang="ja-JP" altLang="en-US" sz="3600" b="0">
              <a:effectLst/>
              <a:latin typeface="Meiryo" panose="020B0604030504040204" pitchFamily="34" charset="-128"/>
              <a:ea typeface="Meiryo" panose="020B0604030504040204" pitchFamily="34" charset="-128"/>
            </a:endParaRPr>
          </a:p>
          <a:p>
            <a:br>
              <a:rPr lang="ja-JP" altLang="en-US" sz="3600">
                <a:latin typeface="Meiryo" panose="020B0604030504040204" pitchFamily="34" charset="-128"/>
                <a:ea typeface="Meiryo" panose="020B0604030504040204" pitchFamily="34" charset="-128"/>
              </a:rPr>
            </a:br>
            <a:endParaRPr lang="en-JP" sz="3600" dirty="0">
              <a:latin typeface="Meiryo" panose="020B0604030504040204" pitchFamily="34" charset="-128"/>
              <a:ea typeface="Meiryo" panose="020B0604030504040204" pitchFamily="34" charset="-128"/>
            </a:endParaRPr>
          </a:p>
        </p:txBody>
      </p:sp>
      <p:sp>
        <p:nvSpPr>
          <p:cNvPr id="7" name="TextBox 6">
            <a:extLst>
              <a:ext uri="{FF2B5EF4-FFF2-40B4-BE49-F238E27FC236}">
                <a16:creationId xmlns:a16="http://schemas.microsoft.com/office/drawing/2014/main" id="{E8B1E1DC-51B5-3D9E-37CA-821E49F2ACB1}"/>
              </a:ext>
            </a:extLst>
          </p:cNvPr>
          <p:cNvSpPr txBox="1"/>
          <p:nvPr/>
        </p:nvSpPr>
        <p:spPr>
          <a:xfrm>
            <a:off x="454060" y="1070662"/>
            <a:ext cx="7926893" cy="4716676"/>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著者</a:t>
            </a:r>
            <a:r>
              <a:rPr lang="en-US" altLang="ja-JP" sz="2000" dirty="0">
                <a:latin typeface="Meiryo" panose="020B0604030504040204" pitchFamily="34" charset="-128"/>
                <a:ea typeface="Meiryo" panose="020B0604030504040204" pitchFamily="34" charset="-128"/>
              </a:rPr>
              <a:t>: </a:t>
            </a:r>
            <a:r>
              <a:rPr lang="en-US" sz="2000" dirty="0" err="1">
                <a:latin typeface="Meiryo" panose="020B0604030504040204" pitchFamily="34" charset="-128"/>
                <a:ea typeface="Meiryo" panose="020B0604030504040204" pitchFamily="34" charset="-128"/>
              </a:rPr>
              <a:t>Jiye</a:t>
            </a:r>
            <a:r>
              <a:rPr lang="en-US" sz="2000" dirty="0">
                <a:latin typeface="Meiryo" panose="020B0604030504040204" pitchFamily="34" charset="-128"/>
                <a:ea typeface="Meiryo" panose="020B0604030504040204" pitchFamily="34" charset="-128"/>
              </a:rPr>
              <a:t> Park, </a:t>
            </a:r>
            <a:r>
              <a:rPr lang="en-US" sz="2000" dirty="0" err="1">
                <a:latin typeface="Meiryo" panose="020B0604030504040204" pitchFamily="34" charset="-128"/>
                <a:ea typeface="Meiryo" panose="020B0604030504040204" pitchFamily="34" charset="-128"/>
              </a:rPr>
              <a:t>Namhi</a:t>
            </a:r>
            <a:r>
              <a:rPr lang="en-US" sz="2000" dirty="0">
                <a:latin typeface="Meiryo" panose="020B0604030504040204" pitchFamily="34" charset="-128"/>
                <a:ea typeface="Meiryo" panose="020B0604030504040204" pitchFamily="34" charset="-128"/>
              </a:rPr>
              <a:t> Kang</a:t>
            </a:r>
          </a:p>
          <a:p>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対応</a:t>
            </a:r>
            <a:r>
              <a:rPr lang="en-US" sz="2000" dirty="0">
                <a:latin typeface="Meiryo" panose="020B0604030504040204" pitchFamily="34" charset="-128"/>
                <a:ea typeface="Meiryo" panose="020B0604030504040204" pitchFamily="34" charset="-128"/>
              </a:rPr>
              <a:t>IoT</a:t>
            </a:r>
            <a:r>
              <a:rPr lang="ja-JP" altLang="en-US" sz="2000">
                <a:latin typeface="Meiryo" panose="020B0604030504040204" pitchFamily="34" charset="-128"/>
                <a:ea typeface="Meiryo" panose="020B0604030504040204" pitchFamily="34" charset="-128"/>
              </a:rPr>
              <a:t>デバイス向けに、</a:t>
            </a:r>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ハンドシェイクをゲートウェイに委譲することで、</a:t>
            </a:r>
          </a:p>
          <a:p>
            <a:r>
              <a:rPr lang="ja-JP" altLang="en-US" sz="2000">
                <a:latin typeface="Meiryo" panose="020B0604030504040204" pitchFamily="34" charset="-128"/>
                <a:ea typeface="Meiryo" panose="020B0604030504040204" pitchFamily="34" charset="-128"/>
              </a:rPr>
              <a:t>リソース制約デバイスの負荷を軽減しつつ安全な通信を実現する手法を提案</a:t>
            </a:r>
            <a:r>
              <a:rPr lang="en-US" altLang="ja-JP" sz="2000" dirty="0">
                <a:latin typeface="Meiryo" panose="020B0604030504040204" pitchFamily="34" charset="-128"/>
                <a:ea typeface="Meiryo" panose="020B0604030504040204" pitchFamily="34" charset="-128"/>
              </a:rPr>
              <a:t>.</a:t>
            </a:r>
            <a:r>
              <a:rPr lang="en-US" sz="2000" dirty="0">
                <a:latin typeface="Meiryo" panose="020B0604030504040204" pitchFamily="34" charset="-128"/>
                <a:ea typeface="Meiryo" panose="020B0604030504040204" pitchFamily="34" charset="-128"/>
              </a:rPr>
              <a:t>DTLS</a:t>
            </a:r>
            <a:r>
              <a:rPr lang="ja-JP" altLang="en-US" sz="2000">
                <a:latin typeface="Meiryo" panose="020B0604030504040204" pitchFamily="34" charset="-128"/>
                <a:ea typeface="Meiryo" panose="020B0604030504040204" pitchFamily="34" charset="-128"/>
              </a:rPr>
              <a:t>通信の有効性を</a:t>
            </a:r>
            <a:r>
              <a:rPr lang="en-US" sz="2000" dirty="0">
                <a:latin typeface="Meiryo" panose="020B0604030504040204" pitchFamily="34" charset="-128"/>
                <a:ea typeface="Meiryo" panose="020B0604030504040204" pitchFamily="34" charset="-128"/>
              </a:rPr>
              <a:t>CoAP</a:t>
            </a:r>
            <a:r>
              <a:rPr lang="ja-JP" altLang="en-US" sz="2000">
                <a:latin typeface="Meiryo" panose="020B0604030504040204" pitchFamily="34" charset="-128"/>
                <a:ea typeface="Meiryo" panose="020B0604030504040204" pitchFamily="34" charset="-128"/>
              </a:rPr>
              <a:t>環境で実証した先駆的研究</a:t>
            </a:r>
            <a:r>
              <a:rPr lang="en-US" altLang="ja-JP" sz="2000" dirty="0">
                <a:latin typeface="Meiryo" panose="020B0604030504040204" pitchFamily="34" charset="-128"/>
                <a:ea typeface="Meiryo" panose="020B0604030504040204" pitchFamily="34" charset="-128"/>
              </a:rPr>
              <a:t>.</a:t>
            </a:r>
          </a:p>
          <a:p>
            <a:pPr marL="342900" indent="-342900">
              <a:buFont typeface="Wingdings" pitchFamily="2" charset="2"/>
              <a:buChar char="§"/>
            </a:pPr>
            <a:endParaRPr lang="en-US" altLang="ja-JP" sz="2000" i="0" u="none" strike="noStrike" dirty="0">
              <a:solidFill>
                <a:srgbClr val="000000"/>
              </a:solidFill>
              <a:latin typeface="Meiryo" panose="020B0604030504040204" pitchFamily="34" charset="-128"/>
              <a:ea typeface="Meiryo" panose="020B0604030504040204" pitchFamily="34" charset="-128"/>
            </a:endParaRPr>
          </a:p>
          <a:p>
            <a:pPr marL="342900" indent="-342900">
              <a:buFont typeface="Wingdings" pitchFamily="2" charset="2"/>
              <a:buChar char="§"/>
            </a:pPr>
            <a:r>
              <a:rPr lang="ja-JP" altLang="en-US" sz="2400" b="0" i="0" u="none" strike="noStrike">
                <a:solidFill>
                  <a:srgbClr val="000000"/>
                </a:solidFill>
                <a:effectLst/>
                <a:latin typeface="Meiryo" panose="020B0604030504040204" pitchFamily="34" charset="-128"/>
                <a:ea typeface="Meiryo" panose="020B0604030504040204" pitchFamily="34" charset="-128"/>
              </a:rPr>
              <a:t>課題点</a:t>
            </a:r>
          </a:p>
          <a:p>
            <a:pPr marL="742950" lvl="1" indent="-285750" rtl="0" fontAlgn="base">
              <a:spcBef>
                <a:spcPts val="500"/>
              </a:spcBef>
              <a:spcAft>
                <a:spcPts val="0"/>
              </a:spcAft>
              <a:buFont typeface="Arial" panose="020B0604020202020204" pitchFamily="34" charset="0"/>
              <a:buChar char="•"/>
            </a:pPr>
            <a:r>
              <a:rPr lang="ja-JP" altLang="en-US" sz="2400" b="0" i="0" u="none" strike="noStrike">
                <a:solidFill>
                  <a:srgbClr val="000000"/>
                </a:solidFill>
                <a:effectLst/>
                <a:latin typeface="Meiryo" panose="020B0604030504040204" pitchFamily="34" charset="-128"/>
                <a:ea typeface="Meiryo" panose="020B0604030504040204" pitchFamily="34" charset="-128"/>
              </a:rPr>
              <a:t>機械学習による異常検知機能が存在しない </a:t>
            </a:r>
            <a:r>
              <a:rPr lang="en-US" altLang="ja-JP" sz="2400" b="0" i="0" u="none" strike="noStrike" dirty="0">
                <a:solidFill>
                  <a:srgbClr val="000000"/>
                </a:solidFill>
                <a:effectLst/>
                <a:latin typeface="Meiryo" panose="020B0604030504040204" pitchFamily="34" charset="-128"/>
                <a:ea typeface="Meiryo" panose="020B0604030504040204" pitchFamily="34" charset="-128"/>
              </a:rPr>
              <a:t>— </a:t>
            </a:r>
            <a:r>
              <a:rPr lang="ja-JP" altLang="en-US" sz="2400" b="0" i="0" u="none" strike="noStrike">
                <a:solidFill>
                  <a:srgbClr val="000000"/>
                </a:solidFill>
                <a:effectLst/>
                <a:latin typeface="Meiryo" panose="020B0604030504040204" pitchFamily="34" charset="-128"/>
                <a:ea typeface="Meiryo" panose="020B0604030504040204" pitchFamily="34" charset="-128"/>
              </a:rPr>
              <a:t>攻撃パケットも暗号化対象になりえる</a:t>
            </a:r>
          </a:p>
          <a:p>
            <a:pPr marL="742950" lvl="1" indent="-285750" rtl="0" fontAlgn="base">
              <a:spcBef>
                <a:spcPts val="500"/>
              </a:spcBef>
              <a:spcAft>
                <a:spcPts val="0"/>
              </a:spcAft>
              <a:buFont typeface="Arial" panose="020B0604020202020204" pitchFamily="34" charset="0"/>
              <a:buChar char="•"/>
            </a:pPr>
            <a:r>
              <a:rPr lang="en-US" altLang="ja-JP" sz="2400" b="0" i="0" u="none" strike="noStrike" dirty="0">
                <a:solidFill>
                  <a:srgbClr val="000000"/>
                </a:solidFill>
                <a:effectLst/>
                <a:latin typeface="Meiryo" panose="020B0604030504040204" pitchFamily="34" charset="-128"/>
                <a:ea typeface="Meiryo" panose="020B0604030504040204" pitchFamily="34" charset="-128"/>
              </a:rPr>
              <a:t>DTLS</a:t>
            </a:r>
            <a:r>
              <a:rPr lang="ja-JP" altLang="en-US" sz="2400" b="0" i="0" u="none" strike="noStrike">
                <a:solidFill>
                  <a:srgbClr val="000000"/>
                </a:solidFill>
                <a:effectLst/>
                <a:latin typeface="Meiryo" panose="020B0604030504040204" pitchFamily="34" charset="-128"/>
                <a:ea typeface="Meiryo" panose="020B0604030504040204" pitchFamily="34" charset="-128"/>
              </a:rPr>
              <a:t>ハンドシェイクの委譲に特化しており、攻撃フィルタリング層（</a:t>
            </a:r>
            <a:r>
              <a:rPr lang="en-US" altLang="ja-JP" sz="2400" b="0" i="0" u="none" strike="noStrike" dirty="0">
                <a:solidFill>
                  <a:srgbClr val="000000"/>
                </a:solidFill>
                <a:effectLst/>
                <a:latin typeface="Meiryo" panose="020B0604030504040204" pitchFamily="34" charset="-128"/>
                <a:ea typeface="Meiryo" panose="020B0604030504040204" pitchFamily="34" charset="-128"/>
              </a:rPr>
              <a:t>Layer 1</a:t>
            </a:r>
            <a:r>
              <a:rPr lang="ja-JP" altLang="en-US" sz="2400" b="0" i="0" u="none" strike="noStrike">
                <a:solidFill>
                  <a:srgbClr val="000000"/>
                </a:solidFill>
                <a:effectLst/>
                <a:latin typeface="Meiryo" panose="020B0604030504040204" pitchFamily="34" charset="-128"/>
                <a:ea typeface="Meiryo" panose="020B0604030504040204" pitchFamily="34" charset="-128"/>
              </a:rPr>
              <a:t>）との統合がない</a:t>
            </a:r>
          </a:p>
          <a:p>
            <a:pPr marL="742950" lvl="1" indent="-285750" rtl="0" fontAlgn="base">
              <a:spcBef>
                <a:spcPts val="500"/>
              </a:spcBef>
              <a:spcAft>
                <a:spcPts val="0"/>
              </a:spcAft>
              <a:buFont typeface="Arial" panose="020B0604020202020204" pitchFamily="34" charset="0"/>
              <a:buChar char="•"/>
            </a:pPr>
            <a:r>
              <a:rPr lang="ja-JP" altLang="en-US" sz="2400" b="0" i="0" u="none" strike="noStrike">
                <a:solidFill>
                  <a:srgbClr val="000000"/>
                </a:solidFill>
                <a:effectLst/>
                <a:latin typeface="Meiryo" panose="020B0604030504040204" pitchFamily="34" charset="-128"/>
                <a:ea typeface="Meiryo" panose="020B0604030504040204" pitchFamily="34" charset="-128"/>
              </a:rPr>
              <a:t>実際の</a:t>
            </a:r>
            <a:r>
              <a:rPr lang="en-US" altLang="ja-JP" sz="2400" b="0" i="0" u="none" strike="noStrike" dirty="0">
                <a:solidFill>
                  <a:srgbClr val="000000"/>
                </a:solidFill>
                <a:effectLst/>
                <a:latin typeface="Meiryo" panose="020B0604030504040204" pitchFamily="34" charset="-128"/>
                <a:ea typeface="Meiryo" panose="020B0604030504040204" pitchFamily="34" charset="-128"/>
              </a:rPr>
              <a:t>IoT</a:t>
            </a:r>
            <a:r>
              <a:rPr lang="ja-JP" altLang="en-US" sz="2400" b="0" i="0" u="none" strike="noStrike">
                <a:solidFill>
                  <a:srgbClr val="000000"/>
                </a:solidFill>
                <a:effectLst/>
                <a:latin typeface="Meiryo" panose="020B0604030504040204" pitchFamily="34" charset="-128"/>
                <a:ea typeface="Meiryo" panose="020B0604030504040204" pitchFamily="34" charset="-128"/>
              </a:rPr>
              <a:t>攻撃（</a:t>
            </a:r>
            <a:r>
              <a:rPr lang="en-US" altLang="ja-JP" sz="2400" b="0" i="0" u="none" strike="noStrike" dirty="0">
                <a:solidFill>
                  <a:srgbClr val="000000"/>
                </a:solidFill>
                <a:effectLst/>
                <a:latin typeface="Meiryo" panose="020B0604030504040204" pitchFamily="34" charset="-128"/>
                <a:ea typeface="Meiryo" panose="020B0604030504040204" pitchFamily="34" charset="-128"/>
              </a:rPr>
              <a:t>CoAP flood / DoS</a:t>
            </a:r>
            <a:r>
              <a:rPr lang="ja-JP" altLang="en-US" sz="2400" b="0" i="0" u="none" strike="noStrike">
                <a:solidFill>
                  <a:srgbClr val="000000"/>
                </a:solidFill>
                <a:effectLst/>
                <a:latin typeface="Meiryo" panose="020B0604030504040204" pitchFamily="34" charset="-128"/>
                <a:ea typeface="Meiryo" panose="020B0604030504040204" pitchFamily="34" charset="-128"/>
              </a:rPr>
              <a:t>）を想定した評価が行われていない</a:t>
            </a:r>
            <a:endParaRPr lang="en-JP" sz="2400" dirty="0">
              <a:latin typeface="Meiryo" panose="020B0604030504040204" pitchFamily="34" charset="-128"/>
              <a:ea typeface="Meiryo" panose="020B0604030504040204" pitchFamily="34" charset="-128"/>
            </a:endParaRPr>
          </a:p>
        </p:txBody>
      </p:sp>
      <p:sp>
        <p:nvSpPr>
          <p:cNvPr id="3" name="TextBox 2">
            <a:extLst>
              <a:ext uri="{FF2B5EF4-FFF2-40B4-BE49-F238E27FC236}">
                <a16:creationId xmlns:a16="http://schemas.microsoft.com/office/drawing/2014/main" id="{4CFCB5E6-6AFC-0E19-26A4-9A8351D796A2}"/>
              </a:ext>
            </a:extLst>
          </p:cNvPr>
          <p:cNvSpPr txBox="1"/>
          <p:nvPr/>
        </p:nvSpPr>
        <p:spPr>
          <a:xfrm>
            <a:off x="454060" y="6070794"/>
            <a:ext cx="8210550" cy="600164"/>
          </a:xfrm>
          <a:prstGeom prst="rect">
            <a:avLst/>
          </a:prstGeom>
          <a:noFill/>
        </p:spPr>
        <p:txBody>
          <a:bodyPr wrap="square">
            <a:spAutoFit/>
          </a:bodyPr>
          <a:lstStyle/>
          <a:p>
            <a:r>
              <a:rPr lang="mn-MN" sz="1100" b="1" kern="100" dirty="0">
                <a:solidFill>
                  <a:srgbClr val="C00000"/>
                </a:solidFill>
                <a:effectLst/>
                <a:latin typeface="Times New Roman" panose="02020603050405020304" pitchFamily="18" charset="0"/>
                <a:ea typeface="Yu Mincho" panose="02020400000000000000" pitchFamily="18" charset="-128"/>
                <a:cs typeface="Times New Roman" panose="02020603050405020304" pitchFamily="18" charset="0"/>
              </a:rPr>
              <a:t> </a:t>
            </a:r>
            <a:endParaRPr lang="en-JP" sz="1100" kern="100" dirty="0">
              <a:effectLst/>
              <a:latin typeface="Times New Roman" panose="02020603050405020304" pitchFamily="18" charset="0"/>
              <a:ea typeface="Yu Mincho" panose="02020400000000000000" pitchFamily="18" charset="-128"/>
              <a:cs typeface="Times New Roman" panose="02020603050405020304" pitchFamily="18" charset="0"/>
            </a:endParaRPr>
          </a:p>
          <a:p>
            <a:r>
              <a:rPr lang="en-JP" sz="1100" b="1" kern="100" dirty="0">
                <a:effectLst/>
                <a:latin typeface="Times New Roman" panose="02020603050405020304" pitchFamily="18" charset="0"/>
                <a:ea typeface="Yu Mincho" panose="02020400000000000000" pitchFamily="18" charset="-128"/>
                <a:cs typeface="Times New Roman" panose="02020603050405020304" pitchFamily="18" charset="0"/>
              </a:rPr>
              <a:t>[8] Lightweight secure communication for CoAP-enabled Internet of Things using delegated DTLS handshake</a:t>
            </a:r>
            <a:r>
              <a:rPr lang="mn-MN" sz="1100" kern="100" dirty="0">
                <a:effectLst/>
                <a:latin typeface="Times New Roman" panose="02020603050405020304" pitchFamily="18" charset="0"/>
                <a:ea typeface="Yu Mincho" panose="02020400000000000000" pitchFamily="18" charset="-128"/>
                <a:cs typeface="Times New Roman" panose="02020603050405020304" pitchFamily="18" charset="0"/>
              </a:rPr>
              <a:t>) </a:t>
            </a:r>
            <a:r>
              <a:rPr lang="en-US" sz="1100" u="sng" kern="100" dirty="0">
                <a:solidFill>
                  <a:srgbClr val="0563C1"/>
                </a:solidFill>
                <a:effectLst/>
                <a:latin typeface="Times New Roman" panose="02020603050405020304" pitchFamily="18" charset="0"/>
                <a:ea typeface="Yu Mincho" panose="02020400000000000000" pitchFamily="18" charset="-128"/>
                <a:cs typeface="Times New Roman" panose="02020603050405020304" pitchFamily="18" charset="0"/>
                <a:hlinkClick r:id="rId2"/>
              </a:rPr>
              <a:t>https://ieeexplore.ieee.org/document/6983078</a:t>
            </a:r>
            <a:endParaRPr lang="en-JP" sz="1100" kern="100" dirty="0">
              <a:effectLst/>
              <a:latin typeface="Times New Roman" panose="02020603050405020304" pitchFamily="18" charset="0"/>
              <a:ea typeface="Yu Mincho" panose="02020400000000000000" pitchFamily="18" charset="-128"/>
              <a:cs typeface="Times New Roman" panose="02020603050405020304" pitchFamily="18" charset="0"/>
            </a:endParaRPr>
          </a:p>
        </p:txBody>
      </p:sp>
      <p:sp>
        <p:nvSpPr>
          <p:cNvPr id="4" name="Slide Number Placeholder 3">
            <a:extLst>
              <a:ext uri="{FF2B5EF4-FFF2-40B4-BE49-F238E27FC236}">
                <a16:creationId xmlns:a16="http://schemas.microsoft.com/office/drawing/2014/main" id="{1B4A7266-731E-F796-D5C8-46868D382A77}"/>
              </a:ext>
            </a:extLst>
          </p:cNvPr>
          <p:cNvSpPr>
            <a:spLocks noGrp="1"/>
          </p:cNvSpPr>
          <p:nvPr>
            <p:ph type="sldNum" sz="quarter" idx="12"/>
          </p:nvPr>
        </p:nvSpPr>
        <p:spPr/>
        <p:txBody>
          <a:bodyPr/>
          <a:lstStyle/>
          <a:p>
            <a:fld id="{828F3BD4-1AF2-D144-8129-4D42AD448F5E}" type="slidenum">
              <a:rPr lang="en-JP" smtClean="0"/>
              <a:t>49</a:t>
            </a:fld>
            <a:endParaRPr lang="en-JP"/>
          </a:p>
        </p:txBody>
      </p:sp>
    </p:spTree>
    <p:extLst>
      <p:ext uri="{BB962C8B-B14F-4D97-AF65-F5344CB8AC3E}">
        <p14:creationId xmlns:p14="http://schemas.microsoft.com/office/powerpoint/2010/main" val="1326304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C90861-8ABC-9931-30B1-1B56D7BDD3A4}"/>
              </a:ext>
            </a:extLst>
          </p:cNvPr>
          <p:cNvSpPr>
            <a:spLocks noGrp="1"/>
          </p:cNvSpPr>
          <p:nvPr>
            <p:ph type="sldNum" sz="quarter" idx="12"/>
          </p:nvPr>
        </p:nvSpPr>
        <p:spPr/>
        <p:txBody>
          <a:bodyPr/>
          <a:lstStyle/>
          <a:p>
            <a:fld id="{828F3BD4-1AF2-D144-8129-4D42AD448F5E}" type="slidenum">
              <a:rPr lang="en-JP" smtClean="0"/>
              <a:pPr/>
              <a:t>50</a:t>
            </a:fld>
            <a:endParaRPr lang="en-JP" dirty="0"/>
          </a:p>
        </p:txBody>
      </p:sp>
      <p:sp>
        <p:nvSpPr>
          <p:cNvPr id="10" name="Shape 0">
            <a:extLst>
              <a:ext uri="{FF2B5EF4-FFF2-40B4-BE49-F238E27FC236}">
                <a16:creationId xmlns:a16="http://schemas.microsoft.com/office/drawing/2014/main" id="{6738BB15-7ECD-B162-851D-22561B9F3B89}"/>
              </a:ext>
            </a:extLst>
          </p:cNvPr>
          <p:cNvSpPr/>
          <p:nvPr/>
        </p:nvSpPr>
        <p:spPr>
          <a:xfrm>
            <a:off x="0" y="0"/>
            <a:ext cx="9144000" cy="481404"/>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a:r>
              <a:rPr lang="ja-JP" altLang="en-US" sz="2400" b="1" i="0">
                <a:solidFill>
                  <a:srgbClr val="000000"/>
                </a:solidFill>
                <a:effectLst/>
                <a:latin typeface="Meiryo" panose="020B0604030504040204" pitchFamily="34" charset="-128"/>
                <a:ea typeface="Meiryo" panose="020B0604030504040204" pitchFamily="34" charset="-128"/>
              </a:rPr>
              <a:t>提案アーキテクチャ </a:t>
            </a:r>
            <a:r>
              <a:rPr lang="en-US" altLang="ja-JP" sz="2400" b="1" i="0" dirty="0">
                <a:solidFill>
                  <a:srgbClr val="000000"/>
                </a:solidFill>
                <a:effectLst/>
                <a:latin typeface="Meiryo" panose="020B0604030504040204" pitchFamily="34" charset="-128"/>
                <a:ea typeface="Meiryo" panose="020B0604030504040204" pitchFamily="34" charset="-128"/>
              </a:rPr>
              <a:t>— </a:t>
            </a:r>
            <a:r>
              <a:rPr lang="en-US" sz="2400" b="1" i="0" dirty="0">
                <a:solidFill>
                  <a:srgbClr val="000000"/>
                </a:solidFill>
                <a:effectLst/>
                <a:latin typeface="Meiryo" panose="020B0604030504040204" pitchFamily="34" charset="-128"/>
                <a:ea typeface="Meiryo" panose="020B0604030504040204" pitchFamily="34" charset="-128"/>
              </a:rPr>
              <a:t>ML-IDS Gateway</a:t>
            </a:r>
            <a:endParaRPr lang="en-JP" sz="2400" b="1" dirty="0">
              <a:latin typeface="Meiryo" panose="020B0604030504040204" pitchFamily="34" charset="-128"/>
              <a:ea typeface="Meiryo" panose="020B0604030504040204" pitchFamily="34" charset="-128"/>
            </a:endParaRPr>
          </a:p>
        </p:txBody>
      </p:sp>
      <p:sp>
        <p:nvSpPr>
          <p:cNvPr id="11" name="Rectangle: Rounded Corners 4">
            <a:extLst>
              <a:ext uri="{FF2B5EF4-FFF2-40B4-BE49-F238E27FC236}">
                <a16:creationId xmlns:a16="http://schemas.microsoft.com/office/drawing/2014/main" id="{6ABB95DA-9FDC-E4B1-8D82-9BDCAD8E02A4}"/>
              </a:ext>
            </a:extLst>
          </p:cNvPr>
          <p:cNvSpPr/>
          <p:nvPr/>
        </p:nvSpPr>
        <p:spPr>
          <a:xfrm>
            <a:off x="-3791" y="544408"/>
            <a:ext cx="1836694" cy="823182"/>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Meiryo" panose="020B0604030504040204" pitchFamily="34" charset="-128"/>
                <a:ea typeface="Meiryo" panose="020B0604030504040204" pitchFamily="34" charset="-128"/>
              </a:rPr>
              <a:t> </a:t>
            </a:r>
            <a:r>
              <a:rPr lang="en-US" sz="1600" b="1" dirty="0">
                <a:solidFill>
                  <a:schemeClr val="tx1"/>
                </a:solidFill>
                <a:latin typeface="Meiryo" panose="020B0604030504040204" pitchFamily="34" charset="-128"/>
                <a:ea typeface="Meiryo" panose="020B0604030504040204" pitchFamily="34" charset="-128"/>
              </a:rPr>
              <a:t>(Sensor 1,2)</a:t>
            </a:r>
            <a:endParaRPr lang="mn-MN" sz="1600" b="1" dirty="0">
              <a:solidFill>
                <a:schemeClr val="tx1"/>
              </a:solidFill>
              <a:latin typeface="Meiryo" panose="020B0604030504040204" pitchFamily="34" charset="-128"/>
              <a:ea typeface="Meiryo" panose="020B0604030504040204" pitchFamily="34" charset="-128"/>
            </a:endParaRPr>
          </a:p>
          <a:p>
            <a:pPr algn="ctr"/>
            <a:r>
              <a:rPr lang="en-JP" sz="1600" dirty="0">
                <a:solidFill>
                  <a:schemeClr val="tx1"/>
                </a:solidFill>
                <a:latin typeface="Meiryo" panose="020B0604030504040204" pitchFamily="34" charset="-128"/>
                <a:ea typeface="Meiryo" panose="020B0604030504040204" pitchFamily="34" charset="-128"/>
              </a:rPr>
              <a:t>📷</a:t>
            </a:r>
            <a:r>
              <a:rPr lang="ja-JP" altLang="en-US" sz="1600">
                <a:solidFill>
                  <a:schemeClr val="tx1"/>
                </a:solidFill>
                <a:latin typeface="Meiryo" panose="020B0604030504040204" pitchFamily="34" charset="-128"/>
                <a:ea typeface="Meiryo" panose="020B0604030504040204" pitchFamily="34" charset="-128"/>
              </a:rPr>
              <a:t>　</a:t>
            </a:r>
            <a:r>
              <a:rPr lang="en-US" sz="1600" dirty="0">
                <a:solidFill>
                  <a:schemeClr val="tx1"/>
                </a:solidFill>
                <a:latin typeface="Meiryo" panose="020B0604030504040204" pitchFamily="34" charset="-128"/>
                <a:ea typeface="Meiryo" panose="020B0604030504040204" pitchFamily="34" charset="-128"/>
              </a:rPr>
              <a:t>IP</a:t>
            </a:r>
            <a:r>
              <a:rPr lang="ja-JP" altLang="en-US" sz="1600">
                <a:solidFill>
                  <a:schemeClr val="tx1"/>
                </a:solidFill>
                <a:latin typeface="Meiryo" panose="020B0604030504040204" pitchFamily="34" charset="-128"/>
                <a:ea typeface="Meiryo" panose="020B0604030504040204" pitchFamily="34" charset="-128"/>
              </a:rPr>
              <a:t>カメラ</a:t>
            </a:r>
            <a:endParaRPr lang="mn-MN" altLang="ja-JP" sz="1600" dirty="0">
              <a:solidFill>
                <a:schemeClr val="tx1"/>
              </a:solidFill>
              <a:latin typeface="Meiryo" panose="020B0604030504040204" pitchFamily="34" charset="-128"/>
              <a:ea typeface="Meiryo" panose="020B0604030504040204" pitchFamily="34" charset="-128"/>
            </a:endParaRPr>
          </a:p>
          <a:p>
            <a:pPr algn="ctr"/>
            <a:r>
              <a:rPr lang="en-US" sz="1600" dirty="0">
                <a:solidFill>
                  <a:srgbClr val="000000"/>
                </a:solidFill>
                <a:latin typeface="Hiragino Sans" panose="020B0400000000000000" pitchFamily="34" charset="-128"/>
                <a:ea typeface="Hiragino Sans" panose="020B0400000000000000" pitchFamily="34" charset="-128"/>
              </a:rPr>
              <a:t>192.168</a:t>
            </a:r>
            <a:r>
              <a:rPr lang="en-JP" sz="1600" b="0" i="0" dirty="0">
                <a:solidFill>
                  <a:srgbClr val="000000"/>
                </a:solidFill>
                <a:effectLst/>
                <a:latin typeface="Hiragino Sans" panose="020B0400000000000000" pitchFamily="34" charset="-128"/>
                <a:ea typeface="Hiragino Sans" panose="020B0400000000000000" pitchFamily="34" charset="-128"/>
              </a:rPr>
              <a:t>.1.20</a:t>
            </a:r>
            <a:endParaRPr lang="en-US" sz="1600" b="1" dirty="0">
              <a:solidFill>
                <a:schemeClr val="tx1"/>
              </a:solidFill>
              <a:latin typeface="Meiryo" panose="020B0604030504040204" pitchFamily="34" charset="-128"/>
              <a:ea typeface="Meiryo" panose="020B0604030504040204" pitchFamily="34" charset="-128"/>
            </a:endParaRPr>
          </a:p>
        </p:txBody>
      </p:sp>
      <p:sp>
        <p:nvSpPr>
          <p:cNvPr id="13" name="Rectangle: Rounded Corners 6">
            <a:extLst>
              <a:ext uri="{FF2B5EF4-FFF2-40B4-BE49-F238E27FC236}">
                <a16:creationId xmlns:a16="http://schemas.microsoft.com/office/drawing/2014/main" id="{AB85986E-1CCA-A4C5-AFE5-8D2D65A2B028}"/>
              </a:ext>
            </a:extLst>
          </p:cNvPr>
          <p:cNvSpPr/>
          <p:nvPr/>
        </p:nvSpPr>
        <p:spPr>
          <a:xfrm>
            <a:off x="2664277" y="649963"/>
            <a:ext cx="4420391" cy="5889795"/>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8" name="Rounded Rectangle 17">
            <a:extLst>
              <a:ext uri="{FF2B5EF4-FFF2-40B4-BE49-F238E27FC236}">
                <a16:creationId xmlns:a16="http://schemas.microsoft.com/office/drawing/2014/main" id="{0AE7155D-3C64-A9A9-CCCF-8ABC737317F1}"/>
              </a:ext>
            </a:extLst>
          </p:cNvPr>
          <p:cNvSpPr/>
          <p:nvPr/>
        </p:nvSpPr>
        <p:spPr>
          <a:xfrm>
            <a:off x="3099247" y="3848569"/>
            <a:ext cx="3450153" cy="843579"/>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   </a:t>
            </a:r>
            <a:endParaRPr lang="mn-MN" sz="2000" b="1" dirty="0">
              <a:solidFill>
                <a:schemeClr val="tx1"/>
              </a:solidFill>
              <a:latin typeface="Meiryo" panose="020B0604030504040204" pitchFamily="34" charset="-128"/>
              <a:ea typeface="Meiryo" panose="020B0604030504040204" pitchFamily="34" charset="-128"/>
            </a:endParaRPr>
          </a:p>
          <a:p>
            <a:pPr algn="ctr"/>
            <a:r>
              <a:rPr lang="en-US" sz="2000" dirty="0">
                <a:solidFill>
                  <a:schemeClr val="tx1"/>
                </a:solidFill>
              </a:rPr>
              <a:t>ML-IDS (Random Forest)6 features · p&gt;0.85 → BLOCK</a:t>
            </a:r>
            <a:endParaRPr lang="en-JP" sz="2000" dirty="0">
              <a:solidFill>
                <a:schemeClr val="tx1"/>
              </a:solidFill>
              <a:latin typeface="Meiryo" panose="020B0604030504040204" pitchFamily="34" charset="-128"/>
              <a:ea typeface="Meiryo" panose="020B0604030504040204" pitchFamily="34" charset="-128"/>
            </a:endParaRPr>
          </a:p>
        </p:txBody>
      </p:sp>
      <p:sp>
        <p:nvSpPr>
          <p:cNvPr id="21" name="Rectangle: Rounded Corners 8">
            <a:extLst>
              <a:ext uri="{FF2B5EF4-FFF2-40B4-BE49-F238E27FC236}">
                <a16:creationId xmlns:a16="http://schemas.microsoft.com/office/drawing/2014/main" id="{94202815-CADD-4F6E-9B9C-FE44478F778C}"/>
              </a:ext>
            </a:extLst>
          </p:cNvPr>
          <p:cNvSpPr/>
          <p:nvPr/>
        </p:nvSpPr>
        <p:spPr>
          <a:xfrm>
            <a:off x="7324605" y="2100943"/>
            <a:ext cx="1766489" cy="778053"/>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dirty="0">
              <a:solidFill>
                <a:srgbClr val="000000"/>
              </a:solidFill>
              <a:latin typeface="Meiryo" panose="020B0604030504040204" pitchFamily="34" charset="-128"/>
              <a:ea typeface="Meiryo" panose="020B0604030504040204" pitchFamily="34" charset="-128"/>
            </a:endParaRPr>
          </a:p>
          <a:p>
            <a:pPr algn="ctr"/>
            <a:r>
              <a:rPr lang="en-US" sz="2400" b="1" dirty="0">
                <a:solidFill>
                  <a:srgbClr val="000000"/>
                </a:solidFill>
                <a:latin typeface="Meiryo" panose="020B0604030504040204" pitchFamily="34" charset="-128"/>
                <a:ea typeface="Meiryo" panose="020B0604030504040204" pitchFamily="34" charset="-128"/>
              </a:rPr>
              <a:t>Backend</a:t>
            </a:r>
            <a:endParaRPr lang="en-US" sz="2400" dirty="0">
              <a:solidFill>
                <a:schemeClr val="tx1"/>
              </a:solidFill>
              <a:latin typeface="Meiryo" panose="020B0604030504040204" pitchFamily="34" charset="-128"/>
              <a:ea typeface="Meiryo" panose="020B0604030504040204" pitchFamily="34" charset="-128"/>
            </a:endParaRPr>
          </a:p>
        </p:txBody>
      </p:sp>
      <p:sp>
        <p:nvSpPr>
          <p:cNvPr id="22" name="TextBox 21">
            <a:extLst>
              <a:ext uri="{FF2B5EF4-FFF2-40B4-BE49-F238E27FC236}">
                <a16:creationId xmlns:a16="http://schemas.microsoft.com/office/drawing/2014/main" id="{2501D35A-C362-3712-B001-BD311F84D807}"/>
              </a:ext>
            </a:extLst>
          </p:cNvPr>
          <p:cNvSpPr txBox="1"/>
          <p:nvPr/>
        </p:nvSpPr>
        <p:spPr>
          <a:xfrm>
            <a:off x="2846180" y="658431"/>
            <a:ext cx="3878036" cy="369332"/>
          </a:xfrm>
          <a:prstGeom prst="rect">
            <a:avLst/>
          </a:prstGeom>
          <a:noFill/>
        </p:spPr>
        <p:txBody>
          <a:bodyPr wrap="square" rtlCol="0">
            <a:spAutoFit/>
          </a:bodyPr>
          <a:lstStyle/>
          <a:p>
            <a:pPr algn="ctr"/>
            <a:r>
              <a:rPr lang="en-US" sz="1800" b="1" i="0" dirty="0">
                <a:solidFill>
                  <a:srgbClr val="C00000"/>
                </a:solidFill>
                <a:effectLst/>
                <a:latin typeface="Meiryo" panose="020B0604030504040204" pitchFamily="34" charset="-128"/>
                <a:ea typeface="Meiryo" panose="020B0604030504040204" pitchFamily="34" charset="-128"/>
              </a:rPr>
              <a:t>Gateway — Raspberry Pi </a:t>
            </a:r>
            <a:endParaRPr lang="en-JP" sz="1800" dirty="0">
              <a:solidFill>
                <a:srgbClr val="C00000"/>
              </a:solidFill>
              <a:latin typeface="Meiryo" panose="020B0604030504040204" pitchFamily="34" charset="-128"/>
              <a:ea typeface="Meiryo" panose="020B0604030504040204" pitchFamily="34" charset="-128"/>
            </a:endParaRPr>
          </a:p>
        </p:txBody>
      </p:sp>
      <p:sp>
        <p:nvSpPr>
          <p:cNvPr id="27" name="TextBox 26">
            <a:extLst>
              <a:ext uri="{FF2B5EF4-FFF2-40B4-BE49-F238E27FC236}">
                <a16:creationId xmlns:a16="http://schemas.microsoft.com/office/drawing/2014/main" id="{D3679FA2-D4F7-8CD6-75BF-F0C5283E3068}"/>
              </a:ext>
            </a:extLst>
          </p:cNvPr>
          <p:cNvSpPr txBox="1"/>
          <p:nvPr/>
        </p:nvSpPr>
        <p:spPr>
          <a:xfrm>
            <a:off x="74910" y="1392656"/>
            <a:ext cx="1712345" cy="369332"/>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CoAP </a:t>
            </a:r>
            <a:r>
              <a:rPr lang="en-JP" dirty="0">
                <a:latin typeface="Meiryo" panose="020B0604030504040204" pitchFamily="34" charset="-128"/>
                <a:ea typeface="Meiryo" panose="020B0604030504040204" pitchFamily="34" charset="-128"/>
              </a:rPr>
              <a:t>🔒DTLS</a:t>
            </a:r>
          </a:p>
        </p:txBody>
      </p:sp>
      <p:cxnSp>
        <p:nvCxnSpPr>
          <p:cNvPr id="50" name="Elbow Connector 49">
            <a:extLst>
              <a:ext uri="{FF2B5EF4-FFF2-40B4-BE49-F238E27FC236}">
                <a16:creationId xmlns:a16="http://schemas.microsoft.com/office/drawing/2014/main" id="{C601E613-296C-DFF0-825E-E782361A2093}"/>
              </a:ext>
            </a:extLst>
          </p:cNvPr>
          <p:cNvCxnSpPr>
            <a:cxnSpLocks/>
          </p:cNvCxnSpPr>
          <p:nvPr/>
        </p:nvCxnSpPr>
        <p:spPr>
          <a:xfrm flipV="1">
            <a:off x="7158150" y="3053849"/>
            <a:ext cx="1689219" cy="1515456"/>
          </a:xfrm>
          <a:prstGeom prst="bentConnector3">
            <a:avLst>
              <a:gd name="adj1" fmla="val 100909"/>
            </a:avLst>
          </a:prstGeom>
          <a:ln w="317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Rounded Corners 4">
            <a:extLst>
              <a:ext uri="{FF2B5EF4-FFF2-40B4-BE49-F238E27FC236}">
                <a16:creationId xmlns:a16="http://schemas.microsoft.com/office/drawing/2014/main" id="{186DFD1A-0FCA-4895-ABE0-AEA3168439CF}"/>
              </a:ext>
            </a:extLst>
          </p:cNvPr>
          <p:cNvSpPr/>
          <p:nvPr/>
        </p:nvSpPr>
        <p:spPr>
          <a:xfrm>
            <a:off x="74910" y="3116852"/>
            <a:ext cx="1859348" cy="1229777"/>
          </a:xfrm>
          <a:prstGeom prst="roundRect">
            <a:avLst/>
          </a:prstGeom>
          <a:solidFill>
            <a:schemeClr val="accent2">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b="0" i="0" dirty="0">
                <a:solidFill>
                  <a:srgbClr val="000000"/>
                </a:solidFill>
                <a:effectLst/>
                <a:latin typeface="Arial" panose="020B0604020202020204" pitchFamily="34" charset="0"/>
              </a:rPr>
              <a:t>😈</a:t>
            </a:r>
            <a:r>
              <a:rPr lang="ja-JP" altLang="en-US" b="1">
                <a:solidFill>
                  <a:schemeClr val="tx1"/>
                </a:solidFill>
                <a:latin typeface="Meiryo" panose="020B0604030504040204" pitchFamily="34" charset="-128"/>
                <a:ea typeface="Meiryo" panose="020B0604030504040204" pitchFamily="34" charset="-128"/>
              </a:rPr>
              <a:t>攻撃者</a:t>
            </a:r>
            <a:r>
              <a:rPr lang="en-US" altLang="ja-JP" b="1" dirty="0">
                <a:solidFill>
                  <a:schemeClr val="tx1"/>
                </a:solidFill>
                <a:latin typeface="Meiryo" panose="020B0604030504040204" pitchFamily="34" charset="-128"/>
                <a:ea typeface="Meiryo" panose="020B0604030504040204" pitchFamily="34" charset="-128"/>
              </a:rPr>
              <a:t>ARP </a:t>
            </a:r>
            <a:r>
              <a:rPr lang="en-US" b="1" dirty="0">
                <a:solidFill>
                  <a:schemeClr val="tx1"/>
                </a:solidFill>
                <a:latin typeface="Meiryo" panose="020B0604030504040204" pitchFamily="34" charset="-128"/>
                <a:ea typeface="Meiryo" panose="020B0604030504040204" pitchFamily="34" charset="-128"/>
              </a:rPr>
              <a:t>spoof</a:t>
            </a:r>
          </a:p>
          <a:p>
            <a:pPr algn="ctr"/>
            <a:r>
              <a:rPr lang="en-JP" b="0" i="0" dirty="0">
                <a:solidFill>
                  <a:srgbClr val="000000"/>
                </a:solidFill>
                <a:effectLst/>
                <a:latin typeface="Hiragino Sans" panose="020B0400000000000000" pitchFamily="34" charset="-128"/>
                <a:ea typeface="Hiragino Sans" panose="020B0400000000000000" pitchFamily="34" charset="-128"/>
              </a:rPr>
              <a:t>192.168.1.99</a:t>
            </a:r>
            <a:endParaRPr lang="en-US" sz="1400" b="1" dirty="0">
              <a:solidFill>
                <a:schemeClr val="tx1"/>
              </a:solidFill>
              <a:latin typeface="Meiryo" panose="020B0604030504040204" pitchFamily="34" charset="-128"/>
              <a:ea typeface="Meiryo" panose="020B0604030504040204" pitchFamily="34" charset="-128"/>
            </a:endParaRPr>
          </a:p>
        </p:txBody>
      </p:sp>
      <p:cxnSp>
        <p:nvCxnSpPr>
          <p:cNvPr id="95" name="Straight Arrow Connector 94">
            <a:extLst>
              <a:ext uri="{FF2B5EF4-FFF2-40B4-BE49-F238E27FC236}">
                <a16:creationId xmlns:a16="http://schemas.microsoft.com/office/drawing/2014/main" id="{6A67D553-0FA2-501B-9F54-93110194AC2B}"/>
              </a:ext>
            </a:extLst>
          </p:cNvPr>
          <p:cNvCxnSpPr>
            <a:cxnSpLocks/>
          </p:cNvCxnSpPr>
          <p:nvPr/>
        </p:nvCxnSpPr>
        <p:spPr>
          <a:xfrm>
            <a:off x="194746" y="1761988"/>
            <a:ext cx="222959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FF93EE10-431D-8472-1E8E-27FF9AD21D97}"/>
              </a:ext>
            </a:extLst>
          </p:cNvPr>
          <p:cNvCxnSpPr/>
          <p:nvPr/>
        </p:nvCxnSpPr>
        <p:spPr>
          <a:xfrm>
            <a:off x="1934258" y="3774659"/>
            <a:ext cx="413882" cy="0"/>
          </a:xfrm>
          <a:prstGeom prst="straightConnector1">
            <a:avLst/>
          </a:prstGeom>
          <a:ln w="539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F88CD4E6-E386-10DA-0ACC-DB622DC51C5A}"/>
              </a:ext>
            </a:extLst>
          </p:cNvPr>
          <p:cNvCxnSpPr>
            <a:cxnSpLocks/>
          </p:cNvCxnSpPr>
          <p:nvPr/>
        </p:nvCxnSpPr>
        <p:spPr>
          <a:xfrm flipV="1">
            <a:off x="582627" y="2366281"/>
            <a:ext cx="0" cy="398067"/>
          </a:xfrm>
          <a:prstGeom prst="straightConnector1">
            <a:avLst/>
          </a:prstGeom>
          <a:ln w="539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09F16D34-B9EC-2D8B-937F-52A87CE4BF9E}"/>
              </a:ext>
            </a:extLst>
          </p:cNvPr>
          <p:cNvSpPr txBox="1"/>
          <p:nvPr/>
        </p:nvSpPr>
        <p:spPr>
          <a:xfrm>
            <a:off x="654844" y="2407518"/>
            <a:ext cx="1968809" cy="646331"/>
          </a:xfrm>
          <a:prstGeom prst="rect">
            <a:avLst/>
          </a:prstGeom>
          <a:noFill/>
        </p:spPr>
        <p:txBody>
          <a:bodyPr wrap="none" rtlCol="0">
            <a:spAutoFit/>
          </a:bodyPr>
          <a:lstStyle/>
          <a:p>
            <a:r>
              <a:rPr lang="ja-JP" altLang="en-US">
                <a:latin typeface="Meiryo" panose="020B0604030504040204" pitchFamily="34" charset="-128"/>
                <a:ea typeface="Meiryo" panose="020B0604030504040204" pitchFamily="34" charset="-128"/>
              </a:rPr>
              <a:t>偽</a:t>
            </a:r>
            <a:r>
              <a:rPr lang="en-US" dirty="0">
                <a:latin typeface="Meiryo" panose="020B0604030504040204" pitchFamily="34" charset="-128"/>
                <a:ea typeface="Meiryo" panose="020B0604030504040204" pitchFamily="34" charset="-128"/>
              </a:rPr>
              <a:t>ARP Reply</a:t>
            </a:r>
          </a:p>
          <a:p>
            <a:r>
              <a:rPr lang="en-US" dirty="0">
                <a:latin typeface="Meiryo" panose="020B0604030504040204" pitchFamily="34" charset="-128"/>
                <a:ea typeface="Meiryo" panose="020B0604030504040204" pitchFamily="34" charset="-128"/>
              </a:rPr>
              <a:t>(GW</a:t>
            </a:r>
            <a:r>
              <a:rPr lang="ja-JP" altLang="en-US">
                <a:latin typeface="Meiryo" panose="020B0604030504040204" pitchFamily="34" charset="-128"/>
                <a:ea typeface="Meiryo" panose="020B0604030504040204" pitchFamily="34" charset="-128"/>
              </a:rPr>
              <a:t>は</a:t>
            </a:r>
            <a:r>
              <a:rPr lang="en-US" altLang="ja-JP" dirty="0">
                <a:latin typeface="Meiryo" panose="020B0604030504040204" pitchFamily="34" charset="-128"/>
                <a:ea typeface="Meiryo" panose="020B0604030504040204" pitchFamily="34" charset="-128"/>
              </a:rPr>
              <a:t>CC</a:t>
            </a:r>
            <a:r>
              <a:rPr lang="en-US" dirty="0">
                <a:latin typeface="Meiryo" panose="020B0604030504040204" pitchFamily="34" charset="-128"/>
                <a:ea typeface="Meiryo" panose="020B0604030504040204" pitchFamily="34" charset="-128"/>
              </a:rPr>
              <a:t>:CC</a:t>
            </a:r>
            <a:r>
              <a:rPr lang="ja-JP" altLang="en-US">
                <a:latin typeface="Meiryo" panose="020B0604030504040204" pitchFamily="34" charset="-128"/>
                <a:ea typeface="Meiryo" panose="020B0604030504040204" pitchFamily="34" charset="-128"/>
              </a:rPr>
              <a:t>だ</a:t>
            </a:r>
            <a:r>
              <a:rPr lang="mn-MN" altLang="ja-JP" dirty="0">
                <a:latin typeface="Meiryo" panose="020B0604030504040204" pitchFamily="34" charset="-128"/>
                <a:ea typeface="Meiryo" panose="020B0604030504040204" pitchFamily="34" charset="-128"/>
              </a:rPr>
              <a:t>)</a:t>
            </a:r>
            <a:endParaRPr lang="en-JP" dirty="0"/>
          </a:p>
        </p:txBody>
      </p:sp>
      <p:sp>
        <p:nvSpPr>
          <p:cNvPr id="109" name="TextBox 108">
            <a:extLst>
              <a:ext uri="{FF2B5EF4-FFF2-40B4-BE49-F238E27FC236}">
                <a16:creationId xmlns:a16="http://schemas.microsoft.com/office/drawing/2014/main" id="{9B07591C-96E0-9A54-97BF-E0CD46735C5F}"/>
              </a:ext>
            </a:extLst>
          </p:cNvPr>
          <p:cNvSpPr txBox="1"/>
          <p:nvPr/>
        </p:nvSpPr>
        <p:spPr>
          <a:xfrm>
            <a:off x="7286665" y="2949159"/>
            <a:ext cx="1622560" cy="369332"/>
          </a:xfrm>
          <a:prstGeom prst="rect">
            <a:avLst/>
          </a:prstGeom>
          <a:noFill/>
        </p:spPr>
        <p:txBody>
          <a:bodyPr wrap="none" rtlCol="0">
            <a:spAutoFit/>
          </a:bodyPr>
          <a:lstStyle/>
          <a:p>
            <a:r>
              <a:rPr lang="en-US" dirty="0">
                <a:latin typeface="Meiryo" panose="020B0604030504040204" pitchFamily="34" charset="-128"/>
                <a:ea typeface="Meiryo" panose="020B0604030504040204" pitchFamily="34" charset="-128"/>
              </a:rPr>
              <a:t>DTLS </a:t>
            </a:r>
            <a:r>
              <a:rPr lang="en-JP"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転送 </a:t>
            </a:r>
            <a:endParaRPr lang="en-JP" dirty="0">
              <a:latin typeface="Meiryo" panose="020B0604030504040204" pitchFamily="34" charset="-128"/>
              <a:ea typeface="Meiryo" panose="020B0604030504040204" pitchFamily="34" charset="-128"/>
            </a:endParaRPr>
          </a:p>
        </p:txBody>
      </p:sp>
      <p:sp>
        <p:nvSpPr>
          <p:cNvPr id="2" name="Rounded Rectangle 1">
            <a:extLst>
              <a:ext uri="{FF2B5EF4-FFF2-40B4-BE49-F238E27FC236}">
                <a16:creationId xmlns:a16="http://schemas.microsoft.com/office/drawing/2014/main" id="{83B63AF3-97F5-019D-9DBC-E664310B2EF0}"/>
              </a:ext>
            </a:extLst>
          </p:cNvPr>
          <p:cNvSpPr/>
          <p:nvPr/>
        </p:nvSpPr>
        <p:spPr>
          <a:xfrm>
            <a:off x="3007794" y="2730683"/>
            <a:ext cx="3450155" cy="79575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 </a:t>
            </a:r>
            <a:r>
              <a:rPr lang="en-US" sz="2000" b="0" i="0" dirty="0">
                <a:solidFill>
                  <a:srgbClr val="000000"/>
                </a:solidFill>
                <a:effectLst/>
                <a:latin typeface="Hiragino Sans" panose="020B0400000000000000" pitchFamily="34" charset="-128"/>
                <a:ea typeface="Hiragino Sans" panose="020B0400000000000000" pitchFamily="34" charset="-128"/>
              </a:rPr>
              <a:t>ARP feature extraction</a:t>
            </a:r>
            <a:endParaRPr lang="en-JP" sz="2000" b="1" dirty="0">
              <a:solidFill>
                <a:schemeClr val="tx1"/>
              </a:solidFill>
              <a:latin typeface="Meiryo" panose="020B0604030504040204" pitchFamily="34" charset="-128"/>
              <a:ea typeface="Meiryo" panose="020B0604030504040204" pitchFamily="34" charset="-128"/>
            </a:endParaRPr>
          </a:p>
        </p:txBody>
      </p:sp>
      <p:sp>
        <p:nvSpPr>
          <p:cNvPr id="5" name="Rounded Rectangle 4">
            <a:extLst>
              <a:ext uri="{FF2B5EF4-FFF2-40B4-BE49-F238E27FC236}">
                <a16:creationId xmlns:a16="http://schemas.microsoft.com/office/drawing/2014/main" id="{66E0218E-F660-939D-A0AD-912A08839605}"/>
              </a:ext>
            </a:extLst>
          </p:cNvPr>
          <p:cNvSpPr/>
          <p:nvPr/>
        </p:nvSpPr>
        <p:spPr>
          <a:xfrm>
            <a:off x="3120625" y="1245220"/>
            <a:ext cx="1310473" cy="544285"/>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b="0" i="0" dirty="0">
                <a:solidFill>
                  <a:srgbClr val="000000"/>
                </a:solidFill>
                <a:effectLst/>
                <a:latin typeface="Hiragino Sans" panose="020B0400000000000000" pitchFamily="34" charset="-128"/>
                <a:ea typeface="Hiragino Sans" panose="020B0400000000000000" pitchFamily="34" charset="-128"/>
              </a:rPr>
              <a:t>0</a:t>
            </a:r>
            <a:endParaRPr lang="en-JP" sz="2000" b="1" dirty="0">
              <a:latin typeface="Meiryo" panose="020B0604030504040204" pitchFamily="34" charset="-128"/>
              <a:ea typeface="Meiryo" panose="020B0604030504040204" pitchFamily="34" charset="-128"/>
            </a:endParaRPr>
          </a:p>
        </p:txBody>
      </p:sp>
      <p:sp>
        <p:nvSpPr>
          <p:cNvPr id="6" name="Rounded Rectangle 5">
            <a:extLst>
              <a:ext uri="{FF2B5EF4-FFF2-40B4-BE49-F238E27FC236}">
                <a16:creationId xmlns:a16="http://schemas.microsoft.com/office/drawing/2014/main" id="{91525B14-08C3-610C-B8FF-3C2F05F76F46}"/>
              </a:ext>
            </a:extLst>
          </p:cNvPr>
          <p:cNvSpPr/>
          <p:nvPr/>
        </p:nvSpPr>
        <p:spPr>
          <a:xfrm>
            <a:off x="5413743" y="1292875"/>
            <a:ext cx="1310473" cy="544285"/>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000" b="1" i="0" dirty="0">
                <a:solidFill>
                  <a:srgbClr val="0F1115"/>
                </a:solidFill>
                <a:effectLst/>
                <a:latin typeface="Meiryo" panose="020B0604030504040204" pitchFamily="34" charset="-128"/>
                <a:ea typeface="Meiryo" panose="020B0604030504040204" pitchFamily="34" charset="-128"/>
              </a:rPr>
              <a:t>   </a:t>
            </a:r>
            <a:r>
              <a:rPr lang="en-US" sz="2000" b="0" i="0" dirty="0">
                <a:solidFill>
                  <a:srgbClr val="000000"/>
                </a:solidFill>
                <a:effectLst/>
                <a:latin typeface="Hiragino Sans" panose="020B0400000000000000" pitchFamily="34" charset="-128"/>
                <a:ea typeface="Hiragino Sans" panose="020B0400000000000000" pitchFamily="34" charset="-128"/>
              </a:rPr>
              <a:t>eth0</a:t>
            </a:r>
            <a:endParaRPr lang="en-JP" sz="2000" b="1" dirty="0">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02F3F8B1-CEAE-DC37-0B6D-910F9E86EDA8}"/>
              </a:ext>
            </a:extLst>
          </p:cNvPr>
          <p:cNvSpPr/>
          <p:nvPr/>
        </p:nvSpPr>
        <p:spPr>
          <a:xfrm>
            <a:off x="3060120" y="2000265"/>
            <a:ext cx="3450155" cy="5442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0" i="0" dirty="0">
                <a:solidFill>
                  <a:srgbClr val="000000"/>
                </a:solidFill>
                <a:effectLst/>
                <a:latin typeface="Hiragino Sans" panose="020B0400000000000000" pitchFamily="34" charset="-128"/>
                <a:ea typeface="Hiragino Sans" panose="020B0400000000000000" pitchFamily="34" charset="-128"/>
              </a:rPr>
              <a:t>traffic collection</a:t>
            </a:r>
            <a:endParaRPr lang="en-JP" sz="2000" b="1" dirty="0">
              <a:solidFill>
                <a:schemeClr val="tx1"/>
              </a:solidFill>
              <a:latin typeface="Meiryo" panose="020B0604030504040204" pitchFamily="34" charset="-128"/>
              <a:ea typeface="Meiryo" panose="020B0604030504040204" pitchFamily="34" charset="-128"/>
            </a:endParaRPr>
          </a:p>
        </p:txBody>
      </p:sp>
      <p:sp>
        <p:nvSpPr>
          <p:cNvPr id="9" name="Rounded Rectangle 8">
            <a:extLst>
              <a:ext uri="{FF2B5EF4-FFF2-40B4-BE49-F238E27FC236}">
                <a16:creationId xmlns:a16="http://schemas.microsoft.com/office/drawing/2014/main" id="{8E692AA2-17FA-7333-AAD3-04025C0C573E}"/>
              </a:ext>
            </a:extLst>
          </p:cNvPr>
          <p:cNvSpPr/>
          <p:nvPr/>
        </p:nvSpPr>
        <p:spPr>
          <a:xfrm>
            <a:off x="3060124" y="5295988"/>
            <a:ext cx="3450151" cy="76596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0" dirty="0">
                <a:solidFill>
                  <a:srgbClr val="000000"/>
                </a:solidFill>
                <a:effectLst/>
                <a:latin typeface="Meiryo" panose="020B0604030504040204" pitchFamily="34" charset="-128"/>
                <a:ea typeface="Meiryo" panose="020B0604030504040204" pitchFamily="34" charset="-128"/>
              </a:rPr>
              <a:t>DTLS</a:t>
            </a:r>
            <a:r>
              <a:rPr lang="ja-JP" altLang="en-US" b="1" i="0">
                <a:solidFill>
                  <a:srgbClr val="000000"/>
                </a:solidFill>
                <a:effectLst/>
                <a:latin typeface="Meiryo" panose="020B0604030504040204" pitchFamily="34" charset="-128"/>
                <a:ea typeface="Meiryo" panose="020B0604030504040204" pitchFamily="34" charset="-128"/>
              </a:rPr>
              <a:t>は透過転送 </a:t>
            </a:r>
            <a:r>
              <a:rPr lang="en-US" altLang="ja-JP" b="1" i="0" dirty="0">
                <a:solidFill>
                  <a:srgbClr val="000000"/>
                </a:solidFill>
                <a:effectLst/>
                <a:latin typeface="Meiryo" panose="020B0604030504040204" pitchFamily="34" charset="-128"/>
                <a:ea typeface="Meiryo" panose="020B0604030504040204" pitchFamily="34" charset="-128"/>
              </a:rPr>
              <a:t>— </a:t>
            </a:r>
            <a:r>
              <a:rPr lang="ja-JP" altLang="en-US" b="1" i="0">
                <a:solidFill>
                  <a:srgbClr val="000000"/>
                </a:solidFill>
                <a:effectLst/>
                <a:latin typeface="Meiryo" panose="020B0604030504040204" pitchFamily="34" charset="-128"/>
                <a:ea typeface="Meiryo" panose="020B0604030504040204" pitchFamily="34" charset="-128"/>
              </a:rPr>
              <a:t>内容に触れない </a:t>
            </a:r>
            <a:endParaRPr lang="en-JP" dirty="0">
              <a:latin typeface="Meiryo" panose="020B0604030504040204" pitchFamily="34" charset="-128"/>
              <a:ea typeface="Meiryo" panose="020B0604030504040204" pitchFamily="34" charset="-128"/>
            </a:endParaRPr>
          </a:p>
        </p:txBody>
      </p:sp>
      <p:sp>
        <p:nvSpPr>
          <p:cNvPr id="12" name="Up-Down Arrow 11">
            <a:extLst>
              <a:ext uri="{FF2B5EF4-FFF2-40B4-BE49-F238E27FC236}">
                <a16:creationId xmlns:a16="http://schemas.microsoft.com/office/drawing/2014/main" id="{EE8CA132-B26C-D3BB-A9F6-2B9C81DBA75F}"/>
              </a:ext>
            </a:extLst>
          </p:cNvPr>
          <p:cNvSpPr/>
          <p:nvPr/>
        </p:nvSpPr>
        <p:spPr>
          <a:xfrm rot="5400000">
            <a:off x="7043174" y="1297577"/>
            <a:ext cx="229950" cy="605459"/>
          </a:xfrm>
          <a:prstGeom prst="up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Tree>
    <p:extLst>
      <p:ext uri="{BB962C8B-B14F-4D97-AF65-F5344CB8AC3E}">
        <p14:creationId xmlns:p14="http://schemas.microsoft.com/office/powerpoint/2010/main" val="184285085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71D6292-799F-01D8-5075-F6626B675BC4}"/>
              </a:ext>
            </a:extLst>
          </p:cNvPr>
          <p:cNvSpPr txBox="1"/>
          <p:nvPr/>
        </p:nvSpPr>
        <p:spPr>
          <a:xfrm>
            <a:off x="123825" y="6344245"/>
            <a:ext cx="6715125" cy="430887"/>
          </a:xfrm>
          <a:prstGeom prst="rect">
            <a:avLst/>
          </a:prstGeom>
          <a:noFill/>
        </p:spPr>
        <p:txBody>
          <a:bodyPr wrap="square">
            <a:spAutoFit/>
          </a:bodyPr>
          <a:lstStyle/>
          <a:p>
            <a:r>
              <a:rPr lang="en-JP" sz="1100" dirty="0">
                <a:latin typeface="Times New Roman" panose="02020603050405020304" pitchFamily="18" charset="0"/>
                <a:ea typeface="Meiryo" panose="020B0604030504040204" pitchFamily="34" charset="-128"/>
                <a:cs typeface="Times New Roman" panose="02020603050405020304" pitchFamily="18" charset="0"/>
              </a:rPr>
              <a:t>[3] https://www.cepro.com/news/report-average-smart-home-faces-29-cybersecurity-attacks-daily-integrators-on-front-line/623233/?utm_source</a:t>
            </a:r>
          </a:p>
        </p:txBody>
      </p:sp>
      <p:sp>
        <p:nvSpPr>
          <p:cNvPr id="8" name="TextBox 7">
            <a:extLst>
              <a:ext uri="{FF2B5EF4-FFF2-40B4-BE49-F238E27FC236}">
                <a16:creationId xmlns:a16="http://schemas.microsoft.com/office/drawing/2014/main" id="{C57D62E3-3BFA-79BD-90AC-70636888601D}"/>
              </a:ext>
            </a:extLst>
          </p:cNvPr>
          <p:cNvSpPr txBox="1"/>
          <p:nvPr/>
        </p:nvSpPr>
        <p:spPr>
          <a:xfrm>
            <a:off x="28575" y="85026"/>
            <a:ext cx="8486775" cy="461665"/>
          </a:xfrm>
          <a:prstGeom prst="rect">
            <a:avLst/>
          </a:prstGeom>
          <a:noFill/>
        </p:spPr>
        <p:txBody>
          <a:bodyPr wrap="square">
            <a:spAutoFit/>
          </a:bodyPr>
          <a:lstStyle/>
          <a:p>
            <a:pPr marL="342900" indent="-342900">
              <a:buFont typeface="Wingdings" pitchFamily="2" charset="2"/>
              <a:buChar char="§"/>
            </a:pPr>
            <a:r>
              <a:rPr lang="en-US" sz="2400" b="1" i="0" dirty="0">
                <a:effectLst/>
                <a:latin typeface="Meiryo" panose="020B0604030504040204" pitchFamily="34" charset="-128"/>
                <a:ea typeface="Meiryo" panose="020B0604030504040204" pitchFamily="34" charset="-128"/>
                <a:cs typeface="Times New Roman" panose="02020603050405020304" pitchFamily="18" charset="0"/>
              </a:rPr>
              <a:t>ARP</a:t>
            </a:r>
            <a:r>
              <a:rPr lang="ja-JP" altLang="en-US" sz="2400" b="1" i="0">
                <a:effectLst/>
                <a:latin typeface="Meiryo" panose="020B0604030504040204" pitchFamily="34" charset="-128"/>
                <a:ea typeface="Meiryo" panose="020B0604030504040204" pitchFamily="34" charset="-128"/>
                <a:cs typeface="Times New Roman" panose="02020603050405020304" pitchFamily="18" charset="0"/>
              </a:rPr>
              <a:t>スプーフィング被害が増え続ける</a:t>
            </a:r>
            <a:r>
              <a:rPr lang="en-US" altLang="ja-JP" sz="2400" b="1" dirty="0">
                <a:latin typeface="Meiryo" panose="020B0604030504040204" pitchFamily="34" charset="-128"/>
                <a:ea typeface="Meiryo" panose="020B0604030504040204" pitchFamily="34" charset="-128"/>
                <a:cs typeface="Times New Roman" panose="02020603050405020304" pitchFamily="18" charset="0"/>
              </a:rPr>
              <a:t>[3]</a:t>
            </a:r>
            <a:endParaRPr lang="en-JP" sz="2400" b="1" dirty="0">
              <a:latin typeface="Meiryo" panose="020B0604030504040204" pitchFamily="34" charset="-128"/>
              <a:ea typeface="Meiryo" panose="020B0604030504040204" pitchFamily="34" charset="-128"/>
              <a:cs typeface="Times New Roman" panose="02020603050405020304" pitchFamily="18" charset="0"/>
            </a:endParaRPr>
          </a:p>
        </p:txBody>
      </p:sp>
      <p:sp>
        <p:nvSpPr>
          <p:cNvPr id="11" name="Rounded Rectangle 10">
            <a:extLst>
              <a:ext uri="{FF2B5EF4-FFF2-40B4-BE49-F238E27FC236}">
                <a16:creationId xmlns:a16="http://schemas.microsoft.com/office/drawing/2014/main" id="{82B9F072-5B35-4F00-5548-70A664E42EED}"/>
              </a:ext>
            </a:extLst>
          </p:cNvPr>
          <p:cNvSpPr/>
          <p:nvPr/>
        </p:nvSpPr>
        <p:spPr>
          <a:xfrm>
            <a:off x="197919" y="773251"/>
            <a:ext cx="3639065" cy="262027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000" b="1">
              <a:solidFill>
                <a:schemeClr val="tx1"/>
              </a:solidFill>
              <a:latin typeface="Meiryo" panose="020B0604030504040204" pitchFamily="34" charset="-128"/>
              <a:ea typeface="Meiryo" panose="020B0604030504040204" pitchFamily="34" charset="-128"/>
            </a:endParaRPr>
          </a:p>
          <a:p>
            <a:pPr algn="ctr"/>
            <a:endParaRPr lang="en-US" sz="2000" b="1" dirty="0">
              <a:solidFill>
                <a:schemeClr val="tx1"/>
              </a:solidFill>
              <a:latin typeface="Meiryo" panose="020B0604030504040204" pitchFamily="34" charset="-128"/>
              <a:ea typeface="Meiryo" panose="020B0604030504040204" pitchFamily="34" charset="-128"/>
            </a:endParaRPr>
          </a:p>
          <a:p>
            <a:pPr algn="ctr"/>
            <a:r>
              <a:rPr lang="en-US" sz="2000" b="1" dirty="0">
                <a:solidFill>
                  <a:schemeClr val="tx1"/>
                </a:solidFill>
                <a:latin typeface="Meiryo" panose="020B0604030504040204" pitchFamily="34" charset="-128"/>
                <a:ea typeface="Meiryo" panose="020B0604030504040204" pitchFamily="34" charset="-128"/>
              </a:rPr>
              <a:t>ARP</a:t>
            </a:r>
            <a:r>
              <a:rPr lang="ja-JP" altLang="en-US" sz="2000" b="1">
                <a:solidFill>
                  <a:schemeClr val="tx1"/>
                </a:solidFill>
                <a:latin typeface="Meiryo" panose="020B0604030504040204" pitchFamily="34" charset="-128"/>
                <a:ea typeface="Meiryo" panose="020B0604030504040204" pitchFamily="34" charset="-128"/>
              </a:rPr>
              <a:t>誕生 </a:t>
            </a:r>
            <a:r>
              <a:rPr lang="en-US" altLang="ja-JP" sz="2000" b="1" dirty="0">
                <a:solidFill>
                  <a:schemeClr val="tx1"/>
                </a:solidFill>
                <a:latin typeface="Meiryo" panose="020B0604030504040204" pitchFamily="34" charset="-128"/>
                <a:ea typeface="Meiryo" panose="020B0604030504040204" pitchFamily="34" charset="-128"/>
              </a:rPr>
              <a:t>(</a:t>
            </a:r>
            <a:r>
              <a:rPr lang="en-US" sz="2000" b="1" dirty="0">
                <a:solidFill>
                  <a:schemeClr val="tx1"/>
                </a:solidFill>
                <a:latin typeface="Meiryo" panose="020B0604030504040204" pitchFamily="34" charset="-128"/>
                <a:ea typeface="Meiryo" panose="020B0604030504040204" pitchFamily="34" charset="-128"/>
              </a:rPr>
              <a:t>RFC 826)</a:t>
            </a:r>
          </a:p>
          <a:p>
            <a:pPr algn="ctr"/>
            <a:r>
              <a:rPr lang="ja-JP" altLang="en-US" sz="2000" b="1">
                <a:solidFill>
                  <a:schemeClr val="tx1"/>
                </a:solidFill>
                <a:latin typeface="Meiryo" panose="020B0604030504040204" pitchFamily="34" charset="-128"/>
                <a:ea typeface="Meiryo" panose="020B0604030504040204" pitchFamily="34" charset="-128"/>
              </a:rPr>
              <a:t>信頼前提の設計</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認証なし</a:t>
            </a:r>
            <a:r>
              <a:rPr lang="en-US" altLang="ja-JP" sz="2000" b="1" dirty="0">
                <a:solidFill>
                  <a:schemeClr val="tx1"/>
                </a:solidFill>
                <a:latin typeface="Meiryo" panose="020B0604030504040204" pitchFamily="34" charset="-128"/>
                <a:ea typeface="Meiryo" panose="020B0604030504040204" pitchFamily="34" charset="-128"/>
              </a:rPr>
              <a:t>.</a:t>
            </a:r>
            <a:r>
              <a:rPr lang="ja-JP" altLang="en-US" sz="2000" b="1">
                <a:solidFill>
                  <a:schemeClr val="tx1"/>
                </a:solidFill>
                <a:latin typeface="Meiryo" panose="020B0604030504040204" pitchFamily="34" charset="-128"/>
                <a:ea typeface="Meiryo" panose="020B0604030504040204" pitchFamily="34" charset="-128"/>
              </a:rPr>
              <a:t>当時は内部ネットワーク全員を信頼していた</a:t>
            </a:r>
          </a:p>
          <a:p>
            <a:pPr algn="ctr"/>
            <a:r>
              <a:rPr lang="en-US" sz="2000" b="1" dirty="0">
                <a:solidFill>
                  <a:schemeClr val="tx1"/>
                </a:solidFill>
                <a:latin typeface="Meiryo" panose="020B0604030504040204" pitchFamily="34" charset="-128"/>
                <a:ea typeface="Meiryo" panose="020B0604030504040204" pitchFamily="34" charset="-128"/>
              </a:rPr>
              <a:t>Plummer, 1982</a:t>
            </a:r>
            <a:endParaRPr lang="en-JP" sz="2000" b="1" dirty="0">
              <a:solidFill>
                <a:schemeClr val="tx1"/>
              </a:solidFill>
              <a:latin typeface="Meiryo" panose="020B0604030504040204" pitchFamily="34" charset="-128"/>
              <a:ea typeface="Meiryo" panose="020B0604030504040204" pitchFamily="34" charset="-128"/>
            </a:endParaRPr>
          </a:p>
        </p:txBody>
      </p:sp>
      <p:sp>
        <p:nvSpPr>
          <p:cNvPr id="14" name="Slide Number Placeholder 13">
            <a:extLst>
              <a:ext uri="{FF2B5EF4-FFF2-40B4-BE49-F238E27FC236}">
                <a16:creationId xmlns:a16="http://schemas.microsoft.com/office/drawing/2014/main" id="{78749FA2-31C4-D93E-A3B4-65C819FB9F16}"/>
              </a:ext>
            </a:extLst>
          </p:cNvPr>
          <p:cNvSpPr>
            <a:spLocks noGrp="1"/>
          </p:cNvSpPr>
          <p:nvPr>
            <p:ph type="sldNum" sz="quarter" idx="12"/>
          </p:nvPr>
        </p:nvSpPr>
        <p:spPr/>
        <p:txBody>
          <a:bodyPr/>
          <a:lstStyle/>
          <a:p>
            <a:fld id="{828F3BD4-1AF2-D144-8129-4D42AD448F5E}" type="slidenum">
              <a:rPr lang="en-JP" smtClean="0"/>
              <a:t>51</a:t>
            </a:fld>
            <a:endParaRPr lang="en-JP"/>
          </a:p>
        </p:txBody>
      </p:sp>
      <p:sp>
        <p:nvSpPr>
          <p:cNvPr id="2" name="Rounded Rectangle 1">
            <a:extLst>
              <a:ext uri="{FF2B5EF4-FFF2-40B4-BE49-F238E27FC236}">
                <a16:creationId xmlns:a16="http://schemas.microsoft.com/office/drawing/2014/main" id="{C858935C-C3DE-F4FD-8B8B-089E6C37242F}"/>
              </a:ext>
            </a:extLst>
          </p:cNvPr>
          <p:cNvSpPr/>
          <p:nvPr/>
        </p:nvSpPr>
        <p:spPr>
          <a:xfrm>
            <a:off x="4627335" y="762880"/>
            <a:ext cx="3798207" cy="262027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000" b="1">
              <a:solidFill>
                <a:schemeClr val="tx1"/>
              </a:solidFill>
              <a:latin typeface="Meiryo" panose="020B0604030504040204" pitchFamily="34" charset="-128"/>
              <a:ea typeface="Meiryo" panose="020B0604030504040204" pitchFamily="34" charset="-128"/>
            </a:endParaRPr>
          </a:p>
          <a:p>
            <a:pPr algn="ctr"/>
            <a:r>
              <a:rPr lang="ja-JP" altLang="en-US" sz="2000" b="1">
                <a:solidFill>
                  <a:schemeClr val="tx1"/>
                </a:solidFill>
                <a:latin typeface="Meiryo" panose="020B0604030504040204" pitchFamily="34" charset="-128"/>
                <a:ea typeface="Meiryo" panose="020B0604030504040204" pitchFamily="34" charset="-128"/>
              </a:rPr>
              <a:t>脆弱性を最初に指摘</a:t>
            </a:r>
          </a:p>
          <a:p>
            <a:pPr algn="ctr"/>
            <a:r>
              <a:rPr lang="en-US" sz="2000" b="1" dirty="0" err="1">
                <a:solidFill>
                  <a:schemeClr val="tx1"/>
                </a:solidFill>
                <a:latin typeface="Meiryo" panose="020B0604030504040204" pitchFamily="34" charset="-128"/>
                <a:ea typeface="Meiryo" panose="020B0604030504040204" pitchFamily="34" charset="-128"/>
              </a:rPr>
              <a:t>Bellovin</a:t>
            </a:r>
            <a:r>
              <a:rPr lang="ja-JP" altLang="en-US" sz="2000" b="1">
                <a:solidFill>
                  <a:schemeClr val="tx1"/>
                </a:solidFill>
                <a:latin typeface="Meiryo" panose="020B0604030504040204" pitchFamily="34" charset="-128"/>
                <a:ea typeface="Meiryo" panose="020B0604030504040204" pitchFamily="34" charset="-128"/>
              </a:rPr>
              <a:t>が</a:t>
            </a:r>
            <a:r>
              <a:rPr lang="en-US" sz="2000" b="1" dirty="0">
                <a:solidFill>
                  <a:schemeClr val="tx1"/>
                </a:solidFill>
                <a:latin typeface="Meiryo" panose="020B0604030504040204" pitchFamily="34" charset="-128"/>
                <a:ea typeface="Meiryo" panose="020B0604030504040204" pitchFamily="34" charset="-128"/>
              </a:rPr>
              <a:t>TCP/IP</a:t>
            </a:r>
            <a:r>
              <a:rPr lang="ja-JP" altLang="en-US" sz="2000" b="1">
                <a:solidFill>
                  <a:schemeClr val="tx1"/>
                </a:solidFill>
                <a:latin typeface="Meiryo" panose="020B0604030504040204" pitchFamily="34" charset="-128"/>
                <a:ea typeface="Meiryo" panose="020B0604030504040204" pitchFamily="34" charset="-128"/>
              </a:rPr>
              <a:t>の設計上の問題として報告。</a:t>
            </a:r>
            <a:r>
              <a:rPr lang="en-US" sz="2000" b="1" dirty="0">
                <a:solidFill>
                  <a:schemeClr val="tx1"/>
                </a:solidFill>
                <a:latin typeface="Meiryo" panose="020B0604030504040204" pitchFamily="34" charset="-128"/>
                <a:ea typeface="Meiryo" panose="020B0604030504040204" pitchFamily="34" charset="-128"/>
              </a:rPr>
              <a:t>ARP</a:t>
            </a:r>
            <a:r>
              <a:rPr lang="ja-JP" altLang="en-US" sz="2000" b="1">
                <a:solidFill>
                  <a:schemeClr val="tx1"/>
                </a:solidFill>
                <a:latin typeface="Meiryo" panose="020B0604030504040204" pitchFamily="34" charset="-128"/>
                <a:ea typeface="Meiryo" panose="020B0604030504040204" pitchFamily="34" charset="-128"/>
              </a:rPr>
              <a:t>なりすましが可能と警告</a:t>
            </a:r>
          </a:p>
          <a:p>
            <a:pPr algn="ctr"/>
            <a:r>
              <a:rPr lang="en-US" sz="2000" b="1" dirty="0" err="1">
                <a:solidFill>
                  <a:schemeClr val="tx1"/>
                </a:solidFill>
                <a:latin typeface="Meiryo" panose="020B0604030504040204" pitchFamily="34" charset="-128"/>
                <a:ea typeface="Meiryo" panose="020B0604030504040204" pitchFamily="34" charset="-128"/>
              </a:rPr>
              <a:t>Bellovin</a:t>
            </a:r>
            <a:r>
              <a:rPr lang="en-US" sz="2000" b="1" dirty="0">
                <a:solidFill>
                  <a:schemeClr val="tx1"/>
                </a:solidFill>
                <a:latin typeface="Meiryo" panose="020B0604030504040204" pitchFamily="34" charset="-128"/>
                <a:ea typeface="Meiryo" panose="020B0604030504040204" pitchFamily="34" charset="-128"/>
              </a:rPr>
              <a:t>, 1989</a:t>
            </a:r>
            <a:endParaRPr lang="en-JP" sz="2000" b="1" dirty="0">
              <a:solidFill>
                <a:schemeClr val="tx1"/>
              </a:solidFill>
              <a:latin typeface="Meiryo" panose="020B0604030504040204" pitchFamily="34" charset="-128"/>
              <a:ea typeface="Meiryo" panose="020B0604030504040204" pitchFamily="34" charset="-128"/>
            </a:endParaRPr>
          </a:p>
        </p:txBody>
      </p:sp>
      <p:sp>
        <p:nvSpPr>
          <p:cNvPr id="3" name="Rounded Rectangle 2">
            <a:extLst>
              <a:ext uri="{FF2B5EF4-FFF2-40B4-BE49-F238E27FC236}">
                <a16:creationId xmlns:a16="http://schemas.microsoft.com/office/drawing/2014/main" id="{CF83A49C-B0F8-25DD-B437-5BB299E94923}"/>
              </a:ext>
            </a:extLst>
          </p:cNvPr>
          <p:cNvSpPr/>
          <p:nvPr/>
        </p:nvSpPr>
        <p:spPr>
          <a:xfrm>
            <a:off x="206926" y="3599339"/>
            <a:ext cx="3630058" cy="274490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2000" b="1" dirty="0">
              <a:solidFill>
                <a:srgbClr val="C00000"/>
              </a:solidFill>
              <a:latin typeface="Meiryo" panose="020B0604030504040204" pitchFamily="34" charset="-128"/>
              <a:ea typeface="Meiryo" panose="020B0604030504040204" pitchFamily="34" charset="-128"/>
            </a:endParaRPr>
          </a:p>
          <a:p>
            <a:pPr algn="ctr"/>
            <a:endParaRPr lang="en-US" altLang="ja-JP" sz="2000" b="1" dirty="0">
              <a:solidFill>
                <a:srgbClr val="C00000"/>
              </a:solidFill>
              <a:latin typeface="Meiryo" panose="020B0604030504040204" pitchFamily="34" charset="-128"/>
              <a:ea typeface="Meiryo" panose="020B0604030504040204" pitchFamily="34" charset="-128"/>
            </a:endParaRPr>
          </a:p>
          <a:p>
            <a:pPr algn="ctr"/>
            <a:r>
              <a:rPr lang="en-US" altLang="ja-JP" sz="2000" b="1" dirty="0">
                <a:solidFill>
                  <a:schemeClr val="tx1"/>
                </a:solidFill>
                <a:latin typeface="Meiryo" panose="020B0604030504040204" pitchFamily="34" charset="-128"/>
                <a:ea typeface="Meiryo" panose="020B0604030504040204" pitchFamily="34" charset="-128"/>
              </a:rPr>
              <a:t>IoT</a:t>
            </a:r>
            <a:r>
              <a:rPr lang="ja-JP" altLang="en-US" sz="2000" b="1">
                <a:solidFill>
                  <a:schemeClr val="tx1"/>
                </a:solidFill>
                <a:latin typeface="Meiryo" panose="020B0604030504040204" pitchFamily="34" charset="-128"/>
                <a:ea typeface="Meiryo" panose="020B0604030504040204" pitchFamily="34" charset="-128"/>
              </a:rPr>
              <a:t>時代に拡大</a:t>
            </a:r>
          </a:p>
          <a:p>
            <a:pPr algn="ctr"/>
            <a:r>
              <a:rPr lang="en-US" altLang="ja-JP" sz="2000" b="1" dirty="0">
                <a:solidFill>
                  <a:schemeClr val="tx1"/>
                </a:solidFill>
                <a:latin typeface="Meiryo" panose="020B0604030504040204" pitchFamily="34" charset="-128"/>
                <a:ea typeface="Meiryo" panose="020B0604030504040204" pitchFamily="34" charset="-128"/>
              </a:rPr>
              <a:t>Philips Hue (CVE-2020-6007) ARP</a:t>
            </a:r>
            <a:r>
              <a:rPr lang="ja-JP" altLang="en-US" sz="2000" b="1">
                <a:solidFill>
                  <a:schemeClr val="tx1"/>
                </a:solidFill>
                <a:latin typeface="Meiryo" panose="020B0604030504040204" pitchFamily="34" charset="-128"/>
                <a:ea typeface="Meiryo" panose="020B0604030504040204" pitchFamily="34" charset="-128"/>
              </a:rPr>
              <a:t>経由で</a:t>
            </a:r>
            <a:r>
              <a:rPr lang="en-US" altLang="ja-JP" sz="2000" b="1" dirty="0">
                <a:solidFill>
                  <a:schemeClr val="tx1"/>
                </a:solidFill>
                <a:latin typeface="Meiryo" panose="020B0604030504040204" pitchFamily="34" charset="-128"/>
                <a:ea typeface="Meiryo" panose="020B0604030504040204" pitchFamily="34" charset="-128"/>
              </a:rPr>
              <a:t>IoT</a:t>
            </a:r>
            <a:r>
              <a:rPr lang="ja-JP" altLang="en-US" sz="2000" b="1">
                <a:solidFill>
                  <a:schemeClr val="tx1"/>
                </a:solidFill>
                <a:latin typeface="Meiryo" panose="020B0604030504040204" pitchFamily="34" charset="-128"/>
                <a:ea typeface="Meiryo" panose="020B0604030504040204" pitchFamily="34" charset="-128"/>
              </a:rPr>
              <a:t>ネットワーク侵入</a:t>
            </a:r>
            <a:r>
              <a:rPr lang="en-US" altLang="ja-JP" sz="2000" b="1" dirty="0">
                <a:solidFill>
                  <a:schemeClr val="tx1"/>
                </a:solidFill>
                <a:latin typeface="Meiryo" panose="020B0604030504040204" pitchFamily="34" charset="-128"/>
                <a:ea typeface="Meiryo" panose="020B0604030504040204" pitchFamily="34" charset="-128"/>
              </a:rPr>
              <a:t>. </a:t>
            </a:r>
            <a:r>
              <a:rPr lang="ja-JP" altLang="en-US" sz="2000" b="1">
                <a:solidFill>
                  <a:schemeClr val="tx1"/>
                </a:solidFill>
                <a:latin typeface="Meiryo" panose="020B0604030504040204" pitchFamily="34" charset="-128"/>
                <a:ea typeface="Meiryo" panose="020B0604030504040204" pitchFamily="34" charset="-128"/>
              </a:rPr>
              <a:t>暗号化済みでも被害発生</a:t>
            </a:r>
          </a:p>
          <a:p>
            <a:pPr algn="ctr"/>
            <a:r>
              <a:rPr lang="en-US" altLang="ja-JP" sz="2000" b="1" dirty="0">
                <a:solidFill>
                  <a:schemeClr val="tx1"/>
                </a:solidFill>
                <a:latin typeface="Meiryo" panose="020B0604030504040204" pitchFamily="34" charset="-128"/>
                <a:ea typeface="Meiryo" panose="020B0604030504040204" pitchFamily="34" charset="-128"/>
              </a:rPr>
              <a:t>NVD, 2020</a:t>
            </a:r>
            <a:endParaRPr lang="en-JP" sz="2000" b="1" dirty="0">
              <a:solidFill>
                <a:schemeClr val="tx1"/>
              </a:solidFill>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216D6A4E-1230-CE24-4852-6B28113A39E1}"/>
              </a:ext>
            </a:extLst>
          </p:cNvPr>
          <p:cNvSpPr/>
          <p:nvPr/>
        </p:nvSpPr>
        <p:spPr>
          <a:xfrm>
            <a:off x="4604658" y="3599339"/>
            <a:ext cx="3853542" cy="262027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2000" b="1">
              <a:solidFill>
                <a:srgbClr val="C00000"/>
              </a:solidFill>
              <a:latin typeface="Meiryo" panose="020B0604030504040204" pitchFamily="34" charset="-128"/>
              <a:ea typeface="Meiryo" panose="020B0604030504040204" pitchFamily="34" charset="-128"/>
            </a:endParaRPr>
          </a:p>
          <a:p>
            <a:pPr algn="ctr"/>
            <a:r>
              <a:rPr lang="ja-JP" altLang="en-US" sz="2000" b="1">
                <a:solidFill>
                  <a:schemeClr val="tx1"/>
                </a:solidFill>
                <a:latin typeface="Meiryo" panose="020B0604030504040204" pitchFamily="34" charset="-128"/>
                <a:ea typeface="Meiryo" panose="020B0604030504040204" pitchFamily="34" charset="-128"/>
              </a:rPr>
              <a:t>被害は拡大中</a:t>
            </a:r>
          </a:p>
          <a:p>
            <a:pPr algn="ctr"/>
            <a:r>
              <a:rPr lang="en-US" altLang="ja-JP" sz="2000" b="1" dirty="0">
                <a:solidFill>
                  <a:schemeClr val="tx1"/>
                </a:solidFill>
                <a:latin typeface="Meiryo" panose="020B0604030504040204" pitchFamily="34" charset="-128"/>
                <a:ea typeface="Meiryo" panose="020B0604030504040204" pitchFamily="34" charset="-128"/>
              </a:rPr>
              <a:t>Cisco</a:t>
            </a:r>
            <a:r>
              <a:rPr lang="ja-JP" altLang="en-US" sz="2000" b="1">
                <a:solidFill>
                  <a:schemeClr val="tx1"/>
                </a:solidFill>
                <a:latin typeface="Meiryo" panose="020B0604030504040204" pitchFamily="34" charset="-128"/>
                <a:ea typeface="Meiryo" panose="020B0604030504040204" pitchFamily="34" charset="-128"/>
              </a:rPr>
              <a:t>報告</a:t>
            </a:r>
            <a:r>
              <a:rPr lang="en-US" altLang="ja-JP" sz="2000" b="1" dirty="0">
                <a:solidFill>
                  <a:schemeClr val="tx1"/>
                </a:solidFill>
                <a:latin typeface="Meiryo" panose="020B0604030504040204" pitchFamily="34" charset="-128"/>
                <a:ea typeface="Meiryo" panose="020B0604030504040204" pitchFamily="34" charset="-128"/>
              </a:rPr>
              <a:t>: IoT</a:t>
            </a:r>
            <a:r>
              <a:rPr lang="ja-JP" altLang="en-US" sz="2000" b="1">
                <a:solidFill>
                  <a:schemeClr val="tx1"/>
                </a:solidFill>
                <a:latin typeface="Meiryo" panose="020B0604030504040204" pitchFamily="34" charset="-128"/>
                <a:ea typeface="Meiryo" panose="020B0604030504040204" pitchFamily="34" charset="-128"/>
              </a:rPr>
              <a:t>向け攻撃が前年比</a:t>
            </a:r>
            <a:r>
              <a:rPr lang="en-US" altLang="ja-JP" sz="2000" b="1" dirty="0">
                <a:solidFill>
                  <a:schemeClr val="tx1"/>
                </a:solidFill>
                <a:latin typeface="Meiryo" panose="020B0604030504040204" pitchFamily="34" charset="-128"/>
                <a:ea typeface="Meiryo" panose="020B0604030504040204" pitchFamily="34" charset="-128"/>
              </a:rPr>
              <a:t>+41%.ARP</a:t>
            </a:r>
            <a:r>
              <a:rPr lang="ja-JP" altLang="en-US" sz="2000" b="1">
                <a:solidFill>
                  <a:schemeClr val="tx1"/>
                </a:solidFill>
                <a:latin typeface="Meiryo" panose="020B0604030504040204" pitchFamily="34" charset="-128"/>
                <a:ea typeface="Meiryo" panose="020B0604030504040204" pitchFamily="34" charset="-128"/>
              </a:rPr>
              <a:t>ベース攻撃が</a:t>
            </a:r>
            <a:r>
              <a:rPr lang="en-US" altLang="ja-JP" sz="2000" b="1" dirty="0">
                <a:solidFill>
                  <a:schemeClr val="tx1"/>
                </a:solidFill>
                <a:latin typeface="Meiryo" panose="020B0604030504040204" pitchFamily="34" charset="-128"/>
                <a:ea typeface="Meiryo" panose="020B0604030504040204" pitchFamily="34" charset="-128"/>
              </a:rPr>
              <a:t>23%</a:t>
            </a:r>
            <a:r>
              <a:rPr lang="ja-JP" altLang="en-US" sz="2000" b="1">
                <a:solidFill>
                  <a:schemeClr val="tx1"/>
                </a:solidFill>
                <a:latin typeface="Meiryo" panose="020B0604030504040204" pitchFamily="34" charset="-128"/>
                <a:ea typeface="Meiryo" panose="020B0604030504040204" pitchFamily="34" charset="-128"/>
              </a:rPr>
              <a:t>を占める</a:t>
            </a:r>
          </a:p>
          <a:p>
            <a:pPr algn="ctr"/>
            <a:r>
              <a:rPr lang="en-US" altLang="ja-JP" sz="2000" b="1" dirty="0">
                <a:solidFill>
                  <a:schemeClr val="tx1"/>
                </a:solidFill>
                <a:latin typeface="Meiryo" panose="020B0604030504040204" pitchFamily="34" charset="-128"/>
                <a:ea typeface="Meiryo" panose="020B0604030504040204" pitchFamily="34" charset="-128"/>
              </a:rPr>
              <a:t>Cisco 2024</a:t>
            </a:r>
            <a:endParaRPr lang="en-JP" sz="2000" b="1" dirty="0">
              <a:solidFill>
                <a:schemeClr val="tx1"/>
              </a:solidFill>
              <a:latin typeface="Meiryo" panose="020B0604030504040204" pitchFamily="34" charset="-128"/>
              <a:ea typeface="Meiryo" panose="020B0604030504040204" pitchFamily="34" charset="-128"/>
            </a:endParaRPr>
          </a:p>
        </p:txBody>
      </p:sp>
      <p:sp>
        <p:nvSpPr>
          <p:cNvPr id="9" name="Quad Arrow 8">
            <a:extLst>
              <a:ext uri="{FF2B5EF4-FFF2-40B4-BE49-F238E27FC236}">
                <a16:creationId xmlns:a16="http://schemas.microsoft.com/office/drawing/2014/main" id="{D6953004-29C6-1203-E1F3-2BCFE3E84426}"/>
              </a:ext>
            </a:extLst>
          </p:cNvPr>
          <p:cNvSpPr/>
          <p:nvPr/>
        </p:nvSpPr>
        <p:spPr>
          <a:xfrm>
            <a:off x="3920087" y="2995392"/>
            <a:ext cx="596579" cy="834368"/>
          </a:xfrm>
          <a:prstGeom prst="quadArrow">
            <a:avLst/>
          </a:prstGeom>
          <a:solidFill>
            <a:schemeClr val="tx1">
              <a:lumMod val="95000"/>
              <a:lumOff val="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15" name="Rounded Rectangle 14">
            <a:extLst>
              <a:ext uri="{FF2B5EF4-FFF2-40B4-BE49-F238E27FC236}">
                <a16:creationId xmlns:a16="http://schemas.microsoft.com/office/drawing/2014/main" id="{FF8CBE85-DDD8-87A7-01EF-89930092DE0A}"/>
              </a:ext>
            </a:extLst>
          </p:cNvPr>
          <p:cNvSpPr/>
          <p:nvPr/>
        </p:nvSpPr>
        <p:spPr>
          <a:xfrm>
            <a:off x="464854" y="819546"/>
            <a:ext cx="3059247"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sz="1800" b="1" dirty="0">
                <a:solidFill>
                  <a:srgbClr val="C00000"/>
                </a:solidFill>
                <a:latin typeface="Meiryo" panose="020B0604030504040204" pitchFamily="34" charset="-128"/>
                <a:ea typeface="Meiryo" panose="020B0604030504040204" pitchFamily="34" charset="-128"/>
              </a:rPr>
              <a:t>1982</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
        <p:nvSpPr>
          <p:cNvPr id="16" name="Rounded Rectangle 15">
            <a:extLst>
              <a:ext uri="{FF2B5EF4-FFF2-40B4-BE49-F238E27FC236}">
                <a16:creationId xmlns:a16="http://schemas.microsoft.com/office/drawing/2014/main" id="{9A15DC73-34AB-A42D-3C24-07D5D9CFC57B}"/>
              </a:ext>
            </a:extLst>
          </p:cNvPr>
          <p:cNvSpPr/>
          <p:nvPr/>
        </p:nvSpPr>
        <p:spPr>
          <a:xfrm>
            <a:off x="5019787" y="819545"/>
            <a:ext cx="3013301"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sz="1800" b="1" dirty="0">
                <a:solidFill>
                  <a:srgbClr val="C00000"/>
                </a:solidFill>
                <a:latin typeface="Meiryo" panose="020B0604030504040204" pitchFamily="34" charset="-128"/>
                <a:ea typeface="Meiryo" panose="020B0604030504040204" pitchFamily="34" charset="-128"/>
              </a:rPr>
              <a:t>1989</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
        <p:nvSpPr>
          <p:cNvPr id="17" name="Rounded Rectangle 16">
            <a:extLst>
              <a:ext uri="{FF2B5EF4-FFF2-40B4-BE49-F238E27FC236}">
                <a16:creationId xmlns:a16="http://schemas.microsoft.com/office/drawing/2014/main" id="{3C1D579C-7407-99AC-DECF-D00F89EB4AAB}"/>
              </a:ext>
            </a:extLst>
          </p:cNvPr>
          <p:cNvSpPr/>
          <p:nvPr/>
        </p:nvSpPr>
        <p:spPr>
          <a:xfrm>
            <a:off x="464854" y="3622502"/>
            <a:ext cx="3013301"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sz="1800" b="1" dirty="0">
                <a:solidFill>
                  <a:srgbClr val="C00000"/>
                </a:solidFill>
                <a:latin typeface="Meiryo" panose="020B0604030504040204" pitchFamily="34" charset="-128"/>
                <a:ea typeface="Meiryo" panose="020B0604030504040204" pitchFamily="34" charset="-128"/>
              </a:rPr>
              <a:t>2020</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
        <p:nvSpPr>
          <p:cNvPr id="18" name="Rounded Rectangle 17">
            <a:extLst>
              <a:ext uri="{FF2B5EF4-FFF2-40B4-BE49-F238E27FC236}">
                <a16:creationId xmlns:a16="http://schemas.microsoft.com/office/drawing/2014/main" id="{7792BF25-DD9D-0A0E-D8B0-BBB9A8EF46D6}"/>
              </a:ext>
            </a:extLst>
          </p:cNvPr>
          <p:cNvSpPr/>
          <p:nvPr/>
        </p:nvSpPr>
        <p:spPr>
          <a:xfrm>
            <a:off x="5019786" y="3622502"/>
            <a:ext cx="3013301" cy="57694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800" b="1" dirty="0">
              <a:solidFill>
                <a:srgbClr val="C00000"/>
              </a:solidFill>
              <a:latin typeface="Meiryo" panose="020B0604030504040204" pitchFamily="34" charset="-128"/>
              <a:ea typeface="Meiryo" panose="020B0604030504040204" pitchFamily="34" charset="-128"/>
            </a:endParaRPr>
          </a:p>
          <a:p>
            <a:pPr algn="ctr"/>
            <a:r>
              <a:rPr lang="en-US" altLang="ja-JP" b="1" dirty="0">
                <a:solidFill>
                  <a:srgbClr val="C00000"/>
                </a:solidFill>
                <a:latin typeface="Meiryo" panose="020B0604030504040204" pitchFamily="34" charset="-128"/>
                <a:ea typeface="Meiryo" panose="020B0604030504040204" pitchFamily="34" charset="-128"/>
              </a:rPr>
              <a:t>2024</a:t>
            </a:r>
            <a:r>
              <a:rPr lang="ja-JP" altLang="en-US" sz="1800" b="1">
                <a:solidFill>
                  <a:srgbClr val="C00000"/>
                </a:solidFill>
                <a:latin typeface="Meiryo" panose="020B0604030504040204" pitchFamily="34" charset="-128"/>
                <a:ea typeface="Meiryo" panose="020B0604030504040204" pitchFamily="34" charset="-128"/>
              </a:rPr>
              <a:t>年</a:t>
            </a:r>
            <a:endParaRPr lang="en-US" altLang="ja-JP" sz="1800" b="1" dirty="0">
              <a:solidFill>
                <a:srgbClr val="C00000"/>
              </a:solidFill>
              <a:latin typeface="Meiryo" panose="020B0604030504040204" pitchFamily="34" charset="-128"/>
              <a:ea typeface="Meiryo" panose="020B0604030504040204" pitchFamily="34" charset="-128"/>
            </a:endParaRPr>
          </a:p>
          <a:p>
            <a:pPr algn="ctr"/>
            <a:endParaRPr lang="en-JP" dirty="0"/>
          </a:p>
        </p:txBody>
      </p:sp>
    </p:spTree>
    <p:extLst>
      <p:ext uri="{BB962C8B-B14F-4D97-AF65-F5344CB8AC3E}">
        <p14:creationId xmlns:p14="http://schemas.microsoft.com/office/powerpoint/2010/main" val="34363303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E045F-0C8E-B691-9D21-5BABE8DF0F96}"/>
              </a:ext>
            </a:extLst>
          </p:cNvPr>
          <p:cNvSpPr>
            <a:spLocks noGrp="1"/>
          </p:cNvSpPr>
          <p:nvPr>
            <p:ph type="title"/>
          </p:nvPr>
        </p:nvSpPr>
        <p:spPr>
          <a:xfrm>
            <a:off x="628650" y="365126"/>
            <a:ext cx="7886700" cy="863599"/>
          </a:xfrm>
        </p:spPr>
        <p:txBody>
          <a:bodyPr>
            <a:normAutofit fontScale="90000"/>
          </a:bodyPr>
          <a:lstStyle/>
          <a:p>
            <a:pPr marL="571500" indent="-571500">
              <a:buFont typeface="Wingdings" pitchFamily="2" charset="2"/>
              <a:buChar char="Ø"/>
            </a:pPr>
            <a:r>
              <a:rPr lang="en-US" sz="4400" b="1" dirty="0">
                <a:latin typeface="Calibri" pitchFamily="34" charset="0"/>
                <a:ea typeface="Calibri" pitchFamily="34" charset="-122"/>
                <a:cs typeface="Calibri" pitchFamily="34" charset="-120"/>
              </a:rPr>
              <a:t>提案手法</a:t>
            </a:r>
            <a:br>
              <a:rPr lang="en-US" sz="4400" dirty="0"/>
            </a:br>
            <a:endParaRPr lang="en-JP" dirty="0"/>
          </a:p>
        </p:txBody>
      </p:sp>
      <p:sp>
        <p:nvSpPr>
          <p:cNvPr id="4" name="Shape 4">
            <a:extLst>
              <a:ext uri="{FF2B5EF4-FFF2-40B4-BE49-F238E27FC236}">
                <a16:creationId xmlns:a16="http://schemas.microsoft.com/office/drawing/2014/main" id="{FDB70C21-32A0-D869-A38E-A1DD97AD8972}"/>
              </a:ext>
            </a:extLst>
          </p:cNvPr>
          <p:cNvSpPr/>
          <p:nvPr/>
        </p:nvSpPr>
        <p:spPr>
          <a:xfrm>
            <a:off x="594359" y="904875"/>
            <a:ext cx="8101965" cy="768858"/>
          </a:xfrm>
          <a:prstGeom prst="rect">
            <a:avLst/>
          </a:prstGeom>
          <a:solidFill>
            <a:srgbClr val="2563A8"/>
          </a:solidFill>
          <a:ln w="12700">
            <a:solidFill>
              <a:srgbClr val="2563A8"/>
            </a:solidFill>
            <a:prstDash val="solid"/>
          </a:ln>
        </p:spPr>
        <p:txBody>
          <a:bodyPr/>
          <a:lstStyle/>
          <a:p>
            <a:r>
              <a:rPr lang="en-US" sz="2800" b="1" dirty="0">
                <a:solidFill>
                  <a:srgbClr val="FFFFFF"/>
                </a:solidFill>
                <a:latin typeface="Meiryo" panose="020B0604030504040204" pitchFamily="34" charset="-128"/>
                <a:ea typeface="Meiryo" panose="020B0604030504040204" pitchFamily="34" charset="-128"/>
                <a:cs typeface="Calibri" pitchFamily="34" charset="-120"/>
              </a:rPr>
              <a:t>Layer 1 — ML-IDS（L2 ARP</a:t>
            </a:r>
            <a:r>
              <a:rPr lang="ja-JP" altLang="en-US" sz="2800" b="1">
                <a:solidFill>
                  <a:srgbClr val="FFFFFF"/>
                </a:solidFill>
                <a:latin typeface="Meiryo" panose="020B0604030504040204" pitchFamily="34" charset="-128"/>
                <a:ea typeface="Meiryo" panose="020B0604030504040204" pitchFamily="34" charset="-128"/>
                <a:cs typeface="Calibri" pitchFamily="34" charset="-120"/>
              </a:rPr>
              <a:t>監視）</a:t>
            </a:r>
            <a:endParaRPr lang="en-US" sz="2800" dirty="0">
              <a:latin typeface="Meiryo" panose="020B0604030504040204" pitchFamily="34" charset="-128"/>
              <a:ea typeface="Meiryo" panose="020B0604030504040204" pitchFamily="34" charset="-128"/>
            </a:endParaRPr>
          </a:p>
          <a:p>
            <a:endParaRPr lang="en-JP" sz="2800" dirty="0">
              <a:latin typeface="Meiryo" panose="020B0604030504040204" pitchFamily="34" charset="-128"/>
              <a:ea typeface="Meiryo" panose="020B0604030504040204" pitchFamily="34" charset="-128"/>
            </a:endParaRPr>
          </a:p>
        </p:txBody>
      </p:sp>
      <p:sp>
        <p:nvSpPr>
          <p:cNvPr id="5" name="Shape 3">
            <a:extLst>
              <a:ext uri="{FF2B5EF4-FFF2-40B4-BE49-F238E27FC236}">
                <a16:creationId xmlns:a16="http://schemas.microsoft.com/office/drawing/2014/main" id="{0C3AE500-9B5D-8505-40DB-741DC00BA11E}"/>
              </a:ext>
            </a:extLst>
          </p:cNvPr>
          <p:cNvSpPr/>
          <p:nvPr/>
        </p:nvSpPr>
        <p:spPr>
          <a:xfrm>
            <a:off x="594357" y="1800223"/>
            <a:ext cx="8101965" cy="1931671"/>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pPr marL="342900" indent="-342900">
              <a:buFont typeface="Wingdings" pitchFamily="2" charset="2"/>
              <a:buChar char="§"/>
            </a:pPr>
            <a:r>
              <a:rPr lang="en-US" sz="2400" dirty="0">
                <a:solidFill>
                  <a:srgbClr val="1A2740"/>
                </a:solidFill>
                <a:latin typeface="Meiryo" panose="020B0604030504040204" pitchFamily="34" charset="-128"/>
                <a:ea typeface="Meiryo" panose="020B0604030504040204" pitchFamily="34" charset="-128"/>
                <a:cs typeface="Calibri" pitchFamily="34" charset="-120"/>
              </a:rPr>
              <a:t> ARP</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パケットをリアルタイムキャプチャ</a:t>
            </a:r>
            <a:endParaRPr lang="mn-MN" altLang="ja-JP" sz="2400" dirty="0">
              <a:solidFill>
                <a:srgbClr val="1A2740"/>
              </a:solidFill>
              <a:latin typeface="Meiryo" panose="020B0604030504040204" pitchFamily="34" charset="-128"/>
              <a:ea typeface="Meiryo" panose="020B0604030504040204" pitchFamily="34" charset="-128"/>
              <a:cs typeface="Calibri" pitchFamily="34" charset="-120"/>
            </a:endParaRPr>
          </a:p>
          <a:p>
            <a:pPr marL="342900" indent="-342900">
              <a:buFont typeface="Wingdings" pitchFamily="2" charset="2"/>
              <a:buChar char="§"/>
            </a:pPr>
            <a:r>
              <a:rPr lang="en-US" altLang="ja-JP" sz="2400" dirty="0">
                <a:solidFill>
                  <a:srgbClr val="1A2740"/>
                </a:solidFill>
                <a:latin typeface="Meiryo" panose="020B0604030504040204" pitchFamily="34" charset="-128"/>
                <a:ea typeface="Meiryo" panose="020B0604030504040204" pitchFamily="34" charset="-128"/>
                <a:cs typeface="Calibri" pitchFamily="34" charset="-120"/>
              </a:rPr>
              <a:t>6</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つの特徴量を抽出（</a:t>
            </a:r>
            <a:r>
              <a:rPr lang="en-US" sz="2400" dirty="0">
                <a:solidFill>
                  <a:srgbClr val="1A2740"/>
                </a:solidFill>
                <a:latin typeface="Meiryo" panose="020B0604030504040204" pitchFamily="34" charset="-128"/>
                <a:ea typeface="Meiryo" panose="020B0604030504040204" pitchFamily="34" charset="-128"/>
                <a:cs typeface="Calibri" pitchFamily="34" charset="-120"/>
              </a:rPr>
              <a:t>IP-MAC</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不一致・頻度・エントロピー等）</a:t>
            </a:r>
            <a:endParaRPr lang="mn-MN" altLang="ja-JP" sz="2400" dirty="0">
              <a:solidFill>
                <a:srgbClr val="1A2740"/>
              </a:solidFill>
              <a:latin typeface="Meiryo" panose="020B0604030504040204" pitchFamily="34" charset="-128"/>
              <a:ea typeface="Meiryo" panose="020B0604030504040204" pitchFamily="34" charset="-128"/>
              <a:cs typeface="Calibri" pitchFamily="34" charset="-120"/>
            </a:endParaRPr>
          </a:p>
          <a:p>
            <a:pPr marL="342900" indent="-342900">
              <a:buFont typeface="Wingdings" pitchFamily="2" charset="2"/>
              <a:buChar char="§"/>
            </a:pPr>
            <a:r>
              <a:rPr lang="en-US" sz="2400" dirty="0">
                <a:solidFill>
                  <a:srgbClr val="1A2740"/>
                </a:solidFill>
                <a:latin typeface="Meiryo" panose="020B0604030504040204" pitchFamily="34" charset="-128"/>
                <a:ea typeface="Meiryo" panose="020B0604030504040204" pitchFamily="34" charset="-128"/>
                <a:cs typeface="Calibri" pitchFamily="34" charset="-120"/>
              </a:rPr>
              <a:t>Random Forest</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で</a:t>
            </a:r>
            <a:r>
              <a:rPr lang="en-US" sz="2400" dirty="0">
                <a:solidFill>
                  <a:srgbClr val="1A2740"/>
                </a:solidFill>
                <a:latin typeface="Meiryo" panose="020B0604030504040204" pitchFamily="34" charset="-128"/>
                <a:ea typeface="Meiryo" panose="020B0604030504040204" pitchFamily="34" charset="-128"/>
                <a:cs typeface="Calibri" pitchFamily="34" charset="-120"/>
              </a:rPr>
              <a:t>NORMAL / ATTACK</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判定</a:t>
            </a:r>
            <a:endParaRPr lang="mn-MN" altLang="ja-JP" sz="2400" dirty="0">
              <a:solidFill>
                <a:srgbClr val="1A2740"/>
              </a:solidFill>
              <a:latin typeface="Meiryo" panose="020B0604030504040204" pitchFamily="34" charset="-128"/>
              <a:ea typeface="Meiryo" panose="020B0604030504040204" pitchFamily="34" charset="-128"/>
              <a:cs typeface="Calibri" pitchFamily="34" charset="-120"/>
            </a:endParaRPr>
          </a:p>
          <a:p>
            <a:pPr marL="342900" indent="-342900">
              <a:buFont typeface="Wingdings" pitchFamily="2" charset="2"/>
              <a:buChar char="§"/>
            </a:pPr>
            <a:r>
              <a:rPr lang="ja-JP" altLang="en-US" sz="2400">
                <a:solidFill>
                  <a:srgbClr val="1A2740"/>
                </a:solidFill>
                <a:latin typeface="Meiryo" panose="020B0604030504040204" pitchFamily="34" charset="-128"/>
                <a:ea typeface="Meiryo" panose="020B0604030504040204" pitchFamily="34" charset="-128"/>
                <a:cs typeface="Calibri" pitchFamily="34" charset="-120"/>
              </a:rPr>
              <a:t>攻撃 → </a:t>
            </a:r>
            <a:r>
              <a:rPr lang="en-US" sz="2400" dirty="0">
                <a:solidFill>
                  <a:srgbClr val="1A2740"/>
                </a:solidFill>
                <a:latin typeface="Meiryo" panose="020B0604030504040204" pitchFamily="34" charset="-128"/>
                <a:ea typeface="Meiryo" panose="020B0604030504040204" pitchFamily="34" charset="-128"/>
                <a:cs typeface="Calibri" pitchFamily="34" charset="-120"/>
              </a:rPr>
              <a:t>DROP，</a:t>
            </a:r>
            <a:r>
              <a:rPr lang="ja-JP" altLang="en-US" sz="2400">
                <a:solidFill>
                  <a:srgbClr val="1A2740"/>
                </a:solidFill>
                <a:latin typeface="Meiryo" panose="020B0604030504040204" pitchFamily="34" charset="-128"/>
                <a:ea typeface="Meiryo" panose="020B0604030504040204" pitchFamily="34" charset="-128"/>
                <a:cs typeface="Calibri" pitchFamily="34" charset="-120"/>
              </a:rPr>
              <a:t>ログ記録，アラート通知</a:t>
            </a:r>
            <a:endParaRPr lang="mn-MN" sz="2400" dirty="0">
              <a:solidFill>
                <a:srgbClr val="1A2740"/>
              </a:solidFill>
              <a:latin typeface="Meiryo" panose="020B0604030504040204" pitchFamily="34" charset="-128"/>
              <a:ea typeface="Meiryo" panose="020B0604030504040204" pitchFamily="34" charset="-128"/>
              <a:cs typeface="Calibri" pitchFamily="34" charset="-120"/>
            </a:endParaRPr>
          </a:p>
          <a:p>
            <a:r>
              <a:rPr lang="en-US" sz="2400" b="1" dirty="0">
                <a:solidFill>
                  <a:srgbClr val="FFFFFF"/>
                </a:solidFill>
                <a:latin typeface="Meiryo" panose="020B0604030504040204" pitchFamily="34" charset="-128"/>
                <a:ea typeface="Meiryo" panose="020B0604030504040204" pitchFamily="34" charset="-128"/>
                <a:cs typeface="Calibri" pitchFamily="34" charset="-120"/>
              </a:rPr>
              <a:t>Layer 2  —  CoAP-DTLS</a:t>
            </a:r>
            <a:endParaRPr lang="en-US" sz="2400" dirty="0">
              <a:latin typeface="Meiryo" panose="020B0604030504040204" pitchFamily="34" charset="-128"/>
              <a:ea typeface="Meiryo" panose="020B0604030504040204" pitchFamily="34" charset="-128"/>
            </a:endParaRPr>
          </a:p>
          <a:p>
            <a:pPr marL="0" indent="0">
              <a:buNone/>
            </a:pPr>
            <a:endParaRPr lang="en-US"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7" name="Shape 13">
            <a:extLst>
              <a:ext uri="{FF2B5EF4-FFF2-40B4-BE49-F238E27FC236}">
                <a16:creationId xmlns:a16="http://schemas.microsoft.com/office/drawing/2014/main" id="{A5EF1DA7-253A-D99E-388B-13D682528AF7}"/>
              </a:ext>
            </a:extLst>
          </p:cNvPr>
          <p:cNvSpPr/>
          <p:nvPr/>
        </p:nvSpPr>
        <p:spPr>
          <a:xfrm>
            <a:off x="594358" y="3763644"/>
            <a:ext cx="8101964" cy="586741"/>
          </a:xfrm>
          <a:prstGeom prst="rect">
            <a:avLst/>
          </a:prstGeom>
          <a:solidFill>
            <a:srgbClr val="0D9488"/>
          </a:solidFill>
          <a:ln w="12700">
            <a:solidFill>
              <a:srgbClr val="0D9488"/>
            </a:solidFill>
            <a:prstDash val="solid"/>
          </a:ln>
        </p:spPr>
        <p:txBody>
          <a:bodyPr/>
          <a:lstStyle/>
          <a:p>
            <a:r>
              <a:rPr lang="en-US" sz="2800" b="1" dirty="0">
                <a:solidFill>
                  <a:srgbClr val="FFFFFF"/>
                </a:solidFill>
                <a:latin typeface="Meiryo" panose="020B0604030504040204" pitchFamily="34" charset="-128"/>
                <a:ea typeface="Meiryo" panose="020B0604030504040204" pitchFamily="34" charset="-128"/>
                <a:cs typeface="Calibri" pitchFamily="34" charset="-120"/>
              </a:rPr>
              <a:t>Layer 2 — CoAP + DTLS（L4 </a:t>
            </a:r>
            <a:r>
              <a:rPr lang="ja-JP" altLang="en-US" sz="2800" b="1">
                <a:solidFill>
                  <a:srgbClr val="FFFFFF"/>
                </a:solidFill>
                <a:latin typeface="Meiryo" panose="020B0604030504040204" pitchFamily="34" charset="-128"/>
                <a:ea typeface="Meiryo" panose="020B0604030504040204" pitchFamily="34" charset="-128"/>
                <a:cs typeface="Calibri" pitchFamily="34" charset="-120"/>
              </a:rPr>
              <a:t>暗号化）</a:t>
            </a:r>
            <a:endParaRPr lang="en-US" sz="2800" dirty="0">
              <a:latin typeface="Meiryo" panose="020B0604030504040204" pitchFamily="34" charset="-128"/>
              <a:ea typeface="Meiryo" panose="020B0604030504040204" pitchFamily="34" charset="-128"/>
            </a:endParaRPr>
          </a:p>
          <a:p>
            <a:endParaRPr lang="en-JP" sz="2800" dirty="0">
              <a:latin typeface="Meiryo" panose="020B0604030504040204" pitchFamily="34" charset="-128"/>
              <a:ea typeface="Meiryo" panose="020B0604030504040204" pitchFamily="34" charset="-128"/>
            </a:endParaRPr>
          </a:p>
        </p:txBody>
      </p:sp>
      <p:sp>
        <p:nvSpPr>
          <p:cNvPr id="10" name="Shape 3">
            <a:extLst>
              <a:ext uri="{FF2B5EF4-FFF2-40B4-BE49-F238E27FC236}">
                <a16:creationId xmlns:a16="http://schemas.microsoft.com/office/drawing/2014/main" id="{65C3F2C7-8B12-C97C-D78D-69031188F4E3}"/>
              </a:ext>
            </a:extLst>
          </p:cNvPr>
          <p:cNvSpPr/>
          <p:nvPr/>
        </p:nvSpPr>
        <p:spPr>
          <a:xfrm>
            <a:off x="594358" y="4413884"/>
            <a:ext cx="8101965" cy="1931671"/>
          </a:xfrm>
          <a:prstGeom prst="rect">
            <a:avLst/>
          </a:prstGeom>
          <a:solidFill>
            <a:srgbClr val="FFFFFF"/>
          </a:solidFill>
          <a:ln w="12700">
            <a:solidFill>
              <a:srgbClr val="E8EDF3"/>
            </a:solidFill>
            <a:prstDash val="solid"/>
          </a:ln>
          <a:effectLst>
            <a:outerShdw blurRad="101600" dist="38100" dir="8100000" algn="bl" rotWithShape="0">
              <a:srgbClr val="000000">
                <a:alpha val="12000"/>
              </a:srgbClr>
            </a:outerShdw>
          </a:effectLst>
        </p:spPr>
        <p:txBody>
          <a:bodyPr/>
          <a:lstStyle/>
          <a:p>
            <a:pPr marL="342900" indent="-342900">
              <a:buFont typeface="Wingdings" pitchFamily="2" charset="2"/>
              <a:buChar char="§"/>
            </a:pPr>
            <a:endParaRPr lang="mn-MN" sz="2400" dirty="0">
              <a:latin typeface="Meiryo" panose="020B0604030504040204" pitchFamily="34" charset="-128"/>
              <a:ea typeface="Meiryo" panose="020B0604030504040204" pitchFamily="34" charset="-128"/>
            </a:endParaRPr>
          </a:p>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DTLS</a:t>
            </a:r>
            <a:r>
              <a:rPr lang="ja-JP" altLang="en-US" sz="2400">
                <a:latin typeface="Meiryo" panose="020B0604030504040204" pitchFamily="34" charset="-128"/>
                <a:ea typeface="Meiryo" panose="020B0604030504040204" pitchFamily="34" charset="-128"/>
              </a:rPr>
              <a:t>によるペイロード暗号化</a:t>
            </a:r>
          </a:p>
          <a:p>
            <a:pPr marL="342900" indent="-342900">
              <a:buFont typeface="Wingdings" pitchFamily="2" charset="2"/>
              <a:buChar char="§"/>
            </a:pPr>
            <a:r>
              <a:rPr lang="en-US" sz="2400" dirty="0">
                <a:latin typeface="Meiryo" panose="020B0604030504040204" pitchFamily="34" charset="-128"/>
                <a:ea typeface="Meiryo" panose="020B0604030504040204" pitchFamily="34" charset="-128"/>
              </a:rPr>
              <a:t>CoAP</a:t>
            </a:r>
            <a:r>
              <a:rPr lang="ja-JP" altLang="en-US" sz="2400">
                <a:latin typeface="Meiryo" panose="020B0604030504040204" pitchFamily="34" charset="-128"/>
                <a:ea typeface="Meiryo" panose="020B0604030504040204" pitchFamily="34" charset="-128"/>
              </a:rPr>
              <a:t>プロトコル処理</a:t>
            </a:r>
          </a:p>
          <a:p>
            <a:pPr marL="342900" indent="-342900">
              <a:buFont typeface="Wingdings" pitchFamily="2" charset="2"/>
              <a:buChar char="§"/>
            </a:pPr>
            <a:r>
              <a:rPr lang="ja-JP" altLang="en-US" sz="2400">
                <a:latin typeface="Meiryo" panose="020B0604030504040204" pitchFamily="34" charset="-128"/>
                <a:ea typeface="Meiryo" panose="020B0604030504040204" pitchFamily="34" charset="-128"/>
              </a:rPr>
              <a:t>バックエンドへ透過転送</a:t>
            </a:r>
            <a:endParaRPr lang="en-US" sz="2400" dirty="0">
              <a:latin typeface="Meiryo" panose="020B0604030504040204" pitchFamily="34" charset="-128"/>
              <a:ea typeface="Meiryo" panose="020B0604030504040204" pitchFamily="34" charset="-128"/>
            </a:endParaRPr>
          </a:p>
          <a:p>
            <a:pPr marL="0" indent="0">
              <a:buNone/>
            </a:pPr>
            <a:endParaRPr lang="en-US" sz="2400" dirty="0">
              <a:solidFill>
                <a:srgbClr val="1A2740"/>
              </a:solidFill>
              <a:latin typeface="Meiryo" panose="020B0604030504040204" pitchFamily="34" charset="-128"/>
              <a:ea typeface="Meiryo" panose="020B0604030504040204" pitchFamily="34" charset="-128"/>
              <a:cs typeface="Calibri" pitchFamily="34" charset="-120"/>
            </a:endParaRPr>
          </a:p>
          <a:p>
            <a:pPr marL="0" indent="0">
              <a:buNone/>
            </a:pPr>
            <a:endParaRPr lang="en-US" sz="2400" dirty="0">
              <a:latin typeface="Meiryo" panose="020B0604030504040204" pitchFamily="34" charset="-128"/>
              <a:ea typeface="Meiryo" panose="020B0604030504040204" pitchFamily="34" charset="-128"/>
            </a:endParaRPr>
          </a:p>
          <a:p>
            <a:endParaRPr lang="en-JP" sz="2400" dirty="0">
              <a:latin typeface="Meiryo" panose="020B0604030504040204" pitchFamily="34" charset="-128"/>
              <a:ea typeface="Meiryo" panose="020B0604030504040204" pitchFamily="34" charset="-128"/>
            </a:endParaRPr>
          </a:p>
        </p:txBody>
      </p:sp>
      <p:sp>
        <p:nvSpPr>
          <p:cNvPr id="11" name="Slide Number Placeholder 10">
            <a:extLst>
              <a:ext uri="{FF2B5EF4-FFF2-40B4-BE49-F238E27FC236}">
                <a16:creationId xmlns:a16="http://schemas.microsoft.com/office/drawing/2014/main" id="{D9B4568A-9D8B-3D26-305D-920405B6C9FE}"/>
              </a:ext>
            </a:extLst>
          </p:cNvPr>
          <p:cNvSpPr>
            <a:spLocks noGrp="1"/>
          </p:cNvSpPr>
          <p:nvPr>
            <p:ph type="sldNum" sz="quarter" idx="12"/>
          </p:nvPr>
        </p:nvSpPr>
        <p:spPr/>
        <p:txBody>
          <a:bodyPr/>
          <a:lstStyle/>
          <a:p>
            <a:fld id="{828F3BD4-1AF2-D144-8129-4D42AD448F5E}" type="slidenum">
              <a:rPr lang="en-JP" smtClean="0"/>
              <a:t>52</a:t>
            </a:fld>
            <a:endParaRPr lang="en-JP"/>
          </a:p>
        </p:txBody>
      </p:sp>
    </p:spTree>
    <p:extLst>
      <p:ext uri="{BB962C8B-B14F-4D97-AF65-F5344CB8AC3E}">
        <p14:creationId xmlns:p14="http://schemas.microsoft.com/office/powerpoint/2010/main" val="2417592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ounded Rectangle 4">
            <a:extLst>
              <a:ext uri="{FF2B5EF4-FFF2-40B4-BE49-F238E27FC236}">
                <a16:creationId xmlns:a16="http://schemas.microsoft.com/office/drawing/2014/main" id="{2B230842-D738-F9B1-AD04-F85CCC0909BE}"/>
              </a:ext>
            </a:extLst>
          </p:cNvPr>
          <p:cNvSpPr/>
          <p:nvPr/>
        </p:nvSpPr>
        <p:spPr>
          <a:xfrm>
            <a:off x="3320717" y="1251284"/>
            <a:ext cx="2065420" cy="1034716"/>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latin typeface="Meiryo" panose="020B0604030504040204" pitchFamily="34" charset="-128"/>
                <a:ea typeface="Meiryo" panose="020B0604030504040204" pitchFamily="34" charset="-128"/>
              </a:rPr>
              <a:t>CoAP</a:t>
            </a:r>
            <a:endParaRPr lang="en-JP" sz="2400" b="1" dirty="0">
              <a:solidFill>
                <a:schemeClr val="tx1"/>
              </a:solidFill>
              <a:latin typeface="Meiryo" panose="020B0604030504040204" pitchFamily="34" charset="-128"/>
              <a:ea typeface="Meiryo" panose="020B0604030504040204" pitchFamily="34" charset="-128"/>
            </a:endParaRPr>
          </a:p>
        </p:txBody>
      </p:sp>
      <p:sp>
        <p:nvSpPr>
          <p:cNvPr id="7" name="Rounded Rectangle 6">
            <a:extLst>
              <a:ext uri="{FF2B5EF4-FFF2-40B4-BE49-F238E27FC236}">
                <a16:creationId xmlns:a16="http://schemas.microsoft.com/office/drawing/2014/main" id="{FD2CE14D-9EC6-2835-69F7-E237BB8FE814}"/>
              </a:ext>
            </a:extLst>
          </p:cNvPr>
          <p:cNvSpPr/>
          <p:nvPr/>
        </p:nvSpPr>
        <p:spPr>
          <a:xfrm>
            <a:off x="647703" y="1251284"/>
            <a:ext cx="2065420" cy="1034716"/>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000" b="1" dirty="0">
                <a:solidFill>
                  <a:schemeClr val="tx1"/>
                </a:solidFill>
                <a:latin typeface="Meiryo" panose="020B0604030504040204" pitchFamily="34" charset="-128"/>
                <a:ea typeface="Meiryo" panose="020B0604030504040204" pitchFamily="34" charset="-128"/>
              </a:rPr>
              <a:t>DTLS</a:t>
            </a:r>
          </a:p>
        </p:txBody>
      </p:sp>
      <p:sp>
        <p:nvSpPr>
          <p:cNvPr id="8" name="Rounded Rectangle 7">
            <a:extLst>
              <a:ext uri="{FF2B5EF4-FFF2-40B4-BE49-F238E27FC236}">
                <a16:creationId xmlns:a16="http://schemas.microsoft.com/office/drawing/2014/main" id="{3E6A7065-1924-B7EA-A4A6-78C99EA80EEB}"/>
              </a:ext>
            </a:extLst>
          </p:cNvPr>
          <p:cNvSpPr/>
          <p:nvPr/>
        </p:nvSpPr>
        <p:spPr>
          <a:xfrm>
            <a:off x="5993731" y="1251284"/>
            <a:ext cx="2065420" cy="1034716"/>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solidFill>
                  <a:schemeClr val="tx1"/>
                </a:solidFill>
                <a:latin typeface="Meiryo" panose="020B0604030504040204" pitchFamily="34" charset="-128"/>
                <a:ea typeface="Meiryo" panose="020B0604030504040204" pitchFamily="34" charset="-128"/>
              </a:rPr>
              <a:t>ML-IDS</a:t>
            </a:r>
            <a:endParaRPr lang="en-JP" sz="1800" b="1" dirty="0">
              <a:solidFill>
                <a:schemeClr val="tx1"/>
              </a:solidFill>
              <a:latin typeface="Meiryo" panose="020B0604030504040204" pitchFamily="34" charset="-128"/>
              <a:ea typeface="Meiryo" panose="020B0604030504040204" pitchFamily="34" charset="-128"/>
            </a:endParaRPr>
          </a:p>
        </p:txBody>
      </p:sp>
      <p:sp>
        <p:nvSpPr>
          <p:cNvPr id="10" name="TextBox 9">
            <a:extLst>
              <a:ext uri="{FF2B5EF4-FFF2-40B4-BE49-F238E27FC236}">
                <a16:creationId xmlns:a16="http://schemas.microsoft.com/office/drawing/2014/main" id="{69FACAE6-7F5B-B7F3-A59B-59087D5AC791}"/>
              </a:ext>
            </a:extLst>
          </p:cNvPr>
          <p:cNvSpPr txBox="1"/>
          <p:nvPr/>
        </p:nvSpPr>
        <p:spPr>
          <a:xfrm>
            <a:off x="6340637" y="2700430"/>
            <a:ext cx="2065420" cy="707886"/>
          </a:xfrm>
          <a:prstGeom prst="rect">
            <a:avLst/>
          </a:prstGeom>
          <a:noFill/>
        </p:spPr>
        <p:txBody>
          <a:bodyPr wrap="square">
            <a:spAutoFit/>
          </a:bodyPr>
          <a:lstStyle/>
          <a:p>
            <a:r>
              <a:rPr lang="en-US" sz="2000" dirty="0">
                <a:latin typeface="Meiryo" panose="020B0604030504040204" pitchFamily="34" charset="-128"/>
                <a:ea typeface="Meiryo" panose="020B0604030504040204" pitchFamily="34" charset="-128"/>
              </a:rPr>
              <a:t>ARP</a:t>
            </a:r>
            <a:r>
              <a:rPr lang="ja-JP" altLang="en-US" sz="2000">
                <a:latin typeface="Meiryo" panose="020B0604030504040204" pitchFamily="34" charset="-128"/>
                <a:ea typeface="Meiryo" panose="020B0604030504040204" pitchFamily="34" charset="-128"/>
              </a:rPr>
              <a:t>パケット</a:t>
            </a:r>
            <a:endParaRPr lang="mn-MN" altLang="ja-JP" sz="2000" dirty="0">
              <a:latin typeface="Meiryo" panose="020B0604030504040204" pitchFamily="34" charset="-128"/>
              <a:ea typeface="Meiryo" panose="020B0604030504040204" pitchFamily="34" charset="-128"/>
            </a:endParaRPr>
          </a:p>
          <a:p>
            <a:r>
              <a:rPr lang="ja-JP" altLang="en-US" sz="2000">
                <a:latin typeface="Meiryo" panose="020B0604030504040204" pitchFamily="34" charset="-128"/>
                <a:ea typeface="Meiryo" panose="020B0604030504040204" pitchFamily="34" charset="-128"/>
              </a:rPr>
              <a:t>のみ監視・検知</a:t>
            </a:r>
            <a:endParaRPr lang="en-JP" sz="2000" dirty="0">
              <a:latin typeface="Meiryo" panose="020B0604030504040204" pitchFamily="34" charset="-128"/>
              <a:ea typeface="Meiryo" panose="020B0604030504040204" pitchFamily="34" charset="-128"/>
            </a:endParaRPr>
          </a:p>
        </p:txBody>
      </p:sp>
      <p:sp>
        <p:nvSpPr>
          <p:cNvPr id="12" name="TextBox 11">
            <a:extLst>
              <a:ext uri="{FF2B5EF4-FFF2-40B4-BE49-F238E27FC236}">
                <a16:creationId xmlns:a16="http://schemas.microsoft.com/office/drawing/2014/main" id="{391BAEEA-F6BF-E207-B05A-A468B7D7ECDE}"/>
              </a:ext>
            </a:extLst>
          </p:cNvPr>
          <p:cNvSpPr txBox="1"/>
          <p:nvPr/>
        </p:nvSpPr>
        <p:spPr>
          <a:xfrm>
            <a:off x="3545304" y="2688669"/>
            <a:ext cx="2279985"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軽量プロトコル</a:t>
            </a:r>
            <a:endParaRPr lang="en-JP" sz="2000" dirty="0">
              <a:latin typeface="Meiryo" panose="020B0604030504040204" pitchFamily="34" charset="-128"/>
              <a:ea typeface="Meiryo" panose="020B0604030504040204" pitchFamily="34" charset="-128"/>
            </a:endParaRPr>
          </a:p>
        </p:txBody>
      </p:sp>
      <p:sp>
        <p:nvSpPr>
          <p:cNvPr id="14" name="TextBox 13">
            <a:extLst>
              <a:ext uri="{FF2B5EF4-FFF2-40B4-BE49-F238E27FC236}">
                <a16:creationId xmlns:a16="http://schemas.microsoft.com/office/drawing/2014/main" id="{A5960195-7A5A-817B-FEBD-E2756F4CA2FF}"/>
              </a:ext>
            </a:extLst>
          </p:cNvPr>
          <p:cNvSpPr txBox="1"/>
          <p:nvPr/>
        </p:nvSpPr>
        <p:spPr>
          <a:xfrm>
            <a:off x="647703" y="2684762"/>
            <a:ext cx="2382253" cy="400110"/>
          </a:xfrm>
          <a:prstGeom prst="rect">
            <a:avLst/>
          </a:prstGeom>
          <a:noFill/>
        </p:spPr>
        <p:txBody>
          <a:bodyPr wrap="square">
            <a:spAutoFit/>
          </a:bodyPr>
          <a:lstStyle/>
          <a:p>
            <a:r>
              <a:rPr lang="ja-JP" altLang="en-US" sz="2000">
                <a:latin typeface="Meiryo" panose="020B0604030504040204" pitchFamily="34" charset="-128"/>
                <a:ea typeface="Meiryo" panose="020B0604030504040204" pitchFamily="34" charset="-128"/>
              </a:rPr>
              <a:t>暗号化による保護</a:t>
            </a:r>
            <a:endParaRPr lang="en-JP" sz="2000" dirty="0">
              <a:latin typeface="Meiryo" panose="020B0604030504040204" pitchFamily="34" charset="-128"/>
              <a:ea typeface="Meiryo" panose="020B0604030504040204" pitchFamily="34" charset="-128"/>
            </a:endParaRPr>
          </a:p>
        </p:txBody>
      </p:sp>
      <p:sp>
        <p:nvSpPr>
          <p:cNvPr id="16" name="TextBox 15">
            <a:extLst>
              <a:ext uri="{FF2B5EF4-FFF2-40B4-BE49-F238E27FC236}">
                <a16:creationId xmlns:a16="http://schemas.microsoft.com/office/drawing/2014/main" id="{2D6D4762-4C77-8917-6700-FCFE0061A2C4}"/>
              </a:ext>
            </a:extLst>
          </p:cNvPr>
          <p:cNvSpPr txBox="1"/>
          <p:nvPr/>
        </p:nvSpPr>
        <p:spPr>
          <a:xfrm>
            <a:off x="305806" y="3757109"/>
            <a:ext cx="4814634" cy="461665"/>
          </a:xfrm>
          <a:prstGeom prst="rect">
            <a:avLst/>
          </a:prstGeom>
          <a:noFill/>
        </p:spPr>
        <p:txBody>
          <a:bodyPr wrap="square">
            <a:spAutoFit/>
          </a:bodyPr>
          <a:lstStyle/>
          <a:p>
            <a:r>
              <a:rPr lang="en-US" altLang="ja-JP" sz="2400" dirty="0">
                <a:latin typeface="Meiryo" panose="020B0604030504040204" pitchFamily="34" charset="-128"/>
                <a:ea typeface="Meiryo" panose="020B0604030504040204" pitchFamily="34" charset="-128"/>
              </a:rPr>
              <a:t>3</a:t>
            </a:r>
            <a:r>
              <a:rPr lang="ja-JP" altLang="en-US" sz="2400">
                <a:latin typeface="Meiryo" panose="020B0604030504040204" pitchFamily="34" charset="-128"/>
                <a:ea typeface="Meiryo" panose="020B0604030504040204" pitchFamily="34" charset="-128"/>
              </a:rPr>
              <a:t>つの技術を組み合わせた場合：</a:t>
            </a:r>
            <a:endParaRPr lang="en-JP" sz="2400" dirty="0">
              <a:latin typeface="Meiryo" panose="020B0604030504040204" pitchFamily="34" charset="-128"/>
              <a:ea typeface="Meiryo" panose="020B0604030504040204" pitchFamily="34" charset="-128"/>
            </a:endParaRPr>
          </a:p>
        </p:txBody>
      </p:sp>
      <p:sp>
        <p:nvSpPr>
          <p:cNvPr id="17" name="Down Arrow 16">
            <a:extLst>
              <a:ext uri="{FF2B5EF4-FFF2-40B4-BE49-F238E27FC236}">
                <a16:creationId xmlns:a16="http://schemas.microsoft.com/office/drawing/2014/main" id="{DD666D4F-993A-4DC4-AE80-78A368FBF652}"/>
              </a:ext>
            </a:extLst>
          </p:cNvPr>
          <p:cNvSpPr/>
          <p:nvPr/>
        </p:nvSpPr>
        <p:spPr>
          <a:xfrm>
            <a:off x="1582131" y="2407446"/>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8" name="Down Arrow 17">
            <a:extLst>
              <a:ext uri="{FF2B5EF4-FFF2-40B4-BE49-F238E27FC236}">
                <a16:creationId xmlns:a16="http://schemas.microsoft.com/office/drawing/2014/main" id="{45A57AB4-C54D-0989-7999-016066268C4B}"/>
              </a:ext>
            </a:extLst>
          </p:cNvPr>
          <p:cNvSpPr/>
          <p:nvPr/>
        </p:nvSpPr>
        <p:spPr>
          <a:xfrm>
            <a:off x="4325305" y="2410110"/>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19" name="Down Arrow 18">
            <a:extLst>
              <a:ext uri="{FF2B5EF4-FFF2-40B4-BE49-F238E27FC236}">
                <a16:creationId xmlns:a16="http://schemas.microsoft.com/office/drawing/2014/main" id="{709BEFC5-764E-85D0-CE1E-BA49785BA89C}"/>
              </a:ext>
            </a:extLst>
          </p:cNvPr>
          <p:cNvSpPr/>
          <p:nvPr/>
        </p:nvSpPr>
        <p:spPr>
          <a:xfrm>
            <a:off x="6968217" y="2407447"/>
            <a:ext cx="196563" cy="26299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p>
        </p:txBody>
      </p:sp>
      <p:sp>
        <p:nvSpPr>
          <p:cNvPr id="21" name="TextBox 20">
            <a:extLst>
              <a:ext uri="{FF2B5EF4-FFF2-40B4-BE49-F238E27FC236}">
                <a16:creationId xmlns:a16="http://schemas.microsoft.com/office/drawing/2014/main" id="{76A6991C-3973-3279-FF0A-569E9199615A}"/>
              </a:ext>
            </a:extLst>
          </p:cNvPr>
          <p:cNvSpPr txBox="1"/>
          <p:nvPr/>
        </p:nvSpPr>
        <p:spPr>
          <a:xfrm>
            <a:off x="287049" y="4284962"/>
            <a:ext cx="8132756" cy="1569660"/>
          </a:xfrm>
          <a:prstGeom prst="rect">
            <a:avLst/>
          </a:prstGeom>
          <a:noFill/>
        </p:spPr>
        <p:txBody>
          <a:bodyPr wrap="square">
            <a:spAutoFit/>
          </a:bodyPr>
          <a:lstStyle/>
          <a:p>
            <a:pPr marL="457200" indent="-457200">
              <a:buFont typeface="+mj-lt"/>
              <a:buAutoNum type="arabicPeriod"/>
            </a:pPr>
            <a:r>
              <a:rPr lang="en-US" altLang="ja-JP" sz="2400" dirty="0">
                <a:latin typeface="Meiryo" panose="020B0604030504040204" pitchFamily="34" charset="-128"/>
                <a:ea typeface="Meiryo" panose="020B0604030504040204" pitchFamily="34" charset="-128"/>
              </a:rPr>
              <a:t>IoT</a:t>
            </a:r>
            <a:r>
              <a:rPr lang="ja-JP" altLang="en-US" sz="2400">
                <a:latin typeface="Meiryo" panose="020B0604030504040204" pitchFamily="34" charset="-128"/>
                <a:ea typeface="Meiryo" panose="020B0604030504040204" pitchFamily="34" charset="-128"/>
              </a:rPr>
              <a:t>デバイスが</a:t>
            </a:r>
            <a:r>
              <a:rPr lang="en-US" altLang="ja-JP" sz="2400" dirty="0" err="1">
                <a:latin typeface="Meiryo" panose="020B0604030504040204" pitchFamily="34" charset="-128"/>
                <a:ea typeface="Meiryo" panose="020B0604030504040204" pitchFamily="34" charset="-128"/>
              </a:rPr>
              <a:t>CoAP+DTLS</a:t>
            </a:r>
            <a:r>
              <a:rPr lang="ja-JP" altLang="en-US" sz="2400">
                <a:latin typeface="Meiryo" panose="020B0604030504040204" pitchFamily="34" charset="-128"/>
                <a:ea typeface="Meiryo" panose="020B0604030504040204" pitchFamily="34" charset="-128"/>
              </a:rPr>
              <a:t>で暗号化して送信</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ja-JP" altLang="en-US" sz="2400" i="0">
                <a:effectLst/>
                <a:latin typeface="Meiryo" panose="020B0604030504040204" pitchFamily="34" charset="-128"/>
                <a:ea typeface="Meiryo" panose="020B0604030504040204" pitchFamily="34" charset="-128"/>
                <a:cs typeface="Times New Roman" panose="02020603050405020304" pitchFamily="18" charset="0"/>
              </a:rPr>
              <a:t>透過型</a:t>
            </a:r>
            <a:r>
              <a:rPr lang="en-US" sz="2400" i="0" dirty="0">
                <a:effectLst/>
                <a:latin typeface="Meiryo" panose="020B0604030504040204" pitchFamily="34" charset="-128"/>
                <a:ea typeface="Meiryo" panose="020B0604030504040204" pitchFamily="34" charset="-128"/>
                <a:cs typeface="Times New Roman" panose="02020603050405020304" pitchFamily="18" charset="0"/>
              </a:rPr>
              <a:t>IDS</a:t>
            </a:r>
            <a:r>
              <a:rPr lang="ja-JP" altLang="en-US" sz="2400">
                <a:latin typeface="Meiryo" panose="020B0604030504040204" pitchFamily="34" charset="-128"/>
                <a:ea typeface="Meiryo" panose="020B0604030504040204" pitchFamily="34" charset="-128"/>
              </a:rPr>
              <a:t>の</a:t>
            </a:r>
            <a:r>
              <a:rPr lang="en-US" altLang="ja-JP" sz="2400" dirty="0">
                <a:latin typeface="Meiryo" panose="020B0604030504040204" pitchFamily="34" charset="-128"/>
                <a:ea typeface="Meiryo" panose="020B0604030504040204" pitchFamily="34" charset="-128"/>
              </a:rPr>
              <a:t>ML-IDS</a:t>
            </a:r>
            <a:r>
              <a:rPr lang="ja-JP" altLang="en-US" sz="2400">
                <a:latin typeface="Meiryo" panose="020B0604030504040204" pitchFamily="34" charset="-128"/>
                <a:ea typeface="Meiryo" panose="020B0604030504040204" pitchFamily="34" charset="-128"/>
              </a:rPr>
              <a:t>が</a:t>
            </a:r>
            <a:r>
              <a:rPr lang="en-US" altLang="ja-JP"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パケットのみ監視・検知</a:t>
            </a:r>
            <a:endParaRPr lang="mn-MN" altLang="ja-JP" sz="2400" dirty="0">
              <a:latin typeface="Meiryo" panose="020B0604030504040204" pitchFamily="34" charset="-128"/>
              <a:ea typeface="Meiryo" panose="020B0604030504040204" pitchFamily="34" charset="-128"/>
            </a:endParaRPr>
          </a:p>
          <a:p>
            <a:pPr marL="457200" indent="-457200">
              <a:buFont typeface="+mj-lt"/>
              <a:buAutoNum type="arabicPeriod"/>
            </a:pPr>
            <a:r>
              <a:rPr lang="en-US" sz="2400" dirty="0">
                <a:latin typeface="Meiryo" panose="020B0604030504040204" pitchFamily="34" charset="-128"/>
                <a:ea typeface="Meiryo" panose="020B0604030504040204" pitchFamily="34" charset="-128"/>
              </a:rPr>
              <a:t>ML-IDS</a:t>
            </a:r>
            <a:r>
              <a:rPr lang="ja-JP" altLang="en-US" sz="2400">
                <a:latin typeface="Meiryo" panose="020B0604030504040204" pitchFamily="34" charset="-128"/>
                <a:ea typeface="Meiryo" panose="020B0604030504040204" pitchFamily="34" charset="-128"/>
              </a:rPr>
              <a:t>が攻撃 → アラート発報・ログ記録</a:t>
            </a:r>
            <a:br>
              <a:rPr lang="ja-JP" altLang="en-US" sz="2400">
                <a:latin typeface="Meiryo" panose="020B0604030504040204" pitchFamily="34" charset="-128"/>
                <a:ea typeface="Meiryo" panose="020B0604030504040204" pitchFamily="34" charset="-128"/>
              </a:rPr>
            </a:br>
            <a:endParaRPr lang="en-JP" sz="2400" dirty="0">
              <a:latin typeface="Meiryo" panose="020B0604030504040204" pitchFamily="34" charset="-128"/>
              <a:ea typeface="Meiryo" panose="020B0604030504040204" pitchFamily="34" charset="-128"/>
            </a:endParaRPr>
          </a:p>
        </p:txBody>
      </p:sp>
      <p:sp>
        <p:nvSpPr>
          <p:cNvPr id="24" name="Shape 0">
            <a:extLst>
              <a:ext uri="{FF2B5EF4-FFF2-40B4-BE49-F238E27FC236}">
                <a16:creationId xmlns:a16="http://schemas.microsoft.com/office/drawing/2014/main" id="{0AEAE166-0D67-431D-8D86-E7A66DCBEC38}"/>
              </a:ext>
            </a:extLst>
          </p:cNvPr>
          <p:cNvSpPr/>
          <p:nvPr/>
        </p:nvSpPr>
        <p:spPr>
          <a:xfrm>
            <a:off x="0" y="0"/>
            <a:ext cx="9144000" cy="68580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Ø"/>
            </a:pPr>
            <a:r>
              <a:rPr lang="en-US" altLang="ja-JP" sz="3200" b="1" dirty="0">
                <a:latin typeface="Meiryo" panose="020B0604030504040204" pitchFamily="34" charset="-128"/>
                <a:ea typeface="Meiryo" panose="020B0604030504040204" pitchFamily="34" charset="-128"/>
              </a:rPr>
              <a:t>3</a:t>
            </a:r>
            <a:r>
              <a:rPr lang="ja-JP" altLang="en-US" sz="3200" b="1">
                <a:latin typeface="Meiryo" panose="020B0604030504040204" pitchFamily="34" charset="-128"/>
                <a:ea typeface="Meiryo" panose="020B0604030504040204" pitchFamily="34" charset="-128"/>
              </a:rPr>
              <a:t>つの技術の統合</a:t>
            </a:r>
            <a:endParaRPr lang="en-JP" sz="3200" b="1" dirty="0">
              <a:latin typeface="Meiryo" panose="020B0604030504040204" pitchFamily="34" charset="-128"/>
              <a:ea typeface="Meiryo" panose="020B0604030504040204" pitchFamily="34" charset="-128"/>
            </a:endParaRPr>
          </a:p>
        </p:txBody>
      </p:sp>
      <p:sp>
        <p:nvSpPr>
          <p:cNvPr id="3" name="Slide Number Placeholder 2">
            <a:extLst>
              <a:ext uri="{FF2B5EF4-FFF2-40B4-BE49-F238E27FC236}">
                <a16:creationId xmlns:a16="http://schemas.microsoft.com/office/drawing/2014/main" id="{F912D1D2-6AB9-A93E-DB24-A6607362CBB4}"/>
              </a:ext>
            </a:extLst>
          </p:cNvPr>
          <p:cNvSpPr>
            <a:spLocks noGrp="1"/>
          </p:cNvSpPr>
          <p:nvPr>
            <p:ph type="sldNum" sz="quarter" idx="12"/>
          </p:nvPr>
        </p:nvSpPr>
        <p:spPr/>
        <p:txBody>
          <a:bodyPr/>
          <a:lstStyle/>
          <a:p>
            <a:fld id="{828F3BD4-1AF2-D144-8129-4D42AD448F5E}" type="slidenum">
              <a:rPr lang="en-JP" smtClean="0"/>
              <a:t>53</a:t>
            </a:fld>
            <a:endParaRPr lang="en-JP" dirty="0"/>
          </a:p>
        </p:txBody>
      </p:sp>
    </p:spTree>
    <p:extLst>
      <p:ext uri="{BB962C8B-B14F-4D97-AF65-F5344CB8AC3E}">
        <p14:creationId xmlns:p14="http://schemas.microsoft.com/office/powerpoint/2010/main" val="21196016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6">
            <a:extLst>
              <a:ext uri="{FF2B5EF4-FFF2-40B4-BE49-F238E27FC236}">
                <a16:creationId xmlns:a16="http://schemas.microsoft.com/office/drawing/2014/main" id="{7FF5011C-B599-586C-78F9-92DAE119AFB9}"/>
              </a:ext>
            </a:extLst>
          </p:cNvPr>
          <p:cNvSpPr/>
          <p:nvPr/>
        </p:nvSpPr>
        <p:spPr>
          <a:xfrm>
            <a:off x="3529220" y="1695692"/>
            <a:ext cx="2213332" cy="1937147"/>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en-US" sz="2400" b="1" i="0" dirty="0">
                <a:solidFill>
                  <a:srgbClr val="000000"/>
                </a:solidFill>
                <a:effectLst/>
                <a:latin typeface="Meiryo" panose="020B0604030504040204" pitchFamily="34" charset="-128"/>
                <a:ea typeface="Meiryo" panose="020B0604030504040204" pitchFamily="34" charset="-128"/>
              </a:rPr>
              <a:t>Gateway</a:t>
            </a:r>
          </a:p>
          <a:p>
            <a:pPr algn="ctr"/>
            <a:r>
              <a:rPr lang="en-US" sz="2400" b="0" i="0" dirty="0">
                <a:solidFill>
                  <a:srgbClr val="000000"/>
                </a:solidFill>
                <a:effectLst/>
                <a:latin typeface="Meiryo" panose="020B0604030504040204" pitchFamily="34" charset="-128"/>
                <a:ea typeface="Meiryo" panose="020B0604030504040204" pitchFamily="34" charset="-128"/>
              </a:rPr>
              <a:t>+ </a:t>
            </a:r>
            <a:r>
              <a:rPr lang="en-US" sz="2400" b="1" i="0" dirty="0">
                <a:solidFill>
                  <a:srgbClr val="C00000"/>
                </a:solidFill>
                <a:effectLst/>
                <a:latin typeface="Meiryo" panose="020B0604030504040204" pitchFamily="34" charset="-128"/>
                <a:ea typeface="Meiryo" panose="020B0604030504040204" pitchFamily="34" charset="-128"/>
              </a:rPr>
              <a:t>ML-IDS </a:t>
            </a:r>
            <a:r>
              <a:rPr lang="ja-JP" altLang="en-US" sz="2400" b="1" i="0">
                <a:solidFill>
                  <a:srgbClr val="C00000"/>
                </a:solidFill>
                <a:effectLst/>
                <a:latin typeface="Meiryo" panose="020B0604030504040204" pitchFamily="34" charset="-128"/>
                <a:ea typeface="Meiryo" panose="020B0604030504040204" pitchFamily="34" charset="-128"/>
              </a:rPr>
              <a:t>監視中</a:t>
            </a:r>
            <a:endParaRPr lang="en-US" sz="2400" b="1" dirty="0">
              <a:solidFill>
                <a:srgbClr val="C00000"/>
              </a:solidFill>
              <a:latin typeface="Meiryo" panose="020B0604030504040204" pitchFamily="34" charset="-128"/>
              <a:ea typeface="Meiryo" panose="020B0604030504040204" pitchFamily="34" charset="-128"/>
            </a:endParaRPr>
          </a:p>
        </p:txBody>
      </p:sp>
      <p:sp>
        <p:nvSpPr>
          <p:cNvPr id="9" name="Rectangle: Rounded Corners 8">
            <a:extLst>
              <a:ext uri="{FF2B5EF4-FFF2-40B4-BE49-F238E27FC236}">
                <a16:creationId xmlns:a16="http://schemas.microsoft.com/office/drawing/2014/main" id="{D5E7BCE3-9E99-9AA4-52E6-B50466164EB7}"/>
              </a:ext>
            </a:extLst>
          </p:cNvPr>
          <p:cNvSpPr/>
          <p:nvPr/>
        </p:nvSpPr>
        <p:spPr>
          <a:xfrm>
            <a:off x="7173347" y="1801360"/>
            <a:ext cx="1817786" cy="1831479"/>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dirty="0">
              <a:solidFill>
                <a:srgbClr val="000000"/>
              </a:solidFill>
              <a:latin typeface="Meiryo" panose="020B0604030504040204" pitchFamily="34" charset="-128"/>
              <a:ea typeface="Meiryo" panose="020B0604030504040204" pitchFamily="34" charset="-128"/>
            </a:endParaRPr>
          </a:p>
          <a:p>
            <a:pPr algn="ctr"/>
            <a:r>
              <a:rPr lang="en-US" sz="2400" b="1" dirty="0">
                <a:solidFill>
                  <a:srgbClr val="000000"/>
                </a:solidFill>
                <a:latin typeface="Meiryo" panose="020B0604030504040204" pitchFamily="34" charset="-128"/>
                <a:ea typeface="Meiryo" panose="020B0604030504040204" pitchFamily="34" charset="-128"/>
              </a:rPr>
              <a:t>Backend</a:t>
            </a:r>
            <a:endParaRPr lang="en-US" sz="2400" dirty="0">
              <a:solidFill>
                <a:schemeClr val="tx1"/>
              </a:solidFill>
              <a:latin typeface="Meiryo" panose="020B0604030504040204" pitchFamily="34" charset="-128"/>
              <a:ea typeface="Meiryo" panose="020B0604030504040204" pitchFamily="34" charset="-128"/>
            </a:endParaRPr>
          </a:p>
        </p:txBody>
      </p:sp>
      <p:sp>
        <p:nvSpPr>
          <p:cNvPr id="10" name="Rectangle: Rounded Corners 4">
            <a:extLst>
              <a:ext uri="{FF2B5EF4-FFF2-40B4-BE49-F238E27FC236}">
                <a16:creationId xmlns:a16="http://schemas.microsoft.com/office/drawing/2014/main" id="{766501A8-0D68-685D-213F-99DB41CEBAC9}"/>
              </a:ext>
            </a:extLst>
          </p:cNvPr>
          <p:cNvSpPr/>
          <p:nvPr/>
        </p:nvSpPr>
        <p:spPr>
          <a:xfrm>
            <a:off x="152867" y="1963115"/>
            <a:ext cx="1576090" cy="1669724"/>
          </a:xfrm>
          <a:prstGeom prst="roundRect">
            <a:avLst/>
          </a:prstGeom>
          <a:solidFill>
            <a:schemeClr val="accent3">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altLang="ja-JP" sz="2400" b="1" dirty="0">
              <a:solidFill>
                <a:srgbClr val="000000"/>
              </a:solidFill>
              <a:latin typeface="Meiryo" panose="020B0604030504040204" pitchFamily="34" charset="-128"/>
              <a:ea typeface="Meiryo" panose="020B0604030504040204" pitchFamily="34" charset="-128"/>
            </a:endParaRPr>
          </a:p>
          <a:p>
            <a:pPr algn="ctr"/>
            <a:r>
              <a:rPr lang="en-US" altLang="ja-JP" sz="2400" b="1" i="0" dirty="0">
                <a:solidFill>
                  <a:srgbClr val="000000"/>
                </a:solidFill>
                <a:effectLst/>
                <a:latin typeface="Meiryo" panose="020B0604030504040204" pitchFamily="34" charset="-128"/>
                <a:ea typeface="Meiryo" panose="020B0604030504040204" pitchFamily="34" charset="-128"/>
              </a:rPr>
              <a:t>IoT devices</a:t>
            </a:r>
            <a:endParaRPr lang="en-JP" sz="2400" dirty="0">
              <a:solidFill>
                <a:schemeClr val="tx1"/>
              </a:solidFill>
              <a:latin typeface="Meiryo" panose="020B0604030504040204" pitchFamily="34" charset="-128"/>
              <a:ea typeface="Meiryo" panose="020B0604030504040204" pitchFamily="34" charset="-128"/>
            </a:endParaRPr>
          </a:p>
        </p:txBody>
      </p:sp>
      <p:sp>
        <p:nvSpPr>
          <p:cNvPr id="36" name="Shape 0">
            <a:extLst>
              <a:ext uri="{FF2B5EF4-FFF2-40B4-BE49-F238E27FC236}">
                <a16:creationId xmlns:a16="http://schemas.microsoft.com/office/drawing/2014/main" id="{2E2CE1B2-4B9B-2CED-D943-2A870364AEB4}"/>
              </a:ext>
            </a:extLst>
          </p:cNvPr>
          <p:cNvSpPr/>
          <p:nvPr/>
        </p:nvSpPr>
        <p:spPr>
          <a:xfrm>
            <a:off x="0" y="0"/>
            <a:ext cx="9144000" cy="844218"/>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endParaRPr lang="mn-MN" altLang="ja-JP" sz="2800" b="1" dirty="0">
              <a:latin typeface="Meiryo" panose="020B0604030504040204" pitchFamily="34" charset="-128"/>
              <a:ea typeface="Meiryo" panose="020B0604030504040204" pitchFamily="34" charset="-128"/>
            </a:endParaRPr>
          </a:p>
          <a:p>
            <a:pPr marL="342900" indent="-342900">
              <a:buFont typeface="Wingdings" pitchFamily="2" charset="2"/>
              <a:buChar char="Ø"/>
            </a:pPr>
            <a:r>
              <a:rPr lang="en-US" altLang="ja-JP" sz="2800" b="1" i="0" dirty="0">
                <a:solidFill>
                  <a:srgbClr val="000000"/>
                </a:solidFill>
                <a:effectLst/>
                <a:latin typeface="Meiryo" panose="020B0604030504040204" pitchFamily="34" charset="-128"/>
                <a:ea typeface="Meiryo" panose="020B0604030504040204" pitchFamily="34" charset="-128"/>
              </a:rPr>
              <a:t>Step</a:t>
            </a:r>
            <a:r>
              <a:rPr lang="ja-JP" altLang="en-US" sz="2800" b="1" i="0">
                <a:solidFill>
                  <a:srgbClr val="000000"/>
                </a:solidFill>
                <a:effectLst/>
                <a:latin typeface="Meiryo" panose="020B0604030504040204" pitchFamily="34" charset="-128"/>
                <a:ea typeface="Meiryo" panose="020B0604030504040204" pitchFamily="34" charset="-128"/>
              </a:rPr>
              <a:t>② 通常の</a:t>
            </a:r>
            <a:r>
              <a:rPr lang="en-US" altLang="ja-JP" sz="2800" b="1" i="0" dirty="0">
                <a:solidFill>
                  <a:srgbClr val="000000"/>
                </a:solidFill>
                <a:effectLst/>
                <a:latin typeface="Meiryo" panose="020B0604030504040204" pitchFamily="34" charset="-128"/>
                <a:ea typeface="Meiryo" panose="020B0604030504040204" pitchFamily="34" charset="-128"/>
              </a:rPr>
              <a:t>CoAP/DTLS</a:t>
            </a:r>
            <a:r>
              <a:rPr lang="ja-JP" altLang="en-US" sz="2800" b="1" i="0">
                <a:solidFill>
                  <a:srgbClr val="000000"/>
                </a:solidFill>
                <a:effectLst/>
                <a:latin typeface="Meiryo" panose="020B0604030504040204" pitchFamily="34" charset="-128"/>
                <a:ea typeface="Meiryo" panose="020B0604030504040204" pitchFamily="34" charset="-128"/>
              </a:rPr>
              <a:t>通信 </a:t>
            </a:r>
            <a:r>
              <a:rPr lang="en-US" altLang="ja-JP" sz="2800" b="1" i="0" dirty="0">
                <a:solidFill>
                  <a:srgbClr val="000000"/>
                </a:solidFill>
                <a:effectLst/>
                <a:latin typeface="Meiryo" panose="020B0604030504040204" pitchFamily="34" charset="-128"/>
                <a:ea typeface="Meiryo" panose="020B0604030504040204" pitchFamily="34" charset="-128"/>
              </a:rPr>
              <a:t>— </a:t>
            </a:r>
            <a:r>
              <a:rPr lang="ja-JP" altLang="en-US" sz="2800" b="1" i="0">
                <a:solidFill>
                  <a:srgbClr val="000000"/>
                </a:solidFill>
                <a:effectLst/>
                <a:latin typeface="Meiryo" panose="020B0604030504040204" pitchFamily="34" charset="-128"/>
                <a:ea typeface="Meiryo" panose="020B0604030504040204" pitchFamily="34" charset="-128"/>
              </a:rPr>
              <a:t>正常に動作</a:t>
            </a:r>
            <a:endParaRPr lang="en-JP" sz="2800" b="1" dirty="0">
              <a:latin typeface="Meiryo" panose="020B0604030504040204" pitchFamily="34" charset="-128"/>
              <a:ea typeface="Meiryo" panose="020B0604030504040204" pitchFamily="34" charset="-128"/>
            </a:endParaRPr>
          </a:p>
        </p:txBody>
      </p:sp>
      <p:sp>
        <p:nvSpPr>
          <p:cNvPr id="63" name="Slide Number Placeholder 62">
            <a:extLst>
              <a:ext uri="{FF2B5EF4-FFF2-40B4-BE49-F238E27FC236}">
                <a16:creationId xmlns:a16="http://schemas.microsoft.com/office/drawing/2014/main" id="{7997AEC5-C830-216D-A285-C2D5C6551311}"/>
              </a:ext>
            </a:extLst>
          </p:cNvPr>
          <p:cNvSpPr>
            <a:spLocks noGrp="1"/>
          </p:cNvSpPr>
          <p:nvPr>
            <p:ph type="sldNum" sz="quarter" idx="12"/>
          </p:nvPr>
        </p:nvSpPr>
        <p:spPr/>
        <p:txBody>
          <a:bodyPr/>
          <a:lstStyle/>
          <a:p>
            <a:fld id="{828F3BD4-1AF2-D144-8129-4D42AD448F5E}" type="slidenum">
              <a:rPr lang="en-JP" smtClean="0"/>
              <a:t>54</a:t>
            </a:fld>
            <a:endParaRPr lang="en-JP"/>
          </a:p>
        </p:txBody>
      </p:sp>
      <p:cxnSp>
        <p:nvCxnSpPr>
          <p:cNvPr id="39" name="Straight Arrow Connector 38">
            <a:extLst>
              <a:ext uri="{FF2B5EF4-FFF2-40B4-BE49-F238E27FC236}">
                <a16:creationId xmlns:a16="http://schemas.microsoft.com/office/drawing/2014/main" id="{A9385096-C957-3D0C-CC92-C7618F5846A2}"/>
              </a:ext>
            </a:extLst>
          </p:cNvPr>
          <p:cNvCxnSpPr>
            <a:cxnSpLocks/>
          </p:cNvCxnSpPr>
          <p:nvPr/>
        </p:nvCxnSpPr>
        <p:spPr>
          <a:xfrm>
            <a:off x="1822293" y="2786656"/>
            <a:ext cx="1579157"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ABBB60B-6276-8BFF-2014-1B7023C6DBF8}"/>
              </a:ext>
            </a:extLst>
          </p:cNvPr>
          <p:cNvCxnSpPr>
            <a:cxnSpLocks/>
          </p:cNvCxnSpPr>
          <p:nvPr/>
        </p:nvCxnSpPr>
        <p:spPr>
          <a:xfrm>
            <a:off x="5895544" y="2786656"/>
            <a:ext cx="1124811"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Rounded Rectangle 47">
            <a:extLst>
              <a:ext uri="{FF2B5EF4-FFF2-40B4-BE49-F238E27FC236}">
                <a16:creationId xmlns:a16="http://schemas.microsoft.com/office/drawing/2014/main" id="{D7AE3924-5C1B-64C3-2B11-B66975D14129}"/>
              </a:ext>
            </a:extLst>
          </p:cNvPr>
          <p:cNvSpPr/>
          <p:nvPr/>
        </p:nvSpPr>
        <p:spPr>
          <a:xfrm>
            <a:off x="315686" y="4197794"/>
            <a:ext cx="8677495" cy="1412472"/>
          </a:xfrm>
          <a:prstGeom prst="roundRect">
            <a:avLst/>
          </a:prstGeom>
          <a:solidFill>
            <a:schemeClr val="accent5">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ü"/>
            </a:pPr>
            <a:r>
              <a:rPr lang="en-US" sz="2400" dirty="0">
                <a:solidFill>
                  <a:schemeClr val="tx1"/>
                </a:solidFill>
                <a:effectLst/>
                <a:latin typeface="Meiryo" panose="020B0604030504040204" pitchFamily="34" charset="-128"/>
                <a:ea typeface="Meiryo" panose="020B0604030504040204" pitchFamily="34" charset="-128"/>
              </a:rPr>
              <a:t>DTLS</a:t>
            </a:r>
            <a:r>
              <a:rPr lang="ja-JP" altLang="en-US" sz="2400">
                <a:solidFill>
                  <a:schemeClr val="tx1"/>
                </a:solidFill>
                <a:effectLst/>
                <a:latin typeface="Meiryo" panose="020B0604030504040204" pitchFamily="34" charset="-128"/>
                <a:ea typeface="Meiryo" panose="020B0604030504040204" pitchFamily="34" charset="-128"/>
              </a:rPr>
              <a:t>で暗号化された</a:t>
            </a:r>
            <a:r>
              <a:rPr lang="en-US" sz="2400" dirty="0">
                <a:solidFill>
                  <a:schemeClr val="tx1"/>
                </a:solidFill>
                <a:effectLst/>
                <a:latin typeface="Meiryo" panose="020B0604030504040204" pitchFamily="34" charset="-128"/>
                <a:ea typeface="Meiryo" panose="020B0604030504040204" pitchFamily="34" charset="-128"/>
              </a:rPr>
              <a:t>CoAP</a:t>
            </a:r>
            <a:r>
              <a:rPr lang="ja-JP" altLang="en-US" sz="2400">
                <a:solidFill>
                  <a:schemeClr val="tx1"/>
                </a:solidFill>
                <a:effectLst/>
                <a:latin typeface="Meiryo" panose="020B0604030504040204" pitchFamily="34" charset="-128"/>
                <a:ea typeface="Meiryo" panose="020B0604030504040204" pitchFamily="34" charset="-128"/>
              </a:rPr>
              <a:t>が正常に</a:t>
            </a:r>
            <a:r>
              <a:rPr lang="en-US" sz="2400" dirty="0">
                <a:solidFill>
                  <a:schemeClr val="tx1"/>
                </a:solidFill>
                <a:effectLst/>
                <a:latin typeface="Meiryo" panose="020B0604030504040204" pitchFamily="34" charset="-128"/>
                <a:ea typeface="Meiryo" panose="020B0604030504040204" pitchFamily="34" charset="-128"/>
              </a:rPr>
              <a:t>Backend</a:t>
            </a:r>
            <a:r>
              <a:rPr lang="ja-JP" altLang="en-US" sz="2400">
                <a:solidFill>
                  <a:schemeClr val="tx1"/>
                </a:solidFill>
                <a:effectLst/>
                <a:latin typeface="Meiryo" panose="020B0604030504040204" pitchFamily="34" charset="-128"/>
                <a:ea typeface="Meiryo" panose="020B0604030504040204" pitchFamily="34" charset="-128"/>
              </a:rPr>
              <a:t>へ届く</a:t>
            </a:r>
          </a:p>
          <a:p>
            <a:pPr marL="285750" indent="-285750" algn="ctr">
              <a:buFont typeface="Wingdings" pitchFamily="2" charset="2"/>
              <a:buChar char="ü"/>
            </a:pPr>
            <a:r>
              <a:rPr lang="en-US" sz="2400" dirty="0">
                <a:solidFill>
                  <a:schemeClr val="tx1"/>
                </a:solidFill>
                <a:effectLst/>
                <a:latin typeface="Meiryo" panose="020B0604030504040204" pitchFamily="34" charset="-128"/>
                <a:ea typeface="Meiryo" panose="020B0604030504040204" pitchFamily="34" charset="-128"/>
              </a:rPr>
              <a:t>Gateway</a:t>
            </a:r>
            <a:r>
              <a:rPr lang="ja-JP" altLang="en-US" sz="2400">
                <a:solidFill>
                  <a:schemeClr val="tx1"/>
                </a:solidFill>
                <a:effectLst/>
                <a:latin typeface="Meiryo" panose="020B0604030504040204" pitchFamily="34" charset="-128"/>
                <a:ea typeface="Meiryo" panose="020B0604030504040204" pitchFamily="34" charset="-128"/>
              </a:rPr>
              <a:t>は</a:t>
            </a:r>
            <a:r>
              <a:rPr lang="en-US" sz="2400" dirty="0">
                <a:solidFill>
                  <a:schemeClr val="tx1"/>
                </a:solidFill>
                <a:effectLst/>
                <a:latin typeface="Meiryo" panose="020B0604030504040204" pitchFamily="34" charset="-128"/>
                <a:ea typeface="Meiryo" panose="020B0604030504040204" pitchFamily="34" charset="-128"/>
              </a:rPr>
              <a:t>DTLS</a:t>
            </a:r>
            <a:r>
              <a:rPr lang="ja-JP" altLang="en-US" sz="2400">
                <a:solidFill>
                  <a:schemeClr val="tx1"/>
                </a:solidFill>
                <a:effectLst/>
                <a:latin typeface="Meiryo" panose="020B0604030504040204" pitchFamily="34" charset="-128"/>
                <a:ea typeface="Meiryo" panose="020B0604030504040204" pitchFamily="34" charset="-128"/>
              </a:rPr>
              <a:t>ペイロードに触れず、</a:t>
            </a:r>
            <a:r>
              <a:rPr lang="en-US" sz="2400" dirty="0">
                <a:solidFill>
                  <a:schemeClr val="tx1"/>
                </a:solidFill>
                <a:effectLst/>
                <a:latin typeface="Meiryo" panose="020B0604030504040204" pitchFamily="34" charset="-128"/>
                <a:ea typeface="Meiryo" panose="020B0604030504040204" pitchFamily="34" charset="-128"/>
              </a:rPr>
              <a:t>ARP</a:t>
            </a:r>
            <a:r>
              <a:rPr lang="ja-JP" altLang="en-US" sz="2400">
                <a:solidFill>
                  <a:schemeClr val="tx1"/>
                </a:solidFill>
                <a:effectLst/>
                <a:latin typeface="Meiryo" panose="020B0604030504040204" pitchFamily="34" charset="-128"/>
                <a:ea typeface="Meiryo" panose="020B0604030504040204" pitchFamily="34" charset="-128"/>
              </a:rPr>
              <a:t>のみ監視</a:t>
            </a:r>
            <a:endParaRPr lang="en-JP" sz="2400" dirty="0">
              <a:solidFill>
                <a:schemeClr val="tx1"/>
              </a:solidFill>
              <a:effectLst/>
              <a:latin typeface="Meiryo" panose="020B0604030504040204" pitchFamily="34" charset="-128"/>
              <a:ea typeface="Meiryo" panose="020B0604030504040204" pitchFamily="34" charset="-128"/>
            </a:endParaRPr>
          </a:p>
        </p:txBody>
      </p:sp>
      <p:sp>
        <p:nvSpPr>
          <p:cNvPr id="4" name="TextBox 3">
            <a:extLst>
              <a:ext uri="{FF2B5EF4-FFF2-40B4-BE49-F238E27FC236}">
                <a16:creationId xmlns:a16="http://schemas.microsoft.com/office/drawing/2014/main" id="{D648F1EB-D812-8F23-DFB5-5C7927BBE2DC}"/>
              </a:ext>
            </a:extLst>
          </p:cNvPr>
          <p:cNvSpPr txBox="1"/>
          <p:nvPr/>
        </p:nvSpPr>
        <p:spPr>
          <a:xfrm>
            <a:off x="2011135" y="2392384"/>
            <a:ext cx="2213332" cy="369332"/>
          </a:xfrm>
          <a:prstGeom prst="rect">
            <a:avLst/>
          </a:prstGeom>
          <a:noFill/>
        </p:spPr>
        <p:txBody>
          <a:bodyPr wrap="square">
            <a:spAutoFit/>
          </a:bodyPr>
          <a:lstStyle/>
          <a:p>
            <a:r>
              <a:rPr lang="en-US" dirty="0"/>
              <a:t>CoAP </a:t>
            </a:r>
            <a:r>
              <a:rPr lang="en-JP" dirty="0"/>
              <a:t>🔒</a:t>
            </a:r>
          </a:p>
        </p:txBody>
      </p:sp>
      <p:sp>
        <p:nvSpPr>
          <p:cNvPr id="6" name="TextBox 5">
            <a:extLst>
              <a:ext uri="{FF2B5EF4-FFF2-40B4-BE49-F238E27FC236}">
                <a16:creationId xmlns:a16="http://schemas.microsoft.com/office/drawing/2014/main" id="{8A43943D-A6AB-D3DB-FB8A-C8BF5B5F532F}"/>
              </a:ext>
            </a:extLst>
          </p:cNvPr>
          <p:cNvSpPr txBox="1"/>
          <p:nvPr/>
        </p:nvSpPr>
        <p:spPr>
          <a:xfrm>
            <a:off x="1836964" y="2848705"/>
            <a:ext cx="4620986" cy="369332"/>
          </a:xfrm>
          <a:prstGeom prst="rect">
            <a:avLst/>
          </a:prstGeom>
          <a:noFill/>
        </p:spPr>
        <p:txBody>
          <a:bodyPr wrap="square">
            <a:spAutoFit/>
          </a:bodyPr>
          <a:lstStyle/>
          <a:p>
            <a:r>
              <a:rPr lang="en-US" dirty="0"/>
              <a:t>POST /unlock</a:t>
            </a:r>
            <a:endParaRPr lang="en-JP" dirty="0"/>
          </a:p>
        </p:txBody>
      </p:sp>
      <p:sp>
        <p:nvSpPr>
          <p:cNvPr id="7" name="TextBox 6">
            <a:extLst>
              <a:ext uri="{FF2B5EF4-FFF2-40B4-BE49-F238E27FC236}">
                <a16:creationId xmlns:a16="http://schemas.microsoft.com/office/drawing/2014/main" id="{3CE1E351-9CF6-B69A-9242-9CB7E14C1F33}"/>
              </a:ext>
            </a:extLst>
          </p:cNvPr>
          <p:cNvSpPr txBox="1"/>
          <p:nvPr/>
        </p:nvSpPr>
        <p:spPr>
          <a:xfrm>
            <a:off x="5719646" y="2387040"/>
            <a:ext cx="1569660" cy="923330"/>
          </a:xfrm>
          <a:prstGeom prst="rect">
            <a:avLst/>
          </a:prstGeom>
          <a:noFill/>
        </p:spPr>
        <p:txBody>
          <a:bodyPr wrap="none" rtlCol="0">
            <a:spAutoFit/>
          </a:bodyPr>
          <a:lstStyle/>
          <a:p>
            <a:r>
              <a:rPr lang="en-US" dirty="0">
                <a:latin typeface="Meiryo" panose="020B0604030504040204" pitchFamily="34" charset="-128"/>
                <a:ea typeface="Meiryo" panose="020B0604030504040204" pitchFamily="34" charset="-128"/>
              </a:rPr>
              <a:t>CoAP </a:t>
            </a:r>
            <a:r>
              <a:rPr lang="en-JP" dirty="0">
                <a:latin typeface="Meiryo" panose="020B0604030504040204" pitchFamily="34" charset="-128"/>
                <a:ea typeface="Meiryo" panose="020B0604030504040204" pitchFamily="34" charset="-128"/>
              </a:rPr>
              <a:t>🔒</a:t>
            </a:r>
          </a:p>
          <a:p>
            <a:endParaRPr lang="en-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そのまま転送</a:t>
            </a:r>
            <a:endParaRPr lang="en-JP" dirty="0">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329801878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1EE4557-2136-3F27-5ED6-6FA79ADB1E9A}"/>
              </a:ext>
            </a:extLst>
          </p:cNvPr>
          <p:cNvSpPr>
            <a:spLocks noGrp="1"/>
          </p:cNvSpPr>
          <p:nvPr>
            <p:ph type="sldNum" sz="quarter" idx="12"/>
          </p:nvPr>
        </p:nvSpPr>
        <p:spPr/>
        <p:txBody>
          <a:bodyPr/>
          <a:lstStyle/>
          <a:p>
            <a:fld id="{828F3BD4-1AF2-D144-8129-4D42AD448F5E}" type="slidenum">
              <a:rPr lang="en-JP" smtClean="0"/>
              <a:pPr/>
              <a:t>55</a:t>
            </a:fld>
            <a:endParaRPr lang="en-JP" dirty="0"/>
          </a:p>
        </p:txBody>
      </p:sp>
      <p:sp>
        <p:nvSpPr>
          <p:cNvPr id="5" name="Shape 0">
            <a:extLst>
              <a:ext uri="{FF2B5EF4-FFF2-40B4-BE49-F238E27FC236}">
                <a16:creationId xmlns:a16="http://schemas.microsoft.com/office/drawing/2014/main" id="{F825AC47-1E5D-A864-01B2-A86C87C6EB6E}"/>
              </a:ext>
            </a:extLst>
          </p:cNvPr>
          <p:cNvSpPr/>
          <p:nvPr/>
        </p:nvSpPr>
        <p:spPr>
          <a:xfrm>
            <a:off x="0" y="243654"/>
            <a:ext cx="9144000" cy="48635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l" fontAlgn="base"/>
            <a:r>
              <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rPr>
              <a:t>ARP</a:t>
            </a:r>
            <a:r>
              <a:rPr lang="ja-JP" altLang="en-US" sz="3200" b="1">
                <a:solidFill>
                  <a:srgbClr val="273239"/>
                </a:solidFill>
                <a:latin typeface="Meiryo" panose="020B0604030504040204" pitchFamily="34" charset="-128"/>
                <a:ea typeface="Meiryo" panose="020B0604030504040204" pitchFamily="34" charset="-128"/>
                <a:cs typeface="Times New Roman" panose="02020603050405020304" pitchFamily="18" charset="0"/>
              </a:rPr>
              <a:t>とは何か </a:t>
            </a:r>
            <a:r>
              <a:rPr lang="en-US" altLang="ja-JP"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rPr>
              <a:t>— </a:t>
            </a:r>
            <a:r>
              <a:rPr lang="ja-JP" altLang="en-US" sz="3200" b="1">
                <a:solidFill>
                  <a:srgbClr val="273239"/>
                </a:solidFill>
                <a:latin typeface="Meiryo" panose="020B0604030504040204" pitchFamily="34" charset="-128"/>
                <a:ea typeface="Meiryo" panose="020B0604030504040204" pitchFamily="34" charset="-128"/>
                <a:cs typeface="Times New Roman" panose="02020603050405020304" pitchFamily="18" charset="0"/>
              </a:rPr>
              <a:t>アドレス解決プロトコル</a:t>
            </a:r>
            <a:endParaRPr lang="en-US" sz="3200" b="1" dirty="0">
              <a:solidFill>
                <a:srgbClr val="273239"/>
              </a:solidFill>
              <a:latin typeface="Meiryo" panose="020B0604030504040204" pitchFamily="34" charset="-128"/>
              <a:ea typeface="Meiryo" panose="020B0604030504040204" pitchFamily="34" charset="-128"/>
              <a:cs typeface="Times New Roman" panose="02020603050405020304" pitchFamily="18" charset="0"/>
            </a:endParaRPr>
          </a:p>
        </p:txBody>
      </p:sp>
      <p:sp>
        <p:nvSpPr>
          <p:cNvPr id="6" name="Shape 3">
            <a:extLst>
              <a:ext uri="{FF2B5EF4-FFF2-40B4-BE49-F238E27FC236}">
                <a16:creationId xmlns:a16="http://schemas.microsoft.com/office/drawing/2014/main" id="{5569C82E-9141-5234-B6E4-EE7D0182D7D7}"/>
              </a:ext>
            </a:extLst>
          </p:cNvPr>
          <p:cNvSpPr/>
          <p:nvPr/>
        </p:nvSpPr>
        <p:spPr>
          <a:xfrm>
            <a:off x="196806" y="730004"/>
            <a:ext cx="8750388" cy="2014608"/>
          </a:xfrm>
          <a:prstGeom prst="rect">
            <a:avLst/>
          </a:prstGeom>
          <a:solidFill>
            <a:srgbClr val="E0F2F1"/>
          </a:solidFill>
          <a:ln w="12700">
            <a:solidFill>
              <a:srgbClr val="0D9488"/>
            </a:solidFill>
            <a:prstDash val="solid"/>
          </a:ln>
          <a:effectLst>
            <a:outerShdw blurRad="101600" dist="38100" dir="8100000" algn="bl" rotWithShape="0">
              <a:srgbClr val="000000">
                <a:alpha val="12000"/>
              </a:srgbClr>
            </a:outerShdw>
          </a:effectLst>
        </p:spPr>
        <p:txBody>
          <a:bodyPr/>
          <a:lstStyle/>
          <a:p>
            <a:pPr marL="0" indent="0">
              <a:buNone/>
            </a:pPr>
            <a:r>
              <a:rPr lang="en-US" sz="2400" dirty="0" err="1">
                <a:latin typeface="Meiryo" panose="020B0604030504040204" pitchFamily="34" charset="-128"/>
                <a:ea typeface="Meiryo" panose="020B0604030504040204" pitchFamily="34" charset="-128"/>
              </a:rPr>
              <a:t>ARP（Address</a:t>
            </a:r>
            <a:r>
              <a:rPr lang="en-US" sz="2400" dirty="0">
                <a:latin typeface="Meiryo" panose="020B0604030504040204" pitchFamily="34" charset="-128"/>
                <a:ea typeface="Meiryo" panose="020B0604030504040204" pitchFamily="34" charset="-128"/>
              </a:rPr>
              <a:t> Resolution </a:t>
            </a:r>
            <a:r>
              <a:rPr lang="en-US" sz="2400" dirty="0" err="1">
                <a:latin typeface="Meiryo" panose="020B0604030504040204" pitchFamily="34" charset="-128"/>
                <a:ea typeface="Meiryo" panose="020B0604030504040204" pitchFamily="34" charset="-128"/>
              </a:rPr>
              <a:t>Protocol）RFC</a:t>
            </a:r>
            <a:r>
              <a:rPr lang="en-US" sz="2400" dirty="0">
                <a:latin typeface="Meiryo" panose="020B0604030504040204" pitchFamily="34" charset="-128"/>
                <a:ea typeface="Meiryo" panose="020B0604030504040204" pitchFamily="34" charset="-128"/>
              </a:rPr>
              <a:t> 826, 1982</a:t>
            </a:r>
            <a:r>
              <a:rPr lang="ja-JP" altLang="en-US" sz="2400">
                <a:latin typeface="Meiryo" panose="020B0604030504040204" pitchFamily="34" charset="-128"/>
                <a:ea typeface="Meiryo" panose="020B0604030504040204" pitchFamily="34" charset="-128"/>
              </a:rPr>
              <a:t>年</a:t>
            </a:r>
          </a:p>
          <a:p>
            <a:pPr marL="0" indent="0">
              <a:buNone/>
            </a:pPr>
            <a:r>
              <a:rPr lang="ja-JP" altLang="en-US" sz="2400">
                <a:latin typeface="Meiryo" panose="020B0604030504040204" pitchFamily="34" charset="-128"/>
                <a:ea typeface="Meiryo" panose="020B0604030504040204" pitchFamily="34" charset="-128"/>
              </a:rPr>
              <a:t>ネットワーク上で </a:t>
            </a:r>
            <a:r>
              <a:rPr lang="en-US" sz="2400" dirty="0">
                <a:latin typeface="Meiryo" panose="020B0604030504040204" pitchFamily="34" charset="-128"/>
                <a:ea typeface="Meiryo" panose="020B0604030504040204" pitchFamily="34" charset="-128"/>
              </a:rPr>
              <a:t>IP</a:t>
            </a:r>
            <a:r>
              <a:rPr lang="ja-JP" altLang="en-US" sz="2400">
                <a:latin typeface="Meiryo" panose="020B0604030504040204" pitchFamily="34" charset="-128"/>
                <a:ea typeface="Meiryo" panose="020B0604030504040204" pitchFamily="34" charset="-128"/>
              </a:rPr>
              <a:t>アドレス（論理アドレス） を </a:t>
            </a:r>
            <a:r>
              <a:rPr lang="en-US" sz="2400" dirty="0">
                <a:latin typeface="Meiryo" panose="020B0604030504040204" pitchFamily="34" charset="-128"/>
                <a:ea typeface="Meiryo" panose="020B0604030504040204" pitchFamily="34" charset="-128"/>
              </a:rPr>
              <a:t>MAC</a:t>
            </a:r>
            <a:r>
              <a:rPr lang="ja-JP" altLang="en-US" sz="2400">
                <a:latin typeface="Meiryo" panose="020B0604030504040204" pitchFamily="34" charset="-128"/>
                <a:ea typeface="Meiryo" panose="020B0604030504040204" pitchFamily="34" charset="-128"/>
              </a:rPr>
              <a:t>アドレス（物理アドレス） に変換するプロトコル</a:t>
            </a:r>
            <a:r>
              <a:rPr lang="en-US" altLang="ja-JP" sz="2400" dirty="0">
                <a:latin typeface="Meiryo" panose="020B0604030504040204" pitchFamily="34" charset="-128"/>
                <a:ea typeface="Meiryo" panose="020B0604030504040204" pitchFamily="34" charset="-128"/>
              </a:rPr>
              <a:t>.</a:t>
            </a:r>
            <a:endParaRPr lang="ja-JP" altLang="en-US" sz="2400">
              <a:latin typeface="Meiryo" panose="020B0604030504040204" pitchFamily="34" charset="-128"/>
              <a:ea typeface="Meiryo" panose="020B0604030504040204" pitchFamily="34" charset="-128"/>
            </a:endParaRPr>
          </a:p>
          <a:p>
            <a:pPr marL="0" indent="0">
              <a:buNone/>
            </a:pPr>
            <a:r>
              <a:rPr lang="ja-JP" altLang="en-US" sz="2400">
                <a:latin typeface="Meiryo" panose="020B0604030504040204" pitchFamily="34" charset="-128"/>
                <a:ea typeface="Meiryo" panose="020B0604030504040204" pitchFamily="34" charset="-128"/>
              </a:rPr>
              <a:t>データを送るには「どの物理機器か」を特定する必要があり、</a:t>
            </a:r>
            <a:r>
              <a:rPr lang="en-US" sz="2400" dirty="0">
                <a:latin typeface="Meiryo" panose="020B0604030504040204" pitchFamily="34" charset="-128"/>
                <a:ea typeface="Meiryo" panose="020B0604030504040204" pitchFamily="34" charset="-128"/>
              </a:rPr>
              <a:t>ARP</a:t>
            </a:r>
            <a:r>
              <a:rPr lang="ja-JP" altLang="en-US" sz="2400">
                <a:latin typeface="Meiryo" panose="020B0604030504040204" pitchFamily="34" charset="-128"/>
                <a:ea typeface="Meiryo" panose="020B0604030504040204" pitchFamily="34" charset="-128"/>
              </a:rPr>
              <a:t>がその橋渡しをする</a:t>
            </a:r>
            <a:r>
              <a:rPr lang="mn-MN" altLang="ja-JP" sz="2400" dirty="0">
                <a:latin typeface="Meiryo" panose="020B0604030504040204" pitchFamily="34" charset="-128"/>
                <a:ea typeface="Meiryo" panose="020B0604030504040204" pitchFamily="34" charset="-128"/>
              </a:rPr>
              <a:t>.</a:t>
            </a:r>
            <a:endParaRPr lang="en-JP" sz="2400" dirty="0">
              <a:latin typeface="Meiryo" panose="020B0604030504040204" pitchFamily="34" charset="-128"/>
              <a:ea typeface="Meiryo" panose="020B0604030504040204" pitchFamily="34" charset="-128"/>
            </a:endParaRPr>
          </a:p>
        </p:txBody>
      </p:sp>
      <p:sp>
        <p:nvSpPr>
          <p:cNvPr id="8" name="TextBox 7">
            <a:extLst>
              <a:ext uri="{FF2B5EF4-FFF2-40B4-BE49-F238E27FC236}">
                <a16:creationId xmlns:a16="http://schemas.microsoft.com/office/drawing/2014/main" id="{1A70F1B6-2050-AF26-8FDA-B842C445B6FC}"/>
              </a:ext>
            </a:extLst>
          </p:cNvPr>
          <p:cNvSpPr txBox="1"/>
          <p:nvPr/>
        </p:nvSpPr>
        <p:spPr>
          <a:xfrm>
            <a:off x="210297" y="3024884"/>
            <a:ext cx="8750388" cy="3416320"/>
          </a:xfrm>
          <a:prstGeom prst="rect">
            <a:avLst/>
          </a:prstGeom>
          <a:noFill/>
        </p:spPr>
        <p:txBody>
          <a:bodyPr wrap="square">
            <a:spAutoFit/>
          </a:bodyPr>
          <a:lstStyle/>
          <a:p>
            <a:r>
              <a:rPr lang="en-JP" sz="2400" b="1" dirty="0">
                <a:solidFill>
                  <a:srgbClr val="C00000"/>
                </a:solidFill>
                <a:latin typeface="Meiryo" panose="020B0604030504040204" pitchFamily="34" charset="-128"/>
                <a:ea typeface="Meiryo" panose="020B0604030504040204" pitchFamily="34" charset="-128"/>
              </a:rPr>
              <a:t>1.がゲートウェイへ送信したい </a:t>
            </a:r>
            <a:r>
              <a:rPr lang="en-JP" sz="1200" b="1" dirty="0">
                <a:solidFill>
                  <a:srgbClr val="C00000"/>
                </a:solidFill>
                <a:latin typeface="Meiryo" panose="020B0604030504040204" pitchFamily="34" charset="-128"/>
                <a:ea typeface="Meiryo" panose="020B0604030504040204" pitchFamily="34" charset="-128"/>
              </a:rPr>
              <a:t>[]</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「192.168.1.1 のMACは？」</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 </a:t>
            </a:r>
            <a:r>
              <a:rPr lang="en-US" sz="2400" dirty="0">
                <a:latin typeface="Meiryo" panose="020B0604030504040204" pitchFamily="34" charset="-128"/>
                <a:ea typeface="Meiryo" panose="020B0604030504040204" pitchFamily="34" charset="-128"/>
              </a:rPr>
              <a:t>Broadcast (ask everyone) </a:t>
            </a:r>
            <a:endParaRPr lang="mn-MN" sz="2400" dirty="0">
              <a:latin typeface="Meiryo" panose="020B0604030504040204" pitchFamily="34" charset="-128"/>
              <a:ea typeface="Meiryo" panose="020B0604030504040204" pitchFamily="34" charset="-128"/>
            </a:endParaRPr>
          </a:p>
          <a:p>
            <a:r>
              <a:rPr lang="en-JP" sz="2400" b="1" dirty="0">
                <a:solidFill>
                  <a:srgbClr val="C00000"/>
                </a:solidFill>
                <a:latin typeface="Meiryo" panose="020B0604030504040204" pitchFamily="34" charset="-128"/>
                <a:ea typeface="Meiryo" panose="020B0604030504040204" pitchFamily="34" charset="-128"/>
              </a:rPr>
              <a:t>2.ゲートウェイが返答</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「AA:</a:t>
            </a:r>
            <a:r>
              <a:rPr lang="en-US" sz="2400" dirty="0">
                <a:latin typeface="Meiryo" panose="020B0604030504040204" pitchFamily="34" charset="-128"/>
                <a:ea typeface="Meiryo" panose="020B0604030504040204" pitchFamily="34" charset="-128"/>
              </a:rPr>
              <a:t>AA</a:t>
            </a:r>
            <a:r>
              <a:rPr lang="en-JP" sz="2400" dirty="0">
                <a:latin typeface="Meiryo" panose="020B0604030504040204" pitchFamily="34" charset="-128"/>
                <a:ea typeface="Meiryo" panose="020B0604030504040204" pitchFamily="34" charset="-128"/>
              </a:rPr>
              <a:t>:AA:AA:AA:AA です」</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 ARP</a:t>
            </a:r>
            <a:r>
              <a:rPr lang="en-US" sz="2400" dirty="0">
                <a:latin typeface="Meiryo" panose="020B0604030504040204" pitchFamily="34" charset="-128"/>
                <a:ea typeface="Meiryo" panose="020B0604030504040204" pitchFamily="34" charset="-128"/>
              </a:rPr>
              <a:t> reply </a:t>
            </a:r>
            <a:r>
              <a:rPr lang="en-JP" sz="2400" dirty="0">
                <a:latin typeface="Meiryo" panose="020B0604030504040204" pitchFamily="34" charset="-128"/>
                <a:ea typeface="Meiryo" panose="020B0604030504040204" pitchFamily="34" charset="-128"/>
              </a:rPr>
              <a:t>（返答）</a:t>
            </a:r>
          </a:p>
          <a:p>
            <a:r>
              <a:rPr lang="en-JP" sz="2400" b="1" dirty="0">
                <a:solidFill>
                  <a:srgbClr val="C00000"/>
                </a:solidFill>
                <a:latin typeface="Meiryo" panose="020B0604030504040204" pitchFamily="34" charset="-128"/>
                <a:ea typeface="Meiryo" panose="020B0604030504040204" pitchFamily="34" charset="-128"/>
              </a:rPr>
              <a:t>3.スマートロックがキャッシュに記録</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192.168.1.1 → AA:AA:AA</a:t>
            </a:r>
          </a:p>
          <a:p>
            <a:r>
              <a:rPr lang="mn-MN" sz="2400" dirty="0">
                <a:latin typeface="Meiryo" panose="020B0604030504040204" pitchFamily="34" charset="-128"/>
                <a:ea typeface="Meiryo" panose="020B0604030504040204" pitchFamily="34" charset="-128"/>
              </a:rPr>
              <a:t>     </a:t>
            </a:r>
            <a:r>
              <a:rPr lang="en-JP" sz="2400" dirty="0">
                <a:latin typeface="Meiryo" panose="020B0604030504040204" pitchFamily="34" charset="-128"/>
                <a:ea typeface="Meiryo" panose="020B0604030504040204" pitchFamily="34" charset="-128"/>
              </a:rPr>
              <a:t>→ 次回からARPなしで通信</a:t>
            </a:r>
          </a:p>
        </p:txBody>
      </p:sp>
      <p:sp>
        <p:nvSpPr>
          <p:cNvPr id="9" name="TextBox 8">
            <a:extLst>
              <a:ext uri="{FF2B5EF4-FFF2-40B4-BE49-F238E27FC236}">
                <a16:creationId xmlns:a16="http://schemas.microsoft.com/office/drawing/2014/main" id="{B771DDDB-4C09-17AD-8713-070D7052D37B}"/>
              </a:ext>
            </a:extLst>
          </p:cNvPr>
          <p:cNvSpPr txBox="1"/>
          <p:nvPr/>
        </p:nvSpPr>
        <p:spPr>
          <a:xfrm>
            <a:off x="196806" y="6508188"/>
            <a:ext cx="2728696" cy="276999"/>
          </a:xfrm>
          <a:prstGeom prst="rect">
            <a:avLst/>
          </a:prstGeom>
          <a:noFill/>
        </p:spPr>
        <p:txBody>
          <a:bodyPr wrap="none" rtlCol="0">
            <a:spAutoFit/>
          </a:bodyPr>
          <a:lstStyle/>
          <a:p>
            <a:r>
              <a:rPr lang="en-US" sz="1200" dirty="0">
                <a:hlinkClick r:id="rId3"/>
              </a:rPr>
              <a:t>https://www.rfc-editor.org/rfc/rfc826</a:t>
            </a:r>
            <a:r>
              <a:rPr lang="en-US" sz="1200" dirty="0"/>
              <a:t> [1]</a:t>
            </a:r>
            <a:endParaRPr lang="en-JP" sz="1200" dirty="0"/>
          </a:p>
        </p:txBody>
      </p:sp>
    </p:spTree>
    <p:extLst>
      <p:ext uri="{BB962C8B-B14F-4D97-AF65-F5344CB8AC3E}">
        <p14:creationId xmlns:p14="http://schemas.microsoft.com/office/powerpoint/2010/main" val="333224164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C90861-8ABC-9931-30B1-1B56D7BDD3A4}"/>
              </a:ext>
            </a:extLst>
          </p:cNvPr>
          <p:cNvSpPr>
            <a:spLocks noGrp="1"/>
          </p:cNvSpPr>
          <p:nvPr>
            <p:ph type="sldNum" sz="quarter" idx="12"/>
          </p:nvPr>
        </p:nvSpPr>
        <p:spPr/>
        <p:txBody>
          <a:bodyPr/>
          <a:lstStyle/>
          <a:p>
            <a:fld id="{828F3BD4-1AF2-D144-8129-4D42AD448F5E}" type="slidenum">
              <a:rPr lang="en-JP" smtClean="0"/>
              <a:pPr/>
              <a:t>56</a:t>
            </a:fld>
            <a:endParaRPr lang="en-JP" dirty="0"/>
          </a:p>
        </p:txBody>
      </p:sp>
      <p:sp>
        <p:nvSpPr>
          <p:cNvPr id="10" name="Shape 0">
            <a:extLst>
              <a:ext uri="{FF2B5EF4-FFF2-40B4-BE49-F238E27FC236}">
                <a16:creationId xmlns:a16="http://schemas.microsoft.com/office/drawing/2014/main" id="{6738BB15-7ECD-B162-851D-22561B9F3B89}"/>
              </a:ext>
            </a:extLst>
          </p:cNvPr>
          <p:cNvSpPr/>
          <p:nvPr/>
        </p:nvSpPr>
        <p:spPr>
          <a:xfrm>
            <a:off x="0" y="240702"/>
            <a:ext cx="9144000" cy="481404"/>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algn="ctr"/>
            <a:r>
              <a:rPr lang="ja-JP" altLang="en-US" sz="2400" b="1" i="0">
                <a:solidFill>
                  <a:srgbClr val="000000"/>
                </a:solidFill>
                <a:effectLst/>
                <a:latin typeface="Meiryo" panose="020B0604030504040204" pitchFamily="34" charset="-128"/>
                <a:ea typeface="Meiryo" panose="020B0604030504040204" pitchFamily="34" charset="-128"/>
              </a:rPr>
              <a:t>提案アーキテクチャ </a:t>
            </a:r>
            <a:r>
              <a:rPr lang="en-US" altLang="ja-JP" sz="2400" b="1" i="0" dirty="0">
                <a:solidFill>
                  <a:srgbClr val="000000"/>
                </a:solidFill>
                <a:effectLst/>
                <a:latin typeface="Meiryo" panose="020B0604030504040204" pitchFamily="34" charset="-128"/>
                <a:ea typeface="Meiryo" panose="020B0604030504040204" pitchFamily="34" charset="-128"/>
              </a:rPr>
              <a:t>—</a:t>
            </a:r>
            <a:r>
              <a:rPr lang="ja-JP" altLang="en-US" sz="2400" b="1" i="0">
                <a:effectLst/>
                <a:latin typeface="Meiryo" panose="020B0604030504040204" pitchFamily="34" charset="-128"/>
                <a:ea typeface="Meiryo" panose="020B0604030504040204" pitchFamily="34" charset="-128"/>
                <a:cs typeface="Times New Roman" panose="02020603050405020304" pitchFamily="18" charset="0"/>
              </a:rPr>
              <a:t>透過型</a:t>
            </a:r>
            <a:r>
              <a:rPr lang="en-US" sz="2400" b="1" i="0" dirty="0">
                <a:effectLst/>
                <a:latin typeface="Meiryo" panose="020B0604030504040204" pitchFamily="34" charset="-128"/>
                <a:ea typeface="Meiryo" panose="020B0604030504040204" pitchFamily="34" charset="-128"/>
                <a:cs typeface="Times New Roman" panose="02020603050405020304" pitchFamily="18" charset="0"/>
              </a:rPr>
              <a:t>I</a:t>
            </a:r>
            <a:r>
              <a:rPr lang="en-US" sz="2400" b="1" dirty="0">
                <a:latin typeface="Meiryo" panose="020B0604030504040204" pitchFamily="34" charset="-128"/>
                <a:ea typeface="Meiryo" panose="020B0604030504040204" pitchFamily="34" charset="-128"/>
                <a:cs typeface="Times New Roman" panose="02020603050405020304" pitchFamily="18" charset="0"/>
              </a:rPr>
              <a:t>D</a:t>
            </a:r>
            <a:r>
              <a:rPr lang="en-US" sz="2400" b="1" i="0" dirty="0">
                <a:effectLst/>
                <a:latin typeface="Meiryo" panose="020B0604030504040204" pitchFamily="34" charset="-128"/>
                <a:ea typeface="Meiryo" panose="020B0604030504040204" pitchFamily="34" charset="-128"/>
                <a:cs typeface="Times New Roman" panose="02020603050405020304" pitchFamily="18" charset="0"/>
              </a:rPr>
              <a:t>S </a:t>
            </a:r>
            <a:endParaRPr lang="en-JP" sz="2400" b="1" dirty="0">
              <a:latin typeface="Meiryo" panose="020B0604030504040204" pitchFamily="34" charset="-128"/>
              <a:ea typeface="Meiryo" panose="020B0604030504040204" pitchFamily="34" charset="-128"/>
            </a:endParaRPr>
          </a:p>
        </p:txBody>
      </p:sp>
      <p:sp>
        <p:nvSpPr>
          <p:cNvPr id="11" name="Rectangle: Rounded Corners 4">
            <a:extLst>
              <a:ext uri="{FF2B5EF4-FFF2-40B4-BE49-F238E27FC236}">
                <a16:creationId xmlns:a16="http://schemas.microsoft.com/office/drawing/2014/main" id="{6ABB95DA-9FDC-E4B1-8D82-9BDCAD8E02A4}"/>
              </a:ext>
            </a:extLst>
          </p:cNvPr>
          <p:cNvSpPr/>
          <p:nvPr/>
        </p:nvSpPr>
        <p:spPr>
          <a:xfrm>
            <a:off x="162121" y="645428"/>
            <a:ext cx="1836694" cy="733425"/>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Meiryo" panose="020B0604030504040204" pitchFamily="34" charset="-128"/>
                <a:ea typeface="Meiryo" panose="020B0604030504040204" pitchFamily="34" charset="-128"/>
              </a:rPr>
              <a:t> IoT device</a:t>
            </a:r>
            <a:endParaRPr lang="mn-MN" sz="1600" b="1" dirty="0">
              <a:solidFill>
                <a:schemeClr val="tx1"/>
              </a:solidFill>
              <a:latin typeface="Meiryo" panose="020B0604030504040204" pitchFamily="34" charset="-128"/>
              <a:ea typeface="Meiryo" panose="020B0604030504040204" pitchFamily="34" charset="-128"/>
            </a:endParaRPr>
          </a:p>
        </p:txBody>
      </p:sp>
      <p:sp>
        <p:nvSpPr>
          <p:cNvPr id="13" name="Rectangle: Rounded Corners 6">
            <a:extLst>
              <a:ext uri="{FF2B5EF4-FFF2-40B4-BE49-F238E27FC236}">
                <a16:creationId xmlns:a16="http://schemas.microsoft.com/office/drawing/2014/main" id="{AB85986E-1CCA-A4C5-AFE5-8D2D65A2B028}"/>
              </a:ext>
            </a:extLst>
          </p:cNvPr>
          <p:cNvSpPr/>
          <p:nvPr/>
        </p:nvSpPr>
        <p:spPr>
          <a:xfrm>
            <a:off x="2160936" y="481404"/>
            <a:ext cx="4420391" cy="5889795"/>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sz="2000" dirty="0">
              <a:solidFill>
                <a:schemeClr val="tx1"/>
              </a:solidFill>
              <a:latin typeface="Meiryo" panose="020B0604030504040204" pitchFamily="34" charset="-128"/>
              <a:ea typeface="Meiryo" panose="020B0604030504040204" pitchFamily="34" charset="-128"/>
            </a:endParaRPr>
          </a:p>
        </p:txBody>
      </p:sp>
      <p:sp>
        <p:nvSpPr>
          <p:cNvPr id="14" name="Rounded Rectangle 13">
            <a:extLst>
              <a:ext uri="{FF2B5EF4-FFF2-40B4-BE49-F238E27FC236}">
                <a16:creationId xmlns:a16="http://schemas.microsoft.com/office/drawing/2014/main" id="{9267EE1E-0A6C-149C-C7FE-28F9D1E9475D}"/>
              </a:ext>
            </a:extLst>
          </p:cNvPr>
          <p:cNvSpPr/>
          <p:nvPr/>
        </p:nvSpPr>
        <p:spPr>
          <a:xfrm>
            <a:off x="2980224" y="1613709"/>
            <a:ext cx="3450155" cy="5442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Meiryo" panose="020B0604030504040204" pitchFamily="34" charset="-128"/>
                <a:ea typeface="Meiryo" panose="020B0604030504040204" pitchFamily="34" charset="-128"/>
              </a:rPr>
              <a:t>1. ARP</a:t>
            </a:r>
            <a:r>
              <a:rPr lang="ja-JP" altLang="en-US" sz="2000" b="1">
                <a:solidFill>
                  <a:schemeClr val="tx1"/>
                </a:solidFill>
                <a:latin typeface="Meiryo" panose="020B0604030504040204" pitchFamily="34" charset="-128"/>
                <a:ea typeface="Meiryo" panose="020B0604030504040204" pitchFamily="34" charset="-128"/>
              </a:rPr>
              <a:t>パケット監視</a:t>
            </a:r>
            <a:endParaRPr lang="en-JP" sz="2000" b="1" dirty="0">
              <a:solidFill>
                <a:schemeClr val="tx1"/>
              </a:solidFill>
              <a:latin typeface="Meiryo" panose="020B0604030504040204" pitchFamily="34" charset="-128"/>
              <a:ea typeface="Meiryo" panose="020B0604030504040204" pitchFamily="34" charset="-128"/>
            </a:endParaRPr>
          </a:p>
        </p:txBody>
      </p:sp>
      <p:sp>
        <p:nvSpPr>
          <p:cNvPr id="15" name="Rounded Rectangle 14">
            <a:extLst>
              <a:ext uri="{FF2B5EF4-FFF2-40B4-BE49-F238E27FC236}">
                <a16:creationId xmlns:a16="http://schemas.microsoft.com/office/drawing/2014/main" id="{AAAB0427-CCE3-1795-8F66-9BF4AC6EFE68}"/>
              </a:ext>
            </a:extLst>
          </p:cNvPr>
          <p:cNvSpPr/>
          <p:nvPr/>
        </p:nvSpPr>
        <p:spPr>
          <a:xfrm>
            <a:off x="2980225" y="2382895"/>
            <a:ext cx="3450154" cy="5442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000000"/>
                </a:solidFill>
                <a:latin typeface="Meiryo" panose="020B0604030504040204" pitchFamily="34" charset="-128"/>
                <a:ea typeface="Meiryo" panose="020B0604030504040204" pitchFamily="34" charset="-128"/>
              </a:rPr>
              <a:t>2.</a:t>
            </a:r>
            <a:r>
              <a:rPr lang="ja-JP" altLang="en-US" sz="2000" b="1" i="0">
                <a:solidFill>
                  <a:srgbClr val="000000"/>
                </a:solidFill>
                <a:effectLst/>
                <a:latin typeface="Meiryo" panose="020B0604030504040204" pitchFamily="34" charset="-128"/>
                <a:ea typeface="Meiryo" panose="020B0604030504040204" pitchFamily="34" charset="-128"/>
              </a:rPr>
              <a:t>特徴量抽出（</a:t>
            </a:r>
            <a:r>
              <a:rPr lang="mn-MN" altLang="ja-JP" sz="2000" b="1" dirty="0">
                <a:solidFill>
                  <a:srgbClr val="000000"/>
                </a:solidFill>
                <a:latin typeface="Meiryo" panose="020B0604030504040204" pitchFamily="34" charset="-128"/>
                <a:ea typeface="Meiryo" panose="020B0604030504040204" pitchFamily="34" charset="-128"/>
              </a:rPr>
              <a:t>5</a:t>
            </a:r>
            <a:r>
              <a:rPr lang="ja-JP" altLang="en-US" sz="2000" b="1" i="0">
                <a:solidFill>
                  <a:srgbClr val="000000"/>
                </a:solidFill>
                <a:effectLst/>
                <a:latin typeface="Meiryo" panose="020B0604030504040204" pitchFamily="34" charset="-128"/>
                <a:ea typeface="Meiryo" panose="020B0604030504040204" pitchFamily="34" charset="-128"/>
              </a:rPr>
              <a:t>種類</a:t>
            </a:r>
            <a:r>
              <a:rPr lang="en-US" altLang="ja-JP" sz="2000" b="1" i="0" dirty="0">
                <a:solidFill>
                  <a:srgbClr val="000000"/>
                </a:solidFill>
                <a:effectLst/>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18" name="Rounded Rectangle 17">
            <a:extLst>
              <a:ext uri="{FF2B5EF4-FFF2-40B4-BE49-F238E27FC236}">
                <a16:creationId xmlns:a16="http://schemas.microsoft.com/office/drawing/2014/main" id="{0AE7155D-3C64-A9A9-CCCF-8ABC737317F1}"/>
              </a:ext>
            </a:extLst>
          </p:cNvPr>
          <p:cNvSpPr/>
          <p:nvPr/>
        </p:nvSpPr>
        <p:spPr>
          <a:xfrm>
            <a:off x="2846923" y="3719244"/>
            <a:ext cx="3450153" cy="5442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000000"/>
                </a:solidFill>
                <a:latin typeface="Meiryo" panose="020B0604030504040204" pitchFamily="34" charset="-128"/>
                <a:ea typeface="Meiryo" panose="020B0604030504040204" pitchFamily="34" charset="-128"/>
              </a:rPr>
              <a:t>   3.</a:t>
            </a:r>
            <a:r>
              <a:rPr lang="en-US" sz="2000" b="1" i="0" dirty="0">
                <a:solidFill>
                  <a:srgbClr val="000000"/>
                </a:solidFill>
                <a:effectLst/>
                <a:latin typeface="Meiryo" panose="020B0604030504040204" pitchFamily="34" charset="-128"/>
                <a:ea typeface="Meiryo" panose="020B0604030504040204" pitchFamily="34" charset="-128"/>
              </a:rPr>
              <a:t>Random Forest </a:t>
            </a:r>
            <a:r>
              <a:rPr lang="ja-JP" altLang="en-US" sz="2000" b="1" i="0">
                <a:solidFill>
                  <a:srgbClr val="000000"/>
                </a:solidFill>
                <a:effectLst/>
                <a:latin typeface="Meiryo" panose="020B0604030504040204" pitchFamily="34" charset="-128"/>
                <a:ea typeface="Meiryo" panose="020B0604030504040204" pitchFamily="34" charset="-128"/>
              </a:rPr>
              <a:t>分類</a:t>
            </a:r>
            <a:endParaRPr lang="en-JP" sz="2000" dirty="0">
              <a:latin typeface="Meiryo" panose="020B0604030504040204" pitchFamily="34" charset="-128"/>
              <a:ea typeface="Meiryo" panose="020B0604030504040204" pitchFamily="34" charset="-128"/>
            </a:endParaRPr>
          </a:p>
        </p:txBody>
      </p:sp>
      <p:sp>
        <p:nvSpPr>
          <p:cNvPr id="20" name="Rounded Rectangle 19">
            <a:extLst>
              <a:ext uri="{FF2B5EF4-FFF2-40B4-BE49-F238E27FC236}">
                <a16:creationId xmlns:a16="http://schemas.microsoft.com/office/drawing/2014/main" id="{0A8D9738-466A-32B3-8756-2E6F059C8D2B}"/>
              </a:ext>
            </a:extLst>
          </p:cNvPr>
          <p:cNvSpPr/>
          <p:nvPr/>
        </p:nvSpPr>
        <p:spPr>
          <a:xfrm>
            <a:off x="3162871" y="5720467"/>
            <a:ext cx="3450151" cy="76596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i="0" dirty="0">
                <a:solidFill>
                  <a:srgbClr val="000000"/>
                </a:solidFill>
                <a:effectLst/>
                <a:latin typeface="Meiryo" panose="020B0604030504040204" pitchFamily="34" charset="-128"/>
                <a:ea typeface="Meiryo" panose="020B0604030504040204" pitchFamily="34" charset="-128"/>
              </a:rPr>
              <a:t>DTLS</a:t>
            </a:r>
            <a:r>
              <a:rPr lang="ja-JP" altLang="en-US" b="1" i="0">
                <a:solidFill>
                  <a:srgbClr val="000000"/>
                </a:solidFill>
                <a:effectLst/>
                <a:latin typeface="Meiryo" panose="020B0604030504040204" pitchFamily="34" charset="-128"/>
                <a:ea typeface="Meiryo" panose="020B0604030504040204" pitchFamily="34" charset="-128"/>
              </a:rPr>
              <a:t>は透過転送 </a:t>
            </a:r>
            <a:r>
              <a:rPr lang="en-US" altLang="ja-JP" b="1" i="0" dirty="0">
                <a:solidFill>
                  <a:srgbClr val="000000"/>
                </a:solidFill>
                <a:effectLst/>
                <a:latin typeface="Meiryo" panose="020B0604030504040204" pitchFamily="34" charset="-128"/>
                <a:ea typeface="Meiryo" panose="020B0604030504040204" pitchFamily="34" charset="-128"/>
              </a:rPr>
              <a:t>— </a:t>
            </a:r>
            <a:r>
              <a:rPr lang="ja-JP" altLang="en-US" b="1" i="0">
                <a:solidFill>
                  <a:srgbClr val="000000"/>
                </a:solidFill>
                <a:effectLst/>
                <a:latin typeface="Meiryo" panose="020B0604030504040204" pitchFamily="34" charset="-128"/>
                <a:ea typeface="Meiryo" panose="020B0604030504040204" pitchFamily="34" charset="-128"/>
              </a:rPr>
              <a:t>内容に触れない </a:t>
            </a:r>
            <a:endParaRPr lang="en-JP" dirty="0">
              <a:latin typeface="Meiryo" panose="020B0604030504040204" pitchFamily="34" charset="-128"/>
              <a:ea typeface="Meiryo" panose="020B0604030504040204" pitchFamily="34" charset="-128"/>
            </a:endParaRPr>
          </a:p>
        </p:txBody>
      </p:sp>
      <p:sp>
        <p:nvSpPr>
          <p:cNvPr id="21" name="Rectangle: Rounded Corners 8">
            <a:extLst>
              <a:ext uri="{FF2B5EF4-FFF2-40B4-BE49-F238E27FC236}">
                <a16:creationId xmlns:a16="http://schemas.microsoft.com/office/drawing/2014/main" id="{94202815-CADD-4F6E-9B9C-FE44478F778C}"/>
              </a:ext>
            </a:extLst>
          </p:cNvPr>
          <p:cNvSpPr/>
          <p:nvPr/>
        </p:nvSpPr>
        <p:spPr>
          <a:xfrm>
            <a:off x="7313588" y="799269"/>
            <a:ext cx="1766489" cy="778053"/>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dirty="0">
              <a:solidFill>
                <a:srgbClr val="000000"/>
              </a:solidFill>
              <a:latin typeface="Meiryo" panose="020B0604030504040204" pitchFamily="34" charset="-128"/>
              <a:ea typeface="Meiryo" panose="020B0604030504040204" pitchFamily="34" charset="-128"/>
            </a:endParaRPr>
          </a:p>
          <a:p>
            <a:pPr algn="ctr"/>
            <a:r>
              <a:rPr lang="en-US" sz="2400" b="1" dirty="0">
                <a:solidFill>
                  <a:srgbClr val="000000"/>
                </a:solidFill>
                <a:latin typeface="Meiryo" panose="020B0604030504040204" pitchFamily="34" charset="-128"/>
                <a:ea typeface="Meiryo" panose="020B0604030504040204" pitchFamily="34" charset="-128"/>
              </a:rPr>
              <a:t>Backend</a:t>
            </a:r>
            <a:endParaRPr lang="en-US" sz="2400" dirty="0">
              <a:solidFill>
                <a:schemeClr val="tx1"/>
              </a:solidFill>
              <a:latin typeface="Meiryo" panose="020B0604030504040204" pitchFamily="34" charset="-128"/>
              <a:ea typeface="Meiryo" panose="020B0604030504040204" pitchFamily="34" charset="-128"/>
            </a:endParaRPr>
          </a:p>
        </p:txBody>
      </p:sp>
      <p:sp>
        <p:nvSpPr>
          <p:cNvPr id="22" name="TextBox 21">
            <a:extLst>
              <a:ext uri="{FF2B5EF4-FFF2-40B4-BE49-F238E27FC236}">
                <a16:creationId xmlns:a16="http://schemas.microsoft.com/office/drawing/2014/main" id="{2501D35A-C362-3712-B001-BD311F84D807}"/>
              </a:ext>
            </a:extLst>
          </p:cNvPr>
          <p:cNvSpPr txBox="1"/>
          <p:nvPr/>
        </p:nvSpPr>
        <p:spPr>
          <a:xfrm>
            <a:off x="2419040" y="538490"/>
            <a:ext cx="3878036" cy="369332"/>
          </a:xfrm>
          <a:prstGeom prst="rect">
            <a:avLst/>
          </a:prstGeom>
          <a:noFill/>
        </p:spPr>
        <p:txBody>
          <a:bodyPr wrap="square" rtlCol="0">
            <a:spAutoFit/>
          </a:bodyPr>
          <a:lstStyle/>
          <a:p>
            <a:pPr algn="ctr"/>
            <a:r>
              <a:rPr lang="ja-JP" altLang="en-US" b="1" i="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透過型</a:t>
            </a:r>
            <a:r>
              <a:rPr lang="en-US" b="1" i="0"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I</a:t>
            </a:r>
            <a:r>
              <a:rPr lang="en-US" b="1" dirty="0">
                <a:solidFill>
                  <a:srgbClr val="C00000"/>
                </a:solidFill>
                <a:latin typeface="Meiryo" panose="020B0604030504040204" pitchFamily="34" charset="-128"/>
                <a:ea typeface="Meiryo" panose="020B0604030504040204" pitchFamily="34" charset="-128"/>
                <a:cs typeface="Times New Roman" panose="02020603050405020304" pitchFamily="18" charset="0"/>
              </a:rPr>
              <a:t>D</a:t>
            </a:r>
            <a:r>
              <a:rPr lang="en-US" b="1" i="0"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S</a:t>
            </a:r>
            <a:r>
              <a:rPr lang="en-US" sz="1800" b="1" i="0" dirty="0">
                <a:solidFill>
                  <a:srgbClr val="C00000"/>
                </a:solidFill>
                <a:effectLst/>
                <a:latin typeface="Meiryo" panose="020B0604030504040204" pitchFamily="34" charset="-128"/>
                <a:ea typeface="Meiryo" panose="020B0604030504040204" pitchFamily="34" charset="-128"/>
                <a:cs typeface="Times New Roman" panose="02020603050405020304" pitchFamily="18" charset="0"/>
              </a:rPr>
              <a:t> </a:t>
            </a:r>
            <a:r>
              <a:rPr lang="en-US" sz="1800" b="1" i="0" dirty="0">
                <a:solidFill>
                  <a:srgbClr val="C00000"/>
                </a:solidFill>
                <a:effectLst/>
                <a:latin typeface="Meiryo" panose="020B0604030504040204" pitchFamily="34" charset="-128"/>
                <a:ea typeface="Meiryo" panose="020B0604030504040204" pitchFamily="34" charset="-128"/>
              </a:rPr>
              <a:t>— Raspberry Pi </a:t>
            </a:r>
            <a:endParaRPr lang="en-JP" sz="1800" dirty="0">
              <a:solidFill>
                <a:srgbClr val="C00000"/>
              </a:solidFill>
              <a:latin typeface="Meiryo" panose="020B0604030504040204" pitchFamily="34" charset="-128"/>
              <a:ea typeface="Meiryo" panose="020B0604030504040204" pitchFamily="34" charset="-128"/>
            </a:endParaRPr>
          </a:p>
        </p:txBody>
      </p:sp>
      <p:sp>
        <p:nvSpPr>
          <p:cNvPr id="23" name="Rounded Rectangle 22">
            <a:extLst>
              <a:ext uri="{FF2B5EF4-FFF2-40B4-BE49-F238E27FC236}">
                <a16:creationId xmlns:a16="http://schemas.microsoft.com/office/drawing/2014/main" id="{9307C3DC-5617-76E6-DE93-71C0456F7A1E}"/>
              </a:ext>
            </a:extLst>
          </p:cNvPr>
          <p:cNvSpPr/>
          <p:nvPr/>
        </p:nvSpPr>
        <p:spPr>
          <a:xfrm>
            <a:off x="5405786" y="4852167"/>
            <a:ext cx="1310473" cy="544285"/>
          </a:xfrm>
          <a:prstGeom prst="roundRect">
            <a:avLst/>
          </a:prstGeom>
          <a:solidFill>
            <a:schemeClr val="accent6">
              <a:lumMod val="20000"/>
              <a:lumOff val="80000"/>
            </a:schemeClr>
          </a:solidFill>
          <a:ln>
            <a:solidFill>
              <a:schemeClr val="accent6">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2000" b="1" i="0" dirty="0">
                <a:solidFill>
                  <a:srgbClr val="0F1115"/>
                </a:solidFill>
                <a:effectLst/>
                <a:latin typeface="Meiryo" panose="020B0604030504040204" pitchFamily="34" charset="-128"/>
                <a:ea typeface="Meiryo" panose="020B0604030504040204" pitchFamily="34" charset="-128"/>
              </a:rPr>
              <a:t>   </a:t>
            </a:r>
            <a:r>
              <a:rPr lang="ja-JP" altLang="en-US" sz="2000" b="1" i="0">
                <a:solidFill>
                  <a:srgbClr val="0F1115"/>
                </a:solidFill>
                <a:effectLst/>
                <a:latin typeface="Meiryo" panose="020B0604030504040204" pitchFamily="34" charset="-128"/>
                <a:ea typeface="Meiryo" panose="020B0604030504040204" pitchFamily="34" charset="-128"/>
              </a:rPr>
              <a:t>正常</a:t>
            </a:r>
            <a:endParaRPr lang="en-JP" sz="2000" b="1" dirty="0">
              <a:latin typeface="Meiryo" panose="020B0604030504040204" pitchFamily="34" charset="-128"/>
              <a:ea typeface="Meiryo" panose="020B0604030504040204" pitchFamily="34" charset="-128"/>
            </a:endParaRPr>
          </a:p>
        </p:txBody>
      </p:sp>
      <p:sp>
        <p:nvSpPr>
          <p:cNvPr id="27" name="TextBox 26">
            <a:extLst>
              <a:ext uri="{FF2B5EF4-FFF2-40B4-BE49-F238E27FC236}">
                <a16:creationId xmlns:a16="http://schemas.microsoft.com/office/drawing/2014/main" id="{D3679FA2-D4F7-8CD6-75BF-F0C5283E3068}"/>
              </a:ext>
            </a:extLst>
          </p:cNvPr>
          <p:cNvSpPr txBox="1"/>
          <p:nvPr/>
        </p:nvSpPr>
        <p:spPr>
          <a:xfrm>
            <a:off x="74910" y="1392656"/>
            <a:ext cx="1712345" cy="369332"/>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CoAP </a:t>
            </a:r>
            <a:r>
              <a:rPr lang="en-JP" dirty="0">
                <a:latin typeface="Meiryo" panose="020B0604030504040204" pitchFamily="34" charset="-128"/>
                <a:ea typeface="Meiryo" panose="020B0604030504040204" pitchFamily="34" charset="-128"/>
              </a:rPr>
              <a:t>🔒DTLS</a:t>
            </a:r>
          </a:p>
        </p:txBody>
      </p:sp>
      <p:cxnSp>
        <p:nvCxnSpPr>
          <p:cNvPr id="50" name="Elbow Connector 49">
            <a:extLst>
              <a:ext uri="{FF2B5EF4-FFF2-40B4-BE49-F238E27FC236}">
                <a16:creationId xmlns:a16="http://schemas.microsoft.com/office/drawing/2014/main" id="{C601E613-296C-DFF0-825E-E782361A2093}"/>
              </a:ext>
            </a:extLst>
          </p:cNvPr>
          <p:cNvCxnSpPr>
            <a:cxnSpLocks/>
          </p:cNvCxnSpPr>
          <p:nvPr/>
        </p:nvCxnSpPr>
        <p:spPr>
          <a:xfrm flipV="1">
            <a:off x="7112966" y="2764348"/>
            <a:ext cx="1689219" cy="1515456"/>
          </a:xfrm>
          <a:prstGeom prst="bentConnector3">
            <a:avLst>
              <a:gd name="adj1" fmla="val 100909"/>
            </a:avLst>
          </a:prstGeom>
          <a:ln w="317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82" name="Rectangle: Rounded Corners 4">
            <a:extLst>
              <a:ext uri="{FF2B5EF4-FFF2-40B4-BE49-F238E27FC236}">
                <a16:creationId xmlns:a16="http://schemas.microsoft.com/office/drawing/2014/main" id="{186DFD1A-0FCA-4895-ABE0-AEA3168439CF}"/>
              </a:ext>
            </a:extLst>
          </p:cNvPr>
          <p:cNvSpPr/>
          <p:nvPr/>
        </p:nvSpPr>
        <p:spPr>
          <a:xfrm>
            <a:off x="74910" y="3116852"/>
            <a:ext cx="1576090" cy="1229777"/>
          </a:xfrm>
          <a:prstGeom prst="roundRect">
            <a:avLst/>
          </a:prstGeom>
          <a:solidFill>
            <a:schemeClr val="accent2">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b="0" i="0" dirty="0">
                <a:solidFill>
                  <a:srgbClr val="000000"/>
                </a:solidFill>
                <a:effectLst/>
                <a:latin typeface="Arial" panose="020B0604020202020204" pitchFamily="34" charset="0"/>
              </a:rPr>
              <a:t>😈</a:t>
            </a:r>
            <a:r>
              <a:rPr lang="ja-JP" altLang="en-US" b="1">
                <a:solidFill>
                  <a:schemeClr val="tx1"/>
                </a:solidFill>
                <a:latin typeface="Meiryo" panose="020B0604030504040204" pitchFamily="34" charset="-128"/>
                <a:ea typeface="Meiryo" panose="020B0604030504040204" pitchFamily="34" charset="-128"/>
              </a:rPr>
              <a:t>攻撃者</a:t>
            </a:r>
            <a:r>
              <a:rPr lang="en-US" altLang="ja-JP" b="1" dirty="0">
                <a:solidFill>
                  <a:schemeClr val="tx1"/>
                </a:solidFill>
                <a:latin typeface="Meiryo" panose="020B0604030504040204" pitchFamily="34" charset="-128"/>
                <a:ea typeface="Meiryo" panose="020B0604030504040204" pitchFamily="34" charset="-128"/>
              </a:rPr>
              <a:t>ARP </a:t>
            </a:r>
            <a:r>
              <a:rPr lang="en-US" b="1" dirty="0">
                <a:solidFill>
                  <a:schemeClr val="tx1"/>
                </a:solidFill>
                <a:latin typeface="Meiryo" panose="020B0604030504040204" pitchFamily="34" charset="-128"/>
                <a:ea typeface="Meiryo" panose="020B0604030504040204" pitchFamily="34" charset="-128"/>
              </a:rPr>
              <a:t>spoof</a:t>
            </a:r>
          </a:p>
          <a:p>
            <a:pPr algn="ctr"/>
            <a:r>
              <a:rPr lang="en-US" dirty="0">
                <a:solidFill>
                  <a:schemeClr val="tx1"/>
                </a:solidFill>
                <a:latin typeface="Meiryo" panose="020B0604030504040204" pitchFamily="34" charset="-128"/>
                <a:ea typeface="Meiryo" panose="020B0604030504040204" pitchFamily="34" charset="-128"/>
              </a:rPr>
              <a:t> </a:t>
            </a:r>
            <a:endParaRPr lang="en-US" sz="1400" b="1" dirty="0">
              <a:solidFill>
                <a:schemeClr val="tx1"/>
              </a:solidFill>
              <a:latin typeface="Meiryo" panose="020B0604030504040204" pitchFamily="34" charset="-128"/>
              <a:ea typeface="Meiryo" panose="020B0604030504040204" pitchFamily="34" charset="-128"/>
            </a:endParaRPr>
          </a:p>
        </p:txBody>
      </p:sp>
      <p:cxnSp>
        <p:nvCxnSpPr>
          <p:cNvPr id="95" name="Straight Arrow Connector 94">
            <a:extLst>
              <a:ext uri="{FF2B5EF4-FFF2-40B4-BE49-F238E27FC236}">
                <a16:creationId xmlns:a16="http://schemas.microsoft.com/office/drawing/2014/main" id="{6A67D553-0FA2-501B-9F54-93110194AC2B}"/>
              </a:ext>
            </a:extLst>
          </p:cNvPr>
          <p:cNvCxnSpPr>
            <a:cxnSpLocks/>
          </p:cNvCxnSpPr>
          <p:nvPr/>
        </p:nvCxnSpPr>
        <p:spPr>
          <a:xfrm>
            <a:off x="194746" y="1761988"/>
            <a:ext cx="222959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a:extLst>
              <a:ext uri="{FF2B5EF4-FFF2-40B4-BE49-F238E27FC236}">
                <a16:creationId xmlns:a16="http://schemas.microsoft.com/office/drawing/2014/main" id="{FF93EE10-431D-8472-1E8E-27FF9AD21D97}"/>
              </a:ext>
            </a:extLst>
          </p:cNvPr>
          <p:cNvCxnSpPr/>
          <p:nvPr/>
        </p:nvCxnSpPr>
        <p:spPr>
          <a:xfrm>
            <a:off x="1934258" y="3774659"/>
            <a:ext cx="413882" cy="0"/>
          </a:xfrm>
          <a:prstGeom prst="straightConnector1">
            <a:avLst/>
          </a:prstGeom>
          <a:ln w="539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Straight Arrow Connector 101">
            <a:extLst>
              <a:ext uri="{FF2B5EF4-FFF2-40B4-BE49-F238E27FC236}">
                <a16:creationId xmlns:a16="http://schemas.microsoft.com/office/drawing/2014/main" id="{F88CD4E6-E386-10DA-0ACC-DB622DC51C5A}"/>
              </a:ext>
            </a:extLst>
          </p:cNvPr>
          <p:cNvCxnSpPr>
            <a:cxnSpLocks/>
          </p:cNvCxnSpPr>
          <p:nvPr/>
        </p:nvCxnSpPr>
        <p:spPr>
          <a:xfrm flipV="1">
            <a:off x="582627" y="2366281"/>
            <a:ext cx="0" cy="398067"/>
          </a:xfrm>
          <a:prstGeom prst="straightConnector1">
            <a:avLst/>
          </a:prstGeom>
          <a:ln w="5397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4" name="TextBox 103">
            <a:extLst>
              <a:ext uri="{FF2B5EF4-FFF2-40B4-BE49-F238E27FC236}">
                <a16:creationId xmlns:a16="http://schemas.microsoft.com/office/drawing/2014/main" id="{09F16D34-B9EC-2D8B-937F-52A87CE4BF9E}"/>
              </a:ext>
            </a:extLst>
          </p:cNvPr>
          <p:cNvSpPr txBox="1"/>
          <p:nvPr/>
        </p:nvSpPr>
        <p:spPr>
          <a:xfrm>
            <a:off x="654844" y="2407518"/>
            <a:ext cx="1968809" cy="646331"/>
          </a:xfrm>
          <a:prstGeom prst="rect">
            <a:avLst/>
          </a:prstGeom>
          <a:noFill/>
        </p:spPr>
        <p:txBody>
          <a:bodyPr wrap="none" rtlCol="0">
            <a:spAutoFit/>
          </a:bodyPr>
          <a:lstStyle/>
          <a:p>
            <a:r>
              <a:rPr lang="ja-JP" altLang="en-US">
                <a:latin typeface="Meiryo" panose="020B0604030504040204" pitchFamily="34" charset="-128"/>
                <a:ea typeface="Meiryo" panose="020B0604030504040204" pitchFamily="34" charset="-128"/>
              </a:rPr>
              <a:t>偽</a:t>
            </a:r>
            <a:r>
              <a:rPr lang="en-US" dirty="0">
                <a:latin typeface="Meiryo" panose="020B0604030504040204" pitchFamily="34" charset="-128"/>
                <a:ea typeface="Meiryo" panose="020B0604030504040204" pitchFamily="34" charset="-128"/>
              </a:rPr>
              <a:t>ARP Reply</a:t>
            </a:r>
          </a:p>
          <a:p>
            <a:r>
              <a:rPr lang="en-US" dirty="0">
                <a:latin typeface="Meiryo" panose="020B0604030504040204" pitchFamily="34" charset="-128"/>
                <a:ea typeface="Meiryo" panose="020B0604030504040204" pitchFamily="34" charset="-128"/>
              </a:rPr>
              <a:t>(GW</a:t>
            </a:r>
            <a:r>
              <a:rPr lang="ja-JP" altLang="en-US">
                <a:latin typeface="Meiryo" panose="020B0604030504040204" pitchFamily="34" charset="-128"/>
                <a:ea typeface="Meiryo" panose="020B0604030504040204" pitchFamily="34" charset="-128"/>
              </a:rPr>
              <a:t>は</a:t>
            </a:r>
            <a:r>
              <a:rPr lang="en-US" altLang="ja-JP" dirty="0">
                <a:latin typeface="Meiryo" panose="020B0604030504040204" pitchFamily="34" charset="-128"/>
                <a:ea typeface="Meiryo" panose="020B0604030504040204" pitchFamily="34" charset="-128"/>
              </a:rPr>
              <a:t>CC</a:t>
            </a:r>
            <a:r>
              <a:rPr lang="en-US" dirty="0">
                <a:latin typeface="Meiryo" panose="020B0604030504040204" pitchFamily="34" charset="-128"/>
                <a:ea typeface="Meiryo" panose="020B0604030504040204" pitchFamily="34" charset="-128"/>
              </a:rPr>
              <a:t>:CC</a:t>
            </a:r>
            <a:r>
              <a:rPr lang="ja-JP" altLang="en-US">
                <a:latin typeface="Meiryo" panose="020B0604030504040204" pitchFamily="34" charset="-128"/>
                <a:ea typeface="Meiryo" panose="020B0604030504040204" pitchFamily="34" charset="-128"/>
              </a:rPr>
              <a:t>だ</a:t>
            </a:r>
            <a:r>
              <a:rPr lang="mn-MN" altLang="ja-JP" dirty="0">
                <a:latin typeface="Meiryo" panose="020B0604030504040204" pitchFamily="34" charset="-128"/>
                <a:ea typeface="Meiryo" panose="020B0604030504040204" pitchFamily="34" charset="-128"/>
              </a:rPr>
              <a:t>)</a:t>
            </a:r>
            <a:endParaRPr lang="en-JP" dirty="0"/>
          </a:p>
        </p:txBody>
      </p:sp>
      <p:sp>
        <p:nvSpPr>
          <p:cNvPr id="109" name="TextBox 108">
            <a:extLst>
              <a:ext uri="{FF2B5EF4-FFF2-40B4-BE49-F238E27FC236}">
                <a16:creationId xmlns:a16="http://schemas.microsoft.com/office/drawing/2014/main" id="{9B07591C-96E0-9A54-97BF-E0CD46735C5F}"/>
              </a:ext>
            </a:extLst>
          </p:cNvPr>
          <p:cNvSpPr txBox="1"/>
          <p:nvPr/>
        </p:nvSpPr>
        <p:spPr>
          <a:xfrm>
            <a:off x="7119703" y="2730683"/>
            <a:ext cx="1622560" cy="369332"/>
          </a:xfrm>
          <a:prstGeom prst="rect">
            <a:avLst/>
          </a:prstGeom>
          <a:noFill/>
        </p:spPr>
        <p:txBody>
          <a:bodyPr wrap="none" rtlCol="0">
            <a:spAutoFit/>
          </a:bodyPr>
          <a:lstStyle/>
          <a:p>
            <a:r>
              <a:rPr lang="en-US" dirty="0">
                <a:latin typeface="Meiryo" panose="020B0604030504040204" pitchFamily="34" charset="-128"/>
                <a:ea typeface="Meiryo" panose="020B0604030504040204" pitchFamily="34" charset="-128"/>
              </a:rPr>
              <a:t>DTLS </a:t>
            </a:r>
            <a:r>
              <a:rPr lang="en-JP" dirty="0">
                <a:latin typeface="Meiryo" panose="020B0604030504040204" pitchFamily="34" charset="-128"/>
                <a:ea typeface="Meiryo" panose="020B0604030504040204" pitchFamily="34" charset="-128"/>
              </a:rPr>
              <a:t>🔒</a:t>
            </a:r>
            <a:r>
              <a:rPr lang="ja-JP" altLang="en-US">
                <a:latin typeface="Meiryo" panose="020B0604030504040204" pitchFamily="34" charset="-128"/>
                <a:ea typeface="Meiryo" panose="020B0604030504040204" pitchFamily="34" charset="-128"/>
              </a:rPr>
              <a:t>転送 </a:t>
            </a:r>
            <a:endParaRPr lang="en-JP" dirty="0">
              <a:latin typeface="Meiryo" panose="020B0604030504040204" pitchFamily="34" charset="-128"/>
              <a:ea typeface="Meiryo" panose="020B0604030504040204" pitchFamily="34" charset="-128"/>
            </a:endParaRPr>
          </a:p>
        </p:txBody>
      </p:sp>
      <p:sp>
        <p:nvSpPr>
          <p:cNvPr id="3" name="Rounded Rectangle 2">
            <a:extLst>
              <a:ext uri="{FF2B5EF4-FFF2-40B4-BE49-F238E27FC236}">
                <a16:creationId xmlns:a16="http://schemas.microsoft.com/office/drawing/2014/main" id="{CFC0E499-1594-77B7-F2D8-204A185180D0}"/>
              </a:ext>
            </a:extLst>
          </p:cNvPr>
          <p:cNvSpPr/>
          <p:nvPr/>
        </p:nvSpPr>
        <p:spPr>
          <a:xfrm>
            <a:off x="2980225" y="3053849"/>
            <a:ext cx="3450154" cy="54428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000000"/>
                </a:solidFill>
                <a:latin typeface="Meiryo" panose="020B0604030504040204" pitchFamily="34" charset="-128"/>
                <a:ea typeface="Meiryo" panose="020B0604030504040204" pitchFamily="34" charset="-128"/>
              </a:rPr>
              <a:t>2.</a:t>
            </a:r>
            <a:r>
              <a:rPr lang="ja-JP" altLang="en-US" sz="2000" b="1" i="0">
                <a:solidFill>
                  <a:srgbClr val="000000"/>
                </a:solidFill>
                <a:effectLst/>
                <a:latin typeface="Meiryo" panose="020B0604030504040204" pitchFamily="34" charset="-128"/>
                <a:ea typeface="Meiryo" panose="020B0604030504040204" pitchFamily="34" charset="-128"/>
              </a:rPr>
              <a:t>特徴量抽出（</a:t>
            </a:r>
            <a:r>
              <a:rPr lang="mn-MN" altLang="ja-JP" sz="2000" b="1" dirty="0">
                <a:solidFill>
                  <a:srgbClr val="000000"/>
                </a:solidFill>
                <a:latin typeface="Meiryo" panose="020B0604030504040204" pitchFamily="34" charset="-128"/>
                <a:ea typeface="Meiryo" panose="020B0604030504040204" pitchFamily="34" charset="-128"/>
              </a:rPr>
              <a:t>5</a:t>
            </a:r>
            <a:r>
              <a:rPr lang="ja-JP" altLang="en-US" sz="2000" b="1" i="0">
                <a:solidFill>
                  <a:srgbClr val="000000"/>
                </a:solidFill>
                <a:effectLst/>
                <a:latin typeface="Meiryo" panose="020B0604030504040204" pitchFamily="34" charset="-128"/>
                <a:ea typeface="Meiryo" panose="020B0604030504040204" pitchFamily="34" charset="-128"/>
              </a:rPr>
              <a:t>種類</a:t>
            </a:r>
            <a:r>
              <a:rPr lang="en-US" altLang="ja-JP" sz="2000" b="1" i="0" dirty="0">
                <a:solidFill>
                  <a:srgbClr val="000000"/>
                </a:solidFill>
                <a:effectLst/>
                <a:latin typeface="Meiryo" panose="020B0604030504040204" pitchFamily="34" charset="-128"/>
                <a:ea typeface="Meiryo" panose="020B0604030504040204" pitchFamily="34" charset="-128"/>
              </a:rPr>
              <a:t>)</a:t>
            </a:r>
            <a:endParaRPr lang="en-JP" sz="2000" dirty="0">
              <a:latin typeface="Meiryo" panose="020B0604030504040204" pitchFamily="34" charset="-128"/>
              <a:ea typeface="Meiryo" panose="020B0604030504040204" pitchFamily="34" charset="-128"/>
            </a:endParaRPr>
          </a:p>
        </p:txBody>
      </p:sp>
      <p:sp>
        <p:nvSpPr>
          <p:cNvPr id="2" name="Rounded Rectangle 1">
            <a:extLst>
              <a:ext uri="{FF2B5EF4-FFF2-40B4-BE49-F238E27FC236}">
                <a16:creationId xmlns:a16="http://schemas.microsoft.com/office/drawing/2014/main" id="{F0FCA18D-F6EE-785E-3FDD-250EF2F27B41}"/>
              </a:ext>
            </a:extLst>
          </p:cNvPr>
          <p:cNvSpPr/>
          <p:nvPr/>
        </p:nvSpPr>
        <p:spPr>
          <a:xfrm>
            <a:off x="7249667" y="2134073"/>
            <a:ext cx="1894333" cy="6018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dirty="0">
                <a:solidFill>
                  <a:schemeClr val="tx1"/>
                </a:solidFill>
              </a:rPr>
              <a:t>🌐 HOME </a:t>
            </a:r>
            <a:r>
              <a:rPr lang="en-US" dirty="0">
                <a:solidFill>
                  <a:schemeClr val="tx1"/>
                </a:solidFill>
              </a:rPr>
              <a:t>Router</a:t>
            </a:r>
            <a:endParaRPr lang="en-JP" b="1"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8724047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Rounded Corners 6">
            <a:extLst>
              <a:ext uri="{FF2B5EF4-FFF2-40B4-BE49-F238E27FC236}">
                <a16:creationId xmlns:a16="http://schemas.microsoft.com/office/drawing/2014/main" id="{7FF5011C-B599-586C-78F9-92DAE119AFB9}"/>
              </a:ext>
            </a:extLst>
          </p:cNvPr>
          <p:cNvSpPr/>
          <p:nvPr/>
        </p:nvSpPr>
        <p:spPr>
          <a:xfrm>
            <a:off x="6779823" y="2991625"/>
            <a:ext cx="2213332" cy="1289325"/>
          </a:xfrm>
          <a:prstGeom prst="roundRect">
            <a:avLst/>
          </a:prstGeom>
          <a:solidFill>
            <a:schemeClr val="accent6">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Meiryo" panose="020B0604030504040204" pitchFamily="34" charset="-128"/>
                <a:ea typeface="Meiryo" panose="020B0604030504040204" pitchFamily="34" charset="-128"/>
              </a:rPr>
              <a:t>📡</a:t>
            </a:r>
            <a:endParaRPr lang="en-US" sz="2400" b="1" i="0" dirty="0">
              <a:solidFill>
                <a:srgbClr val="000000"/>
              </a:solidFill>
              <a:effectLst/>
              <a:latin typeface="Meiryo" panose="020B0604030504040204" pitchFamily="34" charset="-128"/>
              <a:ea typeface="Meiryo" panose="020B0604030504040204" pitchFamily="34" charset="-128"/>
            </a:endParaRPr>
          </a:p>
          <a:p>
            <a:pPr algn="ctr"/>
            <a:r>
              <a:rPr lang="en-US" sz="2400" b="1" i="0" dirty="0">
                <a:solidFill>
                  <a:srgbClr val="000000"/>
                </a:solidFill>
                <a:effectLst/>
                <a:latin typeface="Meiryo" panose="020B0604030504040204" pitchFamily="34" charset="-128"/>
                <a:ea typeface="Meiryo" panose="020B0604030504040204" pitchFamily="34" charset="-128"/>
              </a:rPr>
              <a:t>Gateway</a:t>
            </a:r>
          </a:p>
        </p:txBody>
      </p:sp>
      <p:sp>
        <p:nvSpPr>
          <p:cNvPr id="10" name="Rectangle: Rounded Corners 4">
            <a:extLst>
              <a:ext uri="{FF2B5EF4-FFF2-40B4-BE49-F238E27FC236}">
                <a16:creationId xmlns:a16="http://schemas.microsoft.com/office/drawing/2014/main" id="{766501A8-0D68-685D-213F-99DB41CEBAC9}"/>
              </a:ext>
            </a:extLst>
          </p:cNvPr>
          <p:cNvSpPr/>
          <p:nvPr/>
        </p:nvSpPr>
        <p:spPr>
          <a:xfrm>
            <a:off x="50434" y="2801372"/>
            <a:ext cx="1576090" cy="1258758"/>
          </a:xfrm>
          <a:prstGeom prst="roundRect">
            <a:avLst/>
          </a:prstGeom>
          <a:solidFill>
            <a:schemeClr val="accent1">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2400" b="1" dirty="0">
              <a:solidFill>
                <a:srgbClr val="000000"/>
              </a:solidFill>
              <a:latin typeface="Meiryo" panose="020B0604030504040204" pitchFamily="34" charset="-128"/>
              <a:ea typeface="Meiryo" panose="020B0604030504040204" pitchFamily="34" charset="-128"/>
            </a:endParaRPr>
          </a:p>
          <a:p>
            <a:pPr algn="ctr"/>
            <a:r>
              <a:rPr lang="en-US" altLang="ja-JP" sz="2400" b="1" i="0" dirty="0">
                <a:solidFill>
                  <a:srgbClr val="000000"/>
                </a:solidFill>
                <a:effectLst/>
                <a:latin typeface="Meiryo" panose="020B0604030504040204" pitchFamily="34" charset="-128"/>
                <a:ea typeface="Meiryo" panose="020B0604030504040204" pitchFamily="34" charset="-128"/>
              </a:rPr>
              <a:t>IoT</a:t>
            </a:r>
          </a:p>
          <a:p>
            <a:pPr algn="ctr"/>
            <a:r>
              <a:rPr lang="en-US" altLang="ja-JP" sz="2400" b="1" dirty="0">
                <a:solidFill>
                  <a:srgbClr val="000000"/>
                </a:solidFill>
                <a:latin typeface="Meiryo" panose="020B0604030504040204" pitchFamily="34" charset="-128"/>
                <a:ea typeface="Meiryo" panose="020B0604030504040204" pitchFamily="34" charset="-128"/>
              </a:rPr>
              <a:t>sensor</a:t>
            </a:r>
            <a:endParaRPr lang="en-JP" sz="2400" dirty="0">
              <a:solidFill>
                <a:schemeClr val="tx1"/>
              </a:solidFill>
              <a:latin typeface="Meiryo" panose="020B0604030504040204" pitchFamily="34" charset="-128"/>
              <a:ea typeface="Meiryo" panose="020B0604030504040204" pitchFamily="34" charset="-128"/>
            </a:endParaRPr>
          </a:p>
        </p:txBody>
      </p:sp>
      <p:sp>
        <p:nvSpPr>
          <p:cNvPr id="36" name="Shape 0">
            <a:extLst>
              <a:ext uri="{FF2B5EF4-FFF2-40B4-BE49-F238E27FC236}">
                <a16:creationId xmlns:a16="http://schemas.microsoft.com/office/drawing/2014/main" id="{2E2CE1B2-4B9B-2CED-D943-2A870364AEB4}"/>
              </a:ext>
            </a:extLst>
          </p:cNvPr>
          <p:cNvSpPr/>
          <p:nvPr/>
        </p:nvSpPr>
        <p:spPr>
          <a:xfrm>
            <a:off x="0" y="0"/>
            <a:ext cx="9144000" cy="632560"/>
          </a:xfrm>
          <a:prstGeom prst="rect">
            <a:avLst/>
          </a:prstGeom>
          <a:solidFill>
            <a:schemeClr val="accent1">
              <a:lumMod val="20000"/>
              <a:lumOff val="80000"/>
            </a:schemeClr>
          </a:solidFill>
          <a:ln w="12700">
            <a:solidFill>
              <a:schemeClr val="accent1">
                <a:lumMod val="20000"/>
                <a:lumOff val="80000"/>
              </a:schemeClr>
            </a:solidFill>
            <a:prstDash val="solid"/>
          </a:ln>
        </p:spPr>
        <p:txBody>
          <a:bodyPr/>
          <a:lstStyle/>
          <a:p>
            <a:pPr marL="457200" indent="-457200">
              <a:buFont typeface="Wingdings" pitchFamily="2" charset="2"/>
              <a:buChar char="Ø"/>
            </a:pPr>
            <a:r>
              <a:rPr lang="ja-JP" altLang="en-US" sz="2800" b="1" i="0">
                <a:solidFill>
                  <a:srgbClr val="000000"/>
                </a:solidFill>
                <a:effectLst/>
                <a:latin typeface="Meiryo" panose="020B0604030504040204" pitchFamily="34" charset="-128"/>
                <a:ea typeface="Meiryo" panose="020B0604030504040204" pitchFamily="34" charset="-128"/>
              </a:rPr>
              <a:t>攻撃者はどのような操作が可能か</a:t>
            </a:r>
            <a:r>
              <a:rPr lang="mn-MN" altLang="ja-JP" sz="2800" b="1" i="0" dirty="0">
                <a:solidFill>
                  <a:srgbClr val="000000"/>
                </a:solidFill>
                <a:effectLst/>
                <a:latin typeface="Meiryo" panose="020B0604030504040204" pitchFamily="34" charset="-128"/>
                <a:ea typeface="Meiryo" panose="020B0604030504040204" pitchFamily="34" charset="-128"/>
              </a:rPr>
              <a:t> </a:t>
            </a:r>
            <a:r>
              <a:rPr lang="ja-JP" altLang="en-US" sz="2800" b="1" i="0">
                <a:solidFill>
                  <a:srgbClr val="000000"/>
                </a:solidFill>
                <a:effectLst/>
                <a:latin typeface="Meiryo" panose="020B0604030504040204" pitchFamily="34" charset="-128"/>
                <a:ea typeface="Meiryo" panose="020B0604030504040204" pitchFamily="34" charset="-128"/>
              </a:rPr>
              <a:t>・課題</a:t>
            </a:r>
            <a:endParaRPr lang="en-JP" sz="2800" b="1" dirty="0">
              <a:latin typeface="Meiryo" panose="020B0604030504040204" pitchFamily="34" charset="-128"/>
              <a:ea typeface="Meiryo" panose="020B0604030504040204" pitchFamily="34" charset="-128"/>
            </a:endParaRPr>
          </a:p>
        </p:txBody>
      </p:sp>
      <p:sp>
        <p:nvSpPr>
          <p:cNvPr id="63" name="Slide Number Placeholder 62">
            <a:extLst>
              <a:ext uri="{FF2B5EF4-FFF2-40B4-BE49-F238E27FC236}">
                <a16:creationId xmlns:a16="http://schemas.microsoft.com/office/drawing/2014/main" id="{7997AEC5-C830-216D-A285-C2D5C6551311}"/>
              </a:ext>
            </a:extLst>
          </p:cNvPr>
          <p:cNvSpPr>
            <a:spLocks noGrp="1"/>
          </p:cNvSpPr>
          <p:nvPr>
            <p:ph type="sldNum" sz="quarter" idx="12"/>
          </p:nvPr>
        </p:nvSpPr>
        <p:spPr/>
        <p:txBody>
          <a:bodyPr/>
          <a:lstStyle/>
          <a:p>
            <a:fld id="{828F3BD4-1AF2-D144-8129-4D42AD448F5E}" type="slidenum">
              <a:rPr lang="en-JP" smtClean="0"/>
              <a:t>57</a:t>
            </a:fld>
            <a:endParaRPr lang="en-JP"/>
          </a:p>
        </p:txBody>
      </p:sp>
      <p:cxnSp>
        <p:nvCxnSpPr>
          <p:cNvPr id="39" name="Straight Arrow Connector 38">
            <a:extLst>
              <a:ext uri="{FF2B5EF4-FFF2-40B4-BE49-F238E27FC236}">
                <a16:creationId xmlns:a16="http://schemas.microsoft.com/office/drawing/2014/main" id="{A9385096-C957-3D0C-CC92-C7618F5846A2}"/>
              </a:ext>
            </a:extLst>
          </p:cNvPr>
          <p:cNvCxnSpPr>
            <a:cxnSpLocks/>
          </p:cNvCxnSpPr>
          <p:nvPr/>
        </p:nvCxnSpPr>
        <p:spPr>
          <a:xfrm>
            <a:off x="1714983" y="3425744"/>
            <a:ext cx="1579157"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ABBB60B-6276-8BFF-2014-1B7023C6DBF8}"/>
              </a:ext>
            </a:extLst>
          </p:cNvPr>
          <p:cNvCxnSpPr>
            <a:cxnSpLocks/>
          </p:cNvCxnSpPr>
          <p:nvPr/>
        </p:nvCxnSpPr>
        <p:spPr>
          <a:xfrm>
            <a:off x="5895002" y="3523852"/>
            <a:ext cx="884821" cy="0"/>
          </a:xfrm>
          <a:prstGeom prst="straightConnector1">
            <a:avLst/>
          </a:prstGeom>
          <a:ln w="349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A43943D-A6AB-D3DB-FB8A-C8BF5B5F532F}"/>
              </a:ext>
            </a:extLst>
          </p:cNvPr>
          <p:cNvSpPr txBox="1"/>
          <p:nvPr/>
        </p:nvSpPr>
        <p:spPr>
          <a:xfrm>
            <a:off x="1892593" y="3010758"/>
            <a:ext cx="1888188" cy="923330"/>
          </a:xfrm>
          <a:prstGeom prst="rect">
            <a:avLst/>
          </a:prstGeom>
          <a:noFill/>
        </p:spPr>
        <p:txBody>
          <a:bodyPr wrap="square">
            <a:spAutoFit/>
          </a:bodyPr>
          <a:lstStyle/>
          <a:p>
            <a:r>
              <a:rPr lang="en-US" dirty="0">
                <a:latin typeface="Meiryo" panose="020B0604030504040204" pitchFamily="34" charset="-128"/>
                <a:ea typeface="Meiryo" panose="020B0604030504040204" pitchFamily="34" charset="-128"/>
              </a:rPr>
              <a:t>DTLS </a:t>
            </a:r>
            <a:r>
              <a:rPr lang="en-JP" dirty="0">
                <a:latin typeface="Meiryo" panose="020B0604030504040204" pitchFamily="34" charset="-128"/>
                <a:ea typeface="Meiryo" panose="020B0604030504040204" pitchFamily="34" charset="-128"/>
              </a:rPr>
              <a:t>🔒</a:t>
            </a:r>
          </a:p>
          <a:p>
            <a:endParaRPr lang="en-JP" dirty="0">
              <a:latin typeface="Meiryo" panose="020B0604030504040204" pitchFamily="34" charset="-128"/>
              <a:ea typeface="Meiryo" panose="020B0604030504040204" pitchFamily="34" charset="-128"/>
            </a:endParaRPr>
          </a:p>
          <a:p>
            <a:r>
              <a:rPr lang="ja-JP" altLang="en-US">
                <a:latin typeface="Meiryo" panose="020B0604030504040204" pitchFamily="34" charset="-128"/>
                <a:ea typeface="Meiryo" panose="020B0604030504040204" pitchFamily="34" charset="-128"/>
              </a:rPr>
              <a:t>攻撃者へ</a:t>
            </a:r>
            <a:endParaRPr lang="en-JP" dirty="0">
              <a:latin typeface="Meiryo" panose="020B0604030504040204" pitchFamily="34" charset="-128"/>
              <a:ea typeface="Meiryo" panose="020B0604030504040204" pitchFamily="34" charset="-128"/>
            </a:endParaRPr>
          </a:p>
        </p:txBody>
      </p:sp>
      <p:sp>
        <p:nvSpPr>
          <p:cNvPr id="2" name="Rectangle: Rounded Corners 6">
            <a:extLst>
              <a:ext uri="{FF2B5EF4-FFF2-40B4-BE49-F238E27FC236}">
                <a16:creationId xmlns:a16="http://schemas.microsoft.com/office/drawing/2014/main" id="{BED9B5FC-C6AF-6070-1C8E-D3D7DF041307}"/>
              </a:ext>
            </a:extLst>
          </p:cNvPr>
          <p:cNvSpPr/>
          <p:nvPr/>
        </p:nvSpPr>
        <p:spPr>
          <a:xfrm>
            <a:off x="3347175" y="2991626"/>
            <a:ext cx="2459367" cy="1250978"/>
          </a:xfrm>
          <a:prstGeom prst="roundRect">
            <a:avLst/>
          </a:prstGeom>
          <a:solidFill>
            <a:schemeClr val="accent2">
              <a:lumMod val="40000"/>
              <a:lumOff val="6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JP" sz="2400" b="0" i="0" dirty="0">
                <a:solidFill>
                  <a:srgbClr val="000000"/>
                </a:solidFill>
                <a:effectLst/>
                <a:latin typeface="Arial" panose="020B0604020202020204" pitchFamily="34" charset="0"/>
              </a:rPr>
              <a:t>😈 </a:t>
            </a:r>
            <a:r>
              <a:rPr lang="ja-JP" altLang="en-US" sz="2400" b="1" i="0">
                <a:solidFill>
                  <a:srgbClr val="000000"/>
                </a:solidFill>
                <a:effectLst/>
                <a:latin typeface="Arial" panose="020B0604020202020204" pitchFamily="34" charset="0"/>
              </a:rPr>
              <a:t>攻撃者</a:t>
            </a:r>
            <a:endParaRPr lang="en-US" altLang="ja-JP" sz="2400" b="1" i="0" dirty="0">
              <a:solidFill>
                <a:srgbClr val="000000"/>
              </a:solidFill>
              <a:effectLst/>
              <a:latin typeface="Arial" panose="020B0604020202020204" pitchFamily="34" charset="0"/>
            </a:endParaRPr>
          </a:p>
          <a:p>
            <a:pPr algn="ctr"/>
            <a:r>
              <a:rPr lang="ja-JP" altLang="en-US" sz="2400" b="1">
                <a:solidFill>
                  <a:srgbClr val="C00000"/>
                </a:solidFill>
                <a:latin typeface="Meiryo" panose="020B0604030504040204" pitchFamily="34" charset="-128"/>
                <a:ea typeface="Meiryo" panose="020B0604030504040204" pitchFamily="34" charset="-128"/>
              </a:rPr>
              <a:t>中間に割り込む</a:t>
            </a:r>
            <a:endParaRPr lang="en-US" sz="2400" b="1" dirty="0">
              <a:solidFill>
                <a:srgbClr val="C00000"/>
              </a:solidFill>
              <a:latin typeface="Meiryo" panose="020B0604030504040204" pitchFamily="34" charset="-128"/>
              <a:ea typeface="Meiryo" panose="020B0604030504040204" pitchFamily="34" charset="-128"/>
            </a:endParaRPr>
          </a:p>
        </p:txBody>
      </p:sp>
      <p:sp>
        <p:nvSpPr>
          <p:cNvPr id="11" name="Rectangle: Rounded Corners 4">
            <a:extLst>
              <a:ext uri="{FF2B5EF4-FFF2-40B4-BE49-F238E27FC236}">
                <a16:creationId xmlns:a16="http://schemas.microsoft.com/office/drawing/2014/main" id="{7AA47FC0-AFEA-A068-C3C1-8269923A68A2}"/>
              </a:ext>
            </a:extLst>
          </p:cNvPr>
          <p:cNvSpPr/>
          <p:nvPr/>
        </p:nvSpPr>
        <p:spPr>
          <a:xfrm>
            <a:off x="2363046" y="1132732"/>
            <a:ext cx="2208954" cy="1258758"/>
          </a:xfrm>
          <a:prstGeom prst="roundRect">
            <a:avLst/>
          </a:prstGeom>
          <a:solidFill>
            <a:schemeClr val="bg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a:solidFill>
                  <a:schemeClr val="tx1"/>
                </a:solidFill>
                <a:latin typeface="Meiryo" panose="020B0604030504040204" pitchFamily="34" charset="-128"/>
                <a:ea typeface="Meiryo" panose="020B0604030504040204" pitchFamily="34" charset="-128"/>
              </a:rPr>
              <a:t>偽</a:t>
            </a:r>
            <a:r>
              <a:rPr lang="en-US" b="1" dirty="0">
                <a:solidFill>
                  <a:schemeClr val="tx1"/>
                </a:solidFill>
                <a:latin typeface="Meiryo" panose="020B0604030504040204" pitchFamily="34" charset="-128"/>
                <a:ea typeface="Meiryo" panose="020B0604030504040204" pitchFamily="34" charset="-128"/>
              </a:rPr>
              <a:t>ARP</a:t>
            </a:r>
            <a:r>
              <a:rPr lang="ja-JP" altLang="en-US" b="1">
                <a:solidFill>
                  <a:schemeClr val="tx1"/>
                </a:solidFill>
                <a:latin typeface="Meiryo" panose="020B0604030504040204" pitchFamily="34" charset="-128"/>
                <a:ea typeface="Meiryo" panose="020B0604030504040204" pitchFamily="34" charset="-128"/>
              </a:rPr>
              <a:t>を送信し</a:t>
            </a:r>
          </a:p>
          <a:p>
            <a:pPr algn="ctr"/>
            <a:r>
              <a:rPr lang="ja-JP" altLang="en-US" b="1">
                <a:solidFill>
                  <a:schemeClr val="tx1"/>
                </a:solidFill>
                <a:latin typeface="Meiryo" panose="020B0604030504040204" pitchFamily="34" charset="-128"/>
                <a:ea typeface="Meiryo" panose="020B0604030504040204" pitchFamily="34" charset="-128"/>
              </a:rPr>
              <a:t>経路を書き換える</a:t>
            </a:r>
            <a:endParaRPr lang="en-JP" b="1" dirty="0">
              <a:solidFill>
                <a:schemeClr val="tx1"/>
              </a:solidFill>
              <a:latin typeface="Meiryo" panose="020B0604030504040204" pitchFamily="34" charset="-128"/>
              <a:ea typeface="Meiryo" panose="020B0604030504040204" pitchFamily="34" charset="-128"/>
            </a:endParaRPr>
          </a:p>
        </p:txBody>
      </p:sp>
      <p:sp>
        <p:nvSpPr>
          <p:cNvPr id="12" name="Curved Down Arrow 11">
            <a:extLst>
              <a:ext uri="{FF2B5EF4-FFF2-40B4-BE49-F238E27FC236}">
                <a16:creationId xmlns:a16="http://schemas.microsoft.com/office/drawing/2014/main" id="{1FE44A68-4C3A-7FC8-AF45-00867A50FBB8}"/>
              </a:ext>
            </a:extLst>
          </p:cNvPr>
          <p:cNvSpPr/>
          <p:nvPr/>
        </p:nvSpPr>
        <p:spPr>
          <a:xfrm rot="10800000">
            <a:off x="838478" y="4368207"/>
            <a:ext cx="3396343" cy="402210"/>
          </a:xfrm>
          <a:prstGeom prst="curvedDownArrow">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dirty="0">
              <a:solidFill>
                <a:schemeClr val="tx1"/>
              </a:solidFill>
            </a:endParaRPr>
          </a:p>
        </p:txBody>
      </p:sp>
      <p:sp>
        <p:nvSpPr>
          <p:cNvPr id="13" name="TextBox 12">
            <a:extLst>
              <a:ext uri="{FF2B5EF4-FFF2-40B4-BE49-F238E27FC236}">
                <a16:creationId xmlns:a16="http://schemas.microsoft.com/office/drawing/2014/main" id="{19103CD7-FD3F-412F-98AB-FF685B138C50}"/>
              </a:ext>
            </a:extLst>
          </p:cNvPr>
          <p:cNvSpPr txBox="1"/>
          <p:nvPr/>
        </p:nvSpPr>
        <p:spPr>
          <a:xfrm>
            <a:off x="1587386" y="4173539"/>
            <a:ext cx="2498601" cy="646331"/>
          </a:xfrm>
          <a:prstGeom prst="rect">
            <a:avLst/>
          </a:prstGeom>
          <a:noFill/>
        </p:spPr>
        <p:txBody>
          <a:bodyPr wrap="square" rtlCol="0">
            <a:spAutoFit/>
          </a:bodyPr>
          <a:lstStyle/>
          <a:p>
            <a:r>
              <a:rPr lang="ja-JP" altLang="en-US">
                <a:latin typeface="Meiryo" panose="020B0604030504040204" pitchFamily="34" charset="-128"/>
                <a:ea typeface="Meiryo" panose="020B0604030504040204" pitchFamily="34" charset="-128"/>
              </a:rPr>
              <a:t>偽</a:t>
            </a:r>
            <a:r>
              <a:rPr lang="en-US" dirty="0">
                <a:latin typeface="Meiryo" panose="020B0604030504040204" pitchFamily="34" charset="-128"/>
                <a:ea typeface="Meiryo" panose="020B0604030504040204" pitchFamily="34" charset="-128"/>
              </a:rPr>
              <a:t>ARP Reply</a:t>
            </a:r>
          </a:p>
          <a:p>
            <a:r>
              <a:rPr lang="en-US" dirty="0">
                <a:latin typeface="Meiryo" panose="020B0604030504040204" pitchFamily="34" charset="-128"/>
                <a:ea typeface="Meiryo" panose="020B0604030504040204" pitchFamily="34" charset="-128"/>
              </a:rPr>
              <a:t>「GW</a:t>
            </a:r>
            <a:r>
              <a:rPr lang="ja-JP" altLang="en-US">
                <a:latin typeface="Meiryo" panose="020B0604030504040204" pitchFamily="34" charset="-128"/>
                <a:ea typeface="Meiryo" panose="020B0604030504040204" pitchFamily="34" charset="-128"/>
              </a:rPr>
              <a:t>は</a:t>
            </a:r>
            <a:r>
              <a:rPr lang="en-US" altLang="ja-JP" dirty="0">
                <a:latin typeface="Meiryo" panose="020B0604030504040204" pitchFamily="34" charset="-128"/>
                <a:ea typeface="Meiryo" panose="020B0604030504040204" pitchFamily="34" charset="-128"/>
              </a:rPr>
              <a:t>CC</a:t>
            </a:r>
            <a:r>
              <a:rPr lang="en-US" dirty="0">
                <a:latin typeface="Meiryo" panose="020B0604030504040204" pitchFamily="34" charset="-128"/>
                <a:ea typeface="Meiryo" panose="020B0604030504040204" pitchFamily="34" charset="-128"/>
              </a:rPr>
              <a:t>:CC</a:t>
            </a:r>
            <a:r>
              <a:rPr lang="ja-JP" altLang="en-US">
                <a:latin typeface="Meiryo" panose="020B0604030504040204" pitchFamily="34" charset="-128"/>
                <a:ea typeface="Meiryo" panose="020B0604030504040204" pitchFamily="34" charset="-128"/>
              </a:rPr>
              <a:t>だ」</a:t>
            </a:r>
            <a:endParaRPr lang="en-JP" dirty="0">
              <a:latin typeface="Meiryo" panose="020B0604030504040204" pitchFamily="34" charset="-128"/>
              <a:ea typeface="Meiryo" panose="020B0604030504040204" pitchFamily="34" charset="-128"/>
            </a:endParaRPr>
          </a:p>
        </p:txBody>
      </p:sp>
      <p:cxnSp>
        <p:nvCxnSpPr>
          <p:cNvPr id="20" name="Elbow Connector 19">
            <a:extLst>
              <a:ext uri="{FF2B5EF4-FFF2-40B4-BE49-F238E27FC236}">
                <a16:creationId xmlns:a16="http://schemas.microsoft.com/office/drawing/2014/main" id="{EF9F402A-16A8-4208-9078-9FF014190AD5}"/>
              </a:ext>
            </a:extLst>
          </p:cNvPr>
          <p:cNvCxnSpPr>
            <a:stCxn id="11" idx="2"/>
            <a:endCxn id="2" idx="0"/>
          </p:cNvCxnSpPr>
          <p:nvPr/>
        </p:nvCxnSpPr>
        <p:spPr>
          <a:xfrm rot="16200000" flipH="1">
            <a:off x="3722123" y="2136890"/>
            <a:ext cx="600136" cy="1109336"/>
          </a:xfrm>
          <a:prstGeom prst="bentConnector3">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9181AB0F-CF8D-F537-1DEE-866656945747}"/>
              </a:ext>
            </a:extLst>
          </p:cNvPr>
          <p:cNvSpPr txBox="1"/>
          <p:nvPr/>
        </p:nvSpPr>
        <p:spPr>
          <a:xfrm>
            <a:off x="192496" y="4832905"/>
            <a:ext cx="8509051" cy="1938992"/>
          </a:xfrm>
          <a:prstGeom prst="rect">
            <a:avLst/>
          </a:prstGeom>
          <a:noFill/>
        </p:spPr>
        <p:txBody>
          <a:bodyPr wrap="square">
            <a:spAutoFit/>
          </a:bodyPr>
          <a:lstStyle/>
          <a:p>
            <a:r>
              <a:rPr lang="en-JP" sz="2000" dirty="0">
                <a:latin typeface="Meiryo" panose="020B0604030504040204" pitchFamily="34" charset="-128"/>
                <a:ea typeface="Meiryo" panose="020B0604030504040204" pitchFamily="34" charset="-128"/>
              </a:rPr>
              <a:t>(ARP Spoofing発生後)</a:t>
            </a:r>
          </a:p>
          <a:p>
            <a:endParaRPr lang="en-JP" sz="2000" dirty="0">
              <a:latin typeface="Meiryo" panose="020B0604030504040204" pitchFamily="34" charset="-128"/>
              <a:ea typeface="Meiryo" panose="020B0604030504040204" pitchFamily="34" charset="-128"/>
            </a:endParaRPr>
          </a:p>
          <a:p>
            <a:r>
              <a:rPr lang="mn-MN" sz="2000" dirty="0">
                <a:latin typeface="Meiryo" panose="020B0604030504040204" pitchFamily="34" charset="-128"/>
                <a:ea typeface="Meiryo" panose="020B0604030504040204" pitchFamily="34" charset="-128"/>
              </a:rPr>
              <a:t>I</a:t>
            </a:r>
            <a:r>
              <a:rPr lang="en-US" sz="2000" dirty="0" err="1">
                <a:latin typeface="Meiryo" panose="020B0604030504040204" pitchFamily="34" charset="-128"/>
                <a:ea typeface="Meiryo" panose="020B0604030504040204" pitchFamily="34" charset="-128"/>
              </a:rPr>
              <a:t>oT</a:t>
            </a:r>
            <a:r>
              <a:rPr lang="en-US" sz="2000" dirty="0">
                <a:latin typeface="Meiryo" panose="020B0604030504040204" pitchFamily="34" charset="-128"/>
                <a:ea typeface="Meiryo" panose="020B0604030504040204" pitchFamily="34" charset="-128"/>
              </a:rPr>
              <a:t> device</a:t>
            </a:r>
            <a:r>
              <a:rPr lang="en-JP" sz="2000" dirty="0">
                <a:latin typeface="Meiryo" panose="020B0604030504040204" pitchFamily="34" charset="-128"/>
                <a:ea typeface="Meiryo" panose="020B0604030504040204" pitchFamily="34" charset="-128"/>
              </a:rPr>
              <a:t>→ DTLSで暗号化 ✓（正常）→ [🔒 ????] パケット生成</a:t>
            </a:r>
          </a:p>
          <a:p>
            <a:r>
              <a:rPr lang="en-JP" sz="2000" dirty="0">
                <a:latin typeface="Meiryo" panose="020B0604030504040204" pitchFamily="34" charset="-128"/>
                <a:ea typeface="Meiryo" panose="020B0604030504040204" pitchFamily="34" charset="-128"/>
              </a:rPr>
              <a:t>  → </a:t>
            </a:r>
            <a:r>
              <a:rPr lang="en-JP" sz="2000" b="1" dirty="0">
                <a:solidFill>
                  <a:srgbClr val="FF0000"/>
                </a:solidFill>
                <a:latin typeface="Meiryo" panose="020B0604030504040204" pitchFamily="34" charset="-128"/>
                <a:ea typeface="Meiryo" panose="020B0604030504040204" pitchFamily="34" charset="-128"/>
              </a:rPr>
              <a:t>「Gateway MAC = XX:XX」と認識</a:t>
            </a:r>
          </a:p>
          <a:p>
            <a:r>
              <a:rPr lang="en-JP" sz="2000" dirty="0">
                <a:latin typeface="Meiryo" panose="020B0604030504040204" pitchFamily="34" charset="-128"/>
                <a:ea typeface="Meiryo" panose="020B0604030504040204" pitchFamily="34" charset="-128"/>
              </a:rPr>
              <a:t>    （</a:t>
            </a:r>
            <a:r>
              <a:rPr lang="en-JP" sz="2000" b="1" dirty="0">
                <a:solidFill>
                  <a:srgbClr val="FF0000"/>
                </a:solidFill>
                <a:latin typeface="Meiryo" panose="020B0604030504040204" pitchFamily="34" charset="-128"/>
                <a:ea typeface="Meiryo" panose="020B0604030504040204" pitchFamily="34" charset="-128"/>
              </a:rPr>
              <a:t>攻撃者のMACアドレス）</a:t>
            </a:r>
          </a:p>
          <a:p>
            <a:r>
              <a:rPr lang="en-JP" sz="2000" b="1" dirty="0">
                <a:solidFill>
                  <a:srgbClr val="FF0000"/>
                </a:solidFill>
                <a:latin typeface="Meiryo" panose="020B0604030504040204" pitchFamily="34" charset="-128"/>
                <a:ea typeface="Meiryo" panose="020B0604030504040204" pitchFamily="34" charset="-128"/>
              </a:rPr>
              <a:t>  → 攻撃者が受信 </a:t>
            </a:r>
          </a:p>
        </p:txBody>
      </p:sp>
      <p:sp>
        <p:nvSpPr>
          <p:cNvPr id="25" name="正方形/長方形 4">
            <a:extLst>
              <a:ext uri="{FF2B5EF4-FFF2-40B4-BE49-F238E27FC236}">
                <a16:creationId xmlns:a16="http://schemas.microsoft.com/office/drawing/2014/main" id="{52473F3E-BF91-1257-A289-1B966296B715}"/>
              </a:ext>
            </a:extLst>
          </p:cNvPr>
          <p:cNvSpPr/>
          <p:nvPr/>
        </p:nvSpPr>
        <p:spPr>
          <a:xfrm>
            <a:off x="151273" y="4831896"/>
            <a:ext cx="7907538" cy="1940001"/>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500"/>
          </a:p>
        </p:txBody>
      </p:sp>
    </p:spTree>
    <p:extLst>
      <p:ext uri="{BB962C8B-B14F-4D97-AF65-F5344CB8AC3E}">
        <p14:creationId xmlns:p14="http://schemas.microsoft.com/office/powerpoint/2010/main" val="19476013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40915</TotalTime>
  <Words>5470</Words>
  <Application>Microsoft Macintosh PowerPoint</Application>
  <PresentationFormat>On-screen Show (4:3)</PresentationFormat>
  <Paragraphs>987</Paragraphs>
  <Slides>58</Slides>
  <Notes>24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58</vt:i4>
      </vt:variant>
    </vt:vector>
  </HeadingPairs>
  <TitlesOfParts>
    <vt:vector size="69" baseType="lpstr">
      <vt:lpstr>Anthropic Sans</vt:lpstr>
      <vt:lpstr>Hiragino Sans</vt:lpstr>
      <vt:lpstr>Meiryo</vt:lpstr>
      <vt:lpstr>Meiryo UI</vt:lpstr>
      <vt:lpstr>Source Han Sans</vt:lpstr>
      <vt:lpstr>Arial</vt:lpstr>
      <vt:lpstr>Calibri</vt:lpstr>
      <vt:lpstr>Calibri Light</vt:lpstr>
      <vt:lpstr>Times New Roman</vt:lpstr>
      <vt:lpstr>Wingdings</vt:lpstr>
      <vt:lpstr>Office Theme</vt:lpstr>
      <vt:lpstr>PowerPoint Presentation</vt:lpstr>
      <vt:lpstr>目次</vt:lpstr>
      <vt:lpstr>目次</vt:lpstr>
      <vt:lpstr>IoTデバイス数の推移[1]</vt:lpstr>
      <vt:lpstr>PowerPoint Presentation</vt:lpstr>
      <vt:lpstr>PowerPoint Presentation</vt:lpstr>
      <vt:lpstr>PowerPoint Presentation</vt:lpstr>
      <vt:lpstr>目次</vt:lpstr>
      <vt:lpstr>PowerPoint Presentation</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目次</vt:lpstr>
      <vt:lpstr>PowerPoint Presentation</vt:lpstr>
      <vt:lpstr>PowerPoint Presentation</vt:lpstr>
      <vt:lpstr>PowerPoint Presentation</vt:lpstr>
      <vt:lpstr>目次</vt:lpstr>
      <vt:lpstr>PowerPoint Presentation</vt:lpstr>
      <vt:lpstr>目次</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提案手法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undarmaa581@gmail.com</dc:creator>
  <cp:lastModifiedBy>undarmaa581@gmail.com</cp:lastModifiedBy>
  <cp:revision>100</cp:revision>
  <dcterms:created xsi:type="dcterms:W3CDTF">2026-04-03T11:09:25Z</dcterms:created>
  <dcterms:modified xsi:type="dcterms:W3CDTF">2026-05-14T03:35:14Z</dcterms:modified>
</cp:coreProperties>
</file>